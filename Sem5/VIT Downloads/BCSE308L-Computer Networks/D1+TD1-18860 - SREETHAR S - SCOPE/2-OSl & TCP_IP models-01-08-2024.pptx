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3"/>
  </p:notesMasterIdLst>
  <p:sldIdLst>
    <p:sldId id="260" r:id="rId2"/>
    <p:sldId id="261" r:id="rId3"/>
    <p:sldId id="262" r:id="rId4"/>
    <p:sldId id="263" r:id="rId5"/>
    <p:sldId id="264" r:id="rId6"/>
    <p:sldId id="265" r:id="rId7"/>
    <p:sldId id="589" r:id="rId8"/>
    <p:sldId id="590" r:id="rId9"/>
    <p:sldId id="266" r:id="rId10"/>
    <p:sldId id="267" r:id="rId11"/>
    <p:sldId id="317" r:id="rId12"/>
    <p:sldId id="268" r:id="rId13"/>
    <p:sldId id="269" r:id="rId14"/>
    <p:sldId id="270" r:id="rId15"/>
    <p:sldId id="318" r:id="rId16"/>
    <p:sldId id="271" r:id="rId17"/>
    <p:sldId id="272" r:id="rId18"/>
    <p:sldId id="273" r:id="rId19"/>
    <p:sldId id="319" r:id="rId20"/>
    <p:sldId id="274" r:id="rId21"/>
    <p:sldId id="275" r:id="rId22"/>
    <p:sldId id="276" r:id="rId23"/>
    <p:sldId id="320"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80"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F9760-5F53-406B-95DE-A181E8B08B03}" type="datetimeFigureOut">
              <a:rPr lang="en-US" smtClean="0"/>
              <a:pPr/>
              <a:t>8/9/2024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0776BD-2D39-4F0F-94D3-E1E937F5A3AE}" type="slidenum">
              <a:rPr lang="en-US" smtClean="0"/>
              <a:pPr/>
              <a:t>‹#›</a:t>
            </a:fld>
            <a:endParaRPr lang="en-US"/>
          </a:p>
        </p:txBody>
      </p:sp>
    </p:spTree>
    <p:extLst>
      <p:ext uri="{BB962C8B-B14F-4D97-AF65-F5344CB8AC3E}">
        <p14:creationId xmlns:p14="http://schemas.microsoft.com/office/powerpoint/2010/main" val="3300934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D109E4C-BB4C-4F86-BDFC-0803B6E4CC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5754A6DC-EF24-4405-8950-AD7E778C1D4F}" type="slidenum">
              <a:rPr lang="en-US" altLang="en-US" b="0"/>
              <a:pPr/>
              <a:t>7</a:t>
            </a:fld>
            <a:endParaRPr lang="en-US" altLang="en-US" b="0"/>
          </a:p>
        </p:txBody>
      </p:sp>
      <p:sp>
        <p:nvSpPr>
          <p:cNvPr id="50179" name="Rectangle 2">
            <a:extLst>
              <a:ext uri="{FF2B5EF4-FFF2-40B4-BE49-F238E27FC236}">
                <a16:creationId xmlns:a16="http://schemas.microsoft.com/office/drawing/2014/main" id="{C9C10E55-DC28-4653-B649-04BDB641A7A7}"/>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851ADC55-807D-4ADC-B3F9-3DC75C8061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E09017EE-BE3E-47E0-81D1-2C3C5B2242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BD266CEC-C606-4272-B8A8-73E025E1D0DB}" type="slidenum">
              <a:rPr lang="en-US" altLang="en-US" b="0"/>
              <a:pPr/>
              <a:t>8</a:t>
            </a:fld>
            <a:endParaRPr lang="en-US" altLang="en-US" b="0"/>
          </a:p>
        </p:txBody>
      </p:sp>
      <p:sp>
        <p:nvSpPr>
          <p:cNvPr id="51203" name="Rectangle 2">
            <a:extLst>
              <a:ext uri="{FF2B5EF4-FFF2-40B4-BE49-F238E27FC236}">
                <a16:creationId xmlns:a16="http://schemas.microsoft.com/office/drawing/2014/main" id="{869A4B04-2DF6-4BCA-86A8-D8D4D6E81438}"/>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D867EE9-4F1C-486C-BC3D-83B3EE8DF6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3C6D1-4A2C-46B8-7E5D-0B80655719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B792B1-6300-3C5C-895D-57D1084CB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F855D6-8D57-BC64-1BE7-75D23E849F8A}"/>
              </a:ext>
            </a:extLst>
          </p:cNvPr>
          <p:cNvSpPr>
            <a:spLocks noGrp="1"/>
          </p:cNvSpPr>
          <p:nvPr>
            <p:ph type="dt" sz="half" idx="10"/>
          </p:nvPr>
        </p:nvSpPr>
        <p:spPr/>
        <p:txBody>
          <a:bodyPr/>
          <a:lstStyle/>
          <a:p>
            <a:fld id="{45CD6D1D-0B17-4290-A503-2CB8B1611413}" type="datetime1">
              <a:rPr lang="en-US" smtClean="0"/>
              <a:t>8/9/2024</a:t>
            </a:fld>
            <a:endParaRPr lang="en-US"/>
          </a:p>
        </p:txBody>
      </p:sp>
      <p:sp>
        <p:nvSpPr>
          <p:cNvPr id="5" name="Footer Placeholder 4">
            <a:extLst>
              <a:ext uri="{FF2B5EF4-FFF2-40B4-BE49-F238E27FC236}">
                <a16:creationId xmlns:a16="http://schemas.microsoft.com/office/drawing/2014/main" id="{7BE8236E-158F-FF67-F473-BE092330E81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900FB28-40C5-A340-B07F-1AB026478BE8}"/>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1448590315"/>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FDD0-5F4C-618F-43FC-13BEE98805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157A2D-9E51-14AB-B199-F568393F3B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E167BD-3A54-F7AC-8EEE-FAE70A6B0CB9}"/>
              </a:ext>
            </a:extLst>
          </p:cNvPr>
          <p:cNvSpPr>
            <a:spLocks noGrp="1"/>
          </p:cNvSpPr>
          <p:nvPr>
            <p:ph type="dt" sz="half" idx="10"/>
          </p:nvPr>
        </p:nvSpPr>
        <p:spPr/>
        <p:txBody>
          <a:bodyPr/>
          <a:lstStyle/>
          <a:p>
            <a:fld id="{DF17A382-767C-400E-9009-33A161B58EAD}" type="datetime1">
              <a:rPr lang="en-US" smtClean="0"/>
              <a:t>8/9/2024</a:t>
            </a:fld>
            <a:endParaRPr lang="en-US"/>
          </a:p>
        </p:txBody>
      </p:sp>
      <p:sp>
        <p:nvSpPr>
          <p:cNvPr id="5" name="Footer Placeholder 4">
            <a:extLst>
              <a:ext uri="{FF2B5EF4-FFF2-40B4-BE49-F238E27FC236}">
                <a16:creationId xmlns:a16="http://schemas.microsoft.com/office/drawing/2014/main" id="{46CBC834-A267-55FA-400E-FD14096460C1}"/>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9AFD534-CCB7-F981-6BE7-283F2F02957A}"/>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311431905"/>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08479-FFDE-5576-9CD2-F09717A671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7242A4-7C7B-F3CA-84AA-60D4A9AA70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B6C64E-109E-7003-C4FA-7802EC5049E3}"/>
              </a:ext>
            </a:extLst>
          </p:cNvPr>
          <p:cNvSpPr>
            <a:spLocks noGrp="1"/>
          </p:cNvSpPr>
          <p:nvPr>
            <p:ph type="dt" sz="half" idx="10"/>
          </p:nvPr>
        </p:nvSpPr>
        <p:spPr/>
        <p:txBody>
          <a:bodyPr/>
          <a:lstStyle/>
          <a:p>
            <a:fld id="{0457F7AA-6A8C-4384-8C7E-78C1EC67AA9B}" type="datetime1">
              <a:rPr lang="en-US" smtClean="0"/>
              <a:t>8/9/2024</a:t>
            </a:fld>
            <a:endParaRPr lang="en-US"/>
          </a:p>
        </p:txBody>
      </p:sp>
      <p:sp>
        <p:nvSpPr>
          <p:cNvPr id="5" name="Footer Placeholder 4">
            <a:extLst>
              <a:ext uri="{FF2B5EF4-FFF2-40B4-BE49-F238E27FC236}">
                <a16:creationId xmlns:a16="http://schemas.microsoft.com/office/drawing/2014/main" id="{63B9D87A-B9AB-3739-94EA-BA3E0CB9983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97B4DC1-613D-6412-85D2-75A7C264401D}"/>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1588255998"/>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157F0-D429-5AD1-1B6C-822613EDB5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BE6F32-7B85-39E1-CD64-70EF436281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721879-CEAF-1EBE-C4E6-7BFB9397FE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FAD63B-25D4-1059-6CEC-0975398CB2EA}"/>
              </a:ext>
            </a:extLst>
          </p:cNvPr>
          <p:cNvSpPr>
            <a:spLocks noGrp="1"/>
          </p:cNvSpPr>
          <p:nvPr>
            <p:ph type="dt" sz="half" idx="10"/>
          </p:nvPr>
        </p:nvSpPr>
        <p:spPr/>
        <p:txBody>
          <a:bodyPr/>
          <a:lstStyle/>
          <a:p>
            <a:fld id="{20E2596F-E319-4D09-9F5C-478A89C24F5B}" type="datetime1">
              <a:rPr lang="en-US" smtClean="0"/>
              <a:t>8/9/2024</a:t>
            </a:fld>
            <a:endParaRPr lang="en-US"/>
          </a:p>
        </p:txBody>
      </p:sp>
      <p:sp>
        <p:nvSpPr>
          <p:cNvPr id="6" name="Footer Placeholder 5">
            <a:extLst>
              <a:ext uri="{FF2B5EF4-FFF2-40B4-BE49-F238E27FC236}">
                <a16:creationId xmlns:a16="http://schemas.microsoft.com/office/drawing/2014/main" id="{88E92A8B-95BE-2155-EAEB-3E1A4E768371}"/>
              </a:ext>
            </a:extLst>
          </p:cNvPr>
          <p:cNvSpPr>
            <a:spLocks noGrp="1"/>
          </p:cNvSpPr>
          <p:nvPr>
            <p:ph type="ftr" sz="quarter" idx="11"/>
          </p:nvPr>
        </p:nvSpPr>
        <p:spPr/>
        <p:txBody>
          <a:bodyPr/>
          <a:lstStyle/>
          <a:p>
            <a:r>
              <a:rPr lang="en-US"/>
              <a:t>School of Computing - CSE</a:t>
            </a:r>
          </a:p>
        </p:txBody>
      </p:sp>
      <p:sp>
        <p:nvSpPr>
          <p:cNvPr id="7" name="Slide Number Placeholder 6">
            <a:extLst>
              <a:ext uri="{FF2B5EF4-FFF2-40B4-BE49-F238E27FC236}">
                <a16:creationId xmlns:a16="http://schemas.microsoft.com/office/drawing/2014/main" id="{A143993A-88DA-3C3E-8E02-723875FDD689}"/>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3899321137"/>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C1B2-EFFE-911D-B12F-03DD83585B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D09DE3-12EE-8EAF-7F14-9189A197D2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38A215-47C7-1681-86A3-08A2CEB438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69AE511-0118-76E2-08B0-16DEF12FE3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1F1E99-800B-65AA-3CA4-00F9B1AFD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716D2F-8415-8F7B-E194-16D1E4FDA310}"/>
              </a:ext>
            </a:extLst>
          </p:cNvPr>
          <p:cNvSpPr>
            <a:spLocks noGrp="1"/>
          </p:cNvSpPr>
          <p:nvPr>
            <p:ph type="dt" sz="half" idx="10"/>
          </p:nvPr>
        </p:nvSpPr>
        <p:spPr/>
        <p:txBody>
          <a:bodyPr/>
          <a:lstStyle/>
          <a:p>
            <a:fld id="{366D4866-D372-4D1A-A5C6-24A2EB57FAEF}" type="datetime1">
              <a:rPr lang="en-US" smtClean="0"/>
              <a:t>8/9/2024</a:t>
            </a:fld>
            <a:endParaRPr lang="en-US"/>
          </a:p>
        </p:txBody>
      </p:sp>
      <p:sp>
        <p:nvSpPr>
          <p:cNvPr id="8" name="Footer Placeholder 7">
            <a:extLst>
              <a:ext uri="{FF2B5EF4-FFF2-40B4-BE49-F238E27FC236}">
                <a16:creationId xmlns:a16="http://schemas.microsoft.com/office/drawing/2014/main" id="{B05EBDE9-0A7C-7D1D-C2EE-E8FE6B502C37}"/>
              </a:ext>
            </a:extLst>
          </p:cNvPr>
          <p:cNvSpPr>
            <a:spLocks noGrp="1"/>
          </p:cNvSpPr>
          <p:nvPr>
            <p:ph type="ftr" sz="quarter" idx="11"/>
          </p:nvPr>
        </p:nvSpPr>
        <p:spPr/>
        <p:txBody>
          <a:bodyPr/>
          <a:lstStyle/>
          <a:p>
            <a:r>
              <a:rPr lang="en-US"/>
              <a:t>School of Computing - CSE</a:t>
            </a:r>
          </a:p>
        </p:txBody>
      </p:sp>
      <p:sp>
        <p:nvSpPr>
          <p:cNvPr id="9" name="Slide Number Placeholder 8">
            <a:extLst>
              <a:ext uri="{FF2B5EF4-FFF2-40B4-BE49-F238E27FC236}">
                <a16:creationId xmlns:a16="http://schemas.microsoft.com/office/drawing/2014/main" id="{B7111E96-8279-4B5F-71B8-A3E61D301DBF}"/>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1261625650"/>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07200-0ECF-2B53-BE67-F788CD6CD2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E6462F-B2B3-2796-DC79-1DBDE906E48F}"/>
              </a:ext>
            </a:extLst>
          </p:cNvPr>
          <p:cNvSpPr>
            <a:spLocks noGrp="1"/>
          </p:cNvSpPr>
          <p:nvPr>
            <p:ph type="dt" sz="half" idx="10"/>
          </p:nvPr>
        </p:nvSpPr>
        <p:spPr/>
        <p:txBody>
          <a:bodyPr/>
          <a:lstStyle/>
          <a:p>
            <a:fld id="{0D531209-0A4E-4ADA-A7A7-0AEC866C1C15}" type="datetime1">
              <a:rPr lang="en-US" smtClean="0"/>
              <a:t>8/9/2024</a:t>
            </a:fld>
            <a:endParaRPr lang="en-US"/>
          </a:p>
        </p:txBody>
      </p:sp>
      <p:sp>
        <p:nvSpPr>
          <p:cNvPr id="4" name="Footer Placeholder 3">
            <a:extLst>
              <a:ext uri="{FF2B5EF4-FFF2-40B4-BE49-F238E27FC236}">
                <a16:creationId xmlns:a16="http://schemas.microsoft.com/office/drawing/2014/main" id="{609A4440-0A80-AAAE-9C27-53098E19139E}"/>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8892A3FC-8489-5291-AB63-3A18C633FC96}"/>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2310137476"/>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6EAAB5-9617-AEEA-56ED-4DA6F91AD16F}"/>
              </a:ext>
            </a:extLst>
          </p:cNvPr>
          <p:cNvSpPr>
            <a:spLocks noGrp="1"/>
          </p:cNvSpPr>
          <p:nvPr>
            <p:ph type="dt" sz="half" idx="10"/>
          </p:nvPr>
        </p:nvSpPr>
        <p:spPr/>
        <p:txBody>
          <a:bodyPr/>
          <a:lstStyle/>
          <a:p>
            <a:fld id="{B3D348B8-39AE-4BBA-B185-583506A27EC1}" type="datetime1">
              <a:rPr lang="en-US" smtClean="0"/>
              <a:t>8/9/2024</a:t>
            </a:fld>
            <a:endParaRPr lang="en-US"/>
          </a:p>
        </p:txBody>
      </p:sp>
      <p:sp>
        <p:nvSpPr>
          <p:cNvPr id="3" name="Footer Placeholder 2">
            <a:extLst>
              <a:ext uri="{FF2B5EF4-FFF2-40B4-BE49-F238E27FC236}">
                <a16:creationId xmlns:a16="http://schemas.microsoft.com/office/drawing/2014/main" id="{44DD6154-B66F-9394-5A37-107B5A089DF7}"/>
              </a:ext>
            </a:extLst>
          </p:cNvPr>
          <p:cNvSpPr>
            <a:spLocks noGrp="1"/>
          </p:cNvSpPr>
          <p:nvPr>
            <p:ph type="ftr" sz="quarter" idx="11"/>
          </p:nvPr>
        </p:nvSpPr>
        <p:spPr/>
        <p:txBody>
          <a:bodyPr/>
          <a:lstStyle/>
          <a:p>
            <a:r>
              <a:rPr lang="en-US"/>
              <a:t>School of Computing - CSE</a:t>
            </a:r>
          </a:p>
        </p:txBody>
      </p:sp>
      <p:sp>
        <p:nvSpPr>
          <p:cNvPr id="4" name="Slide Number Placeholder 3">
            <a:extLst>
              <a:ext uri="{FF2B5EF4-FFF2-40B4-BE49-F238E27FC236}">
                <a16:creationId xmlns:a16="http://schemas.microsoft.com/office/drawing/2014/main" id="{119DB6A7-5CE5-FDFD-6D3D-118F8FA4A7F2}"/>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35843391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95B00-EEA4-2D14-D5A4-371634F681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586169-AA22-F2D1-288E-0CF20FF48B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ED34AF-61DE-2D64-E793-CCFAC5212A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6982E-01F5-2AD7-909C-57E304E91CCC}"/>
              </a:ext>
            </a:extLst>
          </p:cNvPr>
          <p:cNvSpPr>
            <a:spLocks noGrp="1"/>
          </p:cNvSpPr>
          <p:nvPr>
            <p:ph type="dt" sz="half" idx="10"/>
          </p:nvPr>
        </p:nvSpPr>
        <p:spPr/>
        <p:txBody>
          <a:bodyPr/>
          <a:lstStyle/>
          <a:p>
            <a:fld id="{B5D145EC-BB29-4884-9278-D298D16C61D0}" type="datetime1">
              <a:rPr lang="en-US" smtClean="0"/>
              <a:t>8/9/2024</a:t>
            </a:fld>
            <a:endParaRPr lang="en-US"/>
          </a:p>
        </p:txBody>
      </p:sp>
      <p:sp>
        <p:nvSpPr>
          <p:cNvPr id="6" name="Footer Placeholder 5">
            <a:extLst>
              <a:ext uri="{FF2B5EF4-FFF2-40B4-BE49-F238E27FC236}">
                <a16:creationId xmlns:a16="http://schemas.microsoft.com/office/drawing/2014/main" id="{4CC9F278-BBF5-DA58-2E00-68D357ADDD61}"/>
              </a:ext>
            </a:extLst>
          </p:cNvPr>
          <p:cNvSpPr>
            <a:spLocks noGrp="1"/>
          </p:cNvSpPr>
          <p:nvPr>
            <p:ph type="ftr" sz="quarter" idx="11"/>
          </p:nvPr>
        </p:nvSpPr>
        <p:spPr/>
        <p:txBody>
          <a:bodyPr/>
          <a:lstStyle/>
          <a:p>
            <a:r>
              <a:rPr lang="en-US"/>
              <a:t>School of Computing - CSE</a:t>
            </a:r>
          </a:p>
        </p:txBody>
      </p:sp>
      <p:sp>
        <p:nvSpPr>
          <p:cNvPr id="7" name="Slide Number Placeholder 6">
            <a:extLst>
              <a:ext uri="{FF2B5EF4-FFF2-40B4-BE49-F238E27FC236}">
                <a16:creationId xmlns:a16="http://schemas.microsoft.com/office/drawing/2014/main" id="{6D0D1A17-325C-5344-8E53-9A7A89ECEED0}"/>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1026706348"/>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033AF-AC18-41D5-1B7B-296C93D6D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08520C-F86D-A2AC-6120-03C6114569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B75BAA-50FB-DBBE-F44D-EAAAD9754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9FAB7A-5010-2348-5C78-C920C59D79A6}"/>
              </a:ext>
            </a:extLst>
          </p:cNvPr>
          <p:cNvSpPr>
            <a:spLocks noGrp="1"/>
          </p:cNvSpPr>
          <p:nvPr>
            <p:ph type="dt" sz="half" idx="10"/>
          </p:nvPr>
        </p:nvSpPr>
        <p:spPr/>
        <p:txBody>
          <a:bodyPr/>
          <a:lstStyle/>
          <a:p>
            <a:fld id="{D83C39C1-DC62-467A-941F-4F328771EB1B}" type="datetime1">
              <a:rPr lang="en-US" smtClean="0"/>
              <a:t>8/9/2024</a:t>
            </a:fld>
            <a:endParaRPr lang="en-US"/>
          </a:p>
        </p:txBody>
      </p:sp>
      <p:sp>
        <p:nvSpPr>
          <p:cNvPr id="6" name="Footer Placeholder 5">
            <a:extLst>
              <a:ext uri="{FF2B5EF4-FFF2-40B4-BE49-F238E27FC236}">
                <a16:creationId xmlns:a16="http://schemas.microsoft.com/office/drawing/2014/main" id="{5665DA65-AFDE-290D-8750-6ED98C34DE7E}"/>
              </a:ext>
            </a:extLst>
          </p:cNvPr>
          <p:cNvSpPr>
            <a:spLocks noGrp="1"/>
          </p:cNvSpPr>
          <p:nvPr>
            <p:ph type="ftr" sz="quarter" idx="11"/>
          </p:nvPr>
        </p:nvSpPr>
        <p:spPr/>
        <p:txBody>
          <a:bodyPr/>
          <a:lstStyle/>
          <a:p>
            <a:r>
              <a:rPr lang="en-US"/>
              <a:t>School of Computing - CSE</a:t>
            </a:r>
          </a:p>
        </p:txBody>
      </p:sp>
      <p:sp>
        <p:nvSpPr>
          <p:cNvPr id="7" name="Slide Number Placeholder 6">
            <a:extLst>
              <a:ext uri="{FF2B5EF4-FFF2-40B4-BE49-F238E27FC236}">
                <a16:creationId xmlns:a16="http://schemas.microsoft.com/office/drawing/2014/main" id="{BC6DDDF0-C9AB-1034-F8C3-DE8BAD756C53}"/>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1614326981"/>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1EF67-5FFA-C70F-00F4-BE0AD6F60A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96C91F-0490-F234-2E8C-4FDE0783C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817535-F391-CEEC-E75D-0A3E1C7F8418}"/>
              </a:ext>
            </a:extLst>
          </p:cNvPr>
          <p:cNvSpPr>
            <a:spLocks noGrp="1"/>
          </p:cNvSpPr>
          <p:nvPr>
            <p:ph type="dt" sz="half" idx="10"/>
          </p:nvPr>
        </p:nvSpPr>
        <p:spPr/>
        <p:txBody>
          <a:bodyPr/>
          <a:lstStyle/>
          <a:p>
            <a:fld id="{5FD5668D-0788-4BFF-BA77-8B47F6E8C423}" type="datetime1">
              <a:rPr lang="en-US" smtClean="0"/>
              <a:t>8/9/2024</a:t>
            </a:fld>
            <a:endParaRPr lang="en-US"/>
          </a:p>
        </p:txBody>
      </p:sp>
      <p:sp>
        <p:nvSpPr>
          <p:cNvPr id="5" name="Footer Placeholder 4">
            <a:extLst>
              <a:ext uri="{FF2B5EF4-FFF2-40B4-BE49-F238E27FC236}">
                <a16:creationId xmlns:a16="http://schemas.microsoft.com/office/drawing/2014/main" id="{276D6F9C-62CB-E782-378C-84D36CDDAC6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D5DDD7C6-954C-E408-2C2A-BF4E417E7DDD}"/>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2722392867"/>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5D681-EF46-EF3B-664A-9B03AB5E8A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E88C28-989D-6E32-FE4F-E1F6E9086A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399C2D-9AE9-C016-DEC0-E3DFB6A08ECF}"/>
              </a:ext>
            </a:extLst>
          </p:cNvPr>
          <p:cNvSpPr>
            <a:spLocks noGrp="1"/>
          </p:cNvSpPr>
          <p:nvPr>
            <p:ph type="dt" sz="half" idx="10"/>
          </p:nvPr>
        </p:nvSpPr>
        <p:spPr/>
        <p:txBody>
          <a:bodyPr/>
          <a:lstStyle/>
          <a:p>
            <a:fld id="{EB13FAA1-5D3C-4766-8396-F637213EC1D8}" type="datetime1">
              <a:rPr lang="en-US" smtClean="0"/>
              <a:t>8/9/2024</a:t>
            </a:fld>
            <a:endParaRPr lang="en-US"/>
          </a:p>
        </p:txBody>
      </p:sp>
      <p:sp>
        <p:nvSpPr>
          <p:cNvPr id="5" name="Footer Placeholder 4">
            <a:extLst>
              <a:ext uri="{FF2B5EF4-FFF2-40B4-BE49-F238E27FC236}">
                <a16:creationId xmlns:a16="http://schemas.microsoft.com/office/drawing/2014/main" id="{3FA83862-7AA2-E7A4-C111-BE7374F9883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19A6686-1DB5-9479-57FE-F00E73D3DCB9}"/>
              </a:ext>
            </a:extLst>
          </p:cNvPr>
          <p:cNvSpPr>
            <a:spLocks noGrp="1"/>
          </p:cNvSpPr>
          <p:nvPr>
            <p:ph type="sldNum" sz="quarter" idx="12"/>
          </p:nvPr>
        </p:nvSpPr>
        <p:spPr/>
        <p:txBody>
          <a:bodyPr/>
          <a:lstStyle/>
          <a:p>
            <a:fld id="{2A5418B4-7F8B-4384-94FB-175520CCF426}" type="slidenum">
              <a:rPr lang="en-US" smtClean="0"/>
              <a:pPr/>
              <a:t>‹#›</a:t>
            </a:fld>
            <a:endParaRPr lang="en-US"/>
          </a:p>
        </p:txBody>
      </p:sp>
    </p:spTree>
    <p:extLst>
      <p:ext uri="{BB962C8B-B14F-4D97-AF65-F5344CB8AC3E}">
        <p14:creationId xmlns:p14="http://schemas.microsoft.com/office/powerpoint/2010/main" val="1855094564"/>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8794F8-3DEB-63AB-FB81-71CBAA5FFE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BD2ADF-B803-9CD8-9AE0-F887E2CE99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255F8D-01C7-B987-B096-FECF3E1241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186E12-D736-41C1-BF1A-8F7201C13E84}" type="datetime1">
              <a:rPr lang="en-US" smtClean="0"/>
              <a:t>8/9/2024</a:t>
            </a:fld>
            <a:endParaRPr lang="en-US"/>
          </a:p>
        </p:txBody>
      </p:sp>
      <p:sp>
        <p:nvSpPr>
          <p:cNvPr id="5" name="Footer Placeholder 4">
            <a:extLst>
              <a:ext uri="{FF2B5EF4-FFF2-40B4-BE49-F238E27FC236}">
                <a16:creationId xmlns:a16="http://schemas.microsoft.com/office/drawing/2014/main" id="{15F9CA39-881E-5D80-1938-D5ABFE955E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a:extLst>
              <a:ext uri="{FF2B5EF4-FFF2-40B4-BE49-F238E27FC236}">
                <a16:creationId xmlns:a16="http://schemas.microsoft.com/office/drawing/2014/main" id="{2385DCFA-97A3-ED3A-E9A6-C8F6B27F0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18B4-7F8B-4384-94FB-175520CCF426}" type="slidenum">
              <a:rPr lang="en-US" smtClean="0"/>
              <a:pPr/>
              <a:t>‹#›</a:t>
            </a:fld>
            <a:endParaRPr lang="en-US"/>
          </a:p>
        </p:txBody>
      </p:sp>
    </p:spTree>
    <p:extLst>
      <p:ext uri="{BB962C8B-B14F-4D97-AF65-F5344CB8AC3E}">
        <p14:creationId xmlns:p14="http://schemas.microsoft.com/office/powerpoint/2010/main" val="68743182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wip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8777" y="514988"/>
            <a:ext cx="2970685" cy="523220"/>
          </a:xfrm>
          <a:prstGeom prst="rect">
            <a:avLst/>
          </a:prstGeom>
        </p:spPr>
        <p:txBody>
          <a:bodyPr wrap="none">
            <a:spAutoFit/>
          </a:bodyPr>
          <a:lstStyle/>
          <a:p>
            <a:r>
              <a:rPr lang="en-US" sz="2800" b="1" dirty="0">
                <a:latin typeface="Book Antiqua" panose="02040602050305030304" pitchFamily="18" charset="0"/>
              </a:rPr>
              <a:t>Network Models</a:t>
            </a:r>
          </a:p>
        </p:txBody>
      </p:sp>
      <p:sp>
        <p:nvSpPr>
          <p:cNvPr id="4" name="Rectangle 3"/>
          <p:cNvSpPr/>
          <p:nvPr/>
        </p:nvSpPr>
        <p:spPr>
          <a:xfrm>
            <a:off x="678777" y="1318483"/>
            <a:ext cx="11056023" cy="3416320"/>
          </a:xfrm>
          <a:prstGeom prst="rect">
            <a:avLst/>
          </a:prstGeom>
        </p:spPr>
        <p:txBody>
          <a:bodyPr wrap="square">
            <a:spAutoFit/>
          </a:bodyPr>
          <a:lstStyle/>
          <a:p>
            <a:r>
              <a:rPr lang="en-US" sz="2400" dirty="0">
                <a:latin typeface="Book Antiqua" panose="02040602050305030304" pitchFamily="18" charset="0"/>
              </a:rPr>
              <a:t>A network is a combination of </a:t>
            </a:r>
            <a:r>
              <a:rPr lang="en-US" sz="2400" i="1" u="sng" dirty="0">
                <a:latin typeface="Book Antiqua" panose="02040602050305030304" pitchFamily="18" charset="0"/>
              </a:rPr>
              <a:t>hardware</a:t>
            </a:r>
            <a:r>
              <a:rPr lang="en-US" sz="2400" dirty="0">
                <a:latin typeface="Book Antiqua" panose="02040602050305030304" pitchFamily="18" charset="0"/>
              </a:rPr>
              <a:t> and </a:t>
            </a:r>
            <a:r>
              <a:rPr lang="en-US" sz="2400" i="1" u="sng" dirty="0">
                <a:latin typeface="Book Antiqua" panose="02040602050305030304" pitchFamily="18" charset="0"/>
              </a:rPr>
              <a:t>software</a:t>
            </a:r>
            <a:r>
              <a:rPr lang="en-US" sz="2400" dirty="0">
                <a:latin typeface="Book Antiqua" panose="02040602050305030304" pitchFamily="18" charset="0"/>
              </a:rPr>
              <a:t> that sends data from one location to another</a:t>
            </a:r>
          </a:p>
          <a:p>
            <a:endParaRPr lang="en-US" sz="2400" dirty="0">
              <a:latin typeface="Book Antiqua" panose="02040602050305030304" pitchFamily="18" charset="0"/>
            </a:endParaRPr>
          </a:p>
          <a:p>
            <a:r>
              <a:rPr lang="en-US" sz="2400" b="1" dirty="0">
                <a:latin typeface="Book Antiqua" panose="02040602050305030304" pitchFamily="18" charset="0"/>
              </a:rPr>
              <a:t>Hardware</a:t>
            </a:r>
            <a:r>
              <a:rPr lang="en-US" sz="2400" dirty="0">
                <a:latin typeface="Book Antiqua" panose="02040602050305030304" pitchFamily="18" charset="0"/>
              </a:rPr>
              <a:t> : The hardware consists of the physical equipment that carries signals from one point of the network to another.</a:t>
            </a:r>
          </a:p>
          <a:p>
            <a:endParaRPr lang="en-US" sz="2400" dirty="0">
              <a:latin typeface="Book Antiqua" panose="02040602050305030304" pitchFamily="18" charset="0"/>
            </a:endParaRPr>
          </a:p>
          <a:p>
            <a:r>
              <a:rPr lang="en-US" sz="2400" b="1" dirty="0">
                <a:latin typeface="Book Antiqua" panose="02040602050305030304" pitchFamily="18" charset="0"/>
              </a:rPr>
              <a:t>Software</a:t>
            </a:r>
            <a:r>
              <a:rPr lang="en-US" sz="2400" dirty="0">
                <a:latin typeface="Book Antiqua" panose="02040602050305030304" pitchFamily="18" charset="0"/>
              </a:rPr>
              <a:t> : The software consists of instruction sets that make possible the services that we expect from a network.</a:t>
            </a:r>
          </a:p>
          <a:p>
            <a:endParaRPr lang="en-US" sz="24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1</a:t>
            </a:fld>
            <a:endParaRPr lang="en-US"/>
          </a:p>
        </p:txBody>
      </p:sp>
    </p:spTree>
    <p:extLst>
      <p:ext uri="{BB962C8B-B14F-4D97-AF65-F5344CB8AC3E}">
        <p14:creationId xmlns:p14="http://schemas.microsoft.com/office/powerpoint/2010/main" val="28506528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0545" y="556782"/>
            <a:ext cx="6096000" cy="4770537"/>
          </a:xfrm>
          <a:prstGeom prst="rect">
            <a:avLst/>
          </a:prstGeom>
        </p:spPr>
        <p:txBody>
          <a:bodyPr>
            <a:spAutoFit/>
          </a:bodyPr>
          <a:lstStyle/>
          <a:p>
            <a:pPr>
              <a:lnSpc>
                <a:spcPct val="200000"/>
              </a:lnSpc>
            </a:pPr>
            <a:r>
              <a:rPr lang="en-US" sz="2800" b="1" dirty="0">
                <a:latin typeface="Book Antiqua" panose="02040602050305030304" pitchFamily="18" charset="0"/>
              </a:rPr>
              <a:t>Network Layer Basic Classification</a:t>
            </a:r>
            <a:br>
              <a:rPr lang="en-US" sz="2800" b="1" dirty="0">
                <a:latin typeface="Book Antiqua" panose="02040602050305030304" pitchFamily="18" charset="0"/>
              </a:rPr>
            </a:br>
            <a:endParaRPr lang="en-US" sz="2800" b="1" dirty="0">
              <a:latin typeface="Book Antiqua" panose="02040602050305030304" pitchFamily="18" charset="0"/>
            </a:endParaRPr>
          </a:p>
          <a:p>
            <a:pPr marL="342900" indent="-342900">
              <a:lnSpc>
                <a:spcPct val="200000"/>
              </a:lnSpc>
              <a:buFont typeface="Wingdings" panose="05000000000000000000" pitchFamily="2" charset="2"/>
              <a:buChar char="v"/>
            </a:pPr>
            <a:r>
              <a:rPr lang="en-US" sz="2400" dirty="0">
                <a:latin typeface="Book Antiqua" panose="02040602050305030304" pitchFamily="18" charset="0"/>
              </a:rPr>
              <a:t>Layered Tasks</a:t>
            </a:r>
          </a:p>
          <a:p>
            <a:pPr marL="342900" indent="-342900">
              <a:lnSpc>
                <a:spcPct val="200000"/>
              </a:lnSpc>
              <a:buFont typeface="Wingdings" panose="05000000000000000000" pitchFamily="2" charset="2"/>
              <a:buChar char="v"/>
            </a:pPr>
            <a:r>
              <a:rPr lang="en-US" sz="2400" dirty="0">
                <a:latin typeface="Book Antiqua" panose="02040602050305030304" pitchFamily="18" charset="0"/>
              </a:rPr>
              <a:t>OSI Model</a:t>
            </a:r>
          </a:p>
          <a:p>
            <a:pPr marL="342900" indent="-342900">
              <a:lnSpc>
                <a:spcPct val="200000"/>
              </a:lnSpc>
              <a:buFont typeface="Wingdings" panose="05000000000000000000" pitchFamily="2" charset="2"/>
              <a:buChar char="v"/>
            </a:pPr>
            <a:r>
              <a:rPr lang="en-US" sz="2400" dirty="0">
                <a:latin typeface="Book Antiqua" panose="02040602050305030304" pitchFamily="18" charset="0"/>
              </a:rPr>
              <a:t>TCP / IP Model</a:t>
            </a:r>
          </a:p>
          <a:p>
            <a:pPr marL="342900" indent="-342900">
              <a:lnSpc>
                <a:spcPct val="200000"/>
              </a:lnSpc>
              <a:buFont typeface="Wingdings" panose="05000000000000000000" pitchFamily="2" charset="2"/>
              <a:buChar char="v"/>
            </a:pPr>
            <a:r>
              <a:rPr lang="en-US" sz="2400" dirty="0">
                <a:latin typeface="Book Antiqua" panose="02040602050305030304" pitchFamily="18" charset="0"/>
              </a:rPr>
              <a:t>Addressing</a:t>
            </a:r>
          </a:p>
        </p:txBody>
      </p:sp>
      <p:sp>
        <p:nvSpPr>
          <p:cNvPr id="5" name="Slide Number Placeholder 4"/>
          <p:cNvSpPr>
            <a:spLocks noGrp="1"/>
          </p:cNvSpPr>
          <p:nvPr>
            <p:ph type="sldNum" sz="quarter" idx="12"/>
          </p:nvPr>
        </p:nvSpPr>
        <p:spPr/>
        <p:txBody>
          <a:bodyPr/>
          <a:lstStyle/>
          <a:p>
            <a:fld id="{2A5418B4-7F8B-4384-94FB-175520CCF426}" type="slidenum">
              <a:rPr lang="en-US" smtClean="0"/>
              <a:pPr/>
              <a:t>2</a:t>
            </a:fld>
            <a:endParaRPr lang="en-US"/>
          </a:p>
        </p:txBody>
      </p:sp>
    </p:spTree>
    <p:extLst>
      <p:ext uri="{BB962C8B-B14F-4D97-AF65-F5344CB8AC3E}">
        <p14:creationId xmlns:p14="http://schemas.microsoft.com/office/powerpoint/2010/main" val="177339934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2813" y="598115"/>
            <a:ext cx="2547492" cy="523220"/>
          </a:xfrm>
          <a:prstGeom prst="rect">
            <a:avLst/>
          </a:prstGeom>
        </p:spPr>
        <p:txBody>
          <a:bodyPr wrap="none">
            <a:spAutoFit/>
          </a:bodyPr>
          <a:lstStyle/>
          <a:p>
            <a:r>
              <a:rPr lang="en-US" sz="2800" b="1" dirty="0">
                <a:latin typeface="Book Antiqua" panose="02040602050305030304" pitchFamily="18" charset="0"/>
              </a:rPr>
              <a:t>Layered Tasks</a:t>
            </a:r>
          </a:p>
        </p:txBody>
      </p:sp>
      <p:sp>
        <p:nvSpPr>
          <p:cNvPr id="3" name="Rectangle 2"/>
          <p:cNvSpPr/>
          <p:nvPr/>
        </p:nvSpPr>
        <p:spPr>
          <a:xfrm>
            <a:off x="752813" y="1540225"/>
            <a:ext cx="8438529" cy="1938992"/>
          </a:xfrm>
          <a:prstGeom prst="rect">
            <a:avLst/>
          </a:prstGeom>
        </p:spPr>
        <p:txBody>
          <a:bodyPr wrap="none">
            <a:spAutoFit/>
          </a:bodyPr>
          <a:lstStyle/>
          <a:p>
            <a:r>
              <a:rPr lang="en-US" sz="2400" dirty="0">
                <a:latin typeface="Book Antiqua" panose="02040602050305030304" pitchFamily="18" charset="0"/>
              </a:rPr>
              <a:t>We use the concept of layers in our daily life</a:t>
            </a:r>
          </a:p>
          <a:p>
            <a:br>
              <a:rPr lang="en-US" sz="2400" dirty="0">
                <a:latin typeface="Book Antiqua" panose="02040602050305030304" pitchFamily="18" charset="0"/>
              </a:rPr>
            </a:br>
            <a:r>
              <a:rPr lang="en-US" sz="2400" b="1" i="1" dirty="0">
                <a:latin typeface="Book Antiqua" panose="02040602050305030304" pitchFamily="18" charset="0"/>
              </a:rPr>
              <a:t>Example :</a:t>
            </a:r>
          </a:p>
          <a:p>
            <a:br>
              <a:rPr lang="en-US" sz="2400" dirty="0">
                <a:latin typeface="Book Antiqua" panose="02040602050305030304" pitchFamily="18" charset="0"/>
              </a:rPr>
            </a:br>
            <a:r>
              <a:rPr lang="en-US" sz="2400" dirty="0">
                <a:latin typeface="Book Antiqua" panose="02040602050305030304" pitchFamily="18" charset="0"/>
              </a:rPr>
              <a:t>Consider two friends who communicate through postal mail</a:t>
            </a:r>
          </a:p>
        </p:txBody>
      </p:sp>
      <p:sp>
        <p:nvSpPr>
          <p:cNvPr id="6" name="Slide Number Placeholder 5"/>
          <p:cNvSpPr>
            <a:spLocks noGrp="1"/>
          </p:cNvSpPr>
          <p:nvPr>
            <p:ph type="sldNum" sz="quarter" idx="12"/>
          </p:nvPr>
        </p:nvSpPr>
        <p:spPr/>
        <p:txBody>
          <a:bodyPr/>
          <a:lstStyle/>
          <a:p>
            <a:fld id="{2A5418B4-7F8B-4384-94FB-175520CCF426}" type="slidenum">
              <a:rPr lang="en-US" smtClean="0"/>
              <a:pPr/>
              <a:t>3</a:t>
            </a:fld>
            <a:endParaRPr lang="en-US"/>
          </a:p>
        </p:txBody>
      </p:sp>
    </p:spTree>
    <p:extLst>
      <p:ext uri="{BB962C8B-B14F-4D97-AF65-F5344CB8AC3E}">
        <p14:creationId xmlns:p14="http://schemas.microsoft.com/office/powerpoint/2010/main" val="149955897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489362" y="403543"/>
            <a:ext cx="1191491" cy="7204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SENDER</a:t>
            </a:r>
          </a:p>
        </p:txBody>
      </p:sp>
      <p:sp>
        <p:nvSpPr>
          <p:cNvPr id="3" name="Rounded Rectangle 2"/>
          <p:cNvSpPr/>
          <p:nvPr/>
        </p:nvSpPr>
        <p:spPr>
          <a:xfrm>
            <a:off x="969817" y="1579637"/>
            <a:ext cx="2452255" cy="14694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Letter is written, put in an envelope and dropped in a mailbox</a:t>
            </a:r>
          </a:p>
        </p:txBody>
      </p:sp>
      <p:sp>
        <p:nvSpPr>
          <p:cNvPr id="4" name="Rounded Rectangle 3"/>
          <p:cNvSpPr/>
          <p:nvPr/>
        </p:nvSpPr>
        <p:spPr>
          <a:xfrm>
            <a:off x="969817" y="3435816"/>
            <a:ext cx="2452255" cy="14694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Letter is carried from the mailbox to a </a:t>
            </a:r>
            <a:r>
              <a:rPr lang="en-US" dirty="0" err="1"/>
              <a:t>postoffice</a:t>
            </a:r>
            <a:endParaRPr lang="en-US" dirty="0"/>
          </a:p>
        </p:txBody>
      </p:sp>
      <p:sp>
        <p:nvSpPr>
          <p:cNvPr id="5" name="Rounded Rectangle 4"/>
          <p:cNvSpPr/>
          <p:nvPr/>
        </p:nvSpPr>
        <p:spPr>
          <a:xfrm>
            <a:off x="969817" y="5291996"/>
            <a:ext cx="2452255" cy="14694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letter is delivered to a carrier by the post office</a:t>
            </a:r>
          </a:p>
        </p:txBody>
      </p:sp>
      <p:sp>
        <p:nvSpPr>
          <p:cNvPr id="6" name="Down Arrow 5"/>
          <p:cNvSpPr/>
          <p:nvPr/>
        </p:nvSpPr>
        <p:spPr>
          <a:xfrm>
            <a:off x="1939636" y="1233055"/>
            <a:ext cx="256308" cy="2355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a:off x="1939636" y="3160157"/>
            <a:ext cx="256308" cy="2355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a:off x="1939636" y="5013032"/>
            <a:ext cx="256308" cy="2355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9192489" y="403543"/>
            <a:ext cx="1191491" cy="7204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RECEIVER</a:t>
            </a:r>
          </a:p>
        </p:txBody>
      </p:sp>
      <p:sp>
        <p:nvSpPr>
          <p:cNvPr id="10" name="Rounded Rectangle 9"/>
          <p:cNvSpPr/>
          <p:nvPr/>
        </p:nvSpPr>
        <p:spPr>
          <a:xfrm>
            <a:off x="8562106" y="1550385"/>
            <a:ext cx="2452255" cy="14694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Letter is picked up, removed from the envelope, and read</a:t>
            </a:r>
          </a:p>
        </p:txBody>
      </p:sp>
      <p:sp>
        <p:nvSpPr>
          <p:cNvPr id="11" name="Rounded Rectangle 10"/>
          <p:cNvSpPr/>
          <p:nvPr/>
        </p:nvSpPr>
        <p:spPr>
          <a:xfrm>
            <a:off x="8562106" y="3435816"/>
            <a:ext cx="2452255" cy="14694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letter is carried from the post office to the mailbox</a:t>
            </a:r>
          </a:p>
        </p:txBody>
      </p:sp>
      <p:sp>
        <p:nvSpPr>
          <p:cNvPr id="12" name="Rounded Rectangle 11"/>
          <p:cNvSpPr/>
          <p:nvPr/>
        </p:nvSpPr>
        <p:spPr>
          <a:xfrm>
            <a:off x="8562106" y="5248559"/>
            <a:ext cx="2452255" cy="14694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letter is delivered from the carrier to the post office</a:t>
            </a:r>
          </a:p>
        </p:txBody>
      </p:sp>
      <p:sp>
        <p:nvSpPr>
          <p:cNvPr id="17" name="Up Arrow 16"/>
          <p:cNvSpPr/>
          <p:nvPr/>
        </p:nvSpPr>
        <p:spPr>
          <a:xfrm>
            <a:off x="9656614" y="1227751"/>
            <a:ext cx="263237" cy="20842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Up Arrow 17"/>
          <p:cNvSpPr/>
          <p:nvPr/>
        </p:nvSpPr>
        <p:spPr>
          <a:xfrm>
            <a:off x="9656614" y="3127517"/>
            <a:ext cx="263237" cy="20842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Up Arrow 18"/>
          <p:cNvSpPr/>
          <p:nvPr/>
        </p:nvSpPr>
        <p:spPr>
          <a:xfrm>
            <a:off x="9656614" y="4972708"/>
            <a:ext cx="263237" cy="20842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226943" y="2129703"/>
            <a:ext cx="1530291" cy="369332"/>
          </a:xfrm>
          <a:prstGeom prst="rect">
            <a:avLst/>
          </a:prstGeom>
          <a:noFill/>
        </p:spPr>
        <p:txBody>
          <a:bodyPr wrap="none" rtlCol="0">
            <a:spAutoFit/>
          </a:bodyPr>
          <a:lstStyle/>
          <a:p>
            <a:r>
              <a:rPr lang="en-US" dirty="0"/>
              <a:t>HIGHER LAYER</a:t>
            </a:r>
          </a:p>
        </p:txBody>
      </p:sp>
      <p:sp>
        <p:nvSpPr>
          <p:cNvPr id="22" name="TextBox 21"/>
          <p:cNvSpPr txBox="1"/>
          <p:nvPr/>
        </p:nvSpPr>
        <p:spPr>
          <a:xfrm>
            <a:off x="5226942" y="3865382"/>
            <a:ext cx="1551130" cy="369332"/>
          </a:xfrm>
          <a:prstGeom prst="rect">
            <a:avLst/>
          </a:prstGeom>
          <a:noFill/>
        </p:spPr>
        <p:txBody>
          <a:bodyPr wrap="none" rtlCol="0">
            <a:spAutoFit/>
          </a:bodyPr>
          <a:lstStyle/>
          <a:p>
            <a:r>
              <a:rPr lang="en-US" dirty="0"/>
              <a:t>MIDDLE LAYER</a:t>
            </a:r>
          </a:p>
        </p:txBody>
      </p:sp>
      <p:sp>
        <p:nvSpPr>
          <p:cNvPr id="23" name="TextBox 22"/>
          <p:cNvSpPr txBox="1"/>
          <p:nvPr/>
        </p:nvSpPr>
        <p:spPr>
          <a:xfrm>
            <a:off x="5226942" y="5561133"/>
            <a:ext cx="1485856" cy="369332"/>
          </a:xfrm>
          <a:prstGeom prst="rect">
            <a:avLst/>
          </a:prstGeom>
          <a:noFill/>
        </p:spPr>
        <p:txBody>
          <a:bodyPr wrap="none" rtlCol="0">
            <a:spAutoFit/>
          </a:bodyPr>
          <a:lstStyle/>
          <a:p>
            <a:r>
              <a:rPr lang="en-US" dirty="0"/>
              <a:t>LOWER LAYER</a:t>
            </a:r>
          </a:p>
        </p:txBody>
      </p:sp>
      <p:sp>
        <p:nvSpPr>
          <p:cNvPr id="24" name="Right Arrow 23"/>
          <p:cNvSpPr/>
          <p:nvPr/>
        </p:nvSpPr>
        <p:spPr>
          <a:xfrm>
            <a:off x="3432490" y="5930465"/>
            <a:ext cx="5140034" cy="7875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parcel carried from the source to the destination</a:t>
            </a:r>
          </a:p>
          <a:p>
            <a:pPr algn="ctr"/>
            <a:endParaRPr lang="en-US" dirty="0"/>
          </a:p>
        </p:txBody>
      </p:sp>
      <p:sp>
        <p:nvSpPr>
          <p:cNvPr id="15" name="Slide Number Placeholder 14"/>
          <p:cNvSpPr>
            <a:spLocks noGrp="1"/>
          </p:cNvSpPr>
          <p:nvPr>
            <p:ph type="sldNum" sz="quarter" idx="12"/>
          </p:nvPr>
        </p:nvSpPr>
        <p:spPr/>
        <p:txBody>
          <a:bodyPr/>
          <a:lstStyle/>
          <a:p>
            <a:fld id="{2A5418B4-7F8B-4384-94FB-175520CCF426}" type="slidenum">
              <a:rPr lang="en-US" smtClean="0"/>
              <a:pPr/>
              <a:t>4</a:t>
            </a:fld>
            <a:endParaRPr lang="en-US"/>
          </a:p>
        </p:txBody>
      </p:sp>
    </p:spTree>
    <p:extLst>
      <p:ext uri="{BB962C8B-B14F-4D97-AF65-F5344CB8AC3E}">
        <p14:creationId xmlns:p14="http://schemas.microsoft.com/office/powerpoint/2010/main" val="2802244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9" grpId="0" animBg="1"/>
      <p:bldP spid="10" grpId="0" animBg="1"/>
      <p:bldP spid="11" grpId="0" animBg="1"/>
      <p:bldP spid="12"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6991" y="418006"/>
            <a:ext cx="2331087" cy="523220"/>
          </a:xfrm>
          <a:prstGeom prst="rect">
            <a:avLst/>
          </a:prstGeom>
        </p:spPr>
        <p:txBody>
          <a:bodyPr wrap="none">
            <a:spAutoFit/>
          </a:bodyPr>
          <a:lstStyle/>
          <a:p>
            <a:r>
              <a:rPr lang="en-US" sz="2800" b="1" dirty="0">
                <a:latin typeface="Book Antiqua" panose="02040602050305030304" pitchFamily="18" charset="0"/>
              </a:rPr>
              <a:t>OSI MODEL</a:t>
            </a:r>
          </a:p>
        </p:txBody>
      </p:sp>
      <p:sp>
        <p:nvSpPr>
          <p:cNvPr id="3" name="Rectangle 2"/>
          <p:cNvSpPr/>
          <p:nvPr/>
        </p:nvSpPr>
        <p:spPr>
          <a:xfrm>
            <a:off x="826991" y="1415718"/>
            <a:ext cx="10824682" cy="4154984"/>
          </a:xfrm>
          <a:prstGeom prst="rect">
            <a:avLst/>
          </a:prstGeom>
        </p:spPr>
        <p:txBody>
          <a:bodyPr wrap="square">
            <a:spAutoFit/>
          </a:bodyPr>
          <a:lstStyle/>
          <a:p>
            <a:pPr>
              <a:lnSpc>
                <a:spcPct val="200000"/>
              </a:lnSpc>
            </a:pPr>
            <a:r>
              <a:rPr lang="en-US" sz="2200" b="1" i="1" dirty="0">
                <a:latin typeface="Book Antiqua" panose="02040602050305030304" pitchFamily="18" charset="0"/>
              </a:rPr>
              <a:t>What is ISO ?</a:t>
            </a:r>
          </a:p>
          <a:p>
            <a:pPr>
              <a:lnSpc>
                <a:spcPct val="200000"/>
              </a:lnSpc>
            </a:pPr>
            <a:r>
              <a:rPr lang="en-US" sz="2200" dirty="0">
                <a:latin typeface="Book Antiqua" panose="02040602050305030304" pitchFamily="18" charset="0"/>
              </a:rPr>
              <a:t>Established in 1947, the International Standards Organization (ISO) is a multinational body dedicated to worldwide agreement on international standards.</a:t>
            </a:r>
          </a:p>
          <a:p>
            <a:pPr>
              <a:lnSpc>
                <a:spcPct val="200000"/>
              </a:lnSpc>
            </a:pPr>
            <a:r>
              <a:rPr lang="en-US" sz="2200" b="1" i="1" dirty="0">
                <a:latin typeface="Book Antiqua" panose="02040602050305030304" pitchFamily="18" charset="0"/>
              </a:rPr>
              <a:t>What is OSI ?</a:t>
            </a:r>
          </a:p>
          <a:p>
            <a:pPr>
              <a:lnSpc>
                <a:spcPct val="200000"/>
              </a:lnSpc>
            </a:pPr>
            <a:r>
              <a:rPr lang="en-US" sz="2200" dirty="0">
                <a:latin typeface="Book Antiqua" panose="02040602050305030304" pitchFamily="18" charset="0"/>
              </a:rPr>
              <a:t>An ISO standard that covers all aspects of network communications is the Open Systems Interconnection (OSI) model. It was first introduced in the late </a:t>
            </a:r>
            <a:r>
              <a:rPr lang="en-US" sz="2200" b="1" i="1" dirty="0">
                <a:latin typeface="Book Antiqua" panose="02040602050305030304" pitchFamily="18" charset="0"/>
              </a:rPr>
              <a:t>1970s</a:t>
            </a:r>
            <a:r>
              <a:rPr lang="en-US" sz="2200" dirty="0">
                <a:latin typeface="Book Antiqua" panose="02040602050305030304" pitchFamily="18" charset="0"/>
              </a:rPr>
              <a:t>.</a:t>
            </a:r>
          </a:p>
        </p:txBody>
      </p:sp>
      <p:sp>
        <p:nvSpPr>
          <p:cNvPr id="6" name="Slide Number Placeholder 5"/>
          <p:cNvSpPr>
            <a:spLocks noGrp="1"/>
          </p:cNvSpPr>
          <p:nvPr>
            <p:ph type="sldNum" sz="quarter" idx="12"/>
          </p:nvPr>
        </p:nvSpPr>
        <p:spPr/>
        <p:txBody>
          <a:bodyPr/>
          <a:lstStyle/>
          <a:p>
            <a:fld id="{2A5418B4-7F8B-4384-94FB-175520CCF426}" type="slidenum">
              <a:rPr lang="en-US" smtClean="0"/>
              <a:pPr/>
              <a:t>5</a:t>
            </a:fld>
            <a:endParaRPr lang="en-US"/>
          </a:p>
        </p:txBody>
      </p:sp>
    </p:spTree>
    <p:extLst>
      <p:ext uri="{BB962C8B-B14F-4D97-AF65-F5344CB8AC3E}">
        <p14:creationId xmlns:p14="http://schemas.microsoft.com/office/powerpoint/2010/main" val="100974144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8509" y="140915"/>
            <a:ext cx="3626314" cy="523220"/>
          </a:xfrm>
          <a:prstGeom prst="rect">
            <a:avLst/>
          </a:prstGeom>
        </p:spPr>
        <p:txBody>
          <a:bodyPr wrap="none">
            <a:spAutoFit/>
          </a:bodyPr>
          <a:lstStyle/>
          <a:p>
            <a:r>
              <a:rPr lang="en-US" sz="2800" b="1" dirty="0">
                <a:latin typeface="Book Antiqua" panose="02040602050305030304" pitchFamily="18" charset="0"/>
              </a:rPr>
              <a:t>Layered Architecture</a:t>
            </a:r>
          </a:p>
        </p:txBody>
      </p:sp>
      <p:sp>
        <p:nvSpPr>
          <p:cNvPr id="3" name="Round Diagonal Corner Rectangle 2"/>
          <p:cNvSpPr/>
          <p:nvPr/>
        </p:nvSpPr>
        <p:spPr>
          <a:xfrm>
            <a:off x="3796145" y="664135"/>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APPLICATION LAYER</a:t>
            </a:r>
          </a:p>
        </p:txBody>
      </p:sp>
      <p:sp>
        <p:nvSpPr>
          <p:cNvPr id="4" name="Round Diagonal Corner Rectangle 3"/>
          <p:cNvSpPr/>
          <p:nvPr/>
        </p:nvSpPr>
        <p:spPr>
          <a:xfrm>
            <a:off x="3796145" y="1540646"/>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PRESENTATION LAYER</a:t>
            </a:r>
          </a:p>
        </p:txBody>
      </p:sp>
      <p:sp>
        <p:nvSpPr>
          <p:cNvPr id="5" name="Round Diagonal Corner Rectangle 4"/>
          <p:cNvSpPr/>
          <p:nvPr/>
        </p:nvSpPr>
        <p:spPr>
          <a:xfrm>
            <a:off x="3796145" y="2404036"/>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SESSION LAYER</a:t>
            </a:r>
          </a:p>
        </p:txBody>
      </p:sp>
      <p:sp>
        <p:nvSpPr>
          <p:cNvPr id="6" name="Round Diagonal Corner Rectangle 5"/>
          <p:cNvSpPr/>
          <p:nvPr/>
        </p:nvSpPr>
        <p:spPr>
          <a:xfrm>
            <a:off x="3796145" y="3289627"/>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TRANSPORT LAYER</a:t>
            </a:r>
          </a:p>
        </p:txBody>
      </p:sp>
      <p:sp>
        <p:nvSpPr>
          <p:cNvPr id="7" name="Round Diagonal Corner Rectangle 6"/>
          <p:cNvSpPr/>
          <p:nvPr/>
        </p:nvSpPr>
        <p:spPr>
          <a:xfrm>
            <a:off x="3796145" y="4175218"/>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NETWORK LAYER</a:t>
            </a:r>
          </a:p>
        </p:txBody>
      </p:sp>
      <p:sp>
        <p:nvSpPr>
          <p:cNvPr id="8" name="Round Diagonal Corner Rectangle 7"/>
          <p:cNvSpPr/>
          <p:nvPr/>
        </p:nvSpPr>
        <p:spPr>
          <a:xfrm>
            <a:off x="3796145" y="5060809"/>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LINK LAYER</a:t>
            </a:r>
          </a:p>
        </p:txBody>
      </p:sp>
      <p:sp>
        <p:nvSpPr>
          <p:cNvPr id="9" name="Round Diagonal Corner Rectangle 8"/>
          <p:cNvSpPr/>
          <p:nvPr/>
        </p:nvSpPr>
        <p:spPr>
          <a:xfrm>
            <a:off x="3796145" y="5946400"/>
            <a:ext cx="3810000" cy="70658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PHYSICAL LAYER</a:t>
            </a:r>
          </a:p>
        </p:txBody>
      </p:sp>
      <p:sp>
        <p:nvSpPr>
          <p:cNvPr id="12" name="Slide Number Placeholder 11"/>
          <p:cNvSpPr>
            <a:spLocks noGrp="1"/>
          </p:cNvSpPr>
          <p:nvPr>
            <p:ph type="sldNum" sz="quarter" idx="12"/>
          </p:nvPr>
        </p:nvSpPr>
        <p:spPr/>
        <p:txBody>
          <a:bodyPr/>
          <a:lstStyle/>
          <a:p>
            <a:fld id="{2A5418B4-7F8B-4384-94FB-175520CCF426}" type="slidenum">
              <a:rPr lang="en-US" smtClean="0"/>
              <a:pPr/>
              <a:t>6</a:t>
            </a:fld>
            <a:endParaRPr lang="en-US"/>
          </a:p>
        </p:txBody>
      </p:sp>
    </p:spTree>
    <p:extLst>
      <p:ext uri="{BB962C8B-B14F-4D97-AF65-F5344CB8AC3E}">
        <p14:creationId xmlns:p14="http://schemas.microsoft.com/office/powerpoint/2010/main" val="8790428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80">
                                          <p:stCondLst>
                                            <p:cond delay="0"/>
                                          </p:stCondLst>
                                        </p:cTn>
                                        <p:tgtEl>
                                          <p:spTgt spid="4"/>
                                        </p:tgtEl>
                                      </p:cBhvr>
                                    </p:animEffect>
                                    <p:anim calcmode="lin" valueType="num">
                                      <p:cBhvr>
                                        <p:cTn id="2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gtEl>
                                      </p:cBhvr>
                                      <p:to x="100000" y="60000"/>
                                    </p:animScale>
                                    <p:animScale>
                                      <p:cBhvr>
                                        <p:cTn id="32" dur="166" decel="50000">
                                          <p:stCondLst>
                                            <p:cond delay="676"/>
                                          </p:stCondLst>
                                        </p:cTn>
                                        <p:tgtEl>
                                          <p:spTgt spid="4"/>
                                        </p:tgtEl>
                                      </p:cBhvr>
                                      <p:to x="100000" y="100000"/>
                                    </p:animScale>
                                    <p:animScale>
                                      <p:cBhvr>
                                        <p:cTn id="33" dur="26">
                                          <p:stCondLst>
                                            <p:cond delay="1312"/>
                                          </p:stCondLst>
                                        </p:cTn>
                                        <p:tgtEl>
                                          <p:spTgt spid="4"/>
                                        </p:tgtEl>
                                      </p:cBhvr>
                                      <p:to x="100000" y="80000"/>
                                    </p:animScale>
                                    <p:animScale>
                                      <p:cBhvr>
                                        <p:cTn id="34" dur="166" decel="50000">
                                          <p:stCondLst>
                                            <p:cond delay="1338"/>
                                          </p:stCondLst>
                                        </p:cTn>
                                        <p:tgtEl>
                                          <p:spTgt spid="4"/>
                                        </p:tgtEl>
                                      </p:cBhvr>
                                      <p:to x="100000" y="100000"/>
                                    </p:animScale>
                                    <p:animScale>
                                      <p:cBhvr>
                                        <p:cTn id="35" dur="26">
                                          <p:stCondLst>
                                            <p:cond delay="1642"/>
                                          </p:stCondLst>
                                        </p:cTn>
                                        <p:tgtEl>
                                          <p:spTgt spid="4"/>
                                        </p:tgtEl>
                                      </p:cBhvr>
                                      <p:to x="100000" y="90000"/>
                                    </p:animScale>
                                    <p:animScale>
                                      <p:cBhvr>
                                        <p:cTn id="36" dur="166" decel="50000">
                                          <p:stCondLst>
                                            <p:cond delay="1668"/>
                                          </p:stCondLst>
                                        </p:cTn>
                                        <p:tgtEl>
                                          <p:spTgt spid="4"/>
                                        </p:tgtEl>
                                      </p:cBhvr>
                                      <p:to x="100000" y="100000"/>
                                    </p:animScale>
                                    <p:animScale>
                                      <p:cBhvr>
                                        <p:cTn id="37" dur="26">
                                          <p:stCondLst>
                                            <p:cond delay="1808"/>
                                          </p:stCondLst>
                                        </p:cTn>
                                        <p:tgtEl>
                                          <p:spTgt spid="4"/>
                                        </p:tgtEl>
                                      </p:cBhvr>
                                      <p:to x="100000" y="95000"/>
                                    </p:animScale>
                                    <p:animScale>
                                      <p:cBhvr>
                                        <p:cTn id="38" dur="166" decel="50000">
                                          <p:stCondLst>
                                            <p:cond delay="1834"/>
                                          </p:stCondLst>
                                        </p:cTn>
                                        <p:tgtEl>
                                          <p:spTgt spid="4"/>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down)">
                                      <p:cBhvr>
                                        <p:cTn id="43" dur="580">
                                          <p:stCondLst>
                                            <p:cond delay="0"/>
                                          </p:stCondLst>
                                        </p:cTn>
                                        <p:tgtEl>
                                          <p:spTgt spid="5"/>
                                        </p:tgtEl>
                                      </p:cBhvr>
                                    </p:animEffect>
                                    <p:anim calcmode="lin" valueType="num">
                                      <p:cBhvr>
                                        <p:cTn id="4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9" dur="26">
                                          <p:stCondLst>
                                            <p:cond delay="650"/>
                                          </p:stCondLst>
                                        </p:cTn>
                                        <p:tgtEl>
                                          <p:spTgt spid="5"/>
                                        </p:tgtEl>
                                      </p:cBhvr>
                                      <p:to x="100000" y="60000"/>
                                    </p:animScale>
                                    <p:animScale>
                                      <p:cBhvr>
                                        <p:cTn id="50" dur="166" decel="50000">
                                          <p:stCondLst>
                                            <p:cond delay="676"/>
                                          </p:stCondLst>
                                        </p:cTn>
                                        <p:tgtEl>
                                          <p:spTgt spid="5"/>
                                        </p:tgtEl>
                                      </p:cBhvr>
                                      <p:to x="100000" y="100000"/>
                                    </p:animScale>
                                    <p:animScale>
                                      <p:cBhvr>
                                        <p:cTn id="51" dur="26">
                                          <p:stCondLst>
                                            <p:cond delay="1312"/>
                                          </p:stCondLst>
                                        </p:cTn>
                                        <p:tgtEl>
                                          <p:spTgt spid="5"/>
                                        </p:tgtEl>
                                      </p:cBhvr>
                                      <p:to x="100000" y="80000"/>
                                    </p:animScale>
                                    <p:animScale>
                                      <p:cBhvr>
                                        <p:cTn id="52" dur="166" decel="50000">
                                          <p:stCondLst>
                                            <p:cond delay="1338"/>
                                          </p:stCondLst>
                                        </p:cTn>
                                        <p:tgtEl>
                                          <p:spTgt spid="5"/>
                                        </p:tgtEl>
                                      </p:cBhvr>
                                      <p:to x="100000" y="100000"/>
                                    </p:animScale>
                                    <p:animScale>
                                      <p:cBhvr>
                                        <p:cTn id="53" dur="26">
                                          <p:stCondLst>
                                            <p:cond delay="1642"/>
                                          </p:stCondLst>
                                        </p:cTn>
                                        <p:tgtEl>
                                          <p:spTgt spid="5"/>
                                        </p:tgtEl>
                                      </p:cBhvr>
                                      <p:to x="100000" y="90000"/>
                                    </p:animScale>
                                    <p:animScale>
                                      <p:cBhvr>
                                        <p:cTn id="54" dur="166" decel="50000">
                                          <p:stCondLst>
                                            <p:cond delay="1668"/>
                                          </p:stCondLst>
                                        </p:cTn>
                                        <p:tgtEl>
                                          <p:spTgt spid="5"/>
                                        </p:tgtEl>
                                      </p:cBhvr>
                                      <p:to x="100000" y="100000"/>
                                    </p:animScale>
                                    <p:animScale>
                                      <p:cBhvr>
                                        <p:cTn id="55" dur="26">
                                          <p:stCondLst>
                                            <p:cond delay="1808"/>
                                          </p:stCondLst>
                                        </p:cTn>
                                        <p:tgtEl>
                                          <p:spTgt spid="5"/>
                                        </p:tgtEl>
                                      </p:cBhvr>
                                      <p:to x="100000" y="95000"/>
                                    </p:animScale>
                                    <p:animScale>
                                      <p:cBhvr>
                                        <p:cTn id="56" dur="166" decel="50000">
                                          <p:stCondLst>
                                            <p:cond delay="1834"/>
                                          </p:stCondLst>
                                        </p:cTn>
                                        <p:tgtEl>
                                          <p:spTgt spid="5"/>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wipe(down)">
                                      <p:cBhvr>
                                        <p:cTn id="61" dur="580">
                                          <p:stCondLst>
                                            <p:cond delay="0"/>
                                          </p:stCondLst>
                                        </p:cTn>
                                        <p:tgtEl>
                                          <p:spTgt spid="6"/>
                                        </p:tgtEl>
                                      </p:cBhvr>
                                    </p:animEffect>
                                    <p:anim calcmode="lin" valueType="num">
                                      <p:cBhvr>
                                        <p:cTn id="6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67" dur="26">
                                          <p:stCondLst>
                                            <p:cond delay="650"/>
                                          </p:stCondLst>
                                        </p:cTn>
                                        <p:tgtEl>
                                          <p:spTgt spid="6"/>
                                        </p:tgtEl>
                                      </p:cBhvr>
                                      <p:to x="100000" y="60000"/>
                                    </p:animScale>
                                    <p:animScale>
                                      <p:cBhvr>
                                        <p:cTn id="68" dur="166" decel="50000">
                                          <p:stCondLst>
                                            <p:cond delay="676"/>
                                          </p:stCondLst>
                                        </p:cTn>
                                        <p:tgtEl>
                                          <p:spTgt spid="6"/>
                                        </p:tgtEl>
                                      </p:cBhvr>
                                      <p:to x="100000" y="100000"/>
                                    </p:animScale>
                                    <p:animScale>
                                      <p:cBhvr>
                                        <p:cTn id="69" dur="26">
                                          <p:stCondLst>
                                            <p:cond delay="1312"/>
                                          </p:stCondLst>
                                        </p:cTn>
                                        <p:tgtEl>
                                          <p:spTgt spid="6"/>
                                        </p:tgtEl>
                                      </p:cBhvr>
                                      <p:to x="100000" y="80000"/>
                                    </p:animScale>
                                    <p:animScale>
                                      <p:cBhvr>
                                        <p:cTn id="70" dur="166" decel="50000">
                                          <p:stCondLst>
                                            <p:cond delay="1338"/>
                                          </p:stCondLst>
                                        </p:cTn>
                                        <p:tgtEl>
                                          <p:spTgt spid="6"/>
                                        </p:tgtEl>
                                      </p:cBhvr>
                                      <p:to x="100000" y="100000"/>
                                    </p:animScale>
                                    <p:animScale>
                                      <p:cBhvr>
                                        <p:cTn id="71" dur="26">
                                          <p:stCondLst>
                                            <p:cond delay="1642"/>
                                          </p:stCondLst>
                                        </p:cTn>
                                        <p:tgtEl>
                                          <p:spTgt spid="6"/>
                                        </p:tgtEl>
                                      </p:cBhvr>
                                      <p:to x="100000" y="90000"/>
                                    </p:animScale>
                                    <p:animScale>
                                      <p:cBhvr>
                                        <p:cTn id="72" dur="166" decel="50000">
                                          <p:stCondLst>
                                            <p:cond delay="1668"/>
                                          </p:stCondLst>
                                        </p:cTn>
                                        <p:tgtEl>
                                          <p:spTgt spid="6"/>
                                        </p:tgtEl>
                                      </p:cBhvr>
                                      <p:to x="100000" y="100000"/>
                                    </p:animScale>
                                    <p:animScale>
                                      <p:cBhvr>
                                        <p:cTn id="73" dur="26">
                                          <p:stCondLst>
                                            <p:cond delay="1808"/>
                                          </p:stCondLst>
                                        </p:cTn>
                                        <p:tgtEl>
                                          <p:spTgt spid="6"/>
                                        </p:tgtEl>
                                      </p:cBhvr>
                                      <p:to x="100000" y="95000"/>
                                    </p:animScale>
                                    <p:animScale>
                                      <p:cBhvr>
                                        <p:cTn id="74" dur="166" decel="50000">
                                          <p:stCondLst>
                                            <p:cond delay="1834"/>
                                          </p:stCondLst>
                                        </p:cTn>
                                        <p:tgtEl>
                                          <p:spTgt spid="6"/>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down)">
                                      <p:cBhvr>
                                        <p:cTn id="79" dur="580">
                                          <p:stCondLst>
                                            <p:cond delay="0"/>
                                          </p:stCondLst>
                                        </p:cTn>
                                        <p:tgtEl>
                                          <p:spTgt spid="7"/>
                                        </p:tgtEl>
                                      </p:cBhvr>
                                    </p:animEffect>
                                    <p:anim calcmode="lin" valueType="num">
                                      <p:cBhvr>
                                        <p:cTn id="8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85" dur="26">
                                          <p:stCondLst>
                                            <p:cond delay="650"/>
                                          </p:stCondLst>
                                        </p:cTn>
                                        <p:tgtEl>
                                          <p:spTgt spid="7"/>
                                        </p:tgtEl>
                                      </p:cBhvr>
                                      <p:to x="100000" y="60000"/>
                                    </p:animScale>
                                    <p:animScale>
                                      <p:cBhvr>
                                        <p:cTn id="86" dur="166" decel="50000">
                                          <p:stCondLst>
                                            <p:cond delay="676"/>
                                          </p:stCondLst>
                                        </p:cTn>
                                        <p:tgtEl>
                                          <p:spTgt spid="7"/>
                                        </p:tgtEl>
                                      </p:cBhvr>
                                      <p:to x="100000" y="100000"/>
                                    </p:animScale>
                                    <p:animScale>
                                      <p:cBhvr>
                                        <p:cTn id="87" dur="26">
                                          <p:stCondLst>
                                            <p:cond delay="1312"/>
                                          </p:stCondLst>
                                        </p:cTn>
                                        <p:tgtEl>
                                          <p:spTgt spid="7"/>
                                        </p:tgtEl>
                                      </p:cBhvr>
                                      <p:to x="100000" y="80000"/>
                                    </p:animScale>
                                    <p:animScale>
                                      <p:cBhvr>
                                        <p:cTn id="88" dur="166" decel="50000">
                                          <p:stCondLst>
                                            <p:cond delay="1338"/>
                                          </p:stCondLst>
                                        </p:cTn>
                                        <p:tgtEl>
                                          <p:spTgt spid="7"/>
                                        </p:tgtEl>
                                      </p:cBhvr>
                                      <p:to x="100000" y="100000"/>
                                    </p:animScale>
                                    <p:animScale>
                                      <p:cBhvr>
                                        <p:cTn id="89" dur="26">
                                          <p:stCondLst>
                                            <p:cond delay="1642"/>
                                          </p:stCondLst>
                                        </p:cTn>
                                        <p:tgtEl>
                                          <p:spTgt spid="7"/>
                                        </p:tgtEl>
                                      </p:cBhvr>
                                      <p:to x="100000" y="90000"/>
                                    </p:animScale>
                                    <p:animScale>
                                      <p:cBhvr>
                                        <p:cTn id="90" dur="166" decel="50000">
                                          <p:stCondLst>
                                            <p:cond delay="1668"/>
                                          </p:stCondLst>
                                        </p:cTn>
                                        <p:tgtEl>
                                          <p:spTgt spid="7"/>
                                        </p:tgtEl>
                                      </p:cBhvr>
                                      <p:to x="100000" y="100000"/>
                                    </p:animScale>
                                    <p:animScale>
                                      <p:cBhvr>
                                        <p:cTn id="91" dur="26">
                                          <p:stCondLst>
                                            <p:cond delay="1808"/>
                                          </p:stCondLst>
                                        </p:cTn>
                                        <p:tgtEl>
                                          <p:spTgt spid="7"/>
                                        </p:tgtEl>
                                      </p:cBhvr>
                                      <p:to x="100000" y="95000"/>
                                    </p:animScale>
                                    <p:animScale>
                                      <p:cBhvr>
                                        <p:cTn id="92" dur="166" decel="50000">
                                          <p:stCondLst>
                                            <p:cond delay="1834"/>
                                          </p:stCondLst>
                                        </p:cTn>
                                        <p:tgtEl>
                                          <p:spTgt spid="7"/>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down)">
                                      <p:cBhvr>
                                        <p:cTn id="97" dur="580">
                                          <p:stCondLst>
                                            <p:cond delay="0"/>
                                          </p:stCondLst>
                                        </p:cTn>
                                        <p:tgtEl>
                                          <p:spTgt spid="8"/>
                                        </p:tgtEl>
                                      </p:cBhvr>
                                    </p:animEffect>
                                    <p:anim calcmode="lin" valueType="num">
                                      <p:cBhvr>
                                        <p:cTn id="9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03" dur="26">
                                          <p:stCondLst>
                                            <p:cond delay="650"/>
                                          </p:stCondLst>
                                        </p:cTn>
                                        <p:tgtEl>
                                          <p:spTgt spid="8"/>
                                        </p:tgtEl>
                                      </p:cBhvr>
                                      <p:to x="100000" y="60000"/>
                                    </p:animScale>
                                    <p:animScale>
                                      <p:cBhvr>
                                        <p:cTn id="104" dur="166" decel="50000">
                                          <p:stCondLst>
                                            <p:cond delay="676"/>
                                          </p:stCondLst>
                                        </p:cTn>
                                        <p:tgtEl>
                                          <p:spTgt spid="8"/>
                                        </p:tgtEl>
                                      </p:cBhvr>
                                      <p:to x="100000" y="100000"/>
                                    </p:animScale>
                                    <p:animScale>
                                      <p:cBhvr>
                                        <p:cTn id="105" dur="26">
                                          <p:stCondLst>
                                            <p:cond delay="1312"/>
                                          </p:stCondLst>
                                        </p:cTn>
                                        <p:tgtEl>
                                          <p:spTgt spid="8"/>
                                        </p:tgtEl>
                                      </p:cBhvr>
                                      <p:to x="100000" y="80000"/>
                                    </p:animScale>
                                    <p:animScale>
                                      <p:cBhvr>
                                        <p:cTn id="106" dur="166" decel="50000">
                                          <p:stCondLst>
                                            <p:cond delay="1338"/>
                                          </p:stCondLst>
                                        </p:cTn>
                                        <p:tgtEl>
                                          <p:spTgt spid="8"/>
                                        </p:tgtEl>
                                      </p:cBhvr>
                                      <p:to x="100000" y="100000"/>
                                    </p:animScale>
                                    <p:animScale>
                                      <p:cBhvr>
                                        <p:cTn id="107" dur="26">
                                          <p:stCondLst>
                                            <p:cond delay="1642"/>
                                          </p:stCondLst>
                                        </p:cTn>
                                        <p:tgtEl>
                                          <p:spTgt spid="8"/>
                                        </p:tgtEl>
                                      </p:cBhvr>
                                      <p:to x="100000" y="90000"/>
                                    </p:animScale>
                                    <p:animScale>
                                      <p:cBhvr>
                                        <p:cTn id="108" dur="166" decel="50000">
                                          <p:stCondLst>
                                            <p:cond delay="1668"/>
                                          </p:stCondLst>
                                        </p:cTn>
                                        <p:tgtEl>
                                          <p:spTgt spid="8"/>
                                        </p:tgtEl>
                                      </p:cBhvr>
                                      <p:to x="100000" y="100000"/>
                                    </p:animScale>
                                    <p:animScale>
                                      <p:cBhvr>
                                        <p:cTn id="109" dur="26">
                                          <p:stCondLst>
                                            <p:cond delay="1808"/>
                                          </p:stCondLst>
                                        </p:cTn>
                                        <p:tgtEl>
                                          <p:spTgt spid="8"/>
                                        </p:tgtEl>
                                      </p:cBhvr>
                                      <p:to x="100000" y="95000"/>
                                    </p:animScale>
                                    <p:animScale>
                                      <p:cBhvr>
                                        <p:cTn id="110" dur="166" decel="50000">
                                          <p:stCondLst>
                                            <p:cond delay="1834"/>
                                          </p:stCondLst>
                                        </p:cTn>
                                        <p:tgtEl>
                                          <p:spTgt spid="8"/>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9"/>
                                        </p:tgtEl>
                                        <p:attrNameLst>
                                          <p:attrName>style.visibility</p:attrName>
                                        </p:attrNameLst>
                                      </p:cBhvr>
                                      <p:to>
                                        <p:strVal val="visible"/>
                                      </p:to>
                                    </p:set>
                                    <p:animEffect transition="in" filter="wipe(down)">
                                      <p:cBhvr>
                                        <p:cTn id="115" dur="580">
                                          <p:stCondLst>
                                            <p:cond delay="0"/>
                                          </p:stCondLst>
                                        </p:cTn>
                                        <p:tgtEl>
                                          <p:spTgt spid="9"/>
                                        </p:tgtEl>
                                      </p:cBhvr>
                                    </p:animEffect>
                                    <p:anim calcmode="lin" valueType="num">
                                      <p:cBhvr>
                                        <p:cTn id="11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21" dur="26">
                                          <p:stCondLst>
                                            <p:cond delay="650"/>
                                          </p:stCondLst>
                                        </p:cTn>
                                        <p:tgtEl>
                                          <p:spTgt spid="9"/>
                                        </p:tgtEl>
                                      </p:cBhvr>
                                      <p:to x="100000" y="60000"/>
                                    </p:animScale>
                                    <p:animScale>
                                      <p:cBhvr>
                                        <p:cTn id="122" dur="166" decel="50000">
                                          <p:stCondLst>
                                            <p:cond delay="676"/>
                                          </p:stCondLst>
                                        </p:cTn>
                                        <p:tgtEl>
                                          <p:spTgt spid="9"/>
                                        </p:tgtEl>
                                      </p:cBhvr>
                                      <p:to x="100000" y="100000"/>
                                    </p:animScale>
                                    <p:animScale>
                                      <p:cBhvr>
                                        <p:cTn id="123" dur="26">
                                          <p:stCondLst>
                                            <p:cond delay="1312"/>
                                          </p:stCondLst>
                                        </p:cTn>
                                        <p:tgtEl>
                                          <p:spTgt spid="9"/>
                                        </p:tgtEl>
                                      </p:cBhvr>
                                      <p:to x="100000" y="80000"/>
                                    </p:animScale>
                                    <p:animScale>
                                      <p:cBhvr>
                                        <p:cTn id="124" dur="166" decel="50000">
                                          <p:stCondLst>
                                            <p:cond delay="1338"/>
                                          </p:stCondLst>
                                        </p:cTn>
                                        <p:tgtEl>
                                          <p:spTgt spid="9"/>
                                        </p:tgtEl>
                                      </p:cBhvr>
                                      <p:to x="100000" y="100000"/>
                                    </p:animScale>
                                    <p:animScale>
                                      <p:cBhvr>
                                        <p:cTn id="125" dur="26">
                                          <p:stCondLst>
                                            <p:cond delay="1642"/>
                                          </p:stCondLst>
                                        </p:cTn>
                                        <p:tgtEl>
                                          <p:spTgt spid="9"/>
                                        </p:tgtEl>
                                      </p:cBhvr>
                                      <p:to x="100000" y="90000"/>
                                    </p:animScale>
                                    <p:animScale>
                                      <p:cBhvr>
                                        <p:cTn id="126" dur="166" decel="50000">
                                          <p:stCondLst>
                                            <p:cond delay="1668"/>
                                          </p:stCondLst>
                                        </p:cTn>
                                        <p:tgtEl>
                                          <p:spTgt spid="9"/>
                                        </p:tgtEl>
                                      </p:cBhvr>
                                      <p:to x="100000" y="100000"/>
                                    </p:animScale>
                                    <p:animScale>
                                      <p:cBhvr>
                                        <p:cTn id="127" dur="26">
                                          <p:stCondLst>
                                            <p:cond delay="1808"/>
                                          </p:stCondLst>
                                        </p:cTn>
                                        <p:tgtEl>
                                          <p:spTgt spid="9"/>
                                        </p:tgtEl>
                                      </p:cBhvr>
                                      <p:to x="100000" y="95000"/>
                                    </p:animScale>
                                    <p:animScale>
                                      <p:cBhvr>
                                        <p:cTn id="128"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a:extLst>
              <a:ext uri="{FF2B5EF4-FFF2-40B4-BE49-F238E27FC236}">
                <a16:creationId xmlns:a16="http://schemas.microsoft.com/office/drawing/2014/main" id="{9F417DC2-A26F-4DB3-AE1D-D5B4D4D3C0BC}"/>
              </a:ext>
            </a:extLst>
          </p:cNvPr>
          <p:cNvSpPr>
            <a:spLocks noChangeShapeType="1"/>
          </p:cNvSpPr>
          <p:nvPr/>
        </p:nvSpPr>
        <p:spPr bwMode="auto">
          <a:xfrm>
            <a:off x="1676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5" name="Line 3">
            <a:extLst>
              <a:ext uri="{FF2B5EF4-FFF2-40B4-BE49-F238E27FC236}">
                <a16:creationId xmlns:a16="http://schemas.microsoft.com/office/drawing/2014/main" id="{2BE73CBA-2F3B-4A7A-805A-ECEA69CEEF35}"/>
              </a:ext>
            </a:extLst>
          </p:cNvPr>
          <p:cNvSpPr>
            <a:spLocks noChangeShapeType="1"/>
          </p:cNvSpPr>
          <p:nvPr/>
        </p:nvSpPr>
        <p:spPr bwMode="auto">
          <a:xfrm>
            <a:off x="1676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 name="Text Box 4">
            <a:extLst>
              <a:ext uri="{FF2B5EF4-FFF2-40B4-BE49-F238E27FC236}">
                <a16:creationId xmlns:a16="http://schemas.microsoft.com/office/drawing/2014/main" id="{5A482870-B99B-4BD0-8695-868EC9D3C5D6}"/>
              </a:ext>
            </a:extLst>
          </p:cNvPr>
          <p:cNvSpPr txBox="1">
            <a:spLocks noChangeArrowheads="1"/>
          </p:cNvSpPr>
          <p:nvPr/>
        </p:nvSpPr>
        <p:spPr bwMode="auto">
          <a:xfrm>
            <a:off x="1828800" y="381000"/>
            <a:ext cx="5284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000" i="1"/>
              <a:t>The interaction between layers in the OSI model</a:t>
            </a:r>
          </a:p>
        </p:txBody>
      </p:sp>
      <p:sp>
        <p:nvSpPr>
          <p:cNvPr id="8197" name="Line 5">
            <a:extLst>
              <a:ext uri="{FF2B5EF4-FFF2-40B4-BE49-F238E27FC236}">
                <a16:creationId xmlns:a16="http://schemas.microsoft.com/office/drawing/2014/main" id="{0BB7A308-0B72-4F7F-AE54-8C96ADFB9A8F}"/>
              </a:ext>
            </a:extLst>
          </p:cNvPr>
          <p:cNvSpPr>
            <a:spLocks noChangeShapeType="1"/>
          </p:cNvSpPr>
          <p:nvPr/>
        </p:nvSpPr>
        <p:spPr bwMode="auto">
          <a:xfrm>
            <a:off x="1676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8198" name="Picture 6">
            <a:extLst>
              <a:ext uri="{FF2B5EF4-FFF2-40B4-BE49-F238E27FC236}">
                <a16:creationId xmlns:a16="http://schemas.microsoft.com/office/drawing/2014/main" id="{021A5CEF-A3CD-40E3-81B3-30EC35BDAB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650" y="1066801"/>
            <a:ext cx="6965950" cy="516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a:extLst>
              <a:ext uri="{FF2B5EF4-FFF2-40B4-BE49-F238E27FC236}">
                <a16:creationId xmlns:a16="http://schemas.microsoft.com/office/drawing/2014/main" id="{1A568918-4168-48CD-A94E-3554DFFD368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latin typeface="Arial" panose="020B0604020202020204" pitchFamily="34" charset="0"/>
              </a:rPr>
              <a:t>2.</a:t>
            </a:r>
            <a:fld id="{0FBF46C3-0B9B-4989-9192-BD23D18E9136}" type="slidenum">
              <a:rPr lang="en-US" altLang="en-US">
                <a:latin typeface="Arial" panose="020B0604020202020204" pitchFamily="34" charset="0"/>
              </a:rPr>
              <a:pPr/>
              <a:t>8</a:t>
            </a:fld>
            <a:endParaRPr lang="en-US" altLang="en-US">
              <a:latin typeface="Arial" panose="020B0604020202020204" pitchFamily="34" charset="0"/>
            </a:endParaRPr>
          </a:p>
        </p:txBody>
      </p:sp>
      <p:sp>
        <p:nvSpPr>
          <p:cNvPr id="9219" name="Line 2">
            <a:extLst>
              <a:ext uri="{FF2B5EF4-FFF2-40B4-BE49-F238E27FC236}">
                <a16:creationId xmlns:a16="http://schemas.microsoft.com/office/drawing/2014/main" id="{2746FAE3-9968-4CCA-81B5-B60E46A3F104}"/>
              </a:ext>
            </a:extLst>
          </p:cNvPr>
          <p:cNvSpPr>
            <a:spLocks noChangeShapeType="1"/>
          </p:cNvSpPr>
          <p:nvPr/>
        </p:nvSpPr>
        <p:spPr bwMode="auto">
          <a:xfrm>
            <a:off x="1676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220" name="Line 3">
            <a:extLst>
              <a:ext uri="{FF2B5EF4-FFF2-40B4-BE49-F238E27FC236}">
                <a16:creationId xmlns:a16="http://schemas.microsoft.com/office/drawing/2014/main" id="{111F8004-6882-42CE-9F1E-91F36B01E0CC}"/>
              </a:ext>
            </a:extLst>
          </p:cNvPr>
          <p:cNvSpPr>
            <a:spLocks noChangeShapeType="1"/>
          </p:cNvSpPr>
          <p:nvPr/>
        </p:nvSpPr>
        <p:spPr bwMode="auto">
          <a:xfrm>
            <a:off x="1676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221" name="Text Box 4">
            <a:extLst>
              <a:ext uri="{FF2B5EF4-FFF2-40B4-BE49-F238E27FC236}">
                <a16:creationId xmlns:a16="http://schemas.microsoft.com/office/drawing/2014/main" id="{5EBC5136-9F23-4579-83F5-3E3E9B7528F2}"/>
              </a:ext>
            </a:extLst>
          </p:cNvPr>
          <p:cNvSpPr txBox="1">
            <a:spLocks noChangeArrowheads="1"/>
          </p:cNvSpPr>
          <p:nvPr/>
        </p:nvSpPr>
        <p:spPr bwMode="auto">
          <a:xfrm>
            <a:off x="1828801" y="381000"/>
            <a:ext cx="3808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2000" i="1"/>
              <a:t>An exchange using the OSI model</a:t>
            </a:r>
          </a:p>
        </p:txBody>
      </p:sp>
      <p:sp>
        <p:nvSpPr>
          <p:cNvPr id="9222" name="Line 5">
            <a:extLst>
              <a:ext uri="{FF2B5EF4-FFF2-40B4-BE49-F238E27FC236}">
                <a16:creationId xmlns:a16="http://schemas.microsoft.com/office/drawing/2014/main" id="{0E7C44B5-A466-437F-A9DF-1684E6145699}"/>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9223" name="Picture 6">
            <a:extLst>
              <a:ext uri="{FF2B5EF4-FFF2-40B4-BE49-F238E27FC236}">
                <a16:creationId xmlns:a16="http://schemas.microsoft.com/office/drawing/2014/main" id="{D8B7A034-5955-4C9A-87E9-B81051AD7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8038" y="1200150"/>
            <a:ext cx="7523162"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4250" y="431861"/>
            <a:ext cx="3366627" cy="523220"/>
          </a:xfrm>
          <a:prstGeom prst="rect">
            <a:avLst/>
          </a:prstGeom>
        </p:spPr>
        <p:txBody>
          <a:bodyPr wrap="none">
            <a:spAutoFit/>
          </a:bodyPr>
          <a:lstStyle/>
          <a:p>
            <a:pPr algn="ctr"/>
            <a:r>
              <a:rPr lang="en-US" sz="2800" b="1" dirty="0">
                <a:latin typeface="Book Antiqua" panose="02040602050305030304" pitchFamily="18" charset="0"/>
              </a:rPr>
              <a:t>PHYSICAL LAYER</a:t>
            </a:r>
          </a:p>
        </p:txBody>
      </p:sp>
      <p:sp>
        <p:nvSpPr>
          <p:cNvPr id="3" name="Rectangle 2"/>
          <p:cNvSpPr/>
          <p:nvPr/>
        </p:nvSpPr>
        <p:spPr>
          <a:xfrm>
            <a:off x="644249" y="1429619"/>
            <a:ext cx="11076695" cy="3139321"/>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This layer includes the physical equipment involved in the data transfer, such as the cables and switches. </a:t>
            </a:r>
          </a:p>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This is also the layer where the data gets converted into a bit stream, which is a string of 1s and 0s. </a:t>
            </a:r>
          </a:p>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The physical layer of both devices must also agree on a signal convention so that the 1s can be distinguished from the 0s on both devices.</a:t>
            </a:r>
          </a:p>
        </p:txBody>
      </p:sp>
      <p:sp>
        <p:nvSpPr>
          <p:cNvPr id="6" name="Slide Number Placeholder 5"/>
          <p:cNvSpPr>
            <a:spLocks noGrp="1"/>
          </p:cNvSpPr>
          <p:nvPr>
            <p:ph type="sldNum" sz="quarter" idx="12"/>
          </p:nvPr>
        </p:nvSpPr>
        <p:spPr/>
        <p:txBody>
          <a:bodyPr/>
          <a:lstStyle/>
          <a:p>
            <a:fld id="{2A5418B4-7F8B-4384-94FB-175520CCF426}" type="slidenum">
              <a:rPr lang="en-US" smtClean="0"/>
              <a:pPr/>
              <a:t>9</a:t>
            </a:fld>
            <a:endParaRPr lang="en-US"/>
          </a:p>
        </p:txBody>
      </p:sp>
    </p:spTree>
    <p:extLst>
      <p:ext uri="{BB962C8B-B14F-4D97-AF65-F5344CB8AC3E}">
        <p14:creationId xmlns:p14="http://schemas.microsoft.com/office/powerpoint/2010/main" val="175833141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1520536" y="971116"/>
            <a:ext cx="8763000" cy="3114675"/>
          </a:xfrm>
          <a:prstGeom prst="rect">
            <a:avLst/>
          </a:prstGeom>
        </p:spPr>
      </p:pic>
      <p:sp>
        <p:nvSpPr>
          <p:cNvPr id="13" name="Rectangle 12"/>
          <p:cNvSpPr/>
          <p:nvPr/>
        </p:nvSpPr>
        <p:spPr>
          <a:xfrm>
            <a:off x="678874" y="5031616"/>
            <a:ext cx="10945090" cy="830997"/>
          </a:xfrm>
          <a:prstGeom prst="rect">
            <a:avLst/>
          </a:prstGeom>
        </p:spPr>
        <p:txBody>
          <a:bodyPr wrap="square">
            <a:spAutoFit/>
          </a:bodyPr>
          <a:lstStyle/>
          <a:p>
            <a:r>
              <a:rPr lang="en-US" sz="2400" b="1" i="1" dirty="0">
                <a:latin typeface="Book Antiqua" panose="02040602050305030304" pitchFamily="18" charset="0"/>
              </a:rPr>
              <a:t>The physical layer is responsible for movements of individual bits from one hop (node) to the next</a:t>
            </a:r>
          </a:p>
        </p:txBody>
      </p:sp>
      <p:sp>
        <p:nvSpPr>
          <p:cNvPr id="4" name="Slide Number Placeholder 3"/>
          <p:cNvSpPr>
            <a:spLocks noGrp="1"/>
          </p:cNvSpPr>
          <p:nvPr>
            <p:ph type="sldNum" sz="quarter" idx="12"/>
          </p:nvPr>
        </p:nvSpPr>
        <p:spPr/>
        <p:txBody>
          <a:bodyPr/>
          <a:lstStyle/>
          <a:p>
            <a:fld id="{2A5418B4-7F8B-4384-94FB-175520CCF426}" type="slidenum">
              <a:rPr lang="en-US" smtClean="0"/>
              <a:pPr/>
              <a:t>10</a:t>
            </a:fld>
            <a:endParaRPr lang="en-US"/>
          </a:p>
        </p:txBody>
      </p:sp>
    </p:spTree>
    <p:extLst>
      <p:ext uri="{BB962C8B-B14F-4D97-AF65-F5344CB8AC3E}">
        <p14:creationId xmlns:p14="http://schemas.microsoft.com/office/powerpoint/2010/main" val="148741471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6837" y="279461"/>
            <a:ext cx="2470548" cy="523220"/>
          </a:xfrm>
          <a:prstGeom prst="rect">
            <a:avLst/>
          </a:prstGeom>
        </p:spPr>
        <p:txBody>
          <a:bodyPr wrap="none">
            <a:spAutoFit/>
          </a:bodyPr>
          <a:lstStyle/>
          <a:p>
            <a:r>
              <a:rPr lang="en-US" sz="2800" b="1" dirty="0">
                <a:latin typeface="Book Antiqua" panose="02040602050305030304" pitchFamily="18" charset="0"/>
              </a:rPr>
              <a:t>Physical layer</a:t>
            </a:r>
          </a:p>
        </p:txBody>
      </p:sp>
      <p:sp>
        <p:nvSpPr>
          <p:cNvPr id="3" name="Rectangle 2"/>
          <p:cNvSpPr/>
          <p:nvPr/>
        </p:nvSpPr>
        <p:spPr>
          <a:xfrm>
            <a:off x="766836" y="1124958"/>
            <a:ext cx="10870981" cy="4062651"/>
          </a:xfrm>
          <a:prstGeom prst="rect">
            <a:avLst/>
          </a:prstGeom>
        </p:spPr>
        <p:txBody>
          <a:bodyPr wrap="square">
            <a:spAutoFit/>
          </a:bodyPr>
          <a:lstStyle/>
          <a:p>
            <a:r>
              <a:rPr lang="en-US" sz="2200" b="1" dirty="0">
                <a:latin typeface="Book Antiqua" panose="02040602050305030304" pitchFamily="18" charset="0"/>
              </a:rPr>
              <a:t>Responsibility of Physical layer:</a:t>
            </a:r>
          </a:p>
          <a:p>
            <a:endParaRPr lang="en-US" sz="2200" b="1" dirty="0">
              <a:latin typeface="Book Antiqua" panose="02040602050305030304" pitchFamily="18" charset="0"/>
            </a:endParaRPr>
          </a:p>
          <a:p>
            <a:pPr marL="342900" indent="-342900">
              <a:spcAft>
                <a:spcPts val="1200"/>
              </a:spcAft>
              <a:buAutoNum type="arabicPeriod"/>
            </a:pPr>
            <a:r>
              <a:rPr lang="en-US" sz="2200" dirty="0">
                <a:latin typeface="Book Antiqua" panose="02040602050305030304" pitchFamily="18" charset="0"/>
              </a:rPr>
              <a:t>Physical characteristic of interface and medium</a:t>
            </a:r>
          </a:p>
          <a:p>
            <a:pPr marL="342900" indent="-342900">
              <a:spcAft>
                <a:spcPts val="1200"/>
              </a:spcAft>
              <a:buAutoNum type="arabicPeriod"/>
            </a:pPr>
            <a:r>
              <a:rPr lang="en-US" sz="2200" dirty="0">
                <a:latin typeface="Book Antiqua" panose="02040602050305030304" pitchFamily="18" charset="0"/>
              </a:rPr>
              <a:t>Representation of bits</a:t>
            </a:r>
          </a:p>
          <a:p>
            <a:pPr marL="342900" indent="-342900">
              <a:spcAft>
                <a:spcPts val="1200"/>
              </a:spcAft>
              <a:buAutoNum type="arabicPeriod"/>
            </a:pPr>
            <a:r>
              <a:rPr lang="en-US" sz="2200" dirty="0">
                <a:latin typeface="Book Antiqua" panose="02040602050305030304" pitchFamily="18" charset="0"/>
              </a:rPr>
              <a:t>Data/Transmission rate</a:t>
            </a:r>
          </a:p>
          <a:p>
            <a:pPr marL="342900" indent="-342900">
              <a:spcAft>
                <a:spcPts val="1200"/>
              </a:spcAft>
              <a:buAutoNum type="arabicPeriod"/>
            </a:pPr>
            <a:r>
              <a:rPr lang="en-US" sz="2200" dirty="0">
                <a:latin typeface="Book Antiqua" panose="02040602050305030304" pitchFamily="18" charset="0"/>
              </a:rPr>
              <a:t>Synchronization of bits</a:t>
            </a:r>
          </a:p>
          <a:p>
            <a:pPr marL="342900" indent="-342900">
              <a:spcAft>
                <a:spcPts val="1200"/>
              </a:spcAft>
              <a:buAutoNum type="arabicPeriod"/>
            </a:pPr>
            <a:r>
              <a:rPr lang="en-US" sz="2200" dirty="0">
                <a:latin typeface="Book Antiqua" panose="02040602050305030304" pitchFamily="18" charset="0"/>
              </a:rPr>
              <a:t>Line configuration</a:t>
            </a:r>
          </a:p>
          <a:p>
            <a:pPr marL="342900" indent="-342900">
              <a:spcAft>
                <a:spcPts val="1200"/>
              </a:spcAft>
              <a:buAutoNum type="arabicPeriod"/>
            </a:pPr>
            <a:r>
              <a:rPr lang="en-US" sz="2200" dirty="0">
                <a:latin typeface="Book Antiqua" panose="02040602050305030304" pitchFamily="18" charset="0"/>
              </a:rPr>
              <a:t>Physical topology</a:t>
            </a:r>
          </a:p>
          <a:p>
            <a:pPr marL="342900" indent="-342900">
              <a:spcAft>
                <a:spcPts val="1200"/>
              </a:spcAft>
              <a:buAutoNum type="arabicPeriod"/>
            </a:pPr>
            <a:r>
              <a:rPr lang="en-US" sz="2200" dirty="0">
                <a:latin typeface="Book Antiqua" panose="02040602050305030304" pitchFamily="18" charset="0"/>
              </a:rPr>
              <a:t>Transmission mode</a:t>
            </a:r>
          </a:p>
        </p:txBody>
      </p:sp>
      <p:sp>
        <p:nvSpPr>
          <p:cNvPr id="6" name="Slide Number Placeholder 5"/>
          <p:cNvSpPr>
            <a:spLocks noGrp="1"/>
          </p:cNvSpPr>
          <p:nvPr>
            <p:ph type="sldNum" sz="quarter" idx="12"/>
          </p:nvPr>
        </p:nvSpPr>
        <p:spPr/>
        <p:txBody>
          <a:bodyPr/>
          <a:lstStyle/>
          <a:p>
            <a:fld id="{2A5418B4-7F8B-4384-94FB-175520CCF426}" type="slidenum">
              <a:rPr lang="en-US" smtClean="0"/>
              <a:pPr/>
              <a:t>11</a:t>
            </a:fld>
            <a:endParaRPr lang="en-US"/>
          </a:p>
        </p:txBody>
      </p:sp>
    </p:spTree>
    <p:extLst>
      <p:ext uri="{BB962C8B-B14F-4D97-AF65-F5344CB8AC3E}">
        <p14:creationId xmlns:p14="http://schemas.microsoft.com/office/powerpoint/2010/main" val="62631747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6837" y="279461"/>
            <a:ext cx="2642070" cy="523220"/>
          </a:xfrm>
          <a:prstGeom prst="rect">
            <a:avLst/>
          </a:prstGeom>
        </p:spPr>
        <p:txBody>
          <a:bodyPr wrap="none">
            <a:spAutoFit/>
          </a:bodyPr>
          <a:lstStyle/>
          <a:p>
            <a:r>
              <a:rPr lang="en-US" sz="2800" b="1" dirty="0">
                <a:latin typeface="Book Antiqua" panose="02040602050305030304" pitchFamily="18" charset="0"/>
              </a:rPr>
              <a:t>Data link layer</a:t>
            </a:r>
          </a:p>
        </p:txBody>
      </p:sp>
      <p:sp>
        <p:nvSpPr>
          <p:cNvPr id="3" name="Rectangle 2"/>
          <p:cNvSpPr/>
          <p:nvPr/>
        </p:nvSpPr>
        <p:spPr>
          <a:xfrm>
            <a:off x="766836" y="1124958"/>
            <a:ext cx="10870981" cy="3647152"/>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data link layer transforms the physical layer, a raw transmission facility, to a reliable link.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data link layer takes packets from the network layer and breaks them into smaller pieces called frames. </a:t>
            </a:r>
          </a:p>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T</a:t>
            </a:r>
            <a:r>
              <a:rPr lang="en-US" sz="2200" b="0" i="0" dirty="0">
                <a:effectLst/>
                <a:latin typeface="Book Antiqua" panose="02040602050305030304" pitchFamily="18" charset="0"/>
              </a:rPr>
              <a:t>he data link layer is responsible for flow control and error control in intra-network communication.</a:t>
            </a:r>
          </a:p>
          <a:p>
            <a:pPr marL="342900" indent="-342900" algn="just">
              <a:lnSpc>
                <a:spcPct val="150000"/>
              </a:lnSpc>
              <a:buFont typeface="Wingdings" panose="05000000000000000000" pitchFamily="2" charset="2"/>
              <a:buChar char="v"/>
            </a:pPr>
            <a:r>
              <a:rPr lang="en-IN" sz="2200" dirty="0">
                <a:latin typeface="Book Antiqua" panose="02040602050305030304" pitchFamily="18" charset="0"/>
              </a:rPr>
              <a:t>It makes the physical layer as error-free to the upper layer.</a:t>
            </a:r>
            <a:endParaRPr lang="en-US" sz="22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12</a:t>
            </a:fld>
            <a:endParaRPr lang="en-US"/>
          </a:p>
        </p:txBody>
      </p:sp>
    </p:spTree>
    <p:extLst>
      <p:ext uri="{BB962C8B-B14F-4D97-AF65-F5344CB8AC3E}">
        <p14:creationId xmlns:p14="http://schemas.microsoft.com/office/powerpoint/2010/main" val="62631747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4012" y="1075025"/>
            <a:ext cx="8639175" cy="2962275"/>
          </a:xfrm>
          <a:prstGeom prst="rect">
            <a:avLst/>
          </a:prstGeom>
        </p:spPr>
      </p:pic>
      <p:sp>
        <p:nvSpPr>
          <p:cNvPr id="3" name="Rectangle 2"/>
          <p:cNvSpPr/>
          <p:nvPr/>
        </p:nvSpPr>
        <p:spPr>
          <a:xfrm>
            <a:off x="1274618" y="4948489"/>
            <a:ext cx="10238509" cy="830997"/>
          </a:xfrm>
          <a:prstGeom prst="rect">
            <a:avLst/>
          </a:prstGeom>
        </p:spPr>
        <p:txBody>
          <a:bodyPr wrap="square">
            <a:spAutoFit/>
          </a:bodyPr>
          <a:lstStyle/>
          <a:p>
            <a:r>
              <a:rPr lang="en-US" sz="2400" i="1" dirty="0">
                <a:latin typeface="Book Antiqua" panose="02040602050305030304" pitchFamily="18" charset="0"/>
              </a:rPr>
              <a:t>The data link layer is responsible for moving frames from one hop (node) to the next</a:t>
            </a:r>
          </a:p>
        </p:txBody>
      </p:sp>
      <p:sp>
        <p:nvSpPr>
          <p:cNvPr id="6" name="Slide Number Placeholder 5"/>
          <p:cNvSpPr>
            <a:spLocks noGrp="1"/>
          </p:cNvSpPr>
          <p:nvPr>
            <p:ph type="sldNum" sz="quarter" idx="12"/>
          </p:nvPr>
        </p:nvSpPr>
        <p:spPr/>
        <p:txBody>
          <a:bodyPr/>
          <a:lstStyle/>
          <a:p>
            <a:fld id="{2A5418B4-7F8B-4384-94FB-175520CCF426}" type="slidenum">
              <a:rPr lang="en-US" smtClean="0"/>
              <a:pPr/>
              <a:t>13</a:t>
            </a:fld>
            <a:endParaRPr lang="en-US"/>
          </a:p>
        </p:txBody>
      </p:sp>
      <p:sp>
        <p:nvSpPr>
          <p:cNvPr id="7" name="Rectangle 6"/>
          <p:cNvSpPr/>
          <p:nvPr/>
        </p:nvSpPr>
        <p:spPr>
          <a:xfrm>
            <a:off x="766837" y="279461"/>
            <a:ext cx="2642070" cy="523220"/>
          </a:xfrm>
          <a:prstGeom prst="rect">
            <a:avLst/>
          </a:prstGeom>
        </p:spPr>
        <p:txBody>
          <a:bodyPr wrap="none">
            <a:spAutoFit/>
          </a:bodyPr>
          <a:lstStyle/>
          <a:p>
            <a:r>
              <a:rPr lang="en-US" sz="2800" b="1" dirty="0">
                <a:latin typeface="Book Antiqua" panose="02040602050305030304" pitchFamily="18" charset="0"/>
              </a:rPr>
              <a:t>Data link layer</a:t>
            </a:r>
          </a:p>
        </p:txBody>
      </p:sp>
    </p:spTree>
    <p:extLst>
      <p:ext uri="{BB962C8B-B14F-4D97-AF65-F5344CB8AC3E}">
        <p14:creationId xmlns:p14="http://schemas.microsoft.com/office/powerpoint/2010/main" val="189026137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4578" y="418007"/>
            <a:ext cx="3554178" cy="523220"/>
          </a:xfrm>
          <a:prstGeom prst="rect">
            <a:avLst/>
          </a:prstGeom>
        </p:spPr>
        <p:txBody>
          <a:bodyPr wrap="none">
            <a:spAutoFit/>
          </a:bodyPr>
          <a:lstStyle/>
          <a:p>
            <a:r>
              <a:rPr lang="en-US" sz="2800" b="1" dirty="0">
                <a:latin typeface="Book Antiqua" panose="02040602050305030304" pitchFamily="18" charset="0"/>
              </a:rPr>
              <a:t>Hop-to-hop delivery</a:t>
            </a:r>
          </a:p>
        </p:txBody>
      </p:sp>
      <p:pic>
        <p:nvPicPr>
          <p:cNvPr id="3" name="Picture 2"/>
          <p:cNvPicPr>
            <a:picLocks noChangeAspect="1"/>
          </p:cNvPicPr>
          <p:nvPr/>
        </p:nvPicPr>
        <p:blipFill>
          <a:blip r:embed="rId2"/>
          <a:stretch>
            <a:fillRect/>
          </a:stretch>
        </p:blipFill>
        <p:spPr>
          <a:xfrm>
            <a:off x="1312606" y="1164214"/>
            <a:ext cx="8540997" cy="5167313"/>
          </a:xfrm>
          <a:prstGeom prst="rect">
            <a:avLst/>
          </a:prstGeom>
        </p:spPr>
      </p:pic>
      <p:sp>
        <p:nvSpPr>
          <p:cNvPr id="6" name="Slide Number Placeholder 5"/>
          <p:cNvSpPr>
            <a:spLocks noGrp="1"/>
          </p:cNvSpPr>
          <p:nvPr>
            <p:ph type="sldNum" sz="quarter" idx="12"/>
          </p:nvPr>
        </p:nvSpPr>
        <p:spPr/>
        <p:txBody>
          <a:bodyPr/>
          <a:lstStyle/>
          <a:p>
            <a:fld id="{2A5418B4-7F8B-4384-94FB-175520CCF426}" type="slidenum">
              <a:rPr lang="en-US" smtClean="0"/>
              <a:pPr/>
              <a:t>14</a:t>
            </a:fld>
            <a:endParaRPr lang="en-US"/>
          </a:p>
        </p:txBody>
      </p:sp>
    </p:spTree>
    <p:extLst>
      <p:ext uri="{BB962C8B-B14F-4D97-AF65-F5344CB8AC3E}">
        <p14:creationId xmlns:p14="http://schemas.microsoft.com/office/powerpoint/2010/main" val="267307350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9321" y="376443"/>
            <a:ext cx="2840842" cy="523220"/>
          </a:xfrm>
          <a:prstGeom prst="rect">
            <a:avLst/>
          </a:prstGeom>
        </p:spPr>
        <p:txBody>
          <a:bodyPr wrap="none">
            <a:spAutoFit/>
          </a:bodyPr>
          <a:lstStyle/>
          <a:p>
            <a:r>
              <a:rPr lang="en-US" sz="2800" b="1" dirty="0">
                <a:latin typeface="Book Antiqua" panose="02040602050305030304" pitchFamily="18" charset="0"/>
              </a:rPr>
              <a:t>Data Link Layer</a:t>
            </a:r>
          </a:p>
        </p:txBody>
      </p:sp>
      <p:sp>
        <p:nvSpPr>
          <p:cNvPr id="3" name="Rectangle 2"/>
          <p:cNvSpPr/>
          <p:nvPr/>
        </p:nvSpPr>
        <p:spPr>
          <a:xfrm>
            <a:off x="689320" y="1291212"/>
            <a:ext cx="10948497" cy="3139321"/>
          </a:xfrm>
          <a:prstGeom prst="rect">
            <a:avLst/>
          </a:prstGeom>
        </p:spPr>
        <p:txBody>
          <a:bodyPr wrap="square">
            <a:spAutoFit/>
          </a:bodyPr>
          <a:lstStyle/>
          <a:p>
            <a:pPr marL="342900" indent="-342900" algn="just">
              <a:lnSpc>
                <a:spcPct val="150000"/>
              </a:lnSpc>
            </a:pPr>
            <a:r>
              <a:rPr lang="en-IN" sz="2200" dirty="0">
                <a:latin typeface="Book Antiqua" panose="02040602050305030304" pitchFamily="18" charset="0"/>
              </a:rPr>
              <a:t>Responsibilities of Data Link Layer:</a:t>
            </a:r>
          </a:p>
          <a:p>
            <a:pPr marL="342900" indent="-342900" algn="just">
              <a:lnSpc>
                <a:spcPct val="150000"/>
              </a:lnSpc>
              <a:buFont typeface="Wingdings" pitchFamily="2" charset="2"/>
              <a:buChar char="v"/>
            </a:pPr>
            <a:r>
              <a:rPr lang="en-IN" sz="2200" dirty="0">
                <a:latin typeface="Book Antiqua" panose="02040602050305030304" pitchFamily="18" charset="0"/>
              </a:rPr>
              <a:t>Framing</a:t>
            </a:r>
          </a:p>
          <a:p>
            <a:pPr marL="342900" indent="-342900" algn="just">
              <a:lnSpc>
                <a:spcPct val="150000"/>
              </a:lnSpc>
              <a:buFont typeface="Wingdings" pitchFamily="2" charset="2"/>
              <a:buChar char="v"/>
            </a:pPr>
            <a:r>
              <a:rPr lang="en-IN" sz="2200" dirty="0">
                <a:latin typeface="Book Antiqua" panose="02040602050305030304" pitchFamily="18" charset="0"/>
              </a:rPr>
              <a:t>Physical addressing</a:t>
            </a:r>
          </a:p>
          <a:p>
            <a:pPr marL="342900" indent="-342900" algn="just">
              <a:lnSpc>
                <a:spcPct val="150000"/>
              </a:lnSpc>
              <a:buFont typeface="Wingdings" pitchFamily="2" charset="2"/>
              <a:buChar char="v"/>
            </a:pPr>
            <a:r>
              <a:rPr lang="en-IN" sz="2200" dirty="0">
                <a:latin typeface="Book Antiqua" panose="02040602050305030304" pitchFamily="18" charset="0"/>
              </a:rPr>
              <a:t>Flow control</a:t>
            </a:r>
          </a:p>
          <a:p>
            <a:pPr marL="342900" indent="-342900" algn="just">
              <a:lnSpc>
                <a:spcPct val="150000"/>
              </a:lnSpc>
              <a:buFont typeface="Wingdings" pitchFamily="2" charset="2"/>
              <a:buChar char="v"/>
            </a:pPr>
            <a:r>
              <a:rPr lang="en-IN" sz="2200" dirty="0">
                <a:latin typeface="Book Antiqua" panose="02040602050305030304" pitchFamily="18" charset="0"/>
              </a:rPr>
              <a:t>Error control</a:t>
            </a:r>
          </a:p>
          <a:p>
            <a:pPr marL="342900" indent="-342900" algn="just">
              <a:lnSpc>
                <a:spcPct val="150000"/>
              </a:lnSpc>
              <a:buFont typeface="Wingdings" pitchFamily="2" charset="2"/>
              <a:buChar char="v"/>
            </a:pPr>
            <a:r>
              <a:rPr lang="en-IN" sz="2200" dirty="0">
                <a:latin typeface="Book Antiqua" panose="02040602050305030304" pitchFamily="18" charset="0"/>
              </a:rPr>
              <a:t>Access control </a:t>
            </a:r>
            <a:endParaRPr lang="en-US" sz="22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15</a:t>
            </a:fld>
            <a:endParaRPr lang="en-US"/>
          </a:p>
        </p:txBody>
      </p:sp>
    </p:spTree>
    <p:extLst>
      <p:ext uri="{BB962C8B-B14F-4D97-AF65-F5344CB8AC3E}">
        <p14:creationId xmlns:p14="http://schemas.microsoft.com/office/powerpoint/2010/main" val="383024738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9321" y="376443"/>
            <a:ext cx="2552302" cy="523220"/>
          </a:xfrm>
          <a:prstGeom prst="rect">
            <a:avLst/>
          </a:prstGeom>
        </p:spPr>
        <p:txBody>
          <a:bodyPr wrap="none">
            <a:spAutoFit/>
          </a:bodyPr>
          <a:lstStyle/>
          <a:p>
            <a:r>
              <a:rPr lang="en-US" sz="2800" b="1" dirty="0">
                <a:latin typeface="Book Antiqua" panose="02040602050305030304" pitchFamily="18" charset="0"/>
              </a:rPr>
              <a:t>Network layer</a:t>
            </a:r>
          </a:p>
        </p:txBody>
      </p:sp>
      <p:sp>
        <p:nvSpPr>
          <p:cNvPr id="3" name="Rectangle 2"/>
          <p:cNvSpPr/>
          <p:nvPr/>
        </p:nvSpPr>
        <p:spPr>
          <a:xfrm>
            <a:off x="689320" y="1291212"/>
            <a:ext cx="10948497" cy="4662815"/>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network layer is responsible for facilitating data transfer between two different networks.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If the two devices communicating are on the same network, then the network layer is unnecessary.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network layer breaks up segments from the transport layer into smaller units, called packets, on the sender’s device, and reassembling these packets on the receiving device.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network layer also finds the best physical path for the data to reach its destination; this is known as routing.</a:t>
            </a:r>
            <a:endParaRPr lang="en-US" sz="22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16</a:t>
            </a:fld>
            <a:endParaRPr lang="en-US"/>
          </a:p>
        </p:txBody>
      </p:sp>
    </p:spTree>
    <p:extLst>
      <p:ext uri="{BB962C8B-B14F-4D97-AF65-F5344CB8AC3E}">
        <p14:creationId xmlns:p14="http://schemas.microsoft.com/office/powerpoint/2010/main" val="383024738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5298" y="711344"/>
            <a:ext cx="8753475" cy="2886075"/>
          </a:xfrm>
          <a:prstGeom prst="rect">
            <a:avLst/>
          </a:prstGeom>
        </p:spPr>
      </p:pic>
      <p:sp>
        <p:nvSpPr>
          <p:cNvPr id="3" name="Rectangle 2"/>
          <p:cNvSpPr/>
          <p:nvPr/>
        </p:nvSpPr>
        <p:spPr>
          <a:xfrm>
            <a:off x="1525297" y="4435871"/>
            <a:ext cx="9973975" cy="769441"/>
          </a:xfrm>
          <a:prstGeom prst="rect">
            <a:avLst/>
          </a:prstGeom>
        </p:spPr>
        <p:txBody>
          <a:bodyPr wrap="square">
            <a:spAutoFit/>
          </a:bodyPr>
          <a:lstStyle/>
          <a:p>
            <a:r>
              <a:rPr lang="en-US" sz="2200" b="1" i="1" dirty="0">
                <a:latin typeface="Book Antiqua" panose="02040602050305030304" pitchFamily="18" charset="0"/>
              </a:rPr>
              <a:t>The network layer is responsible for the delivery of individual packets from the source host to the destination host</a:t>
            </a:r>
          </a:p>
        </p:txBody>
      </p:sp>
      <p:sp>
        <p:nvSpPr>
          <p:cNvPr id="6" name="Slide Number Placeholder 5"/>
          <p:cNvSpPr>
            <a:spLocks noGrp="1"/>
          </p:cNvSpPr>
          <p:nvPr>
            <p:ph type="sldNum" sz="quarter" idx="12"/>
          </p:nvPr>
        </p:nvSpPr>
        <p:spPr/>
        <p:txBody>
          <a:bodyPr/>
          <a:lstStyle/>
          <a:p>
            <a:fld id="{2A5418B4-7F8B-4384-94FB-175520CCF426}" type="slidenum">
              <a:rPr lang="en-US" smtClean="0"/>
              <a:pPr/>
              <a:t>17</a:t>
            </a:fld>
            <a:endParaRPr lang="en-US"/>
          </a:p>
        </p:txBody>
      </p:sp>
    </p:spTree>
    <p:extLst>
      <p:ext uri="{BB962C8B-B14F-4D97-AF65-F5344CB8AC3E}">
        <p14:creationId xmlns:p14="http://schemas.microsoft.com/office/powerpoint/2010/main" val="421186716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8163" y="348734"/>
            <a:ext cx="5170005" cy="523220"/>
          </a:xfrm>
          <a:prstGeom prst="rect">
            <a:avLst/>
          </a:prstGeom>
        </p:spPr>
        <p:txBody>
          <a:bodyPr wrap="none">
            <a:spAutoFit/>
          </a:bodyPr>
          <a:lstStyle/>
          <a:p>
            <a:r>
              <a:rPr lang="en-US" sz="2800" b="1" dirty="0">
                <a:latin typeface="Book Antiqua" panose="02040602050305030304" pitchFamily="18" charset="0"/>
              </a:rPr>
              <a:t>Source-to-destination delivery</a:t>
            </a:r>
          </a:p>
        </p:txBody>
      </p:sp>
      <p:pic>
        <p:nvPicPr>
          <p:cNvPr id="3" name="Picture 2"/>
          <p:cNvPicPr>
            <a:picLocks noChangeAspect="1"/>
          </p:cNvPicPr>
          <p:nvPr/>
        </p:nvPicPr>
        <p:blipFill>
          <a:blip r:embed="rId2"/>
          <a:stretch>
            <a:fillRect/>
          </a:stretch>
        </p:blipFill>
        <p:spPr>
          <a:xfrm>
            <a:off x="3012580" y="871953"/>
            <a:ext cx="6418156" cy="5598119"/>
          </a:xfrm>
          <a:prstGeom prst="rect">
            <a:avLst/>
          </a:prstGeom>
        </p:spPr>
      </p:pic>
      <p:sp>
        <p:nvSpPr>
          <p:cNvPr id="6" name="Slide Number Placeholder 5"/>
          <p:cNvSpPr>
            <a:spLocks noGrp="1"/>
          </p:cNvSpPr>
          <p:nvPr>
            <p:ph type="sldNum" sz="quarter" idx="12"/>
          </p:nvPr>
        </p:nvSpPr>
        <p:spPr/>
        <p:txBody>
          <a:bodyPr/>
          <a:lstStyle/>
          <a:p>
            <a:fld id="{2A5418B4-7F8B-4384-94FB-175520CCF426}" type="slidenum">
              <a:rPr lang="en-US" smtClean="0"/>
              <a:pPr/>
              <a:t>18</a:t>
            </a:fld>
            <a:endParaRPr lang="en-US"/>
          </a:p>
        </p:txBody>
      </p:sp>
    </p:spTree>
    <p:extLst>
      <p:ext uri="{BB962C8B-B14F-4D97-AF65-F5344CB8AC3E}">
        <p14:creationId xmlns:p14="http://schemas.microsoft.com/office/powerpoint/2010/main" val="25005820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9321" y="376443"/>
            <a:ext cx="2651688" cy="523220"/>
          </a:xfrm>
          <a:prstGeom prst="rect">
            <a:avLst/>
          </a:prstGeom>
        </p:spPr>
        <p:txBody>
          <a:bodyPr wrap="none">
            <a:spAutoFit/>
          </a:bodyPr>
          <a:lstStyle/>
          <a:p>
            <a:r>
              <a:rPr lang="en-US" sz="2800" b="1" dirty="0">
                <a:latin typeface="Book Antiqua" panose="02040602050305030304" pitchFamily="18" charset="0"/>
              </a:rPr>
              <a:t>Network Layer</a:t>
            </a:r>
          </a:p>
        </p:txBody>
      </p:sp>
      <p:sp>
        <p:nvSpPr>
          <p:cNvPr id="3" name="Rectangle 2"/>
          <p:cNvSpPr/>
          <p:nvPr/>
        </p:nvSpPr>
        <p:spPr>
          <a:xfrm>
            <a:off x="689320" y="1291212"/>
            <a:ext cx="10948497" cy="1615827"/>
          </a:xfrm>
          <a:prstGeom prst="rect">
            <a:avLst/>
          </a:prstGeom>
        </p:spPr>
        <p:txBody>
          <a:bodyPr wrap="square">
            <a:spAutoFit/>
          </a:bodyPr>
          <a:lstStyle/>
          <a:p>
            <a:pPr marL="342900" indent="-342900" algn="just">
              <a:lnSpc>
                <a:spcPct val="150000"/>
              </a:lnSpc>
            </a:pPr>
            <a:r>
              <a:rPr lang="en-IN" sz="2200" dirty="0">
                <a:latin typeface="Book Antiqua" panose="02040602050305030304" pitchFamily="18" charset="0"/>
              </a:rPr>
              <a:t>Responsibilities of Network Layer:</a:t>
            </a:r>
          </a:p>
          <a:p>
            <a:pPr marL="342900" indent="-342900" algn="just">
              <a:lnSpc>
                <a:spcPct val="150000"/>
              </a:lnSpc>
              <a:buFont typeface="Wingdings" pitchFamily="2" charset="2"/>
              <a:buChar char="v"/>
            </a:pPr>
            <a:r>
              <a:rPr lang="en-IN" sz="2200" dirty="0">
                <a:latin typeface="Book Antiqua" panose="02040602050305030304" pitchFamily="18" charset="0"/>
              </a:rPr>
              <a:t>Logical addressing</a:t>
            </a:r>
          </a:p>
          <a:p>
            <a:pPr marL="342900" indent="-342900" algn="just">
              <a:lnSpc>
                <a:spcPct val="150000"/>
              </a:lnSpc>
              <a:buFont typeface="Wingdings" pitchFamily="2" charset="2"/>
              <a:buChar char="v"/>
            </a:pPr>
            <a:r>
              <a:rPr lang="en-IN" sz="2200" dirty="0">
                <a:latin typeface="Book Antiqua" panose="02040602050305030304" pitchFamily="18" charset="0"/>
              </a:rPr>
              <a:t>Routing</a:t>
            </a:r>
            <a:endParaRPr lang="en-US" sz="22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19</a:t>
            </a:fld>
            <a:endParaRPr lang="en-US"/>
          </a:p>
        </p:txBody>
      </p:sp>
    </p:spTree>
    <p:extLst>
      <p:ext uri="{BB962C8B-B14F-4D97-AF65-F5344CB8AC3E}">
        <p14:creationId xmlns:p14="http://schemas.microsoft.com/office/powerpoint/2010/main" val="383024738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6606" y="404152"/>
            <a:ext cx="2709396" cy="523220"/>
          </a:xfrm>
          <a:prstGeom prst="rect">
            <a:avLst/>
          </a:prstGeom>
        </p:spPr>
        <p:txBody>
          <a:bodyPr wrap="none">
            <a:spAutoFit/>
          </a:bodyPr>
          <a:lstStyle/>
          <a:p>
            <a:r>
              <a:rPr lang="en-US" sz="2800" b="1" dirty="0">
                <a:latin typeface="Book Antiqua" panose="02040602050305030304" pitchFamily="18" charset="0"/>
              </a:rPr>
              <a:t>Transport layer</a:t>
            </a:r>
          </a:p>
        </p:txBody>
      </p:sp>
      <p:sp>
        <p:nvSpPr>
          <p:cNvPr id="3" name="Rectangle 2"/>
          <p:cNvSpPr/>
          <p:nvPr/>
        </p:nvSpPr>
        <p:spPr>
          <a:xfrm>
            <a:off x="576605" y="1222123"/>
            <a:ext cx="10991939" cy="5170646"/>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Layer 4 is responsible for end-to-end communication between the two devices. This includes taking data from the session layer and breaking it up into chunks called segments before sending it to layer 3.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transport layer on the receiving device is responsible for reassembling the segments into data the session layer can consume.</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transport layer is also responsible for flow control and error control.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Flow control determines an optimal speed of transmission to ensure that a sender with a fast connection doesn’t overwhelm a receiver with a slow connection.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transport layer performs error control on the receiving end by ensuring that the data received is complete, and requesting a retransmission if it isn’t.</a:t>
            </a:r>
          </a:p>
        </p:txBody>
      </p:sp>
      <p:sp>
        <p:nvSpPr>
          <p:cNvPr id="6" name="Slide Number Placeholder 5"/>
          <p:cNvSpPr>
            <a:spLocks noGrp="1"/>
          </p:cNvSpPr>
          <p:nvPr>
            <p:ph type="sldNum" sz="quarter" idx="12"/>
          </p:nvPr>
        </p:nvSpPr>
        <p:spPr/>
        <p:txBody>
          <a:bodyPr/>
          <a:lstStyle/>
          <a:p>
            <a:fld id="{2A5418B4-7F8B-4384-94FB-175520CCF426}" type="slidenum">
              <a:rPr lang="en-US" smtClean="0"/>
              <a:pPr/>
              <a:t>20</a:t>
            </a:fld>
            <a:endParaRPr lang="en-US"/>
          </a:p>
        </p:txBody>
      </p:sp>
    </p:spTree>
    <p:extLst>
      <p:ext uri="{BB962C8B-B14F-4D97-AF65-F5344CB8AC3E}">
        <p14:creationId xmlns:p14="http://schemas.microsoft.com/office/powerpoint/2010/main" val="57647566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85021" y="787111"/>
            <a:ext cx="8562975" cy="3067050"/>
          </a:xfrm>
          <a:prstGeom prst="rect">
            <a:avLst/>
          </a:prstGeom>
        </p:spPr>
      </p:pic>
      <p:sp>
        <p:nvSpPr>
          <p:cNvPr id="3" name="Rectangle 2"/>
          <p:cNvSpPr/>
          <p:nvPr/>
        </p:nvSpPr>
        <p:spPr>
          <a:xfrm>
            <a:off x="1385021" y="4588271"/>
            <a:ext cx="10017270" cy="769441"/>
          </a:xfrm>
          <a:prstGeom prst="rect">
            <a:avLst/>
          </a:prstGeom>
        </p:spPr>
        <p:txBody>
          <a:bodyPr wrap="square">
            <a:spAutoFit/>
          </a:bodyPr>
          <a:lstStyle/>
          <a:p>
            <a:r>
              <a:rPr lang="en-US" sz="2200" b="1" i="1" dirty="0">
                <a:latin typeface="Book Antiqua" panose="02040602050305030304" pitchFamily="18" charset="0"/>
              </a:rPr>
              <a:t>The transport layer is responsible for the delivery of a message from one process to another process.</a:t>
            </a:r>
          </a:p>
        </p:txBody>
      </p:sp>
      <p:sp>
        <p:nvSpPr>
          <p:cNvPr id="6" name="Slide Number Placeholder 5"/>
          <p:cNvSpPr>
            <a:spLocks noGrp="1"/>
          </p:cNvSpPr>
          <p:nvPr>
            <p:ph type="sldNum" sz="quarter" idx="12"/>
          </p:nvPr>
        </p:nvSpPr>
        <p:spPr/>
        <p:txBody>
          <a:bodyPr/>
          <a:lstStyle/>
          <a:p>
            <a:fld id="{2A5418B4-7F8B-4384-94FB-175520CCF426}" type="slidenum">
              <a:rPr lang="en-US" smtClean="0"/>
              <a:pPr/>
              <a:t>21</a:t>
            </a:fld>
            <a:endParaRPr lang="en-US"/>
          </a:p>
        </p:txBody>
      </p:sp>
    </p:spTree>
    <p:extLst>
      <p:ext uri="{BB962C8B-B14F-4D97-AF65-F5344CB8AC3E}">
        <p14:creationId xmlns:p14="http://schemas.microsoft.com/office/powerpoint/2010/main" val="528821346"/>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971" y="459570"/>
            <a:ext cx="8257389" cy="523220"/>
          </a:xfrm>
          <a:prstGeom prst="rect">
            <a:avLst/>
          </a:prstGeom>
        </p:spPr>
        <p:txBody>
          <a:bodyPr wrap="none">
            <a:spAutoFit/>
          </a:bodyPr>
          <a:lstStyle/>
          <a:p>
            <a:r>
              <a:rPr lang="en-US" sz="2800" b="1" dirty="0">
                <a:latin typeface="Book Antiqua" panose="02040602050305030304" pitchFamily="18" charset="0"/>
              </a:rPr>
              <a:t>Reliable process-to-process delivery of a message</a:t>
            </a:r>
          </a:p>
        </p:txBody>
      </p:sp>
      <p:pic>
        <p:nvPicPr>
          <p:cNvPr id="3" name="Picture 2"/>
          <p:cNvPicPr>
            <a:picLocks noChangeAspect="1"/>
          </p:cNvPicPr>
          <p:nvPr/>
        </p:nvPicPr>
        <p:blipFill>
          <a:blip r:embed="rId2"/>
          <a:stretch>
            <a:fillRect/>
          </a:stretch>
        </p:blipFill>
        <p:spPr>
          <a:xfrm>
            <a:off x="1821439" y="1477673"/>
            <a:ext cx="8112270" cy="3971942"/>
          </a:xfrm>
          <a:prstGeom prst="rect">
            <a:avLst/>
          </a:prstGeom>
        </p:spPr>
      </p:pic>
      <p:sp>
        <p:nvSpPr>
          <p:cNvPr id="6" name="Slide Number Placeholder 5"/>
          <p:cNvSpPr>
            <a:spLocks noGrp="1"/>
          </p:cNvSpPr>
          <p:nvPr>
            <p:ph type="sldNum" sz="quarter" idx="12"/>
          </p:nvPr>
        </p:nvSpPr>
        <p:spPr/>
        <p:txBody>
          <a:bodyPr/>
          <a:lstStyle/>
          <a:p>
            <a:fld id="{2A5418B4-7F8B-4384-94FB-175520CCF426}" type="slidenum">
              <a:rPr lang="en-US" smtClean="0"/>
              <a:pPr/>
              <a:t>22</a:t>
            </a:fld>
            <a:endParaRPr lang="en-US"/>
          </a:p>
        </p:txBody>
      </p:sp>
    </p:spTree>
    <p:extLst>
      <p:ext uri="{BB962C8B-B14F-4D97-AF65-F5344CB8AC3E}">
        <p14:creationId xmlns:p14="http://schemas.microsoft.com/office/powerpoint/2010/main" val="428507960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9321" y="376443"/>
            <a:ext cx="2808782" cy="523220"/>
          </a:xfrm>
          <a:prstGeom prst="rect">
            <a:avLst/>
          </a:prstGeom>
        </p:spPr>
        <p:txBody>
          <a:bodyPr wrap="none">
            <a:spAutoFit/>
          </a:bodyPr>
          <a:lstStyle/>
          <a:p>
            <a:r>
              <a:rPr lang="en-US" sz="2800" b="1" dirty="0">
                <a:latin typeface="Book Antiqua" panose="02040602050305030304" pitchFamily="18" charset="0"/>
              </a:rPr>
              <a:t>Transport Layer</a:t>
            </a:r>
          </a:p>
        </p:txBody>
      </p:sp>
      <p:sp>
        <p:nvSpPr>
          <p:cNvPr id="3" name="Rectangle 2"/>
          <p:cNvSpPr/>
          <p:nvPr/>
        </p:nvSpPr>
        <p:spPr>
          <a:xfrm>
            <a:off x="689320" y="1291212"/>
            <a:ext cx="10948497" cy="2123658"/>
          </a:xfrm>
          <a:prstGeom prst="rect">
            <a:avLst/>
          </a:prstGeom>
        </p:spPr>
        <p:txBody>
          <a:bodyPr wrap="square">
            <a:spAutoFit/>
          </a:bodyPr>
          <a:lstStyle/>
          <a:p>
            <a:pPr marL="342900" indent="-342900" algn="just">
              <a:lnSpc>
                <a:spcPct val="150000"/>
              </a:lnSpc>
            </a:pPr>
            <a:r>
              <a:rPr lang="en-IN" sz="2200" dirty="0">
                <a:latin typeface="Book Antiqua" panose="02040602050305030304" pitchFamily="18" charset="0"/>
              </a:rPr>
              <a:t>Responsibilities of transport layer:</a:t>
            </a:r>
          </a:p>
          <a:p>
            <a:pPr marL="342900" indent="-342900" algn="just">
              <a:lnSpc>
                <a:spcPct val="150000"/>
              </a:lnSpc>
              <a:buFont typeface="Wingdings" pitchFamily="2" charset="2"/>
              <a:buChar char="v"/>
            </a:pPr>
            <a:r>
              <a:rPr lang="en-IN" sz="2200" dirty="0">
                <a:latin typeface="Book Antiqua" panose="02040602050305030304" pitchFamily="18" charset="0"/>
              </a:rPr>
              <a:t>Service point addressing</a:t>
            </a:r>
          </a:p>
          <a:p>
            <a:pPr marL="342900" indent="-342900" algn="just">
              <a:lnSpc>
                <a:spcPct val="150000"/>
              </a:lnSpc>
              <a:buFont typeface="Wingdings" pitchFamily="2" charset="2"/>
              <a:buChar char="v"/>
            </a:pPr>
            <a:r>
              <a:rPr lang="en-IN" sz="2200" dirty="0">
                <a:latin typeface="Book Antiqua" panose="02040602050305030304" pitchFamily="18" charset="0"/>
              </a:rPr>
              <a:t>Segmentation and reassembly</a:t>
            </a:r>
          </a:p>
          <a:p>
            <a:pPr marL="342900" indent="-342900" algn="just">
              <a:lnSpc>
                <a:spcPct val="150000"/>
              </a:lnSpc>
              <a:buFont typeface="Wingdings" pitchFamily="2" charset="2"/>
              <a:buChar char="v"/>
            </a:pPr>
            <a:r>
              <a:rPr lang="en-IN" sz="2200" dirty="0">
                <a:latin typeface="Book Antiqua" panose="02040602050305030304" pitchFamily="18" charset="0"/>
              </a:rPr>
              <a:t>Connection control</a:t>
            </a:r>
            <a:endParaRPr lang="en-US" sz="22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23</a:t>
            </a:fld>
            <a:endParaRPr lang="en-US"/>
          </a:p>
        </p:txBody>
      </p:sp>
    </p:spTree>
    <p:extLst>
      <p:ext uri="{BB962C8B-B14F-4D97-AF65-F5344CB8AC3E}">
        <p14:creationId xmlns:p14="http://schemas.microsoft.com/office/powerpoint/2010/main" val="383024738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8380" y="404152"/>
            <a:ext cx="2350323" cy="523220"/>
          </a:xfrm>
          <a:prstGeom prst="rect">
            <a:avLst/>
          </a:prstGeom>
        </p:spPr>
        <p:txBody>
          <a:bodyPr wrap="none">
            <a:spAutoFit/>
          </a:bodyPr>
          <a:lstStyle/>
          <a:p>
            <a:r>
              <a:rPr lang="en-US" sz="2800" b="1" dirty="0">
                <a:latin typeface="Book Antiqua" panose="02040602050305030304" pitchFamily="18" charset="0"/>
              </a:rPr>
              <a:t>Session layer</a:t>
            </a:r>
          </a:p>
        </p:txBody>
      </p:sp>
      <p:sp>
        <p:nvSpPr>
          <p:cNvPr id="3" name="Rectangle 2"/>
          <p:cNvSpPr/>
          <p:nvPr/>
        </p:nvSpPr>
        <p:spPr>
          <a:xfrm>
            <a:off x="648380" y="1125279"/>
            <a:ext cx="11197256" cy="4154984"/>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This is the layer responsible for opening and closing communication between the two devices.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time between when the communication is opened and closed is known as the session.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session layer ensures that the session stays open long enough to transfer all the data being exchanged, and then promptly closes the session in order to avoid wasting resources.</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session layer also synchronizes data transfer with checkpoints. </a:t>
            </a:r>
          </a:p>
        </p:txBody>
      </p:sp>
      <p:sp>
        <p:nvSpPr>
          <p:cNvPr id="6" name="Slide Number Placeholder 5"/>
          <p:cNvSpPr>
            <a:spLocks noGrp="1"/>
          </p:cNvSpPr>
          <p:nvPr>
            <p:ph type="sldNum" sz="quarter" idx="12"/>
          </p:nvPr>
        </p:nvSpPr>
        <p:spPr/>
        <p:txBody>
          <a:bodyPr/>
          <a:lstStyle/>
          <a:p>
            <a:fld id="{2A5418B4-7F8B-4384-94FB-175520CCF426}" type="slidenum">
              <a:rPr lang="en-US" smtClean="0"/>
              <a:pPr/>
              <a:t>24</a:t>
            </a:fld>
            <a:endParaRPr lang="en-US"/>
          </a:p>
        </p:txBody>
      </p:sp>
    </p:spTree>
    <p:extLst>
      <p:ext uri="{BB962C8B-B14F-4D97-AF65-F5344CB8AC3E}">
        <p14:creationId xmlns:p14="http://schemas.microsoft.com/office/powerpoint/2010/main" val="132904342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62558" y="772823"/>
            <a:ext cx="8029575" cy="3095625"/>
          </a:xfrm>
          <a:prstGeom prst="rect">
            <a:avLst/>
          </a:prstGeom>
        </p:spPr>
      </p:pic>
      <p:sp>
        <p:nvSpPr>
          <p:cNvPr id="3" name="Rectangle 2"/>
          <p:cNvSpPr/>
          <p:nvPr/>
        </p:nvSpPr>
        <p:spPr>
          <a:xfrm>
            <a:off x="1762557" y="4712962"/>
            <a:ext cx="9348787" cy="430887"/>
          </a:xfrm>
          <a:prstGeom prst="rect">
            <a:avLst/>
          </a:prstGeom>
        </p:spPr>
        <p:txBody>
          <a:bodyPr wrap="square">
            <a:spAutoFit/>
          </a:bodyPr>
          <a:lstStyle/>
          <a:p>
            <a:r>
              <a:rPr lang="en-US" sz="2200" b="1" i="1" dirty="0">
                <a:latin typeface="Book Antiqua" panose="02040602050305030304" pitchFamily="18" charset="0"/>
              </a:rPr>
              <a:t>The session layer is responsible for dialog control and synchronization</a:t>
            </a:r>
          </a:p>
        </p:txBody>
      </p:sp>
      <p:sp>
        <p:nvSpPr>
          <p:cNvPr id="6" name="Slide Number Placeholder 5"/>
          <p:cNvSpPr>
            <a:spLocks noGrp="1"/>
          </p:cNvSpPr>
          <p:nvPr>
            <p:ph type="sldNum" sz="quarter" idx="12"/>
          </p:nvPr>
        </p:nvSpPr>
        <p:spPr/>
        <p:txBody>
          <a:bodyPr/>
          <a:lstStyle/>
          <a:p>
            <a:fld id="{2A5418B4-7F8B-4384-94FB-175520CCF426}" type="slidenum">
              <a:rPr lang="en-US" smtClean="0"/>
              <a:pPr/>
              <a:t>25</a:t>
            </a:fld>
            <a:endParaRPr lang="en-US"/>
          </a:p>
        </p:txBody>
      </p:sp>
    </p:spTree>
    <p:extLst>
      <p:ext uri="{BB962C8B-B14F-4D97-AF65-F5344CB8AC3E}">
        <p14:creationId xmlns:p14="http://schemas.microsoft.com/office/powerpoint/2010/main" val="178701116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1886" y="584261"/>
            <a:ext cx="3150221" cy="523220"/>
          </a:xfrm>
          <a:prstGeom prst="rect">
            <a:avLst/>
          </a:prstGeom>
        </p:spPr>
        <p:txBody>
          <a:bodyPr wrap="none">
            <a:spAutoFit/>
          </a:bodyPr>
          <a:lstStyle/>
          <a:p>
            <a:r>
              <a:rPr lang="en-US" sz="2800" b="1" dirty="0">
                <a:latin typeface="Book Antiqua" panose="02040602050305030304" pitchFamily="18" charset="0"/>
              </a:rPr>
              <a:t>Presentation layer</a:t>
            </a:r>
          </a:p>
        </p:txBody>
      </p:sp>
      <p:sp>
        <p:nvSpPr>
          <p:cNvPr id="3" name="Rectangle 2"/>
          <p:cNvSpPr/>
          <p:nvPr/>
        </p:nvSpPr>
        <p:spPr>
          <a:xfrm>
            <a:off x="691885" y="1502688"/>
            <a:ext cx="10918223" cy="4662815"/>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This layer is primarily responsible for preparing data so that it can be used by the application layer; in other words, layer 6 makes the data presentable for applications to consume.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The presentation layer is responsible for translation, encryption, and compression of data.</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Two communicating devices communicating may be using different encoding methods, so layer 6 is responsible for translating incoming data into a syntax that the application layer of the receiving device can understand.</a:t>
            </a:r>
          </a:p>
          <a:p>
            <a:pPr algn="just">
              <a:lnSpc>
                <a:spcPct val="150000"/>
              </a:lnSpc>
            </a:pPr>
            <a:endParaRPr lang="en-US" sz="2200" b="0" i="0" dirty="0">
              <a:effectLst/>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26</a:t>
            </a:fld>
            <a:endParaRPr lang="en-US"/>
          </a:p>
        </p:txBody>
      </p:sp>
    </p:spTree>
    <p:extLst>
      <p:ext uri="{BB962C8B-B14F-4D97-AF65-F5344CB8AC3E}">
        <p14:creationId xmlns:p14="http://schemas.microsoft.com/office/powerpoint/2010/main" val="409329539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1163" y="1222215"/>
            <a:ext cx="10709564" cy="4104393"/>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If the devices are communicating over an encrypted connection, layer 6 is responsible for adding the encryption on the sender’s end as well as decoding the encryption on the receiver's end so that it can present the application layer with unencrypted, readable data.</a:t>
            </a:r>
          </a:p>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Finally the presentation layer is also responsible for compressing data it receives from the application layer before delivering it to layer 5. </a:t>
            </a:r>
          </a:p>
          <a:p>
            <a:pPr marL="342900" indent="-342900" algn="just">
              <a:lnSpc>
                <a:spcPct val="150000"/>
              </a:lnSpc>
              <a:buFont typeface="Wingdings" panose="05000000000000000000" pitchFamily="2" charset="2"/>
              <a:buChar char="v"/>
            </a:pPr>
            <a:r>
              <a:rPr lang="en-US" sz="2200" dirty="0">
                <a:latin typeface="Book Antiqua" panose="02040602050305030304" pitchFamily="18" charset="0"/>
              </a:rPr>
              <a:t>This helps improve the speed and efficiency of communication by minimizing the amount of data that will be transferred.</a:t>
            </a:r>
            <a:endParaRPr lang="en-US" sz="2200" dirty="0"/>
          </a:p>
        </p:txBody>
      </p:sp>
      <p:sp>
        <p:nvSpPr>
          <p:cNvPr id="5" name="Slide Number Placeholder 4"/>
          <p:cNvSpPr>
            <a:spLocks noGrp="1"/>
          </p:cNvSpPr>
          <p:nvPr>
            <p:ph type="sldNum" sz="quarter" idx="12"/>
          </p:nvPr>
        </p:nvSpPr>
        <p:spPr/>
        <p:txBody>
          <a:bodyPr/>
          <a:lstStyle/>
          <a:p>
            <a:fld id="{2A5418B4-7F8B-4384-94FB-175520CCF426}" type="slidenum">
              <a:rPr lang="en-US" smtClean="0"/>
              <a:pPr/>
              <a:t>27</a:t>
            </a:fld>
            <a:endParaRPr lang="en-US"/>
          </a:p>
        </p:txBody>
      </p:sp>
    </p:spTree>
    <p:extLst>
      <p:ext uri="{BB962C8B-B14F-4D97-AF65-F5344CB8AC3E}">
        <p14:creationId xmlns:p14="http://schemas.microsoft.com/office/powerpoint/2010/main" val="217648681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56891" y="758969"/>
            <a:ext cx="8696325" cy="3095625"/>
          </a:xfrm>
          <a:prstGeom prst="rect">
            <a:avLst/>
          </a:prstGeom>
        </p:spPr>
      </p:pic>
      <p:sp>
        <p:nvSpPr>
          <p:cNvPr id="3" name="Rectangle 2"/>
          <p:cNvSpPr/>
          <p:nvPr/>
        </p:nvSpPr>
        <p:spPr>
          <a:xfrm>
            <a:off x="1456890" y="4518998"/>
            <a:ext cx="8696325" cy="769441"/>
          </a:xfrm>
          <a:prstGeom prst="rect">
            <a:avLst/>
          </a:prstGeom>
        </p:spPr>
        <p:txBody>
          <a:bodyPr wrap="square">
            <a:spAutoFit/>
          </a:bodyPr>
          <a:lstStyle/>
          <a:p>
            <a:r>
              <a:rPr lang="en-US" sz="2200" b="1" i="1" dirty="0">
                <a:latin typeface="Book Antiqua" panose="02040602050305030304" pitchFamily="18" charset="0"/>
              </a:rPr>
              <a:t>The presentation layer is responsible for translation, compression, and encryption</a:t>
            </a:r>
          </a:p>
        </p:txBody>
      </p:sp>
      <p:sp>
        <p:nvSpPr>
          <p:cNvPr id="6" name="Slide Number Placeholder 5"/>
          <p:cNvSpPr>
            <a:spLocks noGrp="1"/>
          </p:cNvSpPr>
          <p:nvPr>
            <p:ph type="sldNum" sz="quarter" idx="12"/>
          </p:nvPr>
        </p:nvSpPr>
        <p:spPr/>
        <p:txBody>
          <a:bodyPr/>
          <a:lstStyle/>
          <a:p>
            <a:fld id="{2A5418B4-7F8B-4384-94FB-175520CCF426}" type="slidenum">
              <a:rPr lang="en-US" smtClean="0"/>
              <a:pPr/>
              <a:t>28</a:t>
            </a:fld>
            <a:endParaRPr lang="en-US"/>
          </a:p>
        </p:txBody>
      </p:sp>
    </p:spTree>
    <p:extLst>
      <p:ext uri="{BB962C8B-B14F-4D97-AF65-F5344CB8AC3E}">
        <p14:creationId xmlns:p14="http://schemas.microsoft.com/office/powerpoint/2010/main" val="271877087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6238" y="528843"/>
            <a:ext cx="3050835" cy="523220"/>
          </a:xfrm>
          <a:prstGeom prst="rect">
            <a:avLst/>
          </a:prstGeom>
        </p:spPr>
        <p:txBody>
          <a:bodyPr wrap="none">
            <a:spAutoFit/>
          </a:bodyPr>
          <a:lstStyle/>
          <a:p>
            <a:r>
              <a:rPr lang="en-US" sz="2800" b="1" dirty="0">
                <a:latin typeface="Book Antiqua" panose="02040602050305030304" pitchFamily="18" charset="0"/>
              </a:rPr>
              <a:t>Application layer</a:t>
            </a:r>
          </a:p>
        </p:txBody>
      </p:sp>
      <p:sp>
        <p:nvSpPr>
          <p:cNvPr id="3" name="Rectangle 2"/>
          <p:cNvSpPr/>
          <p:nvPr/>
        </p:nvSpPr>
        <p:spPr>
          <a:xfrm>
            <a:off x="716237" y="1429849"/>
            <a:ext cx="10990853" cy="4104906"/>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This is the only layer that directly interacts with data from the user. Software applications like web browsers and email clients rely on the application layer to initiate communications. </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But it should be made clear that client software applications are not part of the application layer; rather the application layer is responsible for the protocols and data manipulation that the software relies on to present meaningful data to the user.</a:t>
            </a:r>
          </a:p>
          <a:p>
            <a:pPr marL="342900" indent="-342900" algn="just">
              <a:lnSpc>
                <a:spcPct val="150000"/>
              </a:lnSpc>
              <a:buFont typeface="Wingdings" panose="05000000000000000000" pitchFamily="2" charset="2"/>
              <a:buChar char="v"/>
            </a:pPr>
            <a:r>
              <a:rPr lang="en-US" sz="2200" b="0" i="0" dirty="0">
                <a:effectLst/>
                <a:latin typeface="Book Antiqua" panose="02040602050305030304" pitchFamily="18" charset="0"/>
              </a:rPr>
              <a:t> Application layer protocols include HTTP as well as SMTP (Simple Mail Transfer Protocol is one of the protocols that enables email communications).</a:t>
            </a:r>
            <a:endParaRPr lang="en-US" sz="2200" dirty="0">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2A5418B4-7F8B-4384-94FB-175520CCF426}" type="slidenum">
              <a:rPr lang="en-US" smtClean="0"/>
              <a:pPr/>
              <a:t>29</a:t>
            </a:fld>
            <a:endParaRPr lang="en-US"/>
          </a:p>
        </p:txBody>
      </p:sp>
    </p:spTree>
    <p:extLst>
      <p:ext uri="{BB962C8B-B14F-4D97-AF65-F5344CB8AC3E}">
        <p14:creationId xmlns:p14="http://schemas.microsoft.com/office/powerpoint/2010/main" val="424392884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15836" y="660689"/>
            <a:ext cx="7467600" cy="3181350"/>
          </a:xfrm>
          <a:prstGeom prst="rect">
            <a:avLst/>
          </a:prstGeom>
        </p:spPr>
      </p:pic>
      <p:sp>
        <p:nvSpPr>
          <p:cNvPr id="3" name="Rectangle 2"/>
          <p:cNvSpPr/>
          <p:nvPr/>
        </p:nvSpPr>
        <p:spPr>
          <a:xfrm>
            <a:off x="2015836" y="4685253"/>
            <a:ext cx="7467600" cy="769441"/>
          </a:xfrm>
          <a:prstGeom prst="rect">
            <a:avLst/>
          </a:prstGeom>
        </p:spPr>
        <p:txBody>
          <a:bodyPr wrap="square">
            <a:spAutoFit/>
          </a:bodyPr>
          <a:lstStyle/>
          <a:p>
            <a:r>
              <a:rPr lang="en-US" sz="2200" b="1" i="1" dirty="0">
                <a:latin typeface="Book Antiqua" panose="02040602050305030304" pitchFamily="18" charset="0"/>
              </a:rPr>
              <a:t>The application layer is responsible for providing services to the user</a:t>
            </a:r>
          </a:p>
        </p:txBody>
      </p:sp>
      <p:sp>
        <p:nvSpPr>
          <p:cNvPr id="6" name="Slide Number Placeholder 5"/>
          <p:cNvSpPr>
            <a:spLocks noGrp="1"/>
          </p:cNvSpPr>
          <p:nvPr>
            <p:ph type="sldNum" sz="quarter" idx="12"/>
          </p:nvPr>
        </p:nvSpPr>
        <p:spPr/>
        <p:txBody>
          <a:bodyPr/>
          <a:lstStyle/>
          <a:p>
            <a:fld id="{2A5418B4-7F8B-4384-94FB-175520CCF426}" type="slidenum">
              <a:rPr lang="en-US" smtClean="0"/>
              <a:pPr/>
              <a:t>30</a:t>
            </a:fld>
            <a:endParaRPr lang="en-US"/>
          </a:p>
        </p:txBody>
      </p:sp>
    </p:spTree>
    <p:extLst>
      <p:ext uri="{BB962C8B-B14F-4D97-AF65-F5344CB8AC3E}">
        <p14:creationId xmlns:p14="http://schemas.microsoft.com/office/powerpoint/2010/main" val="1039443998"/>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6967" y="445715"/>
            <a:ext cx="3278462" cy="523220"/>
          </a:xfrm>
          <a:prstGeom prst="rect">
            <a:avLst/>
          </a:prstGeom>
        </p:spPr>
        <p:txBody>
          <a:bodyPr wrap="none">
            <a:spAutoFit/>
          </a:bodyPr>
          <a:lstStyle/>
          <a:p>
            <a:r>
              <a:rPr lang="en-US" sz="2800" b="1" dirty="0">
                <a:latin typeface="Book Antiqua" panose="02040602050305030304" pitchFamily="18" charset="0"/>
              </a:rPr>
              <a:t>Summary of layers</a:t>
            </a:r>
          </a:p>
        </p:txBody>
      </p:sp>
      <p:pic>
        <p:nvPicPr>
          <p:cNvPr id="3" name="Picture 2"/>
          <p:cNvPicPr>
            <a:picLocks noChangeAspect="1"/>
          </p:cNvPicPr>
          <p:nvPr/>
        </p:nvPicPr>
        <p:blipFill>
          <a:blip r:embed="rId2"/>
          <a:stretch>
            <a:fillRect/>
          </a:stretch>
        </p:blipFill>
        <p:spPr>
          <a:xfrm>
            <a:off x="1833562" y="1443037"/>
            <a:ext cx="8524875" cy="3971925"/>
          </a:xfrm>
          <a:prstGeom prst="rect">
            <a:avLst/>
          </a:prstGeom>
        </p:spPr>
      </p:pic>
      <p:sp>
        <p:nvSpPr>
          <p:cNvPr id="6" name="Slide Number Placeholder 5"/>
          <p:cNvSpPr>
            <a:spLocks noGrp="1"/>
          </p:cNvSpPr>
          <p:nvPr>
            <p:ph type="sldNum" sz="quarter" idx="12"/>
          </p:nvPr>
        </p:nvSpPr>
        <p:spPr/>
        <p:txBody>
          <a:bodyPr/>
          <a:lstStyle/>
          <a:p>
            <a:fld id="{2A5418B4-7F8B-4384-94FB-175520CCF426}" type="slidenum">
              <a:rPr lang="en-US" smtClean="0"/>
              <a:pPr/>
              <a:t>31</a:t>
            </a:fld>
            <a:endParaRPr lang="en-US"/>
          </a:p>
        </p:txBody>
      </p:sp>
    </p:spTree>
    <p:extLst>
      <p:ext uri="{BB962C8B-B14F-4D97-AF65-F5344CB8AC3E}">
        <p14:creationId xmlns:p14="http://schemas.microsoft.com/office/powerpoint/2010/main" val="469324943"/>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9672" y="473425"/>
            <a:ext cx="4740400" cy="523220"/>
          </a:xfrm>
          <a:prstGeom prst="rect">
            <a:avLst/>
          </a:prstGeom>
        </p:spPr>
        <p:txBody>
          <a:bodyPr wrap="none">
            <a:spAutoFit/>
          </a:bodyPr>
          <a:lstStyle/>
          <a:p>
            <a:r>
              <a:rPr lang="en-US" sz="2800" b="1" dirty="0">
                <a:latin typeface="Book Antiqua" panose="02040602050305030304" pitchFamily="18" charset="0"/>
              </a:rPr>
              <a:t>TCP/IP PROTOCOL SUITE</a:t>
            </a:r>
          </a:p>
        </p:txBody>
      </p:sp>
      <p:sp>
        <p:nvSpPr>
          <p:cNvPr id="3" name="Rectangle 2"/>
          <p:cNvSpPr/>
          <p:nvPr/>
        </p:nvSpPr>
        <p:spPr>
          <a:xfrm>
            <a:off x="799672" y="1277081"/>
            <a:ext cx="10838146" cy="769441"/>
          </a:xfrm>
          <a:prstGeom prst="rect">
            <a:avLst/>
          </a:prstGeom>
        </p:spPr>
        <p:txBody>
          <a:bodyPr wrap="square">
            <a:spAutoFit/>
          </a:bodyPr>
          <a:lstStyle/>
          <a:p>
            <a:r>
              <a:rPr lang="en-US" sz="2200" dirty="0">
                <a:latin typeface="Book Antiqua" panose="02040602050305030304" pitchFamily="18" charset="0"/>
              </a:rPr>
              <a:t>The original TCP/IP protocol suite was defined as having four layers : host-to-network, network(internet), transport and application</a:t>
            </a:r>
          </a:p>
        </p:txBody>
      </p:sp>
      <p:pic>
        <p:nvPicPr>
          <p:cNvPr id="4" name="Picture 3"/>
          <p:cNvPicPr>
            <a:picLocks noChangeAspect="1"/>
          </p:cNvPicPr>
          <p:nvPr/>
        </p:nvPicPr>
        <p:blipFill>
          <a:blip r:embed="rId2"/>
          <a:stretch>
            <a:fillRect/>
          </a:stretch>
        </p:blipFill>
        <p:spPr>
          <a:xfrm>
            <a:off x="3612139" y="2326958"/>
            <a:ext cx="4524375" cy="3990975"/>
          </a:xfrm>
          <a:prstGeom prst="rect">
            <a:avLst/>
          </a:prstGeom>
        </p:spPr>
      </p:pic>
      <p:sp>
        <p:nvSpPr>
          <p:cNvPr id="7" name="Slide Number Placeholder 6"/>
          <p:cNvSpPr>
            <a:spLocks noGrp="1"/>
          </p:cNvSpPr>
          <p:nvPr>
            <p:ph type="sldNum" sz="quarter" idx="12"/>
          </p:nvPr>
        </p:nvSpPr>
        <p:spPr/>
        <p:txBody>
          <a:bodyPr/>
          <a:lstStyle/>
          <a:p>
            <a:fld id="{2A5418B4-7F8B-4384-94FB-175520CCF426}" type="slidenum">
              <a:rPr lang="en-US" smtClean="0"/>
              <a:pPr/>
              <a:t>32</a:t>
            </a:fld>
            <a:endParaRPr lang="en-US"/>
          </a:p>
        </p:txBody>
      </p:sp>
    </p:spTree>
    <p:extLst>
      <p:ext uri="{BB962C8B-B14F-4D97-AF65-F5344CB8AC3E}">
        <p14:creationId xmlns:p14="http://schemas.microsoft.com/office/powerpoint/2010/main" val="119783138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599" y="501180"/>
            <a:ext cx="10986655" cy="2123658"/>
          </a:xfrm>
          <a:prstGeom prst="rect">
            <a:avLst/>
          </a:prstGeom>
        </p:spPr>
        <p:txBody>
          <a:bodyPr wrap="square">
            <a:spAutoFit/>
          </a:bodyPr>
          <a:lstStyle/>
          <a:p>
            <a:pPr marL="342900" indent="-342900">
              <a:buFont typeface="Wingdings" panose="05000000000000000000" pitchFamily="2" charset="2"/>
              <a:buChar char="v"/>
            </a:pPr>
            <a:r>
              <a:rPr lang="en-US" sz="2200" dirty="0">
                <a:latin typeface="Book Antiqua" panose="02040602050305030304" pitchFamily="18" charset="0"/>
              </a:rPr>
              <a:t>The layers in the TCP/IP protocol suite do not exactly match those in the OSI </a:t>
            </a:r>
            <a:br>
              <a:rPr lang="en-US" sz="2200" dirty="0">
                <a:latin typeface="Book Antiqua" panose="02040602050305030304" pitchFamily="18" charset="0"/>
              </a:rPr>
            </a:br>
            <a:r>
              <a:rPr lang="en-US" sz="2200" dirty="0">
                <a:latin typeface="Book Antiqua" panose="02040602050305030304" pitchFamily="18" charset="0"/>
              </a:rPr>
              <a:t>model.</a:t>
            </a:r>
            <a:br>
              <a:rPr lang="en-US" sz="2200" dirty="0">
                <a:latin typeface="Book Antiqua" panose="02040602050305030304" pitchFamily="18" charset="0"/>
              </a:rPr>
            </a:br>
            <a:endParaRPr lang="en-US" sz="2200" dirty="0">
              <a:latin typeface="Book Antiqua" panose="02040602050305030304" pitchFamily="18" charset="0"/>
            </a:endParaRPr>
          </a:p>
          <a:p>
            <a:pPr marL="342900" indent="-342900" algn="just">
              <a:buFont typeface="Wingdings" panose="05000000000000000000" pitchFamily="2" charset="2"/>
              <a:buChar char="v"/>
            </a:pPr>
            <a:r>
              <a:rPr lang="en-US" sz="2200" dirty="0">
                <a:latin typeface="Book Antiqua" panose="02040602050305030304" pitchFamily="18" charset="0"/>
              </a:rPr>
              <a:t>However, when TCP/IP is compared to OSI, we can say that the TCP/IP protocol suite is made of five layers: </a:t>
            </a:r>
            <a:r>
              <a:rPr lang="en-US" sz="2200" b="1" i="1" dirty="0">
                <a:latin typeface="Book Antiqua" panose="02040602050305030304" pitchFamily="18" charset="0"/>
              </a:rPr>
              <a:t>physical, data link, network, transport, and application</a:t>
            </a:r>
          </a:p>
          <a:p>
            <a:pPr marL="342900" indent="-342900" algn="just">
              <a:buFont typeface="Wingdings" panose="05000000000000000000" pitchFamily="2" charset="2"/>
              <a:buChar char="v"/>
            </a:pPr>
            <a:endParaRPr lang="en-US" sz="2200" dirty="0">
              <a:latin typeface="Book Antiqua" panose="02040602050305030304" pitchFamily="18" charset="0"/>
            </a:endParaRPr>
          </a:p>
        </p:txBody>
      </p:sp>
      <p:pic>
        <p:nvPicPr>
          <p:cNvPr id="3" name="Picture 2"/>
          <p:cNvPicPr>
            <a:picLocks noChangeAspect="1"/>
          </p:cNvPicPr>
          <p:nvPr/>
        </p:nvPicPr>
        <p:blipFill>
          <a:blip r:embed="rId2"/>
          <a:stretch>
            <a:fillRect/>
          </a:stretch>
        </p:blipFill>
        <p:spPr>
          <a:xfrm>
            <a:off x="1586778" y="2286284"/>
            <a:ext cx="8658225" cy="4038600"/>
          </a:xfrm>
          <a:prstGeom prst="rect">
            <a:avLst/>
          </a:prstGeom>
        </p:spPr>
      </p:pic>
      <p:sp>
        <p:nvSpPr>
          <p:cNvPr id="6" name="Slide Number Placeholder 5"/>
          <p:cNvSpPr>
            <a:spLocks noGrp="1"/>
          </p:cNvSpPr>
          <p:nvPr>
            <p:ph type="sldNum" sz="quarter" idx="12"/>
          </p:nvPr>
        </p:nvSpPr>
        <p:spPr/>
        <p:txBody>
          <a:bodyPr/>
          <a:lstStyle/>
          <a:p>
            <a:fld id="{2A5418B4-7F8B-4384-94FB-175520CCF426}" type="slidenum">
              <a:rPr lang="en-US" smtClean="0"/>
              <a:pPr/>
              <a:t>33</a:t>
            </a:fld>
            <a:endParaRPr lang="en-US"/>
          </a:p>
        </p:txBody>
      </p:sp>
    </p:spTree>
    <p:extLst>
      <p:ext uri="{BB962C8B-B14F-4D97-AF65-F5344CB8AC3E}">
        <p14:creationId xmlns:p14="http://schemas.microsoft.com/office/powerpoint/2010/main" val="1312214080"/>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6591" y="348734"/>
            <a:ext cx="2720617" cy="523220"/>
          </a:xfrm>
          <a:prstGeom prst="rect">
            <a:avLst/>
          </a:prstGeom>
        </p:spPr>
        <p:txBody>
          <a:bodyPr wrap="none">
            <a:spAutoFit/>
          </a:bodyPr>
          <a:lstStyle/>
          <a:p>
            <a:r>
              <a:rPr lang="en-US" sz="2800" b="1" dirty="0">
                <a:latin typeface="Book Antiqua" panose="02040602050305030304" pitchFamily="18" charset="0"/>
              </a:rPr>
              <a:t>ADDRESSING</a:t>
            </a:r>
          </a:p>
        </p:txBody>
      </p:sp>
      <p:sp>
        <p:nvSpPr>
          <p:cNvPr id="3" name="Rectangle 2"/>
          <p:cNvSpPr/>
          <p:nvPr/>
        </p:nvSpPr>
        <p:spPr>
          <a:xfrm>
            <a:off x="656591" y="999944"/>
            <a:ext cx="10995082" cy="769441"/>
          </a:xfrm>
          <a:prstGeom prst="rect">
            <a:avLst/>
          </a:prstGeom>
        </p:spPr>
        <p:txBody>
          <a:bodyPr wrap="square">
            <a:spAutoFit/>
          </a:bodyPr>
          <a:lstStyle/>
          <a:p>
            <a:r>
              <a:rPr lang="en-US" sz="2200" dirty="0">
                <a:latin typeface="Book Antiqua" panose="02040602050305030304" pitchFamily="18" charset="0"/>
              </a:rPr>
              <a:t>Four levels of addresses are used in an internet employing the TCP/IP protocols: </a:t>
            </a:r>
            <a:r>
              <a:rPr lang="en-US" sz="2200" b="1" i="1" dirty="0">
                <a:latin typeface="Book Antiqua" panose="02040602050305030304" pitchFamily="18" charset="0"/>
              </a:rPr>
              <a:t>physical, logical, port, and specific</a:t>
            </a:r>
          </a:p>
        </p:txBody>
      </p:sp>
      <p:pic>
        <p:nvPicPr>
          <p:cNvPr id="4" name="Picture 3"/>
          <p:cNvPicPr>
            <a:picLocks noChangeAspect="1"/>
          </p:cNvPicPr>
          <p:nvPr/>
        </p:nvPicPr>
        <p:blipFill>
          <a:blip r:embed="rId2"/>
          <a:stretch>
            <a:fillRect/>
          </a:stretch>
        </p:blipFill>
        <p:spPr>
          <a:xfrm>
            <a:off x="1846551" y="2274743"/>
            <a:ext cx="8277225" cy="2724150"/>
          </a:xfrm>
          <a:prstGeom prst="rect">
            <a:avLst/>
          </a:prstGeom>
        </p:spPr>
      </p:pic>
      <p:sp>
        <p:nvSpPr>
          <p:cNvPr id="7" name="Slide Number Placeholder 6"/>
          <p:cNvSpPr>
            <a:spLocks noGrp="1"/>
          </p:cNvSpPr>
          <p:nvPr>
            <p:ph type="sldNum" sz="quarter" idx="12"/>
          </p:nvPr>
        </p:nvSpPr>
        <p:spPr/>
        <p:txBody>
          <a:bodyPr/>
          <a:lstStyle/>
          <a:p>
            <a:fld id="{2A5418B4-7F8B-4384-94FB-175520CCF426}" type="slidenum">
              <a:rPr lang="en-US" smtClean="0"/>
              <a:pPr/>
              <a:t>34</a:t>
            </a:fld>
            <a:endParaRPr lang="en-US"/>
          </a:p>
        </p:txBody>
      </p:sp>
    </p:spTree>
    <p:extLst>
      <p:ext uri="{BB962C8B-B14F-4D97-AF65-F5344CB8AC3E}">
        <p14:creationId xmlns:p14="http://schemas.microsoft.com/office/powerpoint/2010/main" val="2088009578"/>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586" y="404153"/>
            <a:ext cx="10709983" cy="523220"/>
          </a:xfrm>
          <a:prstGeom prst="rect">
            <a:avLst/>
          </a:prstGeom>
        </p:spPr>
        <p:txBody>
          <a:bodyPr wrap="none">
            <a:spAutoFit/>
          </a:bodyPr>
          <a:lstStyle/>
          <a:p>
            <a:r>
              <a:rPr lang="en-US" sz="2800" b="1" dirty="0">
                <a:latin typeface="Book Antiqua" panose="02040602050305030304" pitchFamily="18" charset="0"/>
              </a:rPr>
              <a:t>Relationship of layers and addresses in TCP/IP (Internet Model)</a:t>
            </a:r>
          </a:p>
        </p:txBody>
      </p:sp>
      <p:pic>
        <p:nvPicPr>
          <p:cNvPr id="3" name="Picture 2"/>
          <p:cNvPicPr>
            <a:picLocks noChangeAspect="1"/>
          </p:cNvPicPr>
          <p:nvPr/>
        </p:nvPicPr>
        <p:blipFill>
          <a:blip r:embed="rId2"/>
          <a:stretch>
            <a:fillRect/>
          </a:stretch>
        </p:blipFill>
        <p:spPr>
          <a:xfrm>
            <a:off x="2254394" y="1343025"/>
            <a:ext cx="7877175" cy="5086350"/>
          </a:xfrm>
          <a:prstGeom prst="rect">
            <a:avLst/>
          </a:prstGeom>
        </p:spPr>
      </p:pic>
      <p:sp>
        <p:nvSpPr>
          <p:cNvPr id="6" name="Slide Number Placeholder 5"/>
          <p:cNvSpPr>
            <a:spLocks noGrp="1"/>
          </p:cNvSpPr>
          <p:nvPr>
            <p:ph type="sldNum" sz="quarter" idx="12"/>
          </p:nvPr>
        </p:nvSpPr>
        <p:spPr/>
        <p:txBody>
          <a:bodyPr/>
          <a:lstStyle/>
          <a:p>
            <a:fld id="{2A5418B4-7F8B-4384-94FB-175520CCF426}" type="slidenum">
              <a:rPr lang="en-US" smtClean="0"/>
              <a:pPr/>
              <a:t>35</a:t>
            </a:fld>
            <a:endParaRPr lang="en-US"/>
          </a:p>
        </p:txBody>
      </p:sp>
    </p:spTree>
    <p:extLst>
      <p:ext uri="{BB962C8B-B14F-4D97-AF65-F5344CB8AC3E}">
        <p14:creationId xmlns:p14="http://schemas.microsoft.com/office/powerpoint/2010/main" val="641483137"/>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0686" y="404152"/>
            <a:ext cx="3005951" cy="523220"/>
          </a:xfrm>
          <a:prstGeom prst="rect">
            <a:avLst/>
          </a:prstGeom>
        </p:spPr>
        <p:txBody>
          <a:bodyPr wrap="none">
            <a:spAutoFit/>
          </a:bodyPr>
          <a:lstStyle/>
          <a:p>
            <a:r>
              <a:rPr lang="en-US" sz="2800" b="1" dirty="0">
                <a:latin typeface="Book Antiqua" panose="02040602050305030304" pitchFamily="18" charset="0"/>
              </a:rPr>
              <a:t>Physical Address</a:t>
            </a:r>
          </a:p>
        </p:txBody>
      </p:sp>
      <p:sp>
        <p:nvSpPr>
          <p:cNvPr id="3" name="Rectangle 2"/>
          <p:cNvSpPr/>
          <p:nvPr/>
        </p:nvSpPr>
        <p:spPr>
          <a:xfrm>
            <a:off x="660685" y="1429435"/>
            <a:ext cx="10783169" cy="2708370"/>
          </a:xfrm>
          <a:prstGeom prst="rect">
            <a:avLst/>
          </a:prstGeom>
        </p:spPr>
        <p:txBody>
          <a:bodyPr wrap="square">
            <a:spAutoFit/>
          </a:bodyPr>
          <a:lstStyle/>
          <a:p>
            <a:pPr marL="342900" indent="-342900">
              <a:lnSpc>
                <a:spcPct val="200000"/>
              </a:lnSpc>
              <a:buFont typeface="Wingdings" panose="05000000000000000000" pitchFamily="2" charset="2"/>
              <a:buChar char="v"/>
            </a:pPr>
            <a:r>
              <a:rPr lang="en-US" sz="2200" dirty="0">
                <a:latin typeface="Book Antiqua" panose="02040602050305030304" pitchFamily="18" charset="0"/>
              </a:rPr>
              <a:t>The physical address, also known as the link address, is the address of the node as defined by its LAN or WAN.</a:t>
            </a:r>
          </a:p>
          <a:p>
            <a:pPr marL="342900" indent="-342900">
              <a:lnSpc>
                <a:spcPct val="200000"/>
              </a:lnSpc>
              <a:buFont typeface="Wingdings" panose="05000000000000000000" pitchFamily="2" charset="2"/>
              <a:buChar char="v"/>
            </a:pPr>
            <a:r>
              <a:rPr lang="en-US" sz="2200" dirty="0">
                <a:latin typeface="Book Antiqua" panose="02040602050305030304" pitchFamily="18" charset="0"/>
              </a:rPr>
              <a:t>It is included in the frame used by the data link layer.</a:t>
            </a:r>
          </a:p>
          <a:p>
            <a:pPr marL="342900" indent="-342900">
              <a:lnSpc>
                <a:spcPct val="200000"/>
              </a:lnSpc>
              <a:buFont typeface="Wingdings" panose="05000000000000000000" pitchFamily="2" charset="2"/>
              <a:buChar char="v"/>
            </a:pPr>
            <a:r>
              <a:rPr lang="en-US" sz="2200" dirty="0">
                <a:latin typeface="Book Antiqua" panose="02040602050305030304" pitchFamily="18" charset="0"/>
              </a:rPr>
              <a:t>It is the lowest-level address.</a:t>
            </a:r>
          </a:p>
        </p:txBody>
      </p:sp>
      <p:sp>
        <p:nvSpPr>
          <p:cNvPr id="6" name="Slide Number Placeholder 5"/>
          <p:cNvSpPr>
            <a:spLocks noGrp="1"/>
          </p:cNvSpPr>
          <p:nvPr>
            <p:ph type="sldNum" sz="quarter" idx="12"/>
          </p:nvPr>
        </p:nvSpPr>
        <p:spPr/>
        <p:txBody>
          <a:bodyPr/>
          <a:lstStyle/>
          <a:p>
            <a:fld id="{2A5418B4-7F8B-4384-94FB-175520CCF426}" type="slidenum">
              <a:rPr lang="en-US" smtClean="0"/>
              <a:pPr/>
              <a:t>36</a:t>
            </a:fld>
            <a:endParaRPr lang="en-US"/>
          </a:p>
        </p:txBody>
      </p:sp>
    </p:spTree>
    <p:extLst>
      <p:ext uri="{BB962C8B-B14F-4D97-AF65-F5344CB8AC3E}">
        <p14:creationId xmlns:p14="http://schemas.microsoft.com/office/powerpoint/2010/main" val="203762619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623" y="404152"/>
            <a:ext cx="1601721" cy="523220"/>
          </a:xfrm>
          <a:prstGeom prst="rect">
            <a:avLst/>
          </a:prstGeom>
        </p:spPr>
        <p:txBody>
          <a:bodyPr wrap="none">
            <a:spAutoFit/>
          </a:bodyPr>
          <a:lstStyle/>
          <a:p>
            <a:r>
              <a:rPr lang="en-US" sz="2800" b="1" i="1" dirty="0">
                <a:latin typeface="Book Antiqua" panose="02040602050305030304" pitchFamily="18" charset="0"/>
              </a:rPr>
              <a:t>Example</a:t>
            </a:r>
          </a:p>
        </p:txBody>
      </p:sp>
      <p:sp>
        <p:nvSpPr>
          <p:cNvPr id="3" name="Rectangle 2"/>
          <p:cNvSpPr/>
          <p:nvPr/>
        </p:nvSpPr>
        <p:spPr>
          <a:xfrm>
            <a:off x="633622" y="1110918"/>
            <a:ext cx="11253577" cy="1446550"/>
          </a:xfrm>
          <a:prstGeom prst="rect">
            <a:avLst/>
          </a:prstGeom>
        </p:spPr>
        <p:txBody>
          <a:bodyPr wrap="square">
            <a:spAutoFit/>
          </a:bodyPr>
          <a:lstStyle/>
          <a:p>
            <a:pPr algn="just"/>
            <a:r>
              <a:rPr lang="en-US" sz="2200" dirty="0">
                <a:latin typeface="Book Antiqua" panose="02040602050305030304" pitchFamily="18" charset="0"/>
              </a:rPr>
              <a:t>In Figure below a node with physical address 10 sends a frame to a node with physical address 87. The two nodes are connected by a link (bus topology LAN). As the figure shows, the computer with physical address 10 is the sender, and the computer with physical address 87 is the receiver.</a:t>
            </a:r>
          </a:p>
        </p:txBody>
      </p:sp>
      <p:pic>
        <p:nvPicPr>
          <p:cNvPr id="4" name="Picture 3"/>
          <p:cNvPicPr>
            <a:picLocks noChangeAspect="1"/>
          </p:cNvPicPr>
          <p:nvPr/>
        </p:nvPicPr>
        <p:blipFill>
          <a:blip r:embed="rId2"/>
          <a:stretch>
            <a:fillRect/>
          </a:stretch>
        </p:blipFill>
        <p:spPr>
          <a:xfrm>
            <a:off x="1178935" y="3282661"/>
            <a:ext cx="10167839" cy="2453120"/>
          </a:xfrm>
          <a:prstGeom prst="rect">
            <a:avLst/>
          </a:prstGeom>
        </p:spPr>
      </p:pic>
      <p:sp>
        <p:nvSpPr>
          <p:cNvPr id="7" name="Slide Number Placeholder 6"/>
          <p:cNvSpPr>
            <a:spLocks noGrp="1"/>
          </p:cNvSpPr>
          <p:nvPr>
            <p:ph type="sldNum" sz="quarter" idx="12"/>
          </p:nvPr>
        </p:nvSpPr>
        <p:spPr/>
        <p:txBody>
          <a:bodyPr/>
          <a:lstStyle/>
          <a:p>
            <a:fld id="{2A5418B4-7F8B-4384-94FB-175520CCF426}" type="slidenum">
              <a:rPr lang="en-US" smtClean="0"/>
              <a:pPr/>
              <a:t>37</a:t>
            </a:fld>
            <a:endParaRPr lang="en-US"/>
          </a:p>
        </p:txBody>
      </p:sp>
    </p:spTree>
    <p:extLst>
      <p:ext uri="{BB962C8B-B14F-4D97-AF65-F5344CB8AC3E}">
        <p14:creationId xmlns:p14="http://schemas.microsoft.com/office/powerpoint/2010/main" val="132429806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0380" y="390298"/>
            <a:ext cx="2828018" cy="523220"/>
          </a:xfrm>
          <a:prstGeom prst="rect">
            <a:avLst/>
          </a:prstGeom>
        </p:spPr>
        <p:txBody>
          <a:bodyPr wrap="none">
            <a:spAutoFit/>
          </a:bodyPr>
          <a:lstStyle/>
          <a:p>
            <a:r>
              <a:rPr lang="en-US" sz="2800" b="1" dirty="0">
                <a:latin typeface="Book Antiqua" panose="02040602050305030304" pitchFamily="18" charset="0"/>
              </a:rPr>
              <a:t>Logical Address</a:t>
            </a:r>
          </a:p>
        </p:txBody>
      </p:sp>
      <p:sp>
        <p:nvSpPr>
          <p:cNvPr id="3" name="Rectangle 2"/>
          <p:cNvSpPr/>
          <p:nvPr/>
        </p:nvSpPr>
        <p:spPr>
          <a:xfrm>
            <a:off x="710380" y="1318599"/>
            <a:ext cx="10913584" cy="769441"/>
          </a:xfrm>
          <a:prstGeom prst="rect">
            <a:avLst/>
          </a:prstGeom>
        </p:spPr>
        <p:txBody>
          <a:bodyPr wrap="square">
            <a:spAutoFit/>
          </a:bodyPr>
          <a:lstStyle/>
          <a:p>
            <a:pPr marL="342900" indent="-342900" algn="just">
              <a:buFont typeface="Wingdings" panose="05000000000000000000" pitchFamily="2" charset="2"/>
              <a:buChar char="v"/>
            </a:pPr>
            <a:r>
              <a:rPr lang="en-US" sz="2200" dirty="0">
                <a:latin typeface="Book Antiqua" panose="02040602050305030304" pitchFamily="18" charset="0"/>
              </a:rPr>
              <a:t>A logical address in the Internet is currently 32-bit address that can uniquely define a host connected to the Internet.</a:t>
            </a:r>
          </a:p>
        </p:txBody>
      </p:sp>
      <p:sp>
        <p:nvSpPr>
          <p:cNvPr id="4" name="Rectangle 3"/>
          <p:cNvSpPr/>
          <p:nvPr/>
        </p:nvSpPr>
        <p:spPr>
          <a:xfrm>
            <a:off x="710380" y="2493121"/>
            <a:ext cx="10913584" cy="769441"/>
          </a:xfrm>
          <a:prstGeom prst="rect">
            <a:avLst/>
          </a:prstGeom>
        </p:spPr>
        <p:txBody>
          <a:bodyPr wrap="square">
            <a:spAutoFit/>
          </a:bodyPr>
          <a:lstStyle/>
          <a:p>
            <a:pPr marL="342900" indent="-342900" algn="just">
              <a:buFont typeface="Wingdings" panose="05000000000000000000" pitchFamily="2" charset="2"/>
              <a:buChar char="v"/>
            </a:pPr>
            <a:r>
              <a:rPr lang="en-US" sz="2200" dirty="0">
                <a:latin typeface="Book Antiqua" panose="02040602050305030304" pitchFamily="18" charset="0"/>
              </a:rPr>
              <a:t>No two publicly addressed and visible hosts on the Internet can have the same IP address.</a:t>
            </a:r>
          </a:p>
        </p:txBody>
      </p:sp>
      <p:sp>
        <p:nvSpPr>
          <p:cNvPr id="5" name="Rectangle 4"/>
          <p:cNvSpPr/>
          <p:nvPr/>
        </p:nvSpPr>
        <p:spPr>
          <a:xfrm>
            <a:off x="710380" y="3482977"/>
            <a:ext cx="1563248" cy="523220"/>
          </a:xfrm>
          <a:prstGeom prst="rect">
            <a:avLst/>
          </a:prstGeom>
        </p:spPr>
        <p:txBody>
          <a:bodyPr wrap="none">
            <a:spAutoFit/>
          </a:bodyPr>
          <a:lstStyle/>
          <a:p>
            <a:r>
              <a:rPr lang="en-US" sz="2800" b="1" i="1" dirty="0">
                <a:latin typeface="Book Antiqua" panose="02040602050305030304" pitchFamily="18" charset="0"/>
              </a:rPr>
              <a:t>Example</a:t>
            </a:r>
          </a:p>
        </p:txBody>
      </p:sp>
      <p:sp>
        <p:nvSpPr>
          <p:cNvPr id="6" name="Rectangle 5"/>
          <p:cNvSpPr/>
          <p:nvPr/>
        </p:nvSpPr>
        <p:spPr>
          <a:xfrm>
            <a:off x="710380" y="4226612"/>
            <a:ext cx="10913584" cy="2123658"/>
          </a:xfrm>
          <a:prstGeom prst="rect">
            <a:avLst/>
          </a:prstGeom>
        </p:spPr>
        <p:txBody>
          <a:bodyPr wrap="square">
            <a:spAutoFit/>
          </a:bodyPr>
          <a:lstStyle/>
          <a:p>
            <a:pPr algn="just"/>
            <a:r>
              <a:rPr lang="en-US" sz="2200" dirty="0">
                <a:latin typeface="Book Antiqua" panose="02040602050305030304" pitchFamily="18" charset="0"/>
              </a:rPr>
              <a:t>Figure in the next slide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a:t>
            </a:r>
          </a:p>
        </p:txBody>
      </p:sp>
      <p:sp>
        <p:nvSpPr>
          <p:cNvPr id="9" name="Slide Number Placeholder 8"/>
          <p:cNvSpPr>
            <a:spLocks noGrp="1"/>
          </p:cNvSpPr>
          <p:nvPr>
            <p:ph type="sldNum" sz="quarter" idx="12"/>
          </p:nvPr>
        </p:nvSpPr>
        <p:spPr/>
        <p:txBody>
          <a:bodyPr/>
          <a:lstStyle/>
          <a:p>
            <a:fld id="{2A5418B4-7F8B-4384-94FB-175520CCF426}" type="slidenum">
              <a:rPr lang="en-US" smtClean="0"/>
              <a:pPr/>
              <a:t>38</a:t>
            </a:fld>
            <a:endParaRPr lang="en-US"/>
          </a:p>
        </p:txBody>
      </p:sp>
    </p:spTree>
    <p:extLst>
      <p:ext uri="{BB962C8B-B14F-4D97-AF65-F5344CB8AC3E}">
        <p14:creationId xmlns:p14="http://schemas.microsoft.com/office/powerpoint/2010/main" val="418427896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7345" y="406678"/>
            <a:ext cx="7767248" cy="6201940"/>
          </a:xfrm>
          <a:prstGeom prst="rect">
            <a:avLst/>
          </a:prstGeom>
        </p:spPr>
      </p:pic>
      <p:sp>
        <p:nvSpPr>
          <p:cNvPr id="5" name="Slide Number Placeholder 4"/>
          <p:cNvSpPr>
            <a:spLocks noGrp="1"/>
          </p:cNvSpPr>
          <p:nvPr>
            <p:ph type="sldNum" sz="quarter" idx="12"/>
          </p:nvPr>
        </p:nvSpPr>
        <p:spPr/>
        <p:txBody>
          <a:bodyPr/>
          <a:lstStyle/>
          <a:p>
            <a:fld id="{2A5418B4-7F8B-4384-94FB-175520CCF426}" type="slidenum">
              <a:rPr lang="en-US" smtClean="0"/>
              <a:pPr/>
              <a:t>39</a:t>
            </a:fld>
            <a:endParaRPr lang="en-US"/>
          </a:p>
        </p:txBody>
      </p:sp>
    </p:spTree>
    <p:extLst>
      <p:ext uri="{BB962C8B-B14F-4D97-AF65-F5344CB8AC3E}">
        <p14:creationId xmlns:p14="http://schemas.microsoft.com/office/powerpoint/2010/main" val="419949545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7374" y="376443"/>
            <a:ext cx="2308645" cy="523220"/>
          </a:xfrm>
          <a:prstGeom prst="rect">
            <a:avLst/>
          </a:prstGeom>
        </p:spPr>
        <p:txBody>
          <a:bodyPr wrap="none">
            <a:spAutoFit/>
          </a:bodyPr>
          <a:lstStyle/>
          <a:p>
            <a:r>
              <a:rPr lang="en-US" sz="2800" b="1" dirty="0">
                <a:latin typeface="Book Antiqua" panose="02040602050305030304" pitchFamily="18" charset="0"/>
              </a:rPr>
              <a:t>Port Address</a:t>
            </a:r>
          </a:p>
        </p:txBody>
      </p:sp>
      <p:sp>
        <p:nvSpPr>
          <p:cNvPr id="3" name="Rectangle 2"/>
          <p:cNvSpPr/>
          <p:nvPr/>
        </p:nvSpPr>
        <p:spPr>
          <a:xfrm>
            <a:off x="737373" y="1152344"/>
            <a:ext cx="10554081" cy="1107996"/>
          </a:xfrm>
          <a:prstGeom prst="rect">
            <a:avLst/>
          </a:prstGeom>
        </p:spPr>
        <p:txBody>
          <a:bodyPr wrap="square">
            <a:spAutoFit/>
          </a:bodyPr>
          <a:lstStyle/>
          <a:p>
            <a:pPr marL="342900" indent="-342900">
              <a:buFont typeface="Wingdings" panose="05000000000000000000" pitchFamily="2" charset="2"/>
              <a:buChar char="v"/>
            </a:pPr>
            <a:r>
              <a:rPr lang="en-US" sz="2200" dirty="0">
                <a:latin typeface="Book Antiqua" panose="02040602050305030304" pitchFamily="18" charset="0"/>
              </a:rPr>
              <a:t>In TCP / IP model, the label assigned to a process is called a port address.</a:t>
            </a:r>
          </a:p>
          <a:p>
            <a:pPr marL="342900" indent="-342900">
              <a:buFont typeface="Wingdings" panose="05000000000000000000" pitchFamily="2" charset="2"/>
              <a:buChar char="v"/>
            </a:pPr>
            <a:endParaRPr lang="en-US" sz="2200" dirty="0">
              <a:latin typeface="Book Antiqua" panose="02040602050305030304" pitchFamily="18" charset="0"/>
            </a:endParaRPr>
          </a:p>
          <a:p>
            <a:pPr marL="342900" indent="-342900">
              <a:buFont typeface="Wingdings" panose="05000000000000000000" pitchFamily="2" charset="2"/>
              <a:buChar char="v"/>
            </a:pPr>
            <a:r>
              <a:rPr lang="en-US" sz="2200" dirty="0">
                <a:latin typeface="Book Antiqua" panose="02040602050305030304" pitchFamily="18" charset="0"/>
              </a:rPr>
              <a:t>A port in TCP / IP is 16-bits in length</a:t>
            </a:r>
          </a:p>
        </p:txBody>
      </p:sp>
      <p:sp>
        <p:nvSpPr>
          <p:cNvPr id="4" name="Rectangle 3"/>
          <p:cNvSpPr/>
          <p:nvPr/>
        </p:nvSpPr>
        <p:spPr>
          <a:xfrm>
            <a:off x="737373" y="2513021"/>
            <a:ext cx="1601721" cy="523220"/>
          </a:xfrm>
          <a:prstGeom prst="rect">
            <a:avLst/>
          </a:prstGeom>
        </p:spPr>
        <p:txBody>
          <a:bodyPr wrap="none">
            <a:spAutoFit/>
          </a:bodyPr>
          <a:lstStyle/>
          <a:p>
            <a:r>
              <a:rPr lang="en-US" sz="2800" b="1" i="1" dirty="0">
                <a:latin typeface="Book Antiqua" panose="02040602050305030304" pitchFamily="18" charset="0"/>
              </a:rPr>
              <a:t>Example</a:t>
            </a:r>
          </a:p>
        </p:txBody>
      </p:sp>
      <p:sp>
        <p:nvSpPr>
          <p:cNvPr id="5" name="Rectangle 4"/>
          <p:cNvSpPr/>
          <p:nvPr/>
        </p:nvSpPr>
        <p:spPr>
          <a:xfrm>
            <a:off x="737372" y="3036241"/>
            <a:ext cx="10554081" cy="3597075"/>
          </a:xfrm>
          <a:prstGeom prst="rect">
            <a:avLst/>
          </a:prstGeom>
        </p:spPr>
        <p:txBody>
          <a:bodyPr wrap="square">
            <a:spAutoFit/>
          </a:bodyPr>
          <a:lstStyle/>
          <a:p>
            <a:pPr algn="just">
              <a:lnSpc>
                <a:spcPct val="150000"/>
              </a:lnSpc>
            </a:pPr>
            <a:r>
              <a:rPr lang="en-US" sz="2200" dirty="0">
                <a:latin typeface="Book Antiqua" panose="02040602050305030304" pitchFamily="18" charset="0"/>
              </a:rPr>
              <a:t>Figure in the next slide shows two computers communicating via the Internet. The sending computer is running three processes at this time with port addresses a, b, and c. The receiving computer is running two processes at this time with port addresses j and k. Process a in the sending computer needs to communicate with process j in the receiving computer. Note that although physical addresses change from hop to hop, logical and port addresses remain the same from the source to destination. </a:t>
            </a:r>
          </a:p>
        </p:txBody>
      </p:sp>
      <p:sp>
        <p:nvSpPr>
          <p:cNvPr id="8" name="Slide Number Placeholder 7"/>
          <p:cNvSpPr>
            <a:spLocks noGrp="1"/>
          </p:cNvSpPr>
          <p:nvPr>
            <p:ph type="sldNum" sz="quarter" idx="12"/>
          </p:nvPr>
        </p:nvSpPr>
        <p:spPr/>
        <p:txBody>
          <a:bodyPr/>
          <a:lstStyle/>
          <a:p>
            <a:fld id="{2A5418B4-7F8B-4384-94FB-175520CCF426}" type="slidenum">
              <a:rPr lang="en-US" smtClean="0"/>
              <a:pPr/>
              <a:t>40</a:t>
            </a:fld>
            <a:endParaRPr lang="en-US"/>
          </a:p>
        </p:txBody>
      </p:sp>
    </p:spTree>
    <p:extLst>
      <p:ext uri="{BB962C8B-B14F-4D97-AF65-F5344CB8AC3E}">
        <p14:creationId xmlns:p14="http://schemas.microsoft.com/office/powerpoint/2010/main" val="228272904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9746" y="466411"/>
            <a:ext cx="7883236" cy="5873566"/>
          </a:xfrm>
          <a:prstGeom prst="rect">
            <a:avLst/>
          </a:prstGeom>
        </p:spPr>
      </p:pic>
      <p:sp>
        <p:nvSpPr>
          <p:cNvPr id="5" name="Slide Number Placeholder 4"/>
          <p:cNvSpPr>
            <a:spLocks noGrp="1"/>
          </p:cNvSpPr>
          <p:nvPr>
            <p:ph type="sldNum" sz="quarter" idx="12"/>
          </p:nvPr>
        </p:nvSpPr>
        <p:spPr/>
        <p:txBody>
          <a:bodyPr/>
          <a:lstStyle/>
          <a:p>
            <a:fld id="{2A5418B4-7F8B-4384-94FB-175520CCF426}" type="slidenum">
              <a:rPr lang="en-US" smtClean="0"/>
              <a:pPr/>
              <a:t>41</a:t>
            </a:fld>
            <a:endParaRPr lang="en-US"/>
          </a:p>
        </p:txBody>
      </p:sp>
    </p:spTree>
    <p:extLst>
      <p:ext uri="{BB962C8B-B14F-4D97-AF65-F5344CB8AC3E}">
        <p14:creationId xmlns:p14="http://schemas.microsoft.com/office/powerpoint/2010/main" val="1625167054"/>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1174</TotalTime>
  <Words>1702</Words>
  <Application>Microsoft Office PowerPoint</Application>
  <PresentationFormat>Widescreen</PresentationFormat>
  <Paragraphs>182</Paragraphs>
  <Slides>41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Book Antiqua</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Ignatious Pious</dc:creator>
  <cp:lastModifiedBy>Sreethar S</cp:lastModifiedBy>
  <cp:revision>79</cp:revision>
  <dcterms:created xsi:type="dcterms:W3CDTF">2020-07-21T08:47:10Z</dcterms:created>
  <dcterms:modified xsi:type="dcterms:W3CDTF">2024-08-09T05:11:03Z</dcterms:modified>
</cp:coreProperties>
</file>