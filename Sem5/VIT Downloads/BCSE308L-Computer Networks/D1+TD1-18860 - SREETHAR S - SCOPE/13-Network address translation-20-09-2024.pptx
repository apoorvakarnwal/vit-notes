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425" r:id="rId2"/>
    <p:sldId id="422" r:id="rId3"/>
    <p:sldId id="429" r:id="rId4"/>
    <p:sldId id="427" r:id="rId5"/>
    <p:sldId id="430" r:id="rId6"/>
    <p:sldId id="431" r:id="rId7"/>
    <p:sldId id="432" r:id="rId8"/>
    <p:sldId id="426" r:id="rId9"/>
    <p:sldId id="387" r:id="rId10"/>
    <p:sldId id="433" r:id="rId11"/>
    <p:sldId id="434" r:id="rId12"/>
    <p:sldId id="435" r:id="rId13"/>
    <p:sldId id="436" r:id="rId14"/>
    <p:sldId id="437" r:id="rId15"/>
    <p:sldId id="388" r:id="rId16"/>
    <p:sldId id="445" r:id="rId17"/>
    <p:sldId id="446" r:id="rId18"/>
    <p:sldId id="447" r:id="rId19"/>
    <p:sldId id="448" r:id="rId20"/>
    <p:sldId id="428" r:id="rId21"/>
    <p:sldId id="444" r:id="rId22"/>
    <p:sldId id="438" r:id="rId23"/>
    <p:sldId id="439" r:id="rId24"/>
    <p:sldId id="440" r:id="rId25"/>
    <p:sldId id="441" r:id="rId26"/>
    <p:sldId id="442" r:id="rId27"/>
    <p:sldId id="443" r:id="rId28"/>
    <p:sldId id="454" r:id="rId29"/>
    <p:sldId id="392" r:id="rId30"/>
    <p:sldId id="393" r:id="rId31"/>
    <p:sldId id="394" r:id="rId32"/>
    <p:sldId id="395" r:id="rId33"/>
    <p:sldId id="449" r:id="rId34"/>
    <p:sldId id="450" r:id="rId35"/>
    <p:sldId id="451" r:id="rId36"/>
    <p:sldId id="452" r:id="rId37"/>
    <p:sldId id="45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B02A-0170-4E64-96F1-4A3F764CC5B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66530-ECAB-42FD-A393-68310108F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103BF7-4116-42B4-A4EF-764F8AE084E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0D2167-E59C-4229-8DB5-4151BCF6327E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DE35A5-9E82-4996-B88C-BC0453BDF74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79AD8C-25EE-4582-BCF0-AB41B969F74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1A6689-5396-4D37-835F-B298BD51DA7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A90CF6-018C-4CAD-A7F0-D04F37BCE09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2000" y="609601"/>
            <a:ext cx="7772400" cy="1066800"/>
          </a:xfrm>
        </p:spPr>
        <p:txBody>
          <a:bodyPr/>
          <a:lstStyle/>
          <a:p>
            <a:r>
              <a:rPr lang="en-IN" dirty="0" err="1"/>
              <a:t>Subnetting</a:t>
            </a:r>
            <a:r>
              <a:rPr lang="en-IN" dirty="0"/>
              <a:t> &amp; </a:t>
            </a:r>
            <a:r>
              <a:rPr lang="en-US" dirty="0" err="1"/>
              <a:t>Supernetting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95400" y="2286000"/>
            <a:ext cx="7010400" cy="3048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An organization (or an ISP) that is granted a range of addresses may divide the range into several </a:t>
            </a:r>
            <a:r>
              <a:rPr lang="en-US" dirty="0" err="1">
                <a:solidFill>
                  <a:srgbClr val="FF0000"/>
                </a:solidFill>
              </a:rPr>
              <a:t>subranges</a:t>
            </a:r>
            <a:r>
              <a:rPr lang="en-US" dirty="0">
                <a:solidFill>
                  <a:srgbClr val="FF0000"/>
                </a:solidFill>
              </a:rPr>
              <a:t> and assign each </a:t>
            </a:r>
            <a:r>
              <a:rPr lang="en-US" dirty="0" err="1">
                <a:solidFill>
                  <a:srgbClr val="FF0000"/>
                </a:solidFill>
              </a:rPr>
              <a:t>subrange</a:t>
            </a:r>
            <a:r>
              <a:rPr lang="en-US" dirty="0">
                <a:solidFill>
                  <a:srgbClr val="FF0000"/>
                </a:solidFill>
              </a:rPr>
              <a:t> to a </a:t>
            </a:r>
            <a:r>
              <a:rPr lang="en-US" dirty="0" err="1">
                <a:solidFill>
                  <a:srgbClr val="FF0000"/>
                </a:solidFill>
              </a:rPr>
              <a:t>subnetwork</a:t>
            </a:r>
            <a:r>
              <a:rPr lang="en-US" dirty="0">
                <a:solidFill>
                  <a:srgbClr val="FF0000"/>
                </a:solidFill>
              </a:rPr>
              <a:t> (or subnet).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In </a:t>
            </a:r>
            <a:r>
              <a:rPr lang="en-US" dirty="0" err="1">
                <a:solidFill>
                  <a:srgbClr val="0070C0"/>
                </a:solidFill>
              </a:rPr>
              <a:t>supernetting</a:t>
            </a:r>
            <a:r>
              <a:rPr lang="en-US" dirty="0">
                <a:solidFill>
                  <a:srgbClr val="0070C0"/>
                </a:solidFill>
              </a:rPr>
              <a:t>, an organization can combine several class C blocks to create a larger range of addresses.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Three-Level Addressing: </a:t>
            </a:r>
            <a:r>
              <a:rPr lang="en-US" dirty="0" err="1">
                <a:solidFill>
                  <a:srgbClr val="FF0000"/>
                </a:solidFill>
              </a:rPr>
              <a:t>Subnetting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524000"/>
            <a:ext cx="79248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An organization that was granted a block in class A or B needed to divide its large network into several </a:t>
            </a:r>
            <a:r>
              <a:rPr lang="en-US" sz="3200" dirty="0" err="1"/>
              <a:t>subnetworks</a:t>
            </a:r>
            <a:r>
              <a:rPr lang="en-US" sz="3200" dirty="0"/>
              <a:t> for better security and management. </a:t>
            </a:r>
          </a:p>
          <a:p>
            <a:r>
              <a:rPr lang="en-US" sz="3200" dirty="0"/>
              <a:t>The idea of splitting a block to smaller blocks is referred to as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subnetting</a:t>
            </a:r>
            <a:r>
              <a:rPr lang="en-US" sz="3200" dirty="0"/>
              <a:t>. </a:t>
            </a:r>
          </a:p>
          <a:p>
            <a:r>
              <a:rPr lang="en-US" sz="3200" dirty="0"/>
              <a:t>In </a:t>
            </a:r>
            <a:r>
              <a:rPr lang="en-US" sz="3200" dirty="0" err="1"/>
              <a:t>subnetting</a:t>
            </a:r>
            <a:r>
              <a:rPr lang="en-US" sz="3200" dirty="0"/>
              <a:t>, a network is divided into several smaller </a:t>
            </a:r>
            <a:r>
              <a:rPr lang="en-US" sz="3200" dirty="0" err="1"/>
              <a:t>subnetworks</a:t>
            </a:r>
            <a:r>
              <a:rPr lang="en-US" sz="3200" dirty="0"/>
              <a:t> (subnets) with each </a:t>
            </a:r>
            <a:r>
              <a:rPr lang="en-US" sz="3200" dirty="0" err="1"/>
              <a:t>subnetwork</a:t>
            </a:r>
            <a:r>
              <a:rPr lang="en-US" sz="3200" dirty="0"/>
              <a:t> having its own </a:t>
            </a:r>
            <a:r>
              <a:rPr lang="en-US" sz="3200" dirty="0" err="1"/>
              <a:t>subnetwork</a:t>
            </a:r>
            <a:r>
              <a:rPr lang="en-US" sz="3200" dirty="0"/>
              <a:t> address.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81201"/>
            <a:ext cx="8229600" cy="3005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mask and </a:t>
            </a:r>
            <a:r>
              <a:rPr lang="en-US" dirty="0" err="1"/>
              <a:t>subnetwork</a:t>
            </a:r>
            <a:r>
              <a:rPr lang="en-US" dirty="0"/>
              <a:t> mask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752600"/>
            <a:ext cx="6773221" cy="2438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447800" y="4495800"/>
            <a:ext cx="7162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solidFill>
                  <a:srgbClr val="FF0000"/>
                </a:solidFill>
              </a:rPr>
              <a:t>Subnetting</a:t>
            </a:r>
            <a:r>
              <a:rPr lang="en-US" sz="2800" dirty="0">
                <a:solidFill>
                  <a:srgbClr val="FF0000"/>
                </a:solidFill>
              </a:rPr>
              <a:t> increases the length of the </a:t>
            </a:r>
            <a:r>
              <a:rPr lang="en-US" sz="2800" dirty="0" err="1">
                <a:solidFill>
                  <a:srgbClr val="0070C0"/>
                </a:solidFill>
              </a:rPr>
              <a:t>netid</a:t>
            </a:r>
            <a:r>
              <a:rPr lang="en-US" sz="2800" dirty="0">
                <a:solidFill>
                  <a:srgbClr val="FF0000"/>
                </a:solidFill>
              </a:rPr>
              <a:t> and decreases the length of </a:t>
            </a:r>
            <a:r>
              <a:rPr lang="en-US" sz="2800" dirty="0" err="1">
                <a:solidFill>
                  <a:srgbClr val="0070C0"/>
                </a:solidFill>
              </a:rPr>
              <a:t>hostid</a:t>
            </a:r>
            <a:r>
              <a:rPr lang="en-US" sz="2800" dirty="0">
                <a:solidFill>
                  <a:srgbClr val="0070C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Classless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err="1"/>
              <a:t>Subnetting</a:t>
            </a:r>
            <a:r>
              <a:rPr lang="en-US" dirty="0"/>
              <a:t> and </a:t>
            </a:r>
            <a:r>
              <a:rPr lang="en-US" dirty="0" err="1"/>
              <a:t>supernetting</a:t>
            </a:r>
            <a:r>
              <a:rPr lang="en-US" dirty="0"/>
              <a:t> in </a:t>
            </a:r>
            <a:r>
              <a:rPr lang="en-US" dirty="0" err="1"/>
              <a:t>classful</a:t>
            </a:r>
            <a:r>
              <a:rPr lang="en-US" dirty="0"/>
              <a:t> addressing did not really solve the </a:t>
            </a:r>
            <a:r>
              <a:rPr lang="en-US" dirty="0">
                <a:solidFill>
                  <a:srgbClr val="0070C0"/>
                </a:solidFill>
              </a:rPr>
              <a:t>address depletion problem </a:t>
            </a:r>
            <a:r>
              <a:rPr lang="en-US" dirty="0"/>
              <a:t>and made the distribution of addresses and the routing process more difficult.</a:t>
            </a:r>
          </a:p>
          <a:p>
            <a:pPr algn="just"/>
            <a:r>
              <a:rPr lang="en-US" dirty="0"/>
              <a:t>With the growth of the Internet, it was clear that a </a:t>
            </a:r>
            <a:r>
              <a:rPr lang="en-US" dirty="0">
                <a:solidFill>
                  <a:srgbClr val="0070C0"/>
                </a:solidFill>
              </a:rPr>
              <a:t>larger address space was needed </a:t>
            </a:r>
            <a:r>
              <a:rPr lang="en-US" dirty="0"/>
              <a:t>as a long-term solution. The larger address space, however, requires that the length of IP addresses to be increased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The short-term solution </a:t>
            </a:r>
            <a:r>
              <a:rPr lang="en-US" dirty="0"/>
              <a:t>still uses IPv4 addresses, but it is called </a:t>
            </a:r>
            <a:r>
              <a:rPr lang="en-US" dirty="0">
                <a:solidFill>
                  <a:srgbClr val="0070C0"/>
                </a:solidFill>
              </a:rPr>
              <a:t>classless addressing.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classless addressing, the prefix defines the network and the suffix defines the host.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6225" y="2765424"/>
            <a:ext cx="6607175" cy="2187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Slash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00200"/>
          </a:xfrm>
        </p:spPr>
        <p:txBody>
          <a:bodyPr/>
          <a:lstStyle/>
          <a:p>
            <a:r>
              <a:rPr lang="en-US" dirty="0"/>
              <a:t>The slash notation is formally referred to as classless </a:t>
            </a:r>
            <a:r>
              <a:rPr lang="en-US" dirty="0" err="1"/>
              <a:t>interdomain</a:t>
            </a:r>
            <a:r>
              <a:rPr lang="en-US" dirty="0"/>
              <a:t> routing or CIDR notation.</a:t>
            </a:r>
          </a:p>
          <a:p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505200"/>
            <a:ext cx="6553200" cy="2298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762000" y="2286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Designing Subnets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28600" y="990600"/>
            <a:ext cx="8915400" cy="55626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1.The number of addresses in each </a:t>
            </a:r>
            <a:r>
              <a:rPr lang="en-US" sz="2400" dirty="0" err="1">
                <a:solidFill>
                  <a:schemeClr val="tx1"/>
                </a:solidFill>
              </a:rPr>
              <a:t>subnetwork</a:t>
            </a:r>
            <a:r>
              <a:rPr lang="en-US" sz="2400" dirty="0">
                <a:solidFill>
                  <a:schemeClr val="tx1"/>
                </a:solidFill>
              </a:rPr>
              <a:t> should be a power of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2. The prefix length for each </a:t>
            </a:r>
            <a:r>
              <a:rPr lang="en-US" sz="2400" dirty="0" err="1">
                <a:solidFill>
                  <a:schemeClr val="tx1"/>
                </a:solidFill>
              </a:rPr>
              <a:t>subnetwork</a:t>
            </a:r>
            <a:r>
              <a:rPr lang="en-US" sz="2400" dirty="0">
                <a:solidFill>
                  <a:schemeClr val="tx1"/>
                </a:solidFill>
              </a:rPr>
              <a:t> should be found using the following formula: 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nsub</a:t>
            </a:r>
            <a:r>
              <a:rPr lang="en-US" sz="2400" dirty="0">
                <a:solidFill>
                  <a:srgbClr val="0070C0"/>
                </a:solidFill>
              </a:rPr>
              <a:t> = n + log2s (Or)</a:t>
            </a:r>
          </a:p>
          <a:p>
            <a:r>
              <a:rPr lang="en-US" sz="2400" dirty="0" err="1">
                <a:solidFill>
                  <a:srgbClr val="0070C0"/>
                </a:solidFill>
              </a:rPr>
              <a:t>nsub</a:t>
            </a:r>
            <a:r>
              <a:rPr lang="en-US" sz="2400" dirty="0">
                <a:solidFill>
                  <a:srgbClr val="0070C0"/>
                </a:solidFill>
              </a:rPr>
              <a:t> = n + log2 (N/</a:t>
            </a:r>
            <a:r>
              <a:rPr lang="en-US" sz="2400" dirty="0" err="1">
                <a:solidFill>
                  <a:srgbClr val="0070C0"/>
                </a:solidFill>
              </a:rPr>
              <a:t>Nsub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Total number of addresses granted to the organization is </a:t>
            </a:r>
            <a:r>
              <a:rPr lang="en-US" sz="2400" dirty="0">
                <a:solidFill>
                  <a:srgbClr val="0070C0"/>
                </a:solidFill>
              </a:rPr>
              <a:t>N</a:t>
            </a: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 Prefix length is </a:t>
            </a:r>
            <a:r>
              <a:rPr lang="en-US" sz="2400" dirty="0">
                <a:solidFill>
                  <a:srgbClr val="0070C0"/>
                </a:solidFill>
              </a:rPr>
              <a:t>n</a:t>
            </a:r>
            <a:endParaRPr lang="en-US" sz="2400" dirty="0">
              <a:solidFill>
                <a:srgbClr val="FF0000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Assigned number of addresses to each </a:t>
            </a:r>
            <a:r>
              <a:rPr lang="en-US" sz="2400" dirty="0" err="1">
                <a:solidFill>
                  <a:srgbClr val="FF0000"/>
                </a:solidFill>
              </a:rPr>
              <a:t>subnetwork</a:t>
            </a:r>
            <a:r>
              <a:rPr lang="en-US" sz="2400" dirty="0">
                <a:solidFill>
                  <a:srgbClr val="FF0000"/>
                </a:solidFill>
              </a:rPr>
              <a:t> is </a:t>
            </a:r>
            <a:r>
              <a:rPr lang="en-US" sz="2400" dirty="0" err="1">
                <a:solidFill>
                  <a:srgbClr val="0070C0"/>
                </a:solidFill>
              </a:rPr>
              <a:t>Nsub</a:t>
            </a:r>
            <a:endParaRPr lang="en-US" sz="2400" dirty="0">
              <a:solidFill>
                <a:srgbClr val="0070C0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Prefix length for each </a:t>
            </a:r>
            <a:r>
              <a:rPr lang="en-US" sz="2400" dirty="0" err="1">
                <a:solidFill>
                  <a:srgbClr val="FF0000"/>
                </a:solidFill>
              </a:rPr>
              <a:t>subnetwork</a:t>
            </a:r>
            <a:r>
              <a:rPr lang="en-US" sz="2400" dirty="0">
                <a:solidFill>
                  <a:srgbClr val="FF0000"/>
                </a:solidFill>
              </a:rPr>
              <a:t> is </a:t>
            </a:r>
            <a:r>
              <a:rPr lang="en-US" sz="2400" dirty="0" err="1">
                <a:solidFill>
                  <a:srgbClr val="0070C0"/>
                </a:solidFill>
              </a:rPr>
              <a:t>nsub</a:t>
            </a:r>
            <a:endParaRPr lang="en-US" sz="2400" dirty="0">
              <a:solidFill>
                <a:srgbClr val="FF0000"/>
              </a:solidFill>
            </a:endParaRPr>
          </a:p>
          <a:p>
            <a:pPr algn="l"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Total number of </a:t>
            </a:r>
            <a:r>
              <a:rPr lang="en-US" sz="2400" dirty="0" err="1">
                <a:solidFill>
                  <a:srgbClr val="FF0000"/>
                </a:solidFill>
              </a:rPr>
              <a:t>subnetworks</a:t>
            </a:r>
            <a:r>
              <a:rPr lang="en-US" sz="2400" dirty="0">
                <a:solidFill>
                  <a:srgbClr val="FF0000"/>
                </a:solidFill>
              </a:rPr>
              <a:t> is </a:t>
            </a:r>
            <a:r>
              <a:rPr lang="en-US" sz="2400" dirty="0">
                <a:solidFill>
                  <a:srgbClr val="0070C0"/>
                </a:solidFill>
              </a:rPr>
              <a:t>s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3. The starting address in each </a:t>
            </a:r>
            <a:r>
              <a:rPr lang="en-US" sz="2400" dirty="0" err="1">
                <a:solidFill>
                  <a:schemeClr val="tx1"/>
                </a:solidFill>
              </a:rPr>
              <a:t>subnetwork</a:t>
            </a:r>
            <a:r>
              <a:rPr lang="en-US" sz="2400" dirty="0">
                <a:solidFill>
                  <a:schemeClr val="tx1"/>
                </a:solidFill>
              </a:rPr>
              <a:t> should be divisible by the number of addresses in that </a:t>
            </a:r>
            <a:r>
              <a:rPr lang="en-US" sz="2400" dirty="0" err="1">
                <a:solidFill>
                  <a:schemeClr val="tx1"/>
                </a:solidFill>
              </a:rPr>
              <a:t>subnetwork</a:t>
            </a:r>
            <a:r>
              <a:rPr lang="en-US" sz="2400" dirty="0">
                <a:solidFill>
                  <a:schemeClr val="tx1"/>
                </a:solidFill>
              </a:rPr>
              <a:t>. This can be achieved if we first assign addresses to larger networks.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4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5845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43736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Three-level hierarchy in an IPv4 address</a:t>
            </a:r>
          </a:p>
        </p:txBody>
      </p:sp>
      <p:sp>
        <p:nvSpPr>
          <p:cNvPr id="35846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584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1150" y="2600325"/>
            <a:ext cx="8299450" cy="167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Block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 of addresses in the block can be found as: N = 2</a:t>
            </a:r>
            <a:r>
              <a:rPr lang="en-US" baseline="30000" dirty="0"/>
              <a:t>32−n</a:t>
            </a:r>
          </a:p>
          <a:p>
            <a:pPr lvl="1"/>
            <a:r>
              <a:rPr lang="en-US" dirty="0"/>
              <a:t>n is the prefix length and N is the number of addresses in the block.</a:t>
            </a:r>
          </a:p>
          <a:p>
            <a:r>
              <a:rPr lang="en-US" dirty="0"/>
              <a:t>First address = (any address) AND (network mask)</a:t>
            </a:r>
            <a:endParaRPr lang="en-US" baseline="30000" dirty="0"/>
          </a:p>
          <a:p>
            <a:r>
              <a:rPr lang="en-US" dirty="0"/>
              <a:t>Last address = (any address) OR [NOT (network mask)] </a:t>
            </a:r>
            <a:endParaRPr lang="en-US" baseline="30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60216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3600" dirty="0"/>
              <a:t>One of the addresses in a block is 167.199.170.82/27. Find the number of addresses in the network, the first address, and the last address.</a:t>
            </a:r>
            <a:br>
              <a:rPr lang="en-US" sz="3600" dirty="0"/>
            </a:br>
            <a:r>
              <a:rPr lang="en-US" sz="3600" dirty="0">
                <a:solidFill>
                  <a:srgbClr val="FF0000"/>
                </a:solidFill>
              </a:rPr>
              <a:t>The number of addresses in the network is </a:t>
            </a:r>
            <a:br>
              <a:rPr lang="en-US" sz="3600" dirty="0">
                <a:solidFill>
                  <a:srgbClr val="FF0000"/>
                </a:solidFill>
              </a:rPr>
            </a:br>
            <a:r>
              <a:rPr lang="en-US" sz="3600" dirty="0">
                <a:solidFill>
                  <a:srgbClr val="FF0000"/>
                </a:solidFill>
              </a:rPr>
              <a:t> =</a:t>
            </a: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2</a:t>
            </a:r>
            <a:r>
              <a:rPr lang="en-US" sz="3600" b="1" baseline="30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32-n </a:t>
            </a:r>
            <a:r>
              <a:rPr lang="en-US" sz="3600" dirty="0">
                <a:solidFill>
                  <a:srgbClr val="FF0000"/>
                </a:solidFill>
              </a:rPr>
              <a:t>=</a:t>
            </a: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2</a:t>
            </a:r>
            <a:r>
              <a:rPr lang="en-US" sz="3600" b="1" baseline="30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32-27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3600" dirty="0">
                <a:solidFill>
                  <a:srgbClr val="FF0000"/>
                </a:solidFill>
              </a:rPr>
              <a:t>=</a:t>
            </a:r>
            <a:r>
              <a:rPr lang="en-US" sz="36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 2</a:t>
            </a:r>
            <a:r>
              <a:rPr lang="en-US" sz="3600" b="1" baseline="30000" dirty="0">
                <a:solidFill>
                  <a:srgbClr val="FF0000"/>
                </a:solidFill>
                <a:latin typeface="Calibri" panose="020F0502020204030204" pitchFamily="34" charset="0"/>
                <a:ea typeface="SimSun" panose="02010600030101010101" pitchFamily="2" charset="-122"/>
                <a:cs typeface="Latha" panose="020B0604020202020204" pitchFamily="34" charset="0"/>
              </a:rPr>
              <a:t>5</a:t>
            </a:r>
            <a:r>
              <a:rPr lang="en-US" sz="3600" dirty="0">
                <a:solidFill>
                  <a:srgbClr val="FF0000"/>
                </a:solidFill>
              </a:rPr>
              <a:t> = 32.</a:t>
            </a:r>
            <a:br>
              <a:rPr lang="en-US" sz="3600" dirty="0">
                <a:solidFill>
                  <a:srgbClr val="FF0000"/>
                </a:solidFill>
              </a:rPr>
            </a:br>
            <a:r>
              <a:rPr lang="en-US" sz="3600" dirty="0">
                <a:solidFill>
                  <a:srgbClr val="FF0000"/>
                </a:solidFill>
              </a:rPr>
              <a:t> We use the AND operation to find the first address (network address).The first address is 167.199.170.64/27</a:t>
            </a:r>
            <a:r>
              <a:rPr lang="en-US" dirty="0">
                <a:solidFill>
                  <a:srgbClr val="FF0000"/>
                </a:solidFill>
              </a:rPr>
              <a:t>. </a:t>
            </a:r>
            <a:br>
              <a:rPr lang="en-US" dirty="0"/>
            </a:b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5105400"/>
            <a:ext cx="8106907" cy="1105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8276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To find the last address, we first find the complement of the network mask and then OR it with the given address: The last address is 167.199.170.95/27. 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971800"/>
            <a:ext cx="8229600" cy="2043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209800"/>
          </a:xfrm>
        </p:spPr>
        <p:txBody>
          <a:bodyPr>
            <a:noAutofit/>
          </a:bodyPr>
          <a:lstStyle/>
          <a:p>
            <a:pPr algn="just"/>
            <a:r>
              <a:rPr lang="en-US" sz="3200" dirty="0">
                <a:solidFill>
                  <a:srgbClr val="FF0000"/>
                </a:solidFill>
              </a:rPr>
              <a:t>An organization is granted the block 130.34.12.64/26. The organization needs four </a:t>
            </a:r>
            <a:r>
              <a:rPr lang="en-US" sz="3200" dirty="0" err="1">
                <a:solidFill>
                  <a:srgbClr val="FF0000"/>
                </a:solidFill>
              </a:rPr>
              <a:t>subnetworks</a:t>
            </a:r>
            <a:r>
              <a:rPr lang="en-US" sz="3200" dirty="0">
                <a:solidFill>
                  <a:srgbClr val="FF0000"/>
                </a:solidFill>
              </a:rPr>
              <a:t>, each with an equal number of hosts. Design the </a:t>
            </a:r>
            <a:r>
              <a:rPr lang="en-US" sz="3200" dirty="0" err="1">
                <a:solidFill>
                  <a:srgbClr val="FF0000"/>
                </a:solidFill>
              </a:rPr>
              <a:t>subnetworks</a:t>
            </a:r>
            <a:r>
              <a:rPr lang="en-US" sz="3200" dirty="0">
                <a:solidFill>
                  <a:srgbClr val="FF0000"/>
                </a:solidFill>
              </a:rPr>
              <a:t> and find the information about each network</a:t>
            </a:r>
            <a:r>
              <a:rPr lang="en-US" sz="3200" dirty="0"/>
              <a:t>.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362200"/>
            <a:ext cx="82296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2600"/>
            <a:ext cx="8229600" cy="39637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6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6874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52165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 dirty="0">
                <a:latin typeface="Times New Roman" pitchFamily="18" charset="0"/>
              </a:rPr>
              <a:t>An ISP is granted a block of addresses starting with 190.100.0.0/16 (65,536 addresses). The ISP needs to distribute these addresses to three groups of customers as follows: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a.</a:t>
            </a:r>
            <a:r>
              <a:rPr lang="en-US" sz="2800" i="1" baseline="0" dirty="0">
                <a:latin typeface="Times New Roman" pitchFamily="18" charset="0"/>
              </a:rPr>
              <a:t> The first group has 64 customers; each needs 256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addresses.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b.</a:t>
            </a:r>
            <a:r>
              <a:rPr lang="en-US" sz="2800" i="1" baseline="0" dirty="0">
                <a:latin typeface="Times New Roman" pitchFamily="18" charset="0"/>
              </a:rPr>
              <a:t> The second group has 128 customers; each needs 128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addresses.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c.</a:t>
            </a:r>
            <a:r>
              <a:rPr lang="en-US" sz="2800" i="1" baseline="0" dirty="0">
                <a:latin typeface="Times New Roman" pitchFamily="18" charset="0"/>
              </a:rPr>
              <a:t> The third group has 128 customers; each needs 64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addresses.</a:t>
            </a:r>
          </a:p>
          <a:p>
            <a:pPr algn="just"/>
            <a:r>
              <a:rPr lang="en-US" sz="2800" i="1" baseline="0" dirty="0">
                <a:latin typeface="Times New Roman" pitchFamily="18" charset="0"/>
              </a:rPr>
              <a:t>Design the </a:t>
            </a:r>
            <a:r>
              <a:rPr lang="en-US" sz="2800" i="1" baseline="0" dirty="0" err="1">
                <a:latin typeface="Times New Roman" pitchFamily="18" charset="0"/>
              </a:rPr>
              <a:t>subblocks</a:t>
            </a:r>
            <a:r>
              <a:rPr lang="en-US" sz="2800" i="1" baseline="0" dirty="0">
                <a:latin typeface="Times New Roman" pitchFamily="18" charset="0"/>
              </a:rPr>
              <a:t> and find out how many addresses are still available after these allocations.</a:t>
            </a:r>
          </a:p>
        </p:txBody>
      </p:sp>
      <p:sp>
        <p:nvSpPr>
          <p:cNvPr id="36875" name="Text Box 10"/>
          <p:cNvSpPr txBox="1">
            <a:spLocks noChangeArrowheads="1"/>
          </p:cNvSpPr>
          <p:nvPr/>
        </p:nvSpPr>
        <p:spPr bwMode="auto">
          <a:xfrm>
            <a:off x="1143000" y="0"/>
            <a:ext cx="992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962400"/>
            <a:ext cx="8389694" cy="1447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228600" y="533400"/>
            <a:ext cx="8915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solve the problem in two steps.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In the first step, we allocate a </a:t>
            </a:r>
            <a:r>
              <a:rPr lang="en-US" sz="3200" dirty="0" err="1"/>
              <a:t>subblock</a:t>
            </a:r>
            <a:r>
              <a:rPr lang="en-US" sz="3200" dirty="0"/>
              <a:t> of addresses to each group.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The total number of addresses allocated to each group and the prefix length for each </a:t>
            </a:r>
            <a:r>
              <a:rPr lang="en-US" sz="3200" dirty="0" err="1"/>
              <a:t>subblock</a:t>
            </a:r>
            <a:r>
              <a:rPr lang="en-US" sz="3200" dirty="0"/>
              <a:t> can found 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100" y="1965324"/>
            <a:ext cx="8812213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304800" y="533401"/>
            <a:ext cx="8534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Design for the first hierarchical level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2362200"/>
            <a:ext cx="7315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prefix length changes for the networks in each group depending on the number of addresses used in each network.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914400"/>
            <a:ext cx="7010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Second level of the hierarchy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7500" y="457200"/>
            <a:ext cx="8507413" cy="561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71600"/>
            <a:ext cx="8428037" cy="411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1447800" y="533400"/>
            <a:ext cx="7162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solidFill>
                  <a:srgbClr val="FF0000"/>
                </a:solidFill>
                <a:latin typeface="Times New Roman" pitchFamily="18" charset="0"/>
              </a:rPr>
              <a:t>Address allocation and distribution by an ISP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02362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Given IP Address 199.112.73.54, subnet mask 255.255.255.224, find the following:</a:t>
            </a:r>
            <a:br>
              <a:rPr lang="en-IN" dirty="0"/>
            </a:br>
            <a:r>
              <a:rPr lang="en-IN" dirty="0"/>
              <a:t>1. Find the number of subnets </a:t>
            </a:r>
            <a:br>
              <a:rPr lang="en-IN" dirty="0"/>
            </a:br>
            <a:r>
              <a:rPr lang="en-IN" dirty="0"/>
              <a:t>2.No of hosts per subnet </a:t>
            </a:r>
            <a:br>
              <a:rPr lang="en-IN" dirty="0"/>
            </a:br>
            <a:r>
              <a:rPr lang="en-IN" dirty="0"/>
              <a:t>3. 1</a:t>
            </a:r>
            <a:r>
              <a:rPr lang="en-IN" baseline="30000" dirty="0"/>
              <a:t>st</a:t>
            </a:r>
            <a:r>
              <a:rPr lang="en-IN" dirty="0"/>
              <a:t>host of 3</a:t>
            </a:r>
            <a:r>
              <a:rPr lang="en-IN" baseline="30000" dirty="0"/>
              <a:t>rd</a:t>
            </a:r>
            <a:r>
              <a:rPr lang="en-IN" dirty="0"/>
              <a:t> subnet</a:t>
            </a:r>
            <a:br>
              <a:rPr lang="en-US" dirty="0"/>
            </a:br>
            <a:r>
              <a:rPr lang="en-US" dirty="0"/>
              <a:t>4.</a:t>
            </a:r>
            <a:r>
              <a:rPr lang="en-IN" dirty="0"/>
              <a:t> 6</a:t>
            </a:r>
            <a:r>
              <a:rPr lang="en-IN" baseline="30000" dirty="0"/>
              <a:t>th</a:t>
            </a:r>
            <a:r>
              <a:rPr lang="en-IN" dirty="0"/>
              <a:t>host of 4</a:t>
            </a:r>
            <a:r>
              <a:rPr lang="en-IN" baseline="30000" dirty="0"/>
              <a:t>th</a:t>
            </a:r>
            <a:r>
              <a:rPr lang="en-IN" dirty="0"/>
              <a:t> subnet</a:t>
            </a:r>
            <a:br>
              <a:rPr lang="en-US" dirty="0"/>
            </a:br>
            <a:r>
              <a:rPr lang="en-US" dirty="0"/>
              <a:t>5.</a:t>
            </a:r>
            <a:r>
              <a:rPr lang="en-IN" dirty="0"/>
              <a:t> 2</a:t>
            </a:r>
            <a:r>
              <a:rPr lang="en-IN" baseline="30000" dirty="0"/>
              <a:t>nd</a:t>
            </a:r>
            <a:r>
              <a:rPr lang="en-IN" dirty="0"/>
              <a:t>host of last subnet</a:t>
            </a:r>
            <a:br>
              <a:rPr lang="en-US" dirty="0"/>
            </a:br>
            <a:r>
              <a:rPr lang="en-US" dirty="0"/>
              <a:t>6.</a:t>
            </a:r>
            <a:r>
              <a:rPr lang="en-IN" dirty="0"/>
              <a:t>Directed broadcast of 2</a:t>
            </a:r>
            <a:r>
              <a:rPr lang="en-IN" baseline="30000" dirty="0"/>
              <a:t>nd</a:t>
            </a:r>
            <a:r>
              <a:rPr lang="en-IN" dirty="0"/>
              <a:t> subnet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8600"/>
            <a:ext cx="83058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An organization is granted a block of addresses with the beginning address 14.24.74.0/24. The organization needs to have 3 </a:t>
            </a:r>
            <a:r>
              <a:rPr lang="en-US" sz="2800" dirty="0" err="1"/>
              <a:t>subblocks</a:t>
            </a:r>
            <a:r>
              <a:rPr lang="en-US" sz="2800" dirty="0"/>
              <a:t> of addresses to use in its three subnets as shown below: </a:t>
            </a:r>
          </a:p>
          <a:p>
            <a:r>
              <a:rPr lang="en-US" sz="2800" dirty="0"/>
              <a:t>❑ One </a:t>
            </a:r>
            <a:r>
              <a:rPr lang="en-US" sz="2800" dirty="0" err="1"/>
              <a:t>subblock</a:t>
            </a:r>
            <a:r>
              <a:rPr lang="en-US" sz="2800" dirty="0"/>
              <a:t> of 120 addresses. </a:t>
            </a:r>
          </a:p>
          <a:p>
            <a:r>
              <a:rPr lang="en-US" sz="2800" dirty="0"/>
              <a:t>❑ One </a:t>
            </a:r>
            <a:r>
              <a:rPr lang="en-US" sz="2800" dirty="0" err="1"/>
              <a:t>subblock</a:t>
            </a:r>
            <a:r>
              <a:rPr lang="en-US" sz="2800" dirty="0"/>
              <a:t> of 60 addresses. </a:t>
            </a:r>
          </a:p>
          <a:p>
            <a:r>
              <a:rPr lang="en-US" sz="2800" dirty="0"/>
              <a:t>❑ One </a:t>
            </a:r>
            <a:r>
              <a:rPr lang="en-US" sz="2800" dirty="0" err="1"/>
              <a:t>subblock</a:t>
            </a:r>
            <a:r>
              <a:rPr lang="en-US" sz="2800" dirty="0"/>
              <a:t> of 10 addresses. 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962400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There are 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2 </a:t>
            </a:r>
            <a:r>
              <a:rPr lang="en-US" sz="3200" b="1" baseline="30000" dirty="0">
                <a:solidFill>
                  <a:srgbClr val="FF0000"/>
                </a:solidFill>
                <a:latin typeface="Times New Roman" pitchFamily="18" charset="0"/>
              </a:rPr>
              <a:t>32−24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</a:rPr>
              <a:t>= 256 addresses </a:t>
            </a:r>
            <a:r>
              <a:rPr lang="en-US" sz="3200" dirty="0"/>
              <a:t>in this block. The first address is 14.24.74.0/24; the last address is 14.24.74.255/24.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8600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One </a:t>
            </a:r>
            <a:r>
              <a:rPr lang="en-US" sz="3200" dirty="0" err="1">
                <a:solidFill>
                  <a:srgbClr val="FF0000"/>
                </a:solidFill>
              </a:rPr>
              <a:t>subblock</a:t>
            </a:r>
            <a:r>
              <a:rPr lang="en-US" sz="3200" dirty="0">
                <a:solidFill>
                  <a:srgbClr val="FF0000"/>
                </a:solidFill>
              </a:rPr>
              <a:t> of 120 addresses</a:t>
            </a:r>
            <a:r>
              <a:rPr lang="en-US" sz="2800" dirty="0"/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66800"/>
            <a:ext cx="7924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600" dirty="0"/>
              <a:t>The number of addresses in the first </a:t>
            </a:r>
            <a:r>
              <a:rPr lang="en-US" sz="3600" dirty="0" err="1"/>
              <a:t>subblock</a:t>
            </a:r>
            <a:r>
              <a:rPr lang="en-US" sz="3600" dirty="0"/>
              <a:t> is not a power of 2. We allocate 128 addresses.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600" dirty="0"/>
              <a:t>The subnet mask for this subnet can be found as n1 = </a:t>
            </a:r>
            <a:r>
              <a:rPr lang="en-US" sz="3600" dirty="0">
                <a:solidFill>
                  <a:srgbClr val="FF0000"/>
                </a:solidFill>
              </a:rPr>
              <a:t>24 + log2 (256/128) = 25.</a:t>
            </a:r>
          </a:p>
          <a:p>
            <a:pPr algn="just">
              <a:buFont typeface="Arial" pitchFamily="34" charset="0"/>
              <a:buChar char="•"/>
            </a:pPr>
            <a:r>
              <a:rPr lang="en-US" sz="3600" dirty="0"/>
              <a:t>The first address in this block is 14.24.74.0/25</a:t>
            </a:r>
          </a:p>
          <a:p>
            <a:pPr algn="just">
              <a:buFont typeface="Arial" pitchFamily="34" charset="0"/>
              <a:buChar char="•"/>
            </a:pPr>
            <a:r>
              <a:rPr lang="en-US" sz="3600" dirty="0"/>
              <a:t>The last address is 14.24.74.127/25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8600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One </a:t>
            </a:r>
            <a:r>
              <a:rPr lang="en-US" sz="3200" dirty="0" err="1">
                <a:solidFill>
                  <a:srgbClr val="FF0000"/>
                </a:solidFill>
              </a:rPr>
              <a:t>subblock</a:t>
            </a:r>
            <a:r>
              <a:rPr lang="en-US" sz="3200" dirty="0">
                <a:solidFill>
                  <a:srgbClr val="FF0000"/>
                </a:solidFill>
              </a:rPr>
              <a:t> of 60 addresses.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1066800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838200" y="1066801"/>
            <a:ext cx="80772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200" dirty="0"/>
              <a:t>The number of addresses in the second </a:t>
            </a:r>
            <a:r>
              <a:rPr lang="en-US" sz="3200" dirty="0" err="1"/>
              <a:t>subblock</a:t>
            </a:r>
            <a:r>
              <a:rPr lang="en-US" sz="3200" dirty="0"/>
              <a:t> is not a power of 2 either. We allocate 64 addresses.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subnet mask for this subnet can be found as n1 = 24 + log2 (256/64) = 26.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first address in this block is 14.24.74.128/26;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last address is 14.24.74.191/26.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8600"/>
            <a:ext cx="8305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One </a:t>
            </a:r>
            <a:r>
              <a:rPr lang="en-US" sz="3200" dirty="0" err="1">
                <a:solidFill>
                  <a:srgbClr val="FF0000"/>
                </a:solidFill>
              </a:rPr>
              <a:t>subblock</a:t>
            </a:r>
            <a:r>
              <a:rPr lang="en-US" sz="3200" dirty="0">
                <a:solidFill>
                  <a:srgbClr val="FF0000"/>
                </a:solidFill>
              </a:rPr>
              <a:t> of 10 addresses.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1066800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838200" y="1066801"/>
            <a:ext cx="807720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200" dirty="0"/>
              <a:t>The number of addresses in the third </a:t>
            </a:r>
            <a:r>
              <a:rPr lang="en-US" sz="3200" dirty="0" err="1"/>
              <a:t>subblock</a:t>
            </a:r>
            <a:r>
              <a:rPr lang="en-US" sz="3200" dirty="0"/>
              <a:t> is not a power of 2 either. We allocate 16 addresses.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subnet mask for this subnet can be found as n1 = 24 + log2 (256/16) = 28.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first address in this block is 14.24.74.192/28;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last address is 14.24.74.207/28.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762000"/>
            <a:ext cx="8077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dirty="0"/>
              <a:t>If we add all addresses in the previous </a:t>
            </a:r>
            <a:r>
              <a:rPr lang="en-US" sz="3200" dirty="0" err="1"/>
              <a:t>subblocks</a:t>
            </a:r>
            <a:r>
              <a:rPr lang="en-US" sz="3200" dirty="0"/>
              <a:t>, the result is 208 addresses.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48 addresses are left in reserve. </a:t>
            </a:r>
          </a:p>
          <a:p>
            <a:pPr>
              <a:buFont typeface="Arial" pitchFamily="34" charset="0"/>
              <a:buChar char="•"/>
            </a:pPr>
            <a:r>
              <a:rPr lang="en-US" sz="3200" dirty="0"/>
              <a:t>The first address in this range is 14.24.74.209. The last address is 14.24.74.255.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1393825"/>
            <a:ext cx="8831263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685800"/>
            <a:ext cx="69342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200" dirty="0"/>
              <a:t>ISP may not be able to grant the demand because the addresses before and after the range may have already been allocated to other networks. 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A technology that can provide the mapping between the private and universal addresses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1000" y="152401"/>
            <a:ext cx="7162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Network Address Translation (NAT)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4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0965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251594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A NAT implementation</a:t>
            </a:r>
          </a:p>
        </p:txBody>
      </p:sp>
      <p:sp>
        <p:nvSpPr>
          <p:cNvPr id="40966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096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117725"/>
            <a:ext cx="8729663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88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21950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Addresses in a NAT</a:t>
            </a:r>
          </a:p>
        </p:txBody>
      </p:sp>
      <p:sp>
        <p:nvSpPr>
          <p:cNvPr id="41990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199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2162175"/>
            <a:ext cx="9013825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2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3013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26793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NAT address translation</a:t>
            </a:r>
          </a:p>
        </p:txBody>
      </p:sp>
      <p:sp>
        <p:nvSpPr>
          <p:cNvPr id="43014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301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16050" y="1363663"/>
            <a:ext cx="6051550" cy="4656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2"/>
          <p:cNvSpPr txBox="1">
            <a:spLocks noChangeArrowheads="1"/>
          </p:cNvSpPr>
          <p:nvPr/>
        </p:nvSpPr>
        <p:spPr bwMode="auto">
          <a:xfrm>
            <a:off x="989013" y="1828800"/>
            <a:ext cx="32415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Five-column translation table</a:t>
            </a:r>
          </a:p>
        </p:txBody>
      </p:sp>
      <p:pic>
        <p:nvPicPr>
          <p:cNvPr id="4403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1363" y="2244725"/>
            <a:ext cx="7659687" cy="2366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1905000"/>
            <a:ext cx="86868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3200" dirty="0"/>
              <a:t>some addresses were reserved for special purposes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All-Zeros Address </a:t>
            </a:r>
            <a:r>
              <a:rPr lang="en-US" sz="3200" dirty="0"/>
              <a:t>The block 0.0.0.0/32, which contains only one single address, is reserved for communication when a host needs to send an IPv4 pack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</a:rPr>
              <a:t>All-Ones Address</a:t>
            </a:r>
            <a:r>
              <a:rPr lang="en-US" sz="3200" dirty="0"/>
              <a:t>: </a:t>
            </a:r>
            <a:r>
              <a:rPr lang="en-US" sz="3200" dirty="0">
                <a:solidFill>
                  <a:srgbClr val="FF0000"/>
                </a:solidFill>
              </a:rPr>
              <a:t>Limited Broadcast Address</a:t>
            </a:r>
          </a:p>
          <a:p>
            <a:pPr algn="just">
              <a:buFont typeface="Arial" pitchFamily="34" charset="0"/>
              <a:buChar char="•"/>
            </a:pPr>
            <a:r>
              <a:rPr lang="en-US" sz="3200" dirty="0"/>
              <a:t>The block 255.255.255.255/32, which contains one single address, is reserved for limited broadcast address in the current network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Special addresses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All-Zeros Address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057400"/>
            <a:ext cx="7441753" cy="308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Limited Broadcast Address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057400"/>
            <a:ext cx="6917266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rgbClr val="FF0000"/>
                </a:solidFill>
              </a:rPr>
            </a:b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Loopback Addresses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85800" y="1066800"/>
            <a:ext cx="7467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block 127.0.0.0/8 is used for the loopback address</a:t>
            </a:r>
          </a:p>
          <a:p>
            <a:r>
              <a:rPr lang="en-US" sz="3200" dirty="0"/>
              <a:t>Its used to test the software on a machine. </a:t>
            </a:r>
            <a:br>
              <a:rPr lang="en-US" sz="3200" dirty="0"/>
            </a:br>
            <a:r>
              <a:rPr lang="en-US" sz="3200" dirty="0"/>
              <a:t>When this address is used, a packet never leaves the machine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981200"/>
            <a:ext cx="6757407" cy="246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2670</TotalTime>
  <Words>1286</Words>
  <Application>Microsoft Office PowerPoint</Application>
  <PresentationFormat>On-screen Show (4:3)</PresentationFormat>
  <Paragraphs>96</Paragraphs>
  <Slides>37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Tahoma</vt:lpstr>
      <vt:lpstr>Times New Roman</vt:lpstr>
      <vt:lpstr>Office Theme</vt:lpstr>
      <vt:lpstr>Subnetting &amp; Supernetting</vt:lpstr>
      <vt:lpstr>Three-Level Addressing: Subnetting</vt:lpstr>
      <vt:lpstr>PowerPoint Presentation</vt:lpstr>
      <vt:lpstr>Network mask and subnetwork mask</vt:lpstr>
      <vt:lpstr>Classless addressing</vt:lpstr>
      <vt:lpstr>PowerPoint Presentation</vt:lpstr>
      <vt:lpstr>Slash notation</vt:lpstr>
      <vt:lpstr>Designing Subnets</vt:lpstr>
      <vt:lpstr>PowerPoint Presentation</vt:lpstr>
      <vt:lpstr>Extracting Block Information</vt:lpstr>
      <vt:lpstr> One of the addresses in a block is 167.199.170.82/27. Find the number of addresses in the network, the first address, and the last address. The number of addresses in the network is   = 232-n = 232-27 = 25 = 32.  We use the AND operation to find the first address (network address).The first address is 167.199.170.64/27.  </vt:lpstr>
      <vt:lpstr>To find the last address, we first find the complement of the network mask and then OR it with the given address: The last address is 167.199.170.95/27. </vt:lpstr>
      <vt:lpstr>An organization is granted the block 130.34.12.64/26. The organization needs four subnetworks, each with an equal number of hosts. Design the subnetworks and find the information about each network.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Given IP Address 199.112.73.54, subnet mask 255.255.255.224, find the following: 1. Find the number of subnets  2.No of hosts per subnet  3. 1sthost of 3rd subnet 4. 6thhost of 4th subnet 5. 2ndhost of last subnet 6.Directed broadcast of 2nd subnet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Special addresses</vt:lpstr>
      <vt:lpstr>All-Zeros Address</vt:lpstr>
      <vt:lpstr>Limited Broadcast Address</vt:lpstr>
      <vt:lpstr>  Loopback Addresses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ELCOT</dc:creator>
  <cp:lastModifiedBy>sreethar Sree Krishnan</cp:lastModifiedBy>
  <cp:revision>223</cp:revision>
  <dcterms:created xsi:type="dcterms:W3CDTF">2006-08-16T00:00:00Z</dcterms:created>
  <dcterms:modified xsi:type="dcterms:W3CDTF">2023-06-21T15:49:28Z</dcterms:modified>
</cp:coreProperties>
</file>