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2"/>
  </p:notesMasterIdLst>
  <p:sldIdLst>
    <p:sldId id="746" r:id="rId2"/>
    <p:sldId id="754" r:id="rId3"/>
    <p:sldId id="787" r:id="rId4"/>
    <p:sldId id="788" r:id="rId5"/>
    <p:sldId id="789" r:id="rId6"/>
    <p:sldId id="790" r:id="rId7"/>
    <p:sldId id="791" r:id="rId8"/>
    <p:sldId id="755" r:id="rId9"/>
    <p:sldId id="756" r:id="rId10"/>
    <p:sldId id="757" r:id="rId11"/>
    <p:sldId id="780" r:id="rId12"/>
    <p:sldId id="781" r:id="rId13"/>
    <p:sldId id="784" r:id="rId14"/>
    <p:sldId id="785" r:id="rId15"/>
    <p:sldId id="758" r:id="rId16"/>
    <p:sldId id="759" r:id="rId17"/>
    <p:sldId id="760" r:id="rId18"/>
    <p:sldId id="761" r:id="rId19"/>
    <p:sldId id="762" r:id="rId20"/>
    <p:sldId id="774" r:id="rId21"/>
    <p:sldId id="775" r:id="rId22"/>
    <p:sldId id="353" r:id="rId23"/>
    <p:sldId id="335" r:id="rId24"/>
    <p:sldId id="336" r:id="rId25"/>
    <p:sldId id="337" r:id="rId26"/>
    <p:sldId id="339" r:id="rId27"/>
    <p:sldId id="340" r:id="rId28"/>
    <p:sldId id="342" r:id="rId29"/>
    <p:sldId id="343" r:id="rId30"/>
    <p:sldId id="344" r:id="rId31"/>
  </p:sldIdLst>
  <p:sldSz cx="9144000" cy="6858000" type="screen4x3"/>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CC00"/>
    <a:srgbClr val="996633"/>
    <a:srgbClr val="6666FF"/>
    <a:srgbClr val="3366FF"/>
    <a:srgbClr val="CCFF99"/>
    <a:srgbClr val="99FF33"/>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12" autoAdjust="0"/>
    <p:restoredTop sz="94680" autoAdjust="0"/>
  </p:normalViewPr>
  <p:slideViewPr>
    <p:cSldViewPr>
      <p:cViewPr varScale="1">
        <p:scale>
          <a:sx n="73" d="100"/>
          <a:sy n="73" d="100"/>
        </p:scale>
        <p:origin x="100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32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9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b="0">
                <a:latin typeface="Times New Roman" pitchFamily="18" charset="0"/>
              </a:defRPr>
            </a:lvl1pPr>
          </a:lstStyle>
          <a:p>
            <a:pPr>
              <a:defRPr/>
            </a:pPr>
            <a:endParaRPr lang="en-US" altLang="en-US"/>
          </a:p>
        </p:txBody>
      </p:sp>
      <p:sp>
        <p:nvSpPr>
          <p:cNvPr id="8990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itchFamily="18" charset="0"/>
              </a:defRPr>
            </a:lvl1pPr>
          </a:lstStyle>
          <a:p>
            <a:pPr>
              <a:defRPr/>
            </a:pPr>
            <a:endParaRPr lang="en-US" alt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9077"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8990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b="0">
                <a:latin typeface="Times New Roman" pitchFamily="18" charset="0"/>
              </a:defRPr>
            </a:lvl1pPr>
          </a:lstStyle>
          <a:p>
            <a:pPr>
              <a:defRPr/>
            </a:pPr>
            <a:endParaRPr lang="en-US" altLang="en-US"/>
          </a:p>
        </p:txBody>
      </p:sp>
      <p:sp>
        <p:nvSpPr>
          <p:cNvPr id="8990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0" smtClean="0">
                <a:latin typeface="Times New Roman" panose="02020603050405020304" pitchFamily="18" charset="0"/>
              </a:defRPr>
            </a:lvl1pPr>
          </a:lstStyle>
          <a:p>
            <a:pPr>
              <a:defRPr/>
            </a:pPr>
            <a:fld id="{EAF0E910-686D-44A9-B4EC-4F8AFED2B824}" type="slidenum">
              <a:rPr lang="en-US" altLang="en-US"/>
              <a:pPr>
                <a:defRPr/>
              </a:pPr>
              <a:t>‹#›</a:t>
            </a:fld>
            <a:endParaRPr lang="en-US" altLang="en-US"/>
          </a:p>
        </p:txBody>
      </p:sp>
    </p:spTree>
    <p:extLst>
      <p:ext uri="{BB962C8B-B14F-4D97-AF65-F5344CB8AC3E}">
        <p14:creationId xmlns:p14="http://schemas.microsoft.com/office/powerpoint/2010/main" val="36709963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DB239336-83C2-4040-A729-18DA8C92E3FD}" type="slidenum">
              <a:rPr lang="en-US" altLang="en-US" sz="1200" b="0">
                <a:latin typeface="Times New Roman" panose="02020603050405020304" pitchFamily="18" charset="0"/>
              </a:rPr>
              <a:pPr/>
              <a:t>1</a:t>
            </a:fld>
            <a:endParaRPr lang="en-US" altLang="en-US" sz="1200" b="0">
              <a:latin typeface="Times New Roman" panose="02020603050405020304" pitchFamily="18" charset="0"/>
            </a:endParaRPr>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516106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D56AD08-B332-4A4D-BEF8-F773E3B0F037}" type="slidenum">
              <a:rPr lang="en-US" altLang="en-US" sz="1200" b="0">
                <a:latin typeface="Times New Roman" panose="02020603050405020304" pitchFamily="18" charset="0"/>
              </a:rPr>
              <a:pPr/>
              <a:t>2</a:t>
            </a:fld>
            <a:endParaRPr lang="en-US" altLang="en-US" sz="1200" b="0">
              <a:latin typeface="Times New Roman" panose="02020603050405020304" pitchFamily="18" charset="0"/>
            </a:endParaRPr>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012186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49E64A0-2248-49B9-9B9F-5E8A2E2E1148}" type="slidenum">
              <a:rPr lang="en-US" altLang="en-US" sz="1200" b="0">
                <a:latin typeface="Times New Roman" panose="02020603050405020304" pitchFamily="18" charset="0"/>
              </a:rPr>
              <a:pPr/>
              <a:t>8</a:t>
            </a:fld>
            <a:endParaRPr lang="en-US" altLang="en-US" sz="1200" b="0">
              <a:latin typeface="Times New Roman" panose="02020603050405020304" pitchFamily="18" charset="0"/>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338032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AF61FD5-9819-4CB1-B114-6BF0002C3A49}" type="slidenum">
              <a:rPr lang="en-US" altLang="en-US" sz="1200" b="0">
                <a:latin typeface="Times New Roman" panose="02020603050405020304" pitchFamily="18" charset="0"/>
              </a:rPr>
              <a:pPr/>
              <a:t>9</a:t>
            </a:fld>
            <a:endParaRPr lang="en-US" altLang="en-US" sz="1200" b="0">
              <a:latin typeface="Times New Roman" panose="02020603050405020304" pitchFamily="18" charset="0"/>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264862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DA1C81CD-3EF6-4A6E-BA20-0BFF11DA6EC6}" type="slidenum">
              <a:rPr lang="en-US" altLang="en-US" sz="1200" b="0">
                <a:latin typeface="Times New Roman" panose="02020603050405020304" pitchFamily="18" charset="0"/>
              </a:rPr>
              <a:pPr/>
              <a:t>10</a:t>
            </a:fld>
            <a:endParaRPr lang="en-US" altLang="en-US" sz="1200" b="0">
              <a:latin typeface="Times New Roman" panose="02020603050405020304" pitchFamily="18" charset="0"/>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090186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28B7E551-9120-4014-A8D9-51574E573D03}" type="slidenum">
              <a:rPr lang="en-US" altLang="en-US" sz="1200" b="0">
                <a:latin typeface="Times New Roman" panose="02020603050405020304" pitchFamily="18" charset="0"/>
              </a:rPr>
              <a:pPr/>
              <a:t>11</a:t>
            </a:fld>
            <a:endParaRPr lang="en-US" altLang="en-US" sz="1200" b="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670781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7E3E3C9-081B-4903-9DCF-B2ED535FEC9B}" type="slidenum">
              <a:rPr lang="en-US" altLang="en-US" sz="1200" b="0">
                <a:latin typeface="Times New Roman" panose="02020603050405020304" pitchFamily="18" charset="0"/>
              </a:rPr>
              <a:pPr/>
              <a:t>12</a:t>
            </a:fld>
            <a:endParaRPr lang="en-US" altLang="en-US" sz="1200" b="0">
              <a:latin typeface="Times New Roman" panose="02020603050405020304" pitchFamily="18" charset="0"/>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18256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7746A761-5F8A-41BE-91EC-4212E0682D22}" type="slidenum">
              <a:rPr lang="en-US" altLang="en-US" sz="1200" b="0">
                <a:latin typeface="Times New Roman" panose="02020603050405020304" pitchFamily="18" charset="0"/>
              </a:rPr>
              <a:pPr/>
              <a:t>13</a:t>
            </a:fld>
            <a:endParaRPr lang="en-US" altLang="en-US" sz="1200" b="0">
              <a:latin typeface="Times New Roman" panose="02020603050405020304" pitchFamily="18"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913811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6866C8E-C21B-411F-B4B3-5A905F8301C7}" type="slidenum">
              <a:rPr lang="en-US" altLang="en-US" sz="1200" b="0">
                <a:latin typeface="Times New Roman" panose="02020603050405020304" pitchFamily="18" charset="0"/>
              </a:rPr>
              <a:pPr/>
              <a:t>14</a:t>
            </a:fld>
            <a:endParaRPr lang="en-US" altLang="en-US" sz="1200" b="0">
              <a:latin typeface="Times New Roman" panose="02020603050405020304" pitchFamily="18" charset="0"/>
            </a:endParaRPr>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8517928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9EED5C8-C32B-481F-8607-3D4480FE7769}" type="slidenum">
              <a:rPr lang="en-US" altLang="en-US" sz="1200" b="0">
                <a:latin typeface="Times New Roman" panose="02020603050405020304" pitchFamily="18" charset="0"/>
              </a:rPr>
              <a:pPr/>
              <a:t>15</a:t>
            </a:fld>
            <a:endParaRPr lang="en-US" altLang="en-US" sz="1200" b="0">
              <a:latin typeface="Times New Roman" panose="02020603050405020304" pitchFamily="18" charset="0"/>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2126517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27BD5802-773F-43B1-B816-9DA8D0611A1D}" type="slidenum">
              <a:rPr lang="en-US" altLang="en-US" sz="1200" b="0">
                <a:latin typeface="Times New Roman" panose="02020603050405020304" pitchFamily="18" charset="0"/>
              </a:rPr>
              <a:pPr/>
              <a:t>16</a:t>
            </a:fld>
            <a:endParaRPr lang="en-US" altLang="en-US" sz="1200" b="0">
              <a:latin typeface="Times New Roman" panose="02020603050405020304" pitchFamily="18"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800641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79A3A23B-3B6C-492E-BEED-E0A475858041}" type="slidenum">
              <a:rPr lang="en-US" altLang="en-US" sz="1200" b="0">
                <a:latin typeface="Times New Roman" panose="02020603050405020304" pitchFamily="18" charset="0"/>
              </a:rPr>
              <a:pPr/>
              <a:t>17</a:t>
            </a:fld>
            <a:endParaRPr lang="en-US" altLang="en-US" sz="1200" b="0">
              <a:latin typeface="Times New Roman" panose="02020603050405020304" pitchFamily="18"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371265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644DC49-791E-432A-8F61-0130158DB798}" type="slidenum">
              <a:rPr lang="en-US" altLang="en-US" sz="1200" b="0">
                <a:latin typeface="Times New Roman" panose="02020603050405020304" pitchFamily="18" charset="0"/>
              </a:rPr>
              <a:pPr/>
              <a:t>18</a:t>
            </a:fld>
            <a:endParaRPr lang="en-US" altLang="en-US" sz="1200" b="0">
              <a:latin typeface="Times New Roman" panose="02020603050405020304" pitchFamily="18"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1913600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1221121-7AAF-4C29-9D5B-6DFE612B377C}" type="slidenum">
              <a:rPr lang="en-US" altLang="en-US" sz="1200" b="0">
                <a:latin typeface="Times New Roman" panose="02020603050405020304" pitchFamily="18" charset="0"/>
              </a:rPr>
              <a:pPr/>
              <a:t>19</a:t>
            </a:fld>
            <a:endParaRPr lang="en-US" altLang="en-US" sz="1200" b="0">
              <a:latin typeface="Times New Roman" panose="02020603050405020304" pitchFamily="18" charset="0"/>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496812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1CE0E97-24C5-4198-B1BA-F016817FA406}" type="slidenum">
              <a:rPr lang="en-US" altLang="en-US" sz="1200" b="0">
                <a:latin typeface="Times New Roman" panose="02020603050405020304" pitchFamily="18" charset="0"/>
              </a:rPr>
              <a:pPr/>
              <a:t>20</a:t>
            </a:fld>
            <a:endParaRPr lang="en-US" altLang="en-US" sz="1200" b="0">
              <a:latin typeface="Times New Roman" panose="02020603050405020304" pitchFamily="18"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5583209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5E5C099-62B8-4C6E-A0B6-2A3A0F120DE9}" type="slidenum">
              <a:rPr lang="en-US" altLang="en-US" sz="1200" b="0">
                <a:latin typeface="Times New Roman" panose="02020603050405020304" pitchFamily="18" charset="0"/>
              </a:rPr>
              <a:pPr/>
              <a:t>21</a:t>
            </a:fld>
            <a:endParaRPr lang="en-US" altLang="en-US" sz="1200" b="0">
              <a:latin typeface="Times New Roman" panose="02020603050405020304" pitchFamily="18" charset="0"/>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1342100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D9A7025-9E9B-47EB-85BA-8B843BFA48C4}"/>
              </a:ext>
            </a:extLst>
          </p:cNvPr>
          <p:cNvSpPr>
            <a:spLocks noGrp="1" noChangeArrowheads="1"/>
          </p:cNvSpPr>
          <p:nvPr>
            <p:ph type="sldNum" sz="quarter" idx="5"/>
          </p:nvPr>
        </p:nvSpPr>
        <p:spPr>
          <a:ln/>
        </p:spPr>
        <p:txBody>
          <a:bodyPr/>
          <a:lstStyle/>
          <a:p>
            <a:fld id="{C3D27FD4-AED8-4708-B9A7-8F8E4AD36AB5}" type="slidenum">
              <a:rPr lang="en-US" altLang="en-US"/>
              <a:pPr/>
              <a:t>22</a:t>
            </a:fld>
            <a:endParaRPr lang="en-US" altLang="en-US"/>
          </a:p>
        </p:txBody>
      </p:sp>
      <p:sp>
        <p:nvSpPr>
          <p:cNvPr id="166914" name="Rectangle 2">
            <a:extLst>
              <a:ext uri="{FF2B5EF4-FFF2-40B4-BE49-F238E27FC236}">
                <a16:creationId xmlns:a16="http://schemas.microsoft.com/office/drawing/2014/main" id="{467FE651-4BDB-4E5E-9805-481ECAABB3EF}"/>
              </a:ext>
            </a:extLst>
          </p:cNvPr>
          <p:cNvSpPr>
            <a:spLocks noRot="1" noChangeArrowheads="1" noTextEdit="1"/>
          </p:cNvSpPr>
          <p:nvPr>
            <p:ph type="sldImg"/>
          </p:nvPr>
        </p:nvSpPr>
        <p:spPr>
          <a:ln/>
        </p:spPr>
      </p:sp>
      <p:sp>
        <p:nvSpPr>
          <p:cNvPr id="166915" name="Rectangle 3">
            <a:extLst>
              <a:ext uri="{FF2B5EF4-FFF2-40B4-BE49-F238E27FC236}">
                <a16:creationId xmlns:a16="http://schemas.microsoft.com/office/drawing/2014/main" id="{966713C1-0924-422F-BE51-44792B63CE74}"/>
              </a:ext>
            </a:extLst>
          </p:cNvPr>
          <p:cNvSpPr>
            <a:spLocks noGrp="1" noChangeArrowheads="1"/>
          </p:cNvSpPr>
          <p:nvPr>
            <p:ph type="body" idx="1"/>
          </p:nvPr>
        </p:nvSpPr>
        <p:spPr>
          <a:xfrm>
            <a:off x="914400" y="4416425"/>
            <a:ext cx="5029200" cy="4183063"/>
          </a:xfrm>
        </p:spPr>
        <p:txBody>
          <a:bodyPr/>
          <a:lstStyle/>
          <a:p>
            <a:r>
              <a:rPr lang="en-US" altLang="en-US"/>
              <a:t>Same organization that came up with IEEE 802.3 Ethernet,</a:t>
            </a:r>
          </a:p>
          <a:p>
            <a:r>
              <a:rPr lang="en-US" altLang="en-US"/>
              <a:t>which is responsible for success of Internet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I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IN" alt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I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I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I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I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IN" altLang="en-US"/>
            </a:p>
          </p:txBody>
        </p:sp>
      </p:grpSp>
      <p:sp>
        <p:nvSpPr>
          <p:cNvPr id="14" name="Text Box 17"/>
          <p:cNvSpPr txBox="1">
            <a:spLocks noChangeArrowheads="1"/>
          </p:cNvSpPr>
          <p:nvPr userDrawn="1"/>
        </p:nvSpPr>
        <p:spPr bwMode="auto">
          <a:xfrm>
            <a:off x="0" y="6553200"/>
            <a:ext cx="2209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hangingPunct="1">
              <a:spcBef>
                <a:spcPct val="50000"/>
              </a:spcBef>
            </a:pPr>
            <a:r>
              <a:rPr lang="en-US" altLang="en-US" sz="1400" b="0">
                <a:latin typeface="McGrawHill-Italic" pitchFamily="2" charset="0"/>
              </a:rPr>
              <a:t>McGraw-Hill</a:t>
            </a:r>
            <a:endParaRPr lang="en-US" altLang="en-US" sz="2400" b="0">
              <a:latin typeface="Times New Roman" panose="02020603050405020304" pitchFamily="18" charset="0"/>
            </a:endParaRPr>
          </a:p>
        </p:txBody>
      </p:sp>
      <p:sp>
        <p:nvSpPr>
          <p:cNvPr id="15" name="Text Box 18"/>
          <p:cNvSpPr txBox="1">
            <a:spLocks noChangeArrowheads="1"/>
          </p:cNvSpPr>
          <p:nvPr userDrawn="1"/>
        </p:nvSpPr>
        <p:spPr bwMode="auto">
          <a:xfrm>
            <a:off x="4572000" y="6553200"/>
            <a:ext cx="457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r" eaLnBrk="1" hangingPunct="1">
              <a:spcBef>
                <a:spcPct val="50000"/>
              </a:spcBef>
              <a:buFontTx/>
              <a:buChar char="©"/>
            </a:pPr>
            <a:r>
              <a:rPr lang="en-US" altLang="en-US" sz="1400" b="0">
                <a:latin typeface="McGrawHill-Italic" pitchFamily="2" charset="0"/>
              </a:rPr>
              <a:t>The McGraw-Hill Companies, Inc., 2000</a:t>
            </a:r>
            <a:endParaRPr lang="en-US" altLang="en-US" sz="2400" b="0">
              <a:latin typeface="Times New Roman" panose="02020603050405020304" pitchFamily="18" charset="0"/>
            </a:endParaRPr>
          </a:p>
        </p:txBody>
      </p:sp>
      <p:sp>
        <p:nvSpPr>
          <p:cNvPr id="210956" name="Rectangle 12"/>
          <p:cNvSpPr>
            <a:spLocks noGrp="1" noChangeArrowheads="1"/>
          </p:cNvSpPr>
          <p:nvPr>
            <p:ph type="ctrTitle"/>
          </p:nvPr>
        </p:nvSpPr>
        <p:spPr bwMode="auto">
          <a:xfrm>
            <a:off x="990600" y="1676400"/>
            <a:ext cx="7772400" cy="1462088"/>
          </a:xfrm>
          <a:prstGeom prst="rect">
            <a:avLst/>
          </a:prstGeom>
          <a:noFill/>
        </p:spPr>
        <p:txBody>
          <a:bodyPr vert="horz" wrap="square" lIns="91440" tIns="45720" rIns="91440" bIns="45720" numCol="1" anchor="b" anchorCtr="0" compatLnSpc="1">
            <a:prstTxWarp prst="textNoShape">
              <a:avLst/>
            </a:prstTxWarp>
          </a:bodyPr>
          <a:lstStyle>
            <a:lvl1pPr>
              <a:defRPr/>
            </a:lvl1pPr>
          </a:lstStyle>
          <a:p>
            <a:pPr lvl="0"/>
            <a:r>
              <a:rPr lang="en-US" altLang="en-US"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en-US" noProof="0"/>
              <a:t>Click to edit Master subtitle style</a:t>
            </a:r>
          </a:p>
        </p:txBody>
      </p:sp>
      <p:sp>
        <p:nvSpPr>
          <p:cNvPr id="16" name="Date Placeholder 15"/>
          <p:cNvSpPr>
            <a:spLocks noGrp="1" noChangeArrowheads="1"/>
          </p:cNvSpPr>
          <p:nvPr>
            <p:ph type="dt" sz="half" idx="10"/>
          </p:nvPr>
        </p:nvSpPr>
        <p:spPr bwMode="auto">
          <a:xfrm>
            <a:off x="990600" y="6248400"/>
            <a:ext cx="19050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400" b="0">
                <a:solidFill>
                  <a:schemeClr val="bg2"/>
                </a:solidFill>
                <a:latin typeface="+mn-lt"/>
              </a:defRPr>
            </a:lvl1pPr>
          </a:lstStyle>
          <a:p>
            <a:pPr>
              <a:defRPr/>
            </a:pPr>
            <a:endParaRPr lang="en-US" altLang="en-US"/>
          </a:p>
        </p:txBody>
      </p:sp>
      <p:sp>
        <p:nvSpPr>
          <p:cNvPr id="17" name="Footer Placeholder 16"/>
          <p:cNvSpPr>
            <a:spLocks noGrp="1" noChangeArrowheads="1"/>
          </p:cNvSpPr>
          <p:nvPr>
            <p:ph type="ftr" sz="quarter" idx="11"/>
          </p:nvPr>
        </p:nvSpPr>
        <p:spPr bwMode="auto">
          <a:xfrm>
            <a:off x="3429000" y="6248400"/>
            <a:ext cx="2895600" cy="45720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400" b="0">
                <a:solidFill>
                  <a:schemeClr val="bg2"/>
                </a:solidFill>
                <a:latin typeface="+mn-lt"/>
              </a:defRPr>
            </a:lvl1pPr>
          </a:lstStyle>
          <a:p>
            <a:pPr>
              <a:defRPr/>
            </a:pPr>
            <a:endParaRPr lang="en-US" altLang="en-US"/>
          </a:p>
        </p:txBody>
      </p:sp>
      <p:sp>
        <p:nvSpPr>
          <p:cNvPr id="18" name="Rectangle 17"/>
          <p:cNvSpPr>
            <a:spLocks noGrp="1" noChangeArrowheads="1"/>
          </p:cNvSpPr>
          <p:nvPr>
            <p:ph type="sldNum" sz="quarter" idx="12"/>
          </p:nvPr>
        </p:nvSpPr>
        <p:spPr>
          <a:xfrm>
            <a:off x="6858000" y="6248400"/>
            <a:ext cx="1905000" cy="457200"/>
          </a:xfrm>
        </p:spPr>
        <p:txBody>
          <a:bodyPr/>
          <a:lstStyle>
            <a:lvl1pPr algn="r">
              <a:defRPr sz="1400" b="0" smtClean="0">
                <a:latin typeface="Tahoma" panose="020B0604030504040204" pitchFamily="34" charset="0"/>
              </a:defRPr>
            </a:lvl1pPr>
          </a:lstStyle>
          <a:p>
            <a:pPr>
              <a:defRPr/>
            </a:pPr>
            <a:fld id="{C4900272-5868-4CFC-8791-FF6A8983A418}" type="slidenum">
              <a:rPr lang="en-US" altLang="en-US"/>
              <a:pPr>
                <a:defRPr/>
              </a:pPr>
              <a:t>‹#›</a:t>
            </a:fld>
            <a:endParaRPr lang="en-US" altLang="en-US"/>
          </a:p>
        </p:txBody>
      </p:sp>
    </p:spTree>
    <p:extLst>
      <p:ext uri="{BB962C8B-B14F-4D97-AF65-F5344CB8AC3E}">
        <p14:creationId xmlns:p14="http://schemas.microsoft.com/office/powerpoint/2010/main" val="4140733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6"/>
          <p:cNvSpPr>
            <a:spLocks noGrp="1" noChangeArrowheads="1"/>
          </p:cNvSpPr>
          <p:nvPr>
            <p:ph type="sldNum" sz="quarter" idx="10"/>
          </p:nvPr>
        </p:nvSpPr>
        <p:spPr>
          <a:ln/>
        </p:spPr>
        <p:txBody>
          <a:bodyPr/>
          <a:lstStyle>
            <a:lvl1pPr>
              <a:defRPr/>
            </a:lvl1pPr>
          </a:lstStyle>
          <a:p>
            <a:pPr>
              <a:defRPr/>
            </a:pPr>
            <a:r>
              <a:rPr lang="en-US" altLang="en-US"/>
              <a:t>13.</a:t>
            </a:r>
            <a:fld id="{7ABEB8F9-A9BB-4FAB-9011-69F4B1A4C490}" type="slidenum">
              <a:rPr lang="en-US" altLang="en-US"/>
              <a:pPr>
                <a:defRPr/>
              </a:pPr>
              <a:t>‹#›</a:t>
            </a:fld>
            <a:endParaRPr lang="en-US" altLang="en-US"/>
          </a:p>
        </p:txBody>
      </p:sp>
    </p:spTree>
    <p:extLst>
      <p:ext uri="{BB962C8B-B14F-4D97-AF65-F5344CB8AC3E}">
        <p14:creationId xmlns:p14="http://schemas.microsoft.com/office/powerpoint/2010/main" val="3989747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6"/>
          <p:cNvSpPr>
            <a:spLocks noGrp="1" noChangeArrowheads="1"/>
          </p:cNvSpPr>
          <p:nvPr>
            <p:ph type="sldNum" sz="quarter" idx="10"/>
          </p:nvPr>
        </p:nvSpPr>
        <p:spPr>
          <a:ln/>
        </p:spPr>
        <p:txBody>
          <a:bodyPr/>
          <a:lstStyle>
            <a:lvl1pPr>
              <a:defRPr/>
            </a:lvl1pPr>
          </a:lstStyle>
          <a:p>
            <a:pPr>
              <a:defRPr/>
            </a:pPr>
            <a:r>
              <a:rPr lang="en-US" altLang="en-US"/>
              <a:t>13.</a:t>
            </a:r>
            <a:fld id="{CBA06708-72E0-4952-98AB-039F95494F10}" type="slidenum">
              <a:rPr lang="en-US" altLang="en-US"/>
              <a:pPr>
                <a:defRPr/>
              </a:pPr>
              <a:t>‹#›</a:t>
            </a:fld>
            <a:endParaRPr lang="en-US" altLang="en-US"/>
          </a:p>
        </p:txBody>
      </p:sp>
    </p:spTree>
    <p:extLst>
      <p:ext uri="{BB962C8B-B14F-4D97-AF65-F5344CB8AC3E}">
        <p14:creationId xmlns:p14="http://schemas.microsoft.com/office/powerpoint/2010/main" val="827117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6"/>
          <p:cNvSpPr>
            <a:spLocks noGrp="1" noChangeArrowheads="1"/>
          </p:cNvSpPr>
          <p:nvPr>
            <p:ph type="sldNum" sz="quarter" idx="10"/>
          </p:nvPr>
        </p:nvSpPr>
        <p:spPr>
          <a:ln/>
        </p:spPr>
        <p:txBody>
          <a:bodyPr/>
          <a:lstStyle>
            <a:lvl1pPr>
              <a:defRPr/>
            </a:lvl1pPr>
          </a:lstStyle>
          <a:p>
            <a:pPr>
              <a:defRPr/>
            </a:pPr>
            <a:r>
              <a:rPr lang="en-US" altLang="en-US"/>
              <a:t>13.</a:t>
            </a:r>
            <a:fld id="{32FF47AD-B323-473E-921E-617086BFFFD2}" type="slidenum">
              <a:rPr lang="en-US" altLang="en-US"/>
              <a:pPr>
                <a:defRPr/>
              </a:pPr>
              <a:t>‹#›</a:t>
            </a:fld>
            <a:endParaRPr lang="en-US" altLang="en-US"/>
          </a:p>
        </p:txBody>
      </p:sp>
    </p:spTree>
    <p:extLst>
      <p:ext uri="{BB962C8B-B14F-4D97-AF65-F5344CB8AC3E}">
        <p14:creationId xmlns:p14="http://schemas.microsoft.com/office/powerpoint/2010/main" val="2243729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16"/>
          <p:cNvSpPr>
            <a:spLocks noGrp="1" noChangeArrowheads="1"/>
          </p:cNvSpPr>
          <p:nvPr>
            <p:ph type="sldNum" sz="quarter" idx="10"/>
          </p:nvPr>
        </p:nvSpPr>
        <p:spPr>
          <a:ln/>
        </p:spPr>
        <p:txBody>
          <a:bodyPr/>
          <a:lstStyle>
            <a:lvl1pPr>
              <a:defRPr/>
            </a:lvl1pPr>
          </a:lstStyle>
          <a:p>
            <a:pPr>
              <a:defRPr/>
            </a:pPr>
            <a:r>
              <a:rPr lang="en-US" altLang="en-US"/>
              <a:t>13.</a:t>
            </a:r>
            <a:fld id="{C70B8861-E53E-4BF5-9B64-02EFA4036203}" type="slidenum">
              <a:rPr lang="en-US" altLang="en-US"/>
              <a:pPr>
                <a:defRPr/>
              </a:pPr>
              <a:t>‹#›</a:t>
            </a:fld>
            <a:endParaRPr lang="en-US" altLang="en-US"/>
          </a:p>
        </p:txBody>
      </p:sp>
    </p:spTree>
    <p:extLst>
      <p:ext uri="{BB962C8B-B14F-4D97-AF65-F5344CB8AC3E}">
        <p14:creationId xmlns:p14="http://schemas.microsoft.com/office/powerpoint/2010/main" val="26068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Rectangle 16"/>
          <p:cNvSpPr>
            <a:spLocks noGrp="1" noChangeArrowheads="1"/>
          </p:cNvSpPr>
          <p:nvPr>
            <p:ph type="sldNum" sz="quarter" idx="10"/>
          </p:nvPr>
        </p:nvSpPr>
        <p:spPr>
          <a:ln/>
        </p:spPr>
        <p:txBody>
          <a:bodyPr/>
          <a:lstStyle>
            <a:lvl1pPr>
              <a:defRPr/>
            </a:lvl1pPr>
          </a:lstStyle>
          <a:p>
            <a:pPr>
              <a:defRPr/>
            </a:pPr>
            <a:r>
              <a:rPr lang="en-US" altLang="en-US"/>
              <a:t>13.</a:t>
            </a:r>
            <a:fld id="{FAEE13E8-5BBB-4384-9646-A5C45BA5678C}" type="slidenum">
              <a:rPr lang="en-US" altLang="en-US"/>
              <a:pPr>
                <a:defRPr/>
              </a:pPr>
              <a:t>‹#›</a:t>
            </a:fld>
            <a:endParaRPr lang="en-US" altLang="en-US"/>
          </a:p>
        </p:txBody>
      </p:sp>
    </p:spTree>
    <p:extLst>
      <p:ext uri="{BB962C8B-B14F-4D97-AF65-F5344CB8AC3E}">
        <p14:creationId xmlns:p14="http://schemas.microsoft.com/office/powerpoint/2010/main" val="2647636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6"/>
          <p:cNvSpPr>
            <a:spLocks noGrp="1" noChangeArrowheads="1"/>
          </p:cNvSpPr>
          <p:nvPr>
            <p:ph type="sldNum" sz="quarter" idx="10"/>
          </p:nvPr>
        </p:nvSpPr>
        <p:spPr>
          <a:ln/>
        </p:spPr>
        <p:txBody>
          <a:bodyPr/>
          <a:lstStyle>
            <a:lvl1pPr>
              <a:defRPr/>
            </a:lvl1pPr>
          </a:lstStyle>
          <a:p>
            <a:pPr>
              <a:defRPr/>
            </a:pPr>
            <a:r>
              <a:rPr lang="en-US" altLang="en-US"/>
              <a:t>13.</a:t>
            </a:r>
            <a:fld id="{B7B04F81-624C-4F66-AA9D-6F3C34AD62F0}" type="slidenum">
              <a:rPr lang="en-US" altLang="en-US"/>
              <a:pPr>
                <a:defRPr/>
              </a:pPr>
              <a:t>‹#›</a:t>
            </a:fld>
            <a:endParaRPr lang="en-US" altLang="en-US"/>
          </a:p>
        </p:txBody>
      </p:sp>
    </p:spTree>
    <p:extLst>
      <p:ext uri="{BB962C8B-B14F-4D97-AF65-F5344CB8AC3E}">
        <p14:creationId xmlns:p14="http://schemas.microsoft.com/office/powerpoint/2010/main" val="2625485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6"/>
          <p:cNvSpPr>
            <a:spLocks noGrp="1" noChangeArrowheads="1"/>
          </p:cNvSpPr>
          <p:nvPr>
            <p:ph type="sldNum" sz="quarter" idx="10"/>
          </p:nvPr>
        </p:nvSpPr>
        <p:spPr>
          <a:ln/>
        </p:spPr>
        <p:txBody>
          <a:bodyPr/>
          <a:lstStyle>
            <a:lvl1pPr>
              <a:defRPr/>
            </a:lvl1pPr>
          </a:lstStyle>
          <a:p>
            <a:pPr>
              <a:defRPr/>
            </a:pPr>
            <a:r>
              <a:rPr lang="en-US" altLang="en-US"/>
              <a:t>13.</a:t>
            </a:r>
            <a:fld id="{1396BEE1-E280-47EF-91B3-028E48E4E9A9}" type="slidenum">
              <a:rPr lang="en-US" altLang="en-US"/>
              <a:pPr>
                <a:defRPr/>
              </a:pPr>
              <a:t>‹#›</a:t>
            </a:fld>
            <a:endParaRPr lang="en-US" altLang="en-US"/>
          </a:p>
        </p:txBody>
      </p:sp>
    </p:spTree>
    <p:extLst>
      <p:ext uri="{BB962C8B-B14F-4D97-AF65-F5344CB8AC3E}">
        <p14:creationId xmlns:p14="http://schemas.microsoft.com/office/powerpoint/2010/main" val="478101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6"/>
          <p:cNvSpPr>
            <a:spLocks noGrp="1" noChangeArrowheads="1"/>
          </p:cNvSpPr>
          <p:nvPr>
            <p:ph type="sldNum" sz="quarter" idx="10"/>
          </p:nvPr>
        </p:nvSpPr>
        <p:spPr>
          <a:ln/>
        </p:spPr>
        <p:txBody>
          <a:bodyPr/>
          <a:lstStyle>
            <a:lvl1pPr>
              <a:defRPr/>
            </a:lvl1pPr>
          </a:lstStyle>
          <a:p>
            <a:pPr>
              <a:defRPr/>
            </a:pPr>
            <a:r>
              <a:rPr lang="en-US" altLang="en-US"/>
              <a:t>13.</a:t>
            </a:r>
            <a:fld id="{1F9A3326-475D-4934-A8E5-05CFAA63BB6D}" type="slidenum">
              <a:rPr lang="en-US" altLang="en-US"/>
              <a:pPr>
                <a:defRPr/>
              </a:pPr>
              <a:t>‹#›</a:t>
            </a:fld>
            <a:endParaRPr lang="en-US" altLang="en-US"/>
          </a:p>
        </p:txBody>
      </p:sp>
    </p:spTree>
    <p:extLst>
      <p:ext uri="{BB962C8B-B14F-4D97-AF65-F5344CB8AC3E}">
        <p14:creationId xmlns:p14="http://schemas.microsoft.com/office/powerpoint/2010/main" val="419867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6"/>
          <p:cNvSpPr>
            <a:spLocks noGrp="1" noChangeArrowheads="1"/>
          </p:cNvSpPr>
          <p:nvPr>
            <p:ph type="sldNum" sz="quarter" idx="10"/>
          </p:nvPr>
        </p:nvSpPr>
        <p:spPr>
          <a:ln/>
        </p:spPr>
        <p:txBody>
          <a:bodyPr/>
          <a:lstStyle>
            <a:lvl1pPr>
              <a:defRPr/>
            </a:lvl1pPr>
          </a:lstStyle>
          <a:p>
            <a:pPr>
              <a:defRPr/>
            </a:pPr>
            <a:r>
              <a:rPr lang="en-US" altLang="en-US"/>
              <a:t>13.</a:t>
            </a:r>
            <a:fld id="{F62A60B2-78A7-4E2B-9E01-AAF60E026707}" type="slidenum">
              <a:rPr lang="en-US" altLang="en-US"/>
              <a:pPr>
                <a:defRPr/>
              </a:pPr>
              <a:t>‹#›</a:t>
            </a:fld>
            <a:endParaRPr lang="en-US" altLang="en-US"/>
          </a:p>
        </p:txBody>
      </p:sp>
    </p:spTree>
    <p:extLst>
      <p:ext uri="{BB962C8B-B14F-4D97-AF65-F5344CB8AC3E}">
        <p14:creationId xmlns:p14="http://schemas.microsoft.com/office/powerpoint/2010/main" val="3970122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6"/>
          <p:cNvSpPr>
            <a:spLocks noGrp="1" noChangeArrowheads="1"/>
          </p:cNvSpPr>
          <p:nvPr>
            <p:ph type="sldNum" sz="quarter" idx="10"/>
          </p:nvPr>
        </p:nvSpPr>
        <p:spPr>
          <a:ln/>
        </p:spPr>
        <p:txBody>
          <a:bodyPr/>
          <a:lstStyle>
            <a:lvl1pPr>
              <a:defRPr/>
            </a:lvl1pPr>
          </a:lstStyle>
          <a:p>
            <a:pPr>
              <a:defRPr/>
            </a:pPr>
            <a:r>
              <a:rPr lang="en-US" altLang="en-US"/>
              <a:t>13.</a:t>
            </a:r>
            <a:fld id="{62139D08-5CDE-4395-9B4E-EF557C3C92D1}" type="slidenum">
              <a:rPr lang="en-US" altLang="en-US"/>
              <a:pPr>
                <a:defRPr/>
              </a:pPr>
              <a:t>‹#›</a:t>
            </a:fld>
            <a:endParaRPr lang="en-US" altLang="en-US"/>
          </a:p>
        </p:txBody>
      </p:sp>
    </p:spTree>
    <p:extLst>
      <p:ext uri="{BB962C8B-B14F-4D97-AF65-F5344CB8AC3E}">
        <p14:creationId xmlns:p14="http://schemas.microsoft.com/office/powerpoint/2010/main" val="34936873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 name="Rectangle 16"/>
          <p:cNvSpPr>
            <a:spLocks noGrp="1" noChangeArrowheads="1"/>
          </p:cNvSpPr>
          <p:nvPr>
            <p:ph type="sldNum" sz="quarter" idx="10"/>
          </p:nvPr>
        </p:nvSpPr>
        <p:spPr>
          <a:ln/>
        </p:spPr>
        <p:txBody>
          <a:bodyPr/>
          <a:lstStyle>
            <a:lvl1pPr>
              <a:defRPr/>
            </a:lvl1pPr>
          </a:lstStyle>
          <a:p>
            <a:pPr>
              <a:defRPr/>
            </a:pPr>
            <a:r>
              <a:rPr lang="en-US" altLang="en-US"/>
              <a:t>13.</a:t>
            </a:r>
            <a:fld id="{FE55ABE7-590E-4A40-B245-4852D835AF8B}" type="slidenum">
              <a:rPr lang="en-US" altLang="en-US"/>
              <a:pPr>
                <a:defRPr/>
              </a:pPr>
              <a:t>‹#›</a:t>
            </a:fld>
            <a:endParaRPr lang="en-US" altLang="en-US"/>
          </a:p>
        </p:txBody>
      </p:sp>
    </p:spTree>
    <p:extLst>
      <p:ext uri="{BB962C8B-B14F-4D97-AF65-F5344CB8AC3E}">
        <p14:creationId xmlns:p14="http://schemas.microsoft.com/office/powerpoint/2010/main" val="24631374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BBD1E-3815-4382-84E4-BAFB6898A83A}"/>
              </a:ext>
            </a:extLst>
          </p:cNvPr>
          <p:cNvSpPr>
            <a:spLocks noGrp="1"/>
          </p:cNvSpPr>
          <p:nvPr>
            <p:ph type="title"/>
          </p:nvPr>
        </p:nvSpPr>
        <p:spPr>
          <a:xfrm>
            <a:off x="457200" y="122238"/>
            <a:ext cx="7543800" cy="1295400"/>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9BB542-F9F8-440C-8335-E83221D70BE3}"/>
              </a:ext>
            </a:extLst>
          </p:cNvPr>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Online Image Placeholder 3">
            <a:extLst>
              <a:ext uri="{FF2B5EF4-FFF2-40B4-BE49-F238E27FC236}">
                <a16:creationId xmlns:a16="http://schemas.microsoft.com/office/drawing/2014/main" id="{4997795C-6E0D-42C1-9B6B-7E540D3F37F2}"/>
              </a:ext>
            </a:extLst>
          </p:cNvPr>
          <p:cNvSpPr>
            <a:spLocks noGrp="1"/>
          </p:cNvSpPr>
          <p:nvPr>
            <p:ph type="clipArt" sz="half" idx="2"/>
          </p:nvPr>
        </p:nvSpPr>
        <p:spPr>
          <a:xfrm>
            <a:off x="4648200" y="1719263"/>
            <a:ext cx="4038600" cy="4411662"/>
          </a:xfrm>
        </p:spPr>
        <p:txBody>
          <a:bodyPr/>
          <a:lstStyle/>
          <a:p>
            <a:endParaRPr lang="en-IN"/>
          </a:p>
        </p:txBody>
      </p:sp>
      <p:sp>
        <p:nvSpPr>
          <p:cNvPr id="5" name="Date Placeholder 4">
            <a:extLst>
              <a:ext uri="{FF2B5EF4-FFF2-40B4-BE49-F238E27FC236}">
                <a16:creationId xmlns:a16="http://schemas.microsoft.com/office/drawing/2014/main" id="{44B9DF18-A6DB-40B4-ABA5-30F0915AA862}"/>
              </a:ext>
            </a:extLst>
          </p:cNvPr>
          <p:cNvSpPr>
            <a:spLocks noGrp="1"/>
          </p:cNvSpPr>
          <p:nvPr>
            <p:ph type="dt" sz="half" idx="10"/>
          </p:nvPr>
        </p:nvSpPr>
        <p:spPr>
          <a:xfrm>
            <a:off x="457200" y="6248400"/>
            <a:ext cx="2133600" cy="45720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B2DCF9A8-B513-47FE-851C-14A6278FF8CF}"/>
              </a:ext>
            </a:extLst>
          </p:cNvPr>
          <p:cNvSpPr>
            <a:spLocks noGrp="1"/>
          </p:cNvSpPr>
          <p:nvPr>
            <p:ph type="ftr" sz="quarter" idx="11"/>
          </p:nvPr>
        </p:nvSpPr>
        <p:spPr>
          <a:xfrm>
            <a:off x="3124200" y="6248400"/>
            <a:ext cx="2895600" cy="45720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0C683FE9-D117-4702-A6A1-1A9DBEDEF7E8}"/>
              </a:ext>
            </a:extLst>
          </p:cNvPr>
          <p:cNvSpPr>
            <a:spLocks noGrp="1"/>
          </p:cNvSpPr>
          <p:nvPr>
            <p:ph type="sldNum" sz="quarter" idx="12"/>
          </p:nvPr>
        </p:nvSpPr>
        <p:spPr>
          <a:xfrm>
            <a:off x="6553200" y="6248400"/>
            <a:ext cx="2133600" cy="457200"/>
          </a:xfrm>
        </p:spPr>
        <p:txBody>
          <a:bodyPr/>
          <a:lstStyle>
            <a:lvl1pPr>
              <a:defRPr/>
            </a:lvl1pPr>
          </a:lstStyle>
          <a:p>
            <a:fld id="{F3F42FFF-FE31-4AFE-9ADF-75E2D567D53F}" type="slidenum">
              <a:rPr lang="en-US" altLang="en-US"/>
              <a:pPr/>
              <a:t>‹#›</a:t>
            </a:fld>
            <a:endParaRPr lang="en-US" altLang="en-US"/>
          </a:p>
        </p:txBody>
      </p:sp>
    </p:spTree>
    <p:extLst>
      <p:ext uri="{BB962C8B-B14F-4D97-AF65-F5344CB8AC3E}">
        <p14:creationId xmlns:p14="http://schemas.microsoft.com/office/powerpoint/2010/main" val="306345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p:cNvSpPr>
            <a:spLocks noGrp="1" noChangeArrowheads="1"/>
          </p:cNvSpPr>
          <p:nvPr>
            <p:ph type="sldNum" sz="quarter" idx="4"/>
          </p:nvPr>
        </p:nvSpPr>
        <p:spPr bwMode="auto">
          <a:xfrm>
            <a:off x="-76200" y="64008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2000" smtClean="0">
                <a:solidFill>
                  <a:schemeClr val="bg2"/>
                </a:solidFill>
              </a:defRPr>
            </a:lvl1pPr>
          </a:lstStyle>
          <a:p>
            <a:pPr>
              <a:defRPr/>
            </a:pPr>
            <a:r>
              <a:rPr lang="en-US" altLang="en-US"/>
              <a:t>13.</a:t>
            </a:r>
            <a:fld id="{83C41429-D934-4FC1-8DD7-BCAAC8B6D59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13"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4" r:id="rId13"/>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13.</a:t>
            </a:r>
            <a:fld id="{0541F35F-7E4B-4F01-84D7-3AD977BC40C6}" type="slidenum">
              <a:rPr lang="en-US" altLang="en-US" sz="2000">
                <a:solidFill>
                  <a:schemeClr val="bg2"/>
                </a:solidFill>
              </a:rPr>
              <a:pPr/>
              <a:t>1</a:t>
            </a:fld>
            <a:endParaRPr lang="en-US" altLang="en-US" sz="2000">
              <a:solidFill>
                <a:schemeClr val="bg2"/>
              </a:solidFill>
            </a:endParaRPr>
          </a:p>
        </p:txBody>
      </p:sp>
      <p:sp>
        <p:nvSpPr>
          <p:cNvPr id="858114"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a:effectLst>
                <a:outerShdw blurRad="38100" dist="38100" dir="2700000" algn="tl">
                  <a:srgbClr val="FFFFFF"/>
                </a:outerShdw>
              </a:effectLst>
              <a:latin typeface="Times New Roman" pitchFamily="18" charset="0"/>
            </a:endParaRPr>
          </a:p>
        </p:txBody>
      </p:sp>
      <p:sp>
        <p:nvSpPr>
          <p:cNvPr id="858115" name="Text Box 3"/>
          <p:cNvSpPr txBox="1">
            <a:spLocks noChangeArrowheads="1"/>
          </p:cNvSpPr>
          <p:nvPr/>
        </p:nvSpPr>
        <p:spPr bwMode="auto">
          <a:xfrm>
            <a:off x="228600" y="406400"/>
            <a:ext cx="5854700" cy="579438"/>
          </a:xfrm>
          <a:prstGeom prst="rect">
            <a:avLst/>
          </a:prstGeom>
          <a:noFill/>
          <a:ln>
            <a:noFill/>
          </a:ln>
          <a:effectLst/>
        </p:spPr>
        <p:txBody>
          <a:bodyPr wrap="none">
            <a:spAutoFit/>
          </a:bodyPr>
          <a:lstStyle/>
          <a:p>
            <a:pPr>
              <a:defRPr/>
            </a:pPr>
            <a:r>
              <a:rPr lang="en-US" altLang="en-US">
                <a:effectLst>
                  <a:outerShdw blurRad="38100" dist="38100" dir="2700000" algn="tl">
                    <a:srgbClr val="C0C0C0"/>
                  </a:outerShdw>
                </a:effectLst>
                <a:latin typeface="Times" pitchFamily="18" charset="0"/>
              </a:rPr>
              <a:t>13-2   STANDARD ETHERNET</a:t>
            </a:r>
          </a:p>
        </p:txBody>
      </p:sp>
      <p:sp>
        <p:nvSpPr>
          <p:cNvPr id="7173" name="Text Box 4"/>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US" altLang="en-US" sz="1800">
              <a:latin typeface="Times New Roman" panose="02020603050405020304" pitchFamily="18" charset="0"/>
            </a:endParaRPr>
          </a:p>
        </p:txBody>
      </p:sp>
      <p:sp>
        <p:nvSpPr>
          <p:cNvPr id="858117" name="Rectangle 5"/>
          <p:cNvSpPr>
            <a:spLocks noChangeArrowheads="1"/>
          </p:cNvSpPr>
          <p:nvPr/>
        </p:nvSpPr>
        <p:spPr bwMode="auto">
          <a:xfrm>
            <a:off x="76200" y="1384300"/>
            <a:ext cx="8229600" cy="1800225"/>
          </a:xfrm>
          <a:prstGeom prst="rect">
            <a:avLst/>
          </a:prstGeom>
          <a:noFill/>
          <a:ln>
            <a:noFill/>
          </a:ln>
          <a:effectLst/>
        </p:spPr>
        <p:txBody>
          <a:bodyPr anchor="ctr">
            <a:spAutoFit/>
          </a:bodyPr>
          <a:lstStyle/>
          <a:p>
            <a:pPr algn="just" eaLnBrk="1" hangingPunct="1">
              <a:defRPr/>
            </a:pPr>
            <a:r>
              <a:rPr lang="en-US" altLang="en-US" sz="2800" i="1" dirty="0">
                <a:effectLst>
                  <a:outerShdw blurRad="38100" dist="38100" dir="2700000" algn="tl">
                    <a:srgbClr val="C0C0C0"/>
                  </a:outerShdw>
                </a:effectLst>
                <a:latin typeface="Times New Roman" pitchFamily="18" charset="0"/>
              </a:rPr>
              <a:t>The original Ethernet was created in 1976 at Xerox’s Palo Alto Research Center (PARC). Since then, it has gone through four generations. We briefly discuss the </a:t>
            </a:r>
            <a:r>
              <a:rPr lang="en-US" altLang="en-US" sz="2800" i="1" dirty="0">
                <a:solidFill>
                  <a:schemeClr val="hlink"/>
                </a:solidFill>
                <a:effectLst>
                  <a:outerShdw blurRad="38100" dist="38100" dir="2700000" algn="tl">
                    <a:srgbClr val="C0C0C0"/>
                  </a:outerShdw>
                </a:effectLst>
                <a:latin typeface="Times New Roman" pitchFamily="18" charset="0"/>
              </a:rPr>
              <a:t>Standard (or traditional) Ethernet</a:t>
            </a:r>
            <a:r>
              <a:rPr lang="en-US" altLang="en-US" sz="2800" i="1" dirty="0">
                <a:effectLst>
                  <a:outerShdw blurRad="38100" dist="38100" dir="2700000" algn="tl">
                    <a:srgbClr val="C0C0C0"/>
                  </a:outerShdw>
                </a:effectLst>
                <a:latin typeface="Times New Roman" pitchFamily="18" charset="0"/>
              </a:rPr>
              <a:t> in this section. </a:t>
            </a:r>
          </a:p>
        </p:txBody>
      </p:sp>
      <p:sp>
        <p:nvSpPr>
          <p:cNvPr id="7175" name="Rectangle 6"/>
          <p:cNvSpPr>
            <a:spLocks noChangeArrowheads="1"/>
          </p:cNvSpPr>
          <p:nvPr/>
        </p:nvSpPr>
        <p:spPr bwMode="auto">
          <a:xfrm>
            <a:off x="152400" y="4679950"/>
            <a:ext cx="67056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en-US" altLang="en-US" sz="2400">
                <a:solidFill>
                  <a:srgbClr val="0033CC"/>
                </a:solidFill>
                <a:latin typeface="Times New Roman" panose="02020603050405020304" pitchFamily="18" charset="0"/>
              </a:rPr>
              <a:t>MAC Sublayer</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Physical Layer</a:t>
            </a:r>
            <a:br>
              <a:rPr lang="fr-FR" altLang="en-US" sz="2400">
                <a:solidFill>
                  <a:srgbClr val="0033CC"/>
                </a:solidFill>
                <a:latin typeface="Times New Roman" panose="02020603050405020304" pitchFamily="18" charset="0"/>
              </a:rPr>
            </a:br>
            <a:endParaRPr lang="en-US" altLang="en-US" sz="2400">
              <a:solidFill>
                <a:srgbClr val="0033CC"/>
              </a:solidFill>
              <a:latin typeface="Times New Roman" panose="02020603050405020304" pitchFamily="18" charset="0"/>
            </a:endParaRPr>
          </a:p>
        </p:txBody>
      </p:sp>
      <p:sp>
        <p:nvSpPr>
          <p:cNvPr id="858119" name="Text Box 7"/>
          <p:cNvSpPr txBox="1">
            <a:spLocks noChangeArrowheads="1"/>
          </p:cNvSpPr>
          <p:nvPr/>
        </p:nvSpPr>
        <p:spPr bwMode="auto">
          <a:xfrm>
            <a:off x="165100" y="4203700"/>
            <a:ext cx="4862513" cy="519113"/>
          </a:xfrm>
          <a:prstGeom prst="rect">
            <a:avLst/>
          </a:prstGeom>
          <a:noFill/>
          <a:ln>
            <a:noFill/>
          </a:ln>
          <a:effectLst/>
        </p:spPr>
        <p:txBody>
          <a:bodyPr wrap="none">
            <a:spAutoFit/>
          </a:bodyPr>
          <a:lstStyle/>
          <a:p>
            <a:pPr algn="ctr">
              <a:defRPr/>
            </a:pPr>
            <a:r>
              <a:rPr lang="en-US" altLang="en-US" sz="2800" i="1" u="sng">
                <a:solidFill>
                  <a:schemeClr val="hlink"/>
                </a:solidFill>
                <a:effectLst>
                  <a:outerShdw blurRad="38100" dist="38100" dir="2700000" algn="tl">
                    <a:srgbClr val="C0C0C0"/>
                  </a:outerShdw>
                </a:effectLst>
                <a:latin typeface="Times New Roman" pitchFamily="18" charset="0"/>
              </a:rPr>
              <a:t>Topics discussed in this section: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13.</a:t>
            </a:r>
            <a:fld id="{928B0B0C-AB77-4891-8C73-95DDADE872CA}" type="slidenum">
              <a:rPr lang="en-US" altLang="en-US" sz="2000">
                <a:solidFill>
                  <a:schemeClr val="bg2"/>
                </a:solidFill>
              </a:rPr>
              <a:pPr/>
              <a:t>2</a:t>
            </a:fld>
            <a:endParaRPr lang="en-US" altLang="en-US" sz="2000">
              <a:solidFill>
                <a:schemeClr val="bg2"/>
              </a:solidFill>
            </a:endParaRPr>
          </a:p>
        </p:txBody>
      </p:sp>
      <p:sp>
        <p:nvSpPr>
          <p:cNvPr id="11267" name="Line 2"/>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268" name="Line 3"/>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269" name="Text Box 4"/>
          <p:cNvSpPr txBox="1">
            <a:spLocks noChangeArrowheads="1"/>
          </p:cNvSpPr>
          <p:nvPr/>
        </p:nvSpPr>
        <p:spPr bwMode="auto">
          <a:xfrm>
            <a:off x="304800" y="762000"/>
            <a:ext cx="3690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13.4  </a:t>
            </a:r>
            <a:r>
              <a:rPr lang="en-US" altLang="en-US" sz="2000" i="1">
                <a:latin typeface="Times New Roman" panose="02020603050405020304" pitchFamily="18" charset="0"/>
              </a:rPr>
              <a:t>802.3 MAC frame</a:t>
            </a:r>
          </a:p>
        </p:txBody>
      </p:sp>
      <p:sp>
        <p:nvSpPr>
          <p:cNvPr id="11270" name="Line 5"/>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1127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63" y="2290763"/>
            <a:ext cx="8821737"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r>
              <a:rPr lang="en-US" altLang="en-US"/>
              <a:t>13.</a:t>
            </a:r>
            <a:fld id="{B7B04F81-624C-4F66-AA9D-6F3C34AD62F0}" type="slidenum">
              <a:rPr lang="en-US" altLang="en-US" smtClean="0"/>
              <a:pPr>
                <a:defRPr/>
              </a:pPr>
              <a:t>3</a:t>
            </a:fld>
            <a:endParaRPr lang="en-US" altLang="en-US"/>
          </a:p>
        </p:txBody>
      </p:sp>
      <p:sp>
        <p:nvSpPr>
          <p:cNvPr id="4" name="Rectangle 3"/>
          <p:cNvSpPr/>
          <p:nvPr/>
        </p:nvSpPr>
        <p:spPr>
          <a:xfrm>
            <a:off x="0" y="304800"/>
            <a:ext cx="9144000" cy="6494085"/>
          </a:xfrm>
          <a:prstGeom prst="rect">
            <a:avLst/>
          </a:prstGeom>
        </p:spPr>
        <p:txBody>
          <a:bodyPr wrap="square">
            <a:spAutoFit/>
          </a:bodyPr>
          <a:lstStyle/>
          <a:p>
            <a:r>
              <a:rPr lang="en-US" dirty="0"/>
              <a:t>Header</a:t>
            </a:r>
          </a:p>
          <a:p>
            <a:endParaRPr lang="en-US" dirty="0"/>
          </a:p>
          <a:p>
            <a:r>
              <a:rPr lang="en-US" dirty="0"/>
              <a:t>    Preamble / SFD: - this element within the header is added by the layer 1 part of the protocol stack. It enables the receiver to </a:t>
            </a:r>
            <a:r>
              <a:rPr lang="en-US" dirty="0" err="1"/>
              <a:t>synchronise</a:t>
            </a:r>
            <a:r>
              <a:rPr lang="en-US" dirty="0"/>
              <a:t> and know that a data frame is about to be sent.</a:t>
            </a:r>
          </a:p>
          <a:p>
            <a:r>
              <a:rPr lang="en-US" dirty="0"/>
              <a:t>        Preamble (PRE) - This is seven bytes long and it consists of a pattern of alternating ones and zeros, and this informs the receiving stations that a frame is starting as well as enabling </a:t>
            </a:r>
            <a:r>
              <a:rPr lang="en-US" dirty="0" err="1"/>
              <a:t>synchronisation</a:t>
            </a:r>
            <a:r>
              <a:rPr lang="en-US" dirty="0"/>
              <a:t>.</a:t>
            </a:r>
          </a:p>
          <a:p>
            <a:r>
              <a:rPr lang="en-US" dirty="0"/>
              <a:t>        </a:t>
            </a:r>
          </a:p>
        </p:txBody>
      </p:sp>
    </p:spTree>
    <p:extLst>
      <p:ext uri="{BB962C8B-B14F-4D97-AF65-F5344CB8AC3E}">
        <p14:creationId xmlns:p14="http://schemas.microsoft.com/office/powerpoint/2010/main" val="4171504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4" name="Content Placeholder 3"/>
          <p:cNvSpPr>
            <a:spLocks noGrp="1"/>
          </p:cNvSpPr>
          <p:nvPr>
            <p:ph idx="1"/>
          </p:nvPr>
        </p:nvSpPr>
        <p:spPr/>
        <p:txBody>
          <a:bodyPr/>
          <a:lstStyle/>
          <a:p>
            <a:r>
              <a:rPr lang="en-US" dirty="0"/>
              <a:t> Start of Frame Delimiter (SFD) - This consists of one byte and contains an alternating pattern of ones and zeros but ending in two ones. </a:t>
            </a:r>
          </a:p>
          <a:p>
            <a:r>
              <a:rPr lang="en-US" dirty="0"/>
              <a:t>Destination Address (DA) - This field contains the address of station for which the data is intended, this can be an individual address or multiple addresses as indicated by the destination address field. </a:t>
            </a:r>
            <a:endParaRPr lang="en-IN" dirty="0"/>
          </a:p>
        </p:txBody>
      </p:sp>
      <p:sp>
        <p:nvSpPr>
          <p:cNvPr id="2" name="Slide Number Placeholder 1"/>
          <p:cNvSpPr>
            <a:spLocks noGrp="1"/>
          </p:cNvSpPr>
          <p:nvPr>
            <p:ph type="sldNum" sz="quarter" idx="10"/>
          </p:nvPr>
        </p:nvSpPr>
        <p:spPr/>
        <p:txBody>
          <a:bodyPr/>
          <a:lstStyle/>
          <a:p>
            <a:pPr>
              <a:defRPr/>
            </a:pPr>
            <a:r>
              <a:rPr lang="en-US" altLang="en-US"/>
              <a:t>13.</a:t>
            </a:r>
            <a:fld id="{B7B04F81-624C-4F66-AA9D-6F3C34AD62F0}" type="slidenum">
              <a:rPr lang="en-US" altLang="en-US" smtClean="0"/>
              <a:pPr>
                <a:defRPr/>
              </a:pPr>
              <a:t>4</a:t>
            </a:fld>
            <a:endParaRPr lang="en-US" altLang="en-US"/>
          </a:p>
        </p:txBody>
      </p:sp>
    </p:spTree>
    <p:extLst>
      <p:ext uri="{BB962C8B-B14F-4D97-AF65-F5344CB8AC3E}">
        <p14:creationId xmlns:p14="http://schemas.microsoft.com/office/powerpoint/2010/main" val="114633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US" sz="2800" dirty="0"/>
              <a:t>Source Address (SA) - The source address consists of six bytes, and it is used to identify the sending station. This is always a single address and this is indicated within the address field. Again the MAC address is used. More details are given in the section below.</a:t>
            </a:r>
          </a:p>
          <a:p>
            <a:pPr algn="just"/>
            <a:r>
              <a:rPr lang="en-US" sz="2800" dirty="0"/>
              <a:t>Length / Type - This field is two bytes in length. It provides MAC information and indicates the number of client data types that are contained in the data field of the frame. It may also indicate the frame ID type if the frame is assembled using an optional format.(IEEE 802.3 only).</a:t>
            </a:r>
            <a:endParaRPr lang="en-IN" sz="2800" dirty="0"/>
          </a:p>
        </p:txBody>
      </p:sp>
      <p:sp>
        <p:nvSpPr>
          <p:cNvPr id="4" name="Slide Number Placeholder 3"/>
          <p:cNvSpPr>
            <a:spLocks noGrp="1"/>
          </p:cNvSpPr>
          <p:nvPr>
            <p:ph type="sldNum" sz="quarter" idx="10"/>
          </p:nvPr>
        </p:nvSpPr>
        <p:spPr/>
        <p:txBody>
          <a:bodyPr/>
          <a:lstStyle/>
          <a:p>
            <a:pPr>
              <a:defRPr/>
            </a:pPr>
            <a:r>
              <a:rPr lang="en-US" altLang="en-US"/>
              <a:t>13.</a:t>
            </a:r>
            <a:fld id="{7ABEB8F9-A9BB-4FAB-9011-69F4B1A4C490}" type="slidenum">
              <a:rPr lang="en-US" altLang="en-US" smtClean="0"/>
              <a:pPr>
                <a:defRPr/>
              </a:pPr>
              <a:t>5</a:t>
            </a:fld>
            <a:endParaRPr lang="en-US" altLang="en-US"/>
          </a:p>
        </p:txBody>
      </p:sp>
    </p:spTree>
    <p:extLst>
      <p:ext uri="{BB962C8B-B14F-4D97-AF65-F5344CB8AC3E}">
        <p14:creationId xmlns:p14="http://schemas.microsoft.com/office/powerpoint/2010/main" val="2247753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sz="2400" dirty="0">
                <a:latin typeface="Times" panose="02020603050405020304" pitchFamily="18" charset="0"/>
                <a:cs typeface="Times" panose="02020603050405020304" pitchFamily="18" charset="0"/>
              </a:rPr>
              <a:t>Payload  </a:t>
            </a:r>
          </a:p>
          <a:p>
            <a:r>
              <a:rPr lang="en-US" sz="2400" dirty="0">
                <a:latin typeface="Times" panose="02020603050405020304" pitchFamily="18" charset="0"/>
                <a:cs typeface="Times" panose="02020603050405020304" pitchFamily="18" charset="0"/>
              </a:rPr>
              <a:t>    Data - This block contains the payload data and it may be up to 1500 bytes long. If the length of the field is less than 46 bytes, then padding data is added to bring its length up to the required minimum of 46 bytes.</a:t>
            </a:r>
          </a:p>
          <a:p>
            <a:endParaRPr lang="en-US" sz="2400" dirty="0">
              <a:latin typeface="Times" panose="02020603050405020304" pitchFamily="18" charset="0"/>
              <a:cs typeface="Times" panose="02020603050405020304" pitchFamily="18" charset="0"/>
            </a:endParaRPr>
          </a:p>
          <a:p>
            <a:r>
              <a:rPr lang="en-US" sz="2400" dirty="0">
                <a:latin typeface="Times" panose="02020603050405020304" pitchFamily="18" charset="0"/>
                <a:cs typeface="Times" panose="02020603050405020304" pitchFamily="18" charset="0"/>
              </a:rPr>
              <a:t>    Later implementations allowed for so-called ‘jumbo’ frames up to 9,000 bytes long to facilitate certain types of large traffic flows such as file transfers and video links.</a:t>
            </a:r>
          </a:p>
          <a:p>
            <a:endParaRPr lang="en-US" dirty="0"/>
          </a:p>
          <a:p>
            <a:endParaRPr lang="en-IN" dirty="0"/>
          </a:p>
        </p:txBody>
      </p:sp>
      <p:sp>
        <p:nvSpPr>
          <p:cNvPr id="4" name="Slide Number Placeholder 3"/>
          <p:cNvSpPr>
            <a:spLocks noGrp="1"/>
          </p:cNvSpPr>
          <p:nvPr>
            <p:ph type="sldNum" sz="quarter" idx="10"/>
          </p:nvPr>
        </p:nvSpPr>
        <p:spPr/>
        <p:txBody>
          <a:bodyPr/>
          <a:lstStyle/>
          <a:p>
            <a:pPr>
              <a:defRPr/>
            </a:pPr>
            <a:r>
              <a:rPr lang="en-US" altLang="en-US"/>
              <a:t>13.</a:t>
            </a:r>
            <a:fld id="{7ABEB8F9-A9BB-4FAB-9011-69F4B1A4C490}" type="slidenum">
              <a:rPr lang="en-US" altLang="en-US" smtClean="0"/>
              <a:pPr>
                <a:defRPr/>
              </a:pPr>
              <a:t>6</a:t>
            </a:fld>
            <a:endParaRPr lang="en-US" altLang="en-US"/>
          </a:p>
        </p:txBody>
      </p:sp>
    </p:spTree>
    <p:extLst>
      <p:ext uri="{BB962C8B-B14F-4D97-AF65-F5344CB8AC3E}">
        <p14:creationId xmlns:p14="http://schemas.microsoft.com/office/powerpoint/2010/main" val="512434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 </a:t>
            </a:r>
            <a:r>
              <a:rPr lang="en-US" sz="2000" dirty="0"/>
              <a:t>Trailer</a:t>
            </a:r>
          </a:p>
          <a:p>
            <a:r>
              <a:rPr lang="en-US" sz="2000" dirty="0"/>
              <a:t>        Frame Check Sequence (FCS) - This field is four bytes long. It contains a 32 bit Cyclic Redundancy Check (CRC) which is generated over the DA, SA, Length / Type and Data fields.</a:t>
            </a:r>
          </a:p>
          <a:p>
            <a:endParaRPr lang="en-US" sz="2000" dirty="0"/>
          </a:p>
          <a:p>
            <a:r>
              <a:rPr lang="en-US" sz="2000" dirty="0"/>
              <a:t>After the Ethernet data frame itself there is an inter-frame gap of a minimum of 12 bytes of data. This acts as a delimiter to ensure that the receiver knows the frame is complete before any further data is sent.</a:t>
            </a:r>
            <a:endParaRPr lang="en-IN" sz="2000" dirty="0"/>
          </a:p>
        </p:txBody>
      </p:sp>
      <p:sp>
        <p:nvSpPr>
          <p:cNvPr id="4" name="Slide Number Placeholder 3"/>
          <p:cNvSpPr>
            <a:spLocks noGrp="1"/>
          </p:cNvSpPr>
          <p:nvPr>
            <p:ph type="sldNum" sz="quarter" idx="10"/>
          </p:nvPr>
        </p:nvSpPr>
        <p:spPr/>
        <p:txBody>
          <a:bodyPr/>
          <a:lstStyle/>
          <a:p>
            <a:pPr>
              <a:defRPr/>
            </a:pPr>
            <a:r>
              <a:rPr lang="en-US" altLang="en-US"/>
              <a:t>13.</a:t>
            </a:r>
            <a:fld id="{7ABEB8F9-A9BB-4FAB-9011-69F4B1A4C490}" type="slidenum">
              <a:rPr lang="en-US" altLang="en-US" smtClean="0"/>
              <a:pPr>
                <a:defRPr/>
              </a:pPr>
              <a:t>7</a:t>
            </a:fld>
            <a:endParaRPr lang="en-US" altLang="en-US"/>
          </a:p>
        </p:txBody>
      </p:sp>
    </p:spTree>
    <p:extLst>
      <p:ext uri="{BB962C8B-B14F-4D97-AF65-F5344CB8AC3E}">
        <p14:creationId xmlns:p14="http://schemas.microsoft.com/office/powerpoint/2010/main" val="2933648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13.</a:t>
            </a:r>
            <a:fld id="{7996933C-6015-4419-9A49-1A2736BEA588}" type="slidenum">
              <a:rPr lang="en-US" altLang="en-US" sz="2000">
                <a:solidFill>
                  <a:schemeClr val="bg2"/>
                </a:solidFill>
              </a:rPr>
              <a:pPr/>
              <a:t>8</a:t>
            </a:fld>
            <a:endParaRPr lang="en-US" altLang="en-US" sz="2000">
              <a:solidFill>
                <a:schemeClr val="bg2"/>
              </a:solidFill>
            </a:endParaRPr>
          </a:p>
        </p:txBody>
      </p:sp>
      <p:sp>
        <p:nvSpPr>
          <p:cNvPr id="13315" name="Line 2"/>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16" name="Line 3"/>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17" name="Text Box 4"/>
          <p:cNvSpPr txBox="1">
            <a:spLocks noChangeArrowheads="1"/>
          </p:cNvSpPr>
          <p:nvPr/>
        </p:nvSpPr>
        <p:spPr bwMode="auto">
          <a:xfrm>
            <a:off x="304800" y="762000"/>
            <a:ext cx="5251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13.5  </a:t>
            </a:r>
            <a:r>
              <a:rPr lang="en-US" altLang="en-US" sz="2000" i="1">
                <a:latin typeface="Times New Roman" panose="02020603050405020304" pitchFamily="18" charset="0"/>
              </a:rPr>
              <a:t>Minimum and maximum lengths</a:t>
            </a:r>
          </a:p>
        </p:txBody>
      </p:sp>
      <p:sp>
        <p:nvSpPr>
          <p:cNvPr id="13318" name="Line 5"/>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1331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433638"/>
            <a:ext cx="8574088" cy="267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13.</a:t>
            </a:r>
            <a:fld id="{B542DF79-B07F-4332-96AA-264E4E8561DF}" type="slidenum">
              <a:rPr lang="en-US" altLang="en-US" sz="2000">
                <a:solidFill>
                  <a:schemeClr val="bg2"/>
                </a:solidFill>
              </a:rPr>
              <a:pPr/>
              <a:t>9</a:t>
            </a:fld>
            <a:endParaRPr lang="en-US" altLang="en-US" sz="2000">
              <a:solidFill>
                <a:schemeClr val="bg2"/>
              </a:solidFill>
            </a:endParaRPr>
          </a:p>
        </p:txBody>
      </p:sp>
      <p:sp>
        <p:nvSpPr>
          <p:cNvPr id="15363" name="Line 2"/>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5364" name="Line 3"/>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5365" name="Text Box 4"/>
          <p:cNvSpPr txBox="1">
            <a:spLocks noChangeArrowheads="1"/>
          </p:cNvSpPr>
          <p:nvPr/>
        </p:nvSpPr>
        <p:spPr bwMode="auto">
          <a:xfrm>
            <a:off x="304800" y="762000"/>
            <a:ext cx="7775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13.6  </a:t>
            </a:r>
            <a:r>
              <a:rPr lang="en-US" altLang="en-US" sz="2000" i="1">
                <a:latin typeface="Times New Roman" panose="02020603050405020304" pitchFamily="18" charset="0"/>
              </a:rPr>
              <a:t>Example of an Ethernet address in hexadecimal notation</a:t>
            </a:r>
          </a:p>
        </p:txBody>
      </p:sp>
      <p:sp>
        <p:nvSpPr>
          <p:cNvPr id="15366" name="Line 5"/>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1536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938" y="2679700"/>
            <a:ext cx="6078537" cy="149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13.</a:t>
            </a:r>
            <a:fld id="{024070C1-150A-4B33-8D88-5FA869685164}" type="slidenum">
              <a:rPr lang="en-US" altLang="en-US" sz="2000">
                <a:solidFill>
                  <a:schemeClr val="bg2"/>
                </a:solidFill>
              </a:rPr>
              <a:pPr/>
              <a:t>10</a:t>
            </a:fld>
            <a:endParaRPr lang="en-US" altLang="en-US" sz="2000">
              <a:solidFill>
                <a:schemeClr val="bg2"/>
              </a:solidFill>
            </a:endParaRPr>
          </a:p>
        </p:txBody>
      </p:sp>
      <p:sp>
        <p:nvSpPr>
          <p:cNvPr id="17411" name="Line 2"/>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12" name="Line 3"/>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13" name="Text Box 4"/>
          <p:cNvSpPr txBox="1">
            <a:spLocks noChangeArrowheads="1"/>
          </p:cNvSpPr>
          <p:nvPr/>
        </p:nvSpPr>
        <p:spPr bwMode="auto">
          <a:xfrm>
            <a:off x="304800" y="762000"/>
            <a:ext cx="5153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13.7  </a:t>
            </a:r>
            <a:r>
              <a:rPr lang="en-US" altLang="en-US" sz="2000" i="1">
                <a:latin typeface="Times New Roman" panose="02020603050405020304" pitchFamily="18" charset="0"/>
              </a:rPr>
              <a:t>Unicast and multicast addresses</a:t>
            </a:r>
          </a:p>
        </p:txBody>
      </p:sp>
      <p:sp>
        <p:nvSpPr>
          <p:cNvPr id="17414" name="Line 5"/>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1741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 y="2892425"/>
            <a:ext cx="7277100"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13.</a:t>
            </a:r>
            <a:fld id="{19DA77A4-9A8F-4D9B-B6A2-4B64886BDFCE}" type="slidenum">
              <a:rPr lang="en-US" altLang="en-US" sz="2000">
                <a:solidFill>
                  <a:schemeClr val="bg2"/>
                </a:solidFill>
              </a:rPr>
              <a:pPr/>
              <a:t>11</a:t>
            </a:fld>
            <a:endParaRPr lang="en-US" altLang="en-US" sz="2000">
              <a:solidFill>
                <a:schemeClr val="bg2"/>
              </a:solidFill>
            </a:endParaRPr>
          </a:p>
        </p:txBody>
      </p:sp>
      <p:sp>
        <p:nvSpPr>
          <p:cNvPr id="19459"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9460"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9461"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9462"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9463"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9464"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9465"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19466" name="Line 9"/>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9467" name="Line 10"/>
          <p:cNvSpPr>
            <a:spLocks noChangeShapeType="1"/>
          </p:cNvSpPr>
          <p:nvPr/>
        </p:nvSpPr>
        <p:spPr bwMode="auto">
          <a:xfrm>
            <a:off x="458788" y="4876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9468" name="Rectangle 11"/>
          <p:cNvSpPr>
            <a:spLocks noChangeArrowheads="1"/>
          </p:cNvSpPr>
          <p:nvPr/>
        </p:nvSpPr>
        <p:spPr bwMode="auto">
          <a:xfrm>
            <a:off x="495300" y="2759075"/>
            <a:ext cx="8077200" cy="20415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en-US"/>
              <a:t>The least significant bit of the first byte </a:t>
            </a:r>
            <a:br>
              <a:rPr lang="en-US" altLang="en-US"/>
            </a:br>
            <a:r>
              <a:rPr lang="en-US" altLang="en-US"/>
              <a:t>defines the type of address.</a:t>
            </a:r>
            <a:br>
              <a:rPr lang="en-US" altLang="en-US"/>
            </a:br>
            <a:r>
              <a:rPr lang="en-US" altLang="en-US"/>
              <a:t>If the bit is </a:t>
            </a:r>
            <a:r>
              <a:rPr lang="en-US" altLang="en-US">
                <a:solidFill>
                  <a:schemeClr val="hlink"/>
                </a:solidFill>
              </a:rPr>
              <a:t>0</a:t>
            </a:r>
            <a:r>
              <a:rPr lang="en-US" altLang="en-US"/>
              <a:t>, the address is unicast;</a:t>
            </a:r>
            <a:br>
              <a:rPr lang="en-US" altLang="en-US"/>
            </a:br>
            <a:r>
              <a:rPr lang="en-US" altLang="en-US"/>
              <a:t>otherwise, it is multicast.</a:t>
            </a:r>
          </a:p>
        </p:txBody>
      </p:sp>
      <p:grpSp>
        <p:nvGrpSpPr>
          <p:cNvPr id="19469" name="Group 12"/>
          <p:cNvGrpSpPr>
            <a:grpSpLocks/>
          </p:cNvGrpSpPr>
          <p:nvPr/>
        </p:nvGrpSpPr>
        <p:grpSpPr bwMode="auto">
          <a:xfrm>
            <a:off x="457200" y="1981200"/>
            <a:ext cx="1143000" cy="566738"/>
            <a:chOff x="1200" y="1248"/>
            <a:chExt cx="720" cy="357"/>
          </a:xfrm>
        </p:grpSpPr>
        <p:pic>
          <p:nvPicPr>
            <p:cNvPr id="19470"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71" name="Text Box 14"/>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13.</a:t>
            </a:r>
            <a:fld id="{1581B54F-D773-4117-963A-0BCAEDEF2F62}" type="slidenum">
              <a:rPr lang="en-US" altLang="en-US" sz="2000">
                <a:solidFill>
                  <a:schemeClr val="bg2"/>
                </a:solidFill>
              </a:rPr>
              <a:pPr/>
              <a:t>12</a:t>
            </a:fld>
            <a:endParaRPr lang="en-US" altLang="en-US" sz="2000">
              <a:solidFill>
                <a:schemeClr val="bg2"/>
              </a:solidFill>
            </a:endParaRPr>
          </a:p>
        </p:txBody>
      </p:sp>
      <p:sp>
        <p:nvSpPr>
          <p:cNvPr id="21507"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1508"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1509"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1510"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1511"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1512"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1513"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1514" name="Line 9"/>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15" name="Line 10"/>
          <p:cNvSpPr>
            <a:spLocks noChangeShapeType="1"/>
          </p:cNvSpPr>
          <p:nvPr/>
        </p:nvSpPr>
        <p:spPr bwMode="auto">
          <a:xfrm>
            <a:off x="458788" y="4419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16" name="Rectangle 11"/>
          <p:cNvSpPr>
            <a:spLocks noChangeArrowheads="1"/>
          </p:cNvSpPr>
          <p:nvPr/>
        </p:nvSpPr>
        <p:spPr bwMode="auto">
          <a:xfrm>
            <a:off x="495300" y="2759075"/>
            <a:ext cx="8077200" cy="155416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en-US"/>
              <a:t>The broadcast destination address is a special case of the multicast address in which all bits are 1s.</a:t>
            </a:r>
          </a:p>
        </p:txBody>
      </p:sp>
      <p:grpSp>
        <p:nvGrpSpPr>
          <p:cNvPr id="21517" name="Group 12"/>
          <p:cNvGrpSpPr>
            <a:grpSpLocks/>
          </p:cNvGrpSpPr>
          <p:nvPr/>
        </p:nvGrpSpPr>
        <p:grpSpPr bwMode="auto">
          <a:xfrm>
            <a:off x="457200" y="1981200"/>
            <a:ext cx="1143000" cy="566738"/>
            <a:chOff x="1200" y="1248"/>
            <a:chExt cx="720" cy="357"/>
          </a:xfrm>
        </p:grpSpPr>
        <p:pic>
          <p:nvPicPr>
            <p:cNvPr id="21518"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9" name="Text Box 14"/>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13.</a:t>
            </a:r>
            <a:fld id="{4EF67E98-E827-401F-89D2-CF390EB684A3}" type="slidenum">
              <a:rPr lang="en-US" altLang="en-US" sz="2000">
                <a:solidFill>
                  <a:schemeClr val="bg2"/>
                </a:solidFill>
              </a:rPr>
              <a:pPr/>
              <a:t>13</a:t>
            </a:fld>
            <a:endParaRPr lang="en-US" altLang="en-US" sz="2000">
              <a:solidFill>
                <a:schemeClr val="bg2"/>
              </a:solidFill>
            </a:endParaRPr>
          </a:p>
        </p:txBody>
      </p:sp>
      <p:sp>
        <p:nvSpPr>
          <p:cNvPr id="23555"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3556"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3557"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3558"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3559"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3560"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3561"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3562" name="Rectangle 9"/>
          <p:cNvSpPr>
            <a:spLocks noChangeArrowheads="1"/>
          </p:cNvSpPr>
          <p:nvPr/>
        </p:nvSpPr>
        <p:spPr bwMode="auto">
          <a:xfrm>
            <a:off x="228600" y="990600"/>
            <a:ext cx="8686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a:latin typeface="Times New Roman" panose="02020603050405020304" pitchFamily="18" charset="0"/>
              </a:rPr>
              <a:t>Define the type of the following destination addresses:</a:t>
            </a:r>
          </a:p>
          <a:p>
            <a:pPr algn="just"/>
            <a:r>
              <a:rPr lang="en-US" altLang="en-US" sz="2800" i="1">
                <a:solidFill>
                  <a:schemeClr val="hlink"/>
                </a:solidFill>
                <a:latin typeface="Times New Roman" panose="02020603050405020304" pitchFamily="18" charset="0"/>
              </a:rPr>
              <a:t>a</a:t>
            </a:r>
            <a:r>
              <a:rPr lang="en-US" altLang="en-US" sz="2800" i="1">
                <a:latin typeface="Times New Roman" panose="02020603050405020304" pitchFamily="18" charset="0"/>
              </a:rPr>
              <a:t>.  4A:30:10:21:10:1A               </a:t>
            </a:r>
            <a:r>
              <a:rPr lang="en-US" altLang="en-US" sz="2800" i="1">
                <a:solidFill>
                  <a:schemeClr val="hlink"/>
                </a:solidFill>
                <a:latin typeface="Times New Roman" panose="02020603050405020304" pitchFamily="18" charset="0"/>
              </a:rPr>
              <a:t>b</a:t>
            </a:r>
            <a:r>
              <a:rPr lang="en-US" altLang="en-US" sz="2800" i="1">
                <a:latin typeface="Times New Roman" panose="02020603050405020304" pitchFamily="18" charset="0"/>
              </a:rPr>
              <a:t>.  47:20:1B:2E:08:EE</a:t>
            </a:r>
          </a:p>
          <a:p>
            <a:pPr algn="just"/>
            <a:r>
              <a:rPr lang="en-US" altLang="en-US" sz="2800" i="1">
                <a:solidFill>
                  <a:schemeClr val="hlink"/>
                </a:solidFill>
                <a:latin typeface="Times New Roman" panose="02020603050405020304" pitchFamily="18" charset="0"/>
              </a:rPr>
              <a:t>c.</a:t>
            </a:r>
            <a:r>
              <a:rPr lang="en-US" altLang="en-US" sz="2800" i="1">
                <a:latin typeface="Times New Roman" panose="02020603050405020304" pitchFamily="18" charset="0"/>
              </a:rPr>
              <a:t>  FF:FF:FF:FF:FF:FF</a:t>
            </a:r>
          </a:p>
        </p:txBody>
      </p:sp>
      <p:sp>
        <p:nvSpPr>
          <p:cNvPr id="23563" name="Rectangle 10"/>
          <p:cNvSpPr>
            <a:spLocks noChangeArrowheads="1"/>
          </p:cNvSpPr>
          <p:nvPr/>
        </p:nvSpPr>
        <p:spPr bwMode="auto">
          <a:xfrm>
            <a:off x="228600" y="2438400"/>
            <a:ext cx="8686800" cy="384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dirty="0">
                <a:solidFill>
                  <a:schemeClr val="hlink"/>
                </a:solidFill>
                <a:latin typeface="Times New Roman" panose="02020603050405020304" pitchFamily="18" charset="0"/>
              </a:rPr>
              <a:t>Solution</a:t>
            </a:r>
          </a:p>
          <a:p>
            <a:r>
              <a:rPr lang="en-US" altLang="en-US" sz="2400" b="0" dirty="0">
                <a:latin typeface="Times New Roman" panose="02020603050405020304" pitchFamily="18" charset="0"/>
                <a:cs typeface="Times New Roman" panose="02020603050405020304" pitchFamily="18" charset="0"/>
              </a:rPr>
              <a:t>To find the type of the address, we need to look at the second hexadecimal digit from the left. </a:t>
            </a:r>
          </a:p>
          <a:p>
            <a:r>
              <a:rPr lang="en-US" altLang="en-US" sz="2400" b="0" dirty="0">
                <a:latin typeface="Times New Roman" panose="02020603050405020304" pitchFamily="18" charset="0"/>
                <a:cs typeface="Times New Roman" panose="02020603050405020304" pitchFamily="18" charset="0"/>
              </a:rPr>
              <a:t>If it is even, the address is unicast. </a:t>
            </a:r>
          </a:p>
          <a:p>
            <a:r>
              <a:rPr lang="en-US" altLang="en-US" sz="2400" b="0" dirty="0">
                <a:latin typeface="Times New Roman" panose="02020603050405020304" pitchFamily="18" charset="0"/>
                <a:cs typeface="Times New Roman" panose="02020603050405020304" pitchFamily="18" charset="0"/>
              </a:rPr>
              <a:t>If it is odd, the address is multicast. </a:t>
            </a:r>
          </a:p>
          <a:p>
            <a:r>
              <a:rPr lang="en-US" altLang="en-US" sz="2400" b="0" dirty="0">
                <a:latin typeface="Times New Roman" panose="02020603050405020304" pitchFamily="18" charset="0"/>
                <a:cs typeface="Times New Roman" panose="02020603050405020304" pitchFamily="18" charset="0"/>
              </a:rPr>
              <a:t>If all digits are F’s, the address is broadcast. Therefore, we have the following:</a:t>
            </a:r>
          </a:p>
          <a:p>
            <a:r>
              <a:rPr lang="en-US" altLang="en-US" sz="2400" b="0" dirty="0">
                <a:solidFill>
                  <a:schemeClr val="hlink"/>
                </a:solidFill>
                <a:latin typeface="Times New Roman" panose="02020603050405020304" pitchFamily="18" charset="0"/>
                <a:cs typeface="Times New Roman" panose="02020603050405020304" pitchFamily="18" charset="0"/>
              </a:rPr>
              <a:t>a</a:t>
            </a:r>
            <a:r>
              <a:rPr lang="en-US" altLang="en-US" sz="2400" b="0" dirty="0">
                <a:latin typeface="Times New Roman" panose="02020603050405020304" pitchFamily="18" charset="0"/>
                <a:cs typeface="Times New Roman" panose="02020603050405020304" pitchFamily="18" charset="0"/>
              </a:rPr>
              <a:t>.  This is a unicast address because A in binary is 1010.</a:t>
            </a:r>
          </a:p>
          <a:p>
            <a:r>
              <a:rPr lang="en-US" altLang="en-US" sz="2400" b="0" dirty="0">
                <a:solidFill>
                  <a:schemeClr val="hlink"/>
                </a:solidFill>
                <a:latin typeface="Times New Roman" panose="02020603050405020304" pitchFamily="18" charset="0"/>
                <a:cs typeface="Times New Roman" panose="02020603050405020304" pitchFamily="18" charset="0"/>
              </a:rPr>
              <a:t>b.</a:t>
            </a:r>
            <a:r>
              <a:rPr lang="en-US" altLang="en-US" sz="2400" b="0" dirty="0">
                <a:latin typeface="Times New Roman" panose="02020603050405020304" pitchFamily="18" charset="0"/>
                <a:cs typeface="Times New Roman" panose="02020603050405020304" pitchFamily="18" charset="0"/>
              </a:rPr>
              <a:t>  This is a multicast address because 7 in binary is 0111.</a:t>
            </a:r>
          </a:p>
          <a:p>
            <a:r>
              <a:rPr lang="en-US" altLang="en-US" sz="2400" b="0" dirty="0">
                <a:solidFill>
                  <a:schemeClr val="hlink"/>
                </a:solidFill>
                <a:latin typeface="Times New Roman" panose="02020603050405020304" pitchFamily="18" charset="0"/>
                <a:cs typeface="Times New Roman" panose="02020603050405020304" pitchFamily="18" charset="0"/>
              </a:rPr>
              <a:t>c.</a:t>
            </a:r>
            <a:r>
              <a:rPr lang="en-US" altLang="en-US" sz="2400" b="0" dirty="0">
                <a:latin typeface="Times New Roman" panose="02020603050405020304" pitchFamily="18" charset="0"/>
                <a:cs typeface="Times New Roman" panose="02020603050405020304" pitchFamily="18" charset="0"/>
              </a:rPr>
              <a:t>  This is a broadcast address because all digits are F’s.</a:t>
            </a:r>
          </a:p>
        </p:txBody>
      </p:sp>
      <p:sp>
        <p:nvSpPr>
          <p:cNvPr id="23564" name="Text Box 11"/>
          <p:cNvSpPr txBox="1">
            <a:spLocks noChangeArrowheads="1"/>
          </p:cNvSpPr>
          <p:nvPr/>
        </p:nvSpPr>
        <p:spPr bwMode="auto">
          <a:xfrm>
            <a:off x="1068388" y="-46038"/>
            <a:ext cx="2487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i="1">
                <a:solidFill>
                  <a:schemeClr val="hlink"/>
                </a:solidFill>
                <a:latin typeface="Times New Roman" panose="02020603050405020304" pitchFamily="18" charset="0"/>
              </a:rPr>
              <a:t>Example 13.1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63">
                                            <p:txEl>
                                              <p:pRg st="1" end="1"/>
                                            </p:txEl>
                                          </p:spTgt>
                                        </p:tgtEl>
                                        <p:attrNameLst>
                                          <p:attrName>style.visibility</p:attrName>
                                        </p:attrNameLst>
                                      </p:cBhvr>
                                      <p:to>
                                        <p:strVal val="visible"/>
                                      </p:to>
                                    </p:set>
                                    <p:anim calcmode="lin" valueType="num">
                                      <p:cBhvr additive="base">
                                        <p:cTn id="7" dur="500" fill="hold"/>
                                        <p:tgtEl>
                                          <p:spTgt spid="2356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6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563">
                                            <p:txEl>
                                              <p:pRg st="2" end="2"/>
                                            </p:txEl>
                                          </p:spTgt>
                                        </p:tgtEl>
                                        <p:attrNameLst>
                                          <p:attrName>style.visibility</p:attrName>
                                        </p:attrNameLst>
                                      </p:cBhvr>
                                      <p:to>
                                        <p:strVal val="visible"/>
                                      </p:to>
                                    </p:set>
                                    <p:anim calcmode="lin" valueType="num">
                                      <p:cBhvr additive="base">
                                        <p:cTn id="11" dur="500" fill="hold"/>
                                        <p:tgtEl>
                                          <p:spTgt spid="2356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356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3563">
                                            <p:txEl>
                                              <p:pRg st="3" end="3"/>
                                            </p:txEl>
                                          </p:spTgt>
                                        </p:tgtEl>
                                        <p:attrNameLst>
                                          <p:attrName>style.visibility</p:attrName>
                                        </p:attrNameLst>
                                      </p:cBhvr>
                                      <p:to>
                                        <p:strVal val="visible"/>
                                      </p:to>
                                    </p:set>
                                    <p:anim calcmode="lin" valueType="num">
                                      <p:cBhvr additive="base">
                                        <p:cTn id="15" dur="500" fill="hold"/>
                                        <p:tgtEl>
                                          <p:spTgt spid="2356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356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3563">
                                            <p:txEl>
                                              <p:pRg st="4" end="4"/>
                                            </p:txEl>
                                          </p:spTgt>
                                        </p:tgtEl>
                                        <p:attrNameLst>
                                          <p:attrName>style.visibility</p:attrName>
                                        </p:attrNameLst>
                                      </p:cBhvr>
                                      <p:to>
                                        <p:strVal val="visible"/>
                                      </p:to>
                                    </p:set>
                                    <p:anim calcmode="lin" valueType="num">
                                      <p:cBhvr additive="base">
                                        <p:cTn id="19" dur="500" fill="hold"/>
                                        <p:tgtEl>
                                          <p:spTgt spid="2356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3563">
                                            <p:txEl>
                                              <p:pRg st="5" end="5"/>
                                            </p:txEl>
                                          </p:spTgt>
                                        </p:tgtEl>
                                        <p:attrNameLst>
                                          <p:attrName>style.visibility</p:attrName>
                                        </p:attrNameLst>
                                      </p:cBhvr>
                                      <p:to>
                                        <p:strVal val="visible"/>
                                      </p:to>
                                    </p:set>
                                    <p:anim calcmode="lin" valueType="num">
                                      <p:cBhvr additive="base">
                                        <p:cTn id="25" dur="500" fill="hold"/>
                                        <p:tgtEl>
                                          <p:spTgt spid="2356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356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3563">
                                            <p:txEl>
                                              <p:pRg st="6" end="6"/>
                                            </p:txEl>
                                          </p:spTgt>
                                        </p:tgtEl>
                                        <p:attrNameLst>
                                          <p:attrName>style.visibility</p:attrName>
                                        </p:attrNameLst>
                                      </p:cBhvr>
                                      <p:to>
                                        <p:strVal val="visible"/>
                                      </p:to>
                                    </p:set>
                                    <p:anim calcmode="lin" valueType="num">
                                      <p:cBhvr additive="base">
                                        <p:cTn id="31" dur="500" fill="hold"/>
                                        <p:tgtEl>
                                          <p:spTgt spid="2356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356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3563">
                                            <p:txEl>
                                              <p:pRg st="7" end="7"/>
                                            </p:txEl>
                                          </p:spTgt>
                                        </p:tgtEl>
                                        <p:attrNameLst>
                                          <p:attrName>style.visibility</p:attrName>
                                        </p:attrNameLst>
                                      </p:cBhvr>
                                      <p:to>
                                        <p:strVal val="visible"/>
                                      </p:to>
                                    </p:set>
                                    <p:anim calcmode="lin" valueType="num">
                                      <p:cBhvr additive="base">
                                        <p:cTn id="37" dur="500" fill="hold"/>
                                        <p:tgtEl>
                                          <p:spTgt spid="2356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356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13.</a:t>
            </a:r>
            <a:fld id="{8B0D47DE-677E-4146-B857-DF3A1B85E2CC}" type="slidenum">
              <a:rPr lang="en-US" altLang="en-US" sz="2000">
                <a:solidFill>
                  <a:schemeClr val="bg2"/>
                </a:solidFill>
              </a:rPr>
              <a:pPr/>
              <a:t>14</a:t>
            </a:fld>
            <a:endParaRPr lang="en-US" altLang="en-US" sz="2000">
              <a:solidFill>
                <a:schemeClr val="bg2"/>
              </a:solidFill>
            </a:endParaRPr>
          </a:p>
        </p:txBody>
      </p:sp>
      <p:sp>
        <p:nvSpPr>
          <p:cNvPr id="9219" name="Line 2"/>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220" name="Line 3"/>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221" name="Text Box 4"/>
          <p:cNvSpPr txBox="1">
            <a:spLocks noChangeArrowheads="1"/>
          </p:cNvSpPr>
          <p:nvPr/>
        </p:nvSpPr>
        <p:spPr bwMode="auto">
          <a:xfrm>
            <a:off x="304800" y="762000"/>
            <a:ext cx="6472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13.3  </a:t>
            </a:r>
            <a:r>
              <a:rPr lang="en-US" altLang="en-US" sz="2000" i="1">
                <a:latin typeface="Times New Roman" panose="02020603050405020304" pitchFamily="18" charset="0"/>
              </a:rPr>
              <a:t>Ethernet evolution through four generations</a:t>
            </a:r>
          </a:p>
        </p:txBody>
      </p:sp>
      <p:sp>
        <p:nvSpPr>
          <p:cNvPr id="9222" name="Line 5"/>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922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286000"/>
            <a:ext cx="7394575" cy="235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9878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13.</a:t>
            </a:r>
            <a:fld id="{CA135E9F-66FA-411E-9833-57EF07628EE8}" type="slidenum">
              <a:rPr lang="en-US" altLang="en-US" sz="2000">
                <a:solidFill>
                  <a:schemeClr val="bg2"/>
                </a:solidFill>
              </a:rPr>
              <a:pPr/>
              <a:t>15</a:t>
            </a:fld>
            <a:endParaRPr lang="en-US" altLang="en-US" sz="2000">
              <a:solidFill>
                <a:schemeClr val="bg2"/>
              </a:solidFill>
            </a:endParaRPr>
          </a:p>
        </p:txBody>
      </p:sp>
      <p:sp>
        <p:nvSpPr>
          <p:cNvPr id="25603" name="Line 2"/>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5604" name="Line 3"/>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5605" name="Text Box 4"/>
          <p:cNvSpPr txBox="1">
            <a:spLocks noChangeArrowheads="1"/>
          </p:cNvSpPr>
          <p:nvPr/>
        </p:nvSpPr>
        <p:spPr bwMode="auto">
          <a:xfrm>
            <a:off x="304800" y="762000"/>
            <a:ext cx="5197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13.8  </a:t>
            </a:r>
            <a:r>
              <a:rPr lang="en-US" altLang="en-US" sz="2000" i="1">
                <a:latin typeface="Times New Roman" panose="02020603050405020304" pitchFamily="18" charset="0"/>
              </a:rPr>
              <a:t>Categories of Standard Ethernet</a:t>
            </a:r>
          </a:p>
        </p:txBody>
      </p:sp>
      <p:sp>
        <p:nvSpPr>
          <p:cNvPr id="25606" name="Line 5"/>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2560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133600"/>
            <a:ext cx="6389688" cy="335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13.</a:t>
            </a:r>
            <a:fld id="{2D0F06CB-0045-46C4-B5C5-CD4252567C77}" type="slidenum">
              <a:rPr lang="en-US" altLang="en-US" sz="2000">
                <a:solidFill>
                  <a:schemeClr val="bg2"/>
                </a:solidFill>
              </a:rPr>
              <a:pPr/>
              <a:t>16</a:t>
            </a:fld>
            <a:endParaRPr lang="en-US" altLang="en-US" sz="2000">
              <a:solidFill>
                <a:schemeClr val="bg2"/>
              </a:solidFill>
            </a:endParaRPr>
          </a:p>
        </p:txBody>
      </p:sp>
      <p:sp>
        <p:nvSpPr>
          <p:cNvPr id="27651" name="Line 2"/>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7652" name="Line 3"/>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7653" name="Text Box 4"/>
          <p:cNvSpPr txBox="1">
            <a:spLocks noChangeArrowheads="1"/>
          </p:cNvSpPr>
          <p:nvPr/>
        </p:nvSpPr>
        <p:spPr bwMode="auto">
          <a:xfrm>
            <a:off x="304800" y="762000"/>
            <a:ext cx="6986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13.9  </a:t>
            </a:r>
            <a:r>
              <a:rPr lang="en-US" altLang="en-US" sz="2000" i="1">
                <a:latin typeface="Times New Roman" panose="02020603050405020304" pitchFamily="18" charset="0"/>
              </a:rPr>
              <a:t>Encoding in a Standard Ethernet implementation</a:t>
            </a:r>
          </a:p>
        </p:txBody>
      </p:sp>
      <p:sp>
        <p:nvSpPr>
          <p:cNvPr id="27654" name="Line 5"/>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2765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2363788"/>
            <a:ext cx="7367587"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13.</a:t>
            </a:r>
            <a:fld id="{24355FDC-9CED-4793-A8F9-7B2806FB7A88}" type="slidenum">
              <a:rPr lang="en-US" altLang="en-US" sz="2000">
                <a:solidFill>
                  <a:schemeClr val="bg2"/>
                </a:solidFill>
              </a:rPr>
              <a:pPr/>
              <a:t>17</a:t>
            </a:fld>
            <a:endParaRPr lang="en-US" altLang="en-US" sz="2000">
              <a:solidFill>
                <a:schemeClr val="bg2"/>
              </a:solidFill>
            </a:endParaRPr>
          </a:p>
        </p:txBody>
      </p:sp>
      <p:sp>
        <p:nvSpPr>
          <p:cNvPr id="29699" name="Line 2"/>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700" name="Line 3"/>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701" name="Text Box 4"/>
          <p:cNvSpPr txBox="1">
            <a:spLocks noChangeArrowheads="1"/>
          </p:cNvSpPr>
          <p:nvPr/>
        </p:nvSpPr>
        <p:spPr bwMode="auto">
          <a:xfrm>
            <a:off x="304800" y="762000"/>
            <a:ext cx="4545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13.10  </a:t>
            </a:r>
            <a:r>
              <a:rPr lang="en-US" altLang="en-US" sz="2000" i="1">
                <a:latin typeface="Times New Roman" panose="02020603050405020304" pitchFamily="18" charset="0"/>
              </a:rPr>
              <a:t>10Base5 implementation</a:t>
            </a:r>
          </a:p>
        </p:txBody>
      </p:sp>
      <p:sp>
        <p:nvSpPr>
          <p:cNvPr id="29702" name="Line 5"/>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2970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590800"/>
            <a:ext cx="8720138" cy="185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13.</a:t>
            </a:r>
            <a:fld id="{17906B7B-FCE4-4AB8-8957-5C817B328822}" type="slidenum">
              <a:rPr lang="en-US" altLang="en-US" sz="2000">
                <a:solidFill>
                  <a:schemeClr val="bg2"/>
                </a:solidFill>
              </a:rPr>
              <a:pPr/>
              <a:t>18</a:t>
            </a:fld>
            <a:endParaRPr lang="en-US" altLang="en-US" sz="2000">
              <a:solidFill>
                <a:schemeClr val="bg2"/>
              </a:solidFill>
            </a:endParaRPr>
          </a:p>
        </p:txBody>
      </p:sp>
      <p:sp>
        <p:nvSpPr>
          <p:cNvPr id="31747" name="Line 2"/>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1748" name="Line 3"/>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1749" name="Text Box 4"/>
          <p:cNvSpPr txBox="1">
            <a:spLocks noChangeArrowheads="1"/>
          </p:cNvSpPr>
          <p:nvPr/>
        </p:nvSpPr>
        <p:spPr bwMode="auto">
          <a:xfrm>
            <a:off x="304800" y="762000"/>
            <a:ext cx="4545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13.11  </a:t>
            </a:r>
            <a:r>
              <a:rPr lang="en-US" altLang="en-US" sz="2000" i="1">
                <a:latin typeface="Times New Roman" panose="02020603050405020304" pitchFamily="18" charset="0"/>
              </a:rPr>
              <a:t>10Base2 implementation</a:t>
            </a:r>
          </a:p>
        </p:txBody>
      </p:sp>
      <p:sp>
        <p:nvSpPr>
          <p:cNvPr id="31750" name="Line 5"/>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3175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163" y="2214563"/>
            <a:ext cx="7843837" cy="327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13.</a:t>
            </a:r>
            <a:fld id="{D67B6955-BA05-4408-8FDB-2392CC95D89A}" type="slidenum">
              <a:rPr lang="en-US" altLang="en-US" sz="2000">
                <a:solidFill>
                  <a:schemeClr val="bg2"/>
                </a:solidFill>
              </a:rPr>
              <a:pPr/>
              <a:t>19</a:t>
            </a:fld>
            <a:endParaRPr lang="en-US" altLang="en-US" sz="2000">
              <a:solidFill>
                <a:schemeClr val="bg2"/>
              </a:solidFill>
            </a:endParaRPr>
          </a:p>
        </p:txBody>
      </p:sp>
      <p:sp>
        <p:nvSpPr>
          <p:cNvPr id="33795" name="Line 2"/>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3796" name="Line 3"/>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3797" name="Text Box 4"/>
          <p:cNvSpPr txBox="1">
            <a:spLocks noChangeArrowheads="1"/>
          </p:cNvSpPr>
          <p:nvPr/>
        </p:nvSpPr>
        <p:spPr bwMode="auto">
          <a:xfrm>
            <a:off x="304800" y="762000"/>
            <a:ext cx="4657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13.12  </a:t>
            </a:r>
            <a:r>
              <a:rPr lang="en-US" altLang="en-US" sz="2000" i="1">
                <a:latin typeface="Times New Roman" panose="02020603050405020304" pitchFamily="18" charset="0"/>
              </a:rPr>
              <a:t>10Base-T implementation</a:t>
            </a:r>
          </a:p>
        </p:txBody>
      </p:sp>
      <p:sp>
        <p:nvSpPr>
          <p:cNvPr id="33798" name="Line 5"/>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3379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225" y="2409825"/>
            <a:ext cx="7724775"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13.</a:t>
            </a:r>
            <a:fld id="{57280063-C0DA-43AD-B957-26E5A4ACDA97}" type="slidenum">
              <a:rPr lang="en-US" altLang="en-US" sz="2000">
                <a:solidFill>
                  <a:schemeClr val="bg2"/>
                </a:solidFill>
              </a:rPr>
              <a:pPr/>
              <a:t>20</a:t>
            </a:fld>
            <a:endParaRPr lang="en-US" altLang="en-US" sz="2000">
              <a:solidFill>
                <a:schemeClr val="bg2"/>
              </a:solidFill>
            </a:endParaRPr>
          </a:p>
        </p:txBody>
      </p:sp>
      <p:sp>
        <p:nvSpPr>
          <p:cNvPr id="35843" name="Line 2"/>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5844" name="Line 3"/>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5845" name="Text Box 4"/>
          <p:cNvSpPr txBox="1">
            <a:spLocks noChangeArrowheads="1"/>
          </p:cNvSpPr>
          <p:nvPr/>
        </p:nvSpPr>
        <p:spPr bwMode="auto">
          <a:xfrm>
            <a:off x="304800" y="762000"/>
            <a:ext cx="4672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13.13  </a:t>
            </a:r>
            <a:r>
              <a:rPr lang="en-US" altLang="en-US" sz="2000" i="1">
                <a:latin typeface="Times New Roman" panose="02020603050405020304" pitchFamily="18" charset="0"/>
              </a:rPr>
              <a:t>10Base-F implementation</a:t>
            </a:r>
          </a:p>
        </p:txBody>
      </p:sp>
      <p:sp>
        <p:nvSpPr>
          <p:cNvPr id="35846" name="Line 5"/>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3584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463" y="2430463"/>
            <a:ext cx="7805737" cy="259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13.</a:t>
            </a:r>
            <a:fld id="{9F58B5A8-FAC9-45B9-A49F-CC215ADA7AF9}" type="slidenum">
              <a:rPr lang="en-US" altLang="en-US" sz="2000">
                <a:solidFill>
                  <a:schemeClr val="bg2"/>
                </a:solidFill>
              </a:rPr>
              <a:pPr/>
              <a:t>21</a:t>
            </a:fld>
            <a:endParaRPr lang="en-US" altLang="en-US" sz="2000">
              <a:solidFill>
                <a:schemeClr val="bg2"/>
              </a:solidFill>
            </a:endParaRPr>
          </a:p>
        </p:txBody>
      </p:sp>
      <p:sp>
        <p:nvSpPr>
          <p:cNvPr id="37891" name="Text Box 2"/>
          <p:cNvSpPr txBox="1">
            <a:spLocks noChangeArrowheads="1"/>
          </p:cNvSpPr>
          <p:nvPr/>
        </p:nvSpPr>
        <p:spPr bwMode="auto">
          <a:xfrm>
            <a:off x="838200" y="1981200"/>
            <a:ext cx="6775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Table 13.1  </a:t>
            </a:r>
            <a:r>
              <a:rPr lang="en-US" altLang="en-US" sz="2000" i="1">
                <a:latin typeface="Times New Roman" panose="02020603050405020304" pitchFamily="18" charset="0"/>
              </a:rPr>
              <a:t>Summary of Standard Ethernet implementations</a:t>
            </a:r>
          </a:p>
        </p:txBody>
      </p:sp>
      <p:pic>
        <p:nvPicPr>
          <p:cNvPr id="378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600" y="2559050"/>
            <a:ext cx="7797800" cy="183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C2DB4903-B253-42F2-BC76-60F6A6647FB0}"/>
              </a:ext>
            </a:extLst>
          </p:cNvPr>
          <p:cNvSpPr>
            <a:spLocks noGrp="1" noChangeArrowheads="1"/>
          </p:cNvSpPr>
          <p:nvPr>
            <p:ph type="title"/>
          </p:nvPr>
        </p:nvSpPr>
        <p:spPr/>
        <p:txBody>
          <a:bodyPr/>
          <a:lstStyle/>
          <a:p>
            <a:r>
              <a:rPr lang="en-US" altLang="en-US"/>
              <a:t>Standardization of Wireless Networks</a:t>
            </a:r>
          </a:p>
        </p:txBody>
      </p:sp>
      <p:sp>
        <p:nvSpPr>
          <p:cNvPr id="165891" name="Rectangle 3">
            <a:extLst>
              <a:ext uri="{FF2B5EF4-FFF2-40B4-BE49-F238E27FC236}">
                <a16:creationId xmlns:a16="http://schemas.microsoft.com/office/drawing/2014/main" id="{3DD670DC-2315-4BB6-B86E-E86FD3108D6E}"/>
              </a:ext>
            </a:extLst>
          </p:cNvPr>
          <p:cNvSpPr>
            <a:spLocks noGrp="1" noChangeArrowheads="1"/>
          </p:cNvSpPr>
          <p:nvPr>
            <p:ph type="body" idx="1"/>
          </p:nvPr>
        </p:nvSpPr>
        <p:spPr/>
        <p:txBody>
          <a:bodyPr/>
          <a:lstStyle/>
          <a:p>
            <a:r>
              <a:rPr lang="en-US" altLang="en-US"/>
              <a:t>Wireless networks are standardized by IEEE.</a:t>
            </a:r>
          </a:p>
          <a:p>
            <a:r>
              <a:rPr lang="en-US" altLang="en-US"/>
              <a:t>Under 802 LAN MAN standards committee.</a:t>
            </a:r>
          </a:p>
          <a:p>
            <a:endParaRPr lang="en-US" altLang="en-US"/>
          </a:p>
          <a:p>
            <a:pPr lvl="1"/>
            <a:endParaRPr lang="en-US" altLang="en-US"/>
          </a:p>
        </p:txBody>
      </p:sp>
      <p:grpSp>
        <p:nvGrpSpPr>
          <p:cNvPr id="165892" name="Group 4">
            <a:extLst>
              <a:ext uri="{FF2B5EF4-FFF2-40B4-BE49-F238E27FC236}">
                <a16:creationId xmlns:a16="http://schemas.microsoft.com/office/drawing/2014/main" id="{354A7B71-956D-4AF2-9201-D3113D648F50}"/>
              </a:ext>
            </a:extLst>
          </p:cNvPr>
          <p:cNvGrpSpPr>
            <a:grpSpLocks/>
          </p:cNvGrpSpPr>
          <p:nvPr/>
        </p:nvGrpSpPr>
        <p:grpSpPr bwMode="auto">
          <a:xfrm>
            <a:off x="381000" y="2819400"/>
            <a:ext cx="3673475" cy="3886200"/>
            <a:chOff x="230" y="1872"/>
            <a:chExt cx="2314" cy="2448"/>
          </a:xfrm>
        </p:grpSpPr>
        <p:sp>
          <p:nvSpPr>
            <p:cNvPr id="165893" name="Rectangle 5">
              <a:extLst>
                <a:ext uri="{FF2B5EF4-FFF2-40B4-BE49-F238E27FC236}">
                  <a16:creationId xmlns:a16="http://schemas.microsoft.com/office/drawing/2014/main" id="{2D0F8CD1-D93A-440B-A378-4A013F83B707}"/>
                </a:ext>
              </a:extLst>
            </p:cNvPr>
            <p:cNvSpPr>
              <a:spLocks noChangeArrowheads="1"/>
            </p:cNvSpPr>
            <p:nvPr/>
          </p:nvSpPr>
          <p:spPr bwMode="auto">
            <a:xfrm>
              <a:off x="1152" y="1872"/>
              <a:ext cx="1392" cy="244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latin typeface="Times New Roman" panose="02020603050405020304" pitchFamily="18" charset="0"/>
              </a:endParaRPr>
            </a:p>
          </p:txBody>
        </p:sp>
        <p:sp>
          <p:nvSpPr>
            <p:cNvPr id="165894" name="Text Box 6">
              <a:extLst>
                <a:ext uri="{FF2B5EF4-FFF2-40B4-BE49-F238E27FC236}">
                  <a16:creationId xmlns:a16="http://schemas.microsoft.com/office/drawing/2014/main" id="{BBB7A171-886B-47C7-8EE1-1D6BD0ED93B2}"/>
                </a:ext>
              </a:extLst>
            </p:cNvPr>
            <p:cNvSpPr txBox="1">
              <a:spLocks noChangeArrowheads="1"/>
            </p:cNvSpPr>
            <p:nvPr/>
          </p:nvSpPr>
          <p:spPr bwMode="auto">
            <a:xfrm>
              <a:off x="1344" y="1920"/>
              <a:ext cx="102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Times New Roman" panose="02020603050405020304" pitchFamily="18" charset="0"/>
                </a:rPr>
                <a:t>Application</a:t>
              </a:r>
            </a:p>
          </p:txBody>
        </p:sp>
        <p:sp>
          <p:nvSpPr>
            <p:cNvPr id="165895" name="Line 7">
              <a:extLst>
                <a:ext uri="{FF2B5EF4-FFF2-40B4-BE49-F238E27FC236}">
                  <a16:creationId xmlns:a16="http://schemas.microsoft.com/office/drawing/2014/main" id="{AFA90863-0F90-4CC8-9ECE-F3D1AA07E7AE}"/>
                </a:ext>
              </a:extLst>
            </p:cNvPr>
            <p:cNvSpPr>
              <a:spLocks noChangeShapeType="1"/>
            </p:cNvSpPr>
            <p:nvPr/>
          </p:nvSpPr>
          <p:spPr bwMode="auto">
            <a:xfrm>
              <a:off x="1152" y="2208"/>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5896" name="Line 8">
              <a:extLst>
                <a:ext uri="{FF2B5EF4-FFF2-40B4-BE49-F238E27FC236}">
                  <a16:creationId xmlns:a16="http://schemas.microsoft.com/office/drawing/2014/main" id="{D1646276-08BF-4890-BB31-F0132CBCE5B0}"/>
                </a:ext>
              </a:extLst>
            </p:cNvPr>
            <p:cNvSpPr>
              <a:spLocks noChangeShapeType="1"/>
            </p:cNvSpPr>
            <p:nvPr/>
          </p:nvSpPr>
          <p:spPr bwMode="auto">
            <a:xfrm>
              <a:off x="1152" y="2496"/>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5897" name="Text Box 9">
              <a:extLst>
                <a:ext uri="{FF2B5EF4-FFF2-40B4-BE49-F238E27FC236}">
                  <a16:creationId xmlns:a16="http://schemas.microsoft.com/office/drawing/2014/main" id="{A4E11F0C-C34C-4F7B-A5EA-9BC552F21D9C}"/>
                </a:ext>
              </a:extLst>
            </p:cNvPr>
            <p:cNvSpPr txBox="1">
              <a:spLocks noChangeArrowheads="1"/>
            </p:cNvSpPr>
            <p:nvPr/>
          </p:nvSpPr>
          <p:spPr bwMode="auto">
            <a:xfrm>
              <a:off x="1344" y="2208"/>
              <a:ext cx="10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Times New Roman" panose="02020603050405020304" pitchFamily="18" charset="0"/>
                </a:rPr>
                <a:t>Presentation</a:t>
              </a:r>
            </a:p>
          </p:txBody>
        </p:sp>
        <p:sp>
          <p:nvSpPr>
            <p:cNvPr id="165898" name="Text Box 10">
              <a:extLst>
                <a:ext uri="{FF2B5EF4-FFF2-40B4-BE49-F238E27FC236}">
                  <a16:creationId xmlns:a16="http://schemas.microsoft.com/office/drawing/2014/main" id="{61BF515B-0267-4BAA-A34D-9D16A4F8A60F}"/>
                </a:ext>
              </a:extLst>
            </p:cNvPr>
            <p:cNvSpPr txBox="1">
              <a:spLocks noChangeArrowheads="1"/>
            </p:cNvSpPr>
            <p:nvPr/>
          </p:nvSpPr>
          <p:spPr bwMode="auto">
            <a:xfrm>
              <a:off x="1536" y="2496"/>
              <a:ext cx="7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Times New Roman" panose="02020603050405020304" pitchFamily="18" charset="0"/>
                </a:rPr>
                <a:t>Session</a:t>
              </a:r>
            </a:p>
          </p:txBody>
        </p:sp>
        <p:sp>
          <p:nvSpPr>
            <p:cNvPr id="165899" name="Text Box 11">
              <a:extLst>
                <a:ext uri="{FF2B5EF4-FFF2-40B4-BE49-F238E27FC236}">
                  <a16:creationId xmlns:a16="http://schemas.microsoft.com/office/drawing/2014/main" id="{616CFEE4-0D36-43DA-B6E4-0EF66F2EDA92}"/>
                </a:ext>
              </a:extLst>
            </p:cNvPr>
            <p:cNvSpPr txBox="1">
              <a:spLocks noChangeArrowheads="1"/>
            </p:cNvSpPr>
            <p:nvPr/>
          </p:nvSpPr>
          <p:spPr bwMode="auto">
            <a:xfrm>
              <a:off x="1442" y="2784"/>
              <a:ext cx="8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Times New Roman" panose="02020603050405020304" pitchFamily="18" charset="0"/>
                </a:rPr>
                <a:t>Transport</a:t>
              </a:r>
            </a:p>
          </p:txBody>
        </p:sp>
        <p:sp>
          <p:nvSpPr>
            <p:cNvPr id="165900" name="Text Box 12">
              <a:extLst>
                <a:ext uri="{FF2B5EF4-FFF2-40B4-BE49-F238E27FC236}">
                  <a16:creationId xmlns:a16="http://schemas.microsoft.com/office/drawing/2014/main" id="{39D9D20B-4400-4730-B8E1-F6C3950620B0}"/>
                </a:ext>
              </a:extLst>
            </p:cNvPr>
            <p:cNvSpPr txBox="1">
              <a:spLocks noChangeArrowheads="1"/>
            </p:cNvSpPr>
            <p:nvPr/>
          </p:nvSpPr>
          <p:spPr bwMode="auto">
            <a:xfrm>
              <a:off x="1488" y="3072"/>
              <a:ext cx="7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Times New Roman" panose="02020603050405020304" pitchFamily="18" charset="0"/>
                </a:rPr>
                <a:t>Network</a:t>
              </a:r>
            </a:p>
          </p:txBody>
        </p:sp>
        <p:sp>
          <p:nvSpPr>
            <p:cNvPr id="165901" name="Text Box 13">
              <a:extLst>
                <a:ext uri="{FF2B5EF4-FFF2-40B4-BE49-F238E27FC236}">
                  <a16:creationId xmlns:a16="http://schemas.microsoft.com/office/drawing/2014/main" id="{85A09831-C662-4B7E-9CDD-E2301916121F}"/>
                </a:ext>
              </a:extLst>
            </p:cNvPr>
            <p:cNvSpPr txBox="1">
              <a:spLocks noChangeArrowheads="1"/>
            </p:cNvSpPr>
            <p:nvPr/>
          </p:nvSpPr>
          <p:spPr bwMode="auto">
            <a:xfrm>
              <a:off x="1440" y="3456"/>
              <a:ext cx="8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rgbClr val="00FF00"/>
                  </a:solidFill>
                  <a:latin typeface="Times New Roman" panose="02020603050405020304" pitchFamily="18" charset="0"/>
                </a:rPr>
                <a:t>Data Link</a:t>
              </a:r>
            </a:p>
          </p:txBody>
        </p:sp>
        <p:sp>
          <p:nvSpPr>
            <p:cNvPr id="165902" name="Text Box 14">
              <a:extLst>
                <a:ext uri="{FF2B5EF4-FFF2-40B4-BE49-F238E27FC236}">
                  <a16:creationId xmlns:a16="http://schemas.microsoft.com/office/drawing/2014/main" id="{1E6F3CF0-22AD-45BA-96F4-D6B6584C8BC8}"/>
                </a:ext>
              </a:extLst>
            </p:cNvPr>
            <p:cNvSpPr txBox="1">
              <a:spLocks noChangeArrowheads="1"/>
            </p:cNvSpPr>
            <p:nvPr/>
          </p:nvSpPr>
          <p:spPr bwMode="auto">
            <a:xfrm>
              <a:off x="1490" y="3936"/>
              <a:ext cx="7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rgbClr val="00FF00"/>
                  </a:solidFill>
                  <a:latin typeface="Times New Roman" panose="02020603050405020304" pitchFamily="18" charset="0"/>
                </a:rPr>
                <a:t>Physical</a:t>
              </a:r>
            </a:p>
          </p:txBody>
        </p:sp>
        <p:sp>
          <p:nvSpPr>
            <p:cNvPr id="165903" name="Line 15">
              <a:extLst>
                <a:ext uri="{FF2B5EF4-FFF2-40B4-BE49-F238E27FC236}">
                  <a16:creationId xmlns:a16="http://schemas.microsoft.com/office/drawing/2014/main" id="{994B40D6-8FE9-4F48-AE4F-5EB549B06655}"/>
                </a:ext>
              </a:extLst>
            </p:cNvPr>
            <p:cNvSpPr>
              <a:spLocks noChangeShapeType="1"/>
            </p:cNvSpPr>
            <p:nvPr/>
          </p:nvSpPr>
          <p:spPr bwMode="auto">
            <a:xfrm>
              <a:off x="1152" y="2784"/>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5904" name="Line 16">
              <a:extLst>
                <a:ext uri="{FF2B5EF4-FFF2-40B4-BE49-F238E27FC236}">
                  <a16:creationId xmlns:a16="http://schemas.microsoft.com/office/drawing/2014/main" id="{93B02994-A93F-4DDC-88E1-AF2E4B1E3FB9}"/>
                </a:ext>
              </a:extLst>
            </p:cNvPr>
            <p:cNvSpPr>
              <a:spLocks noChangeShapeType="1"/>
            </p:cNvSpPr>
            <p:nvPr/>
          </p:nvSpPr>
          <p:spPr bwMode="auto">
            <a:xfrm>
              <a:off x="1152" y="3072"/>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5905" name="Line 17">
              <a:extLst>
                <a:ext uri="{FF2B5EF4-FFF2-40B4-BE49-F238E27FC236}">
                  <a16:creationId xmlns:a16="http://schemas.microsoft.com/office/drawing/2014/main" id="{379D9930-3123-4F1D-A470-080B4C02952A}"/>
                </a:ext>
              </a:extLst>
            </p:cNvPr>
            <p:cNvSpPr>
              <a:spLocks noChangeShapeType="1"/>
            </p:cNvSpPr>
            <p:nvPr/>
          </p:nvSpPr>
          <p:spPr bwMode="auto">
            <a:xfrm>
              <a:off x="1152" y="3360"/>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5906" name="Line 18">
              <a:extLst>
                <a:ext uri="{FF2B5EF4-FFF2-40B4-BE49-F238E27FC236}">
                  <a16:creationId xmlns:a16="http://schemas.microsoft.com/office/drawing/2014/main" id="{271E86E7-77BC-485C-B65A-5CF96D532417}"/>
                </a:ext>
              </a:extLst>
            </p:cNvPr>
            <p:cNvSpPr>
              <a:spLocks noChangeShapeType="1"/>
            </p:cNvSpPr>
            <p:nvPr/>
          </p:nvSpPr>
          <p:spPr bwMode="auto">
            <a:xfrm>
              <a:off x="1152" y="3792"/>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5907" name="Text Box 19">
              <a:extLst>
                <a:ext uri="{FF2B5EF4-FFF2-40B4-BE49-F238E27FC236}">
                  <a16:creationId xmlns:a16="http://schemas.microsoft.com/office/drawing/2014/main" id="{728C1F16-DE55-454E-8C15-7B6D9979FE68}"/>
                </a:ext>
              </a:extLst>
            </p:cNvPr>
            <p:cNvSpPr txBox="1">
              <a:spLocks noChangeArrowheads="1"/>
            </p:cNvSpPr>
            <p:nvPr/>
          </p:nvSpPr>
          <p:spPr bwMode="auto">
            <a:xfrm>
              <a:off x="230" y="2330"/>
              <a:ext cx="659" cy="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Times New Roman" panose="02020603050405020304" pitchFamily="18" charset="0"/>
                </a:rPr>
                <a:t>ISO</a:t>
              </a:r>
            </a:p>
            <a:p>
              <a:r>
                <a:rPr lang="en-US" altLang="en-US" sz="2400">
                  <a:latin typeface="Times New Roman" panose="02020603050405020304" pitchFamily="18" charset="0"/>
                </a:rPr>
                <a:t>OSI</a:t>
              </a:r>
            </a:p>
            <a:p>
              <a:r>
                <a:rPr lang="en-US" altLang="en-US" sz="2400">
                  <a:latin typeface="Times New Roman" panose="02020603050405020304" pitchFamily="18" charset="0"/>
                </a:rPr>
                <a:t>7-layer</a:t>
              </a:r>
            </a:p>
            <a:p>
              <a:r>
                <a:rPr lang="en-US" altLang="en-US" sz="2400">
                  <a:latin typeface="Times New Roman" panose="02020603050405020304" pitchFamily="18" charset="0"/>
                </a:rPr>
                <a:t>model</a:t>
              </a:r>
            </a:p>
          </p:txBody>
        </p:sp>
      </p:grpSp>
      <p:grpSp>
        <p:nvGrpSpPr>
          <p:cNvPr id="165908" name="Group 20">
            <a:extLst>
              <a:ext uri="{FF2B5EF4-FFF2-40B4-BE49-F238E27FC236}">
                <a16:creationId xmlns:a16="http://schemas.microsoft.com/office/drawing/2014/main" id="{2CE18875-A2AB-468D-B682-E7C7156EAE4A}"/>
              </a:ext>
            </a:extLst>
          </p:cNvPr>
          <p:cNvGrpSpPr>
            <a:grpSpLocks/>
          </p:cNvGrpSpPr>
          <p:nvPr/>
        </p:nvGrpSpPr>
        <p:grpSpPr bwMode="auto">
          <a:xfrm>
            <a:off x="4114800" y="3886200"/>
            <a:ext cx="4578350" cy="2743200"/>
            <a:chOff x="2592" y="2592"/>
            <a:chExt cx="2884" cy="1728"/>
          </a:xfrm>
        </p:grpSpPr>
        <p:sp>
          <p:nvSpPr>
            <p:cNvPr id="165909" name="Rectangle 21">
              <a:extLst>
                <a:ext uri="{FF2B5EF4-FFF2-40B4-BE49-F238E27FC236}">
                  <a16:creationId xmlns:a16="http://schemas.microsoft.com/office/drawing/2014/main" id="{6F9F8323-DF49-4BE3-A8C0-7B62ACA75FEB}"/>
                </a:ext>
              </a:extLst>
            </p:cNvPr>
            <p:cNvSpPr>
              <a:spLocks noChangeArrowheads="1"/>
            </p:cNvSpPr>
            <p:nvPr/>
          </p:nvSpPr>
          <p:spPr bwMode="auto">
            <a:xfrm>
              <a:off x="3504" y="3120"/>
              <a:ext cx="1920" cy="1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5910" name="Line 22">
              <a:extLst>
                <a:ext uri="{FF2B5EF4-FFF2-40B4-BE49-F238E27FC236}">
                  <a16:creationId xmlns:a16="http://schemas.microsoft.com/office/drawing/2014/main" id="{2838941F-692F-4571-B704-F6798AC506B7}"/>
                </a:ext>
              </a:extLst>
            </p:cNvPr>
            <p:cNvSpPr>
              <a:spLocks noChangeShapeType="1"/>
            </p:cNvSpPr>
            <p:nvPr/>
          </p:nvSpPr>
          <p:spPr bwMode="auto">
            <a:xfrm>
              <a:off x="3504" y="3456"/>
              <a:ext cx="19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5911" name="Text Box 23">
              <a:extLst>
                <a:ext uri="{FF2B5EF4-FFF2-40B4-BE49-F238E27FC236}">
                  <a16:creationId xmlns:a16="http://schemas.microsoft.com/office/drawing/2014/main" id="{A9EBCFE6-1513-43D1-8D5F-7D265F3CAA46}"/>
                </a:ext>
              </a:extLst>
            </p:cNvPr>
            <p:cNvSpPr txBox="1">
              <a:spLocks noChangeArrowheads="1"/>
            </p:cNvSpPr>
            <p:nvPr/>
          </p:nvSpPr>
          <p:spPr bwMode="auto">
            <a:xfrm>
              <a:off x="3600" y="3168"/>
              <a:ext cx="17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rgbClr val="00FF00"/>
                  </a:solidFill>
                  <a:latin typeface="Times New Roman" panose="02020603050405020304" pitchFamily="18" charset="0"/>
                </a:rPr>
                <a:t>Logical Link Control</a:t>
              </a:r>
            </a:p>
          </p:txBody>
        </p:sp>
        <p:sp>
          <p:nvSpPr>
            <p:cNvPr id="165912" name="Text Box 24">
              <a:extLst>
                <a:ext uri="{FF2B5EF4-FFF2-40B4-BE49-F238E27FC236}">
                  <a16:creationId xmlns:a16="http://schemas.microsoft.com/office/drawing/2014/main" id="{C316DD88-EF51-4F96-A6CC-D00671A6B609}"/>
                </a:ext>
              </a:extLst>
            </p:cNvPr>
            <p:cNvSpPr txBox="1">
              <a:spLocks noChangeArrowheads="1"/>
            </p:cNvSpPr>
            <p:nvPr/>
          </p:nvSpPr>
          <p:spPr bwMode="auto">
            <a:xfrm>
              <a:off x="3504" y="3504"/>
              <a:ext cx="19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rgbClr val="00FF00"/>
                  </a:solidFill>
                  <a:latin typeface="Times New Roman" panose="02020603050405020304" pitchFamily="18" charset="0"/>
                </a:rPr>
                <a:t>Medium Access (MAC)</a:t>
              </a:r>
            </a:p>
          </p:txBody>
        </p:sp>
        <p:sp>
          <p:nvSpPr>
            <p:cNvPr id="165913" name="Text Box 25">
              <a:extLst>
                <a:ext uri="{FF2B5EF4-FFF2-40B4-BE49-F238E27FC236}">
                  <a16:creationId xmlns:a16="http://schemas.microsoft.com/office/drawing/2014/main" id="{1F738FFF-51C8-4FE8-8995-32C165E788FB}"/>
                </a:ext>
              </a:extLst>
            </p:cNvPr>
            <p:cNvSpPr txBox="1">
              <a:spLocks noChangeArrowheads="1"/>
            </p:cNvSpPr>
            <p:nvPr/>
          </p:nvSpPr>
          <p:spPr bwMode="auto">
            <a:xfrm>
              <a:off x="3600" y="3936"/>
              <a:ext cx="13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rgbClr val="00FF00"/>
                  </a:solidFill>
                  <a:latin typeface="Times New Roman" panose="02020603050405020304" pitchFamily="18" charset="0"/>
                </a:rPr>
                <a:t>Physical (PHY)</a:t>
              </a:r>
            </a:p>
          </p:txBody>
        </p:sp>
        <p:sp>
          <p:nvSpPr>
            <p:cNvPr id="165914" name="Line 26">
              <a:extLst>
                <a:ext uri="{FF2B5EF4-FFF2-40B4-BE49-F238E27FC236}">
                  <a16:creationId xmlns:a16="http://schemas.microsoft.com/office/drawing/2014/main" id="{5AC9ED2D-9699-4AE8-803E-A58409F56726}"/>
                </a:ext>
              </a:extLst>
            </p:cNvPr>
            <p:cNvSpPr>
              <a:spLocks noChangeShapeType="1"/>
            </p:cNvSpPr>
            <p:nvPr/>
          </p:nvSpPr>
          <p:spPr bwMode="auto">
            <a:xfrm>
              <a:off x="3504" y="3840"/>
              <a:ext cx="19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5915" name="AutoShape 27">
              <a:extLst>
                <a:ext uri="{FF2B5EF4-FFF2-40B4-BE49-F238E27FC236}">
                  <a16:creationId xmlns:a16="http://schemas.microsoft.com/office/drawing/2014/main" id="{1FE6EDCC-3A07-4987-A941-1DB0E6A1A57F}"/>
                </a:ext>
              </a:extLst>
            </p:cNvPr>
            <p:cNvSpPr>
              <a:spLocks/>
            </p:cNvSpPr>
            <p:nvPr/>
          </p:nvSpPr>
          <p:spPr bwMode="auto">
            <a:xfrm>
              <a:off x="2592" y="3408"/>
              <a:ext cx="240" cy="912"/>
            </a:xfrm>
            <a:prstGeom prst="rightBrace">
              <a:avLst>
                <a:gd name="adj1" fmla="val 31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5916" name="AutoShape 28">
              <a:extLst>
                <a:ext uri="{FF2B5EF4-FFF2-40B4-BE49-F238E27FC236}">
                  <a16:creationId xmlns:a16="http://schemas.microsoft.com/office/drawing/2014/main" id="{2791A0B8-7525-476C-A31A-6B1DABD13425}"/>
                </a:ext>
              </a:extLst>
            </p:cNvPr>
            <p:cNvSpPr>
              <a:spLocks/>
            </p:cNvSpPr>
            <p:nvPr/>
          </p:nvSpPr>
          <p:spPr bwMode="auto">
            <a:xfrm>
              <a:off x="3264" y="3120"/>
              <a:ext cx="192" cy="1200"/>
            </a:xfrm>
            <a:prstGeom prst="leftBrace">
              <a:avLst>
                <a:gd name="adj1" fmla="val 5208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5917" name="AutoShape 29">
              <a:extLst>
                <a:ext uri="{FF2B5EF4-FFF2-40B4-BE49-F238E27FC236}">
                  <a16:creationId xmlns:a16="http://schemas.microsoft.com/office/drawing/2014/main" id="{50C29635-D2C0-49D5-BF8F-532F9FFB2FEF}"/>
                </a:ext>
              </a:extLst>
            </p:cNvPr>
            <p:cNvSpPr>
              <a:spLocks noChangeArrowheads="1"/>
            </p:cNvSpPr>
            <p:nvPr/>
          </p:nvSpPr>
          <p:spPr bwMode="auto">
            <a:xfrm>
              <a:off x="2880" y="3600"/>
              <a:ext cx="384" cy="306"/>
            </a:xfrm>
            <a:prstGeom prst="leftRightArrow">
              <a:avLst>
                <a:gd name="adj1" fmla="val 50000"/>
                <a:gd name="adj2" fmla="val 2509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5918" name="Text Box 30">
              <a:extLst>
                <a:ext uri="{FF2B5EF4-FFF2-40B4-BE49-F238E27FC236}">
                  <a16:creationId xmlns:a16="http://schemas.microsoft.com/office/drawing/2014/main" id="{F72D2993-B392-47BC-9EF4-91D8EA6B5D71}"/>
                </a:ext>
              </a:extLst>
            </p:cNvPr>
            <p:cNvSpPr txBox="1">
              <a:spLocks noChangeArrowheads="1"/>
            </p:cNvSpPr>
            <p:nvPr/>
          </p:nvSpPr>
          <p:spPr bwMode="auto">
            <a:xfrm>
              <a:off x="3984" y="2592"/>
              <a:ext cx="867"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Times New Roman" panose="02020603050405020304" pitchFamily="18" charset="0"/>
                </a:rPr>
                <a:t>IEEE 802</a:t>
              </a:r>
            </a:p>
            <a:p>
              <a:r>
                <a:rPr lang="en-US" altLang="en-US" sz="2400">
                  <a:latin typeface="Times New Roman" panose="02020603050405020304" pitchFamily="18" charset="0"/>
                </a:rPr>
                <a:t>standards</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589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59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230C11C4-E0EF-4CEA-AD3C-D78EB0732157}"/>
              </a:ext>
            </a:extLst>
          </p:cNvPr>
          <p:cNvSpPr>
            <a:spLocks noGrp="1" noChangeArrowheads="1"/>
          </p:cNvSpPr>
          <p:nvPr>
            <p:ph type="title"/>
          </p:nvPr>
        </p:nvSpPr>
        <p:spPr/>
        <p:txBody>
          <a:bodyPr/>
          <a:lstStyle/>
          <a:p>
            <a:r>
              <a:rPr lang="en-US" altLang="en-US"/>
              <a:t>IEEE 802.11 Overview</a:t>
            </a:r>
          </a:p>
        </p:txBody>
      </p:sp>
      <p:sp>
        <p:nvSpPr>
          <p:cNvPr id="146435" name="Rectangle 3">
            <a:extLst>
              <a:ext uri="{FF2B5EF4-FFF2-40B4-BE49-F238E27FC236}">
                <a16:creationId xmlns:a16="http://schemas.microsoft.com/office/drawing/2014/main" id="{67144A8C-D783-49A0-8217-7FC6446FC393}"/>
              </a:ext>
            </a:extLst>
          </p:cNvPr>
          <p:cNvSpPr>
            <a:spLocks noGrp="1" noChangeArrowheads="1"/>
          </p:cNvSpPr>
          <p:nvPr>
            <p:ph type="body" sz="half" idx="1"/>
          </p:nvPr>
        </p:nvSpPr>
        <p:spPr>
          <a:xfrm>
            <a:off x="457200" y="1719263"/>
            <a:ext cx="4040188" cy="4411662"/>
          </a:xfrm>
        </p:spPr>
        <p:txBody>
          <a:bodyPr/>
          <a:lstStyle/>
          <a:p>
            <a:r>
              <a:rPr lang="en-US" altLang="en-US" sz="2600"/>
              <a:t>Adopted in 1997.</a:t>
            </a:r>
          </a:p>
          <a:p>
            <a:pPr>
              <a:buFont typeface="Wingdings" panose="05000000000000000000" pitchFamily="2" charset="2"/>
              <a:buNone/>
            </a:pPr>
            <a:r>
              <a:rPr lang="en-US" altLang="en-US" sz="2600">
                <a:solidFill>
                  <a:schemeClr val="hlink"/>
                </a:solidFill>
              </a:rPr>
              <a:t>Defines;</a:t>
            </a:r>
          </a:p>
          <a:p>
            <a:r>
              <a:rPr lang="en-US" altLang="en-US" sz="2600"/>
              <a:t>MAC sublayer </a:t>
            </a:r>
          </a:p>
          <a:p>
            <a:r>
              <a:rPr lang="en-US" altLang="en-US" sz="2600"/>
              <a:t>MAC management protocols and services</a:t>
            </a:r>
          </a:p>
          <a:p>
            <a:r>
              <a:rPr lang="en-US" altLang="en-US" sz="2600"/>
              <a:t>Physical (PHY) layers</a:t>
            </a:r>
          </a:p>
          <a:p>
            <a:pPr lvl="1"/>
            <a:r>
              <a:rPr lang="en-US" altLang="en-US" sz="2200"/>
              <a:t>IR </a:t>
            </a:r>
          </a:p>
          <a:p>
            <a:pPr lvl="1"/>
            <a:r>
              <a:rPr lang="en-US" altLang="en-US" sz="2200"/>
              <a:t>FHSS</a:t>
            </a:r>
          </a:p>
          <a:p>
            <a:pPr lvl="1"/>
            <a:r>
              <a:rPr lang="en-US" altLang="en-US" sz="2200"/>
              <a:t>DSSS </a:t>
            </a:r>
          </a:p>
        </p:txBody>
      </p:sp>
      <p:sp>
        <p:nvSpPr>
          <p:cNvPr id="146437" name="Text Box 5">
            <a:extLst>
              <a:ext uri="{FF2B5EF4-FFF2-40B4-BE49-F238E27FC236}">
                <a16:creationId xmlns:a16="http://schemas.microsoft.com/office/drawing/2014/main" id="{08EB34FB-0672-4186-9ADC-81878B7ABBB1}"/>
              </a:ext>
            </a:extLst>
          </p:cNvPr>
          <p:cNvSpPr txBox="1">
            <a:spLocks noChangeArrowheads="1"/>
          </p:cNvSpPr>
          <p:nvPr/>
        </p:nvSpPr>
        <p:spPr bwMode="auto">
          <a:xfrm>
            <a:off x="4267200" y="1752600"/>
            <a:ext cx="4645025" cy="17399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Goals</a:t>
            </a:r>
          </a:p>
          <a:p>
            <a:pPr>
              <a:buFontTx/>
              <a:buChar char="•"/>
            </a:pPr>
            <a:r>
              <a:rPr lang="en-US" altLang="en-US"/>
              <a:t>To deliver services in wired networks</a:t>
            </a:r>
          </a:p>
          <a:p>
            <a:pPr>
              <a:buFontTx/>
              <a:buChar char="•"/>
            </a:pPr>
            <a:r>
              <a:rPr lang="en-US" altLang="en-US"/>
              <a:t>To achieve high throughput</a:t>
            </a:r>
          </a:p>
          <a:p>
            <a:pPr>
              <a:buFontTx/>
              <a:buChar char="•"/>
            </a:pPr>
            <a:r>
              <a:rPr lang="en-US" altLang="en-US"/>
              <a:t>To achieve highly reliable data delivery</a:t>
            </a:r>
          </a:p>
          <a:p>
            <a:pPr>
              <a:buFontTx/>
              <a:buChar char="•"/>
            </a:pPr>
            <a:r>
              <a:rPr lang="en-US" altLang="en-US"/>
              <a:t>To achieve continuous network connection.</a:t>
            </a:r>
          </a:p>
          <a:p>
            <a:pPr>
              <a:buFontTx/>
              <a:buChar char="•"/>
            </a:pPr>
            <a:endParaRPr lang="en-US" alt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FB8A9E77-E726-43D9-8A63-639098118E43}"/>
              </a:ext>
            </a:extLst>
          </p:cNvPr>
          <p:cNvSpPr>
            <a:spLocks noGrp="1" noChangeArrowheads="1"/>
          </p:cNvSpPr>
          <p:nvPr>
            <p:ph type="title"/>
          </p:nvPr>
        </p:nvSpPr>
        <p:spPr/>
        <p:txBody>
          <a:bodyPr/>
          <a:lstStyle/>
          <a:p>
            <a:r>
              <a:rPr lang="en-US" altLang="en-US"/>
              <a:t>Components	</a:t>
            </a:r>
          </a:p>
        </p:txBody>
      </p:sp>
      <p:sp>
        <p:nvSpPr>
          <p:cNvPr id="147459" name="Rectangle 3">
            <a:extLst>
              <a:ext uri="{FF2B5EF4-FFF2-40B4-BE49-F238E27FC236}">
                <a16:creationId xmlns:a16="http://schemas.microsoft.com/office/drawing/2014/main" id="{B61F2859-D45A-4CFE-95F2-C6874CE77084}"/>
              </a:ext>
            </a:extLst>
          </p:cNvPr>
          <p:cNvSpPr>
            <a:spLocks noGrp="1" noChangeArrowheads="1"/>
          </p:cNvSpPr>
          <p:nvPr>
            <p:ph type="body" sz="half" idx="1"/>
          </p:nvPr>
        </p:nvSpPr>
        <p:spPr>
          <a:xfrm>
            <a:off x="152400" y="1371600"/>
            <a:ext cx="8763000" cy="4759325"/>
          </a:xfrm>
        </p:spPr>
        <p:txBody>
          <a:bodyPr/>
          <a:lstStyle/>
          <a:p>
            <a:r>
              <a:rPr lang="en-US" altLang="en-US" sz="2600"/>
              <a:t>Station</a:t>
            </a:r>
          </a:p>
          <a:p>
            <a:r>
              <a:rPr lang="en-US" altLang="en-US" sz="2600"/>
              <a:t>BSS - Basic Service Set</a:t>
            </a:r>
          </a:p>
          <a:p>
            <a:pPr lvl="1"/>
            <a:r>
              <a:rPr lang="en-US" altLang="en-US" sz="2200"/>
              <a:t>IBSS </a:t>
            </a:r>
            <a:r>
              <a:rPr lang="en-US" altLang="en-US" sz="2400"/>
              <a:t>:</a:t>
            </a:r>
            <a:r>
              <a:rPr lang="en-US" altLang="en-US" sz="2200"/>
              <a:t> Infrastructure BSS </a:t>
            </a:r>
            <a:r>
              <a:rPr lang="en-US" altLang="en-US" sz="2400"/>
              <a:t>: </a:t>
            </a:r>
            <a:r>
              <a:rPr lang="en-US" altLang="en-US" sz="2200"/>
              <a:t>QBSS</a:t>
            </a:r>
          </a:p>
          <a:p>
            <a:r>
              <a:rPr lang="en-US" altLang="en-US" sz="2600"/>
              <a:t>ESS - Extended Service Set</a:t>
            </a:r>
          </a:p>
          <a:p>
            <a:pPr lvl="1"/>
            <a:r>
              <a:rPr lang="en-US" altLang="en-US" sz="2200"/>
              <a:t>A set of infrastrucute BSSs.</a:t>
            </a:r>
          </a:p>
          <a:p>
            <a:pPr lvl="1"/>
            <a:r>
              <a:rPr lang="en-US" altLang="en-US" sz="2200"/>
              <a:t>Connection of APs</a:t>
            </a:r>
          </a:p>
          <a:p>
            <a:pPr lvl="1"/>
            <a:r>
              <a:rPr lang="en-US" altLang="en-US" sz="2200"/>
              <a:t>Tracking of mobility</a:t>
            </a:r>
          </a:p>
          <a:p>
            <a:r>
              <a:rPr lang="en-US" altLang="en-US" sz="2600"/>
              <a:t>DS – Distribution System</a:t>
            </a:r>
          </a:p>
          <a:p>
            <a:pPr lvl="1"/>
            <a:r>
              <a:rPr lang="en-US" altLang="en-US" sz="2200"/>
              <a:t>AP communicates with another</a:t>
            </a:r>
          </a:p>
          <a:p>
            <a:pPr lvl="1"/>
            <a:endParaRPr lang="en-US" altLang="en-US" sz="220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EEDC66B9-3B5C-4035-8FA7-42DF0CAC27D1}"/>
              </a:ext>
            </a:extLst>
          </p:cNvPr>
          <p:cNvSpPr>
            <a:spLocks noGrp="1" noChangeArrowheads="1"/>
          </p:cNvSpPr>
          <p:nvPr>
            <p:ph type="title"/>
          </p:nvPr>
        </p:nvSpPr>
        <p:spPr/>
        <p:txBody>
          <a:bodyPr/>
          <a:lstStyle/>
          <a:p>
            <a:r>
              <a:rPr lang="en-US" altLang="en-US"/>
              <a:t>Services</a:t>
            </a:r>
          </a:p>
        </p:txBody>
      </p:sp>
      <p:sp>
        <p:nvSpPr>
          <p:cNvPr id="148483" name="Rectangle 3">
            <a:extLst>
              <a:ext uri="{FF2B5EF4-FFF2-40B4-BE49-F238E27FC236}">
                <a16:creationId xmlns:a16="http://schemas.microsoft.com/office/drawing/2014/main" id="{FB552EE8-DF85-4646-B315-83B9C77898E8}"/>
              </a:ext>
            </a:extLst>
          </p:cNvPr>
          <p:cNvSpPr>
            <a:spLocks noGrp="1" noChangeArrowheads="1"/>
          </p:cNvSpPr>
          <p:nvPr>
            <p:ph type="body" sz="half" idx="1"/>
          </p:nvPr>
        </p:nvSpPr>
        <p:spPr>
          <a:xfrm>
            <a:off x="457200" y="1719263"/>
            <a:ext cx="8305800" cy="4411662"/>
          </a:xfrm>
        </p:spPr>
        <p:txBody>
          <a:bodyPr/>
          <a:lstStyle/>
          <a:p>
            <a:pPr>
              <a:lnSpc>
                <a:spcPct val="90000"/>
              </a:lnSpc>
            </a:pPr>
            <a:r>
              <a:rPr lang="en-US" altLang="en-US" sz="2600"/>
              <a:t>Station services: </a:t>
            </a:r>
          </a:p>
          <a:p>
            <a:pPr lvl="1">
              <a:lnSpc>
                <a:spcPct val="90000"/>
              </a:lnSpc>
            </a:pPr>
            <a:r>
              <a:rPr lang="en-US" altLang="en-US" sz="2200"/>
              <a:t>authentication, </a:t>
            </a:r>
          </a:p>
          <a:p>
            <a:pPr lvl="1">
              <a:lnSpc>
                <a:spcPct val="90000"/>
              </a:lnSpc>
            </a:pPr>
            <a:r>
              <a:rPr lang="en-US" altLang="en-US" sz="2200"/>
              <a:t>de-authentication, </a:t>
            </a:r>
          </a:p>
          <a:p>
            <a:pPr lvl="1">
              <a:lnSpc>
                <a:spcPct val="90000"/>
              </a:lnSpc>
            </a:pPr>
            <a:r>
              <a:rPr lang="en-US" altLang="en-US" sz="2200"/>
              <a:t>privacy, </a:t>
            </a:r>
          </a:p>
          <a:p>
            <a:pPr lvl="1">
              <a:lnSpc>
                <a:spcPct val="90000"/>
              </a:lnSpc>
            </a:pPr>
            <a:r>
              <a:rPr lang="en-US" altLang="en-US" sz="2200"/>
              <a:t>delivery of data</a:t>
            </a:r>
          </a:p>
          <a:p>
            <a:pPr>
              <a:lnSpc>
                <a:spcPct val="90000"/>
              </a:lnSpc>
            </a:pPr>
            <a:r>
              <a:rPr lang="en-US" altLang="en-US" sz="2600"/>
              <a:t>Distribution Services </a:t>
            </a:r>
            <a:r>
              <a:rPr lang="en-US" altLang="en-US" sz="1400" i="1"/>
              <a:t>( A thin layer between MAC and LLC sublayer)</a:t>
            </a:r>
          </a:p>
          <a:p>
            <a:pPr lvl="1">
              <a:lnSpc>
                <a:spcPct val="90000"/>
              </a:lnSpc>
            </a:pPr>
            <a:r>
              <a:rPr lang="en-US" altLang="en-US" sz="2200"/>
              <a:t>association</a:t>
            </a:r>
          </a:p>
          <a:p>
            <a:pPr lvl="1">
              <a:lnSpc>
                <a:spcPct val="90000"/>
              </a:lnSpc>
            </a:pPr>
            <a:r>
              <a:rPr lang="en-US" altLang="en-US" sz="2200"/>
              <a:t>disassociation</a:t>
            </a:r>
          </a:p>
          <a:p>
            <a:pPr lvl="1">
              <a:lnSpc>
                <a:spcPct val="90000"/>
              </a:lnSpc>
            </a:pPr>
            <a:r>
              <a:rPr lang="en-US" altLang="en-US" sz="2200"/>
              <a:t>reassociation</a:t>
            </a:r>
          </a:p>
          <a:p>
            <a:pPr lvl="1">
              <a:lnSpc>
                <a:spcPct val="90000"/>
              </a:lnSpc>
            </a:pPr>
            <a:r>
              <a:rPr lang="en-US" altLang="en-US" sz="2200"/>
              <a:t>distribution</a:t>
            </a:r>
          </a:p>
          <a:p>
            <a:pPr lvl="1">
              <a:lnSpc>
                <a:spcPct val="90000"/>
              </a:lnSpc>
            </a:pPr>
            <a:r>
              <a:rPr lang="en-US" altLang="en-US" sz="2200"/>
              <a:t>Integration</a:t>
            </a:r>
          </a:p>
          <a:p>
            <a:pPr>
              <a:lnSpc>
                <a:spcPct val="90000"/>
              </a:lnSpc>
            </a:pPr>
            <a:endParaRPr lang="en-US" altLang="en-US" sz="2600"/>
          </a:p>
        </p:txBody>
      </p:sp>
      <p:sp>
        <p:nvSpPr>
          <p:cNvPr id="148485" name="Text Box 5">
            <a:extLst>
              <a:ext uri="{FF2B5EF4-FFF2-40B4-BE49-F238E27FC236}">
                <a16:creationId xmlns:a16="http://schemas.microsoft.com/office/drawing/2014/main" id="{118CA78E-B207-4BDC-A83F-0CA45464BE0B}"/>
              </a:ext>
            </a:extLst>
          </p:cNvPr>
          <p:cNvSpPr txBox="1">
            <a:spLocks noChangeArrowheads="1"/>
          </p:cNvSpPr>
          <p:nvPr/>
        </p:nvSpPr>
        <p:spPr bwMode="auto">
          <a:xfrm>
            <a:off x="4800600" y="4648200"/>
            <a:ext cx="3733800" cy="11922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A station maintain two variables:</a:t>
            </a:r>
          </a:p>
          <a:p>
            <a:pPr>
              <a:spcBef>
                <a:spcPct val="50000"/>
              </a:spcBef>
              <a:buFontTx/>
              <a:buChar char="•"/>
            </a:pPr>
            <a:r>
              <a:rPr lang="en-US" altLang="en-US"/>
              <a:t> authentication state  (=&gt; 1)</a:t>
            </a:r>
          </a:p>
          <a:p>
            <a:pPr>
              <a:spcBef>
                <a:spcPct val="50000"/>
              </a:spcBef>
              <a:buFontTx/>
              <a:buChar char="•"/>
            </a:pPr>
            <a:r>
              <a:rPr lang="en-US" altLang="en-US"/>
              <a:t> association state       (&lt;= 1)</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6171974B-B0BA-4DFD-B3D2-A541A743BD7C}"/>
              </a:ext>
            </a:extLst>
          </p:cNvPr>
          <p:cNvSpPr>
            <a:spLocks noGrp="1" noChangeArrowheads="1"/>
          </p:cNvSpPr>
          <p:nvPr>
            <p:ph type="title"/>
          </p:nvPr>
        </p:nvSpPr>
        <p:spPr/>
        <p:txBody>
          <a:bodyPr/>
          <a:lstStyle/>
          <a:p>
            <a:r>
              <a:rPr lang="en-US" altLang="en-US"/>
              <a:t>Medium Access Control</a:t>
            </a:r>
          </a:p>
        </p:txBody>
      </p:sp>
      <p:sp>
        <p:nvSpPr>
          <p:cNvPr id="150531" name="Rectangle 3">
            <a:extLst>
              <a:ext uri="{FF2B5EF4-FFF2-40B4-BE49-F238E27FC236}">
                <a16:creationId xmlns:a16="http://schemas.microsoft.com/office/drawing/2014/main" id="{5C1A79DE-3FCA-4360-B54E-85C2BD50B18E}"/>
              </a:ext>
            </a:extLst>
          </p:cNvPr>
          <p:cNvSpPr>
            <a:spLocks noGrp="1" noChangeArrowheads="1"/>
          </p:cNvSpPr>
          <p:nvPr>
            <p:ph type="body" sz="half" idx="1"/>
          </p:nvPr>
        </p:nvSpPr>
        <p:spPr>
          <a:xfrm>
            <a:off x="457200" y="1719263"/>
            <a:ext cx="5943600" cy="4411662"/>
          </a:xfrm>
        </p:spPr>
        <p:txBody>
          <a:bodyPr/>
          <a:lstStyle/>
          <a:p>
            <a:pPr>
              <a:lnSpc>
                <a:spcPct val="90000"/>
              </a:lnSpc>
              <a:buFont typeface="Wingdings" panose="05000000000000000000" pitchFamily="2" charset="2"/>
              <a:buNone/>
            </a:pPr>
            <a:r>
              <a:rPr lang="en-US" altLang="en-US" sz="2200"/>
              <a:t>Functionality;</a:t>
            </a:r>
          </a:p>
          <a:p>
            <a:pPr>
              <a:lnSpc>
                <a:spcPct val="90000"/>
              </a:lnSpc>
            </a:pPr>
            <a:r>
              <a:rPr lang="en-US" altLang="en-US" sz="2200"/>
              <a:t>Reliable data delivery</a:t>
            </a:r>
          </a:p>
          <a:p>
            <a:pPr>
              <a:lnSpc>
                <a:spcPct val="90000"/>
              </a:lnSpc>
            </a:pPr>
            <a:r>
              <a:rPr lang="en-US" altLang="en-US" sz="2200"/>
              <a:t>Fairly control access </a:t>
            </a:r>
          </a:p>
          <a:p>
            <a:pPr>
              <a:lnSpc>
                <a:spcPct val="90000"/>
              </a:lnSpc>
            </a:pPr>
            <a:r>
              <a:rPr lang="en-US" altLang="en-US" sz="2200"/>
              <a:t>Protection of data</a:t>
            </a:r>
          </a:p>
          <a:p>
            <a:pPr>
              <a:lnSpc>
                <a:spcPct val="90000"/>
              </a:lnSpc>
              <a:buFont typeface="Wingdings" panose="05000000000000000000" pitchFamily="2" charset="2"/>
              <a:buNone/>
            </a:pPr>
            <a:r>
              <a:rPr lang="en-US" altLang="en-US" sz="2200"/>
              <a:t>Deals;</a:t>
            </a:r>
          </a:p>
          <a:p>
            <a:pPr>
              <a:lnSpc>
                <a:spcPct val="90000"/>
              </a:lnSpc>
            </a:pPr>
            <a:r>
              <a:rPr lang="en-US" altLang="en-US" sz="2200"/>
              <a:t>Noisy and unreliable medium</a:t>
            </a:r>
          </a:p>
          <a:p>
            <a:pPr>
              <a:lnSpc>
                <a:spcPct val="90000"/>
              </a:lnSpc>
            </a:pPr>
            <a:r>
              <a:rPr lang="en-US" altLang="en-US" sz="2200"/>
              <a:t>Frame exchange protocol - ACK</a:t>
            </a:r>
          </a:p>
          <a:p>
            <a:pPr>
              <a:lnSpc>
                <a:spcPct val="90000"/>
              </a:lnSpc>
            </a:pPr>
            <a:r>
              <a:rPr lang="en-US" altLang="en-US" sz="2200"/>
              <a:t>Overhead to IEEE 802.3 - </a:t>
            </a:r>
          </a:p>
          <a:p>
            <a:pPr>
              <a:lnSpc>
                <a:spcPct val="90000"/>
              </a:lnSpc>
            </a:pPr>
            <a:r>
              <a:rPr lang="en-US" altLang="en-US" sz="2200"/>
              <a:t>Hidden Node Problem – RTS/CTS</a:t>
            </a:r>
          </a:p>
          <a:p>
            <a:pPr>
              <a:lnSpc>
                <a:spcPct val="90000"/>
              </a:lnSpc>
            </a:pPr>
            <a:r>
              <a:rPr lang="en-US" altLang="en-US" sz="2200"/>
              <a:t>Participation of all stations</a:t>
            </a:r>
          </a:p>
          <a:p>
            <a:pPr>
              <a:lnSpc>
                <a:spcPct val="90000"/>
              </a:lnSpc>
            </a:pPr>
            <a:r>
              <a:rPr lang="en-US" altLang="en-US" sz="2200"/>
              <a:t>Reaction to every frame</a:t>
            </a:r>
          </a:p>
          <a:p>
            <a:pPr>
              <a:lnSpc>
                <a:spcPct val="90000"/>
              </a:lnSpc>
              <a:buFont typeface="Wingdings" panose="05000000000000000000" pitchFamily="2" charset="2"/>
              <a:buNone/>
            </a:pPr>
            <a:endParaRPr lang="en-US" altLang="en-US" sz="220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a:extLst>
              <a:ext uri="{FF2B5EF4-FFF2-40B4-BE49-F238E27FC236}">
                <a16:creationId xmlns:a16="http://schemas.microsoft.com/office/drawing/2014/main" id="{4AD15452-8397-4999-AFCA-5201F05B720D}"/>
              </a:ext>
            </a:extLst>
          </p:cNvPr>
          <p:cNvSpPr>
            <a:spLocks noGrp="1" noChangeArrowheads="1"/>
          </p:cNvSpPr>
          <p:nvPr>
            <p:ph type="title"/>
          </p:nvPr>
        </p:nvSpPr>
        <p:spPr/>
        <p:txBody>
          <a:bodyPr/>
          <a:lstStyle/>
          <a:p>
            <a:r>
              <a:rPr lang="en-US" altLang="en-US"/>
              <a:t>MAC	</a:t>
            </a:r>
          </a:p>
        </p:txBody>
      </p:sp>
      <p:sp>
        <p:nvSpPr>
          <p:cNvPr id="151555" name="Rectangle 3">
            <a:extLst>
              <a:ext uri="{FF2B5EF4-FFF2-40B4-BE49-F238E27FC236}">
                <a16:creationId xmlns:a16="http://schemas.microsoft.com/office/drawing/2014/main" id="{494EE0A4-CCE5-414D-B812-227EBE6DA291}"/>
              </a:ext>
            </a:extLst>
          </p:cNvPr>
          <p:cNvSpPr>
            <a:spLocks noGrp="1" noChangeArrowheads="1"/>
          </p:cNvSpPr>
          <p:nvPr>
            <p:ph type="body" sz="half" idx="1"/>
          </p:nvPr>
        </p:nvSpPr>
        <p:spPr>
          <a:xfrm>
            <a:off x="457200" y="1719263"/>
            <a:ext cx="8305800" cy="4411662"/>
          </a:xfrm>
        </p:spPr>
        <p:txBody>
          <a:bodyPr/>
          <a:lstStyle/>
          <a:p>
            <a:pPr>
              <a:lnSpc>
                <a:spcPct val="90000"/>
              </a:lnSpc>
            </a:pPr>
            <a:r>
              <a:rPr lang="en-US" altLang="en-US" sz="2600"/>
              <a:t>Retry Counters</a:t>
            </a:r>
          </a:p>
          <a:p>
            <a:pPr lvl="1">
              <a:lnSpc>
                <a:spcPct val="90000"/>
              </a:lnSpc>
            </a:pPr>
            <a:r>
              <a:rPr lang="en-US" altLang="en-US" sz="2200"/>
              <a:t>Short retry counter</a:t>
            </a:r>
          </a:p>
          <a:p>
            <a:pPr lvl="1">
              <a:lnSpc>
                <a:spcPct val="90000"/>
              </a:lnSpc>
            </a:pPr>
            <a:r>
              <a:rPr lang="en-US" altLang="en-US" sz="2200"/>
              <a:t>Long retry counter</a:t>
            </a:r>
          </a:p>
          <a:p>
            <a:pPr lvl="1">
              <a:lnSpc>
                <a:spcPct val="90000"/>
              </a:lnSpc>
            </a:pPr>
            <a:r>
              <a:rPr lang="en-US" altLang="en-US" sz="2200"/>
              <a:t>Lifetime timer</a:t>
            </a:r>
          </a:p>
          <a:p>
            <a:pPr>
              <a:lnSpc>
                <a:spcPct val="90000"/>
              </a:lnSpc>
            </a:pPr>
            <a:r>
              <a:rPr lang="en-US" altLang="en-US" sz="2600"/>
              <a:t>Basic Access Mechanism</a:t>
            </a:r>
          </a:p>
          <a:p>
            <a:pPr lvl="1">
              <a:lnSpc>
                <a:spcPct val="90000"/>
              </a:lnSpc>
            </a:pPr>
            <a:r>
              <a:rPr lang="en-US" altLang="en-US" sz="2200"/>
              <a:t>CSMA/CA</a:t>
            </a:r>
          </a:p>
          <a:p>
            <a:pPr lvl="1">
              <a:lnSpc>
                <a:spcPct val="90000"/>
              </a:lnSpc>
            </a:pPr>
            <a:r>
              <a:rPr lang="en-US" altLang="en-US" sz="2200"/>
              <a:t>Binary exponential back-off</a:t>
            </a:r>
          </a:p>
          <a:p>
            <a:pPr lvl="1">
              <a:lnSpc>
                <a:spcPct val="90000"/>
              </a:lnSpc>
            </a:pPr>
            <a:r>
              <a:rPr lang="en-US" altLang="en-US" sz="2200"/>
              <a:t>NAV – Network Allocation Vector</a:t>
            </a:r>
          </a:p>
          <a:p>
            <a:pPr>
              <a:lnSpc>
                <a:spcPct val="90000"/>
              </a:lnSpc>
            </a:pPr>
            <a:r>
              <a:rPr lang="en-US" altLang="en-US" sz="2600"/>
              <a:t>Timing Intervals: SIFS, Slot Time, PIFS, DIFS, EIFS</a:t>
            </a:r>
          </a:p>
          <a:p>
            <a:pPr>
              <a:lnSpc>
                <a:spcPct val="90000"/>
              </a:lnSpc>
            </a:pPr>
            <a:r>
              <a:rPr lang="en-US" altLang="en-US" sz="2600"/>
              <a:t>DCF Operation</a:t>
            </a:r>
          </a:p>
          <a:p>
            <a:pPr>
              <a:lnSpc>
                <a:spcPct val="90000"/>
              </a:lnSpc>
            </a:pPr>
            <a:r>
              <a:rPr lang="en-US" altLang="en-US" sz="2600"/>
              <a:t>PCF Operation</a:t>
            </a:r>
          </a:p>
          <a:p>
            <a:pPr>
              <a:lnSpc>
                <a:spcPct val="90000"/>
              </a:lnSpc>
            </a:pPr>
            <a:endParaRPr lang="en-US" altLang="en-US" sz="260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E43DD5B1-E46D-44C9-A7C3-9B2B20E3EFE7}"/>
              </a:ext>
            </a:extLst>
          </p:cNvPr>
          <p:cNvSpPr>
            <a:spLocks noGrp="1" noChangeArrowheads="1"/>
          </p:cNvSpPr>
          <p:nvPr>
            <p:ph type="title"/>
          </p:nvPr>
        </p:nvSpPr>
        <p:spPr/>
        <p:txBody>
          <a:bodyPr/>
          <a:lstStyle/>
          <a:p>
            <a:r>
              <a:rPr lang="en-US" altLang="en-US"/>
              <a:t>PCF Operation</a:t>
            </a:r>
          </a:p>
        </p:txBody>
      </p:sp>
      <p:sp>
        <p:nvSpPr>
          <p:cNvPr id="153603" name="Rectangle 3">
            <a:extLst>
              <a:ext uri="{FF2B5EF4-FFF2-40B4-BE49-F238E27FC236}">
                <a16:creationId xmlns:a16="http://schemas.microsoft.com/office/drawing/2014/main" id="{94F93804-D59F-4929-97B0-034C9D1F9741}"/>
              </a:ext>
            </a:extLst>
          </p:cNvPr>
          <p:cNvSpPr>
            <a:spLocks noGrp="1" noChangeArrowheads="1"/>
          </p:cNvSpPr>
          <p:nvPr>
            <p:ph type="body" sz="half" idx="1"/>
          </p:nvPr>
        </p:nvSpPr>
        <p:spPr>
          <a:xfrm>
            <a:off x="457200" y="1760538"/>
            <a:ext cx="8382000" cy="4792662"/>
          </a:xfrm>
        </p:spPr>
        <p:txBody>
          <a:bodyPr/>
          <a:lstStyle/>
          <a:p>
            <a:pPr>
              <a:lnSpc>
                <a:spcPct val="90000"/>
              </a:lnSpc>
            </a:pPr>
            <a:r>
              <a:rPr lang="en-US" altLang="en-US" sz="2600"/>
              <a:t>Poll – eliminates contention</a:t>
            </a:r>
          </a:p>
          <a:p>
            <a:pPr>
              <a:lnSpc>
                <a:spcPct val="90000"/>
              </a:lnSpc>
            </a:pPr>
            <a:r>
              <a:rPr lang="en-US" altLang="en-US" sz="2600"/>
              <a:t>PC – Point Coordinator</a:t>
            </a:r>
          </a:p>
          <a:p>
            <a:pPr lvl="1">
              <a:lnSpc>
                <a:spcPct val="90000"/>
              </a:lnSpc>
            </a:pPr>
            <a:r>
              <a:rPr lang="en-US" altLang="en-US" sz="2200"/>
              <a:t>Polling List</a:t>
            </a:r>
          </a:p>
          <a:p>
            <a:pPr lvl="1">
              <a:lnSpc>
                <a:spcPct val="90000"/>
              </a:lnSpc>
            </a:pPr>
            <a:r>
              <a:rPr lang="en-US" altLang="en-US" sz="2200"/>
              <a:t>Over DCF</a:t>
            </a:r>
          </a:p>
          <a:p>
            <a:pPr lvl="1">
              <a:lnSpc>
                <a:spcPct val="90000"/>
              </a:lnSpc>
            </a:pPr>
            <a:r>
              <a:rPr lang="en-US" altLang="en-US" sz="2200"/>
              <a:t>PIFS</a:t>
            </a:r>
          </a:p>
          <a:p>
            <a:pPr>
              <a:lnSpc>
                <a:spcPct val="90000"/>
              </a:lnSpc>
            </a:pPr>
            <a:r>
              <a:rPr lang="en-US" altLang="en-US" sz="2600"/>
              <a:t>CFP – Contention Free Period</a:t>
            </a:r>
          </a:p>
          <a:p>
            <a:pPr lvl="1">
              <a:lnSpc>
                <a:spcPct val="90000"/>
              </a:lnSpc>
            </a:pPr>
            <a:r>
              <a:rPr lang="en-US" altLang="en-US" sz="2200"/>
              <a:t>Alternate with DCF</a:t>
            </a:r>
          </a:p>
          <a:p>
            <a:pPr>
              <a:lnSpc>
                <a:spcPct val="90000"/>
              </a:lnSpc>
            </a:pPr>
            <a:r>
              <a:rPr lang="en-US" altLang="en-US" sz="2600"/>
              <a:t>Periodic Beacon – contains length of CFP</a:t>
            </a:r>
          </a:p>
          <a:p>
            <a:pPr>
              <a:lnSpc>
                <a:spcPct val="90000"/>
              </a:lnSpc>
            </a:pPr>
            <a:r>
              <a:rPr lang="en-US" altLang="en-US" sz="2600"/>
              <a:t>CF-Poll – Contention Free Poll</a:t>
            </a:r>
          </a:p>
          <a:p>
            <a:pPr>
              <a:lnSpc>
                <a:spcPct val="90000"/>
              </a:lnSpc>
            </a:pPr>
            <a:r>
              <a:rPr lang="en-US" altLang="en-US" sz="2600"/>
              <a:t>NAV prevents during CFP</a:t>
            </a:r>
          </a:p>
          <a:p>
            <a:pPr>
              <a:lnSpc>
                <a:spcPct val="90000"/>
              </a:lnSpc>
            </a:pPr>
            <a:r>
              <a:rPr lang="en-US" altLang="en-US" sz="2600"/>
              <a:t>CF-End – resets NAV</a:t>
            </a:r>
          </a:p>
          <a:p>
            <a:pPr lvl="1">
              <a:lnSpc>
                <a:spcPct val="90000"/>
              </a:lnSpc>
              <a:buFont typeface="Wingdings" panose="05000000000000000000" pitchFamily="2" charset="2"/>
              <a:buNone/>
            </a:pPr>
            <a:endParaRPr lang="en-US" altLang="en-US" sz="2200"/>
          </a:p>
          <a:p>
            <a:pPr>
              <a:lnSpc>
                <a:spcPct val="90000"/>
              </a:lnSpc>
            </a:pPr>
            <a:endParaRPr lang="en-US" altLang="en-US" sz="260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CBA4198F-9322-4532-9C42-6E2C437A1524}"/>
              </a:ext>
            </a:extLst>
          </p:cNvPr>
          <p:cNvSpPr>
            <a:spLocks noGrp="1" noChangeArrowheads="1"/>
          </p:cNvSpPr>
          <p:nvPr>
            <p:ph type="title"/>
          </p:nvPr>
        </p:nvSpPr>
        <p:spPr>
          <a:xfrm>
            <a:off x="4419600" y="122238"/>
            <a:ext cx="3581400" cy="1020762"/>
          </a:xfrm>
        </p:spPr>
        <p:txBody>
          <a:bodyPr/>
          <a:lstStyle/>
          <a:p>
            <a:r>
              <a:rPr lang="en-US" altLang="en-US"/>
              <a:t>Frame Types</a:t>
            </a:r>
          </a:p>
        </p:txBody>
      </p:sp>
      <p:sp>
        <p:nvSpPr>
          <p:cNvPr id="154627" name="Rectangle 3">
            <a:extLst>
              <a:ext uri="{FF2B5EF4-FFF2-40B4-BE49-F238E27FC236}">
                <a16:creationId xmlns:a16="http://schemas.microsoft.com/office/drawing/2014/main" id="{B1C18CDF-8990-4546-942D-8E925D1E268A}"/>
              </a:ext>
            </a:extLst>
          </p:cNvPr>
          <p:cNvSpPr>
            <a:spLocks noGrp="1" noChangeArrowheads="1"/>
          </p:cNvSpPr>
          <p:nvPr>
            <p:ph type="body" sz="half" idx="1"/>
          </p:nvPr>
        </p:nvSpPr>
        <p:spPr>
          <a:xfrm>
            <a:off x="304800" y="3733800"/>
            <a:ext cx="1905000" cy="2854325"/>
          </a:xfrm>
          <a:solidFill>
            <a:schemeClr val="folHlink"/>
          </a:solidFill>
        </p:spPr>
        <p:txBody>
          <a:bodyPr/>
          <a:lstStyle/>
          <a:p>
            <a:pPr>
              <a:lnSpc>
                <a:spcPct val="90000"/>
              </a:lnSpc>
            </a:pPr>
            <a:r>
              <a:rPr lang="en-US" altLang="en-US" sz="1400"/>
              <a:t>Protocol Version</a:t>
            </a:r>
          </a:p>
          <a:p>
            <a:pPr>
              <a:lnSpc>
                <a:spcPct val="90000"/>
              </a:lnSpc>
            </a:pPr>
            <a:r>
              <a:rPr lang="en-US" altLang="en-US" sz="1400"/>
              <a:t>Frame Type and Sub Type</a:t>
            </a:r>
          </a:p>
          <a:p>
            <a:pPr>
              <a:lnSpc>
                <a:spcPct val="90000"/>
              </a:lnSpc>
            </a:pPr>
            <a:r>
              <a:rPr lang="en-US" altLang="en-US" sz="1400"/>
              <a:t>To DS and From DS</a:t>
            </a:r>
          </a:p>
          <a:p>
            <a:pPr>
              <a:lnSpc>
                <a:spcPct val="90000"/>
              </a:lnSpc>
            </a:pPr>
            <a:r>
              <a:rPr lang="en-US" altLang="en-US" sz="1400"/>
              <a:t>More Fragments </a:t>
            </a:r>
          </a:p>
          <a:p>
            <a:pPr>
              <a:lnSpc>
                <a:spcPct val="90000"/>
              </a:lnSpc>
            </a:pPr>
            <a:r>
              <a:rPr lang="en-US" altLang="en-US" sz="1400"/>
              <a:t>Retry </a:t>
            </a:r>
          </a:p>
          <a:p>
            <a:pPr>
              <a:lnSpc>
                <a:spcPct val="90000"/>
              </a:lnSpc>
            </a:pPr>
            <a:r>
              <a:rPr lang="en-US" altLang="en-US" sz="1400"/>
              <a:t>Power Management </a:t>
            </a:r>
          </a:p>
          <a:p>
            <a:pPr>
              <a:lnSpc>
                <a:spcPct val="90000"/>
              </a:lnSpc>
            </a:pPr>
            <a:r>
              <a:rPr lang="en-US" altLang="en-US" sz="1400"/>
              <a:t>More Data </a:t>
            </a:r>
          </a:p>
          <a:p>
            <a:pPr>
              <a:lnSpc>
                <a:spcPct val="90000"/>
              </a:lnSpc>
            </a:pPr>
            <a:r>
              <a:rPr lang="en-US" altLang="en-US" sz="1400"/>
              <a:t>WEP</a:t>
            </a:r>
          </a:p>
          <a:p>
            <a:pPr>
              <a:lnSpc>
                <a:spcPct val="90000"/>
              </a:lnSpc>
            </a:pPr>
            <a:r>
              <a:rPr lang="en-US" altLang="en-US" sz="1400"/>
              <a:t>Order </a:t>
            </a:r>
          </a:p>
          <a:p>
            <a:pPr>
              <a:lnSpc>
                <a:spcPct val="90000"/>
              </a:lnSpc>
            </a:pPr>
            <a:endParaRPr lang="en-US" altLang="en-US" sz="2600"/>
          </a:p>
        </p:txBody>
      </p:sp>
      <p:sp>
        <p:nvSpPr>
          <p:cNvPr id="154630" name="Rectangle 6">
            <a:extLst>
              <a:ext uri="{FF2B5EF4-FFF2-40B4-BE49-F238E27FC236}">
                <a16:creationId xmlns:a16="http://schemas.microsoft.com/office/drawing/2014/main" id="{1AD8C47B-D435-42AE-BDEF-815060E2758D}"/>
              </a:ext>
            </a:extLst>
          </p:cNvPr>
          <p:cNvSpPr>
            <a:spLocks noChangeArrowheads="1"/>
          </p:cNvSpPr>
          <p:nvPr/>
        </p:nvSpPr>
        <p:spPr bwMode="auto">
          <a:xfrm>
            <a:off x="228600" y="2590800"/>
            <a:ext cx="914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a:t>FC</a:t>
            </a:r>
          </a:p>
        </p:txBody>
      </p:sp>
      <p:sp>
        <p:nvSpPr>
          <p:cNvPr id="154631" name="Rectangle 7">
            <a:extLst>
              <a:ext uri="{FF2B5EF4-FFF2-40B4-BE49-F238E27FC236}">
                <a16:creationId xmlns:a16="http://schemas.microsoft.com/office/drawing/2014/main" id="{056D4252-D3D6-4A7E-9A36-2F1E8D023887}"/>
              </a:ext>
            </a:extLst>
          </p:cNvPr>
          <p:cNvSpPr>
            <a:spLocks noChangeArrowheads="1"/>
          </p:cNvSpPr>
          <p:nvPr/>
        </p:nvSpPr>
        <p:spPr bwMode="auto">
          <a:xfrm>
            <a:off x="1143000" y="2590800"/>
            <a:ext cx="914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a:t>Duration</a:t>
            </a:r>
          </a:p>
          <a:p>
            <a:pPr algn="ctr"/>
            <a:r>
              <a:rPr lang="en-US" altLang="en-US" sz="1600"/>
              <a:t>/ID</a:t>
            </a:r>
          </a:p>
        </p:txBody>
      </p:sp>
      <p:sp>
        <p:nvSpPr>
          <p:cNvPr id="154632" name="Rectangle 8">
            <a:extLst>
              <a:ext uri="{FF2B5EF4-FFF2-40B4-BE49-F238E27FC236}">
                <a16:creationId xmlns:a16="http://schemas.microsoft.com/office/drawing/2014/main" id="{74A8FC29-6D5C-4C59-9D64-DCDB8CBE814E}"/>
              </a:ext>
            </a:extLst>
          </p:cNvPr>
          <p:cNvSpPr>
            <a:spLocks noChangeArrowheads="1"/>
          </p:cNvSpPr>
          <p:nvPr/>
        </p:nvSpPr>
        <p:spPr bwMode="auto">
          <a:xfrm>
            <a:off x="2057400" y="2590800"/>
            <a:ext cx="914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a:t>Address </a:t>
            </a:r>
          </a:p>
          <a:p>
            <a:pPr algn="ctr"/>
            <a:r>
              <a:rPr lang="en-US" altLang="en-US" sz="1600"/>
              <a:t>1</a:t>
            </a:r>
          </a:p>
        </p:txBody>
      </p:sp>
      <p:sp>
        <p:nvSpPr>
          <p:cNvPr id="154633" name="Rectangle 9">
            <a:extLst>
              <a:ext uri="{FF2B5EF4-FFF2-40B4-BE49-F238E27FC236}">
                <a16:creationId xmlns:a16="http://schemas.microsoft.com/office/drawing/2014/main" id="{A98B43CE-0F0B-4225-9ED0-1535AA98DBE6}"/>
              </a:ext>
            </a:extLst>
          </p:cNvPr>
          <p:cNvSpPr>
            <a:spLocks noChangeArrowheads="1"/>
          </p:cNvSpPr>
          <p:nvPr/>
        </p:nvSpPr>
        <p:spPr bwMode="auto">
          <a:xfrm>
            <a:off x="2971800" y="2590800"/>
            <a:ext cx="914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600"/>
          </a:p>
          <a:p>
            <a:pPr algn="ctr"/>
            <a:r>
              <a:rPr lang="en-US" altLang="en-US" sz="1600"/>
              <a:t>Address </a:t>
            </a:r>
          </a:p>
          <a:p>
            <a:pPr algn="ctr"/>
            <a:r>
              <a:rPr lang="en-US" altLang="en-US" sz="1600"/>
              <a:t>2</a:t>
            </a:r>
          </a:p>
          <a:p>
            <a:pPr algn="ctr"/>
            <a:endParaRPr lang="en-US" altLang="en-US" sz="1600"/>
          </a:p>
        </p:txBody>
      </p:sp>
      <p:sp>
        <p:nvSpPr>
          <p:cNvPr id="154634" name="Rectangle 10">
            <a:extLst>
              <a:ext uri="{FF2B5EF4-FFF2-40B4-BE49-F238E27FC236}">
                <a16:creationId xmlns:a16="http://schemas.microsoft.com/office/drawing/2014/main" id="{3DEDF08B-4F3C-481F-8C39-BF13280ED417}"/>
              </a:ext>
            </a:extLst>
          </p:cNvPr>
          <p:cNvSpPr>
            <a:spLocks noChangeArrowheads="1"/>
          </p:cNvSpPr>
          <p:nvPr/>
        </p:nvSpPr>
        <p:spPr bwMode="auto">
          <a:xfrm>
            <a:off x="3886200" y="2590800"/>
            <a:ext cx="914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600"/>
          </a:p>
          <a:p>
            <a:pPr algn="ctr"/>
            <a:r>
              <a:rPr lang="en-US" altLang="en-US" sz="1600"/>
              <a:t>Address </a:t>
            </a:r>
          </a:p>
          <a:p>
            <a:pPr algn="ctr"/>
            <a:r>
              <a:rPr lang="en-US" altLang="en-US" sz="1600"/>
              <a:t>3</a:t>
            </a:r>
          </a:p>
          <a:p>
            <a:pPr algn="ctr"/>
            <a:endParaRPr lang="en-US" altLang="en-US" sz="1600"/>
          </a:p>
        </p:txBody>
      </p:sp>
      <p:sp>
        <p:nvSpPr>
          <p:cNvPr id="154635" name="Rectangle 11">
            <a:extLst>
              <a:ext uri="{FF2B5EF4-FFF2-40B4-BE49-F238E27FC236}">
                <a16:creationId xmlns:a16="http://schemas.microsoft.com/office/drawing/2014/main" id="{A3960476-77BE-4FBA-8BAA-E4C7BB229F49}"/>
              </a:ext>
            </a:extLst>
          </p:cNvPr>
          <p:cNvSpPr>
            <a:spLocks noChangeArrowheads="1"/>
          </p:cNvSpPr>
          <p:nvPr/>
        </p:nvSpPr>
        <p:spPr bwMode="auto">
          <a:xfrm>
            <a:off x="4800600" y="2590800"/>
            <a:ext cx="914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600"/>
          </a:p>
          <a:p>
            <a:pPr algn="ctr"/>
            <a:r>
              <a:rPr lang="en-US" altLang="en-US" sz="1600"/>
              <a:t>Sequence</a:t>
            </a:r>
          </a:p>
          <a:p>
            <a:pPr algn="ctr"/>
            <a:r>
              <a:rPr lang="en-US" altLang="en-US" sz="1600"/>
              <a:t>Control</a:t>
            </a:r>
          </a:p>
          <a:p>
            <a:pPr algn="ctr"/>
            <a:endParaRPr lang="en-US" altLang="en-US" sz="1600"/>
          </a:p>
        </p:txBody>
      </p:sp>
      <p:sp>
        <p:nvSpPr>
          <p:cNvPr id="154636" name="Rectangle 12">
            <a:extLst>
              <a:ext uri="{FF2B5EF4-FFF2-40B4-BE49-F238E27FC236}">
                <a16:creationId xmlns:a16="http://schemas.microsoft.com/office/drawing/2014/main" id="{288C966C-05DF-4AC6-ADA3-F916F10CAF61}"/>
              </a:ext>
            </a:extLst>
          </p:cNvPr>
          <p:cNvSpPr>
            <a:spLocks noChangeArrowheads="1"/>
          </p:cNvSpPr>
          <p:nvPr/>
        </p:nvSpPr>
        <p:spPr bwMode="auto">
          <a:xfrm>
            <a:off x="5715000" y="2590800"/>
            <a:ext cx="914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600"/>
          </a:p>
          <a:p>
            <a:pPr algn="ctr"/>
            <a:r>
              <a:rPr lang="en-US" altLang="en-US" sz="1600"/>
              <a:t>Address</a:t>
            </a:r>
          </a:p>
          <a:p>
            <a:pPr algn="ctr"/>
            <a:r>
              <a:rPr lang="en-US" altLang="en-US" sz="1600"/>
              <a:t>4</a:t>
            </a:r>
          </a:p>
          <a:p>
            <a:pPr algn="ctr"/>
            <a:endParaRPr lang="en-US" altLang="en-US" sz="1600"/>
          </a:p>
        </p:txBody>
      </p:sp>
      <p:sp>
        <p:nvSpPr>
          <p:cNvPr id="154637" name="Rectangle 13">
            <a:extLst>
              <a:ext uri="{FF2B5EF4-FFF2-40B4-BE49-F238E27FC236}">
                <a16:creationId xmlns:a16="http://schemas.microsoft.com/office/drawing/2014/main" id="{11BF81EE-7C10-4EE4-8FD7-87DBE72C9E91}"/>
              </a:ext>
            </a:extLst>
          </p:cNvPr>
          <p:cNvSpPr>
            <a:spLocks noChangeArrowheads="1"/>
          </p:cNvSpPr>
          <p:nvPr/>
        </p:nvSpPr>
        <p:spPr bwMode="auto">
          <a:xfrm>
            <a:off x="6629400" y="2590800"/>
            <a:ext cx="914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600"/>
          </a:p>
          <a:p>
            <a:pPr algn="ctr"/>
            <a:r>
              <a:rPr lang="en-US" altLang="en-US" sz="1600"/>
              <a:t>DATA</a:t>
            </a:r>
          </a:p>
          <a:p>
            <a:pPr algn="ctr"/>
            <a:endParaRPr lang="en-US" altLang="en-US" sz="1600"/>
          </a:p>
        </p:txBody>
      </p:sp>
      <p:sp>
        <p:nvSpPr>
          <p:cNvPr id="154638" name="Rectangle 14">
            <a:extLst>
              <a:ext uri="{FF2B5EF4-FFF2-40B4-BE49-F238E27FC236}">
                <a16:creationId xmlns:a16="http://schemas.microsoft.com/office/drawing/2014/main" id="{14908FD9-A08D-4EC6-8FC5-49600CBD7A6F}"/>
              </a:ext>
            </a:extLst>
          </p:cNvPr>
          <p:cNvSpPr>
            <a:spLocks noChangeArrowheads="1"/>
          </p:cNvSpPr>
          <p:nvPr/>
        </p:nvSpPr>
        <p:spPr bwMode="auto">
          <a:xfrm>
            <a:off x="7543800" y="2590800"/>
            <a:ext cx="914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600"/>
          </a:p>
          <a:p>
            <a:pPr algn="ctr"/>
            <a:r>
              <a:rPr lang="en-US" altLang="en-US" sz="1600"/>
              <a:t>FCS</a:t>
            </a:r>
          </a:p>
          <a:p>
            <a:pPr algn="ctr"/>
            <a:endParaRPr lang="en-US" altLang="en-US" sz="1600"/>
          </a:p>
        </p:txBody>
      </p:sp>
      <p:sp>
        <p:nvSpPr>
          <p:cNvPr id="154642" name="Text Box 18">
            <a:extLst>
              <a:ext uri="{FF2B5EF4-FFF2-40B4-BE49-F238E27FC236}">
                <a16:creationId xmlns:a16="http://schemas.microsoft.com/office/drawing/2014/main" id="{3BCAD2DB-619C-449A-A692-A22BA7AF556C}"/>
              </a:ext>
            </a:extLst>
          </p:cNvPr>
          <p:cNvSpPr txBox="1">
            <a:spLocks noChangeArrowheads="1"/>
          </p:cNvSpPr>
          <p:nvPr/>
        </p:nvSpPr>
        <p:spPr bwMode="auto">
          <a:xfrm>
            <a:off x="228600" y="3124200"/>
            <a:ext cx="86741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2	2	6	6	6	2	6	0-2312	4</a:t>
            </a:r>
            <a:r>
              <a:rPr lang="en-US" altLang="en-US"/>
              <a:t>           </a:t>
            </a:r>
            <a:r>
              <a:rPr lang="en-US" altLang="en-US" sz="1200"/>
              <a:t>bytes</a:t>
            </a:r>
          </a:p>
        </p:txBody>
      </p:sp>
      <p:sp>
        <p:nvSpPr>
          <p:cNvPr id="154644" name="Rectangle 20">
            <a:extLst>
              <a:ext uri="{FF2B5EF4-FFF2-40B4-BE49-F238E27FC236}">
                <a16:creationId xmlns:a16="http://schemas.microsoft.com/office/drawing/2014/main" id="{D9269771-A883-4A2F-90C0-0541BE2B1B15}"/>
              </a:ext>
            </a:extLst>
          </p:cNvPr>
          <p:cNvSpPr>
            <a:spLocks noChangeArrowheads="1"/>
          </p:cNvSpPr>
          <p:nvPr/>
        </p:nvSpPr>
        <p:spPr bwMode="auto">
          <a:xfrm>
            <a:off x="838200" y="914400"/>
            <a:ext cx="1905000" cy="1066800"/>
          </a:xfrm>
          <a:prstGeom prst="rect">
            <a:avLst/>
          </a:prstGeom>
          <a:solidFill>
            <a:srgbClr val="C8F6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9pPr>
          </a:lstStyle>
          <a:p>
            <a:pPr>
              <a:lnSpc>
                <a:spcPct val="90000"/>
              </a:lnSpc>
            </a:pPr>
            <a:r>
              <a:rPr lang="en-US" altLang="en-US" sz="1400"/>
              <a:t>NAV information</a:t>
            </a:r>
          </a:p>
          <a:p>
            <a:pPr>
              <a:lnSpc>
                <a:spcPct val="90000"/>
              </a:lnSpc>
              <a:buFont typeface="Wingdings" panose="05000000000000000000" pitchFamily="2" charset="2"/>
              <a:buNone/>
            </a:pPr>
            <a:r>
              <a:rPr lang="en-US" altLang="en-US" sz="1400"/>
              <a:t>Or</a:t>
            </a:r>
          </a:p>
          <a:p>
            <a:pPr>
              <a:lnSpc>
                <a:spcPct val="90000"/>
              </a:lnSpc>
            </a:pPr>
            <a:r>
              <a:rPr lang="en-US" altLang="en-US" sz="1400"/>
              <a:t>Short Id for PS-Poll</a:t>
            </a:r>
          </a:p>
          <a:p>
            <a:pPr>
              <a:lnSpc>
                <a:spcPct val="90000"/>
              </a:lnSpc>
            </a:pPr>
            <a:endParaRPr lang="en-US" altLang="en-US"/>
          </a:p>
        </p:txBody>
      </p:sp>
      <p:sp>
        <p:nvSpPr>
          <p:cNvPr id="154645" name="Rectangle 21">
            <a:extLst>
              <a:ext uri="{FF2B5EF4-FFF2-40B4-BE49-F238E27FC236}">
                <a16:creationId xmlns:a16="http://schemas.microsoft.com/office/drawing/2014/main" id="{00A3E2B3-0C4A-4051-9C55-E61BD32D04D9}"/>
              </a:ext>
            </a:extLst>
          </p:cNvPr>
          <p:cNvSpPr>
            <a:spLocks noChangeArrowheads="1"/>
          </p:cNvSpPr>
          <p:nvPr/>
        </p:nvSpPr>
        <p:spPr bwMode="auto">
          <a:xfrm>
            <a:off x="2362200" y="5029200"/>
            <a:ext cx="1905000" cy="1600200"/>
          </a:xfrm>
          <a:prstGeom prst="rect">
            <a:avLst/>
          </a:prstGeom>
          <a:solidFill>
            <a:srgbClr val="F1F5D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9pPr>
          </a:lstStyle>
          <a:p>
            <a:pPr>
              <a:lnSpc>
                <a:spcPct val="90000"/>
              </a:lnSpc>
            </a:pPr>
            <a:r>
              <a:rPr lang="en-US" altLang="en-US" sz="1400"/>
              <a:t>BSSID –BSS Identifier</a:t>
            </a:r>
          </a:p>
          <a:p>
            <a:pPr>
              <a:lnSpc>
                <a:spcPct val="90000"/>
              </a:lnSpc>
            </a:pPr>
            <a:r>
              <a:rPr lang="en-US" altLang="en-US" sz="1400"/>
              <a:t>TA - Transmitter </a:t>
            </a:r>
          </a:p>
          <a:p>
            <a:pPr>
              <a:lnSpc>
                <a:spcPct val="90000"/>
              </a:lnSpc>
            </a:pPr>
            <a:r>
              <a:rPr lang="en-US" altLang="en-US" sz="1400"/>
              <a:t>RA - Receiver</a:t>
            </a:r>
          </a:p>
          <a:p>
            <a:pPr>
              <a:lnSpc>
                <a:spcPct val="90000"/>
              </a:lnSpc>
            </a:pPr>
            <a:r>
              <a:rPr lang="en-US" altLang="en-US" sz="1400"/>
              <a:t>SA -  Source</a:t>
            </a:r>
          </a:p>
          <a:p>
            <a:pPr>
              <a:lnSpc>
                <a:spcPct val="90000"/>
              </a:lnSpc>
            </a:pPr>
            <a:r>
              <a:rPr lang="en-US" altLang="en-US" sz="1400"/>
              <a:t>DA - Destination</a:t>
            </a:r>
          </a:p>
          <a:p>
            <a:pPr>
              <a:lnSpc>
                <a:spcPct val="90000"/>
              </a:lnSpc>
            </a:pPr>
            <a:endParaRPr lang="en-US" altLang="en-US" sz="1400"/>
          </a:p>
          <a:p>
            <a:pPr>
              <a:lnSpc>
                <a:spcPct val="90000"/>
              </a:lnSpc>
            </a:pPr>
            <a:endParaRPr lang="en-US" altLang="en-US"/>
          </a:p>
        </p:txBody>
      </p:sp>
      <p:sp>
        <p:nvSpPr>
          <p:cNvPr id="154646" name="Rectangle 22">
            <a:extLst>
              <a:ext uri="{FF2B5EF4-FFF2-40B4-BE49-F238E27FC236}">
                <a16:creationId xmlns:a16="http://schemas.microsoft.com/office/drawing/2014/main" id="{9F31494A-9D21-4500-AF69-8FB6C82C3AD6}"/>
              </a:ext>
            </a:extLst>
          </p:cNvPr>
          <p:cNvSpPr>
            <a:spLocks noChangeArrowheads="1"/>
          </p:cNvSpPr>
          <p:nvPr/>
        </p:nvSpPr>
        <p:spPr bwMode="auto">
          <a:xfrm>
            <a:off x="2362200" y="3733800"/>
            <a:ext cx="1905000" cy="1219200"/>
          </a:xfrm>
          <a:prstGeom prst="rect">
            <a:avLst/>
          </a:prstGeom>
          <a:solidFill>
            <a:srgbClr val="F1F5D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9pPr>
          </a:lstStyle>
          <a:p>
            <a:pPr>
              <a:lnSpc>
                <a:spcPct val="90000"/>
              </a:lnSpc>
            </a:pPr>
            <a:r>
              <a:rPr lang="en-US" altLang="en-US" sz="1400"/>
              <a:t>IEEE 48 bit address</a:t>
            </a:r>
          </a:p>
          <a:p>
            <a:pPr>
              <a:lnSpc>
                <a:spcPct val="90000"/>
              </a:lnSpc>
            </a:pPr>
            <a:r>
              <a:rPr lang="en-US" altLang="en-US" sz="1400"/>
              <a:t>Individual/Group </a:t>
            </a:r>
          </a:p>
          <a:p>
            <a:pPr>
              <a:lnSpc>
                <a:spcPct val="90000"/>
              </a:lnSpc>
            </a:pPr>
            <a:r>
              <a:rPr lang="en-US" altLang="en-US" sz="1400"/>
              <a:t>Universal/Local</a:t>
            </a:r>
          </a:p>
          <a:p>
            <a:pPr>
              <a:lnSpc>
                <a:spcPct val="90000"/>
              </a:lnSpc>
            </a:pPr>
            <a:r>
              <a:rPr lang="en-US" altLang="en-US" sz="1400"/>
              <a:t>46 bit address</a:t>
            </a:r>
          </a:p>
          <a:p>
            <a:pPr>
              <a:lnSpc>
                <a:spcPct val="90000"/>
              </a:lnSpc>
            </a:pPr>
            <a:endParaRPr lang="en-US" altLang="en-US" sz="1400"/>
          </a:p>
          <a:p>
            <a:pPr>
              <a:lnSpc>
                <a:spcPct val="90000"/>
              </a:lnSpc>
            </a:pPr>
            <a:endParaRPr lang="en-US" altLang="en-US"/>
          </a:p>
        </p:txBody>
      </p:sp>
      <p:sp>
        <p:nvSpPr>
          <p:cNvPr id="154647" name="Rectangle 23">
            <a:extLst>
              <a:ext uri="{FF2B5EF4-FFF2-40B4-BE49-F238E27FC236}">
                <a16:creationId xmlns:a16="http://schemas.microsoft.com/office/drawing/2014/main" id="{51F02276-54C6-4E9A-A6B7-09AE3582C730}"/>
              </a:ext>
            </a:extLst>
          </p:cNvPr>
          <p:cNvSpPr>
            <a:spLocks noChangeArrowheads="1"/>
          </p:cNvSpPr>
          <p:nvPr/>
        </p:nvSpPr>
        <p:spPr bwMode="auto">
          <a:xfrm>
            <a:off x="4495800" y="3733800"/>
            <a:ext cx="1905000" cy="1371600"/>
          </a:xfrm>
          <a:prstGeom prst="rect">
            <a:avLst/>
          </a:prstGeom>
          <a:solidFill>
            <a:srgbClr val="F2D2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9pPr>
          </a:lstStyle>
          <a:p>
            <a:pPr>
              <a:lnSpc>
                <a:spcPct val="90000"/>
              </a:lnSpc>
            </a:pPr>
            <a:r>
              <a:rPr lang="en-US" altLang="en-US" sz="1400"/>
              <a:t>MSDU</a:t>
            </a:r>
          </a:p>
          <a:p>
            <a:pPr>
              <a:lnSpc>
                <a:spcPct val="90000"/>
              </a:lnSpc>
            </a:pPr>
            <a:r>
              <a:rPr lang="en-US" altLang="en-US" sz="1400"/>
              <a:t>Sequence Number</a:t>
            </a:r>
          </a:p>
          <a:p>
            <a:pPr>
              <a:lnSpc>
                <a:spcPct val="90000"/>
              </a:lnSpc>
            </a:pPr>
            <a:r>
              <a:rPr lang="en-US" altLang="en-US" sz="1400"/>
              <a:t>Fragment Number</a:t>
            </a:r>
          </a:p>
          <a:p>
            <a:pPr>
              <a:lnSpc>
                <a:spcPct val="90000"/>
              </a:lnSpc>
            </a:pPr>
            <a:endParaRPr lang="en-US" altLang="en-US"/>
          </a:p>
        </p:txBody>
      </p:sp>
      <p:sp>
        <p:nvSpPr>
          <p:cNvPr id="154648" name="Rectangle 24">
            <a:extLst>
              <a:ext uri="{FF2B5EF4-FFF2-40B4-BE49-F238E27FC236}">
                <a16:creationId xmlns:a16="http://schemas.microsoft.com/office/drawing/2014/main" id="{6C3C6F60-98DA-4C9D-8AE0-C4A7CAC39613}"/>
              </a:ext>
            </a:extLst>
          </p:cNvPr>
          <p:cNvSpPr>
            <a:spLocks noChangeArrowheads="1"/>
          </p:cNvSpPr>
          <p:nvPr/>
        </p:nvSpPr>
        <p:spPr bwMode="auto">
          <a:xfrm>
            <a:off x="6553200" y="3733800"/>
            <a:ext cx="1905000" cy="13716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9pPr>
          </a:lstStyle>
          <a:p>
            <a:pPr>
              <a:lnSpc>
                <a:spcPct val="90000"/>
              </a:lnSpc>
              <a:buFont typeface="Wingdings" panose="05000000000000000000" pitchFamily="2" charset="2"/>
              <a:buNone/>
            </a:pPr>
            <a:endParaRPr lang="en-US" altLang="en-US" sz="1400"/>
          </a:p>
          <a:p>
            <a:pPr>
              <a:lnSpc>
                <a:spcPct val="90000"/>
              </a:lnSpc>
            </a:pPr>
            <a:r>
              <a:rPr lang="en-US" altLang="en-US" sz="1400"/>
              <a:t>CCIT CRC-32 Polynomial</a:t>
            </a:r>
          </a:p>
          <a:p>
            <a:pPr>
              <a:lnSpc>
                <a:spcPct val="90000"/>
              </a:lnSpc>
            </a:pPr>
            <a:endParaRPr lang="en-US" altLang="en-US"/>
          </a:p>
        </p:txBody>
      </p:sp>
      <p:sp>
        <p:nvSpPr>
          <p:cNvPr id="154649" name="Line 25">
            <a:extLst>
              <a:ext uri="{FF2B5EF4-FFF2-40B4-BE49-F238E27FC236}">
                <a16:creationId xmlns:a16="http://schemas.microsoft.com/office/drawing/2014/main" id="{DA9A6845-2E51-402C-97D5-36FC7491D7DA}"/>
              </a:ext>
            </a:extLst>
          </p:cNvPr>
          <p:cNvSpPr>
            <a:spLocks noChangeShapeType="1"/>
          </p:cNvSpPr>
          <p:nvPr/>
        </p:nvSpPr>
        <p:spPr bwMode="auto">
          <a:xfrm>
            <a:off x="838200" y="3124200"/>
            <a:ext cx="1524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4650" name="Line 26">
            <a:extLst>
              <a:ext uri="{FF2B5EF4-FFF2-40B4-BE49-F238E27FC236}">
                <a16:creationId xmlns:a16="http://schemas.microsoft.com/office/drawing/2014/main" id="{94E9360E-EF42-4759-8CEF-178E66B5D0D7}"/>
              </a:ext>
            </a:extLst>
          </p:cNvPr>
          <p:cNvSpPr>
            <a:spLocks noChangeShapeType="1"/>
          </p:cNvSpPr>
          <p:nvPr/>
        </p:nvSpPr>
        <p:spPr bwMode="auto">
          <a:xfrm flipV="1">
            <a:off x="1447800" y="1981200"/>
            <a:ext cx="1524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4651" name="Line 27">
            <a:extLst>
              <a:ext uri="{FF2B5EF4-FFF2-40B4-BE49-F238E27FC236}">
                <a16:creationId xmlns:a16="http://schemas.microsoft.com/office/drawing/2014/main" id="{6D7288EE-DA51-4407-B109-7962BF2C6660}"/>
              </a:ext>
            </a:extLst>
          </p:cNvPr>
          <p:cNvSpPr>
            <a:spLocks noChangeShapeType="1"/>
          </p:cNvSpPr>
          <p:nvPr/>
        </p:nvSpPr>
        <p:spPr bwMode="auto">
          <a:xfrm>
            <a:off x="2590800" y="3124200"/>
            <a:ext cx="3048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4652" name="Line 28">
            <a:extLst>
              <a:ext uri="{FF2B5EF4-FFF2-40B4-BE49-F238E27FC236}">
                <a16:creationId xmlns:a16="http://schemas.microsoft.com/office/drawing/2014/main" id="{242C7539-6FAE-4F54-82F4-00B77E063F51}"/>
              </a:ext>
            </a:extLst>
          </p:cNvPr>
          <p:cNvSpPr>
            <a:spLocks noChangeShapeType="1"/>
          </p:cNvSpPr>
          <p:nvPr/>
        </p:nvSpPr>
        <p:spPr bwMode="auto">
          <a:xfrm flipH="1">
            <a:off x="3200400" y="3124200"/>
            <a:ext cx="2286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4653" name="Line 29">
            <a:extLst>
              <a:ext uri="{FF2B5EF4-FFF2-40B4-BE49-F238E27FC236}">
                <a16:creationId xmlns:a16="http://schemas.microsoft.com/office/drawing/2014/main" id="{E071656C-70A3-4837-9782-DEE3A55965F4}"/>
              </a:ext>
            </a:extLst>
          </p:cNvPr>
          <p:cNvSpPr>
            <a:spLocks noChangeShapeType="1"/>
          </p:cNvSpPr>
          <p:nvPr/>
        </p:nvSpPr>
        <p:spPr bwMode="auto">
          <a:xfrm flipH="1">
            <a:off x="3962400" y="3124200"/>
            <a:ext cx="3048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4654" name="Line 30">
            <a:extLst>
              <a:ext uri="{FF2B5EF4-FFF2-40B4-BE49-F238E27FC236}">
                <a16:creationId xmlns:a16="http://schemas.microsoft.com/office/drawing/2014/main" id="{7C684D0E-127A-4598-ACA2-31709394246B}"/>
              </a:ext>
            </a:extLst>
          </p:cNvPr>
          <p:cNvSpPr>
            <a:spLocks noChangeShapeType="1"/>
          </p:cNvSpPr>
          <p:nvPr/>
        </p:nvSpPr>
        <p:spPr bwMode="auto">
          <a:xfrm flipH="1">
            <a:off x="4191000" y="3124200"/>
            <a:ext cx="16002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4655" name="Line 31">
            <a:extLst>
              <a:ext uri="{FF2B5EF4-FFF2-40B4-BE49-F238E27FC236}">
                <a16:creationId xmlns:a16="http://schemas.microsoft.com/office/drawing/2014/main" id="{55AE95DD-7C5A-47D5-A592-46A8CF3A29FB}"/>
              </a:ext>
            </a:extLst>
          </p:cNvPr>
          <p:cNvSpPr>
            <a:spLocks noChangeShapeType="1"/>
          </p:cNvSpPr>
          <p:nvPr/>
        </p:nvSpPr>
        <p:spPr bwMode="auto">
          <a:xfrm>
            <a:off x="5334000" y="3124200"/>
            <a:ext cx="2286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4656" name="Line 32">
            <a:extLst>
              <a:ext uri="{FF2B5EF4-FFF2-40B4-BE49-F238E27FC236}">
                <a16:creationId xmlns:a16="http://schemas.microsoft.com/office/drawing/2014/main" id="{251908D6-6F2C-405B-A5BB-9BBE2F7DD743}"/>
              </a:ext>
            </a:extLst>
          </p:cNvPr>
          <p:cNvSpPr>
            <a:spLocks noChangeShapeType="1"/>
          </p:cNvSpPr>
          <p:nvPr/>
        </p:nvSpPr>
        <p:spPr bwMode="auto">
          <a:xfrm>
            <a:off x="7848600" y="3124200"/>
            <a:ext cx="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4657" name="Rectangle 33">
            <a:extLst>
              <a:ext uri="{FF2B5EF4-FFF2-40B4-BE49-F238E27FC236}">
                <a16:creationId xmlns:a16="http://schemas.microsoft.com/office/drawing/2014/main" id="{19B6247F-E219-44EA-82F0-C0905FCEDF4E}"/>
              </a:ext>
            </a:extLst>
          </p:cNvPr>
          <p:cNvSpPr>
            <a:spLocks noChangeArrowheads="1"/>
          </p:cNvSpPr>
          <p:nvPr/>
        </p:nvSpPr>
        <p:spPr bwMode="auto">
          <a:xfrm>
            <a:off x="5867400" y="1371600"/>
            <a:ext cx="1905000" cy="914400"/>
          </a:xfrm>
          <a:prstGeom prst="rect">
            <a:avLst/>
          </a:prstGeom>
          <a:solidFill>
            <a:srgbClr val="EAE77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9pPr>
          </a:lstStyle>
          <a:p>
            <a:pPr>
              <a:lnSpc>
                <a:spcPct val="90000"/>
              </a:lnSpc>
              <a:buFont typeface="Wingdings" panose="05000000000000000000" pitchFamily="2" charset="2"/>
              <a:buNone/>
            </a:pPr>
            <a:r>
              <a:rPr lang="en-US" altLang="en-US" sz="1400"/>
              <a:t>Upper layer data</a:t>
            </a:r>
          </a:p>
          <a:p>
            <a:pPr>
              <a:lnSpc>
                <a:spcPct val="90000"/>
              </a:lnSpc>
            </a:pPr>
            <a:r>
              <a:rPr lang="en-US" altLang="en-US" sz="1400"/>
              <a:t>2048 byte max</a:t>
            </a:r>
          </a:p>
          <a:p>
            <a:pPr>
              <a:lnSpc>
                <a:spcPct val="90000"/>
              </a:lnSpc>
            </a:pPr>
            <a:r>
              <a:rPr lang="en-US" altLang="en-US" sz="1400"/>
              <a:t>256 upper layer header</a:t>
            </a:r>
          </a:p>
          <a:p>
            <a:pPr>
              <a:lnSpc>
                <a:spcPct val="90000"/>
              </a:lnSpc>
            </a:pPr>
            <a:endParaRPr lang="en-US" altLang="en-US"/>
          </a:p>
        </p:txBody>
      </p:sp>
      <p:sp>
        <p:nvSpPr>
          <p:cNvPr id="154658" name="Line 34">
            <a:extLst>
              <a:ext uri="{FF2B5EF4-FFF2-40B4-BE49-F238E27FC236}">
                <a16:creationId xmlns:a16="http://schemas.microsoft.com/office/drawing/2014/main" id="{283BD20E-4A00-49D0-9AB9-84B2E8AB69AB}"/>
              </a:ext>
            </a:extLst>
          </p:cNvPr>
          <p:cNvSpPr>
            <a:spLocks noChangeShapeType="1"/>
          </p:cNvSpPr>
          <p:nvPr/>
        </p:nvSpPr>
        <p:spPr bwMode="auto">
          <a:xfrm flipV="1">
            <a:off x="6934200" y="22860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6AEE14E5-5A29-4129-BE51-102FDD6E14B4}"/>
              </a:ext>
            </a:extLst>
          </p:cNvPr>
          <p:cNvSpPr>
            <a:spLocks noGrp="1" noChangeArrowheads="1"/>
          </p:cNvSpPr>
          <p:nvPr>
            <p:ph type="title"/>
          </p:nvPr>
        </p:nvSpPr>
        <p:spPr/>
        <p:txBody>
          <a:bodyPr/>
          <a:lstStyle/>
          <a:p>
            <a:r>
              <a:rPr lang="en-US" altLang="en-US"/>
              <a:t>Frame Subtypes</a:t>
            </a:r>
          </a:p>
        </p:txBody>
      </p:sp>
      <p:sp>
        <p:nvSpPr>
          <p:cNvPr id="155651" name="Rectangle 3">
            <a:extLst>
              <a:ext uri="{FF2B5EF4-FFF2-40B4-BE49-F238E27FC236}">
                <a16:creationId xmlns:a16="http://schemas.microsoft.com/office/drawing/2014/main" id="{7D9D0ADE-AA3A-4F5C-B086-876C96E897AA}"/>
              </a:ext>
            </a:extLst>
          </p:cNvPr>
          <p:cNvSpPr>
            <a:spLocks noGrp="1" noChangeArrowheads="1"/>
          </p:cNvSpPr>
          <p:nvPr>
            <p:ph type="body" sz="half" idx="1"/>
          </p:nvPr>
        </p:nvSpPr>
        <p:spPr>
          <a:xfrm>
            <a:off x="228600" y="3124200"/>
            <a:ext cx="2590800" cy="3159125"/>
          </a:xfrm>
          <a:solidFill>
            <a:srgbClr val="EAE77C"/>
          </a:solidFill>
        </p:spPr>
        <p:txBody>
          <a:bodyPr/>
          <a:lstStyle/>
          <a:p>
            <a:r>
              <a:rPr lang="en-US" altLang="en-US" sz="1600"/>
              <a:t>RTS</a:t>
            </a:r>
          </a:p>
          <a:p>
            <a:r>
              <a:rPr lang="en-US" altLang="en-US" sz="1600"/>
              <a:t>CTS</a:t>
            </a:r>
          </a:p>
          <a:p>
            <a:r>
              <a:rPr lang="en-US" altLang="en-US" sz="1600"/>
              <a:t>ACK</a:t>
            </a:r>
          </a:p>
          <a:p>
            <a:r>
              <a:rPr lang="en-US" altLang="en-US" sz="1600"/>
              <a:t>PS-Poll</a:t>
            </a:r>
          </a:p>
          <a:p>
            <a:r>
              <a:rPr lang="en-US" altLang="en-US" sz="1600"/>
              <a:t>CF-End &amp; CF-End ACK</a:t>
            </a:r>
          </a:p>
          <a:p>
            <a:endParaRPr lang="en-US" altLang="en-US" sz="1600"/>
          </a:p>
        </p:txBody>
      </p:sp>
      <p:sp>
        <p:nvSpPr>
          <p:cNvPr id="155653" name="Rectangle 5">
            <a:extLst>
              <a:ext uri="{FF2B5EF4-FFF2-40B4-BE49-F238E27FC236}">
                <a16:creationId xmlns:a16="http://schemas.microsoft.com/office/drawing/2014/main" id="{666E9FB0-28E4-4648-B194-5A0485AF871E}"/>
              </a:ext>
            </a:extLst>
          </p:cNvPr>
          <p:cNvSpPr>
            <a:spLocks noChangeArrowheads="1"/>
          </p:cNvSpPr>
          <p:nvPr/>
        </p:nvSpPr>
        <p:spPr bwMode="auto">
          <a:xfrm>
            <a:off x="2971800" y="3124200"/>
            <a:ext cx="2590800" cy="3159125"/>
          </a:xfrm>
          <a:prstGeom prst="rect">
            <a:avLst/>
          </a:prstGeom>
          <a:solidFill>
            <a:srgbClr val="F1F5D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9pPr>
          </a:lstStyle>
          <a:p>
            <a:r>
              <a:rPr lang="en-US" altLang="en-US" sz="1600"/>
              <a:t>Data</a:t>
            </a:r>
          </a:p>
          <a:p>
            <a:r>
              <a:rPr lang="en-US" altLang="en-US" sz="1600"/>
              <a:t>Data+CF-ACK</a:t>
            </a:r>
          </a:p>
          <a:p>
            <a:r>
              <a:rPr lang="en-US" altLang="en-US" sz="1600"/>
              <a:t>Data+CF-Poll</a:t>
            </a:r>
          </a:p>
          <a:p>
            <a:r>
              <a:rPr lang="en-US" altLang="en-US" sz="1600"/>
              <a:t>Data+CF-ACK+CF-Poll</a:t>
            </a:r>
          </a:p>
          <a:p>
            <a:r>
              <a:rPr lang="en-US" altLang="en-US" sz="1600"/>
              <a:t>Null Function</a:t>
            </a:r>
          </a:p>
          <a:p>
            <a:r>
              <a:rPr lang="en-US" altLang="en-US" sz="1600"/>
              <a:t>CF-ACK (nodata)</a:t>
            </a:r>
          </a:p>
          <a:p>
            <a:r>
              <a:rPr lang="en-US" altLang="en-US" sz="1600"/>
              <a:t>CF-Poll (nodata)</a:t>
            </a:r>
          </a:p>
          <a:p>
            <a:r>
              <a:rPr lang="en-US" altLang="en-US" sz="1600"/>
              <a:t>CF-ACK+CF+Poll</a:t>
            </a:r>
          </a:p>
          <a:p>
            <a:endParaRPr lang="en-US" altLang="en-US" sz="1600"/>
          </a:p>
          <a:p>
            <a:endParaRPr lang="en-US" altLang="en-US"/>
          </a:p>
        </p:txBody>
      </p:sp>
      <p:sp>
        <p:nvSpPr>
          <p:cNvPr id="155654" name="Rectangle 6">
            <a:extLst>
              <a:ext uri="{FF2B5EF4-FFF2-40B4-BE49-F238E27FC236}">
                <a16:creationId xmlns:a16="http://schemas.microsoft.com/office/drawing/2014/main" id="{3351AD3A-9150-4EE4-B042-C547FBE5E497}"/>
              </a:ext>
            </a:extLst>
          </p:cNvPr>
          <p:cNvSpPr>
            <a:spLocks noChangeArrowheads="1"/>
          </p:cNvSpPr>
          <p:nvPr/>
        </p:nvSpPr>
        <p:spPr bwMode="auto">
          <a:xfrm>
            <a:off x="5638800" y="3124200"/>
            <a:ext cx="3352800" cy="3159125"/>
          </a:xfrm>
          <a:prstGeom prst="rect">
            <a:avLst/>
          </a:prstGeom>
          <a:solidFill>
            <a:srgbClr val="F2D2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defRPr>
            </a:lvl9pPr>
          </a:lstStyle>
          <a:p>
            <a:r>
              <a:rPr lang="en-US" altLang="en-US" sz="1600"/>
              <a:t>Beacon</a:t>
            </a:r>
          </a:p>
          <a:p>
            <a:r>
              <a:rPr lang="en-US" altLang="en-US" sz="1600"/>
              <a:t>Probe Request &amp; Response</a:t>
            </a:r>
          </a:p>
          <a:p>
            <a:r>
              <a:rPr lang="en-US" altLang="en-US" sz="1600"/>
              <a:t>Authentication</a:t>
            </a:r>
          </a:p>
          <a:p>
            <a:r>
              <a:rPr lang="en-US" altLang="en-US" sz="1600"/>
              <a:t>Deauthentication</a:t>
            </a:r>
          </a:p>
          <a:p>
            <a:r>
              <a:rPr lang="en-US" altLang="en-US" sz="1600"/>
              <a:t>Association Request &amp; Response</a:t>
            </a:r>
          </a:p>
          <a:p>
            <a:r>
              <a:rPr lang="en-US" altLang="en-US" sz="1600"/>
              <a:t>Reassociation Request &amp; Response</a:t>
            </a:r>
          </a:p>
          <a:p>
            <a:r>
              <a:rPr lang="en-US" altLang="en-US" sz="1600"/>
              <a:t>Disassociation</a:t>
            </a:r>
          </a:p>
          <a:p>
            <a:r>
              <a:rPr lang="en-US" altLang="en-US" sz="1600"/>
              <a:t>Announcement Traffic Indication Message (ATIM)</a:t>
            </a:r>
          </a:p>
          <a:p>
            <a:endParaRPr lang="en-US" altLang="en-US" sz="1600"/>
          </a:p>
        </p:txBody>
      </p:sp>
      <p:sp>
        <p:nvSpPr>
          <p:cNvPr id="155655" name="Text Box 7">
            <a:extLst>
              <a:ext uri="{FF2B5EF4-FFF2-40B4-BE49-F238E27FC236}">
                <a16:creationId xmlns:a16="http://schemas.microsoft.com/office/drawing/2014/main" id="{6F4A50D8-BB76-470E-B060-A4C7EC304887}"/>
              </a:ext>
            </a:extLst>
          </p:cNvPr>
          <p:cNvSpPr txBox="1">
            <a:spLocks noChangeArrowheads="1"/>
          </p:cNvSpPr>
          <p:nvPr/>
        </p:nvSpPr>
        <p:spPr bwMode="auto">
          <a:xfrm>
            <a:off x="228600" y="2667000"/>
            <a:ext cx="2667000" cy="36671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CONTROL</a:t>
            </a:r>
          </a:p>
        </p:txBody>
      </p:sp>
      <p:sp>
        <p:nvSpPr>
          <p:cNvPr id="155656" name="Text Box 8">
            <a:extLst>
              <a:ext uri="{FF2B5EF4-FFF2-40B4-BE49-F238E27FC236}">
                <a16:creationId xmlns:a16="http://schemas.microsoft.com/office/drawing/2014/main" id="{4CC75758-C12F-48D9-B4DF-701BC4E95341}"/>
              </a:ext>
            </a:extLst>
          </p:cNvPr>
          <p:cNvSpPr txBox="1">
            <a:spLocks noChangeArrowheads="1"/>
          </p:cNvSpPr>
          <p:nvPr/>
        </p:nvSpPr>
        <p:spPr bwMode="auto">
          <a:xfrm>
            <a:off x="2971800" y="2667000"/>
            <a:ext cx="2514600" cy="36671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DATA</a:t>
            </a:r>
          </a:p>
        </p:txBody>
      </p:sp>
      <p:sp>
        <p:nvSpPr>
          <p:cNvPr id="155657" name="Text Box 9">
            <a:extLst>
              <a:ext uri="{FF2B5EF4-FFF2-40B4-BE49-F238E27FC236}">
                <a16:creationId xmlns:a16="http://schemas.microsoft.com/office/drawing/2014/main" id="{DCE286D8-8A4C-484E-BB92-D393C2EC256B}"/>
              </a:ext>
            </a:extLst>
          </p:cNvPr>
          <p:cNvSpPr txBox="1">
            <a:spLocks noChangeArrowheads="1"/>
          </p:cNvSpPr>
          <p:nvPr/>
        </p:nvSpPr>
        <p:spPr bwMode="auto">
          <a:xfrm>
            <a:off x="5638800" y="2667000"/>
            <a:ext cx="3200400" cy="36671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MANAGEMENT</a:t>
            </a:r>
          </a:p>
        </p:txBody>
      </p:sp>
    </p:spTree>
  </p:cSld>
  <p:clrMapOvr>
    <a:masterClrMapping/>
  </p:clrMapOvr>
  <p:transition/>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3774</TotalTime>
  <Words>1287</Words>
  <Application>Microsoft Office PowerPoint</Application>
  <PresentationFormat>On-screen Show (4:3)</PresentationFormat>
  <Paragraphs>260</Paragraphs>
  <Slides>30</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McGrawHill-Italic</vt:lpstr>
      <vt:lpstr>Arial</vt:lpstr>
      <vt:lpstr>Tahoma</vt:lpstr>
      <vt:lpstr>Times</vt:lpstr>
      <vt:lpstr>Times New Roman</vt:lpstr>
      <vt:lpstr>Wingdings</vt:lpstr>
      <vt:lpstr>Blends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Standardization of Wireless Networks</vt:lpstr>
      <vt:lpstr>IEEE 802.11 Overview</vt:lpstr>
      <vt:lpstr>Components </vt:lpstr>
      <vt:lpstr>Services</vt:lpstr>
      <vt:lpstr>Medium Access Control</vt:lpstr>
      <vt:lpstr>MAC </vt:lpstr>
      <vt:lpstr>PCF Operation</vt:lpstr>
      <vt:lpstr>Frame Types</vt:lpstr>
      <vt:lpstr>Frame Subtypes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sreethar Sree Krishnan</cp:lastModifiedBy>
  <cp:revision>185</cp:revision>
  <dcterms:created xsi:type="dcterms:W3CDTF">2000-01-15T04:50:39Z</dcterms:created>
  <dcterms:modified xsi:type="dcterms:W3CDTF">2023-06-13T06:40:24Z</dcterms:modified>
</cp:coreProperties>
</file>