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52"/>
  </p:notesMasterIdLst>
  <p:sldIdLst>
    <p:sldId id="256" r:id="rId3"/>
    <p:sldId id="302" r:id="rId4"/>
    <p:sldId id="257" r:id="rId5"/>
    <p:sldId id="258" r:id="rId6"/>
    <p:sldId id="259" r:id="rId7"/>
    <p:sldId id="260" r:id="rId8"/>
    <p:sldId id="304" r:id="rId9"/>
    <p:sldId id="261" r:id="rId10"/>
    <p:sldId id="303" r:id="rId11"/>
    <p:sldId id="262" r:id="rId12"/>
    <p:sldId id="267" r:id="rId13"/>
    <p:sldId id="268" r:id="rId14"/>
    <p:sldId id="305" r:id="rId15"/>
    <p:sldId id="306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307" r:id="rId25"/>
    <p:sldId id="308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895" autoAdjust="0"/>
  </p:normalViewPr>
  <p:slideViewPr>
    <p:cSldViewPr>
      <p:cViewPr varScale="1">
        <p:scale>
          <a:sx n="50" d="100"/>
          <a:sy n="50" d="100"/>
        </p:scale>
        <p:origin x="1496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E1FEA-E3B1-45CB-B4EA-152F902E160C}" type="datetimeFigureOut">
              <a:rPr lang="en-IN" smtClean="0"/>
              <a:t>09-08-2024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C181B-C6D5-4233-9BCB-A332674AF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060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25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539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068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87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53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65567" y="1206245"/>
            <a:ext cx="422275" cy="147955"/>
          </a:xfrm>
          <a:custGeom>
            <a:avLst/>
            <a:gdLst/>
            <a:ahLst/>
            <a:cxnLst/>
            <a:rect l="l" t="t" r="r" b="b"/>
            <a:pathLst>
              <a:path w="422275" h="147955">
                <a:moveTo>
                  <a:pt x="422147" y="147827"/>
                </a:moveTo>
                <a:lnTo>
                  <a:pt x="422147" y="0"/>
                </a:lnTo>
                <a:lnTo>
                  <a:pt x="0" y="0"/>
                </a:lnTo>
                <a:lnTo>
                  <a:pt x="0" y="147827"/>
                </a:lnTo>
                <a:lnTo>
                  <a:pt x="422147" y="14782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5899" y="1206245"/>
            <a:ext cx="368045" cy="14782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1039" y="1206245"/>
            <a:ext cx="560832" cy="22859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486547" y="1206245"/>
            <a:ext cx="31750" cy="196215"/>
          </a:xfrm>
          <a:custGeom>
            <a:avLst/>
            <a:gdLst/>
            <a:ahLst/>
            <a:cxnLst/>
            <a:rect l="l" t="t" r="r" b="b"/>
            <a:pathLst>
              <a:path w="31750" h="196215">
                <a:moveTo>
                  <a:pt x="31241" y="195833"/>
                </a:moveTo>
                <a:lnTo>
                  <a:pt x="31241" y="0"/>
                </a:lnTo>
                <a:lnTo>
                  <a:pt x="0" y="0"/>
                </a:lnTo>
                <a:lnTo>
                  <a:pt x="0" y="195833"/>
                </a:lnTo>
                <a:lnTo>
                  <a:pt x="31241" y="195833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2014" y="229406"/>
            <a:ext cx="8609374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7548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71075" y="403493"/>
            <a:ext cx="5151248" cy="431978"/>
          </a:xfrm>
        </p:spPr>
        <p:txBody>
          <a:bodyPr lIns="0" tIns="0" rIns="0" bIns="0"/>
          <a:lstStyle>
            <a:lvl1pPr>
              <a:defRPr sz="2807" b="1" i="0">
                <a:solidFill>
                  <a:srgbClr val="053CE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7374" y="1355696"/>
            <a:ext cx="8918651" cy="269946"/>
          </a:xfrm>
        </p:spPr>
        <p:txBody>
          <a:bodyPr lIns="0" tIns="0" rIns="0" bIns="0"/>
          <a:lstStyle>
            <a:lvl1pPr>
              <a:defRPr sz="1754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938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71075" y="403493"/>
            <a:ext cx="5151248" cy="431978"/>
          </a:xfrm>
        </p:spPr>
        <p:txBody>
          <a:bodyPr lIns="0" tIns="0" rIns="0" bIns="0"/>
          <a:lstStyle>
            <a:lvl1pPr>
              <a:defRPr sz="2807" b="1" i="0">
                <a:solidFill>
                  <a:srgbClr val="053CE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6"/>
            <a:ext cx="465162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6"/>
            <a:ext cx="465162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387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71075" y="403493"/>
            <a:ext cx="5151248" cy="431978"/>
          </a:xfrm>
        </p:spPr>
        <p:txBody>
          <a:bodyPr lIns="0" tIns="0" rIns="0" bIns="0"/>
          <a:lstStyle>
            <a:lvl1pPr>
              <a:defRPr sz="2807" b="1" i="0">
                <a:solidFill>
                  <a:srgbClr val="053CE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287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3635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368299"/>
            <a:ext cx="9132595" cy="9192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66043" y="2806700"/>
            <a:ext cx="7409180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573" y="6860953"/>
            <a:ext cx="557530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71075" y="403493"/>
            <a:ext cx="5151248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53CE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7374" y="1355696"/>
            <a:ext cx="891865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1"/>
            <a:ext cx="34218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94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1010">
        <a:defRPr>
          <a:latin typeface="+mn-lt"/>
          <a:ea typeface="+mn-ea"/>
          <a:cs typeface="+mn-cs"/>
        </a:defRPr>
      </a:lvl2pPr>
      <a:lvl3pPr marL="802020">
        <a:defRPr>
          <a:latin typeface="+mn-lt"/>
          <a:ea typeface="+mn-ea"/>
          <a:cs typeface="+mn-cs"/>
        </a:defRPr>
      </a:lvl3pPr>
      <a:lvl4pPr marL="1203030">
        <a:defRPr>
          <a:latin typeface="+mn-lt"/>
          <a:ea typeface="+mn-ea"/>
          <a:cs typeface="+mn-cs"/>
        </a:defRPr>
      </a:lvl4pPr>
      <a:lvl5pPr marL="1604040">
        <a:defRPr>
          <a:latin typeface="+mn-lt"/>
          <a:ea typeface="+mn-ea"/>
          <a:cs typeface="+mn-cs"/>
        </a:defRPr>
      </a:lvl5pPr>
      <a:lvl6pPr marL="2005051">
        <a:defRPr>
          <a:latin typeface="+mn-lt"/>
          <a:ea typeface="+mn-ea"/>
          <a:cs typeface="+mn-cs"/>
        </a:defRPr>
      </a:lvl6pPr>
      <a:lvl7pPr marL="2406061">
        <a:defRPr>
          <a:latin typeface="+mn-lt"/>
          <a:ea typeface="+mn-ea"/>
          <a:cs typeface="+mn-cs"/>
        </a:defRPr>
      </a:lvl7pPr>
      <a:lvl8pPr marL="2807071">
        <a:defRPr>
          <a:latin typeface="+mn-lt"/>
          <a:ea typeface="+mn-ea"/>
          <a:cs typeface="+mn-cs"/>
        </a:defRPr>
      </a:lvl8pPr>
      <a:lvl9pPr marL="320808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1010">
        <a:defRPr>
          <a:latin typeface="+mn-lt"/>
          <a:ea typeface="+mn-ea"/>
          <a:cs typeface="+mn-cs"/>
        </a:defRPr>
      </a:lvl2pPr>
      <a:lvl3pPr marL="802020">
        <a:defRPr>
          <a:latin typeface="+mn-lt"/>
          <a:ea typeface="+mn-ea"/>
          <a:cs typeface="+mn-cs"/>
        </a:defRPr>
      </a:lvl3pPr>
      <a:lvl4pPr marL="1203030">
        <a:defRPr>
          <a:latin typeface="+mn-lt"/>
          <a:ea typeface="+mn-ea"/>
          <a:cs typeface="+mn-cs"/>
        </a:defRPr>
      </a:lvl4pPr>
      <a:lvl5pPr marL="1604040">
        <a:defRPr>
          <a:latin typeface="+mn-lt"/>
          <a:ea typeface="+mn-ea"/>
          <a:cs typeface="+mn-cs"/>
        </a:defRPr>
      </a:lvl5pPr>
      <a:lvl6pPr marL="2005051">
        <a:defRPr>
          <a:latin typeface="+mn-lt"/>
          <a:ea typeface="+mn-ea"/>
          <a:cs typeface="+mn-cs"/>
        </a:defRPr>
      </a:lvl6pPr>
      <a:lvl7pPr marL="2406061">
        <a:defRPr>
          <a:latin typeface="+mn-lt"/>
          <a:ea typeface="+mn-ea"/>
          <a:cs typeface="+mn-cs"/>
        </a:defRPr>
      </a:lvl7pPr>
      <a:lvl8pPr marL="2807071">
        <a:defRPr>
          <a:latin typeface="+mn-lt"/>
          <a:ea typeface="+mn-ea"/>
          <a:cs typeface="+mn-cs"/>
        </a:defRPr>
      </a:lvl8pPr>
      <a:lvl9pPr marL="320808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9900" y="1800225"/>
            <a:ext cx="9753600" cy="3003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115" algn="ctr">
              <a:lnSpc>
                <a:spcPct val="145500"/>
              </a:lnSpc>
              <a:spcBef>
                <a:spcPts val="95"/>
              </a:spcBef>
            </a:pPr>
            <a:r>
              <a:rPr lang="en-IN" sz="4000" i="0" dirty="0">
                <a:solidFill>
                  <a:srgbClr val="33339A"/>
                </a:solidFill>
                <a:latin typeface="Arial"/>
                <a:cs typeface="Arial"/>
              </a:rPr>
              <a:t>Module: 2 Circuit and Packet </a:t>
            </a:r>
            <a:r>
              <a:rPr sz="4000" i="0" dirty="0">
                <a:solidFill>
                  <a:srgbClr val="33339A"/>
                </a:solidFill>
                <a:latin typeface="Arial"/>
                <a:cs typeface="Arial"/>
              </a:rPr>
              <a:t>Switching</a:t>
            </a:r>
            <a:br>
              <a:rPr lang="en-IN" sz="4000" i="0" dirty="0">
                <a:solidFill>
                  <a:srgbClr val="33339A"/>
                </a:solidFill>
                <a:latin typeface="Arial"/>
                <a:cs typeface="Arial"/>
              </a:rPr>
            </a:br>
            <a:r>
              <a:rPr lang="en-IN" sz="2400" i="0" dirty="0">
                <a:solidFill>
                  <a:srgbClr val="002060"/>
                </a:solidFill>
                <a:latin typeface="Arial"/>
                <a:cs typeface="Arial"/>
              </a:rPr>
              <a:t>Switched Communication Networks – Circuit Switching – Packet Switching – Comparison – Implementing Network Software, Networking Parameters ( Transmission Impairments, Data Rate and Performance)</a:t>
            </a:r>
            <a:endParaRPr sz="4000" i="0" dirty="0">
              <a:solidFill>
                <a:srgbClr val="00206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581025"/>
            <a:ext cx="4572000" cy="442135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>
              <a:spcBef>
                <a:spcPts val="88"/>
              </a:spcBef>
            </a:pPr>
            <a:r>
              <a:rPr sz="2800" dirty="0">
                <a:solidFill>
                  <a:srgbClr val="000000"/>
                </a:solidFill>
              </a:rPr>
              <a:t>NEED </a:t>
            </a:r>
            <a:r>
              <a:rPr sz="2800" spc="-9" dirty="0">
                <a:solidFill>
                  <a:srgbClr val="000000"/>
                </a:solidFill>
              </a:rPr>
              <a:t>FOR</a:t>
            </a:r>
            <a:r>
              <a:rPr sz="2800" spc="-79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SWITCHING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133667" y="1241743"/>
            <a:ext cx="10089833" cy="6063624"/>
          </a:xfrm>
          <a:prstGeom prst="rect">
            <a:avLst/>
          </a:prstGeom>
        </p:spPr>
        <p:txBody>
          <a:bodyPr vert="horz" wrap="square" lIns="0" tIns="10582" rIns="0" bIns="0" rtlCol="0">
            <a:spAutoFit/>
          </a:bodyPr>
          <a:lstStyle/>
          <a:p>
            <a:pPr marL="313011" marR="4456" indent="-302428" algn="just" defTabSz="802020" rtl="0">
              <a:spcBef>
                <a:spcPts val="83"/>
              </a:spcBef>
              <a:buFontTx/>
              <a:buChar char="•"/>
              <a:tabLst>
                <a:tab pos="313568" algn="l"/>
              </a:tabLst>
            </a:pP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Whenever </a:t>
            </a:r>
            <a:r>
              <a:rPr sz="2800" kern="1200" spc="-26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we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have many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devices,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interconnection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between them 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becomes </a:t>
            </a:r>
            <a:r>
              <a:rPr sz="2800" kern="1200" spc="-13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more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difficult </a:t>
            </a:r>
            <a:r>
              <a:rPr sz="2800" kern="1200" spc="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as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number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of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devices increases.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Some </a:t>
            </a:r>
            <a:r>
              <a:rPr sz="2800" kern="1200" spc="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of 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conventional </a:t>
            </a:r>
            <a:r>
              <a:rPr sz="2800" kern="1200" spc="-26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ways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of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interconnecting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devices</a:t>
            </a:r>
            <a:r>
              <a:rPr sz="2800" kern="1200" spc="232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are:</a:t>
            </a:r>
          </a:p>
          <a:p>
            <a:pPr marL="663338" lvl="1" indent="-251745" algn="just" defTabSz="802020" rtl="0">
              <a:spcBef>
                <a:spcPts val="386"/>
              </a:spcBef>
              <a:buFontTx/>
              <a:buChar char="–"/>
              <a:tabLst>
                <a:tab pos="663895" algn="l"/>
              </a:tabLst>
            </a:pP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Point-to-point connection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between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devices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as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in a </a:t>
            </a:r>
            <a:r>
              <a:rPr sz="2800" b="1" kern="1200" spc="-18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mesh</a:t>
            </a:r>
            <a:r>
              <a:rPr sz="2800" b="1" kern="1200" spc="31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800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topology</a:t>
            </a:r>
            <a:endParaRPr sz="2800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401010" lvl="1" algn="l" defTabSz="802020" rtl="0">
              <a:spcBef>
                <a:spcPts val="31"/>
              </a:spcBef>
              <a:buFontTx/>
              <a:buChar char="–"/>
            </a:pPr>
            <a:endParaRPr sz="1400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663338" marR="234480" lvl="1" indent="-251745" algn="l" defTabSz="802020" rtl="0">
              <a:spcBef>
                <a:spcPts val="4"/>
              </a:spcBef>
              <a:buFontTx/>
              <a:buChar char="–"/>
              <a:tabLst>
                <a:tab pos="663338" algn="l"/>
                <a:tab pos="663895" algn="l"/>
              </a:tabLst>
            </a:pP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Connection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between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central device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and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every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other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device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–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as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in </a:t>
            </a:r>
            <a:r>
              <a:rPr sz="2800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star  </a:t>
            </a:r>
            <a:r>
              <a:rPr sz="2800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topology.</a:t>
            </a:r>
            <a:endParaRPr sz="2800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401010" lvl="1" algn="l" defTabSz="802020" rtl="0">
              <a:spcBef>
                <a:spcPts val="31"/>
              </a:spcBef>
              <a:buFontTx/>
              <a:buChar char="–"/>
            </a:pPr>
            <a:endParaRPr sz="1600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663338" lvl="1" indent="-251745" algn="l" defTabSz="802020" rtl="0">
              <a:buFont typeface="Times New Roman"/>
              <a:buChar char="–"/>
              <a:tabLst>
                <a:tab pos="663338" algn="l"/>
                <a:tab pos="663895" algn="l"/>
              </a:tabLst>
            </a:pPr>
            <a:r>
              <a:rPr sz="2800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Bus </a:t>
            </a:r>
            <a:r>
              <a:rPr sz="2800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topology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– </a:t>
            </a:r>
            <a:r>
              <a:rPr sz="2800" kern="1200" spc="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not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practical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if the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devices are at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great</a:t>
            </a:r>
            <a:r>
              <a:rPr sz="2800" kern="1200" spc="3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distances</a:t>
            </a:r>
            <a:endParaRPr sz="2800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401010" lvl="1" algn="l" defTabSz="802020" rtl="0">
              <a:spcBef>
                <a:spcPts val="18"/>
              </a:spcBef>
              <a:buFontTx/>
              <a:buChar char="–"/>
            </a:pPr>
            <a:endParaRPr sz="1600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313011" indent="-302428" algn="l" defTabSz="802020" rtl="0">
              <a:buFont typeface="Times New Roman"/>
              <a:buChar char="•"/>
              <a:tabLst>
                <a:tab pos="313011" algn="l"/>
                <a:tab pos="313568" algn="l"/>
              </a:tabLst>
            </a:pP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All these </a:t>
            </a:r>
            <a:r>
              <a:rPr sz="2800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techniques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require </a:t>
            </a:r>
            <a:r>
              <a:rPr sz="2800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extensive cabling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, </a:t>
            </a:r>
            <a:r>
              <a:rPr sz="28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dependence </a:t>
            </a:r>
            <a:r>
              <a:rPr sz="28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on</a:t>
            </a:r>
            <a:r>
              <a:rPr sz="2800" kern="1200" spc="83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IN"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800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central server </a:t>
            </a:r>
            <a:r>
              <a:rPr sz="28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or a</a:t>
            </a:r>
            <a:r>
              <a:rPr sz="2800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central</a:t>
            </a:r>
            <a:r>
              <a:rPr sz="2800" b="1" kern="1200" spc="-57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800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bus.</a:t>
            </a:r>
            <a:endParaRPr sz="2800" b="1" kern="1200" dirty="0">
              <a:solidFill>
                <a:srgbClr val="FF0000"/>
              </a:solidFill>
              <a:latin typeface="Times New Roman"/>
              <a:ea typeface="+mn-ea"/>
              <a:cs typeface="Times New Roman"/>
            </a:endParaRPr>
          </a:p>
          <a:p>
            <a:pPr algn="l" defTabSz="802020" rtl="0">
              <a:spcBef>
                <a:spcPts val="13"/>
              </a:spcBef>
            </a:pPr>
            <a:endParaRPr sz="2800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313011" indent="-302428" algn="l" defTabSz="802020" rtl="0">
              <a:spcBef>
                <a:spcPts val="4"/>
              </a:spcBef>
              <a:buFontTx/>
              <a:buChar char="•"/>
              <a:tabLst>
                <a:tab pos="313011" algn="l"/>
                <a:tab pos="313568" algn="l"/>
              </a:tabLst>
            </a:pPr>
            <a:r>
              <a:rPr sz="32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sz="3200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better solution </a:t>
            </a:r>
            <a:r>
              <a:rPr sz="32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to this </a:t>
            </a:r>
            <a:r>
              <a:rPr sz="3200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interconnectivity </a:t>
            </a:r>
            <a:r>
              <a:rPr sz="3200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problem </a:t>
            </a:r>
            <a:r>
              <a:rPr sz="3200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sz="3200" kern="1200" spc="105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3200" b="1" i="1" kern="1200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switching</a:t>
            </a:r>
            <a:r>
              <a:rPr sz="2807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34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5" dirty="0">
                <a:solidFill>
                  <a:srgbClr val="3333CC"/>
                </a:solidFill>
                <a:latin typeface="Times New Roman"/>
                <a:cs typeface="Times New Roman"/>
              </a:rPr>
              <a:t>8.1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Switched</a:t>
            </a:r>
            <a:r>
              <a:rPr spc="-85" dirty="0"/>
              <a:t> </a:t>
            </a:r>
            <a:r>
              <a:rPr spc="-10" dirty="0"/>
              <a:t>network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6117" y="2253995"/>
            <a:ext cx="6691121" cy="32895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831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5" dirty="0">
                <a:solidFill>
                  <a:srgbClr val="3333CC"/>
                </a:solidFill>
                <a:latin typeface="Times New Roman"/>
                <a:cs typeface="Times New Roman"/>
              </a:rPr>
              <a:t>8.2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pc="-25" dirty="0"/>
              <a:t>Taxonomy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941" y="2114550"/>
            <a:ext cx="8327897" cy="341604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211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z="3200" i="0" spc="-25" dirty="0">
                <a:latin typeface="Times New Roman"/>
                <a:cs typeface="Times New Roman"/>
              </a:rPr>
              <a:t>8-</a:t>
            </a:r>
            <a:r>
              <a:rPr sz="3200" i="0" spc="-50" dirty="0">
                <a:latin typeface="Times New Roman"/>
                <a:cs typeface="Times New Roman"/>
              </a:rPr>
              <a:t>1</a:t>
            </a:r>
            <a:r>
              <a:rPr sz="3200" i="0" dirty="0">
                <a:latin typeface="Times New Roman"/>
                <a:cs typeface="Times New Roman"/>
              </a:rPr>
              <a:t>	</a:t>
            </a:r>
            <a:r>
              <a:rPr sz="3200" i="0" spc="-65" dirty="0">
                <a:latin typeface="Times New Roman"/>
                <a:cs typeface="Times New Roman"/>
              </a:rPr>
              <a:t>CIRCUIT-</a:t>
            </a:r>
            <a:r>
              <a:rPr sz="3200" i="0" dirty="0">
                <a:latin typeface="Times New Roman"/>
                <a:cs typeface="Times New Roman"/>
              </a:rPr>
              <a:t>SWITCHED</a:t>
            </a:r>
            <a:r>
              <a:rPr sz="3200" i="0" spc="-85" dirty="0">
                <a:latin typeface="Times New Roman"/>
                <a:cs typeface="Times New Roman"/>
              </a:rPr>
              <a:t> </a:t>
            </a:r>
            <a:r>
              <a:rPr sz="3200" i="0" spc="-10" dirty="0">
                <a:latin typeface="Times New Roman"/>
                <a:cs typeface="Times New Roman"/>
              </a:rPr>
              <a:t>NETWORKS</a:t>
            </a:r>
            <a:endParaRPr sz="320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129137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66535" y="1412854"/>
            <a:ext cx="8760327" cy="587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5965" marR="5080" indent="-5715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circuit-</a:t>
            </a:r>
            <a:r>
              <a:rPr sz="3200" dirty="0">
                <a:latin typeface="Times New Roman"/>
                <a:cs typeface="Times New Roman"/>
              </a:rPr>
              <a:t>switched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consists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switches </a:t>
            </a:r>
            <a:r>
              <a:rPr sz="3200" dirty="0">
                <a:latin typeface="Times New Roman"/>
                <a:cs typeface="Times New Roman"/>
              </a:rPr>
              <a:t>connected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physical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links.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endParaRPr lang="en-IN" sz="3200" spc="50" dirty="0">
              <a:latin typeface="Times New Roman"/>
              <a:cs typeface="Times New Roman"/>
            </a:endParaRPr>
          </a:p>
          <a:p>
            <a:pPr marL="735965" marR="5080" indent="-5715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connection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two </a:t>
            </a:r>
            <a:r>
              <a:rPr sz="3200" dirty="0">
                <a:latin typeface="Times New Roman"/>
                <a:cs typeface="Times New Roman"/>
              </a:rPr>
              <a:t>stations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dedicated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path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made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more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100" dirty="0">
                <a:latin typeface="Times New Roman"/>
                <a:cs typeface="Times New Roman"/>
              </a:rPr>
              <a:t>li</a:t>
            </a:r>
            <a:r>
              <a:rPr sz="3200" spc="105" dirty="0">
                <a:latin typeface="Times New Roman"/>
                <a:cs typeface="Times New Roman"/>
              </a:rPr>
              <a:t>nk</a:t>
            </a:r>
            <a:r>
              <a:rPr sz="3200" spc="100" dirty="0">
                <a:latin typeface="Times New Roman"/>
                <a:cs typeface="Times New Roman"/>
              </a:rPr>
              <a:t>s</a:t>
            </a:r>
            <a:r>
              <a:rPr sz="3200" spc="-600" dirty="0">
                <a:latin typeface="Times New Roman"/>
                <a:cs typeface="Times New Roman"/>
              </a:rPr>
              <a:t>..</a:t>
            </a:r>
            <a:endParaRPr lang="en-IN" sz="3200" spc="-100" dirty="0">
              <a:latin typeface="Times New Roman"/>
              <a:cs typeface="Times New Roman"/>
            </a:endParaRPr>
          </a:p>
          <a:p>
            <a:pPr marL="735965" marR="5080" indent="-5715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200" dirty="0">
                <a:latin typeface="Times New Roman"/>
                <a:cs typeface="Times New Roman"/>
              </a:rPr>
              <a:t>However,</a:t>
            </a:r>
            <a:r>
              <a:rPr sz="3200" spc="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5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connection</a:t>
            </a:r>
            <a:r>
              <a:rPr sz="3200" spc="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uses</a:t>
            </a:r>
            <a:r>
              <a:rPr sz="3200" spc="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only</a:t>
            </a:r>
            <a:r>
              <a:rPr sz="3200" spc="5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55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dedicated </a:t>
            </a:r>
            <a:r>
              <a:rPr sz="3200" dirty="0">
                <a:latin typeface="Times New Roman"/>
                <a:cs typeface="Times New Roman"/>
              </a:rPr>
              <a:t>channel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spc="100" dirty="0">
                <a:latin typeface="Times New Roman"/>
                <a:cs typeface="Times New Roman"/>
              </a:rPr>
              <a:t>li</a:t>
            </a:r>
            <a:r>
              <a:rPr sz="3200" spc="105" dirty="0">
                <a:latin typeface="Times New Roman"/>
                <a:cs typeface="Times New Roman"/>
              </a:rPr>
              <a:t>nk</a:t>
            </a:r>
            <a:r>
              <a:rPr sz="3200" spc="-600" dirty="0">
                <a:latin typeface="Times New Roman"/>
                <a:cs typeface="Times New Roman"/>
              </a:rPr>
              <a:t>.</a:t>
            </a:r>
            <a:r>
              <a:rPr sz="3200" spc="105" dirty="0">
                <a:latin typeface="Times New Roman"/>
                <a:cs typeface="Times New Roman"/>
              </a:rPr>
              <a:t>.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endParaRPr lang="en-IN" sz="3200" spc="375" dirty="0">
              <a:latin typeface="Times New Roman"/>
              <a:cs typeface="Times New Roman"/>
            </a:endParaRPr>
          </a:p>
          <a:p>
            <a:pPr marL="735965" marR="5080" indent="-57150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link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normally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divided </a:t>
            </a:r>
            <a:r>
              <a:rPr sz="3200" dirty="0">
                <a:latin typeface="Times New Roman"/>
                <a:cs typeface="Times New Roman"/>
              </a:rPr>
              <a:t>into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 channels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 FDM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TDM.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35585" marR="229870" algn="ctr">
              <a:lnSpc>
                <a:spcPct val="100000"/>
              </a:lnSpc>
              <a:spcBef>
                <a:spcPts val="275"/>
              </a:spcBef>
              <a:tabLst>
                <a:tab pos="3229610" algn="l"/>
              </a:tabLst>
            </a:pPr>
            <a:r>
              <a:rPr sz="3200" b="1" dirty="0">
                <a:latin typeface="Arial"/>
                <a:cs typeface="Arial"/>
              </a:rPr>
              <a:t>A</a:t>
            </a:r>
            <a:r>
              <a:rPr sz="3200" b="1" spc="-19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circuit-</a:t>
            </a:r>
            <a:r>
              <a:rPr sz="3200" b="1" dirty="0">
                <a:latin typeface="Arial"/>
                <a:cs typeface="Arial"/>
              </a:rPr>
              <a:t>switched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network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made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spc="-50" dirty="0">
                <a:latin typeface="Arial"/>
                <a:cs typeface="Arial"/>
              </a:rPr>
              <a:t>a </a:t>
            </a:r>
            <a:r>
              <a:rPr sz="3200" b="1" dirty="0">
                <a:latin typeface="Arial"/>
                <a:cs typeface="Arial"/>
              </a:rPr>
              <a:t>set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switches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connected</a:t>
            </a:r>
            <a:r>
              <a:rPr sz="3200" b="1" spc="-1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by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physical </a:t>
            </a:r>
            <a:r>
              <a:rPr sz="3200" b="1" dirty="0">
                <a:latin typeface="Arial"/>
                <a:cs typeface="Arial"/>
              </a:rPr>
              <a:t>links,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which</a:t>
            </a:r>
            <a:r>
              <a:rPr sz="3200" b="1" dirty="0">
                <a:latin typeface="Arial"/>
                <a:cs typeface="Arial"/>
              </a:rPr>
              <a:t>	each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link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is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divided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into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n</a:t>
            </a:r>
            <a:r>
              <a:rPr sz="3200" b="1" i="1" spc="-7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channels.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0" y="964208"/>
            <a:ext cx="9841230" cy="3443251"/>
          </a:xfrm>
          <a:prstGeom prst="rect">
            <a:avLst/>
          </a:prstGeom>
        </p:spPr>
        <p:txBody>
          <a:bodyPr vert="horz" wrap="square" lIns="0" tIns="114174" rIns="0" bIns="0" rtlCol="0">
            <a:spAutoFit/>
          </a:bodyPr>
          <a:lstStyle/>
          <a:p>
            <a:pPr marL="165417" algn="ctr" defTabSz="802020" rtl="0">
              <a:spcBef>
                <a:spcPts val="899"/>
              </a:spcBef>
            </a:pPr>
            <a:r>
              <a:rPr sz="2456" b="1" kern="1200" spc="-4" dirty="0">
                <a:solidFill>
                  <a:srgbClr val="7030A0"/>
                </a:solidFill>
                <a:latin typeface="Times New Roman"/>
                <a:ea typeface="+mn-ea"/>
                <a:cs typeface="Times New Roman"/>
              </a:rPr>
              <a:t>PHASES IN </a:t>
            </a:r>
            <a:r>
              <a:rPr sz="2456" b="1" kern="1200" dirty="0">
                <a:solidFill>
                  <a:srgbClr val="7030A0"/>
                </a:solidFill>
                <a:latin typeface="Times New Roman"/>
                <a:ea typeface="+mn-ea"/>
                <a:cs typeface="Times New Roman"/>
              </a:rPr>
              <a:t>CIRCUIT-SWITCHING</a:t>
            </a:r>
            <a:r>
              <a:rPr sz="2456" b="1" kern="1200" spc="-9" dirty="0">
                <a:solidFill>
                  <a:srgbClr val="7030A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b="1" kern="1200" spc="-4" dirty="0">
                <a:solidFill>
                  <a:srgbClr val="7030A0"/>
                </a:solidFill>
                <a:latin typeface="Times New Roman"/>
                <a:ea typeface="+mn-ea"/>
                <a:cs typeface="Times New Roman"/>
              </a:rPr>
              <a:t>NETWORKS</a:t>
            </a:r>
            <a:endParaRPr lang="en-IN" sz="2456" b="1" kern="1200" spc="-4" dirty="0">
              <a:solidFill>
                <a:srgbClr val="7030A0"/>
              </a:solidFill>
              <a:latin typeface="Times New Roman"/>
              <a:ea typeface="+mn-ea"/>
              <a:cs typeface="Times New Roman"/>
            </a:endParaRPr>
          </a:p>
          <a:p>
            <a:pPr marL="165417" algn="l" defTabSz="802020" rtl="0">
              <a:spcBef>
                <a:spcPts val="899"/>
              </a:spcBef>
            </a:pPr>
            <a:endParaRPr sz="2105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313011" marR="731287" indent="-302428" algn="l" defTabSz="802020" rtl="0">
              <a:spcBef>
                <a:spcPts val="1070"/>
              </a:spcBef>
              <a:buFontTx/>
              <a:buChar char="•"/>
              <a:tabLst>
                <a:tab pos="313011" algn="l"/>
                <a:tab pos="313568" algn="l"/>
              </a:tabLst>
            </a:pPr>
            <a:r>
              <a:rPr sz="2807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actual </a:t>
            </a:r>
            <a:r>
              <a:rPr sz="2807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communication </a:t>
            </a:r>
            <a:r>
              <a:rPr sz="2807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in </a:t>
            </a:r>
            <a:r>
              <a:rPr sz="2807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circuit-  </a:t>
            </a:r>
            <a:r>
              <a:rPr sz="2807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switching requires </a:t>
            </a:r>
            <a:endParaRPr lang="en-IN" sz="2807" kern="1200" spc="-4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10582" marR="731287" algn="l" defTabSz="802020" rtl="0">
              <a:spcBef>
                <a:spcPts val="1070"/>
              </a:spcBef>
              <a:tabLst>
                <a:tab pos="313011" algn="l"/>
                <a:tab pos="313568" algn="l"/>
              </a:tabLst>
            </a:pPr>
            <a:r>
              <a:rPr lang="en-IN" sz="2807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	</a:t>
            </a:r>
            <a:r>
              <a:rPr sz="2807" b="1" kern="1200" spc="-4" dirty="0">
                <a:solidFill>
                  <a:srgbClr val="7030A0"/>
                </a:solidFill>
                <a:latin typeface="Times New Roman"/>
                <a:ea typeface="+mn-ea"/>
                <a:cs typeface="Times New Roman"/>
              </a:rPr>
              <a:t>3</a:t>
            </a:r>
            <a:r>
              <a:rPr sz="2807" b="1" kern="1200" spc="13" dirty="0">
                <a:solidFill>
                  <a:srgbClr val="7030A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807" b="1" kern="1200" spc="-4" dirty="0">
                <a:solidFill>
                  <a:srgbClr val="7030A0"/>
                </a:solidFill>
                <a:latin typeface="Times New Roman"/>
                <a:ea typeface="+mn-ea"/>
                <a:cs typeface="Times New Roman"/>
              </a:rPr>
              <a:t>phases</a:t>
            </a:r>
            <a:r>
              <a:rPr sz="2807" kern="1200" spc="-4" dirty="0">
                <a:solidFill>
                  <a:srgbClr val="7030A0"/>
                </a:solidFill>
                <a:latin typeface="Times New Roman"/>
                <a:ea typeface="+mn-ea"/>
                <a:cs typeface="Times New Roman"/>
              </a:rPr>
              <a:t>:</a:t>
            </a:r>
            <a:endParaRPr sz="2807" kern="1200" dirty="0">
              <a:solidFill>
                <a:srgbClr val="7030A0"/>
              </a:solidFill>
              <a:latin typeface="Times New Roman"/>
              <a:ea typeface="+mn-ea"/>
              <a:cs typeface="Times New Roman"/>
            </a:endParaRPr>
          </a:p>
          <a:p>
            <a:pPr marL="663338" lvl="1" indent="-251745" algn="l" defTabSz="802020" rtl="0">
              <a:spcBef>
                <a:spcPts val="610"/>
              </a:spcBef>
              <a:buFont typeface="Times New Roman"/>
              <a:buChar char="–"/>
              <a:tabLst>
                <a:tab pos="663895" algn="l"/>
              </a:tabLst>
            </a:pPr>
            <a:r>
              <a:rPr sz="2456" b="1" kern="1200" spc="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connection setup </a:t>
            </a:r>
            <a:r>
              <a:rPr sz="2456" b="1" kern="1200" spc="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or</a:t>
            </a:r>
            <a:r>
              <a:rPr sz="2456" b="1" kern="1200" spc="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circuit</a:t>
            </a:r>
            <a:r>
              <a:rPr sz="2456" b="1" kern="1200" spc="-228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b="1" kern="1200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establishment,</a:t>
            </a:r>
            <a:endParaRPr sz="2456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663338" lvl="1" indent="-251745" algn="l" defTabSz="802020" rtl="0">
              <a:spcBef>
                <a:spcPts val="592"/>
              </a:spcBef>
              <a:buFont typeface="Times New Roman"/>
              <a:buChar char="–"/>
              <a:tabLst>
                <a:tab pos="663895" algn="l"/>
              </a:tabLst>
            </a:pPr>
            <a:r>
              <a:rPr sz="2456" b="1" kern="1200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data </a:t>
            </a:r>
            <a:r>
              <a:rPr sz="2456" b="1" kern="1200" spc="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transfer,</a:t>
            </a:r>
            <a:r>
              <a:rPr sz="2456" b="1" kern="1200" spc="-88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b="1" kern="1200" spc="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and</a:t>
            </a:r>
            <a:endParaRPr sz="2456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663338" lvl="1" indent="-251745" algn="l" defTabSz="802020" rtl="0">
              <a:spcBef>
                <a:spcPts val="588"/>
              </a:spcBef>
              <a:buFont typeface="Times New Roman"/>
              <a:buChar char="–"/>
              <a:tabLst>
                <a:tab pos="663895" algn="l"/>
              </a:tabLst>
            </a:pPr>
            <a:r>
              <a:rPr sz="2456" b="1" kern="1200" spc="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connection teardown </a:t>
            </a:r>
            <a:r>
              <a:rPr sz="2456" b="1" kern="1200" spc="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or</a:t>
            </a:r>
            <a:r>
              <a:rPr sz="2456" b="1" kern="1200" spc="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b="1" kern="1200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circuit</a:t>
            </a:r>
            <a:r>
              <a:rPr sz="2456" b="1" kern="1200" spc="-28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b="1" kern="1200" spc="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disconnect</a:t>
            </a:r>
            <a:r>
              <a:rPr sz="2456" kern="1200" spc="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.</a:t>
            </a:r>
            <a:endParaRPr sz="2456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62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5" dirty="0">
                <a:solidFill>
                  <a:srgbClr val="3333CC"/>
                </a:solidFill>
                <a:latin typeface="Times New Roman"/>
                <a:cs typeface="Times New Roman"/>
              </a:rPr>
              <a:t>8.3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trivial</a:t>
            </a:r>
            <a:r>
              <a:rPr spc="-25" dirty="0"/>
              <a:t> </a:t>
            </a:r>
            <a:r>
              <a:rPr spc="-20" dirty="0"/>
              <a:t>circuit-</a:t>
            </a:r>
            <a:r>
              <a:rPr spc="-10" dirty="0"/>
              <a:t>switched</a:t>
            </a:r>
            <a:r>
              <a:rPr spc="-50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069" y="1786127"/>
            <a:ext cx="7532369" cy="450646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3700" y="793733"/>
            <a:ext cx="9753600" cy="5760287"/>
          </a:xfrm>
          <a:prstGeom prst="rect">
            <a:avLst/>
          </a:prstGeom>
        </p:spPr>
        <p:txBody>
          <a:bodyPr vert="horz" wrap="square" lIns="0" tIns="10025" rIns="0" bIns="0" rtlCol="0">
            <a:spAutoFit/>
          </a:bodyPr>
          <a:lstStyle/>
          <a:p>
            <a:pPr marL="412149" indent="-401010" algn="just" defTabSz="802020" rtl="0">
              <a:spcBef>
                <a:spcPts val="79"/>
              </a:spcBef>
              <a:buFont typeface="Arial" panose="020B0604020202020204" pitchFamily="34" charset="0"/>
              <a:buChar char="•"/>
              <a:tabLst>
                <a:tab pos="211087" algn="l"/>
                <a:tab pos="211644" algn="l"/>
              </a:tabLst>
            </a:pP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Before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sz="2456" kern="1200" spc="-13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two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systems </a:t>
            </a:r>
            <a:r>
              <a:rPr sz="2456" kern="1200" spc="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can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communicate,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dedicated circuit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(i.e.</a:t>
            </a:r>
            <a:r>
              <a:rPr sz="2456" kern="1200" spc="-83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IN"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combination </a:t>
            </a:r>
            <a:r>
              <a:rPr sz="2456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of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channels and links) </a:t>
            </a:r>
            <a:r>
              <a:rPr sz="2456" kern="1200" spc="-18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must </a:t>
            </a:r>
            <a:r>
              <a:rPr sz="2456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be</a:t>
            </a:r>
            <a:r>
              <a:rPr sz="2456" kern="1200" spc="171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established.</a:t>
            </a:r>
            <a:endParaRPr sz="2456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401010" indent="-401010" algn="just" defTabSz="802020" rtl="0">
              <a:spcBef>
                <a:spcPts val="4"/>
              </a:spcBef>
              <a:buFont typeface="Arial" panose="020B0604020202020204" pitchFamily="34" charset="0"/>
              <a:buChar char="•"/>
            </a:pPr>
            <a:endParaRPr sz="1579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412149" marR="319694" indent="-401010" algn="just" defTabSz="802020" rtl="0">
              <a:buFont typeface="Arial" panose="020B0604020202020204" pitchFamily="34" charset="0"/>
              <a:buChar char="•"/>
              <a:tabLst>
                <a:tab pos="211087" algn="l"/>
                <a:tab pos="211644" algn="l"/>
              </a:tabLst>
            </a:pP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For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example,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in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fig</a:t>
            </a:r>
            <a:r>
              <a:rPr lang="en-IN"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, </a:t>
            </a:r>
            <a:r>
              <a:rPr sz="2456" kern="1200" spc="-18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when </a:t>
            </a: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system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needs to </a:t>
            </a:r>
            <a:r>
              <a:rPr sz="2456" kern="1200" spc="-13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communicate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to  </a:t>
            </a: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system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M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, it sends a </a:t>
            </a:r>
            <a:r>
              <a:rPr sz="2456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setup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request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to </a:t>
            </a: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switch </a:t>
            </a:r>
            <a:r>
              <a:rPr sz="2456" b="1" kern="1200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I</a:t>
            </a:r>
            <a:r>
              <a:rPr sz="2456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. This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request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contains the  </a:t>
            </a:r>
            <a:r>
              <a:rPr sz="2456" b="1" kern="1200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address</a:t>
            </a:r>
            <a:r>
              <a:rPr sz="2456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of </a:t>
            </a: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system</a:t>
            </a:r>
            <a:r>
              <a:rPr sz="2456" b="1" kern="1200" spc="-26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M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.</a:t>
            </a:r>
            <a:endParaRPr sz="2456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algn="just" defTabSz="802020" rtl="0">
              <a:spcBef>
                <a:spcPts val="9"/>
              </a:spcBef>
              <a:buFont typeface="Times New Roman"/>
              <a:buChar char="•"/>
            </a:pPr>
            <a:endParaRPr sz="1579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412149" indent="-401010" algn="just" defTabSz="802020" rtl="0">
              <a:buFont typeface="Arial" panose="020B0604020202020204" pitchFamily="34" charset="0"/>
              <a:buChar char="•"/>
              <a:tabLst>
                <a:tab pos="211087" algn="l"/>
                <a:tab pos="211644" algn="l"/>
              </a:tabLst>
            </a:pP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Switch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I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finds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channel between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itself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and </a:t>
            </a: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switch</a:t>
            </a:r>
            <a:r>
              <a:rPr sz="2456" b="1" kern="1200" spc="232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IV.</a:t>
            </a:r>
            <a:endParaRPr sz="2456" b="1" kern="1200" dirty="0">
              <a:solidFill>
                <a:srgbClr val="FF0000"/>
              </a:solidFill>
              <a:latin typeface="Times New Roman"/>
              <a:ea typeface="+mn-ea"/>
              <a:cs typeface="Times New Roman"/>
            </a:endParaRPr>
          </a:p>
          <a:p>
            <a:pPr algn="just" defTabSz="802020" rtl="0">
              <a:spcBef>
                <a:spcPts val="4"/>
              </a:spcBef>
              <a:buFont typeface="Times New Roman"/>
              <a:buChar char="•"/>
            </a:pPr>
            <a:endParaRPr sz="1579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412149" marR="879437" indent="-401010" algn="just" defTabSz="802020" rtl="0">
              <a:buFont typeface="Arial" panose="020B0604020202020204" pitchFamily="34" charset="0"/>
              <a:buChar char="•"/>
              <a:tabLst>
                <a:tab pos="211087" algn="l"/>
                <a:tab pos="211644" algn="l"/>
              </a:tabLst>
            </a:pP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Switch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I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then </a:t>
            </a:r>
            <a:r>
              <a:rPr sz="2456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sends the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request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to </a:t>
            </a: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switch </a:t>
            </a:r>
            <a:r>
              <a:rPr sz="2456" b="1" kern="1200" spc="-4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IV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. </a:t>
            </a:r>
            <a:r>
              <a:rPr sz="2456" kern="1200" spc="-13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Switch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IV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finds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 dedicated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channel between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itself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and </a:t>
            </a: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switch</a:t>
            </a:r>
            <a:r>
              <a:rPr sz="2456" b="1" kern="1200" spc="12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b="1" kern="1200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III</a:t>
            </a:r>
            <a:r>
              <a:rPr sz="2456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.</a:t>
            </a:r>
          </a:p>
          <a:p>
            <a:pPr algn="just" defTabSz="802020" rtl="0">
              <a:spcBef>
                <a:spcPts val="9"/>
              </a:spcBef>
              <a:buFont typeface="Times New Roman"/>
              <a:buChar char="•"/>
            </a:pPr>
            <a:endParaRPr sz="1579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412149" indent="-401010" algn="just" defTabSz="802020" rtl="0">
              <a:buFont typeface="Arial" panose="020B0604020202020204" pitchFamily="34" charset="0"/>
              <a:buChar char="•"/>
              <a:tabLst>
                <a:tab pos="211087" algn="l"/>
                <a:tab pos="211644" algn="l"/>
              </a:tabLst>
            </a:pP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Switch </a:t>
            </a:r>
            <a:r>
              <a:rPr sz="2456" b="1" kern="1200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III </a:t>
            </a:r>
            <a:r>
              <a:rPr sz="2456" kern="1200" spc="-13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informs </a:t>
            </a: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system </a:t>
            </a:r>
            <a:r>
              <a:rPr sz="2456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M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that </a:t>
            </a:r>
            <a:r>
              <a:rPr sz="2456" kern="1200" spc="-13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system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 </a:t>
            </a:r>
            <a:r>
              <a:rPr sz="2456" kern="1200" spc="-18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wants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sz="2456" kern="1200" spc="316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kern="1200" spc="-13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communicate.</a:t>
            </a:r>
            <a:endParaRPr sz="2456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algn="just" defTabSz="802020" rtl="0">
              <a:spcBef>
                <a:spcPts val="9"/>
              </a:spcBef>
              <a:buFont typeface="Times New Roman"/>
              <a:buChar char="•"/>
            </a:pPr>
            <a:endParaRPr sz="1579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412149" marR="196605" indent="-401010" algn="just" defTabSz="802020" rtl="0">
              <a:buFont typeface="Arial" panose="020B0604020202020204" pitchFamily="34" charset="0"/>
              <a:buChar char="•"/>
              <a:tabLst>
                <a:tab pos="211087" algn="l"/>
                <a:tab pos="211644" algn="l"/>
              </a:tabLst>
            </a:pP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System </a:t>
            </a:r>
            <a:r>
              <a:rPr sz="2456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M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then sends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an </a:t>
            </a:r>
            <a:r>
              <a:rPr sz="2456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acknowledgement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in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opposite direction to </a:t>
            </a:r>
            <a:r>
              <a:rPr sz="2456" b="1" kern="1200" spc="-13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system </a:t>
            </a:r>
            <a:r>
              <a:rPr sz="2456" b="1" kern="1200" spc="-18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sz="2456" kern="1200" spc="-18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.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Once </a:t>
            </a:r>
            <a:r>
              <a:rPr sz="2456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receives 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sz="2456" b="1" kern="1200" spc="-9" dirty="0">
                <a:solidFill>
                  <a:srgbClr val="FF0000"/>
                </a:solidFill>
                <a:latin typeface="Times New Roman"/>
                <a:ea typeface="+mn-ea"/>
                <a:cs typeface="Times New Roman"/>
              </a:rPr>
              <a:t>acknowledgment</a:t>
            </a:r>
            <a:r>
              <a:rPr sz="2456" kern="1200" spc="-9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, the </a:t>
            </a:r>
            <a:r>
              <a:rPr sz="2456" kern="1200" spc="-4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connection is established.</a:t>
            </a:r>
            <a:endParaRPr sz="2456" kern="1200" dirty="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2039" y="25206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1872995"/>
            <a:ext cx="1143000" cy="5669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70139" y="2651010"/>
            <a:ext cx="8077200" cy="2841625"/>
          </a:xfrm>
          <a:custGeom>
            <a:avLst/>
            <a:gdLst/>
            <a:ahLst/>
            <a:cxnLst/>
            <a:rect l="l" t="t" r="r" b="b"/>
            <a:pathLst>
              <a:path w="8077200" h="2841625">
                <a:moveTo>
                  <a:pt x="8077200" y="0"/>
                </a:moveTo>
                <a:lnTo>
                  <a:pt x="0" y="0"/>
                </a:lnTo>
                <a:lnTo>
                  <a:pt x="0" y="268986"/>
                </a:lnTo>
                <a:lnTo>
                  <a:pt x="0" y="269748"/>
                </a:lnTo>
                <a:lnTo>
                  <a:pt x="0" y="2841498"/>
                </a:lnTo>
                <a:lnTo>
                  <a:pt x="8077200" y="2841498"/>
                </a:lnTo>
                <a:lnTo>
                  <a:pt x="8077200" y="268986"/>
                </a:lnTo>
                <a:lnTo>
                  <a:pt x="8077200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44123" y="18938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444124" y="2649727"/>
            <a:ext cx="7685406" cy="2474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  <a:tabLst>
                <a:tab pos="1205865" algn="l"/>
              </a:tabLst>
            </a:pP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circuit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switching,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resources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need </a:t>
            </a:r>
            <a:r>
              <a:rPr sz="3200" b="1" dirty="0">
                <a:latin typeface="Arial"/>
                <a:cs typeface="Arial"/>
              </a:rPr>
              <a:t>to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be</a:t>
            </a:r>
            <a:r>
              <a:rPr sz="3200" b="1" dirty="0">
                <a:latin typeface="Arial"/>
                <a:cs typeface="Arial"/>
              </a:rPr>
              <a:t>	reserved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during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setup</a:t>
            </a:r>
            <a:r>
              <a:rPr sz="3200" b="1" spc="-1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phase;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resources</a:t>
            </a:r>
            <a:r>
              <a:rPr sz="3200" b="1" spc="-1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remain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dedicated</a:t>
            </a:r>
            <a:r>
              <a:rPr sz="3200" b="1" spc="-1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for</a:t>
            </a:r>
            <a:r>
              <a:rPr sz="3200" b="1" spc="-13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the </a:t>
            </a:r>
            <a:r>
              <a:rPr sz="3200" b="1" dirty="0">
                <a:latin typeface="Arial"/>
                <a:cs typeface="Arial"/>
              </a:rPr>
              <a:t>entire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duration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data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transfer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until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the </a:t>
            </a:r>
            <a:r>
              <a:rPr sz="3200" b="1" dirty="0">
                <a:latin typeface="Arial"/>
                <a:cs typeface="Arial"/>
              </a:rPr>
              <a:t>teardown</a:t>
            </a:r>
            <a:r>
              <a:rPr sz="3200" b="1" spc="-16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phase.</a:t>
            </a:r>
            <a:endParaRPr sz="32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5491734"/>
            <a:ext cx="9144000" cy="858519"/>
            <a:chOff x="774839" y="5491734"/>
            <a:chExt cx="9144000" cy="858519"/>
          </a:xfrm>
        </p:grpSpPr>
        <p:sp>
          <p:nvSpPr>
            <p:cNvPr id="8" name="object 8"/>
            <p:cNvSpPr/>
            <p:nvPr/>
          </p:nvSpPr>
          <p:spPr>
            <a:xfrm>
              <a:off x="774839" y="54917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3999" y="858012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3999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4325" y="57210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139" y="5491734"/>
              <a:ext cx="8077200" cy="176530"/>
            </a:xfrm>
            <a:custGeom>
              <a:avLst/>
              <a:gdLst/>
              <a:ahLst/>
              <a:cxnLst/>
              <a:rect l="l" t="t" r="r" b="b"/>
              <a:pathLst>
                <a:path w="8077200" h="176529">
                  <a:moveTo>
                    <a:pt x="8077200" y="17602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76022"/>
                  </a:lnTo>
                  <a:lnTo>
                    <a:pt x="8077200" y="17602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96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5" dirty="0">
                <a:solidFill>
                  <a:srgbClr val="3333CC"/>
                </a:solidFill>
                <a:latin typeface="Times New Roman"/>
                <a:cs typeface="Times New Roman"/>
              </a:rPr>
              <a:t>8.6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Delay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circuit-</a:t>
            </a:r>
            <a:r>
              <a:rPr dirty="0"/>
              <a:t>switched</a:t>
            </a:r>
            <a:r>
              <a:rPr spc="-60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567" y="1941576"/>
            <a:ext cx="8729471" cy="435102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373629"/>
            <a:ext cx="1143000" cy="5471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4123" y="2393695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1232039" y="2920745"/>
            <a:ext cx="8153400" cy="133350"/>
            <a:chOff x="1232039" y="2920745"/>
            <a:chExt cx="8153400" cy="133350"/>
          </a:xfrm>
        </p:grpSpPr>
        <p:sp>
          <p:nvSpPr>
            <p:cNvPr id="5" name="object 5"/>
            <p:cNvSpPr/>
            <p:nvPr/>
          </p:nvSpPr>
          <p:spPr>
            <a:xfrm>
              <a:off x="1232039" y="29778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2039" y="2920745"/>
              <a:ext cx="1143000" cy="190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88315" marR="484505" algn="ctr">
              <a:lnSpc>
                <a:spcPct val="100000"/>
              </a:lnSpc>
              <a:spcBef>
                <a:spcPts val="275"/>
              </a:spcBef>
            </a:pPr>
            <a:r>
              <a:rPr sz="3200" b="1" dirty="0">
                <a:latin typeface="Arial"/>
                <a:cs typeface="Arial"/>
              </a:rPr>
              <a:t>Switching</a:t>
            </a:r>
            <a:r>
              <a:rPr sz="3200" b="1" spc="-1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at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physical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layer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the </a:t>
            </a:r>
            <a:r>
              <a:rPr sz="3200" b="1" dirty="0">
                <a:latin typeface="Arial"/>
                <a:cs typeface="Arial"/>
              </a:rPr>
              <a:t>traditional</a:t>
            </a:r>
            <a:r>
              <a:rPr sz="3200" b="1" spc="-1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telephone</a:t>
            </a:r>
            <a:r>
              <a:rPr sz="3200" b="1" spc="-1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network</a:t>
            </a:r>
            <a:r>
              <a:rPr sz="3200" b="1" spc="-185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uses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circuit-</a:t>
            </a:r>
            <a:r>
              <a:rPr sz="3200" b="1" dirty="0">
                <a:latin typeface="Arial"/>
                <a:cs typeface="Arial"/>
              </a:rPr>
              <a:t>switching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approach.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4CEA-A7A7-4C4A-B5CC-CC27DC7A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573A9-DF80-4364-8B22-E6220D43D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33B89-1D80-4705-9953-27210687C3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0402" y="1287525"/>
            <a:ext cx="8346955" cy="55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06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9E2C-8732-4D5D-B63D-0AFF0F15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13D90-BF1D-41BE-81B7-B8F70FD3C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BECB7-2C1F-4540-866E-F57206B2BA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31900" y="1287526"/>
            <a:ext cx="8153399" cy="55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89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211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z="3200" i="0" spc="-25" dirty="0">
                <a:latin typeface="Times New Roman"/>
                <a:cs typeface="Times New Roman"/>
              </a:rPr>
              <a:t>8-</a:t>
            </a:r>
            <a:r>
              <a:rPr sz="3200" i="0" spc="-50" dirty="0">
                <a:latin typeface="Times New Roman"/>
                <a:cs typeface="Times New Roman"/>
              </a:rPr>
              <a:t>2</a:t>
            </a:r>
            <a:r>
              <a:rPr sz="3200" i="0" dirty="0">
                <a:latin typeface="Times New Roman"/>
                <a:cs typeface="Times New Roman"/>
              </a:rPr>
              <a:t>	</a:t>
            </a:r>
            <a:r>
              <a:rPr sz="3200" i="0" spc="-65" dirty="0">
                <a:latin typeface="Times New Roman"/>
                <a:cs typeface="Times New Roman"/>
              </a:rPr>
              <a:t>DATAGRAM</a:t>
            </a:r>
            <a:r>
              <a:rPr sz="3200" i="0" spc="-135" dirty="0">
                <a:latin typeface="Times New Roman"/>
                <a:cs typeface="Times New Roman"/>
              </a:rPr>
              <a:t> </a:t>
            </a:r>
            <a:r>
              <a:rPr sz="3200" i="0" spc="-10" dirty="0">
                <a:latin typeface="Times New Roman"/>
                <a:cs typeface="Times New Roman"/>
              </a:rPr>
              <a:t>NETWORKS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5973" y="1907539"/>
            <a:ext cx="8224520" cy="486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5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</a:t>
            </a:r>
            <a:r>
              <a:rPr sz="2800" b="1" i="1" spc="5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communications,</a:t>
            </a:r>
            <a:r>
              <a:rPr sz="2800" b="1" i="1" spc="5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need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5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send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messages </a:t>
            </a:r>
            <a:r>
              <a:rPr sz="2800" b="1" i="1" dirty="0">
                <a:latin typeface="Times New Roman"/>
                <a:cs typeface="Times New Roman"/>
              </a:rPr>
              <a:t>from</a:t>
            </a:r>
            <a:r>
              <a:rPr sz="2800" b="1" i="1" spc="6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one  end  system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6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another.  If  the  message</a:t>
            </a:r>
            <a:r>
              <a:rPr sz="2800" b="1" i="1" spc="695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going</a:t>
            </a:r>
            <a:r>
              <a:rPr sz="2800" b="1" i="1" spc="5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5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pass</a:t>
            </a:r>
            <a:r>
              <a:rPr sz="2800" b="1" i="1" spc="5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through</a:t>
            </a:r>
            <a:r>
              <a:rPr sz="2800" b="1" i="1" spc="5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7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packet-</a:t>
            </a:r>
            <a:r>
              <a:rPr sz="2800" b="1" i="1" dirty="0">
                <a:latin typeface="Times New Roman"/>
                <a:cs typeface="Times New Roman"/>
              </a:rPr>
              <a:t>switched</a:t>
            </a:r>
            <a:r>
              <a:rPr sz="2800" b="1" i="1" spc="5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network,</a:t>
            </a:r>
            <a:r>
              <a:rPr sz="2800" b="1" i="1" spc="58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it </a:t>
            </a:r>
            <a:r>
              <a:rPr sz="2800" b="1" i="1" dirty="0">
                <a:latin typeface="Times New Roman"/>
                <a:cs typeface="Times New Roman"/>
              </a:rPr>
              <a:t>needs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divided</a:t>
            </a:r>
            <a:r>
              <a:rPr sz="2800" b="1" i="1" spc="4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into</a:t>
            </a:r>
            <a:r>
              <a:rPr sz="2800" b="1" i="1" spc="4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packets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4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fixed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49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variable </a:t>
            </a:r>
            <a:r>
              <a:rPr sz="2800" b="1" i="1" spc="114" dirty="0">
                <a:latin typeface="Times New Roman"/>
                <a:cs typeface="Times New Roman"/>
              </a:rPr>
              <a:t>s</a:t>
            </a:r>
            <a:r>
              <a:rPr sz="2800" b="1" i="1" spc="120" dirty="0">
                <a:latin typeface="Times New Roman"/>
                <a:cs typeface="Times New Roman"/>
              </a:rPr>
              <a:t>i</a:t>
            </a:r>
            <a:r>
              <a:rPr sz="2800" b="1" i="1" spc="114" dirty="0">
                <a:latin typeface="Times New Roman"/>
                <a:cs typeface="Times New Roman"/>
              </a:rPr>
              <a:t>ze</a:t>
            </a:r>
            <a:r>
              <a:rPr sz="2800" b="1" i="1" spc="-585" dirty="0">
                <a:latin typeface="Times New Roman"/>
                <a:cs typeface="Times New Roman"/>
              </a:rPr>
              <a:t>.</a:t>
            </a:r>
            <a:r>
              <a:rPr sz="2800" b="1" i="1" spc="120" dirty="0">
                <a:latin typeface="Times New Roman"/>
                <a:cs typeface="Times New Roman"/>
              </a:rPr>
              <a:t>.</a:t>
            </a:r>
            <a:r>
              <a:rPr sz="2800" b="1" i="1" spc="1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10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size</a:t>
            </a:r>
            <a:r>
              <a:rPr sz="2800" b="1" i="1" spc="1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1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1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packet</a:t>
            </a:r>
            <a:r>
              <a:rPr sz="2800" b="1" i="1" spc="1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1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determined</a:t>
            </a:r>
            <a:r>
              <a:rPr sz="2800" b="1" i="1" spc="1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by</a:t>
            </a:r>
            <a:r>
              <a:rPr sz="2800" b="1" i="1" spc="110" dirty="0">
                <a:latin typeface="Times New Roman"/>
                <a:cs typeface="Times New Roman"/>
              </a:rPr>
              <a:t>  </a:t>
            </a:r>
            <a:r>
              <a:rPr sz="2800" b="1" i="1" spc="-2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network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governing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protocol.</a:t>
            </a:r>
            <a:endParaRPr sz="28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2635"/>
              </a:spcBef>
            </a:pP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6365875">
              <a:lnSpc>
                <a:spcPct val="100000"/>
              </a:lnSpc>
              <a:spcBef>
                <a:spcPts val="400"/>
              </a:spcBef>
            </a:pP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Routing</a:t>
            </a:r>
            <a:r>
              <a:rPr sz="24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Table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Efficiency Delay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Datagram Networks in the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Internet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76580" marR="571500" indent="635" algn="ctr">
              <a:lnSpc>
                <a:spcPct val="100000"/>
              </a:lnSpc>
              <a:spcBef>
                <a:spcPts val="275"/>
              </a:spcBef>
            </a:pP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spc="-30" dirty="0">
                <a:latin typeface="Arial"/>
                <a:cs typeface="Arial"/>
              </a:rPr>
              <a:t>packet-</a:t>
            </a:r>
            <a:r>
              <a:rPr sz="3200" b="1" dirty="0">
                <a:latin typeface="Arial"/>
                <a:cs typeface="Arial"/>
              </a:rPr>
              <a:t>switched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network,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there </a:t>
            </a:r>
            <a:r>
              <a:rPr sz="3200" b="1" dirty="0">
                <a:latin typeface="Arial"/>
                <a:cs typeface="Arial"/>
              </a:rPr>
              <a:t>is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no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resource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reservation; </a:t>
            </a:r>
            <a:r>
              <a:rPr sz="3200" b="1" dirty="0">
                <a:latin typeface="Arial"/>
                <a:cs typeface="Arial"/>
              </a:rPr>
              <a:t>resources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are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allocated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on</a:t>
            </a:r>
            <a:r>
              <a:rPr sz="3200" b="1" spc="-1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demand.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5665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5" dirty="0">
                <a:solidFill>
                  <a:srgbClr val="3333CC"/>
                </a:solidFill>
                <a:latin typeface="Times New Roman"/>
                <a:cs typeface="Times New Roman"/>
              </a:rPr>
              <a:t>8.7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datagram</a:t>
            </a:r>
            <a:r>
              <a:rPr spc="-85" dirty="0"/>
              <a:t> </a:t>
            </a:r>
            <a:r>
              <a:rPr dirty="0"/>
              <a:t>network</a:t>
            </a:r>
            <a:r>
              <a:rPr spc="-7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/>
              <a:t>four</a:t>
            </a:r>
            <a:r>
              <a:rPr spc="-60" dirty="0"/>
              <a:t> </a:t>
            </a:r>
            <a:r>
              <a:rPr dirty="0"/>
              <a:t>switches</a:t>
            </a:r>
            <a:r>
              <a:rPr spc="-60" dirty="0"/>
              <a:t> </a:t>
            </a:r>
            <a:r>
              <a:rPr spc="-10" dirty="0"/>
              <a:t>(routers)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399" y="2370582"/>
            <a:ext cx="8473440" cy="30076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347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5" dirty="0">
                <a:solidFill>
                  <a:srgbClr val="3333CC"/>
                </a:solidFill>
                <a:latin typeface="Times New Roman"/>
                <a:cs typeface="Times New Roman"/>
              </a:rPr>
              <a:t>8.8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Routing</a:t>
            </a:r>
            <a:r>
              <a:rPr spc="-50" dirty="0"/>
              <a:t> </a:t>
            </a:r>
            <a:r>
              <a:rPr dirty="0"/>
              <a:t>table</a:t>
            </a:r>
            <a:r>
              <a:rPr spc="-6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datagram</a:t>
            </a:r>
            <a:r>
              <a:rPr spc="-65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2745" y="1846326"/>
            <a:ext cx="2733294" cy="444627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314325" marR="310515" algn="ctr">
              <a:lnSpc>
                <a:spcPct val="100000"/>
              </a:lnSpc>
              <a:spcBef>
                <a:spcPts val="275"/>
              </a:spcBef>
            </a:pPr>
            <a:r>
              <a:rPr sz="3200" b="1" dirty="0">
                <a:latin typeface="Arial"/>
                <a:cs typeface="Arial"/>
              </a:rPr>
              <a:t>A</a:t>
            </a:r>
            <a:r>
              <a:rPr sz="3200" b="1" spc="-2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switch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datagram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network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uses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spc="-50" dirty="0">
                <a:latin typeface="Arial"/>
                <a:cs typeface="Arial"/>
              </a:rPr>
              <a:t>a </a:t>
            </a:r>
            <a:r>
              <a:rPr sz="3200" b="1" dirty="0">
                <a:latin typeface="Arial"/>
                <a:cs typeface="Arial"/>
              </a:rPr>
              <a:t>routing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table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that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based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on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destination</a:t>
            </a:r>
            <a:r>
              <a:rPr sz="3200" b="1" spc="-15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address.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39700" marR="137160" algn="ctr">
              <a:lnSpc>
                <a:spcPct val="100000"/>
              </a:lnSpc>
              <a:spcBef>
                <a:spcPts val="275"/>
              </a:spcBef>
            </a:pP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destination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address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1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header</a:t>
            </a:r>
            <a:r>
              <a:rPr sz="3200" b="1" spc="-11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of </a:t>
            </a:r>
            <a:r>
              <a:rPr sz="3200" b="1" dirty="0">
                <a:latin typeface="Arial"/>
                <a:cs typeface="Arial"/>
              </a:rPr>
              <a:t>a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packet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</a:t>
            </a:r>
            <a:r>
              <a:rPr sz="3200" b="1" spc="-8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datagram</a:t>
            </a:r>
            <a:r>
              <a:rPr sz="3200" b="1" spc="-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network</a:t>
            </a:r>
            <a:endParaRPr sz="3200">
              <a:latin typeface="Arial"/>
              <a:cs typeface="Arial"/>
            </a:endParaRPr>
          </a:p>
          <a:p>
            <a:pPr marL="667385" marR="661670" algn="ctr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remains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same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during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entire </a:t>
            </a:r>
            <a:r>
              <a:rPr sz="3200" b="1" dirty="0">
                <a:latin typeface="Arial"/>
                <a:cs typeface="Arial"/>
              </a:rPr>
              <a:t>journey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packet.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20</a:t>
            </a:fld>
            <a:endParaRPr spc="-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53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5" dirty="0">
                <a:solidFill>
                  <a:srgbClr val="3333CC"/>
                </a:solidFill>
                <a:latin typeface="Times New Roman"/>
                <a:cs typeface="Times New Roman"/>
              </a:rPr>
              <a:t>8.9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Delay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datagram</a:t>
            </a:r>
            <a:r>
              <a:rPr spc="-60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189" y="2392679"/>
            <a:ext cx="8172450" cy="336651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21</a:t>
            </a:fld>
            <a:endParaRPr spc="-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623570" marR="618490" algn="ctr">
              <a:lnSpc>
                <a:spcPct val="100000"/>
              </a:lnSpc>
              <a:spcBef>
                <a:spcPts val="275"/>
              </a:spcBef>
            </a:pPr>
            <a:r>
              <a:rPr sz="3200" b="1" dirty="0">
                <a:latin typeface="Arial"/>
                <a:cs typeface="Arial"/>
              </a:rPr>
              <a:t>Switching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Internet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done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by </a:t>
            </a:r>
            <a:r>
              <a:rPr sz="3200" b="1" dirty="0">
                <a:latin typeface="Arial"/>
                <a:cs typeface="Arial"/>
              </a:rPr>
              <a:t>using</a:t>
            </a:r>
            <a:r>
              <a:rPr sz="3200" b="1" spc="-1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datagram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approach</a:t>
            </a:r>
            <a:endParaRPr sz="3200">
              <a:latin typeface="Arial"/>
              <a:cs typeface="Arial"/>
            </a:endParaRPr>
          </a:p>
          <a:p>
            <a:pPr marL="1920875" marR="1914525" algn="ctr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to</a:t>
            </a:r>
            <a:r>
              <a:rPr sz="3200" b="1" spc="-1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packet</a:t>
            </a:r>
            <a:r>
              <a:rPr sz="3200" b="1" spc="-1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switching</a:t>
            </a:r>
            <a:r>
              <a:rPr sz="3200" b="1" spc="-13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at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network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layer.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22</a:t>
            </a:fld>
            <a:endParaRPr spc="-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85E921-C4BD-4192-BA25-5FA36B296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32" y="352425"/>
            <a:ext cx="9758377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06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B77F6-C5BF-426C-9F81-6C8769A8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6DB16-B8CA-4FDB-8109-A473EE40E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40A16-6ED2-4DA4-9919-4072C76F9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0405"/>
            <a:ext cx="10693400" cy="450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5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211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2525" algn="l"/>
              </a:tabLst>
            </a:pPr>
            <a:r>
              <a:rPr sz="3200" i="0" spc="-25" dirty="0">
                <a:latin typeface="Times New Roman"/>
                <a:cs typeface="Times New Roman"/>
              </a:rPr>
              <a:t>8-</a:t>
            </a:r>
            <a:r>
              <a:rPr sz="3200" i="0" spc="-50" dirty="0">
                <a:latin typeface="Times New Roman"/>
                <a:cs typeface="Times New Roman"/>
              </a:rPr>
              <a:t>3</a:t>
            </a:r>
            <a:r>
              <a:rPr sz="3200" i="0" dirty="0">
                <a:latin typeface="Times New Roman"/>
                <a:cs typeface="Times New Roman"/>
              </a:rPr>
              <a:t>	</a:t>
            </a:r>
            <a:r>
              <a:rPr sz="3200" i="0" spc="-45" dirty="0">
                <a:latin typeface="Times New Roman"/>
                <a:cs typeface="Times New Roman"/>
              </a:rPr>
              <a:t>VIRTUAL-</a:t>
            </a:r>
            <a:r>
              <a:rPr sz="3200" i="0" dirty="0">
                <a:latin typeface="Times New Roman"/>
                <a:cs typeface="Times New Roman"/>
              </a:rPr>
              <a:t>CIRCUIT</a:t>
            </a:r>
            <a:r>
              <a:rPr sz="3200" i="0" spc="-105" dirty="0">
                <a:latin typeface="Times New Roman"/>
                <a:cs typeface="Times New Roman"/>
              </a:rPr>
              <a:t> </a:t>
            </a:r>
            <a:r>
              <a:rPr sz="3200" i="0" spc="-10" dirty="0">
                <a:latin typeface="Times New Roman"/>
                <a:cs typeface="Times New Roman"/>
              </a:rPr>
              <a:t>NETWORKS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05973" y="2045461"/>
            <a:ext cx="8221980" cy="439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12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virtual-</a:t>
            </a:r>
            <a:r>
              <a:rPr sz="2800" b="1" i="1" dirty="0">
                <a:latin typeface="Times New Roman"/>
                <a:cs typeface="Times New Roman"/>
              </a:rPr>
              <a:t>circuit</a:t>
            </a:r>
            <a:r>
              <a:rPr sz="2800" b="1" i="1" spc="2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network</a:t>
            </a:r>
            <a:r>
              <a:rPr sz="2800" b="1" i="1" spc="2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2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2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</a:t>
            </a:r>
            <a:r>
              <a:rPr sz="2800" b="1" i="1" spc="2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between</a:t>
            </a:r>
            <a:r>
              <a:rPr sz="2800" b="1" i="1" spc="2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30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circuit- </a:t>
            </a:r>
            <a:r>
              <a:rPr sz="2800" b="1" i="1" dirty="0">
                <a:latin typeface="Times New Roman"/>
                <a:cs typeface="Times New Roman"/>
              </a:rPr>
              <a:t>switched</a:t>
            </a:r>
            <a:r>
              <a:rPr sz="2800" b="1" i="1" spc="9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network</a:t>
            </a:r>
            <a:r>
              <a:rPr sz="2800" b="1" i="1" spc="9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1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1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datagram</a:t>
            </a:r>
            <a:r>
              <a:rPr sz="2800" b="1" i="1" spc="1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network.</a:t>
            </a:r>
            <a:r>
              <a:rPr sz="2800" b="1" i="1" spc="1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It</a:t>
            </a:r>
            <a:r>
              <a:rPr sz="2800" b="1" i="1" spc="95" dirty="0">
                <a:latin typeface="Times New Roman"/>
                <a:cs typeface="Times New Roman"/>
              </a:rPr>
              <a:t>  </a:t>
            </a:r>
            <a:r>
              <a:rPr sz="2800" b="1" i="1" spc="-25" dirty="0">
                <a:latin typeface="Times New Roman"/>
                <a:cs typeface="Times New Roman"/>
              </a:rPr>
              <a:t>has </a:t>
            </a:r>
            <a:r>
              <a:rPr sz="2800" b="1" i="1" dirty="0">
                <a:latin typeface="Times New Roman"/>
                <a:cs typeface="Times New Roman"/>
              </a:rPr>
              <a:t>some</a:t>
            </a:r>
            <a:r>
              <a:rPr sz="2800" b="1" i="1" spc="-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characteristics</a:t>
            </a:r>
            <a:r>
              <a:rPr sz="2800" b="1" i="1" spc="-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both.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2560"/>
              </a:spcBef>
            </a:pP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6471920">
              <a:lnSpc>
                <a:spcPct val="100000"/>
              </a:lnSpc>
              <a:spcBef>
                <a:spcPts val="400"/>
              </a:spcBef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Addressing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Three</a:t>
            </a:r>
            <a:r>
              <a:rPr sz="24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Phases Efficiency Delay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Circuit-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Switched</a:t>
            </a:r>
            <a:r>
              <a:rPr sz="2400" b="1" spc="-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Technology</a:t>
            </a:r>
            <a:r>
              <a:rPr sz="24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in</a:t>
            </a:r>
            <a:r>
              <a:rPr sz="2400" b="1" spc="-10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WANs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25</a:t>
            </a:fld>
            <a:endParaRPr spc="-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044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8.10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pc="-30" dirty="0"/>
              <a:t>Virtual-</a:t>
            </a:r>
            <a:r>
              <a:rPr dirty="0"/>
              <a:t>circuit</a:t>
            </a:r>
            <a:r>
              <a:rPr spc="-20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273" y="2162555"/>
            <a:ext cx="8262366" cy="38252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26</a:t>
            </a:fld>
            <a:endParaRPr spc="-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14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8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8.11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pc="-30" dirty="0"/>
              <a:t>Virtual-</a:t>
            </a:r>
            <a:r>
              <a:rPr dirty="0"/>
              <a:t>circuit</a:t>
            </a:r>
            <a:r>
              <a:rPr spc="-20" dirty="0"/>
              <a:t> </a:t>
            </a:r>
            <a:r>
              <a:rPr spc="-10" dirty="0"/>
              <a:t>identifier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2787395"/>
            <a:ext cx="7496556" cy="2023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27</a:t>
            </a:fld>
            <a:endParaRPr spc="-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362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8.12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Switch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tables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virtual-</a:t>
            </a:r>
            <a:r>
              <a:rPr dirty="0"/>
              <a:t>circuit</a:t>
            </a:r>
            <a:r>
              <a:rPr spc="-65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27239" y="1546097"/>
            <a:ext cx="8763000" cy="5165725"/>
            <a:chOff x="927239" y="1546097"/>
            <a:chExt cx="8763000" cy="5165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4439" y="1546097"/>
              <a:ext cx="7404354" cy="50512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66354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28</a:t>
            </a:fld>
            <a:endParaRPr spc="-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81921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8.13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pc="-10" dirty="0"/>
              <a:t>Source-to-</a:t>
            </a:r>
            <a:r>
              <a:rPr dirty="0"/>
              <a:t>destination</a:t>
            </a:r>
            <a:r>
              <a:rPr spc="-7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transfer</a:t>
            </a:r>
            <a:r>
              <a:rPr spc="-4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virtual-</a:t>
            </a:r>
            <a:r>
              <a:rPr dirty="0"/>
              <a:t>circuit</a:t>
            </a:r>
            <a:r>
              <a:rPr spc="-60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519" y="1560575"/>
            <a:ext cx="7513319" cy="503682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29</a:t>
            </a:fld>
            <a:endParaRPr spc="-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947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8.14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Setup</a:t>
            </a:r>
            <a:r>
              <a:rPr spc="-45" dirty="0"/>
              <a:t> </a:t>
            </a:r>
            <a:r>
              <a:rPr dirty="0"/>
              <a:t>request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virtual-</a:t>
            </a:r>
            <a:r>
              <a:rPr dirty="0"/>
              <a:t>circuit</a:t>
            </a:r>
            <a:r>
              <a:rPr spc="-60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1997201"/>
            <a:ext cx="7696200" cy="391439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30</a:t>
            </a:fld>
            <a:endParaRPr spc="-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948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8.15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Setup</a:t>
            </a:r>
            <a:r>
              <a:rPr spc="-30" dirty="0"/>
              <a:t> </a:t>
            </a:r>
            <a:r>
              <a:rPr spc="-10" dirty="0"/>
              <a:t>acknowledgment</a:t>
            </a:r>
            <a:r>
              <a:rPr spc="-4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virtual-</a:t>
            </a:r>
            <a:r>
              <a:rPr dirty="0"/>
              <a:t>circuit</a:t>
            </a:r>
            <a:r>
              <a:rPr spc="-50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1673" y="2125979"/>
            <a:ext cx="8033766" cy="393801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31</a:t>
            </a:fld>
            <a:endParaRPr spc="-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2039" y="25206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1872995"/>
            <a:ext cx="1143000" cy="5669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70139" y="2651010"/>
            <a:ext cx="8077200" cy="2841625"/>
          </a:xfrm>
          <a:custGeom>
            <a:avLst/>
            <a:gdLst/>
            <a:ahLst/>
            <a:cxnLst/>
            <a:rect l="l" t="t" r="r" b="b"/>
            <a:pathLst>
              <a:path w="8077200" h="2841625">
                <a:moveTo>
                  <a:pt x="8077200" y="0"/>
                </a:moveTo>
                <a:lnTo>
                  <a:pt x="0" y="0"/>
                </a:lnTo>
                <a:lnTo>
                  <a:pt x="0" y="268986"/>
                </a:lnTo>
                <a:lnTo>
                  <a:pt x="0" y="269748"/>
                </a:lnTo>
                <a:lnTo>
                  <a:pt x="0" y="2841498"/>
                </a:lnTo>
                <a:lnTo>
                  <a:pt x="8077200" y="2841498"/>
                </a:lnTo>
                <a:lnTo>
                  <a:pt x="8077200" y="268986"/>
                </a:lnTo>
                <a:lnTo>
                  <a:pt x="8077200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44123" y="18938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633099" y="2673350"/>
            <a:ext cx="7350125" cy="2951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4175" marR="5080" indent="-372110">
              <a:lnSpc>
                <a:spcPct val="100000"/>
              </a:lnSpc>
              <a:spcBef>
                <a:spcPts val="95"/>
              </a:spcBef>
              <a:tabLst>
                <a:tab pos="3582670" algn="l"/>
              </a:tabLst>
            </a:pP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virtual-</a:t>
            </a:r>
            <a:r>
              <a:rPr sz="3200" b="1" dirty="0">
                <a:latin typeface="Arial"/>
                <a:cs typeface="Arial"/>
              </a:rPr>
              <a:t>circuit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switching,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all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packets belonging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to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same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source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and </a:t>
            </a:r>
            <a:r>
              <a:rPr sz="3200" b="1" spc="-10" dirty="0">
                <a:latin typeface="Arial"/>
                <a:cs typeface="Arial"/>
              </a:rPr>
              <a:t>destination</a:t>
            </a:r>
            <a:r>
              <a:rPr sz="3200" b="1" spc="-1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travel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same</a:t>
            </a:r>
            <a:r>
              <a:rPr sz="3200" b="1" spc="-10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path; </a:t>
            </a:r>
            <a:r>
              <a:rPr sz="3200" b="1" dirty="0">
                <a:latin typeface="Arial"/>
                <a:cs typeface="Arial"/>
              </a:rPr>
              <a:t>but</a:t>
            </a:r>
            <a:r>
              <a:rPr sz="3200" b="1" spc="-8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7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packets</a:t>
            </a:r>
            <a:r>
              <a:rPr sz="3200" b="1" dirty="0">
                <a:latin typeface="Arial"/>
                <a:cs typeface="Arial"/>
              </a:rPr>
              <a:t>	may</a:t>
            </a:r>
            <a:r>
              <a:rPr sz="3200" b="1" spc="-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arrive</a:t>
            </a:r>
            <a:r>
              <a:rPr sz="3200" b="1" spc="-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at</a:t>
            </a:r>
            <a:r>
              <a:rPr sz="3200" b="1" spc="-7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the</a:t>
            </a:r>
            <a:endParaRPr sz="3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3200" b="1" spc="-10" dirty="0">
                <a:latin typeface="Arial"/>
                <a:cs typeface="Arial"/>
              </a:rPr>
              <a:t>destination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with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different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delays</a:t>
            </a:r>
            <a:endParaRPr sz="3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if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resource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allocation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on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demand.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5491734"/>
            <a:ext cx="9144000" cy="858519"/>
            <a:chOff x="774839" y="5491734"/>
            <a:chExt cx="9144000" cy="858519"/>
          </a:xfrm>
        </p:grpSpPr>
        <p:sp>
          <p:nvSpPr>
            <p:cNvPr id="8" name="object 8"/>
            <p:cNvSpPr/>
            <p:nvPr/>
          </p:nvSpPr>
          <p:spPr>
            <a:xfrm>
              <a:off x="774839" y="54917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3999" y="858012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3999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4325" y="57210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139" y="5491734"/>
              <a:ext cx="8077200" cy="176530"/>
            </a:xfrm>
            <a:custGeom>
              <a:avLst/>
              <a:gdLst/>
              <a:ahLst/>
              <a:cxnLst/>
              <a:rect l="l" t="t" r="r" b="b"/>
              <a:pathLst>
                <a:path w="8077200" h="176529">
                  <a:moveTo>
                    <a:pt x="8077200" y="17602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76022"/>
                  </a:lnTo>
                  <a:lnTo>
                    <a:pt x="8077200" y="17602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32</a:t>
            </a:fld>
            <a:endParaRPr spc="-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37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8.16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Delay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virtual-</a:t>
            </a:r>
            <a:r>
              <a:rPr dirty="0"/>
              <a:t>circuit</a:t>
            </a:r>
            <a:r>
              <a:rPr spc="-55" dirty="0"/>
              <a:t> </a:t>
            </a:r>
            <a:r>
              <a:rPr spc="-10" dirty="0"/>
              <a:t>network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767" y="1822704"/>
            <a:ext cx="8729471" cy="431749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33</a:t>
            </a:fld>
            <a:endParaRPr spc="-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2039" y="26730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139" y="2803398"/>
            <a:ext cx="8077200" cy="117475"/>
          </a:xfrm>
          <a:custGeom>
            <a:avLst/>
            <a:gdLst/>
            <a:ahLst/>
            <a:cxnLst/>
            <a:rect l="l" t="t" r="r" b="b"/>
            <a:pathLst>
              <a:path w="8077200" h="117475">
                <a:moveTo>
                  <a:pt x="8077200" y="117348"/>
                </a:moveTo>
                <a:lnTo>
                  <a:pt x="8077200" y="0"/>
                </a:lnTo>
                <a:lnTo>
                  <a:pt x="0" y="0"/>
                </a:lnTo>
                <a:lnTo>
                  <a:pt x="0" y="117348"/>
                </a:lnTo>
                <a:lnTo>
                  <a:pt x="8077200" y="117348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025395"/>
            <a:ext cx="1143000" cy="5669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44123" y="20462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grpSp>
        <p:nvGrpSpPr>
          <p:cNvPr id="6" name="object 6"/>
          <p:cNvGrpSpPr/>
          <p:nvPr/>
        </p:nvGrpSpPr>
        <p:grpSpPr>
          <a:xfrm>
            <a:off x="774839" y="2919983"/>
            <a:ext cx="9144000" cy="2573020"/>
            <a:chOff x="774839" y="2919983"/>
            <a:chExt cx="9144000" cy="2573020"/>
          </a:xfrm>
        </p:grpSpPr>
        <p:sp>
          <p:nvSpPr>
            <p:cNvPr id="7" name="object 7"/>
            <p:cNvSpPr/>
            <p:nvPr/>
          </p:nvSpPr>
          <p:spPr>
            <a:xfrm>
              <a:off x="1270139" y="291998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0139" y="377723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463448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4325" y="4959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0139" y="4634483"/>
              <a:ext cx="8077200" cy="210820"/>
            </a:xfrm>
            <a:custGeom>
              <a:avLst/>
              <a:gdLst/>
              <a:ahLst/>
              <a:cxnLst/>
              <a:rect l="l" t="t" r="r" b="b"/>
              <a:pathLst>
                <a:path w="8077200" h="210820">
                  <a:moveTo>
                    <a:pt x="8077200" y="2103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210312"/>
                  </a:lnTo>
                  <a:lnTo>
                    <a:pt x="8077200" y="2103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360" marR="5080"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/>
                <a:cs typeface="Arial"/>
              </a:rPr>
              <a:t>Switching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at</a:t>
            </a:r>
            <a:r>
              <a:rPr spc="-9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9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data</a:t>
            </a:r>
            <a:r>
              <a:rPr spc="-9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link</a:t>
            </a:r>
            <a:r>
              <a:rPr spc="-9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layer</a:t>
            </a:r>
            <a:r>
              <a:rPr spc="-9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a </a:t>
            </a:r>
            <a:r>
              <a:rPr dirty="0">
                <a:latin typeface="Arial"/>
                <a:cs typeface="Arial"/>
              </a:rPr>
              <a:t>switched</a:t>
            </a:r>
            <a:r>
              <a:rPr spc="-17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WAN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14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normally </a:t>
            </a:r>
            <a:r>
              <a:rPr dirty="0">
                <a:latin typeface="Arial"/>
                <a:cs typeface="Arial"/>
              </a:rPr>
              <a:t>implemented</a:t>
            </a:r>
            <a:r>
              <a:rPr spc="-1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by</a:t>
            </a:r>
            <a:r>
              <a:rPr spc="-13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using</a:t>
            </a:r>
          </a:p>
          <a:p>
            <a:pPr marL="76200" algn="ctr">
              <a:lnSpc>
                <a:spcPct val="100000"/>
              </a:lnSpc>
            </a:pPr>
            <a:r>
              <a:rPr spc="-25" dirty="0">
                <a:latin typeface="Arial"/>
                <a:cs typeface="Arial"/>
              </a:rPr>
              <a:t>virtual-</a:t>
            </a:r>
            <a:r>
              <a:rPr dirty="0">
                <a:latin typeface="Arial"/>
                <a:cs typeface="Arial"/>
              </a:rPr>
              <a:t>circuit</a:t>
            </a:r>
            <a:r>
              <a:rPr spc="-8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techniques.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34</a:t>
            </a:fld>
            <a:endParaRPr spc="-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211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z="3200" i="0" spc="-25" dirty="0">
                <a:latin typeface="Times New Roman"/>
                <a:cs typeface="Times New Roman"/>
              </a:rPr>
              <a:t>8-</a:t>
            </a:r>
            <a:r>
              <a:rPr sz="3200" i="0" spc="-50" dirty="0">
                <a:latin typeface="Times New Roman"/>
                <a:cs typeface="Times New Roman"/>
              </a:rPr>
              <a:t>4</a:t>
            </a:r>
            <a:r>
              <a:rPr sz="3200" i="0" dirty="0">
                <a:latin typeface="Times New Roman"/>
                <a:cs typeface="Times New Roman"/>
              </a:rPr>
              <a:t>	STRUCTURE</a:t>
            </a:r>
            <a:r>
              <a:rPr sz="3200" i="0" spc="-160" dirty="0">
                <a:latin typeface="Times New Roman"/>
                <a:cs typeface="Times New Roman"/>
              </a:rPr>
              <a:t> </a:t>
            </a:r>
            <a:r>
              <a:rPr sz="3200" i="0" spc="-30" dirty="0">
                <a:latin typeface="Times New Roman"/>
                <a:cs typeface="Times New Roman"/>
              </a:rPr>
              <a:t>OF</a:t>
            </a:r>
            <a:r>
              <a:rPr sz="3200" i="0" spc="-300" dirty="0">
                <a:latin typeface="Times New Roman"/>
                <a:cs typeface="Times New Roman"/>
              </a:rPr>
              <a:t> </a:t>
            </a:r>
            <a:r>
              <a:rPr sz="3200" i="0" spc="-30" dirty="0">
                <a:latin typeface="Times New Roman"/>
                <a:cs typeface="Times New Roman"/>
              </a:rPr>
              <a:t>A</a:t>
            </a:r>
            <a:r>
              <a:rPr sz="3200" i="0" spc="-180" dirty="0">
                <a:latin typeface="Times New Roman"/>
                <a:cs typeface="Times New Roman"/>
              </a:rPr>
              <a:t> </a:t>
            </a:r>
            <a:r>
              <a:rPr sz="3200" i="0" spc="-10" dirty="0">
                <a:latin typeface="Times New Roman"/>
                <a:cs typeface="Times New Roman"/>
              </a:rPr>
              <a:t>SWITCH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8373" y="1758187"/>
            <a:ext cx="59055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2155" algn="l"/>
                <a:tab pos="1499870" algn="l"/>
                <a:tab pos="2995295" algn="l"/>
                <a:tab pos="3565525" algn="l"/>
              </a:tabLst>
            </a:pPr>
            <a:r>
              <a:rPr sz="2800" b="1" i="1" spc="-2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i="1" spc="-25" dirty="0">
                <a:latin typeface="Times New Roman"/>
                <a:cs typeface="Times New Roman"/>
              </a:rPr>
              <a:t>use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i="1" spc="-10" dirty="0">
                <a:latin typeface="Times New Roman"/>
                <a:cs typeface="Times New Roman"/>
              </a:rPr>
              <a:t>switches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i="1" spc="-2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i="1" spc="-10" dirty="0">
                <a:latin typeface="Times New Roman"/>
                <a:cs typeface="Times New Roman"/>
              </a:rPr>
              <a:t>circuit-switched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1523" y="1758187"/>
            <a:ext cx="19177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835" algn="l"/>
              </a:tabLst>
            </a:pPr>
            <a:r>
              <a:rPr sz="2800" b="1" i="1" spc="-2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i="1" spc="-10" dirty="0">
                <a:latin typeface="Times New Roman"/>
                <a:cs typeface="Times New Roman"/>
              </a:rPr>
              <a:t>packet-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2062745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73" y="2184907"/>
            <a:ext cx="807212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switched</a:t>
            </a:r>
            <a:r>
              <a:rPr sz="2800" b="1" i="1" spc="12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networks.</a:t>
            </a:r>
            <a:r>
              <a:rPr sz="2800" b="1" i="1" spc="12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13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13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section,</a:t>
            </a:r>
            <a:r>
              <a:rPr sz="2800" b="1" i="1" spc="12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12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discuss</a:t>
            </a:r>
            <a:r>
              <a:rPr sz="2800" b="1" i="1" spc="125" dirty="0">
                <a:latin typeface="Times New Roman"/>
                <a:cs typeface="Times New Roman"/>
              </a:rPr>
              <a:t>  </a:t>
            </a:r>
            <a:r>
              <a:rPr sz="2800" b="1" i="1" spc="-2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structures</a:t>
            </a:r>
            <a:r>
              <a:rPr sz="2800" b="1" i="1" spc="30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3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30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switches</a:t>
            </a:r>
            <a:r>
              <a:rPr sz="2800" b="1" i="1" spc="30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used</a:t>
            </a:r>
            <a:r>
              <a:rPr sz="2800" b="1" i="1" spc="3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3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31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type</a:t>
            </a:r>
            <a:r>
              <a:rPr sz="2800" b="1" i="1" spc="300" dirty="0">
                <a:latin typeface="Times New Roman"/>
                <a:cs typeface="Times New Roman"/>
              </a:rPr>
              <a:t>  </a:t>
            </a:r>
            <a:r>
              <a:rPr sz="2800" b="1" i="1" spc="-25" dirty="0">
                <a:latin typeface="Times New Roman"/>
                <a:cs typeface="Times New Roman"/>
              </a:rPr>
              <a:t>of </a:t>
            </a:r>
            <a:r>
              <a:rPr sz="2800" b="1" i="1" spc="-10" dirty="0">
                <a:latin typeface="Times New Roman"/>
                <a:cs typeface="Times New Roman"/>
              </a:rPr>
              <a:t>network.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35</a:t>
            </a:fld>
            <a:endParaRPr spc="-20" dirty="0"/>
          </a:p>
        </p:txBody>
      </p:sp>
      <p:sp>
        <p:nvSpPr>
          <p:cNvPr id="14" name="object 14"/>
          <p:cNvSpPr txBox="1"/>
          <p:nvPr/>
        </p:nvSpPr>
        <p:spPr>
          <a:xfrm>
            <a:off x="1005973" y="4743128"/>
            <a:ext cx="4698365" cy="12941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27940">
              <a:lnSpc>
                <a:spcPct val="106000"/>
              </a:lnSpc>
              <a:spcBef>
                <a:spcPts val="365"/>
              </a:spcBef>
            </a:pP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Structure</a:t>
            </a:r>
            <a:r>
              <a:rPr sz="24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24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Circuit</a:t>
            </a:r>
            <a:r>
              <a:rPr sz="24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Switches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Structure</a:t>
            </a:r>
            <a:r>
              <a:rPr sz="24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Packet</a:t>
            </a:r>
            <a:r>
              <a:rPr sz="24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Switches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949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8.17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Crossbar</a:t>
            </a:r>
            <a:r>
              <a:rPr spc="-65" dirty="0"/>
              <a:t> </a:t>
            </a:r>
            <a:r>
              <a:rPr dirty="0"/>
              <a:t>switch</a:t>
            </a:r>
            <a:r>
              <a:rPr spc="-6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three</a:t>
            </a:r>
            <a:r>
              <a:rPr spc="-60" dirty="0"/>
              <a:t> </a:t>
            </a:r>
            <a:r>
              <a:rPr dirty="0"/>
              <a:t>inputs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four</a:t>
            </a:r>
            <a:r>
              <a:rPr spc="-60" dirty="0"/>
              <a:t> </a:t>
            </a:r>
            <a:r>
              <a:rPr spc="-10" dirty="0"/>
              <a:t>outputs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6493" y="1821179"/>
            <a:ext cx="7797545" cy="447141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36</a:t>
            </a:fld>
            <a:endParaRPr spc="-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482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8.18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Multistage</a:t>
            </a:r>
            <a:r>
              <a:rPr spc="-110" dirty="0"/>
              <a:t> </a:t>
            </a:r>
            <a:r>
              <a:rPr spc="-10" dirty="0"/>
              <a:t>switch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345" y="2368295"/>
            <a:ext cx="8600693" cy="33908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37</a:t>
            </a:fld>
            <a:endParaRPr spc="-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32039" y="2101595"/>
            <a:ext cx="8153400" cy="819150"/>
            <a:chOff x="1232039" y="2101595"/>
            <a:chExt cx="8153400" cy="819150"/>
          </a:xfrm>
        </p:grpSpPr>
        <p:sp>
          <p:nvSpPr>
            <p:cNvPr id="3" name="object 3"/>
            <p:cNvSpPr/>
            <p:nvPr/>
          </p:nvSpPr>
          <p:spPr>
            <a:xfrm>
              <a:off x="1232039" y="2673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32039" y="2787395"/>
              <a:ext cx="8077200" cy="133350"/>
            </a:xfrm>
            <a:custGeom>
              <a:avLst/>
              <a:gdLst/>
              <a:ahLst/>
              <a:cxnLst/>
              <a:rect l="l" t="t" r="r" b="b"/>
              <a:pathLst>
                <a:path w="8077200" h="133350">
                  <a:moveTo>
                    <a:pt x="8077200" y="133350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33350"/>
                  </a:lnTo>
                  <a:lnTo>
                    <a:pt x="8077200" y="13335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2039" y="2101595"/>
              <a:ext cx="1143000" cy="56692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4123" y="21224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grpSp>
        <p:nvGrpSpPr>
          <p:cNvPr id="7" name="object 7"/>
          <p:cNvGrpSpPr/>
          <p:nvPr/>
        </p:nvGrpSpPr>
        <p:grpSpPr>
          <a:xfrm>
            <a:off x="774839" y="2919983"/>
            <a:ext cx="9144000" cy="2573020"/>
            <a:chOff x="774839" y="2919983"/>
            <a:chExt cx="9144000" cy="2573020"/>
          </a:xfrm>
        </p:grpSpPr>
        <p:sp>
          <p:nvSpPr>
            <p:cNvPr id="8" name="object 8"/>
            <p:cNvSpPr/>
            <p:nvPr/>
          </p:nvSpPr>
          <p:spPr>
            <a:xfrm>
              <a:off x="1232039" y="291998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572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57200" y="858012"/>
                  </a:lnTo>
                  <a:lnTo>
                    <a:pt x="4572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34400" y="0"/>
                  </a:lnTo>
                  <a:lnTo>
                    <a:pt x="85344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2039" y="377723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4839" y="463448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34325" y="5340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2039" y="4634483"/>
              <a:ext cx="8077200" cy="681990"/>
            </a:xfrm>
            <a:custGeom>
              <a:avLst/>
              <a:gdLst/>
              <a:ahLst/>
              <a:cxnLst/>
              <a:rect l="l" t="t" r="r" b="b"/>
              <a:pathLst>
                <a:path w="8077200" h="681989">
                  <a:moveTo>
                    <a:pt x="8077200" y="681989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681990"/>
                  </a:lnTo>
                  <a:lnTo>
                    <a:pt x="8077200" y="681989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1544" marR="923290"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In</a:t>
            </a:r>
            <a:r>
              <a:rPr spc="-7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35" dirty="0"/>
              <a:t>three-</a:t>
            </a:r>
            <a:r>
              <a:rPr dirty="0"/>
              <a:t>stage</a:t>
            </a:r>
            <a:r>
              <a:rPr spc="-35" dirty="0"/>
              <a:t> </a:t>
            </a:r>
            <a:r>
              <a:rPr dirty="0"/>
              <a:t>switch,</a:t>
            </a:r>
            <a:r>
              <a:rPr spc="-3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total </a:t>
            </a:r>
            <a:r>
              <a:rPr dirty="0"/>
              <a:t>number</a:t>
            </a:r>
            <a:r>
              <a:rPr spc="-15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10" dirty="0"/>
              <a:t>crosspoints</a:t>
            </a:r>
            <a:r>
              <a:rPr spc="-75" dirty="0"/>
              <a:t> </a:t>
            </a:r>
            <a:r>
              <a:rPr spc="-25" dirty="0"/>
              <a:t>is</a:t>
            </a:r>
          </a:p>
          <a:p>
            <a:pPr algn="ctr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</a:rPr>
              <a:t>2kN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+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k(N/n)</a:t>
            </a:r>
            <a:r>
              <a:rPr sz="3150" spc="-15" baseline="25132" dirty="0">
                <a:solidFill>
                  <a:srgbClr val="FF0000"/>
                </a:solidFill>
              </a:rPr>
              <a:t>2</a:t>
            </a:r>
            <a:endParaRPr sz="3150" baseline="25132"/>
          </a:p>
          <a:p>
            <a:pPr marL="50800" marR="43180" algn="ctr">
              <a:lnSpc>
                <a:spcPct val="100000"/>
              </a:lnSpc>
            </a:pPr>
            <a:r>
              <a:rPr dirty="0"/>
              <a:t>which</a:t>
            </a:r>
            <a:r>
              <a:rPr spc="-90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much</a:t>
            </a:r>
            <a:r>
              <a:rPr spc="-80" dirty="0"/>
              <a:t> </a:t>
            </a:r>
            <a:r>
              <a:rPr dirty="0"/>
              <a:t>smaller</a:t>
            </a:r>
            <a:r>
              <a:rPr spc="-125" dirty="0"/>
              <a:t> </a:t>
            </a:r>
            <a:r>
              <a:rPr dirty="0"/>
              <a:t>than</a:t>
            </a:r>
            <a:r>
              <a:rPr spc="-9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number</a:t>
            </a:r>
            <a:r>
              <a:rPr spc="-130" dirty="0"/>
              <a:t> </a:t>
            </a:r>
            <a:r>
              <a:rPr spc="-25" dirty="0"/>
              <a:t>of </a:t>
            </a:r>
            <a:r>
              <a:rPr spc="-10" dirty="0"/>
              <a:t>crosspoints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20" dirty="0"/>
              <a:t>single-</a:t>
            </a:r>
            <a:r>
              <a:rPr dirty="0"/>
              <a:t>stage</a:t>
            </a:r>
            <a:r>
              <a:rPr spc="-50" dirty="0"/>
              <a:t> </a:t>
            </a:r>
            <a:r>
              <a:rPr dirty="0"/>
              <a:t>switch</a:t>
            </a:r>
            <a:r>
              <a:rPr spc="-65" dirty="0"/>
              <a:t> </a:t>
            </a:r>
            <a:r>
              <a:rPr spc="-10" dirty="0"/>
              <a:t>(N</a:t>
            </a:r>
            <a:r>
              <a:rPr sz="3150" spc="-15" baseline="25132" dirty="0"/>
              <a:t>2</a:t>
            </a:r>
            <a:r>
              <a:rPr sz="3200" spc="-10" dirty="0"/>
              <a:t>).</a:t>
            </a:r>
            <a:endParaRPr sz="320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38</a:t>
            </a:fld>
            <a:endParaRPr spc="-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857250"/>
            <a:chOff x="851039" y="348995"/>
            <a:chExt cx="8594090" cy="857250"/>
          </a:xfrm>
        </p:grpSpPr>
        <p:sp>
          <p:nvSpPr>
            <p:cNvPr id="3" name="object 3"/>
            <p:cNvSpPr/>
            <p:nvPr/>
          </p:nvSpPr>
          <p:spPr>
            <a:xfrm>
              <a:off x="1142123" y="457211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457200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879347"/>
              <a:ext cx="422275" cy="327025"/>
            </a:xfrm>
            <a:custGeom>
              <a:avLst/>
              <a:gdLst/>
              <a:ahLst/>
              <a:cxnLst/>
              <a:rect l="l" t="t" r="r" b="b"/>
              <a:pathLst>
                <a:path w="422275" h="327025">
                  <a:moveTo>
                    <a:pt x="422147" y="32689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26897"/>
                  </a:lnTo>
                  <a:lnTo>
                    <a:pt x="422147" y="32689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806195"/>
              <a:ext cx="8593836" cy="400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348995"/>
              <a:ext cx="31750" cy="857250"/>
            </a:xfrm>
            <a:custGeom>
              <a:avLst/>
              <a:gdLst/>
              <a:ahLst/>
              <a:cxnLst/>
              <a:rect l="l" t="t" r="r" b="b"/>
              <a:pathLst>
                <a:path w="31750" h="857250">
                  <a:moveTo>
                    <a:pt x="31241" y="857249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857249"/>
                  </a:lnTo>
                  <a:lnTo>
                    <a:pt x="31241" y="8572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29995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FF0000"/>
                </a:solidFill>
              </a:rPr>
              <a:t>Example</a:t>
            </a:r>
            <a:r>
              <a:rPr sz="3200" spc="-130" dirty="0">
                <a:solidFill>
                  <a:srgbClr val="FF0000"/>
                </a:solidFill>
              </a:rPr>
              <a:t> </a:t>
            </a:r>
            <a:r>
              <a:rPr sz="3200" spc="-25" dirty="0">
                <a:solidFill>
                  <a:srgbClr val="FF0000"/>
                </a:solidFill>
              </a:rPr>
              <a:t>8.3</a:t>
            </a:r>
            <a:endParaRPr sz="3200"/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06273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4000" y="858011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44073" y="1665224"/>
            <a:ext cx="8605520" cy="465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685165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Design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three-stage,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200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 200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switch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(N = 200)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with </a:t>
            </a:r>
            <a:r>
              <a:rPr sz="2800" b="1" i="1" dirty="0">
                <a:latin typeface="Times New Roman"/>
                <a:cs typeface="Times New Roman"/>
              </a:rPr>
              <a:t>k = 4 and n = </a:t>
            </a:r>
            <a:r>
              <a:rPr sz="2800" b="1" i="1" spc="-25" dirty="0">
                <a:latin typeface="Times New Roman"/>
                <a:cs typeface="Times New Roman"/>
              </a:rPr>
              <a:t>20.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first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stage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have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N/n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crossbars,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size </a:t>
            </a:r>
            <a:r>
              <a:rPr sz="2800" b="1" i="1" dirty="0">
                <a:latin typeface="Times New Roman"/>
                <a:cs typeface="Times New Roman"/>
              </a:rPr>
              <a:t>20</a:t>
            </a:r>
            <a:r>
              <a:rPr sz="2800" b="1" i="1" spc="1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1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4.</a:t>
            </a:r>
            <a:r>
              <a:rPr sz="2800" b="1" i="1" spc="1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1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1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second</a:t>
            </a:r>
            <a:r>
              <a:rPr sz="2800" b="1" i="1" spc="1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stage,</a:t>
            </a:r>
            <a:r>
              <a:rPr sz="2800" b="1" i="1" spc="1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1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have</a:t>
            </a:r>
            <a:r>
              <a:rPr sz="2800" b="1" i="1" spc="1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1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crossbars,</a:t>
            </a:r>
            <a:r>
              <a:rPr sz="2800" b="1" i="1" spc="1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16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of </a:t>
            </a:r>
            <a:r>
              <a:rPr sz="2800" b="1" i="1" dirty="0">
                <a:latin typeface="Times New Roman"/>
                <a:cs typeface="Times New Roman"/>
              </a:rPr>
              <a:t>size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</a:t>
            </a:r>
            <a:r>
              <a:rPr sz="2800" b="1" i="1" spc="5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10.</a:t>
            </a:r>
            <a:r>
              <a:rPr sz="2800" b="1" i="1" spc="5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5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third</a:t>
            </a:r>
            <a:r>
              <a:rPr sz="2800" b="1" i="1" spc="5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stage,</a:t>
            </a:r>
            <a:r>
              <a:rPr sz="2800" b="1" i="1" spc="5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have</a:t>
            </a:r>
            <a:r>
              <a:rPr sz="2800" b="1" i="1" spc="5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</a:t>
            </a:r>
            <a:r>
              <a:rPr sz="2800" b="1" i="1" spc="51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crossbars,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43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size</a:t>
            </a:r>
            <a:r>
              <a:rPr sz="2800" b="1" i="1" spc="43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20.</a:t>
            </a:r>
            <a:r>
              <a:rPr sz="2800" b="1" i="1" spc="4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total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number</a:t>
            </a:r>
            <a:r>
              <a:rPr sz="2800" b="1" i="1" spc="43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crosspoints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2kN</a:t>
            </a:r>
            <a:r>
              <a:rPr sz="2800" b="1" i="1" spc="30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k(N/n)</a:t>
            </a:r>
            <a:r>
              <a:rPr sz="2775" b="1" i="1" baseline="25525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,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2000</a:t>
            </a:r>
            <a:r>
              <a:rPr sz="2800" b="1" i="1" spc="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crosspoints.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percent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of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1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number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crosspoints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1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single-</a:t>
            </a:r>
            <a:r>
              <a:rPr sz="2800" b="1" i="1" dirty="0">
                <a:latin typeface="Times New Roman"/>
                <a:cs typeface="Times New Roman"/>
              </a:rPr>
              <a:t>stage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switch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(200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× </a:t>
            </a:r>
            <a:r>
              <a:rPr sz="2800" b="1" i="1" dirty="0">
                <a:latin typeface="Times New Roman"/>
                <a:cs typeface="Times New Roman"/>
              </a:rPr>
              <a:t>200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10" dirty="0">
                <a:latin typeface="Times New Roman"/>
                <a:cs typeface="Times New Roman"/>
              </a:rPr>
              <a:t>40,000).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39</a:t>
            </a:fld>
            <a:endParaRPr spc="-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8239" y="2596895"/>
            <a:ext cx="7934959" cy="78740"/>
          </a:xfrm>
          <a:custGeom>
            <a:avLst/>
            <a:gdLst/>
            <a:ahLst/>
            <a:cxnLst/>
            <a:rect l="l" t="t" r="r" b="b"/>
            <a:pathLst>
              <a:path w="7934959" h="78739">
                <a:moveTo>
                  <a:pt x="7934706" y="78485"/>
                </a:moveTo>
                <a:lnTo>
                  <a:pt x="7934706" y="2285"/>
                </a:lnTo>
                <a:lnTo>
                  <a:pt x="0" y="0"/>
                </a:lnTo>
                <a:lnTo>
                  <a:pt x="0" y="76200"/>
                </a:lnTo>
                <a:lnTo>
                  <a:pt x="7934706" y="78485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60639" y="2794254"/>
            <a:ext cx="7696200" cy="127000"/>
          </a:xfrm>
          <a:custGeom>
            <a:avLst/>
            <a:gdLst/>
            <a:ahLst/>
            <a:cxnLst/>
            <a:rect l="l" t="t" r="r" b="b"/>
            <a:pathLst>
              <a:path w="7696200" h="127000">
                <a:moveTo>
                  <a:pt x="7696200" y="126491"/>
                </a:moveTo>
                <a:lnTo>
                  <a:pt x="7696200" y="0"/>
                </a:lnTo>
                <a:lnTo>
                  <a:pt x="0" y="0"/>
                </a:lnTo>
                <a:lnTo>
                  <a:pt x="0" y="126492"/>
                </a:lnTo>
                <a:lnTo>
                  <a:pt x="7696200" y="126491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025395"/>
            <a:ext cx="1143000" cy="5669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44123" y="20462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0000"/>
                </a:solidFill>
              </a:rPr>
              <a:t>Note</a:t>
            </a:r>
            <a:endParaRPr sz="2800"/>
          </a:p>
        </p:txBody>
      </p:sp>
      <p:grpSp>
        <p:nvGrpSpPr>
          <p:cNvPr id="6" name="object 6"/>
          <p:cNvGrpSpPr/>
          <p:nvPr/>
        </p:nvGrpSpPr>
        <p:grpSpPr>
          <a:xfrm>
            <a:off x="774839" y="2919983"/>
            <a:ext cx="9144000" cy="1715770"/>
            <a:chOff x="774839" y="2919983"/>
            <a:chExt cx="9144000" cy="1715770"/>
          </a:xfrm>
        </p:grpSpPr>
        <p:sp>
          <p:nvSpPr>
            <p:cNvPr id="7" name="object 7"/>
            <p:cNvSpPr/>
            <p:nvPr/>
          </p:nvSpPr>
          <p:spPr>
            <a:xfrm>
              <a:off x="1460639" y="2919983"/>
              <a:ext cx="7696200" cy="858519"/>
            </a:xfrm>
            <a:custGeom>
              <a:avLst/>
              <a:gdLst/>
              <a:ahLst/>
              <a:cxnLst/>
              <a:rect l="l" t="t" r="r" b="b"/>
              <a:pathLst>
                <a:path w="7696200" h="858520">
                  <a:moveTo>
                    <a:pt x="7696200" y="858012"/>
                  </a:moveTo>
                  <a:lnTo>
                    <a:pt x="7696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7696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6858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685800" y="858012"/>
                  </a:lnTo>
                  <a:lnTo>
                    <a:pt x="6858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382000" y="0"/>
                  </a:lnTo>
                  <a:lnTo>
                    <a:pt x="83820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60639" y="3777233"/>
              <a:ext cx="7696200" cy="858519"/>
            </a:xfrm>
            <a:custGeom>
              <a:avLst/>
              <a:gdLst/>
              <a:ahLst/>
              <a:cxnLst/>
              <a:rect l="l" t="t" r="r" b="b"/>
              <a:pathLst>
                <a:path w="7696200" h="858520">
                  <a:moveTo>
                    <a:pt x="7696200" y="858012"/>
                  </a:moveTo>
                  <a:lnTo>
                    <a:pt x="7696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7696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/>
              <a:t>According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Clos</a:t>
            </a:r>
            <a:r>
              <a:rPr spc="-65" dirty="0"/>
              <a:t> </a:t>
            </a:r>
            <a:r>
              <a:rPr spc="-10" dirty="0"/>
              <a:t>criterion:</a:t>
            </a:r>
          </a:p>
          <a:p>
            <a:pPr marL="85725">
              <a:lnSpc>
                <a:spcPct val="100000"/>
              </a:lnSpc>
            </a:pPr>
            <a:r>
              <a:rPr i="1" dirty="0">
                <a:latin typeface="Times New Roman"/>
                <a:cs typeface="Times New Roman"/>
              </a:rPr>
              <a:t>n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spc="-10" dirty="0"/>
              <a:t>(N/2)</a:t>
            </a:r>
            <a:r>
              <a:rPr sz="3150" spc="-15" baseline="25132" dirty="0"/>
              <a:t>1/2</a:t>
            </a:r>
            <a:endParaRPr sz="3150" baseline="25132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i="1" dirty="0">
                <a:latin typeface="Times New Roman"/>
                <a:cs typeface="Times New Roman"/>
              </a:rPr>
              <a:t>k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dirty="0"/>
              <a:t>&gt;</a:t>
            </a:r>
            <a:r>
              <a:rPr spc="-15" dirty="0"/>
              <a:t> </a:t>
            </a:r>
            <a:r>
              <a:rPr dirty="0"/>
              <a:t>2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50" dirty="0"/>
              <a:t>1</a:t>
            </a:r>
          </a:p>
          <a:p>
            <a:pPr marL="85725">
              <a:lnSpc>
                <a:spcPct val="100000"/>
              </a:lnSpc>
            </a:pPr>
            <a:r>
              <a:rPr spc="-10" dirty="0"/>
              <a:t>Crosspoints</a:t>
            </a:r>
            <a:r>
              <a:rPr spc="-25" dirty="0"/>
              <a:t> </a:t>
            </a:r>
            <a:r>
              <a:rPr dirty="0"/>
              <a:t>≥</a:t>
            </a:r>
            <a:r>
              <a:rPr spc="-35" dirty="0"/>
              <a:t> </a:t>
            </a:r>
            <a:r>
              <a:rPr sz="2800" dirty="0">
                <a:solidFill>
                  <a:srgbClr val="FF0000"/>
                </a:solidFill>
              </a:rPr>
              <a:t>4N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[(2N)</a:t>
            </a:r>
            <a:r>
              <a:rPr sz="2775" baseline="25525" dirty="0">
                <a:solidFill>
                  <a:srgbClr val="FF0000"/>
                </a:solidFill>
              </a:rPr>
              <a:t>1/2</a:t>
            </a:r>
            <a:r>
              <a:rPr sz="2775" spc="307" baseline="2552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–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spc="-25" dirty="0">
                <a:solidFill>
                  <a:srgbClr val="FF0000"/>
                </a:solidFill>
              </a:rPr>
              <a:t>1]</a:t>
            </a:r>
            <a:endParaRPr sz="2800"/>
          </a:p>
        </p:txBody>
      </p:sp>
      <p:grpSp>
        <p:nvGrpSpPr>
          <p:cNvPr id="11" name="object 11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2" name="object 12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84439" y="4882896"/>
              <a:ext cx="7934959" cy="78740"/>
            </a:xfrm>
            <a:custGeom>
              <a:avLst/>
              <a:gdLst/>
              <a:ahLst/>
              <a:cxnLst/>
              <a:rect l="l" t="t" r="r" b="b"/>
              <a:pathLst>
                <a:path w="7934959" h="78739">
                  <a:moveTo>
                    <a:pt x="7934706" y="78485"/>
                  </a:moveTo>
                  <a:lnTo>
                    <a:pt x="7934706" y="2285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7934706" y="78485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60639" y="4634484"/>
              <a:ext cx="7696200" cy="201295"/>
            </a:xfrm>
            <a:custGeom>
              <a:avLst/>
              <a:gdLst/>
              <a:ahLst/>
              <a:cxnLst/>
              <a:rect l="l" t="t" r="r" b="b"/>
              <a:pathLst>
                <a:path w="7696200" h="201295">
                  <a:moveTo>
                    <a:pt x="7696200" y="201167"/>
                  </a:moveTo>
                  <a:lnTo>
                    <a:pt x="7696200" y="0"/>
                  </a:lnTo>
                  <a:lnTo>
                    <a:pt x="0" y="0"/>
                  </a:lnTo>
                  <a:lnTo>
                    <a:pt x="0" y="201168"/>
                  </a:lnTo>
                  <a:lnTo>
                    <a:pt x="7696200" y="201167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40</a:t>
            </a:fld>
            <a:endParaRPr spc="-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857250"/>
            <a:chOff x="851039" y="348995"/>
            <a:chExt cx="8594090" cy="857250"/>
          </a:xfrm>
        </p:grpSpPr>
        <p:sp>
          <p:nvSpPr>
            <p:cNvPr id="3" name="object 3"/>
            <p:cNvSpPr/>
            <p:nvPr/>
          </p:nvSpPr>
          <p:spPr>
            <a:xfrm>
              <a:off x="1142123" y="457211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457200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879347"/>
              <a:ext cx="422275" cy="327025"/>
            </a:xfrm>
            <a:custGeom>
              <a:avLst/>
              <a:gdLst/>
              <a:ahLst/>
              <a:cxnLst/>
              <a:rect l="l" t="t" r="r" b="b"/>
              <a:pathLst>
                <a:path w="422275" h="327025">
                  <a:moveTo>
                    <a:pt x="422147" y="32689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26897"/>
                  </a:lnTo>
                  <a:lnTo>
                    <a:pt x="422147" y="32689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806195"/>
              <a:ext cx="8593836" cy="400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348995"/>
              <a:ext cx="31750" cy="857250"/>
            </a:xfrm>
            <a:custGeom>
              <a:avLst/>
              <a:gdLst/>
              <a:ahLst/>
              <a:cxnLst/>
              <a:rect l="l" t="t" r="r" b="b"/>
              <a:pathLst>
                <a:path w="31750" h="857250">
                  <a:moveTo>
                    <a:pt x="31241" y="857249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857249"/>
                  </a:lnTo>
                  <a:lnTo>
                    <a:pt x="31241" y="8572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29995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FF0000"/>
                </a:solidFill>
              </a:rPr>
              <a:t>Example</a:t>
            </a:r>
            <a:r>
              <a:rPr sz="3200" spc="-130" dirty="0">
                <a:solidFill>
                  <a:srgbClr val="FF0000"/>
                </a:solidFill>
              </a:rPr>
              <a:t> </a:t>
            </a:r>
            <a:r>
              <a:rPr sz="3200" spc="-25" dirty="0">
                <a:solidFill>
                  <a:srgbClr val="FF0000"/>
                </a:solidFill>
              </a:rPr>
              <a:t>8.4</a:t>
            </a:r>
            <a:endParaRPr sz="3200"/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44073" y="1512824"/>
            <a:ext cx="8604885" cy="511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 marR="42545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Redesign</a:t>
            </a:r>
            <a:r>
              <a:rPr sz="2800" b="1" i="1" spc="114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12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previous</a:t>
            </a:r>
            <a:r>
              <a:rPr sz="2800" b="1" i="1" spc="120" dirty="0">
                <a:latin typeface="Times New Roman"/>
                <a:cs typeface="Times New Roman"/>
              </a:rPr>
              <a:t>  </a:t>
            </a:r>
            <a:r>
              <a:rPr sz="2800" b="1" i="1" spc="-10" dirty="0">
                <a:latin typeface="Times New Roman"/>
                <a:cs typeface="Times New Roman"/>
              </a:rPr>
              <a:t>three-</a:t>
            </a:r>
            <a:r>
              <a:rPr sz="2800" b="1" i="1" dirty="0">
                <a:latin typeface="Times New Roman"/>
                <a:cs typeface="Times New Roman"/>
              </a:rPr>
              <a:t>stage,</a:t>
            </a:r>
            <a:r>
              <a:rPr sz="2800" b="1" i="1" spc="12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200</a:t>
            </a:r>
            <a:r>
              <a:rPr sz="2800" b="1" i="1" spc="12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12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200</a:t>
            </a:r>
            <a:r>
              <a:rPr sz="2800" b="1" i="1" spc="120" dirty="0">
                <a:latin typeface="Times New Roman"/>
                <a:cs typeface="Times New Roman"/>
              </a:rPr>
              <a:t>  </a:t>
            </a:r>
            <a:r>
              <a:rPr sz="2800" b="1" i="1" spc="-10" dirty="0">
                <a:latin typeface="Times New Roman"/>
                <a:cs typeface="Times New Roman"/>
              </a:rPr>
              <a:t>switch, </a:t>
            </a:r>
            <a:r>
              <a:rPr sz="2800" b="1" i="1" dirty="0">
                <a:latin typeface="Times New Roman"/>
                <a:cs typeface="Times New Roman"/>
              </a:rPr>
              <a:t>using</a:t>
            </a:r>
            <a:r>
              <a:rPr sz="2800" b="1" i="1" spc="2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2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Clos</a:t>
            </a:r>
            <a:r>
              <a:rPr sz="2800" b="1" i="1" spc="19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criteria</a:t>
            </a:r>
            <a:r>
              <a:rPr sz="2800" b="1" i="1" spc="2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2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20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minimum</a:t>
            </a:r>
            <a:r>
              <a:rPr sz="2800" b="1" i="1" spc="19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number</a:t>
            </a:r>
            <a:r>
              <a:rPr sz="2800" b="1" i="1" spc="200" dirty="0">
                <a:latin typeface="Times New Roman"/>
                <a:cs typeface="Times New Roman"/>
              </a:rPr>
              <a:t>  </a:t>
            </a:r>
            <a:r>
              <a:rPr sz="2800" b="1" i="1" spc="-25" dirty="0">
                <a:latin typeface="Times New Roman"/>
                <a:cs typeface="Times New Roman"/>
              </a:rPr>
              <a:t>of </a:t>
            </a:r>
            <a:r>
              <a:rPr sz="2800" b="1" i="1" spc="-10" dirty="0">
                <a:latin typeface="Times New Roman"/>
                <a:cs typeface="Times New Roman"/>
              </a:rPr>
              <a:t>crosspoints.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let</a:t>
            </a:r>
            <a:r>
              <a:rPr sz="2800" b="1" i="1" spc="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(200/2)</a:t>
            </a:r>
            <a:r>
              <a:rPr sz="2775" b="1" i="1" baseline="25525" dirty="0">
                <a:latin typeface="Times New Roman"/>
                <a:cs typeface="Times New Roman"/>
              </a:rPr>
              <a:t>1/2</a:t>
            </a:r>
            <a:r>
              <a:rPr sz="2800" b="1" i="1" dirty="0">
                <a:latin typeface="Times New Roman"/>
                <a:cs typeface="Times New Roman"/>
              </a:rPr>
              <a:t>,</a:t>
            </a:r>
            <a:r>
              <a:rPr sz="2800" b="1" i="1" spc="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10.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calculate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2n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</a:t>
            </a:r>
            <a:r>
              <a:rPr sz="2800" b="1" i="1" spc="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19.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first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stage,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have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200/10,</a:t>
            </a:r>
            <a:r>
              <a:rPr sz="2800" b="1" i="1" spc="4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20,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crossbars,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19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crosspoints.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second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stage,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we </a:t>
            </a:r>
            <a:r>
              <a:rPr sz="2800" b="1" i="1" dirty="0">
                <a:latin typeface="Times New Roman"/>
                <a:cs typeface="Times New Roman"/>
              </a:rPr>
              <a:t>have</a:t>
            </a:r>
            <a:r>
              <a:rPr sz="2800" b="1" i="1" spc="2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19</a:t>
            </a:r>
            <a:r>
              <a:rPr sz="2800" b="1" i="1" spc="2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crossbars,</a:t>
            </a:r>
            <a:r>
              <a:rPr sz="2800" b="1" i="1" spc="2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2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25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</a:t>
            </a:r>
            <a:r>
              <a:rPr sz="2800" b="1" i="1" spc="2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2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</a:t>
            </a:r>
            <a:r>
              <a:rPr sz="2800" b="1" i="1" spc="2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crosspoints.</a:t>
            </a:r>
            <a:r>
              <a:rPr sz="2800" b="1" i="1" spc="2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254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third</a:t>
            </a:r>
            <a:r>
              <a:rPr sz="2800" b="1" i="1" spc="3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stage,</a:t>
            </a:r>
            <a:r>
              <a:rPr sz="2800" b="1" i="1" spc="3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3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have</a:t>
            </a:r>
            <a:r>
              <a:rPr sz="2800" b="1" i="1" spc="3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20</a:t>
            </a:r>
            <a:r>
              <a:rPr sz="2800" b="1" i="1" spc="4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crossbars</a:t>
            </a:r>
            <a:r>
              <a:rPr sz="2800" b="1" i="1" spc="3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4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45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19</a:t>
            </a:r>
            <a:r>
              <a:rPr sz="2800" b="1" i="1" spc="40" dirty="0">
                <a:latin typeface="Times New Roman"/>
                <a:cs typeface="Times New Roman"/>
              </a:rPr>
              <a:t> 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40" dirty="0">
                <a:latin typeface="Times New Roman"/>
                <a:cs typeface="Times New Roman"/>
              </a:rPr>
              <a:t>  </a:t>
            </a:r>
            <a:r>
              <a:rPr sz="2800" b="1" i="1" spc="-25" dirty="0">
                <a:latin typeface="Times New Roman"/>
                <a:cs typeface="Times New Roman"/>
              </a:rPr>
              <a:t>10 </a:t>
            </a:r>
            <a:r>
              <a:rPr sz="2800" b="1" i="1" dirty="0">
                <a:latin typeface="Times New Roman"/>
                <a:cs typeface="Times New Roman"/>
              </a:rPr>
              <a:t>crosspoints.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total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number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crosspoints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20(10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× </a:t>
            </a:r>
            <a:r>
              <a:rPr sz="2800" b="1" i="1" dirty="0">
                <a:latin typeface="Times New Roman"/>
                <a:cs typeface="Times New Roman"/>
              </a:rPr>
              <a:t>19)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+ 19(10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10)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+ 20(19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×10)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9500</a:t>
            </a:r>
            <a:r>
              <a:rPr sz="2800" b="1" i="1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41</a:t>
            </a:fld>
            <a:endParaRPr spc="-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9389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8.19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pc="-35" dirty="0"/>
              <a:t>Time-</a:t>
            </a:r>
            <a:r>
              <a:rPr dirty="0"/>
              <a:t>slot</a:t>
            </a:r>
            <a:r>
              <a:rPr spc="-15" dirty="0"/>
              <a:t> </a:t>
            </a:r>
            <a:r>
              <a:rPr spc="-10" dirty="0"/>
              <a:t>interchange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2353055"/>
            <a:ext cx="7706106" cy="310133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42</a:t>
            </a:fld>
            <a:endParaRPr spc="-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092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8.20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pc="-30" dirty="0"/>
              <a:t>Time-</a:t>
            </a:r>
            <a:r>
              <a:rPr spc="-10" dirty="0"/>
              <a:t>space-</a:t>
            </a:r>
            <a:r>
              <a:rPr dirty="0"/>
              <a:t>time</a:t>
            </a:r>
            <a:r>
              <a:rPr spc="-35" dirty="0"/>
              <a:t> </a:t>
            </a:r>
            <a:r>
              <a:rPr spc="-10" dirty="0"/>
              <a:t>switch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697" y="1676400"/>
            <a:ext cx="8298942" cy="469239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43</a:t>
            </a:fld>
            <a:endParaRPr spc="-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392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8.21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Packet</a:t>
            </a:r>
            <a:r>
              <a:rPr spc="-65" dirty="0"/>
              <a:t> </a:t>
            </a:r>
            <a:r>
              <a:rPr dirty="0"/>
              <a:t>switch</a:t>
            </a:r>
            <a:r>
              <a:rPr spc="-70" dirty="0"/>
              <a:t> </a:t>
            </a:r>
            <a:r>
              <a:rPr spc="-10" dirty="0"/>
              <a:t>components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975" y="1998726"/>
            <a:ext cx="8208264" cy="368426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44</a:t>
            </a:fld>
            <a:endParaRPr spc="-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2709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8.22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Input</a:t>
            </a:r>
            <a:r>
              <a:rPr spc="-60" dirty="0"/>
              <a:t> </a:t>
            </a:r>
            <a:r>
              <a:rPr spc="-20" dirty="0"/>
              <a:t>port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4825" y="3006851"/>
            <a:ext cx="7503414" cy="168554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45</a:t>
            </a:fld>
            <a:endParaRPr spc="-2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2864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8.23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Output</a:t>
            </a:r>
            <a:r>
              <a:rPr spc="-65" dirty="0"/>
              <a:t> </a:t>
            </a:r>
            <a:r>
              <a:rPr spc="-20" dirty="0"/>
              <a:t>port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615" y="2854451"/>
            <a:ext cx="7659623" cy="168554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46</a:t>
            </a:fld>
            <a:endParaRPr spc="-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748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0"/>
              </a:spcBef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8.24</a:t>
            </a:r>
            <a:r>
              <a:rPr sz="2400" i="0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banyan</a:t>
            </a:r>
            <a:r>
              <a:rPr spc="-35" dirty="0"/>
              <a:t> </a:t>
            </a:r>
            <a:r>
              <a:rPr spc="-10" dirty="0"/>
              <a:t>switch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9917" y="1720595"/>
            <a:ext cx="6462521" cy="418185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47</a:t>
            </a:fld>
            <a:endParaRPr spc="-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815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8.25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/>
              <a:t>Examples</a:t>
            </a:r>
            <a:r>
              <a:rPr spc="-6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routing</a:t>
            </a:r>
            <a:r>
              <a:rPr spc="-6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banyan</a:t>
            </a:r>
            <a:r>
              <a:rPr spc="-45" dirty="0"/>
              <a:t> </a:t>
            </a:r>
            <a:r>
              <a:rPr spc="-10" dirty="0"/>
              <a:t>switch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639" y="2417826"/>
            <a:ext cx="8510778" cy="334137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48</a:t>
            </a:fld>
            <a:endParaRPr spc="-2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062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i="0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i="0" spc="-20" dirty="0">
                <a:solidFill>
                  <a:srgbClr val="3333CC"/>
                </a:solidFill>
                <a:latin typeface="Times New Roman"/>
                <a:cs typeface="Times New Roman"/>
              </a:rPr>
              <a:t>8.26</a:t>
            </a:r>
            <a:r>
              <a:rPr sz="2400" i="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pc="-10" dirty="0"/>
              <a:t>Batcher-</a:t>
            </a:r>
            <a:r>
              <a:rPr dirty="0"/>
              <a:t>banyan</a:t>
            </a:r>
            <a:r>
              <a:rPr spc="-70" dirty="0"/>
              <a:t> </a:t>
            </a:r>
            <a:r>
              <a:rPr spc="-10" dirty="0"/>
              <a:t>switch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989" y="2306573"/>
            <a:ext cx="8172450" cy="31478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20" dirty="0"/>
              <a:t>8.</a:t>
            </a:r>
            <a:fld id="{81D60167-4931-47E6-BA6A-407CBD079E47}" type="slidenum">
              <a:rPr spc="-20" dirty="0"/>
              <a:t>49</a:t>
            </a:fld>
            <a:endParaRPr spc="-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</TotalTime>
  <Words>1252</Words>
  <Application>Microsoft Office PowerPoint</Application>
  <PresentationFormat>Custom</PresentationFormat>
  <Paragraphs>152</Paragraphs>
  <Slides>49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Times New Roman</vt:lpstr>
      <vt:lpstr>Office Theme</vt:lpstr>
      <vt:lpstr>1_Office Theme</vt:lpstr>
      <vt:lpstr>Module: 2 Circuit and Packet Switching Switched Communication Networks – Circuit Switching – Packet Switching – Comparison – Implementing Network Software, Networking Parameters ( Transmission Impairments, Data Rate and Performance)</vt:lpstr>
      <vt:lpstr>NEED FOR SWITCHING</vt:lpstr>
      <vt:lpstr>Figure 8.1 Switched network</vt:lpstr>
      <vt:lpstr>Figure 8.2 Taxonomy of switched networks</vt:lpstr>
      <vt:lpstr>8-1 CIRCUIT-SWITCHED NETWORKS</vt:lpstr>
      <vt:lpstr>Note</vt:lpstr>
      <vt:lpstr>PowerPoint Presentation</vt:lpstr>
      <vt:lpstr>Figure 8.3 A trivial circuit-switched network</vt:lpstr>
      <vt:lpstr>PowerPoint Presentation</vt:lpstr>
      <vt:lpstr>Note</vt:lpstr>
      <vt:lpstr>Figure 8.6 Delay in a circuit-switched network</vt:lpstr>
      <vt:lpstr>Note</vt:lpstr>
      <vt:lpstr>PowerPoint Presentation</vt:lpstr>
      <vt:lpstr>PowerPoint Presentation</vt:lpstr>
      <vt:lpstr>8-2 DATAGRAM NETWORKS</vt:lpstr>
      <vt:lpstr>Note</vt:lpstr>
      <vt:lpstr>Figure 8.7 A datagram network with four switches (routers)</vt:lpstr>
      <vt:lpstr>Figure 8.8 Routing table in a datagram network</vt:lpstr>
      <vt:lpstr>Note</vt:lpstr>
      <vt:lpstr>Note</vt:lpstr>
      <vt:lpstr>Figure 8.9 Delay in a datagram network</vt:lpstr>
      <vt:lpstr>Note</vt:lpstr>
      <vt:lpstr>PowerPoint Presentation</vt:lpstr>
      <vt:lpstr>PowerPoint Presentation</vt:lpstr>
      <vt:lpstr>8-3 VIRTUAL-CIRCUIT NETWORKS</vt:lpstr>
      <vt:lpstr>Figure 8.10 Virtual-circuit network</vt:lpstr>
      <vt:lpstr>Figure 8.11 Virtual-circuit identifier</vt:lpstr>
      <vt:lpstr>Figure 8.12 Switch and tables in a virtual-circuit network</vt:lpstr>
      <vt:lpstr>Figure 8.13 Source-to-destination data transfer in a virtual-circuit network</vt:lpstr>
      <vt:lpstr>Figure 8.14 Setup request in a virtual-circuit network</vt:lpstr>
      <vt:lpstr>Figure 8.15 Setup acknowledgment in a virtual-circuit network</vt:lpstr>
      <vt:lpstr>Note</vt:lpstr>
      <vt:lpstr>Figure 8.16 Delay in a virtual-circuit network</vt:lpstr>
      <vt:lpstr>Note</vt:lpstr>
      <vt:lpstr>8-4 STRUCTURE OF A SWITCH</vt:lpstr>
      <vt:lpstr>Figure 8.17 Crossbar switch with three inputs and four outputs</vt:lpstr>
      <vt:lpstr>Figure 8.18 Multistage switch</vt:lpstr>
      <vt:lpstr>Note</vt:lpstr>
      <vt:lpstr>Example 8.3</vt:lpstr>
      <vt:lpstr>Note</vt:lpstr>
      <vt:lpstr>Example 8.4</vt:lpstr>
      <vt:lpstr>Figure 8.19 Time-slot interchange</vt:lpstr>
      <vt:lpstr>Figure 8.20 Time-space-time switch</vt:lpstr>
      <vt:lpstr>Figure 8.21 Packet switch components</vt:lpstr>
      <vt:lpstr>Figure 8.22 Input port</vt:lpstr>
      <vt:lpstr>Figure 8.23 Output port</vt:lpstr>
      <vt:lpstr>Figure 8.24 A banyan switch</vt:lpstr>
      <vt:lpstr>Figure 8.25 Examples of routing in a banyan switch</vt:lpstr>
      <vt:lpstr>Figure 8.26 Batcher-banyan switch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ch08.ppt [Compatibility Mode]</dc:title>
  <dc:creator>Noi</dc:creator>
  <cp:lastModifiedBy>Sreethar S</cp:lastModifiedBy>
  <cp:revision>7</cp:revision>
  <dcterms:created xsi:type="dcterms:W3CDTF">2023-05-12T05:03:31Z</dcterms:created>
  <dcterms:modified xsi:type="dcterms:W3CDTF">2024-08-09T04:37:01Z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2009-06-18T00:00:00Z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2023-05-12T00:00:00Z</vt:filetime>
  </property>
  <property fmtid="{D5CDD505-2E9C-101B-9397-08002B2CF9AE}" pid="5" name="Producer">
    <vt:lpwstr>Acrobat Distiller 8.0.0 (Windows)</vt:lpwstr>
  </property>
</Properties>
</file>