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95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>
      <p:cViewPr varScale="1">
        <p:scale>
          <a:sx n="61" d="100"/>
          <a:sy n="61" d="100"/>
        </p:scale>
        <p:origin x="208" y="1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8442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199"/>
                </a:moveTo>
                <a:lnTo>
                  <a:pt x="8763000" y="0"/>
                </a:lnTo>
                <a:lnTo>
                  <a:pt x="0" y="0"/>
                </a:lnTo>
                <a:lnTo>
                  <a:pt x="0" y="76199"/>
                </a:lnTo>
                <a:lnTo>
                  <a:pt x="8763000" y="761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7239" y="1711451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002" y="1512824"/>
            <a:ext cx="8533395" cy="514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6858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0"/>
                  </a:lnTo>
                  <a:close/>
                </a:path>
                <a:path w="9144000" h="857250">
                  <a:moveTo>
                    <a:pt x="9144000" y="0"/>
                  </a:moveTo>
                  <a:lnTo>
                    <a:pt x="9137904" y="0"/>
                  </a:lnTo>
                  <a:lnTo>
                    <a:pt x="9137904" y="857250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43420" y="444499"/>
            <a:ext cx="7014209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945" marR="5080" indent="-6858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Times New Roman"/>
                <a:cs typeface="Times New Roman"/>
              </a:rPr>
              <a:t>SIMPLE NETWORK MANAGEMENT </a:t>
            </a:r>
            <a:r>
              <a:rPr sz="3200" b="1" spc="-7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PROTOCOL</a:t>
            </a:r>
            <a:r>
              <a:rPr sz="3200" b="1" spc="-19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(SNMP)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801622"/>
            <a:ext cx="8528685" cy="4710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Simple Network Management Protocol </a:t>
            </a:r>
            <a:r>
              <a:rPr sz="2800" b="1" i="1" dirty="0">
                <a:latin typeface="Times New Roman"/>
                <a:cs typeface="Times New Roman"/>
              </a:rPr>
              <a:t>(SNMP)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framework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managing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devices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internet using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TCP/IP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protocol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5" dirty="0">
                <a:latin typeface="Times New Roman"/>
                <a:cs typeface="Times New Roman"/>
              </a:rPr>
              <a:t>suite..</a:t>
            </a:r>
            <a:r>
              <a:rPr sz="2800" b="1" i="1" spc="-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provides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set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fundamental operations for monitoring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maintaining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145" dirty="0">
                <a:latin typeface="Times New Roman"/>
                <a:cs typeface="Times New Roman"/>
              </a:rPr>
              <a:t>internet..</a:t>
            </a:r>
            <a:endParaRPr sz="2800" dirty="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192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Concept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24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Components</a:t>
            </a:r>
            <a:endParaRPr sz="2400" dirty="0">
              <a:latin typeface="Times New Roman"/>
              <a:cs typeface="Times New Roman"/>
            </a:endParaRPr>
          </a:p>
          <a:p>
            <a:pPr marL="12700" marR="2621915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Structure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of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Management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Information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(SMI)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Information</a:t>
            </a:r>
            <a:r>
              <a:rPr sz="2400" b="1" spc="5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Base</a:t>
            </a:r>
            <a:r>
              <a:rPr sz="2400" b="1" spc="5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(MIB)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SNMP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20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	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1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concept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9269" y="2634995"/>
            <a:ext cx="6389370" cy="2514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C56F-5459-4D72-811E-4A15BDEA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D4FFC-43F4-4CDA-B0A3-B79846AF3AAD}"/>
              </a:ext>
            </a:extLst>
          </p:cNvPr>
          <p:cNvSpPr txBox="1"/>
          <p:nvPr/>
        </p:nvSpPr>
        <p:spPr>
          <a:xfrm>
            <a:off x="1003300" y="1724025"/>
            <a:ext cx="89096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A manager checks an agent by requesting information that reflects the behavior of the agent. </a:t>
            </a:r>
          </a:p>
          <a:p>
            <a:pPr marL="514350" indent="-514350">
              <a:buAutoNum type="arabicPeriod"/>
            </a:pPr>
            <a:r>
              <a:rPr lang="en-US" sz="3200" dirty="0"/>
              <a:t>A manager forces an agent to perform a task by resetting values in the agent database. </a:t>
            </a:r>
          </a:p>
          <a:p>
            <a:pPr marL="514350" indent="-514350">
              <a:buAutoNum type="arabicPeriod"/>
            </a:pPr>
            <a:r>
              <a:rPr lang="en-US" sz="3200" dirty="0"/>
              <a:t>An agent contributes to the management process by warning the manager of an unusual situation.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2139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184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28.3	</a:t>
            </a:r>
            <a:r>
              <a:rPr sz="2000" i="1" spc="-5" dirty="0">
                <a:latin typeface="Times New Roman"/>
                <a:cs typeface="Times New Roman"/>
              </a:rPr>
              <a:t>Components 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 management on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 Internet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049" y="2368295"/>
            <a:ext cx="7306818" cy="28178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3682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4839" y="2498598"/>
            <a:ext cx="9144000" cy="2613025"/>
            <a:chOff x="774839" y="2498598"/>
            <a:chExt cx="9144000" cy="2613025"/>
          </a:xfrm>
        </p:grpSpPr>
        <p:sp>
          <p:nvSpPr>
            <p:cNvPr id="9" name="object 9"/>
            <p:cNvSpPr/>
            <p:nvPr/>
          </p:nvSpPr>
          <p:spPr>
            <a:xfrm>
              <a:off x="1270139" y="2498598"/>
              <a:ext cx="8077200" cy="422275"/>
            </a:xfrm>
            <a:custGeom>
              <a:avLst/>
              <a:gdLst/>
              <a:ahLst/>
              <a:cxnLst/>
              <a:rect l="l" t="t" r="r" b="b"/>
              <a:pathLst>
                <a:path w="8077200" h="422275">
                  <a:moveTo>
                    <a:pt x="8077200" y="4221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22148"/>
                  </a:lnTo>
                  <a:lnTo>
                    <a:pt x="8077200" y="4221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70139" y="2919984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3777234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4325" y="50352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4634483"/>
              <a:ext cx="8077200" cy="393700"/>
            </a:xfrm>
            <a:custGeom>
              <a:avLst/>
              <a:gdLst/>
              <a:ahLst/>
              <a:cxnLst/>
              <a:rect l="l" t="t" r="r" b="b"/>
              <a:pathLst>
                <a:path w="8077200" h="393700">
                  <a:moveTo>
                    <a:pt x="8077200" y="39319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93192"/>
                  </a:lnTo>
                  <a:lnTo>
                    <a:pt x="8077200" y="39319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92369" y="2520950"/>
            <a:ext cx="7028815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3810" algn="ctr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Arial"/>
                <a:cs typeface="Arial"/>
              </a:rPr>
              <a:t>SNMP defines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format </a:t>
            </a:r>
            <a:r>
              <a:rPr sz="3200" b="1" spc="-5" dirty="0">
                <a:latin typeface="Arial"/>
                <a:cs typeface="Arial"/>
              </a:rPr>
              <a:t>of </a:t>
            </a:r>
            <a:r>
              <a:rPr sz="3200" b="1" spc="-10" dirty="0">
                <a:latin typeface="Arial"/>
                <a:cs typeface="Arial"/>
              </a:rPr>
              <a:t>packets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exchanged between </a:t>
            </a: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10" dirty="0">
                <a:latin typeface="Arial"/>
                <a:cs typeface="Arial"/>
              </a:rPr>
              <a:t>manager and </a:t>
            </a:r>
            <a:r>
              <a:rPr sz="3200" b="1" spc="-5" dirty="0">
                <a:latin typeface="Arial"/>
                <a:cs typeface="Arial"/>
              </a:rPr>
              <a:t> an agent. It reads and changes the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status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(values)</a:t>
            </a:r>
            <a:r>
              <a:rPr sz="3200" b="1" spc="-5" dirty="0">
                <a:latin typeface="Arial"/>
                <a:cs typeface="Arial"/>
              </a:rPr>
              <a:t> of </a:t>
            </a:r>
            <a:r>
              <a:rPr sz="3200" b="1" spc="-10" dirty="0">
                <a:latin typeface="Arial"/>
                <a:cs typeface="Arial"/>
              </a:rPr>
              <a:t>objects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(variables)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SNMP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packets.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96795"/>
            <a:ext cx="1143000" cy="56692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44123" y="18176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459230"/>
            <a:ext cx="1143000" cy="5661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479295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0634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74839" y="2193798"/>
            <a:ext cx="9144000" cy="4594225"/>
            <a:chOff x="774839" y="2193798"/>
            <a:chExt cx="9144000" cy="4594225"/>
          </a:xfrm>
        </p:grpSpPr>
        <p:sp>
          <p:nvSpPr>
            <p:cNvPr id="11" name="object 11"/>
            <p:cNvSpPr/>
            <p:nvPr/>
          </p:nvSpPr>
          <p:spPr>
            <a:xfrm>
              <a:off x="1270139" y="2193810"/>
              <a:ext cx="8077200" cy="2441575"/>
            </a:xfrm>
            <a:custGeom>
              <a:avLst/>
              <a:gdLst/>
              <a:ahLst/>
              <a:cxnLst/>
              <a:rect l="l" t="t" r="r" b="b"/>
              <a:pathLst>
                <a:path w="8077200" h="2441575">
                  <a:moveTo>
                    <a:pt x="8077200" y="0"/>
                  </a:moveTo>
                  <a:lnTo>
                    <a:pt x="0" y="0"/>
                  </a:lnTo>
                  <a:lnTo>
                    <a:pt x="0" y="726186"/>
                  </a:lnTo>
                  <a:lnTo>
                    <a:pt x="0" y="726948"/>
                  </a:lnTo>
                  <a:lnTo>
                    <a:pt x="0" y="1583436"/>
                  </a:lnTo>
                  <a:lnTo>
                    <a:pt x="0" y="1584198"/>
                  </a:lnTo>
                  <a:lnTo>
                    <a:pt x="0" y="2441448"/>
                  </a:lnTo>
                  <a:lnTo>
                    <a:pt x="8077200" y="2441448"/>
                  </a:lnTo>
                  <a:lnTo>
                    <a:pt x="8077200" y="1584198"/>
                  </a:lnTo>
                  <a:lnTo>
                    <a:pt x="8077200" y="1583436"/>
                  </a:lnTo>
                  <a:lnTo>
                    <a:pt x="8077200" y="726948"/>
                  </a:lnTo>
                  <a:lnTo>
                    <a:pt x="8077200" y="726186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39" y="46344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46344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4839" y="54917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549173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4325" y="6711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6348983"/>
              <a:ext cx="8077200" cy="323215"/>
            </a:xfrm>
            <a:custGeom>
              <a:avLst/>
              <a:gdLst/>
              <a:ahLst/>
              <a:cxnLst/>
              <a:rect l="l" t="t" r="r" b="b"/>
              <a:pathLst>
                <a:path w="8077200" h="323215">
                  <a:moveTo>
                    <a:pt x="8077200" y="32308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23088"/>
                  </a:lnTo>
                  <a:lnTo>
                    <a:pt x="8077200" y="32308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83926" y="2216150"/>
            <a:ext cx="7849870" cy="441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SMI </a:t>
            </a:r>
            <a:r>
              <a:rPr sz="3200" b="1" spc="-10" dirty="0">
                <a:latin typeface="Arial"/>
                <a:cs typeface="Arial"/>
              </a:rPr>
              <a:t>defines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general </a:t>
            </a:r>
            <a:r>
              <a:rPr sz="3200" b="1" spc="-5" dirty="0">
                <a:latin typeface="Arial"/>
                <a:cs typeface="Arial"/>
              </a:rPr>
              <a:t>rules for </a:t>
            </a:r>
            <a:r>
              <a:rPr sz="3200" b="1" spc="-10" dirty="0">
                <a:latin typeface="Arial"/>
                <a:cs typeface="Arial"/>
              </a:rPr>
              <a:t>naming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objects, </a:t>
            </a:r>
            <a:r>
              <a:rPr sz="3200" b="1" spc="-5" dirty="0">
                <a:latin typeface="Arial"/>
                <a:cs typeface="Arial"/>
              </a:rPr>
              <a:t>defining </a:t>
            </a:r>
            <a:r>
              <a:rPr sz="3200" b="1" spc="-10" dirty="0">
                <a:latin typeface="Arial"/>
                <a:cs typeface="Arial"/>
              </a:rPr>
              <a:t>object types </a:t>
            </a:r>
            <a:r>
              <a:rPr sz="3200" b="1" spc="-5" dirty="0">
                <a:latin typeface="Arial"/>
                <a:cs typeface="Arial"/>
              </a:rPr>
              <a:t>(including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range and length), and showing how to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encode</a:t>
            </a:r>
            <a:r>
              <a:rPr sz="3200" b="1" spc="5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objects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8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values.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SMI</a:t>
            </a:r>
            <a:r>
              <a:rPr sz="3200" b="1" spc="8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does </a:t>
            </a:r>
            <a:r>
              <a:rPr sz="3200" b="1" spc="-5" dirty="0">
                <a:latin typeface="Arial"/>
                <a:cs typeface="Arial"/>
              </a:rPr>
              <a:t> not </a:t>
            </a:r>
            <a:r>
              <a:rPr sz="3200" b="1" spc="-10" dirty="0">
                <a:latin typeface="Arial"/>
                <a:cs typeface="Arial"/>
              </a:rPr>
              <a:t>define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number </a:t>
            </a:r>
            <a:r>
              <a:rPr sz="3200" b="1" spc="-5" dirty="0">
                <a:latin typeface="Arial"/>
                <a:cs typeface="Arial"/>
              </a:rPr>
              <a:t>of objects </a:t>
            </a:r>
            <a:r>
              <a:rPr sz="3200" b="1" spc="-10" dirty="0">
                <a:latin typeface="Arial"/>
                <a:cs typeface="Arial"/>
              </a:rPr>
              <a:t>an </a:t>
            </a:r>
            <a:r>
              <a:rPr sz="3200" b="1" spc="-5" dirty="0">
                <a:latin typeface="Arial"/>
                <a:cs typeface="Arial"/>
              </a:rPr>
              <a:t> entity should </a:t>
            </a:r>
            <a:r>
              <a:rPr sz="3200" b="1" spc="-10" dirty="0">
                <a:latin typeface="Arial"/>
                <a:cs typeface="Arial"/>
              </a:rPr>
              <a:t>manage </a:t>
            </a:r>
            <a:r>
              <a:rPr sz="3200" b="1" spc="-5" dirty="0">
                <a:latin typeface="Arial"/>
                <a:cs typeface="Arial"/>
              </a:rPr>
              <a:t>or </a:t>
            </a:r>
            <a:r>
              <a:rPr sz="3200" b="1" spc="-10" dirty="0">
                <a:latin typeface="Arial"/>
                <a:cs typeface="Arial"/>
              </a:rPr>
              <a:t>name the </a:t>
            </a:r>
            <a:r>
              <a:rPr sz="3200" b="1" spc="-5" dirty="0">
                <a:latin typeface="Arial"/>
                <a:cs typeface="Arial"/>
              </a:rPr>
              <a:t> objects to be managed or define the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association between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objects and </a:t>
            </a:r>
            <a:r>
              <a:rPr sz="3200" b="1" spc="-5" dirty="0">
                <a:latin typeface="Arial"/>
                <a:cs typeface="Arial"/>
              </a:rPr>
              <a:t> their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values.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596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9491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1970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139" y="2727198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768985" marR="76200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MIB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creates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collection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named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objects, </a:t>
            </a:r>
            <a:r>
              <a:rPr sz="3200" b="1" spc="-5" dirty="0">
                <a:latin typeface="Arial"/>
                <a:cs typeface="Arial"/>
              </a:rPr>
              <a:t>their </a:t>
            </a:r>
            <a:r>
              <a:rPr sz="3200" b="1" spc="-10" dirty="0">
                <a:latin typeface="Arial"/>
                <a:cs typeface="Arial"/>
              </a:rPr>
              <a:t>types, </a:t>
            </a:r>
            <a:r>
              <a:rPr sz="3200" b="1" spc="-5" dirty="0">
                <a:latin typeface="Arial"/>
                <a:cs typeface="Arial"/>
              </a:rPr>
              <a:t>and </a:t>
            </a:r>
            <a:r>
              <a:rPr sz="3200" b="1" spc="-10" dirty="0">
                <a:latin typeface="Arial"/>
                <a:cs typeface="Arial"/>
              </a:rPr>
              <a:t>their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relationships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0" dirty="0">
                <a:latin typeface="Arial"/>
                <a:cs typeface="Arial"/>
              </a:rPr>
              <a:t> each </a:t>
            </a:r>
            <a:r>
              <a:rPr sz="3200" b="1" spc="-5" dirty="0">
                <a:latin typeface="Arial"/>
                <a:cs typeface="Arial"/>
              </a:rPr>
              <a:t>other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ts val="3225"/>
              </a:lnSpc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entity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managed.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0139" y="4634484"/>
              <a:ext cx="8077200" cy="134620"/>
            </a:xfrm>
            <a:custGeom>
              <a:avLst/>
              <a:gdLst/>
              <a:ahLst/>
              <a:cxnLst/>
              <a:rect l="l" t="t" r="r" b="b"/>
              <a:pathLst>
                <a:path w="8077200" h="134620">
                  <a:moveTo>
                    <a:pt x="8077200" y="1341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4112"/>
                  </a:lnTo>
                  <a:lnTo>
                    <a:pt x="8077200" y="1341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327025"/>
            </a:xfrm>
            <a:custGeom>
              <a:avLst/>
              <a:gdLst/>
              <a:ahLst/>
              <a:cxnLst/>
              <a:rect l="l" t="t" r="r" b="b"/>
              <a:pathLst>
                <a:path w="422275" h="327025">
                  <a:moveTo>
                    <a:pt x="422147" y="32689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26897"/>
                  </a:lnTo>
                  <a:lnTo>
                    <a:pt x="422147" y="32689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857250"/>
            </a:xfrm>
            <a:custGeom>
              <a:avLst/>
              <a:gdLst/>
              <a:ahLst/>
              <a:cxnLst/>
              <a:rect l="l" t="t" r="r" b="b"/>
              <a:pathLst>
                <a:path w="31750" h="857250">
                  <a:moveTo>
                    <a:pt x="31241" y="857249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857249"/>
                  </a:lnTo>
                  <a:lnTo>
                    <a:pt x="31241" y="8572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003439" y="1834895"/>
            <a:ext cx="8761730" cy="76200"/>
          </a:xfrm>
          <a:custGeom>
            <a:avLst/>
            <a:gdLst/>
            <a:ahLst/>
            <a:cxnLst/>
            <a:rect l="l" t="t" r="r" b="b"/>
            <a:pathLst>
              <a:path w="8761730" h="76200">
                <a:moveTo>
                  <a:pt x="8761476" y="76200"/>
                </a:moveTo>
                <a:lnTo>
                  <a:pt x="8761476" y="0"/>
                </a:lnTo>
                <a:lnTo>
                  <a:pt x="0" y="0"/>
                </a:lnTo>
                <a:lnTo>
                  <a:pt x="0" y="76200"/>
                </a:lnTo>
                <a:lnTo>
                  <a:pt x="8761476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9639" y="1991105"/>
            <a:ext cx="8610600" cy="72390"/>
          </a:xfrm>
          <a:custGeom>
            <a:avLst/>
            <a:gdLst/>
            <a:ahLst/>
            <a:cxnLst/>
            <a:rect l="l" t="t" r="r" b="b"/>
            <a:pathLst>
              <a:path w="8610600" h="72389">
                <a:moveTo>
                  <a:pt x="8610600" y="72389"/>
                </a:moveTo>
                <a:lnTo>
                  <a:pt x="8610600" y="0"/>
                </a:lnTo>
                <a:lnTo>
                  <a:pt x="0" y="0"/>
                </a:lnTo>
                <a:lnTo>
                  <a:pt x="0" y="72390"/>
                </a:lnTo>
                <a:lnTo>
                  <a:pt x="8610600" y="72389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2039" y="1206246"/>
            <a:ext cx="1143000" cy="547878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079639" y="2062733"/>
            <a:ext cx="8610600" cy="4287520"/>
            <a:chOff x="1079639" y="2062733"/>
            <a:chExt cx="8610600" cy="4287520"/>
          </a:xfrm>
        </p:grpSpPr>
        <p:sp>
          <p:nvSpPr>
            <p:cNvPr id="16" name="object 16"/>
            <p:cNvSpPr/>
            <p:nvPr/>
          </p:nvSpPr>
          <p:spPr>
            <a:xfrm>
              <a:off x="1079639" y="2062746"/>
              <a:ext cx="8610600" cy="1715770"/>
            </a:xfrm>
            <a:custGeom>
              <a:avLst/>
              <a:gdLst/>
              <a:ahLst/>
              <a:cxnLst/>
              <a:rect l="l" t="t" r="r" b="b"/>
              <a:pathLst>
                <a:path w="8610600" h="1715770">
                  <a:moveTo>
                    <a:pt x="8610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610600" y="1715262"/>
                  </a:lnTo>
                  <a:lnTo>
                    <a:pt x="8610600" y="858012"/>
                  </a:lnTo>
                  <a:lnTo>
                    <a:pt x="8610600" y="85725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9639" y="3777246"/>
              <a:ext cx="8610600" cy="2573020"/>
            </a:xfrm>
            <a:custGeom>
              <a:avLst/>
              <a:gdLst/>
              <a:ahLst/>
              <a:cxnLst/>
              <a:rect l="l" t="t" r="r" b="b"/>
              <a:pathLst>
                <a:path w="8610600" h="2573020">
                  <a:moveTo>
                    <a:pt x="8610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572512"/>
                  </a:lnTo>
                  <a:lnTo>
                    <a:pt x="8610600" y="2572512"/>
                  </a:lnTo>
                  <a:lnTo>
                    <a:pt x="8610600" y="1715262"/>
                  </a:lnTo>
                  <a:lnTo>
                    <a:pt x="8610600" y="1714500"/>
                  </a:lnTo>
                  <a:lnTo>
                    <a:pt x="8610600" y="858012"/>
                  </a:lnTo>
                  <a:lnTo>
                    <a:pt x="8610600" y="85725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58361" y="1208024"/>
            <a:ext cx="8452485" cy="509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015365" algn="l"/>
                <a:tab pos="2104390" algn="l"/>
                <a:tab pos="2408555" algn="l"/>
                <a:tab pos="2945765" algn="l"/>
                <a:tab pos="3681095" algn="l"/>
                <a:tab pos="4064635" algn="l"/>
                <a:tab pos="4594860" algn="l"/>
                <a:tab pos="5074920" algn="l"/>
                <a:tab pos="5131435" algn="l"/>
                <a:tab pos="6264275" algn="l"/>
                <a:tab pos="6498590" algn="l"/>
                <a:tab pos="6896734" algn="l"/>
                <a:tab pos="7075170" algn="l"/>
              </a:tabLst>
            </a:pPr>
            <a:r>
              <a:rPr sz="2800" b="1" spc="-50" dirty="0">
                <a:latin typeface="Arial"/>
                <a:cs typeface="Arial"/>
              </a:rPr>
              <a:t>W</a:t>
            </a:r>
            <a:r>
              <a:rPr sz="2800" b="1" dirty="0">
                <a:latin typeface="Arial"/>
                <a:cs typeface="Arial"/>
              </a:rPr>
              <a:t>e	can	compare		the	task	</a:t>
            </a:r>
            <a:r>
              <a:rPr sz="2800" b="1" spc="-10" dirty="0">
                <a:latin typeface="Arial"/>
                <a:cs typeface="Arial"/>
              </a:rPr>
              <a:t>o</a:t>
            </a:r>
            <a:r>
              <a:rPr sz="2800" b="1" dirty="0">
                <a:latin typeface="Arial"/>
                <a:cs typeface="Arial"/>
              </a:rPr>
              <a:t>f		</a:t>
            </a:r>
            <a:r>
              <a:rPr sz="2800" b="1" spc="-5" dirty="0">
                <a:latin typeface="Arial"/>
                <a:cs typeface="Arial"/>
              </a:rPr>
              <a:t>network  </a:t>
            </a:r>
            <a:r>
              <a:rPr sz="2800" b="1" dirty="0">
                <a:latin typeface="Arial"/>
                <a:cs typeface="Arial"/>
              </a:rPr>
              <a:t>management	to	the	task	of		writing	a	program.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50">
              <a:latin typeface="Arial"/>
              <a:cs typeface="Arial"/>
            </a:endParaRPr>
          </a:p>
          <a:p>
            <a:pPr marL="406400" marR="1905635" indent="-394335">
              <a:lnSpc>
                <a:spcPts val="3329"/>
              </a:lnSpc>
            </a:pPr>
            <a:r>
              <a:rPr sz="2800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2800" spc="-6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2800" b="1" dirty="0">
                <a:latin typeface="Arial"/>
                <a:cs typeface="Arial"/>
              </a:rPr>
              <a:t>Both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tasks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rules.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network  management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this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handled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SMI.</a:t>
            </a:r>
            <a:endParaRPr sz="2800">
              <a:latin typeface="Arial"/>
              <a:cs typeface="Arial"/>
            </a:endParaRPr>
          </a:p>
          <a:p>
            <a:pPr marL="406400" marR="421640" indent="-394335">
              <a:lnSpc>
                <a:spcPts val="3329"/>
              </a:lnSpc>
              <a:spcBef>
                <a:spcPts val="60"/>
              </a:spcBef>
            </a:pPr>
            <a:r>
              <a:rPr sz="2800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2800" spc="-6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2800" b="1" dirty="0">
                <a:latin typeface="Arial"/>
                <a:cs typeface="Arial"/>
              </a:rPr>
              <a:t>Both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tasks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variable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declarations.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  network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management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handled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MIB.</a:t>
            </a:r>
            <a:endParaRPr sz="2800">
              <a:latin typeface="Arial"/>
              <a:cs typeface="Arial"/>
            </a:endParaRPr>
          </a:p>
          <a:p>
            <a:pPr marL="406400" marR="756285" indent="-394335">
              <a:lnSpc>
                <a:spcPts val="3329"/>
              </a:lnSpc>
              <a:spcBef>
                <a:spcPts val="60"/>
              </a:spcBef>
            </a:pPr>
            <a:r>
              <a:rPr sz="2800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2800" spc="-6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2800" b="1" dirty="0">
                <a:latin typeface="Arial"/>
                <a:cs typeface="Arial"/>
              </a:rPr>
              <a:t>Both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tasks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have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actions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performed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  statements.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network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management this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  <a:p>
            <a:pPr marL="406400">
              <a:lnSpc>
                <a:spcPts val="3254"/>
              </a:lnSpc>
            </a:pPr>
            <a:r>
              <a:rPr sz="2800" b="1" spc="-5" dirty="0">
                <a:latin typeface="Arial"/>
                <a:cs typeface="Arial"/>
              </a:rPr>
              <a:t>handled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by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75" dirty="0">
                <a:latin typeface="Arial"/>
                <a:cs typeface="Arial"/>
              </a:rPr>
              <a:t>SNMP.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03439" y="6406896"/>
            <a:ext cx="8761730" cy="76200"/>
          </a:xfrm>
          <a:custGeom>
            <a:avLst/>
            <a:gdLst/>
            <a:ahLst/>
            <a:cxnLst/>
            <a:rect l="l" t="t" r="r" b="b"/>
            <a:pathLst>
              <a:path w="8761730" h="76200">
                <a:moveTo>
                  <a:pt x="8761475" y="76200"/>
                </a:moveTo>
                <a:lnTo>
                  <a:pt x="8761475" y="0"/>
                </a:lnTo>
                <a:lnTo>
                  <a:pt x="0" y="0"/>
                </a:lnTo>
                <a:lnTo>
                  <a:pt x="0" y="76200"/>
                </a:lnTo>
                <a:lnTo>
                  <a:pt x="8761475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9639" y="6348984"/>
            <a:ext cx="8610600" cy="5080"/>
          </a:xfrm>
          <a:custGeom>
            <a:avLst/>
            <a:gdLst/>
            <a:ahLst/>
            <a:cxnLst/>
            <a:rect l="l" t="t" r="r" b="b"/>
            <a:pathLst>
              <a:path w="8610600" h="5079">
                <a:moveTo>
                  <a:pt x="8610600" y="4571"/>
                </a:moveTo>
                <a:lnTo>
                  <a:pt x="8610600" y="0"/>
                </a:lnTo>
                <a:lnTo>
                  <a:pt x="0" y="0"/>
                </a:lnTo>
                <a:lnTo>
                  <a:pt x="0" y="4571"/>
                </a:lnTo>
                <a:lnTo>
                  <a:pt x="8610600" y="4571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005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28.4	</a:t>
            </a:r>
            <a:r>
              <a:rPr sz="2000" i="1" spc="-5" dirty="0">
                <a:latin typeface="Times New Roman"/>
                <a:cs typeface="Times New Roman"/>
              </a:rPr>
              <a:t>Management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overview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395" y="1541525"/>
            <a:ext cx="5228844" cy="50558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6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28.5	</a:t>
            </a:r>
            <a:r>
              <a:rPr sz="2000" i="1" spc="-5" dirty="0">
                <a:latin typeface="Times New Roman"/>
                <a:cs typeface="Times New Roman"/>
              </a:rPr>
              <a:t>Object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attributes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549" y="2938272"/>
            <a:ext cx="6663690" cy="18303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342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28.6	</a:t>
            </a:r>
            <a:r>
              <a:rPr sz="2000" i="1" spc="-5" dirty="0">
                <a:latin typeface="Times New Roman"/>
                <a:cs typeface="Times New Roman"/>
              </a:rPr>
              <a:t>Object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identifier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639" y="1415796"/>
            <a:ext cx="6445758" cy="515035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687829"/>
            <a:ext cx="1143000" cy="3756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07895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2973070"/>
            <a:chOff x="774839" y="2062733"/>
            <a:chExt cx="9144000" cy="297307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039" y="2292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0139" y="2422397"/>
              <a:ext cx="8077200" cy="498475"/>
            </a:xfrm>
            <a:custGeom>
              <a:avLst/>
              <a:gdLst/>
              <a:ahLst/>
              <a:cxnLst/>
              <a:rect l="l" t="t" r="r" b="b"/>
              <a:pathLst>
                <a:path w="8077200" h="498475">
                  <a:moveTo>
                    <a:pt x="8077200" y="4983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98348"/>
                  </a:lnTo>
                  <a:lnTo>
                    <a:pt x="8077200" y="4983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063495"/>
              <a:ext cx="1143000" cy="190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2919996"/>
              <a:ext cx="8077200" cy="1715770"/>
            </a:xfrm>
            <a:custGeom>
              <a:avLst/>
              <a:gdLst/>
              <a:ahLst/>
              <a:cxnLst/>
              <a:rect l="l" t="t" r="r" b="b"/>
              <a:pathLst>
                <a:path w="8077200" h="171577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077200" y="1715262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4325" y="4959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4634483"/>
              <a:ext cx="8077200" cy="317500"/>
            </a:xfrm>
            <a:custGeom>
              <a:avLst/>
              <a:gdLst/>
              <a:ahLst/>
              <a:cxnLst/>
              <a:rect l="l" t="t" r="r" b="b"/>
              <a:pathLst>
                <a:path w="8077200" h="317500">
                  <a:moveTo>
                    <a:pt x="8077200" y="31699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16992"/>
                  </a:lnTo>
                  <a:lnTo>
                    <a:pt x="8077200" y="31699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42599" y="2444750"/>
            <a:ext cx="7731759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All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objects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managed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by</a:t>
            </a:r>
            <a:r>
              <a:rPr sz="3200" b="1" spc="-10" dirty="0">
                <a:latin typeface="Arial"/>
                <a:cs typeface="Arial"/>
              </a:rPr>
              <a:t> SNMP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 given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identifier.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146685" marR="14414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object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identifier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always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starts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with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1.3.6.1.2.1.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638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28.7	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67" y="2448305"/>
            <a:ext cx="6485382" cy="26586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676147"/>
            <a:ext cx="2597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28.1	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521" y="1124711"/>
            <a:ext cx="7421117" cy="53964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94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28.8	</a:t>
            </a:r>
            <a:r>
              <a:rPr sz="2000" i="1" spc="-5" dirty="0">
                <a:latin typeface="Times New Roman"/>
                <a:cs typeface="Times New Roman"/>
              </a:rPr>
              <a:t>Conceptual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141" y="2500122"/>
            <a:ext cx="8099297" cy="32590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42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28.9	</a:t>
            </a:r>
            <a:r>
              <a:rPr sz="2000" i="1" spc="-5" dirty="0">
                <a:latin typeface="Times New Roman"/>
                <a:cs typeface="Times New Roman"/>
              </a:rPr>
              <a:t>Encoding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6399" y="3092195"/>
            <a:ext cx="6873240" cy="138455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73" y="1057147"/>
            <a:ext cx="3613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1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28.2	</a:t>
            </a:r>
            <a:r>
              <a:rPr sz="2000" i="1" spc="-5" dirty="0">
                <a:latin typeface="Times New Roman"/>
                <a:cs typeface="Times New Roman"/>
              </a:rPr>
              <a:t>Codes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249" y="1607819"/>
            <a:ext cx="7997952" cy="43799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1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28.10	</a:t>
            </a:r>
            <a:r>
              <a:rPr sz="2000" i="1" spc="-5" dirty="0">
                <a:latin typeface="Times New Roman"/>
                <a:cs typeface="Times New Roman"/>
              </a:rPr>
              <a:t>Length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069" y="3092195"/>
            <a:ext cx="6846569" cy="19811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7142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28.11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INTEGER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14.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282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239" y="3692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73" y="3114547"/>
            <a:ext cx="4793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28.11	</a:t>
            </a:r>
            <a:r>
              <a:rPr sz="2000" b="1" i="1" spc="-5" dirty="0">
                <a:latin typeface="Times New Roman"/>
                <a:cs typeface="Times New Roman"/>
              </a:rPr>
              <a:t>Example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28.1,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INTEGER</a:t>
            </a:r>
            <a:r>
              <a:rPr sz="2000" b="1" i="1" spc="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14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2821" y="4082796"/>
            <a:ext cx="7230618" cy="89763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27239" y="51876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1495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28.12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OCTET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STRING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“HI”.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3206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73" y="3495547"/>
            <a:ext cx="580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28.12	</a:t>
            </a:r>
            <a:r>
              <a:rPr sz="2000" b="1" i="1" spc="-5" dirty="0">
                <a:latin typeface="Times New Roman"/>
                <a:cs typeface="Times New Roman"/>
              </a:rPr>
              <a:t>Example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28.2,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OCTET</a:t>
            </a:r>
            <a:r>
              <a:rPr sz="2000" b="1" i="1" spc="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STRING</a:t>
            </a:r>
            <a:r>
              <a:rPr sz="2000" b="1" i="1" spc="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“HI”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3777234"/>
            <a:ext cx="9144000" cy="1449070"/>
            <a:chOff x="774839" y="3777234"/>
            <a:chExt cx="9144000" cy="1449070"/>
          </a:xfrm>
        </p:grpSpPr>
        <p:sp>
          <p:nvSpPr>
            <p:cNvPr id="12" name="object 12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7239" y="40736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5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693" y="4319778"/>
              <a:ext cx="4825746" cy="906018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927239" y="55686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737870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28.13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ObjectIdentifier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1.3.6.1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(iso.org.dod.internet).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33588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239" y="4226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73" y="3647947"/>
            <a:ext cx="5786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28.13	</a:t>
            </a:r>
            <a:r>
              <a:rPr sz="2000" b="1" i="1" spc="-5" dirty="0">
                <a:latin typeface="Times New Roman"/>
                <a:cs typeface="Times New Roman"/>
              </a:rPr>
              <a:t>Example 28.3,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ObjectIdentifier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1.3.6.1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7621" y="4735829"/>
            <a:ext cx="7230618" cy="117576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27239" y="64068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026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28.14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IPAddress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131.21.14.8..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3130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73" y="3419347"/>
            <a:ext cx="5763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28.14	</a:t>
            </a:r>
            <a:r>
              <a:rPr sz="2000" b="1" i="1" spc="-5" dirty="0">
                <a:latin typeface="Times New Roman"/>
                <a:cs typeface="Times New Roman"/>
              </a:rPr>
              <a:t>Example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28.4,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IPAddress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131.21.14.8.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3777234"/>
            <a:ext cx="9144000" cy="2058670"/>
            <a:chOff x="774839" y="3777234"/>
            <a:chExt cx="9144000" cy="2058670"/>
          </a:xfrm>
        </p:grpSpPr>
        <p:sp>
          <p:nvSpPr>
            <p:cNvPr id="12" name="object 12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7239" y="3997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5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5221" y="4671822"/>
              <a:ext cx="7230618" cy="1163574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927239" y="62544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40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</a:t>
            </a:r>
            <a:r>
              <a:rPr sz="2400" spc="-45" dirty="0">
                <a:solidFill>
                  <a:srgbClr val="3333CC"/>
                </a:solidFill>
              </a:rPr>
              <a:t>r</a:t>
            </a:r>
            <a:r>
              <a:rPr sz="2400" spc="-5" dirty="0">
                <a:solidFill>
                  <a:srgbClr val="3333CC"/>
                </a:solidFill>
              </a:rPr>
              <a:t>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10" dirty="0">
                <a:solidFill>
                  <a:srgbClr val="3333CC"/>
                </a:solidFill>
              </a:rPr>
              <a:t>28.1</a:t>
            </a:r>
            <a:r>
              <a:rPr sz="2400" spc="-5" dirty="0">
                <a:solidFill>
                  <a:srgbClr val="3333CC"/>
                </a:solidFill>
              </a:rPr>
              <a:t>5	</a:t>
            </a:r>
            <a:r>
              <a:rPr sz="2000" i="1" spc="-5" dirty="0">
                <a:latin typeface="Times New Roman"/>
                <a:cs typeface="Times New Roman"/>
              </a:rPr>
              <a:t>mib-2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869" y="2894076"/>
            <a:ext cx="7760969" cy="18745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875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28.16	</a:t>
            </a:r>
            <a:r>
              <a:rPr sz="2000" i="1" spc="-5" dirty="0">
                <a:latin typeface="Times New Roman"/>
                <a:cs typeface="Times New Roman"/>
              </a:rPr>
              <a:t>udp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group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039" y="2314955"/>
            <a:ext cx="6800850" cy="32918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328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28.17	</a:t>
            </a:r>
            <a:r>
              <a:rPr sz="2000" i="1" spc="-5" dirty="0">
                <a:latin typeface="Times New Roman"/>
                <a:cs typeface="Times New Roman"/>
              </a:rPr>
              <a:t>udp variables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tables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8839" y="1584197"/>
            <a:ext cx="5399036" cy="48607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01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28.18	</a:t>
            </a:r>
            <a:r>
              <a:rPr sz="2000" i="1" spc="-5" dirty="0">
                <a:latin typeface="Times New Roman"/>
                <a:cs typeface="Times New Roman"/>
              </a:rPr>
              <a:t>Indexes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udpTable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1595" y="1846326"/>
            <a:ext cx="5914644" cy="44462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271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28.19	</a:t>
            </a:r>
            <a:r>
              <a:rPr sz="2000" i="1" spc="-5" dirty="0">
                <a:latin typeface="Times New Roman"/>
                <a:cs typeface="Times New Roman"/>
              </a:rPr>
              <a:t>Lexicographic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ordering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139" y="1491996"/>
            <a:ext cx="5905500" cy="482193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17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28.20	</a:t>
            </a:r>
            <a:r>
              <a:rPr sz="2000" i="1" spc="-10" dirty="0">
                <a:latin typeface="Times New Roman"/>
                <a:cs typeface="Times New Roman"/>
              </a:rPr>
              <a:t>SNMP</a:t>
            </a:r>
            <a:r>
              <a:rPr sz="2000" i="1" spc="-114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PDUs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9349" y="1925573"/>
            <a:ext cx="5063490" cy="429082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8500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28.21	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8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PDU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8117" y="2225801"/>
            <a:ext cx="4862321" cy="3380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973" y="1971547"/>
            <a:ext cx="3074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28.3	</a:t>
            </a:r>
            <a:r>
              <a:rPr sz="2000" i="1" spc="-20" dirty="0">
                <a:latin typeface="Times New Roman"/>
                <a:cs typeface="Times New Roman"/>
              </a:rPr>
              <a:t>Types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349" y="2335529"/>
            <a:ext cx="6440500" cy="28140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43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28.22	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1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message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7239" y="1320545"/>
            <a:ext cx="8763000" cy="5467350"/>
            <a:chOff x="927239" y="1320545"/>
            <a:chExt cx="8763000" cy="54673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6649" y="1320545"/>
              <a:ext cx="2815589" cy="5353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1514347"/>
            <a:ext cx="431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28.4	</a:t>
            </a:r>
            <a:r>
              <a:rPr sz="2000" i="1" spc="-5" dirty="0">
                <a:latin typeface="Times New Roman"/>
                <a:cs typeface="Times New Roman"/>
              </a:rPr>
              <a:t>Codes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messages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9719" y="1939289"/>
            <a:ext cx="7284719" cy="38199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0" y="1512824"/>
            <a:ext cx="854202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example,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4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manager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(SNMP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client)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GetRequest message to retrieve the number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UDP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datagrams that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router has received. There is only one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VarBind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entity. </a:t>
            </a:r>
            <a:r>
              <a:rPr sz="2800" b="1" i="1" spc="-5" dirty="0">
                <a:latin typeface="Times New Roman"/>
                <a:cs typeface="Times New Roman"/>
              </a:rPr>
              <a:t>The corresponding MIB variable related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information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udpInDatagrams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object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identifier 1.3.6.1.2.1.7.1.0. The manager wants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retrieve </a:t>
            </a:r>
            <a:r>
              <a:rPr sz="2800" b="1" i="1" dirty="0">
                <a:latin typeface="Times New Roman"/>
                <a:cs typeface="Times New Roman"/>
              </a:rPr>
              <a:t> a </a:t>
            </a:r>
            <a:r>
              <a:rPr sz="2800" b="1" i="1" spc="-5" dirty="0">
                <a:latin typeface="Times New Roman"/>
                <a:cs typeface="Times New Roman"/>
              </a:rPr>
              <a:t>value (not to store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value), so the value defines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null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entity.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28.23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conceptual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view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packet and the hierarchical nature of sequences.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have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 white and colored boxes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 the sequences and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gray one for the PDU. The </a:t>
            </a:r>
            <a:r>
              <a:rPr sz="2800" b="1" i="1" spc="-50" dirty="0">
                <a:latin typeface="Times New Roman"/>
                <a:cs typeface="Times New Roman"/>
              </a:rPr>
              <a:t>VarBind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list has only one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VarBind.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28.5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2" y="1512824"/>
            <a:ext cx="853122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 variable is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type </a:t>
            </a:r>
            <a:r>
              <a:rPr sz="2800" b="1" i="1" dirty="0">
                <a:latin typeface="Times New Roman"/>
                <a:cs typeface="Times New Roman"/>
              </a:rPr>
              <a:t>06 </a:t>
            </a:r>
            <a:r>
              <a:rPr sz="2800" b="1" i="1" spc="-5" dirty="0">
                <a:latin typeface="Times New Roman"/>
                <a:cs typeface="Times New Roman"/>
              </a:rPr>
              <a:t>and length 09. The value </a:t>
            </a:r>
            <a:r>
              <a:rPr sz="2800" b="1" i="1" dirty="0">
                <a:latin typeface="Times New Roman"/>
                <a:cs typeface="Times New Roman"/>
              </a:rPr>
              <a:t>is 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type 05 and length </a:t>
            </a:r>
            <a:r>
              <a:rPr sz="2800" b="1" i="1" dirty="0">
                <a:latin typeface="Times New Roman"/>
                <a:cs typeface="Times New Roman"/>
              </a:rPr>
              <a:t>00. </a:t>
            </a:r>
            <a:r>
              <a:rPr sz="2800" b="1" i="1" spc="-5" dirty="0">
                <a:latin typeface="Times New Roman"/>
                <a:cs typeface="Times New Roman"/>
              </a:rPr>
              <a:t>The whole </a:t>
            </a:r>
            <a:r>
              <a:rPr sz="2800" b="1" i="1" spc="-50" dirty="0">
                <a:latin typeface="Times New Roman"/>
                <a:cs typeface="Times New Roman"/>
              </a:rPr>
              <a:t>VarBind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sequence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length 0D (13). The </a:t>
            </a:r>
            <a:r>
              <a:rPr sz="2800" b="1" i="1" spc="-50" dirty="0">
                <a:latin typeface="Times New Roman"/>
                <a:cs typeface="Times New Roman"/>
              </a:rPr>
              <a:t>VarBind </a:t>
            </a:r>
            <a:r>
              <a:rPr sz="2800" b="1" i="1" spc="-5" dirty="0">
                <a:latin typeface="Times New Roman"/>
                <a:cs typeface="Times New Roman"/>
              </a:rPr>
              <a:t>list is also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sequence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length 0F (15). The GetRequest PDU is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length </a:t>
            </a:r>
            <a:r>
              <a:rPr sz="2800" b="1" i="1" dirty="0">
                <a:latin typeface="Times New Roman"/>
                <a:cs typeface="Times New Roman"/>
              </a:rPr>
              <a:t>ID </a:t>
            </a:r>
            <a:r>
              <a:rPr sz="2800" b="1" i="1" spc="-5" dirty="0">
                <a:latin typeface="Times New Roman"/>
                <a:cs typeface="Times New Roman"/>
              </a:rPr>
              <a:t>(29).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OCTET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STRINGs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related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security </a:t>
            </a:r>
            <a:r>
              <a:rPr sz="2800" b="1" i="1" spc="-20" dirty="0">
                <a:latin typeface="Times New Roman"/>
                <a:cs typeface="Times New Roman"/>
              </a:rPr>
              <a:t>parameter, </a:t>
            </a:r>
            <a:r>
              <a:rPr sz="2800" b="1" i="1" spc="-5" dirty="0">
                <a:latin typeface="Times New Roman"/>
                <a:cs typeface="Times New Roman"/>
              </a:rPr>
              <a:t>security model,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flags. Then </a:t>
            </a:r>
            <a:r>
              <a:rPr sz="2800" b="1" i="1" spc="-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 have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integers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defining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maximum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size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(1024)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message ID </a:t>
            </a:r>
            <a:r>
              <a:rPr sz="2800" b="1" i="1" dirty="0">
                <a:latin typeface="Times New Roman"/>
                <a:cs typeface="Times New Roman"/>
              </a:rPr>
              <a:t>(64). </a:t>
            </a:r>
            <a:r>
              <a:rPr sz="2800" b="1" i="1" spc="-5" dirty="0">
                <a:latin typeface="Times New Roman"/>
                <a:cs typeface="Times New Roman"/>
              </a:rPr>
              <a:t>The header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sequence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length </a:t>
            </a:r>
            <a:r>
              <a:rPr sz="2800" b="1" i="1" dirty="0">
                <a:latin typeface="Times New Roman"/>
                <a:cs typeface="Times New Roman"/>
              </a:rPr>
              <a:t>12,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which we left blank for </a:t>
            </a:r>
            <a:r>
              <a:rPr sz="2800" b="1" i="1" spc="-15" dirty="0">
                <a:latin typeface="Times New Roman"/>
                <a:cs typeface="Times New Roman"/>
              </a:rPr>
              <a:t>simplicity. </a:t>
            </a:r>
            <a:r>
              <a:rPr sz="2800" b="1" i="1" spc="-5" dirty="0">
                <a:latin typeface="Times New Roman"/>
                <a:cs typeface="Times New Roman"/>
              </a:rPr>
              <a:t>There is one </a:t>
            </a:r>
            <a:r>
              <a:rPr sz="2800" b="1" i="1" spc="-25" dirty="0">
                <a:latin typeface="Times New Roman"/>
                <a:cs typeface="Times New Roman"/>
              </a:rPr>
              <a:t>integer, 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version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(version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3).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whole message is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sequence 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52 bytes. Figure 28.24 shows the actual message sent by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manager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(client)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agent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(server).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23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28.23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28.5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254252"/>
            <a:ext cx="8763000" cy="5038725"/>
            <a:chOff x="927239" y="1254252"/>
            <a:chExt cx="8763000" cy="5038725"/>
          </a:xfrm>
        </p:grpSpPr>
        <p:sp>
          <p:nvSpPr>
            <p:cNvPr id="5" name="object 5"/>
            <p:cNvSpPr/>
            <p:nvPr/>
          </p:nvSpPr>
          <p:spPr>
            <a:xfrm>
              <a:off x="927239" y="12542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0447" y="1290828"/>
              <a:ext cx="7174992" cy="5001767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32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28.24	</a:t>
            </a:r>
            <a:r>
              <a:rPr sz="2000" i="1" spc="-5" dirty="0">
                <a:latin typeface="Times New Roman"/>
                <a:cs typeface="Times New Roman"/>
              </a:rPr>
              <a:t>GetRequest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message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843" y="1530096"/>
            <a:ext cx="3701796" cy="4991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878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366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28.25	</a:t>
            </a:r>
            <a:r>
              <a:rPr sz="2000" i="1" spc="-5" dirty="0">
                <a:latin typeface="Times New Roman"/>
                <a:cs typeface="Times New Roman"/>
              </a:rPr>
              <a:t>Port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numbers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797" y="1644395"/>
            <a:ext cx="5593841" cy="477850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867</Words>
  <Application>Microsoft Macintosh PowerPoint</Application>
  <PresentationFormat>Custom</PresentationFormat>
  <Paragraphs>105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MS Gothic</vt:lpstr>
      <vt:lpstr>Arial</vt:lpstr>
      <vt:lpstr>Calibri</vt:lpstr>
      <vt:lpstr>Times New Roman</vt:lpstr>
      <vt:lpstr>Office Theme</vt:lpstr>
      <vt:lpstr>PowerPoint Presentation</vt:lpstr>
      <vt:lpstr>Figure 28.2 SNMP concept</vt:lpstr>
      <vt:lpstr>PowerPoint Presentation</vt:lpstr>
      <vt:lpstr>Figure 28.3 Components of network management on the Internet</vt:lpstr>
      <vt:lpstr>Note</vt:lpstr>
      <vt:lpstr>Note</vt:lpstr>
      <vt:lpstr>Note</vt:lpstr>
      <vt:lpstr>PowerPoint Presentation</vt:lpstr>
      <vt:lpstr>Figure 28.4 Management overview</vt:lpstr>
      <vt:lpstr>Figure 28.5 Object attributes</vt:lpstr>
      <vt:lpstr>Figure 28.6 Object identifier</vt:lpstr>
      <vt:lpstr>Note</vt:lpstr>
      <vt:lpstr>Figure 28.7 Data type</vt:lpstr>
      <vt:lpstr>Table 28.1 Data types</vt:lpstr>
      <vt:lpstr>Figure 28.8 Conceptual data types</vt:lpstr>
      <vt:lpstr>Figure 28.9 Encoding format</vt:lpstr>
      <vt:lpstr>Table 28.2 Codes for data types</vt:lpstr>
      <vt:lpstr>Figure 28.10 Length format</vt:lpstr>
      <vt:lpstr>Example 28.1</vt:lpstr>
      <vt:lpstr>Example 28.2</vt:lpstr>
      <vt:lpstr>Example 28.3</vt:lpstr>
      <vt:lpstr>Example 28.4</vt:lpstr>
      <vt:lpstr>Figure 28.15 mib-2</vt:lpstr>
      <vt:lpstr>Figure 28.16 udp group</vt:lpstr>
      <vt:lpstr>Figure 28.17 udp variables and tables</vt:lpstr>
      <vt:lpstr>Figure 28.18 Indexes for udpTable</vt:lpstr>
      <vt:lpstr>Figure 28.19 Lexicographic ordering</vt:lpstr>
      <vt:lpstr>Figure 28.20 SNMP PDUs</vt:lpstr>
      <vt:lpstr>Figure 28.21 SNMP PDU format</vt:lpstr>
      <vt:lpstr>Table 28.3 Types of errors</vt:lpstr>
      <vt:lpstr>Figure 28.22 SNMP message</vt:lpstr>
      <vt:lpstr>Table 28.4 Codes for SNMP messages</vt:lpstr>
      <vt:lpstr>Example 28.5</vt:lpstr>
      <vt:lpstr>Example 28.5 (continued)</vt:lpstr>
      <vt:lpstr>Figure 28.23 Example 28.5</vt:lpstr>
      <vt:lpstr>Figure 28.24 GetRequest message</vt:lpstr>
      <vt:lpstr>Figure 28.25 Port numbers for SNMP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ch28.ppt [Compatibility Mode]</dc:title>
  <dc:creator>Noi</dc:creator>
  <cp:lastModifiedBy>Apoorva Karnwal</cp:lastModifiedBy>
  <cp:revision>3</cp:revision>
  <dcterms:created xsi:type="dcterms:W3CDTF">2023-07-13T17:57:40Z</dcterms:created>
  <dcterms:modified xsi:type="dcterms:W3CDTF">2024-12-02T19:03:38Z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2023-07-13T00:00:00Z</vt:filetime>
  </property>
</Properties>
</file>