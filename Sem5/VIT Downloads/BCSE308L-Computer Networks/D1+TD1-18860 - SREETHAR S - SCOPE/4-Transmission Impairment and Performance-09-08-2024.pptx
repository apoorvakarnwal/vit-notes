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07" r:id="rId2"/>
    <p:sldId id="308" r:id="rId3"/>
    <p:sldId id="309" r:id="rId4"/>
    <p:sldId id="315" r:id="rId5"/>
    <p:sldId id="310" r:id="rId6"/>
    <p:sldId id="311" r:id="rId7"/>
    <p:sldId id="296" r:id="rId8"/>
    <p:sldId id="297" r:id="rId9"/>
    <p:sldId id="312" r:id="rId10"/>
    <p:sldId id="313" r:id="rId11"/>
    <p:sldId id="314" r:id="rId12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71895" autoAdjust="0"/>
  </p:normalViewPr>
  <p:slideViewPr>
    <p:cSldViewPr>
      <p:cViewPr varScale="1">
        <p:scale>
          <a:sx n="50" d="100"/>
          <a:sy n="50" d="100"/>
        </p:scale>
        <p:origin x="1680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E1FEA-E3B1-45CB-B4EA-152F902E16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C181B-C6D5-4233-9BCB-A332674AF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060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65567" y="1206245"/>
            <a:ext cx="422275" cy="147955"/>
          </a:xfrm>
          <a:custGeom>
            <a:avLst/>
            <a:gdLst/>
            <a:ahLst/>
            <a:cxnLst/>
            <a:rect l="l" t="t" r="r" b="b"/>
            <a:pathLst>
              <a:path w="422275" h="147955">
                <a:moveTo>
                  <a:pt x="422147" y="147827"/>
                </a:moveTo>
                <a:lnTo>
                  <a:pt x="422147" y="0"/>
                </a:lnTo>
                <a:lnTo>
                  <a:pt x="0" y="0"/>
                </a:lnTo>
                <a:lnTo>
                  <a:pt x="0" y="147827"/>
                </a:lnTo>
                <a:lnTo>
                  <a:pt x="422147" y="14782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5899" y="1206245"/>
            <a:ext cx="368045" cy="14782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1039" y="1206245"/>
            <a:ext cx="560832" cy="2285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486547" y="1206245"/>
            <a:ext cx="31750" cy="196215"/>
          </a:xfrm>
          <a:custGeom>
            <a:avLst/>
            <a:gdLst/>
            <a:ahLst/>
            <a:cxnLst/>
            <a:rect l="l" t="t" r="r" b="b"/>
            <a:pathLst>
              <a:path w="31750" h="196215">
                <a:moveTo>
                  <a:pt x="31241" y="195833"/>
                </a:moveTo>
                <a:lnTo>
                  <a:pt x="31241" y="0"/>
                </a:lnTo>
                <a:lnTo>
                  <a:pt x="0" y="0"/>
                </a:lnTo>
                <a:lnTo>
                  <a:pt x="0" y="195833"/>
                </a:lnTo>
                <a:lnTo>
                  <a:pt x="31241" y="195833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368299"/>
            <a:ext cx="9132595" cy="9192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66043" y="2806700"/>
            <a:ext cx="7409180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573" y="6860953"/>
            <a:ext cx="55753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25" dirty="0"/>
              <a:t>8.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747" y="1262049"/>
            <a:ext cx="5072222" cy="470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56" b="1" dirty="0">
                <a:latin typeface="Book Antiqua" panose="02040602050305030304" pitchFamily="18" charset="0"/>
              </a:rPr>
              <a:t>TRANSMISSION IMPAIRMENT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5747" y="1918437"/>
            <a:ext cx="9293374" cy="638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758" indent="-300758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Book Antiqua" panose="02040602050305030304" pitchFamily="18" charset="0"/>
              </a:rPr>
              <a:t>Signals travel through transmission media, which are not perfect. </a:t>
            </a:r>
          </a:p>
          <a:p>
            <a:pPr marL="300758" indent="-300758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Book Antiqua" panose="02040602050305030304" pitchFamily="18" charset="0"/>
              </a:rPr>
              <a:t>The imperfection causes signal impairment. </a:t>
            </a:r>
          </a:p>
          <a:p>
            <a:pPr marL="300758" indent="-300758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Book Antiqua" panose="02040602050305030304" pitchFamily="18" charset="0"/>
              </a:rPr>
              <a:t>This means that the signal at the beginning of the medium is not the same as the signal at the end of the medium. </a:t>
            </a:r>
          </a:p>
          <a:p>
            <a:pPr marL="300758" indent="-300758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Book Antiqua" panose="02040602050305030304" pitchFamily="18" charset="0"/>
              </a:rPr>
              <a:t>What is sent is not what is received. </a:t>
            </a:r>
          </a:p>
          <a:p>
            <a:pPr marL="300758" indent="-300758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Book Antiqua" panose="02040602050305030304" pitchFamily="18" charset="0"/>
              </a:rPr>
              <a:t>Three causes of impairment are attenuation, distortion, and noise.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2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573" y="1828610"/>
            <a:ext cx="7482301" cy="321430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96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2438" y="1152685"/>
            <a:ext cx="1912703" cy="470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56" b="1" dirty="0">
                <a:latin typeface="Book Antiqua" panose="02040602050305030304" pitchFamily="18" charset="0"/>
              </a:rPr>
              <a:t>Attenuation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40" y="2021722"/>
            <a:ext cx="8358982" cy="369788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29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7D5DF7-C828-41D8-95B4-BE9EAFA3B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303" y="1070255"/>
            <a:ext cx="598721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Attenuation(dB) = 10log10(P2/P1)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P1 is the power at sending end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P2 is the power at receiving  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solidFill>
                <a:srgbClr val="273239"/>
              </a:solidFill>
              <a:latin typeface="Nunito" pitchFamily="2" charset="0"/>
            </a:endParaRPr>
          </a:p>
          <a:p>
            <a:pPr lvl="0"/>
            <a:r>
              <a:rPr lang="en-US" altLang="en-US" sz="2800" b="1" dirty="0"/>
              <a:t>Attenuation(dB) = 20log10(V2/V1)</a:t>
            </a:r>
            <a:endParaRPr lang="en-US" altLang="en-US" sz="800" dirty="0"/>
          </a:p>
          <a:p>
            <a:pPr lvl="0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V1 is the voltage at sending end and </a:t>
            </a:r>
          </a:p>
          <a:p>
            <a:pPr lvl="0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V2 is the voltage at receiving 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F3D2B-0A48-4EA1-A026-B7521808A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6267"/>
            <a:ext cx="3526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30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2129" y="1225595"/>
            <a:ext cx="1667444" cy="470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56" b="1" dirty="0">
                <a:latin typeface="Book Antiqua" panose="02040602050305030304" pitchFamily="18" charset="0"/>
              </a:rPr>
              <a:t>Distortion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42" y="1976914"/>
            <a:ext cx="8393317" cy="360902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3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0039" y="1164836"/>
            <a:ext cx="1023037" cy="470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56" b="1" dirty="0">
                <a:latin typeface="Book Antiqua" panose="02040602050305030304" pitchFamily="18" charset="0"/>
              </a:rPr>
              <a:t>Noise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18" y="2093493"/>
            <a:ext cx="8146003" cy="315219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0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2A07612-BB1C-4FE5-B936-082E14A48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9300" y="428625"/>
            <a:ext cx="6623697" cy="247451"/>
          </a:xfrm>
        </p:spPr>
        <p:txBody>
          <a:bodyPr/>
          <a:lstStyle/>
          <a:p>
            <a:r>
              <a:rPr lang="en-GB" altLang="en-US" dirty="0"/>
              <a:t>Nyquist Bandwidth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0232B65B-22BA-4EC1-A84F-B707A7821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4300" y="1647825"/>
            <a:ext cx="8686800" cy="4431983"/>
          </a:xfrm>
        </p:spPr>
        <p:txBody>
          <a:bodyPr/>
          <a:lstStyle/>
          <a:p>
            <a:r>
              <a:rPr lang="en-GB" altLang="en-US" dirty="0"/>
              <a:t>If rate of signal transmission is 2B then signal with frequencies no greater than B is sufficient to carry signal rate</a:t>
            </a:r>
          </a:p>
          <a:p>
            <a:r>
              <a:rPr lang="en-GB" altLang="en-US" dirty="0"/>
              <a:t>Given bandwidth B, highest signal rate is 2B</a:t>
            </a:r>
          </a:p>
          <a:p>
            <a:r>
              <a:rPr lang="en-GB" altLang="en-US" dirty="0"/>
              <a:t>Given binary signal, data rate supported by B Hz is 2B bps</a:t>
            </a:r>
          </a:p>
          <a:p>
            <a:r>
              <a:rPr lang="en-GB" altLang="en-US" dirty="0"/>
              <a:t>Can be increased by using </a:t>
            </a:r>
            <a:r>
              <a:rPr lang="en-GB" altLang="en-US" dirty="0">
                <a:solidFill>
                  <a:srgbClr val="FF0000"/>
                </a:solidFill>
              </a:rPr>
              <a:t>M signal levels</a:t>
            </a:r>
          </a:p>
          <a:p>
            <a:r>
              <a:rPr lang="en-GB" altLang="en-US" dirty="0">
                <a:solidFill>
                  <a:srgbClr val="FF0000"/>
                </a:solidFill>
              </a:rPr>
              <a:t>C= 2B log</a:t>
            </a:r>
            <a:r>
              <a:rPr lang="en-GB" altLang="en-US" baseline="-25000" dirty="0">
                <a:solidFill>
                  <a:srgbClr val="FF0000"/>
                </a:solidFill>
              </a:rPr>
              <a:t>2</a:t>
            </a:r>
            <a:r>
              <a:rPr lang="en-GB" altLang="en-US" dirty="0">
                <a:solidFill>
                  <a:srgbClr val="FF0000"/>
                </a:solidFill>
              </a:rPr>
              <a:t>M</a:t>
            </a:r>
            <a:endParaRPr lang="en-GB" altLang="en-US" baseline="-250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GB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AD8C334F-7B65-4DFC-9AFF-C4F0DA95E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0402" y="368299"/>
            <a:ext cx="9132595" cy="307777"/>
          </a:xfrm>
        </p:spPr>
        <p:txBody>
          <a:bodyPr/>
          <a:lstStyle/>
          <a:p>
            <a:r>
              <a:rPr lang="en-GB" altLang="en-US"/>
              <a:t>Shannon Capacity Formula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CE8CBD3C-0011-4B3F-852A-A3150CDC0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66043" y="1876425"/>
            <a:ext cx="7409180" cy="3724096"/>
          </a:xfrm>
        </p:spPr>
        <p:txBody>
          <a:bodyPr/>
          <a:lstStyle/>
          <a:p>
            <a:r>
              <a:rPr lang="en-GB" altLang="en-US" dirty="0"/>
              <a:t>Consider data rate, noise and error rate</a:t>
            </a:r>
          </a:p>
          <a:p>
            <a:r>
              <a:rPr lang="en-GB" altLang="en-US" dirty="0"/>
              <a:t>Faster data rate shortens each bit so burst of noise affects more bits</a:t>
            </a:r>
          </a:p>
          <a:p>
            <a:pPr lvl="1"/>
            <a:r>
              <a:rPr lang="en-GB" altLang="en-US" dirty="0"/>
              <a:t>At given noise level, high data rate means higher error rate</a:t>
            </a:r>
          </a:p>
          <a:p>
            <a:r>
              <a:rPr lang="en-GB" altLang="en-US" dirty="0"/>
              <a:t>Signal to noise ratio (in decibels)</a:t>
            </a:r>
          </a:p>
          <a:p>
            <a:r>
              <a:rPr lang="en-GB" altLang="en-US" dirty="0" err="1">
                <a:solidFill>
                  <a:srgbClr val="FF0000"/>
                </a:solidFill>
              </a:rPr>
              <a:t>SNR</a:t>
            </a:r>
            <a:r>
              <a:rPr lang="en-GB" altLang="en-US" baseline="-25000" dirty="0" err="1">
                <a:solidFill>
                  <a:srgbClr val="FF0000"/>
                </a:solidFill>
              </a:rPr>
              <a:t>db</a:t>
            </a:r>
            <a:r>
              <a:rPr lang="en-GB" altLang="en-US" baseline="30000" dirty="0">
                <a:solidFill>
                  <a:srgbClr val="FF0000"/>
                </a:solidFill>
              </a:rPr>
              <a:t>=</a:t>
            </a:r>
            <a:r>
              <a:rPr lang="en-GB" altLang="en-US" dirty="0">
                <a:solidFill>
                  <a:srgbClr val="FF0000"/>
                </a:solidFill>
              </a:rPr>
              <a:t>10 log</a:t>
            </a:r>
            <a:r>
              <a:rPr lang="en-GB" altLang="en-US" baseline="-25000" dirty="0">
                <a:solidFill>
                  <a:srgbClr val="FF0000"/>
                </a:solidFill>
              </a:rPr>
              <a:t>10 </a:t>
            </a:r>
            <a:r>
              <a:rPr lang="en-GB" altLang="en-US" dirty="0">
                <a:solidFill>
                  <a:srgbClr val="FF0000"/>
                </a:solidFill>
              </a:rPr>
              <a:t>(signal/noise)</a:t>
            </a:r>
          </a:p>
          <a:p>
            <a:r>
              <a:rPr lang="en-GB" altLang="en-US" dirty="0">
                <a:solidFill>
                  <a:srgbClr val="FF0000"/>
                </a:solidFill>
              </a:rPr>
              <a:t>Capacity C=B log</a:t>
            </a:r>
            <a:r>
              <a:rPr lang="en-GB" altLang="en-US" baseline="-25000" dirty="0">
                <a:solidFill>
                  <a:srgbClr val="FF0000"/>
                </a:solidFill>
              </a:rPr>
              <a:t>2</a:t>
            </a:r>
            <a:r>
              <a:rPr lang="en-GB" altLang="en-US" dirty="0">
                <a:solidFill>
                  <a:srgbClr val="FF0000"/>
                </a:solidFill>
              </a:rPr>
              <a:t>(1+SNR)</a:t>
            </a:r>
          </a:p>
          <a:p>
            <a:r>
              <a:rPr lang="en-GB" altLang="en-US" dirty="0"/>
              <a:t>This is error free capacity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2518" y="2219946"/>
            <a:ext cx="2000869" cy="470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56" b="1" dirty="0">
                <a:latin typeface="Book Antiqua" panose="02040602050305030304" pitchFamily="18" charset="0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518" y="2806000"/>
            <a:ext cx="9405332" cy="93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IN" altLang="en-US" sz="1930" dirty="0">
                <a:latin typeface="Book Antiqua" panose="02040602050305030304" pitchFamily="18" charset="0"/>
              </a:rPr>
              <a:t>One important issue in networking is the performance of the network—how good is it?  quality of service, an overall measurement of network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519" y="3904951"/>
            <a:ext cx="7117013" cy="22759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0758" indent="-300758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930" b="1" dirty="0">
                <a:latin typeface="Book Antiqua" panose="02040602050305030304" pitchFamily="18" charset="0"/>
              </a:rPr>
              <a:t>Bandwidth</a:t>
            </a:r>
            <a:r>
              <a:rPr lang="en-US" altLang="en-US" sz="1930" dirty="0">
                <a:latin typeface="Book Antiqua" panose="02040602050305030304" pitchFamily="18" charset="0"/>
              </a:rPr>
              <a:t> - capacity of the system</a:t>
            </a:r>
          </a:p>
          <a:p>
            <a:pPr marL="300758" indent="-300758">
              <a:lnSpc>
                <a:spcPct val="150000"/>
              </a:lnSpc>
              <a:buSzPct val="117000"/>
              <a:buFont typeface="Wingdings" panose="05000000000000000000" pitchFamily="2" charset="2"/>
              <a:buChar char="v"/>
            </a:pPr>
            <a:r>
              <a:rPr lang="fr-FR" altLang="en-US" sz="1930" b="1" dirty="0" err="1">
                <a:latin typeface="Book Antiqua" panose="02040602050305030304" pitchFamily="18" charset="0"/>
              </a:rPr>
              <a:t>Throughput</a:t>
            </a:r>
            <a:r>
              <a:rPr lang="fr-FR" altLang="en-US" sz="1930" dirty="0">
                <a:latin typeface="Book Antiqua" panose="02040602050305030304" pitchFamily="18" charset="0"/>
              </a:rPr>
              <a:t> - no. of bits </a:t>
            </a:r>
            <a:r>
              <a:rPr lang="fr-FR" altLang="en-US" sz="1930" dirty="0" err="1">
                <a:latin typeface="Book Antiqua" panose="02040602050305030304" pitchFamily="18" charset="0"/>
              </a:rPr>
              <a:t>that</a:t>
            </a:r>
            <a:r>
              <a:rPr lang="fr-FR" altLang="en-US" sz="1930" dirty="0">
                <a:latin typeface="Book Antiqua" panose="02040602050305030304" pitchFamily="18" charset="0"/>
              </a:rPr>
              <a:t> </a:t>
            </a:r>
            <a:r>
              <a:rPr lang="fr-FR" altLang="en-US" sz="1930" dirty="0" err="1">
                <a:latin typeface="Book Antiqua" panose="02040602050305030304" pitchFamily="18" charset="0"/>
              </a:rPr>
              <a:t>can</a:t>
            </a:r>
            <a:r>
              <a:rPr lang="fr-FR" altLang="en-US" sz="1930" dirty="0">
                <a:latin typeface="Book Antiqua" panose="02040602050305030304" pitchFamily="18" charset="0"/>
              </a:rPr>
              <a:t> </a:t>
            </a:r>
            <a:r>
              <a:rPr lang="fr-FR" altLang="en-US" sz="1930" dirty="0" err="1">
                <a:latin typeface="Book Antiqua" panose="02040602050305030304" pitchFamily="18" charset="0"/>
              </a:rPr>
              <a:t>be</a:t>
            </a:r>
            <a:r>
              <a:rPr lang="fr-FR" altLang="en-US" sz="1930" dirty="0">
                <a:latin typeface="Book Antiqua" panose="02040602050305030304" pitchFamily="18" charset="0"/>
              </a:rPr>
              <a:t> </a:t>
            </a:r>
            <a:r>
              <a:rPr lang="fr-FR" altLang="en-US" sz="1930" dirty="0" err="1">
                <a:latin typeface="Book Antiqua" panose="02040602050305030304" pitchFamily="18" charset="0"/>
              </a:rPr>
              <a:t>pushed</a:t>
            </a:r>
            <a:r>
              <a:rPr lang="fr-FR" altLang="en-US" sz="1930" dirty="0">
                <a:latin typeface="Book Antiqua" panose="02040602050305030304" pitchFamily="18" charset="0"/>
              </a:rPr>
              <a:t> </a:t>
            </a:r>
            <a:r>
              <a:rPr lang="fr-FR" altLang="en-US" sz="1930" dirty="0" err="1">
                <a:latin typeface="Book Antiqua" panose="02040602050305030304" pitchFamily="18" charset="0"/>
              </a:rPr>
              <a:t>through</a:t>
            </a:r>
            <a:endParaRPr lang="fr-FR" altLang="en-US" sz="1930" dirty="0">
              <a:latin typeface="Book Antiqua" panose="02040602050305030304" pitchFamily="18" charset="0"/>
            </a:endParaRPr>
          </a:p>
          <a:p>
            <a:pPr marL="300758" indent="-300758">
              <a:lnSpc>
                <a:spcPct val="150000"/>
              </a:lnSpc>
              <a:buSzPct val="117000"/>
              <a:buFont typeface="Wingdings" panose="05000000000000000000" pitchFamily="2" charset="2"/>
              <a:buChar char="v"/>
            </a:pPr>
            <a:r>
              <a:rPr lang="fr-FR" altLang="en-US" sz="1930" dirty="0">
                <a:latin typeface="Book Antiqua" panose="02040602050305030304" pitchFamily="18" charset="0"/>
              </a:rPr>
              <a:t> </a:t>
            </a:r>
            <a:r>
              <a:rPr lang="en-US" altLang="en-US" sz="1930" b="1" dirty="0">
                <a:latin typeface="Book Antiqua" panose="02040602050305030304" pitchFamily="18" charset="0"/>
              </a:rPr>
              <a:t>Latency (Delay) </a:t>
            </a:r>
            <a:r>
              <a:rPr lang="en-US" altLang="en-US" sz="1930" dirty="0">
                <a:latin typeface="Book Antiqua" panose="02040602050305030304" pitchFamily="18" charset="0"/>
              </a:rPr>
              <a:t>- delay incurred by a bit from start to finish</a:t>
            </a:r>
          </a:p>
          <a:p>
            <a:pPr marL="300758" indent="-300758">
              <a:lnSpc>
                <a:spcPct val="150000"/>
              </a:lnSpc>
              <a:buSzPct val="117000"/>
              <a:buFont typeface="Wingdings" panose="05000000000000000000" pitchFamily="2" charset="2"/>
              <a:buChar char="v"/>
            </a:pPr>
            <a:r>
              <a:rPr lang="en-US" altLang="en-US" sz="1930" dirty="0">
                <a:latin typeface="Book Antiqua" panose="02040602050305030304" pitchFamily="18" charset="0"/>
              </a:rPr>
              <a:t> </a:t>
            </a:r>
            <a:r>
              <a:rPr lang="en-US" altLang="en-US" sz="1930" b="1" dirty="0">
                <a:latin typeface="Book Antiqua" panose="02040602050305030304" pitchFamily="18" charset="0"/>
              </a:rPr>
              <a:t>Bandwidth</a:t>
            </a:r>
            <a:r>
              <a:rPr lang="en-US" altLang="en-US" sz="1930" dirty="0">
                <a:latin typeface="Book Antiqua" panose="02040602050305030304" pitchFamily="18" charset="0"/>
              </a:rPr>
              <a:t> -Delay Product</a:t>
            </a:r>
          </a:p>
          <a:p>
            <a:pPr marL="300758" indent="-300758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930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21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971" y="1091968"/>
            <a:ext cx="8858510" cy="470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FontTx/>
              <a:buNone/>
            </a:pPr>
            <a:r>
              <a:rPr lang="en-US" altLang="en-US" sz="2456" b="1" dirty="0">
                <a:latin typeface="Book Antiqua" panose="02040602050305030304" pitchFamily="18" charset="0"/>
              </a:rPr>
              <a:t>In networking,  the term bandwidth is used in two contexts.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032" y="1699587"/>
            <a:ext cx="9356725" cy="1830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758" indent="-300758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930" dirty="0">
                <a:latin typeface="Book Antiqua" panose="02040602050305030304" pitchFamily="18" charset="0"/>
              </a:rPr>
              <a:t>The first, bandwidth in hertz, refers to the range of frequencies in a composite signal or the range of frequencies that a channel can pass.</a:t>
            </a:r>
          </a:p>
          <a:p>
            <a:pPr marL="300758" indent="-300758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930" dirty="0">
                <a:latin typeface="Book Antiqua" panose="02040602050305030304" pitchFamily="18" charset="0"/>
              </a:rPr>
              <a:t>The second, bandwidth in bits per second, refers to the speed of bit transmission in a channel or link. Often referred to as Capacity.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032" y="3710924"/>
            <a:ext cx="9356725" cy="2275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3333CC"/>
              </a:buClr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r>
              <a:rPr lang="en-US" altLang="en-US" sz="1930" b="1" dirty="0">
                <a:latin typeface="Book Antiqua" panose="02040602050305030304" pitchFamily="18" charset="0"/>
              </a:rPr>
              <a:t>Propagation speed </a:t>
            </a:r>
            <a:r>
              <a:rPr lang="en-US" altLang="en-US" sz="1930" dirty="0">
                <a:latin typeface="Book Antiqua" panose="02040602050305030304" pitchFamily="18" charset="0"/>
              </a:rPr>
              <a:t>- speed at which a bit travels though the medium from source to destination.</a:t>
            </a:r>
          </a:p>
          <a:p>
            <a:pPr>
              <a:lnSpc>
                <a:spcPct val="150000"/>
              </a:lnSpc>
              <a:buClr>
                <a:srgbClr val="3333CC"/>
              </a:buClr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r>
              <a:rPr lang="en-US" altLang="en-US" sz="1930" b="1" dirty="0">
                <a:latin typeface="Book Antiqua" panose="02040602050305030304" pitchFamily="18" charset="0"/>
              </a:rPr>
              <a:t>Transmission speed </a:t>
            </a:r>
            <a:r>
              <a:rPr lang="en-US" altLang="en-US" sz="1930" dirty="0">
                <a:latin typeface="Book Antiqua" panose="02040602050305030304" pitchFamily="18" charset="0"/>
              </a:rPr>
              <a:t>- the speed at which all the bits in a message arrive at the destination. (difference in arrival time of first and last bit)</a:t>
            </a:r>
          </a:p>
          <a:p>
            <a:pPr>
              <a:lnSpc>
                <a:spcPct val="150000"/>
              </a:lnSpc>
              <a:buClr>
                <a:srgbClr val="3333CC"/>
              </a:buClr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endParaRPr lang="en-US" altLang="en-US" sz="1930" dirty="0">
              <a:latin typeface="Book Antiqua" panose="0204060205030503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5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3912" y="1151582"/>
            <a:ext cx="9441785" cy="2130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26"/>
              </a:spcBef>
              <a:buClr>
                <a:srgbClr val="3333CC"/>
              </a:buClr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r>
              <a:rPr lang="en-US" altLang="en-US" sz="1930" dirty="0">
                <a:latin typeface="Book Antiqua" panose="02040602050305030304" pitchFamily="18" charset="0"/>
              </a:rPr>
              <a:t>Propagation Delay = Distance/Propagation speed</a:t>
            </a:r>
          </a:p>
          <a:p>
            <a:pPr marL="299366" indent="-297973">
              <a:spcBef>
                <a:spcPts val="526"/>
              </a:spcBef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endParaRPr lang="en-US" altLang="en-US" sz="1930" dirty="0">
              <a:latin typeface="Book Antiqua" panose="02040602050305030304" pitchFamily="18" charset="0"/>
            </a:endParaRPr>
          </a:p>
          <a:p>
            <a:pPr>
              <a:spcBef>
                <a:spcPts val="526"/>
              </a:spcBef>
              <a:buClr>
                <a:srgbClr val="3333CC"/>
              </a:buClr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r>
              <a:rPr lang="en-US" altLang="en-US" sz="1930" dirty="0">
                <a:latin typeface="Book Antiqua" panose="02040602050305030304" pitchFamily="18" charset="0"/>
              </a:rPr>
              <a:t>Transmission Delay = Message size/bandwidth bps</a:t>
            </a:r>
          </a:p>
          <a:p>
            <a:pPr marL="299366" indent="-297973">
              <a:spcBef>
                <a:spcPts val="526"/>
              </a:spcBef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endParaRPr lang="en-US" altLang="en-US" sz="1930" dirty="0">
              <a:latin typeface="Book Antiqua" panose="02040602050305030304" pitchFamily="18" charset="0"/>
            </a:endParaRPr>
          </a:p>
          <a:p>
            <a:pPr>
              <a:spcBef>
                <a:spcPts val="526"/>
              </a:spcBef>
              <a:buClr>
                <a:srgbClr val="3333CC"/>
              </a:buClr>
              <a:buSzPct val="60000"/>
              <a:tabLst>
                <a:tab pos="297973" algn="l"/>
                <a:tab pos="389871" algn="l"/>
                <a:tab pos="783920" algn="l"/>
                <a:tab pos="1177967" algn="l"/>
                <a:tab pos="1572016" algn="l"/>
                <a:tab pos="1966064" algn="l"/>
                <a:tab pos="2360112" algn="l"/>
                <a:tab pos="2754160" algn="l"/>
                <a:tab pos="3148208" algn="l"/>
                <a:tab pos="3542256" algn="l"/>
                <a:tab pos="3936305" algn="l"/>
                <a:tab pos="4330352" algn="l"/>
                <a:tab pos="4724401" algn="l"/>
                <a:tab pos="5118449" algn="l"/>
                <a:tab pos="5512497" algn="l"/>
                <a:tab pos="5906545" algn="l"/>
                <a:tab pos="6300593" algn="l"/>
                <a:tab pos="6694641" algn="l"/>
                <a:tab pos="7088690" algn="l"/>
                <a:tab pos="7482737" algn="l"/>
                <a:tab pos="7876786" algn="l"/>
              </a:tabLst>
            </a:pPr>
            <a:r>
              <a:rPr lang="en-US" altLang="en-US" sz="1930" dirty="0">
                <a:latin typeface="Book Antiqua" panose="02040602050305030304" pitchFamily="18" charset="0"/>
              </a:rPr>
              <a:t>Latency = Propagation delay + Transmission delay + Queueing time + Processing time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7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460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 Antiqua</vt:lpstr>
      <vt:lpstr>Calibri</vt:lpstr>
      <vt:lpstr>Nunito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Nyquist Bandwidth</vt:lpstr>
      <vt:lpstr>Shannon Capacity Formula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ch08.ppt [Compatibility Mode]</dc:title>
  <dc:creator>Noi</dc:creator>
  <cp:lastModifiedBy>sreethar Sree Krishnan</cp:lastModifiedBy>
  <cp:revision>14</cp:revision>
  <dcterms:created xsi:type="dcterms:W3CDTF">2023-05-12T05:03:31Z</dcterms:created>
  <dcterms:modified xsi:type="dcterms:W3CDTF">2023-05-23T09:16:59Z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2023-05-12T00:00:00Z</vt:filetime>
  </property>
  <property fmtid="{D5CDD505-2E9C-101B-9397-08002B2CF9AE}" pid="5" name="Producer">
    <vt:lpwstr>Acrobat Distiller 8.0.0 (Windows)</vt:lpwstr>
  </property>
</Properties>
</file>