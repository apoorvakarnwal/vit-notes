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6" r:id="rId15"/>
    <p:sldId id="263" r:id="rId16"/>
    <p:sldId id="295" r:id="rId17"/>
    <p:sldId id="264" r:id="rId18"/>
    <p:sldId id="265" r:id="rId19"/>
    <p:sldId id="266" r:id="rId20"/>
    <p:sldId id="267" r:id="rId21"/>
    <p:sldId id="268" r:id="rId22"/>
    <p:sldId id="286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94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9" autoAdjust="0"/>
    <p:restoredTop sz="94660"/>
  </p:normalViewPr>
  <p:slideViewPr>
    <p:cSldViewPr>
      <p:cViewPr varScale="1">
        <p:scale>
          <a:sx n="81" d="100"/>
          <a:sy n="81" d="100"/>
        </p:scale>
        <p:origin x="14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D27BA-E41F-A55A-1640-DDED0A80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38316-949A-E021-98BE-F29690FD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65986-2A05-99B0-DC7F-B403D561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8F674-E1ED-40EA-98DA-4FF3F71873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74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092B-1577-1578-3AC1-FB4A67AD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31B7D-1F32-9400-7826-C7D776CA0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AB12-2B77-0C1B-3871-C56E0931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2697B-90D9-4DB0-9A42-29334A8169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93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4C372-3680-9D04-2FE3-1C0B4E64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95DB-B93D-2D7A-76D0-A477652B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80F1-6B68-04B0-22FF-58130155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B6BC11-F572-433C-A4F2-99939A8C7B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01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C1B374A-BD60-3C0B-9674-EE7DCEC5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1E0A07-5006-E31F-6389-B7990D5A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1DD1AC-550F-8844-E0FC-86A4FEBF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62447-0AF2-4D34-ADBB-0C1FE0E6D5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884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E78F463-679F-6BC6-0C25-01F11606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C8909E0-E08C-741A-B02D-E1F6C333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666150-D1DC-1B84-CFEE-A2F60EA0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B9D5D5-42C5-4766-A811-0163903957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942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4C51F05-36FA-2015-FA8A-5F97D1BD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6AD807-445F-AAC5-60CC-2CA4AA12E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C463E0-B5F3-65CD-07EE-5E31DACD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91669B-D1EB-4D35-AACF-C54DEE8F10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18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56E8ABA-F046-80A7-DE20-203F2F1AC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CD4631-B19B-741E-9427-67DA9838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741F3C9-539D-AC3C-F7C8-DA46E16C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9EC78-3FA4-4708-B0E2-7F9131E009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20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5CCCE5-46A6-E2B2-80AB-69EA4F6C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37B58AE-66B2-2D1E-BA60-D6C5FE85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ED6C7-8380-A60B-8B32-0B33B2D6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1DDA2-0F68-4779-B526-72BD2853DC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8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277757-F1E2-6048-ABE0-8AB906D7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638DC83-636E-F11C-4D80-11999E42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00C7E64-8403-E30E-8942-0716DA3C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E98335-0668-4B42-ACEE-9B9C65085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9344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AC7DB-8244-3FEC-C696-14006A68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C8F3B-DDD7-6689-A420-AF5977BC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8C03-D2B7-42B4-3848-BBA0D515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45EE1-0E97-4DE6-BBB2-683C96438A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4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8BCE7-93F4-2F31-6659-B6E235D0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CAABA-30C4-B9A3-EC91-89EB3A36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3202-3A06-DD5B-6DF3-04457AA9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18772-5088-4965-AF1E-BCE1880D3D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63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C3716F-3C5A-5812-0D42-E5FD02D3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ECC650-83B9-35A9-E1F9-467A6315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9A593AF-C5A4-3CFF-8756-11FFDDC5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1B655-1A00-45F3-A9AE-06546CF92A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138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7CE0AA7-8322-D1AC-CCAD-718CB14C601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64EA4AD-94F2-D2DF-B94A-BF588550D3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90B9D-D253-4545-45C4-BCD4514A6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A1420-2F93-8823-D0A4-190110443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9EDE6-CFFD-F021-12F8-510E5AC90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1612EE9-0626-49D1-AED6-75DD8A5E28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whatis_symbol">
            <a:extLst>
              <a:ext uri="{FF2B5EF4-FFF2-40B4-BE49-F238E27FC236}">
                <a16:creationId xmlns:a16="http://schemas.microsoft.com/office/drawing/2014/main" id="{F3703C54-637A-E06D-B8B9-1963CADE1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90600"/>
            <a:ext cx="335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2CC6261B-B8A5-7CF3-53F5-B83E09863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DBECB39-356B-455F-4F96-B4EF50696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What is bluetooth?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4740BB8-3B2E-9BE4-C9FA-3645BAA55E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Bluetooth wireless technology is an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specification for a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low-cost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low-power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short-range radio technology for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ad-hoc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wireless communication of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voice and data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anywhere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the world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 cable replacement technology.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Wireless communication between various devices  within a small area.</a:t>
            </a: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to swap data and synchronize between various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3CD6DF1-510A-6900-7CAF-998A8E8F5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oduction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B1F51F6-73C8-A127-9C4B-A303FEE27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1994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Ericsson gets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interested in wireless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connections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telephones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to other devices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PDAs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and accessories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Headsets</a:t>
            </a:r>
            <a:endParaRPr lang="tr-T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Forming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SIG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SpecialInterestGroup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(IBM,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Intel,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Nokia,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Toshiba)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 order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evelop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wireless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standard for communication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69F5CCB-5B7B-D355-6883-4449A7EC0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tr-TR" altLang="en-US" dirty="0"/>
              <a:t>Introdution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EF6D43-F493-78B8-DB1C-382B470EE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Today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over 2000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main priorities: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Cheap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Lowe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rgy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consumption 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IEEE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802.15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committee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standardizes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physical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ink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SIG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still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enhances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two versions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future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possible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(SIG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IEEE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FC5C8B1-8700-3171-2BB4-3C2C8E9E2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Overview</a:t>
            </a: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B9C990B-E882-B003-6BFD-DDBFB723E0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295400"/>
            <a:ext cx="8196262" cy="472440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Originally conceived as a cable replacement technology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usage models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began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develop: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Personal Area Network (PAN)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Ad-hoc networks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Data/voice access points</a:t>
            </a:r>
          </a:p>
          <a:p>
            <a:pPr lvl="1"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Wireless telematics</a:t>
            </a:r>
          </a:p>
          <a:p>
            <a:pPr algn="just"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7D09C7-4F85-16D0-E34A-A36CC8767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7975"/>
            <a:ext cx="8001000" cy="1216025"/>
          </a:xfrm>
        </p:spPr>
        <p:txBody>
          <a:bodyPr/>
          <a:lstStyle/>
          <a:p>
            <a:pPr eaLnBrk="1" hangingPunct="1"/>
            <a:r>
              <a:rPr lang="tr-TR" altLang="en-US"/>
              <a:t>Overview</a:t>
            </a:r>
            <a:endParaRPr lang="en-US" alt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8670821-4DC4-0B48-35A0-6F1C2F9B4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371600"/>
            <a:ext cx="8424862" cy="46482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tr-TR" altLang="en-US" sz="2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interoperable</a:t>
            </a:r>
          </a:p>
          <a:p>
            <a:pPr lvl="1" eaLnBrk="1" hangingPunct="1"/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Infrared Data Association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IrDA: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line of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sight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needed,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point-to-point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WLAN: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higher power consumption</a:t>
            </a:r>
          </a:p>
          <a:p>
            <a:pPr eaLnBrk="1" hangingPunct="1"/>
            <a:r>
              <a:rPr lang="en-US" alt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Mbps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IrDA: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much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cheaper,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faster (up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Mbps)</a:t>
            </a:r>
          </a:p>
          <a:p>
            <a:pPr lvl="1" eaLnBrk="1" hangingPunct="1"/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WLAN: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faster (up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Mbps)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WLAN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Bluetooth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interfere each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(both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are using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ISM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F770415-BB65-FF57-5EF6-96769C823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Frequency Band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E14E20A-87E6-56C0-F46B-D720FBD58F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Diff Frequency ranges for diff countries.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Europe &amp; USA-2400-2483.5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Japan-2471-2497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Spain-2445-2475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France-2445-2483.5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MHz.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SIG Working towards harmonization of frequency.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718049-84A0-8F4D-E71C-95BF8E4A6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it works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5A8061C-A817-2ECC-2A8B-EB370043FB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417638"/>
            <a:ext cx="8382000" cy="470852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Bluetooth is based on low cost, short-ranged radio link, operates in Radio band of 2.4GHz , and provides a range of 10 meters.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Connections can be point-to-point or multipoint.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Devices connected to each other, they form a personal area network (PAN) called the Pico net.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Pico net can have a master, and up to 7 active and 255 parked slaves.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 Pico nets are connected using a common device and such networks are called scatter 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CF2C15AB-4B6F-8A8C-A5FB-5DB6CEC86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resentation" r:id="rId3" imgW="4548526" imgH="3407297" progId="PowerPoint.Show.8">
                  <p:embed/>
                </p:oleObj>
              </mc:Choice>
              <mc:Fallback>
                <p:oleObj name="Presentation" r:id="rId3" imgW="4548526" imgH="3407297" progId="PowerPoint.Show.8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CF2C15AB-4B6F-8A8C-A5FB-5DB6CEC86F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catternet">
            <a:extLst>
              <a:ext uri="{FF2B5EF4-FFF2-40B4-BE49-F238E27FC236}">
                <a16:creationId xmlns:a16="http://schemas.microsoft.com/office/drawing/2014/main" id="{829007DB-8B57-18DE-AF5E-526F44305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7391400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901FBE8-F43F-F4EB-9EB9-DDFB6FAD5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2900"/>
            <a:ext cx="8382000" cy="613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0A4A7C4-D55B-93BF-F4ED-F7E49C825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Ad-hoc-networking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61390EA-9039-5325-570E-CE1562732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piconet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ecentral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, o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master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slaves</a:t>
            </a: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255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parked slaves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point to point or point to multipoint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conn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nique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luetooth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device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catternet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verlapping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piconets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, up to 10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ifferent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hopping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sequences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peer to peer (P2P) 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BA8D12F-1EBC-55BF-69FF-CEA7848C3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Ad-hoc-networking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B88E761-748A-1018-076C-EB9E532383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3243262" cy="4267200"/>
          </a:xfrm>
        </p:spPr>
        <p:txBody>
          <a:bodyPr/>
          <a:lstStyle/>
          <a:p>
            <a:pPr eaLnBrk="1" hangingPunct="1"/>
            <a:r>
              <a:rPr lang="tr-TR" altLang="en-US" sz="2600"/>
              <a:t>a: piconet with a single slave</a:t>
            </a:r>
          </a:p>
          <a:p>
            <a:pPr eaLnBrk="1" hangingPunct="1"/>
            <a:endParaRPr lang="tr-TR" altLang="en-US" sz="2600"/>
          </a:p>
          <a:p>
            <a:pPr eaLnBrk="1" hangingPunct="1"/>
            <a:r>
              <a:rPr lang="tr-TR" altLang="en-US" sz="2600"/>
              <a:t>b: piconet with a multi slave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r-TR" altLang="en-US" sz="2600"/>
          </a:p>
          <a:p>
            <a:pPr eaLnBrk="1" hangingPunct="1"/>
            <a:r>
              <a:rPr lang="tr-TR" altLang="en-US" sz="2600"/>
              <a:t>c: scatternet </a:t>
            </a:r>
            <a:endParaRPr lang="en-US" altLang="en-US" sz="2600"/>
          </a:p>
        </p:txBody>
      </p:sp>
      <p:pic>
        <p:nvPicPr>
          <p:cNvPr id="14340" name="Picture 4" descr="Image44">
            <a:extLst>
              <a:ext uri="{FF2B5EF4-FFF2-40B4-BE49-F238E27FC236}">
                <a16:creationId xmlns:a16="http://schemas.microsoft.com/office/drawing/2014/main" id="{BF8F4279-5410-45F2-C671-30D4FAB3C5D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1752600"/>
            <a:ext cx="4724400" cy="3962400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2">
            <a:extLst>
              <a:ext uri="{FF2B5EF4-FFF2-40B4-BE49-F238E27FC236}">
                <a16:creationId xmlns:a16="http://schemas.microsoft.com/office/drawing/2014/main" id="{77004074-0B5D-75E6-A284-E6E1FB26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429FD1EB-C7B6-4318-8D80-E5593757D282}" type="slidenum">
              <a:rPr lang="en-US" altLang="en-US" sz="2000">
                <a:latin typeface="Courier"/>
              </a:rPr>
              <a:pPr algn="l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Times" panose="02020603050405020304" pitchFamily="18" charset="0"/>
            </a:endParaRP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DE299D78-7992-4F52-6D84-C4AF21DAE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Bluetooth Protocol Stack</a:t>
            </a:r>
          </a:p>
        </p:txBody>
      </p:sp>
      <p:sp>
        <p:nvSpPr>
          <p:cNvPr id="720901" name="Rectangle 5">
            <a:extLst>
              <a:ext uri="{FF2B5EF4-FFF2-40B4-BE49-F238E27FC236}">
                <a16:creationId xmlns:a16="http://schemas.microsoft.com/office/drawing/2014/main" id="{6A8C3C24-5728-7372-8AE9-6BEA152DD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5159375"/>
            <a:ext cx="2465388" cy="334963"/>
          </a:xfrm>
          <a:prstGeom prst="rect">
            <a:avLst/>
          </a:prstGeom>
          <a:solidFill>
            <a:srgbClr val="B2B2B2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2B2B2"/>
            </a:extrusionClr>
            <a:contourClr>
              <a:srgbClr val="B2B2B2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Arial" panose="020B0604020202020204" pitchFamily="34" charset="0"/>
              </a:rPr>
              <a:t>RF</a:t>
            </a:r>
          </a:p>
        </p:txBody>
      </p:sp>
      <p:sp>
        <p:nvSpPr>
          <p:cNvPr id="720902" name="Rectangle 6">
            <a:extLst>
              <a:ext uri="{FF2B5EF4-FFF2-40B4-BE49-F238E27FC236}">
                <a16:creationId xmlns:a16="http://schemas.microsoft.com/office/drawing/2014/main" id="{F02722D2-1161-37AB-A259-70F030A57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4702175"/>
            <a:ext cx="2465388" cy="360363"/>
          </a:xfrm>
          <a:prstGeom prst="rect">
            <a:avLst/>
          </a:prstGeom>
          <a:solidFill>
            <a:srgbClr val="66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Arial" panose="020B0604020202020204" pitchFamily="34" charset="0"/>
              </a:rPr>
              <a:t>Baseband</a:t>
            </a:r>
          </a:p>
        </p:txBody>
      </p:sp>
      <p:sp>
        <p:nvSpPr>
          <p:cNvPr id="720903" name="Rectangle 7">
            <a:extLst>
              <a:ext uri="{FF2B5EF4-FFF2-40B4-BE49-F238E27FC236}">
                <a16:creationId xmlns:a16="http://schemas.microsoft.com/office/drawing/2014/main" id="{8AD52DC4-1D3C-48B6-1738-1C33F75F8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3559175"/>
            <a:ext cx="2209800" cy="488950"/>
          </a:xfrm>
          <a:prstGeom prst="rect">
            <a:avLst/>
          </a:prstGeom>
          <a:solidFill>
            <a:srgbClr val="FF00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FF"/>
            </a:extrusionClr>
            <a:contourClr>
              <a:srgbClr val="FF00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Link Manager</a:t>
            </a:r>
            <a:endParaRPr lang="en-GB" altLang="en-US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20904" name="Rectangle 8">
            <a:extLst>
              <a:ext uri="{FF2B5EF4-FFF2-40B4-BE49-F238E27FC236}">
                <a16:creationId xmlns:a16="http://schemas.microsoft.com/office/drawing/2014/main" id="{3EC6D099-F82F-B3D5-6A7C-7A067DB2B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400" y="2416175"/>
            <a:ext cx="3048000" cy="457200"/>
          </a:xfrm>
          <a:prstGeom prst="rect">
            <a:avLst/>
          </a:prstGeom>
          <a:solidFill>
            <a:srgbClr val="8080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808000"/>
            </a:extrusionClr>
            <a:contourClr>
              <a:srgbClr val="808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L2CAP</a:t>
            </a:r>
            <a:endParaRPr lang="en-GB" altLang="en-US" sz="2400" b="1">
              <a:latin typeface="Arial" panose="020B0604020202020204" pitchFamily="34" charset="0"/>
            </a:endParaRPr>
          </a:p>
        </p:txBody>
      </p:sp>
      <p:sp>
        <p:nvSpPr>
          <p:cNvPr id="720905" name="Rectangle 9">
            <a:extLst>
              <a:ext uri="{FF2B5EF4-FFF2-40B4-BE49-F238E27FC236}">
                <a16:creationId xmlns:a16="http://schemas.microsoft.com/office/drawing/2014/main" id="{C88F6DFA-D3BE-32A6-1161-8E1EFB715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35175"/>
            <a:ext cx="3124200" cy="381000"/>
          </a:xfrm>
          <a:prstGeom prst="rect">
            <a:avLst/>
          </a:prstGeom>
          <a:solidFill>
            <a:srgbClr val="66FF33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800" b="1">
                <a:latin typeface="Arial" panose="020B0604020202020204" pitchFamily="34" charset="0"/>
              </a:rPr>
              <a:t>RFCOMM/SDP</a:t>
            </a:r>
            <a:endParaRPr lang="en-GB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720906" name="Rectangle 10">
            <a:extLst>
              <a:ext uri="{FF2B5EF4-FFF2-40B4-BE49-F238E27FC236}">
                <a16:creationId xmlns:a16="http://schemas.microsoft.com/office/drawing/2014/main" id="{B6DAC763-BFA1-5A1B-8A84-20985DB3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19250"/>
            <a:ext cx="3221037" cy="334963"/>
          </a:xfrm>
          <a:prstGeom prst="rect">
            <a:avLst/>
          </a:prstGeom>
          <a:solidFill>
            <a:srgbClr val="9999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99FF"/>
            </a:extrusionClr>
            <a:contourClr>
              <a:srgbClr val="9999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400" b="1">
                <a:solidFill>
                  <a:srgbClr val="FFFF00"/>
                </a:solidFill>
                <a:latin typeface="Arial" panose="020B0604020202020204" pitchFamily="34" charset="0"/>
              </a:rPr>
              <a:t>Applications</a:t>
            </a:r>
            <a:endParaRPr lang="en-GB" altLang="en-US" sz="2400" b="1">
              <a:latin typeface="Arial" panose="020B0604020202020204" pitchFamily="34" charset="0"/>
            </a:endParaRPr>
          </a:p>
        </p:txBody>
      </p:sp>
      <p:sp>
        <p:nvSpPr>
          <p:cNvPr id="720907" name="Rectangle 11">
            <a:extLst>
              <a:ext uri="{FF2B5EF4-FFF2-40B4-BE49-F238E27FC236}">
                <a16:creationId xmlns:a16="http://schemas.microsoft.com/office/drawing/2014/main" id="{3398DF08-7176-A920-47C6-44189D450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4092575"/>
            <a:ext cx="2286000" cy="412750"/>
          </a:xfrm>
          <a:prstGeom prst="rect">
            <a:avLst/>
          </a:prstGeom>
          <a:solidFill>
            <a:srgbClr val="FF6600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6600"/>
            </a:extrusionClr>
            <a:contourClr>
              <a:srgbClr val="FF66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Link Controller</a:t>
            </a:r>
            <a:endParaRPr lang="en-GB" altLang="en-US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20908" name="Rectangle 12">
            <a:extLst>
              <a:ext uri="{FF2B5EF4-FFF2-40B4-BE49-F238E27FC236}">
                <a16:creationId xmlns:a16="http://schemas.microsoft.com/office/drawing/2014/main" id="{26B5121B-C468-1903-4806-ADDDEAB4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3025775"/>
            <a:ext cx="3276600" cy="381000"/>
          </a:xfrm>
          <a:prstGeom prst="rect">
            <a:avLst/>
          </a:prstGeom>
          <a:solidFill>
            <a:srgbClr val="0000FF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00FF"/>
            </a:extrusionClr>
            <a:contourClr>
              <a:srgbClr val="0000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Arial" panose="020B0604020202020204" pitchFamily="34" charset="0"/>
              </a:rPr>
              <a:t>Host Controller Interface</a:t>
            </a:r>
          </a:p>
        </p:txBody>
      </p:sp>
      <p:sp>
        <p:nvSpPr>
          <p:cNvPr id="17420" name="Rectangle 13">
            <a:extLst>
              <a:ext uri="{FF2B5EF4-FFF2-40B4-BE49-F238E27FC236}">
                <a16:creationId xmlns:a16="http://schemas.microsoft.com/office/drawing/2014/main" id="{31D433FC-81C4-9966-BF27-2ABB2AFD7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675" y="4849813"/>
            <a:ext cx="2728913" cy="623887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1" name="Rectangle 14">
            <a:extLst>
              <a:ext uri="{FF2B5EF4-FFF2-40B4-BE49-F238E27FC236}">
                <a16:creationId xmlns:a16="http://schemas.microsoft.com/office/drawing/2014/main" id="{C354DB9B-6600-2CBB-BE6A-0F7870268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311650"/>
            <a:ext cx="2728913" cy="531813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2" name="Rectangle 15">
            <a:extLst>
              <a:ext uri="{FF2B5EF4-FFF2-40B4-BE49-F238E27FC236}">
                <a16:creationId xmlns:a16="http://schemas.microsoft.com/office/drawing/2014/main" id="{66EFFE5E-76E5-B9F2-810A-812BDAD1B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3768725"/>
            <a:ext cx="2728912" cy="558800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3" name="Rectangle 16">
            <a:extLst>
              <a:ext uri="{FF2B5EF4-FFF2-40B4-BE49-F238E27FC236}">
                <a16:creationId xmlns:a16="http://schemas.microsoft.com/office/drawing/2014/main" id="{B6E12BA1-7250-DEFE-7A0D-DC9260515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2940050"/>
            <a:ext cx="2728913" cy="823913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4" name="Rectangle 17">
            <a:extLst>
              <a:ext uri="{FF2B5EF4-FFF2-40B4-BE49-F238E27FC236}">
                <a16:creationId xmlns:a16="http://schemas.microsoft.com/office/drawing/2014/main" id="{9DB0AED7-990A-015F-6A9B-345FCD205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388" y="2397125"/>
            <a:ext cx="2728912" cy="531813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5" name="Rectangle 18">
            <a:extLst>
              <a:ext uri="{FF2B5EF4-FFF2-40B4-BE49-F238E27FC236}">
                <a16:creationId xmlns:a16="http://schemas.microsoft.com/office/drawing/2014/main" id="{5CF73825-F284-EBF8-CC26-7E6410324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2024063"/>
            <a:ext cx="2728912" cy="360362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6" name="Rectangle 19">
            <a:extLst>
              <a:ext uri="{FF2B5EF4-FFF2-40B4-BE49-F238E27FC236}">
                <a16:creationId xmlns:a16="http://schemas.microsoft.com/office/drawing/2014/main" id="{BBC684D9-1E34-A7C0-0DCF-DA3FD187B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1482725"/>
            <a:ext cx="2728913" cy="531813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imes" panose="02020603050405020304" pitchFamily="18" charset="0"/>
            </a:endParaRPr>
          </a:p>
        </p:txBody>
      </p:sp>
      <p:sp>
        <p:nvSpPr>
          <p:cNvPr id="17427" name="Text Box 20">
            <a:extLst>
              <a:ext uri="{FF2B5EF4-FFF2-40B4-BE49-F238E27FC236}">
                <a16:creationId xmlns:a16="http://schemas.microsoft.com/office/drawing/2014/main" id="{25E04ED9-1128-AE35-61EA-06E2478E2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450" y="4935538"/>
            <a:ext cx="795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PHY</a:t>
            </a:r>
          </a:p>
        </p:txBody>
      </p:sp>
      <p:sp>
        <p:nvSpPr>
          <p:cNvPr id="17428" name="Text Box 23">
            <a:extLst>
              <a:ext uri="{FF2B5EF4-FFF2-40B4-BE49-F238E27FC236}">
                <a16:creationId xmlns:a16="http://schemas.microsoft.com/office/drawing/2014/main" id="{FDA1CDE5-3795-0326-CD9E-2BEDEBAA1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75" y="4327525"/>
            <a:ext cx="242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   Data Link Layer</a:t>
            </a:r>
          </a:p>
        </p:txBody>
      </p:sp>
      <p:sp>
        <p:nvSpPr>
          <p:cNvPr id="17429" name="Text Box 24">
            <a:extLst>
              <a:ext uri="{FF2B5EF4-FFF2-40B4-BE49-F238E27FC236}">
                <a16:creationId xmlns:a16="http://schemas.microsoft.com/office/drawing/2014/main" id="{5CD7C8EE-D596-3AA3-A379-876273F52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75" y="3797300"/>
            <a:ext cx="226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   Network Layer</a:t>
            </a:r>
          </a:p>
        </p:txBody>
      </p:sp>
      <p:sp>
        <p:nvSpPr>
          <p:cNvPr id="17430" name="Text Box 25">
            <a:extLst>
              <a:ext uri="{FF2B5EF4-FFF2-40B4-BE49-F238E27FC236}">
                <a16:creationId xmlns:a16="http://schemas.microsoft.com/office/drawing/2014/main" id="{14C2067C-A5B0-8168-8337-6FE1C832C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3160713"/>
            <a:ext cx="2155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Transport Layer</a:t>
            </a:r>
          </a:p>
        </p:txBody>
      </p:sp>
      <p:sp>
        <p:nvSpPr>
          <p:cNvPr id="17431" name="Text Box 26">
            <a:extLst>
              <a:ext uri="{FF2B5EF4-FFF2-40B4-BE49-F238E27FC236}">
                <a16:creationId xmlns:a16="http://schemas.microsoft.com/office/drawing/2014/main" id="{9FDDA3E8-AE14-0F46-926D-4577F4943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463" y="2433638"/>
            <a:ext cx="1903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Session Layer</a:t>
            </a:r>
          </a:p>
        </p:txBody>
      </p:sp>
      <p:sp>
        <p:nvSpPr>
          <p:cNvPr id="17432" name="Text Box 27">
            <a:extLst>
              <a:ext uri="{FF2B5EF4-FFF2-40B4-BE49-F238E27FC236}">
                <a16:creationId xmlns:a16="http://schemas.microsoft.com/office/drawing/2014/main" id="{A1340986-E24C-392C-EBED-6F21D358B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5350" y="2020888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Presentation Layer</a:t>
            </a:r>
          </a:p>
        </p:txBody>
      </p:sp>
      <p:sp>
        <p:nvSpPr>
          <p:cNvPr id="17433" name="Text Box 29">
            <a:extLst>
              <a:ext uri="{FF2B5EF4-FFF2-40B4-BE49-F238E27FC236}">
                <a16:creationId xmlns:a16="http://schemas.microsoft.com/office/drawing/2014/main" id="{1839C975-7233-AB7A-EED1-437C37318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313" y="1530350"/>
            <a:ext cx="1620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Application</a:t>
            </a:r>
          </a:p>
        </p:txBody>
      </p:sp>
      <p:sp>
        <p:nvSpPr>
          <p:cNvPr id="17434" name="Text Box 30">
            <a:extLst>
              <a:ext uri="{FF2B5EF4-FFF2-40B4-BE49-F238E27FC236}">
                <a16:creationId xmlns:a16="http://schemas.microsoft.com/office/drawing/2014/main" id="{4CE99FE4-E9F1-A2A4-09A4-1BD570EF6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5584825"/>
            <a:ext cx="1252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" panose="02020603050405020304" pitchFamily="18" charset="0"/>
              </a:rPr>
              <a:t>OSI/ISO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0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0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01" grpId="0" animBg="1" autoUpdateAnimBg="0"/>
      <p:bldP spid="720902" grpId="0" animBg="1" autoUpdateAnimBg="0"/>
      <p:bldP spid="720903" grpId="0" animBg="1" autoUpdateAnimBg="0"/>
      <p:bldP spid="720904" grpId="0" animBg="1" autoUpdateAnimBg="0"/>
      <p:bldP spid="720905" grpId="0" animBg="1" autoUpdateAnimBg="0"/>
      <p:bldP spid="720906" grpId="0" animBg="1" autoUpdateAnimBg="0"/>
      <p:bldP spid="720907" grpId="0" animBg="1" autoUpdateAnimBg="0"/>
      <p:bldP spid="72090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249145F-A1F2-37E4-F1A9-05360B84F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7975"/>
            <a:ext cx="8001000" cy="1216025"/>
          </a:xfrm>
        </p:spPr>
        <p:txBody>
          <a:bodyPr/>
          <a:lstStyle/>
          <a:p>
            <a:pPr eaLnBrk="1" hangingPunct="1"/>
            <a:r>
              <a:rPr lang="tr-TR" altLang="en-US"/>
              <a:t>Specifications &amp;  Layers</a:t>
            </a: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F59716C-EF58-FA7F-7344-9EBA972363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348662" cy="4267200"/>
          </a:xfrm>
        </p:spPr>
        <p:txBody>
          <a:bodyPr/>
          <a:lstStyle/>
          <a:p>
            <a:pPr eaLnBrk="1" hangingPunct="1"/>
            <a:r>
              <a:rPr lang="tr-TR" altLang="en-US"/>
              <a:t>s</a:t>
            </a:r>
            <a:r>
              <a:rPr lang="en-US" altLang="en-US"/>
              <a:t>pecification protocol stack </a:t>
            </a:r>
          </a:p>
        </p:txBody>
      </p:sp>
      <p:pic>
        <p:nvPicPr>
          <p:cNvPr id="15364" name="Picture 4" descr="bluetoothprotocolstack">
            <a:extLst>
              <a:ext uri="{FF2B5EF4-FFF2-40B4-BE49-F238E27FC236}">
                <a16:creationId xmlns:a16="http://schemas.microsoft.com/office/drawing/2014/main" id="{EA6F134C-7A40-305D-9285-6D169DBA8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7924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B4B3240-B790-AB7A-AC63-DEC1E2A1E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7975"/>
            <a:ext cx="8001000" cy="1216025"/>
          </a:xfrm>
        </p:spPr>
        <p:txBody>
          <a:bodyPr/>
          <a:lstStyle/>
          <a:p>
            <a:pPr eaLnBrk="1" hangingPunct="1"/>
            <a:r>
              <a:rPr lang="tr-TR" altLang="en-US"/>
              <a:t>Specifications &amp;  Layers</a:t>
            </a:r>
            <a:endParaRPr lang="en-U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1056DD-493E-C712-39AB-CE6769BFE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348662" cy="4267200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6388" name="Picture 4" descr="Image result for bluetooth protocol stack">
            <a:extLst>
              <a:ext uri="{FF2B5EF4-FFF2-40B4-BE49-F238E27FC236}">
                <a16:creationId xmlns:a16="http://schemas.microsoft.com/office/drawing/2014/main" id="{B0F05D9A-055E-4C07-998C-93B05CCA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06525"/>
            <a:ext cx="74676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D8F03F8-2F65-8A14-158A-7148E32D8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Layers</a:t>
            </a:r>
            <a:endParaRPr lang="en-US" alt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7FAE6C5-AFB3-A352-9416-6CECFF0D56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en-US" sz="2600"/>
              <a:t>Bluetooth </a:t>
            </a:r>
            <a:r>
              <a:rPr lang="en-US" altLang="en-US" sz="2600"/>
              <a:t>Radio</a:t>
            </a:r>
          </a:p>
          <a:p>
            <a:pPr eaLnBrk="1" hangingPunct="1"/>
            <a:r>
              <a:rPr lang="en-US" altLang="en-US" sz="2600"/>
              <a:t>Baseband</a:t>
            </a:r>
          </a:p>
          <a:p>
            <a:pPr eaLnBrk="1" hangingPunct="1"/>
            <a:r>
              <a:rPr lang="en-US" altLang="en-US" sz="2600"/>
              <a:t>LMP</a:t>
            </a:r>
            <a:r>
              <a:rPr lang="tr-TR" altLang="en-US" sz="2600"/>
              <a:t> </a:t>
            </a:r>
            <a:r>
              <a:rPr lang="en-US" altLang="en-US" sz="2600"/>
              <a:t>(Link</a:t>
            </a:r>
            <a:r>
              <a:rPr lang="tr-TR" altLang="en-US" sz="2600"/>
              <a:t> </a:t>
            </a:r>
            <a:r>
              <a:rPr lang="en-US" altLang="en-US" sz="2600"/>
              <a:t>Manager</a:t>
            </a:r>
            <a:r>
              <a:rPr lang="tr-TR" altLang="en-US" sz="2600"/>
              <a:t> </a:t>
            </a:r>
            <a:r>
              <a:rPr lang="en-US" altLang="en-US" sz="2600"/>
              <a:t>Protocol)</a:t>
            </a:r>
          </a:p>
          <a:p>
            <a:pPr eaLnBrk="1" hangingPunct="1"/>
            <a:r>
              <a:rPr lang="en-US" altLang="en-US" sz="2600"/>
              <a:t>HCI</a:t>
            </a:r>
            <a:r>
              <a:rPr lang="tr-TR" altLang="en-US" sz="2600"/>
              <a:t> </a:t>
            </a:r>
            <a:r>
              <a:rPr lang="en-US" altLang="en-US" sz="2600"/>
              <a:t>(Host</a:t>
            </a:r>
            <a:r>
              <a:rPr lang="tr-TR" altLang="en-US" sz="2600"/>
              <a:t> </a:t>
            </a:r>
            <a:r>
              <a:rPr lang="en-US" altLang="en-US" sz="2600"/>
              <a:t>Controller</a:t>
            </a:r>
            <a:r>
              <a:rPr lang="tr-TR" altLang="en-US" sz="2600"/>
              <a:t> </a:t>
            </a:r>
            <a:r>
              <a:rPr lang="en-US" altLang="en-US" sz="2600"/>
              <a:t>Interface)</a:t>
            </a:r>
          </a:p>
          <a:p>
            <a:pPr eaLnBrk="1" hangingPunct="1"/>
            <a:r>
              <a:rPr lang="en-US" altLang="en-US" sz="2600"/>
              <a:t>L2CAP</a:t>
            </a:r>
            <a:r>
              <a:rPr lang="tr-TR" altLang="en-US" sz="2600"/>
              <a:t> </a:t>
            </a:r>
            <a:r>
              <a:rPr lang="en-US" altLang="en-US" sz="2600"/>
              <a:t>(Logical</a:t>
            </a:r>
            <a:r>
              <a:rPr lang="tr-TR" altLang="en-US" sz="2600"/>
              <a:t> </a:t>
            </a:r>
            <a:r>
              <a:rPr lang="en-US" altLang="en-US" sz="2600"/>
              <a:t>Link</a:t>
            </a:r>
            <a:r>
              <a:rPr lang="tr-TR" altLang="en-US" sz="2600"/>
              <a:t> </a:t>
            </a:r>
            <a:r>
              <a:rPr lang="en-US" altLang="en-US" sz="2600"/>
              <a:t>Control and</a:t>
            </a:r>
            <a:r>
              <a:rPr lang="tr-TR" altLang="en-US" sz="2600"/>
              <a:t> </a:t>
            </a:r>
            <a:r>
              <a:rPr lang="en-US" altLang="en-US" sz="2600"/>
              <a:t>Adaptation Protocol)</a:t>
            </a:r>
          </a:p>
          <a:p>
            <a:pPr eaLnBrk="1" hangingPunct="1"/>
            <a:r>
              <a:rPr lang="en-US" altLang="en-US" sz="2600"/>
              <a:t>RFCOMM</a:t>
            </a:r>
            <a:r>
              <a:rPr lang="tr-TR" altLang="en-US" sz="2600"/>
              <a:t> </a:t>
            </a:r>
            <a:r>
              <a:rPr lang="en-US" altLang="en-US" sz="2600"/>
              <a:t>(Radio</a:t>
            </a:r>
            <a:r>
              <a:rPr lang="tr-TR" altLang="en-US" sz="2600"/>
              <a:t> </a:t>
            </a:r>
            <a:r>
              <a:rPr lang="en-US" altLang="en-US" sz="2600"/>
              <a:t>Frequency Communication)</a:t>
            </a:r>
          </a:p>
          <a:p>
            <a:pPr eaLnBrk="1" hangingPunct="1"/>
            <a:r>
              <a:rPr lang="en-US" altLang="en-US" sz="2600"/>
              <a:t>SDP</a:t>
            </a:r>
            <a:r>
              <a:rPr lang="tr-TR" altLang="en-US" sz="2600"/>
              <a:t> </a:t>
            </a:r>
            <a:r>
              <a:rPr lang="en-US" altLang="en-US" sz="2600"/>
              <a:t>(Service Discovery</a:t>
            </a:r>
            <a:r>
              <a:rPr lang="tr-TR" altLang="en-US" sz="2600"/>
              <a:t> </a:t>
            </a:r>
            <a:r>
              <a:rPr lang="en-US" altLang="en-US" sz="2600"/>
              <a:t>Protocol</a:t>
            </a:r>
            <a:r>
              <a:rPr lang="tr-TR" altLang="en-US" sz="2600"/>
              <a:t>)</a:t>
            </a:r>
            <a:endParaRPr lang="en-US" altLang="en-US"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27530BF-64B7-D802-9F30-166579117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Bluetooth Radio</a:t>
            </a:r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225CF8F-0B94-5568-70F1-806248E2A9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lowest defined layer of the Bluetooth specification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operating in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2,4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GHz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ISM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Band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ccomplishes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spectrum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spreading by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frequency hopping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(FHSS)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2.402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GHz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2.480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GHz 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402469D-2E44-0E85-F100-73277B57A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4675" y="307975"/>
            <a:ext cx="8001000" cy="1216025"/>
          </a:xfrm>
        </p:spPr>
        <p:txBody>
          <a:bodyPr/>
          <a:lstStyle/>
          <a:p>
            <a:pPr eaLnBrk="1" hangingPunct="1"/>
            <a:r>
              <a:rPr lang="tr-TR" altLang="en-US"/>
              <a:t>Bluetooth Radio</a:t>
            </a:r>
            <a:endParaRPr lang="en-US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C89FEA9-68AF-6E5F-4C1B-AD8DA3B66F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424862" cy="42672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ifferent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ower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lasses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Class1: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long range (100m,100mW)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Class2: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mid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range (10m,1-2,5mW)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Class3: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range (0.1-10m,1mW)</a:t>
            </a:r>
          </a:p>
          <a:p>
            <a:pPr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ignal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strength adjustment</a:t>
            </a:r>
            <a:endParaRPr lang="tr-T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3D57396-C6D7-B7EB-A477-D0E7A63B0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Baseband</a:t>
            </a:r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B3A614F-8C40-8699-E8FE-735F128B1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95400"/>
            <a:ext cx="80010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the physical layer of the Bluetooth </a:t>
            </a:r>
            <a:r>
              <a:rPr lang="tr-TR" altLang="en-US" sz="2600" dirty="0"/>
              <a:t>that provides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Error</a:t>
            </a:r>
            <a:r>
              <a:rPr lang="tr-TR" altLang="en-US" sz="2200" dirty="0"/>
              <a:t> </a:t>
            </a:r>
            <a:r>
              <a:rPr lang="en-US" altLang="en-US" sz="2200" dirty="0"/>
              <a:t>correction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Flow</a:t>
            </a:r>
            <a:r>
              <a:rPr lang="tr-TR" altLang="en-US" sz="2200" dirty="0"/>
              <a:t> </a:t>
            </a:r>
            <a:r>
              <a:rPr lang="en-US" altLang="en-US" sz="2200" dirty="0"/>
              <a:t>control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200" dirty="0"/>
              <a:t>H</a:t>
            </a:r>
            <a:r>
              <a:rPr lang="en-US" altLang="en-US" sz="2200" dirty="0" err="1"/>
              <a:t>opping</a:t>
            </a:r>
            <a:r>
              <a:rPr lang="en-US" altLang="en-US" sz="2200" dirty="0"/>
              <a:t> sequence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200" dirty="0"/>
              <a:t>S</a:t>
            </a:r>
            <a:r>
              <a:rPr lang="en-US" altLang="en-US" sz="2200" dirty="0" err="1"/>
              <a:t>ecurity</a:t>
            </a:r>
            <a:endParaRPr lang="tr-TR" altLang="en-US" sz="22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hopping through 79</a:t>
            </a:r>
            <a:r>
              <a:rPr lang="tr-TR" altLang="en-US" sz="2600" dirty="0"/>
              <a:t> </a:t>
            </a:r>
            <a:r>
              <a:rPr lang="en-US" altLang="en-US" sz="2600" dirty="0"/>
              <a:t>channels</a:t>
            </a:r>
            <a:endParaRPr lang="tr-TR" altLang="en-US" sz="2600" dirty="0"/>
          </a:p>
          <a:p>
            <a:pPr eaLnBrk="1" hangingPunct="1">
              <a:lnSpc>
                <a:spcPct val="80000"/>
              </a:lnSpc>
            </a:pPr>
            <a:r>
              <a:rPr lang="tr-TR" altLang="en-US" sz="2600" dirty="0"/>
              <a:t>d</a:t>
            </a:r>
            <a:r>
              <a:rPr lang="en-US" altLang="en-US" sz="2600" dirty="0" err="1"/>
              <a:t>ata</a:t>
            </a:r>
            <a:r>
              <a:rPr lang="tr-TR" altLang="en-US" sz="2600" dirty="0"/>
              <a:t> </a:t>
            </a:r>
            <a:r>
              <a:rPr lang="en-US" altLang="en-US" sz="2600" dirty="0"/>
              <a:t>is</a:t>
            </a:r>
            <a:r>
              <a:rPr lang="tr-TR" altLang="en-US" sz="2600" dirty="0"/>
              <a:t> </a:t>
            </a:r>
            <a:r>
              <a:rPr lang="en-US" altLang="en-US" sz="2600" dirty="0"/>
              <a:t>divided</a:t>
            </a:r>
            <a:r>
              <a:rPr lang="tr-TR" altLang="en-US" sz="2600" dirty="0"/>
              <a:t> </a:t>
            </a:r>
            <a:r>
              <a:rPr lang="en-US" altLang="en-US" sz="2600" dirty="0"/>
              <a:t>in</a:t>
            </a:r>
            <a:r>
              <a:rPr lang="tr-TR" altLang="en-US" sz="2600" dirty="0"/>
              <a:t> </a:t>
            </a:r>
            <a:r>
              <a:rPr lang="en-US" altLang="en-US" sz="2600" dirty="0"/>
              <a:t>packets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200" dirty="0"/>
              <a:t>a</a:t>
            </a:r>
            <a:r>
              <a:rPr lang="en-US" altLang="en-US" sz="2200" dirty="0" err="1"/>
              <a:t>ccess</a:t>
            </a:r>
            <a:r>
              <a:rPr lang="tr-TR" altLang="en-US" sz="2200" dirty="0"/>
              <a:t> </a:t>
            </a:r>
            <a:r>
              <a:rPr lang="en-US" altLang="en-US" sz="2200" dirty="0"/>
              <a:t>code:</a:t>
            </a:r>
            <a:r>
              <a:rPr lang="tr-TR" altLang="en-US" sz="2200" dirty="0"/>
              <a:t> </a:t>
            </a:r>
            <a:r>
              <a:rPr lang="en-US" altLang="en-US" sz="2200" dirty="0"/>
              <a:t>e.g.</a:t>
            </a:r>
            <a:r>
              <a:rPr lang="tr-TR" altLang="en-US" sz="2200" dirty="0"/>
              <a:t> </a:t>
            </a:r>
            <a:r>
              <a:rPr lang="en-US" altLang="en-US" sz="2200" dirty="0"/>
              <a:t>timing synchronization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header:</a:t>
            </a:r>
            <a:r>
              <a:rPr lang="tr-TR" altLang="en-US" sz="2200" dirty="0"/>
              <a:t> </a:t>
            </a:r>
            <a:r>
              <a:rPr lang="en-US" altLang="en-US" sz="2200" dirty="0"/>
              <a:t>e.g.</a:t>
            </a:r>
            <a:r>
              <a:rPr lang="tr-TR" altLang="en-US" sz="2200" dirty="0"/>
              <a:t> </a:t>
            </a:r>
            <a:r>
              <a:rPr lang="en-US" altLang="en-US" sz="2200" dirty="0"/>
              <a:t>packet</a:t>
            </a:r>
            <a:r>
              <a:rPr lang="tr-TR" altLang="en-US" sz="2200" dirty="0"/>
              <a:t> </a:t>
            </a:r>
            <a:r>
              <a:rPr lang="en-US" altLang="en-US" sz="2200" dirty="0"/>
              <a:t>numbering,</a:t>
            </a:r>
            <a:r>
              <a:rPr lang="tr-TR" altLang="en-US" sz="2200" dirty="0"/>
              <a:t> </a:t>
            </a:r>
            <a:r>
              <a:rPr lang="en-US" altLang="en-US" sz="2200" dirty="0"/>
              <a:t>flow</a:t>
            </a:r>
            <a:r>
              <a:rPr lang="tr-TR" altLang="en-US" sz="2200" dirty="0"/>
              <a:t> </a:t>
            </a:r>
            <a:r>
              <a:rPr lang="en-US" altLang="en-US" sz="2200" dirty="0"/>
              <a:t>control,</a:t>
            </a:r>
            <a:r>
              <a:rPr lang="tr-TR" altLang="en-US" sz="2200" dirty="0"/>
              <a:t> </a:t>
            </a:r>
            <a:r>
              <a:rPr lang="en-US" altLang="en-US" sz="2200" dirty="0"/>
              <a:t>slave address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payload:</a:t>
            </a:r>
            <a:r>
              <a:rPr lang="tr-TR" altLang="en-US" sz="2200" dirty="0"/>
              <a:t> </a:t>
            </a:r>
            <a:r>
              <a:rPr lang="en-US" altLang="en-US" sz="2200" dirty="0"/>
              <a:t>voice,</a:t>
            </a:r>
            <a:r>
              <a:rPr lang="tr-TR" altLang="en-US" sz="2200" dirty="0"/>
              <a:t> </a:t>
            </a:r>
            <a:r>
              <a:rPr lang="en-US" altLang="en-US" sz="2200" dirty="0"/>
              <a:t>data</a:t>
            </a:r>
            <a:r>
              <a:rPr lang="tr-TR" altLang="en-US" sz="2200" dirty="0"/>
              <a:t> </a:t>
            </a:r>
            <a:r>
              <a:rPr lang="en-US" altLang="en-US" sz="2200" dirty="0"/>
              <a:t>or</a:t>
            </a:r>
            <a:r>
              <a:rPr lang="tr-TR" altLang="en-US" sz="2200" dirty="0"/>
              <a:t> </a:t>
            </a:r>
            <a:r>
              <a:rPr lang="en-US" altLang="en-US" sz="2200" dirty="0"/>
              <a:t>both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04428B0-698A-E6B8-524D-7836305C0B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/>
          <a:lstStyle/>
          <a:p>
            <a:pPr eaLnBrk="1" hangingPunct="1"/>
            <a:r>
              <a:rPr lang="tr-TR" altLang="en-US" dirty="0"/>
              <a:t>Baseband</a:t>
            </a:r>
            <a:endParaRPr lang="en-US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71504A3-38E1-363E-424A-80CA80574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66800"/>
            <a:ext cx="8382000" cy="50593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Connection Modes</a:t>
            </a:r>
            <a:endParaRPr lang="tr-TR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It describes the set of rules by which all </a:t>
            </a:r>
            <a:r>
              <a:rPr lang="tr-TR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luetooth</a:t>
            </a: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devices must abide in order to establish a link a communicate with one another</a:t>
            </a:r>
            <a:endParaRPr lang="tr-TR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tr-TR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TANDBY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 connected in a piconet</a:t>
            </a:r>
            <a:endParaRPr lang="tr-T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tr-TR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tr-TR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active participation on the channel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Saving Modes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SNIFF</a:t>
            </a:r>
            <a:r>
              <a:rPr lang="tr-TR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slave listens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the channel at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reduced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(decreasing of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duty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cycle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 least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</a:p>
          <a:p>
            <a:pPr marL="914400" lvl="2" indent="0" eaLnBrk="1" hangingPunct="1">
              <a:lnSpc>
                <a:spcPct val="80000"/>
              </a:lnSpc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</a:t>
            </a:r>
            <a:r>
              <a:rPr lang="tr-TR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tr-TR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held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time period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efficient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PARK</a:t>
            </a:r>
            <a:r>
              <a:rPr lang="tr-TR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synchronized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the piconet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participate in</a:t>
            </a:r>
            <a:r>
              <a:rPr lang="tr-TR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traffic</a:t>
            </a:r>
          </a:p>
          <a:p>
            <a:pPr eaLnBrk="1" hangingPunct="1">
              <a:lnSpc>
                <a:spcPct val="80000"/>
              </a:lnSpc>
            </a:pPr>
            <a:endParaRPr lang="en-US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2BB7022-084B-B68D-BAD5-19467E13D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Baseband</a:t>
            </a:r>
            <a:endParaRPr lang="en-US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A0013E4-DC7B-E856-198A-649C9A08BB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Modes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non-secure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encryption enforced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application layer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encryption enforced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by link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laye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  <a:p>
            <a:pPr lvl="1" eaLnBrk="1" hangingPunct="1">
              <a:lnSpc>
                <a:spcPct val="80000"/>
              </a:lnSpc>
            </a:pPr>
            <a:endParaRPr lang="tr-TR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device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trusted device</a:t>
            </a:r>
            <a:endParaRPr lang="tr-TR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untrusted </a:t>
            </a:r>
            <a:r>
              <a:rPr lang="en-US" altLang="en-US" sz="2100" dirty="0" err="1">
                <a:latin typeface="Arial" panose="020B0604020202020204" pitchFamily="34" charset="0"/>
                <a:cs typeface="Arial" panose="020B0604020202020204" pitchFamily="34" charset="0"/>
              </a:rPr>
              <a:t>devic</a:t>
            </a:r>
            <a:r>
              <a:rPr lang="tr-TR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  <a:p>
            <a:pPr lvl="1" eaLnBrk="1" hangingPunct="1">
              <a:lnSpc>
                <a:spcPct val="80000"/>
              </a:lnSpc>
            </a:pP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services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require authorization and authentication</a:t>
            </a:r>
            <a:endParaRPr lang="tr-TR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require authentication</a:t>
            </a:r>
            <a:endParaRPr lang="tr-TR" alt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>
                <a:latin typeface="Arial" panose="020B0604020202020204" pitchFamily="34" charset="0"/>
                <a:cs typeface="Arial" panose="020B0604020202020204" pitchFamily="34" charset="0"/>
              </a:rPr>
              <a:t>open to all devices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510AC9E-7F61-DB4B-F4CE-5BC71E170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Audio</a:t>
            </a:r>
            <a:endParaRPr lang="en-US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EA2DA4A-4B98-F6FA-825D-86C528950E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534400" cy="4495800"/>
          </a:xfrm>
        </p:spPr>
        <p:txBody>
          <a:bodyPr/>
          <a:lstStyle/>
          <a:p>
            <a:pPr algn="just"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 codecs: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PCM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CVSD</a:t>
            </a:r>
          </a:p>
          <a:p>
            <a:pPr algn="just"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oth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at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64kbit/s</a:t>
            </a:r>
          </a:p>
          <a:p>
            <a:pPr algn="just"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ynchronous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connection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riented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(SCO)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time-critical</a:t>
            </a:r>
          </a:p>
          <a:p>
            <a:pPr algn="just"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no retransmission</a:t>
            </a:r>
          </a:p>
          <a:p>
            <a:pPr algn="just"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rrors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appear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7E31A49-E456-DC44-31F7-142F80C0C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LMP (</a:t>
            </a:r>
            <a:r>
              <a:rPr lang="en-US" altLang="en-US"/>
              <a:t>Link</a:t>
            </a:r>
            <a:r>
              <a:rPr lang="tr-TR" altLang="en-US"/>
              <a:t> </a:t>
            </a:r>
            <a:r>
              <a:rPr lang="en-US" altLang="en-US"/>
              <a:t>Manager</a:t>
            </a:r>
            <a:r>
              <a:rPr lang="tr-TR" altLang="en-US"/>
              <a:t> </a:t>
            </a:r>
            <a:r>
              <a:rPr lang="en-US" altLang="en-US"/>
              <a:t>Protocol</a:t>
            </a:r>
            <a:r>
              <a:rPr lang="tr-TR" altLang="en-US"/>
              <a:t>)</a:t>
            </a:r>
            <a:endParaRPr lang="en-US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71E2747-FAE1-784D-A9B8-22FE41CAB9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rovides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authentication,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configuration including power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surveillance</a:t>
            </a:r>
          </a:p>
          <a:p>
            <a:pPr eaLnBrk="1" hangingPunct="1"/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akes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place as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service provider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communication with LM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PDUs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(protocol data</a:t>
            </a:r>
            <a:r>
              <a:rPr lang="tr-T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units)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4577D5C-F47B-A446-D1CC-0348CEA35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/>
              <a:t>HCI (</a:t>
            </a:r>
            <a:r>
              <a:rPr lang="en-US" altLang="en-US"/>
              <a:t>Host</a:t>
            </a:r>
            <a:r>
              <a:rPr lang="tr-TR" altLang="en-US"/>
              <a:t> </a:t>
            </a:r>
            <a:r>
              <a:rPr lang="en-US" altLang="en-US"/>
              <a:t>Controller</a:t>
            </a:r>
            <a:r>
              <a:rPr lang="tr-TR" altLang="en-US"/>
              <a:t> </a:t>
            </a:r>
            <a:r>
              <a:rPr lang="en-US" altLang="en-US"/>
              <a:t>Interface</a:t>
            </a:r>
            <a:r>
              <a:rPr lang="tr-TR" altLang="en-US"/>
              <a:t>)</a:t>
            </a:r>
            <a:endParaRPr lang="en-US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DF7316B-89E9-5CCF-27EF-281B096CC6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pPr eaLnBrk="1" hangingPunct="1"/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rovides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interface to baseband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ontroller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manager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/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also to hardware status,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control 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endParaRPr lang="en-US" alt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Bluetooth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defined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Host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Layers:</a:t>
            </a:r>
          </a:p>
          <a:p>
            <a:pPr lvl="1" eaLnBrk="1" hangingPunct="1"/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UART (HCI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interface)</a:t>
            </a:r>
          </a:p>
          <a:p>
            <a:pPr lvl="1" eaLnBrk="1" hangingPunct="1"/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RS232(HCI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interface)</a:t>
            </a:r>
          </a:p>
          <a:p>
            <a:pPr lvl="1" eaLnBrk="1" hangingPunct="1"/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USB(HCI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interface e.g.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dongle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F2E572D-C9D5-DABA-4AD8-4547B5EFB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3400"/>
              <a:t>L2CAP (</a:t>
            </a:r>
            <a:r>
              <a:rPr lang="en-US" altLang="en-US" sz="3400"/>
              <a:t>Logical</a:t>
            </a:r>
            <a:r>
              <a:rPr lang="tr-TR" altLang="en-US" sz="3400"/>
              <a:t> </a:t>
            </a:r>
            <a:r>
              <a:rPr lang="en-US" altLang="en-US" sz="3400"/>
              <a:t>Link</a:t>
            </a:r>
            <a:r>
              <a:rPr lang="tr-TR" altLang="en-US" sz="3400"/>
              <a:t> </a:t>
            </a:r>
            <a:r>
              <a:rPr lang="en-US" altLang="en-US" sz="3400"/>
              <a:t>Control and</a:t>
            </a:r>
            <a:r>
              <a:rPr lang="tr-TR" altLang="en-US" sz="3400"/>
              <a:t> </a:t>
            </a:r>
            <a:r>
              <a:rPr lang="en-US" altLang="en-US" sz="3400"/>
              <a:t>Adaptation </a:t>
            </a:r>
            <a:r>
              <a:rPr lang="tr-TR" altLang="en-US" sz="3400"/>
              <a:t>Protocol)</a:t>
            </a:r>
            <a:endParaRPr lang="en-US" altLang="en-US" sz="3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8B7F243-6963-CE94-FE42-3416441B45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rovides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connection-oriented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connectionless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service to upper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layer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rotocols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with quality-of-service functions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using multiplexing,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segmentation 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reassembly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wo link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defined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Baseband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layer: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SCO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(synchronous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connection-oriented)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ACL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(asynchronous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connection-less)</a:t>
            </a:r>
          </a:p>
          <a:p>
            <a:pPr algn="just" eaLnBrk="1" hangingPunct="1">
              <a:lnSpc>
                <a:spcPct val="80000"/>
              </a:lnSpc>
            </a:pPr>
            <a:endParaRPr lang="tr-T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BUT ONLY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ACL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supported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by L2CAP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(SCO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planned)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496C151-486C-2D7F-2151-8464CF93E0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3400"/>
              <a:t>RFCOMM (</a:t>
            </a:r>
            <a:r>
              <a:rPr lang="en-US" altLang="en-US" sz="3400"/>
              <a:t>Radio</a:t>
            </a:r>
            <a:r>
              <a:rPr lang="tr-TR" altLang="en-US" sz="3400"/>
              <a:t> </a:t>
            </a:r>
            <a:r>
              <a:rPr lang="en-US" altLang="en-US" sz="3400"/>
              <a:t>Frequency Communication</a:t>
            </a:r>
            <a:r>
              <a:rPr lang="tr-TR" altLang="en-US" sz="3400"/>
              <a:t>)</a:t>
            </a:r>
            <a:endParaRPr lang="en-US" altLang="en-US" sz="3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35A077E-4494-1140-31F1-CC6DF56A1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Provides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emulation of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serial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ports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to 60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simultaneous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connections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Differentiates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between two device types: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Type 1: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communication end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(e.g.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print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er or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headsets)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Type 2: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devices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which are part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(e.g.</a:t>
            </a:r>
            <a:r>
              <a:rPr lang="tr-TR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modems)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protocol itself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 distinction is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made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some information is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type 1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type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5728062-4DE9-60BD-5CB6-853EDFDC7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3400"/>
              <a:t>SDP (</a:t>
            </a:r>
            <a:r>
              <a:rPr lang="en-US" altLang="en-US" sz="3400"/>
              <a:t>Service Discovery</a:t>
            </a:r>
            <a:r>
              <a:rPr lang="tr-TR" altLang="en-US" sz="3400"/>
              <a:t> </a:t>
            </a:r>
            <a:r>
              <a:rPr lang="en-US" altLang="en-US" sz="3400"/>
              <a:t>Protocol</a:t>
            </a:r>
            <a:r>
              <a:rPr lang="tr-TR" altLang="en-US" sz="3400"/>
              <a:t>)</a:t>
            </a:r>
            <a:endParaRPr lang="en-US" altLang="en-US" sz="34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CAC7C7-3317-7476-2398-B100F7F5D5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iscovers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are available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identifies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haracteristics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  s</a:t>
            </a:r>
            <a:r>
              <a:rPr lang="en-US" alt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ervices</a:t>
            </a:r>
            <a:endParaRPr lang="tr-TR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uses a request/response model where each transaction consists of one request protocol data unit (PDU) and one response PDU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SDP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L2CAP</a:t>
            </a:r>
          </a:p>
          <a:p>
            <a:pPr algn="just" eaLnBrk="1" hangingPunct="1">
              <a:lnSpc>
                <a:spcPct val="80000"/>
              </a:lnSpc>
            </a:pP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optimized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nature of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bluetooth</a:t>
            </a:r>
            <a:endParaRPr lang="en-US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SDP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not define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accessing</a:t>
            </a:r>
            <a:r>
              <a:rPr lang="tr-TR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2D964FE-CF84-E6DB-1AAD-757658CCD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3400"/>
              <a:t>SDP (</a:t>
            </a:r>
            <a:r>
              <a:rPr lang="en-US" altLang="en-US" sz="3400"/>
              <a:t>Service Discovery</a:t>
            </a:r>
            <a:r>
              <a:rPr lang="tr-TR" altLang="en-US" sz="3400"/>
              <a:t> </a:t>
            </a:r>
            <a:r>
              <a:rPr lang="en-US" altLang="en-US" sz="3400"/>
              <a:t>Protocol</a:t>
            </a:r>
            <a:r>
              <a:rPr lang="tr-TR" altLang="en-US" sz="3400"/>
              <a:t>)</a:t>
            </a:r>
            <a:endParaRPr lang="en-US" altLang="en-US" sz="3400"/>
          </a:p>
        </p:txBody>
      </p:sp>
      <p:pic>
        <p:nvPicPr>
          <p:cNvPr id="30723" name="Picture 4" descr="sdp">
            <a:extLst>
              <a:ext uri="{FF2B5EF4-FFF2-40B4-BE49-F238E27FC236}">
                <a16:creationId xmlns:a16="http://schemas.microsoft.com/office/drawing/2014/main" id="{DE7F5D6D-5CED-1D7A-30DD-50C15CB443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4625" y="2481263"/>
            <a:ext cx="3714750" cy="2762250"/>
          </a:xfr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5">
            <a:extLst>
              <a:ext uri="{FF2B5EF4-FFF2-40B4-BE49-F238E27FC236}">
                <a16:creationId xmlns:a16="http://schemas.microsoft.com/office/drawing/2014/main" id="{9B1A80C6-E610-587A-4B9E-6107F3BC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65EAFBC-DA5D-AD0C-AD9F-6E3D7BD52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Wireless Application Protocol (</a:t>
            </a:r>
            <a:r>
              <a:rPr lang="en-US" altLang="en-US" sz="2800" b="1"/>
              <a:t>WAP</a:t>
            </a:r>
            <a:r>
              <a:rPr lang="en-US" altLang="en-US" sz="280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Wide Area Ethernet (</a:t>
            </a:r>
            <a:r>
              <a:rPr lang="en-US" altLang="en-US" sz="2800" b="1"/>
              <a:t>WAE</a:t>
            </a:r>
            <a:r>
              <a:rPr lang="en-US" altLang="en-US" sz="2800"/>
              <a:t>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/>
              <a:t>TCS</a:t>
            </a:r>
            <a:r>
              <a:rPr lang="en-US" altLang="en-US" sz="2800"/>
              <a:t>-</a:t>
            </a:r>
            <a:r>
              <a:rPr lang="en-US" altLang="en-US" sz="2800" b="1"/>
              <a:t>BIN </a:t>
            </a:r>
            <a:r>
              <a:rPr lang="en-US" altLang="en-US" sz="2800"/>
              <a:t>Telephony Control Specification—Binary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AT commands --modem commands are called AT commands.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Many of the commands that are used to control wired </a:t>
            </a:r>
            <a:r>
              <a:rPr lang="en-US" altLang="en-US" sz="2800" b="1"/>
              <a:t>dial-up modems</a:t>
            </a:r>
            <a:r>
              <a:rPr lang="en-US" altLang="en-US" sz="2800"/>
              <a:t>, such as </a:t>
            </a:r>
            <a:r>
              <a:rPr lang="en-US" altLang="en-US" sz="2800" b="1"/>
              <a:t>ATD</a:t>
            </a:r>
            <a:r>
              <a:rPr lang="en-US" altLang="en-US" sz="2800"/>
              <a:t> (</a:t>
            </a:r>
            <a:r>
              <a:rPr lang="en-US" altLang="en-US" sz="2800" b="1"/>
              <a:t>Dial</a:t>
            </a:r>
            <a:r>
              <a:rPr lang="en-US" altLang="en-US" sz="2800"/>
              <a:t>), </a:t>
            </a:r>
            <a:r>
              <a:rPr lang="en-US" altLang="en-US" sz="2800" b="1"/>
              <a:t>ATA</a:t>
            </a:r>
            <a:r>
              <a:rPr lang="en-US" altLang="en-US" sz="2800"/>
              <a:t> (Answer), ATH (Hook control) and ATO (Return to online data state)</a:t>
            </a:r>
            <a:endParaRPr lang="en-US" alt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</TotalTime>
  <Words>1193</Words>
  <Application>Microsoft Office PowerPoint</Application>
  <PresentationFormat>On-screen Show (4:3)</PresentationFormat>
  <Paragraphs>186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Courier</vt:lpstr>
      <vt:lpstr>Times</vt:lpstr>
      <vt:lpstr>Times New Roman</vt:lpstr>
      <vt:lpstr>Verdana</vt:lpstr>
      <vt:lpstr>Wingdings</vt:lpstr>
      <vt:lpstr>Office Theme</vt:lpstr>
      <vt:lpstr>Presentation</vt:lpstr>
      <vt:lpstr>PowerPoint Presentation</vt:lpstr>
      <vt:lpstr>What is bluetooth?</vt:lpstr>
      <vt:lpstr>Introduction</vt:lpstr>
      <vt:lpstr>Introdution</vt:lpstr>
      <vt:lpstr>Overview</vt:lpstr>
      <vt:lpstr>Overview</vt:lpstr>
      <vt:lpstr>Frequency Band</vt:lpstr>
      <vt:lpstr>How it works</vt:lpstr>
      <vt:lpstr>PowerPoint Presentation</vt:lpstr>
      <vt:lpstr>PowerPoint Presentation</vt:lpstr>
      <vt:lpstr>PowerPoint Presentation</vt:lpstr>
      <vt:lpstr>Ad-hoc-networking</vt:lpstr>
      <vt:lpstr>Ad-hoc-networking</vt:lpstr>
      <vt:lpstr>Bluetooth Protocol Stack</vt:lpstr>
      <vt:lpstr>Specifications &amp;  Layers</vt:lpstr>
      <vt:lpstr>Specifications &amp;  Layers</vt:lpstr>
      <vt:lpstr>Layers</vt:lpstr>
      <vt:lpstr>Bluetooth Radio</vt:lpstr>
      <vt:lpstr>Bluetooth Radio</vt:lpstr>
      <vt:lpstr>Baseband</vt:lpstr>
      <vt:lpstr>Baseband</vt:lpstr>
      <vt:lpstr>Baseband</vt:lpstr>
      <vt:lpstr>Audio</vt:lpstr>
      <vt:lpstr>LMP (Link Manager Protocol)</vt:lpstr>
      <vt:lpstr>HCI (Host Controller Interface)</vt:lpstr>
      <vt:lpstr>L2CAP (Logical Link Control and Adaptation Protocol)</vt:lpstr>
      <vt:lpstr>RFCOMM (Radio Frequency Communication)</vt:lpstr>
      <vt:lpstr>SDP (Service Discovery Protocol)</vt:lpstr>
      <vt:lpstr>SDP (Service Discovery Protocol)</vt:lpstr>
      <vt:lpstr>PowerPoint Presentation</vt:lpstr>
    </vt:vector>
  </TitlesOfParts>
  <Company>Yeditepe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Bluetooh</dc:title>
  <dc:creator>Selim Dursun</dc:creator>
  <cp:lastModifiedBy>Anusha N</cp:lastModifiedBy>
  <cp:revision>31</cp:revision>
  <dcterms:created xsi:type="dcterms:W3CDTF">2007-05-09T22:15:32Z</dcterms:created>
  <dcterms:modified xsi:type="dcterms:W3CDTF">2024-09-16T03:00:01Z</dcterms:modified>
</cp:coreProperties>
</file>