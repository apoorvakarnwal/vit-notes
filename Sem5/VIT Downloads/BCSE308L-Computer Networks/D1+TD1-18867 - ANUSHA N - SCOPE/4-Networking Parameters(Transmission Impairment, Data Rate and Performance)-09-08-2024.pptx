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71" r:id="rId10"/>
    <p:sldId id="272" r:id="rId11"/>
    <p:sldId id="273" r:id="rId12"/>
    <p:sldId id="274" r:id="rId13"/>
    <p:sldId id="278" r:id="rId14"/>
    <p:sldId id="266" r:id="rId15"/>
    <p:sldId id="267" r:id="rId16"/>
    <p:sldId id="268" r:id="rId17"/>
    <p:sldId id="269" r:id="rId18"/>
    <p:sldId id="270" r:id="rId19"/>
    <p:sldId id="263" r:id="rId20"/>
    <p:sldId id="290" r:id="rId21"/>
    <p:sldId id="277" r:id="rId22"/>
    <p:sldId id="275" r:id="rId23"/>
    <p:sldId id="276" r:id="rId24"/>
    <p:sldId id="279" r:id="rId25"/>
    <p:sldId id="280" r:id="rId26"/>
    <p:sldId id="281" r:id="rId27"/>
    <p:sldId id="282" r:id="rId28"/>
    <p:sldId id="283" r:id="rId29"/>
    <p:sldId id="285" r:id="rId30"/>
    <p:sldId id="286" r:id="rId31"/>
    <p:sldId id="288" r:id="rId32"/>
    <p:sldId id="289" r:id="rId33"/>
    <p:sldId id="287" r:id="rId34"/>
    <p:sldId id="826" r:id="rId35"/>
    <p:sldId id="827" r:id="rId36"/>
    <p:sldId id="828" r:id="rId37"/>
    <p:sldId id="829" r:id="rId38"/>
    <p:sldId id="830" r:id="rId39"/>
    <p:sldId id="831" r:id="rId40"/>
    <p:sldId id="373" r:id="rId41"/>
    <p:sldId id="840" r:id="rId42"/>
    <p:sldId id="84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18CE-66D0-487D-948A-42ECB335DA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1FFD71-00AC-43F8-9DDB-7DA3FAB397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CA30DD-0DF3-4101-964A-7777640615B2}"/>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5" name="Footer Placeholder 4">
            <a:extLst>
              <a:ext uri="{FF2B5EF4-FFF2-40B4-BE49-F238E27FC236}">
                <a16:creationId xmlns:a16="http://schemas.microsoft.com/office/drawing/2014/main" id="{F4BFA70C-A3B5-46DB-B8D4-F939E96BEE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F3B4B-4050-42B9-8A7F-B000BDCA8F7A}"/>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3118690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61D6C-D022-4821-ABB6-6FEC4269FA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BED5ED-2FE2-43FB-8520-19C620185C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F8A63B-FBD9-4D21-8A77-6A3D94B18978}"/>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5" name="Footer Placeholder 4">
            <a:extLst>
              <a:ext uri="{FF2B5EF4-FFF2-40B4-BE49-F238E27FC236}">
                <a16:creationId xmlns:a16="http://schemas.microsoft.com/office/drawing/2014/main" id="{272A3583-2223-415C-8508-A4856AA3A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BF316-40B5-4373-A84E-26EEDACABF86}"/>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124722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8105-615B-4223-A7B3-42A977E587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BE9752-9066-4F30-83C6-A69B3D06D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933D54-39DA-4B5C-B854-B097D0B78DD5}"/>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5" name="Footer Placeholder 4">
            <a:extLst>
              <a:ext uri="{FF2B5EF4-FFF2-40B4-BE49-F238E27FC236}">
                <a16:creationId xmlns:a16="http://schemas.microsoft.com/office/drawing/2014/main" id="{357480E3-000B-4ADD-B4AC-E94FCF18D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78252B-10C5-4687-8CA6-0FDD1222E613}"/>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2843893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B9B8B-67E7-469B-B33B-9C00E05B24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44FAB7-4197-4D9F-8360-5283BE4E73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EC29B9-2C36-459B-82EB-D7D16677DA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3A479D-656C-43EC-8995-012420CAAAF4}"/>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6" name="Footer Placeholder 5">
            <a:extLst>
              <a:ext uri="{FF2B5EF4-FFF2-40B4-BE49-F238E27FC236}">
                <a16:creationId xmlns:a16="http://schemas.microsoft.com/office/drawing/2014/main" id="{903C6EF5-451F-4D68-9D07-BB304C38E9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1DD9E-4CE2-4988-9A0C-30587F309B0D}"/>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461299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A0345-317F-43FD-A546-43FB5A7F8A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9DF125-A6CB-45C6-ACAF-5059D6178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8140C1-4CEB-4165-B74B-30C48873FF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D619CE-E62E-4484-944A-7CA5ABB518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83245-9528-4129-AC3B-C0FF71557E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818C10-2C12-45F3-9590-752CA5CE13A5}"/>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8" name="Footer Placeholder 7">
            <a:extLst>
              <a:ext uri="{FF2B5EF4-FFF2-40B4-BE49-F238E27FC236}">
                <a16:creationId xmlns:a16="http://schemas.microsoft.com/office/drawing/2014/main" id="{554DD9E9-31F0-4034-A992-ABB9BD8B56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82B1CA-4985-496E-AC3E-AFF08257865E}"/>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2312280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3D3F2-1BA1-4395-ABDA-076D4CD62D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F9A79D-0FD1-4C69-A664-605AE9054155}"/>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4" name="Footer Placeholder 3">
            <a:extLst>
              <a:ext uri="{FF2B5EF4-FFF2-40B4-BE49-F238E27FC236}">
                <a16:creationId xmlns:a16="http://schemas.microsoft.com/office/drawing/2014/main" id="{39E38F4E-9872-4A47-9B0B-A7B7AA1A51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A60DE4-7189-4865-B4A4-C4F67680885C}"/>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2387560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1B0C5-2657-4FC8-B5FA-D736340245CA}"/>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3" name="Footer Placeholder 2">
            <a:extLst>
              <a:ext uri="{FF2B5EF4-FFF2-40B4-BE49-F238E27FC236}">
                <a16:creationId xmlns:a16="http://schemas.microsoft.com/office/drawing/2014/main" id="{E9680D72-208F-4CA6-A28D-C5478DE0AC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7DD780-7B3E-4D42-B394-B64A24DB7757}"/>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1301239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0A2E-84CB-4F86-886F-62AE9BE401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6150D3-0411-4259-8011-8FEA8E736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5BEE49-BEE1-4979-9652-74FCBD0D83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B3E92-B396-4E9B-9BCC-037A8815C8FF}"/>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6" name="Footer Placeholder 5">
            <a:extLst>
              <a:ext uri="{FF2B5EF4-FFF2-40B4-BE49-F238E27FC236}">
                <a16:creationId xmlns:a16="http://schemas.microsoft.com/office/drawing/2014/main" id="{FFB20D42-2820-4BBC-A0DA-47EE5B38B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8AC3C5-2738-4AD4-9AD9-8FF13C3AC2BF}"/>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740977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57C2D-17C0-45C7-8E65-4B180236D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AC0E20-5298-4F74-B7B6-76AB98786F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356F34-5FB7-4BCC-856B-C731C7EA1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03F69F-B900-469B-BCFE-F2C73CDF7983}"/>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6" name="Footer Placeholder 5">
            <a:extLst>
              <a:ext uri="{FF2B5EF4-FFF2-40B4-BE49-F238E27FC236}">
                <a16:creationId xmlns:a16="http://schemas.microsoft.com/office/drawing/2014/main" id="{EB2266E6-EDEB-4053-A1F6-CA5BB91008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73A08B-7CA8-49BB-BAD9-3DCF2FD04BC9}"/>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1241702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4BBB6-7EF4-427E-BF0E-BF520AC632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B146B7-57E7-4440-8E7A-5D26AE9853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7958E7-8C37-4331-A327-2BDA0BD69318}"/>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5" name="Footer Placeholder 4">
            <a:extLst>
              <a:ext uri="{FF2B5EF4-FFF2-40B4-BE49-F238E27FC236}">
                <a16:creationId xmlns:a16="http://schemas.microsoft.com/office/drawing/2014/main" id="{41D8E232-2D50-42D7-A936-3CBFCDC3DD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42E567-CE3D-407C-A14E-9D7AC84F36B7}"/>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544817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2AF050-CA74-474C-87E1-7F954E22F4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AA7F0A-7EC5-4874-B01C-8E7832C79D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96D329-2240-417B-96BE-A9C4B1F84A9C}"/>
              </a:ext>
            </a:extLst>
          </p:cNvPr>
          <p:cNvSpPr>
            <a:spLocks noGrp="1"/>
          </p:cNvSpPr>
          <p:nvPr>
            <p:ph type="dt" sz="half" idx="10"/>
          </p:nvPr>
        </p:nvSpPr>
        <p:spPr/>
        <p:txBody>
          <a:bodyPr/>
          <a:lstStyle/>
          <a:p>
            <a:fld id="{B6F283E9-5ACC-49B7-8453-C5A896E13AEE}" type="datetimeFigureOut">
              <a:rPr lang="en-US" smtClean="0"/>
              <a:t>8/18/2024</a:t>
            </a:fld>
            <a:endParaRPr lang="en-US"/>
          </a:p>
        </p:txBody>
      </p:sp>
      <p:sp>
        <p:nvSpPr>
          <p:cNvPr id="5" name="Footer Placeholder 4">
            <a:extLst>
              <a:ext uri="{FF2B5EF4-FFF2-40B4-BE49-F238E27FC236}">
                <a16:creationId xmlns:a16="http://schemas.microsoft.com/office/drawing/2014/main" id="{968224EE-34C0-4997-9A87-152722E4B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5E932-EB73-4854-9464-2EB73A936F72}"/>
              </a:ext>
            </a:extLst>
          </p:cNvPr>
          <p:cNvSpPr>
            <a:spLocks noGrp="1"/>
          </p:cNvSpPr>
          <p:nvPr>
            <p:ph type="sldNum" sz="quarter" idx="12"/>
          </p:nvPr>
        </p:nvSpPr>
        <p:spPr/>
        <p:txBody>
          <a:bodyPr/>
          <a:lstStyle/>
          <a:p>
            <a:fld id="{98DE8066-4A18-4BC3-B60C-0E51C2FABD79}" type="slidenum">
              <a:rPr lang="en-US" smtClean="0"/>
              <a:t>‹#›</a:t>
            </a:fld>
            <a:endParaRPr lang="en-US"/>
          </a:p>
        </p:txBody>
      </p:sp>
    </p:spTree>
    <p:extLst>
      <p:ext uri="{BB962C8B-B14F-4D97-AF65-F5344CB8AC3E}">
        <p14:creationId xmlns:p14="http://schemas.microsoft.com/office/powerpoint/2010/main" val="1936260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90218C-FD21-4720-A71E-FFCE491DB7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B49612-2014-4CF2-8958-1FD0E64A69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E5C58F-74A5-4A87-8D0C-2A91281547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283E9-5ACC-49B7-8453-C5A896E13AEE}" type="datetimeFigureOut">
              <a:rPr lang="en-US" smtClean="0"/>
              <a:t>8/18/2024</a:t>
            </a:fld>
            <a:endParaRPr lang="en-US"/>
          </a:p>
        </p:txBody>
      </p:sp>
      <p:sp>
        <p:nvSpPr>
          <p:cNvPr id="5" name="Footer Placeholder 4">
            <a:extLst>
              <a:ext uri="{FF2B5EF4-FFF2-40B4-BE49-F238E27FC236}">
                <a16:creationId xmlns:a16="http://schemas.microsoft.com/office/drawing/2014/main" id="{EE4251E1-E09A-4D32-B166-E8E27EF82E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711856-6937-47BF-AA9D-9414133ECA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E8066-4A18-4BC3-B60C-0E51C2FABD79}" type="slidenum">
              <a:rPr lang="en-US" smtClean="0"/>
              <a:t>‹#›</a:t>
            </a:fld>
            <a:endParaRPr lang="en-US"/>
          </a:p>
        </p:txBody>
      </p:sp>
    </p:spTree>
    <p:extLst>
      <p:ext uri="{BB962C8B-B14F-4D97-AF65-F5344CB8AC3E}">
        <p14:creationId xmlns:p14="http://schemas.microsoft.com/office/powerpoint/2010/main" val="1032681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0995-E6B1-47A5-8526-D02D55810CB6}"/>
              </a:ext>
            </a:extLst>
          </p:cNvPr>
          <p:cNvSpPr>
            <a:spLocks noGrp="1"/>
          </p:cNvSpPr>
          <p:nvPr>
            <p:ph type="ctrTitle"/>
          </p:nvPr>
        </p:nvSpPr>
        <p:spPr/>
        <p:txBody>
          <a:bodyPr/>
          <a:lstStyle/>
          <a:p>
            <a:r>
              <a:rPr lang="en-US" dirty="0">
                <a:solidFill>
                  <a:srgbClr val="C00000"/>
                </a:solidFill>
                <a:latin typeface="Arial" panose="020B0604020202020204" pitchFamily="34" charset="0"/>
                <a:cs typeface="Arial" panose="020B0604020202020204" pitchFamily="34" charset="0"/>
              </a:rPr>
              <a:t>PERFORMANCE PARAMETERS</a:t>
            </a:r>
          </a:p>
        </p:txBody>
      </p:sp>
      <p:sp>
        <p:nvSpPr>
          <p:cNvPr id="3" name="Subtitle 2">
            <a:extLst>
              <a:ext uri="{FF2B5EF4-FFF2-40B4-BE49-F238E27FC236}">
                <a16:creationId xmlns:a16="http://schemas.microsoft.com/office/drawing/2014/main" id="{C0788C70-C0DB-4239-9D35-41B547180227}"/>
              </a:ext>
            </a:extLst>
          </p:cNvPr>
          <p:cNvSpPr>
            <a:spLocks noGrp="1"/>
          </p:cNvSpPr>
          <p:nvPr>
            <p:ph type="subTitle" idx="1"/>
          </p:nvPr>
        </p:nvSpPr>
        <p:spPr/>
        <p:txBody>
          <a:bodyPr/>
          <a:lstStyle/>
          <a:p>
            <a:r>
              <a:rPr lang="en-US" dirty="0">
                <a:solidFill>
                  <a:srgbClr val="C00000"/>
                </a:solidFill>
              </a:rPr>
              <a:t>ANUSHA N</a:t>
            </a:r>
          </a:p>
        </p:txBody>
      </p:sp>
    </p:spTree>
    <p:extLst>
      <p:ext uri="{BB962C8B-B14F-4D97-AF65-F5344CB8AC3E}">
        <p14:creationId xmlns:p14="http://schemas.microsoft.com/office/powerpoint/2010/main" val="1909848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365126"/>
            <a:ext cx="10515600" cy="558240"/>
          </a:xfrm>
        </p:spPr>
        <p:txBody>
          <a:bodyPr>
            <a:normAutofit fontScale="90000"/>
          </a:bodyPr>
          <a:lstStyle/>
          <a:p>
            <a:pPr algn="ctr"/>
            <a:r>
              <a:rPr lang="en-US" dirty="0">
                <a:solidFill>
                  <a:srgbClr val="C00000"/>
                </a:solidFill>
                <a:latin typeface="Arial" panose="020B0604020202020204" pitchFamily="34" charset="0"/>
                <a:cs typeface="Arial" panose="020B0604020202020204" pitchFamily="34" charset="0"/>
              </a:rPr>
              <a:t>PERFORMANCE</a:t>
            </a: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838200" y="1237129"/>
            <a:ext cx="10515600" cy="4939834"/>
          </a:xfrm>
        </p:spPr>
        <p:txBody>
          <a:bodyPr/>
          <a:lstStyle/>
          <a:p>
            <a:r>
              <a:rPr lang="en-US" dirty="0">
                <a:latin typeface="Arial" panose="020B0604020202020204" pitchFamily="34" charset="0"/>
                <a:cs typeface="Arial" panose="020B0604020202020204" pitchFamily="34" charset="0"/>
              </a:rPr>
              <a:t>Bandwidth</a:t>
            </a:r>
          </a:p>
          <a:p>
            <a:r>
              <a:rPr lang="en-US" dirty="0">
                <a:latin typeface="Arial" panose="020B0604020202020204" pitchFamily="34" charset="0"/>
                <a:cs typeface="Arial" panose="020B0604020202020204" pitchFamily="34" charset="0"/>
              </a:rPr>
              <a:t>Throughput</a:t>
            </a:r>
          </a:p>
          <a:p>
            <a:r>
              <a:rPr lang="en-US" dirty="0">
                <a:latin typeface="Arial" panose="020B0604020202020204" pitchFamily="34" charset="0"/>
                <a:cs typeface="Arial" panose="020B0604020202020204" pitchFamily="34" charset="0"/>
              </a:rPr>
              <a:t>Latency (Delay)</a:t>
            </a:r>
          </a:p>
          <a:p>
            <a:r>
              <a:rPr lang="en-US" dirty="0">
                <a:latin typeface="Arial" panose="020B0604020202020204" pitchFamily="34" charset="0"/>
                <a:cs typeface="Arial" panose="020B0604020202020204" pitchFamily="34" charset="0"/>
              </a:rPr>
              <a:t>Transmission time</a:t>
            </a:r>
          </a:p>
        </p:txBody>
      </p:sp>
    </p:spTree>
    <p:extLst>
      <p:ext uri="{BB962C8B-B14F-4D97-AF65-F5344CB8AC3E}">
        <p14:creationId xmlns:p14="http://schemas.microsoft.com/office/powerpoint/2010/main" val="104537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134472"/>
            <a:ext cx="10515600" cy="663388"/>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PERFORMANCE -Bandwidth</a:t>
            </a:r>
            <a:br>
              <a:rPr lang="en-US" dirty="0">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838200" y="1237129"/>
            <a:ext cx="10515600" cy="4939834"/>
          </a:xfrm>
        </p:spPr>
        <p:txBody>
          <a:bodyPr>
            <a:normAutofit/>
          </a:bodyPr>
          <a:lstStyle/>
          <a:p>
            <a:pPr marL="0" indent="0">
              <a:buNone/>
            </a:pPr>
            <a:r>
              <a:rPr lang="en-US" dirty="0">
                <a:solidFill>
                  <a:srgbClr val="002060"/>
                </a:solidFill>
                <a:latin typeface="Arial" panose="020B0604020202020204" pitchFamily="34" charset="0"/>
                <a:cs typeface="Arial" panose="020B0604020202020204" pitchFamily="34" charset="0"/>
              </a:rPr>
              <a:t>I Bandwidth in Hertz</a:t>
            </a:r>
          </a:p>
          <a:p>
            <a:r>
              <a:rPr lang="en-US" dirty="0">
                <a:latin typeface="Arial" panose="020B0604020202020204" pitchFamily="34" charset="0"/>
                <a:cs typeface="Arial" panose="020B0604020202020204" pitchFamily="34" charset="0"/>
              </a:rPr>
              <a:t>Bandwidth in hertz is the range of frequencies contained in a composite signal or the range of frequencies a channel can pass.</a:t>
            </a:r>
          </a:p>
          <a:p>
            <a:pPr marL="0" indent="0">
              <a:buNone/>
            </a:pPr>
            <a:r>
              <a:rPr lang="en-US" dirty="0">
                <a:solidFill>
                  <a:srgbClr val="C00000"/>
                </a:solidFill>
                <a:latin typeface="Arial" panose="020B0604020202020204" pitchFamily="34" charset="0"/>
                <a:cs typeface="Arial" panose="020B0604020202020204" pitchFamily="34" charset="0"/>
              </a:rPr>
              <a:t>For example, we can say the bandwidth of a subscriber telephone line is 4 </a:t>
            </a:r>
            <a:r>
              <a:rPr lang="en-US" dirty="0" err="1">
                <a:solidFill>
                  <a:srgbClr val="C00000"/>
                </a:solidFill>
                <a:latin typeface="Arial" panose="020B0604020202020204" pitchFamily="34" charset="0"/>
                <a:cs typeface="Arial" panose="020B0604020202020204" pitchFamily="34" charset="0"/>
              </a:rPr>
              <a:t>Khz</a:t>
            </a:r>
            <a:endParaRPr lang="en-US" dirty="0">
              <a:solidFill>
                <a:srgbClr val="C00000"/>
              </a:solidFill>
              <a:latin typeface="Arial" panose="020B0604020202020204" pitchFamily="34" charset="0"/>
              <a:cs typeface="Arial" panose="020B0604020202020204" pitchFamily="34" charset="0"/>
            </a:endParaRPr>
          </a:p>
          <a:p>
            <a:pPr marL="0" indent="0">
              <a:buNone/>
            </a:pPr>
            <a:r>
              <a:rPr lang="en-US" dirty="0">
                <a:solidFill>
                  <a:srgbClr val="002060"/>
                </a:solidFill>
                <a:latin typeface="Arial" panose="020B0604020202020204" pitchFamily="34" charset="0"/>
                <a:cs typeface="Arial" panose="020B0604020202020204" pitchFamily="34" charset="0"/>
              </a:rPr>
              <a:t>II Bandwidth in Bits per Seconds </a:t>
            </a:r>
          </a:p>
          <a:p>
            <a:r>
              <a:rPr lang="en-US" dirty="0">
                <a:latin typeface="Arial" panose="020B0604020202020204" pitchFamily="34" charset="0"/>
                <a:cs typeface="Arial" panose="020B0604020202020204" pitchFamily="34" charset="0"/>
              </a:rPr>
              <a:t>The term bandwidth can also refer to the number of bits per second that a channel, a link, or even a network can transmit.</a:t>
            </a:r>
          </a:p>
          <a:p>
            <a:pPr marL="0" indent="0">
              <a:buNone/>
            </a:pPr>
            <a:r>
              <a:rPr lang="en-US" dirty="0">
                <a:solidFill>
                  <a:srgbClr val="C00000"/>
                </a:solidFill>
                <a:latin typeface="Arial" panose="020B0604020202020204" pitchFamily="34" charset="0"/>
                <a:cs typeface="Arial" panose="020B0604020202020204" pitchFamily="34" charset="0"/>
              </a:rPr>
              <a:t>For example, 100 Mbps.</a:t>
            </a:r>
          </a:p>
        </p:txBody>
      </p:sp>
    </p:spTree>
    <p:extLst>
      <p:ext uri="{BB962C8B-B14F-4D97-AF65-F5344CB8AC3E}">
        <p14:creationId xmlns:p14="http://schemas.microsoft.com/office/powerpoint/2010/main" val="297921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134472"/>
            <a:ext cx="10515600" cy="663388"/>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PERFORMANCE -Throughput</a:t>
            </a:r>
            <a:br>
              <a:rPr lang="en-US" dirty="0">
                <a:solidFill>
                  <a:srgbClr val="C00000"/>
                </a:solidFill>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515470" y="887506"/>
            <a:ext cx="10515600" cy="5262562"/>
          </a:xfrm>
        </p:spPr>
        <p:txBody>
          <a:bodyPr>
            <a:normAutofit fontScale="77500" lnSpcReduction="20000"/>
          </a:bodyPr>
          <a:lstStyle/>
          <a:p>
            <a:pPr marL="0" indent="0" algn="just">
              <a:buNone/>
            </a:pPr>
            <a:r>
              <a:rPr lang="en-US" sz="3600" dirty="0">
                <a:solidFill>
                  <a:srgbClr val="C00000"/>
                </a:solidFill>
                <a:latin typeface="Arial" panose="020B0604020202020204" pitchFamily="34" charset="0"/>
                <a:cs typeface="Arial" panose="020B0604020202020204" pitchFamily="34" charset="0"/>
              </a:rPr>
              <a:t>The throughput is a measure of how fast we can actually send data through a network.</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 Bandwidth in bits per second and throughput seem the same, they are different. </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solidFill>
                  <a:srgbClr val="C00000"/>
                </a:solidFill>
                <a:latin typeface="Arial" panose="020B0604020202020204" pitchFamily="34" charset="0"/>
                <a:cs typeface="Arial" panose="020B0604020202020204" pitchFamily="34" charset="0"/>
              </a:rPr>
              <a:t>A link may have a bandwidth of B bps, but we can only send T bps through this link with T always less than B. </a:t>
            </a:r>
          </a:p>
          <a:p>
            <a:pPr marL="0" indent="0" algn="just">
              <a:buNone/>
            </a:pPr>
            <a:r>
              <a:rPr lang="en-US" dirty="0">
                <a:solidFill>
                  <a:srgbClr val="C00000"/>
                </a:solidFill>
                <a:latin typeface="Arial" panose="020B0604020202020204" pitchFamily="34" charset="0"/>
                <a:cs typeface="Arial" panose="020B0604020202020204" pitchFamily="34" charset="0"/>
              </a:rPr>
              <a:t>In other words, the bandwidth is a potential measurement of a link; </a:t>
            </a:r>
          </a:p>
          <a:p>
            <a:pPr marL="0" indent="0" algn="just">
              <a:buNone/>
            </a:pPr>
            <a:r>
              <a:rPr lang="en-US" dirty="0">
                <a:solidFill>
                  <a:srgbClr val="C00000"/>
                </a:solidFill>
                <a:latin typeface="Arial" panose="020B0604020202020204" pitchFamily="34" charset="0"/>
                <a:cs typeface="Arial" panose="020B0604020202020204" pitchFamily="34" charset="0"/>
              </a:rPr>
              <a:t>the throughput is an actual measurement of how fast we can send data. </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Imagine a highway designed to transmit 1000 cars per minute from one point</a:t>
            </a:r>
          </a:p>
          <a:p>
            <a:pPr marL="0" indent="0" algn="just">
              <a:buNone/>
            </a:pPr>
            <a:r>
              <a:rPr lang="en-US" dirty="0">
                <a:latin typeface="Arial" panose="020B0604020202020204" pitchFamily="34" charset="0"/>
                <a:cs typeface="Arial" panose="020B0604020202020204" pitchFamily="34" charset="0"/>
              </a:rPr>
              <a:t>to another. However, if there is congestion on the road, this figure may be reduced to 100 cars per minute. The bandwidth is 1000 cars per minute; the throughput is 100 cars per minute</a:t>
            </a:r>
            <a:r>
              <a:rPr lang="en-US"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3386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134472"/>
            <a:ext cx="10515600" cy="663388"/>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PERFORMANCE -Throughput</a:t>
            </a:r>
            <a:br>
              <a:rPr lang="en-US" dirty="0">
                <a:solidFill>
                  <a:srgbClr val="C00000"/>
                </a:solidFill>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515470" y="887506"/>
            <a:ext cx="10515600" cy="5262562"/>
          </a:xfrm>
        </p:spPr>
        <p:txBody>
          <a:bodyPr>
            <a:normAutofit/>
          </a:bodyPr>
          <a:lstStyle/>
          <a:p>
            <a:pPr marL="0" indent="0" algn="just">
              <a:buNone/>
            </a:pPr>
            <a:r>
              <a:rPr lang="en-US" dirty="0">
                <a:latin typeface="Arial" panose="020B0604020202020204" pitchFamily="34" charset="0"/>
                <a:cs typeface="Arial" panose="020B0604020202020204" pitchFamily="34" charset="0"/>
              </a:rPr>
              <a:t>A network with bandwidth of 10 Mbps can pass only an average of 12,000 frames per minute with each frame carrying an average of 10,000 bits. What is the throughput of this network?</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solidFill>
                  <a:srgbClr val="C00000"/>
                </a:solidFill>
                <a:latin typeface="Arial" panose="020B0604020202020204" pitchFamily="34" charset="0"/>
                <a:cs typeface="Arial" panose="020B0604020202020204" pitchFamily="34" charset="0"/>
              </a:rPr>
              <a:t>We can calculate the throughput as </a:t>
            </a:r>
          </a:p>
          <a:p>
            <a:pPr marL="0" indent="0" algn="just">
              <a:buNone/>
            </a:pPr>
            <a:r>
              <a:rPr lang="en-US" dirty="0">
                <a:solidFill>
                  <a:srgbClr val="C00000"/>
                </a:solidFill>
                <a:latin typeface="Arial" panose="020B0604020202020204" pitchFamily="34" charset="0"/>
                <a:cs typeface="Arial" panose="020B0604020202020204" pitchFamily="34" charset="0"/>
              </a:rPr>
              <a:t>Throughput= 12,000 x 10,000/60 =2 Mbps </a:t>
            </a:r>
          </a:p>
          <a:p>
            <a:pPr marL="0" indent="0" algn="just">
              <a:buNone/>
            </a:pPr>
            <a:endParaRPr lang="en-US" dirty="0">
              <a:solidFill>
                <a:srgbClr val="C00000"/>
              </a:solidFill>
              <a:latin typeface="Arial" panose="020B0604020202020204" pitchFamily="34" charset="0"/>
              <a:cs typeface="Arial" panose="020B0604020202020204" pitchFamily="34" charset="0"/>
            </a:endParaRPr>
          </a:p>
          <a:p>
            <a:pPr marL="0" indent="0" algn="just">
              <a:buNone/>
            </a:pPr>
            <a:r>
              <a:rPr lang="en-US" dirty="0">
                <a:solidFill>
                  <a:srgbClr val="C00000"/>
                </a:solidFill>
                <a:latin typeface="Arial" panose="020B0604020202020204" pitchFamily="34" charset="0"/>
                <a:cs typeface="Arial" panose="020B0604020202020204" pitchFamily="34" charset="0"/>
              </a:rPr>
              <a:t>The throughput is almost one-fifth of the bandwidth in this case..</a:t>
            </a:r>
          </a:p>
        </p:txBody>
      </p:sp>
    </p:spTree>
    <p:extLst>
      <p:ext uri="{BB962C8B-B14F-4D97-AF65-F5344CB8AC3E}">
        <p14:creationId xmlns:p14="http://schemas.microsoft.com/office/powerpoint/2010/main" val="564167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134472"/>
            <a:ext cx="10515600" cy="663388"/>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br>
              <a:rPr lang="en-US" dirty="0">
                <a:solidFill>
                  <a:srgbClr val="C00000"/>
                </a:solidFill>
                <a:latin typeface="Arial" panose="020B0604020202020204" pitchFamily="34" charset="0"/>
                <a:cs typeface="Arial" panose="020B0604020202020204" pitchFamily="34" charset="0"/>
              </a:rPr>
            </a:b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PERFORMANCE – Latency</a:t>
            </a:r>
            <a:br>
              <a:rPr lang="en-US" dirty="0">
                <a:solidFill>
                  <a:srgbClr val="C00000"/>
                </a:solidFill>
                <a:latin typeface="Arial" panose="020B0604020202020204" pitchFamily="34" charset="0"/>
                <a:cs typeface="Arial" panose="020B0604020202020204" pitchFamily="34" charset="0"/>
              </a:rPr>
            </a:br>
            <a:br>
              <a:rPr lang="en-US" dirty="0">
                <a:solidFill>
                  <a:srgbClr val="C00000"/>
                </a:solidFill>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515470" y="887506"/>
            <a:ext cx="10515600" cy="5262562"/>
          </a:xfrm>
        </p:spPr>
        <p:txBody>
          <a:bodyPr>
            <a:normAutofit/>
          </a:bodyPr>
          <a:lstStyle/>
          <a:p>
            <a:pPr marL="0" indent="0" algn="just">
              <a:buNone/>
            </a:pPr>
            <a:r>
              <a:rPr lang="en-US" dirty="0">
                <a:latin typeface="Arial" panose="020B0604020202020204" pitchFamily="34" charset="0"/>
                <a:cs typeface="Arial" panose="020B0604020202020204" pitchFamily="34" charset="0"/>
              </a:rPr>
              <a:t>Latency (Delay)</a:t>
            </a:r>
          </a:p>
          <a:p>
            <a:pPr marL="0" indent="0" algn="just">
              <a:buNone/>
            </a:pPr>
            <a:r>
              <a:rPr lang="en-US" dirty="0">
                <a:latin typeface="Arial" panose="020B0604020202020204" pitchFamily="34" charset="0"/>
                <a:cs typeface="Arial" panose="020B0604020202020204" pitchFamily="34" charset="0"/>
              </a:rPr>
              <a:t>The latency or delay defines how long it takes for an entire message to completely arrive at the destination from the time the first bit is sent out from the source. </a:t>
            </a:r>
          </a:p>
          <a:p>
            <a:pPr marL="0" indent="0" algn="just">
              <a:buNone/>
            </a:pPr>
            <a:r>
              <a:rPr lang="en-US" dirty="0">
                <a:latin typeface="Arial" panose="020B0604020202020204" pitchFamily="34" charset="0"/>
                <a:cs typeface="Arial" panose="020B0604020202020204" pitchFamily="34" charset="0"/>
              </a:rPr>
              <a:t>We can say that latency is made of four components: </a:t>
            </a:r>
          </a:p>
          <a:p>
            <a:pPr algn="just"/>
            <a:r>
              <a:rPr lang="en-US" dirty="0">
                <a:solidFill>
                  <a:srgbClr val="C00000"/>
                </a:solidFill>
                <a:latin typeface="Arial" panose="020B0604020202020204" pitchFamily="34" charset="0"/>
                <a:cs typeface="Arial" panose="020B0604020202020204" pitchFamily="34" charset="0"/>
              </a:rPr>
              <a:t>Propagation Time,</a:t>
            </a:r>
          </a:p>
          <a:p>
            <a:pPr algn="just"/>
            <a:r>
              <a:rPr lang="en-US" dirty="0">
                <a:solidFill>
                  <a:srgbClr val="C00000"/>
                </a:solidFill>
                <a:latin typeface="Arial" panose="020B0604020202020204" pitchFamily="34" charset="0"/>
                <a:cs typeface="Arial" panose="020B0604020202020204" pitchFamily="34" charset="0"/>
              </a:rPr>
              <a:t>Transmission Time,</a:t>
            </a:r>
          </a:p>
          <a:p>
            <a:pPr algn="just"/>
            <a:r>
              <a:rPr lang="en-US" dirty="0">
                <a:solidFill>
                  <a:srgbClr val="C00000"/>
                </a:solidFill>
                <a:latin typeface="Arial" panose="020B0604020202020204" pitchFamily="34" charset="0"/>
                <a:cs typeface="Arial" panose="020B0604020202020204" pitchFamily="34" charset="0"/>
              </a:rPr>
              <a:t>Queuing Time And </a:t>
            </a:r>
          </a:p>
          <a:p>
            <a:pPr algn="just"/>
            <a:r>
              <a:rPr lang="en-US" dirty="0">
                <a:solidFill>
                  <a:srgbClr val="C00000"/>
                </a:solidFill>
                <a:latin typeface="Arial" panose="020B0604020202020204" pitchFamily="34" charset="0"/>
                <a:cs typeface="Arial" panose="020B0604020202020204" pitchFamily="34" charset="0"/>
              </a:rPr>
              <a:t>Processing Delay.</a:t>
            </a:r>
          </a:p>
          <a:p>
            <a:pPr marL="0" indent="0" algn="just">
              <a:buNone/>
            </a:pPr>
            <a:r>
              <a:rPr lang="en-US" dirty="0">
                <a:solidFill>
                  <a:srgbClr val="C00000"/>
                </a:solidFill>
                <a:latin typeface="Arial" panose="020B0604020202020204" pitchFamily="34" charset="0"/>
                <a:cs typeface="Arial" panose="020B0604020202020204" pitchFamily="34" charset="0"/>
              </a:rPr>
              <a:t>Latency =propagation time +transmission time +queuing time + processing delay</a:t>
            </a:r>
          </a:p>
        </p:txBody>
      </p:sp>
    </p:spTree>
    <p:extLst>
      <p:ext uri="{BB962C8B-B14F-4D97-AF65-F5344CB8AC3E}">
        <p14:creationId xmlns:p14="http://schemas.microsoft.com/office/powerpoint/2010/main" val="1158803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134472"/>
            <a:ext cx="10515600" cy="663388"/>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Latency -</a:t>
            </a:r>
            <a:r>
              <a:rPr lang="en-US" dirty="0"/>
              <a:t>  </a:t>
            </a:r>
            <a:r>
              <a:rPr lang="en-US" dirty="0">
                <a:solidFill>
                  <a:srgbClr val="C00000"/>
                </a:solidFill>
                <a:latin typeface="Arial" panose="020B0604020202020204" pitchFamily="34" charset="0"/>
                <a:cs typeface="Arial" panose="020B0604020202020204" pitchFamily="34" charset="0"/>
              </a:rPr>
              <a:t>1.Propagation Time </a:t>
            </a:r>
            <a:br>
              <a:rPr lang="en-US" dirty="0">
                <a:solidFill>
                  <a:srgbClr val="C00000"/>
                </a:solidFill>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515470" y="887506"/>
            <a:ext cx="10515600" cy="5262562"/>
          </a:xfrm>
        </p:spPr>
        <p:txBody>
          <a:bodyPr>
            <a:normAutofit/>
          </a:bodyPr>
          <a:lstStyle/>
          <a:p>
            <a:pPr marL="0" indent="0" algn="just">
              <a:buNone/>
            </a:pPr>
            <a:r>
              <a:rPr lang="en-US" dirty="0">
                <a:latin typeface="Arial" panose="020B0604020202020204" pitchFamily="34" charset="0"/>
                <a:cs typeface="Arial" panose="020B0604020202020204" pitchFamily="34" charset="0"/>
              </a:rPr>
              <a:t>Propagation time measures the time required for a bit to travel from the source to the destination. </a:t>
            </a:r>
          </a:p>
          <a:p>
            <a:pPr marL="0" indent="0" algn="just">
              <a:buNone/>
            </a:pPr>
            <a:r>
              <a:rPr lang="en-US" dirty="0">
                <a:latin typeface="Arial" panose="020B0604020202020204" pitchFamily="34" charset="0"/>
                <a:cs typeface="Arial" panose="020B0604020202020204" pitchFamily="34" charset="0"/>
              </a:rPr>
              <a:t>The propagation time is calculated by dividing the distance by the propagation speed. </a:t>
            </a:r>
          </a:p>
          <a:p>
            <a:pPr marL="0" indent="0" algn="just">
              <a:buNone/>
            </a:pPr>
            <a:r>
              <a:rPr lang="en-US" dirty="0">
                <a:solidFill>
                  <a:srgbClr val="C00000"/>
                </a:solidFill>
                <a:latin typeface="Arial" panose="020B0604020202020204" pitchFamily="34" charset="0"/>
                <a:cs typeface="Arial" panose="020B0604020202020204" pitchFamily="34" charset="0"/>
              </a:rPr>
              <a:t>Propagation time = Distance /Propagation speed</a:t>
            </a:r>
          </a:p>
        </p:txBody>
      </p:sp>
    </p:spTree>
    <p:extLst>
      <p:ext uri="{BB962C8B-B14F-4D97-AF65-F5344CB8AC3E}">
        <p14:creationId xmlns:p14="http://schemas.microsoft.com/office/powerpoint/2010/main" val="862081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7882-38B9-4FB3-ACAB-A7E95EEFF588}"/>
              </a:ext>
            </a:extLst>
          </p:cNvPr>
          <p:cNvSpPr>
            <a:spLocks noGrp="1"/>
          </p:cNvSpPr>
          <p:nvPr>
            <p:ph type="title"/>
          </p:nvPr>
        </p:nvSpPr>
        <p:spPr>
          <a:xfrm>
            <a:off x="838200" y="134472"/>
            <a:ext cx="10515600" cy="663388"/>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br>
              <a:rPr lang="en-US" dirty="0">
                <a:solidFill>
                  <a:srgbClr val="C00000"/>
                </a:solidFill>
                <a:latin typeface="Arial" panose="020B0604020202020204" pitchFamily="34" charset="0"/>
                <a:cs typeface="Arial" panose="020B0604020202020204" pitchFamily="34" charset="0"/>
              </a:rPr>
            </a:b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Latency -</a:t>
            </a:r>
            <a:r>
              <a:rPr lang="en-US" dirty="0"/>
              <a:t>  </a:t>
            </a:r>
            <a:r>
              <a:rPr lang="en-US" dirty="0">
                <a:solidFill>
                  <a:srgbClr val="C00000"/>
                </a:solidFill>
                <a:latin typeface="Arial" panose="020B0604020202020204" pitchFamily="34" charset="0"/>
                <a:cs typeface="Arial" panose="020B0604020202020204" pitchFamily="34" charset="0"/>
              </a:rPr>
              <a:t>2.</a:t>
            </a:r>
            <a:r>
              <a:rPr lang="en-US" dirty="0"/>
              <a:t> </a:t>
            </a:r>
            <a:r>
              <a:rPr lang="en-US" dirty="0">
                <a:solidFill>
                  <a:srgbClr val="C00000"/>
                </a:solidFill>
                <a:latin typeface="Arial" panose="020B0604020202020204" pitchFamily="34" charset="0"/>
                <a:cs typeface="Arial" panose="020B0604020202020204" pitchFamily="34" charset="0"/>
              </a:rPr>
              <a:t>Transmission Time</a:t>
            </a:r>
            <a:br>
              <a:rPr lang="en-US" dirty="0"/>
            </a:br>
            <a:br>
              <a:rPr lang="en-US" dirty="0">
                <a:solidFill>
                  <a:srgbClr val="C00000"/>
                </a:solidFill>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DE569E-9579-4EB6-AD3A-1D8D8019D3E1}"/>
              </a:ext>
            </a:extLst>
          </p:cNvPr>
          <p:cNvSpPr>
            <a:spLocks noGrp="1"/>
          </p:cNvSpPr>
          <p:nvPr>
            <p:ph idx="1"/>
          </p:nvPr>
        </p:nvSpPr>
        <p:spPr>
          <a:xfrm>
            <a:off x="515470" y="887506"/>
            <a:ext cx="10515600" cy="5262562"/>
          </a:xfrm>
        </p:spPr>
        <p:txBody>
          <a:bodyPr>
            <a:normAutofit lnSpcReduction="10000"/>
          </a:bodyPr>
          <a:lstStyle/>
          <a:p>
            <a:pPr algn="just"/>
            <a:r>
              <a:rPr lang="en-US" dirty="0">
                <a:latin typeface="Arial" panose="020B0604020202020204" pitchFamily="34" charset="0"/>
                <a:cs typeface="Arial" panose="020B0604020202020204" pitchFamily="34" charset="0"/>
              </a:rPr>
              <a:t>In data communications we don't send just 1 bit, we send a message. </a:t>
            </a:r>
          </a:p>
          <a:p>
            <a:pPr algn="just"/>
            <a:r>
              <a:rPr lang="en-US" dirty="0">
                <a:latin typeface="Arial" panose="020B0604020202020204" pitchFamily="34" charset="0"/>
                <a:cs typeface="Arial" panose="020B0604020202020204" pitchFamily="34" charset="0"/>
              </a:rPr>
              <a:t>The first bit may take a time equal to the propagation time to reach its destination; the last bit also may take the same amount of time. </a:t>
            </a:r>
          </a:p>
          <a:p>
            <a:pPr algn="just"/>
            <a:r>
              <a:rPr lang="en-US" dirty="0">
                <a:latin typeface="Arial" panose="020B0604020202020204" pitchFamily="34" charset="0"/>
                <a:cs typeface="Arial" panose="020B0604020202020204" pitchFamily="34" charset="0"/>
              </a:rPr>
              <a:t>However, there is a time between the first bit leaving the sender and the last bit arriving at the receiver. </a:t>
            </a:r>
          </a:p>
          <a:p>
            <a:pPr algn="just"/>
            <a:r>
              <a:rPr lang="en-US" dirty="0">
                <a:latin typeface="Arial" panose="020B0604020202020204" pitchFamily="34" charset="0"/>
                <a:cs typeface="Arial" panose="020B0604020202020204" pitchFamily="34" charset="0"/>
              </a:rPr>
              <a:t>The first bit leaves earlier and arrives earlier; the last bit leaves later and arrives later. </a:t>
            </a:r>
          </a:p>
          <a:p>
            <a:pPr algn="just"/>
            <a:r>
              <a:rPr lang="en-US" dirty="0">
                <a:latin typeface="Arial" panose="020B0604020202020204" pitchFamily="34" charset="0"/>
                <a:cs typeface="Arial" panose="020B0604020202020204" pitchFamily="34" charset="0"/>
              </a:rPr>
              <a:t>The time required for transmission of a message depends on the size of the message and the bandwidth of the channel.</a:t>
            </a:r>
          </a:p>
          <a:p>
            <a:pPr algn="just"/>
            <a:r>
              <a:rPr lang="en-US" dirty="0">
                <a:solidFill>
                  <a:srgbClr val="C00000"/>
                </a:solidFill>
                <a:latin typeface="Arial" panose="020B0604020202020204" pitchFamily="34" charset="0"/>
                <a:cs typeface="Arial" panose="020B0604020202020204" pitchFamily="34" charset="0"/>
              </a:rPr>
              <a:t>Transmission time =Message size/Bandwidth</a:t>
            </a:r>
          </a:p>
        </p:txBody>
      </p:sp>
    </p:spTree>
    <p:extLst>
      <p:ext uri="{BB962C8B-B14F-4D97-AF65-F5344CB8AC3E}">
        <p14:creationId xmlns:p14="http://schemas.microsoft.com/office/powerpoint/2010/main" val="2942023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E9650-2817-45E3-9FDD-004424D36E05}"/>
              </a:ext>
            </a:extLst>
          </p:cNvPr>
          <p:cNvSpPr>
            <a:spLocks noGrp="1"/>
          </p:cNvSpPr>
          <p:nvPr>
            <p:ph type="title"/>
          </p:nvPr>
        </p:nvSpPr>
        <p:spPr>
          <a:xfrm>
            <a:off x="838200" y="365126"/>
            <a:ext cx="10515600" cy="692709"/>
          </a:xfrm>
        </p:spPr>
        <p:txBody>
          <a:bodyPr>
            <a:normAutofit fontScale="90000"/>
          </a:bodyPr>
          <a:lstStyle/>
          <a:p>
            <a:pPr algn="ctr"/>
            <a:r>
              <a:rPr lang="en-US" dirty="0">
                <a:solidFill>
                  <a:srgbClr val="C00000"/>
                </a:solidFill>
                <a:latin typeface="Arial" panose="020B0604020202020204" pitchFamily="34" charset="0"/>
                <a:cs typeface="Arial" panose="020B0604020202020204" pitchFamily="34" charset="0"/>
              </a:rPr>
              <a:t>Latency -</a:t>
            </a:r>
            <a:r>
              <a:rPr lang="en-US" dirty="0"/>
              <a:t>  </a:t>
            </a:r>
            <a:r>
              <a:rPr lang="en-US" dirty="0">
                <a:solidFill>
                  <a:srgbClr val="C00000"/>
                </a:solidFill>
                <a:latin typeface="Arial" panose="020B0604020202020204" pitchFamily="34" charset="0"/>
                <a:cs typeface="Arial" panose="020B0604020202020204" pitchFamily="34" charset="0"/>
              </a:rPr>
              <a:t>3.</a:t>
            </a:r>
            <a:r>
              <a:rPr lang="en-US" dirty="0"/>
              <a:t> </a:t>
            </a:r>
            <a:r>
              <a:rPr lang="en-US" dirty="0">
                <a:solidFill>
                  <a:srgbClr val="C00000"/>
                </a:solidFill>
                <a:latin typeface="Arial" panose="020B0604020202020204" pitchFamily="34" charset="0"/>
                <a:cs typeface="Arial" panose="020B0604020202020204" pitchFamily="34" charset="0"/>
              </a:rPr>
              <a:t>Queuing Time </a:t>
            </a:r>
          </a:p>
        </p:txBody>
      </p:sp>
      <p:sp>
        <p:nvSpPr>
          <p:cNvPr id="3" name="Content Placeholder 2">
            <a:extLst>
              <a:ext uri="{FF2B5EF4-FFF2-40B4-BE49-F238E27FC236}">
                <a16:creationId xmlns:a16="http://schemas.microsoft.com/office/drawing/2014/main" id="{D3BDA243-98CA-462B-A58C-25397E92820C}"/>
              </a:ext>
            </a:extLst>
          </p:cNvPr>
          <p:cNvSpPr>
            <a:spLocks noGrp="1"/>
          </p:cNvSpPr>
          <p:nvPr>
            <p:ph idx="1"/>
          </p:nvPr>
        </p:nvSpPr>
        <p:spPr>
          <a:xfrm>
            <a:off x="838200" y="1156447"/>
            <a:ext cx="10515600" cy="5020516"/>
          </a:xfrm>
        </p:spPr>
        <p:txBody>
          <a:bodyPr/>
          <a:lstStyle/>
          <a:p>
            <a:pPr marL="0" indent="0" algn="just">
              <a:buNone/>
            </a:pPr>
            <a:r>
              <a:rPr lang="en-US" dirty="0">
                <a:solidFill>
                  <a:srgbClr val="C00000"/>
                </a:solidFill>
                <a:latin typeface="Arial" panose="020B0604020202020204" pitchFamily="34" charset="0"/>
                <a:cs typeface="Arial" panose="020B0604020202020204" pitchFamily="34" charset="0"/>
              </a:rPr>
              <a:t>Queuing time is  the time needed for each intermediate or end device to hold the message before it can be processed.</a:t>
            </a:r>
          </a:p>
          <a:p>
            <a:pPr marL="0" indent="0" algn="just">
              <a:buNone/>
            </a:pPr>
            <a:r>
              <a:rPr lang="en-US" dirty="0">
                <a:latin typeface="Arial" panose="020B0604020202020204" pitchFamily="34" charset="0"/>
                <a:cs typeface="Arial" panose="020B0604020202020204" pitchFamily="34" charset="0"/>
              </a:rPr>
              <a:t>The queuing time is not a </a:t>
            </a:r>
            <a:r>
              <a:rPr lang="en-US" dirty="0">
                <a:solidFill>
                  <a:srgbClr val="C00000"/>
                </a:solidFill>
                <a:latin typeface="Arial" panose="020B0604020202020204" pitchFamily="34" charset="0"/>
                <a:cs typeface="Arial" panose="020B0604020202020204" pitchFamily="34" charset="0"/>
              </a:rPr>
              <a:t>fixed factor</a:t>
            </a:r>
            <a:r>
              <a:rPr lang="en-US" dirty="0">
                <a:latin typeface="Arial" panose="020B0604020202020204" pitchFamily="34" charset="0"/>
                <a:cs typeface="Arial" panose="020B0604020202020204" pitchFamily="34" charset="0"/>
              </a:rPr>
              <a:t>; it changes with the </a:t>
            </a:r>
            <a:r>
              <a:rPr lang="en-US" dirty="0">
                <a:solidFill>
                  <a:srgbClr val="C00000"/>
                </a:solidFill>
                <a:latin typeface="Arial" panose="020B0604020202020204" pitchFamily="34" charset="0"/>
                <a:cs typeface="Arial" panose="020B0604020202020204" pitchFamily="34" charset="0"/>
              </a:rPr>
              <a:t>load imposed on the network. </a:t>
            </a:r>
          </a:p>
          <a:p>
            <a:pPr marL="0" indent="0" algn="just">
              <a:buNone/>
            </a:pPr>
            <a:r>
              <a:rPr lang="en-US" dirty="0">
                <a:latin typeface="Arial" panose="020B0604020202020204" pitchFamily="34" charset="0"/>
                <a:cs typeface="Arial" panose="020B0604020202020204" pitchFamily="34" charset="0"/>
              </a:rPr>
              <a:t>When there is </a:t>
            </a:r>
            <a:r>
              <a:rPr lang="en-US" dirty="0">
                <a:solidFill>
                  <a:srgbClr val="C00000"/>
                </a:solidFill>
                <a:latin typeface="Arial" panose="020B0604020202020204" pitchFamily="34" charset="0"/>
                <a:cs typeface="Arial" panose="020B0604020202020204" pitchFamily="34" charset="0"/>
              </a:rPr>
              <a:t>heavy traffic </a:t>
            </a:r>
            <a:r>
              <a:rPr lang="en-US" dirty="0">
                <a:latin typeface="Arial" panose="020B0604020202020204" pitchFamily="34" charset="0"/>
                <a:cs typeface="Arial" panose="020B0604020202020204" pitchFamily="34" charset="0"/>
              </a:rPr>
              <a:t>on the network, the queuing time </a:t>
            </a:r>
            <a:r>
              <a:rPr lang="en-US" dirty="0">
                <a:solidFill>
                  <a:srgbClr val="C00000"/>
                </a:solidFill>
                <a:latin typeface="Arial" panose="020B0604020202020204" pitchFamily="34" charset="0"/>
                <a:cs typeface="Arial" panose="020B0604020202020204" pitchFamily="34" charset="0"/>
              </a:rPr>
              <a:t>increases. </a:t>
            </a:r>
          </a:p>
          <a:p>
            <a:pPr marL="0" indent="0" algn="just">
              <a:buNone/>
            </a:pPr>
            <a:r>
              <a:rPr lang="en-US" dirty="0">
                <a:latin typeface="Arial" panose="020B0604020202020204" pitchFamily="34" charset="0"/>
                <a:cs typeface="Arial" panose="020B0604020202020204" pitchFamily="34" charset="0"/>
              </a:rPr>
              <a:t>An </a:t>
            </a:r>
            <a:r>
              <a:rPr lang="en-US" dirty="0" err="1">
                <a:latin typeface="Arial" panose="020B0604020202020204" pitchFamily="34" charset="0"/>
                <a:cs typeface="Arial" panose="020B0604020202020204" pitchFamily="34" charset="0"/>
              </a:rPr>
              <a:t>intermediatse</a:t>
            </a:r>
            <a:r>
              <a:rPr lang="en-US" dirty="0">
                <a:latin typeface="Arial" panose="020B0604020202020204" pitchFamily="34" charset="0"/>
                <a:cs typeface="Arial" panose="020B0604020202020204" pitchFamily="34" charset="0"/>
              </a:rPr>
              <a:t> device, such as a router, queues the arrived messages and processes them one by one. If there are many messages, each message will have to wait</a:t>
            </a:r>
          </a:p>
        </p:txBody>
      </p:sp>
    </p:spTree>
    <p:extLst>
      <p:ext uri="{BB962C8B-B14F-4D97-AF65-F5344CB8AC3E}">
        <p14:creationId xmlns:p14="http://schemas.microsoft.com/office/powerpoint/2010/main" val="2249992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E9650-2817-45E3-9FDD-004424D36E05}"/>
              </a:ext>
            </a:extLst>
          </p:cNvPr>
          <p:cNvSpPr>
            <a:spLocks noGrp="1"/>
          </p:cNvSpPr>
          <p:nvPr>
            <p:ph type="title"/>
          </p:nvPr>
        </p:nvSpPr>
        <p:spPr>
          <a:xfrm>
            <a:off x="838200" y="365126"/>
            <a:ext cx="10515600" cy="692709"/>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Latency -</a:t>
            </a:r>
            <a:r>
              <a:rPr lang="en-US" dirty="0"/>
              <a:t>  </a:t>
            </a:r>
            <a:r>
              <a:rPr lang="en-US" dirty="0">
                <a:solidFill>
                  <a:srgbClr val="C00000"/>
                </a:solidFill>
                <a:latin typeface="Arial" panose="020B0604020202020204" pitchFamily="34" charset="0"/>
                <a:cs typeface="Arial" panose="020B0604020202020204" pitchFamily="34" charset="0"/>
              </a:rPr>
              <a:t>4.</a:t>
            </a:r>
            <a:r>
              <a:rPr lang="en-US" dirty="0"/>
              <a:t> </a:t>
            </a:r>
            <a:r>
              <a:rPr lang="en-US" dirty="0">
                <a:solidFill>
                  <a:srgbClr val="C00000"/>
                </a:solidFill>
                <a:latin typeface="Arial" panose="020B0604020202020204" pitchFamily="34" charset="0"/>
                <a:cs typeface="Arial" panose="020B0604020202020204" pitchFamily="34" charset="0"/>
              </a:rPr>
              <a:t>Bandwidth-Delay Product</a:t>
            </a:r>
            <a:br>
              <a:rPr lang="en-US" dirty="0">
                <a:solidFill>
                  <a:srgbClr val="C00000"/>
                </a:solidFill>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3BDA243-98CA-462B-A58C-25397E92820C}"/>
              </a:ext>
            </a:extLst>
          </p:cNvPr>
          <p:cNvSpPr>
            <a:spLocks noGrp="1"/>
          </p:cNvSpPr>
          <p:nvPr>
            <p:ph idx="1"/>
          </p:nvPr>
        </p:nvSpPr>
        <p:spPr>
          <a:xfrm>
            <a:off x="838200" y="1156447"/>
            <a:ext cx="10515600" cy="5020516"/>
          </a:xfrm>
        </p:spPr>
        <p:txBody>
          <a:bodyPr/>
          <a:lstStyle/>
          <a:p>
            <a:pPr marL="0" indent="0" algn="just">
              <a:buNone/>
            </a:pPr>
            <a:r>
              <a:rPr lang="en-US" dirty="0">
                <a:solidFill>
                  <a:srgbClr val="C00000"/>
                </a:solidFill>
                <a:latin typeface="Arial" panose="020B0604020202020204" pitchFamily="34" charset="0"/>
                <a:cs typeface="Arial" panose="020B0604020202020204" pitchFamily="34" charset="0"/>
              </a:rPr>
              <a:t>Bandwidth and delay are two performance metrics of a link</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1BC9D87-B22C-4FF4-B038-3F95E5D797E2}"/>
              </a:ext>
            </a:extLst>
          </p:cNvPr>
          <p:cNvPicPr>
            <a:picLocks noChangeAspect="1"/>
          </p:cNvPicPr>
          <p:nvPr/>
        </p:nvPicPr>
        <p:blipFill>
          <a:blip r:embed="rId2"/>
          <a:stretch>
            <a:fillRect/>
          </a:stretch>
        </p:blipFill>
        <p:spPr>
          <a:xfrm>
            <a:off x="1366838" y="1816512"/>
            <a:ext cx="8628810" cy="4603617"/>
          </a:xfrm>
          <a:prstGeom prst="rect">
            <a:avLst/>
          </a:prstGeom>
        </p:spPr>
      </p:pic>
    </p:spTree>
    <p:extLst>
      <p:ext uri="{BB962C8B-B14F-4D97-AF65-F5344CB8AC3E}">
        <p14:creationId xmlns:p14="http://schemas.microsoft.com/office/powerpoint/2010/main" val="327081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E9650-2817-45E3-9FDD-004424D36E05}"/>
              </a:ext>
            </a:extLst>
          </p:cNvPr>
          <p:cNvSpPr>
            <a:spLocks noGrp="1"/>
          </p:cNvSpPr>
          <p:nvPr>
            <p:ph type="title"/>
          </p:nvPr>
        </p:nvSpPr>
        <p:spPr>
          <a:xfrm>
            <a:off x="838200" y="365126"/>
            <a:ext cx="10515600" cy="692709"/>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Latency -</a:t>
            </a:r>
            <a:r>
              <a:rPr lang="en-US" dirty="0"/>
              <a:t>  </a:t>
            </a:r>
            <a:r>
              <a:rPr lang="en-US" dirty="0">
                <a:solidFill>
                  <a:srgbClr val="C00000"/>
                </a:solidFill>
                <a:latin typeface="Arial" panose="020B0604020202020204" pitchFamily="34" charset="0"/>
                <a:cs typeface="Arial" panose="020B0604020202020204" pitchFamily="34" charset="0"/>
              </a:rPr>
              <a:t>4.</a:t>
            </a:r>
            <a:r>
              <a:rPr lang="en-US" dirty="0"/>
              <a:t> </a:t>
            </a:r>
            <a:r>
              <a:rPr lang="en-US" dirty="0">
                <a:solidFill>
                  <a:srgbClr val="C00000"/>
                </a:solidFill>
                <a:latin typeface="Arial" panose="020B0604020202020204" pitchFamily="34" charset="0"/>
                <a:cs typeface="Arial" panose="020B0604020202020204" pitchFamily="34" charset="0"/>
              </a:rPr>
              <a:t>Bandwidth-Delay Product</a:t>
            </a:r>
            <a:br>
              <a:rPr lang="en-US" dirty="0">
                <a:solidFill>
                  <a:srgbClr val="C00000"/>
                </a:solidFill>
                <a:latin typeface="Arial" panose="020B0604020202020204" pitchFamily="34" charset="0"/>
                <a:cs typeface="Arial" panose="020B0604020202020204" pitchFamily="34" charset="0"/>
              </a:rPr>
            </a:b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3BDA243-98CA-462B-A58C-25397E92820C}"/>
              </a:ext>
            </a:extLst>
          </p:cNvPr>
          <p:cNvSpPr>
            <a:spLocks noGrp="1"/>
          </p:cNvSpPr>
          <p:nvPr>
            <p:ph idx="1"/>
          </p:nvPr>
        </p:nvSpPr>
        <p:spPr>
          <a:xfrm>
            <a:off x="838200" y="1156447"/>
            <a:ext cx="10515600" cy="5020516"/>
          </a:xfrm>
        </p:spPr>
        <p:txBody>
          <a:bodyPr/>
          <a:lstStyle/>
          <a:p>
            <a:pPr marL="0" indent="0" algn="just">
              <a:buNone/>
            </a:pPr>
            <a:r>
              <a:rPr lang="en-US" dirty="0">
                <a:solidFill>
                  <a:srgbClr val="C00000"/>
                </a:solidFill>
                <a:latin typeface="Arial" panose="020B0604020202020204" pitchFamily="34" charset="0"/>
                <a:cs typeface="Arial" panose="020B0604020202020204" pitchFamily="34" charset="0"/>
              </a:rPr>
              <a:t>Bandwidth and delay are two performance metrics of a link</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1BC9D87-B22C-4FF4-B038-3F95E5D797E2}"/>
              </a:ext>
            </a:extLst>
          </p:cNvPr>
          <p:cNvPicPr>
            <a:picLocks noChangeAspect="1"/>
          </p:cNvPicPr>
          <p:nvPr/>
        </p:nvPicPr>
        <p:blipFill>
          <a:blip r:embed="rId2"/>
          <a:stretch>
            <a:fillRect/>
          </a:stretch>
        </p:blipFill>
        <p:spPr>
          <a:xfrm>
            <a:off x="2619612" y="2696414"/>
            <a:ext cx="5887894" cy="3141292"/>
          </a:xfrm>
          <a:prstGeom prst="rect">
            <a:avLst/>
          </a:prstGeom>
        </p:spPr>
      </p:pic>
      <p:pic>
        <p:nvPicPr>
          <p:cNvPr id="1026" name="Picture 2">
            <a:extLst>
              <a:ext uri="{FF2B5EF4-FFF2-40B4-BE49-F238E27FC236}">
                <a16:creationId xmlns:a16="http://schemas.microsoft.com/office/drawing/2014/main" id="{AF352413-532A-4BA3-A025-7FBBA577C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4012" y="1550894"/>
            <a:ext cx="8825752" cy="4941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368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268CAA-D732-4E4B-BC9A-9349935B7D19}"/>
              </a:ext>
            </a:extLst>
          </p:cNvPr>
          <p:cNvPicPr>
            <a:picLocks noChangeAspect="1"/>
          </p:cNvPicPr>
          <p:nvPr/>
        </p:nvPicPr>
        <p:blipFill>
          <a:blip r:embed="rId2"/>
          <a:stretch>
            <a:fillRect/>
          </a:stretch>
        </p:blipFill>
        <p:spPr>
          <a:xfrm>
            <a:off x="1891553" y="767580"/>
            <a:ext cx="8063654" cy="5104302"/>
          </a:xfrm>
          <a:prstGeom prst="rect">
            <a:avLst/>
          </a:prstGeom>
        </p:spPr>
      </p:pic>
    </p:spTree>
    <p:extLst>
      <p:ext uri="{BB962C8B-B14F-4D97-AF65-F5344CB8AC3E}">
        <p14:creationId xmlns:p14="http://schemas.microsoft.com/office/powerpoint/2010/main" val="2533123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8A0A-3BD8-4F2D-B210-712A470DA6FC}"/>
              </a:ext>
            </a:extLst>
          </p:cNvPr>
          <p:cNvSpPr>
            <a:spLocks noGrp="1"/>
          </p:cNvSpPr>
          <p:nvPr>
            <p:ph type="title"/>
          </p:nvPr>
        </p:nvSpPr>
        <p:spPr>
          <a:xfrm>
            <a:off x="838200" y="365126"/>
            <a:ext cx="10515600" cy="737534"/>
          </a:xfrm>
        </p:spPr>
        <p:txBody>
          <a:bodyPr/>
          <a:lstStyle/>
          <a:p>
            <a:pPr algn="ctr"/>
            <a:r>
              <a:rPr lang="en-US" dirty="0">
                <a:solidFill>
                  <a:srgbClr val="C00000"/>
                </a:solidFill>
                <a:latin typeface="Arial" panose="020B0604020202020204" pitchFamily="34" charset="0"/>
                <a:cs typeface="Arial" panose="020B0604020202020204" pitchFamily="34" charset="0"/>
              </a:rPr>
              <a:t>Jitter</a:t>
            </a:r>
          </a:p>
        </p:txBody>
      </p:sp>
      <p:sp>
        <p:nvSpPr>
          <p:cNvPr id="3" name="Content Placeholder 2">
            <a:extLst>
              <a:ext uri="{FF2B5EF4-FFF2-40B4-BE49-F238E27FC236}">
                <a16:creationId xmlns:a16="http://schemas.microsoft.com/office/drawing/2014/main" id="{01BB72E8-2026-40E3-9358-ABFE1961258C}"/>
              </a:ext>
            </a:extLst>
          </p:cNvPr>
          <p:cNvSpPr>
            <a:spLocks noGrp="1"/>
          </p:cNvSpPr>
          <p:nvPr>
            <p:ph idx="1"/>
          </p:nvPr>
        </p:nvSpPr>
        <p:spPr>
          <a:xfrm>
            <a:off x="838200" y="1174376"/>
            <a:ext cx="10515600" cy="5002587"/>
          </a:xfrm>
        </p:spPr>
        <p:txBody>
          <a:bodyPr/>
          <a:lstStyle/>
          <a:p>
            <a:pPr algn="just"/>
            <a:r>
              <a:rPr lang="en-US" dirty="0">
                <a:latin typeface="Arial" panose="020B0604020202020204" pitchFamily="34" charset="0"/>
                <a:cs typeface="Arial" panose="020B0604020202020204" pitchFamily="34" charset="0"/>
              </a:rPr>
              <a:t>Another performance issue that is related to delay is jitter. </a:t>
            </a:r>
          </a:p>
          <a:p>
            <a:pPr algn="just"/>
            <a:r>
              <a:rPr lang="en-US" dirty="0">
                <a:latin typeface="Arial" panose="020B0604020202020204" pitchFamily="34" charset="0"/>
                <a:cs typeface="Arial" panose="020B0604020202020204" pitchFamily="34" charset="0"/>
              </a:rPr>
              <a:t>jitter is a problem if different packets of data encounter different delays and the application using the data at the receiver site is time-sensitive (audio and video data, for example).</a:t>
            </a:r>
          </a:p>
          <a:p>
            <a:pPr algn="just"/>
            <a:r>
              <a:rPr lang="en-US" dirty="0">
                <a:latin typeface="Arial" panose="020B0604020202020204" pitchFamily="34" charset="0"/>
                <a:cs typeface="Arial" panose="020B0604020202020204" pitchFamily="34" charset="0"/>
              </a:rPr>
              <a:t> If the delay for the first packet is 20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for the second is 45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and for the third is 40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then the real-time application that uses the packets endures jitter</a:t>
            </a:r>
          </a:p>
        </p:txBody>
      </p:sp>
    </p:spTree>
    <p:extLst>
      <p:ext uri="{BB962C8B-B14F-4D97-AF65-F5344CB8AC3E}">
        <p14:creationId xmlns:p14="http://schemas.microsoft.com/office/powerpoint/2010/main" val="1999645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072DE4-C544-411C-B5F1-62AAD3EA0578}"/>
              </a:ext>
            </a:extLst>
          </p:cNvPr>
          <p:cNvPicPr>
            <a:picLocks noChangeAspect="1"/>
          </p:cNvPicPr>
          <p:nvPr/>
        </p:nvPicPr>
        <p:blipFill>
          <a:blip r:embed="rId2"/>
          <a:stretch>
            <a:fillRect/>
          </a:stretch>
        </p:blipFill>
        <p:spPr>
          <a:xfrm>
            <a:off x="2064912" y="1866089"/>
            <a:ext cx="8062175" cy="3125821"/>
          </a:xfrm>
          <a:prstGeom prst="rect">
            <a:avLst/>
          </a:prstGeom>
        </p:spPr>
      </p:pic>
      <p:sp>
        <p:nvSpPr>
          <p:cNvPr id="2" name="Title 1">
            <a:extLst>
              <a:ext uri="{FF2B5EF4-FFF2-40B4-BE49-F238E27FC236}">
                <a16:creationId xmlns:a16="http://schemas.microsoft.com/office/drawing/2014/main" id="{1427A91D-8BBA-4625-A892-50DE0CB0E82E}"/>
              </a:ext>
            </a:extLst>
          </p:cNvPr>
          <p:cNvSpPr>
            <a:spLocks noGrp="1"/>
          </p:cNvSpPr>
          <p:nvPr>
            <p:ph type="title"/>
          </p:nvPr>
        </p:nvSpPr>
        <p:spPr>
          <a:xfrm>
            <a:off x="838200" y="365125"/>
            <a:ext cx="10515600" cy="854075"/>
          </a:xfrm>
        </p:spPr>
        <p:txBody>
          <a:bodyPr/>
          <a:lstStyle/>
          <a:p>
            <a:pPr algn="ctr"/>
            <a:r>
              <a:rPr lang="en-US" dirty="0">
                <a:solidFill>
                  <a:srgbClr val="C00000"/>
                </a:solidFill>
                <a:latin typeface="Arial" panose="020B0604020202020204" pitchFamily="34" charset="0"/>
                <a:cs typeface="Arial" panose="020B0604020202020204" pitchFamily="34" charset="0"/>
              </a:rPr>
              <a:t>Formulas to remember</a:t>
            </a:r>
          </a:p>
        </p:txBody>
      </p:sp>
    </p:spTree>
    <p:extLst>
      <p:ext uri="{BB962C8B-B14F-4D97-AF65-F5344CB8AC3E}">
        <p14:creationId xmlns:p14="http://schemas.microsoft.com/office/powerpoint/2010/main" val="1617052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309BE5-DFEC-4F53-85FB-53C7A1E9B081}"/>
              </a:ext>
            </a:extLst>
          </p:cNvPr>
          <p:cNvPicPr>
            <a:picLocks noChangeAspect="1"/>
          </p:cNvPicPr>
          <p:nvPr/>
        </p:nvPicPr>
        <p:blipFill>
          <a:blip r:embed="rId2"/>
          <a:stretch>
            <a:fillRect/>
          </a:stretch>
        </p:blipFill>
        <p:spPr>
          <a:xfrm>
            <a:off x="1090600" y="1443318"/>
            <a:ext cx="9562563" cy="4252608"/>
          </a:xfrm>
          <a:prstGeom prst="rect">
            <a:avLst/>
          </a:prstGeom>
        </p:spPr>
      </p:pic>
      <p:sp>
        <p:nvSpPr>
          <p:cNvPr id="2" name="Title 1">
            <a:extLst>
              <a:ext uri="{FF2B5EF4-FFF2-40B4-BE49-F238E27FC236}">
                <a16:creationId xmlns:a16="http://schemas.microsoft.com/office/drawing/2014/main" id="{70875A1F-BE2E-449F-A98C-DD8274BD7303}"/>
              </a:ext>
            </a:extLst>
          </p:cNvPr>
          <p:cNvSpPr>
            <a:spLocks noGrp="1"/>
          </p:cNvSpPr>
          <p:nvPr>
            <p:ph type="title"/>
          </p:nvPr>
        </p:nvSpPr>
        <p:spPr>
          <a:xfrm>
            <a:off x="838200" y="365125"/>
            <a:ext cx="10515600" cy="796949"/>
          </a:xfrm>
        </p:spPr>
        <p:txBody>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9222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9D09D8-E5ED-4EA1-8EDA-67DC66618B11}"/>
              </a:ext>
            </a:extLst>
          </p:cNvPr>
          <p:cNvPicPr>
            <a:picLocks noChangeAspect="1"/>
          </p:cNvPicPr>
          <p:nvPr/>
        </p:nvPicPr>
        <p:blipFill>
          <a:blip r:embed="rId2"/>
          <a:stretch>
            <a:fillRect/>
          </a:stretch>
        </p:blipFill>
        <p:spPr>
          <a:xfrm>
            <a:off x="1317938" y="870625"/>
            <a:ext cx="9556124" cy="5116749"/>
          </a:xfrm>
          <a:prstGeom prst="rect">
            <a:avLst/>
          </a:prstGeom>
        </p:spPr>
      </p:pic>
    </p:spTree>
    <p:extLst>
      <p:ext uri="{BB962C8B-B14F-4D97-AF65-F5344CB8AC3E}">
        <p14:creationId xmlns:p14="http://schemas.microsoft.com/office/powerpoint/2010/main" val="1603826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504DD5-C1FD-4703-BE44-33D7DD87168A}"/>
              </a:ext>
            </a:extLst>
          </p:cNvPr>
          <p:cNvPicPr>
            <a:picLocks noChangeAspect="1"/>
          </p:cNvPicPr>
          <p:nvPr/>
        </p:nvPicPr>
        <p:blipFill>
          <a:blip r:embed="rId2"/>
          <a:stretch>
            <a:fillRect/>
          </a:stretch>
        </p:blipFill>
        <p:spPr>
          <a:xfrm>
            <a:off x="114300" y="2171140"/>
            <a:ext cx="11963400" cy="3448050"/>
          </a:xfrm>
          <a:prstGeom prst="rect">
            <a:avLst/>
          </a:prstGeom>
        </p:spPr>
      </p:pic>
      <p:sp>
        <p:nvSpPr>
          <p:cNvPr id="2" name="Title 1">
            <a:extLst>
              <a:ext uri="{FF2B5EF4-FFF2-40B4-BE49-F238E27FC236}">
                <a16:creationId xmlns:a16="http://schemas.microsoft.com/office/drawing/2014/main" id="{A0463B53-4916-497D-B4C1-E99641373668}"/>
              </a:ext>
            </a:extLst>
          </p:cNvPr>
          <p:cNvSpPr>
            <a:spLocks noGrp="1"/>
          </p:cNvSpPr>
          <p:nvPr>
            <p:ph type="title"/>
          </p:nvPr>
        </p:nvSpPr>
        <p:spPr>
          <a:xfrm>
            <a:off x="233082" y="365125"/>
            <a:ext cx="11120718" cy="873685"/>
          </a:xfrm>
        </p:spPr>
        <p:txBody>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Tree>
    <p:extLst>
      <p:ext uri="{BB962C8B-B14F-4D97-AF65-F5344CB8AC3E}">
        <p14:creationId xmlns:p14="http://schemas.microsoft.com/office/powerpoint/2010/main" val="2802097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A6198A-78D9-405B-A5D8-1C7E519EF2E6}"/>
              </a:ext>
            </a:extLst>
          </p:cNvPr>
          <p:cNvPicPr>
            <a:picLocks noChangeAspect="1"/>
          </p:cNvPicPr>
          <p:nvPr/>
        </p:nvPicPr>
        <p:blipFill>
          <a:blip r:embed="rId2"/>
          <a:stretch>
            <a:fillRect/>
          </a:stretch>
        </p:blipFill>
        <p:spPr>
          <a:xfrm>
            <a:off x="657896" y="792804"/>
            <a:ext cx="10876208" cy="5272391"/>
          </a:xfrm>
          <a:prstGeom prst="rect">
            <a:avLst/>
          </a:prstGeom>
        </p:spPr>
      </p:pic>
    </p:spTree>
    <p:extLst>
      <p:ext uri="{BB962C8B-B14F-4D97-AF65-F5344CB8AC3E}">
        <p14:creationId xmlns:p14="http://schemas.microsoft.com/office/powerpoint/2010/main" val="1925304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5DC418-0C5F-4D28-9FBE-EB2D92B6635B}"/>
              </a:ext>
            </a:extLst>
          </p:cNvPr>
          <p:cNvPicPr>
            <a:picLocks noChangeAspect="1"/>
          </p:cNvPicPr>
          <p:nvPr/>
        </p:nvPicPr>
        <p:blipFill rotWithShape="1">
          <a:blip r:embed="rId2"/>
          <a:srcRect b="72600"/>
          <a:stretch/>
        </p:blipFill>
        <p:spPr>
          <a:xfrm>
            <a:off x="692193" y="2171513"/>
            <a:ext cx="11172469" cy="2050864"/>
          </a:xfrm>
          <a:prstGeom prst="rect">
            <a:avLst/>
          </a:prstGeom>
        </p:spPr>
      </p:pic>
      <p:sp>
        <p:nvSpPr>
          <p:cNvPr id="2" name="Title 1">
            <a:extLst>
              <a:ext uri="{FF2B5EF4-FFF2-40B4-BE49-F238E27FC236}">
                <a16:creationId xmlns:a16="http://schemas.microsoft.com/office/drawing/2014/main" id="{35D424AD-D92D-4878-86E0-6251DAFC2E91}"/>
              </a:ext>
            </a:extLst>
          </p:cNvPr>
          <p:cNvSpPr>
            <a:spLocks noGrp="1"/>
          </p:cNvSpPr>
          <p:nvPr>
            <p:ph type="title"/>
          </p:nvPr>
        </p:nvSpPr>
        <p:spPr>
          <a:xfrm>
            <a:off x="838200" y="365126"/>
            <a:ext cx="10515600" cy="692710"/>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Tree>
    <p:extLst>
      <p:ext uri="{BB962C8B-B14F-4D97-AF65-F5344CB8AC3E}">
        <p14:creationId xmlns:p14="http://schemas.microsoft.com/office/powerpoint/2010/main" val="2805450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5DC418-0C5F-4D28-9FBE-EB2D92B6635B}"/>
              </a:ext>
            </a:extLst>
          </p:cNvPr>
          <p:cNvPicPr>
            <a:picLocks noChangeAspect="1"/>
          </p:cNvPicPr>
          <p:nvPr/>
        </p:nvPicPr>
        <p:blipFill>
          <a:blip r:embed="rId2"/>
          <a:stretch>
            <a:fillRect/>
          </a:stretch>
        </p:blipFill>
        <p:spPr>
          <a:xfrm>
            <a:off x="665299" y="1120588"/>
            <a:ext cx="11172469" cy="5136777"/>
          </a:xfrm>
          <a:prstGeom prst="rect">
            <a:avLst/>
          </a:prstGeom>
        </p:spPr>
      </p:pic>
      <p:sp>
        <p:nvSpPr>
          <p:cNvPr id="2" name="Title 1">
            <a:extLst>
              <a:ext uri="{FF2B5EF4-FFF2-40B4-BE49-F238E27FC236}">
                <a16:creationId xmlns:a16="http://schemas.microsoft.com/office/drawing/2014/main" id="{35D424AD-D92D-4878-86E0-6251DAFC2E91}"/>
              </a:ext>
            </a:extLst>
          </p:cNvPr>
          <p:cNvSpPr>
            <a:spLocks noGrp="1"/>
          </p:cNvSpPr>
          <p:nvPr>
            <p:ph type="title"/>
          </p:nvPr>
        </p:nvSpPr>
        <p:spPr>
          <a:xfrm>
            <a:off x="838200" y="365126"/>
            <a:ext cx="10515600" cy="692710"/>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Tree>
    <p:extLst>
      <p:ext uri="{BB962C8B-B14F-4D97-AF65-F5344CB8AC3E}">
        <p14:creationId xmlns:p14="http://schemas.microsoft.com/office/powerpoint/2010/main" val="515576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9C1D-4A5A-40F7-A014-762562F28BBE}"/>
              </a:ext>
            </a:extLst>
          </p:cNvPr>
          <p:cNvSpPr>
            <a:spLocks noGrp="1"/>
          </p:cNvSpPr>
          <p:nvPr>
            <p:ph type="title"/>
          </p:nvPr>
        </p:nvSpPr>
        <p:spPr>
          <a:xfrm>
            <a:off x="838200" y="365125"/>
            <a:ext cx="10515600" cy="674781"/>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69FB0ABF-7358-443E-9485-ECFE0EC5CEB7}"/>
              </a:ext>
            </a:extLst>
          </p:cNvPr>
          <p:cNvSpPr>
            <a:spLocks noGrp="1"/>
          </p:cNvSpPr>
          <p:nvPr>
            <p:ph idx="1"/>
          </p:nvPr>
        </p:nvSpPr>
        <p:spPr>
          <a:xfrm>
            <a:off x="649942" y="1150843"/>
            <a:ext cx="10515600" cy="5342031"/>
          </a:xfrm>
        </p:spPr>
        <p:txBody>
          <a:bodyPr>
            <a:normAutofit/>
          </a:bodyPr>
          <a:lstStyle/>
          <a:p>
            <a:pPr algn="just"/>
            <a:r>
              <a:rPr lang="en-US" b="0" i="0" dirty="0">
                <a:effectLst/>
                <a:latin typeface="Arial" panose="020B0604020202020204" pitchFamily="34" charset="0"/>
                <a:cs typeface="Arial" panose="020B0604020202020204" pitchFamily="34" charset="0"/>
              </a:rPr>
              <a:t>A network has a bandwidth of 10 Mbps and a round-trip delay of 50 </a:t>
            </a:r>
            <a:r>
              <a:rPr lang="en-US" b="0" i="0" dirty="0" err="1">
                <a:effectLst/>
                <a:latin typeface="Arial" panose="020B0604020202020204" pitchFamily="34" charset="0"/>
                <a:cs typeface="Arial" panose="020B0604020202020204" pitchFamily="34" charset="0"/>
              </a:rPr>
              <a:t>ms.</a:t>
            </a:r>
            <a:r>
              <a:rPr lang="en-US" b="0" i="0" dirty="0">
                <a:effectLst/>
                <a:latin typeface="Arial" panose="020B0604020202020204" pitchFamily="34" charset="0"/>
                <a:cs typeface="Arial" panose="020B0604020202020204" pitchFamily="34" charset="0"/>
              </a:rPr>
              <a:t> What is the Bandwidth Delay Product?</a:t>
            </a:r>
          </a:p>
          <a:p>
            <a:r>
              <a:rPr lang="en-US" b="0" i="0" dirty="0">
                <a:effectLst/>
                <a:latin typeface="Arial" panose="020B0604020202020204" pitchFamily="34" charset="0"/>
                <a:cs typeface="Arial" panose="020B0604020202020204" pitchFamily="34" charset="0"/>
              </a:rPr>
              <a:t>BDP = Bandwidth x Round-trip Delay</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BDP =10Mbpsx 50 </a:t>
            </a:r>
            <a:r>
              <a:rPr lang="en-US" b="0" i="0" dirty="0" err="1">
                <a:effectLst/>
                <a:latin typeface="Arial" panose="020B0604020202020204" pitchFamily="34" charset="0"/>
                <a:cs typeface="Arial" panose="020B0604020202020204" pitchFamily="34" charset="0"/>
              </a:rPr>
              <a:t>ms</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BDP = 1,250 bytes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234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9C1D-4A5A-40F7-A014-762562F28BBE}"/>
              </a:ext>
            </a:extLst>
          </p:cNvPr>
          <p:cNvSpPr>
            <a:spLocks noGrp="1"/>
          </p:cNvSpPr>
          <p:nvPr>
            <p:ph type="title"/>
          </p:nvPr>
        </p:nvSpPr>
        <p:spPr>
          <a:xfrm>
            <a:off x="838200" y="365125"/>
            <a:ext cx="10515600" cy="674781"/>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69FB0ABF-7358-443E-9485-ECFE0EC5CEB7}"/>
              </a:ext>
            </a:extLst>
          </p:cNvPr>
          <p:cNvSpPr>
            <a:spLocks noGrp="1"/>
          </p:cNvSpPr>
          <p:nvPr>
            <p:ph idx="1"/>
          </p:nvPr>
        </p:nvSpPr>
        <p:spPr>
          <a:xfrm>
            <a:off x="649942" y="1150843"/>
            <a:ext cx="10515600" cy="5342031"/>
          </a:xfrm>
        </p:spPr>
        <p:txBody>
          <a:bodyPr>
            <a:normAutofit/>
          </a:bodyPr>
          <a:lstStyle/>
          <a:p>
            <a:r>
              <a:rPr lang="en-US" b="0" i="0" dirty="0">
                <a:effectLst/>
                <a:latin typeface="Arial" panose="020B0604020202020204" pitchFamily="34" charset="0"/>
                <a:cs typeface="Arial" panose="020B0604020202020204" pitchFamily="34" charset="0"/>
              </a:rPr>
              <a:t>A network has a bandwidth of 100 Mbps and a round-trip delay of 10 </a:t>
            </a:r>
            <a:r>
              <a:rPr lang="en-US" b="0" i="0" dirty="0" err="1">
                <a:effectLst/>
                <a:latin typeface="Arial" panose="020B0604020202020204" pitchFamily="34" charset="0"/>
                <a:cs typeface="Arial" panose="020B0604020202020204" pitchFamily="34" charset="0"/>
              </a:rPr>
              <a:t>ms.</a:t>
            </a:r>
            <a:r>
              <a:rPr lang="en-US" b="0" i="0" dirty="0">
                <a:effectLst/>
                <a:latin typeface="Arial" panose="020B0604020202020204" pitchFamily="34" charset="0"/>
                <a:cs typeface="Arial" panose="020B0604020202020204" pitchFamily="34" charset="0"/>
              </a:rPr>
              <a:t> What is the Bandwidth Delay Product?</a:t>
            </a:r>
          </a:p>
          <a:p>
            <a:r>
              <a:rPr lang="en-US" b="0" i="0" dirty="0">
                <a:effectLst/>
                <a:latin typeface="Arial" panose="020B0604020202020204" pitchFamily="34" charset="0"/>
                <a:cs typeface="Arial" panose="020B0604020202020204" pitchFamily="34" charset="0"/>
              </a:rPr>
              <a:t>BDP = Bandwidth x Round-trip Delay</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BDP = 100 Mbps x 10 </a:t>
            </a:r>
            <a:r>
              <a:rPr lang="en-US" b="0" i="0" dirty="0" err="1">
                <a:effectLst/>
                <a:latin typeface="Arial" panose="020B0604020202020204" pitchFamily="34" charset="0"/>
                <a:cs typeface="Arial" panose="020B0604020202020204" pitchFamily="34" charset="0"/>
              </a:rPr>
              <a:t>ms</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BDP = 12,500 bytes</a:t>
            </a:r>
          </a:p>
          <a:p>
            <a:endParaRPr lang="en-US" dirty="0"/>
          </a:p>
        </p:txBody>
      </p:sp>
    </p:spTree>
    <p:extLst>
      <p:ext uri="{BB962C8B-B14F-4D97-AF65-F5344CB8AC3E}">
        <p14:creationId xmlns:p14="http://schemas.microsoft.com/office/powerpoint/2010/main" val="895043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E9C1D-4A5A-40F7-A014-762562F28BBE}"/>
              </a:ext>
            </a:extLst>
          </p:cNvPr>
          <p:cNvSpPr>
            <a:spLocks noGrp="1"/>
          </p:cNvSpPr>
          <p:nvPr>
            <p:ph type="title"/>
          </p:nvPr>
        </p:nvSpPr>
        <p:spPr>
          <a:xfrm>
            <a:off x="838200" y="365125"/>
            <a:ext cx="10515600" cy="674781"/>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69FB0ABF-7358-443E-9485-ECFE0EC5CEB7}"/>
              </a:ext>
            </a:extLst>
          </p:cNvPr>
          <p:cNvSpPr>
            <a:spLocks noGrp="1"/>
          </p:cNvSpPr>
          <p:nvPr>
            <p:ph idx="1"/>
          </p:nvPr>
        </p:nvSpPr>
        <p:spPr>
          <a:xfrm>
            <a:off x="649942" y="1150843"/>
            <a:ext cx="10515600" cy="5342031"/>
          </a:xfrm>
        </p:spPr>
        <p:txBody>
          <a:bodyPr>
            <a:normAutofit/>
          </a:bodyPr>
          <a:lstStyle/>
          <a:p>
            <a:r>
              <a:rPr lang="en-US" b="0" i="0" dirty="0">
                <a:effectLst/>
                <a:latin typeface="Arial" panose="020B0604020202020204" pitchFamily="34" charset="0"/>
                <a:cs typeface="Arial" panose="020B0604020202020204" pitchFamily="34" charset="0"/>
              </a:rPr>
              <a:t>A network has a bandwidth of 1 Gbps and a round-trip delay of 1 </a:t>
            </a:r>
            <a:r>
              <a:rPr lang="en-US" b="0" i="0" dirty="0" err="1">
                <a:effectLst/>
                <a:latin typeface="Arial" panose="020B0604020202020204" pitchFamily="34" charset="0"/>
                <a:cs typeface="Arial" panose="020B0604020202020204" pitchFamily="34" charset="0"/>
              </a:rPr>
              <a:t>ms.</a:t>
            </a:r>
            <a:r>
              <a:rPr lang="en-US" b="0" i="0" dirty="0">
                <a:effectLst/>
                <a:latin typeface="Arial" panose="020B0604020202020204" pitchFamily="34" charset="0"/>
                <a:cs typeface="Arial" panose="020B0604020202020204" pitchFamily="34" charset="0"/>
              </a:rPr>
              <a:t> What is the Bandwidth Delay Product?</a:t>
            </a:r>
          </a:p>
          <a:p>
            <a:r>
              <a:rPr lang="en-US" b="0" i="0" dirty="0">
                <a:effectLst/>
                <a:latin typeface="Arial" panose="020B0604020202020204" pitchFamily="34" charset="0"/>
                <a:cs typeface="Arial" panose="020B0604020202020204" pitchFamily="34" charset="0"/>
              </a:rPr>
              <a:t>BDP = Bandwidth x Round-trip Delay</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BDP = 1 Gbps x 1 </a:t>
            </a:r>
            <a:r>
              <a:rPr lang="en-US" b="0" i="0" dirty="0" err="1">
                <a:effectLst/>
                <a:latin typeface="Arial" panose="020B0604020202020204" pitchFamily="34" charset="0"/>
                <a:cs typeface="Arial" panose="020B0604020202020204" pitchFamily="34" charset="0"/>
              </a:rPr>
              <a:t>ms</a:t>
            </a:r>
            <a:br>
              <a:rPr lang="en-US" b="0" i="0" dirty="0">
                <a:effectLst/>
                <a:latin typeface="Arial" panose="020B0604020202020204" pitchFamily="34" charset="0"/>
                <a:cs typeface="Arial" panose="020B0604020202020204" pitchFamily="34" charset="0"/>
              </a:rPr>
            </a:br>
            <a:r>
              <a:rPr lang="en-US" b="0" i="0" dirty="0">
                <a:effectLst/>
                <a:latin typeface="Arial" panose="020B0604020202020204" pitchFamily="34" charset="0"/>
                <a:cs typeface="Arial" panose="020B0604020202020204" pitchFamily="34" charset="0"/>
              </a:rPr>
              <a:t>BDP = 125,000 bytes</a:t>
            </a:r>
          </a:p>
          <a:p>
            <a:pPr algn="just"/>
            <a:r>
              <a:rPr lang="en-US" b="0" i="0" dirty="0">
                <a:effectLst/>
                <a:latin typeface="Arial" panose="020B0604020202020204" pitchFamily="34" charset="0"/>
                <a:cs typeface="Arial" panose="020B0604020202020204" pitchFamily="34" charset="0"/>
              </a:rPr>
              <a:t>As we can see from these examples, the Bandwidth Delay Product is dependent on both the bandwidth and round-trip delay of the network. The higher the bandwidth and lower the delay, the larger the Bandwidth Delay Product.</a:t>
            </a:r>
          </a:p>
          <a:p>
            <a:endParaRPr lang="en-US" dirty="0"/>
          </a:p>
        </p:txBody>
      </p:sp>
    </p:spTree>
    <p:extLst>
      <p:ext uri="{BB962C8B-B14F-4D97-AF65-F5344CB8AC3E}">
        <p14:creationId xmlns:p14="http://schemas.microsoft.com/office/powerpoint/2010/main" val="909771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66FE4-F4C1-45EB-8817-0A0FDB7ED914}"/>
              </a:ext>
            </a:extLst>
          </p:cNvPr>
          <p:cNvSpPr>
            <a:spLocks noGrp="1"/>
          </p:cNvSpPr>
          <p:nvPr>
            <p:ph type="title"/>
          </p:nvPr>
        </p:nvSpPr>
        <p:spPr>
          <a:xfrm>
            <a:off x="838200" y="365126"/>
            <a:ext cx="10515600" cy="845110"/>
          </a:xfrm>
        </p:spPr>
        <p:txBody>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8B24F571-F637-43DF-9618-E7BB5C6E8E8E}"/>
              </a:ext>
            </a:extLst>
          </p:cNvPr>
          <p:cNvSpPr>
            <a:spLocks noGrp="1"/>
          </p:cNvSpPr>
          <p:nvPr>
            <p:ph idx="1"/>
          </p:nvPr>
        </p:nvSpPr>
        <p:spPr>
          <a:xfrm>
            <a:off x="838200" y="1479176"/>
            <a:ext cx="10515600" cy="4697787"/>
          </a:xfrm>
        </p:spPr>
        <p:txBody>
          <a:bodyPr/>
          <a:lstStyle/>
          <a:p>
            <a:r>
              <a:rPr lang="en-US" dirty="0">
                <a:latin typeface="Arial" panose="020B0604020202020204" pitchFamily="34" charset="0"/>
                <a:cs typeface="Arial" panose="020B0604020202020204" pitchFamily="34" charset="0"/>
              </a:rPr>
              <a:t>What is the transmission time of a packet sent by a station if the length of the packet is 1 million bytes and the bandwidth of the channel is 200 Kbps?</a:t>
            </a:r>
          </a:p>
          <a:p>
            <a:endParaRPr lang="en-US" dirty="0"/>
          </a:p>
          <a:p>
            <a:endParaRPr lang="en-US" dirty="0"/>
          </a:p>
        </p:txBody>
      </p:sp>
      <p:pic>
        <p:nvPicPr>
          <p:cNvPr id="7" name="Picture 6">
            <a:extLst>
              <a:ext uri="{FF2B5EF4-FFF2-40B4-BE49-F238E27FC236}">
                <a16:creationId xmlns:a16="http://schemas.microsoft.com/office/drawing/2014/main" id="{BFC34116-DE54-4085-B5D5-B52FB6CDBEC7}"/>
              </a:ext>
            </a:extLst>
          </p:cNvPr>
          <p:cNvPicPr>
            <a:picLocks noChangeAspect="1"/>
          </p:cNvPicPr>
          <p:nvPr/>
        </p:nvPicPr>
        <p:blipFill>
          <a:blip r:embed="rId2"/>
          <a:stretch>
            <a:fillRect/>
          </a:stretch>
        </p:blipFill>
        <p:spPr>
          <a:xfrm>
            <a:off x="2052919" y="2942462"/>
            <a:ext cx="7628964" cy="1771214"/>
          </a:xfrm>
          <a:prstGeom prst="rect">
            <a:avLst/>
          </a:prstGeom>
        </p:spPr>
      </p:pic>
    </p:spTree>
    <p:extLst>
      <p:ext uri="{BB962C8B-B14F-4D97-AF65-F5344CB8AC3E}">
        <p14:creationId xmlns:p14="http://schemas.microsoft.com/office/powerpoint/2010/main" val="3680537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977E-87CF-4396-91AC-E93BFC1961EF}"/>
              </a:ext>
            </a:extLst>
          </p:cNvPr>
          <p:cNvSpPr>
            <a:spLocks noGrp="1"/>
          </p:cNvSpPr>
          <p:nvPr>
            <p:ph type="title"/>
          </p:nvPr>
        </p:nvSpPr>
        <p:spPr>
          <a:xfrm>
            <a:off x="838200" y="365125"/>
            <a:ext cx="10515600" cy="898899"/>
          </a:xfrm>
        </p:spPr>
        <p:txBody>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54869CDA-2995-4873-AAB6-CD7A68C0A7CB}"/>
              </a:ext>
            </a:extLst>
          </p:cNvPr>
          <p:cNvSpPr>
            <a:spLocks noGrp="1"/>
          </p:cNvSpPr>
          <p:nvPr>
            <p:ph idx="1"/>
          </p:nvPr>
        </p:nvSpPr>
        <p:spPr>
          <a:xfrm>
            <a:off x="838200" y="1479176"/>
            <a:ext cx="10515600" cy="4697787"/>
          </a:xfrm>
        </p:spPr>
        <p:txBody>
          <a:bodyPr/>
          <a:lstStyle/>
          <a:p>
            <a:r>
              <a:rPr lang="en-US" dirty="0"/>
              <a:t>What is the length of a bit in a channel with a propagation speed of 2 x 10</a:t>
            </a:r>
            <a:r>
              <a:rPr lang="en-US" baseline="30000" dirty="0"/>
              <a:t>8</a:t>
            </a:r>
            <a:r>
              <a:rPr lang="en-US" dirty="0"/>
              <a:t> </a:t>
            </a:r>
            <a:r>
              <a:rPr lang="en-US" dirty="0" err="1"/>
              <a:t>mls</a:t>
            </a:r>
            <a:r>
              <a:rPr lang="en-US" dirty="0"/>
              <a:t> if the channel bandwidth is </a:t>
            </a:r>
          </a:p>
          <a:p>
            <a:r>
              <a:rPr lang="en-US" dirty="0"/>
              <a:t>a. 1 Mbps</a:t>
            </a:r>
          </a:p>
          <a:p>
            <a:r>
              <a:rPr lang="en-US" dirty="0"/>
              <a:t>b. 10 Mbps</a:t>
            </a:r>
          </a:p>
          <a:p>
            <a:r>
              <a:rPr lang="en-US" dirty="0"/>
              <a:t>c. 100 Mbps?</a:t>
            </a:r>
          </a:p>
        </p:txBody>
      </p:sp>
    </p:spTree>
    <p:extLst>
      <p:ext uri="{BB962C8B-B14F-4D97-AF65-F5344CB8AC3E}">
        <p14:creationId xmlns:p14="http://schemas.microsoft.com/office/powerpoint/2010/main" val="4040039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977E-87CF-4396-91AC-E93BFC1961EF}"/>
              </a:ext>
            </a:extLst>
          </p:cNvPr>
          <p:cNvSpPr>
            <a:spLocks noGrp="1"/>
          </p:cNvSpPr>
          <p:nvPr>
            <p:ph type="title"/>
          </p:nvPr>
        </p:nvSpPr>
        <p:spPr>
          <a:xfrm>
            <a:off x="838200" y="365126"/>
            <a:ext cx="10515600" cy="692710"/>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54869CDA-2995-4873-AAB6-CD7A68C0A7CB}"/>
              </a:ext>
            </a:extLst>
          </p:cNvPr>
          <p:cNvSpPr>
            <a:spLocks noGrp="1"/>
          </p:cNvSpPr>
          <p:nvPr>
            <p:ph idx="1"/>
          </p:nvPr>
        </p:nvSpPr>
        <p:spPr>
          <a:xfrm>
            <a:off x="838200" y="1129272"/>
            <a:ext cx="10515600" cy="5047692"/>
          </a:xfrm>
        </p:spPr>
        <p:txBody>
          <a:bodyPr/>
          <a:lstStyle/>
          <a:p>
            <a:r>
              <a:rPr lang="en-US" dirty="0"/>
              <a:t>What is the length of a bit in a channel with a propagation speed of 2 x 10</a:t>
            </a:r>
            <a:r>
              <a:rPr lang="en-US" baseline="30000" dirty="0"/>
              <a:t>8</a:t>
            </a:r>
            <a:r>
              <a:rPr lang="en-US" dirty="0"/>
              <a:t> </a:t>
            </a:r>
            <a:r>
              <a:rPr lang="en-US" dirty="0" err="1"/>
              <a:t>mls</a:t>
            </a:r>
            <a:r>
              <a:rPr lang="en-US" dirty="0"/>
              <a:t> if the channel bandwidth is </a:t>
            </a:r>
          </a:p>
          <a:p>
            <a:r>
              <a:rPr lang="en-US" dirty="0"/>
              <a:t>a. 1 Mbps</a:t>
            </a:r>
          </a:p>
          <a:p>
            <a:r>
              <a:rPr lang="en-US" dirty="0"/>
              <a:t>b. 10 Mbps</a:t>
            </a:r>
          </a:p>
          <a:p>
            <a:r>
              <a:rPr lang="en-US" dirty="0"/>
              <a:t>c. 100 Mbps?</a:t>
            </a:r>
          </a:p>
          <a:p>
            <a:endParaRPr lang="en-US" dirty="0"/>
          </a:p>
        </p:txBody>
      </p:sp>
      <p:pic>
        <p:nvPicPr>
          <p:cNvPr id="7" name="Picture 6">
            <a:extLst>
              <a:ext uri="{FF2B5EF4-FFF2-40B4-BE49-F238E27FC236}">
                <a16:creationId xmlns:a16="http://schemas.microsoft.com/office/drawing/2014/main" id="{1857943E-8BE0-4079-AE9A-938E00FEFA69}"/>
              </a:ext>
            </a:extLst>
          </p:cNvPr>
          <p:cNvPicPr>
            <a:picLocks noChangeAspect="1"/>
          </p:cNvPicPr>
          <p:nvPr/>
        </p:nvPicPr>
        <p:blipFill>
          <a:blip r:embed="rId2"/>
          <a:stretch>
            <a:fillRect/>
          </a:stretch>
        </p:blipFill>
        <p:spPr>
          <a:xfrm>
            <a:off x="3843522" y="2166503"/>
            <a:ext cx="7263748" cy="3338108"/>
          </a:xfrm>
          <a:prstGeom prst="rect">
            <a:avLst/>
          </a:prstGeom>
        </p:spPr>
      </p:pic>
    </p:spTree>
    <p:extLst>
      <p:ext uri="{BB962C8B-B14F-4D97-AF65-F5344CB8AC3E}">
        <p14:creationId xmlns:p14="http://schemas.microsoft.com/office/powerpoint/2010/main" val="3110481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4A4B-CD8B-4E99-8C10-A7DDD1CA4B95}"/>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740B8273-89A7-4DDF-9501-B379B77AC402}"/>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How many bits can fit on a link with a 2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delay if the bandwidth of the link is </a:t>
            </a:r>
          </a:p>
          <a:p>
            <a:r>
              <a:rPr lang="en-US" dirty="0">
                <a:latin typeface="Arial" panose="020B0604020202020204" pitchFamily="34" charset="0"/>
                <a:cs typeface="Arial" panose="020B0604020202020204" pitchFamily="34" charset="0"/>
              </a:rPr>
              <a:t>a. 1 Mbps</a:t>
            </a:r>
          </a:p>
          <a:p>
            <a:r>
              <a:rPr lang="en-US" dirty="0">
                <a:latin typeface="Arial" panose="020B0604020202020204" pitchFamily="34" charset="0"/>
                <a:cs typeface="Arial" panose="020B0604020202020204" pitchFamily="34" charset="0"/>
              </a:rPr>
              <a:t>b  10 Mbps</a:t>
            </a:r>
          </a:p>
          <a:p>
            <a:r>
              <a:rPr lang="en-US" dirty="0">
                <a:latin typeface="Arial" panose="020B0604020202020204" pitchFamily="34" charset="0"/>
                <a:cs typeface="Arial" panose="020B0604020202020204" pitchFamily="34" charset="0"/>
              </a:rPr>
              <a:t>c. 100 Mbps?</a:t>
            </a:r>
          </a:p>
        </p:txBody>
      </p:sp>
    </p:spTree>
    <p:extLst>
      <p:ext uri="{BB962C8B-B14F-4D97-AF65-F5344CB8AC3E}">
        <p14:creationId xmlns:p14="http://schemas.microsoft.com/office/powerpoint/2010/main" val="1576006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4A4B-CD8B-4E99-8C10-A7DDD1CA4B95}"/>
              </a:ext>
            </a:extLst>
          </p:cNvPr>
          <p:cNvSpPr>
            <a:spLocks noGrp="1"/>
          </p:cNvSpPr>
          <p:nvPr>
            <p:ph type="title"/>
          </p:nvPr>
        </p:nvSpPr>
        <p:spPr>
          <a:xfrm>
            <a:off x="838200" y="365126"/>
            <a:ext cx="10515600" cy="567206"/>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740B8273-89A7-4DDF-9501-B379B77AC402}"/>
              </a:ext>
            </a:extLst>
          </p:cNvPr>
          <p:cNvSpPr>
            <a:spLocks noGrp="1"/>
          </p:cNvSpPr>
          <p:nvPr>
            <p:ph idx="1"/>
          </p:nvPr>
        </p:nvSpPr>
        <p:spPr>
          <a:xfrm>
            <a:off x="838200" y="1120588"/>
            <a:ext cx="10515600" cy="5056375"/>
          </a:xfrm>
        </p:spPr>
        <p:txBody>
          <a:bodyPr/>
          <a:lstStyle/>
          <a:p>
            <a:r>
              <a:rPr lang="en-US" dirty="0">
                <a:latin typeface="Arial" panose="020B0604020202020204" pitchFamily="34" charset="0"/>
                <a:cs typeface="Arial" panose="020B0604020202020204" pitchFamily="34" charset="0"/>
              </a:rPr>
              <a:t>How many bits can fit on a link with a 2 </a:t>
            </a:r>
            <a:r>
              <a:rPr lang="en-US" dirty="0" err="1">
                <a:latin typeface="Arial" panose="020B0604020202020204" pitchFamily="34" charset="0"/>
                <a:cs typeface="Arial" panose="020B0604020202020204" pitchFamily="34" charset="0"/>
              </a:rPr>
              <a:t>ms</a:t>
            </a:r>
            <a:r>
              <a:rPr lang="en-US" dirty="0">
                <a:latin typeface="Arial" panose="020B0604020202020204" pitchFamily="34" charset="0"/>
                <a:cs typeface="Arial" panose="020B0604020202020204" pitchFamily="34" charset="0"/>
              </a:rPr>
              <a:t> delay if the bandwidth of the link is </a:t>
            </a:r>
          </a:p>
          <a:p>
            <a:r>
              <a:rPr lang="en-US" dirty="0">
                <a:latin typeface="Arial" panose="020B0604020202020204" pitchFamily="34" charset="0"/>
                <a:cs typeface="Arial" panose="020B0604020202020204" pitchFamily="34" charset="0"/>
              </a:rPr>
              <a:t>a. 1 Mbps</a:t>
            </a:r>
          </a:p>
          <a:p>
            <a:r>
              <a:rPr lang="en-US" dirty="0">
                <a:latin typeface="Arial" panose="020B0604020202020204" pitchFamily="34" charset="0"/>
                <a:cs typeface="Arial" panose="020B0604020202020204" pitchFamily="34" charset="0"/>
              </a:rPr>
              <a:t>b h. 10 Mbps</a:t>
            </a:r>
          </a:p>
          <a:p>
            <a:r>
              <a:rPr lang="en-US" dirty="0">
                <a:latin typeface="Arial" panose="020B0604020202020204" pitchFamily="34" charset="0"/>
                <a:cs typeface="Arial" panose="020B0604020202020204" pitchFamily="34" charset="0"/>
              </a:rPr>
              <a:t>c. 100 Mbps?</a:t>
            </a:r>
          </a:p>
        </p:txBody>
      </p:sp>
      <p:pic>
        <p:nvPicPr>
          <p:cNvPr id="5" name="Picture 4">
            <a:extLst>
              <a:ext uri="{FF2B5EF4-FFF2-40B4-BE49-F238E27FC236}">
                <a16:creationId xmlns:a16="http://schemas.microsoft.com/office/drawing/2014/main" id="{4A90CF74-A67C-4B54-A782-B07835E91D76}"/>
              </a:ext>
            </a:extLst>
          </p:cNvPr>
          <p:cNvPicPr>
            <a:picLocks noChangeAspect="1"/>
          </p:cNvPicPr>
          <p:nvPr/>
        </p:nvPicPr>
        <p:blipFill>
          <a:blip r:embed="rId2"/>
          <a:stretch>
            <a:fillRect/>
          </a:stretch>
        </p:blipFill>
        <p:spPr>
          <a:xfrm>
            <a:off x="3813081" y="2608730"/>
            <a:ext cx="7733459" cy="3307975"/>
          </a:xfrm>
          <a:prstGeom prst="rect">
            <a:avLst/>
          </a:prstGeom>
        </p:spPr>
      </p:pic>
    </p:spTree>
    <p:extLst>
      <p:ext uri="{BB962C8B-B14F-4D97-AF65-F5344CB8AC3E}">
        <p14:creationId xmlns:p14="http://schemas.microsoft.com/office/powerpoint/2010/main" val="935450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591F-B125-42F3-8D29-A06DBA70E5A6}"/>
              </a:ext>
            </a:extLst>
          </p:cNvPr>
          <p:cNvSpPr>
            <a:spLocks noGrp="1"/>
          </p:cNvSpPr>
          <p:nvPr>
            <p:ph type="title"/>
          </p:nvPr>
        </p:nvSpPr>
        <p:spPr>
          <a:xfrm>
            <a:off x="838200" y="365125"/>
            <a:ext cx="10515600" cy="746499"/>
          </a:xfrm>
        </p:spPr>
        <p:txBody>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D2FDDE7F-7216-40BD-9F93-9A42A0C00F7F}"/>
              </a:ext>
            </a:extLst>
          </p:cNvPr>
          <p:cNvSpPr>
            <a:spLocks noGrp="1"/>
          </p:cNvSpPr>
          <p:nvPr>
            <p:ph idx="1"/>
          </p:nvPr>
        </p:nvSpPr>
        <p:spPr>
          <a:xfrm>
            <a:off x="838200" y="1255059"/>
            <a:ext cx="10515600" cy="4921904"/>
          </a:xfrm>
        </p:spPr>
        <p:txBody>
          <a:bodyPr/>
          <a:lstStyle/>
          <a:p>
            <a:pPr algn="just"/>
            <a:r>
              <a:rPr lang="en-US" dirty="0">
                <a:latin typeface="Arial" panose="020B0604020202020204" pitchFamily="34" charset="0"/>
                <a:cs typeface="Arial" panose="020B0604020202020204" pitchFamily="34" charset="0"/>
              </a:rPr>
              <a:t>What is the total delay (latency) for a frame of size 5 million bits that is being sent on a link with 10 routers each having a queuing time of 2 microsecs and a processing time of 1 microsecs. The length of the link is 2000 Km. The speed of light inside the link is 2 x 10</a:t>
            </a:r>
            <a:r>
              <a:rPr lang="en-US" baseline="30000" dirty="0">
                <a:latin typeface="Arial" panose="020B0604020202020204" pitchFamily="34" charset="0"/>
                <a:cs typeface="Arial" panose="020B0604020202020204" pitchFamily="34" charset="0"/>
              </a:rPr>
              <a:t>8</a:t>
            </a:r>
            <a:r>
              <a:rPr lang="en-US" dirty="0">
                <a:latin typeface="Arial" panose="020B0604020202020204" pitchFamily="34" charset="0"/>
                <a:cs typeface="Arial" panose="020B0604020202020204" pitchFamily="34" charset="0"/>
              </a:rPr>
              <a:t> m/s. The link has a bandwidth of 5 Mbps. Which component of the total delay is dominant? Which one is negligible</a:t>
            </a:r>
          </a:p>
        </p:txBody>
      </p:sp>
    </p:spTree>
    <p:extLst>
      <p:ext uri="{BB962C8B-B14F-4D97-AF65-F5344CB8AC3E}">
        <p14:creationId xmlns:p14="http://schemas.microsoft.com/office/powerpoint/2010/main" val="1692921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591F-B125-42F3-8D29-A06DBA70E5A6}"/>
              </a:ext>
            </a:extLst>
          </p:cNvPr>
          <p:cNvSpPr>
            <a:spLocks noGrp="1"/>
          </p:cNvSpPr>
          <p:nvPr>
            <p:ph type="title"/>
          </p:nvPr>
        </p:nvSpPr>
        <p:spPr>
          <a:xfrm>
            <a:off x="838200" y="365126"/>
            <a:ext cx="10515600" cy="419376"/>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D2FDDE7F-7216-40BD-9F93-9A42A0C00F7F}"/>
              </a:ext>
            </a:extLst>
          </p:cNvPr>
          <p:cNvSpPr>
            <a:spLocks noGrp="1"/>
          </p:cNvSpPr>
          <p:nvPr>
            <p:ph idx="1"/>
          </p:nvPr>
        </p:nvSpPr>
        <p:spPr>
          <a:xfrm>
            <a:off x="838200" y="977153"/>
            <a:ext cx="10515600" cy="5670368"/>
          </a:xfrm>
        </p:spPr>
        <p:txBody>
          <a:bodyPr/>
          <a:lstStyle/>
          <a:p>
            <a:pPr algn="just"/>
            <a:r>
              <a:rPr lang="en-US" dirty="0">
                <a:latin typeface="Arial" panose="020B0604020202020204" pitchFamily="34" charset="0"/>
                <a:cs typeface="Arial" panose="020B0604020202020204" pitchFamily="34" charset="0"/>
              </a:rPr>
              <a:t>What is the total delay (latency) for a frame of size 5 million bits that is being sent on a link with 10 routers each having a queuing time of 2 microsecs and a processing time of 1 microsecs. The length of the link is 2000 Km. The speed of light inside the link is 2 x 108 m/</a:t>
            </a:r>
            <a:r>
              <a:rPr lang="en-US" dirty="0" err="1">
                <a:latin typeface="Arial" panose="020B0604020202020204" pitchFamily="34" charset="0"/>
                <a:cs typeface="Arial" panose="020B0604020202020204" pitchFamily="34" charset="0"/>
              </a:rPr>
              <a:t>s.The</a:t>
            </a:r>
            <a:r>
              <a:rPr lang="en-US" dirty="0">
                <a:latin typeface="Arial" panose="020B0604020202020204" pitchFamily="34" charset="0"/>
                <a:cs typeface="Arial" panose="020B0604020202020204" pitchFamily="34" charset="0"/>
              </a:rPr>
              <a:t> link has a bandwidth of 5 Mbps. Which component of the total delay is dominant? Which one is negligible</a:t>
            </a:r>
          </a:p>
        </p:txBody>
      </p:sp>
      <p:pic>
        <p:nvPicPr>
          <p:cNvPr id="7" name="Picture 6">
            <a:extLst>
              <a:ext uri="{FF2B5EF4-FFF2-40B4-BE49-F238E27FC236}">
                <a16:creationId xmlns:a16="http://schemas.microsoft.com/office/drawing/2014/main" id="{70377283-AB95-4499-8203-C37028E3DE13}"/>
              </a:ext>
            </a:extLst>
          </p:cNvPr>
          <p:cNvPicPr>
            <a:picLocks noChangeAspect="1"/>
          </p:cNvPicPr>
          <p:nvPr/>
        </p:nvPicPr>
        <p:blipFill>
          <a:blip r:embed="rId2"/>
          <a:stretch>
            <a:fillRect/>
          </a:stretch>
        </p:blipFill>
        <p:spPr>
          <a:xfrm>
            <a:off x="3256965" y="3843172"/>
            <a:ext cx="7491717" cy="2804349"/>
          </a:xfrm>
          <a:prstGeom prst="rect">
            <a:avLst/>
          </a:prstGeom>
        </p:spPr>
      </p:pic>
    </p:spTree>
    <p:extLst>
      <p:ext uri="{BB962C8B-B14F-4D97-AF65-F5344CB8AC3E}">
        <p14:creationId xmlns:p14="http://schemas.microsoft.com/office/powerpoint/2010/main" val="3096949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591F-B125-42F3-8D29-A06DBA70E5A6}"/>
              </a:ext>
            </a:extLst>
          </p:cNvPr>
          <p:cNvSpPr>
            <a:spLocks noGrp="1"/>
          </p:cNvSpPr>
          <p:nvPr>
            <p:ph type="title"/>
          </p:nvPr>
        </p:nvSpPr>
        <p:spPr>
          <a:xfrm>
            <a:off x="838200" y="365126"/>
            <a:ext cx="10515600" cy="419376"/>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D2FDDE7F-7216-40BD-9F93-9A42A0C00F7F}"/>
              </a:ext>
            </a:extLst>
          </p:cNvPr>
          <p:cNvSpPr>
            <a:spLocks noGrp="1"/>
          </p:cNvSpPr>
          <p:nvPr>
            <p:ph idx="1"/>
          </p:nvPr>
        </p:nvSpPr>
        <p:spPr>
          <a:xfrm>
            <a:off x="838200" y="977153"/>
            <a:ext cx="10515600" cy="5670368"/>
          </a:xfrm>
        </p:spPr>
        <p:txBody>
          <a:bodyPr>
            <a:normAutofit fontScale="92500"/>
          </a:bodyPr>
          <a:lstStyle/>
          <a:p>
            <a:pPr marL="0" marR="0" indent="0">
              <a:lnSpc>
                <a:spcPct val="107000"/>
              </a:lnSpc>
              <a:spcBef>
                <a:spcPts val="0"/>
              </a:spcBef>
              <a:spcAft>
                <a:spcPts val="800"/>
              </a:spcAft>
              <a:buNone/>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Calculate the latency (total delay from first bit sent to last bit received) for the following:</a:t>
            </a:r>
          </a:p>
          <a:p>
            <a:pPr marL="0" marR="0" indent="0">
              <a:lnSpc>
                <a:spcPct val="107000"/>
              </a:lnSpc>
              <a:spcBef>
                <a:spcPts val="0"/>
              </a:spcBef>
              <a:spcAft>
                <a:spcPts val="800"/>
              </a:spcAft>
              <a:buNone/>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Sender and receiver are separated by two 1-Gigabit/s links and a single switch. The packet size is 5000 bits, and each link introduces a propagation delay of 10 microseconds. Assume that the switch begins forwarding immediately after it has received the last bit of the packet and the queues are empty</a:t>
            </a:r>
          </a:p>
          <a:p>
            <a:r>
              <a:rPr lang="en-US" sz="24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For each link, </a:t>
            </a:r>
          </a:p>
          <a:p>
            <a:r>
              <a:rPr lang="en-US" sz="24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it takes 1 Gigabits/5 Kbits = 5 microseconds to transmit the packet on the link, </a:t>
            </a:r>
          </a:p>
          <a:p>
            <a:r>
              <a:rPr lang="en-US" sz="24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after which it takes an additional 10 microseconds for the last bit to propagate across the link.</a:t>
            </a:r>
          </a:p>
          <a:p>
            <a:r>
              <a:rPr lang="en-US" sz="24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 Thus, with only one switch that starts forwarding only after receiving the whole packet, the </a:t>
            </a:r>
          </a:p>
          <a:p>
            <a:r>
              <a:rPr lang="en-US" sz="24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total transfer delay is two transmit delays + two propagation delays = 30 microseconds.</a:t>
            </a:r>
            <a:endParaRPr lang="en-US" sz="2400" dirty="0">
              <a:solidFill>
                <a:srgbClr val="C00000"/>
              </a:solidFill>
              <a:effectLst/>
              <a:latin typeface="Arial" panose="020B0604020202020204" pitchFamily="34" charset="0"/>
              <a:ea typeface="Calibri" panose="020F050202020403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77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591F-B125-42F3-8D29-A06DBA70E5A6}"/>
              </a:ext>
            </a:extLst>
          </p:cNvPr>
          <p:cNvSpPr>
            <a:spLocks noGrp="1"/>
          </p:cNvSpPr>
          <p:nvPr>
            <p:ph type="title"/>
          </p:nvPr>
        </p:nvSpPr>
        <p:spPr>
          <a:xfrm>
            <a:off x="838200" y="365126"/>
            <a:ext cx="10515600" cy="419376"/>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Practice Problems …… </a:t>
            </a:r>
            <a:r>
              <a:rPr lang="en-US" dirty="0" err="1">
                <a:solidFill>
                  <a:srgbClr val="C00000"/>
                </a:solidFill>
                <a:latin typeface="Arial" panose="020B0604020202020204" pitchFamily="34" charset="0"/>
                <a:cs typeface="Arial" panose="020B0604020202020204" pitchFamily="34" charset="0"/>
              </a:rPr>
              <a:t>Contd</a:t>
            </a:r>
            <a:endParaRPr lang="en-US" dirty="0"/>
          </a:p>
        </p:txBody>
      </p:sp>
      <p:sp>
        <p:nvSpPr>
          <p:cNvPr id="3" name="Content Placeholder 2">
            <a:extLst>
              <a:ext uri="{FF2B5EF4-FFF2-40B4-BE49-F238E27FC236}">
                <a16:creationId xmlns:a16="http://schemas.microsoft.com/office/drawing/2014/main" id="{D2FDDE7F-7216-40BD-9F93-9A42A0C00F7F}"/>
              </a:ext>
            </a:extLst>
          </p:cNvPr>
          <p:cNvSpPr>
            <a:spLocks noGrp="1"/>
          </p:cNvSpPr>
          <p:nvPr>
            <p:ph idx="1"/>
          </p:nvPr>
        </p:nvSpPr>
        <p:spPr>
          <a:xfrm>
            <a:off x="838200" y="977153"/>
            <a:ext cx="10515600" cy="5670368"/>
          </a:xfrm>
        </p:spPr>
        <p:txBody>
          <a:bodyPr>
            <a:normAutofit lnSpcReduction="10000"/>
          </a:bodyPr>
          <a:lstStyle/>
          <a:p>
            <a:pPr marL="0" marR="0" indent="0">
              <a:lnSpc>
                <a:spcPct val="107000"/>
              </a:lnSpc>
              <a:spcBef>
                <a:spcPts val="0"/>
              </a:spcBef>
              <a:spcAft>
                <a:spcPts val="800"/>
              </a:spcAft>
              <a:buNone/>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Calculate the latency (total delay from first bit sent to last bit received) for the following:</a:t>
            </a:r>
          </a:p>
          <a:p>
            <a:pPr marL="0" marR="0" indent="0">
              <a:lnSpc>
                <a:spcPct val="107000"/>
              </a:lnSpc>
              <a:spcBef>
                <a:spcPts val="0"/>
              </a:spcBef>
              <a:spcAft>
                <a:spcPts val="800"/>
              </a:spcAft>
              <a:buNone/>
            </a:pPr>
            <a:r>
              <a:rPr lang="en-US" sz="2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Sender and receiver are separated by four 1-Gigabit/s links and 3 switch. The packet size is 5000 bits, and each link introduces a propagation delay of 10 microseconds. Assume that the switch begins forwarding immediately after it has received the last bit of the packet and the queues are empty</a:t>
            </a:r>
          </a:p>
          <a:p>
            <a:r>
              <a:rPr lang="en-US" sz="22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For each link, </a:t>
            </a:r>
          </a:p>
          <a:p>
            <a:r>
              <a:rPr lang="en-US" sz="22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it takes 1 Gigabits/5 Kbits = 5 microseconds to transmit the packet on the link, </a:t>
            </a:r>
          </a:p>
          <a:p>
            <a:r>
              <a:rPr lang="en-US" sz="22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after which it takes an additional 10 microseconds for the last bit to propagate across the link.</a:t>
            </a:r>
          </a:p>
          <a:p>
            <a:r>
              <a:rPr lang="en-US" sz="22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 Thus, with only one switch that starts forwarding only after receiving the whole packet, the </a:t>
            </a:r>
          </a:p>
          <a:p>
            <a:r>
              <a:rPr lang="en-US" sz="22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For three switches and thus four links, the </a:t>
            </a:r>
          </a:p>
          <a:p>
            <a:r>
              <a:rPr lang="en-US" sz="22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total delta is four transmit delays + four propagation delays = 60 microseconds.</a:t>
            </a:r>
            <a:endParaRPr lang="en-US" sz="2200" dirty="0">
              <a:solidFill>
                <a:srgbClr val="C00000"/>
              </a:solidFill>
              <a:effectLst/>
              <a:latin typeface="Arial" panose="020B0604020202020204" pitchFamily="34" charset="0"/>
              <a:ea typeface="Calibri" panose="020F050202020403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16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072DE4-C544-411C-B5F1-62AAD3EA0578}"/>
              </a:ext>
            </a:extLst>
          </p:cNvPr>
          <p:cNvPicPr>
            <a:picLocks noChangeAspect="1"/>
          </p:cNvPicPr>
          <p:nvPr/>
        </p:nvPicPr>
        <p:blipFill>
          <a:blip r:embed="rId2"/>
          <a:stretch>
            <a:fillRect/>
          </a:stretch>
        </p:blipFill>
        <p:spPr>
          <a:xfrm>
            <a:off x="995083" y="2456330"/>
            <a:ext cx="8181746" cy="2429434"/>
          </a:xfrm>
          <a:prstGeom prst="rect">
            <a:avLst/>
          </a:prstGeom>
        </p:spPr>
      </p:pic>
      <p:sp>
        <p:nvSpPr>
          <p:cNvPr id="4" name="Title 3">
            <a:extLst>
              <a:ext uri="{FF2B5EF4-FFF2-40B4-BE49-F238E27FC236}">
                <a16:creationId xmlns:a16="http://schemas.microsoft.com/office/drawing/2014/main" id="{C85A544E-A8C0-473B-9F13-9599FA6BE0A9}"/>
              </a:ext>
            </a:extLst>
          </p:cNvPr>
          <p:cNvSpPr>
            <a:spLocks noGrp="1"/>
          </p:cNvSpPr>
          <p:nvPr>
            <p:ph type="title"/>
          </p:nvPr>
        </p:nvSpPr>
        <p:spPr>
          <a:xfrm>
            <a:off x="838200" y="365126"/>
            <a:ext cx="10515600" cy="719604"/>
          </a:xfrm>
        </p:spPr>
        <p:txBody>
          <a:bodyPr/>
          <a:lstStyle/>
          <a:p>
            <a:pPr algn="ctr"/>
            <a:r>
              <a:rPr lang="en-US" dirty="0">
                <a:solidFill>
                  <a:srgbClr val="C00000"/>
                </a:solidFill>
                <a:latin typeface="Arial" panose="020B0604020202020204" pitchFamily="34" charset="0"/>
                <a:cs typeface="Arial" panose="020B0604020202020204" pitchFamily="34" charset="0"/>
              </a:rPr>
              <a:t>Recap of formulas</a:t>
            </a:r>
          </a:p>
        </p:txBody>
      </p:sp>
      <p:sp>
        <p:nvSpPr>
          <p:cNvPr id="6" name="Content Placeholder 5">
            <a:extLst>
              <a:ext uri="{FF2B5EF4-FFF2-40B4-BE49-F238E27FC236}">
                <a16:creationId xmlns:a16="http://schemas.microsoft.com/office/drawing/2014/main" id="{A3D6751E-87DF-4C0A-9938-DE9A79A35DA3}"/>
              </a:ext>
            </a:extLst>
          </p:cNvPr>
          <p:cNvSpPr>
            <a:spLocks noGrp="1"/>
          </p:cNvSpPr>
          <p:nvPr>
            <p:ph idx="1"/>
          </p:nvPr>
        </p:nvSpPr>
        <p:spPr>
          <a:xfrm>
            <a:off x="838200" y="1515035"/>
            <a:ext cx="10515600" cy="4661928"/>
          </a:xfrm>
        </p:spPr>
        <p:txBody>
          <a:bodyPr/>
          <a:lstStyle/>
          <a:p>
            <a:pPr lvl="1"/>
            <a:r>
              <a:rPr lang="en-US" dirty="0"/>
              <a:t>Volume = Bandwidth * Delay</a:t>
            </a:r>
          </a:p>
          <a:p>
            <a:pPr lvl="1"/>
            <a:r>
              <a:rPr lang="en-US" dirty="0"/>
              <a:t>Bit duration is inverse of Bandwidth</a:t>
            </a:r>
          </a:p>
          <a:p>
            <a:endParaRPr lang="en-US" dirty="0"/>
          </a:p>
        </p:txBody>
      </p:sp>
    </p:spTree>
    <p:extLst>
      <p:ext uri="{BB962C8B-B14F-4D97-AF65-F5344CB8AC3E}">
        <p14:creationId xmlns:p14="http://schemas.microsoft.com/office/powerpoint/2010/main" val="563788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9AD6C5-0B73-4E9A-8D6B-B6296C1FEC96}"/>
              </a:ext>
            </a:extLst>
          </p:cNvPr>
          <p:cNvPicPr>
            <a:picLocks noChangeAspect="1"/>
          </p:cNvPicPr>
          <p:nvPr/>
        </p:nvPicPr>
        <p:blipFill>
          <a:blip r:embed="rId2"/>
          <a:stretch>
            <a:fillRect/>
          </a:stretch>
        </p:blipFill>
        <p:spPr>
          <a:xfrm>
            <a:off x="1165497" y="87344"/>
            <a:ext cx="9332173" cy="6340350"/>
          </a:xfrm>
          <a:prstGeom prst="rect">
            <a:avLst/>
          </a:prstGeom>
        </p:spPr>
      </p:pic>
    </p:spTree>
    <p:extLst>
      <p:ext uri="{BB962C8B-B14F-4D97-AF65-F5344CB8AC3E}">
        <p14:creationId xmlns:p14="http://schemas.microsoft.com/office/powerpoint/2010/main" val="919754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E417EFF-28A7-44FC-A077-799F3DB18678}"/>
              </a:ext>
            </a:extLst>
          </p:cNvPr>
          <p:cNvPicPr>
            <a:picLocks noChangeAspect="1"/>
          </p:cNvPicPr>
          <p:nvPr/>
        </p:nvPicPr>
        <p:blipFill>
          <a:blip r:embed="rId2"/>
          <a:stretch>
            <a:fillRect/>
          </a:stretch>
        </p:blipFill>
        <p:spPr>
          <a:xfrm>
            <a:off x="1979747" y="724138"/>
            <a:ext cx="8776348" cy="5291180"/>
          </a:xfrm>
          <a:prstGeom prst="rect">
            <a:avLst/>
          </a:prstGeom>
        </p:spPr>
      </p:pic>
    </p:spTree>
    <p:extLst>
      <p:ext uri="{BB962C8B-B14F-4D97-AF65-F5344CB8AC3E}">
        <p14:creationId xmlns:p14="http://schemas.microsoft.com/office/powerpoint/2010/main" val="4110181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BEF77A-7A49-4C02-976B-556BC0339356}"/>
              </a:ext>
            </a:extLst>
          </p:cNvPr>
          <p:cNvPicPr>
            <a:picLocks noChangeAspect="1"/>
          </p:cNvPicPr>
          <p:nvPr/>
        </p:nvPicPr>
        <p:blipFill>
          <a:blip r:embed="rId2"/>
          <a:stretch>
            <a:fillRect/>
          </a:stretch>
        </p:blipFill>
        <p:spPr>
          <a:xfrm>
            <a:off x="2299007" y="1412783"/>
            <a:ext cx="7593986" cy="4621212"/>
          </a:xfrm>
          <a:prstGeom prst="rect">
            <a:avLst/>
          </a:prstGeom>
        </p:spPr>
      </p:pic>
    </p:spTree>
    <p:extLst>
      <p:ext uri="{BB962C8B-B14F-4D97-AF65-F5344CB8AC3E}">
        <p14:creationId xmlns:p14="http://schemas.microsoft.com/office/powerpoint/2010/main" val="1726605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5DA40D-3C78-4611-81E1-BFC7A3518C81}"/>
              </a:ext>
            </a:extLst>
          </p:cNvPr>
          <p:cNvSpPr>
            <a:spLocks noGrp="1"/>
          </p:cNvSpPr>
          <p:nvPr>
            <p:ph type="title"/>
          </p:nvPr>
        </p:nvSpPr>
        <p:spPr/>
        <p:txBody>
          <a:bodyPr/>
          <a:lstStyle/>
          <a:p>
            <a:endParaRPr lang="en-US" dirty="0"/>
          </a:p>
        </p:txBody>
      </p:sp>
      <p:sp>
        <p:nvSpPr>
          <p:cNvPr id="5" name="Content Placeholder 4">
            <a:extLst>
              <a:ext uri="{FF2B5EF4-FFF2-40B4-BE49-F238E27FC236}">
                <a16:creationId xmlns:a16="http://schemas.microsoft.com/office/drawing/2014/main" id="{48055B87-ED2E-421C-8F77-49225AC39265}"/>
              </a:ext>
            </a:extLst>
          </p:cNvPr>
          <p:cNvSpPr>
            <a:spLocks noGrp="1"/>
          </p:cNvSpPr>
          <p:nvPr>
            <p:ph idx="1"/>
          </p:nvPr>
        </p:nvSpPr>
        <p:spPr/>
        <p:txBody>
          <a:bodyPr/>
          <a:lstStyle/>
          <a:p>
            <a:r>
              <a:rPr lang="en-US" dirty="0"/>
              <a:t>Figure  shows a switch (router) in a datagram network. Find the output port for packets with the following destination addresses: Packet 1: 7176 Packet 2: 1233 Packet 3: 8766 Packet 4: 9144</a:t>
            </a:r>
          </a:p>
        </p:txBody>
      </p:sp>
      <p:pic>
        <p:nvPicPr>
          <p:cNvPr id="9" name="Picture 8">
            <a:extLst>
              <a:ext uri="{FF2B5EF4-FFF2-40B4-BE49-F238E27FC236}">
                <a16:creationId xmlns:a16="http://schemas.microsoft.com/office/drawing/2014/main" id="{4785A2F0-1494-4ED8-A2D6-762668ED905B}"/>
              </a:ext>
            </a:extLst>
          </p:cNvPr>
          <p:cNvPicPr>
            <a:picLocks noChangeAspect="1"/>
          </p:cNvPicPr>
          <p:nvPr/>
        </p:nvPicPr>
        <p:blipFill>
          <a:blip r:embed="rId2"/>
          <a:stretch>
            <a:fillRect/>
          </a:stretch>
        </p:blipFill>
        <p:spPr>
          <a:xfrm>
            <a:off x="2710132" y="3357282"/>
            <a:ext cx="6771735" cy="2882900"/>
          </a:xfrm>
          <a:prstGeom prst="rect">
            <a:avLst/>
          </a:prstGeom>
        </p:spPr>
      </p:pic>
    </p:spTree>
    <p:extLst>
      <p:ext uri="{BB962C8B-B14F-4D97-AF65-F5344CB8AC3E}">
        <p14:creationId xmlns:p14="http://schemas.microsoft.com/office/powerpoint/2010/main" val="960553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5DA40D-3C78-4611-81E1-BFC7A3518C81}"/>
              </a:ext>
            </a:extLst>
          </p:cNvPr>
          <p:cNvSpPr>
            <a:spLocks noGrp="1"/>
          </p:cNvSpPr>
          <p:nvPr>
            <p:ph type="title"/>
          </p:nvPr>
        </p:nvSpPr>
        <p:spPr/>
        <p:txBody>
          <a:bodyPr/>
          <a:lstStyle/>
          <a:p>
            <a:endParaRPr lang="en-US" dirty="0"/>
          </a:p>
        </p:txBody>
      </p:sp>
      <p:sp>
        <p:nvSpPr>
          <p:cNvPr id="5" name="Content Placeholder 4">
            <a:extLst>
              <a:ext uri="{FF2B5EF4-FFF2-40B4-BE49-F238E27FC236}">
                <a16:creationId xmlns:a16="http://schemas.microsoft.com/office/drawing/2014/main" id="{48055B87-ED2E-421C-8F77-49225AC39265}"/>
              </a:ext>
            </a:extLst>
          </p:cNvPr>
          <p:cNvSpPr>
            <a:spLocks noGrp="1"/>
          </p:cNvSpPr>
          <p:nvPr>
            <p:ph idx="1"/>
          </p:nvPr>
        </p:nvSpPr>
        <p:spPr/>
        <p:txBody>
          <a:bodyPr/>
          <a:lstStyle/>
          <a:p>
            <a:r>
              <a:rPr lang="en-US" dirty="0"/>
              <a:t>Figure  shows a switch (router) in a datagram network. Find the output port for packets with the following destination addresses: Packet 1: 7176 Packet 2: 1233 Packet 3: 8766 Packet 4: 9144</a:t>
            </a:r>
          </a:p>
        </p:txBody>
      </p:sp>
      <p:pic>
        <p:nvPicPr>
          <p:cNvPr id="9" name="Picture 8">
            <a:extLst>
              <a:ext uri="{FF2B5EF4-FFF2-40B4-BE49-F238E27FC236}">
                <a16:creationId xmlns:a16="http://schemas.microsoft.com/office/drawing/2014/main" id="{4785A2F0-1494-4ED8-A2D6-762668ED905B}"/>
              </a:ext>
            </a:extLst>
          </p:cNvPr>
          <p:cNvPicPr>
            <a:picLocks noChangeAspect="1"/>
          </p:cNvPicPr>
          <p:nvPr/>
        </p:nvPicPr>
        <p:blipFill>
          <a:blip r:embed="rId2"/>
          <a:stretch>
            <a:fillRect/>
          </a:stretch>
        </p:blipFill>
        <p:spPr>
          <a:xfrm>
            <a:off x="500332" y="3294063"/>
            <a:ext cx="6771735" cy="2882900"/>
          </a:xfrm>
          <a:prstGeom prst="rect">
            <a:avLst/>
          </a:prstGeom>
        </p:spPr>
      </p:pic>
      <p:pic>
        <p:nvPicPr>
          <p:cNvPr id="7" name="Picture 6">
            <a:extLst>
              <a:ext uri="{FF2B5EF4-FFF2-40B4-BE49-F238E27FC236}">
                <a16:creationId xmlns:a16="http://schemas.microsoft.com/office/drawing/2014/main" id="{31FA7BFC-7DA2-446F-8E07-1950477CEF72}"/>
              </a:ext>
            </a:extLst>
          </p:cNvPr>
          <p:cNvPicPr>
            <a:picLocks noChangeAspect="1"/>
          </p:cNvPicPr>
          <p:nvPr/>
        </p:nvPicPr>
        <p:blipFill>
          <a:blip r:embed="rId3"/>
          <a:stretch>
            <a:fillRect/>
          </a:stretch>
        </p:blipFill>
        <p:spPr>
          <a:xfrm>
            <a:off x="7939652" y="3433482"/>
            <a:ext cx="2145642" cy="2563781"/>
          </a:xfrm>
          <a:prstGeom prst="rect">
            <a:avLst/>
          </a:prstGeom>
        </p:spPr>
      </p:pic>
    </p:spTree>
    <p:extLst>
      <p:ext uri="{BB962C8B-B14F-4D97-AF65-F5344CB8AC3E}">
        <p14:creationId xmlns:p14="http://schemas.microsoft.com/office/powerpoint/2010/main" val="2265134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41997-3D85-4577-B7E6-C644B41B5D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296538-45AB-4FB0-9152-E375168B9BE6}"/>
              </a:ext>
            </a:extLst>
          </p:cNvPr>
          <p:cNvSpPr>
            <a:spLocks noGrp="1"/>
          </p:cNvSpPr>
          <p:nvPr>
            <p:ph idx="1"/>
          </p:nvPr>
        </p:nvSpPr>
        <p:spPr/>
        <p:txBody>
          <a:bodyPr/>
          <a:lstStyle/>
          <a:p>
            <a:r>
              <a:rPr lang="en-US" dirty="0"/>
              <a:t>Find the output port and the output VCI for packets with the following input port and input VCI addresses: Packet 1: 3, 78 Packet 2: 2, 92 Packet 3: 4, 56 Packet 4: 2, 71</a:t>
            </a:r>
          </a:p>
        </p:txBody>
      </p:sp>
      <p:pic>
        <p:nvPicPr>
          <p:cNvPr id="5" name="Picture 4">
            <a:extLst>
              <a:ext uri="{FF2B5EF4-FFF2-40B4-BE49-F238E27FC236}">
                <a16:creationId xmlns:a16="http://schemas.microsoft.com/office/drawing/2014/main" id="{ADAB8287-C6F2-4308-B343-4F91CF882673}"/>
              </a:ext>
            </a:extLst>
          </p:cNvPr>
          <p:cNvPicPr>
            <a:picLocks noChangeAspect="1"/>
          </p:cNvPicPr>
          <p:nvPr/>
        </p:nvPicPr>
        <p:blipFill>
          <a:blip r:embed="rId2"/>
          <a:stretch>
            <a:fillRect/>
          </a:stretch>
        </p:blipFill>
        <p:spPr>
          <a:xfrm>
            <a:off x="948297" y="3248586"/>
            <a:ext cx="6010275" cy="2171700"/>
          </a:xfrm>
          <a:prstGeom prst="rect">
            <a:avLst/>
          </a:prstGeom>
        </p:spPr>
      </p:pic>
      <p:pic>
        <p:nvPicPr>
          <p:cNvPr id="9" name="Picture 8">
            <a:extLst>
              <a:ext uri="{FF2B5EF4-FFF2-40B4-BE49-F238E27FC236}">
                <a16:creationId xmlns:a16="http://schemas.microsoft.com/office/drawing/2014/main" id="{E79F5EC3-254B-4721-BCFC-76E9349FD0B0}"/>
              </a:ext>
            </a:extLst>
          </p:cNvPr>
          <p:cNvPicPr>
            <a:picLocks noChangeAspect="1"/>
          </p:cNvPicPr>
          <p:nvPr/>
        </p:nvPicPr>
        <p:blipFill>
          <a:blip r:embed="rId3"/>
          <a:stretch>
            <a:fillRect/>
          </a:stretch>
        </p:blipFill>
        <p:spPr>
          <a:xfrm>
            <a:off x="7252447" y="3248586"/>
            <a:ext cx="3299012" cy="2399646"/>
          </a:xfrm>
          <a:prstGeom prst="rect">
            <a:avLst/>
          </a:prstGeom>
        </p:spPr>
      </p:pic>
    </p:spTree>
    <p:extLst>
      <p:ext uri="{BB962C8B-B14F-4D97-AF65-F5344CB8AC3E}">
        <p14:creationId xmlns:p14="http://schemas.microsoft.com/office/powerpoint/2010/main" val="2594661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CD8592-8398-447F-9291-E69F79E41EF2}"/>
              </a:ext>
            </a:extLst>
          </p:cNvPr>
          <p:cNvPicPr>
            <a:picLocks noChangeAspect="1"/>
          </p:cNvPicPr>
          <p:nvPr/>
        </p:nvPicPr>
        <p:blipFill>
          <a:blip r:embed="rId2"/>
          <a:stretch>
            <a:fillRect/>
          </a:stretch>
        </p:blipFill>
        <p:spPr>
          <a:xfrm>
            <a:off x="1524000" y="457200"/>
            <a:ext cx="9144000" cy="5638800"/>
          </a:xfrm>
          <a:prstGeom prst="rect">
            <a:avLst/>
          </a:prstGeom>
        </p:spPr>
      </p:pic>
    </p:spTree>
    <p:extLst>
      <p:ext uri="{BB962C8B-B14F-4D97-AF65-F5344CB8AC3E}">
        <p14:creationId xmlns:p14="http://schemas.microsoft.com/office/powerpoint/2010/main" val="25117911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072DE4-C544-411C-B5F1-62AAD3EA0578}"/>
              </a:ext>
            </a:extLst>
          </p:cNvPr>
          <p:cNvPicPr>
            <a:picLocks noChangeAspect="1"/>
          </p:cNvPicPr>
          <p:nvPr/>
        </p:nvPicPr>
        <p:blipFill>
          <a:blip r:embed="rId2"/>
          <a:stretch>
            <a:fillRect/>
          </a:stretch>
        </p:blipFill>
        <p:spPr>
          <a:xfrm>
            <a:off x="995083" y="2456330"/>
            <a:ext cx="8181746" cy="2429434"/>
          </a:xfrm>
          <a:prstGeom prst="rect">
            <a:avLst/>
          </a:prstGeom>
        </p:spPr>
      </p:pic>
      <p:sp>
        <p:nvSpPr>
          <p:cNvPr id="4" name="Title 3">
            <a:extLst>
              <a:ext uri="{FF2B5EF4-FFF2-40B4-BE49-F238E27FC236}">
                <a16:creationId xmlns:a16="http://schemas.microsoft.com/office/drawing/2014/main" id="{C85A544E-A8C0-473B-9F13-9599FA6BE0A9}"/>
              </a:ext>
            </a:extLst>
          </p:cNvPr>
          <p:cNvSpPr>
            <a:spLocks noGrp="1"/>
          </p:cNvSpPr>
          <p:nvPr>
            <p:ph type="title"/>
          </p:nvPr>
        </p:nvSpPr>
        <p:spPr>
          <a:xfrm>
            <a:off x="838200" y="365126"/>
            <a:ext cx="10515600" cy="719604"/>
          </a:xfrm>
        </p:spPr>
        <p:txBody>
          <a:bodyPr/>
          <a:lstStyle/>
          <a:p>
            <a:pPr algn="ctr"/>
            <a:r>
              <a:rPr lang="en-US" dirty="0">
                <a:solidFill>
                  <a:srgbClr val="C00000"/>
                </a:solidFill>
                <a:latin typeface="Arial" panose="020B0604020202020204" pitchFamily="34" charset="0"/>
                <a:cs typeface="Arial" panose="020B0604020202020204" pitchFamily="34" charset="0"/>
              </a:rPr>
              <a:t>Recap of formulas</a:t>
            </a:r>
          </a:p>
        </p:txBody>
      </p:sp>
      <p:sp>
        <p:nvSpPr>
          <p:cNvPr id="6" name="Content Placeholder 5">
            <a:extLst>
              <a:ext uri="{FF2B5EF4-FFF2-40B4-BE49-F238E27FC236}">
                <a16:creationId xmlns:a16="http://schemas.microsoft.com/office/drawing/2014/main" id="{A3D6751E-87DF-4C0A-9938-DE9A79A35DA3}"/>
              </a:ext>
            </a:extLst>
          </p:cNvPr>
          <p:cNvSpPr>
            <a:spLocks noGrp="1"/>
          </p:cNvSpPr>
          <p:nvPr>
            <p:ph idx="1"/>
          </p:nvPr>
        </p:nvSpPr>
        <p:spPr>
          <a:xfrm>
            <a:off x="838200" y="1515035"/>
            <a:ext cx="10515600" cy="4661928"/>
          </a:xfrm>
        </p:spPr>
        <p:txBody>
          <a:bodyPr/>
          <a:lstStyle/>
          <a:p>
            <a:pPr lvl="1"/>
            <a:r>
              <a:rPr lang="en-US" dirty="0"/>
              <a:t>Volume = Bandwidth * Delay</a:t>
            </a:r>
          </a:p>
          <a:p>
            <a:pPr lvl="1"/>
            <a:r>
              <a:rPr lang="en-US" dirty="0"/>
              <a:t>Bit duration is inverse of Bandwidth</a:t>
            </a:r>
          </a:p>
          <a:p>
            <a:endParaRPr lang="en-US" dirty="0"/>
          </a:p>
        </p:txBody>
      </p:sp>
    </p:spTree>
    <p:extLst>
      <p:ext uri="{BB962C8B-B14F-4D97-AF65-F5344CB8AC3E}">
        <p14:creationId xmlns:p14="http://schemas.microsoft.com/office/powerpoint/2010/main" val="2398258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BA3E-CF6E-413B-87A5-501A5D6BC951}"/>
              </a:ext>
            </a:extLst>
          </p:cNvPr>
          <p:cNvSpPr>
            <a:spLocks noGrp="1"/>
          </p:cNvSpPr>
          <p:nvPr>
            <p:ph type="title"/>
          </p:nvPr>
        </p:nvSpPr>
        <p:spPr>
          <a:xfrm>
            <a:off x="838200" y="206188"/>
            <a:ext cx="10515600" cy="474850"/>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Points to remember</a:t>
            </a:r>
          </a:p>
        </p:txBody>
      </p:sp>
      <p:sp>
        <p:nvSpPr>
          <p:cNvPr id="3" name="Content Placeholder 2">
            <a:extLst>
              <a:ext uri="{FF2B5EF4-FFF2-40B4-BE49-F238E27FC236}">
                <a16:creationId xmlns:a16="http://schemas.microsoft.com/office/drawing/2014/main" id="{7FE86CA8-EC10-40B0-A83C-2090C2A95C3C}"/>
              </a:ext>
            </a:extLst>
          </p:cNvPr>
          <p:cNvSpPr>
            <a:spLocks noGrp="1"/>
          </p:cNvSpPr>
          <p:nvPr>
            <p:ph idx="1"/>
          </p:nvPr>
        </p:nvSpPr>
        <p:spPr>
          <a:xfrm>
            <a:off x="564776" y="950258"/>
            <a:ext cx="11170024" cy="5549153"/>
          </a:xfrm>
        </p:spPr>
        <p:txBody>
          <a:bodyPr>
            <a:normAutofit/>
          </a:bodyPr>
          <a:lstStyle/>
          <a:p>
            <a:r>
              <a:rPr lang="en-US" b="0" i="0" dirty="0">
                <a:solidFill>
                  <a:srgbClr val="C00000"/>
                </a:solidFill>
                <a:effectLst/>
                <a:latin typeface="Roboto" panose="02000000000000000000" pitchFamily="2" charset="0"/>
              </a:rPr>
              <a:t>Total time = Set uptime + Data Transfer+ Teardown phase</a:t>
            </a:r>
          </a:p>
          <a:p>
            <a:r>
              <a:rPr lang="en-US" b="0" i="0" dirty="0">
                <a:solidFill>
                  <a:srgbClr val="C00000"/>
                </a:solidFill>
                <a:effectLst/>
                <a:latin typeface="Roboto" panose="02000000000000000000" pitchFamily="2" charset="0"/>
              </a:rPr>
              <a:t> </a:t>
            </a:r>
          </a:p>
          <a:p>
            <a:r>
              <a:rPr lang="en-US" b="0" i="0" dirty="0">
                <a:solidFill>
                  <a:srgbClr val="C00000"/>
                </a:solidFill>
                <a:effectLst/>
                <a:latin typeface="Roboto" panose="02000000000000000000" pitchFamily="2" charset="0"/>
              </a:rPr>
              <a:t>Total time = Set uptime + Transmission delay+ propagation delay + Teardown phase </a:t>
            </a:r>
          </a:p>
          <a:p>
            <a:pPr>
              <a:buFont typeface="Wingdings" panose="05000000000000000000" pitchFamily="2" charset="2"/>
              <a:buChar char="ü"/>
            </a:pPr>
            <a:r>
              <a:rPr lang="en-US" b="0" i="0" dirty="0">
                <a:solidFill>
                  <a:srgbClr val="C00000"/>
                </a:solidFill>
                <a:effectLst/>
                <a:latin typeface="Arial" panose="020B0604020202020204" pitchFamily="34" charset="0"/>
                <a:cs typeface="Arial" panose="020B0604020202020204" pitchFamily="34" charset="0"/>
              </a:rPr>
              <a:t>Setup phase </a:t>
            </a:r>
            <a:r>
              <a:rPr lang="en-US" b="0" i="0" dirty="0">
                <a:solidFill>
                  <a:srgbClr val="040304"/>
                </a:solidFill>
                <a:effectLst/>
                <a:latin typeface="Arial" panose="020B0604020202020204" pitchFamily="34" charset="0"/>
                <a:cs typeface="Arial" panose="020B0604020202020204" pitchFamily="34" charset="0"/>
              </a:rPr>
              <a:t>two way communication hence </a:t>
            </a:r>
            <a:r>
              <a:rPr lang="en-US" b="0" i="0" dirty="0">
                <a:solidFill>
                  <a:srgbClr val="C00000"/>
                </a:solidFill>
                <a:effectLst/>
                <a:latin typeface="Arial" panose="020B0604020202020204" pitchFamily="34" charset="0"/>
                <a:cs typeface="Arial" panose="020B0604020202020204" pitchFamily="34" charset="0"/>
              </a:rPr>
              <a:t>two propagation delays</a:t>
            </a:r>
            <a:r>
              <a:rPr lang="en-US" b="0" i="0" dirty="0">
                <a:solidFill>
                  <a:srgbClr val="040304"/>
                </a:solidFill>
                <a:effectLst/>
                <a:latin typeface="Arial" panose="020B0604020202020204" pitchFamily="34" charset="0"/>
                <a:cs typeface="Arial" panose="020B0604020202020204" pitchFamily="34" charset="0"/>
              </a:rPr>
              <a:t>  </a:t>
            </a:r>
            <a:r>
              <a:rPr lang="en-US" b="0" i="0" dirty="0">
                <a:solidFill>
                  <a:srgbClr val="C00000"/>
                </a:solidFill>
                <a:effectLst/>
                <a:latin typeface="Arial" panose="020B0604020202020204" pitchFamily="34" charset="0"/>
                <a:cs typeface="Arial" panose="020B0604020202020204" pitchFamily="34" charset="0"/>
              </a:rPr>
              <a:t>and </a:t>
            </a:r>
            <a:r>
              <a:rPr lang="en-US" dirty="0">
                <a:solidFill>
                  <a:srgbClr val="C00000"/>
                </a:solidFill>
                <a:latin typeface="Arial" panose="020B0604020202020204" pitchFamily="34" charset="0"/>
                <a:cs typeface="Arial" panose="020B0604020202020204" pitchFamily="34" charset="0"/>
              </a:rPr>
              <a:t>Transmission delays </a:t>
            </a:r>
            <a:r>
              <a:rPr lang="en-US" dirty="0">
                <a:solidFill>
                  <a:srgbClr val="040304"/>
                </a:solidFill>
                <a:latin typeface="Arial" panose="020B0604020202020204" pitchFamily="34" charset="0"/>
                <a:cs typeface="Arial" panose="020B0604020202020204" pitchFamily="34" charset="0"/>
              </a:rPr>
              <a:t>are </a:t>
            </a:r>
            <a:r>
              <a:rPr lang="en-US" b="0" i="0" dirty="0">
                <a:solidFill>
                  <a:srgbClr val="040304"/>
                </a:solidFill>
                <a:effectLst/>
                <a:latin typeface="Arial" panose="020B0604020202020204" pitchFamily="34" charset="0"/>
                <a:cs typeface="Arial" panose="020B0604020202020204" pitchFamily="34" charset="0"/>
              </a:rPr>
              <a:t>needed.</a:t>
            </a:r>
          </a:p>
          <a:p>
            <a:pPr>
              <a:buFont typeface="Wingdings" panose="05000000000000000000" pitchFamily="2" charset="2"/>
              <a:buChar char="ü"/>
            </a:pPr>
            <a:r>
              <a:rPr lang="en-US" b="0" i="0" dirty="0">
                <a:solidFill>
                  <a:srgbClr val="C00000"/>
                </a:solidFill>
                <a:effectLst/>
                <a:latin typeface="Arial" panose="020B0604020202020204" pitchFamily="34" charset="0"/>
                <a:cs typeface="Arial" panose="020B0604020202020204" pitchFamily="34" charset="0"/>
              </a:rPr>
              <a:t>Teardown phase </a:t>
            </a:r>
            <a:r>
              <a:rPr lang="en-US" b="0" i="0" dirty="0">
                <a:solidFill>
                  <a:srgbClr val="040304"/>
                </a:solidFill>
                <a:effectLst/>
                <a:latin typeface="Arial" panose="020B0604020202020204" pitchFamily="34" charset="0"/>
                <a:cs typeface="Arial" panose="020B0604020202020204" pitchFamily="34" charset="0"/>
              </a:rPr>
              <a:t>one way communication so </a:t>
            </a:r>
            <a:r>
              <a:rPr lang="en-US" b="0" i="0" dirty="0">
                <a:solidFill>
                  <a:srgbClr val="C00000"/>
                </a:solidFill>
                <a:effectLst/>
                <a:latin typeface="Arial" panose="020B0604020202020204" pitchFamily="34" charset="0"/>
                <a:cs typeface="Arial" panose="020B0604020202020204" pitchFamily="34" charset="0"/>
              </a:rPr>
              <a:t>1 propagation delay and </a:t>
            </a:r>
            <a:r>
              <a:rPr lang="en-US" dirty="0">
                <a:solidFill>
                  <a:srgbClr val="C00000"/>
                </a:solidFill>
                <a:latin typeface="Arial" panose="020B0604020202020204" pitchFamily="34" charset="0"/>
                <a:cs typeface="Arial" panose="020B0604020202020204" pitchFamily="34" charset="0"/>
              </a:rPr>
              <a:t>Transmission delays </a:t>
            </a:r>
            <a:r>
              <a:rPr lang="en-US" b="0" i="0" dirty="0">
                <a:solidFill>
                  <a:srgbClr val="C00000"/>
                </a:solidFill>
                <a:effectLst/>
                <a:latin typeface="Arial" panose="020B0604020202020204" pitchFamily="34" charset="0"/>
                <a:cs typeface="Arial" panose="020B0604020202020204" pitchFamily="34" charset="0"/>
              </a:rPr>
              <a:t>needed.</a:t>
            </a:r>
          </a:p>
          <a:p>
            <a:pPr>
              <a:buFont typeface="Wingdings" panose="05000000000000000000" pitchFamily="2" charset="2"/>
              <a:buChar char="ü"/>
            </a:pPr>
            <a:r>
              <a:rPr lang="en-US" b="0" i="0" dirty="0">
                <a:solidFill>
                  <a:srgbClr val="040304"/>
                </a:solidFill>
                <a:effectLst/>
                <a:latin typeface="Arial" panose="020B0604020202020204" pitchFamily="34" charset="0"/>
                <a:cs typeface="Arial" panose="020B0604020202020204" pitchFamily="34" charset="0"/>
              </a:rPr>
              <a:t>For setup and teardown we need minimum size packet to be exchanged between A to B. </a:t>
            </a:r>
          </a:p>
          <a:p>
            <a:pPr>
              <a:buFont typeface="Wingdings" panose="05000000000000000000" pitchFamily="2" charset="2"/>
              <a:buChar char="ü"/>
            </a:pPr>
            <a:r>
              <a:rPr lang="en-US" dirty="0">
                <a:solidFill>
                  <a:srgbClr val="040304"/>
                </a:solidFill>
                <a:latin typeface="Arial" panose="020B0604020202020204" pitchFamily="34" charset="0"/>
                <a:cs typeface="Arial" panose="020B0604020202020204" pitchFamily="34" charset="0"/>
              </a:rPr>
              <a:t>For </a:t>
            </a:r>
            <a:r>
              <a:rPr lang="en-US" dirty="0">
                <a:solidFill>
                  <a:srgbClr val="C00000"/>
                </a:solidFill>
                <a:latin typeface="Arial" panose="020B0604020202020204" pitchFamily="34" charset="0"/>
                <a:cs typeface="Arial" panose="020B0604020202020204" pitchFamily="34" charset="0"/>
              </a:rPr>
              <a:t>Data </a:t>
            </a:r>
            <a:r>
              <a:rPr lang="en-US" b="0" i="0" dirty="0">
                <a:solidFill>
                  <a:srgbClr val="C00000"/>
                </a:solidFill>
                <a:effectLst/>
                <a:latin typeface="Arial" panose="020B0604020202020204" pitchFamily="34" charset="0"/>
                <a:cs typeface="Arial" panose="020B0604020202020204" pitchFamily="34" charset="0"/>
              </a:rPr>
              <a:t>transfer 1 propagation and 1 transmission delay are needed as the </a:t>
            </a:r>
            <a:r>
              <a:rPr lang="en-US" b="0" i="0" dirty="0">
                <a:solidFill>
                  <a:srgbClr val="040304"/>
                </a:solidFill>
                <a:effectLst/>
                <a:latin typeface="Arial" panose="020B0604020202020204" pitchFamily="34" charset="0"/>
                <a:cs typeface="Arial" panose="020B0604020202020204" pitchFamily="34" charset="0"/>
              </a:rPr>
              <a:t>same way for setup and teardown phases.</a:t>
            </a:r>
            <a:endParaRPr lang="en-US" dirty="0">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3D227752-0BC0-4192-92D1-C44E67DBADD4}"/>
              </a:ext>
            </a:extLst>
          </p:cNvPr>
          <p:cNvSpPr/>
          <p:nvPr/>
        </p:nvSpPr>
        <p:spPr>
          <a:xfrm>
            <a:off x="6445416" y="1398494"/>
            <a:ext cx="9172" cy="242047"/>
          </a:xfrm>
          <a:custGeom>
            <a:avLst/>
            <a:gdLst>
              <a:gd name="connsiteX0" fmla="*/ 9172 w 9172"/>
              <a:gd name="connsiteY0" fmla="*/ 0 h 242047"/>
              <a:gd name="connsiteX1" fmla="*/ 9172 w 9172"/>
              <a:gd name="connsiteY1" fmla="*/ 0 h 242047"/>
              <a:gd name="connsiteX2" fmla="*/ 208 w 9172"/>
              <a:gd name="connsiteY2" fmla="*/ 242047 h 242047"/>
            </a:gdLst>
            <a:ahLst/>
            <a:cxnLst>
              <a:cxn ang="0">
                <a:pos x="connsiteX0" y="connsiteY0"/>
              </a:cxn>
              <a:cxn ang="0">
                <a:pos x="connsiteX1" y="connsiteY1"/>
              </a:cxn>
              <a:cxn ang="0">
                <a:pos x="connsiteX2" y="connsiteY2"/>
              </a:cxn>
            </a:cxnLst>
            <a:rect l="l" t="t" r="r" b="b"/>
            <a:pathLst>
              <a:path w="9172" h="242047">
                <a:moveTo>
                  <a:pt x="9172" y="0"/>
                </a:moveTo>
                <a:lnTo>
                  <a:pt x="9172" y="0"/>
                </a:lnTo>
                <a:cubicBezTo>
                  <a:pt x="-2177" y="170250"/>
                  <a:pt x="208" y="89548"/>
                  <a:pt x="208" y="24204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9C0A6EBB-3699-4774-B86F-56623C65D040}"/>
              </a:ext>
            </a:extLst>
          </p:cNvPr>
          <p:cNvSpPr/>
          <p:nvPr/>
        </p:nvSpPr>
        <p:spPr>
          <a:xfrm>
            <a:off x="6194611" y="1398494"/>
            <a:ext cx="519953" cy="5827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Brace 7">
            <a:extLst>
              <a:ext uri="{FF2B5EF4-FFF2-40B4-BE49-F238E27FC236}">
                <a16:creationId xmlns:a16="http://schemas.microsoft.com/office/drawing/2014/main" id="{215264FF-73BC-41E2-BC7F-E5EBB131B4DC}"/>
              </a:ext>
            </a:extLst>
          </p:cNvPr>
          <p:cNvSpPr/>
          <p:nvPr/>
        </p:nvSpPr>
        <p:spPr>
          <a:xfrm rot="5400000" flipV="1">
            <a:off x="7671098" y="-526839"/>
            <a:ext cx="573546" cy="6029456"/>
          </a:xfrm>
          <a:prstGeom prst="rightBrace">
            <a:avLst>
              <a:gd name="adj1" fmla="val 0"/>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636620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TotalTime>
  <Words>1911</Words>
  <Application>Microsoft Office PowerPoint</Application>
  <PresentationFormat>Widescreen</PresentationFormat>
  <Paragraphs>140</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Roboto</vt:lpstr>
      <vt:lpstr>Wingdings</vt:lpstr>
      <vt:lpstr>Office Theme</vt:lpstr>
      <vt:lpstr>PERFORMANCE PARAMETERS</vt:lpstr>
      <vt:lpstr>PERFORMANCE</vt:lpstr>
      <vt:lpstr> PERFORMANCE -Bandwidth </vt:lpstr>
      <vt:lpstr> PERFORMANCE -Throughput  </vt:lpstr>
      <vt:lpstr> PERFORMANCE -Throughput  </vt:lpstr>
      <vt:lpstr>   PERFORMANCE – Latency   </vt:lpstr>
      <vt:lpstr>  Latency -  1.Propagation Time   </vt:lpstr>
      <vt:lpstr>   Latency -  2. Transmission Time   </vt:lpstr>
      <vt:lpstr>Latency -  3. Queuing Time </vt:lpstr>
      <vt:lpstr> Latency -  4. Bandwidth-Delay Product </vt:lpstr>
      <vt:lpstr> Latency -  4. Bandwidth-Delay Product </vt:lpstr>
      <vt:lpstr>PowerPoint Presentation</vt:lpstr>
      <vt:lpstr>Jitter</vt:lpstr>
      <vt:lpstr>Formulas to remember</vt:lpstr>
      <vt:lpstr>Practice Problems …… Contd</vt:lpstr>
      <vt:lpstr>PowerPoint Presentation</vt:lpstr>
      <vt:lpstr>Practice Problems …… Contd</vt:lpstr>
      <vt:lpstr>PowerPoint Presentation</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Practice Problems …… Contd</vt:lpstr>
      <vt:lpstr>Recap of formulas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of formulas</vt:lpstr>
      <vt:lpstr>Points to remember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Anusha N</dc:creator>
  <cp:lastModifiedBy>Anusha N</cp:lastModifiedBy>
  <cp:revision>27</cp:revision>
  <dcterms:created xsi:type="dcterms:W3CDTF">2023-05-14T01:58:33Z</dcterms:created>
  <dcterms:modified xsi:type="dcterms:W3CDTF">2024-08-18T13:12:50Z</dcterms:modified>
</cp:coreProperties>
</file>