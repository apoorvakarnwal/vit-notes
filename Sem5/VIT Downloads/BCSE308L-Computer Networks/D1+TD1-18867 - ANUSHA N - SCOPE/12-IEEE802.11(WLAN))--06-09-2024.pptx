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</p:sldMasterIdLst>
  <p:sldIdLst>
    <p:sldId id="256" r:id="rId2"/>
    <p:sldId id="313" r:id="rId3"/>
    <p:sldId id="314" r:id="rId4"/>
    <p:sldId id="302" r:id="rId5"/>
    <p:sldId id="303" r:id="rId6"/>
    <p:sldId id="316" r:id="rId7"/>
    <p:sldId id="317" r:id="rId8"/>
    <p:sldId id="304" r:id="rId9"/>
    <p:sldId id="315" r:id="rId10"/>
    <p:sldId id="311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05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40" r:id="rId34"/>
    <p:sldId id="339" r:id="rId35"/>
    <p:sldId id="341" r:id="rId36"/>
    <p:sldId id="299" r:id="rId37"/>
    <p:sldId id="306" r:id="rId38"/>
    <p:sldId id="342" r:id="rId39"/>
    <p:sldId id="343" r:id="rId40"/>
    <p:sldId id="307" r:id="rId41"/>
    <p:sldId id="344" r:id="rId42"/>
    <p:sldId id="345" r:id="rId43"/>
    <p:sldId id="346" r:id="rId44"/>
    <p:sldId id="347" r:id="rId45"/>
    <p:sldId id="312" r:id="rId46"/>
    <p:sldId id="348" r:id="rId47"/>
    <p:sldId id="349" r:id="rId48"/>
    <p:sldId id="308" r:id="rId49"/>
    <p:sldId id="309" r:id="rId50"/>
    <p:sldId id="350" r:id="rId51"/>
    <p:sldId id="351" r:id="rId52"/>
    <p:sldId id="352" r:id="rId53"/>
    <p:sldId id="354" r:id="rId54"/>
    <p:sldId id="353" r:id="rId55"/>
    <p:sldId id="356" r:id="rId56"/>
    <p:sldId id="355" r:id="rId57"/>
    <p:sldId id="357" r:id="rId58"/>
    <p:sldId id="358" r:id="rId59"/>
    <p:sldId id="359" r:id="rId60"/>
    <p:sldId id="360" r:id="rId61"/>
    <p:sldId id="361" r:id="rId62"/>
    <p:sldId id="310" r:id="rId63"/>
    <p:sldId id="362" r:id="rId64"/>
    <p:sldId id="301" r:id="rId6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76" autoAdjust="0"/>
    <p:restoredTop sz="90929"/>
  </p:normalViewPr>
  <p:slideViewPr>
    <p:cSldViewPr>
      <p:cViewPr varScale="1">
        <p:scale>
          <a:sx n="67" d="100"/>
          <a:sy n="67" d="100"/>
        </p:scale>
        <p:origin x="-60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5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7.xml"/><Relationship Id="rId18" Type="http://schemas.openxmlformats.org/officeDocument/2006/relationships/slide" Target="slides/slide22.xml"/><Relationship Id="rId26" Type="http://schemas.openxmlformats.org/officeDocument/2006/relationships/slide" Target="slides/slide32.xml"/><Relationship Id="rId39" Type="http://schemas.openxmlformats.org/officeDocument/2006/relationships/slide" Target="slides/slide50.xml"/><Relationship Id="rId21" Type="http://schemas.openxmlformats.org/officeDocument/2006/relationships/slide" Target="slides/slide27.xml"/><Relationship Id="rId34" Type="http://schemas.openxmlformats.org/officeDocument/2006/relationships/slide" Target="slides/slide42.xml"/><Relationship Id="rId42" Type="http://schemas.openxmlformats.org/officeDocument/2006/relationships/slide" Target="slides/slide53.xml"/><Relationship Id="rId7" Type="http://schemas.openxmlformats.org/officeDocument/2006/relationships/slide" Target="slides/slide11.xml"/><Relationship Id="rId2" Type="http://schemas.openxmlformats.org/officeDocument/2006/relationships/slide" Target="slides/slide2.xml"/><Relationship Id="rId16" Type="http://schemas.openxmlformats.org/officeDocument/2006/relationships/slide" Target="slides/slide20.xml"/><Relationship Id="rId20" Type="http://schemas.openxmlformats.org/officeDocument/2006/relationships/slide" Target="slides/slide24.xml"/><Relationship Id="rId29" Type="http://schemas.openxmlformats.org/officeDocument/2006/relationships/slide" Target="slides/slide35.xml"/><Relationship Id="rId41" Type="http://schemas.openxmlformats.org/officeDocument/2006/relationships/slide" Target="slides/slide52.xml"/><Relationship Id="rId1" Type="http://schemas.openxmlformats.org/officeDocument/2006/relationships/slide" Target="slides/slide1.xml"/><Relationship Id="rId6" Type="http://schemas.openxmlformats.org/officeDocument/2006/relationships/slide" Target="slides/slide9.xml"/><Relationship Id="rId11" Type="http://schemas.openxmlformats.org/officeDocument/2006/relationships/slide" Target="slides/slide15.xml"/><Relationship Id="rId24" Type="http://schemas.openxmlformats.org/officeDocument/2006/relationships/slide" Target="slides/slide30.xml"/><Relationship Id="rId32" Type="http://schemas.openxmlformats.org/officeDocument/2006/relationships/slide" Target="slides/slide39.xml"/><Relationship Id="rId37" Type="http://schemas.openxmlformats.org/officeDocument/2006/relationships/slide" Target="slides/slide46.xml"/><Relationship Id="rId40" Type="http://schemas.openxmlformats.org/officeDocument/2006/relationships/slide" Target="slides/slide51.xml"/><Relationship Id="rId5" Type="http://schemas.openxmlformats.org/officeDocument/2006/relationships/slide" Target="slides/slide7.xml"/><Relationship Id="rId15" Type="http://schemas.openxmlformats.org/officeDocument/2006/relationships/slide" Target="slides/slide19.xml"/><Relationship Id="rId23" Type="http://schemas.openxmlformats.org/officeDocument/2006/relationships/slide" Target="slides/slide29.xml"/><Relationship Id="rId28" Type="http://schemas.openxmlformats.org/officeDocument/2006/relationships/slide" Target="slides/slide34.xml"/><Relationship Id="rId36" Type="http://schemas.openxmlformats.org/officeDocument/2006/relationships/slide" Target="slides/slide44.xml"/><Relationship Id="rId10" Type="http://schemas.openxmlformats.org/officeDocument/2006/relationships/slide" Target="slides/slide14.xml"/><Relationship Id="rId19" Type="http://schemas.openxmlformats.org/officeDocument/2006/relationships/slide" Target="slides/slide23.xml"/><Relationship Id="rId31" Type="http://schemas.openxmlformats.org/officeDocument/2006/relationships/slide" Target="slides/slide38.xml"/><Relationship Id="rId44" Type="http://schemas.openxmlformats.org/officeDocument/2006/relationships/slide" Target="slides/slide64.xml"/><Relationship Id="rId4" Type="http://schemas.openxmlformats.org/officeDocument/2006/relationships/slide" Target="slides/slide6.xml"/><Relationship Id="rId9" Type="http://schemas.openxmlformats.org/officeDocument/2006/relationships/slide" Target="slides/slide13.xml"/><Relationship Id="rId14" Type="http://schemas.openxmlformats.org/officeDocument/2006/relationships/slide" Target="slides/slide18.xml"/><Relationship Id="rId22" Type="http://schemas.openxmlformats.org/officeDocument/2006/relationships/slide" Target="slides/slide28.xml"/><Relationship Id="rId27" Type="http://schemas.openxmlformats.org/officeDocument/2006/relationships/slide" Target="slides/slide33.xml"/><Relationship Id="rId30" Type="http://schemas.openxmlformats.org/officeDocument/2006/relationships/slide" Target="slides/slide36.xml"/><Relationship Id="rId35" Type="http://schemas.openxmlformats.org/officeDocument/2006/relationships/slide" Target="slides/slide43.xml"/><Relationship Id="rId43" Type="http://schemas.openxmlformats.org/officeDocument/2006/relationships/slide" Target="slides/slide54.xml"/><Relationship Id="rId8" Type="http://schemas.openxmlformats.org/officeDocument/2006/relationships/slide" Target="slides/slide12.xml"/><Relationship Id="rId3" Type="http://schemas.openxmlformats.org/officeDocument/2006/relationships/slide" Target="slides/slide3.xml"/><Relationship Id="rId12" Type="http://schemas.openxmlformats.org/officeDocument/2006/relationships/slide" Target="slides/slide16.xml"/><Relationship Id="rId17" Type="http://schemas.openxmlformats.org/officeDocument/2006/relationships/slide" Target="slides/slide21.xml"/><Relationship Id="rId25" Type="http://schemas.openxmlformats.org/officeDocument/2006/relationships/slide" Target="slides/slide31.xml"/><Relationship Id="rId33" Type="http://schemas.openxmlformats.org/officeDocument/2006/relationships/slide" Target="slides/slide41.xml"/><Relationship Id="rId38" Type="http://schemas.openxmlformats.org/officeDocument/2006/relationships/slide" Target="slides/slide4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>
            <a:extLst>
              <a:ext uri="{FF2B5EF4-FFF2-40B4-BE49-F238E27FC236}">
                <a16:creationId xmlns:a16="http://schemas.microsoft.com/office/drawing/2014/main" id="{DC502009-AAE7-DABC-0C0D-7EB705C571E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533400"/>
            <a:ext cx="77216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altLang="en-US" noProof="0"/>
              <a:t>Click to edit Master title style</a:t>
            </a:r>
          </a:p>
        </p:txBody>
      </p:sp>
      <p:sp>
        <p:nvSpPr>
          <p:cNvPr id="54275" name="Rectangle 1027">
            <a:extLst>
              <a:ext uri="{FF2B5EF4-FFF2-40B4-BE49-F238E27FC236}">
                <a16:creationId xmlns:a16="http://schemas.microsoft.com/office/drawing/2014/main" id="{FF1B2F42-81BE-85C2-1A30-6334B5CCF7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14400" y="3028950"/>
            <a:ext cx="6400800" cy="1771650"/>
          </a:xfrm>
        </p:spPr>
        <p:txBody>
          <a:bodyPr/>
          <a:lstStyle>
            <a:lvl1pPr marL="0" indent="0">
              <a:buFontTx/>
              <a:buNone/>
              <a:defRPr>
                <a:latin typeface="Arial Black" panose="020B0A04020102020204" pitchFamily="34" charset="0"/>
              </a:defRPr>
            </a:lvl1pPr>
          </a:lstStyle>
          <a:p>
            <a:pPr lvl="0"/>
            <a:r>
              <a:rPr lang="en-GB" altLang="en-US" noProof="0"/>
              <a:t>Click to edit Master subtitle style</a:t>
            </a:r>
          </a:p>
        </p:txBody>
      </p:sp>
      <p:sp>
        <p:nvSpPr>
          <p:cNvPr id="54276" name="Rectangle 1028">
            <a:extLst>
              <a:ext uri="{FF2B5EF4-FFF2-40B4-BE49-F238E27FC236}">
                <a16:creationId xmlns:a16="http://schemas.microsoft.com/office/drawing/2014/main" id="{FE2AE50D-15B3-0A9F-DAF3-3874F52B1E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711200" y="6229350"/>
            <a:ext cx="19304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endParaRPr lang="en-GB" altLang="en-US"/>
          </a:p>
        </p:txBody>
      </p:sp>
      <p:sp>
        <p:nvSpPr>
          <p:cNvPr id="54277" name="Rectangle 1029">
            <a:extLst>
              <a:ext uri="{FF2B5EF4-FFF2-40B4-BE49-F238E27FC236}">
                <a16:creationId xmlns:a16="http://schemas.microsoft.com/office/drawing/2014/main" id="{E7023D79-D0F8-CB62-0C72-C5BAD39D036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49600" y="6229350"/>
            <a:ext cx="2844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endParaRPr lang="en-GB" altLang="en-US"/>
          </a:p>
        </p:txBody>
      </p:sp>
      <p:sp>
        <p:nvSpPr>
          <p:cNvPr id="54278" name="Rectangle 1030">
            <a:extLst>
              <a:ext uri="{FF2B5EF4-FFF2-40B4-BE49-F238E27FC236}">
                <a16:creationId xmlns:a16="http://schemas.microsoft.com/office/drawing/2014/main" id="{00EC33C0-EC7B-2BC4-D466-50454D67222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fld id="{BD3C456C-69E4-48B5-A873-23AD6EFA5F45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54279" name="Line 1031">
            <a:extLst>
              <a:ext uri="{FF2B5EF4-FFF2-40B4-BE49-F238E27FC236}">
                <a16:creationId xmlns:a16="http://schemas.microsoft.com/office/drawing/2014/main" id="{81CED90F-30A3-B870-FF3B-4B04EB813C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514600"/>
            <a:ext cx="8153400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06C57-40A8-CCD4-45AF-DEACEBE51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7554A-7763-0E03-D4B2-72FBB25B2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8747C-F6E3-CDC6-668B-2AE43463A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D835C-B13C-C5BA-E25F-9D3E3A59A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E2781-C552-ED60-E62A-41DD185B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D7520D-1664-464D-BF7C-566346A6BED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36376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ADC5C-2642-82F0-9A98-128B88855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E4D13-D43A-7586-74D9-822A050B8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BA3B1-877C-BDA5-009E-C60666DCD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3EAE4-811B-5BCD-E3C3-1D37CE11A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E5A86-6A11-3D3D-B3F9-F28E7860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48EBA5-0CDC-4898-89AA-725C0083509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9220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E0AA-7A24-3101-0877-5D60725DF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B5793-C2EC-744A-D365-77FF2D97E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13200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F5833-AD36-FFA9-C558-F0820055A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2800" y="1371600"/>
            <a:ext cx="4013200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3E05E-3421-D731-45E9-A9F8C55A8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A73C4-6D19-5922-93E7-B8E8B9A5E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0E940-E44C-DA12-C9A3-41E741D8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6ED251-EDB6-47CA-9352-788DAC7AF2D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98934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0B914-1911-1A33-49ED-088E1A255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41B7C-DB48-A60C-B2F6-8DF6490EE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17F87-9ACF-DBB6-29D9-E8CD1EA32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0A68F-266A-1C70-63DC-A26E9556A5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91B06D-5CFE-E0B0-D01A-14CCEB5E9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EEB4FB-EB88-EFB9-1FB6-2F8E3AAAA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7162F8-059B-A83D-C3B9-1116B06E8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0AF6AE-92D3-69DE-FCEA-73172F9D8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03D225-14F7-4C4B-829F-8500CF6D2A2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97233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5AB8B-FB15-1204-C424-A22F252BE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C2C5F4-25B9-F628-ABF6-825883FEC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1B4F4-9BEE-EFC4-D8C7-2464E476B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669B4-E09F-B62E-14D4-C0E12D0F4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B36479-763B-4C9C-A0FE-20404F524DB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84207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48F48F-95BD-259B-89A8-F807255FD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17D46F-C97C-8A82-9015-2D4921140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4D0F8-AC83-67B9-1EEB-1DADAB669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1F224-49EA-4EF2-B4F9-419E714B0B8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6376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3267E-7050-34D9-5815-E33B437C9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49872-8A2E-D435-7BB2-AB82A8310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AAD61-8405-EC78-8425-167688959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0A8BA-B120-F62C-208D-F21E528F7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4A430-94E8-AA92-A1CB-80838C83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93198-3EE1-8771-46A4-D6222FFBD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19C9F8-17D0-44FF-BBCF-90D1C3E6C7A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8556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41FA-8872-D372-109A-E7740C6EF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E7D44B-0D11-1793-26F3-F5E18FFF97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CC818B-B83D-1807-7962-B95F1611A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F274B-CA6E-4744-DC86-E626292B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014EC-C803-7751-4313-F875530CE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60257-DEF4-F669-F90D-6DD9DA900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C31A09-4C9C-4F29-B4C7-D6B27ED1655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07107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ECC6D-5D0D-4874-32EF-164064E89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7E5CF-3CED-F674-1EF7-77AE3DB8F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8AF17-489C-46A1-DB63-47152320F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CD68E-9E5A-327E-1BC2-583F454F3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4A4B8-30A6-9162-CB04-2C138B1B7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205451-0468-4CCC-89B8-CF3C5093DDD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3926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14986C-5A2A-137E-5320-023416DA9B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78600" y="152400"/>
            <a:ext cx="2057400" cy="59055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10B59-5F9B-EC7D-59FB-A06925C95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06400" y="152400"/>
            <a:ext cx="6019800" cy="59055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D9F6B-95C8-DEAD-035D-28176BC06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3AFD7-A316-4D6D-4161-B5C6A6386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04DBF-CF96-B647-A39D-86016554A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D024F9-232A-4AAF-912E-9A80E45FB09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36871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2C485-A963-0577-3DC7-EA2709FD1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52400"/>
            <a:ext cx="8204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B78DE127-9CB0-C18B-88D9-DB893C8FFFA9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57200" y="1371600"/>
            <a:ext cx="8178800" cy="46863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303A3-6788-2240-0788-232FC8FC5D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800" y="62293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4EDFF-95A4-C149-9191-1C317051B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2935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46ED-CE10-03FC-3B67-9CF95D9A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31000" y="62293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3AF1136-8824-4018-87BE-53C2E2FE6D0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9588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1E392A92-519B-EC56-33AD-8AC04E24E7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152400"/>
            <a:ext cx="8204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745D580C-E295-E8EA-E8B5-24106BF022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1788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2A9916FF-82CF-BB0D-96E6-243A68B0B10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endParaRPr lang="en-GB" altLang="en-US"/>
          </a:p>
        </p:txBody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61756915-AD8D-5FB7-D892-8FF416C17C1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endParaRPr lang="en-GB" altLang="en-US"/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51304089-530A-24FF-1F6F-6A2AFDBBCD8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fld id="{6BAD644A-C732-4DB8-A95F-F5D4A2D3D50A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53255" name="Line 7">
            <a:extLst>
              <a:ext uri="{FF2B5EF4-FFF2-40B4-BE49-F238E27FC236}">
                <a16:creationId xmlns:a16="http://schemas.microsoft.com/office/drawing/2014/main" id="{8925139A-54BA-EB7D-B677-06783FC454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295400"/>
            <a:ext cx="8153400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anose="020B0A040201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anose="020B0A040201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anose="020B0A040201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anose="020B0A040201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anose="020B0A040201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anose="020B0A040201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anose="020B0A040201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anose="020B0A040201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Char char="—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Char char="•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B7BF232-AA7E-FAB4-4814-2D47451896C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William Stallings</a:t>
            </a:r>
            <a:br>
              <a:rPr lang="en-US" altLang="en-US"/>
            </a:br>
            <a:r>
              <a:rPr lang="en-US" altLang="en-US"/>
              <a:t>Data and Computer Communications</a:t>
            </a:r>
            <a:br>
              <a:rPr lang="en-GB" altLang="en-US"/>
            </a:br>
            <a:r>
              <a:rPr lang="en-GB" altLang="en-US"/>
              <a:t>7</a:t>
            </a:r>
            <a:r>
              <a:rPr lang="en-GB" altLang="en-US" baseline="30000"/>
              <a:t>th</a:t>
            </a:r>
            <a:r>
              <a:rPr lang="en-GB" altLang="en-US"/>
              <a:t> Edition</a:t>
            </a:r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1943D26-CCDC-F940-E311-C782ED9D4B2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Chapter 1</a:t>
            </a:r>
            <a:r>
              <a:rPr lang="en-GB" altLang="en-US"/>
              <a:t>7 Wireless </a:t>
            </a:r>
            <a:r>
              <a:rPr lang="en-US" altLang="en-US"/>
              <a:t>LAN</a:t>
            </a:r>
            <a:r>
              <a:rPr lang="en-GB" altLang="en-US"/>
              <a:t>s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4">
            <a:extLst>
              <a:ext uri="{FF2B5EF4-FFF2-40B4-BE49-F238E27FC236}">
                <a16:creationId xmlns:a16="http://schemas.microsoft.com/office/drawing/2014/main" id="{FF45A30C-61B0-28C4-F967-BED3CACF4F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Overview</a:t>
            </a:r>
            <a:endParaRPr lang="en-US" altLang="en-US"/>
          </a:p>
        </p:txBody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91E74120-47AE-F8BD-C619-DB155AEA55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A</a:t>
            </a:r>
            <a:r>
              <a:rPr lang="en-US" altLang="en-US"/>
              <a:t> wireless LAN use</a:t>
            </a:r>
            <a:r>
              <a:rPr lang="en-GB" altLang="en-US"/>
              <a:t>s</a:t>
            </a:r>
            <a:r>
              <a:rPr lang="en-US" altLang="en-US"/>
              <a:t> wireless transmission medium</a:t>
            </a:r>
            <a:endParaRPr lang="en-GB" altLang="en-US"/>
          </a:p>
          <a:p>
            <a:r>
              <a:rPr lang="en-GB" altLang="en-US"/>
              <a:t>Used to have</a:t>
            </a:r>
            <a:r>
              <a:rPr lang="en-US" altLang="en-US"/>
              <a:t> high prices, low data rates, occupational safety concerns, and licensing requirements</a:t>
            </a:r>
            <a:endParaRPr lang="en-GB" altLang="en-US"/>
          </a:p>
          <a:p>
            <a:r>
              <a:rPr lang="en-GB" altLang="en-US"/>
              <a:t>Problems </a:t>
            </a:r>
            <a:r>
              <a:rPr lang="en-US" altLang="en-US"/>
              <a:t>have been addressed</a:t>
            </a:r>
            <a:endParaRPr lang="en-GB" altLang="en-US"/>
          </a:p>
          <a:p>
            <a:r>
              <a:rPr lang="en-GB" altLang="en-US"/>
              <a:t>Popularity</a:t>
            </a:r>
            <a:r>
              <a:rPr lang="en-US" altLang="en-US"/>
              <a:t> of wireless LANs has grown rapidly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4">
            <a:extLst>
              <a:ext uri="{FF2B5EF4-FFF2-40B4-BE49-F238E27FC236}">
                <a16:creationId xmlns:a16="http://schemas.microsoft.com/office/drawing/2014/main" id="{C4AD73CA-9090-0231-218A-EE4D36CEA7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Applications - </a:t>
            </a:r>
            <a:r>
              <a:rPr lang="en-US" altLang="en-US"/>
              <a:t>LAN Extension</a:t>
            </a:r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A6B96A55-C4FE-E5AA-1BD7-F5E2AEECDA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Saves</a:t>
            </a:r>
            <a:r>
              <a:rPr lang="en-US" altLang="en-US" sz="2400"/>
              <a:t> installation of LAN cabling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Eases</a:t>
            </a:r>
            <a:r>
              <a:rPr lang="en-US" altLang="en-US" sz="2400"/>
              <a:t> relocation and other modifications to network structure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However,</a:t>
            </a:r>
            <a:r>
              <a:rPr lang="en-US" altLang="en-US" sz="2400"/>
              <a:t> increasing reliance on twisted pair cabling for LANs 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US" altLang="en-US" sz="2000"/>
              <a:t>Most older buildings already wired </a:t>
            </a:r>
            <a:r>
              <a:rPr lang="en-GB" altLang="en-US" sz="2000"/>
              <a:t>with </a:t>
            </a:r>
            <a:r>
              <a:rPr lang="en-US" altLang="en-US" sz="2000"/>
              <a:t>Cat 3 cable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Newer</a:t>
            </a:r>
            <a:r>
              <a:rPr lang="en-US" altLang="en-US" sz="2000"/>
              <a:t> buildings are prewired with Cat 5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400"/>
              <a:t>Wireless </a:t>
            </a:r>
            <a:r>
              <a:rPr lang="en-US" altLang="en-US" sz="2400"/>
              <a:t>LAN to replace wired LANs has not happened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In some</a:t>
            </a:r>
            <a:r>
              <a:rPr lang="en-US" altLang="en-US" sz="2400"/>
              <a:t> environments, role for the wireless LAN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Buildings</a:t>
            </a:r>
            <a:r>
              <a:rPr lang="en-US" altLang="en-US" sz="2000"/>
              <a:t> with large open areas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GB" altLang="en-US" sz="1800"/>
              <a:t>Manufacturing</a:t>
            </a:r>
            <a:r>
              <a:rPr lang="en-US" altLang="en-US" sz="1800"/>
              <a:t> plants, stock exchange trading floors,</a:t>
            </a:r>
            <a:r>
              <a:rPr lang="en-GB" altLang="en-US" sz="1800"/>
              <a:t> </a:t>
            </a:r>
            <a:r>
              <a:rPr lang="en-US" altLang="en-US" sz="1800"/>
              <a:t>warehouses</a:t>
            </a:r>
            <a:endParaRPr lang="en-GB" altLang="en-US" sz="1800"/>
          </a:p>
          <a:p>
            <a:pPr lvl="2">
              <a:lnSpc>
                <a:spcPct val="90000"/>
              </a:lnSpc>
            </a:pPr>
            <a:r>
              <a:rPr lang="en-GB" altLang="en-US" sz="1800"/>
              <a:t>Historical</a:t>
            </a:r>
            <a:r>
              <a:rPr lang="en-US" altLang="en-US" sz="1800"/>
              <a:t> buildings</a:t>
            </a:r>
            <a:endParaRPr lang="en-GB" altLang="en-US" sz="1800"/>
          </a:p>
          <a:p>
            <a:pPr lvl="2">
              <a:lnSpc>
                <a:spcPct val="90000"/>
              </a:lnSpc>
            </a:pPr>
            <a:r>
              <a:rPr lang="en-GB" altLang="en-US" sz="1800"/>
              <a:t>Small</a:t>
            </a:r>
            <a:r>
              <a:rPr lang="en-US" altLang="en-US" sz="1800"/>
              <a:t> offices where wired LANs not economical</a:t>
            </a: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GB" altLang="en-US" sz="2400"/>
              <a:t>May also</a:t>
            </a:r>
            <a:r>
              <a:rPr lang="en-US" altLang="en-US" sz="2400"/>
              <a:t> have wired LAN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Servers </a:t>
            </a:r>
            <a:r>
              <a:rPr lang="en-US" altLang="en-US" sz="2000"/>
              <a:t>and stationary workstations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C5567E79-13E4-11AC-1D80-6918DE505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Single Cell Wireless LAN Configuration</a:t>
            </a:r>
            <a:endParaRPr lang="en-US" altLang="en-US"/>
          </a:p>
        </p:txBody>
      </p:sp>
      <p:pic>
        <p:nvPicPr>
          <p:cNvPr id="55299" name="Picture 3">
            <a:extLst>
              <a:ext uri="{FF2B5EF4-FFF2-40B4-BE49-F238E27FC236}">
                <a16:creationId xmlns:a16="http://schemas.microsoft.com/office/drawing/2014/main" id="{0E3424BF-78EC-69C2-CF81-29E7D4E3F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47"/>
          <a:stretch>
            <a:fillRect/>
          </a:stretch>
        </p:blipFill>
        <p:spPr bwMode="auto">
          <a:xfrm>
            <a:off x="1143000" y="1371600"/>
            <a:ext cx="7010400" cy="539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2967080-23BA-A369-0144-71617534FF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Multi-Cell Wireless LAN Configuration</a:t>
            </a:r>
            <a:endParaRPr lang="en-US" altLang="en-US"/>
          </a:p>
        </p:txBody>
      </p:sp>
      <p:pic>
        <p:nvPicPr>
          <p:cNvPr id="56323" name="Picture 3">
            <a:extLst>
              <a:ext uri="{FF2B5EF4-FFF2-40B4-BE49-F238E27FC236}">
                <a16:creationId xmlns:a16="http://schemas.microsoft.com/office/drawing/2014/main" id="{CD092871-156F-8FE2-0755-4AC8BFBE1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54"/>
          <a:stretch>
            <a:fillRect/>
          </a:stretch>
        </p:blipFill>
        <p:spPr bwMode="auto">
          <a:xfrm>
            <a:off x="704850" y="1352550"/>
            <a:ext cx="7524750" cy="542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B70A9A6-DFA6-CEA9-530D-82B84E7F0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Applications – </a:t>
            </a:r>
            <a:br>
              <a:rPr lang="en-GB" altLang="en-US"/>
            </a:br>
            <a:r>
              <a:rPr lang="en-US" altLang="en-US"/>
              <a:t>Cross-Building Interconnect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76992EF0-7747-3258-0942-0799A5BCE4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Connect</a:t>
            </a:r>
            <a:r>
              <a:rPr lang="en-US" altLang="en-US"/>
              <a:t> LANs in nearby buildings</a:t>
            </a:r>
            <a:endParaRPr lang="en-GB" altLang="en-US"/>
          </a:p>
          <a:p>
            <a:r>
              <a:rPr lang="en-GB" altLang="en-US"/>
              <a:t>Point</a:t>
            </a:r>
            <a:r>
              <a:rPr lang="en-US" altLang="en-US"/>
              <a:t>-to-point wireless link</a:t>
            </a:r>
            <a:endParaRPr lang="en-GB" altLang="en-US"/>
          </a:p>
          <a:p>
            <a:r>
              <a:rPr lang="en-GB" altLang="en-US"/>
              <a:t>Connect</a:t>
            </a:r>
            <a:r>
              <a:rPr lang="en-US" altLang="en-US"/>
              <a:t> bridges or routers</a:t>
            </a:r>
            <a:endParaRPr lang="en-GB" altLang="en-US"/>
          </a:p>
          <a:p>
            <a:r>
              <a:rPr lang="en-GB" altLang="en-US"/>
              <a:t>Not</a:t>
            </a:r>
            <a:r>
              <a:rPr lang="en-US" altLang="en-US"/>
              <a:t> a LAN per se</a:t>
            </a:r>
            <a:endParaRPr lang="en-GB" altLang="en-US"/>
          </a:p>
          <a:p>
            <a:pPr lvl="1"/>
            <a:r>
              <a:rPr lang="en-GB" altLang="en-US"/>
              <a:t>Usual</a:t>
            </a:r>
            <a:r>
              <a:rPr lang="en-US" altLang="en-US"/>
              <a:t> to include this application under heading of wireless LAN</a:t>
            </a:r>
          </a:p>
          <a:p>
            <a:r>
              <a:rPr lang="en-US" altLang="en-US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DFE53CFD-1A70-8CEF-2FDB-2A613FBA1B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Applications - </a:t>
            </a:r>
            <a:r>
              <a:rPr lang="en-US" altLang="en-US"/>
              <a:t>Nomadic Access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1D8DAE6A-4B96-87EA-26DE-B067BCED3A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Link</a:t>
            </a:r>
            <a:r>
              <a:rPr lang="en-US" altLang="en-US"/>
              <a:t> between LAN hub and mobile data terminal </a:t>
            </a:r>
            <a:endParaRPr lang="en-GB" altLang="en-US"/>
          </a:p>
          <a:p>
            <a:pPr lvl="1"/>
            <a:r>
              <a:rPr lang="en-GB" altLang="en-US"/>
              <a:t>Laptop</a:t>
            </a:r>
            <a:r>
              <a:rPr lang="en-US" altLang="en-US"/>
              <a:t> or notepad computer</a:t>
            </a:r>
            <a:endParaRPr lang="en-GB" altLang="en-US"/>
          </a:p>
          <a:p>
            <a:pPr lvl="1"/>
            <a:r>
              <a:rPr lang="en-GB" altLang="en-US"/>
              <a:t>Enable </a:t>
            </a:r>
            <a:r>
              <a:rPr lang="en-US" altLang="en-US"/>
              <a:t>employee returning from trip to transfer data from portable computer to server</a:t>
            </a:r>
            <a:endParaRPr lang="en-GB" altLang="en-US"/>
          </a:p>
          <a:p>
            <a:r>
              <a:rPr lang="en-GB" altLang="en-US"/>
              <a:t>Also </a:t>
            </a:r>
            <a:r>
              <a:rPr lang="en-US" altLang="en-US"/>
              <a:t>useful in extended environment such as campus or cluster of buildings</a:t>
            </a:r>
            <a:endParaRPr lang="en-GB" altLang="en-US"/>
          </a:p>
          <a:p>
            <a:pPr lvl="1"/>
            <a:r>
              <a:rPr lang="en-GB" altLang="en-US"/>
              <a:t>Users</a:t>
            </a:r>
            <a:r>
              <a:rPr lang="en-US" altLang="en-US"/>
              <a:t> move around with portable computers</a:t>
            </a:r>
            <a:endParaRPr lang="en-GB" altLang="en-US"/>
          </a:p>
          <a:p>
            <a:pPr lvl="1"/>
            <a:r>
              <a:rPr lang="en-GB" altLang="en-US"/>
              <a:t>May</a:t>
            </a:r>
            <a:r>
              <a:rPr lang="en-US" altLang="en-US"/>
              <a:t> wish access to servers on wired 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8DCFE7F-7EA4-B57D-C2AF-4E9053419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Infrastructure Wireless LAN</a:t>
            </a:r>
            <a:endParaRPr lang="en-US" altLang="en-US"/>
          </a:p>
        </p:txBody>
      </p:sp>
      <p:pic>
        <p:nvPicPr>
          <p:cNvPr id="57347" name="Picture 3">
            <a:extLst>
              <a:ext uri="{FF2B5EF4-FFF2-40B4-BE49-F238E27FC236}">
                <a16:creationId xmlns:a16="http://schemas.microsoft.com/office/drawing/2014/main" id="{37B12188-53C5-A90F-9C49-3D98F3118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108"/>
          <a:stretch>
            <a:fillRect/>
          </a:stretch>
        </p:blipFill>
        <p:spPr bwMode="auto">
          <a:xfrm>
            <a:off x="762000" y="1371600"/>
            <a:ext cx="7593013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43F0FEC2-02B8-F73B-3C20-F18DBB2BA4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Applications – </a:t>
            </a:r>
            <a:br>
              <a:rPr lang="en-GB" altLang="en-US"/>
            </a:br>
            <a:r>
              <a:rPr lang="en-US" altLang="en-US"/>
              <a:t>Ad Hoc Networking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6281F02-BA25-204A-3618-77B32E105F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Peer</a:t>
            </a:r>
            <a:r>
              <a:rPr lang="en-US" altLang="en-US"/>
              <a:t>-to-peer network</a:t>
            </a:r>
            <a:endParaRPr lang="en-GB" altLang="en-US"/>
          </a:p>
          <a:p>
            <a:r>
              <a:rPr lang="en-GB" altLang="en-US"/>
              <a:t>Set </a:t>
            </a:r>
            <a:r>
              <a:rPr lang="en-US" altLang="en-US"/>
              <a:t>up temporarily to meet some immediate need</a:t>
            </a:r>
            <a:endParaRPr lang="en-GB" altLang="en-US"/>
          </a:p>
          <a:p>
            <a:r>
              <a:rPr lang="en-GB" altLang="en-US"/>
              <a:t>E.g.</a:t>
            </a:r>
            <a:r>
              <a:rPr lang="en-US" altLang="en-US"/>
              <a:t> group of employees, each with laptop or palmtop, in business or classroom meeting</a:t>
            </a:r>
            <a:endParaRPr lang="en-GB" altLang="en-US"/>
          </a:p>
          <a:p>
            <a:r>
              <a:rPr lang="en-GB" altLang="en-US"/>
              <a:t>Network</a:t>
            </a:r>
            <a:r>
              <a:rPr lang="en-US" altLang="en-US"/>
              <a:t> for duration of meeting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747ED7AA-DA22-C645-6F6C-730F92C4CD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Add Hoc LAN</a:t>
            </a:r>
            <a:endParaRPr lang="en-US" altLang="en-US"/>
          </a:p>
        </p:txBody>
      </p:sp>
      <p:pic>
        <p:nvPicPr>
          <p:cNvPr id="64515" name="Picture 3">
            <a:extLst>
              <a:ext uri="{FF2B5EF4-FFF2-40B4-BE49-F238E27FC236}">
                <a16:creationId xmlns:a16="http://schemas.microsoft.com/office/drawing/2014/main" id="{61355ECD-A9D5-CA0D-ED86-D64B99173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30" b="11563"/>
          <a:stretch>
            <a:fillRect/>
          </a:stretch>
        </p:blipFill>
        <p:spPr bwMode="auto">
          <a:xfrm>
            <a:off x="762000" y="1600200"/>
            <a:ext cx="7593013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1028">
            <a:extLst>
              <a:ext uri="{FF2B5EF4-FFF2-40B4-BE49-F238E27FC236}">
                <a16:creationId xmlns:a16="http://schemas.microsoft.com/office/drawing/2014/main" id="{20D019A2-C6C0-46D1-59B2-477257EA62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Wireless LAN Requirements</a:t>
            </a:r>
            <a:endParaRPr lang="en-US" altLang="en-US"/>
          </a:p>
        </p:txBody>
      </p:sp>
      <p:sp>
        <p:nvSpPr>
          <p:cNvPr id="72709" name="Rectangle 1029">
            <a:extLst>
              <a:ext uri="{FF2B5EF4-FFF2-40B4-BE49-F238E27FC236}">
                <a16:creationId xmlns:a16="http://schemas.microsoft.com/office/drawing/2014/main" id="{4031945C-E36F-9461-F66E-9C6E62D999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Same as </a:t>
            </a:r>
            <a:r>
              <a:rPr lang="en-US" altLang="en-US" sz="2000"/>
              <a:t>any LAN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1800"/>
              <a:t>High</a:t>
            </a:r>
            <a:r>
              <a:rPr lang="en-US" altLang="en-US" sz="1800"/>
              <a:t> capacity, short distances, full connectivity, broadcast capability</a:t>
            </a: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US" altLang="en-US" sz="2000"/>
              <a:t>Throughput: efficient use wireless medium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Number of nodes:</a:t>
            </a:r>
            <a:r>
              <a:rPr lang="en-GB" altLang="en-US" sz="2000"/>
              <a:t>Hundreds </a:t>
            </a:r>
            <a:r>
              <a:rPr lang="en-US" altLang="en-US" sz="2000"/>
              <a:t>of nodes across multiple cells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Connection to backbone LAN:</a:t>
            </a:r>
            <a:r>
              <a:rPr lang="en-GB" altLang="en-US" sz="2000"/>
              <a:t> Use</a:t>
            </a:r>
            <a:r>
              <a:rPr lang="en-US" altLang="en-US" sz="2000"/>
              <a:t> control modules</a:t>
            </a:r>
            <a:r>
              <a:rPr lang="en-GB" altLang="en-US" sz="2000"/>
              <a:t> to</a:t>
            </a:r>
            <a:r>
              <a:rPr lang="en-US" altLang="en-US" sz="2000"/>
              <a:t> connect to both types of LANs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Service area: 100 to 300 m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Low </a:t>
            </a:r>
            <a:r>
              <a:rPr lang="en-US" altLang="en-US" sz="2000"/>
              <a:t>power consumption:</a:t>
            </a:r>
            <a:r>
              <a:rPr lang="en-GB" altLang="en-US" sz="2000"/>
              <a:t>Need </a:t>
            </a:r>
            <a:r>
              <a:rPr lang="en-US" altLang="en-US" sz="2000"/>
              <a:t>long battery life </a:t>
            </a:r>
            <a:r>
              <a:rPr lang="en-GB" altLang="en-US" sz="2000"/>
              <a:t>on mobile stations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Mustn't</a:t>
            </a:r>
            <a:r>
              <a:rPr lang="en-US" altLang="en-US" sz="1800"/>
              <a:t> require nodes to monitor access points or frequent handshakes</a:t>
            </a: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US" altLang="en-US" sz="2000"/>
              <a:t>Transmission robustness and security:</a:t>
            </a:r>
            <a:r>
              <a:rPr lang="en-GB" altLang="en-US" sz="2000"/>
              <a:t>Interference</a:t>
            </a:r>
            <a:r>
              <a:rPr lang="en-US" altLang="en-US" sz="2000"/>
              <a:t> prone and easily eavesdropped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Collocated network operation:</a:t>
            </a:r>
            <a:r>
              <a:rPr lang="en-GB" altLang="en-US" sz="2000"/>
              <a:t>Two</a:t>
            </a:r>
            <a:r>
              <a:rPr lang="en-US" altLang="en-US" sz="2000"/>
              <a:t> or more wireless LANs in same area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License-free operation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Handoff/roaming: </a:t>
            </a:r>
            <a:r>
              <a:rPr lang="en-GB" altLang="en-US" sz="2000"/>
              <a:t>Move</a:t>
            </a:r>
            <a:r>
              <a:rPr lang="en-US" altLang="en-US" sz="2000"/>
              <a:t> from one cell to another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Dynamic configuration: </a:t>
            </a:r>
            <a:r>
              <a:rPr lang="en-GB" altLang="en-US" sz="2000"/>
              <a:t>Addition</a:t>
            </a:r>
            <a:r>
              <a:rPr lang="en-US" altLang="en-US" sz="2000"/>
              <a:t>, deletion, and relocation of end systems without disruption to users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4">
            <a:extLst>
              <a:ext uri="{FF2B5EF4-FFF2-40B4-BE49-F238E27FC236}">
                <a16:creationId xmlns:a16="http://schemas.microsoft.com/office/drawing/2014/main" id="{F3FB2007-90DA-B6C3-8D4C-AD06453ADF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Technology</a:t>
            </a:r>
            <a:endParaRPr lang="en-US" altLang="en-US"/>
          </a:p>
        </p:txBody>
      </p:sp>
      <p:sp>
        <p:nvSpPr>
          <p:cNvPr id="75781" name="Rectangle 5">
            <a:extLst>
              <a:ext uri="{FF2B5EF4-FFF2-40B4-BE49-F238E27FC236}">
                <a16:creationId xmlns:a16="http://schemas.microsoft.com/office/drawing/2014/main" id="{D8B62078-70CE-4714-7356-4E3DCCEE7B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Infrared (IR) LANs:</a:t>
            </a:r>
            <a:r>
              <a:rPr lang="en-GB" altLang="en-US"/>
              <a:t> Individual </a:t>
            </a:r>
            <a:r>
              <a:rPr lang="en-US" altLang="en-US"/>
              <a:t>cell of IR LAN limited to single room</a:t>
            </a:r>
            <a:endParaRPr lang="en-GB" altLang="en-US"/>
          </a:p>
          <a:p>
            <a:pPr lvl="1"/>
            <a:r>
              <a:rPr lang="en-GB" altLang="en-US"/>
              <a:t>IR </a:t>
            </a:r>
            <a:r>
              <a:rPr lang="en-US" altLang="en-US"/>
              <a:t>light does not penetrate opaque walls</a:t>
            </a:r>
          </a:p>
          <a:p>
            <a:r>
              <a:rPr lang="en-US" altLang="en-US"/>
              <a:t>Spread spectrum LANs: </a:t>
            </a:r>
            <a:r>
              <a:rPr lang="en-GB" altLang="en-US"/>
              <a:t>Mostly</a:t>
            </a:r>
            <a:r>
              <a:rPr lang="en-US" altLang="en-US"/>
              <a:t> operate in ISM (industrial, scientific, and medical) bands</a:t>
            </a:r>
            <a:endParaRPr lang="en-GB" altLang="en-US"/>
          </a:p>
          <a:p>
            <a:pPr lvl="1"/>
            <a:r>
              <a:rPr lang="en-GB" altLang="en-US"/>
              <a:t>No</a:t>
            </a:r>
            <a:r>
              <a:rPr lang="en-US" altLang="en-US"/>
              <a:t> Federal Communications Commission (FCC) licensing is required in </a:t>
            </a:r>
            <a:r>
              <a:rPr lang="en-GB" altLang="en-US"/>
              <a:t>USA</a:t>
            </a:r>
          </a:p>
          <a:p>
            <a:r>
              <a:rPr lang="en-US" altLang="en-US"/>
              <a:t>Narrowband microwave: </a:t>
            </a:r>
            <a:r>
              <a:rPr lang="en-GB" altLang="en-US"/>
              <a:t>Microwave</a:t>
            </a:r>
            <a:r>
              <a:rPr lang="en-US" altLang="en-US"/>
              <a:t> frequencies but not use spread spectrum</a:t>
            </a:r>
            <a:endParaRPr lang="en-GB" altLang="en-US"/>
          </a:p>
          <a:p>
            <a:pPr lvl="1"/>
            <a:r>
              <a:rPr lang="en-US" altLang="en-US"/>
              <a:t>Some require FCC licensing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4" name="Rectangle 4">
            <a:extLst>
              <a:ext uri="{FF2B5EF4-FFF2-40B4-BE49-F238E27FC236}">
                <a16:creationId xmlns:a16="http://schemas.microsoft.com/office/drawing/2014/main" id="{2832E397-D7C1-088B-F35D-6A6435F030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Infrared LANs</a:t>
            </a:r>
            <a:br>
              <a:rPr lang="en-GB" altLang="en-US"/>
            </a:br>
            <a:r>
              <a:rPr lang="en-US" altLang="en-US"/>
              <a:t>Strengths and Weaknesses</a:t>
            </a:r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F11E7CFC-C04B-F161-CF06-DC35E9598E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Spectrum</a:t>
            </a:r>
            <a:r>
              <a:rPr lang="en-US" altLang="en-US" sz="2400"/>
              <a:t> virtually unlimited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Infrared</a:t>
            </a:r>
            <a:r>
              <a:rPr lang="en-US" altLang="en-US" sz="2000"/>
              <a:t> spectrum is unregulated worldwide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Extremely</a:t>
            </a:r>
            <a:r>
              <a:rPr lang="en-US" altLang="en-US" sz="2000"/>
              <a:t> high data rates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400"/>
              <a:t>Infrared </a:t>
            </a:r>
            <a:r>
              <a:rPr lang="en-US" altLang="en-US" sz="2400"/>
              <a:t>shares some properties of visible light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Diffusely</a:t>
            </a:r>
            <a:r>
              <a:rPr lang="en-US" altLang="en-US" sz="2000"/>
              <a:t> reflected by light-colored objects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GB" altLang="en-US" sz="1800"/>
              <a:t>Use</a:t>
            </a:r>
            <a:r>
              <a:rPr lang="en-US" altLang="en-US" sz="1800"/>
              <a:t> ceiling reflection to</a:t>
            </a:r>
            <a:r>
              <a:rPr lang="en-GB" altLang="en-US" sz="1800"/>
              <a:t> cover</a:t>
            </a:r>
            <a:r>
              <a:rPr lang="en-US" altLang="en-US" sz="1800"/>
              <a:t> entire room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2000"/>
              <a:t>Does </a:t>
            </a:r>
            <a:r>
              <a:rPr lang="en-US" altLang="en-US" sz="2000"/>
              <a:t>not penetrate walls or other opaque objects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GB" altLang="en-US" sz="1800"/>
              <a:t>More</a:t>
            </a:r>
            <a:r>
              <a:rPr lang="en-US" altLang="en-US" sz="1800"/>
              <a:t> easily secured against eavesdropping than microwave</a:t>
            </a:r>
            <a:endParaRPr lang="en-GB" altLang="en-US" sz="1800"/>
          </a:p>
          <a:p>
            <a:pPr lvl="2">
              <a:lnSpc>
                <a:spcPct val="90000"/>
              </a:lnSpc>
            </a:pPr>
            <a:r>
              <a:rPr lang="en-GB" altLang="en-US" sz="1800"/>
              <a:t>Separate </a:t>
            </a:r>
            <a:r>
              <a:rPr lang="en-US" altLang="en-US" sz="1800"/>
              <a:t>installation in every room without interference</a:t>
            </a: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GB" altLang="en-US" sz="2400"/>
              <a:t>Inexpensive</a:t>
            </a:r>
            <a:r>
              <a:rPr lang="en-US" altLang="en-US" sz="2400"/>
              <a:t> and simple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Uses</a:t>
            </a:r>
            <a:r>
              <a:rPr lang="en-US" altLang="en-US" sz="2000"/>
              <a:t> intensity modulation, so receivers need to detect only</a:t>
            </a:r>
            <a:r>
              <a:rPr lang="en-GB" altLang="en-US" sz="2000"/>
              <a:t> </a:t>
            </a:r>
            <a:r>
              <a:rPr lang="en-US" altLang="en-US" sz="2000"/>
              <a:t>amplitude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400"/>
              <a:t>Background </a:t>
            </a:r>
            <a:r>
              <a:rPr lang="en-US" altLang="en-US" sz="2400"/>
              <a:t>radiation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Sunlight,</a:t>
            </a:r>
            <a:r>
              <a:rPr lang="en-US" altLang="en-US" sz="2000"/>
              <a:t> indoor lighting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Noise</a:t>
            </a:r>
            <a:r>
              <a:rPr lang="en-US" altLang="en-US" sz="2000"/>
              <a:t>, requiring higher power and limiting range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Power</a:t>
            </a:r>
            <a:r>
              <a:rPr lang="en-US" altLang="en-US" sz="2000"/>
              <a:t> limited by concerns of eye safety and power consumption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E54BBAFC-3C87-FB89-3009-E94DCFA041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Infrared LANs</a:t>
            </a:r>
            <a:br>
              <a:rPr lang="en-GB" altLang="en-US"/>
            </a:br>
            <a:r>
              <a:rPr lang="en-US" altLang="en-US"/>
              <a:t>Transmission Techniques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5DDDDE31-EF85-556D-D28D-A334FD489C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Directed-beam IR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Point</a:t>
            </a:r>
            <a:r>
              <a:rPr lang="en-US" altLang="en-US" sz="2000"/>
              <a:t>-to-point links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Range</a:t>
            </a:r>
            <a:r>
              <a:rPr lang="en-US" altLang="en-US" sz="2000"/>
              <a:t> depends on power and focusing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GB" altLang="en-US" sz="1800"/>
              <a:t>Can</a:t>
            </a:r>
            <a:r>
              <a:rPr lang="en-US" altLang="en-US" sz="1800"/>
              <a:t> </a:t>
            </a:r>
            <a:r>
              <a:rPr lang="en-GB" altLang="en-US" sz="1800"/>
              <a:t>be</a:t>
            </a:r>
            <a:r>
              <a:rPr lang="en-US" altLang="en-US" sz="1800"/>
              <a:t> kilometers</a:t>
            </a:r>
            <a:endParaRPr lang="en-GB" altLang="en-US" sz="1800"/>
          </a:p>
          <a:p>
            <a:pPr lvl="2">
              <a:lnSpc>
                <a:spcPct val="90000"/>
              </a:lnSpc>
            </a:pPr>
            <a:r>
              <a:rPr lang="en-GB" altLang="en-US" sz="1800"/>
              <a:t>Used</a:t>
            </a:r>
            <a:r>
              <a:rPr lang="en-US" altLang="en-US" sz="1800"/>
              <a:t> for building interconnect within line of sight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Indoor</a:t>
            </a:r>
            <a:r>
              <a:rPr lang="en-US" altLang="en-US" sz="2000"/>
              <a:t> use to set up token ring LAN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US" altLang="en-US" sz="2000"/>
              <a:t>IR transceivers positioned so that data circulate in ring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400"/>
              <a:t>Omnidirectional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Single</a:t>
            </a:r>
            <a:r>
              <a:rPr lang="en-US" altLang="en-US" sz="2000"/>
              <a:t> base station within line of sight of all other stations 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US" altLang="en-US" sz="1800"/>
              <a:t>Typically, mounted on ceiling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2000"/>
              <a:t>Acts</a:t>
            </a:r>
            <a:r>
              <a:rPr lang="en-US" altLang="en-US" sz="2000"/>
              <a:t> as a multiport repeater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Other</a:t>
            </a:r>
            <a:r>
              <a:rPr lang="en-US" altLang="en-US" sz="2000"/>
              <a:t> transceivers</a:t>
            </a:r>
            <a:r>
              <a:rPr lang="en-GB" altLang="en-US" sz="2000"/>
              <a:t> use</a:t>
            </a:r>
            <a:r>
              <a:rPr lang="en-US" altLang="en-US" sz="2000"/>
              <a:t> directional beam aimed at ceiling unit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Diffused</a:t>
            </a:r>
            <a:r>
              <a:rPr lang="en-US" altLang="en-US" sz="2400"/>
              <a:t> configuration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Transmitters</a:t>
            </a:r>
            <a:r>
              <a:rPr lang="en-US" altLang="en-US" sz="2000"/>
              <a:t> are focused and aimed </a:t>
            </a:r>
            <a:r>
              <a:rPr lang="en-GB" altLang="en-US" sz="2000"/>
              <a:t>at</a:t>
            </a:r>
            <a:r>
              <a:rPr lang="en-US" altLang="en-US" sz="2000"/>
              <a:t> diffusely reflecting ceiling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Rectangle 4">
            <a:extLst>
              <a:ext uri="{FF2B5EF4-FFF2-40B4-BE49-F238E27FC236}">
                <a16:creationId xmlns:a16="http://schemas.microsoft.com/office/drawing/2014/main" id="{12658114-95F2-5519-B8F5-F5F9E7DF3A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Spread Spectrum LANs</a:t>
            </a:r>
            <a:br>
              <a:rPr lang="en-GB" altLang="en-US"/>
            </a:br>
            <a:r>
              <a:rPr lang="en-GB" altLang="en-US"/>
              <a:t>Hub Configuration</a:t>
            </a:r>
            <a:endParaRPr lang="en-US" altLang="en-US"/>
          </a:p>
        </p:txBody>
      </p:sp>
      <p:sp>
        <p:nvSpPr>
          <p:cNvPr id="78853" name="Rectangle 5">
            <a:extLst>
              <a:ext uri="{FF2B5EF4-FFF2-40B4-BE49-F238E27FC236}">
                <a16:creationId xmlns:a16="http://schemas.microsoft.com/office/drawing/2014/main" id="{080EAA08-EB44-B8B1-982B-3877ACEC3F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Usually </a:t>
            </a:r>
            <a:r>
              <a:rPr lang="en-US" altLang="en-US" sz="2400"/>
              <a:t>use multiple-cell arrangement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Adjacent cells use different center frequencies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Hub</a:t>
            </a:r>
            <a:r>
              <a:rPr lang="en-US" altLang="en-US" sz="2400"/>
              <a:t> is typically mounted on ceiling 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Connected </a:t>
            </a:r>
            <a:r>
              <a:rPr lang="en-US" altLang="en-US" sz="2000"/>
              <a:t>to</a:t>
            </a:r>
            <a:r>
              <a:rPr lang="en-GB" altLang="en-US" sz="2000"/>
              <a:t> </a:t>
            </a:r>
            <a:r>
              <a:rPr lang="en-US" altLang="en-US" sz="2000"/>
              <a:t>wired LAN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Connect</a:t>
            </a:r>
            <a:r>
              <a:rPr lang="en-US" altLang="en-US" sz="2000"/>
              <a:t> to stations attached to wired LAN and in other cells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May</a:t>
            </a:r>
            <a:r>
              <a:rPr lang="en-US" altLang="en-US" sz="2000"/>
              <a:t> also control access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US" altLang="en-US" sz="1800"/>
              <a:t>IEEE 802.11 point coordination function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2000"/>
              <a:t>May also act as</a:t>
            </a:r>
            <a:r>
              <a:rPr lang="en-US" altLang="en-US" sz="2000"/>
              <a:t> multiport repeater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GB" altLang="en-US" sz="1800"/>
              <a:t>Stations</a:t>
            </a:r>
            <a:r>
              <a:rPr lang="en-US" altLang="en-US" sz="1800"/>
              <a:t> transmit to hub and receive from hub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2000"/>
              <a:t>Stations</a:t>
            </a:r>
            <a:r>
              <a:rPr lang="en-US" altLang="en-US" sz="2000"/>
              <a:t> may broadcast using an omnidirectional antenna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GB" altLang="en-US" sz="1800"/>
              <a:t>Logical</a:t>
            </a:r>
            <a:r>
              <a:rPr lang="en-US" altLang="en-US" sz="1800"/>
              <a:t> bus configuration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Hub may do</a:t>
            </a:r>
            <a:r>
              <a:rPr lang="en-US" altLang="en-US" sz="2400"/>
              <a:t> automatic handoff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Weakening</a:t>
            </a:r>
            <a:r>
              <a:rPr lang="en-US" altLang="en-US" sz="2000"/>
              <a:t> signal, hand off</a:t>
            </a:r>
            <a:endParaRPr lang="en-GB" alt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624A9C86-4D6A-7524-1092-A34938B480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Spread Spectrum LANs</a:t>
            </a:r>
            <a:br>
              <a:rPr lang="en-GB" altLang="en-US"/>
            </a:br>
            <a:r>
              <a:rPr lang="en-GB" altLang="en-US"/>
              <a:t>Peer-to-Peer Configuration </a:t>
            </a:r>
            <a:endParaRPr lang="en-US" altLang="en-US"/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251B93E3-B23B-5686-B90B-B782393458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No</a:t>
            </a:r>
            <a:r>
              <a:rPr lang="en-US" altLang="en-US"/>
              <a:t> hub</a:t>
            </a:r>
            <a:endParaRPr lang="en-GB" altLang="en-US"/>
          </a:p>
          <a:p>
            <a:r>
              <a:rPr lang="en-US" altLang="en-US"/>
              <a:t>MAC algorithm such as CSMA used to control access</a:t>
            </a:r>
            <a:endParaRPr lang="en-GB" altLang="en-US"/>
          </a:p>
          <a:p>
            <a:r>
              <a:rPr lang="en-GB" altLang="en-US"/>
              <a:t>Ad</a:t>
            </a:r>
            <a:r>
              <a:rPr lang="en-US" altLang="en-US"/>
              <a:t> hoc LANs</a:t>
            </a:r>
          </a:p>
          <a:p>
            <a:r>
              <a:rPr lang="en-US" altLang="en-US"/>
              <a:t>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569281AE-35AC-C6E8-6A0A-4B7ED12053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Spread Spectrum LANs</a:t>
            </a:r>
            <a:br>
              <a:rPr lang="en-GB" altLang="en-US"/>
            </a:br>
            <a:r>
              <a:rPr lang="en-GB" altLang="en-US"/>
              <a:t>Transmission Issues </a:t>
            </a:r>
            <a:endParaRPr lang="en-US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8659B89F-74CC-7429-5D5E-9859DE07EF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Licensing </a:t>
            </a:r>
            <a:r>
              <a:rPr lang="en-US" altLang="en-US" sz="2400"/>
              <a:t>regulations differ from one country to another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U</a:t>
            </a:r>
            <a:r>
              <a:rPr lang="en-GB" altLang="en-US" sz="2400"/>
              <a:t>SA</a:t>
            </a:r>
            <a:r>
              <a:rPr lang="en-US" altLang="en-US" sz="2400"/>
              <a:t> FCC authorized two unlicensed applications within the ISM band: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Spread </a:t>
            </a:r>
            <a:r>
              <a:rPr lang="en-US" altLang="en-US" sz="2000"/>
              <a:t>spectrum</a:t>
            </a:r>
            <a:r>
              <a:rPr lang="en-GB" altLang="en-US" sz="2000"/>
              <a:t> - up</a:t>
            </a:r>
            <a:r>
              <a:rPr lang="en-US" altLang="en-US" sz="2000"/>
              <a:t> to 1 watt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Very</a:t>
            </a:r>
            <a:r>
              <a:rPr lang="en-US" altLang="en-US" sz="2000"/>
              <a:t> low power systems</a:t>
            </a:r>
            <a:r>
              <a:rPr lang="en-GB" altLang="en-US" sz="2000"/>
              <a:t>- up </a:t>
            </a:r>
            <a:r>
              <a:rPr lang="en-US" altLang="en-US" sz="2000"/>
              <a:t>to 0.5 watts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US" altLang="en-US" sz="2000"/>
              <a:t>902 - 928 MHz (915-MHz band)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US" altLang="en-US" sz="2000"/>
              <a:t>2.4 - 2.4835 GHz (2.4-GHz band)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US" altLang="en-US" sz="2000"/>
              <a:t>5.725 - 5.825 GHz (5.8-GHz band)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US" altLang="en-US" sz="2000"/>
              <a:t>2.4 GHz also in Europe and Japan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Higher</a:t>
            </a:r>
            <a:r>
              <a:rPr lang="en-US" altLang="en-US" sz="2000"/>
              <a:t> frequency</a:t>
            </a:r>
            <a:r>
              <a:rPr lang="en-GB" altLang="en-US" sz="2000"/>
              <a:t> means </a:t>
            </a:r>
            <a:r>
              <a:rPr lang="en-US" altLang="en-US" sz="2000"/>
              <a:t>higher potential bandwidth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400"/>
              <a:t>Interference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Devices</a:t>
            </a:r>
            <a:r>
              <a:rPr lang="en-US" altLang="en-US" sz="2000"/>
              <a:t> at around 900 MHz, including cordless telephones, wireless microphones, and amateur radio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Fewer</a:t>
            </a:r>
            <a:r>
              <a:rPr lang="en-US" altLang="en-US" sz="2000"/>
              <a:t> devices at 2.4 GHz; microwave oven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Little</a:t>
            </a:r>
            <a:r>
              <a:rPr lang="en-US" altLang="en-US" sz="2000"/>
              <a:t> competition at 5.8 GHz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GB" altLang="en-US" sz="1800"/>
              <a:t>Higher </a:t>
            </a:r>
            <a:r>
              <a:rPr lang="en-US" altLang="en-US" sz="1800"/>
              <a:t>frequency band, more expensive equipment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Rectangle 4">
            <a:extLst>
              <a:ext uri="{FF2B5EF4-FFF2-40B4-BE49-F238E27FC236}">
                <a16:creationId xmlns:a16="http://schemas.microsoft.com/office/drawing/2014/main" id="{D261D155-2CA8-665B-E516-1E96C9EB81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Narrow Band Microwave LANs</a:t>
            </a:r>
            <a:endParaRPr lang="en-US" altLang="en-US"/>
          </a:p>
        </p:txBody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BF17F395-FE77-13E9-C890-C76C80E403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Just </a:t>
            </a:r>
            <a:r>
              <a:rPr lang="en-US" altLang="en-US"/>
              <a:t>wide enough to accommodate signal</a:t>
            </a:r>
            <a:endParaRPr lang="en-GB" altLang="en-US"/>
          </a:p>
          <a:p>
            <a:r>
              <a:rPr lang="en-US" altLang="en-US"/>
              <a:t>Until recently, all products used licensed band</a:t>
            </a:r>
            <a:endParaRPr lang="en-GB" altLang="en-US"/>
          </a:p>
          <a:p>
            <a:r>
              <a:rPr lang="en-GB" altLang="en-US"/>
              <a:t>At</a:t>
            </a:r>
            <a:r>
              <a:rPr lang="en-US" altLang="en-US"/>
              <a:t> least one vendor has produced LAN product in ISM band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1E65F612-4785-7E60-B530-79C8E56D0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Licensed Narrowband RF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3F032F54-7F0A-8EB5-2A8A-15C7DED47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Microwave frequencies usable for voice, data, and video licensed within specific geographic areas to avoid interference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1800"/>
              <a:t>Radium</a:t>
            </a:r>
            <a:r>
              <a:rPr lang="en-US" altLang="en-US" sz="1800"/>
              <a:t> 28 km 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1800"/>
              <a:t>Can</a:t>
            </a:r>
            <a:r>
              <a:rPr lang="en-US" altLang="en-US" sz="1800"/>
              <a:t> contain five licenses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1800"/>
              <a:t>Each</a:t>
            </a:r>
            <a:r>
              <a:rPr lang="en-US" altLang="en-US" sz="1800"/>
              <a:t> covering two frequencies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US" altLang="en-US" sz="1800"/>
              <a:t>Motorola holds 600 licenses (1200 frequencies) in the 18-GHz range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1800"/>
              <a:t>Cover</a:t>
            </a:r>
            <a:r>
              <a:rPr lang="en-US" altLang="en-US" sz="1800"/>
              <a:t> all metropolitan areas with populations of 30,000 or more</a:t>
            </a:r>
            <a:r>
              <a:rPr lang="en-GB" altLang="en-US" sz="1800"/>
              <a:t> in USA</a:t>
            </a:r>
            <a:endParaRPr lang="en-US" altLang="en-US" sz="1800"/>
          </a:p>
          <a:p>
            <a:pPr>
              <a:lnSpc>
                <a:spcPct val="90000"/>
              </a:lnSpc>
            </a:pPr>
            <a:r>
              <a:rPr lang="en-GB" altLang="en-US" sz="2000"/>
              <a:t>Use</a:t>
            </a:r>
            <a:r>
              <a:rPr lang="en-US" altLang="en-US" sz="2000"/>
              <a:t> of cell configuration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Adjacent cells use nonoverlapping frequency bands 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Motorola controls frequency band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1800"/>
              <a:t>Can</a:t>
            </a:r>
            <a:r>
              <a:rPr lang="en-US" altLang="en-US" sz="1800"/>
              <a:t> assure nearby independent LANs do not interfere</a:t>
            </a: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GB" altLang="en-US" sz="2000"/>
              <a:t>All</a:t>
            </a:r>
            <a:r>
              <a:rPr lang="en-US" altLang="en-US" sz="2000"/>
              <a:t> transmissions are encrypted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Licensed</a:t>
            </a:r>
            <a:r>
              <a:rPr lang="en-US" altLang="en-US" sz="2000"/>
              <a:t> narrowband LAN guarantees interference-free communication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000"/>
              <a:t>License</a:t>
            </a:r>
            <a:r>
              <a:rPr lang="en-US" altLang="en-US" sz="2000"/>
              <a:t> holder </a:t>
            </a:r>
            <a:r>
              <a:rPr lang="en-GB" altLang="en-US" sz="2000"/>
              <a:t>has</a:t>
            </a:r>
            <a:r>
              <a:rPr lang="en-US" altLang="en-US" sz="2000"/>
              <a:t> legal right tointerference-free data channel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3A073BAE-69A6-22F5-2668-CDB0FAF7CC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Unlicensed Narrowband RF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B8688C1D-3D4E-C59A-E33A-0F1988D7C9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1995, RadioLAN </a:t>
            </a:r>
            <a:r>
              <a:rPr lang="en-GB" altLang="en-US" sz="2400"/>
              <a:t>introduced</a:t>
            </a:r>
            <a:r>
              <a:rPr lang="en-US" altLang="en-US" sz="2400"/>
              <a:t> narrowband wireless LAN using unlicensed ISM spectrum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Used</a:t>
            </a:r>
            <a:r>
              <a:rPr lang="en-US" altLang="en-US" sz="2000"/>
              <a:t> for narrowband transmission at low power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US" altLang="en-US" sz="1800"/>
              <a:t>0.5 watts or less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2000"/>
              <a:t>Operates</a:t>
            </a:r>
            <a:r>
              <a:rPr lang="en-US" altLang="en-US" sz="2000"/>
              <a:t> at 10 Mbps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US" altLang="en-US" sz="2000"/>
              <a:t>5.8-GHz band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US" altLang="en-US" sz="2000"/>
              <a:t>50 m in semiopen office and 100 m in open office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Peer</a:t>
            </a:r>
            <a:r>
              <a:rPr lang="en-US" altLang="en-US" sz="2400"/>
              <a:t>-to-peer configuration 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Elects </a:t>
            </a:r>
            <a:r>
              <a:rPr lang="en-US" altLang="en-US" sz="2400"/>
              <a:t>one node as dynamic master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Based </a:t>
            </a:r>
            <a:r>
              <a:rPr lang="en-US" altLang="en-US" sz="2000"/>
              <a:t>on location, interference, and signal strength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400"/>
              <a:t>Master</a:t>
            </a:r>
            <a:r>
              <a:rPr lang="en-US" altLang="en-US" sz="2400"/>
              <a:t> can change automatically as conditions change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Includes</a:t>
            </a:r>
            <a:r>
              <a:rPr lang="en-US" altLang="en-US" sz="2400"/>
              <a:t> dynamic relay function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Stations can</a:t>
            </a:r>
            <a:r>
              <a:rPr lang="en-US" altLang="en-US" sz="2400"/>
              <a:t> act as repeater to move data between stations that are out of range of each other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4">
            <a:extLst>
              <a:ext uri="{FF2B5EF4-FFF2-40B4-BE49-F238E27FC236}">
                <a16:creationId xmlns:a16="http://schemas.microsoft.com/office/drawing/2014/main" id="{A2314D2F-594B-D28D-EB6A-19F77BEE78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IEEE 802.11 - BSS</a:t>
            </a:r>
            <a:endParaRPr lang="en-US" altLang="en-US"/>
          </a:p>
        </p:txBody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B4A1088C-39C4-4AA8-C067-7B6AE7CA5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MAC protocol and physical medium specification for wireless LANs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 </a:t>
            </a:r>
            <a:r>
              <a:rPr lang="en-GB" altLang="en-US" sz="2400"/>
              <a:t>Smallest</a:t>
            </a:r>
            <a:r>
              <a:rPr lang="en-US" altLang="en-US" sz="2400"/>
              <a:t> building block is basic service set (BSS)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Number</a:t>
            </a:r>
            <a:r>
              <a:rPr lang="en-US" altLang="en-US" sz="2000"/>
              <a:t> of stations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Same</a:t>
            </a:r>
            <a:r>
              <a:rPr lang="en-US" altLang="en-US" sz="2000"/>
              <a:t> MAC protocol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Competing</a:t>
            </a:r>
            <a:r>
              <a:rPr lang="en-US" altLang="en-US" sz="2000"/>
              <a:t> for access to same shared wireless medium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400"/>
              <a:t>May</a:t>
            </a:r>
            <a:r>
              <a:rPr lang="en-US" altLang="en-US" sz="2400"/>
              <a:t> be isolated or connect to backbone distribution system (DS) through access point (AP)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AP</a:t>
            </a:r>
            <a:r>
              <a:rPr lang="en-US" altLang="en-US" sz="2000"/>
              <a:t> functions as bridge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US" altLang="en-US" sz="2400"/>
              <a:t>MAC protocol may be distributed or controlled by central coordination function in </a:t>
            </a:r>
            <a:r>
              <a:rPr lang="en-GB" altLang="en-US" sz="2400"/>
              <a:t>AP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BSS generally corresponds to cell 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DS can be switch, wired network, or wireless network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0A4E30D8-31E6-072F-CD5B-89E1F3DAB8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BSS Configuration</a:t>
            </a:r>
            <a:endParaRPr lang="en-US" altLang="en-US"/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BF64ACA7-A5AA-3549-5945-1D1DD6D750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Simplest:</a:t>
            </a:r>
            <a:r>
              <a:rPr lang="en-US" altLang="en-US"/>
              <a:t> each station belongs to single BSS</a:t>
            </a:r>
            <a:endParaRPr lang="en-GB" altLang="en-US"/>
          </a:p>
          <a:p>
            <a:pPr lvl="1"/>
            <a:r>
              <a:rPr lang="en-GB" altLang="en-US"/>
              <a:t>Within</a:t>
            </a:r>
            <a:r>
              <a:rPr lang="en-US" altLang="en-US"/>
              <a:t> range only of other stations within BSS</a:t>
            </a:r>
            <a:endParaRPr lang="en-GB" altLang="en-US"/>
          </a:p>
          <a:p>
            <a:r>
              <a:rPr lang="en-GB" altLang="en-US"/>
              <a:t>Can have two </a:t>
            </a:r>
            <a:r>
              <a:rPr lang="en-US" altLang="en-US"/>
              <a:t>BSSs overlap</a:t>
            </a:r>
            <a:endParaRPr lang="en-GB" altLang="en-US"/>
          </a:p>
          <a:p>
            <a:pPr lvl="1"/>
            <a:r>
              <a:rPr lang="en-GB" altLang="en-US"/>
              <a:t>Station</a:t>
            </a:r>
            <a:r>
              <a:rPr lang="en-US" altLang="en-US"/>
              <a:t> could participate in more than one BSS</a:t>
            </a:r>
            <a:endParaRPr lang="en-GB" altLang="en-US"/>
          </a:p>
          <a:p>
            <a:r>
              <a:rPr lang="en-GB" altLang="en-US"/>
              <a:t>Association</a:t>
            </a:r>
            <a:r>
              <a:rPr lang="en-US" altLang="en-US"/>
              <a:t> between station and BSS dynamic</a:t>
            </a:r>
            <a:endParaRPr lang="en-GB" altLang="en-US"/>
          </a:p>
          <a:p>
            <a:pPr lvl="1"/>
            <a:r>
              <a:rPr lang="en-US" altLang="en-US"/>
              <a:t>Stations may turn off, come within range, and go out of range</a:t>
            </a:r>
            <a:endParaRPr lang="en-GB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239CC0DE-2147-8895-14FE-5E4C3E66D6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Extended Service Set (ESS)</a:t>
            </a:r>
            <a:endParaRPr lang="en-US" altLang="en-US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2E1727D0-7A92-CC10-DA14-9B82413A7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Two</a:t>
            </a:r>
            <a:r>
              <a:rPr lang="en-US" altLang="en-US"/>
              <a:t> or more </a:t>
            </a:r>
            <a:r>
              <a:rPr lang="en-GB" altLang="en-US"/>
              <a:t>BSS</a:t>
            </a:r>
            <a:r>
              <a:rPr lang="en-US" altLang="en-US"/>
              <a:t> interconnected by </a:t>
            </a:r>
            <a:r>
              <a:rPr lang="en-GB" altLang="en-US"/>
              <a:t>DS</a:t>
            </a:r>
          </a:p>
          <a:p>
            <a:pPr lvl="1"/>
            <a:r>
              <a:rPr lang="en-US" altLang="en-US"/>
              <a:t>Typically, </a:t>
            </a:r>
            <a:r>
              <a:rPr lang="en-GB" altLang="en-US"/>
              <a:t>DS </a:t>
            </a:r>
            <a:r>
              <a:rPr lang="en-US" altLang="en-US"/>
              <a:t>is wired backbone but can be any network</a:t>
            </a:r>
            <a:endParaRPr lang="en-GB" altLang="en-US"/>
          </a:p>
          <a:p>
            <a:r>
              <a:rPr lang="en-GB" altLang="en-US"/>
              <a:t>Appears</a:t>
            </a:r>
            <a:r>
              <a:rPr lang="en-US" altLang="en-US"/>
              <a:t> as single logical LAN to LLC</a:t>
            </a:r>
            <a:endParaRPr lang="en-GB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D3F094AB-7EA0-3747-DA80-85776ABBE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Access Point (AP)</a:t>
            </a:r>
            <a:endParaRPr lang="en-US" altLang="en-US"/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E662E7AA-A02D-CAC4-5BB0-F81FD14962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Logic</a:t>
            </a:r>
            <a:r>
              <a:rPr lang="en-US" altLang="en-US"/>
              <a:t> within station that provides access to DS</a:t>
            </a:r>
            <a:endParaRPr lang="en-GB" altLang="en-US"/>
          </a:p>
          <a:p>
            <a:pPr lvl="1"/>
            <a:r>
              <a:rPr lang="en-GB" altLang="en-US"/>
              <a:t>Provides</a:t>
            </a:r>
            <a:r>
              <a:rPr lang="en-US" altLang="en-US"/>
              <a:t> DS services in addition to acting as station</a:t>
            </a:r>
            <a:endParaRPr lang="en-GB" altLang="en-US"/>
          </a:p>
          <a:p>
            <a:r>
              <a:rPr lang="en-US" altLang="en-US"/>
              <a:t>To integrate IEEE 802.11 architecture with wired LAN, portal used</a:t>
            </a:r>
            <a:endParaRPr lang="en-GB" altLang="en-US"/>
          </a:p>
          <a:p>
            <a:r>
              <a:rPr lang="en-GB" altLang="en-US"/>
              <a:t>Portal</a:t>
            </a:r>
            <a:r>
              <a:rPr lang="en-US" altLang="en-US"/>
              <a:t> logic implemented in device</a:t>
            </a:r>
            <a:r>
              <a:rPr lang="en-GB" altLang="en-US"/>
              <a:t> </a:t>
            </a:r>
            <a:r>
              <a:rPr lang="en-US" altLang="en-US"/>
              <a:t>that is part of wired LAN and attached to DS</a:t>
            </a:r>
            <a:endParaRPr lang="en-GB" altLang="en-US"/>
          </a:p>
          <a:p>
            <a:pPr lvl="1"/>
            <a:r>
              <a:rPr lang="en-GB" altLang="en-US"/>
              <a:t>E.g. Bridge</a:t>
            </a:r>
            <a:r>
              <a:rPr lang="en-US" altLang="en-US"/>
              <a:t> or router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A7184684-426A-92A9-D37C-3146A66FF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IEEE 802.11 Architecture</a:t>
            </a:r>
            <a:endParaRPr lang="en-US" altLang="en-US"/>
          </a:p>
        </p:txBody>
      </p:sp>
      <p:pic>
        <p:nvPicPr>
          <p:cNvPr id="58371" name="Picture 3">
            <a:extLst>
              <a:ext uri="{FF2B5EF4-FFF2-40B4-BE49-F238E27FC236}">
                <a16:creationId xmlns:a16="http://schemas.microsoft.com/office/drawing/2014/main" id="{A658A478-4F30-6AE0-5499-065A87B21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78"/>
          <a:stretch>
            <a:fillRect/>
          </a:stretch>
        </p:blipFill>
        <p:spPr bwMode="auto">
          <a:xfrm>
            <a:off x="838200" y="1335088"/>
            <a:ext cx="7391400" cy="549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64" name="Rectangle 76">
            <a:extLst>
              <a:ext uri="{FF2B5EF4-FFF2-40B4-BE49-F238E27FC236}">
                <a16:creationId xmlns:a16="http://schemas.microsoft.com/office/drawing/2014/main" id="{0C55D884-E684-EC00-FE63-37F84776F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Services</a:t>
            </a:r>
            <a:endParaRPr lang="en-US" altLang="en-US"/>
          </a:p>
        </p:txBody>
      </p:sp>
      <p:graphicFrame>
        <p:nvGraphicFramePr>
          <p:cNvPr id="89169" name="Group 81">
            <a:extLst>
              <a:ext uri="{FF2B5EF4-FFF2-40B4-BE49-F238E27FC236}">
                <a16:creationId xmlns:a16="http://schemas.microsoft.com/office/drawing/2014/main" id="{90FD1B08-78D8-4800-ED6D-7AD9D6CFDA8D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457200" y="1371600"/>
          <a:ext cx="8178800" cy="4898400"/>
        </p:xfrm>
        <a:graphic>
          <a:graphicData uri="http://schemas.openxmlformats.org/drawingml/2006/table">
            <a:tbl>
              <a:tblPr/>
              <a:tblGrid>
                <a:gridCol w="2725738">
                  <a:extLst>
                    <a:ext uri="{9D8B030D-6E8A-4147-A177-3AD203B41FA5}">
                      <a16:colId xmlns:a16="http://schemas.microsoft.com/office/drawing/2014/main" val="3745415110"/>
                    </a:ext>
                  </a:extLst>
                </a:gridCol>
                <a:gridCol w="2727325">
                  <a:extLst>
                    <a:ext uri="{9D8B030D-6E8A-4147-A177-3AD203B41FA5}">
                      <a16:colId xmlns:a16="http://schemas.microsoft.com/office/drawing/2014/main" val="2874592544"/>
                    </a:ext>
                  </a:extLst>
                </a:gridCol>
                <a:gridCol w="2725737">
                  <a:extLst>
                    <a:ext uri="{9D8B030D-6E8A-4147-A177-3AD203B41FA5}">
                      <a16:colId xmlns:a16="http://schemas.microsoft.com/office/drawing/2014/main" val="4255191628"/>
                    </a:ext>
                  </a:extLst>
                </a:gridCol>
              </a:tblGrid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Service</a:t>
                      </a: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Provider</a:t>
                      </a: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Category</a:t>
                      </a: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529289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Association</a:t>
                      </a: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Distribution system</a:t>
                      </a: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MSDU delivery</a:t>
                      </a: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505248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Authentication</a:t>
                      </a: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Station</a:t>
                      </a: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LAN access and security</a:t>
                      </a: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314137"/>
                  </a:ext>
                </a:extLst>
              </a:tr>
              <a:tr h="468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Deauthentication</a:t>
                      </a: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Station</a:t>
                      </a: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LAN access and security</a:t>
                      </a: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0657871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Dissassociation</a:t>
                      </a: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Distribution system</a:t>
                      </a: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MSDU delivery</a:t>
                      </a: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208943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Distribution</a:t>
                      </a: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Distribution system</a:t>
                      </a: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MSDU delivery</a:t>
                      </a: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696115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Integration</a:t>
                      </a: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Distribution system</a:t>
                      </a: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MSDU delivery</a:t>
                      </a: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038903"/>
                  </a:ext>
                </a:extLst>
              </a:tr>
              <a:tr h="379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MSDU delivery</a:t>
                      </a: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Station</a:t>
                      </a: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MSDU delivery</a:t>
                      </a: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617693"/>
                  </a:ext>
                </a:extLst>
              </a:tr>
              <a:tr h="468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Privacy</a:t>
                      </a: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Station</a:t>
                      </a: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LAN access and security</a:t>
                      </a: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04950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Reassocation</a:t>
                      </a: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Distribution system</a:t>
                      </a: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defRPr kumimoji="1"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cs typeface="Times New Roman" panose="02020603050405020304" pitchFamily="18" charset="0"/>
                        </a:rPr>
                        <a:t>MSDU delivery</a:t>
                      </a:r>
                      <a:r>
                        <a:rPr kumimoji="1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8409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E8714E6-38CE-1E42-6AFE-773BC8D9ED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Categorizing Services</a:t>
            </a:r>
            <a:endParaRPr lang="en-US" altLang="en-US"/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7D3CA6F9-73F8-4CB5-D546-416112E9F7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Station services implemented in every 802.11 station</a:t>
            </a:r>
            <a:endParaRPr lang="en-GB" altLang="en-US" sz="2400"/>
          </a:p>
          <a:p>
            <a:pPr lvl="1"/>
            <a:r>
              <a:rPr lang="en-GB" altLang="en-US" sz="2000"/>
              <a:t>Including </a:t>
            </a:r>
            <a:r>
              <a:rPr lang="en-US" altLang="en-US" sz="2000"/>
              <a:t>AP stations</a:t>
            </a:r>
            <a:endParaRPr lang="en-GB" altLang="en-US" sz="2000"/>
          </a:p>
          <a:p>
            <a:r>
              <a:rPr lang="en-US" altLang="en-US" sz="2400"/>
              <a:t>Distribution services provided between BSSs</a:t>
            </a:r>
            <a:endParaRPr lang="en-GB" altLang="en-US" sz="2400"/>
          </a:p>
          <a:p>
            <a:pPr lvl="1"/>
            <a:r>
              <a:rPr lang="en-GB" altLang="en-US" sz="2000"/>
              <a:t>May </a:t>
            </a:r>
            <a:r>
              <a:rPr lang="en-US" altLang="en-US" sz="2000"/>
              <a:t>be implemented in AP or special-purpose device</a:t>
            </a:r>
            <a:endParaRPr lang="en-GB" altLang="en-US" sz="2000"/>
          </a:p>
          <a:p>
            <a:r>
              <a:rPr lang="en-US" altLang="en-US" sz="2400"/>
              <a:t>Three services used to control access and confidentiality</a:t>
            </a:r>
            <a:endParaRPr lang="en-GB" altLang="en-US" sz="2400"/>
          </a:p>
          <a:p>
            <a:r>
              <a:rPr lang="en-US" altLang="en-US" sz="2400"/>
              <a:t>Six services used to support delivery of MAC service data units (MSDUs) between stations</a:t>
            </a:r>
            <a:endParaRPr lang="en-GB" altLang="en-US" sz="2400"/>
          </a:p>
          <a:p>
            <a:pPr lvl="1"/>
            <a:r>
              <a:rPr lang="en-GB" altLang="en-US" sz="2000"/>
              <a:t>Block</a:t>
            </a:r>
            <a:r>
              <a:rPr lang="en-US" altLang="en-US" sz="2000"/>
              <a:t> of data passed down from MAC user to MAC layer</a:t>
            </a:r>
            <a:endParaRPr lang="en-GB" altLang="en-US" sz="2000"/>
          </a:p>
          <a:p>
            <a:pPr lvl="1"/>
            <a:r>
              <a:rPr lang="en-GB" altLang="en-US" sz="2000"/>
              <a:t>Typically</a:t>
            </a:r>
            <a:r>
              <a:rPr lang="en-US" altLang="en-US" sz="2000"/>
              <a:t> LLC PDU</a:t>
            </a:r>
            <a:endParaRPr lang="en-GB" altLang="en-US" sz="2000"/>
          </a:p>
          <a:p>
            <a:pPr lvl="1"/>
            <a:r>
              <a:rPr lang="en-US" altLang="en-US" sz="2000"/>
              <a:t>If MSDU too large </a:t>
            </a:r>
            <a:r>
              <a:rPr lang="en-GB" altLang="en-US" sz="2000"/>
              <a:t>for</a:t>
            </a:r>
            <a:r>
              <a:rPr lang="en-US" altLang="en-US" sz="2000"/>
              <a:t> MAC frame, fragment and transmit in series of frames</a:t>
            </a:r>
            <a:r>
              <a:rPr lang="en-GB" altLang="en-US" sz="2000"/>
              <a:t> (see later)</a:t>
            </a:r>
            <a:endParaRPr lang="en-US" altLang="en-US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8" name="Rectangle 4">
            <a:extLst>
              <a:ext uri="{FF2B5EF4-FFF2-40B4-BE49-F238E27FC236}">
                <a16:creationId xmlns:a16="http://schemas.microsoft.com/office/drawing/2014/main" id="{A23E7BC0-F714-2202-3260-D30FDA9A7E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Distribution of Messages </a:t>
            </a:r>
            <a:br>
              <a:rPr lang="en-GB" altLang="en-US"/>
            </a:br>
            <a:r>
              <a:rPr lang="en-GB" altLang="en-US"/>
              <a:t>Within a DS</a:t>
            </a:r>
            <a:endParaRPr lang="en-US" altLang="en-US"/>
          </a:p>
        </p:txBody>
      </p:sp>
      <p:sp>
        <p:nvSpPr>
          <p:cNvPr id="93189" name="Rectangle 5">
            <a:extLst>
              <a:ext uri="{FF2B5EF4-FFF2-40B4-BE49-F238E27FC236}">
                <a16:creationId xmlns:a16="http://schemas.microsoft.com/office/drawing/2014/main" id="{C7620943-146B-2C07-1775-47BE5BDB8F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Distribution is primary service used by stations to exchange MAC frames when frame must traverse DS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From</a:t>
            </a:r>
            <a:r>
              <a:rPr lang="en-US" altLang="en-US" sz="2000"/>
              <a:t> station in one BSS to station in another BSS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Transport of message</a:t>
            </a:r>
            <a:r>
              <a:rPr lang="en-US" altLang="en-US" sz="2000"/>
              <a:t> through DS is beyond scope of 802.11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If stations within same BSS, distribution service logically goes through single AP of that BSS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Integration</a:t>
            </a:r>
            <a:r>
              <a:rPr lang="en-US" altLang="en-US" sz="2400"/>
              <a:t> service enables transfer of data between station on 802.11 LAN and </a:t>
            </a:r>
            <a:r>
              <a:rPr lang="en-GB" altLang="en-US" sz="2400"/>
              <a:t>one</a:t>
            </a:r>
            <a:r>
              <a:rPr lang="en-US" altLang="en-US" sz="2400"/>
              <a:t> on an integrated 802.x LAN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Integrated refers</a:t>
            </a:r>
            <a:r>
              <a:rPr lang="en-US" altLang="en-US" sz="2000"/>
              <a:t> to wired LAN physically connected to DS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GB" altLang="en-US" sz="1800"/>
              <a:t>Stations</a:t>
            </a:r>
            <a:r>
              <a:rPr lang="en-US" altLang="en-US" sz="1800"/>
              <a:t> may be logically connected to 802.11 LAN via integration service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2000"/>
              <a:t>Integration </a:t>
            </a:r>
            <a:r>
              <a:rPr lang="en-US" altLang="en-US" sz="2000"/>
              <a:t>service takes care of address translation and media conversion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Rectangle 4">
            <a:extLst>
              <a:ext uri="{FF2B5EF4-FFF2-40B4-BE49-F238E27FC236}">
                <a16:creationId xmlns:a16="http://schemas.microsoft.com/office/drawing/2014/main" id="{6C106902-E1E4-C866-848E-CA0F26F1D2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Association Related Services</a:t>
            </a:r>
            <a:endParaRPr lang="en-US" altLang="en-US"/>
          </a:p>
        </p:txBody>
      </p:sp>
      <p:sp>
        <p:nvSpPr>
          <p:cNvPr id="94213" name="Rectangle 5">
            <a:extLst>
              <a:ext uri="{FF2B5EF4-FFF2-40B4-BE49-F238E27FC236}">
                <a16:creationId xmlns:a16="http://schemas.microsoft.com/office/drawing/2014/main" id="{7759EEF6-E23A-22D0-2080-5F8AD1A58A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Purpose</a:t>
            </a:r>
            <a:r>
              <a:rPr lang="en-US" altLang="en-US" sz="2400"/>
              <a:t> of MAC layer transfer MSDUs between MAC entities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Fulfilled</a:t>
            </a:r>
            <a:r>
              <a:rPr lang="en-US" altLang="en-US" sz="2400"/>
              <a:t> by distribution service</a:t>
            </a:r>
            <a:r>
              <a:rPr lang="en-GB" altLang="en-US" sz="2400"/>
              <a:t> (DS)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DS</a:t>
            </a:r>
            <a:r>
              <a:rPr lang="en-US" altLang="en-US" sz="2400"/>
              <a:t> requires information about stations within ESS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Provided</a:t>
            </a:r>
            <a:r>
              <a:rPr lang="en-US" altLang="en-US" sz="2000"/>
              <a:t> by association-related services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Station</a:t>
            </a:r>
            <a:r>
              <a:rPr lang="en-US" altLang="en-US" sz="2000"/>
              <a:t> must be associated</a:t>
            </a:r>
            <a:r>
              <a:rPr lang="en-GB" altLang="en-US" sz="2000"/>
              <a:t> before communicating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Three</a:t>
            </a:r>
            <a:r>
              <a:rPr lang="en-US" altLang="en-US" sz="2400"/>
              <a:t> transition types of based on mobility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No transition:</a:t>
            </a:r>
            <a:r>
              <a:rPr lang="en-GB" altLang="en-US" sz="2000"/>
              <a:t> Stationary</a:t>
            </a:r>
            <a:r>
              <a:rPr lang="en-US" altLang="en-US" sz="2000"/>
              <a:t> or moves within range of single BSS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BSS transition:</a:t>
            </a:r>
            <a:r>
              <a:rPr lang="en-GB" altLang="en-US" sz="2000"/>
              <a:t> From</a:t>
            </a:r>
            <a:r>
              <a:rPr lang="en-US" altLang="en-US" sz="2000"/>
              <a:t> one BSS to another within same ESS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GB" altLang="en-US" sz="1800"/>
              <a:t>Requires </a:t>
            </a:r>
            <a:r>
              <a:rPr lang="en-US" altLang="en-US" sz="1800"/>
              <a:t>addressing capability be able to recognize new location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ESS transition: </a:t>
            </a:r>
            <a:r>
              <a:rPr lang="en-GB" altLang="en-US" sz="2400"/>
              <a:t>From</a:t>
            </a:r>
            <a:r>
              <a:rPr lang="en-US" altLang="en-US" sz="2400"/>
              <a:t> BSS in one ESS to BSS in another ESS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Only supported</a:t>
            </a:r>
            <a:r>
              <a:rPr lang="en-US" altLang="en-US" sz="2000"/>
              <a:t> in sense that the station can move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US" altLang="en-US" sz="2000"/>
              <a:t>Maintenance of upper-layer connections not</a:t>
            </a:r>
            <a:r>
              <a:rPr lang="en-GB" altLang="en-US" sz="2000"/>
              <a:t> </a:t>
            </a:r>
            <a:r>
              <a:rPr lang="en-US" altLang="en-US" sz="2000"/>
              <a:t>guaranteed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Disruption</a:t>
            </a:r>
            <a:r>
              <a:rPr lang="en-US" altLang="en-US" sz="2000"/>
              <a:t> of service likely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6" name="Rectangle 4">
            <a:extLst>
              <a:ext uri="{FF2B5EF4-FFF2-40B4-BE49-F238E27FC236}">
                <a16:creationId xmlns:a16="http://schemas.microsoft.com/office/drawing/2014/main" id="{99AD354D-C7F8-636E-471F-E4DDE02961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Station Location</a:t>
            </a:r>
            <a:endParaRPr lang="en-US" altLang="en-US"/>
          </a:p>
        </p:txBody>
      </p:sp>
      <p:sp>
        <p:nvSpPr>
          <p:cNvPr id="95237" name="Rectangle 5">
            <a:extLst>
              <a:ext uri="{FF2B5EF4-FFF2-40B4-BE49-F238E27FC236}">
                <a16:creationId xmlns:a16="http://schemas.microsoft.com/office/drawing/2014/main" id="{89D0CBED-32C3-1AE6-2537-42D1102FBD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DS needs to know where destination station is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Identity</a:t>
            </a:r>
            <a:r>
              <a:rPr lang="en-US" altLang="en-US" sz="2000"/>
              <a:t> of AP to which message should be delivered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Station</a:t>
            </a:r>
            <a:r>
              <a:rPr lang="en-US" altLang="en-US" sz="2000"/>
              <a:t> must maintain association with AP within current BSS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US" altLang="en-US" sz="2400"/>
              <a:t> Three services relate to this requirement: 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Association: Establishes initial association between station and AP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GB" altLang="en-US" sz="1800"/>
              <a:t>To make </a:t>
            </a:r>
            <a:r>
              <a:rPr lang="en-US" altLang="en-US" sz="1800"/>
              <a:t>identity and address known</a:t>
            </a:r>
            <a:endParaRPr lang="en-GB" altLang="en-US" sz="1800"/>
          </a:p>
          <a:p>
            <a:pPr lvl="2">
              <a:lnSpc>
                <a:spcPct val="90000"/>
              </a:lnSpc>
            </a:pPr>
            <a:r>
              <a:rPr lang="en-GB" altLang="en-US" sz="1800"/>
              <a:t>Station</a:t>
            </a:r>
            <a:r>
              <a:rPr lang="en-US" altLang="en-US" sz="1800"/>
              <a:t> must establish association with AP within particular BSS</a:t>
            </a:r>
            <a:endParaRPr lang="en-GB" altLang="en-US" sz="1800"/>
          </a:p>
          <a:p>
            <a:pPr lvl="2">
              <a:lnSpc>
                <a:spcPct val="90000"/>
              </a:lnSpc>
            </a:pPr>
            <a:r>
              <a:rPr lang="en-US" altLang="en-US" sz="1800"/>
              <a:t>AP then communicate</a:t>
            </a:r>
            <a:r>
              <a:rPr lang="en-GB" altLang="en-US" sz="1800"/>
              <a:t>s</a:t>
            </a:r>
            <a:r>
              <a:rPr lang="en-US" altLang="en-US" sz="1800"/>
              <a:t> information to other APs within ESS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US" altLang="en-US" sz="2000"/>
              <a:t>Reassociation: </a:t>
            </a:r>
            <a:r>
              <a:rPr lang="en-GB" altLang="en-US" sz="2000"/>
              <a:t>Transfer </a:t>
            </a:r>
            <a:r>
              <a:rPr lang="en-US" altLang="en-US" sz="2000"/>
              <a:t>established association to</a:t>
            </a:r>
            <a:r>
              <a:rPr lang="en-GB" altLang="en-US" sz="2000"/>
              <a:t> another </a:t>
            </a:r>
            <a:r>
              <a:rPr lang="en-US" altLang="en-US" sz="2000"/>
              <a:t>AP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GB" altLang="en-US" sz="1800"/>
              <a:t>Allows </a:t>
            </a:r>
            <a:r>
              <a:rPr lang="en-US" altLang="en-US" sz="1800"/>
              <a:t>station to move from one BSS to another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Disassociation: </a:t>
            </a:r>
            <a:r>
              <a:rPr lang="en-GB" altLang="en-US" sz="2000"/>
              <a:t>From </a:t>
            </a:r>
            <a:r>
              <a:rPr lang="en-US" altLang="en-US" sz="2000"/>
              <a:t>either station or AP that association is terminated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Given before station</a:t>
            </a:r>
            <a:r>
              <a:rPr lang="en-US" altLang="en-US" sz="2000"/>
              <a:t> </a:t>
            </a:r>
            <a:r>
              <a:rPr lang="en-GB" altLang="en-US" sz="2000"/>
              <a:t>leaves</a:t>
            </a:r>
            <a:r>
              <a:rPr lang="en-US" altLang="en-US" sz="2000"/>
              <a:t> ESS or </a:t>
            </a:r>
            <a:r>
              <a:rPr lang="en-GB" altLang="en-US" sz="2000"/>
              <a:t>shuts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MAC management facility protects itself against stations that disappear without notification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0" name="Rectangle 4">
            <a:extLst>
              <a:ext uri="{FF2B5EF4-FFF2-40B4-BE49-F238E27FC236}">
                <a16:creationId xmlns:a16="http://schemas.microsoft.com/office/drawing/2014/main" id="{C9B538E3-DD2F-6880-543E-EA20D7F494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Access and Privacy Services</a:t>
            </a:r>
            <a:r>
              <a:rPr lang="en-GB" altLang="en-US"/>
              <a:t> - </a:t>
            </a:r>
            <a:br>
              <a:rPr lang="en-GB" altLang="en-US"/>
            </a:br>
            <a:r>
              <a:rPr lang="en-GB" altLang="en-US"/>
              <a:t>Authentication</a:t>
            </a:r>
            <a:endParaRPr lang="en-US" altLang="en-US"/>
          </a:p>
        </p:txBody>
      </p:sp>
      <p:sp>
        <p:nvSpPr>
          <p:cNvPr id="96261" name="Rectangle 5">
            <a:extLst>
              <a:ext uri="{FF2B5EF4-FFF2-40B4-BE49-F238E27FC236}">
                <a16:creationId xmlns:a16="http://schemas.microsoft.com/office/drawing/2014/main" id="{1AC868F4-A332-13CF-CA12-B1930B33AA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On</a:t>
            </a:r>
            <a:r>
              <a:rPr lang="en-US" altLang="en-US" sz="2000"/>
              <a:t> wireless LAN, any station within radio range other devices can transmit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000"/>
              <a:t>Any</a:t>
            </a:r>
            <a:r>
              <a:rPr lang="en-US" altLang="en-US" sz="2000"/>
              <a:t> station within radio range can receive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Authentication: Used to establish identity of stations to each other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1800"/>
              <a:t>Wired</a:t>
            </a:r>
            <a:r>
              <a:rPr lang="en-US" altLang="en-US" sz="1800"/>
              <a:t> LAN</a:t>
            </a:r>
            <a:r>
              <a:rPr lang="en-GB" altLang="en-US" sz="1800"/>
              <a:t>s</a:t>
            </a:r>
            <a:r>
              <a:rPr lang="en-US" altLang="en-US" sz="1800"/>
              <a:t> assume access to physical connection conveys authority to connect to</a:t>
            </a:r>
            <a:r>
              <a:rPr lang="en-GB" altLang="en-US" sz="1800"/>
              <a:t> </a:t>
            </a:r>
            <a:r>
              <a:rPr lang="en-US" altLang="en-US" sz="1800"/>
              <a:t>LAN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1800"/>
              <a:t>Not</a:t>
            </a:r>
            <a:r>
              <a:rPr lang="en-US" altLang="en-US" sz="1800"/>
              <a:t> valid assumption for wireless LAN</a:t>
            </a:r>
            <a:r>
              <a:rPr lang="en-GB" altLang="en-US" sz="1800"/>
              <a:t>s</a:t>
            </a:r>
          </a:p>
          <a:p>
            <a:pPr lvl="2">
              <a:lnSpc>
                <a:spcPct val="90000"/>
              </a:lnSpc>
            </a:pPr>
            <a:r>
              <a:rPr lang="en-GB" altLang="en-US" sz="1600"/>
              <a:t>Connectivity</a:t>
            </a:r>
            <a:r>
              <a:rPr lang="en-US" altLang="en-US" sz="1600"/>
              <a:t> achieved by having properly tuned antenna</a:t>
            </a:r>
            <a:endParaRPr lang="en-GB" altLang="en-US" sz="1600"/>
          </a:p>
          <a:p>
            <a:pPr lvl="1">
              <a:lnSpc>
                <a:spcPct val="90000"/>
              </a:lnSpc>
            </a:pPr>
            <a:r>
              <a:rPr lang="en-GB" altLang="en-US" sz="1800"/>
              <a:t>Authentication</a:t>
            </a:r>
            <a:r>
              <a:rPr lang="en-US" altLang="en-US" sz="1800"/>
              <a:t> service used to establish </a:t>
            </a:r>
            <a:r>
              <a:rPr lang="en-GB" altLang="en-US" sz="1800"/>
              <a:t>station</a:t>
            </a:r>
            <a:r>
              <a:rPr lang="en-US" altLang="en-US" sz="1800"/>
              <a:t> identity 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US" altLang="en-US" sz="1800"/>
              <a:t>802.11 supports several authentication schemes</a:t>
            </a:r>
            <a:endParaRPr lang="en-GB" altLang="en-US" sz="1800"/>
          </a:p>
          <a:p>
            <a:pPr lvl="2">
              <a:lnSpc>
                <a:spcPct val="90000"/>
              </a:lnSpc>
            </a:pPr>
            <a:r>
              <a:rPr lang="en-GB" altLang="en-US" sz="1600"/>
              <a:t>Allows</a:t>
            </a:r>
            <a:r>
              <a:rPr lang="en-US" altLang="en-US" sz="1600"/>
              <a:t> expansion of these schemes</a:t>
            </a:r>
            <a:endParaRPr lang="en-GB" altLang="en-US" sz="1600"/>
          </a:p>
          <a:p>
            <a:pPr lvl="1">
              <a:lnSpc>
                <a:spcPct val="90000"/>
              </a:lnSpc>
            </a:pPr>
            <a:r>
              <a:rPr lang="en-GB" altLang="en-US" sz="1800"/>
              <a:t>Does </a:t>
            </a:r>
            <a:r>
              <a:rPr lang="en-US" altLang="en-US" sz="1800"/>
              <a:t>not mandate any particular scheme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1800"/>
              <a:t>Range</a:t>
            </a:r>
            <a:r>
              <a:rPr lang="en-US" altLang="en-US" sz="1800"/>
              <a:t> from relatively insecure handshaking to public-key encryption schemes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US" altLang="en-US" sz="1800"/>
              <a:t>802.11 requires mutually acceptable, successful authentication before association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0116D921-54D4-B845-D853-9D11BD9BD4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Access and Privacy Services</a:t>
            </a:r>
            <a:r>
              <a:rPr lang="en-GB" altLang="en-US"/>
              <a:t> - </a:t>
            </a:r>
            <a:br>
              <a:rPr lang="en-GB" altLang="en-US"/>
            </a:br>
            <a:r>
              <a:rPr lang="en-GB" altLang="en-US"/>
              <a:t>Deauthentication and Privacy</a:t>
            </a:r>
            <a:endParaRPr lang="en-US" alt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C6FC1C38-138B-A943-CE91-24781317C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Deauthentication: </a:t>
            </a:r>
            <a:r>
              <a:rPr lang="en-GB" altLang="en-US"/>
              <a:t>Invoked </a:t>
            </a:r>
            <a:r>
              <a:rPr lang="en-US" altLang="en-US"/>
              <a:t>whenever an existing authentication is to be terminated</a:t>
            </a:r>
          </a:p>
          <a:p>
            <a:r>
              <a:rPr lang="en-US" altLang="en-US"/>
              <a:t>Privacy: Used to prevent messages being read by other</a:t>
            </a:r>
            <a:r>
              <a:rPr lang="en-GB" altLang="en-US"/>
              <a:t>s</a:t>
            </a:r>
          </a:p>
          <a:p>
            <a:r>
              <a:rPr lang="en-GB" altLang="en-US"/>
              <a:t>802.11 </a:t>
            </a:r>
            <a:r>
              <a:rPr lang="en-US" altLang="en-US"/>
              <a:t>provides for optional use of encryption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1EC1EEB1-739D-82AA-64C3-0A91937A20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Medium Access Control</a:t>
            </a:r>
            <a:endParaRPr lang="en-US" altLang="en-US"/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AA3D5E9D-5B40-93CC-A493-8E0BA97CDA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MAC layer covers three functional areas</a:t>
            </a:r>
            <a:endParaRPr lang="en-GB" altLang="en-US"/>
          </a:p>
          <a:p>
            <a:r>
              <a:rPr lang="en-GB" altLang="en-US"/>
              <a:t>Reliable</a:t>
            </a:r>
            <a:r>
              <a:rPr lang="en-US" altLang="en-US"/>
              <a:t> data delivery</a:t>
            </a:r>
            <a:endParaRPr lang="en-GB" altLang="en-US"/>
          </a:p>
          <a:p>
            <a:r>
              <a:rPr lang="en-GB" altLang="en-US"/>
              <a:t>Access </a:t>
            </a:r>
            <a:r>
              <a:rPr lang="en-US" altLang="en-US"/>
              <a:t>control</a:t>
            </a:r>
            <a:endParaRPr lang="en-GB" altLang="en-US"/>
          </a:p>
          <a:p>
            <a:r>
              <a:rPr lang="en-GB" altLang="en-US"/>
              <a:t>Security</a:t>
            </a:r>
          </a:p>
          <a:p>
            <a:pPr lvl="1"/>
            <a:r>
              <a:rPr lang="en-GB" altLang="en-US"/>
              <a:t>Beyond</a:t>
            </a:r>
            <a:r>
              <a:rPr lang="en-US" altLang="en-US"/>
              <a:t> our scope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8" name="Rectangle 4">
            <a:extLst>
              <a:ext uri="{FF2B5EF4-FFF2-40B4-BE49-F238E27FC236}">
                <a16:creationId xmlns:a16="http://schemas.microsoft.com/office/drawing/2014/main" id="{56041B64-D057-B2C5-A390-5E273401B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Reliable Data Delivery</a:t>
            </a:r>
          </a:p>
        </p:txBody>
      </p:sp>
      <p:sp>
        <p:nvSpPr>
          <p:cNvPr id="98309" name="Rectangle 5">
            <a:extLst>
              <a:ext uri="{FF2B5EF4-FFF2-40B4-BE49-F238E27FC236}">
                <a16:creationId xmlns:a16="http://schemas.microsoft.com/office/drawing/2014/main" id="{701A582E-DBCB-40EF-5918-39C2CE16CD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802.11 physical and MAC layers subject to unreliability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Noise, interference, and other propagation effects result in loss of frames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Even with error-correction codes, frames may not successfully be received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Can</a:t>
            </a:r>
            <a:r>
              <a:rPr lang="en-US" altLang="en-US" sz="2400"/>
              <a:t> be dealt with at a higher layer, such as TCP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US" altLang="en-US" sz="2000"/>
              <a:t>However, retransmission timers at higher layers typically order of seconds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More</a:t>
            </a:r>
            <a:r>
              <a:rPr lang="en-US" altLang="en-US" sz="2000"/>
              <a:t> efficient to deal with errors at the MAC level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US" altLang="en-US" sz="2400"/>
              <a:t>802.11 includes frame exchange protocol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Station receiving</a:t>
            </a:r>
            <a:r>
              <a:rPr lang="en-US" altLang="en-US" sz="2000"/>
              <a:t> frame returns acknowledgment (ACK) frame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Exchange</a:t>
            </a:r>
            <a:r>
              <a:rPr lang="en-US" altLang="en-US" sz="2000"/>
              <a:t> treated as atomic unit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GB" altLang="en-US" sz="1800"/>
              <a:t>Not</a:t>
            </a:r>
            <a:r>
              <a:rPr lang="en-US" altLang="en-US" sz="1800"/>
              <a:t> interrupted by</a:t>
            </a:r>
            <a:r>
              <a:rPr lang="en-GB" altLang="en-US" sz="1800"/>
              <a:t> </a:t>
            </a:r>
            <a:r>
              <a:rPr lang="en-US" altLang="en-US" sz="1800"/>
              <a:t>any other station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US" altLang="en-US" sz="2000"/>
              <a:t>If </a:t>
            </a:r>
            <a:r>
              <a:rPr lang="en-GB" altLang="en-US" sz="2000"/>
              <a:t>no</a:t>
            </a:r>
            <a:r>
              <a:rPr lang="en-US" altLang="en-US" sz="2000"/>
              <a:t>ACK within short period of time</a:t>
            </a:r>
            <a:r>
              <a:rPr lang="en-GB" altLang="en-US" sz="2000"/>
              <a:t>, </a:t>
            </a:r>
            <a:r>
              <a:rPr lang="en-US" altLang="en-US" sz="2000"/>
              <a:t>retransmit</a:t>
            </a:r>
            <a:endParaRPr lang="en-GB" altLang="en-US"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37EC926D-9683-F478-8243-648C60C69A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Four Frame Exchange</a:t>
            </a:r>
            <a:endParaRPr lang="en-US" altLang="en-US"/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23C4E055-BA57-D8CF-E976-219006B0B7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Basic </a:t>
            </a:r>
            <a:r>
              <a:rPr lang="en-US" altLang="en-US" sz="2400"/>
              <a:t>data transfer involves exchange of two frames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To further enhance reliability, four-frame exchange may be used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Source</a:t>
            </a:r>
            <a:r>
              <a:rPr lang="en-US" altLang="en-US" sz="2000"/>
              <a:t> issues a Request to Send (RTS) frame to destination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Destination</a:t>
            </a:r>
            <a:r>
              <a:rPr lang="en-US" altLang="en-US" sz="2000"/>
              <a:t> responds with Clear to Send (CTS)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US" altLang="en-US" sz="2000"/>
              <a:t>After receiving CTS, source transmits data 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Destination</a:t>
            </a:r>
            <a:r>
              <a:rPr lang="en-US" altLang="en-US" sz="2000"/>
              <a:t> responds with ACK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US" altLang="en-US" sz="2400"/>
              <a:t>RTS alerts all stations within range </a:t>
            </a:r>
            <a:r>
              <a:rPr lang="en-GB" altLang="en-US" sz="2400"/>
              <a:t>of source </a:t>
            </a:r>
            <a:r>
              <a:rPr lang="en-US" altLang="en-US" sz="2400"/>
              <a:t>that exchange is under way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CTS alerts all stations within range of destination 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Stations</a:t>
            </a:r>
            <a:r>
              <a:rPr lang="en-US" altLang="en-US" sz="2400"/>
              <a:t> refrain from transmission to avoid collision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RTS/CTS exchange is required function of MAC but may be disabled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6A554FB-EBC2-F7D6-90DF-020797F9D2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Media Access Control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40F5D389-C0B5-B865-CF10-074EAA880D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Distributed wireless foundation MAC (DWFMAC)</a:t>
            </a:r>
            <a:endParaRPr lang="en-GB" altLang="en-US"/>
          </a:p>
          <a:p>
            <a:pPr lvl="1">
              <a:lnSpc>
                <a:spcPct val="90000"/>
              </a:lnSpc>
            </a:pPr>
            <a:r>
              <a:rPr lang="en-GB" altLang="en-US"/>
              <a:t>Distributed access control mechanism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Optional centralized control on top</a:t>
            </a:r>
          </a:p>
          <a:p>
            <a:pPr>
              <a:lnSpc>
                <a:spcPct val="90000"/>
              </a:lnSpc>
            </a:pPr>
            <a:r>
              <a:rPr lang="en-GB" altLang="en-US"/>
              <a:t>Lower sublayer is distributed</a:t>
            </a:r>
            <a:r>
              <a:rPr lang="en-US" altLang="en-US"/>
              <a:t> coordination function (DCF)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Contention algorithm to provide access to all traffic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Asynchronous traffic</a:t>
            </a: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Point coordination function (PCF)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Centralized MAC algorithm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Contention free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Built on top of DCF</a:t>
            </a:r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4CEDDB75-390D-5D72-6E03-E8D81834AC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IEEE 802.11 Protocol Architecture</a:t>
            </a:r>
            <a:endParaRPr lang="en-US" altLang="en-US"/>
          </a:p>
        </p:txBody>
      </p:sp>
      <p:pic>
        <p:nvPicPr>
          <p:cNvPr id="59395" name="Picture 3">
            <a:extLst>
              <a:ext uri="{FF2B5EF4-FFF2-40B4-BE49-F238E27FC236}">
                <a16:creationId xmlns:a16="http://schemas.microsoft.com/office/drawing/2014/main" id="{B70E8602-A32B-F540-6954-50128AE18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49"/>
          <a:stretch>
            <a:fillRect/>
          </a:stretch>
        </p:blipFill>
        <p:spPr bwMode="auto">
          <a:xfrm>
            <a:off x="936625" y="1368425"/>
            <a:ext cx="7064375" cy="548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Rectangle 4">
            <a:extLst>
              <a:ext uri="{FF2B5EF4-FFF2-40B4-BE49-F238E27FC236}">
                <a16:creationId xmlns:a16="http://schemas.microsoft.com/office/drawing/2014/main" id="{6B3E402E-5648-1975-C1F5-18C9DC5AB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Distributed Coordination Function</a:t>
            </a:r>
          </a:p>
        </p:txBody>
      </p:sp>
      <p:sp>
        <p:nvSpPr>
          <p:cNvPr id="102405" name="Rectangle 5">
            <a:extLst>
              <a:ext uri="{FF2B5EF4-FFF2-40B4-BE49-F238E27FC236}">
                <a16:creationId xmlns:a16="http://schemas.microsoft.com/office/drawing/2014/main" id="{33B16CC4-FAB7-7838-48D4-147D3717BE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DCF sublayer </a:t>
            </a:r>
            <a:r>
              <a:rPr lang="en-GB" altLang="en-US" sz="2400"/>
              <a:t>uses</a:t>
            </a:r>
            <a:r>
              <a:rPr lang="en-US" altLang="en-US" sz="2400"/>
              <a:t> CSMA 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If station has frame to transmit, it listens to medium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If medium idle, station may transmit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Otherwise </a:t>
            </a:r>
            <a:r>
              <a:rPr lang="en-US" altLang="en-US" sz="2400"/>
              <a:t>must wait until current transmission complete 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No</a:t>
            </a:r>
            <a:r>
              <a:rPr lang="en-US" altLang="en-US" sz="2400"/>
              <a:t> collision detection 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Not</a:t>
            </a:r>
            <a:r>
              <a:rPr lang="en-US" altLang="en-US" sz="2000"/>
              <a:t> practical on wireless network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Dynamic </a:t>
            </a:r>
            <a:r>
              <a:rPr lang="en-US" altLang="en-US" sz="2000"/>
              <a:t>range of signals very large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Transmitting </a:t>
            </a:r>
            <a:r>
              <a:rPr lang="en-US" altLang="en-US" sz="2000"/>
              <a:t>station cannot distinguish incoming weak signals from noise and effects of own transmission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DCF includes delays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Amounts </a:t>
            </a:r>
            <a:r>
              <a:rPr lang="en-US" altLang="en-US" sz="2000"/>
              <a:t>to priority scheme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GB" altLang="en-US" sz="1800"/>
              <a:t>Interframe space</a:t>
            </a:r>
            <a:endParaRPr lang="en-US" altLang="en-US"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F5A6291D-C010-0BE2-7EA9-F377379A48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Interframe Space</a:t>
            </a:r>
            <a:endParaRPr lang="en-US" altLang="en-US"/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DAF16CC2-8764-FB4F-B3CA-F422051DF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lnSpc>
                <a:spcPct val="90000"/>
              </a:lnSpc>
            </a:pPr>
            <a:r>
              <a:rPr lang="en-GB" altLang="en-US" sz="2400"/>
              <a:t>Single</a:t>
            </a:r>
            <a:r>
              <a:rPr lang="en-US" altLang="en-US" sz="2400"/>
              <a:t> delay known as interframe space (IFS)</a:t>
            </a:r>
            <a:endParaRPr lang="en-GB" altLang="en-US" sz="2400"/>
          </a:p>
          <a:p>
            <a:pPr marL="457200" indent="-457200">
              <a:lnSpc>
                <a:spcPct val="90000"/>
              </a:lnSpc>
            </a:pPr>
            <a:r>
              <a:rPr lang="en-US" altLang="en-US" sz="2400"/>
              <a:t>Using IFS, rules for CSMA</a:t>
            </a:r>
            <a:r>
              <a:rPr lang="en-GB" altLang="en-US" sz="2400"/>
              <a:t>: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GB" altLang="en-US" sz="2400"/>
              <a:t>Station</a:t>
            </a:r>
            <a:r>
              <a:rPr lang="en-US" altLang="en-US" sz="2400"/>
              <a:t> with frame senses medium</a:t>
            </a:r>
            <a:endParaRPr lang="en-GB" altLang="en-US" sz="2400"/>
          </a:p>
          <a:p>
            <a:pPr marL="838200" lvl="1" indent="-381000">
              <a:lnSpc>
                <a:spcPct val="90000"/>
              </a:lnSpc>
              <a:buFontTx/>
              <a:buChar char="•"/>
            </a:pPr>
            <a:r>
              <a:rPr lang="en-US" altLang="en-US" sz="2000"/>
              <a:t>If idle, wait to see if remains idle for </a:t>
            </a:r>
            <a:r>
              <a:rPr lang="en-GB" altLang="en-US" sz="2000"/>
              <a:t>one </a:t>
            </a:r>
            <a:r>
              <a:rPr lang="en-US" altLang="en-US" sz="2000"/>
              <a:t>IFS. If so, may transmit immediately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altLang="en-US" sz="2400"/>
              <a:t>If busy (either initially or becomes busy during IFS</a:t>
            </a:r>
            <a:r>
              <a:rPr lang="en-GB" altLang="en-US" sz="2400"/>
              <a:t>)</a:t>
            </a:r>
            <a:r>
              <a:rPr lang="en-US" altLang="en-US" sz="2400"/>
              <a:t> station defers transmission</a:t>
            </a:r>
            <a:endParaRPr lang="en-GB" altLang="en-US" sz="2400"/>
          </a:p>
          <a:p>
            <a:pPr marL="838200" lvl="1" indent="-381000">
              <a:lnSpc>
                <a:spcPct val="90000"/>
              </a:lnSpc>
              <a:buFontTx/>
              <a:buChar char="•"/>
            </a:pPr>
            <a:r>
              <a:rPr lang="en-GB" altLang="en-US" sz="2000"/>
              <a:t>Continue</a:t>
            </a:r>
            <a:r>
              <a:rPr lang="en-US" altLang="en-US" sz="2000"/>
              <a:t> to monitor until current transmission is over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altLang="en-US" sz="2400"/>
              <a:t>Once current transmission over, delay another IFS</a:t>
            </a:r>
            <a:endParaRPr lang="en-GB" altLang="en-US" sz="2400"/>
          </a:p>
          <a:p>
            <a:pPr marL="838200" lvl="1" indent="-381000">
              <a:lnSpc>
                <a:spcPct val="90000"/>
              </a:lnSpc>
              <a:buFontTx/>
              <a:buChar char="•"/>
            </a:pPr>
            <a:r>
              <a:rPr lang="en-US" altLang="en-US" sz="2000"/>
              <a:t>If remains idle</a:t>
            </a:r>
            <a:r>
              <a:rPr lang="en-GB" altLang="en-US" sz="2000"/>
              <a:t>,</a:t>
            </a:r>
            <a:r>
              <a:rPr lang="en-US" altLang="en-US" sz="2000"/>
              <a:t> back off random time and again sense</a:t>
            </a:r>
            <a:endParaRPr lang="en-GB" altLang="en-US" sz="2000"/>
          </a:p>
          <a:p>
            <a:pPr marL="838200" lvl="1" indent="-381000">
              <a:lnSpc>
                <a:spcPct val="90000"/>
              </a:lnSpc>
              <a:buFontTx/>
              <a:buChar char="•"/>
            </a:pPr>
            <a:r>
              <a:rPr lang="en-US" altLang="en-US" sz="2000"/>
              <a:t>If medium still idle, station may transmit</a:t>
            </a:r>
            <a:endParaRPr lang="en-GB" altLang="en-US" sz="2000"/>
          </a:p>
          <a:p>
            <a:pPr marL="838200" lvl="1" indent="-381000">
              <a:lnSpc>
                <a:spcPct val="90000"/>
              </a:lnSpc>
              <a:buFontTx/>
              <a:buChar char="•"/>
            </a:pPr>
            <a:r>
              <a:rPr lang="en-US" altLang="en-US" sz="2000"/>
              <a:t>During backoff time, if becomes busy, backoff timer is halted and resumes when medium becomes idle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en-US" sz="2400"/>
              <a:t>To ensure stability, binary exponential backoff used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4D1337B-2F72-0477-3D00-1404190A8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6400" y="1828800"/>
            <a:ext cx="8204200" cy="1143000"/>
          </a:xfrm>
        </p:spPr>
        <p:txBody>
          <a:bodyPr/>
          <a:lstStyle/>
          <a:p>
            <a:r>
              <a:rPr lang="en-GB" altLang="en-US"/>
              <a:t>IEEE 802.11 </a:t>
            </a:r>
            <a:br>
              <a:rPr lang="en-GB" altLang="en-US"/>
            </a:br>
            <a:r>
              <a:rPr lang="en-GB" altLang="en-US"/>
              <a:t>Medium </a:t>
            </a:r>
            <a:br>
              <a:rPr lang="en-GB" altLang="en-US"/>
            </a:br>
            <a:r>
              <a:rPr lang="en-GB" altLang="en-US"/>
              <a:t>Access </a:t>
            </a:r>
            <a:br>
              <a:rPr lang="en-GB" altLang="en-US"/>
            </a:br>
            <a:r>
              <a:rPr lang="en-GB" altLang="en-US"/>
              <a:t>Control </a:t>
            </a:r>
            <a:br>
              <a:rPr lang="en-GB" altLang="en-US"/>
            </a:br>
            <a:r>
              <a:rPr lang="en-GB" altLang="en-US"/>
              <a:t>Logic</a:t>
            </a:r>
            <a:endParaRPr lang="en-US" altLang="en-US"/>
          </a:p>
        </p:txBody>
      </p:sp>
      <p:pic>
        <p:nvPicPr>
          <p:cNvPr id="60419" name="Picture 3">
            <a:extLst>
              <a:ext uri="{FF2B5EF4-FFF2-40B4-BE49-F238E27FC236}">
                <a16:creationId xmlns:a16="http://schemas.microsoft.com/office/drawing/2014/main" id="{27F38EB9-A29B-721F-D524-ECA7862C6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1" r="9006" b="12230"/>
          <a:stretch>
            <a:fillRect/>
          </a:stretch>
        </p:blipFill>
        <p:spPr bwMode="auto">
          <a:xfrm>
            <a:off x="4191000" y="0"/>
            <a:ext cx="48006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4">
            <a:extLst>
              <a:ext uri="{FF2B5EF4-FFF2-40B4-BE49-F238E27FC236}">
                <a16:creationId xmlns:a16="http://schemas.microsoft.com/office/drawing/2014/main" id="{B4D9BF4A-3EB8-D40A-E512-18721F4C8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Priority</a:t>
            </a:r>
            <a:endParaRPr lang="en-US" altLang="en-US"/>
          </a:p>
        </p:txBody>
      </p:sp>
      <p:sp>
        <p:nvSpPr>
          <p:cNvPr id="104453" name="Rectangle 5">
            <a:extLst>
              <a:ext uri="{FF2B5EF4-FFF2-40B4-BE49-F238E27FC236}">
                <a16:creationId xmlns:a16="http://schemas.microsoft.com/office/drawing/2014/main" id="{1E82AF74-C71D-DFBC-E7E5-4F176205A3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Use three values for IFS</a:t>
            </a:r>
          </a:p>
          <a:p>
            <a:r>
              <a:rPr lang="en-US" altLang="en-US" sz="2400"/>
              <a:t>SIFS (short IFS): </a:t>
            </a:r>
            <a:endParaRPr lang="en-GB" altLang="en-US" sz="2400"/>
          </a:p>
          <a:p>
            <a:pPr lvl="1"/>
            <a:r>
              <a:rPr lang="en-GB" altLang="en-US" sz="2000"/>
              <a:t>Shortest</a:t>
            </a:r>
            <a:r>
              <a:rPr lang="en-US" altLang="en-US" sz="2000"/>
              <a:t> IFS</a:t>
            </a:r>
            <a:endParaRPr lang="en-GB" altLang="en-US" sz="2000"/>
          </a:p>
          <a:p>
            <a:pPr lvl="1"/>
            <a:r>
              <a:rPr lang="en-GB" altLang="en-US" sz="2000"/>
              <a:t>For</a:t>
            </a:r>
            <a:r>
              <a:rPr lang="en-US" altLang="en-US" sz="2000"/>
              <a:t> all immediate response actions</a:t>
            </a:r>
            <a:r>
              <a:rPr lang="en-GB" altLang="en-US" sz="2000"/>
              <a:t> (see later)</a:t>
            </a:r>
            <a:r>
              <a:rPr lang="en-US" altLang="en-US" sz="2000"/>
              <a:t> </a:t>
            </a:r>
            <a:endParaRPr lang="en-GB" altLang="en-US" sz="2000"/>
          </a:p>
          <a:p>
            <a:r>
              <a:rPr lang="en-US" altLang="en-US" sz="2400"/>
              <a:t>PIFS (point coordination function IFS): </a:t>
            </a:r>
            <a:endParaRPr lang="en-GB" altLang="en-US" sz="2400"/>
          </a:p>
          <a:p>
            <a:pPr lvl="1"/>
            <a:r>
              <a:rPr lang="en-GB" altLang="en-US" sz="2000"/>
              <a:t>Midlength</a:t>
            </a:r>
            <a:r>
              <a:rPr lang="en-US" altLang="en-US" sz="2000"/>
              <a:t> IFS</a:t>
            </a:r>
            <a:endParaRPr lang="en-GB" altLang="en-US" sz="2000"/>
          </a:p>
          <a:p>
            <a:pPr lvl="1"/>
            <a:r>
              <a:rPr lang="en-GB" altLang="en-US" sz="2000"/>
              <a:t>Used</a:t>
            </a:r>
            <a:r>
              <a:rPr lang="en-US" altLang="en-US" sz="2000"/>
              <a:t> by the centralized controller in PCF scheme when issuing polls</a:t>
            </a:r>
          </a:p>
          <a:p>
            <a:r>
              <a:rPr lang="en-US" altLang="en-US" sz="2400"/>
              <a:t>DIFS (distributed coordination function IFS):</a:t>
            </a:r>
            <a:endParaRPr lang="en-GB" altLang="en-US" sz="2400"/>
          </a:p>
          <a:p>
            <a:pPr lvl="1"/>
            <a:r>
              <a:rPr lang="en-GB" altLang="en-US" sz="2000"/>
              <a:t>Longest </a:t>
            </a:r>
            <a:r>
              <a:rPr lang="en-US" altLang="en-US" sz="2000"/>
              <a:t>IFS</a:t>
            </a:r>
            <a:endParaRPr lang="en-GB" altLang="en-US" sz="2000"/>
          </a:p>
          <a:p>
            <a:pPr lvl="1"/>
            <a:r>
              <a:rPr lang="en-GB" altLang="en-US" sz="2000"/>
              <a:t>Used </a:t>
            </a:r>
            <a:r>
              <a:rPr lang="en-US" altLang="en-US" sz="2000"/>
              <a:t>as minimum delay for asynchronous frames contending for access</a:t>
            </a:r>
          </a:p>
          <a:p>
            <a:endParaRPr lang="en-US" altLang="en-US" sz="2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6" name="Rectangle 4">
            <a:extLst>
              <a:ext uri="{FF2B5EF4-FFF2-40B4-BE49-F238E27FC236}">
                <a16:creationId xmlns:a16="http://schemas.microsoft.com/office/drawing/2014/main" id="{F733AA5C-21B5-F4D3-397C-AEDC00273E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SIFS Use - ACK</a:t>
            </a:r>
            <a:endParaRPr lang="en-US" altLang="en-US"/>
          </a:p>
        </p:txBody>
      </p:sp>
      <p:sp>
        <p:nvSpPr>
          <p:cNvPr id="105477" name="Rectangle 5">
            <a:extLst>
              <a:ext uri="{FF2B5EF4-FFF2-40B4-BE49-F238E27FC236}">
                <a16:creationId xmlns:a16="http://schemas.microsoft.com/office/drawing/2014/main" id="{5F2AE21D-C0CF-D043-400D-829CEEFE3D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Station </a:t>
            </a:r>
            <a:r>
              <a:rPr lang="en-US" altLang="en-US" sz="2400"/>
              <a:t>using SIFS to determine transmission opportunity has</a:t>
            </a:r>
            <a:r>
              <a:rPr lang="en-GB" altLang="en-US" sz="2400"/>
              <a:t> </a:t>
            </a:r>
            <a:r>
              <a:rPr lang="en-US" altLang="en-US" sz="2400"/>
              <a:t>highest priority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In</a:t>
            </a:r>
            <a:r>
              <a:rPr lang="en-US" altLang="en-US" sz="2000"/>
              <a:t> preference to station waiting PIFS or DIFS time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US" altLang="en-US" sz="2400"/>
              <a:t>SIFS used in following circumstances: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Acknowledgment (ACK): </a:t>
            </a:r>
            <a:r>
              <a:rPr lang="en-GB" altLang="en-US" sz="2400"/>
              <a:t>Station </a:t>
            </a:r>
            <a:r>
              <a:rPr lang="en-US" altLang="en-US" sz="2400"/>
              <a:t>responds with ACK after waiting SIFS gap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No </a:t>
            </a:r>
            <a:r>
              <a:rPr lang="en-US" altLang="en-US" sz="2000"/>
              <a:t>collision detection</a:t>
            </a:r>
            <a:r>
              <a:rPr lang="en-GB" altLang="en-US" sz="2000"/>
              <a:t> so </a:t>
            </a:r>
            <a:r>
              <a:rPr lang="en-US" altLang="en-US" sz="2000"/>
              <a:t>likelihood of collisions greater than CSMA/CD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US" altLang="en-US" sz="1800"/>
              <a:t>MAC-level ACK </a:t>
            </a:r>
            <a:r>
              <a:rPr lang="en-GB" altLang="en-US" sz="1800"/>
              <a:t>gives </a:t>
            </a:r>
            <a:r>
              <a:rPr lang="en-US" altLang="en-US" sz="1800"/>
              <a:t>efficient collision recovery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US" altLang="en-US" sz="2000"/>
              <a:t>SIFS provide efficient delivery of multiple frame LLC PDU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GB" altLang="en-US" sz="1800"/>
              <a:t>Station</a:t>
            </a:r>
            <a:r>
              <a:rPr lang="en-US" altLang="en-US" sz="1800"/>
              <a:t> with multiframe LLC PDU to transmit sends out MAC frames one at a time</a:t>
            </a:r>
            <a:endParaRPr lang="en-GB" altLang="en-US" sz="1800"/>
          </a:p>
          <a:p>
            <a:pPr lvl="2">
              <a:lnSpc>
                <a:spcPct val="90000"/>
              </a:lnSpc>
            </a:pPr>
            <a:r>
              <a:rPr lang="en-US" altLang="en-US" sz="1800"/>
              <a:t>Each frame acknowledged after SIFS by recipient</a:t>
            </a:r>
            <a:endParaRPr lang="en-GB" altLang="en-US" sz="1800"/>
          </a:p>
          <a:p>
            <a:pPr lvl="2">
              <a:lnSpc>
                <a:spcPct val="90000"/>
              </a:lnSpc>
            </a:pPr>
            <a:r>
              <a:rPr lang="en-US" altLang="en-US" sz="1800"/>
              <a:t>When source receives ACK, immediately (after SIFS) sends next frame in sequence</a:t>
            </a:r>
            <a:endParaRPr lang="en-GB" altLang="en-US" sz="1800"/>
          </a:p>
          <a:p>
            <a:pPr lvl="2">
              <a:lnSpc>
                <a:spcPct val="90000"/>
              </a:lnSpc>
            </a:pPr>
            <a:r>
              <a:rPr lang="en-GB" altLang="en-US" sz="1800"/>
              <a:t>Once</a:t>
            </a:r>
            <a:r>
              <a:rPr lang="en-US" altLang="en-US" sz="1800"/>
              <a:t> station has contended for channel, it </a:t>
            </a:r>
            <a:r>
              <a:rPr lang="en-GB" altLang="en-US" sz="1800"/>
              <a:t>maintains </a:t>
            </a:r>
            <a:r>
              <a:rPr lang="en-US" altLang="en-US" sz="1800"/>
              <a:t>control of all fragments </a:t>
            </a:r>
            <a:r>
              <a:rPr lang="en-GB" altLang="en-US" sz="1800"/>
              <a:t>sent</a:t>
            </a:r>
            <a:endParaRPr lang="en-US" altLang="en-US"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7A604428-4F1D-668B-1B8E-74D0483A8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SIFS Use – CTS</a:t>
            </a:r>
            <a:endParaRPr lang="en-US" altLang="en-US"/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05DF3437-AE11-5B39-1F9E-87F79F91DB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Clear to Send (CTS): </a:t>
            </a:r>
            <a:r>
              <a:rPr lang="en-GB" altLang="en-US"/>
              <a:t>Station </a:t>
            </a:r>
            <a:r>
              <a:rPr lang="en-US" altLang="en-US"/>
              <a:t>can ensure data frame will get through by issuing RTS</a:t>
            </a:r>
            <a:endParaRPr lang="en-GB" altLang="en-US"/>
          </a:p>
          <a:p>
            <a:pPr lvl="1"/>
            <a:r>
              <a:rPr lang="en-GB" altLang="en-US"/>
              <a:t>Destination</a:t>
            </a:r>
            <a:r>
              <a:rPr lang="en-US" altLang="en-US"/>
              <a:t> station should immediately respond with CTS if ready to receive</a:t>
            </a:r>
            <a:endParaRPr lang="en-GB" altLang="en-US"/>
          </a:p>
          <a:p>
            <a:pPr lvl="1"/>
            <a:r>
              <a:rPr lang="en-US" altLang="en-US"/>
              <a:t>All other stations </a:t>
            </a:r>
            <a:r>
              <a:rPr lang="en-GB" altLang="en-US"/>
              <a:t>hear</a:t>
            </a:r>
            <a:r>
              <a:rPr lang="en-US" altLang="en-US"/>
              <a:t> RTS and defer</a:t>
            </a:r>
            <a:endParaRPr lang="en-GB" altLang="en-US"/>
          </a:p>
          <a:p>
            <a:r>
              <a:rPr lang="en-US" altLang="en-US"/>
              <a:t>Poll response: </a:t>
            </a:r>
            <a:r>
              <a:rPr lang="en-GB" altLang="en-US"/>
              <a:t>See Point coordination Function (PCF)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4" name="Rectangle 4">
            <a:extLst>
              <a:ext uri="{FF2B5EF4-FFF2-40B4-BE49-F238E27FC236}">
                <a16:creationId xmlns:a16="http://schemas.microsoft.com/office/drawing/2014/main" id="{417095D2-D1C3-694F-CB83-9D8500E9A1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PIFS and DIFS</a:t>
            </a:r>
            <a:endParaRPr lang="en-US" altLang="en-US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FCCD058A-C0B5-1143-A262-27BF3B93A0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PIFS used by centralized controller</a:t>
            </a:r>
            <a:endParaRPr lang="en-GB" altLang="en-US"/>
          </a:p>
          <a:p>
            <a:pPr lvl="1"/>
            <a:r>
              <a:rPr lang="en-GB" altLang="en-US"/>
              <a:t>Issuing </a:t>
            </a:r>
            <a:r>
              <a:rPr lang="en-US" altLang="en-US"/>
              <a:t>polls</a:t>
            </a:r>
            <a:endParaRPr lang="en-GB" altLang="en-US"/>
          </a:p>
          <a:p>
            <a:pPr lvl="1"/>
            <a:r>
              <a:rPr lang="en-GB" altLang="en-US"/>
              <a:t>Takes</a:t>
            </a:r>
            <a:r>
              <a:rPr lang="en-US" altLang="en-US"/>
              <a:t> precedence over normal contention traffic</a:t>
            </a:r>
            <a:endParaRPr lang="en-GB" altLang="en-US"/>
          </a:p>
          <a:p>
            <a:pPr lvl="1"/>
            <a:r>
              <a:rPr lang="en-GB" altLang="en-US"/>
              <a:t>Frames</a:t>
            </a:r>
            <a:r>
              <a:rPr lang="en-US" altLang="en-US"/>
              <a:t> using SIFS have precedence over PCF poll</a:t>
            </a:r>
          </a:p>
          <a:p>
            <a:r>
              <a:rPr lang="en-US" altLang="en-US"/>
              <a:t>DIFS used for all ordinary asynchronous traffic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107C1E35-E77A-250A-5463-315AB35686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IEEE 802.11 MAC Timing</a:t>
            </a:r>
            <a:br>
              <a:rPr lang="en-GB" altLang="en-US"/>
            </a:br>
            <a:r>
              <a:rPr lang="en-GB" altLang="en-US"/>
              <a:t>Basic Access Method</a:t>
            </a:r>
            <a:endParaRPr lang="en-US" altLang="en-US"/>
          </a:p>
        </p:txBody>
      </p:sp>
      <p:pic>
        <p:nvPicPr>
          <p:cNvPr id="65539" name="Picture 3">
            <a:extLst>
              <a:ext uri="{FF2B5EF4-FFF2-40B4-BE49-F238E27FC236}">
                <a16:creationId xmlns:a16="http://schemas.microsoft.com/office/drawing/2014/main" id="{91A37EB4-0170-C270-FA38-82E8DD36C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" b="62015"/>
          <a:stretch>
            <a:fillRect/>
          </a:stretch>
        </p:blipFill>
        <p:spPr bwMode="auto">
          <a:xfrm>
            <a:off x="76200" y="2049463"/>
            <a:ext cx="8991600" cy="3665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8" name="Rectangle 4">
            <a:extLst>
              <a:ext uri="{FF2B5EF4-FFF2-40B4-BE49-F238E27FC236}">
                <a16:creationId xmlns:a16="http://schemas.microsoft.com/office/drawing/2014/main" id="{65BA2A79-C040-D61B-0250-B83B6EDAA2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Point Coordination Function (PCF)</a:t>
            </a:r>
            <a:endParaRPr lang="en-US" altLang="en-US"/>
          </a:p>
        </p:txBody>
      </p:sp>
      <p:sp>
        <p:nvSpPr>
          <p:cNvPr id="108549" name="Rectangle 5">
            <a:extLst>
              <a:ext uri="{FF2B5EF4-FFF2-40B4-BE49-F238E27FC236}">
                <a16:creationId xmlns:a16="http://schemas.microsoft.com/office/drawing/2014/main" id="{DCCE832E-D47F-9212-D8EC-3C5058ED97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Alternative</a:t>
            </a:r>
            <a:r>
              <a:rPr lang="en-US" altLang="en-US" sz="2000"/>
              <a:t> access method implemented on top of DCF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000"/>
              <a:t>Polling</a:t>
            </a:r>
            <a:r>
              <a:rPr lang="en-US" altLang="en-US" sz="2000"/>
              <a:t> by centralized polling master (point coordinator)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000"/>
              <a:t>Uses </a:t>
            </a:r>
            <a:r>
              <a:rPr lang="en-US" altLang="en-US" sz="2000"/>
              <a:t>PIFS when issuing polls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US" altLang="en-US" sz="1800"/>
              <a:t>PIFS smaller than DIFS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1800"/>
              <a:t>Can</a:t>
            </a:r>
            <a:r>
              <a:rPr lang="en-US" altLang="en-US" sz="1800"/>
              <a:t> seize medium and lock out all asynchronous traffic while it issues polls and receives responses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E.g.</a:t>
            </a:r>
            <a:r>
              <a:rPr lang="en-US" altLang="en-US" sz="2000"/>
              <a:t> wireless network configured so number of stations with time-sensitive traffic controlled by point coordinator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1800"/>
              <a:t>Remaining</a:t>
            </a:r>
            <a:r>
              <a:rPr lang="en-US" altLang="en-US" sz="1800"/>
              <a:t> traffic contends for access using CSMA</a:t>
            </a: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GB" altLang="en-US" sz="2000"/>
              <a:t>Point</a:t>
            </a:r>
            <a:r>
              <a:rPr lang="en-US" altLang="en-US" sz="2000"/>
              <a:t> coordinator polls in round-robin to stations configured for polling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When poll issued, polled station may respond using SIFS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If point coordinator receives response, it issues another poll using PIFS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If no response during expected turnaround time, coordinator issues poll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3BBC26BE-7BFA-AFA5-5DAE-4B53A966C6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Superframe</a:t>
            </a:r>
            <a:endParaRPr lang="en-US" altLang="en-US"/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5ECE7C4F-E523-F0F2-5F54-A5E5C135AF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Point</a:t>
            </a:r>
            <a:r>
              <a:rPr lang="en-US" altLang="en-US" sz="2000"/>
              <a:t> coordinator would lock out asynchronous traffic by issuing polls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000"/>
              <a:t>Superframe interval</a:t>
            </a:r>
            <a:r>
              <a:rPr lang="en-US" altLang="en-US" sz="2000"/>
              <a:t> defined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US" altLang="en-US" sz="1800"/>
              <a:t>During first part of </a:t>
            </a:r>
            <a:r>
              <a:rPr lang="en-GB" altLang="en-US" sz="1800"/>
              <a:t>superframe</a:t>
            </a:r>
            <a:r>
              <a:rPr lang="en-US" altLang="en-US" sz="1800"/>
              <a:t> interval, point coordinator polls round-robin to all stations configured for polling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1800"/>
              <a:t>Point </a:t>
            </a:r>
            <a:r>
              <a:rPr lang="en-US" altLang="en-US" sz="1800"/>
              <a:t>coordinator then idles for remainder of</a:t>
            </a:r>
            <a:r>
              <a:rPr lang="en-GB" altLang="en-US" sz="1800"/>
              <a:t> </a:t>
            </a:r>
            <a:r>
              <a:rPr lang="en-US" altLang="en-US" sz="1800"/>
              <a:t>superframe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1800"/>
              <a:t>Allowing</a:t>
            </a:r>
            <a:r>
              <a:rPr lang="en-US" altLang="en-US" sz="1800"/>
              <a:t> contention period for asynchronous access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At beginning of superframe, point coordinator may seize control and issue polls for given period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1800"/>
              <a:t>Time </a:t>
            </a:r>
            <a:r>
              <a:rPr lang="en-US" altLang="en-US" sz="1800"/>
              <a:t>varies because of variable frame size issued by responding stations</a:t>
            </a: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GB" altLang="en-US" sz="2000"/>
              <a:t>Rest</a:t>
            </a:r>
            <a:r>
              <a:rPr lang="en-US" altLang="en-US" sz="2000"/>
              <a:t> of superframe available for contention-based access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At end of superframe interval, point coordinator contends for access using PIFS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If idle, point coordinator gains immediate access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1800"/>
              <a:t>Full </a:t>
            </a:r>
            <a:r>
              <a:rPr lang="en-US" altLang="en-US" sz="1800"/>
              <a:t>superframe period follows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1800"/>
              <a:t>If busy</a:t>
            </a:r>
            <a:r>
              <a:rPr lang="en-US" altLang="en-US" sz="1800"/>
              <a:t>, point coordinator must wait </a:t>
            </a:r>
            <a:r>
              <a:rPr lang="en-GB" altLang="en-US" sz="1800"/>
              <a:t>for </a:t>
            </a:r>
            <a:r>
              <a:rPr lang="en-US" altLang="en-US" sz="1800"/>
              <a:t>idle to gain access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1800"/>
              <a:t>Results in </a:t>
            </a:r>
            <a:r>
              <a:rPr lang="en-US" altLang="en-US" sz="1800"/>
              <a:t>foreshortened superframe period for next cycle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47E872D5-4F93-09CF-8B61-32C0138796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IEEE 802.11 MAC Timing</a:t>
            </a:r>
            <a:br>
              <a:rPr lang="en-GB" altLang="en-US"/>
            </a:br>
            <a:r>
              <a:rPr lang="en-GB" altLang="en-US"/>
              <a:t>PCF Superframe Construction</a:t>
            </a:r>
            <a:endParaRPr lang="en-US" altLang="en-US"/>
          </a:p>
        </p:txBody>
      </p:sp>
      <p:pic>
        <p:nvPicPr>
          <p:cNvPr id="61443" name="Picture 3">
            <a:extLst>
              <a:ext uri="{FF2B5EF4-FFF2-40B4-BE49-F238E27FC236}">
                <a16:creationId xmlns:a16="http://schemas.microsoft.com/office/drawing/2014/main" id="{23333ACE-EED5-607A-25A2-8385C4958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71" b="20990"/>
          <a:stretch>
            <a:fillRect/>
          </a:stretch>
        </p:blipFill>
        <p:spPr bwMode="auto">
          <a:xfrm>
            <a:off x="0" y="2438400"/>
            <a:ext cx="9144000" cy="311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4DB15B15-5575-A255-002F-1E67C03210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IEEE 802.11 MAC Frame Format</a:t>
            </a:r>
            <a:endParaRPr lang="en-US" altLang="en-US"/>
          </a:p>
        </p:txBody>
      </p:sp>
      <p:pic>
        <p:nvPicPr>
          <p:cNvPr id="62467" name="Picture 3">
            <a:extLst>
              <a:ext uri="{FF2B5EF4-FFF2-40B4-BE49-F238E27FC236}">
                <a16:creationId xmlns:a16="http://schemas.microsoft.com/office/drawing/2014/main" id="{EC601047-18AB-D723-7E54-74F3766DD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066"/>
          <a:stretch>
            <a:fillRect/>
          </a:stretch>
        </p:blipFill>
        <p:spPr bwMode="auto">
          <a:xfrm>
            <a:off x="0" y="2668588"/>
            <a:ext cx="9144000" cy="175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0" name="Rectangle 4">
            <a:extLst>
              <a:ext uri="{FF2B5EF4-FFF2-40B4-BE49-F238E27FC236}">
                <a16:creationId xmlns:a16="http://schemas.microsoft.com/office/drawing/2014/main" id="{633E61FE-A627-F06A-1163-D33BDBBAF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MAC Frame Fields (1)</a:t>
            </a:r>
            <a:endParaRPr lang="en-US" altLang="en-US"/>
          </a:p>
        </p:txBody>
      </p:sp>
      <p:sp>
        <p:nvSpPr>
          <p:cNvPr id="111621" name="Rectangle 5">
            <a:extLst>
              <a:ext uri="{FF2B5EF4-FFF2-40B4-BE49-F238E27FC236}">
                <a16:creationId xmlns:a16="http://schemas.microsoft.com/office/drawing/2014/main" id="{77BFA046-D046-A2BC-2DFD-D89FA70FE4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Frame Control: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Type</a:t>
            </a:r>
            <a:r>
              <a:rPr lang="en-US" altLang="en-US" sz="2000"/>
              <a:t> of frame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Control</a:t>
            </a:r>
            <a:r>
              <a:rPr lang="en-US" altLang="en-US" sz="2000"/>
              <a:t>, management, or data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Provides</a:t>
            </a:r>
            <a:r>
              <a:rPr lang="en-US" altLang="en-US" sz="2000"/>
              <a:t> control information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GB" altLang="en-US" sz="1800"/>
              <a:t>Includes</a:t>
            </a:r>
            <a:r>
              <a:rPr lang="en-US" altLang="en-US" sz="1800"/>
              <a:t> whether frame is to or from DS, fragmentation information, and privacy information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Duration/Connection ID: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US" altLang="en-US" sz="2000"/>
              <a:t>If used as duration field, indicates time (in </a:t>
            </a:r>
            <a:r>
              <a:rPr lang="en-US" altLang="en-US" sz="2000">
                <a:sym typeface="Symbol" panose="05050102010706020507" pitchFamily="18" charset="2"/>
              </a:rPr>
              <a:t></a:t>
            </a:r>
            <a:r>
              <a:rPr lang="en-US" altLang="en-US" sz="2000"/>
              <a:t>s) channel will be allocated for successful transmission of MAC frame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US" altLang="en-US" sz="2000"/>
              <a:t>In some control frames, contains association or connection identifier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Addresses: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Number</a:t>
            </a:r>
            <a:r>
              <a:rPr lang="en-US" altLang="en-US" sz="2000"/>
              <a:t> and meaning of address fields depend on context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Types</a:t>
            </a:r>
            <a:r>
              <a:rPr lang="en-US" altLang="en-US" sz="2000"/>
              <a:t> include source, destination, transmitting station, and receiving station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D1753AA7-65AA-F752-9735-4256EE47F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MAC Frame Fields (2)</a:t>
            </a:r>
            <a:endParaRPr lang="en-US" altLang="en-US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6176CDB7-8F87-BD8E-01E0-F7DFBA578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Sequence Control:</a:t>
            </a:r>
            <a:endParaRPr lang="en-GB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4-bit fragment number subfield</a:t>
            </a:r>
            <a:endParaRPr lang="en-GB" altLang="en-US"/>
          </a:p>
          <a:p>
            <a:pPr lvl="2">
              <a:lnSpc>
                <a:spcPct val="90000"/>
              </a:lnSpc>
            </a:pPr>
            <a:r>
              <a:rPr lang="en-GB" altLang="en-US"/>
              <a:t>For</a:t>
            </a:r>
            <a:r>
              <a:rPr lang="en-US" altLang="en-US"/>
              <a:t> fragmentation and reassembly</a:t>
            </a:r>
            <a:endParaRPr lang="en-GB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12-bit sequence number </a:t>
            </a:r>
            <a:endParaRPr lang="en-GB" altLang="en-US"/>
          </a:p>
          <a:p>
            <a:pPr lvl="1">
              <a:lnSpc>
                <a:spcPct val="90000"/>
              </a:lnSpc>
            </a:pPr>
            <a:r>
              <a:rPr lang="en-GB" altLang="en-US"/>
              <a:t>Number </a:t>
            </a:r>
            <a:r>
              <a:rPr lang="en-US" altLang="en-US"/>
              <a:t>frames between given transmitter and receiver</a:t>
            </a:r>
          </a:p>
          <a:p>
            <a:pPr>
              <a:lnSpc>
                <a:spcPct val="90000"/>
              </a:lnSpc>
            </a:pPr>
            <a:r>
              <a:rPr lang="en-US" altLang="en-US"/>
              <a:t>Frame Body:</a:t>
            </a:r>
            <a:endParaRPr lang="en-GB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MSDU </a:t>
            </a:r>
            <a:r>
              <a:rPr lang="en-GB" altLang="en-US"/>
              <a:t>(</a:t>
            </a:r>
            <a:r>
              <a:rPr lang="en-US" altLang="en-US"/>
              <a:t>or a fragment of</a:t>
            </a:r>
            <a:r>
              <a:rPr lang="en-GB" altLang="en-US"/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LLC </a:t>
            </a:r>
            <a:r>
              <a:rPr lang="en-GB" altLang="en-US"/>
              <a:t>PDU </a:t>
            </a:r>
            <a:r>
              <a:rPr lang="en-US" altLang="en-US"/>
              <a:t>or MAC control information</a:t>
            </a:r>
          </a:p>
          <a:p>
            <a:pPr>
              <a:lnSpc>
                <a:spcPct val="90000"/>
              </a:lnSpc>
            </a:pPr>
            <a:r>
              <a:rPr lang="en-US" altLang="en-US"/>
              <a:t>Frame Check Sequence:</a:t>
            </a:r>
            <a:endParaRPr lang="en-GB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32-bit cyclic redundancy check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2" name="Rectangle 4">
            <a:extLst>
              <a:ext uri="{FF2B5EF4-FFF2-40B4-BE49-F238E27FC236}">
                <a16:creationId xmlns:a16="http://schemas.microsoft.com/office/drawing/2014/main" id="{E1957A0C-00BD-DFEA-2D3C-655F776E05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Control Frames</a:t>
            </a:r>
            <a:endParaRPr lang="en-US" altLang="en-US"/>
          </a:p>
        </p:txBody>
      </p:sp>
      <p:sp>
        <p:nvSpPr>
          <p:cNvPr id="114693" name="Rectangle 5">
            <a:extLst>
              <a:ext uri="{FF2B5EF4-FFF2-40B4-BE49-F238E27FC236}">
                <a16:creationId xmlns:a16="http://schemas.microsoft.com/office/drawing/2014/main" id="{B86D7B3A-DAC3-7859-9F5D-CC2F2A4E78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Assist</a:t>
            </a:r>
            <a:r>
              <a:rPr lang="en-US" altLang="en-US" sz="2000"/>
              <a:t> in reliable data delivery 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Power Save-Poll (PS-Poll) 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1800"/>
              <a:t>Sent</a:t>
            </a:r>
            <a:r>
              <a:rPr lang="en-US" altLang="en-US" sz="1800"/>
              <a:t> by any station to station that includes AP 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1800"/>
              <a:t>Request</a:t>
            </a:r>
            <a:r>
              <a:rPr lang="en-US" altLang="en-US" sz="1800"/>
              <a:t> AP transmit frame buffered for this station while station in power-saving mode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Request to Send (RTS)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1800"/>
              <a:t>First</a:t>
            </a:r>
            <a:r>
              <a:rPr lang="en-US" altLang="en-US" sz="1800"/>
              <a:t> frame in four-way frame exchange</a:t>
            </a: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US" altLang="en-US" sz="2000"/>
              <a:t>Clear to Send (CTS)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1800"/>
              <a:t>Second </a:t>
            </a:r>
            <a:r>
              <a:rPr lang="en-US" altLang="en-US" sz="1800"/>
              <a:t>frame in four-way exchange</a:t>
            </a: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US" altLang="en-US" sz="2000"/>
              <a:t>Acknowledgment</a:t>
            </a:r>
            <a:r>
              <a:rPr lang="en-GB" altLang="en-US" sz="2000"/>
              <a:t> (ACK)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Contention-Free (CF)-end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US" altLang="en-US" sz="1800"/>
              <a:t>Announces end of contention-free period part of </a:t>
            </a:r>
            <a:r>
              <a:rPr lang="en-GB" altLang="en-US" sz="1800"/>
              <a:t>PCF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CF-End + CF-Ack: 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US" altLang="en-US" sz="1800"/>
              <a:t>Acknowledges CF-end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1800"/>
              <a:t>Ends</a:t>
            </a:r>
            <a:r>
              <a:rPr lang="en-US" altLang="en-US" sz="1800"/>
              <a:t> contention-free period and releases stations from </a:t>
            </a:r>
            <a:r>
              <a:rPr lang="en-GB" altLang="en-US" sz="1800"/>
              <a:t>associated</a:t>
            </a:r>
            <a:r>
              <a:rPr lang="en-US" altLang="en-US" sz="1800"/>
              <a:t> restrictions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0B7BD056-B479-6AA9-A6C6-6953123314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Data Frames – Data Carrying</a:t>
            </a:r>
            <a:endParaRPr lang="en-US" altLang="en-US"/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52A942C6-90DA-2B14-DC16-701C8673C2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Eight </a:t>
            </a:r>
            <a:r>
              <a:rPr lang="en-US" altLang="en-US" sz="2400"/>
              <a:t>data frame subtypes, </a:t>
            </a:r>
            <a:r>
              <a:rPr lang="en-GB" altLang="en-US" sz="2400"/>
              <a:t>in</a:t>
            </a:r>
            <a:r>
              <a:rPr lang="en-US" altLang="en-US" sz="2400"/>
              <a:t> two groups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First </a:t>
            </a:r>
            <a:r>
              <a:rPr lang="en-US" altLang="en-US" sz="2400"/>
              <a:t>four carry upper-level data from source station to destination station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Data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Simplest</a:t>
            </a:r>
            <a:r>
              <a:rPr lang="en-US" altLang="en-US" sz="2000"/>
              <a:t> data frame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May</a:t>
            </a:r>
            <a:r>
              <a:rPr lang="en-US" altLang="en-US" sz="2000"/>
              <a:t> be used in contention </a:t>
            </a:r>
            <a:r>
              <a:rPr lang="en-GB" altLang="en-US" sz="2000"/>
              <a:t>or</a:t>
            </a:r>
            <a:r>
              <a:rPr lang="en-US" altLang="en-US" sz="2000"/>
              <a:t> contention-free period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Data + CF-Ack 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Only</a:t>
            </a:r>
            <a:r>
              <a:rPr lang="en-US" altLang="en-US" sz="2000"/>
              <a:t> sent during contention-free period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Carries</a:t>
            </a:r>
            <a:r>
              <a:rPr lang="en-US" altLang="en-US" sz="2000"/>
              <a:t> data</a:t>
            </a:r>
            <a:r>
              <a:rPr lang="en-GB" altLang="en-US" sz="2000"/>
              <a:t> and </a:t>
            </a:r>
            <a:r>
              <a:rPr lang="en-US" altLang="en-US" sz="2000"/>
              <a:t>acknowledges previously received data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Data + CF-Poll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US" altLang="en-US" sz="2000"/>
              <a:t>Used by point coordinator to deliver data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Also</a:t>
            </a:r>
            <a:r>
              <a:rPr lang="en-US" altLang="en-US" sz="2000"/>
              <a:t> to request station send data frame it may have buffered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Data + CF-Ack + CF-Poll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US" altLang="en-US" sz="2000"/>
              <a:t>Combines Data + CF-Ack and Data + CF-Poll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40" name="Rectangle 4">
            <a:extLst>
              <a:ext uri="{FF2B5EF4-FFF2-40B4-BE49-F238E27FC236}">
                <a16:creationId xmlns:a16="http://schemas.microsoft.com/office/drawing/2014/main" id="{E6DC5AEC-02B0-0D76-14AD-3615BD8F1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Data Frames – </a:t>
            </a:r>
            <a:br>
              <a:rPr lang="en-GB" altLang="en-US"/>
            </a:br>
            <a:r>
              <a:rPr lang="en-GB" altLang="en-US"/>
              <a:t>Not Data Carrying</a:t>
            </a:r>
            <a:endParaRPr lang="en-US" altLang="en-US"/>
          </a:p>
        </p:txBody>
      </p:sp>
      <p:sp>
        <p:nvSpPr>
          <p:cNvPr id="116741" name="Rectangle 5">
            <a:extLst>
              <a:ext uri="{FF2B5EF4-FFF2-40B4-BE49-F238E27FC236}">
                <a16:creationId xmlns:a16="http://schemas.microsoft.com/office/drawing/2014/main" id="{BD69AB30-4CC3-DA2D-D2CF-56089DD070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/>
              <a:t>Remaining</a:t>
            </a:r>
            <a:r>
              <a:rPr lang="en-US" altLang="en-US"/>
              <a:t> four data frames do not carry user data</a:t>
            </a:r>
            <a:endParaRPr lang="en-GB" altLang="en-US"/>
          </a:p>
          <a:p>
            <a:pPr>
              <a:lnSpc>
                <a:spcPct val="90000"/>
              </a:lnSpc>
            </a:pPr>
            <a:r>
              <a:rPr lang="en-US" altLang="en-US"/>
              <a:t>Null Function</a:t>
            </a:r>
            <a:endParaRPr lang="en-GB" altLang="en-US"/>
          </a:p>
          <a:p>
            <a:pPr lvl="1">
              <a:lnSpc>
                <a:spcPct val="90000"/>
              </a:lnSpc>
            </a:pPr>
            <a:r>
              <a:rPr lang="en-GB" altLang="en-US"/>
              <a:t>Carries</a:t>
            </a:r>
            <a:r>
              <a:rPr lang="en-US" altLang="en-US"/>
              <a:t> no data, polls, or acknowledgments</a:t>
            </a:r>
            <a:endParaRPr lang="en-GB" altLang="en-US"/>
          </a:p>
          <a:p>
            <a:pPr lvl="1">
              <a:lnSpc>
                <a:spcPct val="90000"/>
              </a:lnSpc>
            </a:pPr>
            <a:r>
              <a:rPr lang="en-GB" altLang="en-US"/>
              <a:t>Carries</a:t>
            </a:r>
            <a:r>
              <a:rPr lang="en-US" altLang="en-US"/>
              <a:t> power management bit in frame control field to AP</a:t>
            </a:r>
            <a:endParaRPr lang="en-GB" altLang="en-US"/>
          </a:p>
          <a:p>
            <a:pPr lvl="1">
              <a:lnSpc>
                <a:spcPct val="90000"/>
              </a:lnSpc>
            </a:pPr>
            <a:r>
              <a:rPr lang="en-GB" altLang="en-US"/>
              <a:t>Indicates</a:t>
            </a:r>
            <a:r>
              <a:rPr lang="en-US" altLang="en-US"/>
              <a:t> station is changing to low-power state</a:t>
            </a:r>
            <a:endParaRPr lang="en-GB" altLang="en-US"/>
          </a:p>
          <a:p>
            <a:pPr>
              <a:lnSpc>
                <a:spcPct val="90000"/>
              </a:lnSpc>
            </a:pPr>
            <a:r>
              <a:rPr lang="en-GB" altLang="en-US"/>
              <a:t>Other</a:t>
            </a:r>
            <a:r>
              <a:rPr lang="en-US" altLang="en-US"/>
              <a:t> three frames (CF-Ack, CF-Poll, CF-Ack + CF-Poll) same as corresponding frame in preceding list (Data + CF-Ack, Data + CF-Poll, Data + CF-Ack + CF-Poll) but without data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2" name="Rectangle 4">
            <a:extLst>
              <a:ext uri="{FF2B5EF4-FFF2-40B4-BE49-F238E27FC236}">
                <a16:creationId xmlns:a16="http://schemas.microsoft.com/office/drawing/2014/main" id="{DCAB9EFF-99BF-52A4-8265-1FDB0A14C3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Management Frames</a:t>
            </a:r>
            <a:endParaRPr lang="en-US" altLang="en-US"/>
          </a:p>
        </p:txBody>
      </p:sp>
      <p:sp>
        <p:nvSpPr>
          <p:cNvPr id="119813" name="Rectangle 5">
            <a:extLst>
              <a:ext uri="{FF2B5EF4-FFF2-40B4-BE49-F238E27FC236}">
                <a16:creationId xmlns:a16="http://schemas.microsoft.com/office/drawing/2014/main" id="{11DBDE45-5383-CE0F-6D29-B6424FECFD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Used to manage </a:t>
            </a:r>
            <a:r>
              <a:rPr lang="en-US" altLang="en-US"/>
              <a:t>communications between stations and Aps</a:t>
            </a:r>
            <a:endParaRPr lang="en-GB" altLang="en-US"/>
          </a:p>
          <a:p>
            <a:r>
              <a:rPr lang="en-GB" altLang="en-US"/>
              <a:t>E.g.</a:t>
            </a:r>
            <a:r>
              <a:rPr lang="en-US" altLang="en-US"/>
              <a:t> management of associations</a:t>
            </a:r>
            <a:endParaRPr lang="en-GB" altLang="en-US"/>
          </a:p>
          <a:p>
            <a:pPr lvl="1"/>
            <a:r>
              <a:rPr lang="en-GB" altLang="en-US"/>
              <a:t>Requests</a:t>
            </a:r>
            <a:r>
              <a:rPr lang="en-US" altLang="en-US"/>
              <a:t>, response, reassociation, dissociation, and authentication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8" name="Rectangle 4">
            <a:extLst>
              <a:ext uri="{FF2B5EF4-FFF2-40B4-BE49-F238E27FC236}">
                <a16:creationId xmlns:a16="http://schemas.microsoft.com/office/drawing/2014/main" id="{9459FD1B-E546-1B28-6C08-71149980E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802.11 Physical Layer</a:t>
            </a:r>
            <a:endParaRPr lang="en-US" altLang="en-US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DC81A515-B7C8-A919-1364-EC6930261C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Issued</a:t>
            </a:r>
            <a:r>
              <a:rPr lang="en-US" altLang="en-US" sz="2400"/>
              <a:t> in four stages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First</a:t>
            </a:r>
            <a:r>
              <a:rPr lang="en-US" altLang="en-US" sz="2400"/>
              <a:t> part in 1997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US" altLang="en-US" sz="2000"/>
              <a:t>IEEE 802.11 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Includes</a:t>
            </a:r>
            <a:r>
              <a:rPr lang="en-US" altLang="en-US" sz="2000"/>
              <a:t> MAC layer and three physical layer specifications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Two </a:t>
            </a:r>
            <a:r>
              <a:rPr lang="en-US" altLang="en-US" sz="2000"/>
              <a:t>in 2.4-GHz band and one infrared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All</a:t>
            </a:r>
            <a:r>
              <a:rPr lang="en-US" altLang="en-US" sz="2000"/>
              <a:t> operating at 1 and 2 Mbps</a:t>
            </a: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400"/>
              <a:t>Two </a:t>
            </a:r>
            <a:r>
              <a:rPr lang="en-US" altLang="en-US" sz="2400"/>
              <a:t>additional parts in 1999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US" altLang="en-US" sz="2000"/>
              <a:t>IEEE 802.11a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US" altLang="en-US" sz="1800"/>
              <a:t>5-GHz band up to 54 Mbps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US" altLang="en-US" sz="2000"/>
              <a:t>IEEE 802.11b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US" altLang="en-US" sz="1800"/>
              <a:t>2.4-G</a:t>
            </a:r>
            <a:r>
              <a:rPr lang="en-GB" altLang="en-US" sz="1800"/>
              <a:t>H</a:t>
            </a:r>
            <a:r>
              <a:rPr lang="en-US" altLang="en-US" sz="1800"/>
              <a:t>z band at 5.5 and 11 Mbps</a:t>
            </a: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GB" altLang="en-US" sz="2400"/>
              <a:t>Most</a:t>
            </a:r>
            <a:r>
              <a:rPr lang="en-US" altLang="en-US" sz="2400"/>
              <a:t> recent in 2002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US" altLang="en-US" sz="2000"/>
              <a:t>IEEE 802.g extends IEEE 802.11b to higher data rates</a:t>
            </a:r>
            <a:endParaRPr lang="en-GB" altLang="en-US" sz="20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DB2A2BCD-6977-8153-3EF6-89DF7C7B4A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Original 802.11 Physical Layer -  </a:t>
            </a:r>
            <a:br>
              <a:rPr lang="en-GB" altLang="en-US"/>
            </a:br>
            <a:r>
              <a:rPr lang="en-GB" altLang="en-US"/>
              <a:t>DSSS</a:t>
            </a:r>
            <a:endParaRPr lang="en-US" altLang="en-US"/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795C7CE6-C562-04EB-4B7B-6F88E0A805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Three physical media </a:t>
            </a:r>
          </a:p>
          <a:p>
            <a:pPr>
              <a:lnSpc>
                <a:spcPct val="90000"/>
              </a:lnSpc>
            </a:pPr>
            <a:r>
              <a:rPr lang="en-US" altLang="en-US"/>
              <a:t>Direct-sequence spread spectrum</a:t>
            </a:r>
            <a:endParaRPr lang="en-GB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2.4 GHz ISM band at 1 Mbps and 2 Mbps</a:t>
            </a:r>
            <a:endParaRPr lang="en-GB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Up to seven channels, each 1 Mbps or 2 Mbps, can be used</a:t>
            </a:r>
            <a:endParaRPr lang="en-GB" altLang="en-US"/>
          </a:p>
          <a:p>
            <a:pPr lvl="1">
              <a:lnSpc>
                <a:spcPct val="90000"/>
              </a:lnSpc>
            </a:pPr>
            <a:r>
              <a:rPr lang="en-GB" altLang="en-US"/>
              <a:t>Depends</a:t>
            </a:r>
            <a:r>
              <a:rPr lang="en-US" altLang="en-US"/>
              <a:t> on bandwidth allocated by various national </a:t>
            </a:r>
            <a:r>
              <a:rPr lang="en-GB" altLang="en-US"/>
              <a:t>regulations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13 in most European countries</a:t>
            </a:r>
            <a:endParaRPr lang="en-GB" altLang="en-US"/>
          </a:p>
          <a:p>
            <a:pPr lvl="2">
              <a:lnSpc>
                <a:spcPct val="90000"/>
              </a:lnSpc>
            </a:pPr>
            <a:r>
              <a:rPr lang="en-GB" altLang="en-US"/>
              <a:t>One</a:t>
            </a:r>
            <a:r>
              <a:rPr lang="en-US" altLang="en-US"/>
              <a:t> in Japan</a:t>
            </a:r>
            <a:endParaRPr lang="en-GB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Each channel bandwidth 5 MHz</a:t>
            </a:r>
            <a:endParaRPr lang="en-GB" altLang="en-US"/>
          </a:p>
          <a:p>
            <a:pPr lvl="1">
              <a:lnSpc>
                <a:spcPct val="90000"/>
              </a:lnSpc>
            </a:pPr>
            <a:r>
              <a:rPr lang="en-GB" altLang="en-US"/>
              <a:t>Encoding</a:t>
            </a:r>
            <a:r>
              <a:rPr lang="en-US" altLang="en-US"/>
              <a:t> scheme DBPSK for 1-Mbps and DQPSK for 2-Mbps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8A9BDDF8-8FEA-6DEC-30ED-2383A8773D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Original 802.11 Physical Layer - FHSS</a:t>
            </a:r>
            <a:endParaRPr lang="en-US" altLang="en-US"/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8DB8AABE-502A-4CB6-EABD-519AFF7F4F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Frequency-hopping spread spectrum 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US" altLang="en-US" sz="1800"/>
              <a:t>2.4 GHz ISM band</a:t>
            </a:r>
            <a:r>
              <a:rPr lang="en-GB" altLang="en-US" sz="1800"/>
              <a:t> </a:t>
            </a:r>
            <a:r>
              <a:rPr lang="en-US" altLang="en-US" sz="1800"/>
              <a:t>at 1 Mbps and 2 Mbps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Uses</a:t>
            </a:r>
            <a:r>
              <a:rPr lang="en-US" altLang="en-US" sz="1800"/>
              <a:t> multiple channels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1800"/>
              <a:t>Signal</a:t>
            </a:r>
            <a:r>
              <a:rPr lang="en-US" altLang="en-US" sz="1800"/>
              <a:t> hopping from one channel to another based on a pseudonoise sequence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US" altLang="en-US" sz="1800"/>
              <a:t>1-MHz channels are used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US" altLang="en-US" sz="1800"/>
              <a:t>23</a:t>
            </a:r>
            <a:r>
              <a:rPr lang="en-GB" altLang="en-US" sz="1800"/>
              <a:t> channels</a:t>
            </a:r>
            <a:r>
              <a:rPr lang="en-US" altLang="en-US" sz="1800"/>
              <a:t> in Japan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US" altLang="en-US" sz="1800"/>
              <a:t>70 in</a:t>
            </a:r>
            <a:r>
              <a:rPr lang="en-GB" altLang="en-US" sz="1800"/>
              <a:t> USA</a:t>
            </a:r>
            <a:endParaRPr lang="en-US" altLang="en-US" sz="1800"/>
          </a:p>
          <a:p>
            <a:pPr>
              <a:lnSpc>
                <a:spcPct val="90000"/>
              </a:lnSpc>
            </a:pPr>
            <a:r>
              <a:rPr lang="en-GB" altLang="en-US" sz="2000"/>
              <a:t>Hopping</a:t>
            </a:r>
            <a:r>
              <a:rPr lang="en-US" altLang="en-US" sz="2000"/>
              <a:t> scheme adjustable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1800"/>
              <a:t>E.g. Minimum</a:t>
            </a:r>
            <a:r>
              <a:rPr lang="en-US" altLang="en-US" sz="1800"/>
              <a:t> hop rate for</a:t>
            </a:r>
            <a:r>
              <a:rPr lang="en-GB" altLang="en-US" sz="1800"/>
              <a:t>USA </a:t>
            </a:r>
            <a:r>
              <a:rPr lang="en-US" altLang="en-US" sz="1800"/>
              <a:t>is 2.5 hops per second</a:t>
            </a:r>
            <a:endParaRPr lang="en-GB" altLang="en-US" sz="1800"/>
          </a:p>
          <a:p>
            <a:pPr lvl="1">
              <a:lnSpc>
                <a:spcPct val="90000"/>
              </a:lnSpc>
            </a:pPr>
            <a:r>
              <a:rPr lang="en-GB" altLang="en-US" sz="1800"/>
              <a:t>Minimum </a:t>
            </a:r>
            <a:r>
              <a:rPr lang="en-US" altLang="en-US" sz="1800"/>
              <a:t>hop distance 6 MHz in North America and most of Europe and 5 MHz in Japan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Two</a:t>
            </a:r>
            <a:r>
              <a:rPr lang="en-US" altLang="en-US" sz="2000"/>
              <a:t>-level Gaussian FSK modulation for 1-Mbps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1800"/>
              <a:t>Bits</a:t>
            </a:r>
            <a:r>
              <a:rPr lang="en-US" altLang="en-US" sz="1800"/>
              <a:t> encoded as deviations from current carrier frequency</a:t>
            </a: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US" altLang="en-US" sz="2000"/>
              <a:t>For 2 Mbps, four-level GFSK used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1800"/>
              <a:t>Four </a:t>
            </a:r>
            <a:r>
              <a:rPr lang="en-US" altLang="en-US" sz="1800"/>
              <a:t>different deviations from center frequency define four 2-bit combinations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533E8F9F-C494-50F5-C3B1-5AC7244BD0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Original 802.11 Physical Layer – </a:t>
            </a:r>
            <a:r>
              <a:rPr lang="en-US" altLang="en-US"/>
              <a:t>Infrared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41ED015F-E3B2-B23D-1604-B210FF176B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Omnidirectional</a:t>
            </a:r>
          </a:p>
          <a:p>
            <a:r>
              <a:rPr lang="en-GB" altLang="en-US" sz="2400"/>
              <a:t>Range up</a:t>
            </a:r>
            <a:r>
              <a:rPr lang="en-US" altLang="en-US" sz="2400"/>
              <a:t> to 20 m</a:t>
            </a:r>
            <a:endParaRPr lang="en-GB" altLang="en-US" sz="2400"/>
          </a:p>
          <a:p>
            <a:r>
              <a:rPr lang="en-GB" altLang="en-US" sz="2400"/>
              <a:t>1 Mbps used </a:t>
            </a:r>
            <a:r>
              <a:rPr lang="en-US" altLang="en-US" sz="2400"/>
              <a:t>16-PPM (pulse position modulation)</a:t>
            </a:r>
            <a:endParaRPr lang="en-GB" altLang="en-US" sz="2400"/>
          </a:p>
          <a:p>
            <a:pPr lvl="1"/>
            <a:r>
              <a:rPr lang="en-GB" altLang="en-US" sz="2000"/>
              <a:t>Each</a:t>
            </a:r>
            <a:r>
              <a:rPr lang="en-US" altLang="en-US" sz="2000"/>
              <a:t> group of 4 data bits mapped into one of 16-PPM symbols</a:t>
            </a:r>
            <a:endParaRPr lang="en-GB" altLang="en-US" sz="2000"/>
          </a:p>
          <a:p>
            <a:pPr lvl="1"/>
            <a:r>
              <a:rPr lang="en-GB" altLang="en-US" sz="2000"/>
              <a:t>Each</a:t>
            </a:r>
            <a:r>
              <a:rPr lang="en-US" altLang="en-US" sz="2000"/>
              <a:t> symbol a string of 16 bits</a:t>
            </a:r>
            <a:endParaRPr lang="en-GB" altLang="en-US" sz="2000"/>
          </a:p>
          <a:p>
            <a:pPr lvl="1"/>
            <a:r>
              <a:rPr lang="en-US" altLang="en-US" sz="2000"/>
              <a:t>Each 16-bit string consists of fifteen 0s and one binary 1</a:t>
            </a:r>
            <a:endParaRPr lang="en-GB" altLang="en-US" sz="2000"/>
          </a:p>
          <a:p>
            <a:r>
              <a:rPr lang="en-GB" altLang="en-US" sz="2400"/>
              <a:t>For </a:t>
            </a:r>
            <a:r>
              <a:rPr lang="en-US" altLang="en-US" sz="2400"/>
              <a:t>2-Mbps, each group of 2 data bits is mapped into one of four 4-bit sequences</a:t>
            </a:r>
            <a:endParaRPr lang="en-GB" altLang="en-US" sz="2400"/>
          </a:p>
          <a:p>
            <a:pPr lvl="1"/>
            <a:r>
              <a:rPr lang="en-US" altLang="en-US" sz="2000"/>
              <a:t>Each sequence consists of three 0s and one binary 1</a:t>
            </a:r>
            <a:endParaRPr lang="en-GB" altLang="en-US" sz="2000"/>
          </a:p>
          <a:p>
            <a:pPr lvl="1"/>
            <a:r>
              <a:rPr lang="en-GB" altLang="en-US" sz="2000"/>
              <a:t>Intensity</a:t>
            </a:r>
            <a:r>
              <a:rPr lang="en-US" altLang="en-US" sz="2000"/>
              <a:t> modulation</a:t>
            </a:r>
            <a:endParaRPr lang="en-GB" altLang="en-US" sz="2000"/>
          </a:p>
          <a:p>
            <a:pPr lvl="2"/>
            <a:r>
              <a:rPr lang="en-GB" altLang="en-US" sz="1800"/>
              <a:t>Presence</a:t>
            </a:r>
            <a:r>
              <a:rPr lang="en-US" altLang="en-US" sz="1800"/>
              <a:t> of signal corresponds to 1 </a:t>
            </a:r>
          </a:p>
          <a:p>
            <a:endParaRPr lang="en-US" altLang="en-US" sz="24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8" name="Rectangle 4">
            <a:extLst>
              <a:ext uri="{FF2B5EF4-FFF2-40B4-BE49-F238E27FC236}">
                <a16:creationId xmlns:a16="http://schemas.microsoft.com/office/drawing/2014/main" id="{56D2A6EE-8E53-4903-9345-4E4BD40BC9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802.11a</a:t>
            </a:r>
            <a:endParaRPr lang="en-US" altLang="en-US"/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6F5A5BD5-7311-4BDC-3F39-EEADBDD4A6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5-GHz band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Uses</a:t>
            </a:r>
            <a:r>
              <a:rPr lang="en-US" altLang="en-US" sz="2400"/>
              <a:t> orthogonal frequency division multiplexing (OFDM)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Not spread spectrum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Also</a:t>
            </a:r>
            <a:r>
              <a:rPr lang="en-US" altLang="en-US" sz="2400"/>
              <a:t> called multicarrier modulation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Multiple</a:t>
            </a:r>
            <a:r>
              <a:rPr lang="en-US" altLang="en-US" sz="2400"/>
              <a:t> carrier signals at different frequencies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Some</a:t>
            </a:r>
            <a:r>
              <a:rPr lang="en-US" altLang="en-US" sz="2400"/>
              <a:t> bits on each channel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Similar </a:t>
            </a:r>
            <a:r>
              <a:rPr lang="en-US" altLang="en-US" sz="2000"/>
              <a:t>to FDM</a:t>
            </a:r>
            <a:r>
              <a:rPr lang="en-GB" altLang="en-US" sz="2000"/>
              <a:t> but </a:t>
            </a:r>
            <a:r>
              <a:rPr lang="en-US" altLang="en-US" sz="2000"/>
              <a:t>all subchannels dedicated to single source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Data</a:t>
            </a:r>
            <a:r>
              <a:rPr lang="en-US" altLang="en-US" sz="2400"/>
              <a:t> rates 6, 9, 12, 18, 24, 36, 48, and 54 Mbps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Up</a:t>
            </a:r>
            <a:r>
              <a:rPr lang="en-US" altLang="en-US" sz="2400"/>
              <a:t> to 52 subcarriers modulated using BPSK, QPSK, 16-QAM, or 64-QAM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Depending</a:t>
            </a:r>
            <a:r>
              <a:rPr lang="en-US" altLang="en-US" sz="2000"/>
              <a:t> on rate 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US" altLang="en-US" sz="2000"/>
              <a:t>Subcarrier frequency spacing 0.3125 MHz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Convolutional</a:t>
            </a:r>
            <a:r>
              <a:rPr lang="en-US" altLang="en-US" sz="2000"/>
              <a:t> code at rate of 1/2, 2/3, or 3/4 provides forward error correction</a:t>
            </a:r>
          </a:p>
          <a:p>
            <a:pPr>
              <a:lnSpc>
                <a:spcPct val="90000"/>
              </a:lnSpc>
            </a:pPr>
            <a:endParaRPr lang="en-US" altLang="en-US" sz="24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Rectangle 4">
            <a:extLst>
              <a:ext uri="{FF2B5EF4-FFF2-40B4-BE49-F238E27FC236}">
                <a16:creationId xmlns:a16="http://schemas.microsoft.com/office/drawing/2014/main" id="{FA3162E1-F06C-01C6-8094-FBED05DF63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802.11b</a:t>
            </a:r>
            <a:endParaRPr lang="en-US" altLang="en-US"/>
          </a:p>
        </p:txBody>
      </p:sp>
      <p:sp>
        <p:nvSpPr>
          <p:cNvPr id="124933" name="Rectangle 5">
            <a:extLst>
              <a:ext uri="{FF2B5EF4-FFF2-40B4-BE49-F238E27FC236}">
                <a16:creationId xmlns:a16="http://schemas.microsoft.com/office/drawing/2014/main" id="{B1733E9B-D3FC-ABB3-9075-35AF6527FD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Extension </a:t>
            </a:r>
            <a:r>
              <a:rPr lang="en-US" altLang="en-US" sz="2400"/>
              <a:t>of 802.11 DS-SS scheme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5.5 and 11 Mbps</a:t>
            </a:r>
            <a:endParaRPr lang="en-GB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Chipping </a:t>
            </a:r>
            <a:r>
              <a:rPr lang="en-US" altLang="en-US" sz="2400"/>
              <a:t>rate 11 MHz</a:t>
            </a:r>
            <a:endParaRPr lang="en-GB" altLang="en-US" sz="2400"/>
          </a:p>
          <a:p>
            <a:pPr lvl="1">
              <a:lnSpc>
                <a:spcPct val="90000"/>
              </a:lnSpc>
            </a:pPr>
            <a:r>
              <a:rPr lang="en-GB" altLang="en-US" sz="2000"/>
              <a:t>Same as</a:t>
            </a:r>
            <a:r>
              <a:rPr lang="en-US" altLang="en-US" sz="2000"/>
              <a:t> original DS-SS scheme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Same</a:t>
            </a:r>
            <a:r>
              <a:rPr lang="en-US" altLang="en-US" sz="2000"/>
              <a:t> occupied bandwidth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GB" altLang="en-US" sz="2000"/>
              <a:t>Complementary </a:t>
            </a:r>
            <a:r>
              <a:rPr lang="en-US" altLang="en-US" sz="2000"/>
              <a:t>code keying (CCK) </a:t>
            </a:r>
            <a:r>
              <a:rPr lang="en-GB" altLang="en-US" sz="2000"/>
              <a:t>modulation to </a:t>
            </a:r>
            <a:r>
              <a:rPr lang="en-US" altLang="en-US" sz="2000"/>
              <a:t>achieve higher data rate in same bandwidth at same chipping rate</a:t>
            </a:r>
            <a:endParaRPr lang="en-GB" altLang="en-US" sz="2000"/>
          </a:p>
          <a:p>
            <a:pPr lvl="1">
              <a:lnSpc>
                <a:spcPct val="90000"/>
              </a:lnSpc>
            </a:pPr>
            <a:r>
              <a:rPr lang="en-US" altLang="en-US" sz="2000"/>
              <a:t>CCK modulation complex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GB" altLang="en-US" sz="1800"/>
              <a:t>Overview on next slide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Input data treated in blocks of 8 bits at 1.375 MHz</a:t>
            </a:r>
            <a:endParaRPr lang="en-GB" altLang="en-US" sz="2000"/>
          </a:p>
          <a:p>
            <a:pPr lvl="2">
              <a:lnSpc>
                <a:spcPct val="90000"/>
              </a:lnSpc>
            </a:pPr>
            <a:r>
              <a:rPr lang="en-US" altLang="en-US" sz="1800"/>
              <a:t>8 bits/symbol </a:t>
            </a:r>
            <a:r>
              <a:rPr lang="en-US" altLang="en-US" sz="1800">
                <a:sym typeface="Symbol" panose="05050102010706020507" pitchFamily="18" charset="2"/>
              </a:rPr>
              <a:t></a:t>
            </a:r>
            <a:r>
              <a:rPr lang="en-US" altLang="en-US" sz="1800"/>
              <a:t> 1.375 MHz = 11 Mbps</a:t>
            </a:r>
            <a:endParaRPr lang="en-GB" altLang="en-US" sz="1800"/>
          </a:p>
          <a:p>
            <a:pPr lvl="2">
              <a:lnSpc>
                <a:spcPct val="90000"/>
              </a:lnSpc>
            </a:pPr>
            <a:r>
              <a:rPr lang="en-US" altLang="en-US" sz="1800"/>
              <a:t>Six of these bits mapped into one of 64 code sequences</a:t>
            </a:r>
            <a:endParaRPr lang="en-GB" altLang="en-US" sz="1800"/>
          </a:p>
          <a:p>
            <a:pPr lvl="2">
              <a:lnSpc>
                <a:spcPct val="90000"/>
              </a:lnSpc>
            </a:pPr>
            <a:r>
              <a:rPr lang="en-GB" altLang="en-US" sz="1800"/>
              <a:t>Output</a:t>
            </a:r>
            <a:r>
              <a:rPr lang="en-US" altLang="en-US" sz="1800"/>
              <a:t> of mapping, plus two additional bits, forms</a:t>
            </a:r>
            <a:r>
              <a:rPr lang="en-GB" altLang="en-US" sz="1800"/>
              <a:t> </a:t>
            </a:r>
            <a:r>
              <a:rPr lang="en-US" altLang="en-US" sz="1800"/>
              <a:t>input to</a:t>
            </a:r>
            <a:r>
              <a:rPr lang="en-GB" altLang="en-US" sz="1800"/>
              <a:t> </a:t>
            </a:r>
            <a:r>
              <a:rPr lang="en-US" altLang="en-US" sz="1800"/>
              <a:t>QPSK modulator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F20FD058-DC86-E70D-732E-C4AA99F91F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11-Mbps CCK Modulation Scheme</a:t>
            </a:r>
            <a:endParaRPr lang="en-US" altLang="en-US"/>
          </a:p>
        </p:txBody>
      </p:sp>
      <p:pic>
        <p:nvPicPr>
          <p:cNvPr id="63491" name="Picture 3">
            <a:extLst>
              <a:ext uri="{FF2B5EF4-FFF2-40B4-BE49-F238E27FC236}">
                <a16:creationId xmlns:a16="http://schemas.microsoft.com/office/drawing/2014/main" id="{CD990E64-7A24-2D45-10D5-B4D27B42E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189"/>
          <a:stretch>
            <a:fillRect/>
          </a:stretch>
        </p:blipFill>
        <p:spPr bwMode="auto">
          <a:xfrm>
            <a:off x="76200" y="1903413"/>
            <a:ext cx="8915400" cy="3354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6" name="Rectangle 4">
            <a:extLst>
              <a:ext uri="{FF2B5EF4-FFF2-40B4-BE49-F238E27FC236}">
                <a16:creationId xmlns:a16="http://schemas.microsoft.com/office/drawing/2014/main" id="{40215269-DE5C-1401-0DFE-30448D3A0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802.11g</a:t>
            </a:r>
            <a:endParaRPr lang="en-US" altLang="en-US"/>
          </a:p>
        </p:txBody>
      </p:sp>
      <p:sp>
        <p:nvSpPr>
          <p:cNvPr id="125957" name="Rectangle 5">
            <a:extLst>
              <a:ext uri="{FF2B5EF4-FFF2-40B4-BE49-F238E27FC236}">
                <a16:creationId xmlns:a16="http://schemas.microsoft.com/office/drawing/2014/main" id="{7A7BCF47-15DC-FA5E-AD49-982DD5EA53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Higher</a:t>
            </a:r>
            <a:r>
              <a:rPr lang="en-US" altLang="en-US"/>
              <a:t>-speed extension to 802.11b</a:t>
            </a:r>
            <a:endParaRPr lang="en-GB" altLang="en-US"/>
          </a:p>
          <a:p>
            <a:r>
              <a:rPr lang="en-GB" altLang="en-US"/>
              <a:t>Combines</a:t>
            </a:r>
            <a:r>
              <a:rPr lang="en-US" altLang="en-US"/>
              <a:t> physical layer encoding techniques used in 802.11a and 802.11b to provide service at a variety of data rates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7499C6AE-322E-7596-E491-A51C902405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Required Reading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AD0CCAFE-B735-F340-E533-4958A8992B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Stallings chapter 1</a:t>
            </a:r>
            <a:r>
              <a:rPr lang="en-GB" altLang="en-US"/>
              <a:t>7</a:t>
            </a:r>
            <a:endParaRPr lang="en-US" altLang="en-US"/>
          </a:p>
          <a:p>
            <a:r>
              <a:rPr lang="en-US" altLang="en-US"/>
              <a:t>Web sites on </a:t>
            </a:r>
            <a:r>
              <a:rPr lang="en-GB" altLang="en-US"/>
              <a:t>802.11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llings">
  <a:themeElements>
    <a:clrScheme name="Stallings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Stallings">
      <a:majorFont>
        <a:latin typeface="Arial Black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Stallings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llings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llings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llings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llings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llings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llings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Settings\pullina\Application Data\Microsoft\Templates\Stallings.pot</Template>
  <TotalTime>757</TotalTime>
  <Words>3741</Words>
  <Application>Microsoft Office PowerPoint</Application>
  <PresentationFormat>On-screen Show (4:3)</PresentationFormat>
  <Paragraphs>560</Paragraphs>
  <Slides>64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5" baseType="lpstr">
      <vt:lpstr>Stallings</vt:lpstr>
      <vt:lpstr>William Stallings Data and Computer Communications 7th Edition</vt:lpstr>
      <vt:lpstr>Overview</vt:lpstr>
      <vt:lpstr>Applications - LAN Extension</vt:lpstr>
      <vt:lpstr>Single Cell Wireless LAN Configuration</vt:lpstr>
      <vt:lpstr>Multi-Cell Wireless LAN Configuration</vt:lpstr>
      <vt:lpstr>Applications –  Cross-Building Interconnect</vt:lpstr>
      <vt:lpstr>Applications - Nomadic Access</vt:lpstr>
      <vt:lpstr>Infrastructure Wireless LAN</vt:lpstr>
      <vt:lpstr>Applications –  Ad Hoc Networking</vt:lpstr>
      <vt:lpstr>Add Hoc LAN</vt:lpstr>
      <vt:lpstr>Wireless LAN Requirements</vt:lpstr>
      <vt:lpstr>Technology</vt:lpstr>
      <vt:lpstr>Infrared LANs Strengths and Weaknesses</vt:lpstr>
      <vt:lpstr>Infrared LANs Transmission Techniques</vt:lpstr>
      <vt:lpstr>Spread Spectrum LANs Hub Configuration</vt:lpstr>
      <vt:lpstr>Spread Spectrum LANs Peer-to-Peer Configuration </vt:lpstr>
      <vt:lpstr>Spread Spectrum LANs Transmission Issues </vt:lpstr>
      <vt:lpstr>Narrow Band Microwave LANs</vt:lpstr>
      <vt:lpstr>Licensed Narrowband RF</vt:lpstr>
      <vt:lpstr>Unlicensed Narrowband RF</vt:lpstr>
      <vt:lpstr>IEEE 802.11 - BSS</vt:lpstr>
      <vt:lpstr>BSS Configuration</vt:lpstr>
      <vt:lpstr>Extended Service Set (ESS)</vt:lpstr>
      <vt:lpstr>Access Point (AP)</vt:lpstr>
      <vt:lpstr>IEEE 802.11 Architecture</vt:lpstr>
      <vt:lpstr>Services</vt:lpstr>
      <vt:lpstr>Categorizing Services</vt:lpstr>
      <vt:lpstr>Distribution of Messages  Within a DS</vt:lpstr>
      <vt:lpstr>Association Related Services</vt:lpstr>
      <vt:lpstr>Station Location</vt:lpstr>
      <vt:lpstr>Access and Privacy Services -  Authentication</vt:lpstr>
      <vt:lpstr>Access and Privacy Services -  Deauthentication and Privacy</vt:lpstr>
      <vt:lpstr>Medium Access Control</vt:lpstr>
      <vt:lpstr>Reliable Data Delivery</vt:lpstr>
      <vt:lpstr>Four Frame Exchange</vt:lpstr>
      <vt:lpstr>Media Access Control</vt:lpstr>
      <vt:lpstr>IEEE 802.11 Protocol Architecture</vt:lpstr>
      <vt:lpstr>Distributed Coordination Function</vt:lpstr>
      <vt:lpstr>Interframe Space</vt:lpstr>
      <vt:lpstr>IEEE 802.11  Medium  Access  Control  Logic</vt:lpstr>
      <vt:lpstr>Priority</vt:lpstr>
      <vt:lpstr>SIFS Use - ACK</vt:lpstr>
      <vt:lpstr>SIFS Use – CTS</vt:lpstr>
      <vt:lpstr>PIFS and DIFS</vt:lpstr>
      <vt:lpstr>IEEE 802.11 MAC Timing Basic Access Method</vt:lpstr>
      <vt:lpstr>Point Coordination Function (PCF)</vt:lpstr>
      <vt:lpstr>Superframe</vt:lpstr>
      <vt:lpstr>IEEE 802.11 MAC Timing PCF Superframe Construction</vt:lpstr>
      <vt:lpstr>IEEE 802.11 MAC Frame Format</vt:lpstr>
      <vt:lpstr>MAC Frame Fields (1)</vt:lpstr>
      <vt:lpstr>MAC Frame Fields (2)</vt:lpstr>
      <vt:lpstr>Control Frames</vt:lpstr>
      <vt:lpstr>Data Frames – Data Carrying</vt:lpstr>
      <vt:lpstr>Data Frames –  Not Data Carrying</vt:lpstr>
      <vt:lpstr>Management Frames</vt:lpstr>
      <vt:lpstr>802.11 Physical Layer</vt:lpstr>
      <vt:lpstr>Original 802.11 Physical Layer -   DSSS</vt:lpstr>
      <vt:lpstr>Original 802.11 Physical Layer - FHSS</vt:lpstr>
      <vt:lpstr>Original 802.11 Physical Layer – Infrared</vt:lpstr>
      <vt:lpstr>802.11a</vt:lpstr>
      <vt:lpstr>802.11b</vt:lpstr>
      <vt:lpstr>11-Mbps CCK Modulation Scheme</vt:lpstr>
      <vt:lpstr>802.11g</vt:lpstr>
      <vt:lpstr>Required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17 Wireless LANs</dc:title>
  <dc:creator>Adrian J Pullin</dc:creator>
  <cp:lastModifiedBy>Unknown User</cp:lastModifiedBy>
  <cp:revision>83</cp:revision>
  <dcterms:created xsi:type="dcterms:W3CDTF">1999-10-18T08:10:31Z</dcterms:created>
  <dcterms:modified xsi:type="dcterms:W3CDTF">2023-06-08T01:08:34Z</dcterms:modified>
</cp:coreProperties>
</file>