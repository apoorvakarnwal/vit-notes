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71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E69C-93FC-410D-B3D1-9C93BC2CE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09EFA-6A6D-41D0-9F6B-2D1578BBA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EE96-2CD0-4687-A9FC-93510B30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2382-7DF8-44DC-8B96-2919629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B0DA4-7710-4141-80A3-491F33EF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54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1813-A1B0-485E-97FF-BFDA93D1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BC48C-A8FD-487E-BA0B-824DFC9A3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0ADC4-E4D8-4647-BDD6-EC605658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032DB-07C9-4AA9-9F85-2271DFC9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F2FA-3B94-4ED0-AF91-4D25B866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31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67D4-4598-4822-9437-C427769D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1D300-DAC3-4C94-B724-EB6068EA1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7A6E-0796-48F6-BE3C-982362C7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5031-A1FD-4940-8D88-08AEC6CB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A9073-C22F-4341-82C4-4897B9FA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60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CD6D-AF9D-4F20-B0FC-0CC8F89E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B7572-0444-43B9-9E87-44575A1DE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AAE2-97A2-4E5D-B04D-D3C7A6D74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7AA60-88BA-4086-B822-3009F6C2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ACE7B-5675-4127-9D35-C00FCF8E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3B173-625A-4ED8-B58D-6639F73F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9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6285-90B9-442C-9C8C-0DF7901A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A33E4-7953-49B2-8DF5-CCD3FF984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F8CA5-9B82-4484-994B-9115529C0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CF813-2350-4088-8AFF-16FFC201C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77ED9-A127-4ECA-8DEF-42025DCA3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7E6CB-8038-4469-924B-E3E29E05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9389A-6DF9-427E-AAE4-24F82F1D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3D7881-2A2D-4279-AC55-73408CC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31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9988-4D2B-469C-AB10-4DCFAC0B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B3E22-87D2-4223-ABEB-EE5805F8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264BD-7476-4EBA-BDFF-DA536773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074BA-CB66-4D3C-8B6A-E0951035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47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2172E-052B-4B92-8B0D-1A72D66C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D551D-974E-49CB-936A-B5CC7F6F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8DBC1-B747-4857-8B4D-8B6AB2AB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81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2BF6-BC1F-44DB-81CD-172FA6EE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7CAB4-6514-4F44-BF94-EBC26AEC8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1B2E2-5F5B-4EA6-86E5-825953180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D43DE-F6FA-4124-A00A-68C0B053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127F5-4579-412C-94D1-4844B5E0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80A10-C2F0-4739-8AA3-18447138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0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147B-E091-4E31-8D26-8601D49F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966C7-054B-47DC-B472-EB803893E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365B8-CC59-4506-B703-45198151F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DEDBB-1D1E-404E-BF8B-AE386763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C5304-5645-4EF0-9EF5-3384F55B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71474-2FFE-4E83-AE19-77D38A6E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4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58C2-33AB-4A0A-961F-D8239E2C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F88D4-46DB-46E1-B64F-27A009AB0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6DEA1-0CDE-49BC-8B6F-0BAFC360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16250-5160-42F9-A25D-E47E35A3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3B049-42A5-49F6-8A1F-F824E049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28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593C5-82F4-4F7A-A0FA-0B69A6B54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1E38E-EA0E-4850-B23B-6E0E1E704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D26A6-E63F-440B-9228-77D348AA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7A7A-0978-4718-B080-19D9F1C4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595A6-4E4C-4B28-AED1-44370535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45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91B7-5276-48D7-B185-3F788AC9E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F1077-D0B1-4139-93C9-ABF4CC9EF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1591-A79F-41A5-AC81-EB8616392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2C21A-BC73-4413-B0AE-D14D8F5F92DF}" type="datetimeFigureOut">
              <a:rPr lang="en-IN" smtClean="0"/>
              <a:t>12-06-2023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5B63E-F809-4D60-A9D7-AEB80651B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5C169-848D-4FBD-AB3B-C5265BBD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C90F1-0893-49B4-A73B-EBD4326F3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3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C740-DC5D-4BD9-BEA1-13AD6B2FA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CSMA Protocol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DA1E4-59A7-4FA0-97DC-218A97FEC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39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62BF-F25A-48C8-AE54-961544FF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28990-A4FB-421B-9B2D-C2D3D0152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C65A4-CF2D-43AB-9295-82D7C102A1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81" t="22632" r="22024" b="19985"/>
          <a:stretch/>
        </p:blipFill>
        <p:spPr>
          <a:xfrm>
            <a:off x="838200" y="501878"/>
            <a:ext cx="10219342" cy="56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3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A4B8-1934-45BD-AF62-E7E15F06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2423F-68D0-4199-BDA3-A32F106B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A29B9-721C-46DD-B34B-CA0534C655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t="20938" r="37381" b="37983"/>
          <a:stretch/>
        </p:blipFill>
        <p:spPr>
          <a:xfrm>
            <a:off x="899885" y="365124"/>
            <a:ext cx="9637485" cy="522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7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6EAE-587C-41D5-BE4D-66D72237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AB2B6-443A-44A8-82A5-8ACA9CFF6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19450-348D-407E-8115-67D01EBE6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57" t="20727" r="12500" b="8339"/>
          <a:stretch/>
        </p:blipFill>
        <p:spPr>
          <a:xfrm>
            <a:off x="838199" y="681037"/>
            <a:ext cx="10418165" cy="538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BDBB0-ADA5-4E37-83FC-A53D26FB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23BA-3996-42D7-92F6-D51F7A69D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50D86-2BA0-445F-946D-3558F55DFE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57" t="18610" r="12381" b="7704"/>
          <a:stretch/>
        </p:blipFill>
        <p:spPr>
          <a:xfrm>
            <a:off x="420914" y="174172"/>
            <a:ext cx="10664910" cy="571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7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C107-B814-45AB-87BC-1CFE54E0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69FB1-060A-4287-8AA5-861C971C4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3D6B9-36AB-4930-BDB7-B51D553965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19" t="28349" r="23333" b="13421"/>
          <a:stretch/>
        </p:blipFill>
        <p:spPr>
          <a:xfrm>
            <a:off x="696685" y="232229"/>
            <a:ext cx="10657115" cy="61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8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8234-6CB8-4A71-8151-DA5C9886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7CE2B-FC9F-4666-8627-F19BBD8A9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65C19-4FF9-4FA1-A576-24D409D73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76" t="24641" r="22738" b="14056"/>
          <a:stretch/>
        </p:blipFill>
        <p:spPr>
          <a:xfrm>
            <a:off x="213779" y="86127"/>
            <a:ext cx="11357735" cy="668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3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E79E-3D65-4D38-93EE-62451123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1DE0C-BA01-47B0-B098-4E3AAC893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66EF2-F618-4DC3-AF3D-60CBE184E4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14" t="36520" r="22500" b="24220"/>
          <a:stretch/>
        </p:blipFill>
        <p:spPr>
          <a:xfrm>
            <a:off x="838200" y="1027906"/>
            <a:ext cx="10724892" cy="416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3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BE4A-23CA-422E-A6EE-14EA4041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5316E-6A30-4F32-B39E-1D9F3BB4D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BD1EF-DD08-439A-846E-E1E384F0D5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57" t="24641" r="23333" b="18927"/>
          <a:stretch/>
        </p:blipFill>
        <p:spPr>
          <a:xfrm>
            <a:off x="986971" y="583083"/>
            <a:ext cx="9927772" cy="559388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F21F49-9D70-436F-8E92-2230321AC60F}"/>
              </a:ext>
            </a:extLst>
          </p:cNvPr>
          <p:cNvSpPr/>
          <p:nvPr/>
        </p:nvSpPr>
        <p:spPr>
          <a:xfrm>
            <a:off x="7184571" y="1037308"/>
            <a:ext cx="435429" cy="167378"/>
          </a:xfrm>
          <a:custGeom>
            <a:avLst/>
            <a:gdLst>
              <a:gd name="connsiteX0" fmla="*/ 0 w 435429"/>
              <a:gd name="connsiteY0" fmla="*/ 36749 h 167378"/>
              <a:gd name="connsiteX1" fmla="*/ 203200 w 435429"/>
              <a:gd name="connsiteY1" fmla="*/ 22235 h 167378"/>
              <a:gd name="connsiteX2" fmla="*/ 145143 w 435429"/>
              <a:gd name="connsiteY2" fmla="*/ 65778 h 167378"/>
              <a:gd name="connsiteX3" fmla="*/ 101600 w 435429"/>
              <a:gd name="connsiteY3" fmla="*/ 109321 h 167378"/>
              <a:gd name="connsiteX4" fmla="*/ 14515 w 435429"/>
              <a:gd name="connsiteY4" fmla="*/ 167378 h 167378"/>
              <a:gd name="connsiteX5" fmla="*/ 87086 w 435429"/>
              <a:gd name="connsiteY5" fmla="*/ 80292 h 167378"/>
              <a:gd name="connsiteX6" fmla="*/ 101600 w 435429"/>
              <a:gd name="connsiteY6" fmla="*/ 123835 h 167378"/>
              <a:gd name="connsiteX7" fmla="*/ 232229 w 435429"/>
              <a:gd name="connsiteY7" fmla="*/ 109321 h 167378"/>
              <a:gd name="connsiteX8" fmla="*/ 333829 w 435429"/>
              <a:gd name="connsiteY8" fmla="*/ 51263 h 167378"/>
              <a:gd name="connsiteX9" fmla="*/ 435429 w 435429"/>
              <a:gd name="connsiteY9" fmla="*/ 36749 h 16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429" h="167378">
                <a:moveTo>
                  <a:pt x="0" y="36749"/>
                </a:moveTo>
                <a:cubicBezTo>
                  <a:pt x="48683" y="20522"/>
                  <a:pt x="152849" y="-28116"/>
                  <a:pt x="203200" y="22235"/>
                </a:cubicBezTo>
                <a:cubicBezTo>
                  <a:pt x="220305" y="39340"/>
                  <a:pt x="163510" y="50035"/>
                  <a:pt x="145143" y="65778"/>
                </a:cubicBezTo>
                <a:cubicBezTo>
                  <a:pt x="129558" y="79136"/>
                  <a:pt x="117803" y="96719"/>
                  <a:pt x="101600" y="109321"/>
                </a:cubicBezTo>
                <a:cubicBezTo>
                  <a:pt x="74061" y="130740"/>
                  <a:pt x="14515" y="167378"/>
                  <a:pt x="14515" y="167378"/>
                </a:cubicBezTo>
                <a:cubicBezTo>
                  <a:pt x="20244" y="155919"/>
                  <a:pt x="50614" y="71174"/>
                  <a:pt x="87086" y="80292"/>
                </a:cubicBezTo>
                <a:cubicBezTo>
                  <a:pt x="101929" y="84003"/>
                  <a:pt x="96762" y="109321"/>
                  <a:pt x="101600" y="123835"/>
                </a:cubicBezTo>
                <a:cubicBezTo>
                  <a:pt x="145143" y="118997"/>
                  <a:pt x="189540" y="119172"/>
                  <a:pt x="232229" y="109321"/>
                </a:cubicBezTo>
                <a:cubicBezTo>
                  <a:pt x="279486" y="98416"/>
                  <a:pt x="293570" y="71392"/>
                  <a:pt x="333829" y="51263"/>
                </a:cubicBezTo>
                <a:cubicBezTo>
                  <a:pt x="375096" y="30629"/>
                  <a:pt x="388174" y="36749"/>
                  <a:pt x="435429" y="36749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586213-FA19-4358-A8A2-D4B43F0BFF61}"/>
              </a:ext>
            </a:extLst>
          </p:cNvPr>
          <p:cNvSpPr/>
          <p:nvPr/>
        </p:nvSpPr>
        <p:spPr>
          <a:xfrm>
            <a:off x="7551056" y="855879"/>
            <a:ext cx="435429" cy="36285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30738A-E361-4B81-A40C-50D77C09FE8B}"/>
              </a:ext>
            </a:extLst>
          </p:cNvPr>
          <p:cNvSpPr/>
          <p:nvPr/>
        </p:nvSpPr>
        <p:spPr>
          <a:xfrm>
            <a:off x="1059542" y="4941650"/>
            <a:ext cx="435429" cy="36285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DAD7C2-6635-49DE-A2B3-9C203BFABA2B}"/>
              </a:ext>
            </a:extLst>
          </p:cNvPr>
          <p:cNvCxnSpPr>
            <a:cxnSpLocks/>
          </p:cNvCxnSpPr>
          <p:nvPr/>
        </p:nvCxnSpPr>
        <p:spPr>
          <a:xfrm>
            <a:off x="4542971" y="3846286"/>
            <a:ext cx="26416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985A0-5D9D-4F14-B089-3303A1DEE856}"/>
              </a:ext>
            </a:extLst>
          </p:cNvPr>
          <p:cNvSpPr/>
          <p:nvPr/>
        </p:nvSpPr>
        <p:spPr>
          <a:xfrm>
            <a:off x="4513943" y="3846286"/>
            <a:ext cx="2670628" cy="580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31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B851-CA65-457A-A571-289F07F6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1B3B1-A8DF-49DE-9BCB-EF6BD9962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F7E03-83A4-4BFA-9036-0706AEB1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4" t="19456" r="12619" b="8340"/>
          <a:stretch/>
        </p:blipFill>
        <p:spPr>
          <a:xfrm>
            <a:off x="594916" y="511628"/>
            <a:ext cx="11002168" cy="583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5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8978-2646-47A8-B52A-302809239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97457" cy="50323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we have four stations A, B, C and D. Let the propagation delay from station A to station D be 1 hour i.e. if the data packet bit starts to move at 10 a.m., then it will reach D at 11 a.m.</a:t>
            </a:r>
          </a:p>
          <a:p>
            <a:pPr marL="0" indent="0">
              <a:buNone/>
            </a:pPr>
            <a:r>
              <a:rPr lang="en-US" dirty="0"/>
              <a:t> • At 10 a.m. both the stations, A and D sense the carrier as free and start their transmission. </a:t>
            </a:r>
          </a:p>
          <a:p>
            <a:pPr marL="0" indent="0">
              <a:buNone/>
            </a:pPr>
            <a:r>
              <a:rPr lang="en-US" dirty="0"/>
              <a:t>• If the total propagation delay is 1 hour, then after half an hour both the station’s first bits will reach halfway and will soon experience a collision. </a:t>
            </a:r>
          </a:p>
          <a:p>
            <a:pPr marL="0" indent="0">
              <a:buNone/>
            </a:pPr>
            <a:r>
              <a:rPr lang="en-US" dirty="0"/>
              <a:t>• So, exactly at 10:30 a.m., there will be a collision which will produce collision signals. </a:t>
            </a:r>
          </a:p>
          <a:p>
            <a:pPr marL="0" indent="0">
              <a:buNone/>
            </a:pPr>
            <a:r>
              <a:rPr lang="en-US" dirty="0"/>
              <a:t>• At 11 a.m. the collision signals will reach stations A and D i.e. exactly after one hour the stations receive the collision signal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1F383-5F98-4817-A0FA-CAB7206BC5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53" t="24641" r="33809" b="45818"/>
          <a:stretch/>
        </p:blipFill>
        <p:spPr>
          <a:xfrm>
            <a:off x="7275284" y="1"/>
            <a:ext cx="4601029" cy="193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F2354B-BF5E-4153-81B5-1F7052434ED6}"/>
              </a:ext>
            </a:extLst>
          </p:cNvPr>
          <p:cNvSpPr txBox="1"/>
          <p:nvPr/>
        </p:nvSpPr>
        <p:spPr>
          <a:xfrm>
            <a:off x="838201" y="290285"/>
            <a:ext cx="336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Case 1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7344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DF10-46C3-4989-B51C-CABEC089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940E-0E3D-49CE-A385-6016CC09E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Therefore, for the respective stations to detect that it’s their own data that got collided the transmission time for both the stations should be greater than their propagation time. i.e. </a:t>
            </a:r>
            <a:r>
              <a:rPr lang="en-US" dirty="0">
                <a:highlight>
                  <a:srgbClr val="FFFF00"/>
                </a:highlight>
              </a:rPr>
              <a:t>Tt&gt;</a:t>
            </a:r>
            <a:r>
              <a:rPr lang="en-US" dirty="0" err="1">
                <a:highlight>
                  <a:srgbClr val="FFFF00"/>
                </a:highlight>
              </a:rPr>
              <a:t>Tp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en-US" dirty="0"/>
              <a:t>• Where Tt is the transmission time and </a:t>
            </a:r>
            <a:r>
              <a:rPr lang="en-US" dirty="0" err="1"/>
              <a:t>Tp</a:t>
            </a:r>
            <a:r>
              <a:rPr lang="en-US" dirty="0"/>
              <a:t> is the propagation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533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C25D-17A4-4343-9C63-0757CADE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D166E-B9E4-428C-9F89-51F23A9C8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Station A started the transmission at 10 a.m. and is about to reach station D at 10:59:59 a.m.</a:t>
            </a:r>
          </a:p>
          <a:p>
            <a:pPr marL="0" indent="0">
              <a:buNone/>
            </a:pPr>
            <a:r>
              <a:rPr lang="en-US" dirty="0"/>
              <a:t> • At this time, station D started its transmission after sensing the carrier as free. </a:t>
            </a:r>
          </a:p>
          <a:p>
            <a:pPr marL="0" indent="0">
              <a:buNone/>
            </a:pPr>
            <a:r>
              <a:rPr lang="en-US" dirty="0"/>
              <a:t>• So here the first bit of data packet sent from station D will face collision with the data packet of station A. </a:t>
            </a:r>
          </a:p>
          <a:p>
            <a:pPr marL="0" indent="0">
              <a:buNone/>
            </a:pPr>
            <a:r>
              <a:rPr lang="en-US" dirty="0"/>
              <a:t>• After collision occurred, the carrier starts sending a colloidal signal. • Station A will receive the collision signal after 1 hour.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18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F595-CA57-4E68-97B0-ABE64758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E8F0-5224-427F-BA03-BBAF72DB5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is the condition for detecting collision in the worst case where if a station wants to detect collision then it should keep on transmitting the data till 2Tp, i.e. </a:t>
            </a:r>
            <a:r>
              <a:rPr lang="en-US" dirty="0">
                <a:highlight>
                  <a:srgbClr val="FFFF00"/>
                </a:highlight>
              </a:rPr>
              <a:t>Tt&gt;2*Tp.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0333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B669-BFE8-4F11-BB24-6C08FC0C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4FEB-0D22-47DC-B505-9A794B3A8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DA3CE-3185-4A4F-A053-FE372B4D5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76" t="22420" r="13214" b="8128"/>
          <a:stretch/>
        </p:blipFill>
        <p:spPr>
          <a:xfrm>
            <a:off x="538714" y="489631"/>
            <a:ext cx="11114572" cy="568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71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AC82-CFBF-41CA-A2C2-B2574BD5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75765-A4CC-4EB9-BD56-802FBF445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Efficiency = Tt / ( C*2*</a:t>
            </a:r>
            <a:r>
              <a:rPr lang="en-US" dirty="0" err="1">
                <a:highlight>
                  <a:srgbClr val="FFFF00"/>
                </a:highlight>
              </a:rPr>
              <a:t>Tp</a:t>
            </a:r>
            <a:r>
              <a:rPr lang="en-US" dirty="0">
                <a:highlight>
                  <a:srgbClr val="FFFF00"/>
                </a:highlight>
              </a:rPr>
              <a:t> + Tt + </a:t>
            </a:r>
            <a:r>
              <a:rPr lang="en-US" dirty="0" err="1">
                <a:highlight>
                  <a:srgbClr val="FFFF00"/>
                </a:highlight>
              </a:rPr>
              <a:t>Tp</a:t>
            </a:r>
            <a:r>
              <a:rPr lang="en-US" dirty="0">
                <a:highlight>
                  <a:srgbClr val="FFFF00"/>
                </a:highlight>
              </a:rPr>
              <a:t>) </a:t>
            </a:r>
          </a:p>
          <a:p>
            <a:r>
              <a:rPr lang="en-US" dirty="0"/>
              <a:t>Tt -&gt; transmission time </a:t>
            </a:r>
          </a:p>
          <a:p>
            <a:r>
              <a:rPr lang="en-US" dirty="0" err="1"/>
              <a:t>Tp</a:t>
            </a:r>
            <a:r>
              <a:rPr lang="en-US" dirty="0"/>
              <a:t> -&gt; propagation time C -&gt; number of collision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570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378</Words>
  <Application>Microsoft Office PowerPoint</Application>
  <PresentationFormat>Widescreen</PresentationFormat>
  <Paragraphs>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CSMA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CSMA Protocol</dc:title>
  <dc:creator>Admin</dc:creator>
  <cp:lastModifiedBy>Admin</cp:lastModifiedBy>
  <cp:revision>4</cp:revision>
  <dcterms:created xsi:type="dcterms:W3CDTF">2023-06-12T02:44:02Z</dcterms:created>
  <dcterms:modified xsi:type="dcterms:W3CDTF">2023-06-12T03:07:37Z</dcterms:modified>
</cp:coreProperties>
</file>