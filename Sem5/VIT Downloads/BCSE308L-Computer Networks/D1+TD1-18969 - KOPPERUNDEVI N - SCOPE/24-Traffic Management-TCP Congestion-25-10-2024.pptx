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5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2155C-A1A3-4D6D-0FDB-59BAD8546B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563E07-75A8-98BE-95A6-1DAE7AD750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5EC99-A33C-C447-D965-C4F6F6C0A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39D50-EE8E-496A-8B9D-F95AA0CEE6E8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C9F6D-4FDC-AAA2-5908-858C4E0C1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1F8C8-2DAB-E83E-5F01-545AB048E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7B74-E825-4587-BF66-26F31CAF0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558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945DA-8A74-E3FD-F2E0-03D46119E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CC024-CEC4-44FE-B095-56D747B30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64203-F82A-2050-1230-75D751E82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39D50-EE8E-496A-8B9D-F95AA0CEE6E8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AD413-81F3-4507-2749-AB723FF9F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70468-8223-3028-52DF-7BFA07CB5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7B74-E825-4587-BF66-26F31CAF0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645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3D07C-7FC4-42ED-3F85-7F0FA2A57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D26A0-75BB-5A12-8D91-BC97444D3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D4D2F-39D2-142F-BB4E-F7AD52AB4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39D50-EE8E-496A-8B9D-F95AA0CEE6E8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3EB65-3E3E-FD12-B59E-98F7F9B28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FABF7-87A7-B839-2629-17196F46C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7B74-E825-4587-BF66-26F31CAF0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2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F8F4-6952-1D82-9898-E40269864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B7960-D1A2-6EF1-1AF5-6B9332C801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EB280F-C375-E47B-8441-5F3D466B0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4918E0-2EC8-5D9B-C1E0-24C5A34F6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39D50-EE8E-496A-8B9D-F95AA0CEE6E8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E3B4D-D0E1-781E-7EA7-0529ADDED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BFAAD2-71C5-4C5B-1688-E3CEB9E8B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7B74-E825-4587-BF66-26F31CAF0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621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69670-D64C-4B55-E3E6-94434FCF3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E33A74-184C-1639-C5F7-DB914AB26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BBFFB9-1AE6-6079-76A7-F97DC63A7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047898-B8AC-F34D-60D6-DAB6BC0BE1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7A4E26-0A6B-13E4-1F55-0638180E4B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F08477-BC0B-E990-B1F8-6F25C25D8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39D50-EE8E-496A-8B9D-F95AA0CEE6E8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A3CE28-DED4-DF37-0C0E-F57E79D32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246F3C-5A26-6258-111A-3A1E84E43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7B74-E825-4587-BF66-26F31CAF0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150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A0F44-A484-126D-2D64-5F0C36E7D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BE1361-92CB-7DDD-EE47-442DC54F5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39D50-EE8E-496A-8B9D-F95AA0CEE6E8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78C991-5463-0222-E2DA-D2FB44294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963838-1B7D-B190-0966-E1DCAB345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7B74-E825-4587-BF66-26F31CAF0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151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C57C75-1F51-1168-06F3-C72E7AD15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39D50-EE8E-496A-8B9D-F95AA0CEE6E8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EED995-0E9F-C1A6-8701-F930E2BAB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A9490-97F5-5D85-DB97-7524D14D0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7B74-E825-4587-BF66-26F31CAF0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3136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258D7-ECD6-B0B4-54FA-7322C0E2E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DB38F-2C05-B5B7-22B4-D939E83B5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0DCCFC-DCBF-709D-647C-170CE6774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40964-0C3A-0446-8685-92A64ED6E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39D50-EE8E-496A-8B9D-F95AA0CEE6E8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64642A-95A4-B6EB-CE27-18523E94F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84396B-C193-A69F-E3FC-24BA7B659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7B74-E825-4587-BF66-26F31CAF0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881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CAEC8-8E8A-F405-B0C4-93B9A8C39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6FCA6B-8AC8-C694-03B7-3F4D54544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70E66A-4A5D-892A-0A4B-AD474BBB7D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6285F3-4280-8A4B-A86B-74E93BA18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39D50-EE8E-496A-8B9D-F95AA0CEE6E8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9B90D-51BB-7A33-94B6-32315806E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5DDAD5-57DA-68AA-C20F-7FC8F85EB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7B74-E825-4587-BF66-26F31CAF0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913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8EA2C-EFFA-BC3E-CF6D-C0B58CF1B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C6DBDC-5954-6DEB-9BF8-A7C03BC2D6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D09C1-8433-EC51-890E-3193569A0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39D50-EE8E-496A-8B9D-F95AA0CEE6E8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C2F57-B831-15FA-DBCD-F3CB21BB9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E8172-7F9C-D84F-8018-50EEE487B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7B74-E825-4587-BF66-26F31CAF0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79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BE4D16-EBFC-9B3F-3937-FFE1810B56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D0D358-05F6-601E-64FA-9ABBB9E49D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24322-B369-B323-5E04-C433EFECF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39D50-EE8E-496A-8B9D-F95AA0CEE6E8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C6C41-38E6-E8CD-F410-B1EE2BBA3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B2CB7-33AE-07F8-89D7-E0247870A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07B74-E825-4587-BF66-26F31CAF0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058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49772B-4390-B60D-46E2-4FF3DA0E9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2C36D-5225-527D-7E51-ECF2F549F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B16E8-86C5-5BD9-CD5C-9FAA1045C9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A39D50-EE8E-496A-8B9D-F95AA0CEE6E8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755C7-6D11-7DB4-85B8-5174AE327B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0522C-A166-F770-8475-63D83706A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807B74-E825-4587-BF66-26F31CAF09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19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32B22-B739-D8F3-2523-8F4D7B6EA2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TCP</a:t>
            </a:r>
            <a:br>
              <a:rPr lang="en-US" dirty="0"/>
            </a:br>
            <a:r>
              <a:rPr lang="en-US" dirty="0"/>
              <a:t>Congestion Control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BA6E9E-C09D-89A0-7CB6-4EE7791870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067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06126-B773-596C-7AE0-914DBD194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D64CB3-16B9-E253-6AC9-3B69121EEA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091" y="365125"/>
            <a:ext cx="8882743" cy="5901819"/>
          </a:xfrm>
        </p:spPr>
      </p:pic>
    </p:spTree>
    <p:extLst>
      <p:ext uri="{BB962C8B-B14F-4D97-AF65-F5344CB8AC3E}">
        <p14:creationId xmlns:p14="http://schemas.microsoft.com/office/powerpoint/2010/main" val="126633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D5B7A-7B02-61DC-44FD-B92975DFE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 size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58FEE-2E0B-A152-E797-748CEE3A4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Generally the </a:t>
            </a:r>
            <a:r>
              <a:rPr lang="en-US" dirty="0">
                <a:solidFill>
                  <a:srgbClr val="FF0000"/>
                </a:solidFill>
              </a:rPr>
              <a:t>sender window size </a:t>
            </a:r>
            <a:r>
              <a:rPr lang="en-US" dirty="0"/>
              <a:t>is determined by the available buffer space in the </a:t>
            </a:r>
            <a:r>
              <a:rPr lang="en-US" dirty="0">
                <a:solidFill>
                  <a:srgbClr val="FF0000"/>
                </a:solidFill>
              </a:rPr>
              <a:t>receiver</a:t>
            </a:r>
            <a:r>
              <a:rPr lang="en-US" dirty="0"/>
              <a:t> (</a:t>
            </a:r>
            <a:r>
              <a:rPr lang="en-US" dirty="0" err="1"/>
              <a:t>rwnd</a:t>
            </a:r>
            <a:r>
              <a:rPr lang="en-US" dirty="0"/>
              <a:t>).</a:t>
            </a:r>
          </a:p>
          <a:p>
            <a:r>
              <a:rPr lang="en-US" dirty="0"/>
              <a:t>If the </a:t>
            </a:r>
            <a:r>
              <a:rPr lang="en-US" dirty="0">
                <a:solidFill>
                  <a:srgbClr val="FF0000"/>
                </a:solidFill>
              </a:rPr>
              <a:t>network cannot deliver </a:t>
            </a:r>
            <a:r>
              <a:rPr lang="en-US" dirty="0"/>
              <a:t>the data as fast as they are created by the sender, it must </a:t>
            </a:r>
            <a:r>
              <a:rPr lang="en-US" dirty="0">
                <a:solidFill>
                  <a:srgbClr val="FF0000"/>
                </a:solidFill>
              </a:rPr>
              <a:t>tell the sender to slow down</a:t>
            </a:r>
            <a:r>
              <a:rPr lang="en-US" dirty="0"/>
              <a:t>. </a:t>
            </a:r>
          </a:p>
          <a:p>
            <a:r>
              <a:rPr lang="en-US" dirty="0"/>
              <a:t>In other words, in addition to the </a:t>
            </a:r>
            <a:r>
              <a:rPr lang="en-US" dirty="0">
                <a:solidFill>
                  <a:srgbClr val="FF0000"/>
                </a:solidFill>
              </a:rPr>
              <a:t>receiver, the network </a:t>
            </a:r>
            <a:r>
              <a:rPr lang="en-US" dirty="0"/>
              <a:t>is a second entity that determines the size of the sender's window.</a:t>
            </a:r>
          </a:p>
          <a:p>
            <a:pPr marL="0" indent="0">
              <a:buNone/>
            </a:pPr>
            <a:r>
              <a:rPr lang="en-US" dirty="0"/>
              <a:t>             Actual window size = minimum (</a:t>
            </a:r>
            <a:r>
              <a:rPr lang="en-US" dirty="0" err="1"/>
              <a:t>rwnd</a:t>
            </a:r>
            <a:r>
              <a:rPr lang="en-US" dirty="0"/>
              <a:t>, </a:t>
            </a:r>
            <a:r>
              <a:rPr lang="en-US" dirty="0" err="1"/>
              <a:t>cwnd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rwnd</a:t>
            </a:r>
            <a:r>
              <a:rPr lang="en-US" dirty="0"/>
              <a:t>- receiver window; </a:t>
            </a:r>
            <a:r>
              <a:rPr lang="en-US" dirty="0" err="1"/>
              <a:t>cwnd</a:t>
            </a:r>
            <a:r>
              <a:rPr lang="en-US" dirty="0"/>
              <a:t>- congestion window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8046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EBDC6-FB72-1463-F249-42EB822B7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Congestion policy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9FE4E-3826-54E6-5E63-2B6E77612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TCP's general policy for handling congestion is based on three phases:</a:t>
            </a:r>
          </a:p>
          <a:p>
            <a:r>
              <a:rPr lang="en-US" dirty="0">
                <a:solidFill>
                  <a:srgbClr val="FF0000"/>
                </a:solidFill>
              </a:rPr>
              <a:t>Slow start, </a:t>
            </a:r>
          </a:p>
          <a:p>
            <a:r>
              <a:rPr lang="en-US" dirty="0">
                <a:solidFill>
                  <a:srgbClr val="FF0000"/>
                </a:solidFill>
              </a:rPr>
              <a:t>Congestion avoidance,</a:t>
            </a:r>
          </a:p>
          <a:p>
            <a:r>
              <a:rPr lang="en-US" dirty="0">
                <a:solidFill>
                  <a:srgbClr val="FF0000"/>
                </a:solidFill>
              </a:rPr>
              <a:t>Congestion detection.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2083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F1D20-CD0D-BE28-18F2-7B3983F21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Slow start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3A2A0-DFB9-2EF1-5E99-FB27CF9CC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Slow Start: Exponential Increase </a:t>
            </a:r>
          </a:p>
          <a:p>
            <a:r>
              <a:rPr lang="en-US" dirty="0"/>
              <a:t>One of the algorithms used in TCP congestion control is called slow start. </a:t>
            </a:r>
          </a:p>
          <a:p>
            <a:r>
              <a:rPr lang="en-US" dirty="0"/>
              <a:t>This algorithm is based on the idea that the size of the congestion window (</a:t>
            </a:r>
            <a:r>
              <a:rPr lang="en-US" dirty="0" err="1"/>
              <a:t>cwnd</a:t>
            </a:r>
            <a:r>
              <a:rPr lang="en-US" dirty="0"/>
              <a:t>) starts with one maximum segment size (MSS).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1791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F82D2-5497-47CE-D842-55B1A701F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A5B25-AC9C-DDB7-D78B-59B698FB4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997D65-E7BA-3BBF-F71C-BFF1856D1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311" y="357874"/>
            <a:ext cx="9213378" cy="6142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613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33DBE-C5BE-1103-5028-C846DFBA6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82F99-60FF-CDE3-0FA8-A1FCA50B04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dirty="0"/>
              <a:t>In the slow-start algorithm, the size of the congestion window increases exponentially until it reaches a threshold.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FA3360-FCD2-DCAE-9D26-C2401C11B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102" y="3022741"/>
            <a:ext cx="7900881" cy="1770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603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2E508-68A4-5CC5-F8F3-E95900430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077"/>
            <a:ext cx="10515600" cy="1325563"/>
          </a:xfrm>
        </p:spPr>
        <p:txBody>
          <a:bodyPr/>
          <a:lstStyle/>
          <a:p>
            <a:r>
              <a:rPr lang="en-US" dirty="0"/>
              <a:t>Congestion avoidance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70EF2-ADB5-12DB-B259-084615D7B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Congestion avoidance- which undergoes an additive increase instead of an exponential one.</a:t>
            </a:r>
          </a:p>
          <a:p>
            <a:r>
              <a:rPr lang="en-US" dirty="0"/>
              <a:t> When the size of the congestion window reaches the slow-start threshold, the slow-start phase stops and the additive phase begins.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In the congestion avoidance algorithm, the size of the congestion window increases additively until congestion is detected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D9AAB0-0155-267F-F08B-61B091BCA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3043" y="5100721"/>
            <a:ext cx="5243014" cy="140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53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BC111-A957-EE13-05AC-2C465B5C4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0B3AD-0081-0068-7057-D100B92EE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8A1F32-2306-7575-332D-B3C817990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4814"/>
            <a:ext cx="9936885" cy="581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735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94AE4-FDE8-0BA8-E099-080222DA8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Congestion Detection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6E821-867B-32F8-CF58-A47BA86D4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Congestion Detection: Multiplicative Decrease </a:t>
            </a:r>
          </a:p>
          <a:p>
            <a:r>
              <a:rPr lang="en-US" dirty="0"/>
              <a:t>If congestion occurs, the congestion window size must be decreased.</a:t>
            </a:r>
          </a:p>
          <a:p>
            <a:r>
              <a:rPr lang="en-US" dirty="0"/>
              <a:t>The only way the sender can guess that congestion has occurred is by the need to retransmit a segment. </a:t>
            </a:r>
          </a:p>
          <a:p>
            <a:r>
              <a:rPr lang="en-US" dirty="0"/>
              <a:t>However, retransmission can occur in one of two cases: </a:t>
            </a:r>
            <a:r>
              <a:rPr lang="en-US" dirty="0">
                <a:solidFill>
                  <a:srgbClr val="FF0000"/>
                </a:solidFill>
              </a:rPr>
              <a:t>when a timer times out or when three ACKs are received.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4023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6E821-867B-32F8-CF58-A47BA86D4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674" y="0"/>
            <a:ext cx="10515600" cy="4351338"/>
          </a:xfrm>
        </p:spPr>
        <p:txBody>
          <a:bodyPr/>
          <a:lstStyle/>
          <a:p>
            <a:r>
              <a:rPr lang="en-US" dirty="0"/>
              <a:t>I. If a time-out occurs, there is a stronger possibility of congestion; a segment has probably been dropped in the network, and there is no news about the sent segments.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F9A2DF-A68F-69C2-15D7-A91BC2D686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307" y="1347145"/>
            <a:ext cx="11012019" cy="5154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310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DCCCD-618F-CB3B-9906-8A7E7EFE1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2C42D-1659-AD1A-D18D-BA65FFC90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54B74F-3AE7-AF80-E4DB-BBA3F951A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97" y="0"/>
            <a:ext cx="10749715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920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E8A05-7A98-C16F-C77F-28AEE8FDC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81DE4B-D93F-F362-C8FB-3CC137D676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557" y="501648"/>
            <a:ext cx="8139165" cy="5691346"/>
          </a:xfrm>
        </p:spPr>
      </p:pic>
    </p:spTree>
    <p:extLst>
      <p:ext uri="{BB962C8B-B14F-4D97-AF65-F5344CB8AC3E}">
        <p14:creationId xmlns:p14="http://schemas.microsoft.com/office/powerpoint/2010/main" val="286870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68B6F-53A6-F53A-2E72-6FBE594FB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A73FD-40C3-4450-732C-EA70430B51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D1A74B-5816-B0E6-A82E-176197D2A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725" y="1017061"/>
            <a:ext cx="9792549" cy="482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364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00229-89C8-8C8F-16E4-7E9925855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Congestion Control in Frame Relay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36E84-2150-2821-0684-BAD958606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BECN The backward explicit congestion notification (BECN)</a:t>
            </a:r>
          </a:p>
          <a:p>
            <a:r>
              <a:rPr lang="en-US" dirty="0"/>
              <a:t>FECN The forward explicit congestion notification (FECN)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908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ADBC9-00CC-8CFD-4213-BD275FB89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BECN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B9775-C116-BE57-F72D-212ECEA10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281" y="1393546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The backward explicit congestion notification (BECN) bit </a:t>
            </a:r>
            <a:r>
              <a:rPr lang="en-US" dirty="0">
                <a:solidFill>
                  <a:srgbClr val="FF0000"/>
                </a:solidFill>
              </a:rPr>
              <a:t>warns the sender </a:t>
            </a:r>
            <a:r>
              <a:rPr lang="en-US" dirty="0"/>
              <a:t>of congestion in the network.</a:t>
            </a:r>
          </a:p>
          <a:p>
            <a:r>
              <a:rPr lang="en-US" dirty="0"/>
              <a:t> One might ask how this is accomplished since the frames are traveling away from the sender. </a:t>
            </a:r>
          </a:p>
          <a:p>
            <a:r>
              <a:rPr lang="en-US" dirty="0"/>
              <a:t>In fact, there are two methods: </a:t>
            </a:r>
          </a:p>
          <a:p>
            <a:r>
              <a:rPr lang="en-US" dirty="0"/>
              <a:t>The switch can use response frames from the receiver (full-duplex mode), or </a:t>
            </a:r>
          </a:p>
          <a:p>
            <a:r>
              <a:rPr lang="en-US" dirty="0"/>
              <a:t>Else the switch can use a predefined connection to send special frames for this specific purpose. </a:t>
            </a:r>
          </a:p>
          <a:p>
            <a:r>
              <a:rPr lang="en-US" dirty="0"/>
              <a:t>The</a:t>
            </a:r>
            <a:r>
              <a:rPr lang="en-US" dirty="0">
                <a:solidFill>
                  <a:srgbClr val="FF0000"/>
                </a:solidFill>
              </a:rPr>
              <a:t> sender </a:t>
            </a:r>
            <a:r>
              <a:rPr lang="en-US" dirty="0"/>
              <a:t>can respond to this warning by simply </a:t>
            </a:r>
            <a:r>
              <a:rPr lang="en-US" dirty="0">
                <a:solidFill>
                  <a:srgbClr val="FF0000"/>
                </a:solidFill>
              </a:rPr>
              <a:t>reducing the data rate.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5582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00077-90E4-71BA-9582-F35FF9F6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5D4A8-F46C-9D25-D7DE-84E2F8BBB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401828-122D-D340-D863-187B0E612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17" y="1484317"/>
            <a:ext cx="10442494" cy="414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7797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347E3-A83C-5C8A-91BB-C818D43FC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FECN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50DEB-BE34-FF7F-702A-B3A975301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forward explicit congestion notification (FECN) bit is used to </a:t>
            </a:r>
            <a:r>
              <a:rPr lang="en-US" dirty="0">
                <a:solidFill>
                  <a:srgbClr val="FF0000"/>
                </a:solidFill>
              </a:rPr>
              <a:t>warn the receiver </a:t>
            </a:r>
            <a:r>
              <a:rPr lang="en-US" dirty="0"/>
              <a:t>of congestion in the network. </a:t>
            </a:r>
          </a:p>
          <a:p>
            <a:r>
              <a:rPr lang="en-US" dirty="0"/>
              <a:t>It might appear that the </a:t>
            </a:r>
            <a:r>
              <a:rPr lang="en-US" dirty="0">
                <a:solidFill>
                  <a:srgbClr val="FF0000"/>
                </a:solidFill>
              </a:rPr>
              <a:t>receiver cannot do anything</a:t>
            </a:r>
            <a:r>
              <a:rPr lang="en-US" dirty="0"/>
              <a:t> to relieve the congestion. </a:t>
            </a:r>
          </a:p>
          <a:p>
            <a:r>
              <a:rPr lang="en-US" dirty="0"/>
              <a:t>However, the Frame Relay protocol </a:t>
            </a:r>
            <a:r>
              <a:rPr lang="en-US" dirty="0">
                <a:solidFill>
                  <a:srgbClr val="FF0000"/>
                </a:solidFill>
              </a:rPr>
              <a:t>assumes that the sender and receiver are communicating</a:t>
            </a:r>
            <a:r>
              <a:rPr lang="en-US" dirty="0"/>
              <a:t> with each other and are using some type of flow control at a higher level. </a:t>
            </a:r>
          </a:p>
          <a:p>
            <a:r>
              <a:rPr lang="en-US" dirty="0"/>
              <a:t>For example, if there is an </a:t>
            </a:r>
            <a:r>
              <a:rPr lang="en-US" dirty="0">
                <a:solidFill>
                  <a:srgbClr val="FF0000"/>
                </a:solidFill>
              </a:rPr>
              <a:t>acknowledgment mechanism </a:t>
            </a:r>
            <a:r>
              <a:rPr lang="en-US" dirty="0"/>
              <a:t>at this higher level, </a:t>
            </a:r>
            <a:r>
              <a:rPr lang="en-US" dirty="0">
                <a:solidFill>
                  <a:srgbClr val="FF0000"/>
                </a:solidFill>
              </a:rPr>
              <a:t>the receiver can delay the acknowledgment,</a:t>
            </a:r>
            <a:r>
              <a:rPr lang="en-US" dirty="0"/>
              <a:t> thus forcing the sender to slow down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03463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C0838-C1DD-5F53-82F0-CF7D7BA36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5C416-78B0-66FA-9AA4-67D9835D5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18C4CD-C3B0-7346-3EBF-66593CC29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40" y="1497837"/>
            <a:ext cx="10751260" cy="419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2099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E23CB-9DD2-53A5-62C5-1DBD8F822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AD6C0-7E8F-3CD7-D21A-D2CDE6C97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F5028C-81C6-0D98-DF13-68568E0E4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521" y="994199"/>
            <a:ext cx="9732890" cy="518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69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542</Words>
  <Application>Microsoft Office PowerPoint</Application>
  <PresentationFormat>Widescreen</PresentationFormat>
  <Paragraphs>43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TCP Congestion Control</vt:lpstr>
      <vt:lpstr>PowerPoint Presentation</vt:lpstr>
      <vt:lpstr>Window size</vt:lpstr>
      <vt:lpstr>Congestion policy</vt:lpstr>
      <vt:lpstr>Slow start</vt:lpstr>
      <vt:lpstr>PowerPoint Presentation</vt:lpstr>
      <vt:lpstr>PowerPoint Presentation</vt:lpstr>
      <vt:lpstr>Congestion avoidance</vt:lpstr>
      <vt:lpstr>PowerPoint Presentation</vt:lpstr>
      <vt:lpstr>Congestion Detection</vt:lpstr>
      <vt:lpstr>PowerPoint Presentation</vt:lpstr>
      <vt:lpstr>PowerPoint Presentation</vt:lpstr>
      <vt:lpstr>PowerPoint Presentation</vt:lpstr>
      <vt:lpstr>PowerPoint Presentation</vt:lpstr>
      <vt:lpstr>Congestion Control in Frame Relay</vt:lpstr>
      <vt:lpstr>BECN</vt:lpstr>
      <vt:lpstr>PowerPoint Presentation</vt:lpstr>
      <vt:lpstr>FECN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TCP Congestion Control</dc:title>
  <dc:creator>KOPPERUNDEVI RAJAJI</dc:creator>
  <cp:lastModifiedBy>KOPPERUNDEVI RAJAJI</cp:lastModifiedBy>
  <cp:revision>11</cp:revision>
  <dcterms:created xsi:type="dcterms:W3CDTF">2023-07-05T17:46:58Z</dcterms:created>
  <dcterms:modified xsi:type="dcterms:W3CDTF">2024-11-11T04:40:43Z</dcterms:modified>
</cp:coreProperties>
</file>