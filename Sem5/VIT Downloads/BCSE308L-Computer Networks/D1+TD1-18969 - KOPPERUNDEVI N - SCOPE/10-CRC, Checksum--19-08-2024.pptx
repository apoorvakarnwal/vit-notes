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9" r:id="rId3"/>
    <p:sldId id="265" r:id="rId4"/>
    <p:sldId id="266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309" r:id="rId18"/>
    <p:sldId id="305" r:id="rId19"/>
    <p:sldId id="306" r:id="rId20"/>
    <p:sldId id="307" r:id="rId21"/>
    <p:sldId id="310" r:id="rId22"/>
    <p:sldId id="280" r:id="rId23"/>
    <p:sldId id="281" r:id="rId24"/>
    <p:sldId id="308" r:id="rId25"/>
    <p:sldId id="286" r:id="rId26"/>
    <p:sldId id="287" r:id="rId27"/>
    <p:sldId id="288" r:id="rId28"/>
    <p:sldId id="290" r:id="rId29"/>
    <p:sldId id="29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6A0D1-5A78-49C8-9271-8BD6D490C170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9A4A-9E3A-4D93-8216-60576347455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6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573088"/>
            <a:ext cx="4540250" cy="3405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258764"/>
            <a:ext cx="7921869" cy="5032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3046" y="914400"/>
            <a:ext cx="3893527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7251" y="914400"/>
            <a:ext cx="3893526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93170" y="6508750"/>
            <a:ext cx="1562100" cy="349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3200400" y="6415088"/>
            <a:ext cx="2672862" cy="379412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099BB-505D-4CB5-BFAE-ACFD53192BDC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A6373-C731-4978-A651-AA8F7C36B9C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Text Box 2"/>
          <p:cNvSpPr txBox="1">
            <a:spLocks noChangeArrowheads="1"/>
          </p:cNvSpPr>
          <p:nvPr/>
        </p:nvSpPr>
        <p:spPr bwMode="auto">
          <a:xfrm>
            <a:off x="1524000" y="2895601"/>
            <a:ext cx="538968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kumimoji="0" lang="en-US" altLang="en-US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pitchFamily="50" charset="-127"/>
              </a:rPr>
              <a:t>Data Link Layer</a:t>
            </a:r>
          </a:p>
        </p:txBody>
      </p:sp>
      <p:sp>
        <p:nvSpPr>
          <p:cNvPr id="657411" name="Line 3"/>
          <p:cNvSpPr>
            <a:spLocks noChangeShapeType="1"/>
          </p:cNvSpPr>
          <p:nvPr/>
        </p:nvSpPr>
        <p:spPr bwMode="auto">
          <a:xfrm>
            <a:off x="304800" y="61722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57412" name="Line 4"/>
          <p:cNvSpPr>
            <a:spLocks noChangeShapeType="1"/>
          </p:cNvSpPr>
          <p:nvPr/>
        </p:nvSpPr>
        <p:spPr bwMode="auto">
          <a:xfrm>
            <a:off x="266700" y="304800"/>
            <a:ext cx="86106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ChangeArrowheads="1"/>
          </p:cNvSpPr>
          <p:nvPr/>
        </p:nvSpPr>
        <p:spPr bwMode="ltGray">
          <a:xfrm>
            <a:off x="366347" y="107951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59" name="Rectangle 3"/>
          <p:cNvSpPr>
            <a:spLocks noChangeArrowheads="1"/>
          </p:cNvSpPr>
          <p:nvPr/>
        </p:nvSpPr>
        <p:spPr bwMode="ltGray">
          <a:xfrm>
            <a:off x="748813" y="107951"/>
            <a:ext cx="32971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60" name="Rectangle 4"/>
          <p:cNvSpPr>
            <a:spLocks noChangeArrowheads="1"/>
          </p:cNvSpPr>
          <p:nvPr/>
        </p:nvSpPr>
        <p:spPr bwMode="ltGray">
          <a:xfrm>
            <a:off x="490904" y="530226"/>
            <a:ext cx="422031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61" name="Rectangle 5"/>
          <p:cNvSpPr>
            <a:spLocks noChangeArrowheads="1"/>
          </p:cNvSpPr>
          <p:nvPr/>
        </p:nvSpPr>
        <p:spPr bwMode="ltGray">
          <a:xfrm>
            <a:off x="860181" y="530226"/>
            <a:ext cx="36927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62" name="Rectangle 6"/>
          <p:cNvSpPr>
            <a:spLocks noChangeArrowheads="1"/>
          </p:cNvSpPr>
          <p:nvPr/>
        </p:nvSpPr>
        <p:spPr bwMode="ltGray">
          <a:xfrm>
            <a:off x="76200" y="457201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63" name="Rectangle 7"/>
          <p:cNvSpPr>
            <a:spLocks noChangeArrowheads="1"/>
          </p:cNvSpPr>
          <p:nvPr/>
        </p:nvSpPr>
        <p:spPr bwMode="gray">
          <a:xfrm>
            <a:off x="710713" y="1"/>
            <a:ext cx="32238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64" name="Rectangle 8"/>
          <p:cNvSpPr>
            <a:spLocks noChangeArrowheads="1"/>
          </p:cNvSpPr>
          <p:nvPr/>
        </p:nvSpPr>
        <p:spPr bwMode="gray">
          <a:xfrm>
            <a:off x="442547" y="533400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solidFill>
                <a:schemeClr val="tx1"/>
              </a:solidFill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659465" name="Text Box 9"/>
          <p:cNvSpPr txBox="1">
            <a:spLocks noChangeArrowheads="1"/>
          </p:cNvSpPr>
          <p:nvPr/>
        </p:nvSpPr>
        <p:spPr bwMode="auto">
          <a:xfrm>
            <a:off x="1279282" y="-9525"/>
            <a:ext cx="33489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ko-KR" sz="2800" b="1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Data link layer </a:t>
            </a:r>
            <a:r>
              <a:rPr kumimoji="0" lang="en-US" altLang="ko-KR" sz="2400" b="1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duties</a:t>
            </a:r>
          </a:p>
        </p:txBody>
      </p:sp>
      <p:pic>
        <p:nvPicPr>
          <p:cNvPr id="659466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4270" y="2584450"/>
            <a:ext cx="8080131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Detection and Correction</a:t>
            </a:r>
          </a:p>
        </p:txBody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</a:pPr>
            <a:r>
              <a:rPr lang="en-US" altLang="ko-KR" dirty="0">
                <a:solidFill>
                  <a:srgbClr val="000000"/>
                </a:solidFill>
              </a:rPr>
              <a:t>Data can be corrupted during transmission. </a:t>
            </a:r>
          </a:p>
          <a:p>
            <a:pPr>
              <a:buFont typeface="Wingdings" pitchFamily="2" charset="2"/>
              <a:buChar char="n"/>
            </a:pPr>
            <a:r>
              <a:rPr lang="en-US" altLang="ko-KR" dirty="0">
                <a:solidFill>
                  <a:srgbClr val="000000"/>
                </a:solidFill>
              </a:rPr>
              <a:t>For reliable communication, error must be detected and corrected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ko-KR" dirty="0">
                <a:solidFill>
                  <a:srgbClr val="000000"/>
                </a:solidFill>
              </a:rPr>
              <a:t>Error Detection and Correction are implemented either at the data link layer or the transport layer of the </a:t>
            </a:r>
            <a:r>
              <a:rPr lang="en-US" altLang="ko-KR" dirty="0" err="1">
                <a:solidFill>
                  <a:srgbClr val="000000"/>
                </a:solidFill>
              </a:rPr>
              <a:t>OSI</a:t>
            </a:r>
            <a:r>
              <a:rPr lang="en-US" altLang="ko-KR" dirty="0">
                <a:solidFill>
                  <a:srgbClr val="000000"/>
                </a:solidFill>
              </a:rPr>
              <a:t>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 of Errors</a:t>
            </a:r>
          </a:p>
        </p:txBody>
      </p:sp>
      <p:pic>
        <p:nvPicPr>
          <p:cNvPr id="6174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3384" y="2438401"/>
            <a:ext cx="7877908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280" cy="1066130"/>
          </a:xfrm>
        </p:spPr>
        <p:txBody>
          <a:bodyPr>
            <a:normAutofit fontScale="90000"/>
          </a:bodyPr>
          <a:lstStyle/>
          <a:p>
            <a:br>
              <a:rPr lang="en-US" altLang="ko-KR" dirty="0">
                <a:solidFill>
                  <a:srgbClr val="000000"/>
                </a:solidFill>
              </a:rPr>
            </a:br>
            <a:br>
              <a:rPr lang="en-US" altLang="ko-KR" dirty="0">
                <a:solidFill>
                  <a:srgbClr val="000000"/>
                </a:solidFill>
              </a:rPr>
            </a:b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Single-Bit </a:t>
            </a:r>
            <a:br>
              <a:rPr lang="en-US" altLang="en-US" b="1" dirty="0">
                <a:solidFill>
                  <a:srgbClr val="00279F"/>
                </a:solidFill>
              </a:rPr>
            </a:br>
            <a:br>
              <a:rPr lang="en-US" altLang="ko-KR" dirty="0">
                <a:solidFill>
                  <a:srgbClr val="000000"/>
                </a:solidFill>
              </a:rPr>
            </a:br>
            <a:endParaRPr lang="en-US" altLang="ko-KR" dirty="0"/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~ 	is when only one bit in the data unit has changed</a:t>
            </a:r>
          </a:p>
        </p:txBody>
      </p:sp>
      <p:pic>
        <p:nvPicPr>
          <p:cNvPr id="6185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9939" y="3479800"/>
            <a:ext cx="7611208" cy="174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Burst Error</a:t>
            </a:r>
            <a:br>
              <a:rPr lang="en-US" altLang="ko-KR" dirty="0">
                <a:solidFill>
                  <a:srgbClr val="000000"/>
                </a:solidFill>
              </a:rPr>
            </a:br>
            <a:endParaRPr lang="en-US" altLang="ko-KR" dirty="0"/>
          </a:p>
        </p:txBody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196752"/>
            <a:ext cx="7927731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~ 	means that 2 or more consecutive bits in the data unit have changed</a:t>
            </a:r>
          </a:p>
        </p:txBody>
      </p:sp>
      <p:pic>
        <p:nvPicPr>
          <p:cNvPr id="6205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5077" y="2981027"/>
            <a:ext cx="6843346" cy="361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</a:t>
            </a:r>
          </a:p>
        </p:txBody>
      </p:sp>
      <p:sp>
        <p:nvSpPr>
          <p:cNvPr id="6215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dirty="0">
                <a:solidFill>
                  <a:srgbClr val="000000"/>
                </a:solidFill>
              </a:rPr>
              <a:t>Error detection uses the concept of redundancy, which means adding extra bits for detecting errors at the destination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046" y="914400"/>
            <a:ext cx="7993674" cy="5334000"/>
          </a:xfrm>
        </p:spPr>
        <p:txBody>
          <a:bodyPr/>
          <a:lstStyle/>
          <a:p>
            <a:r>
              <a:rPr lang="en-US" altLang="ko-KR" sz="2000" dirty="0"/>
              <a:t>Redundancy</a:t>
            </a:r>
          </a:p>
        </p:txBody>
      </p:sp>
      <p:pic>
        <p:nvPicPr>
          <p:cNvPr id="622598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16573" y="1773238"/>
            <a:ext cx="7244862" cy="4089400"/>
          </a:xfrm>
          <a:noFill/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Detection Methods</a:t>
            </a:r>
          </a:p>
        </p:txBody>
      </p:sp>
      <p:pic>
        <p:nvPicPr>
          <p:cNvPr id="623627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3931" y="2133600"/>
            <a:ext cx="8042031" cy="2058988"/>
          </a:xfrm>
          <a:noFill/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000000"/>
                </a:solidFill>
              </a:rPr>
              <a:t> </a:t>
            </a:r>
            <a:br>
              <a:rPr lang="en-US" altLang="ko-KR" b="1" dirty="0">
                <a:solidFill>
                  <a:srgbClr val="000000"/>
                </a:solidFill>
              </a:rPr>
            </a:br>
            <a:r>
              <a:rPr lang="en-US" altLang="ko-KR" b="1" dirty="0">
                <a:solidFill>
                  <a:srgbClr val="000000"/>
                </a:solidFill>
              </a:rPr>
              <a:t>Parity Check(</a:t>
            </a:r>
            <a:r>
              <a:rPr lang="en-US" altLang="en-US" b="1" dirty="0">
                <a:solidFill>
                  <a:srgbClr val="00279F"/>
                </a:solidFill>
              </a:rPr>
              <a:t>Vertical Redundancy Check)</a:t>
            </a:r>
            <a:br>
              <a:rPr lang="en-US" altLang="ko-KR" b="1" dirty="0">
                <a:solidFill>
                  <a:srgbClr val="000000"/>
                </a:solidFill>
              </a:rPr>
            </a:br>
            <a:endParaRPr lang="en-US" altLang="ko-K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4639" y="836613"/>
            <a:ext cx="7993674" cy="5334000"/>
          </a:xfrm>
        </p:spPr>
        <p:txBody>
          <a:bodyPr/>
          <a:lstStyle/>
          <a:p>
            <a:pPr lvl="1"/>
            <a:r>
              <a:rPr lang="en-US" altLang="ko-KR" sz="2000" dirty="0">
                <a:solidFill>
                  <a:srgbClr val="000000"/>
                </a:solidFill>
              </a:rPr>
              <a:t>A parity bit is added to every data unit so that the total number of </a:t>
            </a:r>
            <a:r>
              <a:rPr lang="en-US" altLang="ko-KR" sz="2000" dirty="0" err="1">
                <a:solidFill>
                  <a:srgbClr val="000000"/>
                </a:solidFill>
              </a:rPr>
              <a:t>1s</a:t>
            </a:r>
            <a:r>
              <a:rPr lang="en-US" altLang="ko-KR" sz="2000" dirty="0">
                <a:solidFill>
                  <a:srgbClr val="000000"/>
                </a:solidFill>
              </a:rPr>
              <a:t>(</a:t>
            </a:r>
            <a:r>
              <a:rPr lang="en-US" altLang="ko-KR" sz="2000" dirty="0">
                <a:solidFill>
                  <a:srgbClr val="FF0000"/>
                </a:solidFill>
              </a:rPr>
              <a:t>including the parity bit</a:t>
            </a:r>
            <a:r>
              <a:rPr lang="en-US" altLang="ko-KR" sz="2000" dirty="0">
                <a:solidFill>
                  <a:srgbClr val="000000"/>
                </a:solidFill>
              </a:rPr>
              <a:t>) becomes even for even-parity check or odd for odd-parity check </a:t>
            </a:r>
          </a:p>
          <a:p>
            <a:pPr lvl="1"/>
            <a:r>
              <a:rPr lang="en-US" altLang="ko-KR" sz="2000" dirty="0">
                <a:solidFill>
                  <a:srgbClr val="000000"/>
                </a:solidFill>
              </a:rPr>
              <a:t> Simple parity check</a:t>
            </a:r>
          </a:p>
        </p:txBody>
      </p:sp>
      <p:pic>
        <p:nvPicPr>
          <p:cNvPr id="6246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308839" y="2492376"/>
            <a:ext cx="5251938" cy="3973513"/>
          </a:xfrm>
          <a:noFill/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50631" y="260350"/>
            <a:ext cx="7921869" cy="503238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Detection- Example-1</a:t>
            </a:r>
          </a:p>
        </p:txBody>
      </p:sp>
      <p:sp>
        <p:nvSpPr>
          <p:cNvPr id="625672" name="Rectangle 8"/>
          <p:cNvSpPr>
            <a:spLocks noChangeArrowheads="1"/>
          </p:cNvSpPr>
          <p:nvPr/>
        </p:nvSpPr>
        <p:spPr bwMode="auto">
          <a:xfrm>
            <a:off x="755576" y="1412776"/>
            <a:ext cx="7807569" cy="2870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Suppose the sender wants to send the word </a:t>
            </a:r>
            <a:r>
              <a:rPr kumimoji="0" lang="en-US" altLang="ko-KR" sz="2800" i="1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world</a:t>
            </a: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. In ASCII the five characters are coded as 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</a:t>
            </a:r>
            <a:r>
              <a:rPr kumimoji="0" lang="en-US" altLang="ko-KR" sz="2800" b="1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1110111   1101111   1110010   1101100   1100100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The following shows the actual bits sent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</a:t>
            </a:r>
            <a:r>
              <a:rPr kumimoji="0" lang="en-US" altLang="ko-KR" sz="24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1110111</a:t>
            </a:r>
            <a:r>
              <a:rPr kumimoji="0" lang="en-US" altLang="ko-KR" sz="24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0</a:t>
            </a:r>
            <a:r>
              <a:rPr kumimoji="0" lang="en-US" altLang="ko-KR" sz="24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  1101111</a:t>
            </a:r>
            <a:r>
              <a:rPr kumimoji="0" lang="en-US" altLang="ko-KR" sz="24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0</a:t>
            </a:r>
            <a:r>
              <a:rPr kumimoji="0" lang="en-US" altLang="ko-KR" sz="24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  1110010</a:t>
            </a:r>
            <a:r>
              <a:rPr kumimoji="0" lang="en-US" altLang="ko-KR" sz="24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0</a:t>
            </a:r>
            <a:r>
              <a:rPr kumimoji="0" lang="en-US" altLang="ko-KR" sz="24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  1101100</a:t>
            </a:r>
            <a:r>
              <a:rPr kumimoji="0" lang="en-US" altLang="ko-KR" sz="24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0</a:t>
            </a:r>
            <a:r>
              <a:rPr kumimoji="0" lang="en-US" altLang="ko-KR" sz="24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  1100100</a:t>
            </a:r>
            <a:r>
              <a:rPr kumimoji="0" lang="en-US" altLang="ko-KR" sz="24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 – Example-2</a:t>
            </a:r>
          </a:p>
        </p:txBody>
      </p:sp>
      <p:sp>
        <p:nvSpPr>
          <p:cNvPr id="626696" name="Rectangle 8"/>
          <p:cNvSpPr>
            <a:spLocks noChangeArrowheads="1"/>
          </p:cNvSpPr>
          <p:nvPr/>
        </p:nvSpPr>
        <p:spPr bwMode="auto">
          <a:xfrm>
            <a:off x="827584" y="1340768"/>
            <a:ext cx="7807569" cy="39703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Now suppose the word world in Example-1 is received by the receiver without being corrupted in transmission. 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11101110   11011110   11100100   11011000   11001001</a:t>
            </a:r>
          </a:p>
          <a:p>
            <a:pPr algn="just"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The receiver counts the </a:t>
            </a:r>
            <a:r>
              <a:rPr kumimoji="0" lang="en-US" altLang="ko-KR" sz="2800" dirty="0" err="1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1s</a:t>
            </a: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in each character and comes up with even numbers (6, 6, 4, 4, 4). The data are accepted.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 – Example-3</a:t>
            </a:r>
          </a:p>
        </p:txBody>
      </p:sp>
      <p:sp>
        <p:nvSpPr>
          <p:cNvPr id="666629" name="Rectangle 5"/>
          <p:cNvSpPr>
            <a:spLocks noChangeArrowheads="1"/>
          </p:cNvSpPr>
          <p:nvPr/>
        </p:nvSpPr>
        <p:spPr bwMode="auto">
          <a:xfrm>
            <a:off x="683568" y="1268760"/>
            <a:ext cx="7807569" cy="39703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Now suppose the word world in Example-1 is corrupted during transmission. 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11111110   11011110   11101100   11011000   11001001</a:t>
            </a:r>
          </a:p>
          <a:p>
            <a:pPr algn="just" eaLnBrk="1" hangingPunct="1">
              <a:spcBef>
                <a:spcPct val="50000"/>
              </a:spcBef>
            </a:pP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The receiver counts the </a:t>
            </a:r>
            <a:r>
              <a:rPr kumimoji="0" lang="en-US" altLang="ko-KR" sz="2800" dirty="0" err="1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1s</a:t>
            </a:r>
            <a:r>
              <a:rPr kumimoji="0" lang="en-US" altLang="ko-KR" sz="28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in each character and comes up with even and odd numbers (7, 6, 5, 4, 4). The receiver knows that the data are corrupted, discards them, and asks for retransmission.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Two –Dimensional Parity Check (LRC)</a:t>
            </a:r>
            <a:r>
              <a:rPr lang="en-US" altLang="en-US" b="1" dirty="0">
                <a:solidFill>
                  <a:srgbClr val="00279F"/>
                </a:solidFill>
              </a:rPr>
              <a:t> Longitudinal Redundancy Check</a:t>
            </a:r>
            <a:br>
              <a:rPr lang="en-US" altLang="en-US" b="1" dirty="0">
                <a:solidFill>
                  <a:srgbClr val="00279F"/>
                </a:solidFill>
              </a:rPr>
            </a:br>
            <a:endParaRPr lang="en-US" altLang="ko-K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6686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07781" y="1263352"/>
            <a:ext cx="7778262" cy="5334000"/>
          </a:xfrm>
          <a:noFill/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 – Example-4</a:t>
            </a:r>
          </a:p>
        </p:txBody>
      </p:sp>
      <p:sp>
        <p:nvSpPr>
          <p:cNvPr id="670725" name="Rectangle 5"/>
          <p:cNvSpPr>
            <a:spLocks noChangeArrowheads="1"/>
          </p:cNvSpPr>
          <p:nvPr/>
        </p:nvSpPr>
        <p:spPr bwMode="auto">
          <a:xfrm>
            <a:off x="899592" y="1412776"/>
            <a:ext cx="7807569" cy="30162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Suppose the following block is sent: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10101001   00111001   11011101   11100111   10101010                                                                      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However, it is hit by a burst noise of length 8, and some bits are corrupted. 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1010</a:t>
            </a:r>
            <a:r>
              <a:rPr kumimoji="0" lang="en-US" altLang="ko-KR" sz="20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0011</a:t>
            </a: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  </a:t>
            </a:r>
            <a:r>
              <a:rPr kumimoji="0" lang="en-US" altLang="ko-KR" sz="2000" b="1" u="sng" dirty="0">
                <a:solidFill>
                  <a:schemeClr val="hlink"/>
                </a:solidFill>
                <a:latin typeface="Times" pitchFamily="18" charset="0"/>
                <a:ea typeface="굴림" pitchFamily="50" charset="-127"/>
              </a:rPr>
              <a:t>1000</a:t>
            </a: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1001   11011101   11100111   10101010                                                                       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When the receiver checks the parity bits, some of the bits do not follow the even-parity rule and the whole block is discarded.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 10100011   10001001   11011101   11100111   </a:t>
            </a:r>
            <a:r>
              <a:rPr kumimoji="0" lang="en-US" altLang="ko-KR" sz="2000" b="1" u="sng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</a:t>
            </a: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0</a:t>
            </a:r>
            <a:r>
              <a:rPr kumimoji="0" lang="en-US" altLang="ko-KR" sz="2000" b="1" u="sng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101</a:t>
            </a: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0</a:t>
            </a:r>
            <a:r>
              <a:rPr kumimoji="0" lang="en-US" altLang="ko-KR" sz="2000" b="1" u="sng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1</a:t>
            </a:r>
            <a:r>
              <a:rPr kumimoji="0" lang="en-US" altLang="ko-KR" sz="2000" dirty="0">
                <a:solidFill>
                  <a:schemeClr val="tx1"/>
                </a:solidFill>
                <a:latin typeface="Times" pitchFamily="18" charset="0"/>
                <a:ea typeface="굴림" pitchFamily="50" charset="-127"/>
              </a:rPr>
              <a:t>0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CRC</a:t>
            </a:r>
            <a:r>
              <a:rPr lang="en-US" altLang="ko-KR" dirty="0">
                <a:solidFill>
                  <a:srgbClr val="000000"/>
                </a:solidFill>
              </a:rPr>
              <a:t>(Cyclic Redundancy Check)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980728"/>
            <a:ext cx="8229600" cy="481399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~ 	is based on binary division.</a:t>
            </a:r>
          </a:p>
        </p:txBody>
      </p:sp>
      <p:pic>
        <p:nvPicPr>
          <p:cNvPr id="62874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8299938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C74F-B415-47C4-9933-95F91CFA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CRC generation at the sender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9887-71DE-4E4F-AA72-7BBBD2D71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Length of divisor ‘L’</a:t>
            </a:r>
          </a:p>
          <a:p>
            <a:r>
              <a:rPr lang="en-IN" dirty="0"/>
              <a:t>Append L-1 to original message</a:t>
            </a:r>
          </a:p>
          <a:p>
            <a:r>
              <a:rPr lang="en-IN" dirty="0"/>
              <a:t>Binary division operation</a:t>
            </a:r>
          </a:p>
          <a:p>
            <a:r>
              <a:rPr lang="en-IN" dirty="0"/>
              <a:t>Remainder is CRC, append to the data for transmission.</a:t>
            </a:r>
          </a:p>
          <a:p>
            <a:r>
              <a:rPr lang="en-IN" dirty="0"/>
              <a:t>CRC= L-1 bits.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55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Polynomials</a:t>
            </a:r>
          </a:p>
          <a:p>
            <a:pPr lvl="1"/>
            <a:r>
              <a:rPr lang="en-US" altLang="ko-KR">
                <a:solidFill>
                  <a:srgbClr val="000000"/>
                </a:solidFill>
              </a:rPr>
              <a:t>CRC generator(divisor) is most often represented not as a string of 1s and 0s, but as an algebraic polynomial.</a:t>
            </a:r>
          </a:p>
        </p:txBody>
      </p:sp>
      <p:pic>
        <p:nvPicPr>
          <p:cNvPr id="63078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708" y="3048000"/>
            <a:ext cx="8008327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A polynomial representing a divisor</a:t>
            </a:r>
          </a:p>
        </p:txBody>
      </p:sp>
      <p:pic>
        <p:nvPicPr>
          <p:cNvPr id="63181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1846" y="1524000"/>
            <a:ext cx="402101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Standard polynomials</a:t>
            </a:r>
          </a:p>
        </p:txBody>
      </p:sp>
      <p:pic>
        <p:nvPicPr>
          <p:cNvPr id="63283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354" y="2337221"/>
            <a:ext cx="8440615" cy="274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F1A8-8658-BD17-2800-700ED460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err="1"/>
              <a:t>Eg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CC387-27BB-30C5-C4B0-6E8AAB34C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Polynomial : 100100</a:t>
            </a:r>
          </a:p>
          <a:p>
            <a:r>
              <a:rPr lang="en-IN" dirty="0"/>
              <a:t>Divisor : 1101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32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77" y="914400"/>
            <a:ext cx="7927731" cy="5334000"/>
          </a:xfrm>
        </p:spPr>
        <p:txBody>
          <a:bodyPr/>
          <a:lstStyle/>
          <a:p>
            <a:pPr algn="just"/>
            <a:r>
              <a:rPr lang="en-US" altLang="ko-KR" dirty="0">
                <a:solidFill>
                  <a:srgbClr val="000000"/>
                </a:solidFill>
              </a:rPr>
              <a:t>Sender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>
                <a:solidFill>
                  <a:srgbClr val="000000"/>
                </a:solidFill>
              </a:rPr>
              <a:t>~ 	uses modular-2 division.</a:t>
            </a:r>
          </a:p>
          <a:p>
            <a:endParaRPr lang="en-US" altLang="ko-KR" sz="20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ko-KR" dirty="0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Binary Division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ko-KR" dirty="0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in 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ko-KR" dirty="0" err="1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CRC</a:t>
            </a:r>
            <a:r>
              <a:rPr kumimoji="0" lang="en-US" altLang="ko-KR" dirty="0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 Generator</a:t>
            </a:r>
          </a:p>
        </p:txBody>
      </p:sp>
      <p:sp>
        <p:nvSpPr>
          <p:cNvPr id="629765" name="AutoShape 5"/>
          <p:cNvSpPr>
            <a:spLocks noChangeArrowheads="1"/>
          </p:cNvSpPr>
          <p:nvPr/>
        </p:nvSpPr>
        <p:spPr bwMode="auto">
          <a:xfrm>
            <a:off x="3587262" y="3028950"/>
            <a:ext cx="1676400" cy="400050"/>
          </a:xfrm>
          <a:custGeom>
            <a:avLst/>
            <a:gdLst>
              <a:gd name="G0" fmla="+- 16572 0 0"/>
              <a:gd name="G1" fmla="+- 5400 0 0"/>
              <a:gd name="G2" fmla="+- 21600 0 5400"/>
              <a:gd name="G3" fmla="+- 10800 0 5400"/>
              <a:gd name="G4" fmla="+- 21600 0 16572"/>
              <a:gd name="G5" fmla="*/ G4 G3 10800"/>
              <a:gd name="G6" fmla="+- 21600 0 G5"/>
              <a:gd name="T0" fmla="*/ 16572 w 21600"/>
              <a:gd name="T1" fmla="*/ 0 h 21600"/>
              <a:gd name="T2" fmla="*/ 0 w 21600"/>
              <a:gd name="T3" fmla="*/ 10800 h 21600"/>
              <a:gd name="T4" fmla="*/ 16572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572" y="0"/>
                </a:moveTo>
                <a:lnTo>
                  <a:pt x="16572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572" y="16200"/>
                </a:lnTo>
                <a:lnTo>
                  <a:pt x="16572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pic>
        <p:nvPicPr>
          <p:cNvPr id="62976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0643" y="565150"/>
            <a:ext cx="5763357" cy="629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8229600" cy="64807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Receiver</a:t>
            </a:r>
          </a:p>
        </p:txBody>
      </p:sp>
      <p:sp>
        <p:nvSpPr>
          <p:cNvPr id="6533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22031" y="914400"/>
            <a:ext cx="7927731" cy="5334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ko-KR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Binary Division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ko-KR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in 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ko-KR">
                <a:solidFill>
                  <a:schemeClr val="bg1"/>
                </a:solidFill>
                <a:latin typeface="Times New Roman" pitchFamily="18" charset="0"/>
                <a:ea typeface="굴림" pitchFamily="50" charset="-127"/>
              </a:rPr>
              <a:t>CRC Checker</a:t>
            </a:r>
          </a:p>
          <a:p>
            <a:endParaRPr lang="en-US" altLang="ko-KR"/>
          </a:p>
        </p:txBody>
      </p:sp>
      <p:pic>
        <p:nvPicPr>
          <p:cNvPr id="653316" name="Picture 10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943" y="703264"/>
            <a:ext cx="6792057" cy="615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~ 	used by the higher layer protocols</a:t>
            </a:r>
          </a:p>
          <a:p>
            <a:pP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~ 	is based on the concept of redundancy(</a:t>
            </a:r>
            <a:r>
              <a:rPr lang="en-US" altLang="ko-KR" dirty="0" err="1">
                <a:solidFill>
                  <a:srgbClr val="000000"/>
                </a:solidFill>
              </a:rPr>
              <a:t>VRC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LRC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CRC</a:t>
            </a:r>
            <a:r>
              <a:rPr lang="en-US" altLang="ko-KR" dirty="0">
                <a:solidFill>
                  <a:srgbClr val="000000"/>
                </a:solidFill>
              </a:rPr>
              <a:t> ….)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047" y="762000"/>
            <a:ext cx="7927731" cy="5334000"/>
          </a:xfrm>
        </p:spPr>
        <p:txBody>
          <a:bodyPr/>
          <a:lstStyle/>
          <a:p>
            <a:r>
              <a:rPr lang="en-US" altLang="ko-KR" dirty="0"/>
              <a:t>Checksum Generator</a:t>
            </a:r>
          </a:p>
        </p:txBody>
      </p:sp>
      <p:pic>
        <p:nvPicPr>
          <p:cNvPr id="63488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3384" y="1427164"/>
            <a:ext cx="7104185" cy="459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To create the checksum the sender does the following: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The unit is divided into K sections, each of n bits.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Sum all the bits in k blocks.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If carry exists add it to the sum.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The final result is complemented to make the checksum.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>
                <a:solidFill>
                  <a:srgbClr val="000000"/>
                </a:solidFill>
              </a:rPr>
              <a:t>data unit and checksum</a:t>
            </a:r>
            <a:endParaRPr lang="en-US" altLang="ko-KR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92369" y="2133600"/>
            <a:ext cx="8125558" cy="3416300"/>
            <a:chOff x="336" y="1344"/>
            <a:chExt cx="5545" cy="2152"/>
          </a:xfrm>
        </p:grpSpPr>
        <p:graphicFrame>
          <p:nvGraphicFramePr>
            <p:cNvPr id="671744" name="Object 1024"/>
            <p:cNvGraphicFramePr>
              <a:graphicFrameLocks noChangeAspect="1"/>
            </p:cNvGraphicFramePr>
            <p:nvPr/>
          </p:nvGraphicFramePr>
          <p:xfrm>
            <a:off x="336" y="1344"/>
            <a:ext cx="5472" cy="1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10242146" imgH="2300035" progId="">
                    <p:embed/>
                  </p:oleObj>
                </mc:Choice>
                <mc:Fallback>
                  <p:oleObj name="Image" r:id="rId2" imgW="10242146" imgH="2300035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344"/>
                          <a:ext cx="5472" cy="1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36933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6" y="1920"/>
              <a:ext cx="5545" cy="1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Sender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Original data : 10101001 00111001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10101001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00111001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--------------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11100010	Sum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00011101	Checksum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10101001 00111001 </a:t>
            </a:r>
            <a:r>
              <a:rPr lang="en-US" altLang="ko-KR" dirty="0">
                <a:solidFill>
                  <a:schemeClr val="hlink"/>
                </a:solidFill>
              </a:rPr>
              <a:t>00011101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 </a:t>
            </a:r>
            <a:r>
              <a:rPr lang="en-IN" altLang="ko-KR" dirty="0">
                <a:sym typeface="Wingdings" pitchFamily="2" charset="2"/>
              </a:rPr>
              <a:t>Checksum</a:t>
            </a:r>
            <a:endParaRPr lang="ko-KR" altLang="en-US" dirty="0"/>
          </a:p>
          <a:p>
            <a:pPr>
              <a:buFont typeface="Wingdings" pitchFamily="2" charset="2"/>
              <a:buNone/>
            </a:pPr>
            <a:endParaRPr lang="ko-KR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Detection(cont’d)</a:t>
            </a:r>
          </a:p>
        </p:txBody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Receiver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Received data : 10101001 00111001 00011101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10101001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 00111001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 00011101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---------------</a:t>
            </a:r>
          </a:p>
          <a:p>
            <a:pPr>
              <a:buFont typeface="Wingdings" pitchFamily="2" charset="2"/>
              <a:buNone/>
            </a:pPr>
            <a:r>
              <a:rPr lang="en-US" altLang="ko-KR" dirty="0"/>
              <a:t>11111111 </a:t>
            </a:r>
            <a:r>
              <a:rPr lang="en-US" altLang="ko-KR" dirty="0">
                <a:sym typeface="Wingdings" pitchFamily="2" charset="2"/>
              </a:rPr>
              <a:t> Sum</a:t>
            </a:r>
            <a:endParaRPr lang="en-US" altLang="ko-KR" dirty="0"/>
          </a:p>
          <a:p>
            <a:pPr>
              <a:buFont typeface="Wingdings" pitchFamily="2" charset="2"/>
              <a:buNone/>
            </a:pPr>
            <a:r>
              <a:rPr lang="en-US" altLang="ko-KR" dirty="0"/>
              <a:t>00000000 </a:t>
            </a:r>
            <a:r>
              <a:rPr lang="en-US" altLang="ko-KR" dirty="0">
                <a:sym typeface="Wingdings" pitchFamily="2" charset="2"/>
              </a:rPr>
              <a:t> Complement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663</Words>
  <Application>Microsoft Office PowerPoint</Application>
  <PresentationFormat>On-screen Show (4:3)</PresentationFormat>
  <Paragraphs>98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Tahoma</vt:lpstr>
      <vt:lpstr>Times</vt:lpstr>
      <vt:lpstr>Times New Roman</vt:lpstr>
      <vt:lpstr>Wingdings</vt:lpstr>
      <vt:lpstr>Office Theme</vt:lpstr>
      <vt:lpstr>Image</vt:lpstr>
      <vt:lpstr>PowerPoint Presentation</vt:lpstr>
      <vt:lpstr>PowerPoint Presentation</vt:lpstr>
      <vt:lpstr>Error Detection and Correction</vt:lpstr>
      <vt:lpstr>Type of Errors</vt:lpstr>
      <vt:lpstr>   Single-Bit   </vt:lpstr>
      <vt:lpstr>Burst Error </vt:lpstr>
      <vt:lpstr>Detection</vt:lpstr>
      <vt:lpstr>Detection(cont’d)</vt:lpstr>
      <vt:lpstr>Error Detection Methods</vt:lpstr>
      <vt:lpstr>  Parity Check(Vertical Redundancy Check) </vt:lpstr>
      <vt:lpstr>Detection- Example-1</vt:lpstr>
      <vt:lpstr>Detection – Example-2</vt:lpstr>
      <vt:lpstr>Detection – Example-3</vt:lpstr>
      <vt:lpstr>Two –Dimensional Parity Check (LRC) Longitudinal Redundancy Check </vt:lpstr>
      <vt:lpstr>Detection – Example-4</vt:lpstr>
      <vt:lpstr>CRC(Cyclic Redundancy Check)</vt:lpstr>
      <vt:lpstr>CRC generation at the sender</vt:lpstr>
      <vt:lpstr>Detection(cont’d)</vt:lpstr>
      <vt:lpstr>Detection(cont’d)</vt:lpstr>
      <vt:lpstr>Detection(cont’d)</vt:lpstr>
      <vt:lpstr>Eg </vt:lpstr>
      <vt:lpstr>PowerPoint Presentation</vt:lpstr>
      <vt:lpstr>Receiver</vt:lpstr>
      <vt:lpstr>Checksum</vt:lpstr>
      <vt:lpstr>PowerPoint Presentation</vt:lpstr>
      <vt:lpstr>Detection(cont’d)</vt:lpstr>
      <vt:lpstr>Detection(cont’d)</vt:lpstr>
      <vt:lpstr>Detection(cont’d)</vt:lpstr>
      <vt:lpstr>Detection(cont’d)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KOPPERUNDEVI RAJAJI</cp:lastModifiedBy>
  <cp:revision>23</cp:revision>
  <dcterms:created xsi:type="dcterms:W3CDTF">2016-08-01T16:25:18Z</dcterms:created>
  <dcterms:modified xsi:type="dcterms:W3CDTF">2024-08-05T15:30:40Z</dcterms:modified>
</cp:coreProperties>
</file>