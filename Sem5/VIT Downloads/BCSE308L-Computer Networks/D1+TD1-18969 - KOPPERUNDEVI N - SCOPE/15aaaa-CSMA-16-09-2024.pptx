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902" r:id="rId3"/>
    <p:sldId id="865" r:id="rId4"/>
    <p:sldId id="866" r:id="rId5"/>
    <p:sldId id="938" r:id="rId6"/>
    <p:sldId id="893" r:id="rId7"/>
    <p:sldId id="876" r:id="rId8"/>
    <p:sldId id="882" r:id="rId9"/>
    <p:sldId id="877" r:id="rId10"/>
    <p:sldId id="915" r:id="rId11"/>
    <p:sldId id="916" r:id="rId12"/>
    <p:sldId id="932" r:id="rId13"/>
    <p:sldId id="933" r:id="rId14"/>
    <p:sldId id="935" r:id="rId15"/>
    <p:sldId id="904" r:id="rId16"/>
    <p:sldId id="878" r:id="rId17"/>
    <p:sldId id="883" r:id="rId18"/>
    <p:sldId id="937" r:id="rId19"/>
    <p:sldId id="910" r:id="rId20"/>
    <p:sldId id="929" r:id="rId21"/>
    <p:sldId id="931" r:id="rId22"/>
    <p:sldId id="912" r:id="rId23"/>
    <p:sldId id="880" r:id="rId24"/>
    <p:sldId id="894" r:id="rId25"/>
    <p:sldId id="895" r:id="rId26"/>
    <p:sldId id="897" r:id="rId27"/>
    <p:sldId id="898" r:id="rId28"/>
    <p:sldId id="899" r:id="rId29"/>
    <p:sldId id="914" r:id="rId30"/>
    <p:sldId id="917" r:id="rId31"/>
    <p:sldId id="936" r:id="rId32"/>
    <p:sldId id="920" r:id="rId33"/>
    <p:sldId id="921" r:id="rId34"/>
    <p:sldId id="930" r:id="rId35"/>
    <p:sldId id="922" r:id="rId36"/>
    <p:sldId id="923" r:id="rId37"/>
    <p:sldId id="924" r:id="rId38"/>
    <p:sldId id="925" r:id="rId39"/>
    <p:sldId id="926" r:id="rId40"/>
    <p:sldId id="927" r:id="rId41"/>
    <p:sldId id="92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2" autoAdjust="0"/>
    <p:restoredTop sz="94660"/>
  </p:normalViewPr>
  <p:slideViewPr>
    <p:cSldViewPr snapToGrid="0">
      <p:cViewPr varScale="1">
        <p:scale>
          <a:sx n="76" d="100"/>
          <a:sy n="76"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9FB4E-9A96-43EE-AE7B-E317372313CF}" type="datetimeFigureOut">
              <a:rPr lang="en-US" smtClean="0"/>
              <a:t>9/16/2024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2003F-71D5-4C29-AE0C-3328D890E017}" type="slidenum">
              <a:rPr lang="en-US" smtClean="0"/>
              <a:t>‹#›</a:t>
            </a:fld>
            <a:endParaRPr lang="en-US"/>
          </a:p>
        </p:txBody>
      </p:sp>
    </p:spTree>
    <p:extLst>
      <p:ext uri="{BB962C8B-B14F-4D97-AF65-F5344CB8AC3E}">
        <p14:creationId xmlns:p14="http://schemas.microsoft.com/office/powerpoint/2010/main" val="33294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4CA5286A-BDF9-0D09-C278-2A8DCF6D4E0A}"/>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52102BDF-8223-4C69-92BD-6DE3EF0D4FCC}" type="slidenum">
              <a:rPr lang="en-US" altLang="en-US" sz="1200" b="0" i="0" baseline="0"/>
              <a:pPr/>
              <a:t>3</a:t>
            </a:fld>
            <a:endParaRPr lang="en-US" altLang="en-US" sz="1200" b="0" i="0" baseline="0"/>
          </a:p>
        </p:txBody>
      </p:sp>
      <p:sp>
        <p:nvSpPr>
          <p:cNvPr id="90115" name="Rectangle 2">
            <a:extLst>
              <a:ext uri="{FF2B5EF4-FFF2-40B4-BE49-F238E27FC236}">
                <a16:creationId xmlns:a16="http://schemas.microsoft.com/office/drawing/2014/main" id="{085A6B72-7059-A81C-63E8-DB08FDFBE29E}"/>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162CDA9D-29C9-0781-F0FF-7949A573B46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2847DE58-5213-31CF-CCCF-05E81D0A7850}"/>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0764EB0-7C03-4BE0-A157-167B5ACEE4EE}" type="slidenum">
              <a:rPr lang="en-US" altLang="en-US" sz="1200" b="0" i="0" baseline="0"/>
              <a:pPr/>
              <a:t>4</a:t>
            </a:fld>
            <a:endParaRPr lang="en-US" altLang="en-US" sz="1200" b="0" i="0" baseline="0"/>
          </a:p>
        </p:txBody>
      </p:sp>
      <p:sp>
        <p:nvSpPr>
          <p:cNvPr id="93187" name="Rectangle 2">
            <a:extLst>
              <a:ext uri="{FF2B5EF4-FFF2-40B4-BE49-F238E27FC236}">
                <a16:creationId xmlns:a16="http://schemas.microsoft.com/office/drawing/2014/main" id="{F9F0A44C-E316-593E-2C4A-AC7A1DEF2CB2}"/>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5AD7CEBE-5316-0A95-3174-BCA1A79A885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0966BC71-71B5-C3EF-D328-708DEA110288}"/>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FA6BF27-0FBF-4C49-96DF-4B85D0F4484E}" type="slidenum">
              <a:rPr lang="en-US" altLang="en-US" sz="1200" b="0" i="0" baseline="0"/>
              <a:pPr/>
              <a:t>6</a:t>
            </a:fld>
            <a:endParaRPr lang="en-US" altLang="en-US" sz="1200" b="0" i="0" baseline="0"/>
          </a:p>
        </p:txBody>
      </p:sp>
      <p:sp>
        <p:nvSpPr>
          <p:cNvPr id="86019" name="Rectangle 2">
            <a:extLst>
              <a:ext uri="{FF2B5EF4-FFF2-40B4-BE49-F238E27FC236}">
                <a16:creationId xmlns:a16="http://schemas.microsoft.com/office/drawing/2014/main" id="{83B51E40-9C28-160D-B5FB-C96F47B04623}"/>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13CEAD6E-08BA-04FF-10A0-4D33F1087D2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CABAAD0E-44D8-7C4C-1F27-B457A0544B47}"/>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5E51126-BEB7-4C22-9754-AF5F08942FEE}" type="slidenum">
              <a:rPr lang="en-US" altLang="en-US" sz="1200" b="0" i="0" baseline="0"/>
              <a:pPr/>
              <a:t>7</a:t>
            </a:fld>
            <a:endParaRPr lang="en-US" altLang="en-US" sz="1200" b="0" i="0" baseline="0"/>
          </a:p>
        </p:txBody>
      </p:sp>
      <p:sp>
        <p:nvSpPr>
          <p:cNvPr id="87043" name="Rectangle 2">
            <a:extLst>
              <a:ext uri="{FF2B5EF4-FFF2-40B4-BE49-F238E27FC236}">
                <a16:creationId xmlns:a16="http://schemas.microsoft.com/office/drawing/2014/main" id="{EB3A5526-64CD-E955-90DA-CDBC1351B1AF}"/>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8F781EEF-13E7-58A1-FCC9-8DABC1357A3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14BFDFFC-A4E0-FFD7-1E26-843275135FA7}"/>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6A9F3C3-9E3A-4D14-858D-7CE0F2DCE7A5}" type="slidenum">
              <a:rPr lang="en-US" altLang="en-US" sz="1200" b="0" i="0" baseline="0"/>
              <a:pPr/>
              <a:t>8</a:t>
            </a:fld>
            <a:endParaRPr lang="en-US" altLang="en-US" sz="1200" b="0" i="0" baseline="0"/>
          </a:p>
        </p:txBody>
      </p:sp>
      <p:sp>
        <p:nvSpPr>
          <p:cNvPr id="88067" name="Rectangle 2">
            <a:extLst>
              <a:ext uri="{FF2B5EF4-FFF2-40B4-BE49-F238E27FC236}">
                <a16:creationId xmlns:a16="http://schemas.microsoft.com/office/drawing/2014/main" id="{0FE46F14-3490-FE6B-25A4-0586C10ACDAA}"/>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67F7F568-C1AF-5D30-1E4F-C969FF15CD3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0E6CA5F1-A50B-6870-01B8-ED3BC07D27AD}"/>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92B155A-D115-4AC5-A69B-C5AAA545B6DB}" type="slidenum">
              <a:rPr lang="en-US" altLang="en-US" sz="1200" b="0" i="0" baseline="0"/>
              <a:pPr/>
              <a:t>9</a:t>
            </a:fld>
            <a:endParaRPr lang="en-US" altLang="en-US" sz="1200" b="0" i="0" baseline="0"/>
          </a:p>
        </p:txBody>
      </p:sp>
      <p:sp>
        <p:nvSpPr>
          <p:cNvPr id="89091" name="Rectangle 2">
            <a:extLst>
              <a:ext uri="{FF2B5EF4-FFF2-40B4-BE49-F238E27FC236}">
                <a16:creationId xmlns:a16="http://schemas.microsoft.com/office/drawing/2014/main" id="{413BAF9E-941A-14CA-385D-6B6D572B3C7D}"/>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64B7D5C7-9AD3-BB37-3E93-BD7F29D76A1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33BA3365-CA1A-BF83-90DB-EEF3B0390419}"/>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17C64926-EE5A-496E-A512-0DB6938192C8}" type="slidenum">
              <a:rPr lang="en-US" altLang="en-US" sz="1200" b="0" i="0" baseline="0"/>
              <a:pPr/>
              <a:t>16</a:t>
            </a:fld>
            <a:endParaRPr lang="en-US" altLang="en-US" sz="1200" b="0" i="0" baseline="0"/>
          </a:p>
        </p:txBody>
      </p:sp>
      <p:sp>
        <p:nvSpPr>
          <p:cNvPr id="91139" name="Rectangle 2">
            <a:extLst>
              <a:ext uri="{FF2B5EF4-FFF2-40B4-BE49-F238E27FC236}">
                <a16:creationId xmlns:a16="http://schemas.microsoft.com/office/drawing/2014/main" id="{626F893F-8B89-94A6-1A9B-A83DFC788D18}"/>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7B9731F9-BC67-FEFB-B283-F034C4309AF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BC87356-03CE-7DD4-A6F1-E2B9E8EC22B8}"/>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C7CC46E-80B0-4300-A728-EE7FFA8781B8}" type="slidenum">
              <a:rPr lang="en-US" altLang="en-US" sz="1200" b="0" i="0" baseline="0"/>
              <a:pPr/>
              <a:t>17</a:t>
            </a:fld>
            <a:endParaRPr lang="en-US" altLang="en-US" sz="1200" b="0" i="0" baseline="0"/>
          </a:p>
        </p:txBody>
      </p:sp>
      <p:sp>
        <p:nvSpPr>
          <p:cNvPr id="92163" name="Rectangle 2">
            <a:extLst>
              <a:ext uri="{FF2B5EF4-FFF2-40B4-BE49-F238E27FC236}">
                <a16:creationId xmlns:a16="http://schemas.microsoft.com/office/drawing/2014/main" id="{DA67DFDA-8811-BD05-4198-BC3FE5333ECD}"/>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A958413E-F483-F802-2F68-15DA1AC3AD4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C0E5E7E4-458B-0041-0281-7A9EC0DD9D42}"/>
              </a:ext>
            </a:extLst>
          </p:cNvPr>
          <p:cNvSpPr>
            <a:spLocks noGrp="1" noChangeArrowheads="1"/>
          </p:cNvSpPr>
          <p:nvPr>
            <p:ph type="sldNum" sz="quarter" idx="5"/>
          </p:nvPr>
        </p:nvSpPr>
        <p:spPr>
          <a:noFill/>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2F3DA8E-5A31-4D79-862F-817578D44B4A}" type="slidenum">
              <a:rPr lang="en-US" altLang="en-US" sz="1200" b="0" i="0" baseline="0"/>
              <a:pPr/>
              <a:t>23</a:t>
            </a:fld>
            <a:endParaRPr lang="en-US" altLang="en-US" sz="1200" b="0" i="0" baseline="0"/>
          </a:p>
        </p:txBody>
      </p:sp>
      <p:sp>
        <p:nvSpPr>
          <p:cNvPr id="108547" name="Rectangle 2">
            <a:extLst>
              <a:ext uri="{FF2B5EF4-FFF2-40B4-BE49-F238E27FC236}">
                <a16:creationId xmlns:a16="http://schemas.microsoft.com/office/drawing/2014/main" id="{EE3851A0-4008-C32D-6594-A32D3F3A9A7F}"/>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DB5ED788-69A8-86C7-E6A1-8B66B97D50A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BDFE-ADDE-4021-9BCC-7C07564F5A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3637B5-1D34-44CB-8173-2E3A47FAB1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75D52E-ABFF-4BAF-AFDA-89B7E350E353}"/>
              </a:ext>
            </a:extLst>
          </p:cNvPr>
          <p:cNvSpPr>
            <a:spLocks noGrp="1"/>
          </p:cNvSpPr>
          <p:nvPr>
            <p:ph type="dt" sz="half" idx="10"/>
          </p:nvPr>
        </p:nvSpPr>
        <p:spPr/>
        <p:txBody>
          <a:bodyPr/>
          <a:lstStyle/>
          <a:p>
            <a:fld id="{FAC671F4-1042-491E-9911-352696935AD5}" type="datetime1">
              <a:rPr lang="en-US" smtClean="0"/>
              <a:t>9/16/2024</a:t>
            </a:fld>
            <a:endParaRPr lang="en-US"/>
          </a:p>
        </p:txBody>
      </p:sp>
      <p:sp>
        <p:nvSpPr>
          <p:cNvPr id="5" name="Footer Placeholder 4">
            <a:extLst>
              <a:ext uri="{FF2B5EF4-FFF2-40B4-BE49-F238E27FC236}">
                <a16:creationId xmlns:a16="http://schemas.microsoft.com/office/drawing/2014/main" id="{D1626679-590D-455E-A039-8A5499B721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727EB-3BE3-4F00-AD88-2DD02213534C}"/>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362102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B025-DC0A-458A-8AAE-D61B4AE277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8BC256-E17C-4935-ADFA-DDE9521030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58CE2B-2F17-4294-8CDD-367C1E58F4EF}"/>
              </a:ext>
            </a:extLst>
          </p:cNvPr>
          <p:cNvSpPr>
            <a:spLocks noGrp="1"/>
          </p:cNvSpPr>
          <p:nvPr>
            <p:ph type="dt" sz="half" idx="10"/>
          </p:nvPr>
        </p:nvSpPr>
        <p:spPr/>
        <p:txBody>
          <a:bodyPr/>
          <a:lstStyle/>
          <a:p>
            <a:fld id="{28C65120-7E09-4295-94C1-1C2367F00C75}" type="datetime1">
              <a:rPr lang="en-US" smtClean="0"/>
              <a:t>9/16/2024</a:t>
            </a:fld>
            <a:endParaRPr lang="en-US"/>
          </a:p>
        </p:txBody>
      </p:sp>
      <p:sp>
        <p:nvSpPr>
          <p:cNvPr id="5" name="Footer Placeholder 4">
            <a:extLst>
              <a:ext uri="{FF2B5EF4-FFF2-40B4-BE49-F238E27FC236}">
                <a16:creationId xmlns:a16="http://schemas.microsoft.com/office/drawing/2014/main" id="{32A9314C-DF5F-40B8-81CB-513DBBE0FD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E23249-3FFE-460F-92F7-2EF8F48A83D6}"/>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1672157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9C53-7A8E-4848-A760-60320309BA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07F6F0-444F-4A49-B46A-80B3450831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FE8E79-01B6-493E-A5EC-C104D40D09FD}"/>
              </a:ext>
            </a:extLst>
          </p:cNvPr>
          <p:cNvSpPr>
            <a:spLocks noGrp="1"/>
          </p:cNvSpPr>
          <p:nvPr>
            <p:ph type="dt" sz="half" idx="10"/>
          </p:nvPr>
        </p:nvSpPr>
        <p:spPr/>
        <p:txBody>
          <a:bodyPr/>
          <a:lstStyle/>
          <a:p>
            <a:fld id="{4E6ACF2C-2FD8-4AE8-A8B0-922AC91AEAAC}" type="datetime1">
              <a:rPr lang="en-US" smtClean="0"/>
              <a:t>9/16/2024</a:t>
            </a:fld>
            <a:endParaRPr lang="en-US"/>
          </a:p>
        </p:txBody>
      </p:sp>
      <p:sp>
        <p:nvSpPr>
          <p:cNvPr id="5" name="Footer Placeholder 4">
            <a:extLst>
              <a:ext uri="{FF2B5EF4-FFF2-40B4-BE49-F238E27FC236}">
                <a16:creationId xmlns:a16="http://schemas.microsoft.com/office/drawing/2014/main" id="{FA9A8965-FAB5-4B11-926F-92CE9B825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6179B-72B6-45BE-9203-EBCA56A8CD28}"/>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128025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D85C1-79DC-4337-BBF0-C379AEBAB0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9853B4-20F8-4445-971A-7346BC0FB0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5B9474-4781-40A9-BD63-11861BBB02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238DE4-F41A-4C71-A7A8-1463ADF5D962}"/>
              </a:ext>
            </a:extLst>
          </p:cNvPr>
          <p:cNvSpPr>
            <a:spLocks noGrp="1"/>
          </p:cNvSpPr>
          <p:nvPr>
            <p:ph type="dt" sz="half" idx="10"/>
          </p:nvPr>
        </p:nvSpPr>
        <p:spPr/>
        <p:txBody>
          <a:bodyPr/>
          <a:lstStyle/>
          <a:p>
            <a:fld id="{BAD64120-F44E-4CF3-BE68-4E880A68BB68}" type="datetime1">
              <a:rPr lang="en-US" smtClean="0"/>
              <a:t>9/16/2024</a:t>
            </a:fld>
            <a:endParaRPr lang="en-US"/>
          </a:p>
        </p:txBody>
      </p:sp>
      <p:sp>
        <p:nvSpPr>
          <p:cNvPr id="6" name="Footer Placeholder 5">
            <a:extLst>
              <a:ext uri="{FF2B5EF4-FFF2-40B4-BE49-F238E27FC236}">
                <a16:creationId xmlns:a16="http://schemas.microsoft.com/office/drawing/2014/main" id="{131417F9-86DD-4388-82A5-2E3261882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BFB0DA-BCFD-4791-9EF9-C64CEA92BD8C}"/>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2383977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DE37-D664-45E7-8613-D0B2A98C1E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4B4A5E-2A57-4C7D-B681-BDBC62EC9D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122825-55D5-439E-A67B-FCE731F783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2A2313-364D-405F-9E45-57E2F467D1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B652F-C897-46F3-85FC-DE204F0E17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ADAC72-1678-47B4-A51D-3A8631179820}"/>
              </a:ext>
            </a:extLst>
          </p:cNvPr>
          <p:cNvSpPr>
            <a:spLocks noGrp="1"/>
          </p:cNvSpPr>
          <p:nvPr>
            <p:ph type="dt" sz="half" idx="10"/>
          </p:nvPr>
        </p:nvSpPr>
        <p:spPr/>
        <p:txBody>
          <a:bodyPr/>
          <a:lstStyle/>
          <a:p>
            <a:fld id="{0E575046-94C5-49C2-9ACE-63DAE0057BD3}" type="datetime1">
              <a:rPr lang="en-US" smtClean="0"/>
              <a:t>9/16/2024</a:t>
            </a:fld>
            <a:endParaRPr lang="en-US"/>
          </a:p>
        </p:txBody>
      </p:sp>
      <p:sp>
        <p:nvSpPr>
          <p:cNvPr id="8" name="Footer Placeholder 7">
            <a:extLst>
              <a:ext uri="{FF2B5EF4-FFF2-40B4-BE49-F238E27FC236}">
                <a16:creationId xmlns:a16="http://schemas.microsoft.com/office/drawing/2014/main" id="{ED03D62D-AE66-4D47-A13E-D9FDBD6016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D16BBE-04A1-471E-BD90-98B12D345ADA}"/>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2116530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44A1-6170-4B19-9B8D-FB4A1E8494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318268-0FDD-40CF-B15E-8025C2D3C1FE}"/>
              </a:ext>
            </a:extLst>
          </p:cNvPr>
          <p:cNvSpPr>
            <a:spLocks noGrp="1"/>
          </p:cNvSpPr>
          <p:nvPr>
            <p:ph type="dt" sz="half" idx="10"/>
          </p:nvPr>
        </p:nvSpPr>
        <p:spPr/>
        <p:txBody>
          <a:bodyPr/>
          <a:lstStyle/>
          <a:p>
            <a:fld id="{63D29596-91BE-4146-9A72-AE73669986E4}" type="datetime1">
              <a:rPr lang="en-US" smtClean="0"/>
              <a:t>9/16/2024</a:t>
            </a:fld>
            <a:endParaRPr lang="en-US"/>
          </a:p>
        </p:txBody>
      </p:sp>
      <p:sp>
        <p:nvSpPr>
          <p:cNvPr id="4" name="Footer Placeholder 3">
            <a:extLst>
              <a:ext uri="{FF2B5EF4-FFF2-40B4-BE49-F238E27FC236}">
                <a16:creationId xmlns:a16="http://schemas.microsoft.com/office/drawing/2014/main" id="{20F6A5F8-24C7-415B-83BA-B99F6DB824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FC70D6-1201-4638-9286-47A9E3AAF805}"/>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3365142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916C3-0AA0-4016-9AEB-21F34E9989E8}"/>
              </a:ext>
            </a:extLst>
          </p:cNvPr>
          <p:cNvSpPr>
            <a:spLocks noGrp="1"/>
          </p:cNvSpPr>
          <p:nvPr>
            <p:ph type="dt" sz="half" idx="10"/>
          </p:nvPr>
        </p:nvSpPr>
        <p:spPr/>
        <p:txBody>
          <a:bodyPr/>
          <a:lstStyle/>
          <a:p>
            <a:fld id="{FFDD03CA-23E5-4A47-A48C-11C157DC995D}" type="datetime1">
              <a:rPr lang="en-US" smtClean="0"/>
              <a:t>9/16/2024</a:t>
            </a:fld>
            <a:endParaRPr lang="en-US"/>
          </a:p>
        </p:txBody>
      </p:sp>
      <p:sp>
        <p:nvSpPr>
          <p:cNvPr id="3" name="Footer Placeholder 2">
            <a:extLst>
              <a:ext uri="{FF2B5EF4-FFF2-40B4-BE49-F238E27FC236}">
                <a16:creationId xmlns:a16="http://schemas.microsoft.com/office/drawing/2014/main" id="{945062E0-836E-40AF-BF77-6226B886245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83B8BE-7F99-46FB-BD08-D0043D3C393D}"/>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1349345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3CCCF-3606-48A2-8CE3-0CED414E0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7B306A-2AE7-471B-B444-012F1A1CC1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99AAE9-EDE4-4191-B9FB-0FF23D941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581592-3CC4-493D-9571-C78826D556CA}"/>
              </a:ext>
            </a:extLst>
          </p:cNvPr>
          <p:cNvSpPr>
            <a:spLocks noGrp="1"/>
          </p:cNvSpPr>
          <p:nvPr>
            <p:ph type="dt" sz="half" idx="10"/>
          </p:nvPr>
        </p:nvSpPr>
        <p:spPr/>
        <p:txBody>
          <a:bodyPr/>
          <a:lstStyle/>
          <a:p>
            <a:fld id="{40756A61-F438-48DB-907A-093F8C68A94A}" type="datetime1">
              <a:rPr lang="en-US" smtClean="0"/>
              <a:t>9/16/2024</a:t>
            </a:fld>
            <a:endParaRPr lang="en-US"/>
          </a:p>
        </p:txBody>
      </p:sp>
      <p:sp>
        <p:nvSpPr>
          <p:cNvPr id="6" name="Footer Placeholder 5">
            <a:extLst>
              <a:ext uri="{FF2B5EF4-FFF2-40B4-BE49-F238E27FC236}">
                <a16:creationId xmlns:a16="http://schemas.microsoft.com/office/drawing/2014/main" id="{C7453390-AC6C-465C-8084-B446F8C847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8B79F-DEBE-4412-9CD1-F6C849525D83}"/>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3657462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8A116-E531-464F-B4D2-92E4759481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8F2FAB-19AE-4698-8F52-35CA16DF3D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0A1010-F15A-45DF-9A81-5AD3DD58CA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C5173-C08B-4A29-B366-24E775CD564A}"/>
              </a:ext>
            </a:extLst>
          </p:cNvPr>
          <p:cNvSpPr>
            <a:spLocks noGrp="1"/>
          </p:cNvSpPr>
          <p:nvPr>
            <p:ph type="dt" sz="half" idx="10"/>
          </p:nvPr>
        </p:nvSpPr>
        <p:spPr/>
        <p:txBody>
          <a:bodyPr/>
          <a:lstStyle/>
          <a:p>
            <a:fld id="{45391E6D-DD1E-4803-94AB-2E14C229D064}" type="datetime1">
              <a:rPr lang="en-US" smtClean="0"/>
              <a:t>9/16/2024</a:t>
            </a:fld>
            <a:endParaRPr lang="en-US"/>
          </a:p>
        </p:txBody>
      </p:sp>
      <p:sp>
        <p:nvSpPr>
          <p:cNvPr id="6" name="Footer Placeholder 5">
            <a:extLst>
              <a:ext uri="{FF2B5EF4-FFF2-40B4-BE49-F238E27FC236}">
                <a16:creationId xmlns:a16="http://schemas.microsoft.com/office/drawing/2014/main" id="{3DFD3CEB-6498-4C49-9E45-74CD3C1B2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00C771-A4B5-4F54-B443-B638D51B27DC}"/>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1458534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867F5-C3AC-4713-B26B-0AC8F9485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D7218-848E-4B1B-966F-E617392B96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7E425-FCDA-4A0D-B12D-E3E5909CA253}"/>
              </a:ext>
            </a:extLst>
          </p:cNvPr>
          <p:cNvSpPr>
            <a:spLocks noGrp="1"/>
          </p:cNvSpPr>
          <p:nvPr>
            <p:ph type="dt" sz="half" idx="10"/>
          </p:nvPr>
        </p:nvSpPr>
        <p:spPr/>
        <p:txBody>
          <a:bodyPr/>
          <a:lstStyle/>
          <a:p>
            <a:fld id="{6C6D69D3-3754-4FFF-8C51-956E5ABF0988}" type="datetime1">
              <a:rPr lang="en-US" smtClean="0"/>
              <a:t>9/16/2024</a:t>
            </a:fld>
            <a:endParaRPr lang="en-US"/>
          </a:p>
        </p:txBody>
      </p:sp>
      <p:sp>
        <p:nvSpPr>
          <p:cNvPr id="5" name="Footer Placeholder 4">
            <a:extLst>
              <a:ext uri="{FF2B5EF4-FFF2-40B4-BE49-F238E27FC236}">
                <a16:creationId xmlns:a16="http://schemas.microsoft.com/office/drawing/2014/main" id="{BB560B61-FFBF-4910-B2D2-66AE4E3C4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36315-2399-4113-89D4-0A27FC9D2EBB}"/>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957762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AAF2CB-02BE-4C5B-95C6-7C44F4FACE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8859CE-5A02-4EB5-8776-51197A9CD3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EDDB99-9DD0-42CB-BD49-4D9BAAC5CFA4}"/>
              </a:ext>
            </a:extLst>
          </p:cNvPr>
          <p:cNvSpPr>
            <a:spLocks noGrp="1"/>
          </p:cNvSpPr>
          <p:nvPr>
            <p:ph type="dt" sz="half" idx="10"/>
          </p:nvPr>
        </p:nvSpPr>
        <p:spPr/>
        <p:txBody>
          <a:bodyPr/>
          <a:lstStyle/>
          <a:p>
            <a:fld id="{570F4814-D4A2-4988-B8B7-DC902CCDF219}" type="datetime1">
              <a:rPr lang="en-US" smtClean="0"/>
              <a:t>9/16/2024</a:t>
            </a:fld>
            <a:endParaRPr lang="en-US"/>
          </a:p>
        </p:txBody>
      </p:sp>
      <p:sp>
        <p:nvSpPr>
          <p:cNvPr id="5" name="Footer Placeholder 4">
            <a:extLst>
              <a:ext uri="{FF2B5EF4-FFF2-40B4-BE49-F238E27FC236}">
                <a16:creationId xmlns:a16="http://schemas.microsoft.com/office/drawing/2014/main" id="{9AC76A7F-01A9-413F-B492-525BC9DCA9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8D7A9-37D0-4D14-9465-C734FD4F7161}"/>
              </a:ext>
            </a:extLst>
          </p:cNvPr>
          <p:cNvSpPr>
            <a:spLocks noGrp="1"/>
          </p:cNvSpPr>
          <p:nvPr>
            <p:ph type="sldNum" sz="quarter" idx="12"/>
          </p:nvPr>
        </p:nvSpPr>
        <p:spPr/>
        <p:txBody>
          <a:bodyPr/>
          <a:lstStyle/>
          <a:p>
            <a:fld id="{DA27DE1F-50CF-43C1-9A23-7ADA578E1254}" type="slidenum">
              <a:rPr lang="en-US" smtClean="0"/>
              <a:t>‹#›</a:t>
            </a:fld>
            <a:endParaRPr lang="en-US"/>
          </a:p>
        </p:txBody>
      </p:sp>
    </p:spTree>
    <p:extLst>
      <p:ext uri="{BB962C8B-B14F-4D97-AF65-F5344CB8AC3E}">
        <p14:creationId xmlns:p14="http://schemas.microsoft.com/office/powerpoint/2010/main" val="230971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054222-7A97-422E-9A43-A6FDAB25B5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D12129-6F3E-4B64-9559-30981043C8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51FC25-A10F-4F4C-8D9C-782819CF43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DF622-5953-4478-9A15-EABE4D873383}" type="datetime1">
              <a:rPr lang="en-US" smtClean="0"/>
              <a:t>9/16/2024</a:t>
            </a:fld>
            <a:endParaRPr lang="en-US"/>
          </a:p>
        </p:txBody>
      </p:sp>
      <p:sp>
        <p:nvSpPr>
          <p:cNvPr id="5" name="Footer Placeholder 4">
            <a:extLst>
              <a:ext uri="{FF2B5EF4-FFF2-40B4-BE49-F238E27FC236}">
                <a16:creationId xmlns:a16="http://schemas.microsoft.com/office/drawing/2014/main" id="{63FFB1A0-CC95-4618-AA52-4E18D1399C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D81BE1-A46C-4FCC-966C-70ABF19C5B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27DE1F-50CF-43C1-9A23-7ADA578E1254}" type="slidenum">
              <a:rPr lang="en-US" smtClean="0"/>
              <a:t>‹#›</a:t>
            </a:fld>
            <a:endParaRPr lang="en-US"/>
          </a:p>
        </p:txBody>
      </p:sp>
    </p:spTree>
    <p:extLst>
      <p:ext uri="{BB962C8B-B14F-4D97-AF65-F5344CB8AC3E}">
        <p14:creationId xmlns:p14="http://schemas.microsoft.com/office/powerpoint/2010/main" val="1912884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www.gatevidyalay.com/types-of-links-access-control-in-networking/"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F3D6C-22C6-4AC0-8D0D-6793D1017CAD}"/>
              </a:ext>
            </a:extLst>
          </p:cNvPr>
          <p:cNvSpPr>
            <a:spLocks noGrp="1"/>
          </p:cNvSpPr>
          <p:nvPr>
            <p:ph type="ctrTitle"/>
          </p:nvPr>
        </p:nvSpPr>
        <p:spPr/>
        <p:txBody>
          <a:bodyPr/>
          <a:lstStyle/>
          <a:p>
            <a:r>
              <a:rPr lang="en-US" dirty="0">
                <a:solidFill>
                  <a:srgbClr val="C00000"/>
                </a:solidFill>
                <a:latin typeface="Arial" panose="020B0604020202020204" pitchFamily="34" charset="0"/>
                <a:cs typeface="Arial" panose="020B0604020202020204" pitchFamily="34" charset="0"/>
              </a:rPr>
              <a:t>Problems in MAC</a:t>
            </a:r>
          </a:p>
        </p:txBody>
      </p:sp>
      <p:sp>
        <p:nvSpPr>
          <p:cNvPr id="5" name="Subtitle 4">
            <a:extLst>
              <a:ext uri="{FF2B5EF4-FFF2-40B4-BE49-F238E27FC236}">
                <a16:creationId xmlns:a16="http://schemas.microsoft.com/office/drawing/2014/main" id="{597602FE-4267-81F3-867D-CD0D9053F0A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92965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2">
            <a:extLst>
              <a:ext uri="{FF2B5EF4-FFF2-40B4-BE49-F238E27FC236}">
                <a16:creationId xmlns:a16="http://schemas.microsoft.com/office/drawing/2014/main" id="{4C99DE79-942B-635F-B629-3F5C8529317A}"/>
              </a:ext>
            </a:extLst>
          </p:cNvPr>
          <p:cNvSpPr>
            <a:spLocks noGrp="1"/>
          </p:cNvSpPr>
          <p:nvPr>
            <p:ph type="title"/>
          </p:nvPr>
        </p:nvSpPr>
        <p:spPr bwMode="auto">
          <a:xfrm>
            <a:off x="838200" y="322729"/>
            <a:ext cx="10515600" cy="102108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GB" altLang="en-US" dirty="0">
                <a:solidFill>
                  <a:srgbClr val="C00000"/>
                </a:solidFill>
                <a:latin typeface="Arial" panose="020B0604020202020204" pitchFamily="34" charset="0"/>
                <a:cs typeface="Arial" panose="020B0604020202020204" pitchFamily="34" charset="0"/>
              </a:rPr>
              <a:t>Formulas to Remember</a:t>
            </a:r>
          </a:p>
        </p:txBody>
      </p:sp>
      <p:sp>
        <p:nvSpPr>
          <p:cNvPr id="16387" name="Content Placeholder 3">
            <a:extLst>
              <a:ext uri="{FF2B5EF4-FFF2-40B4-BE49-F238E27FC236}">
                <a16:creationId xmlns:a16="http://schemas.microsoft.com/office/drawing/2014/main" id="{72BCA7D0-A654-41A8-DF1D-9B83B134A09D}"/>
              </a:ext>
            </a:extLst>
          </p:cNvPr>
          <p:cNvSpPr>
            <a:spLocks noGrp="1"/>
          </p:cNvSpPr>
          <p:nvPr>
            <p:ph idx="1"/>
          </p:nvPr>
        </p:nvSpPr>
        <p:spPr bwMode="auto">
          <a:xfrm>
            <a:off x="838200" y="1264024"/>
            <a:ext cx="10515600" cy="49129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r>
              <a:rPr lang="en-US" altLang="en-US" dirty="0">
                <a:solidFill>
                  <a:srgbClr val="C00000"/>
                </a:solidFill>
                <a:latin typeface="Arial" panose="020B0604020202020204" pitchFamily="34" charset="0"/>
                <a:cs typeface="Arial" panose="020B0604020202020204" pitchFamily="34" charset="0"/>
              </a:rPr>
              <a:t>Pure Aloha</a:t>
            </a:r>
          </a:p>
          <a:p>
            <a:pPr lvl="1"/>
            <a:r>
              <a:rPr lang="en-US" altLang="en-US" dirty="0">
                <a:latin typeface="Arial" panose="020B0604020202020204" pitchFamily="34" charset="0"/>
                <a:cs typeface="Arial" panose="020B0604020202020204" pitchFamily="34" charset="0"/>
              </a:rPr>
              <a:t>Vulnerable Time = 2 </a:t>
            </a:r>
            <a:r>
              <a:rPr lang="en-US" altLang="en-US" dirty="0" err="1">
                <a:latin typeface="Arial" panose="020B0604020202020204" pitchFamily="34" charset="0"/>
                <a:cs typeface="Arial" panose="020B0604020202020204" pitchFamily="34" charset="0"/>
              </a:rPr>
              <a:t>Tfr</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Tfr</a:t>
            </a:r>
            <a:r>
              <a:rPr lang="en-US" altLang="en-US" dirty="0">
                <a:latin typeface="Arial" panose="020B0604020202020204" pitchFamily="34" charset="0"/>
                <a:cs typeface="Arial" panose="020B0604020202020204" pitchFamily="34" charset="0"/>
              </a:rPr>
              <a:t> is the frame transmission time</a:t>
            </a:r>
          </a:p>
          <a:p>
            <a:pPr lvl="1"/>
            <a:r>
              <a:rPr lang="en-US" altLang="en-US" dirty="0">
                <a:latin typeface="Arial" panose="020B0604020202020204" pitchFamily="34" charset="0"/>
                <a:cs typeface="Arial" panose="020B0604020202020204" pitchFamily="34" charset="0"/>
              </a:rPr>
              <a:t>Time out time for acknowledgment Tb = 2 x </a:t>
            </a:r>
            <a:r>
              <a:rPr lang="en-US" altLang="en-US" dirty="0" err="1">
                <a:latin typeface="Arial" panose="020B0604020202020204" pitchFamily="34" charset="0"/>
                <a:cs typeface="Arial" panose="020B0604020202020204" pitchFamily="34" charset="0"/>
              </a:rPr>
              <a:t>Tp</a:t>
            </a:r>
            <a:r>
              <a:rPr lang="en-US" altLang="en-US" dirty="0">
                <a:latin typeface="Arial" panose="020B0604020202020204" pitchFamily="34" charset="0"/>
                <a:cs typeface="Arial" panose="020B0604020202020204" pitchFamily="34" charset="0"/>
              </a:rPr>
              <a:t>, </a:t>
            </a:r>
          </a:p>
          <a:p>
            <a:pPr lvl="1"/>
            <a:r>
              <a:rPr lang="en-US" altLang="en-US" dirty="0">
                <a:latin typeface="Arial" panose="020B0604020202020204" pitchFamily="34" charset="0"/>
                <a:cs typeface="Arial" panose="020B0604020202020204" pitchFamily="34" charset="0"/>
              </a:rPr>
              <a:t>Exponential back off time Tb = R </a:t>
            </a:r>
            <a:r>
              <a:rPr lang="en-US" altLang="en-US" dirty="0" err="1">
                <a:latin typeface="Arial" panose="020B0604020202020204" pitchFamily="34" charset="0"/>
                <a:cs typeface="Arial" panose="020B0604020202020204" pitchFamily="34" charset="0"/>
              </a:rPr>
              <a:t>xTp</a:t>
            </a:r>
            <a:r>
              <a:rPr lang="en-US" altLang="en-US" dirty="0">
                <a:latin typeface="Arial" panose="020B0604020202020204" pitchFamily="34" charset="0"/>
                <a:cs typeface="Arial" panose="020B0604020202020204" pitchFamily="34" charset="0"/>
              </a:rPr>
              <a:t>, R = 0 to 2</a:t>
            </a:r>
            <a:r>
              <a:rPr lang="en-US" altLang="en-US" baseline="30000" dirty="0">
                <a:latin typeface="Arial" panose="020B0604020202020204" pitchFamily="34" charset="0"/>
                <a:cs typeface="Arial" panose="020B0604020202020204" pitchFamily="34" charset="0"/>
              </a:rPr>
              <a:t>K</a:t>
            </a:r>
            <a:r>
              <a:rPr lang="en-US" altLang="en-US" dirty="0">
                <a:latin typeface="Arial" panose="020B0604020202020204" pitchFamily="34" charset="0"/>
                <a:cs typeface="Arial" panose="020B0604020202020204" pitchFamily="34" charset="0"/>
              </a:rPr>
              <a:t>-1 </a:t>
            </a:r>
          </a:p>
          <a:p>
            <a:pPr lvl="1"/>
            <a:r>
              <a:rPr lang="en-US" altLang="en-US" dirty="0">
                <a:latin typeface="Arial" panose="020B0604020202020204" pitchFamily="34" charset="0"/>
                <a:cs typeface="Arial" panose="020B0604020202020204" pitchFamily="34" charset="0"/>
              </a:rPr>
              <a:t>Throughput = Gxe</a:t>
            </a:r>
            <a:r>
              <a:rPr lang="en-US" altLang="en-US" baseline="30000" dirty="0">
                <a:latin typeface="Arial" panose="020B0604020202020204" pitchFamily="34" charset="0"/>
                <a:cs typeface="Arial" panose="020B0604020202020204" pitchFamily="34" charset="0"/>
              </a:rPr>
              <a:t>-2G </a:t>
            </a:r>
          </a:p>
          <a:p>
            <a:pPr marL="457200" lvl="1" indent="0">
              <a:buNone/>
            </a:pPr>
            <a:endParaRPr lang="en-US" altLang="en-US" baseline="30000" dirty="0">
              <a:latin typeface="Arial" panose="020B0604020202020204" pitchFamily="34" charset="0"/>
              <a:cs typeface="Arial" panose="020B0604020202020204" pitchFamily="34" charset="0"/>
            </a:endParaRPr>
          </a:p>
          <a:p>
            <a:r>
              <a:rPr lang="en-US" altLang="en-US" dirty="0">
                <a:solidFill>
                  <a:srgbClr val="C00000"/>
                </a:solidFill>
                <a:latin typeface="Arial" panose="020B0604020202020204" pitchFamily="34" charset="0"/>
                <a:cs typeface="Arial" panose="020B0604020202020204" pitchFamily="34" charset="0"/>
              </a:rPr>
              <a:t>Slotted Aloha</a:t>
            </a:r>
          </a:p>
          <a:p>
            <a:pPr lvl="1"/>
            <a:r>
              <a:rPr lang="en-US" altLang="en-US" dirty="0">
                <a:latin typeface="Arial" panose="020B0604020202020204" pitchFamily="34" charset="0"/>
                <a:cs typeface="Arial" panose="020B0604020202020204" pitchFamily="34" charset="0"/>
              </a:rPr>
              <a:t>Vulnerable time = </a:t>
            </a:r>
            <a:r>
              <a:rPr lang="en-US" altLang="en-US" dirty="0" err="1">
                <a:latin typeface="Arial" panose="020B0604020202020204" pitchFamily="34" charset="0"/>
                <a:cs typeface="Arial" panose="020B0604020202020204" pitchFamily="34" charset="0"/>
              </a:rPr>
              <a:t>Tfr</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Time out time for acknowledgment Tb = 2 x </a:t>
            </a:r>
            <a:r>
              <a:rPr lang="en-US" altLang="en-US" dirty="0" err="1">
                <a:latin typeface="Arial" panose="020B0604020202020204" pitchFamily="34" charset="0"/>
                <a:cs typeface="Arial" panose="020B0604020202020204" pitchFamily="34" charset="0"/>
              </a:rPr>
              <a:t>Tp</a:t>
            </a:r>
            <a:r>
              <a:rPr lang="en-US" altLang="en-US" dirty="0">
                <a:latin typeface="Arial" panose="020B0604020202020204" pitchFamily="34" charset="0"/>
                <a:cs typeface="Arial" panose="020B0604020202020204" pitchFamily="34" charset="0"/>
              </a:rPr>
              <a:t>, </a:t>
            </a:r>
          </a:p>
          <a:p>
            <a:pPr lvl="1"/>
            <a:r>
              <a:rPr lang="en-US" altLang="en-US" dirty="0">
                <a:latin typeface="Arial" panose="020B0604020202020204" pitchFamily="34" charset="0"/>
                <a:cs typeface="Arial" panose="020B0604020202020204" pitchFamily="34" charset="0"/>
              </a:rPr>
              <a:t>Exponential back off time Tb = R </a:t>
            </a:r>
            <a:r>
              <a:rPr lang="en-US" altLang="en-US" dirty="0" err="1">
                <a:latin typeface="Arial" panose="020B0604020202020204" pitchFamily="34" charset="0"/>
                <a:cs typeface="Arial" panose="020B0604020202020204" pitchFamily="34" charset="0"/>
              </a:rPr>
              <a:t>xTp</a:t>
            </a:r>
            <a:r>
              <a:rPr lang="en-US" altLang="en-US" dirty="0">
                <a:latin typeface="Arial" panose="020B0604020202020204" pitchFamily="34" charset="0"/>
                <a:cs typeface="Arial" panose="020B0604020202020204" pitchFamily="34" charset="0"/>
              </a:rPr>
              <a:t>, R = 0 to 2</a:t>
            </a:r>
            <a:r>
              <a:rPr lang="en-US" altLang="en-US" baseline="30000" dirty="0">
                <a:latin typeface="Arial" panose="020B0604020202020204" pitchFamily="34" charset="0"/>
                <a:cs typeface="Arial" panose="020B0604020202020204" pitchFamily="34" charset="0"/>
              </a:rPr>
              <a:t>K</a:t>
            </a:r>
            <a:r>
              <a:rPr lang="en-US" altLang="en-US" dirty="0">
                <a:latin typeface="Arial" panose="020B0604020202020204" pitchFamily="34" charset="0"/>
                <a:cs typeface="Arial" panose="020B0604020202020204" pitchFamily="34" charset="0"/>
              </a:rPr>
              <a:t>-1 </a:t>
            </a:r>
          </a:p>
          <a:p>
            <a:pPr lvl="1"/>
            <a:r>
              <a:rPr lang="en-US" altLang="en-US" dirty="0">
                <a:latin typeface="Arial" panose="020B0604020202020204" pitchFamily="34" charset="0"/>
                <a:cs typeface="Arial" panose="020B0604020202020204" pitchFamily="34" charset="0"/>
              </a:rPr>
              <a:t>Throughput = </a:t>
            </a:r>
            <a:r>
              <a:rPr lang="en-US" altLang="en-US" dirty="0" err="1">
                <a:latin typeface="Arial" panose="020B0604020202020204" pitchFamily="34" charset="0"/>
                <a:cs typeface="Arial" panose="020B0604020202020204" pitchFamily="34" charset="0"/>
              </a:rPr>
              <a:t>Gxe</a:t>
            </a:r>
            <a:r>
              <a:rPr lang="en-US" altLang="en-US" baseline="30000" dirty="0">
                <a:latin typeface="Arial" panose="020B0604020202020204" pitchFamily="34" charset="0"/>
                <a:cs typeface="Arial" panose="020B0604020202020204" pitchFamily="34" charset="0"/>
              </a:rPr>
              <a:t>-G      </a:t>
            </a:r>
          </a:p>
          <a:p>
            <a:pPr marL="457200" lvl="1" indent="0">
              <a:buNone/>
            </a:pPr>
            <a:r>
              <a:rPr lang="en-US" b="0" i="0" dirty="0">
                <a:solidFill>
                  <a:srgbClr val="C00000"/>
                </a:solidFill>
                <a:effectLst/>
                <a:latin typeface="Arial" panose="020B0604020202020204" pitchFamily="34" charset="0"/>
                <a:cs typeface="Arial" panose="020B0604020202020204" pitchFamily="34" charset="0"/>
              </a:rPr>
              <a:t>Or </a:t>
            </a:r>
          </a:p>
          <a:p>
            <a:pPr fontAlgn="base"/>
            <a:r>
              <a:rPr lang="en-US" sz="2400" b="0" i="0" dirty="0">
                <a:solidFill>
                  <a:srgbClr val="303030"/>
                </a:solidFill>
                <a:effectLst/>
                <a:latin typeface="Arial" panose="020B0604020202020204" pitchFamily="34" charset="0"/>
                <a:cs typeface="Arial" panose="020B0604020202020204" pitchFamily="34" charset="0"/>
              </a:rPr>
              <a:t>  </a:t>
            </a:r>
            <a:r>
              <a:rPr lang="en-US" sz="2400" b="0" i="0" dirty="0">
                <a:solidFill>
                  <a:srgbClr val="C00000"/>
                </a:solidFill>
                <a:effectLst/>
                <a:latin typeface="Arial" panose="020B0604020202020204" pitchFamily="34" charset="0"/>
                <a:cs typeface="Arial" panose="020B0604020202020204" pitchFamily="34" charset="0"/>
              </a:rPr>
              <a:t>Throughput of  aloha(slotted and Pure)= Efficiency x Bandwidth</a:t>
            </a:r>
          </a:p>
          <a:p>
            <a:pPr lvl="1"/>
            <a:endParaRPr lang="en-US" altLang="en-US" dirty="0">
              <a:latin typeface="Arial" panose="020B0604020202020204" pitchFamily="34" charset="0"/>
              <a:cs typeface="Arial" panose="020B0604020202020204" pitchFamily="34" charset="0"/>
            </a:endParaRPr>
          </a:p>
          <a:p>
            <a:pPr marL="457200" lvl="1" indent="0">
              <a:buNone/>
            </a:pP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endParaRPr lang="en-GB" altLang="en-US"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52D18872-8048-67A7-32B6-9072C0A3DD75}"/>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2532" name="Rectangle 3">
            <a:extLst>
              <a:ext uri="{FF2B5EF4-FFF2-40B4-BE49-F238E27FC236}">
                <a16:creationId xmlns:a16="http://schemas.microsoft.com/office/drawing/2014/main" id="{61357399-ECAC-150D-23FB-D445319AACE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2533" name="Rectangle 4">
            <a:extLst>
              <a:ext uri="{FF2B5EF4-FFF2-40B4-BE49-F238E27FC236}">
                <a16:creationId xmlns:a16="http://schemas.microsoft.com/office/drawing/2014/main" id="{48CF94AE-AA42-24B7-DD80-44AE51E11FE7}"/>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2534" name="Rectangle 5">
            <a:extLst>
              <a:ext uri="{FF2B5EF4-FFF2-40B4-BE49-F238E27FC236}">
                <a16:creationId xmlns:a16="http://schemas.microsoft.com/office/drawing/2014/main" id="{C532CF7E-2547-3635-35BA-3F9A31FF6072}"/>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2535" name="Rectangle 6">
            <a:extLst>
              <a:ext uri="{FF2B5EF4-FFF2-40B4-BE49-F238E27FC236}">
                <a16:creationId xmlns:a16="http://schemas.microsoft.com/office/drawing/2014/main" id="{9B0689F7-F1E9-8214-FB89-FB2E148B4BFF}"/>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2536" name="Rectangle 7">
            <a:extLst>
              <a:ext uri="{FF2B5EF4-FFF2-40B4-BE49-F238E27FC236}">
                <a16:creationId xmlns:a16="http://schemas.microsoft.com/office/drawing/2014/main" id="{6288F773-5E83-6FEB-9A84-89E810BDFADA}"/>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2537" name="Rectangle 8">
            <a:extLst>
              <a:ext uri="{FF2B5EF4-FFF2-40B4-BE49-F238E27FC236}">
                <a16:creationId xmlns:a16="http://schemas.microsoft.com/office/drawing/2014/main" id="{70031654-F881-5070-B8FB-DD6C335C8E0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2538" name="Line 9">
            <a:extLst>
              <a:ext uri="{FF2B5EF4-FFF2-40B4-BE49-F238E27FC236}">
                <a16:creationId xmlns:a16="http://schemas.microsoft.com/office/drawing/2014/main" id="{11EC8B02-E388-F57D-8F12-18D49DC40D50}"/>
              </a:ext>
            </a:extLst>
          </p:cNvPr>
          <p:cNvSpPr>
            <a:spLocks noChangeShapeType="1"/>
          </p:cNvSpPr>
          <p:nvPr/>
        </p:nvSpPr>
        <p:spPr bwMode="auto">
          <a:xfrm>
            <a:off x="2039938" y="2239963"/>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0" name="Rectangle 11">
            <a:extLst>
              <a:ext uri="{FF2B5EF4-FFF2-40B4-BE49-F238E27FC236}">
                <a16:creationId xmlns:a16="http://schemas.microsoft.com/office/drawing/2014/main" id="{42AEA5C0-99D5-A7E9-4EBF-DFECBB5838B9}"/>
              </a:ext>
            </a:extLst>
          </p:cNvPr>
          <p:cNvSpPr>
            <a:spLocks noChangeArrowheads="1"/>
          </p:cNvSpPr>
          <p:nvPr/>
        </p:nvSpPr>
        <p:spPr bwMode="auto">
          <a:xfrm>
            <a:off x="2116138" y="1311558"/>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lang="en-US" altLang="en-US" sz="3200" i="0" baseline="0" dirty="0">
                <a:latin typeface="Arial" panose="020B0604020202020204" pitchFamily="34" charset="0"/>
              </a:rPr>
              <a:t>The throughput for pure ALOHA is </a:t>
            </a:r>
            <a:br>
              <a:rPr lang="en-US" altLang="en-US" sz="3200" i="0" baseline="0" dirty="0">
                <a:latin typeface="Arial" panose="020B0604020202020204" pitchFamily="34" charset="0"/>
              </a:rPr>
            </a:br>
            <a:r>
              <a:rPr lang="en-US" altLang="en-US" sz="3200" i="0" baseline="0" dirty="0">
                <a:solidFill>
                  <a:schemeClr val="hlink"/>
                </a:solidFill>
                <a:latin typeface="Arial" panose="020B0604020202020204" pitchFamily="34" charset="0"/>
              </a:rPr>
              <a:t>S = G × e </a:t>
            </a:r>
            <a:r>
              <a:rPr lang="en-US" altLang="en-US" sz="3200" i="0" baseline="30000" dirty="0">
                <a:solidFill>
                  <a:schemeClr val="hlink"/>
                </a:solidFill>
                <a:latin typeface="Arial" panose="020B0604020202020204" pitchFamily="34" charset="0"/>
              </a:rPr>
              <a:t>−2G  </a:t>
            </a:r>
            <a:r>
              <a:rPr lang="en-US" altLang="en-US" sz="3200" i="0" baseline="0" dirty="0">
                <a:latin typeface="Arial" panose="020B0604020202020204" pitchFamily="34" charset="0"/>
              </a:rPr>
              <a:t>.</a:t>
            </a:r>
          </a:p>
          <a:p>
            <a:pPr algn="ctr"/>
            <a:r>
              <a:rPr lang="en-US" altLang="en-US" sz="3200" i="0" baseline="0" dirty="0">
                <a:latin typeface="Arial" panose="020B0604020202020204" pitchFamily="34" charset="0"/>
              </a:rPr>
              <a:t>The maximum throughput</a:t>
            </a:r>
          </a:p>
          <a:p>
            <a:pPr algn="ctr"/>
            <a:r>
              <a:rPr lang="en-US" altLang="en-US" sz="3200" i="0" baseline="0" dirty="0">
                <a:solidFill>
                  <a:schemeClr val="hlink"/>
                </a:solidFill>
                <a:latin typeface="Arial" panose="020B0604020202020204" pitchFamily="34" charset="0"/>
              </a:rPr>
              <a:t>S</a:t>
            </a:r>
            <a:r>
              <a:rPr lang="en-US" altLang="en-US" sz="3200" i="0" baseline="-18000" dirty="0">
                <a:solidFill>
                  <a:schemeClr val="hlink"/>
                </a:solidFill>
                <a:latin typeface="Arial" panose="020B0604020202020204" pitchFamily="34" charset="0"/>
              </a:rPr>
              <a:t>max</a:t>
            </a:r>
            <a:r>
              <a:rPr lang="en-US" altLang="en-US" sz="3200" i="0" baseline="0" dirty="0">
                <a:solidFill>
                  <a:schemeClr val="hlink"/>
                </a:solidFill>
                <a:latin typeface="Arial" panose="020B0604020202020204" pitchFamily="34" charset="0"/>
              </a:rPr>
              <a:t> = 0.184 </a:t>
            </a:r>
            <a:r>
              <a:rPr lang="en-US" altLang="en-US" sz="3200" i="0" baseline="0" dirty="0">
                <a:latin typeface="Arial" panose="020B0604020202020204" pitchFamily="34" charset="0"/>
              </a:rPr>
              <a:t>when G= (1/2).</a:t>
            </a:r>
          </a:p>
        </p:txBody>
      </p:sp>
      <p:sp>
        <p:nvSpPr>
          <p:cNvPr id="22542" name="TextBox 1">
            <a:extLst>
              <a:ext uri="{FF2B5EF4-FFF2-40B4-BE49-F238E27FC236}">
                <a16:creationId xmlns:a16="http://schemas.microsoft.com/office/drawing/2014/main" id="{A8BCBCC2-C729-1A89-6646-ADD5F9B7324F}"/>
              </a:ext>
            </a:extLst>
          </p:cNvPr>
          <p:cNvSpPr txBox="1">
            <a:spLocks noChangeArrowheads="1"/>
          </p:cNvSpPr>
          <p:nvPr/>
        </p:nvSpPr>
        <p:spPr bwMode="auto">
          <a:xfrm>
            <a:off x="1620837" y="3621058"/>
            <a:ext cx="9262315" cy="1672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dirty="0"/>
              <a:t>How to get 100% throughput?</a:t>
            </a:r>
          </a:p>
          <a:p>
            <a:r>
              <a:rPr lang="en-US" altLang="en-US" b="0" i="0" baseline="0" dirty="0"/>
              <a:t>Therefore, if a station generates only one frame in this vulnerable time (and no other stations generate a frame during this time), the frame will reach its destination successfully</a:t>
            </a:r>
            <a:endParaRPr lang="en-GB" altLang="en-US"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27D4220E-33D5-468E-AC20-34FE6064DD7F}"/>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5604" name="Rectangle 3">
            <a:extLst>
              <a:ext uri="{FF2B5EF4-FFF2-40B4-BE49-F238E27FC236}">
                <a16:creationId xmlns:a16="http://schemas.microsoft.com/office/drawing/2014/main" id="{28A01555-48FA-AD16-5E6F-0065504F4B2F}"/>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5605" name="Rectangle 4">
            <a:extLst>
              <a:ext uri="{FF2B5EF4-FFF2-40B4-BE49-F238E27FC236}">
                <a16:creationId xmlns:a16="http://schemas.microsoft.com/office/drawing/2014/main" id="{0080F339-E96C-3B40-8622-D6A768FACC50}"/>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5606" name="Rectangle 5">
            <a:extLst>
              <a:ext uri="{FF2B5EF4-FFF2-40B4-BE49-F238E27FC236}">
                <a16:creationId xmlns:a16="http://schemas.microsoft.com/office/drawing/2014/main" id="{0316E199-924F-3CDE-20AA-D70CBF706E16}"/>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5607" name="Rectangle 6">
            <a:extLst>
              <a:ext uri="{FF2B5EF4-FFF2-40B4-BE49-F238E27FC236}">
                <a16:creationId xmlns:a16="http://schemas.microsoft.com/office/drawing/2014/main" id="{B7D1B470-E2BB-7CC7-3275-C6CADCE345C5}"/>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5608" name="Rectangle 7">
            <a:extLst>
              <a:ext uri="{FF2B5EF4-FFF2-40B4-BE49-F238E27FC236}">
                <a16:creationId xmlns:a16="http://schemas.microsoft.com/office/drawing/2014/main" id="{3213E958-2140-7A78-75F1-06B99C7F5554}"/>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5609" name="Rectangle 8">
            <a:extLst>
              <a:ext uri="{FF2B5EF4-FFF2-40B4-BE49-F238E27FC236}">
                <a16:creationId xmlns:a16="http://schemas.microsoft.com/office/drawing/2014/main" id="{73DB3F9F-6448-8842-92DE-2F8986444D2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5610" name="Line 9">
            <a:extLst>
              <a:ext uri="{FF2B5EF4-FFF2-40B4-BE49-F238E27FC236}">
                <a16:creationId xmlns:a16="http://schemas.microsoft.com/office/drawing/2014/main" id="{7CB507D8-9F68-667C-F6E1-084E80AF0C08}"/>
              </a:ext>
            </a:extLst>
          </p:cNvPr>
          <p:cNvSpPr>
            <a:spLocks noChangeShapeType="1"/>
          </p:cNvSpPr>
          <p:nvPr/>
        </p:nvSpPr>
        <p:spPr bwMode="auto">
          <a:xfrm>
            <a:off x="1981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1" name="Line 10">
            <a:extLst>
              <a:ext uri="{FF2B5EF4-FFF2-40B4-BE49-F238E27FC236}">
                <a16:creationId xmlns:a16="http://schemas.microsoft.com/office/drawing/2014/main" id="{261B166A-70A1-99F0-9BD0-759D0586646B}"/>
              </a:ext>
            </a:extLst>
          </p:cNvPr>
          <p:cNvSpPr>
            <a:spLocks noChangeShapeType="1"/>
          </p:cNvSpPr>
          <p:nvPr/>
        </p:nvSpPr>
        <p:spPr bwMode="auto">
          <a:xfrm>
            <a:off x="1982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2" name="Rectangle 11">
            <a:extLst>
              <a:ext uri="{FF2B5EF4-FFF2-40B4-BE49-F238E27FC236}">
                <a16:creationId xmlns:a16="http://schemas.microsoft.com/office/drawing/2014/main" id="{0D1B3E62-ECCA-18F6-726C-70C797A91113}"/>
              </a:ext>
            </a:extLst>
          </p:cNvPr>
          <p:cNvSpPr>
            <a:spLocks noChangeArrowheads="1"/>
          </p:cNvSpPr>
          <p:nvPr/>
        </p:nvSpPr>
        <p:spPr bwMode="auto">
          <a:xfrm>
            <a:off x="2019300" y="2759076"/>
            <a:ext cx="8077200" cy="206210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lang="en-US" altLang="en-US" sz="3200" i="0" baseline="0">
                <a:latin typeface="Arial" panose="020B0604020202020204" pitchFamily="34" charset="0"/>
              </a:rPr>
              <a:t>The throughput for slotted ALOHA is </a:t>
            </a:r>
            <a:br>
              <a:rPr lang="en-US" altLang="en-US" sz="3200" i="0" baseline="0">
                <a:latin typeface="Arial" panose="020B0604020202020204" pitchFamily="34" charset="0"/>
              </a:rPr>
            </a:br>
            <a:r>
              <a:rPr lang="en-US" altLang="en-US" sz="3200" i="0" baseline="0">
                <a:solidFill>
                  <a:schemeClr val="hlink"/>
                </a:solidFill>
                <a:latin typeface="Arial" panose="020B0604020202020204" pitchFamily="34" charset="0"/>
              </a:rPr>
              <a:t>S = G × e</a:t>
            </a:r>
            <a:r>
              <a:rPr lang="en-US" altLang="en-US" sz="3200" i="0" baseline="30000">
                <a:solidFill>
                  <a:schemeClr val="hlink"/>
                </a:solidFill>
                <a:latin typeface="Arial" panose="020B0604020202020204" pitchFamily="34" charset="0"/>
              </a:rPr>
              <a:t>−G</a:t>
            </a:r>
            <a:r>
              <a:rPr lang="en-US" altLang="en-US" sz="3200" i="0" baseline="0">
                <a:latin typeface="Arial" panose="020B0604020202020204" pitchFamily="34" charset="0"/>
              </a:rPr>
              <a:t> .</a:t>
            </a:r>
          </a:p>
          <a:p>
            <a:pPr algn="ctr"/>
            <a:r>
              <a:rPr lang="en-US" altLang="en-US" sz="3200" i="0" baseline="0">
                <a:latin typeface="Arial" panose="020B0604020202020204" pitchFamily="34" charset="0"/>
              </a:rPr>
              <a:t>The maximum throughput </a:t>
            </a:r>
            <a:br>
              <a:rPr lang="en-US" altLang="en-US" sz="3200" i="0" baseline="0">
                <a:latin typeface="Arial" panose="020B0604020202020204" pitchFamily="34" charset="0"/>
              </a:rPr>
            </a:br>
            <a:r>
              <a:rPr lang="en-US" altLang="en-US" sz="3200" i="0" baseline="0">
                <a:solidFill>
                  <a:schemeClr val="hlink"/>
                </a:solidFill>
                <a:latin typeface="Arial" panose="020B0604020202020204" pitchFamily="34" charset="0"/>
              </a:rPr>
              <a:t>S</a:t>
            </a:r>
            <a:r>
              <a:rPr lang="en-US" altLang="en-US" sz="3200" i="0" baseline="-18000">
                <a:solidFill>
                  <a:schemeClr val="hlink"/>
                </a:solidFill>
                <a:latin typeface="Arial" panose="020B0604020202020204" pitchFamily="34" charset="0"/>
              </a:rPr>
              <a:t>max</a:t>
            </a:r>
            <a:r>
              <a:rPr lang="en-US" altLang="en-US" sz="3200" i="0" baseline="0">
                <a:solidFill>
                  <a:schemeClr val="hlink"/>
                </a:solidFill>
                <a:latin typeface="Arial" panose="020B0604020202020204" pitchFamily="34" charset="0"/>
              </a:rPr>
              <a:t> = 0.368</a:t>
            </a:r>
            <a:r>
              <a:rPr lang="en-US" altLang="en-US" sz="3200" i="0" baseline="0">
                <a:latin typeface="Arial" panose="020B0604020202020204" pitchFamily="34" charset="0"/>
              </a:rPr>
              <a:t> when G = 1.</a:t>
            </a:r>
          </a:p>
        </p:txBody>
      </p:sp>
      <p:grpSp>
        <p:nvGrpSpPr>
          <p:cNvPr id="25613" name="Group 12">
            <a:extLst>
              <a:ext uri="{FF2B5EF4-FFF2-40B4-BE49-F238E27FC236}">
                <a16:creationId xmlns:a16="http://schemas.microsoft.com/office/drawing/2014/main" id="{028BA628-78D0-285E-385E-CE21E76E7590}"/>
              </a:ext>
            </a:extLst>
          </p:cNvPr>
          <p:cNvGrpSpPr>
            <a:grpSpLocks/>
          </p:cNvGrpSpPr>
          <p:nvPr/>
        </p:nvGrpSpPr>
        <p:grpSpPr bwMode="auto">
          <a:xfrm>
            <a:off x="1981200" y="1981200"/>
            <a:ext cx="1143000" cy="566738"/>
            <a:chOff x="1200" y="1248"/>
            <a:chExt cx="720" cy="357"/>
          </a:xfrm>
        </p:grpSpPr>
        <p:pic>
          <p:nvPicPr>
            <p:cNvPr id="25614" name="Picture 13">
              <a:extLst>
                <a:ext uri="{FF2B5EF4-FFF2-40B4-BE49-F238E27FC236}">
                  <a16:creationId xmlns:a16="http://schemas.microsoft.com/office/drawing/2014/main" id="{496E4FB1-2FC7-C235-A7AC-445DF3D2C4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15" name="Text Box 14">
              <a:extLst>
                <a:ext uri="{FF2B5EF4-FFF2-40B4-BE49-F238E27FC236}">
                  <a16:creationId xmlns:a16="http://schemas.microsoft.com/office/drawing/2014/main" id="{DE2BA6BB-7A29-4E9C-A5B7-B56F57A3C70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baseline="0">
                  <a:solidFill>
                    <a:schemeClr val="hlink"/>
                  </a:solidFill>
                </a:rPr>
                <a:t>Note</a:t>
              </a:r>
            </a:p>
          </p:txBody>
        </p:sp>
      </p:gr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4E9ADB-F02A-584C-3258-F81C3E011E61}"/>
              </a:ext>
            </a:extLst>
          </p:cNvPr>
          <p:cNvPicPr>
            <a:picLocks noChangeAspect="1"/>
          </p:cNvPicPr>
          <p:nvPr/>
        </p:nvPicPr>
        <p:blipFill>
          <a:blip r:embed="rId2"/>
          <a:stretch>
            <a:fillRect/>
          </a:stretch>
        </p:blipFill>
        <p:spPr>
          <a:xfrm>
            <a:off x="1164205" y="918827"/>
            <a:ext cx="9705639" cy="5361391"/>
          </a:xfrm>
          <a:prstGeom prst="rect">
            <a:avLst/>
          </a:prstGeom>
        </p:spPr>
      </p:pic>
    </p:spTree>
    <p:extLst>
      <p:ext uri="{BB962C8B-B14F-4D97-AF65-F5344CB8AC3E}">
        <p14:creationId xmlns:p14="http://schemas.microsoft.com/office/powerpoint/2010/main" val="2530110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Line 2">
            <a:extLst>
              <a:ext uri="{FF2B5EF4-FFF2-40B4-BE49-F238E27FC236}">
                <a16:creationId xmlns:a16="http://schemas.microsoft.com/office/drawing/2014/main" id="{FFD432FB-4932-85C1-2076-F56E251CA44B}"/>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4" name="Line 3">
            <a:extLst>
              <a:ext uri="{FF2B5EF4-FFF2-40B4-BE49-F238E27FC236}">
                <a16:creationId xmlns:a16="http://schemas.microsoft.com/office/drawing/2014/main" id="{05C02E2C-3352-0811-12AA-9405C8E8CE20}"/>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5" name="Text Box 4">
            <a:extLst>
              <a:ext uri="{FF2B5EF4-FFF2-40B4-BE49-F238E27FC236}">
                <a16:creationId xmlns:a16="http://schemas.microsoft.com/office/drawing/2014/main" id="{1AA8697C-707C-99D7-B2AA-D122D13DB720}"/>
              </a:ext>
            </a:extLst>
          </p:cNvPr>
          <p:cNvSpPr txBox="1">
            <a:spLocks noChangeArrowheads="1"/>
          </p:cNvSpPr>
          <p:nvPr/>
        </p:nvSpPr>
        <p:spPr bwMode="auto">
          <a:xfrm>
            <a:off x="1828800" y="381000"/>
            <a:ext cx="646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400" i="0" baseline="0">
                <a:solidFill>
                  <a:schemeClr val="folHlink"/>
                </a:solidFill>
              </a:rPr>
              <a:t>Figure 12.7  </a:t>
            </a:r>
            <a:r>
              <a:rPr lang="en-US" altLang="en-US" sz="2000" baseline="0"/>
              <a:t>Vulnerable time for slotted ALOHA protocol</a:t>
            </a:r>
          </a:p>
        </p:txBody>
      </p:sp>
      <p:sp>
        <p:nvSpPr>
          <p:cNvPr id="15366" name="Line 5">
            <a:extLst>
              <a:ext uri="{FF2B5EF4-FFF2-40B4-BE49-F238E27FC236}">
                <a16:creationId xmlns:a16="http://schemas.microsoft.com/office/drawing/2014/main" id="{3AF34825-EFF8-CAFA-8CC9-57F6ADF9B66B}"/>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5367" name="Picture 7">
            <a:extLst>
              <a:ext uri="{FF2B5EF4-FFF2-40B4-BE49-F238E27FC236}">
                <a16:creationId xmlns:a16="http://schemas.microsoft.com/office/drawing/2014/main" id="{4021CEB8-6062-FFE1-2AF3-35C7632DBE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430338"/>
            <a:ext cx="7632700" cy="436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6B475CDD-DF60-E572-11A9-1E72CFA2B4DB}"/>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7412" name="Rectangle 3">
            <a:extLst>
              <a:ext uri="{FF2B5EF4-FFF2-40B4-BE49-F238E27FC236}">
                <a16:creationId xmlns:a16="http://schemas.microsoft.com/office/drawing/2014/main" id="{AA1D5CE5-6000-2CEE-F55A-3C878ED7EC27}"/>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7413" name="Rectangle 4">
            <a:extLst>
              <a:ext uri="{FF2B5EF4-FFF2-40B4-BE49-F238E27FC236}">
                <a16:creationId xmlns:a16="http://schemas.microsoft.com/office/drawing/2014/main" id="{5A4BCF9D-2231-1081-267C-80551B42C772}"/>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7414" name="Rectangle 5">
            <a:extLst>
              <a:ext uri="{FF2B5EF4-FFF2-40B4-BE49-F238E27FC236}">
                <a16:creationId xmlns:a16="http://schemas.microsoft.com/office/drawing/2014/main" id="{861480ED-A7BF-EF60-42F2-BAEAEEF313C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7415" name="Rectangle 6">
            <a:extLst>
              <a:ext uri="{FF2B5EF4-FFF2-40B4-BE49-F238E27FC236}">
                <a16:creationId xmlns:a16="http://schemas.microsoft.com/office/drawing/2014/main" id="{881F4412-885B-2924-4A8D-D0E4D647C170}"/>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7416" name="Rectangle 7">
            <a:extLst>
              <a:ext uri="{FF2B5EF4-FFF2-40B4-BE49-F238E27FC236}">
                <a16:creationId xmlns:a16="http://schemas.microsoft.com/office/drawing/2014/main" id="{B2D61C78-8EAB-E61D-255F-3911A888134A}"/>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7417" name="Rectangle 8">
            <a:extLst>
              <a:ext uri="{FF2B5EF4-FFF2-40B4-BE49-F238E27FC236}">
                <a16:creationId xmlns:a16="http://schemas.microsoft.com/office/drawing/2014/main" id="{46A7C1EC-15DD-7699-C996-251FA3A6046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7418" name="Rectangle 9">
            <a:extLst>
              <a:ext uri="{FF2B5EF4-FFF2-40B4-BE49-F238E27FC236}">
                <a16:creationId xmlns:a16="http://schemas.microsoft.com/office/drawing/2014/main" id="{EDEDE39A-292B-338F-3CC0-09E4A133AD4C}"/>
              </a:ext>
            </a:extLst>
          </p:cNvPr>
          <p:cNvSpPr>
            <a:spLocks noChangeArrowheads="1"/>
          </p:cNvSpPr>
          <p:nvPr/>
        </p:nvSpPr>
        <p:spPr bwMode="auto">
          <a:xfrm>
            <a:off x="372409" y="1143000"/>
            <a:ext cx="10447991" cy="5119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baseline="0" dirty="0">
                <a:solidFill>
                  <a:srgbClr val="C00000"/>
                </a:solidFill>
              </a:rPr>
              <a:t>The stations on a wireless ALOHA network are a maximum of 600 km apart. If we assume that signals propagate at 3 × 10</a:t>
            </a:r>
            <a:r>
              <a:rPr lang="en-US" altLang="en-US" baseline="20000" dirty="0">
                <a:solidFill>
                  <a:srgbClr val="C00000"/>
                </a:solidFill>
              </a:rPr>
              <a:t>8</a:t>
            </a:r>
            <a:r>
              <a:rPr lang="en-US" altLang="en-US" baseline="0" dirty="0">
                <a:solidFill>
                  <a:srgbClr val="C00000"/>
                </a:solidFill>
              </a:rPr>
              <a:t> m/s,  we find  </a:t>
            </a:r>
          </a:p>
          <a:p>
            <a:pPr algn="just"/>
            <a:r>
              <a:rPr lang="en-US" altLang="en-US" baseline="0" dirty="0">
                <a:solidFill>
                  <a:srgbClr val="C00000"/>
                </a:solidFill>
              </a:rPr>
              <a:t>                         </a:t>
            </a:r>
            <a:r>
              <a:rPr lang="en-US" altLang="en-US" baseline="0" dirty="0" err="1"/>
              <a:t>T</a:t>
            </a:r>
            <a:r>
              <a:rPr lang="en-US" altLang="en-US" dirty="0" err="1"/>
              <a:t>p</a:t>
            </a:r>
            <a:r>
              <a:rPr lang="en-US" altLang="en-US" dirty="0"/>
              <a:t> </a:t>
            </a:r>
            <a:r>
              <a:rPr lang="en-US" altLang="en-US" baseline="0" dirty="0"/>
              <a:t>= (600 × 10</a:t>
            </a:r>
            <a:r>
              <a:rPr lang="en-US" altLang="en-US" baseline="30000" dirty="0"/>
              <a:t>3</a:t>
            </a:r>
            <a:r>
              <a:rPr lang="en-US" altLang="en-US" baseline="0" dirty="0"/>
              <a:t> ) / (3 × 10</a:t>
            </a:r>
            <a:r>
              <a:rPr lang="en-US" altLang="en-US" baseline="30000" dirty="0"/>
              <a:t>8</a:t>
            </a:r>
            <a:r>
              <a:rPr lang="en-US" altLang="en-US" baseline="0" dirty="0"/>
              <a:t> ) = 2 </a:t>
            </a:r>
            <a:r>
              <a:rPr lang="en-US" altLang="en-US" baseline="0" dirty="0" err="1"/>
              <a:t>ms.</a:t>
            </a:r>
            <a:r>
              <a:rPr lang="en-US" altLang="en-US" baseline="0" dirty="0"/>
              <a:t> </a:t>
            </a:r>
          </a:p>
          <a:p>
            <a:pPr algn="just"/>
            <a:r>
              <a:rPr lang="en-US" altLang="en-US" baseline="0" dirty="0">
                <a:solidFill>
                  <a:srgbClr val="C00000"/>
                </a:solidFill>
              </a:rPr>
              <a:t> find the value of T</a:t>
            </a:r>
            <a:r>
              <a:rPr lang="en-US" altLang="en-US" baseline="-12000" dirty="0">
                <a:solidFill>
                  <a:srgbClr val="C00000"/>
                </a:solidFill>
              </a:rPr>
              <a:t>B</a:t>
            </a:r>
            <a:r>
              <a:rPr lang="en-US" altLang="en-US" baseline="0" dirty="0">
                <a:solidFill>
                  <a:srgbClr val="C00000"/>
                </a:solidFill>
              </a:rPr>
              <a:t> for different values of </a:t>
            </a:r>
            <a:br>
              <a:rPr lang="en-US" altLang="en-US" baseline="0" dirty="0">
                <a:solidFill>
                  <a:srgbClr val="C00000"/>
                </a:solidFill>
              </a:rPr>
            </a:br>
            <a:r>
              <a:rPr lang="en-US" altLang="en-US" baseline="0" dirty="0">
                <a:solidFill>
                  <a:srgbClr val="C00000"/>
                </a:solidFill>
              </a:rPr>
              <a:t>K .</a:t>
            </a:r>
          </a:p>
          <a:p>
            <a:pPr algn="just"/>
            <a:r>
              <a:rPr lang="en-US" altLang="en-US" baseline="0" dirty="0">
                <a:solidFill>
                  <a:srgbClr val="C00000"/>
                </a:solidFill>
              </a:rPr>
              <a:t>R = 0 to 2</a:t>
            </a:r>
            <a:r>
              <a:rPr lang="en-US" altLang="en-US" baseline="30000" dirty="0">
                <a:solidFill>
                  <a:srgbClr val="C00000"/>
                </a:solidFill>
              </a:rPr>
              <a:t>K</a:t>
            </a:r>
            <a:r>
              <a:rPr lang="en-US" altLang="en-US" baseline="0" dirty="0">
                <a:solidFill>
                  <a:srgbClr val="C00000"/>
                </a:solidFill>
              </a:rPr>
              <a:t>-1</a:t>
            </a:r>
            <a:r>
              <a:rPr lang="en-US" altLang="en-US" baseline="0" dirty="0">
                <a:solidFill>
                  <a:srgbClr val="00B050"/>
                </a:solidFill>
              </a:rPr>
              <a:t> (K- No of Attempts, R- Random Number)</a:t>
            </a:r>
          </a:p>
          <a:p>
            <a:pPr algn="just"/>
            <a:endParaRPr lang="en-US" altLang="en-US" baseline="30000" dirty="0"/>
          </a:p>
          <a:p>
            <a:pPr algn="just"/>
            <a:endParaRPr lang="en-US" altLang="en-US" baseline="0" dirty="0"/>
          </a:p>
          <a:p>
            <a:pPr algn="just"/>
            <a:r>
              <a:rPr lang="en-US" altLang="en-US" baseline="0" dirty="0">
                <a:solidFill>
                  <a:schemeClr val="hlink"/>
                </a:solidFill>
              </a:rPr>
              <a:t>a</a:t>
            </a:r>
            <a:r>
              <a:rPr lang="en-US" altLang="en-US" baseline="0" dirty="0"/>
              <a:t>. For K = 1, the range is {0, 1}. The station needs to|</a:t>
            </a:r>
            <a:br>
              <a:rPr lang="en-US" altLang="en-US" baseline="0" dirty="0"/>
            </a:br>
            <a:r>
              <a:rPr lang="en-US" altLang="en-US" baseline="0" dirty="0"/>
              <a:t>     generate a random number with a value of 0 or 1. This</a:t>
            </a:r>
            <a:br>
              <a:rPr lang="en-US" altLang="en-US" baseline="0" dirty="0"/>
            </a:br>
            <a:r>
              <a:rPr lang="en-US" altLang="en-US" baseline="0" dirty="0"/>
              <a:t>     means that T</a:t>
            </a:r>
            <a:r>
              <a:rPr lang="en-US" altLang="en-US" baseline="-12000" dirty="0"/>
              <a:t>B</a:t>
            </a:r>
            <a:r>
              <a:rPr lang="en-US" altLang="en-US" baseline="0" dirty="0"/>
              <a:t> is either 0 </a:t>
            </a:r>
            <a:r>
              <a:rPr lang="en-US" altLang="en-US" baseline="0" dirty="0" err="1"/>
              <a:t>ms</a:t>
            </a:r>
            <a:r>
              <a:rPr lang="en-US" altLang="en-US" baseline="0" dirty="0"/>
              <a:t> (0 × 2) or 2 </a:t>
            </a:r>
            <a:r>
              <a:rPr lang="en-US" altLang="en-US" baseline="0" dirty="0" err="1"/>
              <a:t>ms</a:t>
            </a:r>
            <a:r>
              <a:rPr lang="en-US" altLang="en-US" baseline="0" dirty="0"/>
              <a:t> (1 × 2),</a:t>
            </a:r>
            <a:br>
              <a:rPr lang="en-US" altLang="en-US" baseline="0" dirty="0"/>
            </a:br>
            <a:r>
              <a:rPr lang="en-US" altLang="en-US" baseline="0" dirty="0"/>
              <a:t>     based on the outcome of the random variable.</a:t>
            </a:r>
          </a:p>
        </p:txBody>
      </p:sp>
      <p:sp>
        <p:nvSpPr>
          <p:cNvPr id="17419" name="Text Box 10">
            <a:extLst>
              <a:ext uri="{FF2B5EF4-FFF2-40B4-BE49-F238E27FC236}">
                <a16:creationId xmlns:a16="http://schemas.microsoft.com/office/drawing/2014/main" id="{4B045C84-0688-AAD9-A025-093D698B849E}"/>
              </a:ext>
            </a:extLst>
          </p:cNvPr>
          <p:cNvSpPr txBox="1">
            <a:spLocks noChangeArrowheads="1"/>
          </p:cNvSpPr>
          <p:nvPr/>
        </p:nvSpPr>
        <p:spPr bwMode="auto">
          <a:xfrm>
            <a:off x="2667001" y="0"/>
            <a:ext cx="19976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3200" baseline="0" dirty="0">
                <a:solidFill>
                  <a:schemeClr val="hlink"/>
                </a:solidFill>
              </a:rPr>
              <a:t>Example 1</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5DAA25B5-8E92-BC7F-9C5D-6A04B849B649}"/>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8436" name="Rectangle 3">
            <a:extLst>
              <a:ext uri="{FF2B5EF4-FFF2-40B4-BE49-F238E27FC236}">
                <a16:creationId xmlns:a16="http://schemas.microsoft.com/office/drawing/2014/main" id="{63596157-EB3C-1F83-D2D4-7ED36D89A51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8437" name="Rectangle 4">
            <a:extLst>
              <a:ext uri="{FF2B5EF4-FFF2-40B4-BE49-F238E27FC236}">
                <a16:creationId xmlns:a16="http://schemas.microsoft.com/office/drawing/2014/main" id="{614334F5-B3AA-2434-FD36-928DE7D329FC}"/>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8438" name="Rectangle 5">
            <a:extLst>
              <a:ext uri="{FF2B5EF4-FFF2-40B4-BE49-F238E27FC236}">
                <a16:creationId xmlns:a16="http://schemas.microsoft.com/office/drawing/2014/main" id="{6193136C-DB42-05BB-16BC-BD9490FA32B9}"/>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8439" name="Rectangle 6">
            <a:extLst>
              <a:ext uri="{FF2B5EF4-FFF2-40B4-BE49-F238E27FC236}">
                <a16:creationId xmlns:a16="http://schemas.microsoft.com/office/drawing/2014/main" id="{DF0D8165-696B-0B1B-A963-C6D7D490B90F}"/>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8440" name="Rectangle 7">
            <a:extLst>
              <a:ext uri="{FF2B5EF4-FFF2-40B4-BE49-F238E27FC236}">
                <a16:creationId xmlns:a16="http://schemas.microsoft.com/office/drawing/2014/main" id="{C26D0AD0-AA37-BFA4-4ADA-D19278C57E9A}"/>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8441" name="Rectangle 8">
            <a:extLst>
              <a:ext uri="{FF2B5EF4-FFF2-40B4-BE49-F238E27FC236}">
                <a16:creationId xmlns:a16="http://schemas.microsoft.com/office/drawing/2014/main" id="{081C08C9-E59F-416E-13BD-63ACF4C2E92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8442" name="Rectangle 9">
            <a:extLst>
              <a:ext uri="{FF2B5EF4-FFF2-40B4-BE49-F238E27FC236}">
                <a16:creationId xmlns:a16="http://schemas.microsoft.com/office/drawing/2014/main" id="{BFCCB16C-C36F-DD66-9006-109EE40649B1}"/>
              </a:ext>
            </a:extLst>
          </p:cNvPr>
          <p:cNvSpPr>
            <a:spLocks noChangeArrowheads="1"/>
          </p:cNvSpPr>
          <p:nvPr/>
        </p:nvSpPr>
        <p:spPr bwMode="auto">
          <a:xfrm>
            <a:off x="1752600" y="1143000"/>
            <a:ext cx="8686800" cy="35394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baseline="0" dirty="0">
                <a:solidFill>
                  <a:schemeClr val="hlink"/>
                </a:solidFill>
              </a:rPr>
              <a:t>b.</a:t>
            </a:r>
            <a:r>
              <a:rPr lang="en-US" altLang="en-US" baseline="0" dirty="0"/>
              <a:t> For K = 2, the range is {0, 1, 2, 3}. This means that T</a:t>
            </a:r>
            <a:r>
              <a:rPr lang="en-US" altLang="en-US" baseline="-12000" dirty="0"/>
              <a:t>B</a:t>
            </a:r>
            <a:br>
              <a:rPr lang="en-US" altLang="en-US" baseline="-12000" dirty="0"/>
            </a:br>
            <a:r>
              <a:rPr lang="en-US" altLang="en-US" baseline="-12000" dirty="0"/>
              <a:t>      </a:t>
            </a:r>
            <a:r>
              <a:rPr lang="en-US" altLang="en-US" baseline="0" dirty="0"/>
              <a:t>can be 0, 2, 4, or 6 </a:t>
            </a:r>
            <a:r>
              <a:rPr lang="en-US" altLang="en-US" baseline="0" dirty="0" err="1"/>
              <a:t>ms</a:t>
            </a:r>
            <a:r>
              <a:rPr lang="en-US" altLang="en-US" baseline="0" dirty="0"/>
              <a:t>, based on the outcome of the</a:t>
            </a:r>
            <a:br>
              <a:rPr lang="en-US" altLang="en-US" baseline="0" dirty="0"/>
            </a:br>
            <a:r>
              <a:rPr lang="en-US" altLang="en-US" baseline="0" dirty="0"/>
              <a:t>     random variable.</a:t>
            </a:r>
          </a:p>
          <a:p>
            <a:pPr algn="just"/>
            <a:endParaRPr lang="en-US" altLang="en-US" baseline="0" dirty="0"/>
          </a:p>
          <a:p>
            <a:pPr algn="just"/>
            <a:r>
              <a:rPr lang="en-US" altLang="en-US" baseline="0" dirty="0">
                <a:solidFill>
                  <a:schemeClr val="hlink"/>
                </a:solidFill>
              </a:rPr>
              <a:t>c.</a:t>
            </a:r>
            <a:r>
              <a:rPr lang="en-US" altLang="en-US" baseline="0" dirty="0"/>
              <a:t> For K = 3, the range is {0, 1, 2, 3, 4, 5, 6, 7}. This</a:t>
            </a:r>
            <a:br>
              <a:rPr lang="en-US" altLang="en-US" baseline="0" dirty="0"/>
            </a:br>
            <a:r>
              <a:rPr lang="en-US" altLang="en-US" baseline="0" dirty="0"/>
              <a:t>     means that T</a:t>
            </a:r>
            <a:r>
              <a:rPr lang="en-US" altLang="en-US" baseline="-12000" dirty="0"/>
              <a:t>B</a:t>
            </a:r>
            <a:r>
              <a:rPr lang="en-US" altLang="en-US" baseline="0" dirty="0"/>
              <a:t> can be 0, 2, 4, . . . , 14 </a:t>
            </a:r>
            <a:r>
              <a:rPr lang="en-US" altLang="en-US" baseline="0" dirty="0" err="1"/>
              <a:t>ms</a:t>
            </a:r>
            <a:r>
              <a:rPr lang="en-US" altLang="en-US" baseline="0" dirty="0"/>
              <a:t>, based on the</a:t>
            </a:r>
            <a:br>
              <a:rPr lang="en-US" altLang="en-US" baseline="0" dirty="0"/>
            </a:br>
            <a:r>
              <a:rPr lang="en-US" altLang="en-US" baseline="0" dirty="0"/>
              <a:t>     outcome of the random variable.</a:t>
            </a:r>
          </a:p>
          <a:p>
            <a:pPr algn="just"/>
            <a:endParaRPr lang="en-US" altLang="en-US" baseline="0" dirty="0"/>
          </a:p>
        </p:txBody>
      </p:sp>
      <p:sp>
        <p:nvSpPr>
          <p:cNvPr id="18443" name="Text Box 10">
            <a:extLst>
              <a:ext uri="{FF2B5EF4-FFF2-40B4-BE49-F238E27FC236}">
                <a16:creationId xmlns:a16="http://schemas.microsoft.com/office/drawing/2014/main" id="{AAF82DBD-AA0F-FC20-4E17-C9FFA9532868}"/>
              </a:ext>
            </a:extLst>
          </p:cNvPr>
          <p:cNvSpPr txBox="1">
            <a:spLocks noChangeArrowheads="1"/>
          </p:cNvSpPr>
          <p:nvPr/>
        </p:nvSpPr>
        <p:spPr bwMode="auto">
          <a:xfrm>
            <a:off x="2667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3200" baseline="0">
                <a:solidFill>
                  <a:schemeClr val="hlink"/>
                </a:solidFill>
              </a:rPr>
              <a:t>Example 12.1 (continued)</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935A94F0-743C-9632-1C37-9E1BBBFA4075}"/>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9460" name="Rectangle 3">
            <a:extLst>
              <a:ext uri="{FF2B5EF4-FFF2-40B4-BE49-F238E27FC236}">
                <a16:creationId xmlns:a16="http://schemas.microsoft.com/office/drawing/2014/main" id="{9759D37F-BABF-F60D-58EE-4A99E47564C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9461" name="Rectangle 4">
            <a:extLst>
              <a:ext uri="{FF2B5EF4-FFF2-40B4-BE49-F238E27FC236}">
                <a16:creationId xmlns:a16="http://schemas.microsoft.com/office/drawing/2014/main" id="{C9A0F408-9401-0422-33F9-5BEF377DE4A4}"/>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9462" name="Rectangle 5">
            <a:extLst>
              <a:ext uri="{FF2B5EF4-FFF2-40B4-BE49-F238E27FC236}">
                <a16:creationId xmlns:a16="http://schemas.microsoft.com/office/drawing/2014/main" id="{D61BDB3F-05AD-EE69-0C8B-8862E792A05F}"/>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9463" name="Rectangle 6">
            <a:extLst>
              <a:ext uri="{FF2B5EF4-FFF2-40B4-BE49-F238E27FC236}">
                <a16:creationId xmlns:a16="http://schemas.microsoft.com/office/drawing/2014/main" id="{0B2E7E36-9DD6-AC1D-CF13-A599213A46FC}"/>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9464" name="Rectangle 7">
            <a:extLst>
              <a:ext uri="{FF2B5EF4-FFF2-40B4-BE49-F238E27FC236}">
                <a16:creationId xmlns:a16="http://schemas.microsoft.com/office/drawing/2014/main" id="{3F073C64-7042-A015-AE88-C1C0D5817B4F}"/>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9465" name="Rectangle 8">
            <a:extLst>
              <a:ext uri="{FF2B5EF4-FFF2-40B4-BE49-F238E27FC236}">
                <a16:creationId xmlns:a16="http://schemas.microsoft.com/office/drawing/2014/main" id="{F609CFB4-08F1-B4E9-8388-A98F16714CFA}"/>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19466" name="Rectangle 9">
            <a:extLst>
              <a:ext uri="{FF2B5EF4-FFF2-40B4-BE49-F238E27FC236}">
                <a16:creationId xmlns:a16="http://schemas.microsoft.com/office/drawing/2014/main" id="{BDDAF9F2-CC93-8094-0E4E-709D6C0659E8}"/>
              </a:ext>
            </a:extLst>
          </p:cNvPr>
          <p:cNvSpPr>
            <a:spLocks noChangeArrowheads="1"/>
          </p:cNvSpPr>
          <p:nvPr/>
        </p:nvSpPr>
        <p:spPr bwMode="auto">
          <a:xfrm>
            <a:off x="1080247" y="109855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baseline="0" dirty="0">
                <a:solidFill>
                  <a:srgbClr val="C00000"/>
                </a:solidFill>
              </a:rPr>
              <a:t>A pure ALOHA network transmits 200-bit frames on a shared channel of 200 kbps. What is the requirement to make this frame collision-free?</a:t>
            </a:r>
          </a:p>
        </p:txBody>
      </p:sp>
      <p:sp>
        <p:nvSpPr>
          <p:cNvPr id="19467" name="Text Box 10">
            <a:extLst>
              <a:ext uri="{FF2B5EF4-FFF2-40B4-BE49-F238E27FC236}">
                <a16:creationId xmlns:a16="http://schemas.microsoft.com/office/drawing/2014/main" id="{E2340FCC-D19C-13F8-5364-4D87C9674474}"/>
              </a:ext>
            </a:extLst>
          </p:cNvPr>
          <p:cNvSpPr txBox="1">
            <a:spLocks noChangeArrowheads="1"/>
          </p:cNvSpPr>
          <p:nvPr/>
        </p:nvSpPr>
        <p:spPr bwMode="auto">
          <a:xfrm>
            <a:off x="2667001" y="0"/>
            <a:ext cx="199766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3200" baseline="0" dirty="0">
                <a:solidFill>
                  <a:schemeClr val="hlink"/>
                </a:solidFill>
              </a:rPr>
              <a:t>Example 2</a:t>
            </a:r>
          </a:p>
        </p:txBody>
      </p:sp>
      <p:sp>
        <p:nvSpPr>
          <p:cNvPr id="19468" name="Rectangle 11">
            <a:extLst>
              <a:ext uri="{FF2B5EF4-FFF2-40B4-BE49-F238E27FC236}">
                <a16:creationId xmlns:a16="http://schemas.microsoft.com/office/drawing/2014/main" id="{4BB509F8-F23B-55BC-EAF3-8A62D65C6BF3}"/>
              </a:ext>
            </a:extLst>
          </p:cNvPr>
          <p:cNvSpPr>
            <a:spLocks noChangeArrowheads="1"/>
          </p:cNvSpPr>
          <p:nvPr/>
        </p:nvSpPr>
        <p:spPr bwMode="auto">
          <a:xfrm>
            <a:off x="1080247" y="2819400"/>
            <a:ext cx="9713259" cy="310854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baseline="0" dirty="0">
                <a:solidFill>
                  <a:srgbClr val="C00000"/>
                </a:solidFill>
              </a:rPr>
              <a:t>Solution</a:t>
            </a:r>
          </a:p>
          <a:p>
            <a:pPr algn="just"/>
            <a:r>
              <a:rPr lang="en-US" altLang="en-US" baseline="0" dirty="0"/>
              <a:t>Average frame transmission time </a:t>
            </a:r>
            <a:r>
              <a:rPr lang="en-US" altLang="en-US" baseline="0" dirty="0" err="1"/>
              <a:t>T</a:t>
            </a:r>
            <a:r>
              <a:rPr lang="en-US" altLang="en-US" baseline="-12000" dirty="0" err="1"/>
              <a:t>fr</a:t>
            </a:r>
            <a:r>
              <a:rPr lang="en-US" altLang="en-US" baseline="0" dirty="0"/>
              <a:t> = 200 bits/200 kbps or</a:t>
            </a:r>
          </a:p>
          <a:p>
            <a:pPr algn="just"/>
            <a:r>
              <a:rPr lang="en-US" altLang="en-US" baseline="0" dirty="0"/>
              <a:t> 1 </a:t>
            </a:r>
            <a:r>
              <a:rPr lang="en-US" altLang="en-US" baseline="0" dirty="0" err="1"/>
              <a:t>ms.</a:t>
            </a:r>
            <a:r>
              <a:rPr lang="en-US" altLang="en-US" baseline="0" dirty="0"/>
              <a:t> </a:t>
            </a:r>
          </a:p>
          <a:p>
            <a:pPr algn="just"/>
            <a:r>
              <a:rPr lang="en-US" altLang="en-US" baseline="0" dirty="0"/>
              <a:t>The vulnerable time is  2 × 1 </a:t>
            </a:r>
            <a:r>
              <a:rPr lang="en-US" altLang="en-US" baseline="0" dirty="0" err="1"/>
              <a:t>ms</a:t>
            </a:r>
            <a:r>
              <a:rPr lang="en-US" altLang="en-US" baseline="0" dirty="0"/>
              <a:t> = 2 </a:t>
            </a:r>
            <a:r>
              <a:rPr lang="en-US" altLang="en-US" baseline="0" dirty="0" err="1"/>
              <a:t>ms.</a:t>
            </a:r>
            <a:r>
              <a:rPr lang="en-US" altLang="en-US" baseline="0" dirty="0"/>
              <a:t> </a:t>
            </a:r>
          </a:p>
          <a:p>
            <a:pPr algn="just"/>
            <a:r>
              <a:rPr lang="en-US" altLang="en-US" baseline="0" dirty="0"/>
              <a:t>This means </a:t>
            </a:r>
            <a:r>
              <a:rPr lang="en-US" altLang="en-US" baseline="0" dirty="0">
                <a:solidFill>
                  <a:srgbClr val="00B0F0"/>
                </a:solidFill>
              </a:rPr>
              <a:t>no station should send later </a:t>
            </a:r>
            <a:r>
              <a:rPr lang="en-US" altLang="en-US" baseline="0" dirty="0"/>
              <a:t>than 1 </a:t>
            </a:r>
            <a:r>
              <a:rPr lang="en-US" altLang="en-US" baseline="0" dirty="0" err="1"/>
              <a:t>ms</a:t>
            </a:r>
            <a:r>
              <a:rPr lang="en-US" altLang="en-US" baseline="0" dirty="0"/>
              <a:t> before this station starts transmission and no station should start sending </a:t>
            </a:r>
            <a:r>
              <a:rPr lang="en-US" altLang="en-US" baseline="0" dirty="0">
                <a:solidFill>
                  <a:srgbClr val="00B0F0"/>
                </a:solidFill>
              </a:rPr>
              <a:t>during the one 1-ms period </a:t>
            </a:r>
            <a:r>
              <a:rPr lang="en-US" altLang="en-US" baseline="0" dirty="0"/>
              <a:t>that this station is sending.</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D7B9-D7E0-4EBA-8559-EB5224616E5A}"/>
              </a:ext>
            </a:extLst>
          </p:cNvPr>
          <p:cNvSpPr>
            <a:spLocks noGrp="1"/>
          </p:cNvSpPr>
          <p:nvPr>
            <p:ph type="title"/>
          </p:nvPr>
        </p:nvSpPr>
        <p:spPr>
          <a:xfrm>
            <a:off x="838200" y="365126"/>
            <a:ext cx="10515600" cy="405840"/>
          </a:xfrm>
        </p:spPr>
        <p:txBody>
          <a:bodyPr>
            <a:normAutofit fontScale="90000"/>
          </a:bodyPr>
          <a:lstStyle/>
          <a:p>
            <a:br>
              <a:rPr lang="en-US" altLang="en-US" sz="4400" baseline="0" dirty="0">
                <a:solidFill>
                  <a:schemeClr val="hlink"/>
                </a:solidFill>
              </a:rPr>
            </a:br>
            <a:r>
              <a:rPr lang="en-US" altLang="en-US" sz="4400" baseline="0" dirty="0">
                <a:solidFill>
                  <a:srgbClr val="C00000"/>
                </a:solidFill>
                <a:latin typeface="Arial" panose="020B0604020202020204" pitchFamily="34" charset="0"/>
                <a:cs typeface="Arial" panose="020B0604020202020204" pitchFamily="34" charset="0"/>
              </a:rPr>
              <a:t>Example 3</a:t>
            </a:r>
            <a:br>
              <a:rPr lang="en-US" altLang="en-US" sz="4400" baseline="0" dirty="0">
                <a:solidFill>
                  <a:schemeClr val="hlink"/>
                </a:solidFill>
              </a:rPr>
            </a:br>
            <a:endParaRPr lang="en-US" dirty="0"/>
          </a:p>
        </p:txBody>
      </p:sp>
      <p:sp>
        <p:nvSpPr>
          <p:cNvPr id="3" name="Content Placeholder 2">
            <a:extLst>
              <a:ext uri="{FF2B5EF4-FFF2-40B4-BE49-F238E27FC236}">
                <a16:creationId xmlns:a16="http://schemas.microsoft.com/office/drawing/2014/main" id="{8260AD73-0664-4960-B2D5-C9D32E9D09CE}"/>
              </a:ext>
            </a:extLst>
          </p:cNvPr>
          <p:cNvSpPr>
            <a:spLocks noGrp="1"/>
          </p:cNvSpPr>
          <p:nvPr>
            <p:ph idx="1"/>
          </p:nvPr>
        </p:nvSpPr>
        <p:spPr>
          <a:xfrm>
            <a:off x="636494" y="914400"/>
            <a:ext cx="10717306" cy="5262563"/>
          </a:xfrm>
        </p:spPr>
        <p:txBody>
          <a:bodyPr>
            <a:normAutofit fontScale="70000" lnSpcReduction="20000"/>
          </a:bodyPr>
          <a:lstStyle/>
          <a:p>
            <a:pPr algn="l" fontAlgn="base"/>
            <a:r>
              <a:rPr lang="en-US" b="0" i="0" dirty="0">
                <a:effectLst/>
                <a:latin typeface="Arial" panose="020B0604020202020204" pitchFamily="34" charset="0"/>
                <a:cs typeface="Arial" panose="020B0604020202020204" pitchFamily="34" charset="0"/>
              </a:rPr>
              <a:t>A group of N stations share 100 Kbps slotted ALOHA channel. Each station output</a:t>
            </a:r>
          </a:p>
          <a:p>
            <a:pPr marL="0" indent="0" algn="l" fontAlgn="base">
              <a:buNone/>
            </a:pPr>
            <a:r>
              <a:rPr lang="en-US" b="0" i="0" dirty="0">
                <a:effectLst/>
                <a:latin typeface="Arial" panose="020B0604020202020204" pitchFamily="34" charset="0"/>
                <a:cs typeface="Arial" panose="020B0604020202020204" pitchFamily="34" charset="0"/>
              </a:rPr>
              <a:t>   a 500 bits frame on an average of 5000 </a:t>
            </a:r>
            <a:r>
              <a:rPr lang="en-US" b="0" i="0" dirty="0" err="1">
                <a:effectLst/>
                <a:latin typeface="Arial" panose="020B0604020202020204" pitchFamily="34" charset="0"/>
                <a:cs typeface="Arial" panose="020B0604020202020204" pitchFamily="34" charset="0"/>
              </a:rPr>
              <a:t>ms</a:t>
            </a:r>
            <a:r>
              <a:rPr lang="en-US" b="0" i="0" dirty="0">
                <a:effectLst/>
                <a:latin typeface="Arial" panose="020B0604020202020204" pitchFamily="34" charset="0"/>
                <a:cs typeface="Arial" panose="020B0604020202020204" pitchFamily="34" charset="0"/>
              </a:rPr>
              <a:t> even if previous one has not been sent. What is   the required value of N?</a:t>
            </a:r>
          </a:p>
          <a:p>
            <a:pPr marL="0" indent="0" algn="l" fontAlgn="base">
              <a:buNone/>
            </a:pPr>
            <a:r>
              <a:rPr lang="en-US" b="1" i="0" u="sng" dirty="0">
                <a:effectLst/>
                <a:latin typeface="Arial" panose="020B0604020202020204" pitchFamily="34" charset="0"/>
                <a:cs typeface="Arial" panose="020B0604020202020204" pitchFamily="34" charset="0"/>
              </a:rPr>
              <a:t>Solution</a:t>
            </a:r>
            <a:endParaRPr lang="en-US" b="1" i="0" dirty="0">
              <a:effectLst/>
              <a:latin typeface="Arial" panose="020B0604020202020204" pitchFamily="34" charset="0"/>
              <a:cs typeface="Arial" panose="020B0604020202020204" pitchFamily="34" charset="0"/>
            </a:endParaRPr>
          </a:p>
          <a:p>
            <a:pPr marL="0" indent="0" algn="l" fontAlgn="base">
              <a:buNone/>
            </a:pPr>
            <a:r>
              <a:rPr lang="en-US" b="0" i="0" dirty="0">
                <a:effectLst/>
                <a:latin typeface="Arial" panose="020B0604020202020204" pitchFamily="34" charset="0"/>
                <a:cs typeface="Arial" panose="020B0604020202020204" pitchFamily="34" charset="0"/>
              </a:rPr>
              <a:t> </a:t>
            </a:r>
            <a:r>
              <a:rPr lang="en-US" b="1" i="0" u="sng" dirty="0">
                <a:effectLst/>
                <a:latin typeface="Arial" panose="020B0604020202020204" pitchFamily="34" charset="0"/>
                <a:cs typeface="Arial" panose="020B0604020202020204" pitchFamily="34" charset="0"/>
              </a:rPr>
              <a:t>Throughput Of One Station-</a:t>
            </a:r>
            <a:endParaRPr lang="en-US" b="1" i="0" dirty="0">
              <a:effectLst/>
              <a:latin typeface="Arial" panose="020B0604020202020204" pitchFamily="34" charset="0"/>
              <a:cs typeface="Arial" panose="020B0604020202020204" pitchFamily="34" charset="0"/>
            </a:endParaRPr>
          </a:p>
          <a:p>
            <a:pPr marL="0" indent="0" algn="l" fontAlgn="base">
              <a:buNone/>
            </a:pPr>
            <a:r>
              <a:rPr lang="en-US" b="0" i="0" dirty="0">
                <a:effectLst/>
                <a:latin typeface="Arial" panose="020B0604020202020204" pitchFamily="34" charset="0"/>
                <a:cs typeface="Arial" panose="020B0604020202020204" pitchFamily="34" charset="0"/>
              </a:rPr>
              <a:t> Throughput of each station</a:t>
            </a:r>
          </a:p>
          <a:p>
            <a:pPr marL="0" indent="0" algn="l" fontAlgn="base">
              <a:buNone/>
            </a:pPr>
            <a:r>
              <a:rPr lang="en-US" b="0" i="0" dirty="0">
                <a:effectLst/>
                <a:latin typeface="Arial" panose="020B0604020202020204" pitchFamily="34" charset="0"/>
                <a:cs typeface="Arial" panose="020B0604020202020204" pitchFamily="34" charset="0"/>
              </a:rPr>
              <a:t>= Number of bits sent per second</a:t>
            </a:r>
          </a:p>
          <a:p>
            <a:pPr marL="0" indent="0" algn="l" fontAlgn="base">
              <a:buNone/>
            </a:pPr>
            <a:r>
              <a:rPr lang="en-US" b="0" i="0" dirty="0">
                <a:effectLst/>
                <a:latin typeface="Arial" panose="020B0604020202020204" pitchFamily="34" charset="0"/>
                <a:cs typeface="Arial" panose="020B0604020202020204" pitchFamily="34" charset="0"/>
              </a:rPr>
              <a:t>= 500 bits / 5000 </a:t>
            </a:r>
            <a:r>
              <a:rPr lang="en-US" b="0" i="0" dirty="0" err="1">
                <a:effectLst/>
                <a:latin typeface="Arial" panose="020B0604020202020204" pitchFamily="34" charset="0"/>
                <a:cs typeface="Arial" panose="020B0604020202020204" pitchFamily="34" charset="0"/>
              </a:rPr>
              <a:t>ms</a:t>
            </a:r>
            <a:endParaRPr lang="en-US" b="0" i="0" dirty="0">
              <a:effectLst/>
              <a:latin typeface="Arial" panose="020B0604020202020204" pitchFamily="34" charset="0"/>
              <a:cs typeface="Arial" panose="020B0604020202020204" pitchFamily="34" charset="0"/>
            </a:endParaRPr>
          </a:p>
          <a:p>
            <a:pPr marL="0" indent="0" algn="l" fontAlgn="base">
              <a:buNone/>
            </a:pPr>
            <a:r>
              <a:rPr lang="en-US" b="0" i="0" dirty="0">
                <a:effectLst/>
                <a:latin typeface="Arial" panose="020B0604020202020204" pitchFamily="34" charset="0"/>
                <a:cs typeface="Arial" panose="020B0604020202020204" pitchFamily="34" charset="0"/>
              </a:rPr>
              <a:t>= 500 bits / (5000 x 10</a:t>
            </a:r>
            <a:r>
              <a:rPr lang="en-US" b="0" i="0" baseline="30000" dirty="0">
                <a:effectLst/>
                <a:latin typeface="Arial" panose="020B0604020202020204" pitchFamily="34" charset="0"/>
                <a:cs typeface="Arial" panose="020B0604020202020204" pitchFamily="34" charset="0"/>
              </a:rPr>
              <a:t>-3</a:t>
            </a:r>
            <a:r>
              <a:rPr lang="en-US" b="0" i="0" dirty="0">
                <a:effectLst/>
                <a:latin typeface="Arial" panose="020B0604020202020204" pitchFamily="34" charset="0"/>
                <a:cs typeface="Arial" panose="020B0604020202020204" pitchFamily="34" charset="0"/>
              </a:rPr>
              <a:t> sec)</a:t>
            </a:r>
          </a:p>
          <a:p>
            <a:pPr marL="0" indent="0" algn="l" fontAlgn="base">
              <a:buNone/>
            </a:pPr>
            <a:r>
              <a:rPr lang="en-US" b="0" i="0" dirty="0">
                <a:effectLst/>
                <a:latin typeface="Arial" panose="020B0604020202020204" pitchFamily="34" charset="0"/>
                <a:cs typeface="Arial" panose="020B0604020202020204" pitchFamily="34" charset="0"/>
              </a:rPr>
              <a:t>= 100 bits/sec</a:t>
            </a:r>
          </a:p>
          <a:p>
            <a:pPr marL="0" indent="0" algn="l" fontAlgn="base">
              <a:buNone/>
            </a:pPr>
            <a:r>
              <a:rPr lang="en-US" b="0" i="0" dirty="0">
                <a:effectLst/>
                <a:latin typeface="Arial" panose="020B0604020202020204" pitchFamily="34" charset="0"/>
                <a:cs typeface="Arial" panose="020B0604020202020204" pitchFamily="34" charset="0"/>
              </a:rPr>
              <a:t> </a:t>
            </a:r>
            <a:r>
              <a:rPr lang="en-US" b="1" i="0" u="sng" dirty="0">
                <a:effectLst/>
                <a:latin typeface="Arial" panose="020B0604020202020204" pitchFamily="34" charset="0"/>
                <a:cs typeface="Arial" panose="020B0604020202020204" pitchFamily="34" charset="0"/>
              </a:rPr>
              <a:t>Throughput Of Slotted Aloha-</a:t>
            </a:r>
            <a:endParaRPr lang="en-US" b="1" i="0" dirty="0">
              <a:effectLst/>
              <a:latin typeface="Arial" panose="020B0604020202020204" pitchFamily="34" charset="0"/>
              <a:cs typeface="Arial" panose="020B0604020202020204" pitchFamily="34" charset="0"/>
            </a:endParaRPr>
          </a:p>
          <a:p>
            <a:pPr marL="0" indent="0" algn="l" fontAlgn="base">
              <a:buNone/>
            </a:pPr>
            <a:r>
              <a:rPr lang="en-US" b="0" i="0" dirty="0">
                <a:effectLst/>
                <a:latin typeface="Arial" panose="020B0604020202020204" pitchFamily="34" charset="0"/>
                <a:cs typeface="Arial" panose="020B0604020202020204" pitchFamily="34" charset="0"/>
              </a:rPr>
              <a:t> Throughput of slotted aloha</a:t>
            </a:r>
          </a:p>
          <a:p>
            <a:pPr marL="0" indent="0" algn="l" fontAlgn="base">
              <a:buNone/>
            </a:pPr>
            <a:r>
              <a:rPr lang="en-US" b="0" i="0" dirty="0">
                <a:effectLst/>
                <a:latin typeface="Arial" panose="020B0604020202020204" pitchFamily="34" charset="0"/>
                <a:cs typeface="Arial" panose="020B0604020202020204" pitchFamily="34" charset="0"/>
              </a:rPr>
              <a:t>= Efficiency x Bandwidth</a:t>
            </a:r>
          </a:p>
          <a:p>
            <a:pPr marL="0" indent="0" algn="l" fontAlgn="base">
              <a:buNone/>
            </a:pPr>
            <a:r>
              <a:rPr lang="en-US" b="0" i="0" dirty="0">
                <a:effectLst/>
                <a:latin typeface="Arial" panose="020B0604020202020204" pitchFamily="34" charset="0"/>
                <a:cs typeface="Arial" panose="020B0604020202020204" pitchFamily="34" charset="0"/>
              </a:rPr>
              <a:t>= 0.368 x 100 Kbps</a:t>
            </a:r>
          </a:p>
          <a:p>
            <a:pPr marL="0" indent="0" algn="l" fontAlgn="base">
              <a:buNone/>
            </a:pPr>
            <a:r>
              <a:rPr lang="en-US" b="0" i="0" dirty="0">
                <a:effectLst/>
                <a:latin typeface="Arial" panose="020B0604020202020204" pitchFamily="34" charset="0"/>
                <a:cs typeface="Arial" panose="020B0604020202020204" pitchFamily="34" charset="0"/>
              </a:rPr>
              <a:t>= 36.8 Kbps</a:t>
            </a:r>
          </a:p>
          <a:p>
            <a:pPr algn="l" fontAlgn="base"/>
            <a:endParaRPr lang="en-US"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9806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D7B9-D7E0-4EBA-8559-EB5224616E5A}"/>
              </a:ext>
            </a:extLst>
          </p:cNvPr>
          <p:cNvSpPr>
            <a:spLocks noGrp="1"/>
          </p:cNvSpPr>
          <p:nvPr>
            <p:ph type="title"/>
          </p:nvPr>
        </p:nvSpPr>
        <p:spPr>
          <a:xfrm>
            <a:off x="838200" y="365126"/>
            <a:ext cx="10515600" cy="728568"/>
          </a:xfrm>
        </p:spPr>
        <p:txBody>
          <a:bodyPr>
            <a:normAutofit fontScale="90000"/>
          </a:bodyPr>
          <a:lstStyle/>
          <a:p>
            <a:br>
              <a:rPr lang="en-US" altLang="en-US" sz="4400" baseline="0" dirty="0">
                <a:solidFill>
                  <a:srgbClr val="C00000"/>
                </a:solidFill>
                <a:latin typeface="Arial" panose="020B0604020202020204" pitchFamily="34" charset="0"/>
                <a:cs typeface="Arial" panose="020B0604020202020204" pitchFamily="34" charset="0"/>
              </a:rPr>
            </a:br>
            <a:r>
              <a:rPr lang="en-US" altLang="en-US" sz="4400" baseline="0" dirty="0">
                <a:solidFill>
                  <a:srgbClr val="C00000"/>
                </a:solidFill>
                <a:latin typeface="Arial" panose="020B0604020202020204" pitchFamily="34" charset="0"/>
                <a:cs typeface="Arial" panose="020B0604020202020204" pitchFamily="34" charset="0"/>
              </a:rPr>
              <a:t>Example 3 continued…</a:t>
            </a:r>
            <a:br>
              <a:rPr lang="en-US" altLang="en-US" sz="4400" baseline="0" dirty="0">
                <a:solidFill>
                  <a:schemeClr val="hlink"/>
                </a:solidFill>
              </a:rPr>
            </a:br>
            <a:endParaRPr lang="en-US" dirty="0"/>
          </a:p>
        </p:txBody>
      </p:sp>
      <p:sp>
        <p:nvSpPr>
          <p:cNvPr id="3" name="Content Placeholder 2">
            <a:extLst>
              <a:ext uri="{FF2B5EF4-FFF2-40B4-BE49-F238E27FC236}">
                <a16:creationId xmlns:a16="http://schemas.microsoft.com/office/drawing/2014/main" id="{8260AD73-0664-4960-B2D5-C9D32E9D09CE}"/>
              </a:ext>
            </a:extLst>
          </p:cNvPr>
          <p:cNvSpPr>
            <a:spLocks noGrp="1"/>
          </p:cNvSpPr>
          <p:nvPr>
            <p:ph idx="1"/>
          </p:nvPr>
        </p:nvSpPr>
        <p:spPr/>
        <p:txBody>
          <a:bodyPr>
            <a:normAutofit fontScale="85000" lnSpcReduction="20000"/>
          </a:bodyPr>
          <a:lstStyle/>
          <a:p>
            <a:pPr marL="0" indent="0" algn="l" fontAlgn="base">
              <a:buNone/>
            </a:pPr>
            <a:r>
              <a:rPr lang="en-US" b="1" i="0" u="sng" dirty="0">
                <a:solidFill>
                  <a:srgbClr val="303030"/>
                </a:solidFill>
                <a:effectLst/>
                <a:latin typeface="Roboto Condensed" panose="02000000000000000000" pitchFamily="2" charset="0"/>
              </a:rPr>
              <a:t>Total Number Of Stations-</a:t>
            </a:r>
            <a:endParaRPr lang="en-US" b="1" i="0" dirty="0">
              <a:solidFill>
                <a:srgbClr val="303030"/>
              </a:solidFill>
              <a:effectLst/>
              <a:latin typeface="Roboto Condensed" panose="02000000000000000000" pitchFamily="2" charset="0"/>
            </a:endParaRPr>
          </a:p>
          <a:p>
            <a:pPr marL="0" indent="0" algn="l" fontAlgn="base">
              <a:buNone/>
            </a:pPr>
            <a:endParaRPr lang="en-US" b="0" i="0" dirty="0">
              <a:solidFill>
                <a:srgbClr val="303030"/>
              </a:solidFill>
              <a:effectLst/>
              <a:latin typeface="Arimo"/>
            </a:endParaRPr>
          </a:p>
          <a:p>
            <a:pPr marL="0" indent="0" algn="l" fontAlgn="base">
              <a:buNone/>
            </a:pPr>
            <a:r>
              <a:rPr lang="en-US" sz="3300" b="0" i="0" dirty="0">
                <a:solidFill>
                  <a:srgbClr val="303030"/>
                </a:solidFill>
                <a:effectLst/>
                <a:latin typeface="Arimo"/>
              </a:rPr>
              <a:t>Throughput of slotted aloha = Total number of stations x Throughput of each station</a:t>
            </a:r>
          </a:p>
          <a:p>
            <a:pPr marL="0" indent="0" algn="l" fontAlgn="base">
              <a:buNone/>
            </a:pPr>
            <a:r>
              <a:rPr lang="en-US" sz="3300" b="0" i="0" dirty="0">
                <a:solidFill>
                  <a:srgbClr val="303030"/>
                </a:solidFill>
                <a:effectLst/>
                <a:latin typeface="Arimo"/>
              </a:rPr>
              <a:t>Substituting the values, we get-</a:t>
            </a:r>
          </a:p>
          <a:p>
            <a:pPr marL="0" indent="0" algn="l" fontAlgn="base">
              <a:buNone/>
            </a:pPr>
            <a:r>
              <a:rPr lang="en-US" sz="3300" b="0" i="0" dirty="0">
                <a:solidFill>
                  <a:srgbClr val="303030"/>
                </a:solidFill>
                <a:effectLst/>
                <a:latin typeface="Arimo"/>
              </a:rPr>
              <a:t>36.8 Kbps = N x 100 bits/sec</a:t>
            </a:r>
          </a:p>
          <a:p>
            <a:pPr marL="0" indent="0" algn="l" fontAlgn="base">
              <a:buNone/>
            </a:pPr>
            <a:r>
              <a:rPr lang="en-US" sz="3300" b="0" i="0" dirty="0">
                <a:solidFill>
                  <a:srgbClr val="303030"/>
                </a:solidFill>
                <a:effectLst/>
                <a:latin typeface="Arimo"/>
              </a:rPr>
              <a:t>∴ N = 368</a:t>
            </a:r>
          </a:p>
          <a:p>
            <a:pPr marL="0" indent="0" algn="l" fontAlgn="base">
              <a:buNone/>
            </a:pPr>
            <a:r>
              <a:rPr lang="en-US" sz="3300" b="0" i="0" dirty="0">
                <a:solidFill>
                  <a:srgbClr val="303030"/>
                </a:solidFill>
                <a:effectLst/>
                <a:latin typeface="Arimo"/>
              </a:rPr>
              <a:t>Thus, required value of N = 368.</a:t>
            </a:r>
          </a:p>
          <a:p>
            <a:pPr marL="0" indent="0" algn="l" fontAlgn="base">
              <a:buNone/>
            </a:pPr>
            <a:r>
              <a:rPr lang="en-US" sz="3300" b="0" i="0" dirty="0">
                <a:solidFill>
                  <a:srgbClr val="303030"/>
                </a:solidFill>
                <a:effectLst/>
                <a:latin typeface="Arimo"/>
              </a:rPr>
              <a:t> </a:t>
            </a:r>
          </a:p>
          <a:p>
            <a:pPr marL="0" indent="0" algn="l" fontAlgn="base">
              <a:buNone/>
            </a:pPr>
            <a:endParaRPr lang="en-US" b="0" i="0" dirty="0">
              <a:solidFill>
                <a:srgbClr val="303030"/>
              </a:solidFill>
              <a:effectLst/>
              <a:latin typeface="Arimo"/>
            </a:endParaRPr>
          </a:p>
          <a:p>
            <a:pPr marL="0" indent="0" algn="l" fontAlgn="base">
              <a:buNone/>
            </a:pPr>
            <a:r>
              <a:rPr lang="en-US" b="0" i="0" dirty="0">
                <a:solidFill>
                  <a:srgbClr val="303030"/>
                </a:solidFill>
                <a:effectLst/>
                <a:latin typeface="Arimo"/>
              </a:rPr>
              <a:t> </a:t>
            </a:r>
          </a:p>
          <a:p>
            <a:endParaRPr lang="en-US" dirty="0"/>
          </a:p>
        </p:txBody>
      </p:sp>
    </p:spTree>
    <p:extLst>
      <p:ext uri="{BB962C8B-B14F-4D97-AF65-F5344CB8AC3E}">
        <p14:creationId xmlns:p14="http://schemas.microsoft.com/office/powerpoint/2010/main" val="1322062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D7B9-D7E0-4EBA-8559-EB5224616E5A}"/>
              </a:ext>
            </a:extLst>
          </p:cNvPr>
          <p:cNvSpPr>
            <a:spLocks noGrp="1"/>
          </p:cNvSpPr>
          <p:nvPr>
            <p:ph type="title"/>
          </p:nvPr>
        </p:nvSpPr>
        <p:spPr>
          <a:xfrm>
            <a:off x="838200" y="365126"/>
            <a:ext cx="10515600" cy="405840"/>
          </a:xfrm>
        </p:spPr>
        <p:txBody>
          <a:bodyPr>
            <a:normAutofit fontScale="90000"/>
          </a:bodyPr>
          <a:lstStyle/>
          <a:p>
            <a:br>
              <a:rPr lang="en-US" altLang="en-US" sz="4400" baseline="0" dirty="0">
                <a:solidFill>
                  <a:schemeClr val="hlink"/>
                </a:solidFill>
              </a:rPr>
            </a:br>
            <a:r>
              <a:rPr lang="en-US" altLang="en-US" sz="4400" baseline="0" dirty="0">
                <a:solidFill>
                  <a:srgbClr val="C00000"/>
                </a:solidFill>
                <a:latin typeface="Arial" panose="020B0604020202020204" pitchFamily="34" charset="0"/>
                <a:cs typeface="Arial" panose="020B0604020202020204" pitchFamily="34" charset="0"/>
              </a:rPr>
              <a:t>Example 3a</a:t>
            </a:r>
            <a:br>
              <a:rPr lang="en-US" altLang="en-US" sz="4400" baseline="0" dirty="0">
                <a:solidFill>
                  <a:schemeClr val="hlink"/>
                </a:solidFill>
              </a:rPr>
            </a:br>
            <a:endParaRPr lang="en-US" dirty="0"/>
          </a:p>
        </p:txBody>
      </p:sp>
      <p:sp>
        <p:nvSpPr>
          <p:cNvPr id="3" name="Content Placeholder 2">
            <a:extLst>
              <a:ext uri="{FF2B5EF4-FFF2-40B4-BE49-F238E27FC236}">
                <a16:creationId xmlns:a16="http://schemas.microsoft.com/office/drawing/2014/main" id="{8260AD73-0664-4960-B2D5-C9D32E9D09CE}"/>
              </a:ext>
            </a:extLst>
          </p:cNvPr>
          <p:cNvSpPr>
            <a:spLocks noGrp="1"/>
          </p:cNvSpPr>
          <p:nvPr>
            <p:ph idx="1"/>
          </p:nvPr>
        </p:nvSpPr>
        <p:spPr>
          <a:xfrm>
            <a:off x="636494" y="914400"/>
            <a:ext cx="10717306" cy="5262563"/>
          </a:xfrm>
        </p:spPr>
        <p:txBody>
          <a:bodyPr>
            <a:normAutofit fontScale="85000" lnSpcReduction="20000"/>
          </a:bodyPr>
          <a:lstStyle/>
          <a:p>
            <a:pPr algn="l" fontAlgn="base"/>
            <a:r>
              <a:rPr lang="en-US" dirty="0">
                <a:latin typeface="Arial" panose="020B0604020202020204" pitchFamily="34" charset="0"/>
                <a:cs typeface="Arial" panose="020B0604020202020204" pitchFamily="34" charset="0"/>
              </a:rPr>
              <a:t>A group of N stations shares a 56-kbps pure ALOHA channel. Each station outputs a 1000-bit frame on an average of once every 100 sec, even if the previous one has not yet been sent (e.g., the stations can buffer outgoing frames). What is the maximum value of N?</a:t>
            </a:r>
            <a:endParaRPr lang="en-US" b="0" i="0" dirty="0">
              <a:effectLst/>
              <a:latin typeface="Arial" panose="020B0604020202020204" pitchFamily="34" charset="0"/>
              <a:cs typeface="Arial" panose="020B0604020202020204" pitchFamily="34" charset="0"/>
            </a:endParaRPr>
          </a:p>
          <a:p>
            <a:pPr marL="0" indent="0" algn="l" fontAlgn="base">
              <a:buNone/>
            </a:pPr>
            <a:r>
              <a:rPr lang="en-US" b="1" i="0" u="sng" dirty="0">
                <a:effectLst/>
                <a:latin typeface="Arial" panose="020B0604020202020204" pitchFamily="34" charset="0"/>
                <a:cs typeface="Arial" panose="020B0604020202020204" pitchFamily="34" charset="0"/>
              </a:rPr>
              <a:t>Solution</a:t>
            </a:r>
            <a:endParaRPr lang="en-US" b="1" i="0" dirty="0">
              <a:effectLst/>
              <a:latin typeface="Arial" panose="020B0604020202020204" pitchFamily="34" charset="0"/>
              <a:cs typeface="Arial" panose="020B0604020202020204" pitchFamily="34" charset="0"/>
            </a:endParaRPr>
          </a:p>
          <a:p>
            <a:pPr marL="0" indent="0" algn="l" fontAlgn="base">
              <a:buNone/>
            </a:pPr>
            <a:r>
              <a:rPr lang="en-US" b="0" i="0" dirty="0">
                <a:effectLst/>
                <a:latin typeface="Arial" panose="020B0604020202020204" pitchFamily="34" charset="0"/>
                <a:cs typeface="Arial" panose="020B0604020202020204" pitchFamily="34" charset="0"/>
              </a:rPr>
              <a:t> </a:t>
            </a:r>
            <a:r>
              <a:rPr lang="en-US" b="1" i="0" u="sng" dirty="0">
                <a:effectLst/>
                <a:latin typeface="Arial" panose="020B0604020202020204" pitchFamily="34" charset="0"/>
                <a:cs typeface="Arial" panose="020B0604020202020204" pitchFamily="34" charset="0"/>
              </a:rPr>
              <a:t>Throughput Of One Station-</a:t>
            </a:r>
            <a:endParaRPr lang="en-US" b="1" i="0" dirty="0">
              <a:effectLst/>
              <a:latin typeface="Arial" panose="020B0604020202020204" pitchFamily="34" charset="0"/>
              <a:cs typeface="Arial" panose="020B0604020202020204" pitchFamily="34" charset="0"/>
            </a:endParaRPr>
          </a:p>
          <a:p>
            <a:pPr marL="0" indent="0" algn="l" fontAlgn="base">
              <a:buNone/>
            </a:pPr>
            <a:r>
              <a:rPr lang="en-US" b="0" i="0" dirty="0">
                <a:effectLst/>
                <a:latin typeface="Arial" panose="020B0604020202020204" pitchFamily="34" charset="0"/>
                <a:cs typeface="Arial" panose="020B0604020202020204" pitchFamily="34" charset="0"/>
              </a:rPr>
              <a:t> Throughput of each station</a:t>
            </a:r>
          </a:p>
          <a:p>
            <a:pPr marL="0" indent="0" algn="l" fontAlgn="base">
              <a:buNone/>
            </a:pPr>
            <a:r>
              <a:rPr lang="en-US" b="0" i="0" dirty="0">
                <a:effectLst/>
                <a:latin typeface="Arial" panose="020B0604020202020204" pitchFamily="34" charset="0"/>
                <a:cs typeface="Arial" panose="020B0604020202020204" pitchFamily="34" charset="0"/>
              </a:rPr>
              <a:t>= Number of bits sent per second</a:t>
            </a:r>
          </a:p>
          <a:p>
            <a:pPr marL="0" indent="0" algn="l" fontAlgn="base">
              <a:buNone/>
            </a:pPr>
            <a:r>
              <a:rPr lang="en-US" b="0" i="0" dirty="0">
                <a:effectLst/>
                <a:latin typeface="Arial" panose="020B0604020202020204" pitchFamily="34" charset="0"/>
                <a:cs typeface="Arial" panose="020B0604020202020204" pitchFamily="34" charset="0"/>
              </a:rPr>
              <a:t>= 1000 bits / </a:t>
            </a:r>
            <a:r>
              <a:rPr lang="en-US" dirty="0">
                <a:latin typeface="Arial" panose="020B0604020202020204" pitchFamily="34" charset="0"/>
                <a:cs typeface="Arial" panose="020B0604020202020204" pitchFamily="34" charset="0"/>
              </a:rPr>
              <a:t>100sec</a:t>
            </a:r>
            <a:endParaRPr lang="en-US" b="0" i="0" dirty="0">
              <a:effectLst/>
              <a:latin typeface="Arial" panose="020B0604020202020204" pitchFamily="34" charset="0"/>
              <a:cs typeface="Arial" panose="020B0604020202020204" pitchFamily="34" charset="0"/>
            </a:endParaRPr>
          </a:p>
          <a:p>
            <a:pPr marL="0" indent="0" algn="l" fontAlgn="base">
              <a:buNone/>
            </a:pPr>
            <a:r>
              <a:rPr lang="en-US" b="0" i="0" dirty="0">
                <a:effectLst/>
                <a:latin typeface="Arial" panose="020B0604020202020204" pitchFamily="34" charset="0"/>
                <a:cs typeface="Arial" panose="020B0604020202020204" pitchFamily="34" charset="0"/>
              </a:rPr>
              <a:t>= = 10 bits/sec</a:t>
            </a:r>
          </a:p>
          <a:p>
            <a:pPr marL="0" indent="0" algn="l" fontAlgn="base">
              <a:buNone/>
            </a:pPr>
            <a:r>
              <a:rPr lang="en-US" b="0" i="0" dirty="0">
                <a:effectLst/>
                <a:latin typeface="Arial" panose="020B0604020202020204" pitchFamily="34" charset="0"/>
                <a:cs typeface="Arial" panose="020B0604020202020204" pitchFamily="34" charset="0"/>
              </a:rPr>
              <a:t> </a:t>
            </a:r>
            <a:r>
              <a:rPr lang="en-US" b="1" i="0" u="sng" dirty="0">
                <a:effectLst/>
                <a:latin typeface="Arial" panose="020B0604020202020204" pitchFamily="34" charset="0"/>
                <a:cs typeface="Arial" panose="020B0604020202020204" pitchFamily="34" charset="0"/>
              </a:rPr>
              <a:t>Throughput Of  pure Aloha</a:t>
            </a:r>
            <a:endParaRPr lang="en-US" b="1" i="0" dirty="0">
              <a:effectLst/>
              <a:latin typeface="Arial" panose="020B0604020202020204" pitchFamily="34" charset="0"/>
              <a:cs typeface="Arial" panose="020B0604020202020204" pitchFamily="34" charset="0"/>
            </a:endParaRPr>
          </a:p>
          <a:p>
            <a:pPr marL="0" indent="0" algn="l" fontAlgn="base">
              <a:buNone/>
            </a:pPr>
            <a:r>
              <a:rPr lang="en-US" b="0" i="0">
                <a:effectLst/>
                <a:latin typeface="Arial" panose="020B0604020202020204" pitchFamily="34" charset="0"/>
                <a:cs typeface="Arial" panose="020B0604020202020204" pitchFamily="34" charset="0"/>
              </a:rPr>
              <a:t>= </a:t>
            </a:r>
            <a:r>
              <a:rPr lang="en-US" b="0" i="0" dirty="0">
                <a:effectLst/>
                <a:latin typeface="Arial" panose="020B0604020202020204" pitchFamily="34" charset="0"/>
                <a:cs typeface="Arial" panose="020B0604020202020204" pitchFamily="34" charset="0"/>
              </a:rPr>
              <a:t>Efficiency x Bandwidth</a:t>
            </a:r>
          </a:p>
          <a:p>
            <a:pPr marL="0" indent="0" algn="l" fontAlgn="base">
              <a:buNone/>
            </a:pPr>
            <a:r>
              <a:rPr lang="en-US" b="0" i="0" dirty="0">
                <a:effectLst/>
                <a:latin typeface="Arial" panose="020B0604020202020204" pitchFamily="34" charset="0"/>
                <a:cs typeface="Arial" panose="020B0604020202020204" pitchFamily="34" charset="0"/>
              </a:rPr>
              <a:t>= 0.18 x </a:t>
            </a:r>
            <a:r>
              <a:rPr lang="en-US" dirty="0">
                <a:latin typeface="Arial" panose="020B0604020202020204" pitchFamily="34" charset="0"/>
                <a:cs typeface="Arial" panose="020B0604020202020204" pitchFamily="34" charset="0"/>
              </a:rPr>
              <a:t>56</a:t>
            </a:r>
            <a:r>
              <a:rPr lang="en-US" b="0" i="0" dirty="0">
                <a:effectLst/>
                <a:latin typeface="Arial" panose="020B0604020202020204" pitchFamily="34" charset="0"/>
                <a:cs typeface="Arial" panose="020B0604020202020204" pitchFamily="34" charset="0"/>
              </a:rPr>
              <a:t>Kbps</a:t>
            </a:r>
          </a:p>
          <a:p>
            <a:pPr marL="0" indent="0" algn="l" fontAlgn="base">
              <a:buNone/>
            </a:pPr>
            <a:r>
              <a:rPr lang="en-US" b="0" i="0" dirty="0">
                <a:effectLst/>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10.3</a:t>
            </a:r>
            <a:r>
              <a:rPr lang="en-US" b="0" i="0" dirty="0">
                <a:effectLst/>
                <a:latin typeface="Arial" panose="020B0604020202020204" pitchFamily="34" charset="0"/>
                <a:cs typeface="Arial" panose="020B0604020202020204" pitchFamily="34" charset="0"/>
              </a:rPr>
              <a:t> Kbps</a:t>
            </a:r>
          </a:p>
          <a:p>
            <a:pPr algn="l" fontAlgn="base"/>
            <a:endParaRPr lang="en-US"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357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D7B9-D7E0-4EBA-8559-EB5224616E5A}"/>
              </a:ext>
            </a:extLst>
          </p:cNvPr>
          <p:cNvSpPr>
            <a:spLocks noGrp="1"/>
          </p:cNvSpPr>
          <p:nvPr>
            <p:ph type="title"/>
          </p:nvPr>
        </p:nvSpPr>
        <p:spPr>
          <a:xfrm>
            <a:off x="838200" y="365126"/>
            <a:ext cx="10515600" cy="728568"/>
          </a:xfrm>
        </p:spPr>
        <p:txBody>
          <a:bodyPr>
            <a:normAutofit fontScale="90000"/>
          </a:bodyPr>
          <a:lstStyle/>
          <a:p>
            <a:br>
              <a:rPr lang="en-US" altLang="en-US" sz="4400" baseline="0" dirty="0">
                <a:solidFill>
                  <a:srgbClr val="C00000"/>
                </a:solidFill>
                <a:latin typeface="Arial" panose="020B0604020202020204" pitchFamily="34" charset="0"/>
                <a:cs typeface="Arial" panose="020B0604020202020204" pitchFamily="34" charset="0"/>
              </a:rPr>
            </a:br>
            <a:r>
              <a:rPr lang="en-US" altLang="en-US" sz="4400" baseline="0" dirty="0">
                <a:solidFill>
                  <a:srgbClr val="C00000"/>
                </a:solidFill>
                <a:latin typeface="Arial" panose="020B0604020202020204" pitchFamily="34" charset="0"/>
                <a:cs typeface="Arial" panose="020B0604020202020204" pitchFamily="34" charset="0"/>
              </a:rPr>
              <a:t>Example 3a continued…</a:t>
            </a:r>
            <a:br>
              <a:rPr lang="en-US" altLang="en-US" sz="4400" baseline="0" dirty="0">
                <a:solidFill>
                  <a:schemeClr val="hlink"/>
                </a:solidFill>
              </a:rPr>
            </a:br>
            <a:endParaRPr lang="en-US" dirty="0"/>
          </a:p>
        </p:txBody>
      </p:sp>
      <p:sp>
        <p:nvSpPr>
          <p:cNvPr id="3" name="Content Placeholder 2">
            <a:extLst>
              <a:ext uri="{FF2B5EF4-FFF2-40B4-BE49-F238E27FC236}">
                <a16:creationId xmlns:a16="http://schemas.microsoft.com/office/drawing/2014/main" id="{8260AD73-0664-4960-B2D5-C9D32E9D09CE}"/>
              </a:ext>
            </a:extLst>
          </p:cNvPr>
          <p:cNvSpPr>
            <a:spLocks noGrp="1"/>
          </p:cNvSpPr>
          <p:nvPr>
            <p:ph idx="1"/>
          </p:nvPr>
        </p:nvSpPr>
        <p:spPr/>
        <p:txBody>
          <a:bodyPr>
            <a:normAutofit fontScale="85000" lnSpcReduction="20000"/>
          </a:bodyPr>
          <a:lstStyle/>
          <a:p>
            <a:pPr marL="0" indent="0" algn="l" fontAlgn="base">
              <a:buNone/>
            </a:pPr>
            <a:r>
              <a:rPr lang="en-US" b="1" i="0" u="sng" dirty="0">
                <a:solidFill>
                  <a:srgbClr val="303030"/>
                </a:solidFill>
                <a:effectLst/>
                <a:latin typeface="Arial" panose="020B0604020202020204" pitchFamily="34" charset="0"/>
                <a:cs typeface="Arial" panose="020B0604020202020204" pitchFamily="34" charset="0"/>
              </a:rPr>
              <a:t>Total Number Of Stations-</a:t>
            </a:r>
            <a:endParaRPr lang="en-US" b="1" i="0" dirty="0">
              <a:solidFill>
                <a:srgbClr val="303030"/>
              </a:solidFill>
              <a:effectLst/>
              <a:latin typeface="Arial" panose="020B0604020202020204" pitchFamily="34" charset="0"/>
              <a:cs typeface="Arial" panose="020B0604020202020204" pitchFamily="34" charset="0"/>
            </a:endParaRPr>
          </a:p>
          <a:p>
            <a:pPr marL="0" indent="0" algn="l" fontAlgn="base">
              <a:buNone/>
            </a:pPr>
            <a:endParaRPr lang="en-US" b="0" i="0" dirty="0">
              <a:solidFill>
                <a:srgbClr val="303030"/>
              </a:solidFill>
              <a:effectLst/>
              <a:latin typeface="Arial" panose="020B0604020202020204" pitchFamily="34" charset="0"/>
              <a:cs typeface="Arial" panose="020B0604020202020204" pitchFamily="34" charset="0"/>
            </a:endParaRPr>
          </a:p>
          <a:p>
            <a:pPr marL="0" indent="0" algn="l" fontAlgn="base">
              <a:buNone/>
            </a:pPr>
            <a:r>
              <a:rPr lang="en-US" sz="3300" b="0" i="0" dirty="0">
                <a:solidFill>
                  <a:srgbClr val="303030"/>
                </a:solidFill>
                <a:effectLst/>
                <a:latin typeface="Arial" panose="020B0604020202020204" pitchFamily="34" charset="0"/>
                <a:cs typeface="Arial" panose="020B0604020202020204" pitchFamily="34" charset="0"/>
              </a:rPr>
              <a:t>Throughput of pure  aloha = Total number of stations x Throughput of each station</a:t>
            </a:r>
          </a:p>
          <a:p>
            <a:pPr marL="0" indent="0" algn="l" fontAlgn="base">
              <a:buNone/>
            </a:pPr>
            <a:r>
              <a:rPr lang="en-US" sz="3300" b="0" i="0" dirty="0">
                <a:solidFill>
                  <a:srgbClr val="303030"/>
                </a:solidFill>
                <a:effectLst/>
                <a:latin typeface="Arial" panose="020B0604020202020204" pitchFamily="34" charset="0"/>
                <a:cs typeface="Arial" panose="020B0604020202020204" pitchFamily="34" charset="0"/>
              </a:rPr>
              <a:t>Substituting the values, we get-</a:t>
            </a:r>
          </a:p>
          <a:p>
            <a:pPr marL="0" indent="0" algn="l" fontAlgn="base">
              <a:buNone/>
            </a:pPr>
            <a:r>
              <a:rPr lang="en-US" sz="3300" b="0" i="0" dirty="0">
                <a:solidFill>
                  <a:srgbClr val="303030"/>
                </a:solidFill>
                <a:effectLst/>
                <a:latin typeface="Arial" panose="020B0604020202020204" pitchFamily="34" charset="0"/>
                <a:cs typeface="Arial" panose="020B0604020202020204" pitchFamily="34" charset="0"/>
              </a:rPr>
              <a:t>10.3 Kbps = N x 10 bits/sec</a:t>
            </a:r>
          </a:p>
          <a:p>
            <a:pPr marL="0" indent="0" algn="l" fontAlgn="base">
              <a:buNone/>
            </a:pPr>
            <a:r>
              <a:rPr lang="en-US" sz="3300" b="0" i="0" dirty="0">
                <a:solidFill>
                  <a:srgbClr val="303030"/>
                </a:solidFill>
                <a:effectLst/>
                <a:latin typeface="Arial" panose="020B0604020202020204" pitchFamily="34" charset="0"/>
                <a:cs typeface="Arial" panose="020B0604020202020204" pitchFamily="34" charset="0"/>
              </a:rPr>
              <a:t>∴ N =</a:t>
            </a:r>
            <a:r>
              <a:rPr lang="en-US" sz="2400" dirty="0">
                <a:latin typeface="Arial" panose="020B0604020202020204" pitchFamily="34" charset="0"/>
                <a:cs typeface="Arial" panose="020B0604020202020204" pitchFamily="34" charset="0"/>
              </a:rPr>
              <a:t>10300/10=1030 stations.</a:t>
            </a:r>
            <a:endParaRPr lang="en-US" sz="3300" b="0" i="0" dirty="0">
              <a:solidFill>
                <a:srgbClr val="303030"/>
              </a:solidFill>
              <a:effectLst/>
              <a:latin typeface="Arial" panose="020B0604020202020204" pitchFamily="34" charset="0"/>
              <a:cs typeface="Arial" panose="020B0604020202020204" pitchFamily="34" charset="0"/>
            </a:endParaRPr>
          </a:p>
          <a:p>
            <a:pPr marL="0" indent="0" algn="l" fontAlgn="base">
              <a:buNone/>
            </a:pPr>
            <a:r>
              <a:rPr lang="en-US" sz="3300" b="0" i="0" dirty="0">
                <a:solidFill>
                  <a:srgbClr val="303030"/>
                </a:solidFill>
                <a:effectLst/>
                <a:latin typeface="Arial" panose="020B0604020202020204" pitchFamily="34" charset="0"/>
                <a:cs typeface="Arial" panose="020B0604020202020204" pitchFamily="34" charset="0"/>
              </a:rPr>
              <a:t>Thus, required value of N </a:t>
            </a:r>
            <a:r>
              <a:rPr lang="en-US" sz="3300" dirty="0">
                <a:solidFill>
                  <a:srgbClr val="303030"/>
                </a:solidFill>
                <a:latin typeface="Arial" panose="020B0604020202020204" pitchFamily="34" charset="0"/>
                <a:cs typeface="Arial" panose="020B0604020202020204" pitchFamily="34" charset="0"/>
              </a:rPr>
              <a:t>=1030</a:t>
            </a:r>
            <a:endParaRPr lang="en-US" sz="3300" b="0" i="0" dirty="0">
              <a:solidFill>
                <a:srgbClr val="303030"/>
              </a:solidFill>
              <a:effectLst/>
              <a:latin typeface="Arial" panose="020B0604020202020204" pitchFamily="34" charset="0"/>
              <a:cs typeface="Arial" panose="020B0604020202020204" pitchFamily="34" charset="0"/>
            </a:endParaRPr>
          </a:p>
          <a:p>
            <a:pPr marL="0" indent="0" algn="l" fontAlgn="base">
              <a:buNone/>
            </a:pPr>
            <a:r>
              <a:rPr lang="en-US" sz="3300" b="0" i="0" dirty="0">
                <a:solidFill>
                  <a:srgbClr val="303030"/>
                </a:solidFill>
                <a:effectLst/>
                <a:latin typeface="Arial" panose="020B0604020202020204" pitchFamily="34" charset="0"/>
                <a:cs typeface="Arial" panose="020B0604020202020204" pitchFamily="34" charset="0"/>
              </a:rPr>
              <a:t> </a:t>
            </a:r>
          </a:p>
          <a:p>
            <a:pPr marL="0" indent="0" algn="l" fontAlgn="base">
              <a:buNone/>
            </a:pPr>
            <a:endParaRPr lang="en-US" b="0" i="0" dirty="0">
              <a:solidFill>
                <a:srgbClr val="303030"/>
              </a:solidFill>
              <a:effectLst/>
              <a:latin typeface="Arial" panose="020B0604020202020204" pitchFamily="34" charset="0"/>
              <a:cs typeface="Arial" panose="020B0604020202020204" pitchFamily="34" charset="0"/>
            </a:endParaRPr>
          </a:p>
          <a:p>
            <a:pPr marL="0" indent="0" algn="l" fontAlgn="base">
              <a:buNone/>
            </a:pPr>
            <a:r>
              <a:rPr lang="en-US" b="0" i="0" dirty="0">
                <a:solidFill>
                  <a:srgbClr val="303030"/>
                </a:solidFill>
                <a:effectLst/>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7210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79AB-7722-4594-BE03-153903B60F2E}"/>
              </a:ext>
            </a:extLst>
          </p:cNvPr>
          <p:cNvSpPr>
            <a:spLocks noGrp="1"/>
          </p:cNvSpPr>
          <p:nvPr>
            <p:ph type="title"/>
          </p:nvPr>
        </p:nvSpPr>
        <p:spPr>
          <a:xfrm>
            <a:off x="838200" y="365125"/>
            <a:ext cx="10515600" cy="52238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0B958107-6101-4FA0-BB1E-1779AE8FC1A1}"/>
              </a:ext>
            </a:extLst>
          </p:cNvPr>
          <p:cNvSpPr>
            <a:spLocks noGrp="1"/>
          </p:cNvSpPr>
          <p:nvPr>
            <p:ph idx="1"/>
          </p:nvPr>
        </p:nvSpPr>
        <p:spPr>
          <a:xfrm>
            <a:off x="838200" y="1183341"/>
            <a:ext cx="10515600" cy="4993622"/>
          </a:xfrm>
        </p:spPr>
        <p:txBody>
          <a:bodyPr>
            <a:normAutofit lnSpcReduction="10000"/>
          </a:bodyPr>
          <a:lstStyle/>
          <a:p>
            <a:r>
              <a:rPr lang="en-US" dirty="0">
                <a:latin typeface="Arial" panose="020B0604020202020204" pitchFamily="34" charset="0"/>
                <a:cs typeface="Arial" panose="020B0604020202020204" pitchFamily="34" charset="0"/>
              </a:rPr>
              <a:t>1000 airline reservation stations are competing for the use of a single slotted ALOHA channel. The average station makes 36 requests per hour. A slot is 100 µsec. What is the approximate total channel load?</a:t>
            </a:r>
          </a:p>
          <a:p>
            <a:r>
              <a:rPr lang="en-US" dirty="0">
                <a:latin typeface="Arial" panose="020B0604020202020204" pitchFamily="34" charset="0"/>
                <a:cs typeface="Arial" panose="020B0604020202020204" pitchFamily="34" charset="0"/>
              </a:rPr>
              <a:t>Each terminal makes one request every </a:t>
            </a:r>
          </a:p>
          <a:p>
            <a:r>
              <a:rPr lang="en-US" dirty="0">
                <a:latin typeface="Arial" panose="020B0604020202020204" pitchFamily="34" charset="0"/>
                <a:cs typeface="Arial" panose="020B0604020202020204" pitchFamily="34" charset="0"/>
              </a:rPr>
              <a:t>3600 sec / 36 request = 100 sec. </a:t>
            </a:r>
          </a:p>
          <a:p>
            <a:r>
              <a:rPr lang="en-US" dirty="0">
                <a:latin typeface="Arial" panose="020B0604020202020204" pitchFamily="34" charset="0"/>
                <a:cs typeface="Arial" panose="020B0604020202020204" pitchFamily="34" charset="0"/>
              </a:rPr>
              <a:t>Total load is </a:t>
            </a:r>
            <a:r>
              <a:rPr lang="en-US" dirty="0">
                <a:solidFill>
                  <a:srgbClr val="C00000"/>
                </a:solidFill>
                <a:latin typeface="Arial" panose="020B0604020202020204" pitchFamily="34" charset="0"/>
                <a:cs typeface="Arial" panose="020B0604020202020204" pitchFamily="34" charset="0"/>
              </a:rPr>
              <a:t>1000 requests per 100 sec </a:t>
            </a:r>
            <a:r>
              <a:rPr lang="en-US" dirty="0">
                <a:latin typeface="Arial" panose="020B0604020202020204" pitchFamily="34" charset="0"/>
                <a:cs typeface="Arial" panose="020B0604020202020204" pitchFamily="34" charset="0"/>
              </a:rPr>
              <a:t>or </a:t>
            </a:r>
            <a:r>
              <a:rPr lang="en-US" dirty="0">
                <a:solidFill>
                  <a:srgbClr val="C00000"/>
                </a:solidFill>
                <a:latin typeface="Arial" panose="020B0604020202020204" pitchFamily="34" charset="0"/>
                <a:cs typeface="Arial" panose="020B0604020202020204" pitchFamily="34" charset="0"/>
              </a:rPr>
              <a:t>10 requests per sec</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There are </a:t>
            </a:r>
          </a:p>
          <a:p>
            <a:r>
              <a:rPr lang="en-US" dirty="0">
                <a:latin typeface="Arial" panose="020B0604020202020204" pitchFamily="34" charset="0"/>
                <a:cs typeface="Arial" panose="020B0604020202020204" pitchFamily="34" charset="0"/>
              </a:rPr>
              <a:t>1 sec/100 µsec = 1000000 µsec / 100 µsec = 10000 slots in one second. </a:t>
            </a:r>
          </a:p>
          <a:p>
            <a:r>
              <a:rPr lang="en-US" dirty="0">
                <a:latin typeface="Arial" panose="020B0604020202020204" pitchFamily="34" charset="0"/>
                <a:cs typeface="Arial" panose="020B0604020202020204" pitchFamily="34" charset="0"/>
              </a:rPr>
              <a:t>Hence, G=10/10000=1/1000=0.1%</a:t>
            </a:r>
          </a:p>
        </p:txBody>
      </p:sp>
    </p:spTree>
    <p:extLst>
      <p:ext uri="{BB962C8B-B14F-4D97-AF65-F5344CB8AC3E}">
        <p14:creationId xmlns:p14="http://schemas.microsoft.com/office/powerpoint/2010/main" val="308487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0E23FF99-C0A9-6C25-16CD-872900C043CA}"/>
              </a:ext>
            </a:extLst>
          </p:cNvPr>
          <p:cNvSpPr>
            <a:spLocks noChangeArrowheads="1"/>
          </p:cNvSpPr>
          <p:nvPr/>
        </p:nvSpPr>
        <p:spPr bwMode="auto">
          <a:xfrm>
            <a:off x="591671" y="320676"/>
            <a:ext cx="1011218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2800" baseline="0" dirty="0">
                <a:solidFill>
                  <a:srgbClr val="C00000"/>
                </a:solidFill>
                <a:latin typeface="Arial" panose="020B0604020202020204" pitchFamily="34" charset="0"/>
                <a:cs typeface="Arial" panose="020B0604020202020204" pitchFamily="34" charset="0"/>
              </a:rPr>
              <a:t>Example 4</a:t>
            </a:r>
            <a:endParaRPr lang="en-US" altLang="en-US" b="0" i="0" baseline="0" dirty="0"/>
          </a:p>
          <a:p>
            <a:r>
              <a:rPr lang="en-US" altLang="en-US" b="0" i="0" baseline="0" dirty="0"/>
              <a:t>Let us call G the average number of frames generated by the system during one frame transmission time. Then it can be proved that the average number of successful transmissions for pure ALOHA is </a:t>
            </a:r>
          </a:p>
          <a:p>
            <a:pPr algn="ctr"/>
            <a:r>
              <a:rPr lang="en-US" altLang="en-US" b="0" i="0" baseline="0" dirty="0"/>
              <a:t>S = G x </a:t>
            </a:r>
            <a:r>
              <a:rPr lang="en-US" altLang="en-US" b="0" baseline="0" dirty="0"/>
              <a:t>e</a:t>
            </a:r>
            <a:r>
              <a:rPr lang="en-US" altLang="en-US" b="0" baseline="30000" dirty="0"/>
              <a:t>-2G</a:t>
            </a:r>
            <a:endParaRPr lang="en-GB" altLang="en-US" dirty="0"/>
          </a:p>
        </p:txBody>
      </p:sp>
      <p:pic>
        <p:nvPicPr>
          <p:cNvPr id="20484" name="Picture 2">
            <a:extLst>
              <a:ext uri="{FF2B5EF4-FFF2-40B4-BE49-F238E27FC236}">
                <a16:creationId xmlns:a16="http://schemas.microsoft.com/office/drawing/2014/main" id="{5C684E3E-F829-C2AA-A959-EC448CBDA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614" y="2799041"/>
            <a:ext cx="10626772" cy="3738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A797A00F-0A60-6B85-D9F0-58850521818E}"/>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3556" name="Rectangle 3">
            <a:extLst>
              <a:ext uri="{FF2B5EF4-FFF2-40B4-BE49-F238E27FC236}">
                <a16:creationId xmlns:a16="http://schemas.microsoft.com/office/drawing/2014/main" id="{B042B10C-20F5-EE75-FBA7-E884ECA40B8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3557" name="Rectangle 4">
            <a:extLst>
              <a:ext uri="{FF2B5EF4-FFF2-40B4-BE49-F238E27FC236}">
                <a16:creationId xmlns:a16="http://schemas.microsoft.com/office/drawing/2014/main" id="{B486B5A9-7E99-E638-A10E-093575264668}"/>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3558" name="Rectangle 5">
            <a:extLst>
              <a:ext uri="{FF2B5EF4-FFF2-40B4-BE49-F238E27FC236}">
                <a16:creationId xmlns:a16="http://schemas.microsoft.com/office/drawing/2014/main" id="{2ABE10DB-D51B-029B-F65F-06711B156BDE}"/>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3559" name="Rectangle 6">
            <a:extLst>
              <a:ext uri="{FF2B5EF4-FFF2-40B4-BE49-F238E27FC236}">
                <a16:creationId xmlns:a16="http://schemas.microsoft.com/office/drawing/2014/main" id="{3FD0947F-BBE9-61E7-334E-16388D0E81D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3560" name="Rectangle 7">
            <a:extLst>
              <a:ext uri="{FF2B5EF4-FFF2-40B4-BE49-F238E27FC236}">
                <a16:creationId xmlns:a16="http://schemas.microsoft.com/office/drawing/2014/main" id="{074F0DF3-FBE6-B627-0731-A2C01098D8BE}"/>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3561" name="Rectangle 8">
            <a:extLst>
              <a:ext uri="{FF2B5EF4-FFF2-40B4-BE49-F238E27FC236}">
                <a16:creationId xmlns:a16="http://schemas.microsoft.com/office/drawing/2014/main" id="{DEE0FDDA-AD61-1DD6-BE3D-F7D1A038FE34}"/>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3562" name="Rectangle 9">
            <a:extLst>
              <a:ext uri="{FF2B5EF4-FFF2-40B4-BE49-F238E27FC236}">
                <a16:creationId xmlns:a16="http://schemas.microsoft.com/office/drawing/2014/main" id="{F3AEAC77-464E-DA6B-B9E6-EE2F548DDF29}"/>
              </a:ext>
            </a:extLst>
          </p:cNvPr>
          <p:cNvSpPr>
            <a:spLocks noChangeArrowheads="1"/>
          </p:cNvSpPr>
          <p:nvPr/>
        </p:nvSpPr>
        <p:spPr bwMode="auto">
          <a:xfrm>
            <a:off x="1752600" y="838201"/>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baseline="0"/>
              <a:t>A pure ALOHA network transmits 200-bit frames on a shared channel of 200 kbps. What is the throughput if the system (all stations together) produces</a:t>
            </a:r>
          </a:p>
          <a:p>
            <a:pPr algn="just"/>
            <a:r>
              <a:rPr lang="en-US" altLang="en-US" baseline="0">
                <a:solidFill>
                  <a:schemeClr val="hlink"/>
                </a:solidFill>
              </a:rPr>
              <a:t>a.</a:t>
            </a:r>
            <a:r>
              <a:rPr lang="en-US" altLang="en-US" baseline="0"/>
              <a:t> 1000 frames per second    </a:t>
            </a:r>
            <a:r>
              <a:rPr lang="en-US" altLang="en-US" baseline="0">
                <a:solidFill>
                  <a:schemeClr val="hlink"/>
                </a:solidFill>
              </a:rPr>
              <a:t>b.</a:t>
            </a:r>
            <a:r>
              <a:rPr lang="en-US" altLang="en-US" baseline="0"/>
              <a:t> 500 frames per second</a:t>
            </a:r>
          </a:p>
          <a:p>
            <a:pPr algn="just"/>
            <a:r>
              <a:rPr lang="en-US" altLang="en-US" baseline="0">
                <a:solidFill>
                  <a:schemeClr val="hlink"/>
                </a:solidFill>
              </a:rPr>
              <a:t>c.</a:t>
            </a:r>
            <a:r>
              <a:rPr lang="en-US" altLang="en-US" baseline="0"/>
              <a:t> 250 frames per second.</a:t>
            </a:r>
          </a:p>
        </p:txBody>
      </p:sp>
      <p:sp>
        <p:nvSpPr>
          <p:cNvPr id="23563" name="Text Box 10">
            <a:extLst>
              <a:ext uri="{FF2B5EF4-FFF2-40B4-BE49-F238E27FC236}">
                <a16:creationId xmlns:a16="http://schemas.microsoft.com/office/drawing/2014/main" id="{804EB4DF-FB40-B700-D9B9-E9F171672713}"/>
              </a:ext>
            </a:extLst>
          </p:cNvPr>
          <p:cNvSpPr txBox="1">
            <a:spLocks noChangeArrowheads="1"/>
          </p:cNvSpPr>
          <p:nvPr/>
        </p:nvSpPr>
        <p:spPr bwMode="auto">
          <a:xfrm>
            <a:off x="2667001" y="0"/>
            <a:ext cx="22124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3200" baseline="0" dirty="0">
                <a:solidFill>
                  <a:srgbClr val="C00000"/>
                </a:solidFill>
                <a:latin typeface="Arial" panose="020B0604020202020204" pitchFamily="34" charset="0"/>
                <a:cs typeface="Arial" panose="020B0604020202020204" pitchFamily="34" charset="0"/>
              </a:rPr>
              <a:t>Example 5</a:t>
            </a:r>
            <a:endParaRPr lang="en-US" altLang="en-US" sz="3200" baseline="0" dirty="0">
              <a:solidFill>
                <a:schemeClr val="hlink"/>
              </a:solidFill>
            </a:endParaRPr>
          </a:p>
        </p:txBody>
      </p:sp>
      <p:sp>
        <p:nvSpPr>
          <p:cNvPr id="23564" name="Rectangle 11">
            <a:extLst>
              <a:ext uri="{FF2B5EF4-FFF2-40B4-BE49-F238E27FC236}">
                <a16:creationId xmlns:a16="http://schemas.microsoft.com/office/drawing/2014/main" id="{AB3E07AA-7F6D-0483-DB78-FC93BF4BC450}"/>
              </a:ext>
            </a:extLst>
          </p:cNvPr>
          <p:cNvSpPr>
            <a:spLocks noChangeArrowheads="1"/>
          </p:cNvSpPr>
          <p:nvPr/>
        </p:nvSpPr>
        <p:spPr bwMode="auto">
          <a:xfrm>
            <a:off x="1752600" y="3200401"/>
            <a:ext cx="8686800" cy="3540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baseline="0" dirty="0">
                <a:solidFill>
                  <a:schemeClr val="hlink"/>
                </a:solidFill>
              </a:rPr>
              <a:t>Solution</a:t>
            </a:r>
          </a:p>
          <a:p>
            <a:pPr algn="just"/>
            <a:r>
              <a:rPr lang="en-US" altLang="en-US" i="0" baseline="0" dirty="0">
                <a:solidFill>
                  <a:srgbClr val="C00000"/>
                </a:solidFill>
              </a:rPr>
              <a:t>The frame transmission time is 200/200 kbps or 1 </a:t>
            </a:r>
            <a:r>
              <a:rPr lang="en-US" altLang="en-US" i="0" baseline="0" dirty="0" err="1">
                <a:solidFill>
                  <a:srgbClr val="C00000"/>
                </a:solidFill>
              </a:rPr>
              <a:t>ms</a:t>
            </a:r>
            <a:r>
              <a:rPr lang="en-US" altLang="en-US" baseline="0" dirty="0" err="1"/>
              <a:t>.</a:t>
            </a:r>
            <a:endParaRPr lang="en-US" altLang="en-US" baseline="0" dirty="0"/>
          </a:p>
          <a:p>
            <a:r>
              <a:rPr lang="en-US" altLang="en-US" baseline="0" dirty="0">
                <a:solidFill>
                  <a:schemeClr val="hlink"/>
                </a:solidFill>
              </a:rPr>
              <a:t>a.</a:t>
            </a:r>
            <a:r>
              <a:rPr lang="en-US" altLang="en-US" baseline="0" dirty="0"/>
              <a:t> If the system creates 1000 frames per second, this is 1</a:t>
            </a:r>
            <a:br>
              <a:rPr lang="en-US" altLang="en-US" baseline="0" dirty="0"/>
            </a:br>
            <a:r>
              <a:rPr lang="en-US" altLang="en-US" baseline="0" dirty="0"/>
              <a:t>    frame per millisecond. The capacity is G 1. In this case </a:t>
            </a:r>
            <a:br>
              <a:rPr lang="en-US" altLang="en-US" baseline="0" dirty="0"/>
            </a:br>
            <a:r>
              <a:rPr lang="en-US" altLang="en-US" baseline="0" dirty="0"/>
              <a:t>    S = G× e</a:t>
            </a:r>
            <a:r>
              <a:rPr lang="en-US" altLang="en-US" baseline="30000" dirty="0"/>
              <a:t>−2 G</a:t>
            </a:r>
            <a:r>
              <a:rPr lang="en-US" altLang="en-US" baseline="0" dirty="0"/>
              <a:t> =  1 x e -2 x 1 S = 0.135 (13.5 percent). This means that the throughput is 1000 × 0.135 = 135 frames. Only 135 frames out of 1000 will probably survive.</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E6D425FB-24E3-7B6F-6115-F467CC89DF09}"/>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0" name="Rectangle 3">
            <a:extLst>
              <a:ext uri="{FF2B5EF4-FFF2-40B4-BE49-F238E27FC236}">
                <a16:creationId xmlns:a16="http://schemas.microsoft.com/office/drawing/2014/main" id="{D13868F4-BE9D-E2F0-09D4-9AEA4D568E25}"/>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1" name="Rectangle 4">
            <a:extLst>
              <a:ext uri="{FF2B5EF4-FFF2-40B4-BE49-F238E27FC236}">
                <a16:creationId xmlns:a16="http://schemas.microsoft.com/office/drawing/2014/main" id="{FCC5773A-1E6D-B582-4790-8168B3C93A84}"/>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2" name="Rectangle 5">
            <a:extLst>
              <a:ext uri="{FF2B5EF4-FFF2-40B4-BE49-F238E27FC236}">
                <a16:creationId xmlns:a16="http://schemas.microsoft.com/office/drawing/2014/main" id="{A4C90551-AC97-E6EF-FA10-18F8355A3CB2}"/>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3" name="Rectangle 6">
            <a:extLst>
              <a:ext uri="{FF2B5EF4-FFF2-40B4-BE49-F238E27FC236}">
                <a16:creationId xmlns:a16="http://schemas.microsoft.com/office/drawing/2014/main" id="{827C8F68-39EE-1EA2-9175-67FA9787394E}"/>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4" name="Rectangle 7">
            <a:extLst>
              <a:ext uri="{FF2B5EF4-FFF2-40B4-BE49-F238E27FC236}">
                <a16:creationId xmlns:a16="http://schemas.microsoft.com/office/drawing/2014/main" id="{A37B6070-A73D-C876-FBFC-37AD37031F37}"/>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5" name="Rectangle 8">
            <a:extLst>
              <a:ext uri="{FF2B5EF4-FFF2-40B4-BE49-F238E27FC236}">
                <a16:creationId xmlns:a16="http://schemas.microsoft.com/office/drawing/2014/main" id="{78F3803E-FEFA-CD91-E594-89A54424232A}"/>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24586" name="Text Box 10">
            <a:extLst>
              <a:ext uri="{FF2B5EF4-FFF2-40B4-BE49-F238E27FC236}">
                <a16:creationId xmlns:a16="http://schemas.microsoft.com/office/drawing/2014/main" id="{6565E0EF-AAAC-D1FA-8B61-9C684C154564}"/>
              </a:ext>
            </a:extLst>
          </p:cNvPr>
          <p:cNvSpPr txBox="1">
            <a:spLocks noChangeArrowheads="1"/>
          </p:cNvSpPr>
          <p:nvPr/>
        </p:nvSpPr>
        <p:spPr bwMode="auto">
          <a:xfrm>
            <a:off x="2667000" y="0"/>
            <a:ext cx="42739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3200" baseline="0" dirty="0">
                <a:solidFill>
                  <a:srgbClr val="C00000"/>
                </a:solidFill>
                <a:latin typeface="Arial" panose="020B0604020202020204" pitchFamily="34" charset="0"/>
                <a:cs typeface="Arial" panose="020B0604020202020204" pitchFamily="34" charset="0"/>
              </a:rPr>
              <a:t>Example 5</a:t>
            </a:r>
            <a:r>
              <a:rPr lang="en-US" altLang="en-US" sz="3200" baseline="0" dirty="0">
                <a:solidFill>
                  <a:schemeClr val="hlink"/>
                </a:solidFill>
              </a:rPr>
              <a:t> </a:t>
            </a:r>
            <a:r>
              <a:rPr lang="en-US" altLang="en-US" sz="3200" baseline="0" dirty="0">
                <a:solidFill>
                  <a:srgbClr val="C00000"/>
                </a:solidFill>
              </a:rPr>
              <a:t>(continued)</a:t>
            </a:r>
          </a:p>
        </p:txBody>
      </p:sp>
      <p:sp>
        <p:nvSpPr>
          <p:cNvPr id="24587" name="Rectangle 11">
            <a:extLst>
              <a:ext uri="{FF2B5EF4-FFF2-40B4-BE49-F238E27FC236}">
                <a16:creationId xmlns:a16="http://schemas.microsoft.com/office/drawing/2014/main" id="{3D00A029-C58E-B100-6737-E7376B807F0B}"/>
              </a:ext>
            </a:extLst>
          </p:cNvPr>
          <p:cNvSpPr>
            <a:spLocks noChangeArrowheads="1"/>
          </p:cNvSpPr>
          <p:nvPr/>
        </p:nvSpPr>
        <p:spPr bwMode="auto">
          <a:xfrm>
            <a:off x="1752600" y="838201"/>
            <a:ext cx="8686800" cy="5643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baseline="0">
                <a:solidFill>
                  <a:schemeClr val="hlink"/>
                </a:solidFill>
              </a:rPr>
              <a:t>b.</a:t>
            </a:r>
            <a:r>
              <a:rPr lang="en-US" altLang="en-US" baseline="0"/>
              <a:t> If the system creates 500 frames per second, this is</a:t>
            </a:r>
            <a:br>
              <a:rPr lang="en-US" altLang="en-US" baseline="0"/>
            </a:br>
            <a:r>
              <a:rPr lang="en-US" altLang="en-US" baseline="0"/>
              <a:t>    (1/2) frame per millisecond. The load is (1/2). In this</a:t>
            </a:r>
            <a:br>
              <a:rPr lang="en-US" altLang="en-US" baseline="0"/>
            </a:br>
            <a:r>
              <a:rPr lang="en-US" altLang="en-US" baseline="0"/>
              <a:t>    case S = G × e </a:t>
            </a:r>
            <a:r>
              <a:rPr lang="en-US" altLang="en-US" baseline="30000"/>
              <a:t>−2G</a:t>
            </a:r>
            <a:r>
              <a:rPr lang="en-US" altLang="en-US" baseline="0"/>
              <a:t> or S = 0.184 (18.4 percent). This</a:t>
            </a:r>
            <a:br>
              <a:rPr lang="en-US" altLang="en-US" baseline="0"/>
            </a:br>
            <a:r>
              <a:rPr lang="en-US" altLang="en-US" baseline="0"/>
              <a:t>    means that the throughput is 500 × 0.184 = 92 and that</a:t>
            </a:r>
            <a:br>
              <a:rPr lang="en-US" altLang="en-US" baseline="0"/>
            </a:br>
            <a:r>
              <a:rPr lang="en-US" altLang="en-US" baseline="0"/>
              <a:t>    only 92 frames out of 500 will probably survive. Note</a:t>
            </a:r>
            <a:br>
              <a:rPr lang="en-US" altLang="en-US" baseline="0"/>
            </a:br>
            <a:r>
              <a:rPr lang="en-US" altLang="en-US" baseline="0"/>
              <a:t>    that this is the maximum throughput case,</a:t>
            </a:r>
            <a:br>
              <a:rPr lang="en-US" altLang="en-US" baseline="0"/>
            </a:br>
            <a:r>
              <a:rPr lang="en-US" altLang="en-US" baseline="0"/>
              <a:t>    percentagewise.</a:t>
            </a:r>
          </a:p>
          <a:p>
            <a:pPr algn="just"/>
            <a:endParaRPr lang="en-US" altLang="en-US" baseline="0"/>
          </a:p>
          <a:p>
            <a:pPr algn="just"/>
            <a:r>
              <a:rPr lang="en-US" altLang="en-US" baseline="0">
                <a:solidFill>
                  <a:schemeClr val="hlink"/>
                </a:solidFill>
              </a:rPr>
              <a:t>c.</a:t>
            </a:r>
            <a:r>
              <a:rPr lang="en-US" altLang="en-US" baseline="0"/>
              <a:t> If the system creates 250 frames per second, this is (1/4)</a:t>
            </a:r>
            <a:br>
              <a:rPr lang="en-US" altLang="en-US" baseline="0"/>
            </a:br>
            <a:r>
              <a:rPr lang="en-US" altLang="en-US" baseline="0"/>
              <a:t>    frame per millisecond. The load is (1/4). In this case </a:t>
            </a:r>
            <a:br>
              <a:rPr lang="en-US" altLang="en-US" baseline="0"/>
            </a:br>
            <a:r>
              <a:rPr lang="en-US" altLang="en-US" baseline="0"/>
              <a:t>    S = G × e −</a:t>
            </a:r>
            <a:r>
              <a:rPr lang="en-US" altLang="en-US" baseline="30000"/>
              <a:t>2G</a:t>
            </a:r>
            <a:r>
              <a:rPr lang="en-US" altLang="en-US" baseline="0"/>
              <a:t> or S = 0.152 (15.2 percent). This means</a:t>
            </a:r>
            <a:br>
              <a:rPr lang="en-US" altLang="en-US" baseline="0"/>
            </a:br>
            <a:r>
              <a:rPr lang="en-US" altLang="en-US" baseline="0"/>
              <a:t>    that the throughput is 250 × 0.152 = 38. Only 38</a:t>
            </a:r>
            <a:br>
              <a:rPr lang="en-US" altLang="en-US" baseline="0"/>
            </a:br>
            <a:r>
              <a:rPr lang="en-US" altLang="en-US" baseline="0"/>
              <a:t>    frames out of 250 will probably survive.</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DE559-86A2-4E30-BDC3-EB6CD7BF6A72}"/>
              </a:ext>
            </a:extLst>
          </p:cNvPr>
          <p:cNvSpPr>
            <a:spLocks noGrp="1"/>
          </p:cNvSpPr>
          <p:nvPr>
            <p:ph type="title"/>
          </p:nvPr>
        </p:nvSpPr>
        <p:spPr>
          <a:xfrm>
            <a:off x="838200" y="343646"/>
            <a:ext cx="10515600" cy="674781"/>
          </a:xfrm>
        </p:spPr>
        <p:txBody>
          <a:bodyPr>
            <a:normAutofit fontScale="90000"/>
          </a:bodyPr>
          <a:lstStyle/>
          <a:p>
            <a:pPr algn="ctr"/>
            <a:br>
              <a:rPr lang="en-US" dirty="0"/>
            </a:br>
            <a:r>
              <a:rPr lang="en-US" dirty="0"/>
              <a:t>CSMA –CD</a:t>
            </a:r>
            <a:br>
              <a:rPr lang="en-US" dirty="0"/>
            </a:br>
            <a:endParaRPr lang="en-US" dirty="0"/>
          </a:p>
        </p:txBody>
      </p:sp>
      <p:sp>
        <p:nvSpPr>
          <p:cNvPr id="3" name="Content Placeholder 2">
            <a:extLst>
              <a:ext uri="{FF2B5EF4-FFF2-40B4-BE49-F238E27FC236}">
                <a16:creationId xmlns:a16="http://schemas.microsoft.com/office/drawing/2014/main" id="{968995AB-9CE2-42D9-8B8F-DAFF9FD9577C}"/>
              </a:ext>
            </a:extLst>
          </p:cNvPr>
          <p:cNvSpPr>
            <a:spLocks noGrp="1"/>
          </p:cNvSpPr>
          <p:nvPr>
            <p:ph idx="1"/>
          </p:nvPr>
        </p:nvSpPr>
        <p:spPr>
          <a:xfrm>
            <a:off x="838200" y="1344705"/>
            <a:ext cx="10515600" cy="4868116"/>
          </a:xfrm>
        </p:spPr>
        <p:txBody>
          <a:bodyPr/>
          <a:lstStyle/>
          <a:p>
            <a:r>
              <a:rPr lang="en-GB" altLang="en-US" sz="3200" b="1" dirty="0">
                <a:solidFill>
                  <a:srgbClr val="C00000"/>
                </a:solidFill>
                <a:latin typeface="Arial" panose="020B0604020202020204" pitchFamily="34" charset="0"/>
                <a:cs typeface="Arial" panose="020B0604020202020204" pitchFamily="34" charset="0"/>
              </a:rPr>
              <a:t>Propagation delay =</a:t>
            </a:r>
            <a:r>
              <a:rPr lang="en-GB" altLang="en-US" sz="2800" b="1" dirty="0">
                <a:solidFill>
                  <a:srgbClr val="C00000"/>
                </a:solidFill>
                <a:latin typeface="Arial" panose="020B0604020202020204" pitchFamily="34" charset="0"/>
                <a:cs typeface="Arial" panose="020B0604020202020204" pitchFamily="34" charset="0"/>
              </a:rPr>
              <a:t>Distance / Propagation speed</a:t>
            </a:r>
          </a:p>
          <a:p>
            <a:r>
              <a:rPr lang="en-GB" altLang="en-US" b="1" dirty="0">
                <a:solidFill>
                  <a:srgbClr val="C00000"/>
                </a:solidFill>
                <a:latin typeface="Arial" panose="020B0604020202020204" pitchFamily="34" charset="0"/>
                <a:cs typeface="Arial" panose="020B0604020202020204" pitchFamily="34" charset="0"/>
              </a:rPr>
              <a:t>Minimum frame size = 2 x Propagation delay x    Bandwidth</a:t>
            </a:r>
          </a:p>
          <a:p>
            <a:pPr marL="0" indent="0" algn="ctr">
              <a:buNone/>
            </a:pPr>
            <a:r>
              <a:rPr lang="en-GB" b="1" dirty="0">
                <a:solidFill>
                  <a:srgbClr val="C00000"/>
                </a:solidFill>
                <a:latin typeface="Arial" panose="020B0604020202020204" pitchFamily="34" charset="0"/>
                <a:cs typeface="Arial" panose="020B0604020202020204" pitchFamily="34" charset="0"/>
              </a:rPr>
              <a:t>Or</a:t>
            </a:r>
          </a:p>
          <a:p>
            <a:pPr marL="0" indent="0" algn="ctr">
              <a:buNone/>
            </a:pPr>
            <a:r>
              <a:rPr lang="en-GB" altLang="en-US" b="1" dirty="0">
                <a:solidFill>
                  <a:srgbClr val="C00000"/>
                </a:solidFill>
                <a:latin typeface="Arial" panose="020B0604020202020204" pitchFamily="34" charset="0"/>
                <a:cs typeface="Arial" panose="020B0604020202020204" pitchFamily="34" charset="0"/>
              </a:rPr>
              <a:t>Minimum frame size = </a:t>
            </a:r>
            <a:r>
              <a:rPr lang="en-US" altLang="en-US" b="1" i="0" baseline="0" dirty="0">
                <a:solidFill>
                  <a:srgbClr val="C00000"/>
                </a:solidFill>
                <a:latin typeface="Arial" panose="020B0604020202020204" pitchFamily="34" charset="0"/>
                <a:cs typeface="Arial" panose="020B0604020202020204" pitchFamily="34" charset="0"/>
              </a:rPr>
              <a:t>Frame transmission time X</a:t>
            </a:r>
            <a:r>
              <a:rPr lang="en-GB" altLang="en-US" b="1" dirty="0">
                <a:solidFill>
                  <a:srgbClr val="C00000"/>
                </a:solidFill>
                <a:latin typeface="Arial" panose="020B0604020202020204" pitchFamily="34" charset="0"/>
                <a:cs typeface="Arial" panose="020B0604020202020204" pitchFamily="34" charset="0"/>
              </a:rPr>
              <a:t>Bandwidth</a:t>
            </a:r>
          </a:p>
          <a:p>
            <a:pPr marL="0" indent="0" algn="ctr">
              <a:buNone/>
            </a:pPr>
            <a:r>
              <a:rPr lang="en-US" altLang="en-US" b="1" i="0" baseline="0" dirty="0">
                <a:solidFill>
                  <a:srgbClr val="C00000"/>
                </a:solidFill>
                <a:latin typeface="Arial" panose="020B0604020202020204" pitchFamily="34" charset="0"/>
                <a:cs typeface="Arial" panose="020B0604020202020204" pitchFamily="34" charset="0"/>
              </a:rPr>
              <a:t>Frame transmission time is </a:t>
            </a:r>
            <a:r>
              <a:rPr lang="en-US" altLang="en-US" b="1" i="0" baseline="0" dirty="0" err="1">
                <a:solidFill>
                  <a:srgbClr val="C00000"/>
                </a:solidFill>
                <a:latin typeface="Arial" panose="020B0604020202020204" pitchFamily="34" charset="0"/>
                <a:cs typeface="Arial" panose="020B0604020202020204" pitchFamily="34" charset="0"/>
              </a:rPr>
              <a:t>t</a:t>
            </a:r>
            <a:r>
              <a:rPr lang="en-US" altLang="en-US" b="1" i="0" baseline="-16000" dirty="0" err="1">
                <a:solidFill>
                  <a:srgbClr val="C00000"/>
                </a:solidFill>
                <a:latin typeface="Arial" panose="020B0604020202020204" pitchFamily="34" charset="0"/>
                <a:cs typeface="Arial" panose="020B0604020202020204" pitchFamily="34" charset="0"/>
              </a:rPr>
              <a:t>fr</a:t>
            </a:r>
            <a:r>
              <a:rPr lang="en-US" altLang="en-US" b="1" i="0" baseline="0" dirty="0">
                <a:solidFill>
                  <a:srgbClr val="C00000"/>
                </a:solidFill>
                <a:latin typeface="Arial" panose="020B0604020202020204" pitchFamily="34" charset="0"/>
                <a:cs typeface="Arial" panose="020B0604020202020204" pitchFamily="34" charset="0"/>
              </a:rPr>
              <a:t> = 2 × </a:t>
            </a:r>
            <a:r>
              <a:rPr lang="en-US" altLang="en-US" b="1" i="0" baseline="0" dirty="0" err="1">
                <a:solidFill>
                  <a:srgbClr val="C00000"/>
                </a:solidFill>
                <a:latin typeface="Arial" panose="020B0604020202020204" pitchFamily="34" charset="0"/>
                <a:cs typeface="Arial" panose="020B0604020202020204" pitchFamily="34" charset="0"/>
              </a:rPr>
              <a:t>t</a:t>
            </a:r>
            <a:r>
              <a:rPr lang="en-US" altLang="en-US" b="1" i="0" baseline="-14000" dirty="0" err="1">
                <a:solidFill>
                  <a:srgbClr val="C00000"/>
                </a:solidFill>
                <a:latin typeface="Arial" panose="020B0604020202020204" pitchFamily="34" charset="0"/>
                <a:cs typeface="Arial" panose="020B0604020202020204" pitchFamily="34" charset="0"/>
              </a:rPr>
              <a:t>p</a:t>
            </a:r>
            <a:endParaRPr lang="en-US" altLang="en-US" b="1" i="0" baseline="-14000" dirty="0">
              <a:solidFill>
                <a:srgbClr val="C00000"/>
              </a:solidFill>
              <a:latin typeface="Arial" panose="020B0604020202020204" pitchFamily="34" charset="0"/>
              <a:cs typeface="Arial" panose="020B0604020202020204" pitchFamily="34" charset="0"/>
            </a:endParaRPr>
          </a:p>
          <a:p>
            <a:pPr marL="0" indent="0" algn="ctr">
              <a:buNone/>
            </a:pPr>
            <a:r>
              <a:rPr lang="en-US" altLang="en-US" b="1" i="0" baseline="0" dirty="0" err="1">
                <a:solidFill>
                  <a:srgbClr val="C00000"/>
                </a:solidFill>
                <a:latin typeface="Arial" panose="020B0604020202020204" pitchFamily="34" charset="0"/>
                <a:cs typeface="Arial" panose="020B0604020202020204" pitchFamily="34" charset="0"/>
              </a:rPr>
              <a:t>T</a:t>
            </a:r>
            <a:r>
              <a:rPr lang="en-US" altLang="en-US" b="1" i="0" baseline="-14000" dirty="0" err="1">
                <a:solidFill>
                  <a:srgbClr val="C00000"/>
                </a:solidFill>
                <a:latin typeface="Arial" panose="020B0604020202020204" pitchFamily="34" charset="0"/>
                <a:cs typeface="Arial" panose="020B0604020202020204" pitchFamily="34" charset="0"/>
              </a:rPr>
              <a:t>p</a:t>
            </a:r>
            <a:r>
              <a:rPr lang="en-US" altLang="en-US" b="1" i="0" baseline="-14000" dirty="0">
                <a:solidFill>
                  <a:srgbClr val="C00000"/>
                </a:solidFill>
                <a:latin typeface="Arial" panose="020B0604020202020204" pitchFamily="34" charset="0"/>
                <a:cs typeface="Arial" panose="020B0604020202020204" pitchFamily="34" charset="0"/>
              </a:rPr>
              <a:t>  --</a:t>
            </a:r>
            <a:r>
              <a:rPr lang="en-US" altLang="en-US" b="1" dirty="0">
                <a:solidFill>
                  <a:srgbClr val="C00000"/>
                </a:solidFill>
                <a:latin typeface="Arial" panose="020B0604020202020204" pitchFamily="34" charset="0"/>
                <a:cs typeface="Arial" panose="020B0604020202020204" pitchFamily="34" charset="0"/>
              </a:rPr>
              <a:t>propagation delay</a:t>
            </a:r>
            <a:endParaRPr lang="en-GB" altLang="en-US" b="1" dirty="0">
              <a:solidFill>
                <a:srgbClr val="C00000"/>
              </a:solidFill>
              <a:latin typeface="Arial" panose="020B0604020202020204" pitchFamily="34" charset="0"/>
              <a:cs typeface="Arial" panose="020B0604020202020204" pitchFamily="34" charset="0"/>
            </a:endParaRPr>
          </a:p>
          <a:p>
            <a:pPr marL="0" indent="0" algn="ctr">
              <a:buNone/>
            </a:pPr>
            <a:endParaRPr lang="en-GB" altLang="en-US" b="1" dirty="0">
              <a:solidFill>
                <a:srgbClr val="C00000"/>
              </a:solidFill>
              <a:latin typeface="Arial" panose="020B0604020202020204" pitchFamily="34" charset="0"/>
              <a:cs typeface="Arial" panose="020B0604020202020204" pitchFamily="34" charset="0"/>
            </a:endParaRPr>
          </a:p>
          <a:p>
            <a:pPr marL="0" indent="0" algn="ctr">
              <a:buNone/>
            </a:pPr>
            <a:endParaRPr lang="en-US" dirty="0"/>
          </a:p>
        </p:txBody>
      </p:sp>
    </p:spTree>
    <p:extLst>
      <p:ext uri="{BB962C8B-B14F-4D97-AF65-F5344CB8AC3E}">
        <p14:creationId xmlns:p14="http://schemas.microsoft.com/office/powerpoint/2010/main" val="85915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44EEEE4-0FA3-C70B-6EC4-64A7D6F1A636}"/>
              </a:ext>
            </a:extLst>
          </p:cNvPr>
          <p:cNvSpPr>
            <a:spLocks noGrp="1"/>
          </p:cNvSpPr>
          <p:nvPr>
            <p:ph idx="1"/>
          </p:nvPr>
        </p:nvSpPr>
        <p:spPr>
          <a:xfrm>
            <a:off x="838200" y="304801"/>
            <a:ext cx="9372600" cy="5821363"/>
          </a:xfrm>
        </p:spPr>
        <p:txBody>
          <a:bodyPr>
            <a:normAutofit lnSpcReduction="10000"/>
          </a:bodyPr>
          <a:lstStyle/>
          <a:p>
            <a:pPr>
              <a:defRPr/>
            </a:pPr>
            <a:r>
              <a:rPr lang="en-US" altLang="en-US" sz="2400" baseline="0" dirty="0">
                <a:solidFill>
                  <a:srgbClr val="C00000"/>
                </a:solidFill>
                <a:latin typeface="Arial" panose="020B0604020202020204" pitchFamily="34" charset="0"/>
                <a:cs typeface="Arial" panose="020B0604020202020204" pitchFamily="34" charset="0"/>
              </a:rPr>
              <a:t>Example 8 </a:t>
            </a:r>
            <a:endParaRPr lang="en-US" sz="2400" dirty="0">
              <a:latin typeface="Arial" panose="020B0604020202020204" pitchFamily="34" charset="0"/>
              <a:cs typeface="Arial" panose="020B0604020202020204" pitchFamily="34" charset="0"/>
            </a:endParaRPr>
          </a:p>
          <a:p>
            <a:pPr lvl="1">
              <a:defRPr/>
            </a:pPr>
            <a:r>
              <a:rPr lang="en-US" dirty="0">
                <a:latin typeface="Arial" panose="020B0604020202020204" pitchFamily="34" charset="0"/>
                <a:cs typeface="Arial" panose="020B0604020202020204" pitchFamily="34" charset="0"/>
              </a:rPr>
              <a:t>In a CSMA / CD network running at 1 </a:t>
            </a:r>
            <a:r>
              <a:rPr lang="en-US" dirty="0" err="1">
                <a:latin typeface="Arial" panose="020B0604020202020204" pitchFamily="34" charset="0"/>
                <a:cs typeface="Arial" panose="020B0604020202020204" pitchFamily="34" charset="0"/>
              </a:rPr>
              <a:t>Gbps</a:t>
            </a:r>
            <a:r>
              <a:rPr lang="en-US" dirty="0">
                <a:latin typeface="Arial" panose="020B0604020202020204" pitchFamily="34" charset="0"/>
                <a:cs typeface="Arial" panose="020B0604020202020204" pitchFamily="34" charset="0"/>
              </a:rPr>
              <a:t> over 1 km cable with no repeaters, the signal speed in the cable is 200000 km/sec. What is minimum frame size?</a:t>
            </a:r>
            <a:endParaRPr lang="en-GB" dirty="0">
              <a:latin typeface="Arial" panose="020B0604020202020204" pitchFamily="34" charset="0"/>
              <a:cs typeface="Arial" panose="020B0604020202020204" pitchFamily="34" charset="0"/>
            </a:endParaRPr>
          </a:p>
          <a:p>
            <a:pPr>
              <a:defRPr/>
            </a:pPr>
            <a:r>
              <a:rPr lang="en-US" altLang="en-US" sz="2400" baseline="0" dirty="0">
                <a:solidFill>
                  <a:srgbClr val="C00000"/>
                </a:solidFill>
                <a:latin typeface="Arial" panose="020B0604020202020204" pitchFamily="34" charset="0"/>
                <a:cs typeface="Arial" panose="020B0604020202020204" pitchFamily="34" charset="0"/>
              </a:rPr>
              <a:t>Example 9 </a:t>
            </a:r>
            <a:endParaRPr lang="en-US" sz="2400" dirty="0">
              <a:latin typeface="Arial" panose="020B0604020202020204" pitchFamily="34" charset="0"/>
              <a:cs typeface="Arial" panose="020B0604020202020204" pitchFamily="34" charset="0"/>
            </a:endParaRPr>
          </a:p>
          <a:p>
            <a:pPr lvl="1">
              <a:defRPr/>
            </a:pPr>
            <a:r>
              <a:rPr lang="en-US" dirty="0">
                <a:latin typeface="Arial" panose="020B0604020202020204" pitchFamily="34" charset="0"/>
                <a:cs typeface="Arial" panose="020B0604020202020204" pitchFamily="34" charset="0"/>
              </a:rPr>
              <a:t>A and B are the only two stations on an Ethernet. Each has a steady queue of frames to send. Both A and B attempt to transmit a frame, collide, and A wins the first </a:t>
            </a:r>
            <a:r>
              <a:rPr lang="en-US" dirty="0" err="1">
                <a:latin typeface="Arial" panose="020B0604020202020204" pitchFamily="34" charset="0"/>
                <a:cs typeface="Arial" panose="020B0604020202020204" pitchFamily="34" charset="0"/>
              </a:rPr>
              <a:t>backoff</a:t>
            </a:r>
            <a:r>
              <a:rPr lang="en-US" dirty="0">
                <a:latin typeface="Arial" panose="020B0604020202020204" pitchFamily="34" charset="0"/>
                <a:cs typeface="Arial" panose="020B0604020202020204" pitchFamily="34" charset="0"/>
              </a:rPr>
              <a:t> race. At the end of this successful transmission by A, both A and B attempt to transmit and collide. The probability that A wins the second </a:t>
            </a:r>
            <a:r>
              <a:rPr lang="en-US" dirty="0" err="1">
                <a:latin typeface="Arial" panose="020B0604020202020204" pitchFamily="34" charset="0"/>
                <a:cs typeface="Arial" panose="020B0604020202020204" pitchFamily="34" charset="0"/>
              </a:rPr>
              <a:t>backoff</a:t>
            </a:r>
            <a:r>
              <a:rPr lang="en-US" dirty="0">
                <a:latin typeface="Arial" panose="020B0604020202020204" pitchFamily="34" charset="0"/>
                <a:cs typeface="Arial" panose="020B0604020202020204" pitchFamily="34" charset="0"/>
              </a:rPr>
              <a:t> race is:</a:t>
            </a:r>
          </a:p>
          <a:p>
            <a:pPr lvl="1">
              <a:defRPr/>
            </a:pPr>
            <a:endParaRPr lang="en-US" dirty="0">
              <a:latin typeface="Arial" panose="020B0604020202020204" pitchFamily="34" charset="0"/>
              <a:cs typeface="Arial" panose="020B0604020202020204" pitchFamily="34" charset="0"/>
            </a:endParaRPr>
          </a:p>
          <a:p>
            <a:pPr marL="457200" lvl="1" indent="0">
              <a:buNone/>
              <a:defRPr/>
            </a:pPr>
            <a:r>
              <a:rPr lang="en-US" altLang="en-US" sz="2400" baseline="0" dirty="0">
                <a:solidFill>
                  <a:srgbClr val="C00000"/>
                </a:solidFill>
                <a:latin typeface="Arial" panose="020B0604020202020204" pitchFamily="34" charset="0"/>
                <a:cs typeface="Arial" panose="020B0604020202020204" pitchFamily="34" charset="0"/>
              </a:rPr>
              <a:t>Example 10</a:t>
            </a:r>
            <a:r>
              <a:rPr lang="en-US" dirty="0">
                <a:latin typeface="Arial" panose="020B0604020202020204" pitchFamily="34" charset="0"/>
                <a:cs typeface="Arial" panose="020B0604020202020204" pitchFamily="34" charset="0"/>
              </a:rPr>
              <a:t> </a:t>
            </a:r>
          </a:p>
          <a:p>
            <a:pPr marL="457200" lvl="1" indent="0">
              <a:buNone/>
              <a:defRPr/>
            </a:pPr>
            <a:r>
              <a:rPr lang="en-US" dirty="0">
                <a:latin typeface="Arial" panose="020B0604020202020204" pitchFamily="34" charset="0"/>
                <a:cs typeface="Arial" panose="020B0604020202020204" pitchFamily="34" charset="0"/>
              </a:rPr>
              <a:t>Suppose nodes A and B are on same 10 Mbps Ethernet segment and the propagation delay between two nodes is 225 bit times. Suppose A and B send frames at t=0, the frames collide then at what time, they finish transmitting a jam signal. Assume a 48 bit jam signal</a:t>
            </a:r>
          </a:p>
          <a:p>
            <a:pPr lvl="1">
              <a:defRPr/>
            </a:pP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44EEEE4-0FA3-C70B-6EC4-64A7D6F1A636}"/>
              </a:ext>
            </a:extLst>
          </p:cNvPr>
          <p:cNvSpPr>
            <a:spLocks noGrp="1"/>
          </p:cNvSpPr>
          <p:nvPr>
            <p:ph idx="1"/>
          </p:nvPr>
        </p:nvSpPr>
        <p:spPr>
          <a:xfrm>
            <a:off x="838200" y="304801"/>
            <a:ext cx="9372600" cy="5821363"/>
          </a:xfrm>
        </p:spPr>
        <p:txBody>
          <a:bodyPr>
            <a:normAutofit/>
          </a:bodyPr>
          <a:lstStyle/>
          <a:p>
            <a:pPr>
              <a:defRPr/>
            </a:pPr>
            <a:r>
              <a:rPr lang="en-US" altLang="en-US" sz="2400" baseline="0" dirty="0">
                <a:solidFill>
                  <a:srgbClr val="C00000"/>
                </a:solidFill>
                <a:latin typeface="Arial" panose="020B0604020202020204" pitchFamily="34" charset="0"/>
                <a:cs typeface="Arial" panose="020B0604020202020204" pitchFamily="34" charset="0"/>
              </a:rPr>
              <a:t>Example 8 </a:t>
            </a:r>
          </a:p>
          <a:p>
            <a:pPr>
              <a:defRPr/>
            </a:pPr>
            <a:r>
              <a:rPr lang="en-US" dirty="0">
                <a:latin typeface="Arial" panose="020B0604020202020204" pitchFamily="34" charset="0"/>
                <a:cs typeface="Arial" panose="020B0604020202020204" pitchFamily="34" charset="0"/>
              </a:rPr>
              <a:t>In a CSMA / CD network running at 1 Gbps over 1 km cable with no repeaters, the signal speed in the cable is 200000 km/sec. What is minimum frame size?</a:t>
            </a:r>
            <a:endParaRPr lang="en-GB" dirty="0">
              <a:latin typeface="Arial" panose="020B0604020202020204" pitchFamily="34" charset="0"/>
              <a:cs typeface="Arial" panose="020B0604020202020204" pitchFamily="34" charset="0"/>
            </a:endParaRPr>
          </a:p>
          <a:p>
            <a:pPr marL="0" indent="0">
              <a:buNone/>
            </a:pPr>
            <a:r>
              <a:rPr lang="en-US" altLang="en-US" b="1" dirty="0">
                <a:solidFill>
                  <a:srgbClr val="C00000"/>
                </a:solidFill>
                <a:latin typeface="Arial" panose="020B0604020202020204" pitchFamily="34" charset="0"/>
                <a:cs typeface="Arial" panose="020B0604020202020204" pitchFamily="34" charset="0"/>
              </a:rPr>
              <a:t>Solution</a:t>
            </a:r>
          </a:p>
          <a:p>
            <a:pPr marL="457200" lvl="1" indent="0">
              <a:buNone/>
            </a:pPr>
            <a:r>
              <a:rPr lang="en-GB" altLang="en-US" sz="3200" b="1" dirty="0">
                <a:solidFill>
                  <a:srgbClr val="C00000"/>
                </a:solidFill>
                <a:latin typeface="Arial" panose="020B0604020202020204" pitchFamily="34" charset="0"/>
                <a:cs typeface="Arial" panose="020B0604020202020204" pitchFamily="34" charset="0"/>
              </a:rPr>
              <a:t>Propagation delay =</a:t>
            </a:r>
            <a:r>
              <a:rPr lang="en-GB" altLang="en-US" sz="2800" b="1" dirty="0">
                <a:solidFill>
                  <a:srgbClr val="C00000"/>
                </a:solidFill>
                <a:latin typeface="Arial" panose="020B0604020202020204" pitchFamily="34" charset="0"/>
                <a:cs typeface="Arial" panose="020B0604020202020204" pitchFamily="34" charset="0"/>
              </a:rPr>
              <a:t>Distance / Propagation speed -  1 km / (200000 km/sec) = 5 x 10</a:t>
            </a:r>
            <a:r>
              <a:rPr lang="en-GB" altLang="en-US" sz="2800" b="1" baseline="30000" dirty="0">
                <a:solidFill>
                  <a:srgbClr val="C00000"/>
                </a:solidFill>
                <a:latin typeface="Arial" panose="020B0604020202020204" pitchFamily="34" charset="0"/>
                <a:cs typeface="Arial" panose="020B0604020202020204" pitchFamily="34" charset="0"/>
              </a:rPr>
              <a:t>-6</a:t>
            </a:r>
            <a:r>
              <a:rPr lang="en-GB" altLang="en-US" sz="2800" b="1" dirty="0">
                <a:solidFill>
                  <a:srgbClr val="C00000"/>
                </a:solidFill>
                <a:latin typeface="Arial" panose="020B0604020202020204" pitchFamily="34" charset="0"/>
                <a:cs typeface="Arial" panose="020B0604020202020204" pitchFamily="34" charset="0"/>
              </a:rPr>
              <a:t> sec</a:t>
            </a:r>
          </a:p>
          <a:p>
            <a:r>
              <a:rPr lang="en-GB" altLang="en-US" b="1" u="sng" dirty="0">
                <a:solidFill>
                  <a:srgbClr val="C00000"/>
                </a:solidFill>
                <a:latin typeface="Arial" panose="020B0604020202020204" pitchFamily="34" charset="0"/>
                <a:cs typeface="Arial" panose="020B0604020202020204" pitchFamily="34" charset="0"/>
              </a:rPr>
              <a:t>Calculating Minimum Frame Size-</a:t>
            </a:r>
            <a:endParaRPr lang="en-GB" altLang="en-US" b="1" dirty="0">
              <a:solidFill>
                <a:srgbClr val="C00000"/>
              </a:solidFill>
              <a:latin typeface="Arial" panose="020B0604020202020204" pitchFamily="34" charset="0"/>
              <a:cs typeface="Arial" panose="020B0604020202020204" pitchFamily="34" charset="0"/>
            </a:endParaRPr>
          </a:p>
          <a:p>
            <a:r>
              <a:rPr lang="en-GB" altLang="en-US" b="1" dirty="0">
                <a:solidFill>
                  <a:srgbClr val="C00000"/>
                </a:solidFill>
                <a:latin typeface="Arial" panose="020B0604020202020204" pitchFamily="34" charset="0"/>
                <a:cs typeface="Arial" panose="020B0604020202020204" pitchFamily="34" charset="0"/>
              </a:rPr>
              <a:t> Minimum frame size = 2 x Propagation delay x    Bandwidth </a:t>
            </a:r>
          </a:p>
          <a:p>
            <a:r>
              <a:rPr lang="en-GB" altLang="en-US" b="1" dirty="0">
                <a:solidFill>
                  <a:srgbClr val="C00000"/>
                </a:solidFill>
                <a:latin typeface="Arial" panose="020B0604020202020204" pitchFamily="34" charset="0"/>
                <a:cs typeface="Arial" panose="020B0604020202020204" pitchFamily="34" charset="0"/>
              </a:rPr>
              <a:t>-  2 x 5 x 10</a:t>
            </a:r>
            <a:r>
              <a:rPr lang="en-GB" altLang="en-US" b="1" baseline="30000" dirty="0">
                <a:solidFill>
                  <a:srgbClr val="C00000"/>
                </a:solidFill>
                <a:latin typeface="Arial" panose="020B0604020202020204" pitchFamily="34" charset="0"/>
                <a:cs typeface="Arial" panose="020B0604020202020204" pitchFamily="34" charset="0"/>
              </a:rPr>
              <a:t>-6</a:t>
            </a:r>
            <a:r>
              <a:rPr lang="en-GB" altLang="en-US" b="1" dirty="0">
                <a:solidFill>
                  <a:srgbClr val="C00000"/>
                </a:solidFill>
                <a:latin typeface="Arial" panose="020B0604020202020204" pitchFamily="34" charset="0"/>
                <a:cs typeface="Arial" panose="020B0604020202020204" pitchFamily="34" charset="0"/>
              </a:rPr>
              <a:t> sec x 10</a:t>
            </a:r>
            <a:r>
              <a:rPr lang="en-GB" altLang="en-US" b="1" baseline="30000" dirty="0">
                <a:solidFill>
                  <a:srgbClr val="C00000"/>
                </a:solidFill>
                <a:latin typeface="Arial" panose="020B0604020202020204" pitchFamily="34" charset="0"/>
                <a:cs typeface="Arial" panose="020B0604020202020204" pitchFamily="34" charset="0"/>
              </a:rPr>
              <a:t>9</a:t>
            </a:r>
            <a:r>
              <a:rPr lang="en-GB" altLang="en-US" b="1" dirty="0">
                <a:solidFill>
                  <a:srgbClr val="C00000"/>
                </a:solidFill>
                <a:latin typeface="Arial" panose="020B0604020202020204" pitchFamily="34" charset="0"/>
                <a:cs typeface="Arial" panose="020B0604020202020204" pitchFamily="34" charset="0"/>
              </a:rPr>
              <a:t> bits per sec = 10000 bits</a:t>
            </a:r>
          </a:p>
          <a:p>
            <a:pPr lvl="1">
              <a:defRPr/>
            </a:pPr>
            <a:endParaRPr lang="en-US" sz="1800" dirty="0"/>
          </a:p>
        </p:txBody>
      </p:sp>
    </p:spTree>
    <p:extLst>
      <p:ext uri="{BB962C8B-B14F-4D97-AF65-F5344CB8AC3E}">
        <p14:creationId xmlns:p14="http://schemas.microsoft.com/office/powerpoint/2010/main" val="2141392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44EEEE4-0FA3-C70B-6EC4-64A7D6F1A636}"/>
              </a:ext>
            </a:extLst>
          </p:cNvPr>
          <p:cNvSpPr>
            <a:spLocks noGrp="1"/>
          </p:cNvSpPr>
          <p:nvPr>
            <p:ph idx="1"/>
          </p:nvPr>
        </p:nvSpPr>
        <p:spPr>
          <a:xfrm>
            <a:off x="838199" y="304801"/>
            <a:ext cx="10170459" cy="5821363"/>
          </a:xfrm>
        </p:spPr>
        <p:txBody>
          <a:bodyPr>
            <a:normAutofit/>
          </a:bodyPr>
          <a:lstStyle/>
          <a:p>
            <a:pPr>
              <a:defRPr/>
            </a:pPr>
            <a:r>
              <a:rPr lang="en-US" altLang="en-US" sz="2400" baseline="0" dirty="0">
                <a:solidFill>
                  <a:srgbClr val="C00000"/>
                </a:solidFill>
                <a:latin typeface="Arial" panose="020B0604020202020204" pitchFamily="34" charset="0"/>
                <a:cs typeface="Arial" panose="020B0604020202020204" pitchFamily="34" charset="0"/>
              </a:rPr>
              <a:t>Example 10 </a:t>
            </a:r>
            <a:endParaRPr lang="en-US" sz="2400" dirty="0">
              <a:latin typeface="Arial" panose="020B0604020202020204" pitchFamily="34" charset="0"/>
              <a:cs typeface="Arial" panose="020B0604020202020204" pitchFamily="34" charset="0"/>
            </a:endParaRPr>
          </a:p>
          <a:p>
            <a:pPr marL="457200" lvl="1" indent="0">
              <a:buNone/>
              <a:defRPr/>
            </a:pPr>
            <a:r>
              <a:rPr lang="en-US" dirty="0">
                <a:latin typeface="Arial" panose="020B0604020202020204" pitchFamily="34" charset="0"/>
                <a:cs typeface="Arial" panose="020B0604020202020204" pitchFamily="34" charset="0"/>
              </a:rPr>
              <a:t>Suppose nodes A and B are on same 10 Mbps Ethernet segment and the propagation delay between two nodes is 225 bit times. Suppose A and B send frames at t=0, the frames collide then at what time, they finish transmitting a jam signal. Assume a 48 bit jam signal</a:t>
            </a:r>
          </a:p>
          <a:p>
            <a:pPr lvl="1">
              <a:defRPr/>
            </a:pPr>
            <a:endParaRPr lang="en-US" sz="1800" dirty="0"/>
          </a:p>
        </p:txBody>
      </p:sp>
    </p:spTree>
    <p:extLst>
      <p:ext uri="{BB962C8B-B14F-4D97-AF65-F5344CB8AC3E}">
        <p14:creationId xmlns:p14="http://schemas.microsoft.com/office/powerpoint/2010/main" val="3928719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A39D5A49-88E5-84E5-EAE7-BA1DE750D557}"/>
              </a:ext>
            </a:extLst>
          </p:cNvPr>
          <p:cNvSpPr>
            <a:spLocks noGrp="1"/>
          </p:cNvSpPr>
          <p:nvPr>
            <p:ph idx="1"/>
          </p:nvPr>
        </p:nvSpPr>
        <p:spPr bwMode="auto">
          <a:xfrm>
            <a:off x="1021976" y="304799"/>
            <a:ext cx="10201836" cy="6416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32500" lnSpcReduction="20000"/>
          </a:bodyPr>
          <a:lstStyle/>
          <a:p>
            <a:pPr>
              <a:defRPr/>
            </a:pPr>
            <a:r>
              <a:rPr lang="en-US" altLang="en-US" sz="3600" baseline="0" dirty="0">
                <a:solidFill>
                  <a:srgbClr val="C00000"/>
                </a:solidFill>
                <a:latin typeface="Arial" panose="020B0604020202020204" pitchFamily="34" charset="0"/>
                <a:cs typeface="Arial" panose="020B0604020202020204" pitchFamily="34" charset="0"/>
              </a:rPr>
              <a:t>Example 10 </a:t>
            </a:r>
            <a:endParaRPr lang="en-US" sz="3600" dirty="0">
              <a:latin typeface="Arial" panose="020B0604020202020204" pitchFamily="34" charset="0"/>
              <a:cs typeface="Arial" panose="020B0604020202020204" pitchFamily="34" charset="0"/>
            </a:endParaRPr>
          </a:p>
          <a:p>
            <a:pPr marL="0" indent="0" algn="just">
              <a:buNone/>
            </a:pPr>
            <a:r>
              <a:rPr lang="en-US" altLang="en-US" sz="3600" dirty="0">
                <a:latin typeface="Arial" panose="020B0604020202020204" pitchFamily="34" charset="0"/>
                <a:cs typeface="Arial" panose="020B0604020202020204" pitchFamily="34" charset="0"/>
              </a:rPr>
              <a:t>. </a:t>
            </a:r>
            <a:r>
              <a:rPr lang="en-US" altLang="en-US" sz="5000" b="1" u="sng" dirty="0">
                <a:latin typeface="Arial" panose="020B0604020202020204" pitchFamily="34" charset="0"/>
                <a:cs typeface="Arial" panose="020B0604020202020204" pitchFamily="34" charset="0"/>
              </a:rPr>
              <a:t>Solution-</a:t>
            </a:r>
            <a:endParaRPr lang="en-US" altLang="en-US" sz="5000" b="1" dirty="0">
              <a:latin typeface="Arial" panose="020B0604020202020204" pitchFamily="34" charset="0"/>
              <a:cs typeface="Arial" panose="020B0604020202020204" pitchFamily="34" charset="0"/>
            </a:endParaRPr>
          </a:p>
          <a:p>
            <a:pPr marL="0" indent="0" algn="just">
              <a:buNone/>
            </a:pPr>
            <a:r>
              <a:rPr lang="en-US" altLang="en-US" sz="5000" dirty="0">
                <a:latin typeface="Arial" panose="020B0604020202020204" pitchFamily="34" charset="0"/>
                <a:cs typeface="Arial" panose="020B0604020202020204" pitchFamily="34" charset="0"/>
              </a:rPr>
              <a:t> Propagation delay (</a:t>
            </a:r>
            <a:r>
              <a:rPr lang="en-US" altLang="en-US" sz="5000" dirty="0" err="1">
                <a:latin typeface="Arial" panose="020B0604020202020204" pitchFamily="34" charset="0"/>
                <a:cs typeface="Arial" panose="020B0604020202020204" pitchFamily="34" charset="0"/>
              </a:rPr>
              <a:t>T</a:t>
            </a:r>
            <a:r>
              <a:rPr lang="en-US" altLang="en-US" sz="5000" baseline="-25000" dirty="0" err="1">
                <a:latin typeface="Arial" panose="020B0604020202020204" pitchFamily="34" charset="0"/>
                <a:cs typeface="Arial" panose="020B0604020202020204" pitchFamily="34" charset="0"/>
              </a:rPr>
              <a:t>p</a:t>
            </a:r>
            <a:r>
              <a:rPr lang="en-US" altLang="en-US" sz="5000" dirty="0">
                <a:latin typeface="Arial" panose="020B0604020202020204" pitchFamily="34" charset="0"/>
                <a:cs typeface="Arial" panose="020B0604020202020204" pitchFamily="34" charset="0"/>
              </a:rPr>
              <a:t>) </a:t>
            </a:r>
          </a:p>
          <a:p>
            <a:pPr marL="0" indent="0" algn="just">
              <a:buNone/>
            </a:pPr>
            <a:r>
              <a:rPr lang="en-US" altLang="en-US" sz="5000" dirty="0">
                <a:latin typeface="Arial" panose="020B0604020202020204" pitchFamily="34" charset="0"/>
                <a:cs typeface="Arial" panose="020B0604020202020204" pitchFamily="34" charset="0"/>
              </a:rPr>
              <a:t> = 225 bit / 10 Mbps - 22.5 </a:t>
            </a:r>
            <a:r>
              <a:rPr lang="en-US" altLang="en-US" sz="5000" dirty="0" err="1">
                <a:latin typeface="Arial" panose="020B0604020202020204" pitchFamily="34" charset="0"/>
                <a:cs typeface="Arial" panose="020B0604020202020204" pitchFamily="34" charset="0"/>
              </a:rPr>
              <a:t>μsec</a:t>
            </a:r>
            <a:endParaRPr lang="en-US" altLang="en-US" sz="5000" dirty="0">
              <a:latin typeface="Arial" panose="020B0604020202020204" pitchFamily="34" charset="0"/>
              <a:cs typeface="Arial" panose="020B0604020202020204" pitchFamily="34" charset="0"/>
            </a:endParaRPr>
          </a:p>
          <a:p>
            <a:pPr marL="0" indent="0" algn="just">
              <a:buNone/>
            </a:pPr>
            <a:r>
              <a:rPr lang="en-US" altLang="en-US" sz="5000" dirty="0">
                <a:latin typeface="Arial" panose="020B0604020202020204" pitchFamily="34" charset="0"/>
                <a:cs typeface="Arial" panose="020B0604020202020204" pitchFamily="34" charset="0"/>
              </a:rPr>
              <a:t> </a:t>
            </a:r>
            <a:r>
              <a:rPr lang="en-US" altLang="en-US" sz="5000" b="1" u="sng" dirty="0">
                <a:latin typeface="Arial" panose="020B0604020202020204" pitchFamily="34" charset="0"/>
                <a:cs typeface="Arial" panose="020B0604020202020204" pitchFamily="34" charset="0"/>
              </a:rPr>
              <a:t>At t = 0,</a:t>
            </a:r>
            <a:endParaRPr lang="en-US" altLang="en-US" sz="5000" b="1" dirty="0">
              <a:latin typeface="Arial" panose="020B0604020202020204" pitchFamily="34" charset="0"/>
              <a:cs typeface="Arial" panose="020B0604020202020204" pitchFamily="34" charset="0"/>
            </a:endParaRPr>
          </a:p>
          <a:p>
            <a:pPr marL="0" indent="0" algn="just">
              <a:buNone/>
            </a:pPr>
            <a:r>
              <a:rPr lang="en-US" altLang="en-US" sz="5000" dirty="0">
                <a:latin typeface="Arial" panose="020B0604020202020204" pitchFamily="34" charset="0"/>
                <a:cs typeface="Arial" panose="020B0604020202020204" pitchFamily="34" charset="0"/>
              </a:rPr>
              <a:t> Nodes A and B start transmitting their frame.</a:t>
            </a:r>
          </a:p>
          <a:p>
            <a:pPr marL="0" indent="0" algn="just">
              <a:buNone/>
            </a:pPr>
            <a:r>
              <a:rPr lang="en-US" altLang="en-US" sz="5000" dirty="0">
                <a:latin typeface="Arial" panose="020B0604020202020204" pitchFamily="34" charset="0"/>
                <a:cs typeface="Arial" panose="020B0604020202020204" pitchFamily="34" charset="0"/>
              </a:rPr>
              <a:t>Since both the stations start simultaneously, so collision occurs at the mid way.</a:t>
            </a:r>
          </a:p>
          <a:p>
            <a:pPr marL="0" indent="0" algn="just">
              <a:buNone/>
            </a:pPr>
            <a:r>
              <a:rPr lang="en-US" altLang="en-US" sz="5000" dirty="0">
                <a:latin typeface="Arial" panose="020B0604020202020204" pitchFamily="34" charset="0"/>
                <a:cs typeface="Arial" panose="020B0604020202020204" pitchFamily="34" charset="0"/>
              </a:rPr>
              <a:t>Time after which collision occurs = Half of propagation delay.</a:t>
            </a:r>
          </a:p>
          <a:p>
            <a:pPr marL="0" indent="0" algn="just">
              <a:buNone/>
            </a:pPr>
            <a:r>
              <a:rPr lang="en-US" altLang="en-US" sz="5000" dirty="0">
                <a:latin typeface="Arial" panose="020B0604020202020204" pitchFamily="34" charset="0"/>
                <a:cs typeface="Arial" panose="020B0604020202020204" pitchFamily="34" charset="0"/>
              </a:rPr>
              <a:t>So, time after which collision occurs = 22.5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 / 2 = 11.25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a:t>
            </a:r>
          </a:p>
          <a:p>
            <a:pPr marL="0" indent="0" algn="just">
              <a:buNone/>
            </a:pPr>
            <a:r>
              <a:rPr lang="en-US" altLang="en-US" sz="5000" dirty="0">
                <a:latin typeface="Arial" panose="020B0604020202020204" pitchFamily="34" charset="0"/>
                <a:cs typeface="Arial" panose="020B0604020202020204" pitchFamily="34" charset="0"/>
              </a:rPr>
              <a:t> </a:t>
            </a:r>
            <a:r>
              <a:rPr lang="en-US" altLang="en-US" sz="5000" b="1" u="sng" dirty="0">
                <a:latin typeface="Arial" panose="020B0604020202020204" pitchFamily="34" charset="0"/>
                <a:cs typeface="Arial" panose="020B0604020202020204" pitchFamily="34" charset="0"/>
              </a:rPr>
              <a:t>At t = 11.25 </a:t>
            </a:r>
            <a:r>
              <a:rPr lang="en-US" altLang="en-US" sz="5000" b="1" u="sng" dirty="0" err="1">
                <a:latin typeface="Arial" panose="020B0604020202020204" pitchFamily="34" charset="0"/>
                <a:cs typeface="Arial" panose="020B0604020202020204" pitchFamily="34" charset="0"/>
              </a:rPr>
              <a:t>μsec</a:t>
            </a:r>
            <a:r>
              <a:rPr lang="en-US" altLang="en-US" sz="5000" b="1" u="sng" dirty="0">
                <a:latin typeface="Arial" panose="020B0604020202020204" pitchFamily="34" charset="0"/>
                <a:cs typeface="Arial" panose="020B0604020202020204" pitchFamily="34" charset="0"/>
              </a:rPr>
              <a:t>,</a:t>
            </a:r>
            <a:endParaRPr lang="en-US" altLang="en-US" sz="5000" b="1" dirty="0">
              <a:latin typeface="Arial" panose="020B0604020202020204" pitchFamily="34" charset="0"/>
              <a:cs typeface="Arial" panose="020B0604020202020204" pitchFamily="34" charset="0"/>
            </a:endParaRPr>
          </a:p>
          <a:p>
            <a:pPr marL="0" indent="0" algn="just">
              <a:buNone/>
            </a:pPr>
            <a:r>
              <a:rPr lang="en-US" altLang="en-US" sz="5000" dirty="0">
                <a:latin typeface="Arial" panose="020B0604020202020204" pitchFamily="34" charset="0"/>
                <a:cs typeface="Arial" panose="020B0604020202020204" pitchFamily="34" charset="0"/>
              </a:rPr>
              <a:t> After collision occurs at t = 11.25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 collided signals start travelling back.</a:t>
            </a:r>
          </a:p>
          <a:p>
            <a:pPr marL="0" indent="0" algn="just">
              <a:buNone/>
            </a:pPr>
            <a:r>
              <a:rPr lang="en-US" altLang="en-US" sz="5000" dirty="0">
                <a:latin typeface="Arial" panose="020B0604020202020204" pitchFamily="34" charset="0"/>
                <a:cs typeface="Arial" panose="020B0604020202020204" pitchFamily="34" charset="0"/>
              </a:rPr>
              <a:t>Collided signals reach the respective nodes after time = Half of propagation delay</a:t>
            </a:r>
          </a:p>
          <a:p>
            <a:pPr marL="0" indent="0" algn="just">
              <a:buNone/>
            </a:pPr>
            <a:r>
              <a:rPr lang="en-US" altLang="en-US" sz="5000" dirty="0">
                <a:latin typeface="Arial" panose="020B0604020202020204" pitchFamily="34" charset="0"/>
                <a:cs typeface="Arial" panose="020B0604020202020204" pitchFamily="34" charset="0"/>
              </a:rPr>
              <a:t>Collided signals reach the respective nodes after time = 22.5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 / 2 = 11.25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a:t>
            </a:r>
          </a:p>
          <a:p>
            <a:pPr marL="0" indent="0" algn="just">
              <a:buNone/>
            </a:pPr>
            <a:r>
              <a:rPr lang="en-US" altLang="en-US" sz="5000" dirty="0">
                <a:latin typeface="Arial" panose="020B0604020202020204" pitchFamily="34" charset="0"/>
                <a:cs typeface="Arial" panose="020B0604020202020204" pitchFamily="34" charset="0"/>
              </a:rPr>
              <a:t>Thus, at t = 22.5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 collided signals reach the respective nodes.</a:t>
            </a:r>
          </a:p>
          <a:p>
            <a:pPr marL="0" indent="0" algn="just">
              <a:buNone/>
            </a:pPr>
            <a:r>
              <a:rPr lang="en-US" altLang="en-US" sz="5000" b="1" u="sng" dirty="0">
                <a:latin typeface="Arial" panose="020B0604020202020204" pitchFamily="34" charset="0"/>
                <a:cs typeface="Arial" panose="020B0604020202020204" pitchFamily="34" charset="0"/>
              </a:rPr>
              <a:t>At t = 22.5 </a:t>
            </a:r>
            <a:r>
              <a:rPr lang="en-US" altLang="en-US" sz="5000" b="1" u="sng" dirty="0" err="1">
                <a:latin typeface="Arial" panose="020B0604020202020204" pitchFamily="34" charset="0"/>
                <a:cs typeface="Arial" panose="020B0604020202020204" pitchFamily="34" charset="0"/>
              </a:rPr>
              <a:t>μsec</a:t>
            </a:r>
            <a:r>
              <a:rPr lang="en-US" altLang="en-US" sz="5000" b="1" u="sng" dirty="0">
                <a:latin typeface="Arial" panose="020B0604020202020204" pitchFamily="34" charset="0"/>
                <a:cs typeface="Arial" panose="020B0604020202020204" pitchFamily="34" charset="0"/>
              </a:rPr>
              <a:t>,</a:t>
            </a:r>
            <a:endParaRPr lang="en-US" altLang="en-US" sz="5000" b="1" dirty="0">
              <a:latin typeface="Arial" panose="020B0604020202020204" pitchFamily="34" charset="0"/>
              <a:cs typeface="Arial" panose="020B0604020202020204" pitchFamily="34" charset="0"/>
            </a:endParaRPr>
          </a:p>
          <a:p>
            <a:pPr marL="0" indent="0" algn="just">
              <a:buNone/>
            </a:pPr>
            <a:r>
              <a:rPr lang="en-US" altLang="en-US" sz="5000" dirty="0">
                <a:latin typeface="Arial" panose="020B0604020202020204" pitchFamily="34" charset="0"/>
                <a:cs typeface="Arial" panose="020B0604020202020204" pitchFamily="34" charset="0"/>
              </a:rPr>
              <a:t> As soon as nodes discover the collision, they immediately release the jam signal.</a:t>
            </a:r>
          </a:p>
          <a:p>
            <a:pPr marL="0" indent="0" algn="just">
              <a:buNone/>
            </a:pPr>
            <a:r>
              <a:rPr lang="en-US" altLang="en-US" sz="5000" dirty="0">
                <a:latin typeface="Arial" panose="020B0604020202020204" pitchFamily="34" charset="0"/>
                <a:cs typeface="Arial" panose="020B0604020202020204" pitchFamily="34" charset="0"/>
              </a:rPr>
              <a:t>Time taken to finish transmitting the jam signal = 48 bit time = 48 bits/ 10 Mbps = 4.8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a:t>
            </a:r>
          </a:p>
          <a:p>
            <a:pPr marL="0" indent="0" algn="just">
              <a:buNone/>
            </a:pPr>
            <a:r>
              <a:rPr lang="en-US" altLang="en-US" sz="5000" dirty="0">
                <a:latin typeface="Arial" panose="020B0604020202020204" pitchFamily="34" charset="0"/>
                <a:cs typeface="Arial" panose="020B0604020202020204" pitchFamily="34" charset="0"/>
              </a:rPr>
              <a:t> Thus,</a:t>
            </a:r>
          </a:p>
          <a:p>
            <a:pPr marL="0" indent="0" algn="just">
              <a:buNone/>
            </a:pPr>
            <a:r>
              <a:rPr lang="en-US" altLang="en-US" sz="5000" dirty="0">
                <a:latin typeface="Arial" panose="020B0604020202020204" pitchFamily="34" charset="0"/>
                <a:cs typeface="Arial" panose="020B0604020202020204" pitchFamily="34" charset="0"/>
              </a:rPr>
              <a:t>Time at which the jam signal is completely transmitted</a:t>
            </a:r>
          </a:p>
          <a:p>
            <a:pPr marL="0" indent="0" algn="just">
              <a:buNone/>
            </a:pPr>
            <a:r>
              <a:rPr lang="en-US" altLang="en-US" sz="5000" dirty="0">
                <a:latin typeface="Arial" panose="020B0604020202020204" pitchFamily="34" charset="0"/>
                <a:cs typeface="Arial" panose="020B0604020202020204" pitchFamily="34" charset="0"/>
              </a:rPr>
              <a:t>= 22.5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 + 4.8 </a:t>
            </a:r>
            <a:r>
              <a:rPr lang="en-US" altLang="en-US" sz="5000" dirty="0" err="1">
                <a:latin typeface="Arial" panose="020B0604020202020204" pitchFamily="34" charset="0"/>
                <a:cs typeface="Arial" panose="020B0604020202020204" pitchFamily="34" charset="0"/>
              </a:rPr>
              <a:t>μsec</a:t>
            </a:r>
            <a:endParaRPr lang="en-US" altLang="en-US" sz="5000" dirty="0">
              <a:latin typeface="Arial" panose="020B0604020202020204" pitchFamily="34" charset="0"/>
              <a:cs typeface="Arial" panose="020B0604020202020204" pitchFamily="34" charset="0"/>
            </a:endParaRPr>
          </a:p>
          <a:p>
            <a:pPr marL="0" indent="0" algn="just">
              <a:buNone/>
            </a:pPr>
            <a:r>
              <a:rPr lang="en-US" altLang="en-US" sz="5000" dirty="0">
                <a:latin typeface="Arial" panose="020B0604020202020204" pitchFamily="34" charset="0"/>
                <a:cs typeface="Arial" panose="020B0604020202020204" pitchFamily="34" charset="0"/>
              </a:rPr>
              <a:t>= 27.3 </a:t>
            </a:r>
            <a:r>
              <a:rPr lang="en-US" altLang="en-US" sz="5000" dirty="0" err="1">
                <a:latin typeface="Arial" panose="020B0604020202020204" pitchFamily="34" charset="0"/>
                <a:cs typeface="Arial" panose="020B0604020202020204" pitchFamily="34" charset="0"/>
              </a:rPr>
              <a:t>μsec</a:t>
            </a:r>
            <a:r>
              <a:rPr lang="en-US" altLang="en-US" sz="5000" dirty="0">
                <a:latin typeface="Arial" panose="020B0604020202020204" pitchFamily="34" charset="0"/>
                <a:cs typeface="Arial" panose="020B0604020202020204" pitchFamily="34" charset="0"/>
              </a:rPr>
              <a:t> or 273 bit times</a:t>
            </a:r>
          </a:p>
          <a:p>
            <a:endParaRPr lang="en-GB"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BD40189A-FE1D-DE0E-73AB-AD3BF7BBB849}"/>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0180" name="Rectangle 3">
            <a:extLst>
              <a:ext uri="{FF2B5EF4-FFF2-40B4-BE49-F238E27FC236}">
                <a16:creationId xmlns:a16="http://schemas.microsoft.com/office/drawing/2014/main" id="{2928882B-5961-D7C4-75CC-3AFCA7260CB4}"/>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0181" name="Rectangle 4">
            <a:extLst>
              <a:ext uri="{FF2B5EF4-FFF2-40B4-BE49-F238E27FC236}">
                <a16:creationId xmlns:a16="http://schemas.microsoft.com/office/drawing/2014/main" id="{88B5524E-4CD3-8407-16C9-D5D04653DD12}"/>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0182" name="Rectangle 5">
            <a:extLst>
              <a:ext uri="{FF2B5EF4-FFF2-40B4-BE49-F238E27FC236}">
                <a16:creationId xmlns:a16="http://schemas.microsoft.com/office/drawing/2014/main" id="{95178A75-0C98-36E5-5430-DBBF763004D1}"/>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0183" name="Rectangle 6">
            <a:extLst>
              <a:ext uri="{FF2B5EF4-FFF2-40B4-BE49-F238E27FC236}">
                <a16:creationId xmlns:a16="http://schemas.microsoft.com/office/drawing/2014/main" id="{C90ED8DC-A199-A934-DBFF-046EC8D38BB2}"/>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0184" name="Rectangle 7">
            <a:extLst>
              <a:ext uri="{FF2B5EF4-FFF2-40B4-BE49-F238E27FC236}">
                <a16:creationId xmlns:a16="http://schemas.microsoft.com/office/drawing/2014/main" id="{69351BE9-E8C3-E6B3-73B4-A21E4A1C345F}"/>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0185" name="Rectangle 8">
            <a:extLst>
              <a:ext uri="{FF2B5EF4-FFF2-40B4-BE49-F238E27FC236}">
                <a16:creationId xmlns:a16="http://schemas.microsoft.com/office/drawing/2014/main" id="{DE3E4ED7-571D-3BD9-6BBD-13407380CBB9}"/>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en-US" altLang="en-US" sz="2400" b="0" i="0" baseline="0">
              <a:latin typeface="Tahoma" panose="020B0604030504040204" pitchFamily="34" charset="0"/>
            </a:endParaRPr>
          </a:p>
        </p:txBody>
      </p:sp>
      <p:sp>
        <p:nvSpPr>
          <p:cNvPr id="50186" name="Rectangle 9">
            <a:extLst>
              <a:ext uri="{FF2B5EF4-FFF2-40B4-BE49-F238E27FC236}">
                <a16:creationId xmlns:a16="http://schemas.microsoft.com/office/drawing/2014/main" id="{7A2A855F-2A36-062C-67FF-96D79EADFD1E}"/>
              </a:ext>
            </a:extLst>
          </p:cNvPr>
          <p:cNvSpPr>
            <a:spLocks noChangeArrowheads="1"/>
          </p:cNvSpPr>
          <p:nvPr/>
        </p:nvSpPr>
        <p:spPr bwMode="auto">
          <a:xfrm>
            <a:off x="793376" y="973138"/>
            <a:ext cx="9646024" cy="22467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i="0" baseline="0" dirty="0">
                <a:latin typeface="Arial" panose="020B0604020202020204" pitchFamily="34" charset="0"/>
                <a:cs typeface="Arial" panose="020B0604020202020204" pitchFamily="34" charset="0"/>
              </a:rPr>
              <a:t>A network using CSMA/CD has a bandwidth of 10 Mbps. If the maximum propagation time (including the delays in the devices and ignoring the time needed to send a jamming signal, as we see later) is 25.6 </a:t>
            </a:r>
            <a:r>
              <a:rPr lang="en-US" altLang="en-US" i="0" baseline="0" dirty="0" err="1">
                <a:latin typeface="Arial" panose="020B0604020202020204" pitchFamily="34" charset="0"/>
                <a:cs typeface="Arial" panose="020B0604020202020204" pitchFamily="34" charset="0"/>
              </a:rPr>
              <a:t>μs</a:t>
            </a:r>
            <a:r>
              <a:rPr lang="en-US" altLang="en-US" i="0" baseline="0" dirty="0">
                <a:latin typeface="Arial" panose="020B0604020202020204" pitchFamily="34" charset="0"/>
                <a:cs typeface="Arial" panose="020B0604020202020204" pitchFamily="34" charset="0"/>
              </a:rPr>
              <a:t>, what is the minimum size of the frame?</a:t>
            </a:r>
          </a:p>
        </p:txBody>
      </p:sp>
      <p:sp>
        <p:nvSpPr>
          <p:cNvPr id="50187" name="Text Box 10">
            <a:extLst>
              <a:ext uri="{FF2B5EF4-FFF2-40B4-BE49-F238E27FC236}">
                <a16:creationId xmlns:a16="http://schemas.microsoft.com/office/drawing/2014/main" id="{BA1F9FAA-9FE2-DD00-9647-C1FEDD697BF1}"/>
              </a:ext>
            </a:extLst>
          </p:cNvPr>
          <p:cNvSpPr txBox="1">
            <a:spLocks noChangeArrowheads="1"/>
          </p:cNvSpPr>
          <p:nvPr/>
        </p:nvSpPr>
        <p:spPr bwMode="auto">
          <a:xfrm>
            <a:off x="2667001" y="0"/>
            <a:ext cx="25234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defRPr/>
            </a:pPr>
            <a:r>
              <a:rPr lang="en-US" altLang="en-US" sz="3200" baseline="0" dirty="0">
                <a:solidFill>
                  <a:srgbClr val="C00000"/>
                </a:solidFill>
                <a:latin typeface="Arial" panose="020B0604020202020204" pitchFamily="34" charset="0"/>
                <a:cs typeface="Arial" panose="020B0604020202020204" pitchFamily="34" charset="0"/>
              </a:rPr>
              <a:t>Example 11 </a:t>
            </a:r>
            <a:endParaRPr lang="en-US" sz="3200" dirty="0">
              <a:latin typeface="Arial" panose="020B0604020202020204" pitchFamily="34" charset="0"/>
              <a:cs typeface="Arial" panose="020B0604020202020204" pitchFamily="34" charset="0"/>
            </a:endParaRPr>
          </a:p>
        </p:txBody>
      </p:sp>
      <p:sp>
        <p:nvSpPr>
          <p:cNvPr id="50188" name="Rectangle 11">
            <a:extLst>
              <a:ext uri="{FF2B5EF4-FFF2-40B4-BE49-F238E27FC236}">
                <a16:creationId xmlns:a16="http://schemas.microsoft.com/office/drawing/2014/main" id="{3E8F2E36-9CFB-277F-D857-52CB27952C12}"/>
              </a:ext>
            </a:extLst>
          </p:cNvPr>
          <p:cNvSpPr>
            <a:spLocks noChangeArrowheads="1"/>
          </p:cNvSpPr>
          <p:nvPr/>
        </p:nvSpPr>
        <p:spPr bwMode="auto">
          <a:xfrm>
            <a:off x="717176" y="3243262"/>
            <a:ext cx="10237695" cy="35394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en-US" i="0" baseline="0" dirty="0">
                <a:solidFill>
                  <a:srgbClr val="C00000"/>
                </a:solidFill>
                <a:latin typeface="Arial" panose="020B0604020202020204" pitchFamily="34" charset="0"/>
                <a:cs typeface="Arial" panose="020B0604020202020204" pitchFamily="34" charset="0"/>
              </a:rPr>
              <a:t>Solution</a:t>
            </a:r>
          </a:p>
          <a:p>
            <a:pPr algn="just"/>
            <a:r>
              <a:rPr lang="en-US" altLang="en-US" i="0" baseline="0" dirty="0">
                <a:solidFill>
                  <a:srgbClr val="C00000"/>
                </a:solidFill>
                <a:latin typeface="Arial" panose="020B0604020202020204" pitchFamily="34" charset="0"/>
                <a:cs typeface="Arial" panose="020B0604020202020204" pitchFamily="34" charset="0"/>
              </a:rPr>
              <a:t>The frame transmission time is </a:t>
            </a:r>
            <a:r>
              <a:rPr lang="en-US" altLang="en-US" i="0" baseline="0" dirty="0" err="1">
                <a:solidFill>
                  <a:srgbClr val="C00000"/>
                </a:solidFill>
                <a:latin typeface="Arial" panose="020B0604020202020204" pitchFamily="34" charset="0"/>
                <a:cs typeface="Arial" panose="020B0604020202020204" pitchFamily="34" charset="0"/>
              </a:rPr>
              <a:t>T</a:t>
            </a:r>
            <a:r>
              <a:rPr lang="en-US" altLang="en-US" i="0" baseline="-16000" dirty="0" err="1">
                <a:solidFill>
                  <a:srgbClr val="C00000"/>
                </a:solidFill>
                <a:latin typeface="Arial" panose="020B0604020202020204" pitchFamily="34" charset="0"/>
                <a:cs typeface="Arial" panose="020B0604020202020204" pitchFamily="34" charset="0"/>
              </a:rPr>
              <a:t>fr</a:t>
            </a:r>
            <a:r>
              <a:rPr lang="en-US" altLang="en-US" i="0" baseline="0" dirty="0">
                <a:solidFill>
                  <a:srgbClr val="C00000"/>
                </a:solidFill>
                <a:latin typeface="Arial" panose="020B0604020202020204" pitchFamily="34" charset="0"/>
                <a:cs typeface="Arial" panose="020B0604020202020204" pitchFamily="34" charset="0"/>
              </a:rPr>
              <a:t> = 2 × </a:t>
            </a:r>
            <a:r>
              <a:rPr lang="en-US" altLang="en-US" i="0" baseline="0" dirty="0" err="1">
                <a:solidFill>
                  <a:srgbClr val="C00000"/>
                </a:solidFill>
                <a:latin typeface="Arial" panose="020B0604020202020204" pitchFamily="34" charset="0"/>
                <a:cs typeface="Arial" panose="020B0604020202020204" pitchFamily="34" charset="0"/>
              </a:rPr>
              <a:t>T</a:t>
            </a:r>
            <a:r>
              <a:rPr lang="en-US" altLang="en-US" i="0" baseline="-14000" dirty="0" err="1">
                <a:solidFill>
                  <a:srgbClr val="C00000"/>
                </a:solidFill>
                <a:latin typeface="Arial" panose="020B0604020202020204" pitchFamily="34" charset="0"/>
                <a:cs typeface="Arial" panose="020B0604020202020204" pitchFamily="34" charset="0"/>
              </a:rPr>
              <a:t>p</a:t>
            </a:r>
            <a:r>
              <a:rPr lang="en-US" altLang="en-US" i="0" baseline="0" dirty="0">
                <a:solidFill>
                  <a:srgbClr val="C00000"/>
                </a:solidFill>
                <a:latin typeface="Arial" panose="020B0604020202020204" pitchFamily="34" charset="0"/>
                <a:cs typeface="Arial" panose="020B0604020202020204" pitchFamily="34" charset="0"/>
              </a:rPr>
              <a:t> = 51.2 </a:t>
            </a:r>
            <a:r>
              <a:rPr lang="en-US" altLang="en-US" i="0" baseline="0" dirty="0" err="1">
                <a:solidFill>
                  <a:srgbClr val="C00000"/>
                </a:solidFill>
                <a:latin typeface="Arial" panose="020B0604020202020204" pitchFamily="34" charset="0"/>
                <a:cs typeface="Arial" panose="020B0604020202020204" pitchFamily="34" charset="0"/>
              </a:rPr>
              <a:t>μs</a:t>
            </a:r>
            <a:r>
              <a:rPr lang="en-US" altLang="en-US" i="0" baseline="0" dirty="0">
                <a:solidFill>
                  <a:srgbClr val="C00000"/>
                </a:solidFill>
                <a:latin typeface="Arial" panose="020B0604020202020204" pitchFamily="34" charset="0"/>
                <a:cs typeface="Arial" panose="020B0604020202020204" pitchFamily="34" charset="0"/>
              </a:rPr>
              <a:t>. </a:t>
            </a:r>
          </a:p>
          <a:p>
            <a:pPr algn="just"/>
            <a:r>
              <a:rPr lang="en-US" altLang="en-US" i="0" baseline="0" dirty="0">
                <a:solidFill>
                  <a:srgbClr val="C00000"/>
                </a:solidFill>
                <a:latin typeface="Arial" panose="020B0604020202020204" pitchFamily="34" charset="0"/>
                <a:cs typeface="Arial" panose="020B0604020202020204" pitchFamily="34" charset="0"/>
              </a:rPr>
              <a:t>This means, in the worst case, a station needs to transmit for a period of 51.2 </a:t>
            </a:r>
            <a:r>
              <a:rPr lang="en-US" altLang="en-US" i="0" baseline="0" dirty="0" err="1">
                <a:solidFill>
                  <a:srgbClr val="C00000"/>
                </a:solidFill>
                <a:latin typeface="Arial" panose="020B0604020202020204" pitchFamily="34" charset="0"/>
                <a:cs typeface="Arial" panose="020B0604020202020204" pitchFamily="34" charset="0"/>
              </a:rPr>
              <a:t>μs</a:t>
            </a:r>
            <a:r>
              <a:rPr lang="en-US" altLang="en-US" i="0" baseline="0" dirty="0">
                <a:solidFill>
                  <a:srgbClr val="C00000"/>
                </a:solidFill>
                <a:latin typeface="Arial" panose="020B0604020202020204" pitchFamily="34" charset="0"/>
                <a:cs typeface="Arial" panose="020B0604020202020204" pitchFamily="34" charset="0"/>
              </a:rPr>
              <a:t> to detect the collision.</a:t>
            </a:r>
          </a:p>
          <a:p>
            <a:pPr algn="just"/>
            <a:r>
              <a:rPr lang="en-US" altLang="en-US" i="0" baseline="0" dirty="0">
                <a:solidFill>
                  <a:srgbClr val="C00000"/>
                </a:solidFill>
                <a:latin typeface="Arial" panose="020B0604020202020204" pitchFamily="34" charset="0"/>
                <a:cs typeface="Arial" panose="020B0604020202020204" pitchFamily="34" charset="0"/>
              </a:rPr>
              <a:t> The minimum size of the frame is 10 Mbps × 51.2 </a:t>
            </a:r>
            <a:r>
              <a:rPr lang="en-US" altLang="en-US" i="0" baseline="0" dirty="0" err="1">
                <a:solidFill>
                  <a:srgbClr val="C00000"/>
                </a:solidFill>
                <a:latin typeface="Arial" panose="020B0604020202020204" pitchFamily="34" charset="0"/>
                <a:cs typeface="Arial" panose="020B0604020202020204" pitchFamily="34" charset="0"/>
              </a:rPr>
              <a:t>μs</a:t>
            </a:r>
            <a:r>
              <a:rPr lang="en-US" altLang="en-US" i="0" baseline="0" dirty="0">
                <a:solidFill>
                  <a:srgbClr val="C00000"/>
                </a:solidFill>
                <a:latin typeface="Arial" panose="020B0604020202020204" pitchFamily="34" charset="0"/>
                <a:cs typeface="Arial" panose="020B0604020202020204" pitchFamily="34" charset="0"/>
              </a:rPr>
              <a:t> = 512 bits or 64 bytes. </a:t>
            </a:r>
          </a:p>
          <a:p>
            <a:pPr algn="just"/>
            <a:r>
              <a:rPr lang="en-US" altLang="en-US" i="0" baseline="0" dirty="0">
                <a:solidFill>
                  <a:srgbClr val="C00000"/>
                </a:solidFill>
                <a:latin typeface="Arial" panose="020B0604020202020204" pitchFamily="34" charset="0"/>
                <a:cs typeface="Arial" panose="020B0604020202020204" pitchFamily="34" charset="0"/>
              </a:rPr>
              <a:t>This is actually the minimum size of the frame for Standard Ethernet.</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945CF3-4E83-7185-8301-178D380AC804}"/>
              </a:ext>
            </a:extLst>
          </p:cNvPr>
          <p:cNvSpPr txBox="1"/>
          <p:nvPr/>
        </p:nvSpPr>
        <p:spPr>
          <a:xfrm>
            <a:off x="905435" y="448235"/>
            <a:ext cx="9762565" cy="4190121"/>
          </a:xfrm>
          <a:prstGeom prst="rect">
            <a:avLst/>
          </a:prstGeom>
          <a:noFill/>
        </p:spPr>
        <p:txBody>
          <a:bodyPr wrap="square">
            <a:spAutoFit/>
          </a:bodyPr>
          <a:lstStyle/>
          <a:p>
            <a:pPr>
              <a:lnSpc>
                <a:spcPct val="107000"/>
              </a:lnSpc>
              <a:spcAft>
                <a:spcPts val="800"/>
              </a:spcAft>
              <a:defRPr/>
            </a:pPr>
            <a:r>
              <a:rPr lang="en-US" altLang="en-US" sz="4000" baseline="0" dirty="0">
                <a:solidFill>
                  <a:srgbClr val="C00000"/>
                </a:solidFill>
                <a:latin typeface="Arial" panose="020B0604020202020204" pitchFamily="34" charset="0"/>
                <a:cs typeface="Arial" panose="020B0604020202020204" pitchFamily="34" charset="0"/>
              </a:rPr>
              <a:t>Example 13 </a:t>
            </a:r>
            <a:endParaRPr lang="en-US" sz="4000" dirty="0">
              <a:latin typeface="Arial" panose="020B0604020202020204" pitchFamily="34" charset="0"/>
              <a:cs typeface="Arial" panose="020B0604020202020204" pitchFamily="34" charset="0"/>
            </a:endParaRPr>
          </a:p>
          <a:p>
            <a:pPr>
              <a:lnSpc>
                <a:spcPct val="107000"/>
              </a:lnSpc>
              <a:spcBef>
                <a:spcPts val="300"/>
              </a:spcBef>
              <a:spcAft>
                <a:spcPts val="900"/>
              </a:spcAft>
              <a:defRPr/>
            </a:pPr>
            <a:r>
              <a:rPr lang="en-IN" dirty="0">
                <a:latin typeface="Arial" panose="020B0604020202020204" pitchFamily="34" charset="0"/>
                <a:ea typeface="Times New Roman" panose="02020603050405020304" pitchFamily="18" charset="0"/>
                <a:cs typeface="Arial" panose="020B0604020202020204" pitchFamily="34" charset="0"/>
              </a:rPr>
              <a:t> A 2 km long broadcast LAN has 10</a:t>
            </a:r>
            <a:r>
              <a:rPr lang="en-IN" baseline="30000" dirty="0">
                <a:latin typeface="Arial" panose="020B0604020202020204" pitchFamily="34" charset="0"/>
                <a:ea typeface="Times New Roman" panose="02020603050405020304" pitchFamily="18" charset="0"/>
                <a:cs typeface="Arial" panose="020B0604020202020204" pitchFamily="34" charset="0"/>
              </a:rPr>
              <a:t>7</a:t>
            </a:r>
            <a:r>
              <a:rPr lang="en-IN" dirty="0">
                <a:latin typeface="Arial" panose="020B0604020202020204" pitchFamily="34" charset="0"/>
                <a:ea typeface="Times New Roman" panose="02020603050405020304" pitchFamily="18" charset="0"/>
                <a:cs typeface="Arial" panose="020B0604020202020204" pitchFamily="34" charset="0"/>
              </a:rPr>
              <a:t> bps bandwidth and uses CSMA / CD. The signal travels along the wire at 2 x 10</a:t>
            </a:r>
            <a:r>
              <a:rPr lang="en-IN" baseline="30000" dirty="0">
                <a:latin typeface="Arial" panose="020B0604020202020204" pitchFamily="34" charset="0"/>
                <a:ea typeface="Times New Roman" panose="02020603050405020304" pitchFamily="18" charset="0"/>
                <a:cs typeface="Arial" panose="020B0604020202020204" pitchFamily="34" charset="0"/>
              </a:rPr>
              <a:t>8</a:t>
            </a:r>
            <a:r>
              <a:rPr lang="en-IN" dirty="0">
                <a:latin typeface="Arial" panose="020B0604020202020204" pitchFamily="34" charset="0"/>
                <a:ea typeface="Times New Roman" panose="02020603050405020304" pitchFamily="18" charset="0"/>
                <a:cs typeface="Arial" panose="020B0604020202020204" pitchFamily="34" charset="0"/>
              </a:rPr>
              <a:t> m/sec. What is the minimum frame size that can be used on this network?</a:t>
            </a:r>
            <a:endParaRPr lang="en-IN" sz="2400" dirty="0">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latin typeface="Arial" panose="020B0604020202020204" pitchFamily="34" charset="0"/>
                <a:ea typeface="Times New Roman" panose="02020603050405020304" pitchFamily="18" charset="0"/>
                <a:cs typeface="Arial" panose="020B0604020202020204" pitchFamily="34" charset="0"/>
              </a:rPr>
              <a:t> </a:t>
            </a:r>
            <a:endParaRPr lang="en-IN" sz="2400" dirty="0">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defRPr/>
            </a:pPr>
            <a:r>
              <a:rPr lang="en-IN" sz="1400" u="sng" dirty="0">
                <a:latin typeface="Arial" panose="020B0604020202020204" pitchFamily="34" charset="0"/>
                <a:ea typeface="Times New Roman" panose="02020603050405020304" pitchFamily="18" charset="0"/>
                <a:cs typeface="Arial" panose="020B0604020202020204" pitchFamily="34" charset="0"/>
              </a:rPr>
              <a:t>Solution-</a:t>
            </a:r>
            <a:endParaRPr lang="en-IN" sz="1400" dirty="0">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latin typeface="Arial" panose="020B0604020202020204" pitchFamily="34" charset="0"/>
                <a:ea typeface="Times New Roman" panose="02020603050405020304" pitchFamily="18" charset="0"/>
                <a:cs typeface="Arial" panose="020B0604020202020204" pitchFamily="34" charset="0"/>
              </a:rPr>
              <a:t> Given-</a:t>
            </a:r>
            <a:endParaRPr lang="en-IN" sz="2400"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spcBef>
                <a:spcPts val="300"/>
              </a:spcBef>
              <a:spcAft>
                <a:spcPts val="300"/>
              </a:spcAft>
              <a:buSzPts val="1000"/>
              <a:buFont typeface="Symbol" panose="05050102010706020507" pitchFamily="18" charset="2"/>
              <a:buChar char=""/>
              <a:tabLst>
                <a:tab pos="457200" algn="l"/>
              </a:tabLst>
              <a:defRPr/>
            </a:pPr>
            <a:r>
              <a:rPr lang="en-IN" dirty="0">
                <a:latin typeface="Arial" panose="020B0604020202020204" pitchFamily="34" charset="0"/>
                <a:ea typeface="Times New Roman" panose="02020603050405020304" pitchFamily="18" charset="0"/>
                <a:cs typeface="Arial" panose="020B0604020202020204" pitchFamily="34" charset="0"/>
              </a:rPr>
              <a:t>Distance = 2 km</a:t>
            </a:r>
            <a:endParaRPr lang="en-IN" sz="2400"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spcBef>
                <a:spcPts val="300"/>
              </a:spcBef>
              <a:spcAft>
                <a:spcPts val="300"/>
              </a:spcAft>
              <a:buSzPts val="1000"/>
              <a:buFont typeface="Symbol" panose="05050102010706020507" pitchFamily="18" charset="2"/>
              <a:buChar char=""/>
              <a:tabLst>
                <a:tab pos="457200" algn="l"/>
              </a:tabLst>
              <a:defRPr/>
            </a:pPr>
            <a:r>
              <a:rPr lang="en-IN" dirty="0">
                <a:latin typeface="Arial" panose="020B0604020202020204" pitchFamily="34" charset="0"/>
                <a:ea typeface="Times New Roman" panose="02020603050405020304" pitchFamily="18" charset="0"/>
                <a:cs typeface="Arial" panose="020B0604020202020204" pitchFamily="34" charset="0"/>
              </a:rPr>
              <a:t>Bandwidth = 10</a:t>
            </a:r>
            <a:r>
              <a:rPr lang="en-IN" baseline="30000" dirty="0">
                <a:latin typeface="Arial" panose="020B0604020202020204" pitchFamily="34" charset="0"/>
                <a:ea typeface="Times New Roman" panose="02020603050405020304" pitchFamily="18" charset="0"/>
                <a:cs typeface="Arial" panose="020B0604020202020204" pitchFamily="34" charset="0"/>
              </a:rPr>
              <a:t>7</a:t>
            </a:r>
            <a:r>
              <a:rPr lang="en-IN" dirty="0">
                <a:latin typeface="Arial" panose="020B0604020202020204" pitchFamily="34" charset="0"/>
                <a:ea typeface="Times New Roman" panose="02020603050405020304" pitchFamily="18" charset="0"/>
                <a:cs typeface="Arial" panose="020B0604020202020204" pitchFamily="34" charset="0"/>
              </a:rPr>
              <a:t> bps</a:t>
            </a:r>
            <a:endParaRPr lang="en-IN" sz="2400"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spcBef>
                <a:spcPts val="300"/>
              </a:spcBef>
              <a:spcAft>
                <a:spcPts val="300"/>
              </a:spcAft>
              <a:buSzPts val="1000"/>
              <a:buFont typeface="Symbol" panose="05050102010706020507" pitchFamily="18" charset="2"/>
              <a:buChar char=""/>
              <a:tabLst>
                <a:tab pos="457200" algn="l"/>
              </a:tabLst>
              <a:defRPr/>
            </a:pPr>
            <a:r>
              <a:rPr lang="en-IN" dirty="0">
                <a:latin typeface="Arial" panose="020B0604020202020204" pitchFamily="34" charset="0"/>
                <a:ea typeface="Times New Roman" panose="02020603050405020304" pitchFamily="18" charset="0"/>
                <a:cs typeface="Arial" panose="020B0604020202020204" pitchFamily="34" charset="0"/>
              </a:rPr>
              <a:t>Speed = 2 x 10</a:t>
            </a:r>
            <a:r>
              <a:rPr lang="en-IN" baseline="30000" dirty="0">
                <a:latin typeface="Arial" panose="020B0604020202020204" pitchFamily="34" charset="0"/>
                <a:ea typeface="Times New Roman" panose="02020603050405020304" pitchFamily="18" charset="0"/>
                <a:cs typeface="Arial" panose="020B0604020202020204" pitchFamily="34" charset="0"/>
              </a:rPr>
              <a:t>8</a:t>
            </a:r>
            <a:r>
              <a:rPr lang="en-IN" dirty="0">
                <a:latin typeface="Arial" panose="020B0604020202020204" pitchFamily="34" charset="0"/>
                <a:ea typeface="Times New Roman" panose="02020603050405020304" pitchFamily="18" charset="0"/>
                <a:cs typeface="Arial" panose="020B0604020202020204" pitchFamily="34" charset="0"/>
              </a:rPr>
              <a:t> m/sec</a:t>
            </a:r>
            <a:endParaRPr lang="en-IN" sz="2400" dirty="0">
              <a:latin typeface="Arial" panose="020B060402020202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TextBox 3">
            <a:extLst>
              <a:ext uri="{FF2B5EF4-FFF2-40B4-BE49-F238E27FC236}">
                <a16:creationId xmlns:a16="http://schemas.microsoft.com/office/drawing/2014/main" id="{00C09E06-A626-37B6-64D9-354BC83261DB}"/>
              </a:ext>
            </a:extLst>
          </p:cNvPr>
          <p:cNvSpPr txBox="1">
            <a:spLocks noChangeArrowheads="1"/>
          </p:cNvSpPr>
          <p:nvPr/>
        </p:nvSpPr>
        <p:spPr bwMode="auto">
          <a:xfrm>
            <a:off x="1425388" y="838200"/>
            <a:ext cx="8633012" cy="4819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nSpc>
                <a:spcPct val="107000"/>
              </a:lnSpc>
              <a:spcAft>
                <a:spcPts val="800"/>
              </a:spcAft>
            </a:pPr>
            <a:r>
              <a:rPr lang="en-IN" altLang="en-US" sz="2400" i="0" u="sng" dirty="0">
                <a:solidFill>
                  <a:srgbClr val="303030"/>
                </a:solidFill>
                <a:latin typeface="Arial" panose="020B0604020202020204" pitchFamily="34" charset="0"/>
                <a:cs typeface="Arial" panose="020B0604020202020204" pitchFamily="34" charset="0"/>
              </a:rPr>
              <a:t>Calculating Propagation Delay-</a:t>
            </a:r>
            <a:endParaRPr lang="en-IN" altLang="en-US" sz="2400" i="0" dirty="0">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Propagation delay (</a:t>
            </a:r>
            <a:r>
              <a:rPr lang="en-IN" altLang="en-US" sz="2400" i="0" dirty="0" err="1">
                <a:solidFill>
                  <a:srgbClr val="303030"/>
                </a:solidFill>
                <a:latin typeface="Arial" panose="020B0604020202020204" pitchFamily="34" charset="0"/>
                <a:cs typeface="Arial" panose="020B0604020202020204" pitchFamily="34" charset="0"/>
              </a:rPr>
              <a:t>T</a:t>
            </a:r>
            <a:r>
              <a:rPr lang="en-IN" altLang="en-US" sz="2400" i="0" baseline="-25000" dirty="0" err="1">
                <a:solidFill>
                  <a:srgbClr val="303030"/>
                </a:solidFill>
                <a:latin typeface="Arial" panose="020B0604020202020204" pitchFamily="34" charset="0"/>
                <a:cs typeface="Arial" panose="020B0604020202020204" pitchFamily="34" charset="0"/>
              </a:rPr>
              <a:t>p</a:t>
            </a:r>
            <a:r>
              <a:rPr lang="en-IN" altLang="en-US" sz="2400" i="0" dirty="0">
                <a:solidFill>
                  <a:srgbClr val="303030"/>
                </a:solidFill>
                <a:latin typeface="Arial" panose="020B0604020202020204" pitchFamily="34" charset="0"/>
                <a:cs typeface="Arial" panose="020B0604020202020204" pitchFamily="34" charset="0"/>
              </a:rPr>
              <a:t>)</a:t>
            </a:r>
            <a:endParaRPr lang="en-IN" altLang="en-US" sz="2400" i="0" dirty="0">
              <a:latin typeface="Arial" panose="020B060402020202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Distance / Propagation speed</a:t>
            </a:r>
            <a:endParaRPr lang="en-IN" altLang="en-US" sz="2400" i="0" dirty="0">
              <a:latin typeface="Arial" panose="020B060402020202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2 km / (2 x 10</a:t>
            </a:r>
            <a:r>
              <a:rPr lang="en-IN" altLang="en-US" sz="2400" i="0" baseline="30000" dirty="0">
                <a:solidFill>
                  <a:srgbClr val="303030"/>
                </a:solidFill>
                <a:latin typeface="Arial" panose="020B0604020202020204" pitchFamily="34" charset="0"/>
                <a:cs typeface="Arial" panose="020B0604020202020204" pitchFamily="34" charset="0"/>
              </a:rPr>
              <a:t>8</a:t>
            </a:r>
            <a:r>
              <a:rPr lang="en-IN" altLang="en-US" sz="2400" i="0" dirty="0">
                <a:solidFill>
                  <a:srgbClr val="303030"/>
                </a:solidFill>
                <a:latin typeface="Arial" panose="020B0604020202020204" pitchFamily="34" charset="0"/>
                <a:cs typeface="Arial" panose="020B0604020202020204" pitchFamily="34" charset="0"/>
              </a:rPr>
              <a:t> m/sec)</a:t>
            </a:r>
            <a:endParaRPr lang="en-IN" altLang="en-US" sz="2400" i="0" dirty="0">
              <a:latin typeface="Arial" panose="020B060402020202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2 x 10</a:t>
            </a:r>
            <a:r>
              <a:rPr lang="en-IN" altLang="en-US" sz="2400" i="0" baseline="30000" dirty="0">
                <a:solidFill>
                  <a:srgbClr val="303030"/>
                </a:solidFill>
                <a:latin typeface="Arial" panose="020B0604020202020204" pitchFamily="34" charset="0"/>
                <a:cs typeface="Arial" panose="020B0604020202020204" pitchFamily="34" charset="0"/>
              </a:rPr>
              <a:t>3</a:t>
            </a:r>
            <a:r>
              <a:rPr lang="en-IN" altLang="en-US" sz="2400" i="0" dirty="0">
                <a:solidFill>
                  <a:srgbClr val="303030"/>
                </a:solidFill>
                <a:latin typeface="Arial" panose="020B0604020202020204" pitchFamily="34" charset="0"/>
                <a:cs typeface="Arial" panose="020B0604020202020204" pitchFamily="34" charset="0"/>
              </a:rPr>
              <a:t> m / (2 x 10</a:t>
            </a:r>
            <a:r>
              <a:rPr lang="en-IN" altLang="en-US" sz="2400" i="0" baseline="30000" dirty="0">
                <a:solidFill>
                  <a:srgbClr val="303030"/>
                </a:solidFill>
                <a:latin typeface="Arial" panose="020B0604020202020204" pitchFamily="34" charset="0"/>
                <a:cs typeface="Arial" panose="020B0604020202020204" pitchFamily="34" charset="0"/>
              </a:rPr>
              <a:t>8</a:t>
            </a:r>
            <a:r>
              <a:rPr lang="en-IN" altLang="en-US" sz="2400" i="0" dirty="0">
                <a:solidFill>
                  <a:srgbClr val="303030"/>
                </a:solidFill>
                <a:latin typeface="Arial" panose="020B0604020202020204" pitchFamily="34" charset="0"/>
                <a:cs typeface="Arial" panose="020B0604020202020204" pitchFamily="34" charset="0"/>
              </a:rPr>
              <a:t> m/sec)</a:t>
            </a:r>
            <a:endParaRPr lang="en-IN" altLang="en-US" sz="2400" i="0" dirty="0">
              <a:latin typeface="Arial" panose="020B0604020202020204" pitchFamily="34" charset="0"/>
              <a:cs typeface="Arial" panose="020B0604020202020204" pitchFamily="34" charset="0"/>
            </a:endParaRPr>
          </a:p>
          <a:p>
            <a:pPr>
              <a:lnSpc>
                <a:spcPct val="107000"/>
              </a:lnSpc>
              <a:spcAft>
                <a:spcPts val="800"/>
              </a:spcAft>
            </a:pPr>
            <a:r>
              <a:rPr lang="en-IN" altLang="en-US" sz="2400" i="0" dirty="0">
                <a:solidFill>
                  <a:srgbClr val="303030"/>
                </a:solidFill>
                <a:latin typeface="Arial" panose="020B0604020202020204" pitchFamily="34" charset="0"/>
                <a:cs typeface="Arial" panose="020B0604020202020204" pitchFamily="34" charset="0"/>
              </a:rPr>
              <a:t>= 10</a:t>
            </a:r>
            <a:r>
              <a:rPr lang="en-IN" altLang="en-US" sz="2400" i="0" baseline="30000" dirty="0">
                <a:solidFill>
                  <a:srgbClr val="303030"/>
                </a:solidFill>
                <a:latin typeface="Arial" panose="020B0604020202020204" pitchFamily="34" charset="0"/>
                <a:cs typeface="Arial" panose="020B0604020202020204" pitchFamily="34" charset="0"/>
              </a:rPr>
              <a:t>-5</a:t>
            </a:r>
            <a:r>
              <a:rPr lang="en-IN" altLang="en-US" sz="2400" i="0" dirty="0">
                <a:solidFill>
                  <a:srgbClr val="303030"/>
                </a:solidFill>
                <a:latin typeface="Arial" panose="020B0604020202020204" pitchFamily="34" charset="0"/>
                <a:cs typeface="Arial" panose="020B0604020202020204" pitchFamily="34" charset="0"/>
              </a:rPr>
              <a:t> sec</a:t>
            </a:r>
          </a:p>
          <a:p>
            <a:pPr>
              <a:lnSpc>
                <a:spcPct val="107000"/>
              </a:lnSpc>
              <a:spcAft>
                <a:spcPts val="800"/>
              </a:spcAft>
            </a:pPr>
            <a:r>
              <a:rPr lang="en-IN" altLang="en-US" sz="2400" i="0" u="sng" dirty="0">
                <a:solidFill>
                  <a:srgbClr val="303030"/>
                </a:solidFill>
                <a:latin typeface="Arial" panose="020B0604020202020204" pitchFamily="34" charset="0"/>
                <a:cs typeface="Arial" panose="020B0604020202020204" pitchFamily="34" charset="0"/>
              </a:rPr>
              <a:t>Calculating Minimum Frame Size-</a:t>
            </a:r>
            <a:endParaRPr lang="en-IN" altLang="en-US" sz="2400" i="0" dirty="0">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Minimum frame size</a:t>
            </a:r>
            <a:endParaRPr lang="en-IN" altLang="en-US" sz="2400" i="0" dirty="0">
              <a:latin typeface="Arial" panose="020B060402020202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2 x Propagation delay x Bandwidth</a:t>
            </a:r>
            <a:endParaRPr lang="en-IN" altLang="en-US" sz="2400" i="0" dirty="0">
              <a:latin typeface="Arial" panose="020B060402020202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2 x 10</a:t>
            </a:r>
            <a:r>
              <a:rPr lang="en-IN" altLang="en-US" sz="2400" i="0" baseline="30000" dirty="0">
                <a:solidFill>
                  <a:srgbClr val="303030"/>
                </a:solidFill>
                <a:latin typeface="Arial" panose="020B0604020202020204" pitchFamily="34" charset="0"/>
                <a:cs typeface="Arial" panose="020B0604020202020204" pitchFamily="34" charset="0"/>
              </a:rPr>
              <a:t>-5</a:t>
            </a:r>
            <a:r>
              <a:rPr lang="en-IN" altLang="en-US" sz="2400" i="0" dirty="0">
                <a:solidFill>
                  <a:srgbClr val="303030"/>
                </a:solidFill>
                <a:latin typeface="Arial" panose="020B0604020202020204" pitchFamily="34" charset="0"/>
                <a:cs typeface="Arial" panose="020B0604020202020204" pitchFamily="34" charset="0"/>
              </a:rPr>
              <a:t> sec x 10</a:t>
            </a:r>
            <a:r>
              <a:rPr lang="en-IN" altLang="en-US" sz="2400" i="0" baseline="30000" dirty="0">
                <a:solidFill>
                  <a:srgbClr val="303030"/>
                </a:solidFill>
                <a:latin typeface="Arial" panose="020B0604020202020204" pitchFamily="34" charset="0"/>
                <a:cs typeface="Arial" panose="020B0604020202020204" pitchFamily="34" charset="0"/>
              </a:rPr>
              <a:t>7</a:t>
            </a:r>
            <a:r>
              <a:rPr lang="en-IN" altLang="en-US" sz="2400" i="0" dirty="0">
                <a:solidFill>
                  <a:srgbClr val="303030"/>
                </a:solidFill>
                <a:latin typeface="Arial" panose="020B0604020202020204" pitchFamily="34" charset="0"/>
                <a:cs typeface="Arial" panose="020B0604020202020204" pitchFamily="34" charset="0"/>
              </a:rPr>
              <a:t> bits per sec</a:t>
            </a:r>
            <a:endParaRPr lang="en-IN" altLang="en-US" sz="2400" i="0" dirty="0">
              <a:latin typeface="Arial" panose="020B0604020202020204" pitchFamily="34" charset="0"/>
              <a:cs typeface="Arial" panose="020B0604020202020204" pitchFamily="34" charset="0"/>
            </a:endParaRPr>
          </a:p>
          <a:p>
            <a:pPr>
              <a:lnSpc>
                <a:spcPct val="107000"/>
              </a:lnSpc>
              <a:spcBef>
                <a:spcPts val="300"/>
              </a:spcBef>
              <a:spcAft>
                <a:spcPts val="900"/>
              </a:spcAft>
            </a:pPr>
            <a:r>
              <a:rPr lang="en-IN" altLang="en-US" sz="2400" i="0" dirty="0">
                <a:solidFill>
                  <a:srgbClr val="303030"/>
                </a:solidFill>
                <a:latin typeface="Arial" panose="020B0604020202020204" pitchFamily="34" charset="0"/>
                <a:cs typeface="Arial" panose="020B0604020202020204" pitchFamily="34" charset="0"/>
              </a:rPr>
              <a:t>= 200 bits or 25 bytes</a:t>
            </a:r>
            <a:endParaRPr lang="en-IN" altLang="en-US" sz="2400" i="0" dirty="0">
              <a:latin typeface="Arial" panose="020B0604020202020204" pitchFamily="34" charset="0"/>
              <a:cs typeface="Arial" panose="020B0604020202020204" pitchFamily="34" charset="0"/>
            </a:endParaRPr>
          </a:p>
          <a:p>
            <a:pPr>
              <a:lnSpc>
                <a:spcPct val="107000"/>
              </a:lnSpc>
              <a:spcBef>
                <a:spcPts val="300"/>
              </a:spcBef>
              <a:spcAft>
                <a:spcPts val="900"/>
              </a:spcAft>
            </a:pPr>
            <a:endParaRPr lang="en-IN" altLang="en-US" sz="2400" dirty="0">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a:extLst>
              <a:ext uri="{FF2B5EF4-FFF2-40B4-BE49-F238E27FC236}">
                <a16:creationId xmlns:a16="http://schemas.microsoft.com/office/drawing/2014/main" id="{45248F56-F296-909C-35A6-F15744FA456A}"/>
              </a:ext>
            </a:extLst>
          </p:cNvPr>
          <p:cNvSpPr>
            <a:spLocks noChangeArrowheads="1"/>
          </p:cNvSpPr>
          <p:nvPr/>
        </p:nvSpPr>
        <p:spPr bwMode="auto">
          <a:xfrm>
            <a:off x="1671918" y="1006921"/>
            <a:ext cx="85344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en-US" sz="3200" baseline="0" dirty="0">
                <a:solidFill>
                  <a:srgbClr val="C00000"/>
                </a:solidFill>
                <a:latin typeface="Arial" panose="020B0604020202020204" pitchFamily="34" charset="0"/>
                <a:cs typeface="Arial" panose="020B0604020202020204" pitchFamily="34" charset="0"/>
              </a:rPr>
              <a:t>Example 14</a:t>
            </a:r>
            <a:r>
              <a:rPr lang="en-US" altLang="en-US" sz="3200" u="sng" dirty="0">
                <a:solidFill>
                  <a:srgbClr val="303030"/>
                </a:solidFill>
                <a:latin typeface="Roboto Condensed" panose="02000000000000000000" pitchFamily="2" charset="0"/>
                <a:cs typeface="Times New Roman" panose="02020603050405020304" pitchFamily="18" charset="0"/>
              </a:rPr>
              <a:t>:</a:t>
            </a:r>
            <a:endParaRPr lang="en-US" altLang="en-US" sz="3200" dirty="0"/>
          </a:p>
          <a:p>
            <a:r>
              <a:rPr lang="en-US" altLang="en-US" sz="1100" dirty="0">
                <a:solidFill>
                  <a:srgbClr val="303030"/>
                </a:solidFill>
                <a:latin typeface="Calibri" panose="020F0502020204030204" pitchFamily="34" charset="0"/>
                <a:ea typeface="Times New Roman" panose="02020603050405020304" pitchFamily="18" charset="0"/>
                <a:cs typeface="Arial" panose="020B0604020202020204" pitchFamily="34" charset="0"/>
              </a:rPr>
              <a:t> </a:t>
            </a:r>
            <a:endParaRPr lang="en-US" altLang="en-US" sz="600" dirty="0"/>
          </a:p>
          <a:p>
            <a:r>
              <a:rPr lang="en-US" altLang="en-US" dirty="0">
                <a:solidFill>
                  <a:srgbClr val="303030"/>
                </a:solidFill>
                <a:latin typeface="Arial" panose="020B0604020202020204" pitchFamily="34" charset="0"/>
                <a:cs typeface="Times New Roman" panose="02020603050405020304" pitchFamily="18" charset="0"/>
              </a:rPr>
              <a:t>The network consists of 4 hosts distributed as shown below-</a:t>
            </a:r>
            <a:endParaRPr lang="en-US" altLang="en-US" dirty="0"/>
          </a:p>
          <a:p>
            <a:r>
              <a:rPr lang="en-US" altLang="en-US" sz="1100" dirty="0">
                <a:solidFill>
                  <a:srgbClr val="303030"/>
                </a:solidFill>
                <a:latin typeface="Calibri" panose="020F0502020204030204" pitchFamily="34" charset="0"/>
                <a:cs typeface="Times New Roman" panose="02020603050405020304" pitchFamily="18" charset="0"/>
              </a:rPr>
              <a:t> </a:t>
            </a:r>
            <a:endParaRPr lang="en-US" altLang="en-US" sz="600" dirty="0"/>
          </a:p>
          <a:p>
            <a:endParaRPr lang="en-US" altLang="en-US" dirty="0"/>
          </a:p>
        </p:txBody>
      </p:sp>
      <p:pic>
        <p:nvPicPr>
          <p:cNvPr id="123908" name="Picture 1">
            <a:extLst>
              <a:ext uri="{FF2B5EF4-FFF2-40B4-BE49-F238E27FC236}">
                <a16:creationId xmlns:a16="http://schemas.microsoft.com/office/drawing/2014/main" id="{93AEB4FF-F75C-A46E-C330-EEE8294C3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0552" y="2187387"/>
            <a:ext cx="8243047" cy="479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9" name="Rectangle 3">
            <a:extLst>
              <a:ext uri="{FF2B5EF4-FFF2-40B4-BE49-F238E27FC236}">
                <a16:creationId xmlns:a16="http://schemas.microsoft.com/office/drawing/2014/main" id="{A6BB7AC7-FFE4-9D50-EF53-8F730C438CC5}"/>
              </a:ext>
            </a:extLst>
          </p:cNvPr>
          <p:cNvSpPr>
            <a:spLocks noChangeArrowheads="1"/>
          </p:cNvSpPr>
          <p:nvPr/>
        </p:nvSpPr>
        <p:spPr bwMode="auto">
          <a:xfrm>
            <a:off x="1600200" y="3562262"/>
            <a:ext cx="3124200" cy="3795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en-I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TextBox 3">
            <a:extLst>
              <a:ext uri="{FF2B5EF4-FFF2-40B4-BE49-F238E27FC236}">
                <a16:creationId xmlns:a16="http://schemas.microsoft.com/office/drawing/2014/main" id="{4C8E8D63-1044-94AD-9CD7-7C3C0C373B79}"/>
              </a:ext>
            </a:extLst>
          </p:cNvPr>
          <p:cNvSpPr txBox="1">
            <a:spLocks noChangeArrowheads="1"/>
          </p:cNvSpPr>
          <p:nvPr/>
        </p:nvSpPr>
        <p:spPr bwMode="auto">
          <a:xfrm>
            <a:off x="1470212" y="457200"/>
            <a:ext cx="8816788"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nSpc>
                <a:spcPct val="107000"/>
              </a:lnSpc>
              <a:spcBef>
                <a:spcPts val="300"/>
              </a:spcBef>
              <a:spcAft>
                <a:spcPts val="900"/>
              </a:spcAft>
            </a:pPr>
            <a:r>
              <a:rPr lang="en-IN" altLang="en-US" dirty="0">
                <a:solidFill>
                  <a:srgbClr val="303030"/>
                </a:solidFill>
                <a:latin typeface="Arial" panose="020B0604020202020204" pitchFamily="34" charset="0"/>
                <a:cs typeface="Times New Roman" panose="02020603050405020304" pitchFamily="18" charset="0"/>
              </a:rPr>
              <a:t>Assume this network uses CSMA / CD and signal travels with a speed of 3 x 10</a:t>
            </a:r>
            <a:r>
              <a:rPr lang="en-IN" altLang="en-US" baseline="30000" dirty="0">
                <a:solidFill>
                  <a:srgbClr val="303030"/>
                </a:solidFill>
                <a:latin typeface="Arial" panose="020B0604020202020204" pitchFamily="34" charset="0"/>
                <a:cs typeface="Times New Roman" panose="02020603050405020304" pitchFamily="18" charset="0"/>
              </a:rPr>
              <a:t>5</a:t>
            </a:r>
            <a:r>
              <a:rPr lang="en-IN" altLang="en-US" dirty="0">
                <a:solidFill>
                  <a:srgbClr val="303030"/>
                </a:solidFill>
                <a:latin typeface="Arial" panose="020B0604020202020204" pitchFamily="34" charset="0"/>
                <a:cs typeface="Times New Roman" panose="02020603050405020304" pitchFamily="18" charset="0"/>
              </a:rPr>
              <a:t> km/sec. If sender sends at 1 Mbps, what could be the minimum size of the packet?</a:t>
            </a:r>
            <a:endParaRPr lang="en-IN" altLang="en-US" sz="2400"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3FD19196-3924-F6D1-5C20-5A00CAC9ADE5}"/>
              </a:ext>
            </a:extLst>
          </p:cNvPr>
          <p:cNvGraphicFramePr>
            <a:graphicFrameLocks noGrp="1"/>
          </p:cNvGraphicFramePr>
          <p:nvPr>
            <p:extLst>
              <p:ext uri="{D42A27DB-BD31-4B8C-83A1-F6EECF244321}">
                <p14:modId xmlns:p14="http://schemas.microsoft.com/office/powerpoint/2010/main" val="2529756331"/>
              </p:ext>
            </p:extLst>
          </p:nvPr>
        </p:nvGraphicFramePr>
        <p:xfrm>
          <a:off x="3122614" y="3657600"/>
          <a:ext cx="5946775" cy="2895600"/>
        </p:xfrm>
        <a:graphic>
          <a:graphicData uri="http://schemas.openxmlformats.org/drawingml/2006/table">
            <a:tbl>
              <a:tblPr firstRow="1" firstCol="1" bandRow="1">
                <a:tableStyleId>{5C22544A-7EE6-4342-B048-85BDC9FD1C3A}</a:tableStyleId>
              </a:tblPr>
              <a:tblGrid>
                <a:gridCol w="5946775">
                  <a:extLst>
                    <a:ext uri="{9D8B030D-6E8A-4147-A177-3AD203B41FA5}">
                      <a16:colId xmlns:a16="http://schemas.microsoft.com/office/drawing/2014/main" val="20000"/>
                    </a:ext>
                  </a:extLst>
                </a:gridCol>
              </a:tblGrid>
              <a:tr h="2895600">
                <a:tc>
                  <a:txBody>
                    <a:bodyPr/>
                    <a:lstStyle/>
                    <a:p>
                      <a:pPr fontAlgn="base">
                        <a:lnSpc>
                          <a:spcPct val="107000"/>
                        </a:lnSpc>
                        <a:spcBef>
                          <a:spcPts val="300"/>
                        </a:spcBef>
                        <a:spcAft>
                          <a:spcPts val="900"/>
                        </a:spcAft>
                      </a:pPr>
                      <a:r>
                        <a:rPr lang="en-IN" sz="1150" dirty="0">
                          <a:effectLst/>
                        </a:rPr>
                        <a:t>In CSMA / CD,</a:t>
                      </a:r>
                      <a:endParaRPr lang="en-IN" sz="1100" dirty="0">
                        <a:effectLst/>
                      </a:endParaRPr>
                    </a:p>
                    <a:p>
                      <a:pPr algn="ctr" fontAlgn="base">
                        <a:lnSpc>
                          <a:spcPct val="107000"/>
                        </a:lnSpc>
                        <a:spcBef>
                          <a:spcPts val="300"/>
                        </a:spcBef>
                        <a:spcAft>
                          <a:spcPts val="900"/>
                        </a:spcAft>
                      </a:pPr>
                      <a:r>
                        <a:rPr lang="en-IN" sz="1150" dirty="0">
                          <a:effectLst/>
                        </a:rPr>
                        <a:t>The condition to detect collision is-</a:t>
                      </a:r>
                      <a:endParaRPr lang="en-IN" sz="1100" dirty="0">
                        <a:effectLst/>
                      </a:endParaRPr>
                    </a:p>
                    <a:p>
                      <a:pPr algn="ctr" fontAlgn="base">
                        <a:lnSpc>
                          <a:spcPct val="107000"/>
                        </a:lnSpc>
                        <a:spcBef>
                          <a:spcPts val="300"/>
                        </a:spcBef>
                        <a:spcAft>
                          <a:spcPts val="900"/>
                        </a:spcAft>
                      </a:pPr>
                      <a:r>
                        <a:rPr lang="en-IN" sz="1150" dirty="0">
                          <a:effectLst/>
                        </a:rPr>
                        <a:t>Packet size &gt;= 2 x (distance / speed) x Bandwidth</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30" marR="95230" marT="76200" marB="76200" anchor="ctr"/>
                </a:tc>
                <a:extLst>
                  <a:ext uri="{0D108BD9-81ED-4DB2-BD59-A6C34878D82A}">
                    <a16:rowId xmlns:a16="http://schemas.microsoft.com/office/drawing/2014/main" val="10000"/>
                  </a:ext>
                </a:extLst>
              </a:tr>
            </a:tbl>
          </a:graphicData>
        </a:graphic>
      </p:graphicFrame>
      <p:sp>
        <p:nvSpPr>
          <p:cNvPr id="124938" name="Rectangle 1">
            <a:extLst>
              <a:ext uri="{FF2B5EF4-FFF2-40B4-BE49-F238E27FC236}">
                <a16:creationId xmlns:a16="http://schemas.microsoft.com/office/drawing/2014/main" id="{C0680818-99C1-054B-07DD-4F7D44FF0C29}"/>
              </a:ext>
            </a:extLst>
          </p:cNvPr>
          <p:cNvSpPr>
            <a:spLocks noChangeArrowheads="1"/>
          </p:cNvSpPr>
          <p:nvPr/>
        </p:nvSpPr>
        <p:spPr bwMode="auto">
          <a:xfrm>
            <a:off x="1470212" y="1478150"/>
            <a:ext cx="8458200"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457200" algn="l"/>
              </a:tabLst>
              <a:defRPr sz="2800" b="1" i="1" baseline="-10000">
                <a:solidFill>
                  <a:schemeClr val="tx1"/>
                </a:solidFill>
                <a:latin typeface="Times New Roman" panose="02020603050405020304" pitchFamily="18" charset="0"/>
              </a:defRPr>
            </a:lvl1pPr>
            <a:lvl2pPr marL="742950" indent="-285750">
              <a:tabLst>
                <a:tab pos="457200" algn="l"/>
              </a:tabLst>
              <a:defRPr sz="2800" b="1" i="1" baseline="-10000">
                <a:solidFill>
                  <a:schemeClr val="tx1"/>
                </a:solidFill>
                <a:latin typeface="Times New Roman" panose="02020603050405020304" pitchFamily="18" charset="0"/>
              </a:defRPr>
            </a:lvl2pPr>
            <a:lvl3pPr marL="1143000" indent="-228600">
              <a:tabLst>
                <a:tab pos="457200" algn="l"/>
              </a:tabLst>
              <a:defRPr sz="2800" b="1" i="1" baseline="-10000">
                <a:solidFill>
                  <a:schemeClr val="tx1"/>
                </a:solidFill>
                <a:latin typeface="Times New Roman" panose="02020603050405020304" pitchFamily="18" charset="0"/>
              </a:defRPr>
            </a:lvl3pPr>
            <a:lvl4pPr marL="1600200" indent="-228600">
              <a:tabLst>
                <a:tab pos="457200" algn="l"/>
              </a:tabLst>
              <a:defRPr sz="2800" b="1" i="1" baseline="-10000">
                <a:solidFill>
                  <a:schemeClr val="tx1"/>
                </a:solidFill>
                <a:latin typeface="Times New Roman" panose="02020603050405020304" pitchFamily="18" charset="0"/>
              </a:defRPr>
            </a:lvl4pPr>
            <a:lvl5pPr marL="2057400" indent="-228600">
              <a:tabLst>
                <a:tab pos="457200" algn="l"/>
              </a:tabLst>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l"/>
              </a:tabLs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l"/>
              </a:tabLs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l"/>
              </a:tabLs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l"/>
              </a:tabLst>
              <a:defRPr sz="2800" b="1" i="1" baseline="-10000">
                <a:solidFill>
                  <a:schemeClr val="tx1"/>
                </a:solidFill>
                <a:latin typeface="Times New Roman" panose="02020603050405020304" pitchFamily="18" charset="0"/>
              </a:defRPr>
            </a:lvl9pPr>
          </a:lstStyle>
          <a:p>
            <a:r>
              <a:rPr lang="en-US" altLang="en-US" sz="2400" u="sng" dirty="0">
                <a:solidFill>
                  <a:srgbClr val="303030"/>
                </a:solidFill>
                <a:latin typeface="Roboto Condensed" panose="02000000000000000000" pitchFamily="2" charset="0"/>
                <a:cs typeface="Times New Roman" panose="02020603050405020304" pitchFamily="18" charset="0"/>
              </a:rPr>
              <a:t>Solution-</a:t>
            </a:r>
            <a:endParaRPr lang="en-US" altLang="en-US" sz="2400" dirty="0"/>
          </a:p>
          <a:p>
            <a:r>
              <a:rPr lang="en-US" altLang="en-US" sz="2400" dirty="0">
                <a:solidFill>
                  <a:srgbClr val="303030"/>
                </a:solidFill>
                <a:latin typeface="Calibri" panose="020F0502020204030204" pitchFamily="34" charset="0"/>
                <a:ea typeface="Times New Roman" panose="02020603050405020304" pitchFamily="18" charset="0"/>
                <a:cs typeface="Arial" panose="020B0604020202020204" pitchFamily="34" charset="0"/>
              </a:rPr>
              <a:t> </a:t>
            </a:r>
            <a:endParaRPr lang="en-US" altLang="en-US" sz="2400" dirty="0">
              <a:ea typeface="Times New Roman" panose="02020603050405020304" pitchFamily="18" charset="0"/>
              <a:cs typeface="Arial" panose="020B0604020202020204" pitchFamily="34" charset="0"/>
            </a:endParaRPr>
          </a:p>
          <a:p>
            <a:pPr>
              <a:buFontTx/>
              <a:buChar char="•"/>
            </a:pPr>
            <a:r>
              <a:rPr lang="en-US" altLang="en-US" sz="2400" dirty="0">
                <a:solidFill>
                  <a:srgbClr val="303030"/>
                </a:solidFill>
                <a:latin typeface="Arial" panose="020B0604020202020204" pitchFamily="34" charset="0"/>
                <a:cs typeface="Times New Roman" panose="02020603050405020304" pitchFamily="18" charset="0"/>
              </a:rPr>
              <a:t>CSMA / CD is a</a:t>
            </a:r>
            <a:r>
              <a:rPr lang="en-US" altLang="en-US" sz="2400" dirty="0">
                <a:solidFill>
                  <a:srgbClr val="303030"/>
                </a:solidFill>
                <a:latin typeface="Calibri" panose="020F0502020204030204" pitchFamily="34" charset="0"/>
                <a:cs typeface="Times New Roman" panose="02020603050405020304" pitchFamily="18" charset="0"/>
              </a:rPr>
              <a:t> </a:t>
            </a:r>
            <a:r>
              <a:rPr lang="en-US" altLang="en-US" sz="2400" dirty="0">
                <a:solidFill>
                  <a:srgbClr val="910000"/>
                </a:solidFill>
                <a:latin typeface="Arial" panose="020B0604020202020204" pitchFamily="34" charset="0"/>
                <a:cs typeface="Times New Roman" panose="02020603050405020304" pitchFamily="18" charset="0"/>
                <a:hlinkClick r:id="rId2"/>
              </a:rPr>
              <a:t>Access Control Method</a:t>
            </a:r>
            <a:r>
              <a:rPr lang="en-US" altLang="en-US" sz="2400" dirty="0">
                <a:solidFill>
                  <a:srgbClr val="303030"/>
                </a:solidFill>
                <a:latin typeface="Arial" panose="020B0604020202020204" pitchFamily="34" charset="0"/>
                <a:cs typeface="Times New Roman" panose="02020603050405020304" pitchFamily="18" charset="0"/>
              </a:rPr>
              <a:t>.</a:t>
            </a:r>
            <a:endParaRPr lang="en-US" altLang="en-US" sz="2400" dirty="0"/>
          </a:p>
          <a:p>
            <a:pPr>
              <a:buFontTx/>
              <a:buChar char="•"/>
            </a:pPr>
            <a:r>
              <a:rPr lang="en-US" altLang="en-US" sz="2400" dirty="0">
                <a:solidFill>
                  <a:srgbClr val="303030"/>
                </a:solidFill>
                <a:latin typeface="Arial" panose="020B0604020202020204" pitchFamily="34" charset="0"/>
                <a:cs typeface="Times New Roman" panose="02020603050405020304" pitchFamily="18" charset="0"/>
              </a:rPr>
              <a:t>It is used to provide the access to stations to a broadcast link.</a:t>
            </a:r>
            <a:endParaRPr lang="en-US" altLang="en-US" sz="2400" dirty="0"/>
          </a:p>
          <a:p>
            <a:pPr>
              <a:buFontTx/>
              <a:buChar char="•"/>
            </a:pPr>
            <a:r>
              <a:rPr lang="en-US" altLang="en-US" sz="2400" dirty="0">
                <a:solidFill>
                  <a:srgbClr val="303030"/>
                </a:solidFill>
                <a:latin typeface="Arial" panose="020B0604020202020204" pitchFamily="34" charset="0"/>
                <a:cs typeface="Times New Roman" panose="02020603050405020304" pitchFamily="18" charset="0"/>
              </a:rPr>
              <a:t>In the given network, all the links are point to point.</a:t>
            </a:r>
            <a:endParaRPr lang="en-US" altLang="en-US" sz="2400" dirty="0"/>
          </a:p>
          <a:p>
            <a:pPr>
              <a:buFontTx/>
              <a:buChar char="•"/>
            </a:pPr>
            <a:r>
              <a:rPr lang="en-US" altLang="en-US" sz="2400" dirty="0">
                <a:solidFill>
                  <a:srgbClr val="303030"/>
                </a:solidFill>
                <a:latin typeface="Arial" panose="020B0604020202020204" pitchFamily="34" charset="0"/>
                <a:cs typeface="Times New Roman" panose="02020603050405020304" pitchFamily="18" charset="0"/>
              </a:rPr>
              <a:t>So, there is actually no need of implementing CSMA / CD.</a:t>
            </a:r>
            <a:endParaRPr lang="en-US" altLang="en-US" sz="2400" dirty="0"/>
          </a:p>
          <a:p>
            <a:pPr>
              <a:buFontTx/>
              <a:buChar char="•"/>
            </a:pPr>
            <a:r>
              <a:rPr lang="en-US" altLang="en-US" sz="2400" dirty="0">
                <a:solidFill>
                  <a:srgbClr val="303030"/>
                </a:solidFill>
                <a:latin typeface="Arial" panose="020B0604020202020204" pitchFamily="34" charset="0"/>
                <a:cs typeface="Times New Roman" panose="02020603050405020304" pitchFamily="18" charset="0"/>
              </a:rPr>
              <a:t>Stations can transmit whenever they want to transmit.</a:t>
            </a:r>
            <a:endParaRPr lang="en-US" altLang="en-US" sz="2400" dirty="0"/>
          </a:p>
          <a:p>
            <a:r>
              <a:rPr lang="en-US" altLang="en-US" sz="2400" dirty="0">
                <a:solidFill>
                  <a:srgbClr val="303030"/>
                </a:solidFill>
                <a:latin typeface="Calibri" panose="020F0502020204030204" pitchFamily="34" charset="0"/>
                <a:cs typeface="Times New Roman" panose="02020603050405020304" pitchFamily="18" charset="0"/>
              </a:rPr>
              <a:t> </a:t>
            </a:r>
            <a:endParaRPr lang="en-US" altLang="en-US" sz="2400" dirty="0"/>
          </a:p>
          <a:p>
            <a:r>
              <a:rPr lang="en-US" altLang="en-US" sz="2400" dirty="0">
                <a:solidFill>
                  <a:srgbClr val="303030"/>
                </a:solidFill>
                <a:latin typeface="Calibri" panose="020F0502020204030204" pitchFamily="34" charset="0"/>
                <a:cs typeface="Times New Roman" panose="02020603050405020304" pitchFamily="18" charset="0"/>
              </a:rPr>
              <a:t> </a:t>
            </a:r>
            <a:endParaRPr lang="en-US"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7025D3-5754-6044-275E-99650B29965B}"/>
              </a:ext>
            </a:extLst>
          </p:cNvPr>
          <p:cNvSpPr txBox="1"/>
          <p:nvPr/>
        </p:nvSpPr>
        <p:spPr>
          <a:xfrm>
            <a:off x="1120588" y="914399"/>
            <a:ext cx="9117106" cy="4188647"/>
          </a:xfrm>
          <a:prstGeom prst="rect">
            <a:avLst/>
          </a:prstGeom>
          <a:noFill/>
        </p:spPr>
        <p:txBody>
          <a:bodyPr wrap="square">
            <a:spAutoFit/>
          </a:bodyPr>
          <a:lstStyle/>
          <a:p>
            <a:pPr>
              <a:lnSpc>
                <a:spcPct val="107000"/>
              </a:lnSpc>
              <a:spcBef>
                <a:spcPts val="300"/>
              </a:spcBef>
              <a:spcAft>
                <a:spcPts val="900"/>
              </a:spcAf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So, we use the values-</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spcBef>
                <a:spcPts val="300"/>
              </a:spcBef>
              <a:spcAft>
                <a:spcPts val="300"/>
              </a:spcAft>
              <a:buSzPts val="1000"/>
              <a:buFont typeface="Symbol" panose="05050102010706020507" pitchFamily="18" charset="2"/>
              <a:buChar char=""/>
              <a:tabLst>
                <a:tab pos="457200" algn="l"/>
              </a:tabLs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Distance = 90 km</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spcBef>
                <a:spcPts val="300"/>
              </a:spcBef>
              <a:spcAft>
                <a:spcPts val="300"/>
              </a:spcAft>
              <a:buSzPts val="1000"/>
              <a:buFont typeface="Symbol" panose="05050102010706020507" pitchFamily="18" charset="2"/>
              <a:buChar char=""/>
              <a:tabLst>
                <a:tab pos="457200" algn="l"/>
              </a:tabLs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Speed = 3 x 10</a:t>
            </a:r>
            <a:r>
              <a:rPr lang="en-IN" baseline="30000" dirty="0">
                <a:solidFill>
                  <a:srgbClr val="C00000"/>
                </a:solidFill>
                <a:latin typeface="Arial" panose="020B0604020202020204" pitchFamily="34" charset="0"/>
                <a:ea typeface="Times New Roman" panose="02020603050405020304" pitchFamily="18" charset="0"/>
                <a:cs typeface="Arial" panose="020B0604020202020204" pitchFamily="34" charset="0"/>
              </a:rPr>
              <a:t>5</a:t>
            </a: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km/sec</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marL="342900" indent="-342900">
              <a:lnSpc>
                <a:spcPct val="107000"/>
              </a:lnSpc>
              <a:spcBef>
                <a:spcPts val="300"/>
              </a:spcBef>
              <a:spcAft>
                <a:spcPts val="300"/>
              </a:spcAft>
              <a:buSzPts val="1000"/>
              <a:buFont typeface="Symbol" panose="05050102010706020507" pitchFamily="18" charset="2"/>
              <a:buChar char=""/>
              <a:tabLst>
                <a:tab pos="457200" algn="l"/>
              </a:tabLs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Bandwidth = 1 Mbps</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Substituting these values, we get-</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Minimum size of data packet</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2 x (90 km / 3 x 10</a:t>
            </a:r>
            <a:r>
              <a:rPr lang="en-IN" baseline="30000" dirty="0">
                <a:solidFill>
                  <a:srgbClr val="C00000"/>
                </a:solidFill>
                <a:latin typeface="Arial" panose="020B0604020202020204" pitchFamily="34" charset="0"/>
                <a:ea typeface="Times New Roman" panose="02020603050405020304" pitchFamily="18" charset="0"/>
                <a:cs typeface="Arial" panose="020B0604020202020204" pitchFamily="34" charset="0"/>
              </a:rPr>
              <a:t>5</a:t>
            </a: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km per sec) x 1 Mbps</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2 x 30 x 10</a:t>
            </a:r>
            <a:r>
              <a:rPr lang="en-IN" baseline="30000" dirty="0">
                <a:solidFill>
                  <a:srgbClr val="C00000"/>
                </a:solidFill>
                <a:latin typeface="Arial" panose="020B0604020202020204" pitchFamily="34" charset="0"/>
                <a:ea typeface="Times New Roman" panose="02020603050405020304" pitchFamily="18" charset="0"/>
                <a:cs typeface="Arial" panose="020B0604020202020204" pitchFamily="34" charset="0"/>
              </a:rPr>
              <a:t>-5</a:t>
            </a: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sec x 10</a:t>
            </a:r>
            <a:r>
              <a:rPr lang="en-IN" baseline="30000" dirty="0">
                <a:solidFill>
                  <a:srgbClr val="C00000"/>
                </a:solidFill>
                <a:latin typeface="Arial" panose="020B0604020202020204" pitchFamily="34" charset="0"/>
                <a:ea typeface="Times New Roman" panose="02020603050405020304" pitchFamily="18" charset="0"/>
                <a:cs typeface="Arial" panose="020B0604020202020204" pitchFamily="34" charset="0"/>
              </a:rPr>
              <a:t>6</a:t>
            </a: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bits per sec</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300"/>
              </a:spcBef>
              <a:spcAft>
                <a:spcPts val="900"/>
              </a:spcAft>
              <a:defRPr/>
            </a:pPr>
            <a:r>
              <a:rPr lang="en-IN" dirty="0">
                <a:solidFill>
                  <a:srgbClr val="C00000"/>
                </a:solidFill>
                <a:latin typeface="Arial" panose="020B0604020202020204" pitchFamily="34" charset="0"/>
                <a:ea typeface="Times New Roman" panose="02020603050405020304" pitchFamily="18" charset="0"/>
                <a:cs typeface="Arial" panose="020B0604020202020204" pitchFamily="34" charset="0"/>
              </a:rPr>
              <a:t>= 600 bits</a:t>
            </a:r>
            <a:endParaRPr lang="en-IN" sz="2400" dirty="0">
              <a:solidFill>
                <a:srgbClr val="C00000"/>
              </a:solidFill>
              <a:latin typeface="Arial" panose="020B060402020202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TextBox 3">
            <a:extLst>
              <a:ext uri="{FF2B5EF4-FFF2-40B4-BE49-F238E27FC236}">
                <a16:creationId xmlns:a16="http://schemas.microsoft.com/office/drawing/2014/main" id="{6943A8CB-1C70-8336-70C6-9D81BDD7A39C}"/>
              </a:ext>
            </a:extLst>
          </p:cNvPr>
          <p:cNvSpPr txBox="1">
            <a:spLocks noChangeArrowheads="1"/>
          </p:cNvSpPr>
          <p:nvPr/>
        </p:nvSpPr>
        <p:spPr bwMode="auto">
          <a:xfrm>
            <a:off x="914400" y="381001"/>
            <a:ext cx="9372600" cy="183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defRPr/>
            </a:pPr>
            <a:r>
              <a:rPr lang="en-US" altLang="en-US" sz="3600" baseline="0" dirty="0">
                <a:solidFill>
                  <a:srgbClr val="C00000"/>
                </a:solidFill>
                <a:latin typeface="Arial" panose="020B0604020202020204" pitchFamily="34" charset="0"/>
                <a:cs typeface="Arial" panose="020B0604020202020204" pitchFamily="34" charset="0"/>
              </a:rPr>
              <a:t>Example 15 </a:t>
            </a:r>
            <a:endParaRPr lang="en-US" sz="3600" dirty="0">
              <a:latin typeface="Arial" panose="020B0604020202020204" pitchFamily="34" charset="0"/>
              <a:cs typeface="Arial" panose="020B0604020202020204" pitchFamily="34" charset="0"/>
            </a:endParaRPr>
          </a:p>
          <a:p>
            <a:pPr>
              <a:lnSpc>
                <a:spcPct val="107000"/>
              </a:lnSpc>
              <a:spcAft>
                <a:spcPts val="800"/>
              </a:spcAft>
            </a:pPr>
            <a:r>
              <a:rPr lang="en-IN" altLang="en-US" sz="1600" dirty="0">
                <a:latin typeface="Arial" panose="020B0604020202020204" pitchFamily="34" charset="0"/>
                <a:ea typeface="Calibri" panose="020F0502020204030204" pitchFamily="34" charset="0"/>
                <a:cs typeface="Times New Roman" panose="02020603050405020304" pitchFamily="18" charset="0"/>
              </a:rPr>
              <a:t> </a:t>
            </a:r>
            <a:endParaRPr lang="en-IN" alt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altLang="en-US" dirty="0">
                <a:latin typeface="Arial" panose="020B0604020202020204" pitchFamily="34" charset="0"/>
                <a:ea typeface="Calibri" panose="020F0502020204030204" pitchFamily="34" charset="0"/>
                <a:cs typeface="Times New Roman" panose="02020603050405020304" pitchFamily="18" charset="0"/>
              </a:rPr>
              <a:t> </a:t>
            </a:r>
            <a:r>
              <a:rPr lang="en-IN" altLang="en-US" i="0" dirty="0">
                <a:latin typeface="Arial" panose="020B0604020202020204" pitchFamily="34" charset="0"/>
                <a:ea typeface="Calibri" panose="020F0502020204030204" pitchFamily="34" charset="0"/>
                <a:cs typeface="Times New Roman" panose="02020603050405020304" pitchFamily="18" charset="0"/>
              </a:rPr>
              <a:t>Consider a LAN with average source and destination 100 meters apart and the round trip delay of 10 </a:t>
            </a:r>
            <a:r>
              <a:rPr lang="en-IN" altLang="en-US" i="0" dirty="0" err="1">
                <a:latin typeface="Arial" panose="020B0604020202020204" pitchFamily="34" charset="0"/>
                <a:ea typeface="Calibri" panose="020F0502020204030204" pitchFamily="34" charset="0"/>
                <a:cs typeface="Times New Roman" panose="02020603050405020304" pitchFamily="18" charset="0"/>
              </a:rPr>
              <a:t>μs</a:t>
            </a:r>
            <a:r>
              <a:rPr lang="en-IN" altLang="en-US" i="0" dirty="0">
                <a:latin typeface="Arial" panose="020B0604020202020204" pitchFamily="34" charset="0"/>
                <a:ea typeface="Calibri" panose="020F0502020204030204" pitchFamily="34" charset="0"/>
                <a:cs typeface="Times New Roman" panose="02020603050405020304" pitchFamily="18" charset="0"/>
              </a:rPr>
              <a:t>. At ______ data rate does the round trip delay equal to the transmission delay for 512 B packets </a:t>
            </a:r>
            <a:endParaRPr lang="en-IN" altLang="en-US" sz="1600" i="0" dirty="0">
              <a:latin typeface="Calibri" panose="020F0502020204030204" pitchFamily="34" charset="0"/>
              <a:ea typeface="Calibri" panose="020F0502020204030204" pitchFamily="34" charset="0"/>
              <a:cs typeface="Times New Roman" panose="02020603050405020304" pitchFamily="18" charset="0"/>
            </a:endParaRPr>
          </a:p>
        </p:txBody>
      </p:sp>
      <p:sp>
        <p:nvSpPr>
          <p:cNvPr id="126980" name="TextBox 5">
            <a:extLst>
              <a:ext uri="{FF2B5EF4-FFF2-40B4-BE49-F238E27FC236}">
                <a16:creationId xmlns:a16="http://schemas.microsoft.com/office/drawing/2014/main" id="{D88FE118-7302-24FB-E80B-537734EF2CAD}"/>
              </a:ext>
            </a:extLst>
          </p:cNvPr>
          <p:cNvSpPr txBox="1">
            <a:spLocks noChangeArrowheads="1"/>
          </p:cNvSpPr>
          <p:nvPr/>
        </p:nvSpPr>
        <p:spPr bwMode="auto">
          <a:xfrm>
            <a:off x="2133600" y="2559424"/>
            <a:ext cx="5851525"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nSpc>
                <a:spcPct val="107000"/>
              </a:lnSpc>
              <a:spcAft>
                <a:spcPts val="800"/>
              </a:spcAft>
            </a:pPr>
            <a:r>
              <a:rPr lang="en-IN" altLang="en-US" i="0" dirty="0">
                <a:latin typeface="Arial" panose="020B0604020202020204" pitchFamily="34" charset="0"/>
                <a:ea typeface="Calibri" panose="020F0502020204030204" pitchFamily="34" charset="0"/>
                <a:cs typeface="Times New Roman" panose="02020603050405020304" pitchFamily="18" charset="0"/>
              </a:rPr>
              <a:t>RTT = 10 * 10^6 s </a:t>
            </a:r>
            <a:endParaRPr lang="en-IN" altLang="en-US" sz="1200" i="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altLang="en-US" i="0" dirty="0">
                <a:latin typeface="Arial" panose="020B0604020202020204" pitchFamily="34" charset="0"/>
                <a:ea typeface="Calibri" panose="020F0502020204030204" pitchFamily="34" charset="0"/>
                <a:cs typeface="Times New Roman" panose="02020603050405020304" pitchFamily="18" charset="0"/>
              </a:rPr>
              <a:t>Tt = L/B = 512 * 8 /B </a:t>
            </a:r>
            <a:endParaRPr lang="en-IN" altLang="en-US" sz="1200" i="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altLang="en-US" i="0" dirty="0">
                <a:latin typeface="Arial" panose="020B0604020202020204" pitchFamily="34" charset="0"/>
                <a:ea typeface="Calibri" panose="020F0502020204030204" pitchFamily="34" charset="0"/>
                <a:cs typeface="Times New Roman" panose="02020603050405020304" pitchFamily="18" charset="0"/>
              </a:rPr>
              <a:t>Given RTT = Tt </a:t>
            </a:r>
            <a:endParaRPr lang="en-IN" altLang="en-US" sz="1200" i="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altLang="en-US" i="0" dirty="0">
                <a:latin typeface="Arial" panose="020B0604020202020204" pitchFamily="34" charset="0"/>
                <a:ea typeface="Calibri" panose="020F0502020204030204" pitchFamily="34" charset="0"/>
                <a:cs typeface="Times New Roman" panose="02020603050405020304" pitchFamily="18" charset="0"/>
              </a:rPr>
              <a:t>B = 512 * 8 / 10 * 10^6 </a:t>
            </a:r>
            <a:endParaRPr lang="en-IN" altLang="en-US" sz="1200" i="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altLang="en-US" i="0" dirty="0">
                <a:latin typeface="Arial" panose="020B0604020202020204" pitchFamily="34" charset="0"/>
                <a:ea typeface="Calibri" panose="020F0502020204030204" pitchFamily="34" charset="0"/>
                <a:cs typeface="Times New Roman" panose="02020603050405020304" pitchFamily="18" charset="0"/>
              </a:rPr>
              <a:t>= 409.6 * 10^6 bits/s </a:t>
            </a:r>
            <a:endParaRPr lang="en-IN" altLang="en-US" sz="1200" i="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altLang="en-US" i="0" dirty="0">
                <a:latin typeface="Arial" panose="020B0604020202020204" pitchFamily="34" charset="0"/>
                <a:ea typeface="Calibri" panose="020F0502020204030204" pitchFamily="34" charset="0"/>
                <a:cs typeface="Times New Roman" panose="02020603050405020304" pitchFamily="18" charset="0"/>
              </a:rPr>
              <a:t>= 410 Mbps</a:t>
            </a:r>
            <a:endParaRPr lang="en-IN" altLang="en-US" sz="1200" i="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0C68-3EB5-43D5-B72A-FCEE279C03BF}"/>
              </a:ext>
            </a:extLst>
          </p:cNvPr>
          <p:cNvSpPr>
            <a:spLocks noGrp="1"/>
          </p:cNvSpPr>
          <p:nvPr>
            <p:ph type="title"/>
          </p:nvPr>
        </p:nvSpPr>
        <p:spPr/>
        <p:txBody>
          <a:bodyPr/>
          <a:lstStyle/>
          <a:p>
            <a:r>
              <a:rPr lang="en-US" altLang="en-US" sz="4400" baseline="0" dirty="0">
                <a:solidFill>
                  <a:srgbClr val="C00000"/>
                </a:solidFill>
                <a:latin typeface="Arial" panose="020B0604020202020204" pitchFamily="34" charset="0"/>
                <a:cs typeface="Arial" panose="020B0604020202020204" pitchFamily="34" charset="0"/>
              </a:rPr>
              <a:t>Example 16 </a:t>
            </a:r>
            <a:br>
              <a:rPr lang="en-US" sz="4400" dirty="0">
                <a:latin typeface="Arial" panose="020B060402020202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90E9A965-D91A-445B-A99E-0EB9F7DCA811}"/>
              </a:ext>
            </a:extLst>
          </p:cNvPr>
          <p:cNvSpPr>
            <a:spLocks noGrp="1"/>
          </p:cNvSpPr>
          <p:nvPr>
            <p:ph idx="1"/>
          </p:nvPr>
        </p:nvSpPr>
        <p:spPr>
          <a:xfrm>
            <a:off x="838200" y="1021976"/>
            <a:ext cx="10515600" cy="5154987"/>
          </a:xfrm>
        </p:spPr>
        <p:txBody>
          <a:bodyPr>
            <a:normAutofit fontScale="92500" lnSpcReduction="10000"/>
          </a:bodyPr>
          <a:lstStyle/>
          <a:p>
            <a:pPr marL="0" indent="0" algn="l" fontAlgn="base">
              <a:buNone/>
            </a:pPr>
            <a:endParaRPr lang="en-US" b="0" i="0" dirty="0">
              <a:solidFill>
                <a:srgbClr val="303030"/>
              </a:solidFill>
              <a:effectLst/>
              <a:latin typeface="Arimo"/>
            </a:endParaRPr>
          </a:p>
          <a:p>
            <a:pPr algn="l" fontAlgn="base"/>
            <a:r>
              <a:rPr lang="en-US" b="0" i="0" dirty="0">
                <a:solidFill>
                  <a:srgbClr val="303030"/>
                </a:solidFill>
                <a:effectLst/>
                <a:latin typeface="Arimo"/>
              </a:rPr>
              <a:t>After the k</a:t>
            </a:r>
            <a:r>
              <a:rPr lang="en-US" b="0" i="0" baseline="30000" dirty="0">
                <a:solidFill>
                  <a:srgbClr val="303030"/>
                </a:solidFill>
                <a:effectLst/>
                <a:latin typeface="Arimo"/>
              </a:rPr>
              <a:t>th</a:t>
            </a:r>
            <a:r>
              <a:rPr lang="en-US" b="0" i="0" dirty="0">
                <a:solidFill>
                  <a:srgbClr val="303030"/>
                </a:solidFill>
                <a:effectLst/>
                <a:latin typeface="Arimo"/>
              </a:rPr>
              <a:t> consecutive collision, each colliding station waits for a random time chosen from the interval-</a:t>
            </a:r>
          </a:p>
          <a:p>
            <a:pPr algn="l" fontAlgn="base">
              <a:buFont typeface="+mj-lt"/>
              <a:buAutoNum type="arabicPeriod"/>
            </a:pPr>
            <a:r>
              <a:rPr lang="en-US" b="0" i="0" dirty="0">
                <a:solidFill>
                  <a:srgbClr val="303030"/>
                </a:solidFill>
                <a:effectLst/>
                <a:latin typeface="Arimo"/>
              </a:rPr>
              <a:t>(0 to 2</a:t>
            </a:r>
            <a:r>
              <a:rPr lang="en-US" b="0" i="0" baseline="30000" dirty="0">
                <a:solidFill>
                  <a:srgbClr val="303030"/>
                </a:solidFill>
                <a:effectLst/>
                <a:latin typeface="Arimo"/>
              </a:rPr>
              <a:t>k</a:t>
            </a:r>
            <a:r>
              <a:rPr lang="en-US" b="0" i="0" dirty="0">
                <a:solidFill>
                  <a:srgbClr val="303030"/>
                </a:solidFill>
                <a:effectLst/>
                <a:latin typeface="Arimo"/>
              </a:rPr>
              <a:t>) x RTT</a:t>
            </a:r>
          </a:p>
          <a:p>
            <a:pPr algn="l" fontAlgn="base">
              <a:buFont typeface="+mj-lt"/>
              <a:buAutoNum type="arabicPeriod"/>
            </a:pPr>
            <a:r>
              <a:rPr lang="en-US" b="0" i="0" dirty="0">
                <a:solidFill>
                  <a:srgbClr val="303030"/>
                </a:solidFill>
                <a:effectLst/>
                <a:latin typeface="Arimo"/>
              </a:rPr>
              <a:t>(0 to 2</a:t>
            </a:r>
            <a:r>
              <a:rPr lang="en-US" b="0" i="0" baseline="30000" dirty="0">
                <a:solidFill>
                  <a:srgbClr val="303030"/>
                </a:solidFill>
                <a:effectLst/>
                <a:latin typeface="Arimo"/>
              </a:rPr>
              <a:t>k</a:t>
            </a:r>
            <a:r>
              <a:rPr lang="en-US" b="0" i="0" dirty="0">
                <a:solidFill>
                  <a:srgbClr val="303030"/>
                </a:solidFill>
                <a:effectLst/>
                <a:latin typeface="Arimo"/>
              </a:rPr>
              <a:t>-1) x RTT</a:t>
            </a:r>
          </a:p>
          <a:p>
            <a:pPr algn="l" fontAlgn="base">
              <a:buFont typeface="+mj-lt"/>
              <a:buAutoNum type="arabicPeriod"/>
            </a:pPr>
            <a:r>
              <a:rPr lang="en-US" b="0" i="0" dirty="0">
                <a:solidFill>
                  <a:srgbClr val="303030"/>
                </a:solidFill>
                <a:effectLst/>
                <a:latin typeface="Arimo"/>
              </a:rPr>
              <a:t>(0 to 2</a:t>
            </a:r>
            <a:r>
              <a:rPr lang="en-US" b="0" i="0" baseline="30000" dirty="0">
                <a:solidFill>
                  <a:srgbClr val="303030"/>
                </a:solidFill>
                <a:effectLst/>
                <a:latin typeface="Arimo"/>
              </a:rPr>
              <a:t>k</a:t>
            </a:r>
            <a:r>
              <a:rPr lang="en-US" b="0" i="0" dirty="0">
                <a:solidFill>
                  <a:srgbClr val="303030"/>
                </a:solidFill>
                <a:effectLst/>
                <a:latin typeface="Arimo"/>
              </a:rPr>
              <a:t>-1) x Maximum Propagation delay</a:t>
            </a:r>
          </a:p>
          <a:p>
            <a:pPr algn="l" fontAlgn="base">
              <a:buFont typeface="+mj-lt"/>
              <a:buAutoNum type="arabicPeriod"/>
            </a:pPr>
            <a:r>
              <a:rPr lang="en-US" b="0" i="0" dirty="0">
                <a:solidFill>
                  <a:srgbClr val="303030"/>
                </a:solidFill>
                <a:effectLst/>
                <a:latin typeface="Arimo"/>
              </a:rPr>
              <a:t>(0 to 2</a:t>
            </a:r>
            <a:r>
              <a:rPr lang="en-US" b="0" i="0" baseline="30000" dirty="0">
                <a:solidFill>
                  <a:srgbClr val="303030"/>
                </a:solidFill>
                <a:effectLst/>
                <a:latin typeface="Arimo"/>
              </a:rPr>
              <a:t>k-1</a:t>
            </a:r>
            <a:r>
              <a:rPr lang="en-US" b="0" i="0" dirty="0">
                <a:solidFill>
                  <a:srgbClr val="303030"/>
                </a:solidFill>
                <a:effectLst/>
                <a:latin typeface="Arimo"/>
              </a:rPr>
              <a:t>) x Maximum Propagation delay</a:t>
            </a: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Solution-</a:t>
            </a:r>
            <a:endParaRPr lang="en-US" b="1" i="0" dirty="0">
              <a:solidFill>
                <a:srgbClr val="303030"/>
              </a:solidFill>
              <a:effectLst/>
              <a:latin typeface="Roboto Condensed" panose="02000000000000000000" pitchFamily="2" charset="0"/>
            </a:endParaRPr>
          </a:p>
          <a:p>
            <a:pPr marL="0" indent="0" algn="l" fontAlgn="base">
              <a:buNone/>
            </a:pPr>
            <a:endParaRPr lang="en-US" b="0" i="0" dirty="0">
              <a:solidFill>
                <a:srgbClr val="303030"/>
              </a:solidFill>
              <a:effectLst/>
              <a:latin typeface="Arimo"/>
            </a:endParaRPr>
          </a:p>
          <a:p>
            <a:pPr algn="l" fontAlgn="base"/>
            <a:r>
              <a:rPr lang="en-US" b="0" i="0" dirty="0">
                <a:solidFill>
                  <a:srgbClr val="303030"/>
                </a:solidFill>
                <a:effectLst/>
                <a:latin typeface="Arimo"/>
              </a:rPr>
              <a:t>Clearly, Option (B) is correct.</a:t>
            </a:r>
          </a:p>
          <a:p>
            <a:endParaRPr lang="en-US" dirty="0"/>
          </a:p>
        </p:txBody>
      </p:sp>
    </p:spTree>
    <p:extLst>
      <p:ext uri="{BB962C8B-B14F-4D97-AF65-F5344CB8AC3E}">
        <p14:creationId xmlns:p14="http://schemas.microsoft.com/office/powerpoint/2010/main" val="2411888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A3E0D-9501-4118-8761-C2C82489A434}"/>
              </a:ext>
            </a:extLst>
          </p:cNvPr>
          <p:cNvSpPr>
            <a:spLocks noGrp="1"/>
          </p:cNvSpPr>
          <p:nvPr>
            <p:ph type="title"/>
          </p:nvPr>
        </p:nvSpPr>
        <p:spPr>
          <a:xfrm>
            <a:off x="838200" y="134472"/>
            <a:ext cx="10515600" cy="64545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BD82005-A9C9-4FD6-B568-D419A8AA1DE0}"/>
              </a:ext>
            </a:extLst>
          </p:cNvPr>
          <p:cNvSpPr>
            <a:spLocks noGrp="1"/>
          </p:cNvSpPr>
          <p:nvPr>
            <p:ph idx="1"/>
          </p:nvPr>
        </p:nvSpPr>
        <p:spPr>
          <a:xfrm>
            <a:off x="838200" y="923365"/>
            <a:ext cx="10515600" cy="5871882"/>
          </a:xfrm>
        </p:spPr>
        <p:txBody>
          <a:bodyPr>
            <a:noAutofit/>
          </a:bodyPr>
          <a:lstStyle/>
          <a:p>
            <a:pPr algn="just"/>
            <a:r>
              <a:rPr lang="en-US" sz="1600" dirty="0">
                <a:latin typeface="Arial" panose="020B0604020202020204" pitchFamily="34" charset="0"/>
                <a:cs typeface="Arial" panose="020B0604020202020204" pitchFamily="34" charset="0"/>
              </a:rPr>
              <a:t>A 1-km-long, 10-Mbps CSMA/CD (Carrier Sense Multiple Access with Collision Detection) LAN (not 802.3) has a propagation speed of 200 m/µsec. Repeaters are not allowed in this system. Data frames are 256 bits long, including 32 bits of header, checksum, and other overhead. The first bit slot after a successful transmission is reserved for the receiver to capture the channel in order to send a 32-bit acknowledgement frame. What is the effective data rate, excluding overhead, assuming that there are no collisions? </a:t>
            </a:r>
          </a:p>
          <a:p>
            <a:pPr marL="0" indent="0" algn="just">
              <a:buNone/>
            </a:pPr>
            <a:r>
              <a:rPr lang="en-US" sz="1600" dirty="0">
                <a:latin typeface="Arial" panose="020B0604020202020204" pitchFamily="34" charset="0"/>
                <a:cs typeface="Arial" panose="020B0604020202020204" pitchFamily="34" charset="0"/>
              </a:rPr>
              <a:t>Solution</a:t>
            </a:r>
          </a:p>
          <a:p>
            <a:pPr algn="just"/>
            <a:r>
              <a:rPr lang="en-US" sz="1600" dirty="0">
                <a:latin typeface="Arial" panose="020B0604020202020204" pitchFamily="34" charset="0"/>
                <a:cs typeface="Arial" panose="020B0604020202020204" pitchFamily="34" charset="0"/>
              </a:rPr>
              <a:t>The round-trip propagation time of the cable is 10 µ sec . A complete transmission has six phases: </a:t>
            </a:r>
          </a:p>
          <a:p>
            <a:pPr marL="0" indent="0" algn="just">
              <a:buNone/>
            </a:pPr>
            <a:r>
              <a:rPr lang="en-US" sz="1600" dirty="0">
                <a:latin typeface="Arial" panose="020B0604020202020204" pitchFamily="34" charset="0"/>
                <a:cs typeface="Arial" panose="020B0604020202020204" pitchFamily="34" charset="0"/>
              </a:rPr>
              <a:t>1) Transmitter seizes cable (10 µ sec ) </a:t>
            </a:r>
          </a:p>
          <a:p>
            <a:pPr marL="0" indent="0" algn="just">
              <a:buNone/>
            </a:pPr>
            <a:r>
              <a:rPr lang="en-US" sz="1600" dirty="0">
                <a:latin typeface="Arial" panose="020B0604020202020204" pitchFamily="34" charset="0"/>
                <a:cs typeface="Arial" panose="020B0604020202020204" pitchFamily="34" charset="0"/>
              </a:rPr>
              <a:t>2) Transmit data (25.6 µ sec ) </a:t>
            </a:r>
          </a:p>
          <a:p>
            <a:pPr marL="0" indent="0" algn="just">
              <a:buNone/>
            </a:pPr>
            <a:r>
              <a:rPr lang="en-US" sz="1600" dirty="0">
                <a:latin typeface="Arial" panose="020B0604020202020204" pitchFamily="34" charset="0"/>
                <a:cs typeface="Arial" panose="020B0604020202020204" pitchFamily="34" charset="0"/>
              </a:rPr>
              <a:t>3) Delay for last bit to get to the end (5.0 µ sec ) </a:t>
            </a:r>
          </a:p>
          <a:p>
            <a:pPr marL="0" indent="0" algn="just">
              <a:buNone/>
            </a:pPr>
            <a:r>
              <a:rPr lang="en-US" sz="1600" dirty="0">
                <a:latin typeface="Arial" panose="020B0604020202020204" pitchFamily="34" charset="0"/>
                <a:cs typeface="Arial" panose="020B0604020202020204" pitchFamily="34" charset="0"/>
              </a:rPr>
              <a:t>4) Receiver seizes cable (10 µ sec ) </a:t>
            </a:r>
          </a:p>
          <a:p>
            <a:pPr marL="0" indent="0" algn="just">
              <a:buNone/>
            </a:pPr>
            <a:r>
              <a:rPr lang="en-US" sz="1600" dirty="0">
                <a:latin typeface="Arial" panose="020B0604020202020204" pitchFamily="34" charset="0"/>
                <a:cs typeface="Arial" panose="020B0604020202020204" pitchFamily="34" charset="0"/>
              </a:rPr>
              <a:t>5) Acknowledgement sent (3.2 µ sec ) </a:t>
            </a:r>
          </a:p>
          <a:p>
            <a:pPr marL="0" indent="0" algn="just">
              <a:buNone/>
            </a:pPr>
            <a:r>
              <a:rPr lang="en-US" sz="1600" dirty="0">
                <a:latin typeface="Arial" panose="020B0604020202020204" pitchFamily="34" charset="0"/>
                <a:cs typeface="Arial" panose="020B0604020202020204" pitchFamily="34" charset="0"/>
              </a:rPr>
              <a:t>6) Delay for last bit to get to the end (5.0 µ sec ) </a:t>
            </a:r>
          </a:p>
          <a:p>
            <a:pPr marL="0" indent="0" algn="just">
              <a:buNone/>
            </a:pPr>
            <a:r>
              <a:rPr lang="en-US" sz="1600" dirty="0">
                <a:latin typeface="Arial" panose="020B0604020202020204" pitchFamily="34" charset="0"/>
                <a:cs typeface="Arial" panose="020B0604020202020204" pitchFamily="34" charset="0"/>
              </a:rPr>
              <a:t>The sum of these is 58.8 µ sec . In this period, 224 data bits are sent, for a rate of about </a:t>
            </a:r>
          </a:p>
          <a:p>
            <a:pPr marL="0" indent="0" algn="just">
              <a:buNone/>
            </a:pPr>
            <a:r>
              <a:rPr lang="en-US" sz="1600" dirty="0">
                <a:latin typeface="Arial" panose="020B0604020202020204" pitchFamily="34" charset="0"/>
                <a:cs typeface="Arial" panose="020B0604020202020204" pitchFamily="34" charset="0"/>
              </a:rPr>
              <a:t>3.8 Mbps</a:t>
            </a:r>
          </a:p>
        </p:txBody>
      </p:sp>
    </p:spTree>
    <p:extLst>
      <p:ext uri="{BB962C8B-B14F-4D97-AF65-F5344CB8AC3E}">
        <p14:creationId xmlns:p14="http://schemas.microsoft.com/office/powerpoint/2010/main" val="4274300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C4A18-E5B7-447E-BE26-CBD3D6B2347E}"/>
              </a:ext>
            </a:extLst>
          </p:cNvPr>
          <p:cNvSpPr>
            <a:spLocks noGrp="1"/>
          </p:cNvSpPr>
          <p:nvPr>
            <p:ph type="title"/>
          </p:nvPr>
        </p:nvSpPr>
        <p:spPr>
          <a:xfrm>
            <a:off x="838200" y="365126"/>
            <a:ext cx="10515600" cy="872004"/>
          </a:xfrm>
        </p:spPr>
        <p:txBody>
          <a:bodyPr/>
          <a:lstStyle/>
          <a:p>
            <a:endParaRPr lang="en-US" dirty="0"/>
          </a:p>
        </p:txBody>
      </p:sp>
      <p:sp>
        <p:nvSpPr>
          <p:cNvPr id="3" name="Content Placeholder 2">
            <a:extLst>
              <a:ext uri="{FF2B5EF4-FFF2-40B4-BE49-F238E27FC236}">
                <a16:creationId xmlns:a16="http://schemas.microsoft.com/office/drawing/2014/main" id="{2B617A6A-EC76-4527-8E2A-BB65DE407A2F}"/>
              </a:ext>
            </a:extLst>
          </p:cNvPr>
          <p:cNvSpPr>
            <a:spLocks noGrp="1"/>
          </p:cNvSpPr>
          <p:nvPr>
            <p:ph idx="1"/>
          </p:nvPr>
        </p:nvSpPr>
        <p:spPr>
          <a:xfrm>
            <a:off x="838200" y="1362635"/>
            <a:ext cx="10515600" cy="4814328"/>
          </a:xfrm>
        </p:spPr>
        <p:txBody>
          <a:bodyPr/>
          <a:lstStyle/>
          <a:p>
            <a:pPr algn="l" fontAlgn="base"/>
            <a:r>
              <a:rPr lang="en-US" b="1" i="0" u="sng" dirty="0">
                <a:solidFill>
                  <a:srgbClr val="303030"/>
                </a:solidFill>
                <a:effectLst/>
                <a:latin typeface="Roboto Condensed" panose="02000000000000000000" pitchFamily="2" charset="0"/>
              </a:rPr>
              <a:t>Problem-04:</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A and B are the only two stations on Ethernet. Each has a steady queue of frames to send. Both A and B attempts to transmit a frame, collide and A wins first back off race. At the end of this successful transmission by A, both A and B attempt to transmit and collide. The probability that A wins the second back off race is ___ </a:t>
            </a:r>
          </a:p>
          <a:p>
            <a:endParaRPr lang="en-US" dirty="0"/>
          </a:p>
        </p:txBody>
      </p:sp>
    </p:spTree>
    <p:extLst>
      <p:ext uri="{BB962C8B-B14F-4D97-AF65-F5344CB8AC3E}">
        <p14:creationId xmlns:p14="http://schemas.microsoft.com/office/powerpoint/2010/main" val="810932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6337-C2C9-47C3-917E-539A880ACE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6A5267-9872-420D-A3F3-AD8C0AE568B7}"/>
              </a:ext>
            </a:extLst>
          </p:cNvPr>
          <p:cNvSpPr>
            <a:spLocks noGrp="1"/>
          </p:cNvSpPr>
          <p:nvPr>
            <p:ph idx="1"/>
          </p:nvPr>
        </p:nvSpPr>
        <p:spPr/>
        <p:txBody>
          <a:bodyPr>
            <a:normAutofit fontScale="47500" lnSpcReduction="20000"/>
          </a:bodyPr>
          <a:lstStyle/>
          <a:p>
            <a:pPr algn="l" fontAlgn="base"/>
            <a:r>
              <a:rPr lang="en-US" b="1" i="0" u="sng" dirty="0">
                <a:solidFill>
                  <a:srgbClr val="303030"/>
                </a:solidFill>
                <a:effectLst/>
                <a:latin typeface="Roboto Condensed" panose="02000000000000000000" pitchFamily="2" charset="0"/>
              </a:rPr>
              <a:t>Solution-</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r>
              <a:rPr lang="en-US" b="0" i="0" dirty="0">
                <a:solidFill>
                  <a:srgbClr val="303030"/>
                </a:solidFill>
                <a:effectLst/>
                <a:latin typeface="Arimo"/>
              </a:rPr>
              <a:t>According to question, we have-</a:t>
            </a: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1st Transmission Attempt-</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buFont typeface="Arial" panose="020B0604020202020204" pitchFamily="34" charset="0"/>
              <a:buChar char="•"/>
            </a:pPr>
            <a:r>
              <a:rPr lang="en-US" b="0" i="0" dirty="0">
                <a:solidFill>
                  <a:srgbClr val="303030"/>
                </a:solidFill>
                <a:effectLst/>
                <a:latin typeface="Arimo"/>
              </a:rPr>
              <a:t>Both the stations A and B attempts to transmit a frame.</a:t>
            </a:r>
          </a:p>
          <a:p>
            <a:pPr algn="l" fontAlgn="base">
              <a:buFont typeface="Arial" panose="020B0604020202020204" pitchFamily="34" charset="0"/>
              <a:buChar char="•"/>
            </a:pPr>
            <a:r>
              <a:rPr lang="en-US" b="0" i="0" dirty="0">
                <a:solidFill>
                  <a:srgbClr val="303030"/>
                </a:solidFill>
                <a:effectLst/>
                <a:latin typeface="Arimo"/>
              </a:rPr>
              <a:t>A collision occurs.</a:t>
            </a:r>
          </a:p>
          <a:p>
            <a:pPr algn="l" fontAlgn="base">
              <a:buFont typeface="Arial" panose="020B0604020202020204" pitchFamily="34" charset="0"/>
              <a:buChar char="•"/>
            </a:pPr>
            <a:r>
              <a:rPr lang="en-US" b="0" i="0" dirty="0">
                <a:solidFill>
                  <a:srgbClr val="303030"/>
                </a:solidFill>
                <a:effectLst/>
                <a:latin typeface="Arimo"/>
              </a:rPr>
              <a:t>Back Off Algorithm runs.</a:t>
            </a:r>
          </a:p>
          <a:p>
            <a:pPr algn="l" fontAlgn="base">
              <a:buFont typeface="Arial" panose="020B0604020202020204" pitchFamily="34" charset="0"/>
              <a:buChar char="•"/>
            </a:pPr>
            <a:r>
              <a:rPr lang="en-US" b="0" i="0" dirty="0">
                <a:solidFill>
                  <a:srgbClr val="303030"/>
                </a:solidFill>
                <a:effectLst/>
                <a:latin typeface="Arimo"/>
              </a:rPr>
              <a:t>Station A wins and successfully transmits its 1</a:t>
            </a:r>
            <a:r>
              <a:rPr lang="en-US" b="0" i="0" baseline="30000" dirty="0">
                <a:solidFill>
                  <a:srgbClr val="303030"/>
                </a:solidFill>
                <a:effectLst/>
                <a:latin typeface="Arimo"/>
              </a:rPr>
              <a:t>st</a:t>
            </a:r>
            <a:r>
              <a:rPr lang="en-US" b="0" i="0" dirty="0">
                <a:solidFill>
                  <a:srgbClr val="303030"/>
                </a:solidFill>
                <a:effectLst/>
                <a:latin typeface="Arimo"/>
              </a:rPr>
              <a:t> data packet.</a:t>
            </a: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2nd Transmission Attempt-</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buFont typeface="Arial" panose="020B0604020202020204" pitchFamily="34" charset="0"/>
              <a:buChar char="•"/>
            </a:pPr>
            <a:r>
              <a:rPr lang="en-US" b="0" i="0" dirty="0">
                <a:solidFill>
                  <a:srgbClr val="303030"/>
                </a:solidFill>
                <a:effectLst/>
                <a:latin typeface="Arimo"/>
              </a:rPr>
              <a:t>Station A attempts to transmit its 2</a:t>
            </a:r>
            <a:r>
              <a:rPr lang="en-US" b="0" i="0" baseline="30000" dirty="0">
                <a:solidFill>
                  <a:srgbClr val="303030"/>
                </a:solidFill>
                <a:effectLst/>
                <a:latin typeface="Arimo"/>
              </a:rPr>
              <a:t>nd</a:t>
            </a:r>
            <a:r>
              <a:rPr lang="en-US" b="0" i="0" dirty="0">
                <a:solidFill>
                  <a:srgbClr val="303030"/>
                </a:solidFill>
                <a:effectLst/>
                <a:latin typeface="Arimo"/>
              </a:rPr>
              <a:t> data packet.</a:t>
            </a:r>
          </a:p>
          <a:p>
            <a:pPr algn="l" fontAlgn="base">
              <a:buFont typeface="Arial" panose="020B0604020202020204" pitchFamily="34" charset="0"/>
              <a:buChar char="•"/>
            </a:pPr>
            <a:r>
              <a:rPr lang="en-US" b="0" i="0" dirty="0">
                <a:solidFill>
                  <a:srgbClr val="303030"/>
                </a:solidFill>
                <a:effectLst/>
                <a:latin typeface="Arimo"/>
              </a:rPr>
              <a:t>Station B attempts to retransmit its 1</a:t>
            </a:r>
            <a:r>
              <a:rPr lang="en-US" b="0" i="0" baseline="30000" dirty="0">
                <a:solidFill>
                  <a:srgbClr val="303030"/>
                </a:solidFill>
                <a:effectLst/>
                <a:latin typeface="Arimo"/>
              </a:rPr>
              <a:t>st</a:t>
            </a:r>
            <a:r>
              <a:rPr lang="en-US" b="0" i="0" dirty="0">
                <a:solidFill>
                  <a:srgbClr val="303030"/>
                </a:solidFill>
                <a:effectLst/>
                <a:latin typeface="Arimo"/>
              </a:rPr>
              <a:t> data packet.</a:t>
            </a:r>
          </a:p>
          <a:p>
            <a:pPr algn="l" fontAlgn="base">
              <a:buFont typeface="Arial" panose="020B0604020202020204" pitchFamily="34" charset="0"/>
              <a:buChar char="•"/>
            </a:pPr>
            <a:r>
              <a:rPr lang="en-US" b="0" i="0" dirty="0">
                <a:solidFill>
                  <a:srgbClr val="303030"/>
                </a:solidFill>
                <a:effectLst/>
                <a:latin typeface="Arimo"/>
              </a:rPr>
              <a:t>A collision occurs.</a:t>
            </a:r>
          </a:p>
          <a:p>
            <a:endParaRPr lang="en-US" dirty="0"/>
          </a:p>
        </p:txBody>
      </p:sp>
    </p:spTree>
    <p:extLst>
      <p:ext uri="{BB962C8B-B14F-4D97-AF65-F5344CB8AC3E}">
        <p14:creationId xmlns:p14="http://schemas.microsoft.com/office/powerpoint/2010/main" val="3476361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44EEEE4-0FA3-C70B-6EC4-64A7D6F1A636}"/>
              </a:ext>
            </a:extLst>
          </p:cNvPr>
          <p:cNvSpPr>
            <a:spLocks noGrp="1"/>
          </p:cNvSpPr>
          <p:nvPr>
            <p:ph idx="1"/>
          </p:nvPr>
        </p:nvSpPr>
        <p:spPr>
          <a:xfrm>
            <a:off x="180870" y="304801"/>
            <a:ext cx="11525459" cy="6226628"/>
          </a:xfrm>
        </p:spPr>
        <p:txBody>
          <a:bodyPr>
            <a:normAutofit/>
          </a:bodyPr>
          <a:lstStyle/>
          <a:p>
            <a:pPr>
              <a:defRPr/>
            </a:pPr>
            <a:r>
              <a:rPr lang="en-US" altLang="en-US" sz="2400" baseline="0" dirty="0">
                <a:solidFill>
                  <a:srgbClr val="C00000"/>
                </a:solidFill>
                <a:latin typeface="Arial" panose="020B0604020202020204" pitchFamily="34" charset="0"/>
                <a:cs typeface="Arial" panose="020B0604020202020204" pitchFamily="34" charset="0"/>
              </a:rPr>
              <a:t>Example 9 </a:t>
            </a:r>
            <a:endParaRPr lang="en-US" sz="2400" dirty="0">
              <a:latin typeface="Arial" panose="020B0604020202020204" pitchFamily="34" charset="0"/>
              <a:cs typeface="Arial" panose="020B0604020202020204" pitchFamily="34" charset="0"/>
            </a:endParaRPr>
          </a:p>
          <a:p>
            <a:pPr lvl="1" algn="just">
              <a:defRPr/>
            </a:pPr>
            <a:r>
              <a:rPr lang="en-US" dirty="0">
                <a:latin typeface="Arial" panose="020B0604020202020204" pitchFamily="34" charset="0"/>
                <a:cs typeface="Arial" panose="020B0604020202020204" pitchFamily="34" charset="0"/>
              </a:rPr>
              <a:t>A and B are the only two stations on an Ethernet. Each has a steady queue of frames to send. Both A and B attempt to transmit a frame, collide, and A wins the first back off race. At the end of this successful transmission by A, both A and B attempt to transmit and collide. The probability that A wins the second back-off race is:</a:t>
            </a:r>
          </a:p>
          <a:p>
            <a:r>
              <a:rPr lang="en-US" altLang="en-US" sz="1800" dirty="0"/>
              <a:t>Qn2 – Ans</a:t>
            </a:r>
          </a:p>
          <a:p>
            <a:pPr lvl="1" algn="just"/>
            <a:r>
              <a:rPr lang="en-US" altLang="en-US" sz="2000" dirty="0">
                <a:solidFill>
                  <a:srgbClr val="C00000"/>
                </a:solidFill>
                <a:latin typeface="Arial" panose="020B0604020202020204" pitchFamily="34" charset="0"/>
                <a:cs typeface="Arial" panose="020B0604020202020204" pitchFamily="34" charset="0"/>
              </a:rPr>
              <a:t>1st attempt: Value of ‘k’ would be k=0 or k=1 (0 &lt;= k &lt;= 2^n-1; where n=nth attempt). Since A won the first race, A must have chosen k=0 and B must have chosen k=1 (A wins here with probability 0.25). As A won, A will again choose k=0 or k=1 for its 2nd frame, but B will choose k=0,1,2 or 3 as B failed to send its first frame in the first attempt.</a:t>
            </a:r>
          </a:p>
          <a:p>
            <a:pPr marL="457200" lvl="1" indent="0" algn="just">
              <a:buNone/>
            </a:pPr>
            <a:endParaRPr lang="en-US" altLang="en-US" sz="2000" dirty="0">
              <a:solidFill>
                <a:srgbClr val="C00000"/>
              </a:solidFill>
              <a:latin typeface="Arial" panose="020B0604020202020204" pitchFamily="34" charset="0"/>
              <a:cs typeface="Arial" panose="020B0604020202020204" pitchFamily="34" charset="0"/>
            </a:endParaRPr>
          </a:p>
          <a:p>
            <a:pPr lvl="1" algn="just"/>
            <a:r>
              <a:rPr lang="en-US" altLang="en-US" sz="2000" dirty="0">
                <a:solidFill>
                  <a:srgbClr val="C00000"/>
                </a:solidFill>
                <a:latin typeface="Arial" panose="020B0604020202020204" pitchFamily="34" charset="0"/>
                <a:cs typeface="Arial" panose="020B0604020202020204" pitchFamily="34" charset="0"/>
              </a:rPr>
              <a:t>2nd attempt: Let kA= value of k chosen by A and kB = value of k chosen by B. We will use notation (kA, kB) to show the possible values. Now the sample space for the 2nd attempt is (kA, kB) = (0,0),(0,1),(0,2),(0,3),(1,0),(1,1),(1,2) or (1,3) i.e. 8 possible outcomes. For A to win, kA should be less than kB (kA &lt; kB). Thus, our event space is (kA, kB) = (0,1),(0,2),(0,3),(1,2),(1,3) i.e. 5 possible outcomes.</a:t>
            </a:r>
          </a:p>
          <a:p>
            <a:pPr marL="457200" lvl="1" indent="0" algn="just">
              <a:buNone/>
            </a:pPr>
            <a:endParaRPr lang="en-US" altLang="en-US" sz="2000" dirty="0">
              <a:solidFill>
                <a:srgbClr val="C00000"/>
              </a:solidFill>
              <a:latin typeface="Arial" panose="020B0604020202020204" pitchFamily="34" charset="0"/>
              <a:cs typeface="Arial" panose="020B0604020202020204" pitchFamily="34" charset="0"/>
            </a:endParaRPr>
          </a:p>
          <a:p>
            <a:pPr lvl="1" algn="just"/>
            <a:r>
              <a:rPr lang="en-US" altLang="en-US" sz="2000" dirty="0">
                <a:solidFill>
                  <a:srgbClr val="C00000"/>
                </a:solidFill>
                <a:latin typeface="Arial" panose="020B0604020202020204" pitchFamily="34" charset="0"/>
                <a:cs typeface="Arial" panose="020B0604020202020204" pitchFamily="34" charset="0"/>
              </a:rPr>
              <a:t>Thus the probability that A wins the 2nd back-off race = 5/8 = 0.625</a:t>
            </a:r>
          </a:p>
        </p:txBody>
      </p:sp>
    </p:spTree>
    <p:extLst>
      <p:ext uri="{BB962C8B-B14F-4D97-AF65-F5344CB8AC3E}">
        <p14:creationId xmlns:p14="http://schemas.microsoft.com/office/powerpoint/2010/main" val="16920564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80EC1-1607-4FF1-BA53-64F793F55800}"/>
              </a:ext>
            </a:extLst>
          </p:cNvPr>
          <p:cNvSpPr>
            <a:spLocks noGrp="1"/>
          </p:cNvSpPr>
          <p:nvPr>
            <p:ph type="title"/>
          </p:nvPr>
        </p:nvSpPr>
        <p:spPr>
          <a:xfrm>
            <a:off x="838200" y="365125"/>
            <a:ext cx="10515600" cy="62099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5A636259-2BA7-4A82-A1FE-CAE0A7A01B07}"/>
              </a:ext>
            </a:extLst>
          </p:cNvPr>
          <p:cNvSpPr>
            <a:spLocks noGrp="1"/>
          </p:cNvSpPr>
          <p:nvPr>
            <p:ph idx="1"/>
          </p:nvPr>
        </p:nvSpPr>
        <p:spPr>
          <a:xfrm>
            <a:off x="838200" y="1048871"/>
            <a:ext cx="10515600" cy="5128092"/>
          </a:xfrm>
        </p:spPr>
        <p:txBody>
          <a:bodyPr>
            <a:normAutofit fontScale="55000" lnSpcReduction="20000"/>
          </a:bodyPr>
          <a:lstStyle/>
          <a:p>
            <a:pPr algn="l" fontAlgn="base"/>
            <a:r>
              <a:rPr lang="en-US" b="0" i="0" dirty="0">
                <a:solidFill>
                  <a:srgbClr val="303030"/>
                </a:solidFill>
                <a:effectLst/>
                <a:latin typeface="Arimo"/>
              </a:rPr>
              <a:t>Now,</a:t>
            </a:r>
          </a:p>
          <a:p>
            <a:pPr algn="l" fontAlgn="base">
              <a:buFont typeface="Arial" panose="020B0604020202020204" pitchFamily="34" charset="0"/>
              <a:buChar char="•"/>
            </a:pPr>
            <a:r>
              <a:rPr lang="en-US" b="0" i="0" dirty="0">
                <a:solidFill>
                  <a:srgbClr val="303030"/>
                </a:solidFill>
                <a:effectLst/>
                <a:latin typeface="Arimo"/>
              </a:rPr>
              <a:t>We have been asked the probability of station A to transmit its 2</a:t>
            </a:r>
            <a:r>
              <a:rPr lang="en-US" b="0" i="0" baseline="30000" dirty="0">
                <a:solidFill>
                  <a:srgbClr val="303030"/>
                </a:solidFill>
                <a:effectLst/>
                <a:latin typeface="Arimo"/>
              </a:rPr>
              <a:t>nd</a:t>
            </a:r>
            <a:r>
              <a:rPr lang="en-US" b="0" i="0" dirty="0">
                <a:solidFill>
                  <a:srgbClr val="303030"/>
                </a:solidFill>
                <a:effectLst/>
                <a:latin typeface="Arimo"/>
              </a:rPr>
              <a:t> data packet successfully after 2</a:t>
            </a:r>
            <a:r>
              <a:rPr lang="en-US" b="0" i="0" baseline="30000" dirty="0">
                <a:solidFill>
                  <a:srgbClr val="303030"/>
                </a:solidFill>
                <a:effectLst/>
                <a:latin typeface="Arimo"/>
              </a:rPr>
              <a:t>nd</a:t>
            </a:r>
            <a:r>
              <a:rPr lang="en-US" b="0" i="0" dirty="0">
                <a:solidFill>
                  <a:srgbClr val="303030"/>
                </a:solidFill>
                <a:effectLst/>
                <a:latin typeface="Arimo"/>
              </a:rPr>
              <a:t> collision.</a:t>
            </a:r>
          </a:p>
          <a:p>
            <a:pPr algn="l" fontAlgn="base">
              <a:buFont typeface="Arial" panose="020B0604020202020204" pitchFamily="34" charset="0"/>
              <a:buChar char="•"/>
            </a:pPr>
            <a:r>
              <a:rPr lang="en-US" b="0" i="0" dirty="0">
                <a:solidFill>
                  <a:srgbClr val="303030"/>
                </a:solidFill>
                <a:effectLst/>
                <a:latin typeface="Arimo"/>
              </a:rPr>
              <a:t>After the 2</a:t>
            </a:r>
            <a:r>
              <a:rPr lang="en-US" b="0" i="0" baseline="30000" dirty="0">
                <a:solidFill>
                  <a:srgbClr val="303030"/>
                </a:solidFill>
                <a:effectLst/>
                <a:latin typeface="Arimo"/>
              </a:rPr>
              <a:t>nd</a:t>
            </a:r>
            <a:r>
              <a:rPr lang="en-US" b="0" i="0" dirty="0">
                <a:solidFill>
                  <a:srgbClr val="303030"/>
                </a:solidFill>
                <a:effectLst/>
                <a:latin typeface="Arimo"/>
              </a:rPr>
              <a:t> collision occurs, we have-</a:t>
            </a: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At Station A-</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buFont typeface="Arial" panose="020B0604020202020204" pitchFamily="34" charset="0"/>
              <a:buChar char="•"/>
            </a:pPr>
            <a:r>
              <a:rPr lang="en-US" b="0" i="0" dirty="0">
                <a:solidFill>
                  <a:srgbClr val="303030"/>
                </a:solidFill>
                <a:effectLst/>
                <a:latin typeface="Arimo"/>
              </a:rPr>
              <a:t>2</a:t>
            </a:r>
            <a:r>
              <a:rPr lang="en-US" b="0" i="0" baseline="30000" dirty="0">
                <a:solidFill>
                  <a:srgbClr val="303030"/>
                </a:solidFill>
                <a:effectLst/>
                <a:latin typeface="Arimo"/>
              </a:rPr>
              <a:t>nd</a:t>
            </a:r>
            <a:r>
              <a:rPr lang="en-US" b="0" i="0" dirty="0">
                <a:solidFill>
                  <a:srgbClr val="303030"/>
                </a:solidFill>
                <a:effectLst/>
                <a:latin typeface="Arimo"/>
              </a:rPr>
              <a:t> data packet of station A undergoes collision for the 1</a:t>
            </a:r>
            <a:r>
              <a:rPr lang="en-US" b="0" i="0" baseline="30000" dirty="0">
                <a:solidFill>
                  <a:srgbClr val="303030"/>
                </a:solidFill>
                <a:effectLst/>
                <a:latin typeface="Arimo"/>
              </a:rPr>
              <a:t>st</a:t>
            </a:r>
            <a:r>
              <a:rPr lang="en-US" b="0" i="0" dirty="0">
                <a:solidFill>
                  <a:srgbClr val="303030"/>
                </a:solidFill>
                <a:effectLst/>
                <a:latin typeface="Arimo"/>
              </a:rPr>
              <a:t> time.</a:t>
            </a:r>
          </a:p>
          <a:p>
            <a:pPr algn="l" fontAlgn="base">
              <a:buFont typeface="Arial" panose="020B0604020202020204" pitchFamily="34" charset="0"/>
              <a:buChar char="•"/>
            </a:pPr>
            <a:r>
              <a:rPr lang="en-US" b="0" i="0" dirty="0">
                <a:solidFill>
                  <a:srgbClr val="303030"/>
                </a:solidFill>
                <a:effectLst/>
                <a:latin typeface="Arimo"/>
              </a:rPr>
              <a:t>So, collision number for the 2</a:t>
            </a:r>
            <a:r>
              <a:rPr lang="en-US" b="0" i="0" baseline="30000" dirty="0">
                <a:solidFill>
                  <a:srgbClr val="303030"/>
                </a:solidFill>
                <a:effectLst/>
                <a:latin typeface="Arimo"/>
              </a:rPr>
              <a:t>nd</a:t>
            </a:r>
            <a:r>
              <a:rPr lang="en-US" b="0" i="0" dirty="0">
                <a:solidFill>
                  <a:srgbClr val="303030"/>
                </a:solidFill>
                <a:effectLst/>
                <a:latin typeface="Arimo"/>
              </a:rPr>
              <a:t> data packet of station A = 1.</a:t>
            </a:r>
          </a:p>
          <a:p>
            <a:pPr algn="l" fontAlgn="base">
              <a:buFont typeface="Arial" panose="020B0604020202020204" pitchFamily="34" charset="0"/>
              <a:buChar char="•"/>
            </a:pPr>
            <a:r>
              <a:rPr lang="en-US" b="0" i="0" dirty="0">
                <a:solidFill>
                  <a:srgbClr val="303030"/>
                </a:solidFill>
                <a:effectLst/>
                <a:latin typeface="Arimo"/>
              </a:rPr>
              <a:t>Now, station A randomly chooses a number from the range [0,2</a:t>
            </a:r>
            <a:r>
              <a:rPr lang="en-US" b="0" i="0" baseline="30000" dirty="0">
                <a:solidFill>
                  <a:srgbClr val="303030"/>
                </a:solidFill>
                <a:effectLst/>
                <a:latin typeface="Arimo"/>
              </a:rPr>
              <a:t>1</a:t>
            </a:r>
            <a:r>
              <a:rPr lang="en-US" b="0" i="0" dirty="0">
                <a:solidFill>
                  <a:srgbClr val="303030"/>
                </a:solidFill>
                <a:effectLst/>
                <a:latin typeface="Arimo"/>
              </a:rPr>
              <a:t>-1] = [0,1].</a:t>
            </a:r>
          </a:p>
          <a:p>
            <a:pPr algn="l" fontAlgn="base">
              <a:buFont typeface="Arial" panose="020B0604020202020204" pitchFamily="34" charset="0"/>
              <a:buChar char="•"/>
            </a:pPr>
            <a:r>
              <a:rPr lang="en-US" b="0" i="0" dirty="0">
                <a:solidFill>
                  <a:srgbClr val="303030"/>
                </a:solidFill>
                <a:effectLst/>
                <a:latin typeface="Arimo"/>
              </a:rPr>
              <a:t>Then, station A waits for back off time and then attempts to retransmit its data packet.</a:t>
            </a: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At Station B-</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buFont typeface="Arial" panose="020B0604020202020204" pitchFamily="34" charset="0"/>
              <a:buChar char="•"/>
            </a:pPr>
            <a:r>
              <a:rPr lang="en-US" b="0" i="0" dirty="0">
                <a:solidFill>
                  <a:srgbClr val="303030"/>
                </a:solidFill>
                <a:effectLst/>
                <a:latin typeface="Arimo"/>
              </a:rPr>
              <a:t>1</a:t>
            </a:r>
            <a:r>
              <a:rPr lang="en-US" b="0" i="0" baseline="30000" dirty="0">
                <a:solidFill>
                  <a:srgbClr val="303030"/>
                </a:solidFill>
                <a:effectLst/>
                <a:latin typeface="Arimo"/>
              </a:rPr>
              <a:t>st</a:t>
            </a:r>
            <a:r>
              <a:rPr lang="en-US" b="0" i="0" dirty="0">
                <a:solidFill>
                  <a:srgbClr val="303030"/>
                </a:solidFill>
                <a:effectLst/>
                <a:latin typeface="Arimo"/>
              </a:rPr>
              <a:t> data packet of station B undergoes collision for the 2</a:t>
            </a:r>
            <a:r>
              <a:rPr lang="en-US" b="0" i="0" baseline="30000" dirty="0">
                <a:solidFill>
                  <a:srgbClr val="303030"/>
                </a:solidFill>
                <a:effectLst/>
                <a:latin typeface="Arimo"/>
              </a:rPr>
              <a:t>nd</a:t>
            </a:r>
            <a:r>
              <a:rPr lang="en-US" b="0" i="0" dirty="0">
                <a:solidFill>
                  <a:srgbClr val="303030"/>
                </a:solidFill>
                <a:effectLst/>
                <a:latin typeface="Arimo"/>
              </a:rPr>
              <a:t> time.</a:t>
            </a:r>
          </a:p>
          <a:p>
            <a:pPr algn="l" fontAlgn="base">
              <a:buFont typeface="Arial" panose="020B0604020202020204" pitchFamily="34" charset="0"/>
              <a:buChar char="•"/>
            </a:pPr>
            <a:r>
              <a:rPr lang="en-US" b="0" i="0" dirty="0">
                <a:solidFill>
                  <a:srgbClr val="303030"/>
                </a:solidFill>
                <a:effectLst/>
                <a:latin typeface="Arimo"/>
              </a:rPr>
              <a:t>So, collision number for the 1</a:t>
            </a:r>
            <a:r>
              <a:rPr lang="en-US" b="0" i="0" baseline="30000" dirty="0">
                <a:solidFill>
                  <a:srgbClr val="303030"/>
                </a:solidFill>
                <a:effectLst/>
                <a:latin typeface="Arimo"/>
              </a:rPr>
              <a:t>st</a:t>
            </a:r>
            <a:r>
              <a:rPr lang="en-US" b="0" i="0" dirty="0">
                <a:solidFill>
                  <a:srgbClr val="303030"/>
                </a:solidFill>
                <a:effectLst/>
                <a:latin typeface="Arimo"/>
              </a:rPr>
              <a:t> data packet of station B = 2.</a:t>
            </a:r>
          </a:p>
          <a:p>
            <a:pPr algn="l" fontAlgn="base">
              <a:buFont typeface="Arial" panose="020B0604020202020204" pitchFamily="34" charset="0"/>
              <a:buChar char="•"/>
            </a:pPr>
            <a:r>
              <a:rPr lang="en-US" b="0" i="0" dirty="0">
                <a:solidFill>
                  <a:srgbClr val="303030"/>
                </a:solidFill>
                <a:effectLst/>
                <a:latin typeface="Arimo"/>
              </a:rPr>
              <a:t>Now, station B randomly chooses a number from the range [0,2</a:t>
            </a:r>
            <a:r>
              <a:rPr lang="en-US" b="0" i="0" baseline="30000" dirty="0">
                <a:solidFill>
                  <a:srgbClr val="303030"/>
                </a:solidFill>
                <a:effectLst/>
                <a:latin typeface="Arimo"/>
              </a:rPr>
              <a:t>2</a:t>
            </a:r>
            <a:r>
              <a:rPr lang="en-US" b="0" i="0" dirty="0">
                <a:solidFill>
                  <a:srgbClr val="303030"/>
                </a:solidFill>
                <a:effectLst/>
                <a:latin typeface="Arimo"/>
              </a:rPr>
              <a:t>-1] = [0,3].</a:t>
            </a:r>
          </a:p>
          <a:p>
            <a:pPr algn="l" fontAlgn="base">
              <a:buFont typeface="Arial" panose="020B0604020202020204" pitchFamily="34" charset="0"/>
              <a:buChar char="•"/>
            </a:pPr>
            <a:r>
              <a:rPr lang="en-US" b="0" i="0" dirty="0">
                <a:solidFill>
                  <a:srgbClr val="303030"/>
                </a:solidFill>
                <a:effectLst/>
                <a:latin typeface="Arimo"/>
              </a:rPr>
              <a:t>Then, station B waits for back off time and then attempts to retransmit its data packet.</a:t>
            </a:r>
          </a:p>
          <a:p>
            <a:endParaRPr lang="en-US" dirty="0"/>
          </a:p>
        </p:txBody>
      </p:sp>
    </p:spTree>
    <p:extLst>
      <p:ext uri="{BB962C8B-B14F-4D97-AF65-F5344CB8AC3E}">
        <p14:creationId xmlns:p14="http://schemas.microsoft.com/office/powerpoint/2010/main" val="1898890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81F6-7531-4BBD-A614-35DAB73B05D8}"/>
              </a:ext>
            </a:extLst>
          </p:cNvPr>
          <p:cNvSpPr>
            <a:spLocks noGrp="1"/>
          </p:cNvSpPr>
          <p:nvPr>
            <p:ph type="title"/>
          </p:nvPr>
        </p:nvSpPr>
        <p:spPr>
          <a:xfrm>
            <a:off x="838200" y="365126"/>
            <a:ext cx="10515600" cy="665816"/>
          </a:xfrm>
        </p:spPr>
        <p:txBody>
          <a:bodyPr>
            <a:normAutofit fontScale="90000"/>
          </a:bodyPr>
          <a:lstStyle/>
          <a:p>
            <a:pPr algn="l" fontAlgn="base"/>
            <a:br>
              <a:rPr kumimoji="0" lang="en-US" altLang="en-US" sz="4400" b="0" i="0" u="none" strike="noStrike" cap="none" normalizeH="0" baseline="0" dirty="0">
                <a:ln>
                  <a:noFill/>
                </a:ln>
                <a:solidFill>
                  <a:srgbClr val="303030"/>
                </a:solidFill>
                <a:effectLst/>
                <a:latin typeface="Arimo"/>
              </a:rPr>
            </a:br>
            <a:br>
              <a:rPr kumimoji="0" lang="en-US" altLang="en-US" sz="4400" b="0" i="0" u="none" strike="noStrike" cap="none" normalizeH="0" baseline="0" dirty="0">
                <a:ln>
                  <a:noFill/>
                </a:ln>
                <a:solidFill>
                  <a:srgbClr val="303030"/>
                </a:solidFill>
                <a:effectLst/>
                <a:latin typeface="Arimo"/>
              </a:rPr>
            </a:br>
            <a:br>
              <a:rPr kumimoji="0" lang="en-US" altLang="en-US" sz="4400" b="0" i="0" u="none" strike="noStrike" cap="none" normalizeH="0" baseline="0" dirty="0">
                <a:ln>
                  <a:noFill/>
                </a:ln>
                <a:solidFill>
                  <a:srgbClr val="303030"/>
                </a:solidFill>
                <a:effectLst/>
                <a:latin typeface="Arimo"/>
              </a:rPr>
            </a:br>
            <a:br>
              <a:rPr kumimoji="0" lang="en-US" altLang="en-US" sz="4400" b="0" i="0" u="none" strike="noStrike" cap="none" normalizeH="0" baseline="0" dirty="0">
                <a:ln>
                  <a:noFill/>
                </a:ln>
                <a:solidFill>
                  <a:srgbClr val="303030"/>
                </a:solidFill>
                <a:effectLst/>
                <a:latin typeface="Arimo"/>
              </a:rPr>
            </a:br>
            <a:br>
              <a:rPr kumimoji="0" lang="en-US" altLang="en-US" sz="4400" b="0" i="0" u="none" strike="noStrike" cap="none" normalizeH="0" baseline="0" dirty="0">
                <a:ln>
                  <a:noFill/>
                </a:ln>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r>
              <a:rPr kumimoji="0" lang="en-US" altLang="en-US" sz="4400" b="0" i="0" u="none" strike="noStrike" cap="none" normalizeH="0" baseline="0" dirty="0">
                <a:ln>
                  <a:noFill/>
                </a:ln>
                <a:solidFill>
                  <a:srgbClr val="303030"/>
                </a:solidFill>
                <a:effectLst/>
                <a:latin typeface="Arimo"/>
              </a:rPr>
              <a:t>Following 8 cases are possible- </a:t>
            </a:r>
            <a:r>
              <a:rPr lang="en-US" b="0" i="0" dirty="0">
                <a:solidFill>
                  <a:srgbClr val="303030"/>
                </a:solidFill>
                <a:effectLst/>
                <a:latin typeface="Arimo"/>
              </a:rPr>
              <a:t>From here,</a:t>
            </a: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br>
              <a:rPr lang="en-US" b="0" i="0" dirty="0">
                <a:solidFill>
                  <a:srgbClr val="303030"/>
                </a:solidFill>
                <a:effectLst/>
                <a:latin typeface="Arimo"/>
              </a:rPr>
            </a:br>
            <a:r>
              <a:rPr lang="en-US" sz="2200" b="0" i="0" dirty="0">
                <a:solidFill>
                  <a:srgbClr val="303030"/>
                </a:solidFill>
                <a:effectLst/>
                <a:latin typeface="Arimo"/>
              </a:rPr>
              <a:t>Probability of A winning the 2</a:t>
            </a:r>
            <a:r>
              <a:rPr lang="en-US" sz="2200" b="0" i="0" baseline="30000" dirty="0">
                <a:solidFill>
                  <a:srgbClr val="303030"/>
                </a:solidFill>
                <a:effectLst/>
                <a:latin typeface="Arimo"/>
              </a:rPr>
              <a:t>nd</a:t>
            </a:r>
            <a:r>
              <a:rPr lang="en-US" sz="2200" b="0" i="0" dirty="0">
                <a:solidFill>
                  <a:srgbClr val="303030"/>
                </a:solidFill>
                <a:effectLst/>
                <a:latin typeface="Arimo"/>
              </a:rPr>
              <a:t> back off race = 5 / 8 = 0.625</a:t>
            </a:r>
            <a:br>
              <a:rPr lang="en-US" b="0" i="0" dirty="0">
                <a:solidFill>
                  <a:srgbClr val="303030"/>
                </a:solidFill>
                <a:effectLst/>
                <a:latin typeface="Arimo"/>
              </a:rPr>
            </a:br>
            <a:endParaRPr lang="en-US" dirty="0"/>
          </a:p>
        </p:txBody>
      </p:sp>
      <p:graphicFrame>
        <p:nvGraphicFramePr>
          <p:cNvPr id="4" name="Content Placeholder 3">
            <a:extLst>
              <a:ext uri="{FF2B5EF4-FFF2-40B4-BE49-F238E27FC236}">
                <a16:creationId xmlns:a16="http://schemas.microsoft.com/office/drawing/2014/main" id="{F1E42091-F860-46DD-B97A-E1315772704E}"/>
              </a:ext>
            </a:extLst>
          </p:cNvPr>
          <p:cNvGraphicFramePr>
            <a:graphicFrameLocks noGrp="1"/>
          </p:cNvGraphicFramePr>
          <p:nvPr>
            <p:ph idx="1"/>
            <p:extLst>
              <p:ext uri="{D42A27DB-BD31-4B8C-83A1-F6EECF244321}">
                <p14:modId xmlns:p14="http://schemas.microsoft.com/office/powerpoint/2010/main" val="1459573005"/>
              </p:ext>
            </p:extLst>
          </p:nvPr>
        </p:nvGraphicFramePr>
        <p:xfrm>
          <a:off x="4580965" y="1111624"/>
          <a:ext cx="3209363" cy="4627032"/>
        </p:xfrm>
        <a:graphic>
          <a:graphicData uri="http://schemas.openxmlformats.org/drawingml/2006/table">
            <a:tbl>
              <a:tblPr/>
              <a:tblGrid>
                <a:gridCol w="1069742">
                  <a:extLst>
                    <a:ext uri="{9D8B030D-6E8A-4147-A177-3AD203B41FA5}">
                      <a16:colId xmlns:a16="http://schemas.microsoft.com/office/drawing/2014/main" val="2543586128"/>
                    </a:ext>
                  </a:extLst>
                </a:gridCol>
                <a:gridCol w="1069742">
                  <a:extLst>
                    <a:ext uri="{9D8B030D-6E8A-4147-A177-3AD203B41FA5}">
                      <a16:colId xmlns:a16="http://schemas.microsoft.com/office/drawing/2014/main" val="3571689625"/>
                    </a:ext>
                  </a:extLst>
                </a:gridCol>
                <a:gridCol w="1069879">
                  <a:extLst>
                    <a:ext uri="{9D8B030D-6E8A-4147-A177-3AD203B41FA5}">
                      <a16:colId xmlns:a16="http://schemas.microsoft.com/office/drawing/2014/main" val="3997563491"/>
                    </a:ext>
                  </a:extLst>
                </a:gridCol>
              </a:tblGrid>
              <a:tr h="405880">
                <a:tc>
                  <a:txBody>
                    <a:bodyPr/>
                    <a:lstStyle/>
                    <a:p>
                      <a:pPr algn="ctr"/>
                      <a:r>
                        <a:rPr lang="en-US" sz="1200" b="1">
                          <a:effectLst/>
                        </a:rPr>
                        <a:t>Station A</a:t>
                      </a:r>
                      <a:endParaRPr lang="en-US">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sz="1200" b="1">
                          <a:effectLst/>
                        </a:rPr>
                        <a:t>Station B</a:t>
                      </a:r>
                      <a:endParaRPr lang="en-US">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sz="1200" b="1">
                          <a:effectLst/>
                        </a:rPr>
                        <a:t>Remark</a:t>
                      </a:r>
                      <a:endParaRPr lang="en-US">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254646352"/>
                  </a:ext>
                </a:extLst>
              </a:tr>
              <a:tr h="527644">
                <a:tc>
                  <a:txBody>
                    <a:bodyPr/>
                    <a:lstStyle/>
                    <a:p>
                      <a:pPr algn="ctr"/>
                      <a:r>
                        <a:rPr lang="en-US">
                          <a:effectLst/>
                        </a:rPr>
                        <a:t>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dirty="0">
                          <a:effectLst/>
                        </a:rPr>
                        <a:t>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Collision</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780502296"/>
                  </a:ext>
                </a:extLst>
              </a:tr>
              <a:tr h="527644">
                <a:tc>
                  <a:txBody>
                    <a:bodyPr/>
                    <a:lstStyle/>
                    <a:p>
                      <a:pPr algn="ctr"/>
                      <a:r>
                        <a:rPr lang="en-US" dirty="0">
                          <a:effectLst/>
                        </a:rPr>
                        <a:t>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A wins</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945266415"/>
                  </a:ext>
                </a:extLst>
              </a:tr>
              <a:tr h="527644">
                <a:tc>
                  <a:txBody>
                    <a:bodyPr/>
                    <a:lstStyle/>
                    <a:p>
                      <a:pPr algn="ctr"/>
                      <a:r>
                        <a:rPr lang="en-US">
                          <a:effectLst/>
                        </a:rPr>
                        <a:t>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dirty="0">
                          <a:effectLst/>
                        </a:rPr>
                        <a:t>A wins</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51330607"/>
                  </a:ext>
                </a:extLst>
              </a:tr>
              <a:tr h="527644">
                <a:tc>
                  <a:txBody>
                    <a:bodyPr/>
                    <a:lstStyle/>
                    <a:p>
                      <a:pPr algn="ctr"/>
                      <a:r>
                        <a:rPr lang="en-US" dirty="0">
                          <a:effectLst/>
                        </a:rPr>
                        <a:t>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A wins</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752476501"/>
                  </a:ext>
                </a:extLst>
              </a:tr>
              <a:tr h="527644">
                <a:tc>
                  <a:txBody>
                    <a:bodyPr/>
                    <a:lstStyle/>
                    <a:p>
                      <a:pPr algn="ctr"/>
                      <a:r>
                        <a:rPr lang="en-US">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B wins</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073994817"/>
                  </a:ext>
                </a:extLst>
              </a:tr>
              <a:tr h="527644">
                <a:tc>
                  <a:txBody>
                    <a:bodyPr/>
                    <a:lstStyle/>
                    <a:p>
                      <a:pPr algn="ctr"/>
                      <a:r>
                        <a:rPr lang="en-US">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dirty="0">
                          <a:effectLst/>
                        </a:rPr>
                        <a:t>Collision</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59882257"/>
                  </a:ext>
                </a:extLst>
              </a:tr>
              <a:tr h="527644">
                <a:tc>
                  <a:txBody>
                    <a:bodyPr/>
                    <a:lstStyle/>
                    <a:p>
                      <a:pPr algn="ctr"/>
                      <a:r>
                        <a:rPr lang="en-US">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A wins</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123586639"/>
                  </a:ext>
                </a:extLst>
              </a:tr>
              <a:tr h="527644">
                <a:tc>
                  <a:txBody>
                    <a:bodyPr/>
                    <a:lstStyle/>
                    <a:p>
                      <a:pPr algn="ctr"/>
                      <a:r>
                        <a:rPr lang="en-US">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a:effectLst/>
                        </a:rPr>
                        <a:t>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US" dirty="0">
                          <a:effectLst/>
                        </a:rPr>
                        <a:t>A wins</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023873377"/>
                  </a:ext>
                </a:extLst>
              </a:tr>
            </a:tbl>
          </a:graphicData>
        </a:graphic>
      </p:graphicFrame>
    </p:spTree>
    <p:extLst>
      <p:ext uri="{BB962C8B-B14F-4D97-AF65-F5344CB8AC3E}">
        <p14:creationId xmlns:p14="http://schemas.microsoft.com/office/powerpoint/2010/main" val="8958954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233DC-409C-4013-8852-63ED098135FA}"/>
              </a:ext>
            </a:extLst>
          </p:cNvPr>
          <p:cNvSpPr>
            <a:spLocks noGrp="1"/>
          </p:cNvSpPr>
          <p:nvPr>
            <p:ph type="title"/>
          </p:nvPr>
        </p:nvSpPr>
        <p:spPr>
          <a:xfrm>
            <a:off x="838200" y="365125"/>
            <a:ext cx="10515600" cy="809251"/>
          </a:xfrm>
        </p:spPr>
        <p:txBody>
          <a:bodyPr/>
          <a:lstStyle/>
          <a:p>
            <a:endParaRPr lang="en-US" dirty="0"/>
          </a:p>
        </p:txBody>
      </p:sp>
      <p:sp>
        <p:nvSpPr>
          <p:cNvPr id="3" name="Content Placeholder 2">
            <a:extLst>
              <a:ext uri="{FF2B5EF4-FFF2-40B4-BE49-F238E27FC236}">
                <a16:creationId xmlns:a16="http://schemas.microsoft.com/office/drawing/2014/main" id="{FB9AABE7-BABB-46F0-AA5A-25B351D275A9}"/>
              </a:ext>
            </a:extLst>
          </p:cNvPr>
          <p:cNvSpPr>
            <a:spLocks noGrp="1"/>
          </p:cNvSpPr>
          <p:nvPr>
            <p:ph idx="1"/>
          </p:nvPr>
        </p:nvSpPr>
        <p:spPr>
          <a:xfrm>
            <a:off x="838200" y="1371600"/>
            <a:ext cx="10515600" cy="4805363"/>
          </a:xfrm>
        </p:spPr>
        <p:txBody>
          <a:bodyPr/>
          <a:lstStyle/>
          <a:p>
            <a:pPr algn="l" fontAlgn="base"/>
            <a:r>
              <a:rPr lang="en-US" b="1" i="0" u="sng" dirty="0">
                <a:solidFill>
                  <a:srgbClr val="303030"/>
                </a:solidFill>
                <a:effectLst/>
                <a:latin typeface="Roboto Condensed" panose="02000000000000000000" pitchFamily="2" charset="0"/>
              </a:rPr>
              <a:t>Problem-05:</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Suppose nodes A and B are on same 10 Mbps Ethernet segment and the propagation delay between two nodes is 225 bit times. Suppose A and B send frames at t=0, the frames collide then at what time, they finish transmitting a jam signal. Assume a 48 bit jam signal.</a:t>
            </a:r>
          </a:p>
          <a:p>
            <a:pPr algn="l" fontAlgn="base"/>
            <a:r>
              <a:rPr lang="en-US" b="0" i="0" dirty="0">
                <a:solidFill>
                  <a:srgbClr val="303030"/>
                </a:solidFill>
                <a:effectLst/>
                <a:latin typeface="Arimo"/>
              </a:rPr>
              <a:t>Propagation delay (</a:t>
            </a:r>
            <a:r>
              <a:rPr lang="en-US" b="0" i="0" dirty="0" err="1">
                <a:solidFill>
                  <a:srgbClr val="303030"/>
                </a:solidFill>
                <a:effectLst/>
                <a:latin typeface="Arimo"/>
              </a:rPr>
              <a:t>T</a:t>
            </a:r>
            <a:r>
              <a:rPr lang="en-US" b="0" i="0" baseline="-25000" dirty="0" err="1">
                <a:solidFill>
                  <a:srgbClr val="303030"/>
                </a:solidFill>
                <a:effectLst/>
                <a:latin typeface="Arimo"/>
              </a:rPr>
              <a:t>p</a:t>
            </a:r>
            <a:r>
              <a:rPr lang="en-US" b="0" i="0" dirty="0">
                <a:solidFill>
                  <a:srgbClr val="303030"/>
                </a:solidFill>
                <a:effectLst/>
                <a:latin typeface="Arimo"/>
              </a:rPr>
              <a:t>)</a:t>
            </a:r>
          </a:p>
          <a:p>
            <a:pPr algn="l" fontAlgn="base"/>
            <a:r>
              <a:rPr lang="en-US" b="0" i="0" dirty="0">
                <a:solidFill>
                  <a:srgbClr val="303030"/>
                </a:solidFill>
                <a:effectLst/>
                <a:latin typeface="Arimo"/>
              </a:rPr>
              <a:t>= 225 bit times</a:t>
            </a:r>
          </a:p>
          <a:p>
            <a:pPr algn="l" fontAlgn="base"/>
            <a:r>
              <a:rPr lang="en-US" b="0" i="0" dirty="0">
                <a:solidFill>
                  <a:srgbClr val="303030"/>
                </a:solidFill>
                <a:effectLst/>
                <a:latin typeface="Arimo"/>
              </a:rPr>
              <a:t>= 225 bit / 10 Mbps</a:t>
            </a:r>
          </a:p>
          <a:p>
            <a:pPr algn="l" fontAlgn="base"/>
            <a:r>
              <a:rPr lang="en-US" b="0" i="0" dirty="0">
                <a:solidFill>
                  <a:srgbClr val="303030"/>
                </a:solidFill>
                <a:effectLst/>
                <a:latin typeface="Arimo"/>
              </a:rPr>
              <a:t>= 22.5 x 10</a:t>
            </a:r>
            <a:r>
              <a:rPr lang="en-US" b="0" i="0" baseline="30000" dirty="0">
                <a:solidFill>
                  <a:srgbClr val="303030"/>
                </a:solidFill>
                <a:effectLst/>
                <a:latin typeface="Arimo"/>
              </a:rPr>
              <a:t>-6</a:t>
            </a:r>
            <a:r>
              <a:rPr lang="en-US" b="0" i="0" dirty="0">
                <a:solidFill>
                  <a:srgbClr val="303030"/>
                </a:solidFill>
                <a:effectLst/>
                <a:latin typeface="Arimo"/>
              </a:rPr>
              <a:t> sec</a:t>
            </a:r>
          </a:p>
          <a:p>
            <a:pPr algn="l" fontAlgn="base"/>
            <a:r>
              <a:rPr lang="en-US" b="0" i="0" dirty="0">
                <a:solidFill>
                  <a:srgbClr val="303030"/>
                </a:solidFill>
                <a:effectLst/>
                <a:latin typeface="Arimo"/>
              </a:rPr>
              <a:t>= 22.5 </a:t>
            </a:r>
            <a:r>
              <a:rPr lang="en-US" b="0" i="0" dirty="0" err="1">
                <a:solidFill>
                  <a:srgbClr val="303030"/>
                </a:solidFill>
                <a:effectLst/>
                <a:latin typeface="Arimo"/>
              </a:rPr>
              <a:t>μsec</a:t>
            </a:r>
            <a:endParaRPr lang="en-US" b="0" i="0" dirty="0">
              <a:solidFill>
                <a:srgbClr val="303030"/>
              </a:solidFill>
              <a:effectLst/>
              <a:latin typeface="Arimo"/>
            </a:endParaRPr>
          </a:p>
          <a:p>
            <a:endParaRPr lang="en-US" dirty="0"/>
          </a:p>
        </p:txBody>
      </p:sp>
    </p:spTree>
    <p:extLst>
      <p:ext uri="{BB962C8B-B14F-4D97-AF65-F5344CB8AC3E}">
        <p14:creationId xmlns:p14="http://schemas.microsoft.com/office/powerpoint/2010/main" val="963950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51508-5EA2-4E6F-BF2F-C755AB0A0678}"/>
              </a:ext>
            </a:extLst>
          </p:cNvPr>
          <p:cNvSpPr>
            <a:spLocks noGrp="1"/>
          </p:cNvSpPr>
          <p:nvPr>
            <p:ph type="title"/>
          </p:nvPr>
        </p:nvSpPr>
        <p:spPr>
          <a:xfrm>
            <a:off x="838200" y="365126"/>
            <a:ext cx="10515600" cy="50445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9C29311-F720-4C1E-B088-C3363CC31503}"/>
              </a:ext>
            </a:extLst>
          </p:cNvPr>
          <p:cNvSpPr>
            <a:spLocks noGrp="1"/>
          </p:cNvSpPr>
          <p:nvPr>
            <p:ph idx="1"/>
          </p:nvPr>
        </p:nvSpPr>
        <p:spPr>
          <a:xfrm>
            <a:off x="838200" y="1147482"/>
            <a:ext cx="10515600" cy="5029481"/>
          </a:xfrm>
        </p:spPr>
        <p:txBody>
          <a:bodyPr>
            <a:normAutofit fontScale="55000" lnSpcReduction="20000"/>
          </a:bodyPr>
          <a:lstStyle/>
          <a:p>
            <a:r>
              <a:rPr lang="en-US" dirty="0">
                <a:latin typeface="Arial" panose="020B0604020202020204" pitchFamily="34" charset="0"/>
                <a:cs typeface="Arial" panose="020B0604020202020204" pitchFamily="34" charset="0"/>
              </a:rPr>
              <a:t>At t = 0,</a:t>
            </a:r>
          </a:p>
          <a:p>
            <a:r>
              <a:rPr lang="en-US" dirty="0">
                <a:latin typeface="Arial" panose="020B0604020202020204" pitchFamily="34" charset="0"/>
                <a:cs typeface="Arial" panose="020B0604020202020204" pitchFamily="34" charset="0"/>
              </a:rPr>
              <a:t>Nodes A and B start transmitting their frame.</a:t>
            </a:r>
          </a:p>
          <a:p>
            <a:r>
              <a:rPr lang="en-US" dirty="0">
                <a:latin typeface="Arial" panose="020B0604020202020204" pitchFamily="34" charset="0"/>
                <a:cs typeface="Arial" panose="020B0604020202020204" pitchFamily="34" charset="0"/>
              </a:rPr>
              <a:t>Since both the stations start simultaneously, so collision occurs at the mid way.</a:t>
            </a:r>
          </a:p>
          <a:p>
            <a:r>
              <a:rPr lang="en-US" dirty="0">
                <a:latin typeface="Arial" panose="020B0604020202020204" pitchFamily="34" charset="0"/>
                <a:cs typeface="Arial" panose="020B0604020202020204" pitchFamily="34" charset="0"/>
              </a:rPr>
              <a:t>Time after which collision occurs = Half of propagation delay.</a:t>
            </a:r>
          </a:p>
          <a:p>
            <a:r>
              <a:rPr lang="en-US" dirty="0">
                <a:latin typeface="Arial" panose="020B0604020202020204" pitchFamily="34" charset="0"/>
                <a:cs typeface="Arial" panose="020B0604020202020204" pitchFamily="34" charset="0"/>
              </a:rPr>
              <a:t>So, time after which collision occurs = 22.5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 / 2 = 11.25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At t = 11.25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After collision occurs at t = 11.25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 collided signals start travelling back.</a:t>
            </a:r>
          </a:p>
          <a:p>
            <a:r>
              <a:rPr lang="en-US" dirty="0">
                <a:latin typeface="Arial" panose="020B0604020202020204" pitchFamily="34" charset="0"/>
                <a:cs typeface="Arial" panose="020B0604020202020204" pitchFamily="34" charset="0"/>
              </a:rPr>
              <a:t>Collided signals reach the respective nodes after time = Half of propagation delay</a:t>
            </a:r>
          </a:p>
          <a:p>
            <a:r>
              <a:rPr lang="en-US" dirty="0">
                <a:latin typeface="Arial" panose="020B0604020202020204" pitchFamily="34" charset="0"/>
                <a:cs typeface="Arial" panose="020B0604020202020204" pitchFamily="34" charset="0"/>
              </a:rPr>
              <a:t>Collided signals reach the respective nodes after time = 22.5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 / 2 = 11.25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Thus, at t = 22.5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 collided signals reach the respective nodes.</a:t>
            </a:r>
          </a:p>
          <a:p>
            <a:r>
              <a:rPr lang="en-US" dirty="0">
                <a:latin typeface="Arial" panose="020B0604020202020204" pitchFamily="34" charset="0"/>
                <a:cs typeface="Arial" panose="020B0604020202020204" pitchFamily="34" charset="0"/>
              </a:rPr>
              <a:t>At t = 22.5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As soon as nodes discover the collision, they immediately release the jam signal.</a:t>
            </a:r>
          </a:p>
          <a:p>
            <a:r>
              <a:rPr lang="en-US" dirty="0">
                <a:latin typeface="Arial" panose="020B0604020202020204" pitchFamily="34" charset="0"/>
                <a:cs typeface="Arial" panose="020B0604020202020204" pitchFamily="34" charset="0"/>
              </a:rPr>
              <a:t>Time taken to finish transmitting the jam signal = 48 bit time = 48 bits/ 10 Mbps = 4.8 </a:t>
            </a:r>
            <a:r>
              <a:rPr lang="en-US" dirty="0" err="1">
                <a:latin typeface="Arial" panose="020B0604020202020204" pitchFamily="34" charset="0"/>
                <a:cs typeface="Arial" panose="020B0604020202020204" pitchFamily="34" charset="0"/>
              </a:rPr>
              <a:t>μsec</a:t>
            </a:r>
            <a:r>
              <a:rPr lang="en-US" dirty="0">
                <a:latin typeface="Arial" panose="020B0604020202020204" pitchFamily="34" charset="0"/>
                <a:cs typeface="Arial" panose="020B0604020202020204" pitchFamily="34" charset="0"/>
              </a:rPr>
              <a:t>.</a:t>
            </a:r>
          </a:p>
          <a:p>
            <a:pPr algn="l" fontAlgn="base"/>
            <a:r>
              <a:rPr lang="en-US" b="0" i="0" dirty="0">
                <a:solidFill>
                  <a:srgbClr val="303030"/>
                </a:solidFill>
                <a:effectLst/>
                <a:latin typeface="Arial" panose="020B0604020202020204" pitchFamily="34" charset="0"/>
                <a:cs typeface="Arial" panose="020B0604020202020204" pitchFamily="34" charset="0"/>
              </a:rPr>
              <a:t>Time at which the jam signal is completely transmitted</a:t>
            </a:r>
          </a:p>
          <a:p>
            <a:pPr algn="l" fontAlgn="base"/>
            <a:r>
              <a:rPr lang="en-US" b="0" i="0" dirty="0">
                <a:solidFill>
                  <a:srgbClr val="303030"/>
                </a:solidFill>
                <a:effectLst/>
                <a:latin typeface="Arial" panose="020B0604020202020204" pitchFamily="34" charset="0"/>
                <a:cs typeface="Arial" panose="020B0604020202020204" pitchFamily="34" charset="0"/>
              </a:rPr>
              <a:t>= 22.5 </a:t>
            </a:r>
            <a:r>
              <a:rPr lang="en-US" b="0" i="0" dirty="0" err="1">
                <a:solidFill>
                  <a:srgbClr val="303030"/>
                </a:solidFill>
                <a:effectLst/>
                <a:latin typeface="Arial" panose="020B0604020202020204" pitchFamily="34" charset="0"/>
                <a:cs typeface="Arial" panose="020B0604020202020204" pitchFamily="34" charset="0"/>
              </a:rPr>
              <a:t>μsec</a:t>
            </a:r>
            <a:r>
              <a:rPr lang="en-US" b="0" i="0" dirty="0">
                <a:solidFill>
                  <a:srgbClr val="303030"/>
                </a:solidFill>
                <a:effectLst/>
                <a:latin typeface="Arial" panose="020B0604020202020204" pitchFamily="34" charset="0"/>
                <a:cs typeface="Arial" panose="020B0604020202020204" pitchFamily="34" charset="0"/>
              </a:rPr>
              <a:t> + 4.8 </a:t>
            </a:r>
            <a:r>
              <a:rPr lang="en-US" b="0" i="0" dirty="0" err="1">
                <a:solidFill>
                  <a:srgbClr val="303030"/>
                </a:solidFill>
                <a:effectLst/>
                <a:latin typeface="Arial" panose="020B0604020202020204" pitchFamily="34" charset="0"/>
                <a:cs typeface="Arial" panose="020B0604020202020204" pitchFamily="34" charset="0"/>
              </a:rPr>
              <a:t>μsec</a:t>
            </a:r>
            <a:endParaRPr lang="en-US" b="0" i="0" dirty="0">
              <a:solidFill>
                <a:srgbClr val="303030"/>
              </a:solidFill>
              <a:effectLst/>
              <a:latin typeface="Arial" panose="020B0604020202020204" pitchFamily="34" charset="0"/>
              <a:cs typeface="Arial" panose="020B0604020202020204" pitchFamily="34" charset="0"/>
            </a:endParaRPr>
          </a:p>
          <a:p>
            <a:pPr algn="l" fontAlgn="base"/>
            <a:r>
              <a:rPr lang="en-US" b="0" i="0" dirty="0">
                <a:solidFill>
                  <a:srgbClr val="303030"/>
                </a:solidFill>
                <a:effectLst/>
                <a:latin typeface="Arial" panose="020B0604020202020204" pitchFamily="34" charset="0"/>
                <a:cs typeface="Arial" panose="020B0604020202020204" pitchFamily="34" charset="0"/>
              </a:rPr>
              <a:t>= 27.3 </a:t>
            </a:r>
            <a:r>
              <a:rPr lang="en-US" b="0" i="0" dirty="0" err="1">
                <a:solidFill>
                  <a:srgbClr val="303030"/>
                </a:solidFill>
                <a:effectLst/>
                <a:latin typeface="Arial" panose="020B0604020202020204" pitchFamily="34" charset="0"/>
                <a:cs typeface="Arial" panose="020B0604020202020204" pitchFamily="34" charset="0"/>
              </a:rPr>
              <a:t>μsec</a:t>
            </a:r>
            <a:r>
              <a:rPr lang="en-US" b="0" i="0" dirty="0">
                <a:solidFill>
                  <a:srgbClr val="303030"/>
                </a:solidFill>
                <a:effectLst/>
                <a:latin typeface="Arial" panose="020B0604020202020204" pitchFamily="34" charset="0"/>
                <a:cs typeface="Arial" panose="020B0604020202020204" pitchFamily="34" charset="0"/>
              </a:rPr>
              <a:t> or 273 bit times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9200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D7D97-2A53-4EE1-A785-A1DBE6612B0B}"/>
              </a:ext>
            </a:extLst>
          </p:cNvPr>
          <p:cNvSpPr>
            <a:spLocks noGrp="1"/>
          </p:cNvSpPr>
          <p:nvPr>
            <p:ph type="title"/>
          </p:nvPr>
        </p:nvSpPr>
        <p:spPr>
          <a:xfrm>
            <a:off x="838200" y="365126"/>
            <a:ext cx="10515600" cy="791322"/>
          </a:xfrm>
        </p:spPr>
        <p:txBody>
          <a:bodyPr/>
          <a:lstStyle/>
          <a:p>
            <a:r>
              <a:rPr lang="en-US" dirty="0"/>
              <a:t>E</a:t>
            </a:r>
          </a:p>
        </p:txBody>
      </p:sp>
      <p:sp>
        <p:nvSpPr>
          <p:cNvPr id="3" name="Content Placeholder 2">
            <a:extLst>
              <a:ext uri="{FF2B5EF4-FFF2-40B4-BE49-F238E27FC236}">
                <a16:creationId xmlns:a16="http://schemas.microsoft.com/office/drawing/2014/main" id="{93A0B2DA-D685-4102-8CEF-45B1CE993B10}"/>
              </a:ext>
            </a:extLst>
          </p:cNvPr>
          <p:cNvSpPr>
            <a:spLocks noGrp="1"/>
          </p:cNvSpPr>
          <p:nvPr>
            <p:ph idx="1"/>
          </p:nvPr>
        </p:nvSpPr>
        <p:spPr/>
        <p:txBody>
          <a:bodyPr>
            <a:normAutofit fontScale="85000" lnSpcReduction="20000"/>
          </a:bodyPr>
          <a:lstStyle/>
          <a:p>
            <a:pPr algn="l" fontAlgn="base"/>
            <a:r>
              <a:rPr lang="en-US" b="0" i="0" dirty="0">
                <a:solidFill>
                  <a:srgbClr val="303030"/>
                </a:solidFill>
                <a:effectLst/>
                <a:latin typeface="Arimo"/>
              </a:rPr>
              <a:t>Suppose nodes A and B are attached to opposite ends of the cable with propagation delay of 12.5 </a:t>
            </a:r>
            <a:r>
              <a:rPr lang="en-US" b="0" i="0" dirty="0" err="1">
                <a:solidFill>
                  <a:srgbClr val="303030"/>
                </a:solidFill>
                <a:effectLst/>
                <a:latin typeface="Arimo"/>
              </a:rPr>
              <a:t>ms.</a:t>
            </a:r>
            <a:r>
              <a:rPr lang="en-US" b="0" i="0" dirty="0">
                <a:solidFill>
                  <a:srgbClr val="303030"/>
                </a:solidFill>
                <a:effectLst/>
                <a:latin typeface="Arimo"/>
              </a:rPr>
              <a:t> Both nodes attempt to transmit at t=0. Frames collide and after first collision, A draws k=0 and B draws k=1 in the exponential back off protocol. Ignore the jam signal. At what time (in seconds), is A’s packet completely delivered at B if bandwidth of the link is 10 Mbps and packet size is 1000 bits.</a:t>
            </a: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Solution-</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r>
              <a:rPr lang="en-US" b="0" i="0" dirty="0">
                <a:solidFill>
                  <a:srgbClr val="303030"/>
                </a:solidFill>
                <a:effectLst/>
                <a:latin typeface="Arimo"/>
              </a:rPr>
              <a:t>Given-</a:t>
            </a:r>
          </a:p>
          <a:p>
            <a:pPr algn="l" fontAlgn="base">
              <a:buFont typeface="Arial" panose="020B0604020202020204" pitchFamily="34" charset="0"/>
              <a:buChar char="•"/>
            </a:pPr>
            <a:r>
              <a:rPr lang="en-US" b="0" i="0" dirty="0">
                <a:solidFill>
                  <a:srgbClr val="303030"/>
                </a:solidFill>
                <a:effectLst/>
                <a:latin typeface="Arimo"/>
              </a:rPr>
              <a:t>Propagation delay = 12.5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buFont typeface="Arial" panose="020B0604020202020204" pitchFamily="34" charset="0"/>
              <a:buChar char="•"/>
            </a:pPr>
            <a:r>
              <a:rPr lang="en-US" b="0" i="0" dirty="0">
                <a:solidFill>
                  <a:srgbClr val="303030"/>
                </a:solidFill>
                <a:effectLst/>
                <a:latin typeface="Arimo"/>
              </a:rPr>
              <a:t>Bandwidth = 10 Mbps</a:t>
            </a:r>
          </a:p>
          <a:p>
            <a:pPr algn="l" fontAlgn="base">
              <a:buFont typeface="Arial" panose="020B0604020202020204" pitchFamily="34" charset="0"/>
              <a:buChar char="•"/>
            </a:pPr>
            <a:r>
              <a:rPr lang="en-US" b="0" i="0" dirty="0">
                <a:solidFill>
                  <a:srgbClr val="303030"/>
                </a:solidFill>
                <a:effectLst/>
                <a:latin typeface="Arimo"/>
              </a:rPr>
              <a:t>Packet size = 1000 bits</a:t>
            </a:r>
          </a:p>
          <a:p>
            <a:endParaRPr lang="en-US" dirty="0"/>
          </a:p>
        </p:txBody>
      </p:sp>
    </p:spTree>
    <p:extLst>
      <p:ext uri="{BB962C8B-B14F-4D97-AF65-F5344CB8AC3E}">
        <p14:creationId xmlns:p14="http://schemas.microsoft.com/office/powerpoint/2010/main" val="7443443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B505E-B068-4157-8495-3FC7359F55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54607A-87CF-4D61-96E8-6CF34FC09208}"/>
              </a:ext>
            </a:extLst>
          </p:cNvPr>
          <p:cNvSpPr>
            <a:spLocks noGrp="1"/>
          </p:cNvSpPr>
          <p:nvPr>
            <p:ph idx="1"/>
          </p:nvPr>
        </p:nvSpPr>
        <p:spPr/>
        <p:txBody>
          <a:bodyPr>
            <a:normAutofit fontScale="55000" lnSpcReduction="20000"/>
          </a:bodyPr>
          <a:lstStyle/>
          <a:p>
            <a:pPr algn="l" fontAlgn="base"/>
            <a:r>
              <a:rPr lang="en-US" b="1" i="0" u="sng" dirty="0">
                <a:solidFill>
                  <a:srgbClr val="303030"/>
                </a:solidFill>
                <a:effectLst/>
                <a:latin typeface="Roboto Condensed" panose="02000000000000000000" pitchFamily="2" charset="0"/>
              </a:rPr>
              <a:t>Time At Which Collision Occurs-</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r>
              <a:rPr lang="en-US" b="0" i="0" dirty="0">
                <a:solidFill>
                  <a:srgbClr val="303030"/>
                </a:solidFill>
                <a:effectLst/>
                <a:latin typeface="Arimo"/>
              </a:rPr>
              <a:t>Collision occurs at the mid way after time</a:t>
            </a:r>
          </a:p>
          <a:p>
            <a:pPr algn="l" fontAlgn="base"/>
            <a:r>
              <a:rPr lang="en-US" b="0" i="0" dirty="0">
                <a:solidFill>
                  <a:srgbClr val="303030"/>
                </a:solidFill>
                <a:effectLst/>
                <a:latin typeface="Arimo"/>
              </a:rPr>
              <a:t>= Half of Propagation delay</a:t>
            </a:r>
          </a:p>
          <a:p>
            <a:pPr algn="l" fontAlgn="base"/>
            <a:r>
              <a:rPr lang="en-US" b="0" i="0" dirty="0">
                <a:solidFill>
                  <a:srgbClr val="303030"/>
                </a:solidFill>
                <a:effectLst/>
                <a:latin typeface="Arimo"/>
              </a:rPr>
              <a:t>= 12.5 </a:t>
            </a:r>
            <a:r>
              <a:rPr lang="en-US" b="0" i="0" dirty="0" err="1">
                <a:solidFill>
                  <a:srgbClr val="303030"/>
                </a:solidFill>
                <a:effectLst/>
                <a:latin typeface="Arimo"/>
              </a:rPr>
              <a:t>ms</a:t>
            </a:r>
            <a:r>
              <a:rPr lang="en-US" b="0" i="0" dirty="0">
                <a:solidFill>
                  <a:srgbClr val="303030"/>
                </a:solidFill>
                <a:effectLst/>
                <a:latin typeface="Arimo"/>
              </a:rPr>
              <a:t> / 2</a:t>
            </a:r>
          </a:p>
          <a:p>
            <a:pPr algn="l" fontAlgn="base"/>
            <a:r>
              <a:rPr lang="en-US" b="0" i="0" dirty="0">
                <a:solidFill>
                  <a:srgbClr val="303030"/>
                </a:solidFill>
                <a:effectLst/>
                <a:latin typeface="Arimo"/>
              </a:rPr>
              <a:t>= 6.25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Thus, collision occurs at time t = 6.25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Time At Which Collision is Discovered-</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r>
              <a:rPr lang="en-US" b="0" i="0" dirty="0">
                <a:solidFill>
                  <a:srgbClr val="303030"/>
                </a:solidFill>
                <a:effectLst/>
                <a:latin typeface="Arimo"/>
              </a:rPr>
              <a:t>Collision is discovered in the time it takes the collided signals to reach the nodes</a:t>
            </a:r>
          </a:p>
          <a:p>
            <a:pPr algn="l" fontAlgn="base"/>
            <a:r>
              <a:rPr lang="en-US" b="0" i="0" dirty="0">
                <a:solidFill>
                  <a:srgbClr val="303030"/>
                </a:solidFill>
                <a:effectLst/>
                <a:latin typeface="Arimo"/>
              </a:rPr>
              <a:t>= Half of Propagation delay</a:t>
            </a:r>
          </a:p>
          <a:p>
            <a:pPr algn="l" fontAlgn="base"/>
            <a:r>
              <a:rPr lang="en-US" b="0" i="0" dirty="0">
                <a:solidFill>
                  <a:srgbClr val="303030"/>
                </a:solidFill>
                <a:effectLst/>
                <a:latin typeface="Arimo"/>
              </a:rPr>
              <a:t>= 12.5 </a:t>
            </a:r>
            <a:r>
              <a:rPr lang="en-US" b="0" i="0" dirty="0" err="1">
                <a:solidFill>
                  <a:srgbClr val="303030"/>
                </a:solidFill>
                <a:effectLst/>
                <a:latin typeface="Arimo"/>
              </a:rPr>
              <a:t>ms</a:t>
            </a:r>
            <a:r>
              <a:rPr lang="en-US" b="0" i="0" dirty="0">
                <a:solidFill>
                  <a:srgbClr val="303030"/>
                </a:solidFill>
                <a:effectLst/>
                <a:latin typeface="Arimo"/>
              </a:rPr>
              <a:t> / 2</a:t>
            </a:r>
          </a:p>
          <a:p>
            <a:pPr algn="l" fontAlgn="base"/>
            <a:r>
              <a:rPr lang="en-US" b="0" i="0" dirty="0">
                <a:solidFill>
                  <a:srgbClr val="303030"/>
                </a:solidFill>
                <a:effectLst/>
                <a:latin typeface="Arimo"/>
              </a:rPr>
              <a:t>= 6.25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Thus, collision is discovered at time t = 6.25 </a:t>
            </a:r>
            <a:r>
              <a:rPr lang="en-US" b="0" i="0" dirty="0" err="1">
                <a:solidFill>
                  <a:srgbClr val="303030"/>
                </a:solidFill>
                <a:effectLst/>
                <a:latin typeface="Arimo"/>
              </a:rPr>
              <a:t>ms</a:t>
            </a:r>
            <a:r>
              <a:rPr lang="en-US" b="0" i="0" dirty="0">
                <a:solidFill>
                  <a:srgbClr val="303030"/>
                </a:solidFill>
                <a:effectLst/>
                <a:latin typeface="Arimo"/>
              </a:rPr>
              <a:t> + 6.25 </a:t>
            </a:r>
            <a:r>
              <a:rPr lang="en-US" b="0" i="0" dirty="0" err="1">
                <a:solidFill>
                  <a:srgbClr val="303030"/>
                </a:solidFill>
                <a:effectLst/>
                <a:latin typeface="Arimo"/>
              </a:rPr>
              <a:t>ms</a:t>
            </a:r>
            <a:r>
              <a:rPr lang="en-US" b="0" i="0" dirty="0">
                <a:solidFill>
                  <a:srgbClr val="303030"/>
                </a:solidFill>
                <a:effectLst/>
                <a:latin typeface="Arimo"/>
              </a:rPr>
              <a:t> = 12.5 </a:t>
            </a:r>
            <a:r>
              <a:rPr lang="en-US" b="0" i="0" dirty="0" err="1">
                <a:solidFill>
                  <a:srgbClr val="303030"/>
                </a:solidFill>
                <a:effectLst/>
                <a:latin typeface="Arimo"/>
              </a:rPr>
              <a:t>ms.</a:t>
            </a:r>
            <a:endParaRPr lang="en-US" b="0" i="0" dirty="0">
              <a:solidFill>
                <a:srgbClr val="303030"/>
              </a:solidFill>
              <a:effectLst/>
              <a:latin typeface="Arimo"/>
            </a:endParaRPr>
          </a:p>
          <a:p>
            <a:endParaRPr lang="en-US" dirty="0"/>
          </a:p>
        </p:txBody>
      </p:sp>
    </p:spTree>
    <p:extLst>
      <p:ext uri="{BB962C8B-B14F-4D97-AF65-F5344CB8AC3E}">
        <p14:creationId xmlns:p14="http://schemas.microsoft.com/office/powerpoint/2010/main" val="2453026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AA00-7943-4902-A47C-93F7CA56D0FE}"/>
              </a:ext>
            </a:extLst>
          </p:cNvPr>
          <p:cNvSpPr>
            <a:spLocks noGrp="1"/>
          </p:cNvSpPr>
          <p:nvPr>
            <p:ph type="title"/>
          </p:nvPr>
        </p:nvSpPr>
        <p:spPr>
          <a:xfrm>
            <a:off x="838200" y="365125"/>
            <a:ext cx="10515600" cy="728569"/>
          </a:xfrm>
        </p:spPr>
        <p:txBody>
          <a:bodyPr/>
          <a:lstStyle/>
          <a:p>
            <a:endParaRPr lang="en-US" dirty="0"/>
          </a:p>
        </p:txBody>
      </p:sp>
      <p:sp>
        <p:nvSpPr>
          <p:cNvPr id="3" name="Content Placeholder 2">
            <a:extLst>
              <a:ext uri="{FF2B5EF4-FFF2-40B4-BE49-F238E27FC236}">
                <a16:creationId xmlns:a16="http://schemas.microsoft.com/office/drawing/2014/main" id="{8505558E-36C3-4FEC-99B8-877A704DA11E}"/>
              </a:ext>
            </a:extLst>
          </p:cNvPr>
          <p:cNvSpPr>
            <a:spLocks noGrp="1"/>
          </p:cNvSpPr>
          <p:nvPr>
            <p:ph idx="1"/>
          </p:nvPr>
        </p:nvSpPr>
        <p:spPr>
          <a:xfrm>
            <a:off x="838200" y="1201271"/>
            <a:ext cx="10515600" cy="5593976"/>
          </a:xfrm>
        </p:spPr>
        <p:txBody>
          <a:bodyPr>
            <a:normAutofit fontScale="25000" lnSpcReduction="20000"/>
          </a:bodyPr>
          <a:lstStyle/>
          <a:p>
            <a:pPr algn="l" fontAlgn="base"/>
            <a:r>
              <a:rPr lang="en-US" b="1" i="0" u="sng" dirty="0">
                <a:solidFill>
                  <a:srgbClr val="303030"/>
                </a:solidFill>
                <a:effectLst/>
                <a:latin typeface="Roboto Condensed" panose="02000000000000000000" pitchFamily="2" charset="0"/>
              </a:rPr>
              <a:t>Scene After Collision-</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r>
              <a:rPr lang="en-US" b="0" i="0" dirty="0">
                <a:solidFill>
                  <a:srgbClr val="303030"/>
                </a:solidFill>
                <a:effectLst/>
                <a:latin typeface="Arimo"/>
              </a:rPr>
              <a:t>After the collision is discovered,</a:t>
            </a:r>
          </a:p>
          <a:p>
            <a:pPr algn="l" fontAlgn="base">
              <a:buFont typeface="Arial" panose="020B0604020202020204" pitchFamily="34" charset="0"/>
              <a:buChar char="•"/>
            </a:pPr>
            <a:r>
              <a:rPr lang="en-US" b="0" i="0" dirty="0">
                <a:solidFill>
                  <a:srgbClr val="303030"/>
                </a:solidFill>
                <a:effectLst/>
                <a:latin typeface="Arimo"/>
              </a:rPr>
              <a:t>Both the nodes wait for some random back off time.</a:t>
            </a:r>
          </a:p>
          <a:p>
            <a:pPr algn="l" fontAlgn="base">
              <a:buFont typeface="Arial" panose="020B0604020202020204" pitchFamily="34" charset="0"/>
              <a:buChar char="•"/>
            </a:pPr>
            <a:r>
              <a:rPr lang="en-US" b="0" i="0" dirty="0">
                <a:solidFill>
                  <a:srgbClr val="303030"/>
                </a:solidFill>
                <a:effectLst/>
                <a:latin typeface="Arimo"/>
              </a:rPr>
              <a:t>A chooses k=0 and then waits for back off time = 0 x 25 </a:t>
            </a:r>
            <a:r>
              <a:rPr lang="en-US" b="0" i="0" dirty="0" err="1">
                <a:solidFill>
                  <a:srgbClr val="303030"/>
                </a:solidFill>
                <a:effectLst/>
                <a:latin typeface="Arimo"/>
              </a:rPr>
              <a:t>ms</a:t>
            </a:r>
            <a:r>
              <a:rPr lang="en-US" b="0" i="0" dirty="0">
                <a:solidFill>
                  <a:srgbClr val="303030"/>
                </a:solidFill>
                <a:effectLst/>
                <a:latin typeface="Arimo"/>
              </a:rPr>
              <a:t> = 0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buFont typeface="Arial" panose="020B0604020202020204" pitchFamily="34" charset="0"/>
              <a:buChar char="•"/>
            </a:pPr>
            <a:r>
              <a:rPr lang="en-US" b="0" i="0" dirty="0">
                <a:solidFill>
                  <a:srgbClr val="303030"/>
                </a:solidFill>
                <a:effectLst/>
                <a:latin typeface="Arimo"/>
              </a:rPr>
              <a:t>B chooses k=1 and then waits for back off time = 1 x 25 </a:t>
            </a:r>
            <a:r>
              <a:rPr lang="en-US" b="0" i="0" dirty="0" err="1">
                <a:solidFill>
                  <a:srgbClr val="303030"/>
                </a:solidFill>
                <a:effectLst/>
                <a:latin typeface="Arimo"/>
              </a:rPr>
              <a:t>ms</a:t>
            </a:r>
            <a:r>
              <a:rPr lang="en-US" b="0" i="0" dirty="0">
                <a:solidFill>
                  <a:srgbClr val="303030"/>
                </a:solidFill>
                <a:effectLst/>
                <a:latin typeface="Arimo"/>
              </a:rPr>
              <a:t> = 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buFont typeface="Arial" panose="020B0604020202020204" pitchFamily="34" charset="0"/>
              <a:buChar char="•"/>
            </a:pPr>
            <a:r>
              <a:rPr lang="en-US" b="0" i="0" dirty="0">
                <a:solidFill>
                  <a:srgbClr val="303030"/>
                </a:solidFill>
                <a:effectLst/>
                <a:latin typeface="Arimo"/>
              </a:rPr>
              <a:t>From here, A begins retransmission immediately while B waits for 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Waiting Time For A-</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buFont typeface="Arial" panose="020B0604020202020204" pitchFamily="34" charset="0"/>
              <a:buChar char="•"/>
            </a:pPr>
            <a:r>
              <a:rPr lang="en-US" b="0" i="0" dirty="0">
                <a:solidFill>
                  <a:srgbClr val="303030"/>
                </a:solidFill>
                <a:effectLst/>
                <a:latin typeface="Arimo"/>
              </a:rPr>
              <a:t>After winning the back off race, node A gets the authority to retransmit immediately.</a:t>
            </a:r>
          </a:p>
          <a:p>
            <a:pPr algn="l" fontAlgn="base">
              <a:buFont typeface="Arial" panose="020B0604020202020204" pitchFamily="34" charset="0"/>
              <a:buChar char="•"/>
            </a:pPr>
            <a:r>
              <a:rPr lang="en-US" b="0" i="0" dirty="0">
                <a:solidFill>
                  <a:srgbClr val="303030"/>
                </a:solidFill>
                <a:effectLst/>
                <a:latin typeface="Arimo"/>
              </a:rPr>
              <a:t>But node A does not retransmit immediately.</a:t>
            </a:r>
          </a:p>
          <a:p>
            <a:pPr algn="l" fontAlgn="base">
              <a:buFont typeface="Arial" panose="020B0604020202020204" pitchFamily="34" charset="0"/>
              <a:buChar char="•"/>
            </a:pPr>
            <a:r>
              <a:rPr lang="en-US" b="0" i="0" dirty="0">
                <a:solidFill>
                  <a:srgbClr val="303030"/>
                </a:solidFill>
                <a:effectLst/>
                <a:latin typeface="Arimo"/>
              </a:rPr>
              <a:t>It waits for the channel to clear from the last bit aborted by it on discovering the collision.</a:t>
            </a:r>
          </a:p>
          <a:p>
            <a:pPr algn="l" fontAlgn="base">
              <a:buFont typeface="Arial" panose="020B0604020202020204" pitchFamily="34" charset="0"/>
              <a:buChar char="•"/>
            </a:pPr>
            <a:r>
              <a:rPr lang="en-US" b="0" i="0" dirty="0">
                <a:solidFill>
                  <a:srgbClr val="303030"/>
                </a:solidFill>
                <a:effectLst/>
                <a:latin typeface="Arimo"/>
              </a:rPr>
              <a:t>Time taken by the last bit to get off the channel = Propagation delay = 12.5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buFont typeface="Arial" panose="020B0604020202020204" pitchFamily="34" charset="0"/>
              <a:buChar char="•"/>
            </a:pPr>
            <a:r>
              <a:rPr lang="en-US" b="0" i="0" dirty="0">
                <a:solidFill>
                  <a:srgbClr val="303030"/>
                </a:solidFill>
                <a:effectLst/>
                <a:latin typeface="Arimo"/>
              </a:rPr>
              <a:t>So, node A waits for time = 12.5 </a:t>
            </a:r>
            <a:r>
              <a:rPr lang="en-US" b="0" i="0" dirty="0" err="1">
                <a:solidFill>
                  <a:srgbClr val="303030"/>
                </a:solidFill>
                <a:effectLst/>
                <a:latin typeface="Arimo"/>
              </a:rPr>
              <a:t>ms</a:t>
            </a:r>
            <a:r>
              <a:rPr lang="en-US" b="0" i="0" dirty="0">
                <a:solidFill>
                  <a:srgbClr val="303030"/>
                </a:solidFill>
                <a:effectLst/>
                <a:latin typeface="Arimo"/>
              </a:rPr>
              <a:t> and then starts the retransmission.</a:t>
            </a:r>
          </a:p>
          <a:p>
            <a:pPr algn="l" fontAlgn="base">
              <a:buFont typeface="Arial" panose="020B0604020202020204" pitchFamily="34" charset="0"/>
              <a:buChar char="•"/>
            </a:pPr>
            <a:r>
              <a:rPr lang="en-US" b="0" i="0" dirty="0">
                <a:solidFill>
                  <a:srgbClr val="303030"/>
                </a:solidFill>
                <a:effectLst/>
                <a:latin typeface="Arimo"/>
              </a:rPr>
              <a:t>Thus, node A starts the retransmission at time t = 12.5 </a:t>
            </a:r>
            <a:r>
              <a:rPr lang="en-US" b="0" i="0" dirty="0" err="1">
                <a:solidFill>
                  <a:srgbClr val="303030"/>
                </a:solidFill>
                <a:effectLst/>
                <a:latin typeface="Arimo"/>
              </a:rPr>
              <a:t>ms</a:t>
            </a:r>
            <a:r>
              <a:rPr lang="en-US" b="0" i="0" dirty="0">
                <a:solidFill>
                  <a:srgbClr val="303030"/>
                </a:solidFill>
                <a:effectLst/>
                <a:latin typeface="Arimo"/>
              </a:rPr>
              <a:t> + 12.5 </a:t>
            </a:r>
            <a:r>
              <a:rPr lang="en-US" b="0" i="0" dirty="0" err="1">
                <a:solidFill>
                  <a:srgbClr val="303030"/>
                </a:solidFill>
                <a:effectLst/>
                <a:latin typeface="Arimo"/>
              </a:rPr>
              <a:t>ms</a:t>
            </a:r>
            <a:r>
              <a:rPr lang="en-US" b="0" i="0" dirty="0">
                <a:solidFill>
                  <a:srgbClr val="303030"/>
                </a:solidFill>
                <a:effectLst/>
                <a:latin typeface="Arimo"/>
              </a:rPr>
              <a:t> = 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 </a:t>
            </a:r>
          </a:p>
          <a:p>
            <a:pPr algn="l" fontAlgn="base"/>
            <a:r>
              <a:rPr lang="en-US" b="1" i="0" u="sng" dirty="0">
                <a:solidFill>
                  <a:srgbClr val="303030"/>
                </a:solidFill>
                <a:effectLst/>
                <a:latin typeface="Roboto Condensed" panose="02000000000000000000" pitchFamily="2" charset="0"/>
              </a:rPr>
              <a:t>Time Taken in Delivering Packet To Node B-</a:t>
            </a:r>
            <a:endParaRPr lang="en-US" b="1" i="0" dirty="0">
              <a:solidFill>
                <a:srgbClr val="303030"/>
              </a:solidFill>
              <a:effectLst/>
              <a:latin typeface="Roboto Condensed" panose="02000000000000000000" pitchFamily="2" charset="0"/>
            </a:endParaRPr>
          </a:p>
          <a:p>
            <a:pPr algn="l" fontAlgn="base"/>
            <a:r>
              <a:rPr lang="en-US" b="0" i="0" dirty="0">
                <a:solidFill>
                  <a:srgbClr val="303030"/>
                </a:solidFill>
                <a:effectLst/>
                <a:latin typeface="Arimo"/>
              </a:rPr>
              <a:t> </a:t>
            </a:r>
          </a:p>
          <a:p>
            <a:pPr algn="l" fontAlgn="base"/>
            <a:r>
              <a:rPr lang="en-US" b="0" i="0" dirty="0">
                <a:solidFill>
                  <a:srgbClr val="303030"/>
                </a:solidFill>
                <a:effectLst/>
                <a:latin typeface="Arimo"/>
              </a:rPr>
              <a:t>Time taken to deliver the packet to node B</a:t>
            </a:r>
          </a:p>
          <a:p>
            <a:pPr algn="l" fontAlgn="base"/>
            <a:r>
              <a:rPr lang="en-US" b="0" i="0" dirty="0">
                <a:solidFill>
                  <a:srgbClr val="303030"/>
                </a:solidFill>
                <a:effectLst/>
                <a:latin typeface="Arimo"/>
              </a:rPr>
              <a:t>= Transmission delay + Propagation delay</a:t>
            </a:r>
          </a:p>
          <a:p>
            <a:pPr algn="l" fontAlgn="base"/>
            <a:r>
              <a:rPr lang="en-US" b="0" i="0" dirty="0">
                <a:solidFill>
                  <a:srgbClr val="303030"/>
                </a:solidFill>
                <a:effectLst/>
                <a:latin typeface="Arimo"/>
              </a:rPr>
              <a:t>= (1000 bits / 10 Mbps) + 12.5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 100 </a:t>
            </a:r>
            <a:r>
              <a:rPr lang="en-US" b="0" i="0" dirty="0" err="1">
                <a:solidFill>
                  <a:srgbClr val="303030"/>
                </a:solidFill>
                <a:effectLst/>
                <a:latin typeface="Arimo"/>
              </a:rPr>
              <a:t>μs</a:t>
            </a:r>
            <a:r>
              <a:rPr lang="en-US" b="0" i="0" dirty="0">
                <a:solidFill>
                  <a:srgbClr val="303030"/>
                </a:solidFill>
                <a:effectLst/>
                <a:latin typeface="Arimo"/>
              </a:rPr>
              <a:t> + 12.5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 0.1 </a:t>
            </a:r>
            <a:r>
              <a:rPr lang="en-US" b="0" i="0" dirty="0" err="1">
                <a:solidFill>
                  <a:srgbClr val="303030"/>
                </a:solidFill>
                <a:effectLst/>
                <a:latin typeface="Arimo"/>
              </a:rPr>
              <a:t>ms</a:t>
            </a:r>
            <a:r>
              <a:rPr lang="en-US" b="0" i="0" dirty="0">
                <a:solidFill>
                  <a:srgbClr val="303030"/>
                </a:solidFill>
                <a:effectLst/>
                <a:latin typeface="Arimo"/>
              </a:rPr>
              <a:t> + 12.5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 12.6 </a:t>
            </a:r>
            <a:r>
              <a:rPr lang="en-US" b="0" i="0" dirty="0" err="1">
                <a:solidFill>
                  <a:srgbClr val="303030"/>
                </a:solidFill>
                <a:effectLst/>
                <a:latin typeface="Arimo"/>
              </a:rPr>
              <a:t>ms</a:t>
            </a:r>
            <a:endParaRPr lang="en-US" b="0" i="0" dirty="0">
              <a:solidFill>
                <a:srgbClr val="303030"/>
              </a:solidFill>
              <a:effectLst/>
              <a:latin typeface="Arimo"/>
            </a:endParaRPr>
          </a:p>
          <a:p>
            <a:pPr algn="l" fontAlgn="base"/>
            <a:r>
              <a:rPr lang="en-US" b="0" i="0" dirty="0">
                <a:solidFill>
                  <a:srgbClr val="303030"/>
                </a:solidFill>
                <a:effectLst/>
                <a:latin typeface="Arimo"/>
              </a:rPr>
              <a:t> Thus, At time t = 25 </a:t>
            </a:r>
            <a:r>
              <a:rPr lang="en-US" b="0" i="0" dirty="0" err="1">
                <a:solidFill>
                  <a:srgbClr val="303030"/>
                </a:solidFill>
                <a:effectLst/>
                <a:latin typeface="Arimo"/>
              </a:rPr>
              <a:t>ms</a:t>
            </a:r>
            <a:r>
              <a:rPr lang="en-US" b="0" i="0" dirty="0">
                <a:solidFill>
                  <a:srgbClr val="303030"/>
                </a:solidFill>
                <a:effectLst/>
                <a:latin typeface="Arimo"/>
              </a:rPr>
              <a:t> + 12.6 </a:t>
            </a:r>
            <a:r>
              <a:rPr lang="en-US" b="0" i="0" dirty="0" err="1">
                <a:solidFill>
                  <a:srgbClr val="303030"/>
                </a:solidFill>
                <a:effectLst/>
                <a:latin typeface="Arimo"/>
              </a:rPr>
              <a:t>ms</a:t>
            </a:r>
            <a:r>
              <a:rPr lang="en-US" b="0" i="0" dirty="0">
                <a:solidFill>
                  <a:srgbClr val="303030"/>
                </a:solidFill>
                <a:effectLst/>
                <a:latin typeface="Arimo"/>
              </a:rPr>
              <a:t> = 37.6 </a:t>
            </a:r>
            <a:r>
              <a:rPr lang="en-US" b="0" i="0" dirty="0" err="1">
                <a:solidFill>
                  <a:srgbClr val="303030"/>
                </a:solidFill>
                <a:effectLst/>
                <a:latin typeface="Arimo"/>
              </a:rPr>
              <a:t>ms</a:t>
            </a:r>
            <a:r>
              <a:rPr lang="en-US" b="0" i="0" dirty="0">
                <a:solidFill>
                  <a:srgbClr val="303030"/>
                </a:solidFill>
                <a:effectLst/>
                <a:latin typeface="Arimo"/>
              </a:rPr>
              <a:t>, the packet is delivered to node B</a:t>
            </a:r>
          </a:p>
          <a:p>
            <a:endParaRPr lang="en-US" dirty="0"/>
          </a:p>
        </p:txBody>
      </p:sp>
    </p:spTree>
    <p:extLst>
      <p:ext uri="{BB962C8B-B14F-4D97-AF65-F5344CB8AC3E}">
        <p14:creationId xmlns:p14="http://schemas.microsoft.com/office/powerpoint/2010/main" val="2464004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677</TotalTime>
  <Words>4177</Words>
  <Application>Microsoft Office PowerPoint</Application>
  <PresentationFormat>Widescreen</PresentationFormat>
  <Paragraphs>396</Paragraphs>
  <Slides>41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Arimo</vt:lpstr>
      <vt:lpstr>Calibri</vt:lpstr>
      <vt:lpstr>Calibri Light</vt:lpstr>
      <vt:lpstr>Roboto Condensed</vt:lpstr>
      <vt:lpstr>Symbol</vt:lpstr>
      <vt:lpstr>Tahoma</vt:lpstr>
      <vt:lpstr>Times New Roman</vt:lpstr>
      <vt:lpstr>Office Theme</vt:lpstr>
      <vt:lpstr>Problems in MAC</vt:lpstr>
      <vt:lpstr>Formulas to Remember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Example 3 </vt:lpstr>
      <vt:lpstr> Example 3 continued… </vt:lpstr>
      <vt:lpstr> Example 3a </vt:lpstr>
      <vt:lpstr> Example 3a continued… </vt:lpstr>
      <vt:lpstr>PowerPoint Presentation</vt:lpstr>
      <vt:lpstr>PowerPoint Presentation</vt:lpstr>
      <vt:lpstr>PowerPoint Presentation</vt:lpstr>
      <vt:lpstr>PowerPoint Presentation</vt:lpstr>
      <vt:lpstr> CSMA –CD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16  </vt:lpstr>
      <vt:lpstr>PowerPoint Presentation</vt:lpstr>
      <vt:lpstr>PowerPoint Presentation</vt:lpstr>
      <vt:lpstr>PowerPoint Presentation</vt:lpstr>
      <vt:lpstr>PowerPoint Presentation</vt:lpstr>
      <vt:lpstr>PowerPoint Presentation</vt:lpstr>
      <vt:lpstr>           Following 8 cases are possible- From here,          Probability of A winning the 2nd back off race = 5 / 8 = 0.625 </vt:lpstr>
      <vt:lpstr>PowerPoint Presentation</vt:lpstr>
      <vt:lpstr>PowerPoint Presentation</vt:lpstr>
      <vt:lpst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Anusha N</dc:creator>
  <cp:lastModifiedBy>KOPPERUNDEVI RAJAJI</cp:lastModifiedBy>
  <cp:revision>39</cp:revision>
  <dcterms:created xsi:type="dcterms:W3CDTF">2023-06-08T06:11:42Z</dcterms:created>
  <dcterms:modified xsi:type="dcterms:W3CDTF">2024-09-16T08:52:12Z</dcterms:modified>
</cp:coreProperties>
</file>