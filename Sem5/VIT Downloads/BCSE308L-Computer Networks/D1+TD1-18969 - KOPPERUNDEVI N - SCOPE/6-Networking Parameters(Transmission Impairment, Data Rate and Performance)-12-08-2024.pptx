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822" r:id="rId3"/>
    <p:sldId id="823" r:id="rId4"/>
    <p:sldId id="825" r:id="rId5"/>
    <p:sldId id="824" r:id="rId6"/>
    <p:sldId id="778" r:id="rId7"/>
    <p:sldId id="781" r:id="rId8"/>
    <p:sldId id="805" r:id="rId9"/>
    <p:sldId id="785" r:id="rId10"/>
    <p:sldId id="257" r:id="rId11"/>
    <p:sldId id="258" r:id="rId12"/>
    <p:sldId id="826" r:id="rId13"/>
    <p:sldId id="827" r:id="rId14"/>
    <p:sldId id="828" r:id="rId15"/>
    <p:sldId id="8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E25A9-5BE5-40E9-86C0-A278EAE9A251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D77F2-35E0-48F1-A6E0-D853F767D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928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005790-257E-0DA4-CCFE-77066D8C0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9C7FE1-4B0E-4966-A939-AA5626ED44D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1298" name="Rectangle 2">
            <a:extLst>
              <a:ext uri="{FF2B5EF4-FFF2-40B4-BE49-F238E27FC236}">
                <a16:creationId xmlns:a16="http://schemas.microsoft.com/office/drawing/2014/main" id="{4AFBB912-73AD-C905-4D1D-330CB1745A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1299" name="Rectangle 3">
            <a:extLst>
              <a:ext uri="{FF2B5EF4-FFF2-40B4-BE49-F238E27FC236}">
                <a16:creationId xmlns:a16="http://schemas.microsoft.com/office/drawing/2014/main" id="{7874C249-F589-E782-054B-D90CFA3B9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E05A6A-05DE-DFEE-F9BC-5DADA787F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E871B-C602-4287-A4FD-8077C92DB51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4370" name="Rectangle 2">
            <a:extLst>
              <a:ext uri="{FF2B5EF4-FFF2-40B4-BE49-F238E27FC236}">
                <a16:creationId xmlns:a16="http://schemas.microsoft.com/office/drawing/2014/main" id="{4972CE4C-245C-3F88-A420-B7D31512C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4371" name="Rectangle 3">
            <a:extLst>
              <a:ext uri="{FF2B5EF4-FFF2-40B4-BE49-F238E27FC236}">
                <a16:creationId xmlns:a16="http://schemas.microsoft.com/office/drawing/2014/main" id="{D0E047EA-4066-C001-CF7F-E3CCC2C04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21A2067-A5AE-66C4-4892-82BE5D9278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1EA058A-6948-4F58-B8FB-22B7DBADD813}" type="slidenum">
              <a:rPr lang="en-US" altLang="en-US" sz="1200" b="0" i="0" baseline="0"/>
              <a:pPr/>
              <a:t>9</a:t>
            </a:fld>
            <a:endParaRPr lang="en-US" altLang="en-US" sz="1200" b="0" i="0" baseline="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A8B9517-8388-8CE0-42FE-1B4661A362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7304388-FB26-F12A-80B6-2F85E35B0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67F0-D985-4F8A-B997-4F6AB75BB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DB2CB-7585-456A-8E5E-640C607CA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B572C-2745-4CAC-8AA9-34B244C5F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B9352-CF3B-4D57-8D4D-626A2894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22D3-49C2-4962-94E0-6517734F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27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948-4653-410A-9F4B-8B814791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C62DE-FA65-4C5A-ADB6-2074C75BD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47AE-CF55-4D4B-87E2-BE6AC790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797CA-F7E0-42FF-B321-6D8E94A8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35A98-D75F-4A60-9687-09E6A1A6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28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475E-B362-4837-BB1B-161A4778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F261A-ED39-4C97-8446-F305841CF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D39E2-E793-4AE0-AD10-7FD14C23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7612-12D4-4407-9A83-3240F152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8AEFF-AB24-4FC1-91E7-BB6AA8A8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93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02653-449B-4D65-8A33-4A802867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9E27-F748-492A-B269-AC001F9B3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E1FD3-D02C-44BE-8514-E47B9B8E0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D5591-26FA-4C36-830B-8DCCF4DF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D647E-69B0-4DE0-B610-F65645C7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7A568-3504-45D5-A314-F2D703F0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1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E6D9-1AF0-44A2-BEE3-0E93B48B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DA823-7B1C-47DA-9E7E-238484D6C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93F71-F713-4C7E-843E-2F2F36641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6A67A-B18E-4A28-9E4F-18188F95E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3B908-0DE5-4403-A4EB-02A048749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5ACFC-D8CE-4C43-8CD0-01761336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1F628-E788-4815-8D8E-F59F6BA0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4C461-6866-495D-AC23-4F7A75AD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84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06B4-27B3-4FF4-8FB3-53D86F08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62D61-19BF-4387-A041-35BFD6A5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8E297-D3BF-46AE-BAFB-F7059857D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9F666-C30C-444A-BB2E-48D4541F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29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302AA-370B-47A5-8788-D161AD66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D1832-64F3-4025-9B67-9828BD96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50C95-B204-40A5-9D40-3342A4F4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4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E3D2B-0645-4441-A53C-E8A9EE5F5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811C7-5BC4-4AA3-AF52-3275C8C64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B9D1D-68B6-41D0-A74E-5349E110A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881BC-819C-404E-A7AC-634950B8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97641-5325-49C4-8688-71C7E581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56CB7-7E76-4C24-A20B-D5AC51CA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8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73EE-86EF-4003-8C1F-83112F9D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B93FC6-6C11-4928-BC51-1E69AAD16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F9667-6009-4491-ADE7-F2BD240E7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2A1E3-8E0A-4E77-AC0B-9946686C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413C6-57DA-40BC-B7A7-EAAC9CF7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3AE11-10B1-4DAE-86CD-FCBC73F4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94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7FC0-FBE2-4DE4-A71B-8CFAB150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2E922-9EF4-486C-9A16-B10C7AFE5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6A577-3A5A-4771-B54A-A16AD2A5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3E52A-BFE8-4766-A2B5-0A08003E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FD319-3E37-4016-AA7D-EAC2BD5E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2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4F417-15A7-4562-BCFF-9F077EC91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FCBCB-81D1-41BE-A5F6-8745CB454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CE33-88F4-47A3-9609-714BCAB6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19FCF-AD89-4864-B0D8-B7D3BF3C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07E49-9251-456B-BE9C-403090F7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55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51BB0-C60F-40EC-A8D3-0DE52C71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5FA88-4BC4-4A1D-A7BB-0C8FEC13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84DA1-EA2B-4E18-924F-4ED099965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FD838-623D-4D6D-BA19-737CBE95F646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E4EB8-9FC3-4246-B6A0-76A6F5A26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83E9-48FC-4622-9BFE-B4E75302A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08BDA-B893-4EDF-9E05-B8ACA7B425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00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E004-691C-4C90-BD6E-7C11E3AA5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Levels and packet switching problems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33074-B53E-4D9A-A82B-E79147DA8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75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DEC7FB-06EC-42CE-BC78-93B80199E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604837"/>
            <a:ext cx="883920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4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hannon's Limit, or Opportunity? - Ciena">
            <a:extLst>
              <a:ext uri="{FF2B5EF4-FFF2-40B4-BE49-F238E27FC236}">
                <a16:creationId xmlns:a16="http://schemas.microsoft.com/office/drawing/2014/main" id="{FE4184AE-3A9E-4ED4-95DB-641524EDA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548" y="2366682"/>
            <a:ext cx="6232537" cy="225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2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olved 1. Shannon Capacity formula (assumption noise exists | Chegg.com">
            <a:extLst>
              <a:ext uri="{FF2B5EF4-FFF2-40B4-BE49-F238E27FC236}">
                <a16:creationId xmlns:a16="http://schemas.microsoft.com/office/drawing/2014/main" id="{3A103EC1-4DF0-4CDB-863D-6A8728036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976" y="542727"/>
            <a:ext cx="8166847" cy="593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8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olved 1. Shannon Capacity formula (assumption noise exists | Chegg.com">
            <a:extLst>
              <a:ext uri="{FF2B5EF4-FFF2-40B4-BE49-F238E27FC236}">
                <a16:creationId xmlns:a16="http://schemas.microsoft.com/office/drawing/2014/main" id="{E96D06A2-F87C-4D91-82E4-DA0028797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961" y="370341"/>
            <a:ext cx="9260418" cy="575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22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FFF02D-AAF3-E488-DEBF-52EA9D2E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3.</a:t>
            </a:r>
            <a:fld id="{FA0D195C-BC3B-42C1-BEDC-DC677A1B13E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1730" name="Rectangle 2">
            <a:extLst>
              <a:ext uri="{FF2B5EF4-FFF2-40B4-BE49-F238E27FC236}">
                <a16:creationId xmlns:a16="http://schemas.microsoft.com/office/drawing/2014/main" id="{E338268A-7B24-1781-1CEA-661DBFAD0D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1731" name="Rectangle 3">
            <a:extLst>
              <a:ext uri="{FF2B5EF4-FFF2-40B4-BE49-F238E27FC236}">
                <a16:creationId xmlns:a16="http://schemas.microsoft.com/office/drawing/2014/main" id="{71C5F126-5725-0D8F-7044-C0CD53603E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841732" name="Group 4">
            <a:extLst>
              <a:ext uri="{FF2B5EF4-FFF2-40B4-BE49-F238E27FC236}">
                <a16:creationId xmlns:a16="http://schemas.microsoft.com/office/drawing/2014/main" id="{2D670E22-08E1-984B-08E1-583AE049C4ED}"/>
              </a:ext>
            </a:extLst>
          </p:cNvPr>
          <p:cNvGrpSpPr>
            <a:grpSpLocks/>
          </p:cNvGrpSpPr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841733" name="Rectangle 5">
              <a:extLst>
                <a:ext uri="{FF2B5EF4-FFF2-40B4-BE49-F238E27FC236}">
                  <a16:creationId xmlns:a16="http://schemas.microsoft.com/office/drawing/2014/main" id="{F0BB93BC-6358-690F-8B25-70DF7082B8E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41734" name="Rectangle 6">
              <a:extLst>
                <a:ext uri="{FF2B5EF4-FFF2-40B4-BE49-F238E27FC236}">
                  <a16:creationId xmlns:a16="http://schemas.microsoft.com/office/drawing/2014/main" id="{B8F57658-3161-076C-2DA9-DA61CED0628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841735" name="Rectangle 7">
            <a:extLst>
              <a:ext uri="{FF2B5EF4-FFF2-40B4-BE49-F238E27FC236}">
                <a16:creationId xmlns:a16="http://schemas.microsoft.com/office/drawing/2014/main" id="{C916B23B-FB22-5061-4D1F-8A9BDD3ACB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1736" name="Rectangle 8">
            <a:extLst>
              <a:ext uri="{FF2B5EF4-FFF2-40B4-BE49-F238E27FC236}">
                <a16:creationId xmlns:a16="http://schemas.microsoft.com/office/drawing/2014/main" id="{1786E5C6-1A49-EEE7-ABF3-B72A639905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1737" name="Rectangle 9">
            <a:extLst>
              <a:ext uri="{FF2B5EF4-FFF2-40B4-BE49-F238E27FC236}">
                <a16:creationId xmlns:a16="http://schemas.microsoft.com/office/drawing/2014/main" id="{DFDF569A-AF4E-AEF6-8656-06EA1A8F1C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1738" name="Rectangle 10">
            <a:extLst>
              <a:ext uri="{FF2B5EF4-FFF2-40B4-BE49-F238E27FC236}">
                <a16:creationId xmlns:a16="http://schemas.microsoft.com/office/drawing/2014/main" id="{64C6D2D7-AF74-00AA-FF4A-902EBC104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1739" name="Rectangle 11">
            <a:extLst>
              <a:ext uri="{FF2B5EF4-FFF2-40B4-BE49-F238E27FC236}">
                <a16:creationId xmlns:a16="http://schemas.microsoft.com/office/drawing/2014/main" id="{E747D4FC-CEFF-8CFC-1FF8-FCDE61321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31900"/>
            <a:ext cx="853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13.A telephone line normally has a bandwidth of 3000. The signal-to-noise ratio is usually 3162. For this channel the capacity is calculated as</a:t>
            </a:r>
          </a:p>
        </p:txBody>
      </p:sp>
      <p:pic>
        <p:nvPicPr>
          <p:cNvPr id="841742" name="Picture 14">
            <a:extLst>
              <a:ext uri="{FF2B5EF4-FFF2-40B4-BE49-F238E27FC236}">
                <a16:creationId xmlns:a16="http://schemas.microsoft.com/office/drawing/2014/main" id="{05C7AFBE-C275-6DD7-C94D-5D712C6D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42" y="2820239"/>
            <a:ext cx="10608294" cy="101566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1743" name="Rectangle 15">
            <a:extLst>
              <a:ext uri="{FF2B5EF4-FFF2-40B4-BE49-F238E27FC236}">
                <a16:creationId xmlns:a16="http://schemas.microsoft.com/office/drawing/2014/main" id="{26C7FE40-AF4F-BFC2-D58B-84E1426A2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419600"/>
            <a:ext cx="8534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This means that the highest bit rate for a telephone line is 34.860 kbps. If we want to send data faster than this, we can either increase the bandwidth of the line or improve the signal-to-noise ratio.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2FC54-2F4A-80F4-2B01-5E3005B65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3.</a:t>
            </a:r>
            <a:fld id="{785A8A87-B10A-46A2-BD25-65615B34281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4802" name="Rectangle 2">
            <a:extLst>
              <a:ext uri="{FF2B5EF4-FFF2-40B4-BE49-F238E27FC236}">
                <a16:creationId xmlns:a16="http://schemas.microsoft.com/office/drawing/2014/main" id="{B25B5F28-B5EF-8EB5-E9D2-AB21EA4037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4803" name="Rectangle 3">
            <a:extLst>
              <a:ext uri="{FF2B5EF4-FFF2-40B4-BE49-F238E27FC236}">
                <a16:creationId xmlns:a16="http://schemas.microsoft.com/office/drawing/2014/main" id="{47F14479-8802-3A55-74FC-DE5A85AFF0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844804" name="Group 4">
            <a:extLst>
              <a:ext uri="{FF2B5EF4-FFF2-40B4-BE49-F238E27FC236}">
                <a16:creationId xmlns:a16="http://schemas.microsoft.com/office/drawing/2014/main" id="{CD445E3A-CE05-120D-0569-BCF88D3004B2}"/>
              </a:ext>
            </a:extLst>
          </p:cNvPr>
          <p:cNvGrpSpPr>
            <a:grpSpLocks/>
          </p:cNvGrpSpPr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844805" name="Rectangle 5">
              <a:extLst>
                <a:ext uri="{FF2B5EF4-FFF2-40B4-BE49-F238E27FC236}">
                  <a16:creationId xmlns:a16="http://schemas.microsoft.com/office/drawing/2014/main" id="{2459D1C2-109E-9167-014A-A64FB5B67FC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44806" name="Rectangle 6">
              <a:extLst>
                <a:ext uri="{FF2B5EF4-FFF2-40B4-BE49-F238E27FC236}">
                  <a16:creationId xmlns:a16="http://schemas.microsoft.com/office/drawing/2014/main" id="{3BA3E52D-8251-ED73-D345-C6AAFCEA2A1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844807" name="Rectangle 7">
            <a:extLst>
              <a:ext uri="{FF2B5EF4-FFF2-40B4-BE49-F238E27FC236}">
                <a16:creationId xmlns:a16="http://schemas.microsoft.com/office/drawing/2014/main" id="{B4BB5A7D-82A1-B533-38D9-B9AA63EAEB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4808" name="Rectangle 8">
            <a:extLst>
              <a:ext uri="{FF2B5EF4-FFF2-40B4-BE49-F238E27FC236}">
                <a16:creationId xmlns:a16="http://schemas.microsoft.com/office/drawing/2014/main" id="{6595DAB7-695F-757D-3393-01A618FBDC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4809" name="Rectangle 9">
            <a:extLst>
              <a:ext uri="{FF2B5EF4-FFF2-40B4-BE49-F238E27FC236}">
                <a16:creationId xmlns:a16="http://schemas.microsoft.com/office/drawing/2014/main" id="{0FEE99E5-FA52-41C0-A1AF-67C7E52189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44810" name="Rectangle 10">
            <a:extLst>
              <a:ext uri="{FF2B5EF4-FFF2-40B4-BE49-F238E27FC236}">
                <a16:creationId xmlns:a16="http://schemas.microsoft.com/office/drawing/2014/main" id="{ED240B01-B4A9-1196-DABD-DD0382C9D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4811" name="Rectangle 11">
            <a:extLst>
              <a:ext uri="{FF2B5EF4-FFF2-40B4-BE49-F238E27FC236}">
                <a16:creationId xmlns:a16="http://schemas.microsoft.com/office/drawing/2014/main" id="{137E5FFD-CF0F-55C9-B242-2BF961853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600200"/>
            <a:ext cx="85344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14.We have a channel with a 1-MHz bandwidth. The SNR for this channel is 63. What are the appropriate bit rate and signal level?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Solution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First, we use the Shannon formula to find the upper limit.</a:t>
            </a:r>
          </a:p>
        </p:txBody>
      </p:sp>
      <p:pic>
        <p:nvPicPr>
          <p:cNvPr id="844814" name="Picture 14">
            <a:extLst>
              <a:ext uri="{FF2B5EF4-FFF2-40B4-BE49-F238E27FC236}">
                <a16:creationId xmlns:a16="http://schemas.microsoft.com/office/drawing/2014/main" id="{5C8C5D3B-5D8E-C0D6-9281-272667BA2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6" y="3277553"/>
            <a:ext cx="7370763" cy="44132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1">
            <a:extLst>
              <a:ext uri="{FF2B5EF4-FFF2-40B4-BE49-F238E27FC236}">
                <a16:creationId xmlns:a16="http://schemas.microsoft.com/office/drawing/2014/main" id="{B5215E1A-1599-EC61-1D2A-5DF45749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174491"/>
            <a:ext cx="8534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Shannon formula gives us 6 Mbps, the upper limit. For better performance we choose something lower, 4 Mbps, for example. Then we use the Nyquist formula to find the number of signal levels.</a:t>
            </a: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EEBBE877-C2FD-A97D-F835-D2DF04004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037" y="5549900"/>
            <a:ext cx="5030787" cy="35083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77253BCD-7DAD-47DA-5F5A-DCBCC7D25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latin typeface="Arial" panose="020B0604020202020204" pitchFamily="34" charset="0"/>
              </a:rPr>
              <a:t>3.</a:t>
            </a:r>
            <a:fld id="{5B928B74-856B-4CE6-BE47-FD125E2D2745}" type="slidenum">
              <a:rPr lang="en-US" altLang="en-US" sz="2000" i="0" baseline="0">
                <a:latin typeface="Arial" panose="020B0604020202020204" pitchFamily="34" charset="0"/>
              </a:rPr>
              <a:pPr/>
              <a:t>8</a:t>
            </a:fld>
            <a:endParaRPr lang="en-US" altLang="en-US" sz="2000" i="0" baseline="0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229CE44-0E7C-4425-57B5-7D27FEA14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600"/>
              <a:t>Propagation and Transmission Delay</a:t>
            </a:r>
            <a:endParaRPr lang="en-US" altLang="en-US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FEEEB0B-E266-C6EC-21AD-1B68324CB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09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400" dirty="0"/>
              <a:t>Propagation Delay = Distance/Propagation speed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Transmission Delay = Message size/bandwidth bps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Latency = Propagation delay + Transmission delay + Queueing time + Processing time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1">
            <a:extLst>
              <a:ext uri="{FF2B5EF4-FFF2-40B4-BE49-F238E27FC236}">
                <a16:creationId xmlns:a16="http://schemas.microsoft.com/office/drawing/2014/main" id="{455D5B72-2669-E313-FE5F-5F202C70F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i="0" baseline="0">
                <a:latin typeface="Arial" panose="020B0604020202020204" pitchFamily="34" charset="0"/>
              </a:rPr>
              <a:t>3.</a:t>
            </a:r>
            <a:fld id="{D92D8BD1-32D1-4CE7-A155-EB41E3CCB86C}" type="slidenum">
              <a:rPr lang="en-US" altLang="en-US" sz="2000" i="0" baseline="0">
                <a:latin typeface="Arial" panose="020B0604020202020204" pitchFamily="34" charset="0"/>
              </a:rPr>
              <a:pPr/>
              <a:t>9</a:t>
            </a:fld>
            <a:endParaRPr lang="en-US" altLang="en-US" sz="2000" i="0" baseline="0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A2D863C-2872-0C4A-1120-2B718C3CAB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8EFC498-FD05-789F-C575-A7559DDD7A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grpSp>
        <p:nvGrpSpPr>
          <p:cNvPr id="17413" name="Group 4">
            <a:extLst>
              <a:ext uri="{FF2B5EF4-FFF2-40B4-BE49-F238E27FC236}">
                <a16:creationId xmlns:a16="http://schemas.microsoft.com/office/drawing/2014/main" id="{1BDB1133-B935-E219-F42D-F22EAEDAFEF9}"/>
              </a:ext>
            </a:extLst>
          </p:cNvPr>
          <p:cNvGrpSpPr>
            <a:grpSpLocks/>
          </p:cNvGrpSpPr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17422" name="Rectangle 5">
              <a:extLst>
                <a:ext uri="{FF2B5EF4-FFF2-40B4-BE49-F238E27FC236}">
                  <a16:creationId xmlns:a16="http://schemas.microsoft.com/office/drawing/2014/main" id="{326D1683-B104-9FC0-2204-F9437EEFFAD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en-US" altLang="en-US" sz="2400" b="0" i="0" baseline="0">
                <a:latin typeface="Tahoma" panose="020B0604030504040204" pitchFamily="34" charset="0"/>
              </a:endParaRPr>
            </a:p>
          </p:txBody>
        </p:sp>
        <p:sp>
          <p:nvSpPr>
            <p:cNvPr id="17423" name="Rectangle 6">
              <a:extLst>
                <a:ext uri="{FF2B5EF4-FFF2-40B4-BE49-F238E27FC236}">
                  <a16:creationId xmlns:a16="http://schemas.microsoft.com/office/drawing/2014/main" id="{14AE94C4-8896-5661-1408-ED4D60ABC5C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i="1" baseline="-18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en-US" altLang="en-US" sz="2400" b="0" i="0" baseline="0">
                <a:latin typeface="Tahoma" panose="020B0604030504040204" pitchFamily="34" charset="0"/>
              </a:endParaRPr>
            </a:p>
          </p:txBody>
        </p:sp>
      </p:grpSp>
      <p:sp>
        <p:nvSpPr>
          <p:cNvPr id="17414" name="Rectangle 7">
            <a:extLst>
              <a:ext uri="{FF2B5EF4-FFF2-40B4-BE49-F238E27FC236}">
                <a16:creationId xmlns:a16="http://schemas.microsoft.com/office/drawing/2014/main" id="{63CBF607-0A23-B5B7-96F4-422393E37C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7415" name="Rectangle 8">
            <a:extLst>
              <a:ext uri="{FF2B5EF4-FFF2-40B4-BE49-F238E27FC236}">
                <a16:creationId xmlns:a16="http://schemas.microsoft.com/office/drawing/2014/main" id="{5A78BB57-8560-BBE8-C608-BFD1AF5B42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7416" name="Rectangle 9">
            <a:extLst>
              <a:ext uri="{FF2B5EF4-FFF2-40B4-BE49-F238E27FC236}">
                <a16:creationId xmlns:a16="http://schemas.microsoft.com/office/drawing/2014/main" id="{1D85D712-4AB6-6359-2C6C-661E97F08E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 i="0" baseline="0">
              <a:latin typeface="Tahoma" panose="020B0604030504040204" pitchFamily="34" charset="0"/>
            </a:endParaRPr>
          </a:p>
        </p:txBody>
      </p:sp>
      <p:sp>
        <p:nvSpPr>
          <p:cNvPr id="17417" name="Rectangle 10">
            <a:extLst>
              <a:ext uri="{FF2B5EF4-FFF2-40B4-BE49-F238E27FC236}">
                <a16:creationId xmlns:a16="http://schemas.microsoft.com/office/drawing/2014/main" id="{5CDEFBD8-99FE-4E7B-CC35-C3FE0799E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8" name="Rectangle 11">
            <a:extLst>
              <a:ext uri="{FF2B5EF4-FFF2-40B4-BE49-F238E27FC236}">
                <a16:creationId xmlns:a16="http://schemas.microsoft.com/office/drawing/2014/main" id="{6E2F5E30-EF45-0678-2238-8114A5F85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95400"/>
            <a:ext cx="85344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What is the propagation time if the distance between the two points is 12,000 km? Assume the propagation speed to be 2.4 × 10</a:t>
            </a:r>
            <a:r>
              <a:rPr lang="en-US" altLang="en-US" baseline="30000"/>
              <a:t>8</a:t>
            </a:r>
            <a:r>
              <a:rPr lang="en-US" altLang="en-US" baseline="0"/>
              <a:t> m/s in cable.</a:t>
            </a:r>
          </a:p>
          <a:p>
            <a:pPr algn="just"/>
            <a:endParaRPr lang="en-US" altLang="en-US" baseline="0"/>
          </a:p>
          <a:p>
            <a:pPr algn="just"/>
            <a:r>
              <a:rPr lang="en-US" altLang="en-US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en-US" baseline="0"/>
              <a:t>We can calculate the propagation time as</a:t>
            </a:r>
          </a:p>
        </p:txBody>
      </p:sp>
      <p:sp>
        <p:nvSpPr>
          <p:cNvPr id="17419" name="Text Box 12">
            <a:extLst>
              <a:ext uri="{FF2B5EF4-FFF2-40B4-BE49-F238E27FC236}">
                <a16:creationId xmlns:a16="http://schemas.microsoft.com/office/drawing/2014/main" id="{A0C8C6CF-86A5-B86F-A835-175B12204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82563"/>
            <a:ext cx="16891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aseline="0">
                <a:solidFill>
                  <a:schemeClr val="hlink"/>
                </a:solidFill>
              </a:rPr>
              <a:t>Example</a:t>
            </a:r>
          </a:p>
        </p:txBody>
      </p:sp>
      <p:pic>
        <p:nvPicPr>
          <p:cNvPr id="17420" name="Picture 14">
            <a:extLst>
              <a:ext uri="{FF2B5EF4-FFF2-40B4-BE49-F238E27FC236}">
                <a16:creationId xmlns:a16="http://schemas.microsoft.com/office/drawing/2014/main" id="{8F32A4B9-9641-5617-8A48-3545295C9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1" y="4037013"/>
            <a:ext cx="4994275" cy="81915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21" name="Rectangle 15">
            <a:extLst>
              <a:ext uri="{FF2B5EF4-FFF2-40B4-BE49-F238E27FC236}">
                <a16:creationId xmlns:a16="http://schemas.microsoft.com/office/drawing/2014/main" id="{4DD00381-BEAB-5FC2-ABCE-8516A57F5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029200"/>
            <a:ext cx="8534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baseline="0"/>
              <a:t>The example shows that a bit can go over the Atlantic Ocean in only 50 ms if there is a direct cable between the source and the destination.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6009-D853-482D-88BD-51E1AC9D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2A0D3-203D-4142-B2AD-58B7A67DF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167C15-5D1B-45F1-B824-CBDDD715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164395"/>
            <a:ext cx="9988061" cy="65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3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C069-AD0F-4742-9584-BDAE1C71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E138-69F5-48B0-9E7E-F18AB0B9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B68E94-8555-4FFE-9A94-D1C46216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2" y="394033"/>
            <a:ext cx="10972470" cy="60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7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AD6C5-0B73-4E9A-8D6B-B6296C1FE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97" y="87344"/>
            <a:ext cx="9332173" cy="63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54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DA40D-3C78-4611-81E1-BFC7A351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055B87-ED2E-421C-8F77-49225AC3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  shows a switch (router) in a datagram network. Find the output port for packets with the following destination addresses: Packet 1: 7176 Packet 2: 1233 Packet 3: 8766 Packet 4: 9144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85A2F0-1494-4ED8-A2D6-762668ED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132" y="3357282"/>
            <a:ext cx="6771735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5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DA40D-3C78-4611-81E1-BFC7A351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055B87-ED2E-421C-8F77-49225AC3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  shows a switch (router) in a datagram network. Find the output port for packets with the following destination addresses: Packet 1: 7176 Packet 2: 1233 Packet 3: 8766 Packet 4: 9144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85A2F0-1494-4ED8-A2D6-762668ED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32" y="3294063"/>
            <a:ext cx="6771735" cy="288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FA7BFC-7DA2-446F-8E07-1950477C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652" y="3433482"/>
            <a:ext cx="2145642" cy="256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34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1997-3D85-4577-B7E6-C644B41B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6538-45AB-4FB0-9152-E375168B9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output port and the output VCI for packets with the following input port and input VCI addresses: Packet 1: 3, 78 Packet 2: 2, 92 Packet 3: 4, 56 Packet 4: 2, 71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B8287-C6F2-4308-B343-4F91CF882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97" y="3248586"/>
            <a:ext cx="6010275" cy="2171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9F5EC3-254B-4721-BCFC-76E9349FD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447" y="3248586"/>
            <a:ext cx="3299012" cy="239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61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387</Words>
  <Application>Microsoft Office PowerPoint</Application>
  <PresentationFormat>Widescreen</PresentationFormat>
  <Paragraphs>30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Tahoma</vt:lpstr>
      <vt:lpstr>Times New Roman</vt:lpstr>
      <vt:lpstr>Office Theme</vt:lpstr>
      <vt:lpstr>Levels and packet switching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Propagation and Transmission Delay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Levels and packet switching problems</dc:title>
  <dc:creator>Admin</dc:creator>
  <cp:lastModifiedBy>KOPPERUNDEVI RAJAJI</cp:lastModifiedBy>
  <cp:revision>6</cp:revision>
  <dcterms:created xsi:type="dcterms:W3CDTF">2023-05-19T18:42:13Z</dcterms:created>
  <dcterms:modified xsi:type="dcterms:W3CDTF">2024-08-05T11:27:15Z</dcterms:modified>
</cp:coreProperties>
</file>