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75" autoAdjust="0"/>
    <p:restoredTop sz="94660"/>
  </p:normalViewPr>
  <p:slideViewPr>
    <p:cSldViewPr snapToGrid="0">
      <p:cViewPr varScale="1">
        <p:scale>
          <a:sx n="63" d="100"/>
          <a:sy n="63" d="100"/>
        </p:scale>
        <p:origin x="184" y="15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08C48-3B92-40BB-9CBC-3F5C15245E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D8D649-55FB-40AC-A488-16D74A3CBF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7C61E1-4081-4509-B11B-354E87A34E5A}"/>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5" name="Footer Placeholder 4">
            <a:extLst>
              <a:ext uri="{FF2B5EF4-FFF2-40B4-BE49-F238E27FC236}">
                <a16:creationId xmlns:a16="http://schemas.microsoft.com/office/drawing/2014/main" id="{41E8E24E-8898-46CC-91CE-79D3A2DBE8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32632A-30FC-4B74-BD5D-44E177A2AB57}"/>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2923558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34D76-4557-447C-A073-E7F4055E51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C95682-3A8C-48F0-8EB3-54F42472717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7F60E5-FBED-418A-AEF0-CAF684D3F99E}"/>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5" name="Footer Placeholder 4">
            <a:extLst>
              <a:ext uri="{FF2B5EF4-FFF2-40B4-BE49-F238E27FC236}">
                <a16:creationId xmlns:a16="http://schemas.microsoft.com/office/drawing/2014/main" id="{780B871C-577B-4C63-8225-618A06E009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DB6714-7630-43FE-8D12-5129FBFA733C}"/>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1148516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5966A-D1A5-4EA8-9734-F38FDD3C66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12311CA-27FE-476D-9CF6-5B0838E7DD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931E9F8-1C02-45B0-A500-18295311023C}"/>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5" name="Footer Placeholder 4">
            <a:extLst>
              <a:ext uri="{FF2B5EF4-FFF2-40B4-BE49-F238E27FC236}">
                <a16:creationId xmlns:a16="http://schemas.microsoft.com/office/drawing/2014/main" id="{B8230CF1-87E1-4D11-98F7-FB41302E47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A1B6D2-50C7-4529-992F-E3106DF3C3C7}"/>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4064796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6C78-E6EC-4B72-989C-A2CE09CE0D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5E6538-AB32-443F-A308-322FC60A877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E96C4FD-5C42-4341-859E-0D38E24CA8F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28E99C-D992-4701-A00E-EE8C9F97B242}"/>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6" name="Footer Placeholder 5">
            <a:extLst>
              <a:ext uri="{FF2B5EF4-FFF2-40B4-BE49-F238E27FC236}">
                <a16:creationId xmlns:a16="http://schemas.microsoft.com/office/drawing/2014/main" id="{9D40E913-B067-479A-A6C7-21E3CE6C10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76DA12-2D31-41F3-922F-58E0897BEC56}"/>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2334424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41C8-1E1E-4619-80C6-0F0539F0B1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D73A85-F751-4B89-BBC1-1B7FE69C34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2EBAAFB-1BB0-47A2-94FE-D2CAFC5DAA2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9E1135-8D6B-4A25-8893-72827190A7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D5606AF-D145-474F-B8AE-E450B193941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08E975C-C82E-4403-97B1-DC87BBB4842C}"/>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8" name="Footer Placeholder 7">
            <a:extLst>
              <a:ext uri="{FF2B5EF4-FFF2-40B4-BE49-F238E27FC236}">
                <a16:creationId xmlns:a16="http://schemas.microsoft.com/office/drawing/2014/main" id="{CA3A1EEC-9FE2-4C10-A4B0-074DE9B0556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E69678-927D-42FE-9CC4-7C3EACAD0F6A}"/>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4171055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DA5AB-A0E9-473F-A2E0-BFF347847E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5C9509-E1DE-4F3A-BFF7-18BB04172482}"/>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4" name="Footer Placeholder 3">
            <a:extLst>
              <a:ext uri="{FF2B5EF4-FFF2-40B4-BE49-F238E27FC236}">
                <a16:creationId xmlns:a16="http://schemas.microsoft.com/office/drawing/2014/main" id="{0BB9CB48-0891-410B-A181-2924BF8D96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878159-A929-4148-9E58-3563BC313069}"/>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1210723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CCDFE8-EDDB-4DC8-AD51-955AB2F6750A}"/>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3" name="Footer Placeholder 2">
            <a:extLst>
              <a:ext uri="{FF2B5EF4-FFF2-40B4-BE49-F238E27FC236}">
                <a16:creationId xmlns:a16="http://schemas.microsoft.com/office/drawing/2014/main" id="{1F827658-6009-4693-B43E-7B32CBF82BE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D6658C-7F58-421D-85B6-CC1439EB4EF7}"/>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1121644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04839-55E7-4EE0-87FF-3ECD02F1DB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B9FA5A-611F-4223-AC46-11D3D29F97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34E960-F440-479A-841F-8BD3A3C5A6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DE62F87-E3F3-40A6-8B36-321C8B75258C}"/>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6" name="Footer Placeholder 5">
            <a:extLst>
              <a:ext uri="{FF2B5EF4-FFF2-40B4-BE49-F238E27FC236}">
                <a16:creationId xmlns:a16="http://schemas.microsoft.com/office/drawing/2014/main" id="{67B986F3-0997-4E1C-B05D-6DFEEBA8E5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C96772-0366-442B-95E6-21C6DC7BC888}"/>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3211624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55E32-4988-4269-9AD0-01B099E189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80D2264-3F6F-4932-8830-7CEC4747D6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7DEAC4-2BE2-4815-8F3B-53EFFF0C91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0239DB-BE97-4A5D-B8C7-44A10F3DAFE7}"/>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6" name="Footer Placeholder 5">
            <a:extLst>
              <a:ext uri="{FF2B5EF4-FFF2-40B4-BE49-F238E27FC236}">
                <a16:creationId xmlns:a16="http://schemas.microsoft.com/office/drawing/2014/main" id="{CF0EBABA-5664-4FE1-AB31-244AE56BAD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36AD26-F557-451D-AF9A-A4918F4A3C1D}"/>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4173156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A2860-39B4-4A83-BAA8-A45062D190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42F1CF-D8EE-4E12-A3BB-67A4D7BDD72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1E8C8C-D48A-4361-AB8A-3567A6B275EA}"/>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5" name="Footer Placeholder 4">
            <a:extLst>
              <a:ext uri="{FF2B5EF4-FFF2-40B4-BE49-F238E27FC236}">
                <a16:creationId xmlns:a16="http://schemas.microsoft.com/office/drawing/2014/main" id="{AAFF79D8-2E9E-40EE-A864-8193ADCB04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78C91E-418B-4D46-A25C-9C1B0B166F65}"/>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373185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646753-7C77-4988-8CC5-BB5D2196B5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32DF91-9F9B-4DF3-B067-861B9950C77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8B0E09-F063-4935-ACED-D0FA5A8B98AA}"/>
              </a:ext>
            </a:extLst>
          </p:cNvPr>
          <p:cNvSpPr>
            <a:spLocks noGrp="1"/>
          </p:cNvSpPr>
          <p:nvPr>
            <p:ph type="dt" sz="half" idx="10"/>
          </p:nvPr>
        </p:nvSpPr>
        <p:spPr/>
        <p:txBody>
          <a:bodyPr/>
          <a:lstStyle/>
          <a:p>
            <a:fld id="{57D0471C-A0DB-4C1A-8E0E-509699EE3CDC}" type="datetimeFigureOut">
              <a:rPr lang="en-IN" smtClean="0"/>
              <a:t>02/12/24</a:t>
            </a:fld>
            <a:endParaRPr lang="en-IN"/>
          </a:p>
        </p:txBody>
      </p:sp>
      <p:sp>
        <p:nvSpPr>
          <p:cNvPr id="5" name="Footer Placeholder 4">
            <a:extLst>
              <a:ext uri="{FF2B5EF4-FFF2-40B4-BE49-F238E27FC236}">
                <a16:creationId xmlns:a16="http://schemas.microsoft.com/office/drawing/2014/main" id="{437D978C-6C92-49BE-AA29-832F9343BB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195821-C39B-4681-BE81-B99EB42902D2}"/>
              </a:ext>
            </a:extLst>
          </p:cNvPr>
          <p:cNvSpPr>
            <a:spLocks noGrp="1"/>
          </p:cNvSpPr>
          <p:nvPr>
            <p:ph type="sldNum" sz="quarter" idx="12"/>
          </p:nvPr>
        </p:nvSpPr>
        <p:spPr/>
        <p:txBody>
          <a:bodyPr/>
          <a:lstStyle/>
          <a:p>
            <a:fld id="{9D7DABA5-77AD-48E3-87FE-14A48451501F}" type="slidenum">
              <a:rPr lang="en-IN" smtClean="0"/>
              <a:t>‹#›</a:t>
            </a:fld>
            <a:endParaRPr lang="en-IN"/>
          </a:p>
        </p:txBody>
      </p:sp>
    </p:spTree>
    <p:extLst>
      <p:ext uri="{BB962C8B-B14F-4D97-AF65-F5344CB8AC3E}">
        <p14:creationId xmlns:p14="http://schemas.microsoft.com/office/powerpoint/2010/main" val="572471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042321-E7E6-4F62-9DF6-1530DBE262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F39B2E-C2F7-471D-B934-1B66637EFC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D6EF2A-0D3F-405C-8DD5-ECFE1C889E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0471C-A0DB-4C1A-8E0E-509699EE3CDC}" type="datetimeFigureOut">
              <a:rPr lang="en-IN" smtClean="0"/>
              <a:t>02/12/24</a:t>
            </a:fld>
            <a:endParaRPr lang="en-IN"/>
          </a:p>
        </p:txBody>
      </p:sp>
      <p:sp>
        <p:nvSpPr>
          <p:cNvPr id="5" name="Footer Placeholder 4">
            <a:extLst>
              <a:ext uri="{FF2B5EF4-FFF2-40B4-BE49-F238E27FC236}">
                <a16:creationId xmlns:a16="http://schemas.microsoft.com/office/drawing/2014/main" id="{35832CE3-273A-46F4-BC50-58AB7CB9AD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619826-3BE7-4DF6-870D-2FD437B548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7DABA5-77AD-48E3-87FE-14A48451501F}" type="slidenum">
              <a:rPr lang="en-IN" smtClean="0"/>
              <a:t>‹#›</a:t>
            </a:fld>
            <a:endParaRPr lang="en-IN"/>
          </a:p>
        </p:txBody>
      </p:sp>
    </p:spTree>
    <p:extLst>
      <p:ext uri="{BB962C8B-B14F-4D97-AF65-F5344CB8AC3E}">
        <p14:creationId xmlns:p14="http://schemas.microsoft.com/office/powerpoint/2010/main" val="82340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E958D-17FA-45D3-83E4-45DE1D6F7235}"/>
              </a:ext>
            </a:extLst>
          </p:cNvPr>
          <p:cNvSpPr>
            <a:spLocks noGrp="1"/>
          </p:cNvSpPr>
          <p:nvPr>
            <p:ph type="ctrTitle"/>
          </p:nvPr>
        </p:nvSpPr>
        <p:spPr/>
        <p:txBody>
          <a:bodyPr/>
          <a:lstStyle/>
          <a:p>
            <a:r>
              <a:rPr lang="en-US" dirty="0"/>
              <a:t>MULTIPLE ACCESS PROTOCOL</a:t>
            </a:r>
            <a:endParaRPr lang="en-IN" dirty="0"/>
          </a:p>
        </p:txBody>
      </p:sp>
      <p:sp>
        <p:nvSpPr>
          <p:cNvPr id="3" name="Subtitle 2">
            <a:extLst>
              <a:ext uri="{FF2B5EF4-FFF2-40B4-BE49-F238E27FC236}">
                <a16:creationId xmlns:a16="http://schemas.microsoft.com/office/drawing/2014/main" id="{F235BA53-A0DA-47C1-938C-54535BAC11E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24588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9551C-0A95-4062-B385-4FD6FF03A367}"/>
              </a:ext>
            </a:extLst>
          </p:cNvPr>
          <p:cNvSpPr>
            <a:spLocks noGrp="1"/>
          </p:cNvSpPr>
          <p:nvPr>
            <p:ph type="title"/>
          </p:nvPr>
        </p:nvSpPr>
        <p:spPr/>
        <p:txBody>
          <a:bodyPr/>
          <a:lstStyle/>
          <a:p>
            <a:r>
              <a:rPr lang="en-US" dirty="0"/>
              <a:t>MULTIPLE ACCESS</a:t>
            </a:r>
            <a:endParaRPr lang="en-IN" dirty="0"/>
          </a:p>
        </p:txBody>
      </p:sp>
      <p:sp>
        <p:nvSpPr>
          <p:cNvPr id="3" name="Content Placeholder 2">
            <a:extLst>
              <a:ext uri="{FF2B5EF4-FFF2-40B4-BE49-F238E27FC236}">
                <a16:creationId xmlns:a16="http://schemas.microsoft.com/office/drawing/2014/main" id="{FF2E85BB-DD1D-4349-A8F7-59842AD25989}"/>
              </a:ext>
            </a:extLst>
          </p:cNvPr>
          <p:cNvSpPr>
            <a:spLocks noGrp="1"/>
          </p:cNvSpPr>
          <p:nvPr>
            <p:ph idx="1"/>
          </p:nvPr>
        </p:nvSpPr>
        <p:spPr/>
        <p:txBody>
          <a:bodyPr/>
          <a:lstStyle/>
          <a:p>
            <a:pPr algn="just"/>
            <a:r>
              <a:rPr lang="en-US" dirty="0"/>
              <a:t>If there is a dedicated link between the sender and the receiver then data link control layer is sufficient, however if there is no dedicated link present then multiple stations can access the channel simultaneously. </a:t>
            </a:r>
          </a:p>
          <a:p>
            <a:pPr algn="just"/>
            <a:r>
              <a:rPr lang="en-US" dirty="0"/>
              <a:t>Hence multiple access protocols are required to decrease collision and avoid crosstalk.</a:t>
            </a:r>
          </a:p>
          <a:p>
            <a:pPr algn="just"/>
            <a:r>
              <a:rPr lang="en-US" dirty="0"/>
              <a:t>Protocols are required for sharing data on non dedicated channels. Multiple access protocols can be subdivided further as </a:t>
            </a:r>
            <a:endParaRPr lang="en-IN" dirty="0"/>
          </a:p>
        </p:txBody>
      </p:sp>
    </p:spTree>
    <p:extLst>
      <p:ext uri="{BB962C8B-B14F-4D97-AF65-F5344CB8AC3E}">
        <p14:creationId xmlns:p14="http://schemas.microsoft.com/office/powerpoint/2010/main" val="376381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B84EC-7B62-4F43-A4E9-20A51EC19B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CC20F05-EF9B-4A09-A692-46800B759946}"/>
              </a:ext>
            </a:extLst>
          </p:cNvPr>
          <p:cNvSpPr>
            <a:spLocks noGrp="1"/>
          </p:cNvSpPr>
          <p:nvPr>
            <p:ph idx="1"/>
          </p:nvPr>
        </p:nvSpPr>
        <p:spPr/>
        <p:txBody>
          <a:bodyPr/>
          <a:lstStyle/>
          <a:p>
            <a:endParaRPr lang="en-IN"/>
          </a:p>
        </p:txBody>
      </p:sp>
      <p:pic>
        <p:nvPicPr>
          <p:cNvPr id="1026" name="Picture 2" descr="Lightbox">
            <a:extLst>
              <a:ext uri="{FF2B5EF4-FFF2-40B4-BE49-F238E27FC236}">
                <a16:creationId xmlns:a16="http://schemas.microsoft.com/office/drawing/2014/main" id="{71323DCE-D1E9-42AA-B320-2B630065D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916" y="827315"/>
            <a:ext cx="11073884" cy="5529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9649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724BA-6916-4C26-83CE-4D28F5D47323}"/>
              </a:ext>
            </a:extLst>
          </p:cNvPr>
          <p:cNvSpPr>
            <a:spLocks noGrp="1"/>
          </p:cNvSpPr>
          <p:nvPr>
            <p:ph type="title"/>
          </p:nvPr>
        </p:nvSpPr>
        <p:spPr/>
        <p:txBody>
          <a:bodyPr/>
          <a:lstStyle/>
          <a:p>
            <a:r>
              <a:rPr lang="en-US" dirty="0"/>
              <a:t>RANDOM ACCESS</a:t>
            </a:r>
            <a:endParaRPr lang="en-IN" dirty="0"/>
          </a:p>
        </p:txBody>
      </p:sp>
      <p:sp>
        <p:nvSpPr>
          <p:cNvPr id="3" name="Content Placeholder 2">
            <a:extLst>
              <a:ext uri="{FF2B5EF4-FFF2-40B4-BE49-F238E27FC236}">
                <a16:creationId xmlns:a16="http://schemas.microsoft.com/office/drawing/2014/main" id="{BEF1878A-7DC6-480B-A251-0F257EE4A767}"/>
              </a:ext>
            </a:extLst>
          </p:cNvPr>
          <p:cNvSpPr>
            <a:spLocks noGrp="1"/>
          </p:cNvSpPr>
          <p:nvPr>
            <p:ph idx="1"/>
          </p:nvPr>
        </p:nvSpPr>
        <p:spPr/>
        <p:txBody>
          <a:bodyPr/>
          <a:lstStyle/>
          <a:p>
            <a:pPr fontAlgn="base"/>
            <a:r>
              <a:rPr lang="en-US" dirty="0"/>
              <a:t>In this, all stations have same superiority that is no station has more priority than another station. </a:t>
            </a:r>
          </a:p>
          <a:p>
            <a:pPr fontAlgn="base"/>
            <a:r>
              <a:rPr lang="en-US" dirty="0"/>
              <a:t>Any station can send data depending on medium’s state( idle or busy). It has two features: </a:t>
            </a:r>
          </a:p>
          <a:p>
            <a:pPr lvl="1" fontAlgn="base"/>
            <a:r>
              <a:rPr lang="en-US" dirty="0"/>
              <a:t>There is no fixed time for sending data</a:t>
            </a:r>
          </a:p>
          <a:p>
            <a:pPr lvl="1" fontAlgn="base"/>
            <a:r>
              <a:rPr lang="en-US" dirty="0"/>
              <a:t>There is no fixed sequence of stations sending data</a:t>
            </a:r>
          </a:p>
          <a:p>
            <a:endParaRPr lang="en-IN" dirty="0"/>
          </a:p>
        </p:txBody>
      </p:sp>
    </p:spTree>
    <p:extLst>
      <p:ext uri="{BB962C8B-B14F-4D97-AF65-F5344CB8AC3E}">
        <p14:creationId xmlns:p14="http://schemas.microsoft.com/office/powerpoint/2010/main" val="1191505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318E-DA2D-48BA-8F2D-77BB770A0EEC}"/>
              </a:ext>
            </a:extLst>
          </p:cNvPr>
          <p:cNvSpPr>
            <a:spLocks noGrp="1"/>
          </p:cNvSpPr>
          <p:nvPr>
            <p:ph type="title"/>
          </p:nvPr>
        </p:nvSpPr>
        <p:spPr/>
        <p:txBody>
          <a:bodyPr/>
          <a:lstStyle/>
          <a:p>
            <a:r>
              <a:rPr lang="en-IN" b="1" dirty="0"/>
              <a:t>ALOHA</a:t>
            </a:r>
            <a:endParaRPr lang="en-IN" dirty="0"/>
          </a:p>
        </p:txBody>
      </p:sp>
      <p:sp>
        <p:nvSpPr>
          <p:cNvPr id="3" name="Content Placeholder 2">
            <a:extLst>
              <a:ext uri="{FF2B5EF4-FFF2-40B4-BE49-F238E27FC236}">
                <a16:creationId xmlns:a16="http://schemas.microsoft.com/office/drawing/2014/main" id="{8C4C158C-407C-43A6-A0CF-0515B10D0DF7}"/>
              </a:ext>
            </a:extLst>
          </p:cNvPr>
          <p:cNvSpPr>
            <a:spLocks noGrp="1"/>
          </p:cNvSpPr>
          <p:nvPr>
            <p:ph idx="1"/>
          </p:nvPr>
        </p:nvSpPr>
        <p:spPr/>
        <p:txBody>
          <a:bodyPr/>
          <a:lstStyle/>
          <a:p>
            <a:r>
              <a:rPr lang="en-US" dirty="0"/>
              <a:t>It was designed for wireless LAN but is also applicable for shared medium. In this, multiple stations can transmit data at the same time and can hence lead to collision and data being garbled.</a:t>
            </a:r>
          </a:p>
          <a:p>
            <a:pPr lvl="1"/>
            <a:r>
              <a:rPr lang="en-US" dirty="0"/>
              <a:t>PURE ALOHA</a:t>
            </a:r>
          </a:p>
          <a:p>
            <a:pPr lvl="1"/>
            <a:r>
              <a:rPr lang="en-US" dirty="0"/>
              <a:t>SLOTTED ALOHA</a:t>
            </a:r>
          </a:p>
          <a:p>
            <a:pPr marL="457200" lvl="1" indent="0">
              <a:buNone/>
            </a:pPr>
            <a:r>
              <a:rPr lang="en-US" dirty="0"/>
              <a:t> </a:t>
            </a:r>
            <a:endParaRPr lang="en-IN" dirty="0"/>
          </a:p>
        </p:txBody>
      </p:sp>
    </p:spTree>
    <p:extLst>
      <p:ext uri="{BB962C8B-B14F-4D97-AF65-F5344CB8AC3E}">
        <p14:creationId xmlns:p14="http://schemas.microsoft.com/office/powerpoint/2010/main" val="2782355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011FE-1C4F-4722-A0A9-8EDB7CF7C334}"/>
              </a:ext>
            </a:extLst>
          </p:cNvPr>
          <p:cNvSpPr>
            <a:spLocks noGrp="1"/>
          </p:cNvSpPr>
          <p:nvPr>
            <p:ph type="title"/>
          </p:nvPr>
        </p:nvSpPr>
        <p:spPr/>
        <p:txBody>
          <a:bodyPr/>
          <a:lstStyle/>
          <a:p>
            <a:r>
              <a:rPr lang="en-US" dirty="0"/>
              <a:t>PURE ALOHA</a:t>
            </a:r>
            <a:endParaRPr lang="en-IN" dirty="0"/>
          </a:p>
        </p:txBody>
      </p:sp>
      <p:sp>
        <p:nvSpPr>
          <p:cNvPr id="3" name="Content Placeholder 2">
            <a:extLst>
              <a:ext uri="{FF2B5EF4-FFF2-40B4-BE49-F238E27FC236}">
                <a16:creationId xmlns:a16="http://schemas.microsoft.com/office/drawing/2014/main" id="{DD28D704-A7E1-48A8-9881-C6B631955F51}"/>
              </a:ext>
            </a:extLst>
          </p:cNvPr>
          <p:cNvSpPr>
            <a:spLocks noGrp="1"/>
          </p:cNvSpPr>
          <p:nvPr>
            <p:ph idx="1"/>
          </p:nvPr>
        </p:nvSpPr>
        <p:spPr/>
        <p:txBody>
          <a:bodyPr/>
          <a:lstStyle/>
          <a:p>
            <a:r>
              <a:rPr lang="en-US" dirty="0"/>
              <a:t>When a station sends data it waits for an acknowledgement. </a:t>
            </a:r>
          </a:p>
          <a:p>
            <a:r>
              <a:rPr lang="en-US" dirty="0"/>
              <a:t>If the acknowledgement doesn’t come within the allotted time then the station waits for a random amount of time called back-off time (Tb) and re-sends the data.</a:t>
            </a:r>
          </a:p>
          <a:p>
            <a:r>
              <a:rPr lang="en-US" dirty="0"/>
              <a:t> Since different stations wait for different amount of time, the probability of further collision decreases. </a:t>
            </a:r>
            <a:endParaRPr lang="en-IN" dirty="0"/>
          </a:p>
        </p:txBody>
      </p:sp>
    </p:spTree>
    <p:extLst>
      <p:ext uri="{BB962C8B-B14F-4D97-AF65-F5344CB8AC3E}">
        <p14:creationId xmlns:p14="http://schemas.microsoft.com/office/powerpoint/2010/main" val="165960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689DCC1-C62A-44B7-AD4A-5444268EC40B}"/>
              </a:ext>
            </a:extLst>
          </p:cNvPr>
          <p:cNvPicPr>
            <a:picLocks noChangeAspect="1"/>
          </p:cNvPicPr>
          <p:nvPr/>
        </p:nvPicPr>
        <p:blipFill>
          <a:blip r:embed="rId2"/>
          <a:stretch>
            <a:fillRect/>
          </a:stretch>
        </p:blipFill>
        <p:spPr>
          <a:xfrm>
            <a:off x="0" y="737961"/>
            <a:ext cx="9268507" cy="5754914"/>
          </a:xfrm>
          <a:prstGeom prst="rect">
            <a:avLst/>
          </a:prstGeom>
        </p:spPr>
      </p:pic>
      <p:sp>
        <p:nvSpPr>
          <p:cNvPr id="11" name="Rectangle 11">
            <a:extLst>
              <a:ext uri="{FF2B5EF4-FFF2-40B4-BE49-F238E27FC236}">
                <a16:creationId xmlns:a16="http://schemas.microsoft.com/office/drawing/2014/main" id="{4488ABA0-5D6C-4DFD-835E-85D92D53340B}"/>
              </a:ext>
            </a:extLst>
          </p:cNvPr>
          <p:cNvSpPr>
            <a:spLocks noGrp="1" noChangeArrowheads="1"/>
          </p:cNvSpPr>
          <p:nvPr>
            <p:ph type="title"/>
          </p:nvPr>
        </p:nvSpPr>
        <p:spPr bwMode="auto">
          <a:xfrm>
            <a:off x="7024914" y="166250"/>
            <a:ext cx="5167086" cy="1197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rPr>
              <a:t>Throughput= G * e^-2G</a:t>
            </a:r>
            <a:br>
              <a:rPr kumimoji="0" lang="en-US" altLang="en-US" sz="2400" b="0" i="0" u="none" strike="noStrike" cap="none" normalizeH="0" baseline="0" dirty="0">
                <a:ln>
                  <a:noFill/>
                </a:ln>
                <a:solidFill>
                  <a:srgbClr val="273239"/>
                </a:solidFill>
                <a:effectLst/>
                <a:latin typeface="Consolas" panose="020B0609020204030204" pitchFamily="49" charset="0"/>
              </a:rPr>
            </a:br>
            <a:r>
              <a:rPr kumimoji="0" lang="en-US" altLang="en-US" sz="2000" b="0" i="0" u="none" strike="noStrike" cap="none" normalizeH="0" baseline="0" dirty="0">
                <a:ln>
                  <a:noFill/>
                </a:ln>
                <a:solidFill>
                  <a:srgbClr val="273239"/>
                </a:solidFill>
                <a:effectLst/>
                <a:latin typeface="Consolas" panose="020B0609020204030204" pitchFamily="49" charset="0"/>
              </a:rPr>
              <a:t>maximum throughput</a:t>
            </a:r>
            <a:r>
              <a:rPr kumimoji="0" lang="en-US" altLang="en-US" sz="2400" b="0" i="0" u="none" strike="noStrike" cap="none" normalizeH="0" baseline="0" dirty="0">
                <a:ln>
                  <a:noFill/>
                </a:ln>
                <a:solidFill>
                  <a:srgbClr val="273239"/>
                </a:solidFill>
                <a:effectLst/>
                <a:latin typeface="Consolas" panose="020B0609020204030204" pitchFamily="49" charset="0"/>
              </a:rPr>
              <a:t>=0.184(G=0.5)</a:t>
            </a:r>
            <a:br>
              <a:rPr kumimoji="0" lang="en-US" altLang="en-US" sz="2400" b="0" i="0" u="none" strike="noStrike" cap="none" normalizeH="0" baseline="0" dirty="0">
                <a:ln>
                  <a:noFill/>
                </a:ln>
                <a:solidFill>
                  <a:srgbClr val="273239"/>
                </a:solidFill>
                <a:effectLst/>
                <a:latin typeface="Consolas" panose="020B0609020204030204" pitchFamily="49" charset="0"/>
              </a:rPr>
            </a:br>
            <a:r>
              <a:rPr kumimoji="0" lang="en-US" altLang="en-US" sz="2400" b="0" i="0" u="none" strike="noStrike" cap="none" normalizeH="0" baseline="0" dirty="0">
                <a:ln>
                  <a:noFill/>
                </a:ln>
                <a:solidFill>
                  <a:srgbClr val="273239"/>
                </a:solidFill>
                <a:effectLst/>
                <a:latin typeface="Consolas" panose="020B0609020204030204" pitchFamily="49" charset="0"/>
              </a:rPr>
              <a:t>G=no of station on same time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5356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EDD34-8D3D-420F-A3E3-930E7F34A073}"/>
              </a:ext>
            </a:extLst>
          </p:cNvPr>
          <p:cNvSpPr>
            <a:spLocks noGrp="1"/>
          </p:cNvSpPr>
          <p:nvPr>
            <p:ph type="title"/>
          </p:nvPr>
        </p:nvSpPr>
        <p:spPr/>
        <p:txBody>
          <a:bodyPr/>
          <a:lstStyle/>
          <a:p>
            <a:r>
              <a:rPr lang="en-US" dirty="0"/>
              <a:t>Frames-pure aloha</a:t>
            </a:r>
            <a:endParaRPr lang="en-IN" dirty="0"/>
          </a:p>
        </p:txBody>
      </p:sp>
      <p:pic>
        <p:nvPicPr>
          <p:cNvPr id="5" name="Content Placeholder 4">
            <a:extLst>
              <a:ext uri="{FF2B5EF4-FFF2-40B4-BE49-F238E27FC236}">
                <a16:creationId xmlns:a16="http://schemas.microsoft.com/office/drawing/2014/main" id="{74987ACF-AF68-477B-AAEE-DE9DED11877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5026" t="14083" r="13676" b="10200"/>
          <a:stretch/>
        </p:blipFill>
        <p:spPr>
          <a:xfrm>
            <a:off x="750649" y="1567541"/>
            <a:ext cx="10690702" cy="5109030"/>
          </a:xfrm>
        </p:spPr>
      </p:pic>
    </p:spTree>
    <p:extLst>
      <p:ext uri="{BB962C8B-B14F-4D97-AF65-F5344CB8AC3E}">
        <p14:creationId xmlns:p14="http://schemas.microsoft.com/office/powerpoint/2010/main" val="3721060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969D1-7FFD-4187-82A5-3A6EB809621D}"/>
              </a:ext>
            </a:extLst>
          </p:cNvPr>
          <p:cNvSpPr>
            <a:spLocks noGrp="1"/>
          </p:cNvSpPr>
          <p:nvPr>
            <p:ph type="title"/>
          </p:nvPr>
        </p:nvSpPr>
        <p:spPr>
          <a:xfrm>
            <a:off x="0" y="0"/>
            <a:ext cx="10515600" cy="1325563"/>
          </a:xfrm>
        </p:spPr>
        <p:txBody>
          <a:bodyPr/>
          <a:lstStyle/>
          <a:p>
            <a:r>
              <a:rPr lang="en-US" dirty="0"/>
              <a:t>SLOTTED ALOHA</a:t>
            </a:r>
            <a:endParaRPr lang="en-IN" dirty="0"/>
          </a:p>
        </p:txBody>
      </p:sp>
      <p:sp>
        <p:nvSpPr>
          <p:cNvPr id="3" name="Content Placeholder 2">
            <a:extLst>
              <a:ext uri="{FF2B5EF4-FFF2-40B4-BE49-F238E27FC236}">
                <a16:creationId xmlns:a16="http://schemas.microsoft.com/office/drawing/2014/main" id="{357FD2FF-C089-4595-B78D-D6997357C794}"/>
              </a:ext>
            </a:extLst>
          </p:cNvPr>
          <p:cNvSpPr>
            <a:spLocks noGrp="1"/>
          </p:cNvSpPr>
          <p:nvPr>
            <p:ph idx="1"/>
          </p:nvPr>
        </p:nvSpPr>
        <p:spPr>
          <a:xfrm>
            <a:off x="214085" y="1059543"/>
            <a:ext cx="11324771" cy="5529943"/>
          </a:xfrm>
        </p:spPr>
        <p:txBody>
          <a:bodyPr>
            <a:normAutofit fontScale="92500"/>
          </a:bodyPr>
          <a:lstStyle/>
          <a:p>
            <a:r>
              <a:rPr lang="en-US" sz="3200" dirty="0"/>
              <a:t>This is quite similar to Pure Aloha, differing only in the way transmissions take place. Instead of transmitting right at demand time, the sender waits for some time. </a:t>
            </a:r>
          </a:p>
          <a:p>
            <a:r>
              <a:rPr lang="en-US" sz="3200" dirty="0"/>
              <a:t>In slotted ALOHA, the time of the shared channel is divided into discrete intervals called </a:t>
            </a:r>
            <a:r>
              <a:rPr lang="en-US" sz="3200" i="1" dirty="0"/>
              <a:t>Slots</a:t>
            </a:r>
          </a:p>
          <a:p>
            <a:r>
              <a:rPr lang="en-US" sz="3200" dirty="0"/>
              <a:t>If any station is not able to place the frame onto the channel at the beginning of the slot, it has to wait until the beginning of the next time slot. </a:t>
            </a:r>
          </a:p>
          <a:p>
            <a:r>
              <a:rPr lang="en-US" sz="3200" dirty="0"/>
              <a:t>There is still a possibility of collision if two stations try to send at the beginning of the same time slot. But still, the number of collisions that can possibly take place is reduced by a large margin and the performance becomes much well compared to Pure Aloha.</a:t>
            </a:r>
            <a:endParaRPr lang="en-IN" sz="3200" dirty="0"/>
          </a:p>
        </p:txBody>
      </p:sp>
    </p:spTree>
    <p:extLst>
      <p:ext uri="{BB962C8B-B14F-4D97-AF65-F5344CB8AC3E}">
        <p14:creationId xmlns:p14="http://schemas.microsoft.com/office/powerpoint/2010/main" val="4008706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AC0834-B232-4BE6-925B-64303DB036EF}"/>
              </a:ext>
            </a:extLst>
          </p:cNvPr>
          <p:cNvPicPr>
            <a:picLocks noGrp="1" noChangeAspect="1"/>
          </p:cNvPicPr>
          <p:nvPr>
            <p:ph idx="1"/>
          </p:nvPr>
        </p:nvPicPr>
        <p:blipFill>
          <a:blip r:embed="rId2"/>
          <a:stretch>
            <a:fillRect/>
          </a:stretch>
        </p:blipFill>
        <p:spPr>
          <a:xfrm>
            <a:off x="243092" y="772886"/>
            <a:ext cx="11705816" cy="5312228"/>
          </a:xfrm>
          <a:prstGeom prst="rect">
            <a:avLst/>
          </a:prstGeom>
        </p:spPr>
      </p:pic>
    </p:spTree>
    <p:extLst>
      <p:ext uri="{BB962C8B-B14F-4D97-AF65-F5344CB8AC3E}">
        <p14:creationId xmlns:p14="http://schemas.microsoft.com/office/powerpoint/2010/main" val="1707687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F21E4-20EE-4E7C-AAAB-84E8CE89A3FD}"/>
              </a:ext>
            </a:extLst>
          </p:cNvPr>
          <p:cNvSpPr>
            <a:spLocks noGrp="1"/>
          </p:cNvSpPr>
          <p:nvPr>
            <p:ph type="title"/>
          </p:nvPr>
        </p:nvSpPr>
        <p:spPr/>
        <p:txBody>
          <a:bodyPr/>
          <a:lstStyle/>
          <a:p>
            <a:r>
              <a:rPr lang="en-US" dirty="0"/>
              <a:t>Frames-</a:t>
            </a:r>
            <a:r>
              <a:rPr lang="en-US" dirty="0" err="1"/>
              <a:t>SlottedALOHA</a:t>
            </a:r>
            <a:endParaRPr lang="en-IN" dirty="0"/>
          </a:p>
        </p:txBody>
      </p:sp>
      <p:pic>
        <p:nvPicPr>
          <p:cNvPr id="5" name="Content Placeholder 4">
            <a:extLst>
              <a:ext uri="{FF2B5EF4-FFF2-40B4-BE49-F238E27FC236}">
                <a16:creationId xmlns:a16="http://schemas.microsoft.com/office/drawing/2014/main" id="{C1F3B97A-4CD1-4380-AC1B-DD19F61FE18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3825" t="14749" r="13375" b="8532"/>
          <a:stretch/>
        </p:blipFill>
        <p:spPr>
          <a:xfrm>
            <a:off x="2598056" y="2467429"/>
            <a:ext cx="7039429" cy="3338285"/>
          </a:xfrm>
        </p:spPr>
      </p:pic>
    </p:spTree>
    <p:extLst>
      <p:ext uri="{BB962C8B-B14F-4D97-AF65-F5344CB8AC3E}">
        <p14:creationId xmlns:p14="http://schemas.microsoft.com/office/powerpoint/2010/main" val="635301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8266864-39E9-44C2-97C4-76CC5BC7B461}"/>
              </a:ext>
            </a:extLst>
          </p:cNvPr>
          <p:cNvPicPr>
            <a:picLocks noGrp="1" noChangeAspect="1"/>
          </p:cNvPicPr>
          <p:nvPr>
            <p:ph idx="1"/>
          </p:nvPr>
        </p:nvPicPr>
        <p:blipFill rotWithShape="1">
          <a:blip r:embed="rId2">
            <a:biLevel thresh="25000"/>
            <a:extLst>
              <a:ext uri="{28A0092B-C50C-407E-A947-70E740481C1C}">
                <a14:useLocalDpi xmlns:a14="http://schemas.microsoft.com/office/drawing/2010/main" val="0"/>
              </a:ext>
            </a:extLst>
          </a:blip>
          <a:srcRect l="11124" t="8412" r="11124" b="1193"/>
          <a:stretch/>
        </p:blipFill>
        <p:spPr>
          <a:xfrm>
            <a:off x="1002370" y="596899"/>
            <a:ext cx="10826774" cy="5664201"/>
          </a:xfrm>
        </p:spPr>
      </p:pic>
    </p:spTree>
    <p:extLst>
      <p:ext uri="{BB962C8B-B14F-4D97-AF65-F5344CB8AC3E}">
        <p14:creationId xmlns:p14="http://schemas.microsoft.com/office/powerpoint/2010/main" val="2415897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F26F7-7E34-4377-84F7-48854FAA042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E53AF09-B816-4126-92D1-71B7BE2C8A0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62337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680</TotalTime>
  <Words>399</Words>
  <Application>Microsoft Macintosh PowerPoint</Application>
  <PresentationFormat>Widescreen</PresentationFormat>
  <Paragraphs>27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Consolas</vt:lpstr>
      <vt:lpstr>Office Theme</vt:lpstr>
      <vt:lpstr>MULTIPLE ACCESS PROTOCOL</vt:lpstr>
      <vt:lpstr>MULTIPLE ACCESS</vt:lpstr>
      <vt:lpstr>PowerPoint Presentation</vt:lpstr>
      <vt:lpstr>RANDOM ACCESS</vt:lpstr>
      <vt:lpstr>ALOHA</vt:lpstr>
      <vt:lpstr>PURE ALOHA</vt:lpstr>
      <vt:lpstr>Throughput= G * e^-2G maximum throughput=0.184(G=0.5) G=no of station on same time </vt:lpstr>
      <vt:lpstr>Frames-pure aloha</vt:lpstr>
      <vt:lpstr>SLOTTED ALOHA</vt:lpstr>
      <vt:lpstr>PowerPoint Presentation</vt:lpstr>
      <vt:lpstr>Frames-SlottedALOHA</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ACCESS PROTOCOL</dc:title>
  <dc:creator>Admin</dc:creator>
  <cp:lastModifiedBy>Apoorva Karnwal</cp:lastModifiedBy>
  <cp:revision>7</cp:revision>
  <dcterms:created xsi:type="dcterms:W3CDTF">2023-06-09T04:24:23Z</dcterms:created>
  <dcterms:modified xsi:type="dcterms:W3CDTF">2024-12-02T10:21:39Z</dcterms:modified>
</cp:coreProperties>
</file>