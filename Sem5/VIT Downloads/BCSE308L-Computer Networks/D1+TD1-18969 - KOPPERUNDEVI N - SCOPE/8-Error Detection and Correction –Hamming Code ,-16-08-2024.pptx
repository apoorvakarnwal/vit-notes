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>
      <p:cViewPr>
        <p:scale>
          <a:sx n="81" d="100"/>
          <a:sy n="81" d="100"/>
        </p:scale>
        <p:origin x="-48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839B-E04E-458F-8FB8-782AB2DF7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6F300-582B-4079-A177-B259A41FB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3DE8-A5B6-43AC-9370-786FB87A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A49D7-0A94-4299-9866-564E0E54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FE17B-80E3-42B6-84F6-593C618C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3002-122F-45B6-A975-A8CCE632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DC59-68D4-4014-851A-D74F40C91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33E7-3BD8-4031-A938-1AC3511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AC8A7-C9DC-4325-A7B8-A64A57C3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D8D50-203B-4B99-A67E-70EF1FAD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94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CB31-C280-4DAC-A826-A65F462E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7EEF3-F708-4E7B-A7F5-A5A881082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9BA15-E1C5-4A90-8CB3-5DBB941D1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FCE9B-DE4D-405B-BFED-05E9C15E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4F8D1-1C21-4893-9B88-5FB2C6FF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4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3EC7-23CD-4FB2-9F7C-104290EE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A5504-047D-4164-BE9B-B31FB1199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8A5B9-DE8E-43DC-BAA5-82C1D4A1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EE097-D174-48E5-BF49-D343C5C0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3F4F5-AB31-4386-988D-740A60DE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D71DE-5D10-4DA5-ADE1-626AAA61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2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7453-0365-49D9-974F-840C9B39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DFF35-FC90-44F9-88D5-83A1B981D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C4B2F-5623-4074-956F-ABA12E413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52255-0990-4028-BA06-33A3DDECB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61AFF-0832-4D7C-B59D-497FAC0A6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99AB7-AA79-483F-A930-7C044A64E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DEA14-D115-475E-99E1-E9A95292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89225-2FE3-4010-91BF-51BB1B36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7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7519-6E35-46E5-97A4-F40F5BA8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97B4C-0823-401C-9AB7-B879A0E6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36E9F-2F18-4668-9043-F110A83D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A8241-DE33-46FF-B9FE-C303CD35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09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8488C-489F-4C32-A49B-708D4CAC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EE295-99E3-409A-BDE0-E5EF9510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E92F3-8FB7-4FA0-8CAD-CA772857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224C-591C-4B6D-9981-9A00EF84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9C71-79F6-433E-8885-1667ADB7C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56910-5BE5-4750-8834-11E542598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AE6A-EF28-4439-8B68-22A4A458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C851C-CD31-4A42-AE36-71D61278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53E68-DD2D-4250-923E-7A1DA36C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108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CA5F-E3AC-4F30-BB43-F442F1B8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C52BEA-B434-40FD-BF28-4E87D6FBD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9FEF4-E370-4561-9EF1-F2E750B45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7FD8D-5FB0-4BF2-BA18-04E48BB6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6D3CF-8F68-4D79-8DF4-7958CF56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726E6-AE38-4B4A-9273-A5153AC2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62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DBFC-9A81-406A-B05E-C10EB9EF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8610-7D84-4498-A753-73697C812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9280-8A6A-4629-A4CF-48AC383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F3D53-400F-482F-B7BA-80294AD8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B6472-74D2-4F16-991C-50B9DE36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74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76306E-C3EA-4B9F-AA21-0597172AA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3F310-FA35-4C27-9515-2F3847896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37DE9-0B0E-4D15-BBAB-33E3ED39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905E-07BE-4F72-8219-0CD262A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16D40-F14A-40DD-AE33-F9CE64F8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7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13100-D274-46CE-AF92-8D6F6DFA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1B615-5AA5-493D-BB2B-525BD677D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5C5A7-6C3C-4366-A012-032306CF0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20AA-3A11-4685-95C0-00D3D99026A0}" type="datetimeFigureOut">
              <a:rPr lang="en-IN" smtClean="0"/>
              <a:t>27/08/24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D78CA-6738-4F06-935B-828E83E4A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6728F-AC7D-40C0-B6A8-44C7794F4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3C6BA-D4FF-4D23-90F9-D7CF13400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0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EB06-18B1-48E6-9B80-E4BFA9FD1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Error Correction(7bit data)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8CF88-FD58-40CF-9A6E-FA05E79FBB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25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</a:t>
            </a:r>
          </a:p>
        </p:txBody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~ can be handled in two ways</a:t>
            </a:r>
          </a:p>
          <a:p>
            <a:pPr>
              <a:buFont typeface="Wingdings" pitchFamily="2" charset="2"/>
              <a:buNone/>
            </a:pPr>
            <a:endParaRPr lang="en-US" altLang="ko-KR">
              <a:solidFill>
                <a:srgbClr val="000000"/>
              </a:solidFill>
              <a:sym typeface="Monotype Sort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  <a:sym typeface="Monotype Sorts" pitchFamily="2" charset="2"/>
              </a:rPr>
              <a:t></a:t>
            </a:r>
            <a:r>
              <a:rPr lang="en-US" altLang="ko-KR">
                <a:solidFill>
                  <a:srgbClr val="000000"/>
                </a:solidFill>
              </a:rPr>
              <a:t> when an error is discovered, the receiver can have the sender retransmit the entire data unit.</a:t>
            </a:r>
          </a:p>
          <a:p>
            <a:pPr>
              <a:buFont typeface="Wingdings" pitchFamily="2" charset="2"/>
              <a:buNone/>
            </a:pPr>
            <a:endParaRPr lang="en-US" altLang="ko-KR">
              <a:solidFill>
                <a:srgbClr val="000000"/>
              </a:solidFill>
              <a:sym typeface="Monotype Sort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  <a:sym typeface="Monotype Sorts" pitchFamily="2" charset="2"/>
              </a:rPr>
              <a:t> </a:t>
            </a:r>
            <a:r>
              <a:rPr lang="en-US" altLang="ko-KR">
                <a:solidFill>
                  <a:srgbClr val="000000"/>
                </a:solidFill>
              </a:rPr>
              <a:t>a receiver can use an error-correcting code, which automatically corrects certain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Single-Bit Error Correction</a:t>
            </a:r>
          </a:p>
          <a:p>
            <a:pPr lvl="1"/>
            <a:r>
              <a:rPr lang="en-US" altLang="ko-KR">
                <a:solidFill>
                  <a:srgbClr val="000000"/>
                </a:solidFill>
              </a:rPr>
              <a:t> parity bit</a:t>
            </a:r>
          </a:p>
          <a:p>
            <a:pPr lvl="1"/>
            <a:r>
              <a:rPr lang="en-US" altLang="ko-KR">
                <a:solidFill>
                  <a:srgbClr val="000000"/>
                </a:solidFill>
              </a:rPr>
              <a:t> The secret of error correction is to locate the invalid bit or bits </a:t>
            </a:r>
          </a:p>
          <a:p>
            <a:pPr lvl="1"/>
            <a:r>
              <a:rPr lang="en-US" altLang="ko-KR">
                <a:solidFill>
                  <a:srgbClr val="000000"/>
                </a:solidFill>
              </a:rPr>
              <a:t> For ASCII code, it needs a three-bit redundancy code(000-111)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Redundancy Bits</a:t>
            </a:r>
          </a:p>
          <a:p>
            <a:pP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~ to calculate the number of redundancy bits (R) required to correct a given number of data bit (M)</a:t>
            </a:r>
          </a:p>
        </p:txBody>
      </p:sp>
      <p:pic>
        <p:nvPicPr>
          <p:cNvPr id="64000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5646" y="3435873"/>
            <a:ext cx="7737231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If the total number of bits in a transmittable unit is m+r, then r must be able to indicate at least m+r+1 different states</a:t>
            </a:r>
          </a:p>
          <a:p>
            <a:pPr fontAlgn="t"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	 2</a:t>
            </a:r>
            <a:r>
              <a:rPr lang="en-US" altLang="ko-KR" baseline="30000">
                <a:solidFill>
                  <a:srgbClr val="000000"/>
                </a:solidFill>
              </a:rPr>
              <a:t>r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en-US" altLang="ko-KR">
                <a:solidFill>
                  <a:srgbClr val="000000"/>
                </a:solidFill>
                <a:sym typeface="Symbol" pitchFamily="18" charset="2"/>
              </a:rPr>
              <a:t></a:t>
            </a:r>
            <a:r>
              <a:rPr lang="en-US" altLang="ko-KR">
                <a:solidFill>
                  <a:srgbClr val="000000"/>
                </a:solidFill>
              </a:rPr>
              <a:t> m + r + 1</a:t>
            </a:r>
          </a:p>
          <a:p>
            <a:pPr>
              <a:buFont typeface="Wingdings" pitchFamily="2" charset="2"/>
              <a:buNone/>
            </a:pPr>
            <a:endParaRPr lang="en-US" altLang="ko-KR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ex) For value of  m is 7(ASCII), the smallest r value   that can satisfy this equation is 4 </a:t>
            </a:r>
          </a:p>
          <a:p>
            <a:pPr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	2</a:t>
            </a:r>
            <a:r>
              <a:rPr lang="en-US" altLang="ko-KR" baseline="30000">
                <a:solidFill>
                  <a:srgbClr val="000000"/>
                </a:solidFill>
              </a:rPr>
              <a:t>4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en-US" altLang="ko-KR">
                <a:solidFill>
                  <a:srgbClr val="000000"/>
                </a:solidFill>
                <a:sym typeface="Symbol" pitchFamily="18" charset="2"/>
              </a:rPr>
              <a:t></a:t>
            </a:r>
            <a:r>
              <a:rPr lang="en-US" altLang="ko-KR">
                <a:solidFill>
                  <a:srgbClr val="000000"/>
                </a:solidFill>
              </a:rPr>
              <a:t> 7 + 4 + 1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Relationship between data and redundancy bits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288492" y="2533615"/>
            <a:ext cx="7624396" cy="3835400"/>
            <a:chOff x="517" y="1488"/>
            <a:chExt cx="5203" cy="2416"/>
          </a:xfrm>
        </p:grpSpPr>
        <p:sp>
          <p:nvSpPr>
            <p:cNvPr id="642052" name="Rectangle 4"/>
            <p:cNvSpPr>
              <a:spLocks noChangeArrowheads="1"/>
            </p:cNvSpPr>
            <p:nvPr/>
          </p:nvSpPr>
          <p:spPr bwMode="auto">
            <a:xfrm>
              <a:off x="520" y="1488"/>
              <a:ext cx="5200" cy="240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3" name="Line 5"/>
            <p:cNvSpPr>
              <a:spLocks noChangeShapeType="1"/>
            </p:cNvSpPr>
            <p:nvPr/>
          </p:nvSpPr>
          <p:spPr bwMode="auto">
            <a:xfrm>
              <a:off x="520" y="1968"/>
              <a:ext cx="52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4" name="Line 6"/>
            <p:cNvSpPr>
              <a:spLocks noChangeShapeType="1"/>
            </p:cNvSpPr>
            <p:nvPr/>
          </p:nvSpPr>
          <p:spPr bwMode="auto">
            <a:xfrm>
              <a:off x="2184" y="1488"/>
              <a:ext cx="0" cy="24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5" name="Line 7"/>
            <p:cNvSpPr>
              <a:spLocks noChangeShapeType="1"/>
            </p:cNvSpPr>
            <p:nvPr/>
          </p:nvSpPr>
          <p:spPr bwMode="auto">
            <a:xfrm>
              <a:off x="4524" y="1488"/>
              <a:ext cx="4" cy="241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6" name="Text Box 8"/>
            <p:cNvSpPr txBox="1">
              <a:spLocks noChangeArrowheads="1"/>
            </p:cNvSpPr>
            <p:nvPr/>
          </p:nvSpPr>
          <p:spPr bwMode="auto">
            <a:xfrm>
              <a:off x="517" y="1498"/>
              <a:ext cx="1673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latinLnBrk="1" hangingPunct="1"/>
              <a:r>
                <a:rPr lang="en-US" altLang="ko-KR" sz="2000" b="1" dirty="0">
                  <a:latin typeface="Times New Roman" pitchFamily="18" charset="0"/>
                  <a:ea typeface="굴림" pitchFamily="50" charset="-127"/>
                </a:rPr>
                <a:t>Number of Data Bits</a:t>
              </a:r>
            </a:p>
            <a:p>
              <a:pPr algn="ctr" eaLnBrk="1" latinLnBrk="1" hangingPunct="1"/>
              <a:r>
                <a:rPr lang="en-US" altLang="ko-KR" sz="2000" b="1" dirty="0">
                  <a:latin typeface="Times New Roman" pitchFamily="18" charset="0"/>
                  <a:ea typeface="굴림" pitchFamily="50" charset="-127"/>
                </a:rPr>
                <a:t>(m)</a:t>
              </a:r>
            </a:p>
          </p:txBody>
        </p:sp>
        <p:sp>
          <p:nvSpPr>
            <p:cNvPr id="642057" name="Text Box 9"/>
            <p:cNvSpPr txBox="1">
              <a:spLocks noChangeArrowheads="1"/>
            </p:cNvSpPr>
            <p:nvPr/>
          </p:nvSpPr>
          <p:spPr bwMode="auto">
            <a:xfrm>
              <a:off x="2224" y="1491"/>
              <a:ext cx="225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latinLnBrk="1" hangingPunct="1"/>
              <a:r>
                <a:rPr lang="en-US" altLang="ko-KR" sz="2000" b="1" dirty="0">
                  <a:latin typeface="Times New Roman" pitchFamily="18" charset="0"/>
                  <a:ea typeface="굴림" pitchFamily="50" charset="-127"/>
                </a:rPr>
                <a:t>Number of Redundancy Bits</a:t>
              </a:r>
            </a:p>
            <a:p>
              <a:pPr algn="ctr" eaLnBrk="1" latinLnBrk="1" hangingPunct="1"/>
              <a:r>
                <a:rPr lang="en-US" altLang="ko-KR" sz="2000" b="1" dirty="0">
                  <a:latin typeface="Times New Roman" pitchFamily="18" charset="0"/>
                  <a:ea typeface="굴림" pitchFamily="50" charset="-127"/>
                </a:rPr>
                <a:t>(r)</a:t>
              </a:r>
            </a:p>
          </p:txBody>
        </p:sp>
        <p:sp>
          <p:nvSpPr>
            <p:cNvPr id="642058" name="Text Box 10"/>
            <p:cNvSpPr txBox="1">
              <a:spLocks noChangeArrowheads="1"/>
            </p:cNvSpPr>
            <p:nvPr/>
          </p:nvSpPr>
          <p:spPr bwMode="auto">
            <a:xfrm>
              <a:off x="4665" y="1497"/>
              <a:ext cx="843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latinLnBrk="1" hangingPunct="1"/>
              <a:r>
                <a:rPr lang="en-US" altLang="ko-KR" sz="2000" b="1">
                  <a:latin typeface="Times New Roman" pitchFamily="18" charset="0"/>
                  <a:ea typeface="굴림" pitchFamily="50" charset="-127"/>
                </a:rPr>
                <a:t>Total Bits</a:t>
              </a:r>
            </a:p>
            <a:p>
              <a:pPr algn="ctr" eaLnBrk="1" latinLnBrk="1" hangingPunct="1"/>
              <a:r>
                <a:rPr lang="en-US" altLang="ko-KR" sz="2000" b="1">
                  <a:latin typeface="Times New Roman" pitchFamily="18" charset="0"/>
                  <a:ea typeface="굴림" pitchFamily="50" charset="-127"/>
                </a:rPr>
                <a:t>(m+r)</a:t>
              </a:r>
            </a:p>
          </p:txBody>
        </p:sp>
        <p:sp>
          <p:nvSpPr>
            <p:cNvPr id="642059" name="Text Box 11"/>
            <p:cNvSpPr txBox="1">
              <a:spLocks noChangeArrowheads="1"/>
            </p:cNvSpPr>
            <p:nvPr/>
          </p:nvSpPr>
          <p:spPr bwMode="auto">
            <a:xfrm>
              <a:off x="1235" y="1986"/>
              <a:ext cx="231" cy="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1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2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3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4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5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6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 dirty="0">
                  <a:latin typeface="Times New Roman" pitchFamily="18" charset="0"/>
                  <a:ea typeface="굴림" pitchFamily="50" charset="-127"/>
                </a:rPr>
                <a:t>7</a:t>
              </a:r>
            </a:p>
          </p:txBody>
        </p:sp>
        <p:sp>
          <p:nvSpPr>
            <p:cNvPr id="642060" name="Text Box 12"/>
            <p:cNvSpPr txBox="1">
              <a:spLocks noChangeArrowheads="1"/>
            </p:cNvSpPr>
            <p:nvPr/>
          </p:nvSpPr>
          <p:spPr bwMode="auto">
            <a:xfrm>
              <a:off x="3201" y="1991"/>
              <a:ext cx="231" cy="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2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3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3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3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4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4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4</a:t>
              </a:r>
            </a:p>
          </p:txBody>
        </p:sp>
        <p:sp>
          <p:nvSpPr>
            <p:cNvPr id="642061" name="Text Box 13"/>
            <p:cNvSpPr txBox="1">
              <a:spLocks noChangeArrowheads="1"/>
            </p:cNvSpPr>
            <p:nvPr/>
          </p:nvSpPr>
          <p:spPr bwMode="auto">
            <a:xfrm>
              <a:off x="4945" y="2004"/>
              <a:ext cx="336" cy="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3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5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6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7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9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10</a:t>
              </a:r>
            </a:p>
            <a:p>
              <a:pPr algn="ctr" eaLnBrk="1" latinLnBrk="1" hangingPunct="1">
                <a:lnSpc>
                  <a:spcPct val="110000"/>
                </a:lnSpc>
              </a:pPr>
              <a:r>
                <a:rPr lang="en-US" altLang="ko-KR" sz="2400">
                  <a:latin typeface="Times New Roman" pitchFamily="18" charset="0"/>
                  <a:ea typeface="굴림" pitchFamily="50" charset="-127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>
                <a:solidFill>
                  <a:srgbClr val="000000"/>
                </a:solidFill>
              </a:rPr>
              <a:t>Hamming Code</a:t>
            </a:r>
          </a:p>
          <a:p>
            <a:pPr algn="just"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	~ developed by R.W.Hamming</a:t>
            </a:r>
          </a:p>
          <a:p>
            <a:pPr algn="just"/>
            <a:r>
              <a:rPr lang="en-US" altLang="ko-KR">
                <a:solidFill>
                  <a:srgbClr val="000000"/>
                </a:solidFill>
              </a:rPr>
              <a:t>positions of redundancy bits in Hamming code</a:t>
            </a:r>
          </a:p>
        </p:txBody>
      </p:sp>
      <p:pic>
        <p:nvPicPr>
          <p:cNvPr id="64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5547" y="3476625"/>
            <a:ext cx="82296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each r bit is the VRC bit for one combination of data bits</a:t>
            </a:r>
          </a:p>
          <a:p>
            <a:pPr lvl="1"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r</a:t>
            </a:r>
            <a:r>
              <a:rPr lang="en-US" altLang="ko-KR" baseline="-25000">
                <a:solidFill>
                  <a:srgbClr val="000000"/>
                </a:solidFill>
              </a:rPr>
              <a:t>1</a:t>
            </a:r>
            <a:r>
              <a:rPr lang="en-US" altLang="ko-KR">
                <a:solidFill>
                  <a:srgbClr val="000000"/>
                </a:solidFill>
              </a:rPr>
              <a:t>  =  bits 1, 3, 5, 7, 9, 11</a:t>
            </a:r>
          </a:p>
          <a:p>
            <a:pPr lvl="1"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r</a:t>
            </a:r>
            <a:r>
              <a:rPr lang="en-US" altLang="ko-KR" baseline="-25000">
                <a:solidFill>
                  <a:srgbClr val="000000"/>
                </a:solidFill>
              </a:rPr>
              <a:t>2</a:t>
            </a:r>
            <a:r>
              <a:rPr lang="en-US" altLang="ko-KR">
                <a:solidFill>
                  <a:srgbClr val="000000"/>
                </a:solidFill>
              </a:rPr>
              <a:t>  =  bits 2, 3, 6, 7, 10, 11</a:t>
            </a:r>
          </a:p>
          <a:p>
            <a:pPr lvl="1"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r</a:t>
            </a:r>
            <a:r>
              <a:rPr lang="en-US" altLang="ko-KR" baseline="-25000">
                <a:solidFill>
                  <a:srgbClr val="000000"/>
                </a:solidFill>
              </a:rPr>
              <a:t>4</a:t>
            </a:r>
            <a:r>
              <a:rPr lang="en-US" altLang="ko-KR">
                <a:solidFill>
                  <a:srgbClr val="000000"/>
                </a:solidFill>
              </a:rPr>
              <a:t>  =  bits 4, 5, 6, 7</a:t>
            </a:r>
          </a:p>
          <a:p>
            <a:pPr lvl="1"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</a:rPr>
              <a:t>r</a:t>
            </a:r>
            <a:r>
              <a:rPr lang="en-US" altLang="ko-KR" baseline="-25000">
                <a:solidFill>
                  <a:srgbClr val="000000"/>
                </a:solidFill>
              </a:rPr>
              <a:t>8</a:t>
            </a:r>
            <a:r>
              <a:rPr lang="en-US" altLang="ko-KR">
                <a:solidFill>
                  <a:srgbClr val="000000"/>
                </a:solidFill>
              </a:rPr>
              <a:t>  =  bits 8, 9, 10,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Redundancy bits calculation(cont’d)</a:t>
            </a:r>
            <a:endParaRPr lang="en-US" altLang="ko-KR"/>
          </a:p>
        </p:txBody>
      </p:sp>
      <p:graphicFrame>
        <p:nvGraphicFramePr>
          <p:cNvPr id="645124" name="Object 4"/>
          <p:cNvGraphicFramePr>
            <a:graphicFrameLocks noChangeAspect="1"/>
          </p:cNvGraphicFramePr>
          <p:nvPr/>
        </p:nvGraphicFramePr>
        <p:xfrm>
          <a:off x="3493478" y="1676402"/>
          <a:ext cx="5627077" cy="427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755383" imgH="6137663" progId="">
                  <p:embed/>
                </p:oleObj>
              </mc:Choice>
              <mc:Fallback>
                <p:oleObj name="Image" r:id="rId2" imgW="8755383" imgH="6137663" progId="">
                  <p:embed/>
                  <p:pic>
                    <p:nvPicPr>
                      <p:cNvPr id="64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3478" y="1676402"/>
                        <a:ext cx="5627077" cy="427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Redundancy bits calculation</a:t>
            </a:r>
          </a:p>
        </p:txBody>
      </p:sp>
      <p:graphicFrame>
        <p:nvGraphicFramePr>
          <p:cNvPr id="646148" name="Object 4"/>
          <p:cNvGraphicFramePr>
            <a:graphicFrameLocks noChangeAspect="1"/>
          </p:cNvGraphicFramePr>
          <p:nvPr/>
        </p:nvGraphicFramePr>
        <p:xfrm>
          <a:off x="3634155" y="1524000"/>
          <a:ext cx="5627077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755383" imgH="6137663" progId="">
                  <p:embed/>
                </p:oleObj>
              </mc:Choice>
              <mc:Fallback>
                <p:oleObj name="Image" r:id="rId2" imgW="8755383" imgH="6137663" progId="">
                  <p:embed/>
                  <p:pic>
                    <p:nvPicPr>
                      <p:cNvPr id="646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4155" y="1524000"/>
                        <a:ext cx="5627077" cy="427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60287"/>
            <a:ext cx="7927731" cy="5334000"/>
          </a:xfrm>
        </p:spPr>
        <p:txBody>
          <a:bodyPr/>
          <a:lstStyle/>
          <a:p>
            <a:pPr algn="just"/>
            <a:r>
              <a:rPr lang="en-US" altLang="ko-KR">
                <a:solidFill>
                  <a:srgbClr val="000000"/>
                </a:solidFill>
              </a:rPr>
              <a:t>Calculating the r values</a:t>
            </a:r>
            <a:endParaRPr lang="en-US" altLang="ko-KR"/>
          </a:p>
        </p:txBody>
      </p:sp>
      <p:sp>
        <p:nvSpPr>
          <p:cNvPr id="647173" name="Text Box 5"/>
          <p:cNvSpPr txBox="1">
            <a:spLocks noChangeArrowheads="1"/>
          </p:cNvSpPr>
          <p:nvPr/>
        </p:nvSpPr>
        <p:spPr bwMode="auto">
          <a:xfrm>
            <a:off x="7971694" y="2832100"/>
            <a:ext cx="2350067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Calculating Even Parity</a:t>
            </a:r>
            <a:endParaRPr lang="en-US" altLang="ko-KR"/>
          </a:p>
        </p:txBody>
      </p:sp>
      <p:pic>
        <p:nvPicPr>
          <p:cNvPr id="64717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0885" y="1347335"/>
            <a:ext cx="5697415" cy="541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Error Detection and Correction</a:t>
            </a:r>
          </a:p>
        </p:txBody>
      </p:sp>
      <p:pic>
        <p:nvPicPr>
          <p:cNvPr id="64820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5354" y="2743202"/>
            <a:ext cx="8581292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57330" y="674818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877747"/>
            <a:ext cx="7927731" cy="5334000"/>
          </a:xfrm>
        </p:spPr>
        <p:txBody>
          <a:bodyPr/>
          <a:lstStyle/>
          <a:p>
            <a:pPr algn="just"/>
            <a:r>
              <a:rPr lang="en-US" altLang="ko-KR" dirty="0">
                <a:solidFill>
                  <a:srgbClr val="000000"/>
                </a:solidFill>
              </a:rPr>
              <a:t>Error detection using Hamming Code</a:t>
            </a:r>
            <a:endParaRPr lang="en-US" altLang="ko-KR" dirty="0"/>
          </a:p>
        </p:txBody>
      </p:sp>
      <p:pic>
        <p:nvPicPr>
          <p:cNvPr id="6492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6210" y="322716"/>
            <a:ext cx="4598377" cy="575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Multiple-Bit Error Correction</a:t>
            </a:r>
          </a:p>
          <a:p>
            <a:pPr lvl="1"/>
            <a:r>
              <a:rPr lang="en-US" altLang="ko-KR">
                <a:solidFill>
                  <a:srgbClr val="000000"/>
                </a:solidFill>
              </a:rPr>
              <a:t> redundancy bits calculated on overlapping sets of data units can also be used to correct multiple-bit errors.</a:t>
            </a:r>
          </a:p>
          <a:p>
            <a:pPr lvl="1">
              <a:buFont typeface="Wingdings" pitchFamily="2" charset="2"/>
              <a:buNone/>
            </a:pPr>
            <a:r>
              <a:rPr lang="en-US" altLang="ko-KR" b="0"/>
              <a:t>Ex) to correct double-bit errors, we must take into consideration that two bits can be a combination of any two bits in the entire sequence</a:t>
            </a:r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439</Words>
  <Application>Microsoft Macintosh PowerPoint</Application>
  <PresentationFormat>Widescreen</PresentationFormat>
  <Paragraphs>75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Monotype Sorts</vt:lpstr>
      <vt:lpstr>Symbol</vt:lpstr>
      <vt:lpstr>Times New Roman</vt:lpstr>
      <vt:lpstr>Wingdings</vt:lpstr>
      <vt:lpstr>Office Theme</vt:lpstr>
      <vt:lpstr>Image</vt:lpstr>
      <vt:lpstr>Error Correction(7bit data)</vt:lpstr>
      <vt:lpstr>Error Correction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  <vt:lpstr>Error Correction(cont’d)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Apoorva Karnwal</cp:lastModifiedBy>
  <cp:revision>5</cp:revision>
  <dcterms:created xsi:type="dcterms:W3CDTF">2023-05-19T15:27:57Z</dcterms:created>
  <dcterms:modified xsi:type="dcterms:W3CDTF">2024-08-27T16:29:43Z</dcterms:modified>
</cp:coreProperties>
</file>