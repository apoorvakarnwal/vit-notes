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0CFE-A792-E617-372D-0CC495E82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74D95-C35F-E025-2E32-B0FBD72B1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D4CF8-62AB-A8F4-43E1-4CEC06241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DD222-4A91-58CD-FAB8-80D945EEF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52CB1-655B-5DD9-3EFC-E8742849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51B1B-E380-8339-36B3-57607E8A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CDB8-6CEB-6F5A-50D6-31BB8F95C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4077F-E0FA-F8A0-D62A-AE21A935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6DF6D-6168-D385-0B82-F436695A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5802C-4C8A-2413-DEF4-7C010181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251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DF754-4603-BD27-4B3B-3283051A1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DE6FA-8230-B746-9C57-B16DEE988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4EE18-8024-196E-FACE-38CCA454C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4E7F-9BC4-42A5-C9B0-5AF5D488E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CC51A-0238-8527-035F-50AE2A86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42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B314A-61BD-358C-1299-469F7CEED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3F441-1026-163C-7B17-4324C5EF3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60B7F-B829-D536-A380-0044C3467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BEBC3-6D12-70BD-8FD1-90967F88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67827-833A-302E-DF40-B488EF0BF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D9381-1D62-3FAC-B8A7-DB060349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24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0203-5C1A-595A-6E09-30B8BD9C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07E97-FA5B-B45E-1053-56D8D60D5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D10F2-63E6-49C0-6834-49EE0EE89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018C5-1872-69C9-9DB2-5D03B7639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6D5E1-7F28-9BB5-C492-249697E9D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D049D-042D-2875-2731-5602CC25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B9DEFB-C312-E429-9CD4-240D4611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951FF-3F33-89CA-F7D1-A739312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22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0B87-D846-335C-75CD-5CC994E67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95394-0C26-FA88-5DC6-D00A1BC6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FEBA54-467F-CAE5-35F8-39C6FE57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D64E1-4D8B-1A45-A0C0-FDD127F3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3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B8930-8284-2744-575E-C63F1FFD4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4D46B-D00E-0B57-0E2E-6FD645E9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1E9D4-55A7-7FF7-1157-B39D7021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43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68F5-00D5-C4BE-3E5B-A24C09B4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6BA3D-931A-D435-306D-8B8B231E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F934C-8561-920A-18B2-F3BC11AF8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1AEB9-B087-5465-FB8E-C62FB5D9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C12E3-37BC-854D-05F5-2B15C368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EA9FE-6A6A-A2CB-FB7E-5D0F4B32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54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2A0C-2325-DCDB-F4C1-1A89EDEE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BA3581-11C9-F09C-3644-674C62B2B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458ED-8C64-598E-4164-19FDABF69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B6280-FE27-6607-80AD-325A6F5B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8155D-BDD5-369C-00AD-1E06533A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D40F6-2CE6-B32B-F607-EC1DB8E9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167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92426-5471-963E-E913-D596FBF3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BB1D2-09FE-2027-29AC-2956D1D4A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2C87E-90C7-46B3-48AE-653E838A4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A7AD8-2B6C-8C32-FA6A-F4E4A581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DBEA6-5531-4110-B816-B7DC681A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89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DC596-FB2F-0607-47D4-9B429AC07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3930E-3933-51F7-A852-CEBB49A84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F0908-20DE-10F1-CAE0-D9C21841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0F56-BD6D-3A3C-495A-85765859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EF71-9623-9A35-5B88-F3DC5CA4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32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D13AA-28F6-E90D-2719-4BF39051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13478-9CB3-CC4E-337D-15BB881E6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8A73C-33C0-E2D0-48A6-5F1CCDC40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68BA3-3219-4395-BCEE-54575404EB5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C88F5-6D10-757B-BA35-6E5A5B7B0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FCBC5-4F51-018D-02C8-0F1D41589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B7A3E-919A-4734-9A8C-F862189B2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5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55B12-B87F-7262-7115-DE295C9E88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QUALITY OF 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14EBA-11B9-66EF-4144-8D2EB7B7A7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561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4B30-11EC-CCAA-0AE8-9A8B1649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90B76-1F32-FFB6-7642-09F14622E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DC25A-7981-0E1A-B782-D71D57465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48" y="1912488"/>
            <a:ext cx="104522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2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2F00A-74B3-D115-6751-CA375CD4E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255"/>
            <a:ext cx="10515600" cy="52927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Reliability</a:t>
            </a:r>
          </a:p>
          <a:p>
            <a:pPr marL="0" indent="0">
              <a:buNone/>
            </a:pPr>
            <a:r>
              <a:rPr lang="en-US" dirty="0"/>
              <a:t> Reliability is a characteristic that a flow needs. Lack of reliability means losing a packet or acknowledgment, which entails retransmission.</a:t>
            </a:r>
          </a:p>
          <a:p>
            <a:r>
              <a:rPr lang="en-US" dirty="0">
                <a:solidFill>
                  <a:srgbClr val="FF0000"/>
                </a:solidFill>
              </a:rPr>
              <a:t>Delay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Source-to-destination delay is another flow characteristic. Again applications can tolerate delay in different degrees.</a:t>
            </a:r>
          </a:p>
          <a:p>
            <a:r>
              <a:rPr lang="en-US" dirty="0">
                <a:solidFill>
                  <a:srgbClr val="FF0000"/>
                </a:solidFill>
              </a:rPr>
              <a:t>Bandwidth</a:t>
            </a:r>
          </a:p>
          <a:p>
            <a:pPr marL="0" indent="0">
              <a:buNone/>
            </a:pPr>
            <a:r>
              <a:rPr lang="en-US" dirty="0"/>
              <a:t> Different applications need different bandwidths. In video conferencing we need to send millions of bits per second to refresh a color screen while the total number of bits in an e-mail may not reach even a million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02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80371-8E37-5D8F-C555-CEDF1D95C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95" y="371789"/>
            <a:ext cx="10710705" cy="5805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Jitter</a:t>
            </a:r>
          </a:p>
          <a:p>
            <a:r>
              <a:rPr lang="en-US" dirty="0"/>
              <a:t> Jitter is the variation in delay for packets belonging to the same flow. For example, if four packets depart at times 0, 1, 2, 3 and arrive at 20, 21, 22, 23, all have the same delay, 20 units of time. </a:t>
            </a:r>
          </a:p>
          <a:p>
            <a:r>
              <a:rPr lang="en-US" dirty="0"/>
              <a:t>On the other hand, if the above four packets arrive at 21, 23, 21, and 28, they will have different delays: 21,22, 19, and 24. </a:t>
            </a:r>
          </a:p>
          <a:p>
            <a:r>
              <a:rPr lang="en-US" dirty="0"/>
              <a:t>For applications such as audio and video, the first case is completely acceptable; the second case is not.</a:t>
            </a:r>
          </a:p>
          <a:p>
            <a:r>
              <a:rPr lang="en-US" dirty="0"/>
              <a:t>Jitter is defined as the variation in the packet delay. </a:t>
            </a:r>
          </a:p>
          <a:p>
            <a:r>
              <a:rPr lang="en-US" dirty="0"/>
              <a:t>High jitter means the difference between delays is large; low jitter means the variation is small.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6536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76A1-56B8-E066-DFBD-9D3C6D2C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TECHNIQUES TO IMPROVE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295D1-C920-00AB-2A87-6DD3421F0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Techniques that can be used to improve the quality of service</a:t>
            </a:r>
          </a:p>
          <a:p>
            <a:r>
              <a:rPr lang="en-US" dirty="0">
                <a:solidFill>
                  <a:srgbClr val="FF0000"/>
                </a:solidFill>
              </a:rPr>
              <a:t>Scheduling-</a:t>
            </a:r>
            <a:r>
              <a:rPr lang="en-US" dirty="0"/>
              <a:t> FIFO, Priority, Weighted Fair</a:t>
            </a:r>
          </a:p>
          <a:p>
            <a:r>
              <a:rPr lang="en-US" dirty="0">
                <a:solidFill>
                  <a:srgbClr val="FF0000"/>
                </a:solidFill>
              </a:rPr>
              <a:t>Traffic shaping- </a:t>
            </a:r>
            <a:r>
              <a:rPr lang="en-US" dirty="0"/>
              <a:t>leaky bucket, token bucket </a:t>
            </a:r>
          </a:p>
          <a:p>
            <a:r>
              <a:rPr lang="en-US" dirty="0">
                <a:solidFill>
                  <a:srgbClr val="FF0000"/>
                </a:solidFill>
              </a:rPr>
              <a:t>Admission control, </a:t>
            </a:r>
          </a:p>
          <a:p>
            <a:r>
              <a:rPr lang="en-US" dirty="0">
                <a:solidFill>
                  <a:srgbClr val="FF0000"/>
                </a:solidFill>
              </a:rPr>
              <a:t>Resource reservation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02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DD88-938C-1251-D4F5-88DD775D9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BEAF3-647F-EF3C-F91F-A0D6833AC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Packets from different flows arrive at a switch or router for processing. A good scheduling technique treats the different flows in a fair and appropriate manner.</a:t>
            </a:r>
          </a:p>
          <a:p>
            <a:pPr marL="0" indent="0">
              <a:buNone/>
            </a:pPr>
            <a:r>
              <a:rPr lang="en-US" dirty="0"/>
              <a:t>Techniques are</a:t>
            </a:r>
          </a:p>
          <a:p>
            <a:r>
              <a:rPr lang="en-US" dirty="0"/>
              <a:t>FIFO Queuing, </a:t>
            </a:r>
          </a:p>
          <a:p>
            <a:r>
              <a:rPr lang="en-US" dirty="0"/>
              <a:t>Priority Queuing, </a:t>
            </a:r>
          </a:p>
          <a:p>
            <a:r>
              <a:rPr lang="en-US" dirty="0"/>
              <a:t>Weighted Fair Queuing.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749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0F22-A9BC-0A4D-85A6-7A7682ED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/>
              <a:t>FIFO Queuing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D5E65-B822-6BA0-D7DB-BCFA7F433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69" y="1102144"/>
            <a:ext cx="10515600" cy="4351338"/>
          </a:xfrm>
        </p:spPr>
        <p:txBody>
          <a:bodyPr/>
          <a:lstStyle/>
          <a:p>
            <a:r>
              <a:rPr lang="en-US" dirty="0"/>
              <a:t>In first-in, first-out (FIFO) queuing, packets wait in a buffer (queue) until the node (router or switch) is ready to process them.</a:t>
            </a:r>
          </a:p>
          <a:p>
            <a:r>
              <a:rPr lang="en-US" dirty="0"/>
              <a:t> If the average arrival rate is higher than the average processing rate, the queue will fill up and new packets will be discarded.</a:t>
            </a:r>
          </a:p>
          <a:p>
            <a:r>
              <a:rPr lang="en-US" dirty="0" err="1"/>
              <a:t>Eg</a:t>
            </a:r>
            <a:r>
              <a:rPr lang="en-US" dirty="0"/>
              <a:t>: Wait for a bus at a bus stop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48EF5-99B8-C622-30AB-D048AFC18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36" y="3445810"/>
            <a:ext cx="10059238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3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E1AF-E9C4-23B1-C674-811175299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9082"/>
          </a:xfrm>
        </p:spPr>
        <p:txBody>
          <a:bodyPr>
            <a:normAutofit fontScale="90000"/>
          </a:bodyPr>
          <a:lstStyle/>
          <a:p>
            <a:r>
              <a:rPr lang="en-US" dirty="0"/>
              <a:t>Priority Queuing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1A99F-5DF4-72A8-5477-F94F384EA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61" y="589677"/>
            <a:ext cx="10515600" cy="4351338"/>
          </a:xfrm>
        </p:spPr>
        <p:txBody>
          <a:bodyPr/>
          <a:lstStyle/>
          <a:p>
            <a:r>
              <a:rPr lang="en-US" dirty="0"/>
              <a:t>In priority queuing, packets are first assigned to a priority class. Each priority class has its own queue. </a:t>
            </a:r>
          </a:p>
          <a:p>
            <a:r>
              <a:rPr lang="en-US" dirty="0"/>
              <a:t>The packets in the highest-priority queue are processed first. Packets in the lowest-priority queue are processed last. </a:t>
            </a:r>
          </a:p>
          <a:p>
            <a:r>
              <a:rPr lang="en-US" dirty="0"/>
              <a:t>Note that the system does not stop serving a queue until it is empty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854F5-6A94-3C1C-1340-F774B920E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204" y="2773703"/>
            <a:ext cx="8911591" cy="400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96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13039-A858-8E69-A543-0ED2F3B2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5F4BA-28E7-5462-1856-78BA2BA51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priority queue can provide better QoS than the FIFO queue because higher priority traffic, such as multimedia, can reach the destination with less delay. </a:t>
            </a:r>
          </a:p>
          <a:p>
            <a:r>
              <a:rPr lang="en-US" dirty="0"/>
              <a:t>However, there is a potential drawback. </a:t>
            </a:r>
          </a:p>
          <a:p>
            <a:r>
              <a:rPr lang="en-US" dirty="0"/>
              <a:t>If there is a continuous flow in a high-priority queue, the packets in the lower-priority queues will never have a chance to be processed. This is a condition called </a:t>
            </a:r>
            <a:r>
              <a:rPr lang="en-US" dirty="0">
                <a:solidFill>
                  <a:srgbClr val="FF0000"/>
                </a:solidFill>
              </a:rPr>
              <a:t>starvation.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80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33C92-7A16-FB9D-5DBF-1870B046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Weighted Fair Queuing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B8D0-88FE-597D-C6BE-33F768101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queues, however, are weighted based on the priority of the queues; higher priority means a higher weight. </a:t>
            </a:r>
          </a:p>
          <a:p>
            <a:r>
              <a:rPr lang="en-US" dirty="0"/>
              <a:t>The system processes packets in each queue in a round-robin fashion with the number of packets selected from each queue based on the corresponding weight. </a:t>
            </a:r>
          </a:p>
          <a:p>
            <a:r>
              <a:rPr lang="en-US" dirty="0"/>
              <a:t>For example, if the weights are 3, 2, and 1, three packets are processed from the first queue, two from the second queue, and one from the third queue.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56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B08B-579E-E63D-CC46-3D9CD660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0F650-E8DB-8E1E-2D36-5326D4C44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04884-BF92-FFA9-F239-1B78CCC78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94" y="834165"/>
            <a:ext cx="9594411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69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D27C9-839D-6537-89DE-EE823BBC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Traffic 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59B39-709B-3C74-3B35-AA5242F44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Traffic shaping is a mechanism to control the amount and the rate of the traffic sent to the network.</a:t>
            </a:r>
          </a:p>
          <a:p>
            <a:r>
              <a:rPr lang="en-US" dirty="0"/>
              <a:t> Two techniques can shape traffic: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leaky bucket and token bucket.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034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E925-73FA-97EB-E805-B59D9F0B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0145"/>
          </a:xfrm>
        </p:spPr>
        <p:txBody>
          <a:bodyPr/>
          <a:lstStyle/>
          <a:p>
            <a:r>
              <a:rPr lang="en-IN" dirty="0"/>
              <a:t>Leaky Bucket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B2C0A-3F7A-AE46-FE4E-2A67C43A2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bucket has a small hole at the bottom, the water leaks from the bucket at a constant rate as long as there is water in the bucket. </a:t>
            </a:r>
          </a:p>
          <a:p>
            <a:r>
              <a:rPr lang="en-US" dirty="0"/>
              <a:t>The rate at which the water leaks does not depend on the rate at which the water is input to the bucket unless the bucket is empty. </a:t>
            </a:r>
          </a:p>
          <a:p>
            <a:r>
              <a:rPr lang="en-US" dirty="0"/>
              <a:t>The input rate can vary, but the output rate remains constant. Similarly, in networking, a technique called leaky bucket can smooth out </a:t>
            </a:r>
            <a:r>
              <a:rPr lang="en-US" dirty="0" err="1"/>
              <a:t>bursty</a:t>
            </a:r>
            <a:r>
              <a:rPr lang="en-US" dirty="0"/>
              <a:t> traffic.</a:t>
            </a:r>
          </a:p>
          <a:p>
            <a:r>
              <a:rPr lang="en-US" dirty="0"/>
              <a:t> </a:t>
            </a:r>
            <a:r>
              <a:rPr lang="en-US" dirty="0" err="1"/>
              <a:t>Bursty</a:t>
            </a:r>
            <a:r>
              <a:rPr lang="en-US" dirty="0"/>
              <a:t> chunks are stored in the bucket and sent out at an average rate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1720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BC50-572C-02F2-B407-FDDFA671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A045-553E-65B2-3164-2466C63EB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8ACB0B-76F4-7395-DBAB-85C512967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06" y="1287594"/>
            <a:ext cx="8405588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91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2ADC0-4AB3-E98E-D9A8-C3AF52FBB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3820"/>
            <a:ext cx="10515600" cy="5383143"/>
          </a:xfrm>
        </p:spPr>
        <p:txBody>
          <a:bodyPr/>
          <a:lstStyle/>
          <a:p>
            <a:r>
              <a:rPr lang="en-US" dirty="0"/>
              <a:t>The host sends a burst of data at a rate of 12 Mbps for 2 s, for a total of 24 </a:t>
            </a:r>
            <a:r>
              <a:rPr lang="en-US" dirty="0" err="1"/>
              <a:t>Mbits</a:t>
            </a:r>
            <a:r>
              <a:rPr lang="en-US" dirty="0"/>
              <a:t> of data. </a:t>
            </a:r>
          </a:p>
          <a:p>
            <a:r>
              <a:rPr lang="en-US" dirty="0"/>
              <a:t>The host is silent for 5 s and then sends data at a rate of 2 Mbps for 3 s, for a total of 6 </a:t>
            </a:r>
            <a:r>
              <a:rPr lang="en-US" dirty="0" err="1"/>
              <a:t>Mbits</a:t>
            </a:r>
            <a:r>
              <a:rPr lang="en-US" dirty="0"/>
              <a:t> of data.</a:t>
            </a:r>
          </a:p>
          <a:p>
            <a:r>
              <a:rPr lang="en-US" dirty="0"/>
              <a:t> In all, the host has sent 30 </a:t>
            </a:r>
            <a:r>
              <a:rPr lang="en-US" dirty="0" err="1"/>
              <a:t>Mbits</a:t>
            </a:r>
            <a:r>
              <a:rPr lang="en-US" dirty="0"/>
              <a:t> of data in </a:t>
            </a:r>
            <a:r>
              <a:rPr lang="en-US" dirty="0" err="1"/>
              <a:t>lOs</a:t>
            </a:r>
            <a:r>
              <a:rPr lang="en-US" dirty="0"/>
              <a:t>.</a:t>
            </a:r>
          </a:p>
          <a:p>
            <a:r>
              <a:rPr lang="en-US" dirty="0"/>
              <a:t> The leaky bucket smooths the traffic by sending out data at a rate of 3 Mbps during the same 10 s. </a:t>
            </a:r>
          </a:p>
          <a:p>
            <a:r>
              <a:rPr lang="en-US" dirty="0"/>
              <a:t>Without the leaky bucket, the beginning burst may have hurt the network by consuming more bandwidth than is set aside for this host.</a:t>
            </a:r>
          </a:p>
          <a:p>
            <a:r>
              <a:rPr lang="en-US" dirty="0"/>
              <a:t>We can also see that the leaky bucket may prevent congestion.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671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8C657-0BA3-9614-0EEF-54B3A40A2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22" y="127454"/>
            <a:ext cx="10515600" cy="4351338"/>
          </a:xfrm>
        </p:spPr>
        <p:txBody>
          <a:bodyPr/>
          <a:lstStyle/>
          <a:p>
            <a:r>
              <a:rPr lang="en-US" dirty="0"/>
              <a:t>The following is an algorithm for variable-length packets:</a:t>
            </a:r>
          </a:p>
          <a:p>
            <a:r>
              <a:rPr lang="en-US" dirty="0"/>
              <a:t> 1. Initialize a counter to n at the tick of the clock. </a:t>
            </a:r>
          </a:p>
          <a:p>
            <a:r>
              <a:rPr lang="en-US" dirty="0"/>
              <a:t>2. If n is greater than the size of the packet, send the packet and decrement the counter by the packet size. Repeat this step until n is smaller than the packet size. </a:t>
            </a:r>
          </a:p>
          <a:p>
            <a:r>
              <a:rPr lang="en-US" dirty="0"/>
              <a:t>3. Reset the counter and go to step 1.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24929-C14D-95A7-6EA5-0AF537514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93" y="2783393"/>
            <a:ext cx="10074520" cy="37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26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CC737-75B7-5CCC-8A5A-8634228B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 Bucket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57660-F023-2B71-A8E1-D3B4A7DA9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host is not sending for a while, its bucket becomes empty.</a:t>
            </a:r>
          </a:p>
          <a:p>
            <a:r>
              <a:rPr lang="en-US" dirty="0"/>
              <a:t>The token bucket algorithm allows idle hosts to accumulate credit for the future in the form of tokens.</a:t>
            </a:r>
          </a:p>
          <a:p>
            <a:r>
              <a:rPr lang="en-US" dirty="0"/>
              <a:t>For each tick of the clock, the system sends n tokens to the bucket.</a:t>
            </a:r>
          </a:p>
          <a:p>
            <a:r>
              <a:rPr lang="en-US" dirty="0"/>
              <a:t>The system removes one token for every cell (or byte) of data sent. For example, if n is 100 and the host is idle for 100 ticks, the bucket collects 10,000 tokens. </a:t>
            </a:r>
          </a:p>
          <a:p>
            <a:r>
              <a:rPr lang="en-US" dirty="0"/>
              <a:t>Now the host can consume all these tokens in one tick with 10,000 cells, or the host takes 1000 ticks with 10 cells per tick.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525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35128-3DF0-BBF7-C277-C1B4D559A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64" y="378663"/>
            <a:ext cx="10515600" cy="4351338"/>
          </a:xfrm>
        </p:spPr>
        <p:txBody>
          <a:bodyPr/>
          <a:lstStyle/>
          <a:p>
            <a:r>
              <a:rPr lang="en-US" dirty="0"/>
              <a:t>The token bucket can easily be implemented with a counter. </a:t>
            </a:r>
          </a:p>
          <a:p>
            <a:r>
              <a:rPr lang="en-US" dirty="0"/>
              <a:t>The token is initialized to zero. Each time a token is added, the counter is incremented by 1. Each time a unit of data is sent, the counter is decremented by 1. </a:t>
            </a:r>
          </a:p>
          <a:p>
            <a:r>
              <a:rPr lang="en-US" dirty="0"/>
              <a:t>When the counter is zero, the host cannot send data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3E4E5-631A-013A-AEF9-54203F5A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420" y="2580276"/>
            <a:ext cx="8312270" cy="429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50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35128-3DF0-BBF7-C277-C1B4D559A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02" y="428903"/>
            <a:ext cx="10515600" cy="61728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Resource Reservation </a:t>
            </a:r>
          </a:p>
          <a:p>
            <a:pPr marL="0" indent="0" algn="just">
              <a:buNone/>
            </a:pPr>
            <a:r>
              <a:rPr lang="en-US" dirty="0"/>
              <a:t>A flow of data needs resources such as a </a:t>
            </a:r>
            <a:r>
              <a:rPr lang="en-US" dirty="0">
                <a:solidFill>
                  <a:srgbClr val="FF0000"/>
                </a:solidFill>
              </a:rPr>
              <a:t>buffer, bandwidth, CPU time, </a:t>
            </a:r>
            <a:r>
              <a:rPr lang="en-US" dirty="0"/>
              <a:t>and so on. The quality of service is improved if these resources are reserved beforehand.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Admission Control </a:t>
            </a:r>
          </a:p>
          <a:p>
            <a:pPr marL="0" indent="0" algn="just">
              <a:buNone/>
            </a:pPr>
            <a:r>
              <a:rPr lang="en-US" dirty="0"/>
              <a:t>Admission control refers to the mechanism used by a router, or a switch, </a:t>
            </a:r>
            <a:r>
              <a:rPr lang="en-US" dirty="0">
                <a:solidFill>
                  <a:srgbClr val="FF0000"/>
                </a:solidFill>
              </a:rPr>
              <a:t>to accept or reject a flow based on predefined parameters </a:t>
            </a:r>
            <a:r>
              <a:rPr lang="en-US" dirty="0"/>
              <a:t>called flow specifications. Before a router accepts a flow for processing, it checks the flow specifications to see if its capacity (in terms of </a:t>
            </a:r>
            <a:r>
              <a:rPr lang="en-US" dirty="0">
                <a:solidFill>
                  <a:srgbClr val="FF0000"/>
                </a:solidFill>
              </a:rPr>
              <a:t>bandwidth, buffer size, CPU speed, </a:t>
            </a:r>
            <a:r>
              <a:rPr lang="en-US" dirty="0"/>
              <a:t>etc.) and its previous commitments to other flows can handle the new 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43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1211</Words>
  <Application>Microsoft Office PowerPoint</Application>
  <PresentationFormat>Widescreen</PresentationFormat>
  <Paragraphs>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QUALITY OF SERVICE</vt:lpstr>
      <vt:lpstr>Flow Characteristics</vt:lpstr>
      <vt:lpstr>PowerPoint Presentation</vt:lpstr>
      <vt:lpstr>PowerPoint Presentation</vt:lpstr>
      <vt:lpstr>TECHNIQUES TO IMPROVE QoS</vt:lpstr>
      <vt:lpstr>Scheduling</vt:lpstr>
      <vt:lpstr>FIFO Queuing</vt:lpstr>
      <vt:lpstr>Priority Queuing</vt:lpstr>
      <vt:lpstr>PowerPoint Presentation</vt:lpstr>
      <vt:lpstr>Weighted Fair Queuing</vt:lpstr>
      <vt:lpstr>PowerPoint Presentation</vt:lpstr>
      <vt:lpstr>Traffic Shaping</vt:lpstr>
      <vt:lpstr>Leaky Bucket</vt:lpstr>
      <vt:lpstr>PowerPoint Presentation</vt:lpstr>
      <vt:lpstr>PowerPoint Presentation</vt:lpstr>
      <vt:lpstr>PowerPoint Presentation</vt:lpstr>
      <vt:lpstr>Token Bucket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OF SERVICE</dc:title>
  <dc:creator>KOPPERUNDEVI RAJAJI</dc:creator>
  <cp:lastModifiedBy>KOPPERUNDEVI RAJAJI</cp:lastModifiedBy>
  <cp:revision>11</cp:revision>
  <dcterms:created xsi:type="dcterms:W3CDTF">2023-07-06T16:56:44Z</dcterms:created>
  <dcterms:modified xsi:type="dcterms:W3CDTF">2024-11-11T03:37:51Z</dcterms:modified>
</cp:coreProperties>
</file>