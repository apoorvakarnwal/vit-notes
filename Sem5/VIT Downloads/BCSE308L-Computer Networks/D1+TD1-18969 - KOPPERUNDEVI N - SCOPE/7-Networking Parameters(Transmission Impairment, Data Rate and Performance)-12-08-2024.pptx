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handoutMasterIdLst>
    <p:handoutMasterId r:id="rId26"/>
  </p:handoutMasterIdLst>
  <p:sldIdLst>
    <p:sldId id="256" r:id="rId2"/>
    <p:sldId id="825" r:id="rId3"/>
    <p:sldId id="826" r:id="rId4"/>
    <p:sldId id="827" r:id="rId5"/>
    <p:sldId id="828" r:id="rId6"/>
    <p:sldId id="829" r:id="rId7"/>
    <p:sldId id="830" r:id="rId8"/>
    <p:sldId id="831" r:id="rId9"/>
    <p:sldId id="832" r:id="rId10"/>
    <p:sldId id="271" r:id="rId11"/>
    <p:sldId id="283" r:id="rId12"/>
    <p:sldId id="281" r:id="rId13"/>
    <p:sldId id="806" r:id="rId14"/>
    <p:sldId id="807" r:id="rId15"/>
    <p:sldId id="809" r:id="rId16"/>
    <p:sldId id="810" r:id="rId17"/>
    <p:sldId id="814" r:id="rId18"/>
    <p:sldId id="815" r:id="rId19"/>
    <p:sldId id="818" r:id="rId20"/>
    <p:sldId id="833" r:id="rId21"/>
    <p:sldId id="819" r:id="rId22"/>
    <p:sldId id="822" r:id="rId23"/>
    <p:sldId id="82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 id="825"/>
            <p14:sldId id="826"/>
            <p14:sldId id="827"/>
            <p14:sldId id="828"/>
            <p14:sldId id="829"/>
            <p14:sldId id="830"/>
            <p14:sldId id="831"/>
            <p14:sldId id="832"/>
          </p14:sldIdLst>
        </p14:section>
        <p14:section name="Design, Morph, Annotate, Work Together, Tell Me" id="{B9B51309-D148-4332-87C2-07BE32FBCA3B}">
          <p14:sldIdLst>
            <p14:sldId id="271"/>
            <p14:sldId id="283"/>
            <p14:sldId id="281"/>
          </p14:sldIdLst>
        </p14:section>
        <p14:section name="Learn More" id="{2CC34DB2-6590-42C0-AD4B-A04C6060184E}">
          <p14:sldIdLst>
            <p14:sldId id="806"/>
            <p14:sldId id="807"/>
            <p14:sldId id="809"/>
            <p14:sldId id="810"/>
            <p14:sldId id="814"/>
            <p14:sldId id="815"/>
            <p14:sldId id="818"/>
            <p14:sldId id="833"/>
            <p14:sldId id="819"/>
            <p14:sldId id="822"/>
            <p14:sldId id="82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61" autoAdjust="0"/>
    <p:restoredTop sz="94241" autoAdjust="0"/>
  </p:normalViewPr>
  <p:slideViewPr>
    <p:cSldViewPr snapToGrid="0">
      <p:cViewPr>
        <p:scale>
          <a:sx n="94" d="100"/>
          <a:sy n="94" d="100"/>
        </p:scale>
        <p:origin x="-152" y="92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8/28/24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8/28/24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FB3C728-D307-C774-80B4-EA200A2DDC6F}"/>
              </a:ext>
            </a:extLst>
          </p:cNvPr>
          <p:cNvSpPr>
            <a:spLocks noGrp="1" noChangeArrowheads="1"/>
          </p:cNvSpPr>
          <p:nvPr>
            <p:ph type="sldNum" sz="quarter" idx="5"/>
          </p:nvPr>
        </p:nvSpPr>
        <p:spPr>
          <a:ln/>
        </p:spPr>
        <p:txBody>
          <a:bodyPr/>
          <a:lstStyle/>
          <a:p>
            <a:fld id="{D23D6D52-B3A1-4054-8C17-0B2425BB526E}" type="slidenum">
              <a:rPr lang="en-US" altLang="en-US"/>
              <a:pPr/>
              <a:t>17</a:t>
            </a:fld>
            <a:endParaRPr lang="en-US" altLang="en-US"/>
          </a:p>
        </p:txBody>
      </p:sp>
      <p:sp>
        <p:nvSpPr>
          <p:cNvPr id="932866" name="Rectangle 2">
            <a:extLst>
              <a:ext uri="{FF2B5EF4-FFF2-40B4-BE49-F238E27FC236}">
                <a16:creationId xmlns:a16="http://schemas.microsoft.com/office/drawing/2014/main" id="{3BEC9559-827F-4799-5BAB-A33799E8928A}"/>
              </a:ext>
            </a:extLst>
          </p:cNvPr>
          <p:cNvSpPr>
            <a:spLocks noGrp="1" noRot="1" noChangeAspect="1" noChangeArrowheads="1" noTextEdit="1"/>
          </p:cNvSpPr>
          <p:nvPr>
            <p:ph type="sldImg"/>
          </p:nvPr>
        </p:nvSpPr>
        <p:spPr>
          <a:ln/>
        </p:spPr>
      </p:sp>
      <p:sp>
        <p:nvSpPr>
          <p:cNvPr id="932867" name="Rectangle 3">
            <a:extLst>
              <a:ext uri="{FF2B5EF4-FFF2-40B4-BE49-F238E27FC236}">
                <a16:creationId xmlns:a16="http://schemas.microsoft.com/office/drawing/2014/main" id="{668C0AA6-5760-D056-B8E0-CBD8E7A3CE2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71AFF1-4F61-3EFD-28AC-1C3F45000420}"/>
              </a:ext>
            </a:extLst>
          </p:cNvPr>
          <p:cNvSpPr>
            <a:spLocks noGrp="1" noChangeArrowheads="1"/>
          </p:cNvSpPr>
          <p:nvPr>
            <p:ph type="sldNum" sz="quarter" idx="5"/>
          </p:nvPr>
        </p:nvSpPr>
        <p:spPr>
          <a:ln/>
        </p:spPr>
        <p:txBody>
          <a:bodyPr/>
          <a:lstStyle/>
          <a:p>
            <a:fld id="{162DCC8B-A5D4-4D9A-960F-8F4C2317927B}" type="slidenum">
              <a:rPr lang="en-US" altLang="en-US"/>
              <a:pPr/>
              <a:t>18</a:t>
            </a:fld>
            <a:endParaRPr lang="en-US" altLang="en-US"/>
          </a:p>
        </p:txBody>
      </p:sp>
      <p:sp>
        <p:nvSpPr>
          <p:cNvPr id="933890" name="Rectangle 2">
            <a:extLst>
              <a:ext uri="{FF2B5EF4-FFF2-40B4-BE49-F238E27FC236}">
                <a16:creationId xmlns:a16="http://schemas.microsoft.com/office/drawing/2014/main" id="{33502967-0681-4B40-D0AF-CE322ADC7D62}"/>
              </a:ext>
            </a:extLst>
          </p:cNvPr>
          <p:cNvSpPr>
            <a:spLocks noGrp="1" noRot="1" noChangeAspect="1" noChangeArrowheads="1" noTextEdit="1"/>
          </p:cNvSpPr>
          <p:nvPr>
            <p:ph type="sldImg"/>
          </p:nvPr>
        </p:nvSpPr>
        <p:spPr>
          <a:ln/>
        </p:spPr>
      </p:sp>
      <p:sp>
        <p:nvSpPr>
          <p:cNvPr id="933891" name="Rectangle 3">
            <a:extLst>
              <a:ext uri="{FF2B5EF4-FFF2-40B4-BE49-F238E27FC236}">
                <a16:creationId xmlns:a16="http://schemas.microsoft.com/office/drawing/2014/main" id="{374797CC-895E-9F83-C85E-F2BFA5A2FC7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15F2CBD-BAF8-0DC3-4FEA-3911C64A701C}"/>
              </a:ext>
            </a:extLst>
          </p:cNvPr>
          <p:cNvSpPr>
            <a:spLocks noGrp="1" noChangeArrowheads="1"/>
          </p:cNvSpPr>
          <p:nvPr>
            <p:ph type="sldNum" sz="quarter" idx="5"/>
          </p:nvPr>
        </p:nvSpPr>
        <p:spPr>
          <a:ln/>
        </p:spPr>
        <p:txBody>
          <a:bodyPr/>
          <a:lstStyle/>
          <a:p>
            <a:fld id="{0D0DCF99-66A5-4C24-AB76-118748913F93}" type="slidenum">
              <a:rPr lang="en-US" altLang="en-US"/>
              <a:pPr/>
              <a:t>19</a:t>
            </a:fld>
            <a:endParaRPr lang="en-US" altLang="en-US"/>
          </a:p>
        </p:txBody>
      </p:sp>
      <p:sp>
        <p:nvSpPr>
          <p:cNvPr id="936962" name="Rectangle 2">
            <a:extLst>
              <a:ext uri="{FF2B5EF4-FFF2-40B4-BE49-F238E27FC236}">
                <a16:creationId xmlns:a16="http://schemas.microsoft.com/office/drawing/2014/main" id="{6EF28FB2-53D8-6346-6B4B-E6A8BC8FA9B3}"/>
              </a:ext>
            </a:extLst>
          </p:cNvPr>
          <p:cNvSpPr>
            <a:spLocks noGrp="1" noRot="1" noChangeAspect="1" noChangeArrowheads="1" noTextEdit="1"/>
          </p:cNvSpPr>
          <p:nvPr>
            <p:ph type="sldImg"/>
          </p:nvPr>
        </p:nvSpPr>
        <p:spPr>
          <a:ln/>
        </p:spPr>
      </p:sp>
      <p:sp>
        <p:nvSpPr>
          <p:cNvPr id="936963" name="Rectangle 3">
            <a:extLst>
              <a:ext uri="{FF2B5EF4-FFF2-40B4-BE49-F238E27FC236}">
                <a16:creationId xmlns:a16="http://schemas.microsoft.com/office/drawing/2014/main" id="{CC4056CB-387B-2A84-20D0-C1998EDC82A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2AB3F7B-B5C9-BD17-C049-5C6FEDAAC89C}"/>
              </a:ext>
            </a:extLst>
          </p:cNvPr>
          <p:cNvSpPr>
            <a:spLocks noGrp="1" noChangeArrowheads="1"/>
          </p:cNvSpPr>
          <p:nvPr>
            <p:ph type="sldNum" sz="quarter" idx="5"/>
          </p:nvPr>
        </p:nvSpPr>
        <p:spPr>
          <a:ln/>
        </p:spPr>
        <p:txBody>
          <a:bodyPr/>
          <a:lstStyle/>
          <a:p>
            <a:fld id="{E64D6C8C-E328-46F8-BD95-46F96F433783}" type="slidenum">
              <a:rPr lang="en-US" altLang="en-US"/>
              <a:pPr/>
              <a:t>21</a:t>
            </a:fld>
            <a:endParaRPr lang="en-US" altLang="en-US"/>
          </a:p>
        </p:txBody>
      </p:sp>
      <p:sp>
        <p:nvSpPr>
          <p:cNvPr id="987138" name="Rectangle 2">
            <a:extLst>
              <a:ext uri="{FF2B5EF4-FFF2-40B4-BE49-F238E27FC236}">
                <a16:creationId xmlns:a16="http://schemas.microsoft.com/office/drawing/2014/main" id="{834E9140-D87D-F78A-9BE5-E2A41716BE7B}"/>
              </a:ext>
            </a:extLst>
          </p:cNvPr>
          <p:cNvSpPr>
            <a:spLocks noGrp="1" noRot="1" noChangeAspect="1" noChangeArrowheads="1" noTextEdit="1"/>
          </p:cNvSpPr>
          <p:nvPr>
            <p:ph type="sldImg"/>
          </p:nvPr>
        </p:nvSpPr>
        <p:spPr>
          <a:ln/>
        </p:spPr>
      </p:sp>
      <p:sp>
        <p:nvSpPr>
          <p:cNvPr id="987139" name="Rectangle 3">
            <a:extLst>
              <a:ext uri="{FF2B5EF4-FFF2-40B4-BE49-F238E27FC236}">
                <a16:creationId xmlns:a16="http://schemas.microsoft.com/office/drawing/2014/main" id="{661334E3-D89F-1D16-1153-6CDE65A8BDFA}"/>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8/28/24</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A240C4-20D9-A48E-5609-51CA51BFA94E}"/>
              </a:ext>
            </a:extLst>
          </p:cNvPr>
          <p:cNvSpPr>
            <a:spLocks noGrp="1"/>
          </p:cNvSpPr>
          <p:nvPr>
            <p:ph type="sldNum" sz="quarter" idx="10"/>
          </p:nvPr>
        </p:nvSpPr>
        <p:spPr/>
        <p:txBody>
          <a:bodyPr/>
          <a:lstStyle>
            <a:lvl1pPr>
              <a:defRPr/>
            </a:lvl1pPr>
          </a:lstStyle>
          <a:p>
            <a:r>
              <a:rPr lang="en-US" altLang="en-US"/>
              <a:t>3.</a:t>
            </a:r>
            <a:fld id="{9E1E7F5E-3623-421C-BE66-45396C59CA98}" type="slidenum">
              <a:rPr lang="en-US" altLang="en-US"/>
              <a:pPr/>
              <a:t>‹#›</a:t>
            </a:fld>
            <a:endParaRPr lang="en-US" altLang="en-US"/>
          </a:p>
        </p:txBody>
      </p:sp>
    </p:spTree>
    <p:extLst>
      <p:ext uri="{BB962C8B-B14F-4D97-AF65-F5344CB8AC3E}">
        <p14:creationId xmlns:p14="http://schemas.microsoft.com/office/powerpoint/2010/main" val="4056343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8/28/24</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Problem solving</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B9C94-1DCA-78C5-15B6-73361161C42A}"/>
              </a:ext>
            </a:extLst>
          </p:cNvPr>
          <p:cNvSpPr>
            <a:spLocks noGrp="1"/>
          </p:cNvSpPr>
          <p:nvPr>
            <p:ph type="title"/>
          </p:nvPr>
        </p:nvSpPr>
        <p:spPr>
          <a:xfrm>
            <a:off x="521207" y="448056"/>
            <a:ext cx="11048752" cy="606303"/>
          </a:xfrm>
        </p:spPr>
        <p:txBody>
          <a:bodyPr/>
          <a:lstStyle/>
          <a:p>
            <a:r>
              <a:rPr lang="en-IN" dirty="0"/>
              <a:t>Q.N0.1</a:t>
            </a:r>
          </a:p>
        </p:txBody>
      </p:sp>
      <p:pic>
        <p:nvPicPr>
          <p:cNvPr id="4" name="Content Placeholder 3">
            <a:extLst>
              <a:ext uri="{FF2B5EF4-FFF2-40B4-BE49-F238E27FC236}">
                <a16:creationId xmlns:a16="http://schemas.microsoft.com/office/drawing/2014/main" id="{80F1CF20-D2F6-8DA5-5384-92FA7D38FD73}"/>
              </a:ext>
            </a:extLst>
          </p:cNvPr>
          <p:cNvPicPr>
            <a:picLocks noGrp="1" noChangeAspect="1"/>
          </p:cNvPicPr>
          <p:nvPr>
            <p:ph sz="quarter" idx="10"/>
          </p:nvPr>
        </p:nvPicPr>
        <p:blipFill>
          <a:blip r:embed="rId2"/>
          <a:stretch>
            <a:fillRect/>
          </a:stretch>
        </p:blipFill>
        <p:spPr>
          <a:xfrm>
            <a:off x="2303717" y="1493498"/>
            <a:ext cx="7725853" cy="4858428"/>
          </a:xfrm>
          <a:prstGeom prst="rect">
            <a:avLst/>
          </a:prstGeom>
        </p:spPr>
      </p:pic>
    </p:spTree>
    <p:extLst>
      <p:ext uri="{BB962C8B-B14F-4D97-AF65-F5344CB8AC3E}">
        <p14:creationId xmlns:p14="http://schemas.microsoft.com/office/powerpoint/2010/main" val="341144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E31A7-4B55-9FC7-B37F-D54890BB7E47}"/>
              </a:ext>
            </a:extLst>
          </p:cNvPr>
          <p:cNvSpPr>
            <a:spLocks noGrp="1"/>
          </p:cNvSpPr>
          <p:nvPr>
            <p:ph type="title"/>
          </p:nvPr>
        </p:nvSpPr>
        <p:spPr/>
        <p:txBody>
          <a:bodyPr/>
          <a:lstStyle/>
          <a:p>
            <a:r>
              <a:rPr lang="en-IN" dirty="0"/>
              <a:t>Solution</a:t>
            </a:r>
          </a:p>
        </p:txBody>
      </p:sp>
      <p:pic>
        <p:nvPicPr>
          <p:cNvPr id="4" name="Content Placeholder 3">
            <a:extLst>
              <a:ext uri="{FF2B5EF4-FFF2-40B4-BE49-F238E27FC236}">
                <a16:creationId xmlns:a16="http://schemas.microsoft.com/office/drawing/2014/main" id="{35919C08-229D-D236-DE14-F749AD1F0921}"/>
              </a:ext>
            </a:extLst>
          </p:cNvPr>
          <p:cNvPicPr>
            <a:picLocks noGrp="1" noChangeAspect="1"/>
          </p:cNvPicPr>
          <p:nvPr>
            <p:ph sz="quarter" idx="10"/>
          </p:nvPr>
        </p:nvPicPr>
        <p:blipFill>
          <a:blip r:embed="rId2"/>
          <a:stretch>
            <a:fillRect/>
          </a:stretch>
        </p:blipFill>
        <p:spPr>
          <a:xfrm>
            <a:off x="1398166" y="870664"/>
            <a:ext cx="8893499" cy="5887721"/>
          </a:xfrm>
          <a:prstGeom prst="rect">
            <a:avLst/>
          </a:prstGeom>
        </p:spPr>
      </p:pic>
    </p:spTree>
    <p:extLst>
      <p:ext uri="{BB962C8B-B14F-4D97-AF65-F5344CB8AC3E}">
        <p14:creationId xmlns:p14="http://schemas.microsoft.com/office/powerpoint/2010/main" val="150812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E4B58-1FDE-AA86-E99D-55AF931CDCE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53A1B8FE-7C82-E709-BE47-F1DACF2314D5}"/>
              </a:ext>
            </a:extLst>
          </p:cNvPr>
          <p:cNvPicPr>
            <a:picLocks noGrp="1" noChangeAspect="1"/>
          </p:cNvPicPr>
          <p:nvPr>
            <p:ph sz="quarter" idx="10"/>
          </p:nvPr>
        </p:nvPicPr>
        <p:blipFill>
          <a:blip r:embed="rId2"/>
          <a:stretch>
            <a:fillRect/>
          </a:stretch>
        </p:blipFill>
        <p:spPr>
          <a:xfrm>
            <a:off x="1010103" y="101829"/>
            <a:ext cx="10171793" cy="6756171"/>
          </a:xfrm>
          <a:prstGeom prst="rect">
            <a:avLst/>
          </a:prstGeom>
        </p:spPr>
      </p:pic>
    </p:spTree>
    <p:extLst>
      <p:ext uri="{BB962C8B-B14F-4D97-AF65-F5344CB8AC3E}">
        <p14:creationId xmlns:p14="http://schemas.microsoft.com/office/powerpoint/2010/main" val="345037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A35F1-2E95-BAD3-C5A7-267BF6527D8F}"/>
              </a:ext>
            </a:extLst>
          </p:cNvPr>
          <p:cNvSpPr>
            <a:spLocks noGrp="1"/>
          </p:cNvSpPr>
          <p:nvPr>
            <p:ph type="title"/>
          </p:nvPr>
        </p:nvSpPr>
        <p:spPr/>
        <p:txBody>
          <a:bodyPr/>
          <a:lstStyle/>
          <a:p>
            <a:r>
              <a:rPr lang="en-IN" dirty="0"/>
              <a:t>Q.No.2</a:t>
            </a:r>
          </a:p>
        </p:txBody>
      </p:sp>
      <p:pic>
        <p:nvPicPr>
          <p:cNvPr id="4" name="Content Placeholder 3">
            <a:extLst>
              <a:ext uri="{FF2B5EF4-FFF2-40B4-BE49-F238E27FC236}">
                <a16:creationId xmlns:a16="http://schemas.microsoft.com/office/drawing/2014/main" id="{83059B04-FB64-118E-D730-B437DB937B44}"/>
              </a:ext>
            </a:extLst>
          </p:cNvPr>
          <p:cNvPicPr>
            <a:picLocks noGrp="1" noChangeAspect="1"/>
          </p:cNvPicPr>
          <p:nvPr>
            <p:ph sz="quarter" idx="10"/>
          </p:nvPr>
        </p:nvPicPr>
        <p:blipFill>
          <a:blip r:embed="rId2"/>
          <a:stretch>
            <a:fillRect/>
          </a:stretch>
        </p:blipFill>
        <p:spPr>
          <a:xfrm>
            <a:off x="1846036" y="872871"/>
            <a:ext cx="7820479" cy="5112258"/>
          </a:xfrm>
          <a:prstGeom prst="rect">
            <a:avLst/>
          </a:prstGeom>
        </p:spPr>
      </p:pic>
    </p:spTree>
    <p:extLst>
      <p:ext uri="{BB962C8B-B14F-4D97-AF65-F5344CB8AC3E}">
        <p14:creationId xmlns:p14="http://schemas.microsoft.com/office/powerpoint/2010/main" val="202531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5717C-C5D1-4E45-59CD-FC2CFC93AA52}"/>
              </a:ext>
            </a:extLst>
          </p:cNvPr>
          <p:cNvSpPr>
            <a:spLocks noGrp="1"/>
          </p:cNvSpPr>
          <p:nvPr>
            <p:ph type="title"/>
          </p:nvPr>
        </p:nvSpPr>
        <p:spPr/>
        <p:txBody>
          <a:bodyPr/>
          <a:lstStyle/>
          <a:p>
            <a:r>
              <a:rPr lang="en-IN" dirty="0"/>
              <a:t>Solution</a:t>
            </a:r>
          </a:p>
        </p:txBody>
      </p:sp>
      <p:pic>
        <p:nvPicPr>
          <p:cNvPr id="4" name="Content Placeholder 3">
            <a:extLst>
              <a:ext uri="{FF2B5EF4-FFF2-40B4-BE49-F238E27FC236}">
                <a16:creationId xmlns:a16="http://schemas.microsoft.com/office/drawing/2014/main" id="{C8E554B8-97D4-EE81-A90E-A1674B30EA22}"/>
              </a:ext>
            </a:extLst>
          </p:cNvPr>
          <p:cNvPicPr>
            <a:picLocks noGrp="1" noChangeAspect="1"/>
          </p:cNvPicPr>
          <p:nvPr>
            <p:ph sz="quarter" idx="10"/>
          </p:nvPr>
        </p:nvPicPr>
        <p:blipFill>
          <a:blip r:embed="rId2"/>
          <a:stretch>
            <a:fillRect/>
          </a:stretch>
        </p:blipFill>
        <p:spPr>
          <a:xfrm>
            <a:off x="819668" y="1088136"/>
            <a:ext cx="9882544" cy="5493027"/>
          </a:xfrm>
          <a:prstGeom prst="rect">
            <a:avLst/>
          </a:prstGeom>
        </p:spPr>
      </p:pic>
    </p:spTree>
    <p:extLst>
      <p:ext uri="{BB962C8B-B14F-4D97-AF65-F5344CB8AC3E}">
        <p14:creationId xmlns:p14="http://schemas.microsoft.com/office/powerpoint/2010/main" val="1924038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502E2-B441-8AC1-6A01-139FA7E26EBD}"/>
              </a:ext>
            </a:extLst>
          </p:cNvPr>
          <p:cNvSpPr>
            <a:spLocks noGrp="1"/>
          </p:cNvSpPr>
          <p:nvPr>
            <p:ph type="title"/>
          </p:nvPr>
        </p:nvSpPr>
        <p:spPr/>
        <p:txBody>
          <a:bodyPr/>
          <a:lstStyle/>
          <a:p>
            <a:r>
              <a:rPr lang="en-IN" dirty="0"/>
              <a:t>Q.No.3</a:t>
            </a:r>
          </a:p>
        </p:txBody>
      </p:sp>
      <p:sp>
        <p:nvSpPr>
          <p:cNvPr id="3" name="Content Placeholder 2">
            <a:extLst>
              <a:ext uri="{FF2B5EF4-FFF2-40B4-BE49-F238E27FC236}">
                <a16:creationId xmlns:a16="http://schemas.microsoft.com/office/drawing/2014/main" id="{534E1AC6-3330-089A-6253-4415A2668AFC}"/>
              </a:ext>
            </a:extLst>
          </p:cNvPr>
          <p:cNvSpPr>
            <a:spLocks noGrp="1"/>
          </p:cNvSpPr>
          <p:nvPr>
            <p:ph sz="quarter" idx="10"/>
          </p:nvPr>
        </p:nvSpPr>
        <p:spPr/>
        <p:txBody>
          <a:bodyPr/>
          <a:lstStyle/>
          <a:p>
            <a:endParaRPr lang="en-IN"/>
          </a:p>
        </p:txBody>
      </p:sp>
      <p:pic>
        <p:nvPicPr>
          <p:cNvPr id="4" name="Picture 3">
            <a:extLst>
              <a:ext uri="{FF2B5EF4-FFF2-40B4-BE49-F238E27FC236}">
                <a16:creationId xmlns:a16="http://schemas.microsoft.com/office/drawing/2014/main" id="{661AEFEF-47AC-9774-5D59-130B3DFFC9CF}"/>
              </a:ext>
            </a:extLst>
          </p:cNvPr>
          <p:cNvPicPr>
            <a:picLocks noChangeAspect="1"/>
          </p:cNvPicPr>
          <p:nvPr/>
        </p:nvPicPr>
        <p:blipFill>
          <a:blip r:embed="rId2"/>
          <a:stretch>
            <a:fillRect/>
          </a:stretch>
        </p:blipFill>
        <p:spPr>
          <a:xfrm>
            <a:off x="521207" y="1213181"/>
            <a:ext cx="10621826" cy="5196763"/>
          </a:xfrm>
          <a:prstGeom prst="rect">
            <a:avLst/>
          </a:prstGeom>
        </p:spPr>
      </p:pic>
    </p:spTree>
    <p:extLst>
      <p:ext uri="{BB962C8B-B14F-4D97-AF65-F5344CB8AC3E}">
        <p14:creationId xmlns:p14="http://schemas.microsoft.com/office/powerpoint/2010/main" val="4289747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A50F-4FEA-D1D7-FCA0-BA15B63C0CB9}"/>
              </a:ext>
            </a:extLst>
          </p:cNvPr>
          <p:cNvSpPr>
            <a:spLocks noGrp="1"/>
          </p:cNvSpPr>
          <p:nvPr>
            <p:ph type="title"/>
          </p:nvPr>
        </p:nvSpPr>
        <p:spPr/>
        <p:txBody>
          <a:bodyPr/>
          <a:lstStyle/>
          <a:p>
            <a:r>
              <a:rPr lang="en-IN" dirty="0"/>
              <a:t>Q.No.4</a:t>
            </a:r>
          </a:p>
        </p:txBody>
      </p:sp>
      <p:pic>
        <p:nvPicPr>
          <p:cNvPr id="4" name="Content Placeholder 3" descr="netVork">
            <a:extLst>
              <a:ext uri="{FF2B5EF4-FFF2-40B4-BE49-F238E27FC236}">
                <a16:creationId xmlns:a16="http://schemas.microsoft.com/office/drawing/2014/main" id="{9166FC0C-3413-D7C9-7A07-8E6CFAA1E319}"/>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827374" y="1205173"/>
            <a:ext cx="6877119" cy="3158332"/>
          </a:xfrm>
          <a:prstGeom prst="rect">
            <a:avLst/>
          </a:prstGeom>
          <a:noFill/>
          <a:ln>
            <a:noFill/>
          </a:ln>
        </p:spPr>
      </p:pic>
      <p:sp>
        <p:nvSpPr>
          <p:cNvPr id="6" name="TextBox 5">
            <a:extLst>
              <a:ext uri="{FF2B5EF4-FFF2-40B4-BE49-F238E27FC236}">
                <a16:creationId xmlns:a16="http://schemas.microsoft.com/office/drawing/2014/main" id="{D1D19E8B-D0E9-1F8E-5577-C573ACDB6F78}"/>
              </a:ext>
            </a:extLst>
          </p:cNvPr>
          <p:cNvSpPr txBox="1"/>
          <p:nvPr/>
        </p:nvSpPr>
        <p:spPr>
          <a:xfrm>
            <a:off x="521207" y="4494131"/>
            <a:ext cx="11104736" cy="2193229"/>
          </a:xfrm>
          <a:prstGeom prst="rect">
            <a:avLst/>
          </a:prstGeom>
          <a:noFill/>
        </p:spPr>
        <p:txBody>
          <a:bodyPr wrap="square">
            <a:spAutoFit/>
          </a:bodyPr>
          <a:lstStyle/>
          <a:p>
            <a:pPr marL="36195" marR="71755" algn="just">
              <a:lnSpc>
                <a:spcPct val="115000"/>
              </a:lnSpc>
              <a:spcAft>
                <a:spcPts val="1200"/>
              </a:spcAft>
            </a:pPr>
            <a:r>
              <a:rPr lang="en-IN" sz="2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Find the end-to-end delay (including the transmission delays and propagation delays on each of the three links, but ignoring queueing delays and processing delays) from when the left host begins transmitting the first bit of a packet to the time when the last bit of that packet is received at the server at the right. The speed of light propagation delay on each link is 3x10**8 m/sec. Note that the transmission rates are in Mbps and the link distances are in Km. Assume a packet length of </a:t>
            </a:r>
            <a:r>
              <a:rPr lang="en-IN" sz="2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16000 </a:t>
            </a:r>
            <a:r>
              <a:rPr lang="en-IN" sz="2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bits. Give your answer in milliseconds.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69677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E221-B60B-85EE-341D-D8CEE0B073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4BB6C6-C7F6-210A-07B2-7C1FF30403E6}"/>
              </a:ext>
            </a:extLst>
          </p:cNvPr>
          <p:cNvSpPr>
            <a:spLocks noGrp="1"/>
          </p:cNvSpPr>
          <p:nvPr>
            <p:ph sz="quarter" idx="10"/>
          </p:nvPr>
        </p:nvSpPr>
        <p:spPr>
          <a:xfrm>
            <a:off x="146376" y="1432632"/>
            <a:ext cx="11899247" cy="5084281"/>
          </a:xfrm>
        </p:spPr>
        <p:txBody>
          <a:bodyPr>
            <a:normAutofit/>
          </a:bodyPr>
          <a:lstStyle/>
          <a:p>
            <a:pPr algn="just">
              <a:lnSpc>
                <a:spcPct val="115000"/>
              </a:lnSpc>
              <a:spcAft>
                <a:spcPts val="1000"/>
              </a:spcAft>
            </a:pPr>
            <a:r>
              <a:rPr lang="en-IN" sz="1800" b="1" dirty="0">
                <a:solidFill>
                  <a:srgbClr val="064F24"/>
                </a:solidFill>
                <a:effectLst/>
                <a:latin typeface="Arial" panose="020B0604020202020204" pitchFamily="34" charset="0"/>
                <a:ea typeface="Times New Roman" panose="02020603050405020304" pitchFamily="18" charset="0"/>
                <a:cs typeface="Times New Roman" panose="02020603050405020304" pitchFamily="18" charset="0"/>
              </a:rPr>
              <a:t>Solution: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Link 1 transmission delay = L/R = 16000 bits / 10 Mbps = 1.600000 msec.</a:t>
            </a: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Link 1 propagation delay = d/s = 2 Km / 3*10**8 m/sec = 0.006667 msec.</a:t>
            </a: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Link 2 transmission delay = L/R = 16000 bits / 100 Mbps = 0.160000 msec.</a:t>
            </a: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Link 2 propagation delay = d/s = 1000 Km / 3*10**8 m/sec = 3.333333 msec.</a:t>
            </a: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Link 3 transmission delay = L/R = 16000 bits / 100 Mbps = 0.160000 msec.</a:t>
            </a: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Link 3 propagation delay = d/s = 3 Km / 3*10**8 m/sec = 0.010000 msec.</a:t>
            </a: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b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IN"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Thus, the total end-to-end delay is the sum of these six delays: 5.270000 msecs.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200"/>
              </a:spcAft>
            </a:pPr>
            <a:r>
              <a:rPr lang="en-IN" sz="1800" dirty="0">
                <a:solidFill>
                  <a:srgbClr val="064F24"/>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2709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21162"/>
            <a:ext cx="6877119" cy="640080"/>
          </a:xfrm>
        </p:spPr>
        <p:txBody>
          <a:bodyPr>
            <a:noAutofit/>
          </a:bodyPr>
          <a:lstStyle/>
          <a:p>
            <a:r>
              <a:rPr lang="en-US" dirty="0">
                <a:latin typeface="Segoe UI Light" panose="020B0502040204020203" pitchFamily="34" charset="0"/>
                <a:cs typeface="Segoe UI Light" panose="020B0502040204020203" pitchFamily="34" charset="0"/>
              </a:rPr>
              <a:t>Q.No.5</a:t>
            </a:r>
          </a:p>
        </p:txBody>
      </p:sp>
      <p:pic>
        <p:nvPicPr>
          <p:cNvPr id="3" name="Picture 2">
            <a:extLst>
              <a:ext uri="{FF2B5EF4-FFF2-40B4-BE49-F238E27FC236}">
                <a16:creationId xmlns:a16="http://schemas.microsoft.com/office/drawing/2014/main" id="{AEA7249B-5C54-4678-F1EB-54E281EE32F4}"/>
              </a:ext>
            </a:extLst>
          </p:cNvPr>
          <p:cNvPicPr>
            <a:picLocks noChangeAspect="1"/>
          </p:cNvPicPr>
          <p:nvPr/>
        </p:nvPicPr>
        <p:blipFill>
          <a:blip r:embed="rId2"/>
          <a:stretch>
            <a:fillRect/>
          </a:stretch>
        </p:blipFill>
        <p:spPr>
          <a:xfrm>
            <a:off x="521207" y="1194023"/>
            <a:ext cx="7513957" cy="2391860"/>
          </a:xfrm>
          <a:prstGeom prst="rect">
            <a:avLst/>
          </a:prstGeom>
        </p:spPr>
      </p:pic>
      <p:sp>
        <p:nvSpPr>
          <p:cNvPr id="6" name="TextBox 5">
            <a:extLst>
              <a:ext uri="{FF2B5EF4-FFF2-40B4-BE49-F238E27FC236}">
                <a16:creationId xmlns:a16="http://schemas.microsoft.com/office/drawing/2014/main" id="{F0D29919-B651-6DE2-A749-A3782F7C524E}"/>
              </a:ext>
            </a:extLst>
          </p:cNvPr>
          <p:cNvSpPr txBox="1"/>
          <p:nvPr/>
        </p:nvSpPr>
        <p:spPr>
          <a:xfrm>
            <a:off x="414849" y="3585883"/>
            <a:ext cx="11255944" cy="1477328"/>
          </a:xfrm>
          <a:prstGeom prst="rect">
            <a:avLst/>
          </a:prstGeom>
          <a:noFill/>
        </p:spPr>
        <p:txBody>
          <a:bodyPr wrap="square">
            <a:spAutoFit/>
          </a:bodyPr>
          <a:lstStyle/>
          <a:p>
            <a:r>
              <a:rPr lang="en-GB" dirty="0"/>
              <a:t>Q1. Suppose that the packet length is </a:t>
            </a:r>
            <a:r>
              <a:rPr lang="en-GB" i="1" dirty="0"/>
              <a:t>L</a:t>
            </a:r>
            <a:r>
              <a:rPr lang="en-GB" dirty="0"/>
              <a:t>= 8000 bits, and that the link transmission rate along the link to router on the right is </a:t>
            </a:r>
            <a:r>
              <a:rPr lang="en-GB" i="1" dirty="0"/>
              <a:t>R</a:t>
            </a:r>
            <a:r>
              <a:rPr lang="en-GB" dirty="0"/>
              <a:t> = 1 Mbps. . What is the transmission delay?</a:t>
            </a:r>
            <a:br>
              <a:rPr lang="en-GB" dirty="0"/>
            </a:br>
            <a:r>
              <a:rPr lang="en-GB" dirty="0"/>
              <a:t>What is the maximum number of packets per second that can be transmitted by this link?</a:t>
            </a:r>
            <a:br>
              <a:rPr lang="en-GB" dirty="0"/>
            </a:br>
            <a:endParaRPr lang="en-GB" dirty="0"/>
          </a:p>
          <a:p>
            <a:endParaRPr lang="en-IN" dirty="0"/>
          </a:p>
        </p:txBody>
      </p:sp>
      <p:sp>
        <p:nvSpPr>
          <p:cNvPr id="2" name="Content Placeholder 17">
            <a:extLst>
              <a:ext uri="{FF2B5EF4-FFF2-40B4-BE49-F238E27FC236}">
                <a16:creationId xmlns:a16="http://schemas.microsoft.com/office/drawing/2014/main" id="{7558A745-DE21-7201-B558-F06B3F109782}"/>
              </a:ext>
            </a:extLst>
          </p:cNvPr>
          <p:cNvSpPr txBox="1">
            <a:spLocks/>
          </p:cNvSpPr>
          <p:nvPr/>
        </p:nvSpPr>
        <p:spPr>
          <a:xfrm>
            <a:off x="640221" y="4705376"/>
            <a:ext cx="11255944" cy="1731462"/>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a:t>
            </a:r>
            <a:r>
              <a:rPr lang="en-GB" sz="6400" dirty="0"/>
              <a:t>The transmission delay = L/R = 8000 bits / 1000000 bps = 0.008 seconds</a:t>
            </a:r>
          </a:p>
          <a:p>
            <a:pPr marL="0" indent="0">
              <a:spcAft>
                <a:spcPts val="2000"/>
              </a:spcAft>
              <a:buNone/>
            </a:pPr>
            <a:r>
              <a:rPr lang="en-GB" sz="8000" dirty="0"/>
              <a:t>The number of packets that can be transmitted in a second into the link = R / L = 1000000 bps / 8000 bits = 125 packets </a:t>
            </a:r>
            <a:r>
              <a:rPr lang="en-GB" sz="5600" dirty="0"/>
              <a:t> </a:t>
            </a:r>
          </a:p>
          <a:p>
            <a:pPr marL="0" indent="0">
              <a:spcAft>
                <a:spcPts val="2000"/>
              </a:spcAft>
              <a:buNone/>
            </a:pPr>
            <a:endParaRPr lang="en-GB" sz="5600" dirty="0"/>
          </a:p>
          <a:p>
            <a:pPr marL="0" indent="0">
              <a:spcAft>
                <a:spcPts val="2000"/>
              </a:spcAft>
              <a:buNone/>
            </a:pPr>
            <a:br>
              <a:rPr lang="en-GB" sz="5600" dirty="0"/>
            </a:b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0ABB5E4F-D11E-C7E2-09B0-B88DD48FBCC4}"/>
              </a:ext>
            </a:extLst>
          </p:cNvPr>
          <p:cNvSpPr>
            <a:spLocks noChangeArrowheads="1"/>
          </p:cNvSpPr>
          <p:nvPr/>
        </p:nvSpPr>
        <p:spPr bwMode="auto">
          <a:xfrm>
            <a:off x="981635" y="2873188"/>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baseline="0" dirty="0"/>
              <a:t>Q6.A network with bandwidth of 10 Mbps can pass only an average of 12,000 frames per minute with each frame carrying an average of 10,000 bits. What is the throughput of this network?</a:t>
            </a:r>
          </a:p>
          <a:p>
            <a:pPr algn="just"/>
            <a:endParaRPr lang="en-US" altLang="en-US" baseline="0" dirty="0"/>
          </a:p>
        </p:txBody>
      </p:sp>
      <p:pic>
        <p:nvPicPr>
          <p:cNvPr id="2" name="Picture 14">
            <a:extLst>
              <a:ext uri="{FF2B5EF4-FFF2-40B4-BE49-F238E27FC236}">
                <a16:creationId xmlns:a16="http://schemas.microsoft.com/office/drawing/2014/main" id="{DA612D7F-3ABB-A61E-656B-7E5E8E96A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0549" y="4621307"/>
            <a:ext cx="4778375" cy="6207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4365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7116891-A100-FB93-77F9-DB11BC4AC56C}"/>
              </a:ext>
            </a:extLst>
          </p:cNvPr>
          <p:cNvSpPr txBox="1"/>
          <p:nvPr/>
        </p:nvSpPr>
        <p:spPr>
          <a:xfrm>
            <a:off x="439271" y="1577789"/>
            <a:ext cx="11152094" cy="1477328"/>
          </a:xfrm>
          <a:prstGeom prst="rect">
            <a:avLst/>
          </a:prstGeom>
          <a:noFill/>
        </p:spPr>
        <p:txBody>
          <a:bodyPr wrap="square">
            <a:spAutoFit/>
          </a:bodyPr>
          <a:lstStyle/>
          <a:p>
            <a:pPr algn="just"/>
            <a:r>
              <a:rPr lang="en-US" altLang="en-US" baseline="0" dirty="0"/>
              <a:t>Q7.What are the propagation time and the transmission time for a 2.5-kbyte message (an e-mail) if the bandwidth of the network is 1 Gbps? Assume that the distance between the sender and the receiver is 12,000 km and that light travels at 2.4 × 108 m/s.</a:t>
            </a:r>
          </a:p>
          <a:p>
            <a:pPr algn="just"/>
            <a:endParaRPr lang="en-US" altLang="en-US" baseline="0" dirty="0"/>
          </a:p>
          <a:p>
            <a:pPr algn="just"/>
            <a:r>
              <a:rPr lang="en-US" altLang="en-US" baseline="0" dirty="0">
                <a:solidFill>
                  <a:schemeClr val="hlink"/>
                </a:solidFill>
              </a:rPr>
              <a:t>Solution</a:t>
            </a:r>
          </a:p>
        </p:txBody>
      </p:sp>
      <p:sp>
        <p:nvSpPr>
          <p:cNvPr id="10" name="Title 9">
            <a:extLst>
              <a:ext uri="{FF2B5EF4-FFF2-40B4-BE49-F238E27FC236}">
                <a16:creationId xmlns:a16="http://schemas.microsoft.com/office/drawing/2014/main" id="{231BB105-7A98-105F-DD71-871B12CCE7A4}"/>
              </a:ext>
            </a:extLst>
          </p:cNvPr>
          <p:cNvSpPr>
            <a:spLocks noGrp="1"/>
          </p:cNvSpPr>
          <p:nvPr>
            <p:ph type="title"/>
          </p:nvPr>
        </p:nvSpPr>
        <p:spPr/>
        <p:txBody>
          <a:bodyPr/>
          <a:lstStyle/>
          <a:p>
            <a:endParaRPr lang="en-IN"/>
          </a:p>
        </p:txBody>
      </p:sp>
      <p:sp>
        <p:nvSpPr>
          <p:cNvPr id="2" name="Rectangle 3">
            <a:extLst>
              <a:ext uri="{FF2B5EF4-FFF2-40B4-BE49-F238E27FC236}">
                <a16:creationId xmlns:a16="http://schemas.microsoft.com/office/drawing/2014/main" id="{4A7857DF-F83B-F300-4991-1FD68D3788F4}"/>
              </a:ext>
            </a:extLst>
          </p:cNvPr>
          <p:cNvSpPr txBox="1">
            <a:spLocks noChangeArrowheads="1"/>
          </p:cNvSpPr>
          <p:nvPr/>
        </p:nvSpPr>
        <p:spPr bwMode="auto">
          <a:xfrm>
            <a:off x="1698812" y="2608729"/>
            <a:ext cx="10116670" cy="267148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lnSpcReduction="10000"/>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IN" altLang="en-US" sz="2400" dirty="0"/>
              <a:t>Propagation Delay = Distance/Propagation speed</a:t>
            </a:r>
          </a:p>
          <a:p>
            <a:r>
              <a:rPr lang="en-IN" altLang="en-US" sz="2400" dirty="0"/>
              <a:t>Transmission Delay = Message size/bandwidth bps</a:t>
            </a:r>
          </a:p>
          <a:p>
            <a:r>
              <a:rPr lang="en-IN" altLang="en-US" sz="2400" dirty="0"/>
              <a:t>Latency = Propagation delay + Transmission delay + Queueing time + Processing time</a:t>
            </a:r>
            <a:endParaRPr lang="en-IN" altLang="en-US" dirty="0"/>
          </a:p>
        </p:txBody>
      </p:sp>
      <p:pic>
        <p:nvPicPr>
          <p:cNvPr id="3" name="Picture 13">
            <a:extLst>
              <a:ext uri="{FF2B5EF4-FFF2-40B4-BE49-F238E27FC236}">
                <a16:creationId xmlns:a16="http://schemas.microsoft.com/office/drawing/2014/main" id="{8C78D1E1-274A-C5CB-B67A-C00F37830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1325" y="4933857"/>
            <a:ext cx="5462587" cy="16462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31BB105-7A98-105F-DD71-871B12CCE7A4}"/>
              </a:ext>
            </a:extLst>
          </p:cNvPr>
          <p:cNvSpPr>
            <a:spLocks noGrp="1"/>
          </p:cNvSpPr>
          <p:nvPr>
            <p:ph type="title"/>
          </p:nvPr>
        </p:nvSpPr>
        <p:spPr/>
        <p:txBody>
          <a:bodyPr/>
          <a:lstStyle/>
          <a:p>
            <a:endParaRPr lang="en-IN"/>
          </a:p>
        </p:txBody>
      </p:sp>
      <p:sp>
        <p:nvSpPr>
          <p:cNvPr id="2" name="Rectangle 11">
            <a:extLst>
              <a:ext uri="{FF2B5EF4-FFF2-40B4-BE49-F238E27FC236}">
                <a16:creationId xmlns:a16="http://schemas.microsoft.com/office/drawing/2014/main" id="{CCC6D8FD-21EF-885F-99F0-E63B91701202}"/>
              </a:ext>
            </a:extLst>
          </p:cNvPr>
          <p:cNvSpPr>
            <a:spLocks noChangeArrowheads="1"/>
          </p:cNvSpPr>
          <p:nvPr/>
        </p:nvSpPr>
        <p:spPr bwMode="auto">
          <a:xfrm>
            <a:off x="228600" y="1295400"/>
            <a:ext cx="8534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baseline="0" dirty="0"/>
              <a:t>Q8.  What are the propagation time and the transmission time for a 5-Mbyte message (an image) if the bandwidth of the network is 1 Mbps? Assume that the distance between the sender and the receiver is 12,000 km and that light travels at 2.4 × 10</a:t>
            </a:r>
            <a:r>
              <a:rPr lang="en-US" altLang="en-US" baseline="30000" dirty="0"/>
              <a:t>8</a:t>
            </a:r>
            <a:r>
              <a:rPr lang="en-US" altLang="en-US" baseline="0" dirty="0"/>
              <a:t> m/s.</a:t>
            </a:r>
          </a:p>
          <a:p>
            <a:pPr algn="just"/>
            <a:endParaRPr lang="en-US" altLang="en-US" baseline="0" dirty="0"/>
          </a:p>
          <a:p>
            <a:pPr algn="just"/>
            <a:r>
              <a:rPr lang="en-US" altLang="en-US" baseline="0" dirty="0">
                <a:solidFill>
                  <a:schemeClr val="hlink"/>
                </a:solidFill>
              </a:rPr>
              <a:t>Solution</a:t>
            </a:r>
          </a:p>
        </p:txBody>
      </p:sp>
      <p:pic>
        <p:nvPicPr>
          <p:cNvPr id="3" name="Picture 13">
            <a:extLst>
              <a:ext uri="{FF2B5EF4-FFF2-40B4-BE49-F238E27FC236}">
                <a16:creationId xmlns:a16="http://schemas.microsoft.com/office/drawing/2014/main" id="{4F9F0866-B48F-5E5D-96C2-ECE2D9BDB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5873" y="3987800"/>
            <a:ext cx="6002337" cy="15748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6673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2ADC9-85D2-6E74-27B8-83E8262B7DD8}"/>
              </a:ext>
            </a:extLst>
          </p:cNvPr>
          <p:cNvSpPr>
            <a:spLocks noGrp="1"/>
          </p:cNvSpPr>
          <p:nvPr>
            <p:ph type="title"/>
          </p:nvPr>
        </p:nvSpPr>
        <p:spPr>
          <a:xfrm>
            <a:off x="240146" y="360218"/>
            <a:ext cx="11480800" cy="2599911"/>
          </a:xfrm>
        </p:spPr>
        <p:txBody>
          <a:bodyPr>
            <a:normAutofit fontScale="90000"/>
          </a:bodyPr>
          <a:lstStyle/>
          <a:p>
            <a:br>
              <a:rPr lang="en-GB" b="1" dirty="0"/>
            </a:br>
            <a:r>
              <a:rPr lang="en-GB" dirty="0"/>
              <a:t> Q9. Consider the two scenarios below:   A circuit-switching scenario in which </a:t>
            </a:r>
            <a:r>
              <a:rPr lang="en-GB" i="1" dirty="0" err="1"/>
              <a:t>N</a:t>
            </a:r>
            <a:r>
              <a:rPr lang="en-GB" i="1" baseline="-25000" dirty="0" err="1"/>
              <a:t>cs</a:t>
            </a:r>
            <a:r>
              <a:rPr lang="en-GB" dirty="0"/>
              <a:t> users, each requiring a bandwidth of 20 Mbps, must share a link of capacity 200 Mbps. </a:t>
            </a:r>
            <a:br>
              <a:rPr lang="en-GB" dirty="0"/>
            </a:br>
            <a:r>
              <a:rPr lang="en-GB" dirty="0"/>
              <a:t>A packet-switching scenario with </a:t>
            </a:r>
            <a:r>
              <a:rPr lang="en-GB" i="1" dirty="0" err="1"/>
              <a:t>N</a:t>
            </a:r>
            <a:r>
              <a:rPr lang="en-GB" i="1" baseline="-25000" dirty="0" err="1"/>
              <a:t>ps</a:t>
            </a:r>
            <a:r>
              <a:rPr lang="en-GB" dirty="0"/>
              <a:t> users(19) sharing a 200 Mbps link, where each user again requires 20 Mbps when transmitting, but only needs to transmit 20 percent of the time. </a:t>
            </a:r>
            <a:br>
              <a:rPr lang="en-GB" dirty="0"/>
            </a:br>
            <a:endParaRPr lang="en-IN" b="1" dirty="0"/>
          </a:p>
        </p:txBody>
      </p:sp>
      <p:pic>
        <p:nvPicPr>
          <p:cNvPr id="5" name="Picture 4">
            <a:extLst>
              <a:ext uri="{FF2B5EF4-FFF2-40B4-BE49-F238E27FC236}">
                <a16:creationId xmlns:a16="http://schemas.microsoft.com/office/drawing/2014/main" id="{85DC9EC6-FA9C-6E67-949B-A4543021192E}"/>
              </a:ext>
            </a:extLst>
          </p:cNvPr>
          <p:cNvPicPr>
            <a:picLocks noChangeAspect="1"/>
          </p:cNvPicPr>
          <p:nvPr/>
        </p:nvPicPr>
        <p:blipFill>
          <a:blip r:embed="rId2"/>
          <a:stretch>
            <a:fillRect/>
          </a:stretch>
        </p:blipFill>
        <p:spPr>
          <a:xfrm>
            <a:off x="3940677" y="2356542"/>
            <a:ext cx="7136440" cy="4501458"/>
          </a:xfrm>
          <a:prstGeom prst="rect">
            <a:avLst/>
          </a:prstGeom>
        </p:spPr>
      </p:pic>
    </p:spTree>
    <p:extLst>
      <p:ext uri="{BB962C8B-B14F-4D97-AF65-F5344CB8AC3E}">
        <p14:creationId xmlns:p14="http://schemas.microsoft.com/office/powerpoint/2010/main" val="1744003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ADA83-C37F-D39C-3FD0-51945C3E4B60}"/>
              </a:ext>
            </a:extLst>
          </p:cNvPr>
          <p:cNvSpPr>
            <a:spLocks noGrp="1"/>
          </p:cNvSpPr>
          <p:nvPr>
            <p:ph type="title"/>
          </p:nvPr>
        </p:nvSpPr>
        <p:spPr/>
        <p:txBody>
          <a:bodyPr/>
          <a:lstStyle/>
          <a:p>
            <a:endParaRPr lang="en-IN" dirty="0"/>
          </a:p>
        </p:txBody>
      </p:sp>
      <p:sp>
        <p:nvSpPr>
          <p:cNvPr id="4" name="Title 1">
            <a:extLst>
              <a:ext uri="{FF2B5EF4-FFF2-40B4-BE49-F238E27FC236}">
                <a16:creationId xmlns:a16="http://schemas.microsoft.com/office/drawing/2014/main" id="{60EE7252-1BF4-419C-E637-F1F48CB86E3E}"/>
              </a:ext>
            </a:extLst>
          </p:cNvPr>
          <p:cNvSpPr txBox="1">
            <a:spLocks/>
          </p:cNvSpPr>
          <p:nvPr/>
        </p:nvSpPr>
        <p:spPr>
          <a:xfrm>
            <a:off x="521207" y="1088136"/>
            <a:ext cx="11491499" cy="1679807"/>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n-GB" dirty="0"/>
              <a:t>9a.When circuit switching is used, what is the maximum number of users that can be supported?</a:t>
            </a:r>
            <a:endParaRPr lang="en-IN" dirty="0"/>
          </a:p>
        </p:txBody>
      </p:sp>
      <p:sp>
        <p:nvSpPr>
          <p:cNvPr id="3" name="Title 1">
            <a:extLst>
              <a:ext uri="{FF2B5EF4-FFF2-40B4-BE49-F238E27FC236}">
                <a16:creationId xmlns:a16="http://schemas.microsoft.com/office/drawing/2014/main" id="{4B1AE63A-94D8-88A4-377A-DEE900753956}"/>
              </a:ext>
            </a:extLst>
          </p:cNvPr>
          <p:cNvSpPr txBox="1">
            <a:spLocks/>
          </p:cNvSpPr>
          <p:nvPr/>
        </p:nvSpPr>
        <p:spPr>
          <a:xfrm>
            <a:off x="700501" y="3128682"/>
            <a:ext cx="11491499" cy="3504385"/>
          </a:xfrm>
          <a:prstGeom prst="rect">
            <a:avLst/>
          </a:prstGeom>
        </p:spPr>
        <p:txBody>
          <a:bodyPr vert="horz" lIns="91440" tIns="45720" rIns="91440" bIns="45720" rtlCol="0" anchor="b" anchorCtr="0">
            <a:normAutofit fontScale="97500"/>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n-GB" dirty="0"/>
              <a:t>When circuit switching is used, what is the maximum number of users that can be supported?</a:t>
            </a:r>
            <a:br>
              <a:rPr lang="en-GB" dirty="0"/>
            </a:br>
            <a:r>
              <a:rPr lang="en-GB" dirty="0"/>
              <a:t>1 user = 20Mbps</a:t>
            </a:r>
            <a:br>
              <a:rPr lang="en-GB" dirty="0"/>
            </a:br>
            <a:r>
              <a:rPr lang="en-GB" dirty="0"/>
              <a:t>Capacity=200Mbps</a:t>
            </a:r>
            <a:br>
              <a:rPr lang="en-GB" dirty="0"/>
            </a:br>
            <a:r>
              <a:rPr lang="en-GB" dirty="0"/>
              <a:t>Number of users = Total capacity/1 user</a:t>
            </a:r>
            <a:br>
              <a:rPr lang="en-GB" dirty="0"/>
            </a:br>
            <a:r>
              <a:rPr lang="en-GB" dirty="0"/>
              <a:t>                           =200/20</a:t>
            </a:r>
            <a:br>
              <a:rPr lang="en-GB" dirty="0"/>
            </a:br>
            <a:r>
              <a:rPr lang="en-GB" dirty="0"/>
              <a:t>                           =10</a:t>
            </a:r>
            <a:br>
              <a:rPr lang="en-GB" dirty="0"/>
            </a:br>
            <a:endParaRPr lang="en-IN" dirty="0"/>
          </a:p>
        </p:txBody>
      </p:sp>
    </p:spTree>
    <p:extLst>
      <p:ext uri="{BB962C8B-B14F-4D97-AF65-F5344CB8AC3E}">
        <p14:creationId xmlns:p14="http://schemas.microsoft.com/office/powerpoint/2010/main" val="351842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ADA83-C37F-D39C-3FD0-51945C3E4B60}"/>
              </a:ext>
            </a:extLst>
          </p:cNvPr>
          <p:cNvSpPr>
            <a:spLocks noGrp="1"/>
          </p:cNvSpPr>
          <p:nvPr>
            <p:ph type="title"/>
          </p:nvPr>
        </p:nvSpPr>
        <p:spPr>
          <a:xfrm>
            <a:off x="475129" y="1147481"/>
            <a:ext cx="10927977" cy="1613647"/>
          </a:xfrm>
        </p:spPr>
        <p:txBody>
          <a:bodyPr>
            <a:normAutofit/>
          </a:bodyPr>
          <a:lstStyle/>
          <a:p>
            <a:r>
              <a:rPr lang="en-GB" dirty="0"/>
              <a:t>9b.Suppose packet switching is used. What is the probability that a given (specific) user is transmitting, and the remaining users are not transmitting?   </a:t>
            </a:r>
            <a:r>
              <a:rPr lang="en-GB" dirty="0" err="1"/>
              <a:t>Nps</a:t>
            </a:r>
            <a:r>
              <a:rPr lang="en-GB" dirty="0"/>
              <a:t>=19</a:t>
            </a:r>
            <a:endParaRPr lang="en-IN" dirty="0"/>
          </a:p>
        </p:txBody>
      </p:sp>
      <p:sp>
        <p:nvSpPr>
          <p:cNvPr id="3" name="Title 1">
            <a:extLst>
              <a:ext uri="{FF2B5EF4-FFF2-40B4-BE49-F238E27FC236}">
                <a16:creationId xmlns:a16="http://schemas.microsoft.com/office/drawing/2014/main" id="{411DEE94-9EE3-F4AB-1B46-6C298AE57E88}"/>
              </a:ext>
            </a:extLst>
          </p:cNvPr>
          <p:cNvSpPr txBox="1">
            <a:spLocks/>
          </p:cNvSpPr>
          <p:nvPr/>
        </p:nvSpPr>
        <p:spPr>
          <a:xfrm>
            <a:off x="950260" y="2877671"/>
            <a:ext cx="10587318" cy="3541058"/>
          </a:xfrm>
          <a:prstGeom prst="rect">
            <a:avLst/>
          </a:prstGeom>
        </p:spPr>
        <p:txBody>
          <a:bodyPr vert="horz" lIns="91440" tIns="45720" rIns="91440" bIns="45720" rtlCol="0" anchor="b" anchorCtr="0">
            <a:normAutofit fontScale="90000" lnSpcReduction="20000"/>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n-GB"/>
              <a:t> The probability that a given user is  transmitting is  p=0.2</a:t>
            </a:r>
            <a:br>
              <a:rPr lang="en-GB"/>
            </a:br>
            <a:br>
              <a:rPr lang="en-GB"/>
            </a:br>
            <a:r>
              <a:rPr lang="en-GB"/>
              <a:t> Probability that  other user is not transmitting=   (1-p)=0.8</a:t>
            </a:r>
            <a:br>
              <a:rPr lang="en-GB"/>
            </a:br>
            <a:br>
              <a:rPr lang="en-GB"/>
            </a:br>
            <a:r>
              <a:rPr lang="en-GB"/>
              <a:t> Probability that all of the other N</a:t>
            </a:r>
            <a:r>
              <a:rPr lang="en-GB" baseline="-25000"/>
              <a:t>ps</a:t>
            </a:r>
            <a:r>
              <a:rPr lang="en-GB"/>
              <a:t>-1 users </a:t>
            </a:r>
            <a:br>
              <a:rPr lang="en-GB"/>
            </a:br>
            <a:r>
              <a:rPr lang="en-GB"/>
              <a:t>    are not transmitting                                         = (1-p)</a:t>
            </a:r>
            <a:r>
              <a:rPr lang="en-GB" baseline="30000"/>
              <a:t>N</a:t>
            </a:r>
            <a:r>
              <a:rPr lang="en-GB" baseline="-25000"/>
              <a:t>ps</a:t>
            </a:r>
            <a:r>
              <a:rPr lang="en-GB" baseline="30000"/>
              <a:t>-1</a:t>
            </a:r>
            <a:r>
              <a:rPr lang="en-GB"/>
              <a:t>. </a:t>
            </a:r>
            <a:br>
              <a:rPr lang="en-GB"/>
            </a:br>
            <a:br>
              <a:rPr lang="en-GB"/>
            </a:br>
            <a:r>
              <a:rPr lang="en-GB"/>
              <a:t>Thus the probability that one specific user is </a:t>
            </a:r>
            <a:br>
              <a:rPr lang="en-GB"/>
            </a:br>
            <a:r>
              <a:rPr lang="en-GB"/>
              <a:t>transmitting and the remaining users are not</a:t>
            </a:r>
            <a:br>
              <a:rPr lang="en-GB"/>
            </a:br>
            <a:r>
              <a:rPr lang="en-GB"/>
              <a:t> transmitting                                                      = p*(1-p)</a:t>
            </a:r>
            <a:r>
              <a:rPr lang="en-GB" baseline="30000"/>
              <a:t>N</a:t>
            </a:r>
            <a:r>
              <a:rPr lang="en-GB" baseline="-25000"/>
              <a:t>ps</a:t>
            </a:r>
            <a:r>
              <a:rPr lang="en-GB" baseline="30000"/>
              <a:t>-1</a:t>
            </a:r>
            <a:r>
              <a:rPr lang="en-GB"/>
              <a:t> </a:t>
            </a:r>
            <a:br>
              <a:rPr lang="en-GB"/>
            </a:br>
            <a:r>
              <a:rPr lang="en-GB"/>
              <a:t>                                                                         =.0036</a:t>
            </a:r>
            <a:endParaRPr lang="en-IN" dirty="0"/>
          </a:p>
        </p:txBody>
      </p:sp>
    </p:spTree>
    <p:extLst>
      <p:ext uri="{BB962C8B-B14F-4D97-AF65-F5344CB8AC3E}">
        <p14:creationId xmlns:p14="http://schemas.microsoft.com/office/powerpoint/2010/main" val="3940639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890E9E-BE5C-4622-DC7E-0FCB8F402678}"/>
              </a:ext>
            </a:extLst>
          </p:cNvPr>
          <p:cNvSpPr>
            <a:spLocks noGrp="1"/>
          </p:cNvSpPr>
          <p:nvPr>
            <p:ph type="sldNum" sz="quarter" idx="10"/>
          </p:nvPr>
        </p:nvSpPr>
        <p:spPr/>
        <p:txBody>
          <a:bodyPr/>
          <a:lstStyle/>
          <a:p>
            <a:r>
              <a:rPr lang="en-US" altLang="en-US"/>
              <a:t>3.</a:t>
            </a:r>
            <a:fld id="{014902A7-CD29-442F-9AAA-6664D33D5DF5}" type="slidenum">
              <a:rPr lang="en-US" altLang="en-US"/>
              <a:pPr/>
              <a:t>17</a:t>
            </a:fld>
            <a:endParaRPr lang="en-US" altLang="en-US"/>
          </a:p>
        </p:txBody>
      </p:sp>
      <p:sp>
        <p:nvSpPr>
          <p:cNvPr id="829442" name="Rectangle 2">
            <a:extLst>
              <a:ext uri="{FF2B5EF4-FFF2-40B4-BE49-F238E27FC236}">
                <a16:creationId xmlns:a16="http://schemas.microsoft.com/office/drawing/2014/main" id="{A3FD66FD-5D98-5245-5DFA-720EAEDFF74C}"/>
              </a:ext>
            </a:extLst>
          </p:cNvPr>
          <p:cNvSpPr>
            <a:spLocks noChangeArrowheads="1"/>
          </p:cNvSpPr>
          <p:nvPr/>
        </p:nvSpPr>
        <p:spPr bwMode="ltGray">
          <a:xfrm>
            <a:off x="1890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29443" name="Rectangle 3">
            <a:extLst>
              <a:ext uri="{FF2B5EF4-FFF2-40B4-BE49-F238E27FC236}">
                <a16:creationId xmlns:a16="http://schemas.microsoft.com/office/drawing/2014/main" id="{6873F315-1FF3-058A-FCC9-77E10C34BD7F}"/>
              </a:ext>
            </a:extLst>
          </p:cNvPr>
          <p:cNvSpPr>
            <a:spLocks noChangeArrowheads="1"/>
          </p:cNvSpPr>
          <p:nvPr/>
        </p:nvSpPr>
        <p:spPr bwMode="ltGray">
          <a:xfrm>
            <a:off x="2273301"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nvGrpSpPr>
          <p:cNvPr id="829444" name="Group 4">
            <a:extLst>
              <a:ext uri="{FF2B5EF4-FFF2-40B4-BE49-F238E27FC236}">
                <a16:creationId xmlns:a16="http://schemas.microsoft.com/office/drawing/2014/main" id="{8C6AC36C-D18F-B728-5E34-23462246B51C}"/>
              </a:ext>
            </a:extLst>
          </p:cNvPr>
          <p:cNvGrpSpPr>
            <a:grpSpLocks/>
          </p:cNvGrpSpPr>
          <p:nvPr/>
        </p:nvGrpSpPr>
        <p:grpSpPr bwMode="auto">
          <a:xfrm>
            <a:off x="2014539" y="773113"/>
            <a:ext cx="738187" cy="474662"/>
            <a:chOff x="309" y="487"/>
            <a:chExt cx="465" cy="299"/>
          </a:xfrm>
        </p:grpSpPr>
        <p:sp>
          <p:nvSpPr>
            <p:cNvPr id="829445" name="Rectangle 5">
              <a:extLst>
                <a:ext uri="{FF2B5EF4-FFF2-40B4-BE49-F238E27FC236}">
                  <a16:creationId xmlns:a16="http://schemas.microsoft.com/office/drawing/2014/main" id="{3B33812A-D6EE-44DE-9BAC-9C4C86A6D6A2}"/>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29446" name="Rectangle 6">
              <a:extLst>
                <a:ext uri="{FF2B5EF4-FFF2-40B4-BE49-F238E27FC236}">
                  <a16:creationId xmlns:a16="http://schemas.microsoft.com/office/drawing/2014/main" id="{81A3140B-8C9F-19DF-65A5-6672BD39D9E5}"/>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sp>
        <p:nvSpPr>
          <p:cNvPr id="829447" name="Rectangle 7">
            <a:extLst>
              <a:ext uri="{FF2B5EF4-FFF2-40B4-BE49-F238E27FC236}">
                <a16:creationId xmlns:a16="http://schemas.microsoft.com/office/drawing/2014/main" id="{C3C01F7E-DC99-7426-E9E5-056FCD31A16D}"/>
              </a:ext>
            </a:extLst>
          </p:cNvPr>
          <p:cNvSpPr>
            <a:spLocks noChangeArrowheads="1"/>
          </p:cNvSpPr>
          <p:nvPr/>
        </p:nvSpPr>
        <p:spPr bwMode="ltGray">
          <a:xfrm>
            <a:off x="1600200" y="700089"/>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29448" name="Rectangle 8">
            <a:extLst>
              <a:ext uri="{FF2B5EF4-FFF2-40B4-BE49-F238E27FC236}">
                <a16:creationId xmlns:a16="http://schemas.microsoft.com/office/drawing/2014/main" id="{0F161436-3E2E-4F85-8374-0AF69DFFA53B}"/>
              </a:ext>
            </a:extLst>
          </p:cNvPr>
          <p:cNvSpPr>
            <a:spLocks noChangeArrowheads="1"/>
          </p:cNvSpPr>
          <p:nvPr/>
        </p:nvSpPr>
        <p:spPr bwMode="gray">
          <a:xfrm>
            <a:off x="2235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29449" name="Rectangle 9">
            <a:extLst>
              <a:ext uri="{FF2B5EF4-FFF2-40B4-BE49-F238E27FC236}">
                <a16:creationId xmlns:a16="http://schemas.microsoft.com/office/drawing/2014/main" id="{90DC3948-A00F-FD3F-2857-7E87E4B117DC}"/>
              </a:ext>
            </a:extLst>
          </p:cNvPr>
          <p:cNvSpPr>
            <a:spLocks noChangeArrowheads="1"/>
          </p:cNvSpPr>
          <p:nvPr/>
        </p:nvSpPr>
        <p:spPr bwMode="gray">
          <a:xfrm>
            <a:off x="1966914"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29450" name="Rectangle 10">
            <a:extLst>
              <a:ext uri="{FF2B5EF4-FFF2-40B4-BE49-F238E27FC236}">
                <a16:creationId xmlns:a16="http://schemas.microsoft.com/office/drawing/2014/main" id="{8A566A44-20F8-D5A1-6BFE-14E9612C15A2}"/>
              </a:ext>
            </a:extLst>
          </p:cNvPr>
          <p:cNvSpPr>
            <a:spLocks noChangeArrowheads="1"/>
          </p:cNvSpPr>
          <p:nvPr/>
        </p:nvSpPr>
        <p:spPr bwMode="auto">
          <a:xfrm>
            <a:off x="1676400" y="1463842"/>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9451" name="Rectangle 11">
            <a:extLst>
              <a:ext uri="{FF2B5EF4-FFF2-40B4-BE49-F238E27FC236}">
                <a16:creationId xmlns:a16="http://schemas.microsoft.com/office/drawing/2014/main" id="{B1ADEF8E-BE01-4FCE-492D-6EB41DFD3B27}"/>
              </a:ext>
            </a:extLst>
          </p:cNvPr>
          <p:cNvSpPr>
            <a:spLocks noChangeArrowheads="1"/>
          </p:cNvSpPr>
          <p:nvPr/>
        </p:nvSpPr>
        <p:spPr bwMode="auto">
          <a:xfrm>
            <a:off x="1752600" y="1447800"/>
            <a:ext cx="8534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dirty="0"/>
              <a:t>10.Suppose a signal travels through a transmission medium and its power is reduced to one-half. This means that P2 is (1/2)P1. In this case, the attenuation (loss of power) can be calculated as</a:t>
            </a:r>
          </a:p>
        </p:txBody>
      </p:sp>
      <p:sp>
        <p:nvSpPr>
          <p:cNvPr id="829456" name="Rectangle 16">
            <a:extLst>
              <a:ext uri="{FF2B5EF4-FFF2-40B4-BE49-F238E27FC236}">
                <a16:creationId xmlns:a16="http://schemas.microsoft.com/office/drawing/2014/main" id="{3DB3FB79-B47C-E24E-2525-C50126EF97F8}"/>
              </a:ext>
            </a:extLst>
          </p:cNvPr>
          <p:cNvSpPr>
            <a:spLocks noChangeArrowheads="1"/>
          </p:cNvSpPr>
          <p:nvPr/>
        </p:nvSpPr>
        <p:spPr bwMode="auto">
          <a:xfrm>
            <a:off x="1676400" y="5302250"/>
            <a:ext cx="853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a:t>A loss of 3 dB (–3 dB) is equivalent to losing one-half the power.</a:t>
            </a:r>
          </a:p>
        </p:txBody>
      </p:sp>
      <p:pic>
        <p:nvPicPr>
          <p:cNvPr id="829457" name="Picture 17">
            <a:extLst>
              <a:ext uri="{FF2B5EF4-FFF2-40B4-BE49-F238E27FC236}">
                <a16:creationId xmlns:a16="http://schemas.microsoft.com/office/drawing/2014/main" id="{057C5C28-4ADA-AC43-2908-6AABEFC09A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850" y="3919538"/>
            <a:ext cx="7226300" cy="7286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B91C6C-3D43-72AA-7B90-8A4455E8C44C}"/>
              </a:ext>
            </a:extLst>
          </p:cNvPr>
          <p:cNvSpPr>
            <a:spLocks noGrp="1"/>
          </p:cNvSpPr>
          <p:nvPr>
            <p:ph type="sldNum" sz="quarter" idx="10"/>
          </p:nvPr>
        </p:nvSpPr>
        <p:spPr/>
        <p:txBody>
          <a:bodyPr/>
          <a:lstStyle/>
          <a:p>
            <a:r>
              <a:rPr lang="en-US" altLang="en-US"/>
              <a:t>3.</a:t>
            </a:r>
            <a:fld id="{0B80C04C-5C70-453E-B75A-17D01F770C8A}" type="slidenum">
              <a:rPr lang="en-US" altLang="en-US"/>
              <a:pPr/>
              <a:t>18</a:t>
            </a:fld>
            <a:endParaRPr lang="en-US" altLang="en-US"/>
          </a:p>
        </p:txBody>
      </p:sp>
      <p:sp>
        <p:nvSpPr>
          <p:cNvPr id="830466" name="Rectangle 2">
            <a:extLst>
              <a:ext uri="{FF2B5EF4-FFF2-40B4-BE49-F238E27FC236}">
                <a16:creationId xmlns:a16="http://schemas.microsoft.com/office/drawing/2014/main" id="{57EFA17F-9653-4C9B-593A-DF98D985C54E}"/>
              </a:ext>
            </a:extLst>
          </p:cNvPr>
          <p:cNvSpPr>
            <a:spLocks noChangeArrowheads="1"/>
          </p:cNvSpPr>
          <p:nvPr/>
        </p:nvSpPr>
        <p:spPr bwMode="ltGray">
          <a:xfrm>
            <a:off x="1890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0467" name="Rectangle 3">
            <a:extLst>
              <a:ext uri="{FF2B5EF4-FFF2-40B4-BE49-F238E27FC236}">
                <a16:creationId xmlns:a16="http://schemas.microsoft.com/office/drawing/2014/main" id="{47350499-649F-ADCE-9EFB-1B54B0417B95}"/>
              </a:ext>
            </a:extLst>
          </p:cNvPr>
          <p:cNvSpPr>
            <a:spLocks noChangeArrowheads="1"/>
          </p:cNvSpPr>
          <p:nvPr/>
        </p:nvSpPr>
        <p:spPr bwMode="ltGray">
          <a:xfrm>
            <a:off x="2273301"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nvGrpSpPr>
          <p:cNvPr id="830468" name="Group 4">
            <a:extLst>
              <a:ext uri="{FF2B5EF4-FFF2-40B4-BE49-F238E27FC236}">
                <a16:creationId xmlns:a16="http://schemas.microsoft.com/office/drawing/2014/main" id="{85805B11-78B5-5E7A-8BF4-D4D69197691C}"/>
              </a:ext>
            </a:extLst>
          </p:cNvPr>
          <p:cNvGrpSpPr>
            <a:grpSpLocks/>
          </p:cNvGrpSpPr>
          <p:nvPr/>
        </p:nvGrpSpPr>
        <p:grpSpPr bwMode="auto">
          <a:xfrm>
            <a:off x="2014539" y="773113"/>
            <a:ext cx="738187" cy="474662"/>
            <a:chOff x="309" y="487"/>
            <a:chExt cx="465" cy="299"/>
          </a:xfrm>
        </p:grpSpPr>
        <p:sp>
          <p:nvSpPr>
            <p:cNvPr id="830469" name="Rectangle 5">
              <a:extLst>
                <a:ext uri="{FF2B5EF4-FFF2-40B4-BE49-F238E27FC236}">
                  <a16:creationId xmlns:a16="http://schemas.microsoft.com/office/drawing/2014/main" id="{9E99297B-D1C5-AF94-D7A3-7380942302CB}"/>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0470" name="Rectangle 6">
              <a:extLst>
                <a:ext uri="{FF2B5EF4-FFF2-40B4-BE49-F238E27FC236}">
                  <a16:creationId xmlns:a16="http://schemas.microsoft.com/office/drawing/2014/main" id="{89E6E465-A5C6-5A80-3D70-31A3538A36E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sp>
        <p:nvSpPr>
          <p:cNvPr id="830471" name="Rectangle 7">
            <a:extLst>
              <a:ext uri="{FF2B5EF4-FFF2-40B4-BE49-F238E27FC236}">
                <a16:creationId xmlns:a16="http://schemas.microsoft.com/office/drawing/2014/main" id="{B09FF054-23D6-3E07-0F25-B0739737F3C0}"/>
              </a:ext>
            </a:extLst>
          </p:cNvPr>
          <p:cNvSpPr>
            <a:spLocks noChangeArrowheads="1"/>
          </p:cNvSpPr>
          <p:nvPr/>
        </p:nvSpPr>
        <p:spPr bwMode="ltGray">
          <a:xfrm>
            <a:off x="1600200" y="700089"/>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0472" name="Rectangle 8">
            <a:extLst>
              <a:ext uri="{FF2B5EF4-FFF2-40B4-BE49-F238E27FC236}">
                <a16:creationId xmlns:a16="http://schemas.microsoft.com/office/drawing/2014/main" id="{AE4D8153-425D-8145-0271-CFBE3E7067A7}"/>
              </a:ext>
            </a:extLst>
          </p:cNvPr>
          <p:cNvSpPr>
            <a:spLocks noChangeArrowheads="1"/>
          </p:cNvSpPr>
          <p:nvPr/>
        </p:nvSpPr>
        <p:spPr bwMode="gray">
          <a:xfrm>
            <a:off x="2235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0473" name="Rectangle 9">
            <a:extLst>
              <a:ext uri="{FF2B5EF4-FFF2-40B4-BE49-F238E27FC236}">
                <a16:creationId xmlns:a16="http://schemas.microsoft.com/office/drawing/2014/main" id="{20A74C9C-CD38-4592-BDF0-A5E3C256324C}"/>
              </a:ext>
            </a:extLst>
          </p:cNvPr>
          <p:cNvSpPr>
            <a:spLocks noChangeArrowheads="1"/>
          </p:cNvSpPr>
          <p:nvPr/>
        </p:nvSpPr>
        <p:spPr bwMode="gray">
          <a:xfrm>
            <a:off x="1966914"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0474" name="Rectangle 10">
            <a:extLst>
              <a:ext uri="{FF2B5EF4-FFF2-40B4-BE49-F238E27FC236}">
                <a16:creationId xmlns:a16="http://schemas.microsoft.com/office/drawing/2014/main" id="{4622A46F-79B8-7479-8E21-09D12018B00E}"/>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30475" name="Rectangle 11">
            <a:extLst>
              <a:ext uri="{FF2B5EF4-FFF2-40B4-BE49-F238E27FC236}">
                <a16:creationId xmlns:a16="http://schemas.microsoft.com/office/drawing/2014/main" id="{7C1A0D1D-8108-7F70-4A95-4DF4BCA4B406}"/>
              </a:ext>
            </a:extLst>
          </p:cNvPr>
          <p:cNvSpPr>
            <a:spLocks noChangeArrowheads="1"/>
          </p:cNvSpPr>
          <p:nvPr/>
        </p:nvSpPr>
        <p:spPr bwMode="auto">
          <a:xfrm>
            <a:off x="1752600" y="1447800"/>
            <a:ext cx="853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dirty="0"/>
              <a:t>Question:11</a:t>
            </a:r>
          </a:p>
        </p:txBody>
      </p:sp>
      <p:pic>
        <p:nvPicPr>
          <p:cNvPr id="4" name="Picture 3">
            <a:extLst>
              <a:ext uri="{FF2B5EF4-FFF2-40B4-BE49-F238E27FC236}">
                <a16:creationId xmlns:a16="http://schemas.microsoft.com/office/drawing/2014/main" id="{7AB28992-60E9-5E38-A7A5-3AD3445F1D4B}"/>
              </a:ext>
            </a:extLst>
          </p:cNvPr>
          <p:cNvPicPr>
            <a:picLocks noChangeAspect="1"/>
          </p:cNvPicPr>
          <p:nvPr/>
        </p:nvPicPr>
        <p:blipFill>
          <a:blip r:embed="rId3"/>
          <a:stretch>
            <a:fillRect/>
          </a:stretch>
        </p:blipFill>
        <p:spPr>
          <a:xfrm>
            <a:off x="1325473" y="1881421"/>
            <a:ext cx="9388654" cy="46257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22AEC8-0D63-B7C8-2490-677FC5BF1EC2}"/>
              </a:ext>
            </a:extLst>
          </p:cNvPr>
          <p:cNvSpPr>
            <a:spLocks noGrp="1"/>
          </p:cNvSpPr>
          <p:nvPr>
            <p:ph type="sldNum" sz="quarter" idx="10"/>
          </p:nvPr>
        </p:nvSpPr>
        <p:spPr/>
        <p:txBody>
          <a:bodyPr/>
          <a:lstStyle/>
          <a:p>
            <a:r>
              <a:rPr lang="en-US" altLang="en-US"/>
              <a:t>3.</a:t>
            </a:r>
            <a:fld id="{3CEEFBC5-E36A-4200-B218-C13EE58C91E0}" type="slidenum">
              <a:rPr lang="en-US" altLang="en-US"/>
              <a:pPr/>
              <a:t>19</a:t>
            </a:fld>
            <a:endParaRPr lang="en-US" altLang="en-US"/>
          </a:p>
        </p:txBody>
      </p:sp>
      <p:sp>
        <p:nvSpPr>
          <p:cNvPr id="832514" name="Rectangle 2">
            <a:extLst>
              <a:ext uri="{FF2B5EF4-FFF2-40B4-BE49-F238E27FC236}">
                <a16:creationId xmlns:a16="http://schemas.microsoft.com/office/drawing/2014/main" id="{659B690D-4125-FE61-8C78-090793F47954}"/>
              </a:ext>
            </a:extLst>
          </p:cNvPr>
          <p:cNvSpPr>
            <a:spLocks noChangeArrowheads="1"/>
          </p:cNvSpPr>
          <p:nvPr/>
        </p:nvSpPr>
        <p:spPr bwMode="ltGray">
          <a:xfrm>
            <a:off x="1890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2515" name="Rectangle 3">
            <a:extLst>
              <a:ext uri="{FF2B5EF4-FFF2-40B4-BE49-F238E27FC236}">
                <a16:creationId xmlns:a16="http://schemas.microsoft.com/office/drawing/2014/main" id="{EDBC1845-A779-FA0D-8F12-8C74F716770A}"/>
              </a:ext>
            </a:extLst>
          </p:cNvPr>
          <p:cNvSpPr>
            <a:spLocks noChangeArrowheads="1"/>
          </p:cNvSpPr>
          <p:nvPr/>
        </p:nvSpPr>
        <p:spPr bwMode="ltGray">
          <a:xfrm>
            <a:off x="2273301"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nvGrpSpPr>
          <p:cNvPr id="832516" name="Group 4">
            <a:extLst>
              <a:ext uri="{FF2B5EF4-FFF2-40B4-BE49-F238E27FC236}">
                <a16:creationId xmlns:a16="http://schemas.microsoft.com/office/drawing/2014/main" id="{20ED24D1-DBEB-7E5E-7DB2-0B2BB58A78E4}"/>
              </a:ext>
            </a:extLst>
          </p:cNvPr>
          <p:cNvGrpSpPr>
            <a:grpSpLocks/>
          </p:cNvGrpSpPr>
          <p:nvPr/>
        </p:nvGrpSpPr>
        <p:grpSpPr bwMode="auto">
          <a:xfrm>
            <a:off x="2014539" y="773113"/>
            <a:ext cx="738187" cy="474662"/>
            <a:chOff x="309" y="487"/>
            <a:chExt cx="465" cy="299"/>
          </a:xfrm>
        </p:grpSpPr>
        <p:sp>
          <p:nvSpPr>
            <p:cNvPr id="832517" name="Rectangle 5">
              <a:extLst>
                <a:ext uri="{FF2B5EF4-FFF2-40B4-BE49-F238E27FC236}">
                  <a16:creationId xmlns:a16="http://schemas.microsoft.com/office/drawing/2014/main" id="{FC96B7F5-5052-0217-E903-80F1E819886C}"/>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2518" name="Rectangle 6">
              <a:extLst>
                <a:ext uri="{FF2B5EF4-FFF2-40B4-BE49-F238E27FC236}">
                  <a16:creationId xmlns:a16="http://schemas.microsoft.com/office/drawing/2014/main" id="{E188F3B9-77E3-DBE3-73B1-C2F12CC4EE8F}"/>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sp>
        <p:nvSpPr>
          <p:cNvPr id="832519" name="Rectangle 7">
            <a:extLst>
              <a:ext uri="{FF2B5EF4-FFF2-40B4-BE49-F238E27FC236}">
                <a16:creationId xmlns:a16="http://schemas.microsoft.com/office/drawing/2014/main" id="{E3924D21-8783-1ACB-A670-8D84D6D6C95C}"/>
              </a:ext>
            </a:extLst>
          </p:cNvPr>
          <p:cNvSpPr>
            <a:spLocks noChangeArrowheads="1"/>
          </p:cNvSpPr>
          <p:nvPr/>
        </p:nvSpPr>
        <p:spPr bwMode="ltGray">
          <a:xfrm>
            <a:off x="1600200" y="700089"/>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2520" name="Rectangle 8">
            <a:extLst>
              <a:ext uri="{FF2B5EF4-FFF2-40B4-BE49-F238E27FC236}">
                <a16:creationId xmlns:a16="http://schemas.microsoft.com/office/drawing/2014/main" id="{BCF9D5DF-B2C4-44AC-E592-D8E74810352D}"/>
              </a:ext>
            </a:extLst>
          </p:cNvPr>
          <p:cNvSpPr>
            <a:spLocks noChangeArrowheads="1"/>
          </p:cNvSpPr>
          <p:nvPr/>
        </p:nvSpPr>
        <p:spPr bwMode="gray">
          <a:xfrm>
            <a:off x="2235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2521" name="Rectangle 9">
            <a:extLst>
              <a:ext uri="{FF2B5EF4-FFF2-40B4-BE49-F238E27FC236}">
                <a16:creationId xmlns:a16="http://schemas.microsoft.com/office/drawing/2014/main" id="{5FD3DBDA-DF34-9723-20DB-EA1BC320E3B1}"/>
              </a:ext>
            </a:extLst>
          </p:cNvPr>
          <p:cNvSpPr>
            <a:spLocks noChangeArrowheads="1"/>
          </p:cNvSpPr>
          <p:nvPr/>
        </p:nvSpPr>
        <p:spPr bwMode="gray">
          <a:xfrm>
            <a:off x="1966914"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832522" name="Rectangle 10">
            <a:extLst>
              <a:ext uri="{FF2B5EF4-FFF2-40B4-BE49-F238E27FC236}">
                <a16:creationId xmlns:a16="http://schemas.microsoft.com/office/drawing/2014/main" id="{D861A130-3AC6-1262-2244-9FE114A84531}"/>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32523" name="Rectangle 11">
            <a:extLst>
              <a:ext uri="{FF2B5EF4-FFF2-40B4-BE49-F238E27FC236}">
                <a16:creationId xmlns:a16="http://schemas.microsoft.com/office/drawing/2014/main" id="{1D1D62A4-ECA5-D665-FE6D-E07BDE391BDB}"/>
              </a:ext>
            </a:extLst>
          </p:cNvPr>
          <p:cNvSpPr>
            <a:spLocks noChangeArrowheads="1"/>
          </p:cNvSpPr>
          <p:nvPr/>
        </p:nvSpPr>
        <p:spPr bwMode="auto">
          <a:xfrm>
            <a:off x="1752600" y="1447800"/>
            <a:ext cx="853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dirty="0"/>
              <a:t>12.</a:t>
            </a:r>
          </a:p>
        </p:txBody>
      </p:sp>
      <p:pic>
        <p:nvPicPr>
          <p:cNvPr id="4" name="Picture 3">
            <a:extLst>
              <a:ext uri="{FF2B5EF4-FFF2-40B4-BE49-F238E27FC236}">
                <a16:creationId xmlns:a16="http://schemas.microsoft.com/office/drawing/2014/main" id="{A80EA989-B672-CD3B-CC2F-94F735B0D7B6}"/>
              </a:ext>
            </a:extLst>
          </p:cNvPr>
          <p:cNvPicPr>
            <a:picLocks noChangeAspect="1"/>
          </p:cNvPicPr>
          <p:nvPr/>
        </p:nvPicPr>
        <p:blipFill>
          <a:blip r:embed="rId3"/>
          <a:stretch>
            <a:fillRect/>
          </a:stretch>
        </p:blipFill>
        <p:spPr>
          <a:xfrm>
            <a:off x="1133334" y="1817132"/>
            <a:ext cx="9533446" cy="504487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8E710-330B-A0FA-75D0-19D156992DBF}"/>
              </a:ext>
            </a:extLst>
          </p:cNvPr>
          <p:cNvPicPr>
            <a:picLocks noChangeAspect="1"/>
          </p:cNvPicPr>
          <p:nvPr/>
        </p:nvPicPr>
        <p:blipFill>
          <a:blip r:embed="rId2"/>
          <a:stretch>
            <a:fillRect/>
          </a:stretch>
        </p:blipFill>
        <p:spPr>
          <a:xfrm>
            <a:off x="1141978" y="592444"/>
            <a:ext cx="9236240" cy="4740051"/>
          </a:xfrm>
          <a:prstGeom prst="rect">
            <a:avLst/>
          </a:prstGeom>
        </p:spPr>
      </p:pic>
      <p:pic>
        <p:nvPicPr>
          <p:cNvPr id="5" name="Picture 4">
            <a:extLst>
              <a:ext uri="{FF2B5EF4-FFF2-40B4-BE49-F238E27FC236}">
                <a16:creationId xmlns:a16="http://schemas.microsoft.com/office/drawing/2014/main" id="{299AE636-0CC3-5F2A-A836-9919C6AB5A51}"/>
              </a:ext>
            </a:extLst>
          </p:cNvPr>
          <p:cNvPicPr>
            <a:picLocks noChangeAspect="1"/>
          </p:cNvPicPr>
          <p:nvPr/>
        </p:nvPicPr>
        <p:blipFill>
          <a:blip r:embed="rId3"/>
          <a:stretch>
            <a:fillRect/>
          </a:stretch>
        </p:blipFill>
        <p:spPr>
          <a:xfrm>
            <a:off x="1813782" y="4223219"/>
            <a:ext cx="5128704" cy="2042337"/>
          </a:xfrm>
          <a:prstGeom prst="rect">
            <a:avLst/>
          </a:prstGeom>
        </p:spPr>
      </p:pic>
    </p:spTree>
    <p:extLst>
      <p:ext uri="{BB962C8B-B14F-4D97-AF65-F5344CB8AC3E}">
        <p14:creationId xmlns:p14="http://schemas.microsoft.com/office/powerpoint/2010/main" val="1282293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E00C6B-203C-B241-3C8E-4C83A6526414}"/>
              </a:ext>
            </a:extLst>
          </p:cNvPr>
          <p:cNvSpPr>
            <a:spLocks noGrp="1"/>
          </p:cNvSpPr>
          <p:nvPr>
            <p:ph type="sldNum" sz="quarter" idx="10"/>
          </p:nvPr>
        </p:nvSpPr>
        <p:spPr/>
        <p:txBody>
          <a:bodyPr/>
          <a:lstStyle/>
          <a:p>
            <a:r>
              <a:rPr lang="en-US" altLang="en-US"/>
              <a:t>3.</a:t>
            </a:r>
            <a:fld id="{38A49A89-3F70-4491-B30D-5AFF9541A19F}" type="slidenum">
              <a:rPr lang="en-US" altLang="en-US"/>
              <a:pPr/>
              <a:t>21</a:t>
            </a:fld>
            <a:endParaRPr lang="en-US" altLang="en-US"/>
          </a:p>
        </p:txBody>
      </p:sp>
      <p:sp>
        <p:nvSpPr>
          <p:cNvPr id="986114" name="Rectangle 2">
            <a:extLst>
              <a:ext uri="{FF2B5EF4-FFF2-40B4-BE49-F238E27FC236}">
                <a16:creationId xmlns:a16="http://schemas.microsoft.com/office/drawing/2014/main" id="{BA7C8C3C-7CD9-7F81-D0FD-78942A42B7EE}"/>
              </a:ext>
            </a:extLst>
          </p:cNvPr>
          <p:cNvSpPr>
            <a:spLocks noChangeArrowheads="1"/>
          </p:cNvSpPr>
          <p:nvPr/>
        </p:nvSpPr>
        <p:spPr bwMode="ltGray">
          <a:xfrm>
            <a:off x="1890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86115" name="Rectangle 3">
            <a:extLst>
              <a:ext uri="{FF2B5EF4-FFF2-40B4-BE49-F238E27FC236}">
                <a16:creationId xmlns:a16="http://schemas.microsoft.com/office/drawing/2014/main" id="{11656666-ACCE-1B8B-38E1-6A8AE6F97005}"/>
              </a:ext>
            </a:extLst>
          </p:cNvPr>
          <p:cNvSpPr>
            <a:spLocks noChangeArrowheads="1"/>
          </p:cNvSpPr>
          <p:nvPr/>
        </p:nvSpPr>
        <p:spPr bwMode="ltGray">
          <a:xfrm>
            <a:off x="2273301"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nvGrpSpPr>
          <p:cNvPr id="986116" name="Group 4">
            <a:extLst>
              <a:ext uri="{FF2B5EF4-FFF2-40B4-BE49-F238E27FC236}">
                <a16:creationId xmlns:a16="http://schemas.microsoft.com/office/drawing/2014/main" id="{ED81F3B3-DB24-C1C6-0B0B-DF4AEA59CE24}"/>
              </a:ext>
            </a:extLst>
          </p:cNvPr>
          <p:cNvGrpSpPr>
            <a:grpSpLocks/>
          </p:cNvGrpSpPr>
          <p:nvPr/>
        </p:nvGrpSpPr>
        <p:grpSpPr bwMode="auto">
          <a:xfrm>
            <a:off x="2014539" y="773113"/>
            <a:ext cx="738187" cy="474662"/>
            <a:chOff x="309" y="487"/>
            <a:chExt cx="465" cy="299"/>
          </a:xfrm>
        </p:grpSpPr>
        <p:sp>
          <p:nvSpPr>
            <p:cNvPr id="986117" name="Rectangle 5">
              <a:extLst>
                <a:ext uri="{FF2B5EF4-FFF2-40B4-BE49-F238E27FC236}">
                  <a16:creationId xmlns:a16="http://schemas.microsoft.com/office/drawing/2014/main" id="{BD62931D-91EF-F5EF-F9DF-4275BFBCF465}"/>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86118" name="Rectangle 6">
              <a:extLst>
                <a:ext uri="{FF2B5EF4-FFF2-40B4-BE49-F238E27FC236}">
                  <a16:creationId xmlns:a16="http://schemas.microsoft.com/office/drawing/2014/main" id="{D1621100-B92F-AD22-5917-37DD0D6BA5A1}"/>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grpSp>
      <p:sp>
        <p:nvSpPr>
          <p:cNvPr id="986119" name="Rectangle 7">
            <a:extLst>
              <a:ext uri="{FF2B5EF4-FFF2-40B4-BE49-F238E27FC236}">
                <a16:creationId xmlns:a16="http://schemas.microsoft.com/office/drawing/2014/main" id="{F4012370-413E-206C-1D0D-74840F21EB64}"/>
              </a:ext>
            </a:extLst>
          </p:cNvPr>
          <p:cNvSpPr>
            <a:spLocks noChangeArrowheads="1"/>
          </p:cNvSpPr>
          <p:nvPr/>
        </p:nvSpPr>
        <p:spPr bwMode="ltGray">
          <a:xfrm>
            <a:off x="1600200" y="700089"/>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86120" name="Rectangle 8">
            <a:extLst>
              <a:ext uri="{FF2B5EF4-FFF2-40B4-BE49-F238E27FC236}">
                <a16:creationId xmlns:a16="http://schemas.microsoft.com/office/drawing/2014/main" id="{6034737F-3457-C7BD-784D-7020094D152F}"/>
              </a:ext>
            </a:extLst>
          </p:cNvPr>
          <p:cNvSpPr>
            <a:spLocks noChangeArrowheads="1"/>
          </p:cNvSpPr>
          <p:nvPr/>
        </p:nvSpPr>
        <p:spPr bwMode="gray">
          <a:xfrm>
            <a:off x="2235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86121" name="Rectangle 9">
            <a:extLst>
              <a:ext uri="{FF2B5EF4-FFF2-40B4-BE49-F238E27FC236}">
                <a16:creationId xmlns:a16="http://schemas.microsoft.com/office/drawing/2014/main" id="{83CD7521-4A95-0699-DEC6-0653F1C3D12C}"/>
              </a:ext>
            </a:extLst>
          </p:cNvPr>
          <p:cNvSpPr>
            <a:spLocks noChangeArrowheads="1"/>
          </p:cNvSpPr>
          <p:nvPr/>
        </p:nvSpPr>
        <p:spPr bwMode="gray">
          <a:xfrm>
            <a:off x="1966914"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86122" name="Rectangle 10">
            <a:extLst>
              <a:ext uri="{FF2B5EF4-FFF2-40B4-BE49-F238E27FC236}">
                <a16:creationId xmlns:a16="http://schemas.microsoft.com/office/drawing/2014/main" id="{0B817051-386B-648D-66D4-C82D18B95E2C}"/>
              </a:ext>
            </a:extLst>
          </p:cNvPr>
          <p:cNvSpPr>
            <a:spLocks noChangeArrowheads="1"/>
          </p:cNvSpPr>
          <p:nvPr/>
        </p:nvSpPr>
        <p:spPr bwMode="auto">
          <a:xfrm>
            <a:off x="1676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6123" name="Rectangle 11">
            <a:extLst>
              <a:ext uri="{FF2B5EF4-FFF2-40B4-BE49-F238E27FC236}">
                <a16:creationId xmlns:a16="http://schemas.microsoft.com/office/drawing/2014/main" id="{8B3F3040-C1D6-06FD-4A1F-6BDEE059A012}"/>
              </a:ext>
            </a:extLst>
          </p:cNvPr>
          <p:cNvSpPr>
            <a:spLocks noChangeArrowheads="1"/>
          </p:cNvSpPr>
          <p:nvPr/>
        </p:nvSpPr>
        <p:spPr bwMode="auto">
          <a:xfrm>
            <a:off x="1752600" y="1143000"/>
            <a:ext cx="8534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dirty="0"/>
              <a:t>13.The loss in a cable is usually defined in decibels per kilometer (dB/km). If the signal at the beginning of a cable with −0.3 dB/km has a power of 2 </a:t>
            </a:r>
            <a:r>
              <a:rPr lang="en-US" altLang="en-US" dirty="0" err="1"/>
              <a:t>mW</a:t>
            </a:r>
            <a:r>
              <a:rPr lang="en-US" altLang="en-US" dirty="0"/>
              <a:t>, what is the power of the signal at 5 km?</a:t>
            </a:r>
          </a:p>
          <a:p>
            <a:pPr algn="just"/>
            <a:r>
              <a:rPr lang="en-US" altLang="en-US" dirty="0">
                <a:solidFill>
                  <a:schemeClr val="hlink"/>
                </a:solidFill>
              </a:rPr>
              <a:t>Solution</a:t>
            </a:r>
          </a:p>
          <a:p>
            <a:pPr algn="just"/>
            <a:r>
              <a:rPr lang="en-US" altLang="en-US" dirty="0"/>
              <a:t>The loss in the cable in decibels is 5 × (−0.3) = −1.5 </a:t>
            </a:r>
            <a:r>
              <a:rPr lang="en-US" altLang="en-US" dirty="0" err="1"/>
              <a:t>dB.</a:t>
            </a:r>
            <a:r>
              <a:rPr lang="en-US" altLang="en-US" dirty="0"/>
              <a:t> We can calculate the power as</a:t>
            </a:r>
          </a:p>
        </p:txBody>
      </p:sp>
      <p:pic>
        <p:nvPicPr>
          <p:cNvPr id="986126" name="Picture 14">
            <a:extLst>
              <a:ext uri="{FF2B5EF4-FFF2-40B4-BE49-F238E27FC236}">
                <a16:creationId xmlns:a16="http://schemas.microsoft.com/office/drawing/2014/main" id="{B0EDDF02-0352-7BB7-0C86-3F1549B539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4639" y="4343400"/>
            <a:ext cx="4022725" cy="18986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a:extLst>
              <a:ext uri="{FF2B5EF4-FFF2-40B4-BE49-F238E27FC236}">
                <a16:creationId xmlns:a16="http://schemas.microsoft.com/office/drawing/2014/main" id="{D7A33617-A9BE-BA06-CE5D-7C1AD9CF2BFF}"/>
              </a:ext>
            </a:extLst>
          </p:cNvPr>
          <p:cNvSpPr>
            <a:spLocks noChangeArrowheads="1"/>
          </p:cNvSpPr>
          <p:nvPr/>
        </p:nvSpPr>
        <p:spPr bwMode="auto">
          <a:xfrm>
            <a:off x="981635" y="1261751"/>
            <a:ext cx="8534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baseline="0" dirty="0"/>
              <a:t>14.Consider a noiseless channel with a bandwidth of 3000 Hz transmitting a signal with two signal levels. What is the maximum bit rate</a:t>
            </a:r>
          </a:p>
        </p:txBody>
      </p:sp>
      <p:pic>
        <p:nvPicPr>
          <p:cNvPr id="5" name="Picture 15">
            <a:extLst>
              <a:ext uri="{FF2B5EF4-FFF2-40B4-BE49-F238E27FC236}">
                <a16:creationId xmlns:a16="http://schemas.microsoft.com/office/drawing/2014/main" id="{74AF432C-912F-5448-67DF-E44F2BA88C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665" y="2870609"/>
            <a:ext cx="4346575"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441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39E90943-61BF-DD78-1697-77A609B1D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3624" y="3361764"/>
            <a:ext cx="5791200" cy="6635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DD2F898E-CBBE-D527-E023-A52889596796}"/>
              </a:ext>
            </a:extLst>
          </p:cNvPr>
          <p:cNvSpPr>
            <a:spLocks noChangeArrowheads="1"/>
          </p:cNvSpPr>
          <p:nvPr/>
        </p:nvSpPr>
        <p:spPr bwMode="auto">
          <a:xfrm>
            <a:off x="340659" y="3816640"/>
            <a:ext cx="11134165"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Number of hops=4</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Bandwidth (BW)=10Mbps=10×10</a:t>
            </a:r>
            <a:r>
              <a:rPr kumimoji="0" lang="en-US" altLang="en-US" sz="1400" b="0" i="0" u="none" strike="noStrike" cap="none" normalizeH="0" baseline="300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bits/sec =10</a:t>
            </a:r>
            <a:r>
              <a:rPr kumimoji="0" lang="en-US" altLang="en-US" sz="1400" b="0" i="0" u="none" strike="noStrike" cap="none" normalizeH="0" baseline="300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bits/sec</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Message Size (M)=100bytes=10×8=800 bits</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speed (S)= 2.4 * 10</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 m/s.</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Distance (D)= 12,000 </a:t>
            </a:r>
            <a:r>
              <a:rPr kumimoji="0" lang="en-US" altLang="en-US" sz="14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kilometres</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12000×1000 meters</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Circuit Connection set up time=10 sec</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Circuit disconnect/termination time= 5sec</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Transmission delay= M/BW=</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Tt</a:t>
            </a:r>
            <a:r>
              <a:rPr kumimoji="0" lang="en-US" altLang="en-US" sz="1400" b="0" i="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MBw</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Tt</a:t>
            </a:r>
            <a:r>
              <a:rPr kumimoji="0" lang="en-US" altLang="en-US" sz="1400" b="0" i="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=800 bits10</a:t>
            </a:r>
            <a:r>
              <a:rPr kumimoji="0" lang="en-US" altLang="en-US" sz="1400" b="0" i="0" u="none" strike="noStrike" cap="none" normalizeH="0" baseline="3000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7</a:t>
            </a:r>
            <a:r>
              <a:rPr kumimoji="0" lang="en-US" altLang="en-US" sz="1400" b="0" i="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 Bits/sec</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=8</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r>
              <a:rPr kumimoji="0" lang="en-US" altLang="en-US" sz="1400" b="0" i="0" u="none" strike="noStrike" cap="none" normalizeH="0" baseline="300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sec</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Propagation delay </a:t>
            </a:r>
            <a:r>
              <a:rPr kumimoji="0" lang="en-US" altLang="en-US" sz="1400" b="0" i="1" u="none" strike="noStrike" cap="none" normalizeH="0" baseline="0" dirty="0" err="1">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Tp</a:t>
            </a:r>
            <a:r>
              <a:rPr kumimoji="0" lang="en-US" altLang="en-US" sz="1400" b="0" i="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DistanceSpeed</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err="1">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Tp</a:t>
            </a:r>
            <a:r>
              <a:rPr kumimoji="0" lang="en-US" altLang="en-US" sz="1400" b="0" i="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=12000*103</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 meters</a:t>
            </a:r>
            <a:r>
              <a:rPr kumimoji="0" lang="en-US" altLang="en-US" sz="1400" b="0" i="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2.54*103</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mesters/sec</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10</a:t>
            </a:r>
            <a:r>
              <a:rPr kumimoji="0" lang="en-US" altLang="en-US" sz="1400" b="0"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 </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sec</a:t>
            </a:r>
            <a:endParaRPr kumimoji="0" lang="en-US"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Total time=</a:t>
            </a:r>
            <a:r>
              <a:rPr kumimoji="0" lang="en-US" altLang="en-US" sz="1400" b="0" i="0" u="none" strike="noStrike" cap="none" normalizeH="0" baseline="0" dirty="0">
                <a:ln>
                  <a:noFill/>
                </a:ln>
                <a:solidFill>
                  <a:srgbClr val="303030"/>
                </a:solidFill>
                <a:effectLst/>
                <a:latin typeface="Arial" panose="020B0604020202020204" pitchFamily="34" charset="0"/>
                <a:ea typeface="Times New Roman" panose="02020603050405020304" pitchFamily="18" charset="0"/>
              </a:rPr>
              <a:t> Connection set up time + Transmission delay + (Propagation delay * Number of hops) + Tear down time</a:t>
            </a:r>
            <a:endParaRPr kumimoji="0" lang="en-US"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Total time= 10+8</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r>
              <a:rPr kumimoji="0" lang="en-US" altLang="en-US" sz="1400" b="0" i="0" u="none" strike="noStrike" cap="none" normalizeH="0" baseline="300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10</a:t>
            </a:r>
            <a:r>
              <a:rPr kumimoji="0" lang="en-US" altLang="en-US" sz="1400" b="0"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 </a:t>
            </a:r>
            <a:r>
              <a:rPr kumimoji="0" lang="en-US"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4)+5= 15.20008 sec =15200.08 </a:t>
            </a:r>
            <a:r>
              <a:rPr kumimoji="0" lang="en-US" altLang="en-US" sz="14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ms</a:t>
            </a: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=15200080 micro sec</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92C0B2AE-8E63-E762-DF8B-1411C50F2559}"/>
              </a:ext>
            </a:extLst>
          </p:cNvPr>
          <p:cNvSpPr txBox="1"/>
          <p:nvPr/>
        </p:nvSpPr>
        <p:spPr>
          <a:xfrm>
            <a:off x="340659" y="519954"/>
            <a:ext cx="11474823" cy="28418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Q15)</a:t>
            </a: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Assume there is a network that transfers data using circuit switching. There are three switches between end-users (sender and receiver) on this network, with a channel capacity (bandwidth) of 10 Mbps. Calculate the total time it takes to send a 100-byte message from sender to recipient using the information below (Consider the given parameters according to the requirement).</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propagation speed is estimated to be 2.4 * 10</a:t>
            </a:r>
            <a:r>
              <a:rPr kumimoji="0" lang="en-US" altLang="en-US" sz="18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 m/s.</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hop distance between two nodes is 12,000 </a:t>
            </a:r>
            <a:r>
              <a:rPr kumimoji="0" lang="en-US" altLang="en-US" sz="18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kilometres</a:t>
            </a: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header is 100 bytes long.</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circuit setup time is 10 seconds, and the circuit disconnect time is half that of the setup time.</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Answer q1</a:t>
            </a: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There are three switches between end-users (sender and receiver)</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p:txBody>
      </p:sp>
    </p:spTree>
    <p:extLst>
      <p:ext uri="{BB962C8B-B14F-4D97-AF65-F5344CB8AC3E}">
        <p14:creationId xmlns:p14="http://schemas.microsoft.com/office/powerpoint/2010/main" val="2959250612"/>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_fixed.potx" id="{9A9BE078-57A7-48B2-9D33-8EFC365D262A}" vid="{66905093-CF97-471D-A25F-2AFDA55216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{A996840D-1B61-40F0-A38E-90DA033CAA71}tf10001108_win32</Template>
  <TotalTime>10040</TotalTime>
  <Words>1272</Words>
  <Application>Microsoft Macintosh PowerPoint</Application>
  <PresentationFormat>Widescreen</PresentationFormat>
  <Paragraphs>69</Paragraphs>
  <Slides>23</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Cambria Math</vt:lpstr>
      <vt:lpstr>Segoe UI</vt:lpstr>
      <vt:lpstr>Segoe UI Light</vt:lpstr>
      <vt:lpstr>Tahoma</vt:lpstr>
      <vt:lpstr>Times New Roman</vt:lpstr>
      <vt:lpstr>WelcomeDoc</vt:lpstr>
      <vt:lpstr>Problem solving</vt:lpstr>
      <vt:lpstr>Q.N0.1</vt:lpstr>
      <vt:lpstr>Solution</vt:lpstr>
      <vt:lpstr>PowerPoint Presentation</vt:lpstr>
      <vt:lpstr>Q.No.2</vt:lpstr>
      <vt:lpstr>Solution</vt:lpstr>
      <vt:lpstr>Q.No.3</vt:lpstr>
      <vt:lpstr>Q.No.4</vt:lpstr>
      <vt:lpstr>PowerPoint Presentation</vt:lpstr>
      <vt:lpstr>Q.No.5</vt:lpstr>
      <vt:lpstr>PowerPoint Presentation</vt:lpstr>
      <vt:lpstr>PowerPoint Presentation</vt:lpstr>
      <vt:lpstr>PowerPoint Presentation</vt:lpstr>
      <vt:lpstr>  Q9. Consider the two scenarios below:   A circuit-switching scenario in which Ncs users, each requiring a bandwidth of 20 Mbps, must share a link of capacity 200 Mbps.  A packet-switching scenario with Nps users(19) sharing a 200 Mbps link, where each user again requires 20 Mbps when transmitting, but only needs to transmit 20 percent of the time.  </vt:lpstr>
      <vt:lpstr>PowerPoint Presentation</vt:lpstr>
      <vt:lpstr>9b.Suppose packet switching is used. What is the probability that a given (specific) user is transmitting, and the remaining users are not transmitting?   Nps=19</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dc:title>
  <dc:creator>Red</dc:creator>
  <cp:keywords/>
  <cp:lastModifiedBy>Apoorva Karnwal</cp:lastModifiedBy>
  <cp:revision>20</cp:revision>
  <dcterms:created xsi:type="dcterms:W3CDTF">2023-05-08T03:03:39Z</dcterms:created>
  <dcterms:modified xsi:type="dcterms:W3CDTF">2024-08-27T19:00:47Z</dcterms:modified>
  <cp:version/>
</cp:coreProperties>
</file>