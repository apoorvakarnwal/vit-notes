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78" r:id="rId6"/>
    <p:sldId id="260" r:id="rId7"/>
    <p:sldId id="281" r:id="rId8"/>
    <p:sldId id="279" r:id="rId9"/>
    <p:sldId id="261" r:id="rId10"/>
    <p:sldId id="280" r:id="rId11"/>
    <p:sldId id="262" r:id="rId12"/>
    <p:sldId id="263" r:id="rId13"/>
    <p:sldId id="264" r:id="rId14"/>
    <p:sldId id="267" r:id="rId15"/>
    <p:sldId id="265" r:id="rId16"/>
    <p:sldId id="270" r:id="rId17"/>
    <p:sldId id="269" r:id="rId18"/>
    <p:sldId id="266" r:id="rId19"/>
    <p:sldId id="268" r:id="rId20"/>
    <p:sldId id="271" r:id="rId21"/>
    <p:sldId id="272" r:id="rId22"/>
    <p:sldId id="273" r:id="rId23"/>
    <p:sldId id="275" r:id="rId24"/>
    <p:sldId id="274" r:id="rId25"/>
    <p:sldId id="276" r:id="rId26"/>
    <p:sldId id="27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24" autoAdjust="0"/>
    <p:restoredTop sz="94660"/>
  </p:normalViewPr>
  <p:slideViewPr>
    <p:cSldViewPr snapToGrid="0">
      <p:cViewPr varScale="1">
        <p:scale>
          <a:sx n="76" d="100"/>
          <a:sy n="76" d="100"/>
        </p:scale>
        <p:origin x="6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AA1D-EB08-4871-AC1D-DA088D8C8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5E87F-C34D-4954-BCBC-3A5D2C905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27218-D526-4A8D-8FE0-69B4FE40C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BB45A-F6F8-49D2-B867-77361F343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46BC3-0868-483E-9597-56D11E45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93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A94C8-1750-46D7-96F8-7EAA0DCEF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CFE88-CB4C-43A4-A8DD-493E23DA9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E59B5-0284-4AE5-9CFC-1F4CD269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D284A-DFC3-407F-8E92-AFEFC1AC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D95B3-F50E-49F6-AA79-330FE4DB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920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C213A-241F-4F5F-A293-F82D6B6AE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8A7DD-3E19-4BA2-83C4-D626AFA16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29330-513E-4C07-9B56-B9FBC085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44D5E-7DFF-4EEF-9EB8-95836E0BB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28654-CC44-4A27-A350-AB66CE88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62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3D83B-91AF-466F-8F9D-33FEA1B5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031B8-D57E-4F28-83A4-22BC0D390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A8524-6153-407B-90C4-39660777C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21ED05-EB73-443B-AE14-822AB3D83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DA869-E3C1-441C-9B7D-DECA4426B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991D0-568A-4222-BC23-9BEC624E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31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6C0CA-24DB-4352-A5A3-A9B41C74A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6762D-8D2A-4C96-946C-AC5E29E3A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E8C2C-433A-449D-A442-A5A1ED20F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DD765-45C7-437B-B1CE-D0A0E661D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D7EF26-B26C-4164-9593-06DE32B26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6284A1-8EA5-4F41-88C1-453ABA79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787DF2-798E-4222-ABE8-105BBBDB4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3A3D97-8775-438D-8C1E-1004215C0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37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9C06-8D14-48A7-9C3F-D73FD2A2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BD5145-9FAF-426E-80B1-A765EEF1E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88410-8AF3-43DF-99B1-15690FE33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88D7E8-C0B8-4FBB-8AE4-519E0924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54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629507-962E-414D-A108-197BC127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D6918-9067-4E2C-A0EC-7FA341F6B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F9A613-8663-42B6-A39B-FC24B337C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24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4DDE7-1370-42D2-A73C-248A5365A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C60FA-BC0C-4947-A6FB-32477DFE8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B3564-A4C7-4B0B-BD06-1CA723C24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3C56D-2EBD-495F-AFFD-91B0C86FC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D16F1-1BB9-4237-B28B-46437D54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E33C1-3700-4CEE-B8F9-2FCC4547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76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4002F-6643-43E2-B5FF-574F70579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A8E3A-8E74-4752-BA84-F015887B7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64C36-4CEE-4392-B982-470465170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21249D-E628-40F7-9748-05F73E0B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484F5-A813-4D86-BB2D-F928B7A6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C5673-09F5-41A2-9116-3E9B22249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905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D815-B319-4CA4-B37C-A82AA76FC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636FA-D581-4E4F-8237-345451F60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A5CF1-ED79-420E-8725-78BFE8C96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74BB7-0183-4A14-839E-B4D283467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60303-A79E-4833-AFC3-DCFE45AA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824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2B28B-489F-4FEB-9DF1-0DF325301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B6B61B-BFB6-4943-8F08-59894BC09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EC186-6429-42D2-A60D-7C55B8618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C29A5-54C8-417D-B791-73D0349A2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A6E554-A459-4022-8558-2FD1621EF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33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F769A-B93B-4C4E-9B0E-81D63291A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9F10E-F86A-4F5D-9255-B243B917E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AAC19-7FB6-41E9-98EF-ADD0902B8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0E233-7D96-4643-9D3D-A415857472A5}" type="datetimeFigureOut">
              <a:rPr lang="en-IN" smtClean="0"/>
              <a:t>18-07-2024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7B60B-A552-46CC-831A-BC4F7BF176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AE633-88A5-4118-9054-0F25FE78E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45340-A92E-4CF2-B64E-734C1D610B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67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FE08-AAC1-4FA7-8F86-B99B69053C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Computer Networks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689DD-20B6-4ACB-A4FB-3449640AB7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BCSE308L</a:t>
            </a:r>
          </a:p>
        </p:txBody>
      </p:sp>
    </p:spTree>
    <p:extLst>
      <p:ext uri="{BB962C8B-B14F-4D97-AF65-F5344CB8AC3E}">
        <p14:creationId xmlns:p14="http://schemas.microsoft.com/office/powerpoint/2010/main" val="23684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984D-D908-4E4B-B893-5B314E1E8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COURSE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4F89B-DCB2-45BE-87D0-2823821DD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621ABF-CCD2-4BE7-9164-FEDA86AA1C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333" t="38937" r="25119" b="36289"/>
          <a:stretch/>
        </p:blipFill>
        <p:spPr>
          <a:xfrm>
            <a:off x="161300" y="1422854"/>
            <a:ext cx="11869400" cy="380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8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0015-2E95-4F01-BAD9-A6694D5EB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3484E-5745-4A28-A0E0-B2DC42FEB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A1300-240C-4C50-8708-0413BA4B17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94" t="20727" r="23929" b="9911"/>
          <a:stretch/>
        </p:blipFill>
        <p:spPr>
          <a:xfrm>
            <a:off x="1132114" y="68753"/>
            <a:ext cx="9927771" cy="672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5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1A62-2C63-47AB-90E8-680CA1D4B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64566-0516-40B0-9D51-9C3CD9988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F847734-7F90-4544-B720-53A357FF2738}"/>
              </a:ext>
            </a:extLst>
          </p:cNvPr>
          <p:cNvGrpSpPr/>
          <p:nvPr/>
        </p:nvGrpSpPr>
        <p:grpSpPr>
          <a:xfrm>
            <a:off x="732971" y="681037"/>
            <a:ext cx="10726057" cy="5121275"/>
            <a:chOff x="2859314" y="2133600"/>
            <a:chExt cx="6299200" cy="21408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63FF7EA-6CC9-4729-B19F-A7841B2D43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454" t="31102" r="24881" b="62334"/>
            <a:stretch/>
          </p:blipFill>
          <p:spPr>
            <a:xfrm>
              <a:off x="2859314" y="2133600"/>
              <a:ext cx="6299200" cy="44994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0B5CD6-4A44-44F2-B1A4-90570260D0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453" t="68581" r="24881" b="5418"/>
            <a:stretch/>
          </p:blipFill>
          <p:spPr>
            <a:xfrm>
              <a:off x="2859314" y="2492149"/>
              <a:ext cx="6299200" cy="17823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2700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621D0-1CF7-3C74-4717-A6432271E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2708"/>
            <a:ext cx="10515600" cy="5614255"/>
          </a:xfrm>
        </p:spPr>
        <p:txBody>
          <a:bodyPr/>
          <a:lstStyle/>
          <a:p>
            <a:r>
              <a:rPr lang="en-US" dirty="0"/>
              <a:t>COMMUNICATION- wired, wireless</a:t>
            </a:r>
          </a:p>
          <a:p>
            <a:r>
              <a:rPr lang="en-US" dirty="0"/>
              <a:t>DATA COMMUNICATION- </a:t>
            </a:r>
          </a:p>
          <a:p>
            <a:pPr lvl="1"/>
            <a:r>
              <a:rPr lang="en-US" dirty="0"/>
              <a:t>end nodes- PC, printer</a:t>
            </a:r>
          </a:p>
          <a:p>
            <a:pPr lvl="1"/>
            <a:r>
              <a:rPr lang="en-US" dirty="0"/>
              <a:t>Intermediate nodes- Switch, internet Cloud, router</a:t>
            </a:r>
          </a:p>
          <a:p>
            <a:r>
              <a:rPr lang="en-US" dirty="0"/>
              <a:t>NETWORK- resource sharing</a:t>
            </a:r>
          </a:p>
          <a:p>
            <a:r>
              <a:rPr lang="en-US" dirty="0"/>
              <a:t>ARCHITECTURE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651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766E4-93F2-4A8F-989D-095BB8D5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F51B5-FBBD-4CED-BE37-A322892B0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term </a:t>
            </a:r>
            <a:r>
              <a:rPr lang="en-US" dirty="0">
                <a:solidFill>
                  <a:srgbClr val="FF0000"/>
                </a:solidFill>
              </a:rPr>
              <a:t>telecommunication</a:t>
            </a:r>
            <a:r>
              <a:rPr lang="en-US" dirty="0"/>
              <a:t> means communication at a distance.</a:t>
            </a:r>
          </a:p>
          <a:p>
            <a:r>
              <a:rPr lang="en-US" dirty="0"/>
              <a:t>The word </a:t>
            </a: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dirty="0"/>
              <a:t> refers to information presented in whatever form is agreed upon by the parties creating and using the data.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Data communications </a:t>
            </a:r>
            <a:r>
              <a:rPr lang="en-US" dirty="0"/>
              <a:t>are the exchange of data between two devices via some form of transmission medium such as a wire cable.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908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E6D00-ABD5-3352-BDEB-E97072DD1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communication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4A569-DAA9-8C1C-91C3-068287F052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Delivery</a:t>
            </a:r>
          </a:p>
          <a:p>
            <a:r>
              <a:rPr lang="en-IN" dirty="0"/>
              <a:t>Accuracy</a:t>
            </a:r>
          </a:p>
          <a:p>
            <a:r>
              <a:rPr lang="en-IN" dirty="0"/>
              <a:t>Timeliness</a:t>
            </a:r>
          </a:p>
          <a:p>
            <a:r>
              <a:rPr lang="en-IN" dirty="0"/>
              <a:t>Jitter 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5068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E4FF-EA1A-3843-0345-92ACD8427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communication characteristics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BD468-5CBA-E193-CD83-F219342A26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535118-CBB7-AF26-B3BD-88FDFCCCB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27" y="1516584"/>
            <a:ext cx="11743438" cy="49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21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83626-C9E1-4457-8D64-9C97502A1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D4097-FFB6-43BC-80FC-97DB59414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C263E4-C724-4954-B500-9469B3C4FB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43" t="46478" r="16071" b="21255"/>
          <a:stretch/>
        </p:blipFill>
        <p:spPr>
          <a:xfrm>
            <a:off x="104942" y="681037"/>
            <a:ext cx="11720782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834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6F09-A352-B789-8488-2091ADD1C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81" y="141810"/>
            <a:ext cx="10515600" cy="539227"/>
          </a:xfrm>
        </p:spPr>
        <p:txBody>
          <a:bodyPr>
            <a:normAutofit fontScale="90000"/>
          </a:bodyPr>
          <a:lstStyle/>
          <a:p>
            <a:r>
              <a:rPr lang="en-IN" dirty="0"/>
              <a:t>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3A90D4-B39D-5CD7-B9C2-59639B1CD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300F85-9418-7F68-0D70-563BBA84C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04" y="919245"/>
            <a:ext cx="11461473" cy="41151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CF998C-F312-D16C-6714-C416E3FFA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04" y="4847195"/>
            <a:ext cx="11430991" cy="19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0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6F3E-C2DF-467E-AFAE-D295CCC78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B0AE4-28E3-49C0-8B5C-489683000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A51779-C8DF-4307-941E-0E783E9FA0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57" t="19032" r="19524" b="24432"/>
          <a:stretch/>
        </p:blipFill>
        <p:spPr>
          <a:xfrm>
            <a:off x="1349828" y="182530"/>
            <a:ext cx="9216572" cy="6492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68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9D9E0-CF4A-4EA8-A5A9-863908A48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62BC7-E982-4E65-A6C7-258E24628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02832"/>
          </a:xfrm>
        </p:spPr>
        <p:txBody>
          <a:bodyPr/>
          <a:lstStyle/>
          <a:p>
            <a:r>
              <a:rPr lang="en-US" dirty="0"/>
              <a:t>A network is a set of devices (often referred to as nodes) connected by communication links. </a:t>
            </a:r>
          </a:p>
          <a:p>
            <a:r>
              <a:rPr lang="en-US" dirty="0"/>
              <a:t>A node can be a computer, printer, or any other device capable of sending and/or receiving data generated by other nodes on the network.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65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6041-6CD2-4DBD-B516-98AA7BB3A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8856" y="232229"/>
            <a:ext cx="4793343" cy="5944734"/>
          </a:xfrm>
        </p:spPr>
        <p:txBody>
          <a:bodyPr>
            <a:normAutofit fontScale="92500" lnSpcReduction="1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Point to Point:</a:t>
            </a:r>
          </a:p>
          <a:p>
            <a:r>
              <a:rPr lang="en-IN" dirty="0"/>
              <a:t>Between two devices.</a:t>
            </a:r>
          </a:p>
          <a:p>
            <a:r>
              <a:rPr lang="en-IN" dirty="0"/>
              <a:t>Entire capacity is reserved between two devices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>
                <a:solidFill>
                  <a:srgbClr val="FF0000"/>
                </a:solidFill>
              </a:rPr>
              <a:t>Multi Point:</a:t>
            </a:r>
          </a:p>
          <a:p>
            <a:r>
              <a:rPr lang="en-IN" dirty="0"/>
              <a:t>Broadcast connection</a:t>
            </a:r>
          </a:p>
          <a:p>
            <a:r>
              <a:rPr lang="en-IN" dirty="0"/>
              <a:t>Two or more share a single link</a:t>
            </a:r>
          </a:p>
          <a:p>
            <a:r>
              <a:rPr lang="en-IN" dirty="0"/>
              <a:t>Capacity is shared</a:t>
            </a:r>
          </a:p>
          <a:p>
            <a:r>
              <a:rPr lang="en-IN" dirty="0"/>
              <a:t>Spatial( link shared simultaneously)</a:t>
            </a:r>
          </a:p>
          <a:p>
            <a:r>
              <a:rPr lang="en-IN" dirty="0"/>
              <a:t>Temporal(shared on </a:t>
            </a:r>
            <a:r>
              <a:rPr lang="en-IN"/>
              <a:t>turn basis</a:t>
            </a:r>
            <a:r>
              <a:rPr lang="en-IN" dirty="0"/>
              <a:t>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09B1DC-D096-4185-8E5A-0F08C26BD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882" t="20091" r="19523" b="26549"/>
          <a:stretch/>
        </p:blipFill>
        <p:spPr>
          <a:xfrm>
            <a:off x="344715" y="365125"/>
            <a:ext cx="6331856" cy="612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65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67113-6375-400D-A5E5-AFD6C8D47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Networking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F025A-A440-4036-AD81-C90E0C200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Message encoded(Signal conversion)</a:t>
            </a:r>
          </a:p>
          <a:p>
            <a:r>
              <a:rPr lang="en-IN" dirty="0"/>
              <a:t>Message transmitted(Channel)</a:t>
            </a:r>
          </a:p>
          <a:p>
            <a:r>
              <a:rPr lang="en-IN" dirty="0"/>
              <a:t>Message received(unicast, multicast, broadcast)</a:t>
            </a:r>
          </a:p>
          <a:p>
            <a:r>
              <a:rPr lang="en-IN" dirty="0"/>
              <a:t>Peer- Peer network(one to one)</a:t>
            </a:r>
          </a:p>
          <a:p>
            <a:r>
              <a:rPr lang="en-IN" dirty="0"/>
              <a:t>Client- Server network(server to client)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8028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C62F6-E286-4CB6-B9D2-5AE7B8EA1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464B5-BB0C-4C30-94F7-ADBC9F4F5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BD2898-779B-4056-B3A2-0227BAF452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405" t="19245" r="21548" b="34383"/>
          <a:stretch/>
        </p:blipFill>
        <p:spPr>
          <a:xfrm>
            <a:off x="1230086" y="1027906"/>
            <a:ext cx="8878825" cy="525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3202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7E900-E4D1-429C-8117-1B99835A8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808" y="223158"/>
            <a:ext cx="10515600" cy="592818"/>
          </a:xfrm>
        </p:spPr>
        <p:txBody>
          <a:bodyPr>
            <a:normAutofit fontScale="90000"/>
          </a:bodyPr>
          <a:lstStyle/>
          <a:p>
            <a:r>
              <a:rPr lang="en-IN" dirty="0"/>
              <a:t>Mesh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78ED1-E9B8-47C5-B4AD-2123AFBB5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25DAF-6DBD-4D3A-AA85-5154789D19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096" t="29195" r="17618" b="25491"/>
          <a:stretch/>
        </p:blipFill>
        <p:spPr>
          <a:xfrm>
            <a:off x="665157" y="1219201"/>
            <a:ext cx="10029251" cy="470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10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48F9-BD33-4D1B-8976-50E1898D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18646"/>
          </a:xfrm>
        </p:spPr>
        <p:txBody>
          <a:bodyPr>
            <a:normAutofit fontScale="90000"/>
          </a:bodyPr>
          <a:lstStyle/>
          <a:p>
            <a:r>
              <a:rPr lang="en-IN" dirty="0"/>
              <a:t>Star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A66A2-7DC2-4FD7-906E-C3987A3D9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BE65E9-76BE-41A3-A812-8438B342C8E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91" t="24641" r="20238" b="36925"/>
          <a:stretch/>
        </p:blipFill>
        <p:spPr>
          <a:xfrm>
            <a:off x="838200" y="1455227"/>
            <a:ext cx="10243166" cy="394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580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33CB8-2FC1-44AD-8B46-2EB33153C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43" y="297542"/>
            <a:ext cx="10515600" cy="766989"/>
          </a:xfrm>
        </p:spPr>
        <p:txBody>
          <a:bodyPr/>
          <a:lstStyle/>
          <a:p>
            <a:r>
              <a:rPr lang="en-IN" dirty="0"/>
              <a:t>Bus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29992-34CA-4CDB-840C-3670F08DF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382BC9-A44E-45E4-A420-7594220ED1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47" t="55029" r="19167" b="12362"/>
          <a:stretch/>
        </p:blipFill>
        <p:spPr>
          <a:xfrm>
            <a:off x="170543" y="1306875"/>
            <a:ext cx="11899537" cy="487008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ED27FA-CE5D-409C-AAF8-7AFBEEF8C8CB}"/>
              </a:ext>
            </a:extLst>
          </p:cNvPr>
          <p:cNvCxnSpPr/>
          <p:nvPr/>
        </p:nvCxnSpPr>
        <p:spPr>
          <a:xfrm>
            <a:off x="3788229" y="3701143"/>
            <a:ext cx="0" cy="116114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B308EB-4BC0-4BCE-8CCF-2F4BCD6332D6}"/>
              </a:ext>
            </a:extLst>
          </p:cNvPr>
          <p:cNvCxnSpPr/>
          <p:nvPr/>
        </p:nvCxnSpPr>
        <p:spPr>
          <a:xfrm>
            <a:off x="5856515" y="3701143"/>
            <a:ext cx="0" cy="116114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8999AC-CDAF-411E-AF70-E61C479F3596}"/>
              </a:ext>
            </a:extLst>
          </p:cNvPr>
          <p:cNvCxnSpPr/>
          <p:nvPr/>
        </p:nvCxnSpPr>
        <p:spPr>
          <a:xfrm>
            <a:off x="7874000" y="3701143"/>
            <a:ext cx="0" cy="116114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954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7603E-842B-4A7E-8D89-3ABF4E950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10532"/>
          </a:xfrm>
        </p:spPr>
        <p:txBody>
          <a:bodyPr/>
          <a:lstStyle/>
          <a:p>
            <a:r>
              <a:rPr lang="en-IN" dirty="0"/>
              <a:t>Ring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04FB9-C079-4E79-839C-37D988B783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CC938-E4C9-4263-B81C-F6832F393D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10" t="36520" r="16071" b="15327"/>
          <a:stretch/>
        </p:blipFill>
        <p:spPr>
          <a:xfrm>
            <a:off x="718456" y="1062908"/>
            <a:ext cx="10116459" cy="496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05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3962-4C0C-454E-95E6-FF3622414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Hybrid Topology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D3A9-3BB4-4408-8B0B-15F353282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7BFAA-0C8C-4A40-839B-0BCE96F054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24" t="34278" r="16786" b="11516"/>
          <a:stretch/>
        </p:blipFill>
        <p:spPr>
          <a:xfrm>
            <a:off x="1190171" y="1774820"/>
            <a:ext cx="9085944" cy="471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176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41D81-16A0-4C67-8659-A1E068F43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Components of computer network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81B0D-5DF6-41BD-8268-8C46B89AA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Nodes(End nodes-computers, printers, cameras. Intermediate node-Switches, Hub, Routers)</a:t>
            </a:r>
          </a:p>
          <a:p>
            <a:r>
              <a:rPr lang="en-IN" dirty="0"/>
              <a:t>Media(Medium of transmission-Wired, Wireless)</a:t>
            </a:r>
          </a:p>
          <a:p>
            <a:r>
              <a:rPr lang="en-IN" dirty="0"/>
              <a:t>Services(</a:t>
            </a:r>
            <a:r>
              <a:rPr lang="en-IN" dirty="0" err="1"/>
              <a:t>Gaming,e</a:t>
            </a:r>
            <a:r>
              <a:rPr lang="en-IN" dirty="0"/>
              <a:t>-mail, google drive(storage), file sharing, instant communication, World wide web)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6850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7E26-02AD-4639-8264-56D04732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Wired medium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039A1-2D67-4E28-A394-3EA0D51A9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Ethernet Straight through cable-(Connection btw two different nodes)</a:t>
            </a:r>
          </a:p>
          <a:p>
            <a:r>
              <a:rPr lang="en-IN" dirty="0"/>
              <a:t>Ethernet crossover cable-(connections between same kind of nodes)</a:t>
            </a:r>
          </a:p>
          <a:p>
            <a:r>
              <a:rPr lang="en-IN" dirty="0"/>
              <a:t>FOC(</a:t>
            </a:r>
            <a:r>
              <a:rPr lang="en-IN" dirty="0" err="1"/>
              <a:t>Fiber</a:t>
            </a:r>
            <a:r>
              <a:rPr lang="en-IN" dirty="0"/>
              <a:t> Optic cable)</a:t>
            </a:r>
          </a:p>
          <a:p>
            <a:r>
              <a:rPr lang="en-IN" dirty="0"/>
              <a:t>Coaxial Cable</a:t>
            </a:r>
          </a:p>
          <a:p>
            <a:r>
              <a:rPr lang="en-IN" dirty="0"/>
              <a:t>USB cable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77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9329-5519-4785-A73A-20937D7C5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Wireless medium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66386-D698-41B0-8753-0E0B34382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Infra red(Tv remote)</a:t>
            </a:r>
          </a:p>
          <a:p>
            <a:r>
              <a:rPr lang="en-IN" dirty="0"/>
              <a:t>Radio waves( Bluetooth, </a:t>
            </a:r>
            <a:r>
              <a:rPr lang="en-IN" dirty="0" err="1"/>
              <a:t>WiFi</a:t>
            </a:r>
            <a:r>
              <a:rPr lang="en-IN" dirty="0"/>
              <a:t>)</a:t>
            </a:r>
          </a:p>
          <a:p>
            <a:r>
              <a:rPr lang="en-IN" dirty="0"/>
              <a:t>Microwaves (</a:t>
            </a:r>
            <a:r>
              <a:rPr lang="en-IN" dirty="0" err="1"/>
              <a:t>Cellullar</a:t>
            </a:r>
            <a:r>
              <a:rPr lang="en-IN" dirty="0"/>
              <a:t> Systems)</a:t>
            </a:r>
          </a:p>
          <a:p>
            <a:r>
              <a:rPr lang="en-IN" dirty="0"/>
              <a:t>Satellite (GPS)</a:t>
            </a:r>
          </a:p>
        </p:txBody>
      </p:sp>
    </p:spTree>
    <p:extLst>
      <p:ext uri="{BB962C8B-B14F-4D97-AF65-F5344CB8AC3E}">
        <p14:creationId xmlns:p14="http://schemas.microsoft.com/office/powerpoint/2010/main" val="3396669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AE27-3207-44BE-AAA0-F3EDB2DD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computer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03898-A78F-495D-9E4C-352A1208C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Local Area Network(LAN)-(limited area)</a:t>
            </a:r>
          </a:p>
          <a:p>
            <a:pPr lvl="1"/>
            <a:r>
              <a:rPr lang="en-IN" dirty="0"/>
              <a:t>Wired LAN(Ethernet-Hub, Switch)</a:t>
            </a:r>
          </a:p>
          <a:p>
            <a:pPr lvl="1"/>
            <a:r>
              <a:rPr lang="en-IN" dirty="0"/>
              <a:t>Wireless LAN(Wi-Fi)</a:t>
            </a:r>
          </a:p>
          <a:p>
            <a:r>
              <a:rPr lang="en-IN" dirty="0"/>
              <a:t>Metropolitan Area Network(MAN)(connects network geographically in small range, btw two LAN)</a:t>
            </a:r>
          </a:p>
          <a:p>
            <a:r>
              <a:rPr lang="en-IN" dirty="0"/>
              <a:t>Wide Area Network(WAN)- connects wide </a:t>
            </a:r>
            <a:r>
              <a:rPr lang="en-IN" dirty="0" err="1"/>
              <a:t>goegraphical</a:t>
            </a:r>
            <a:r>
              <a:rPr lang="en-IN" dirty="0"/>
              <a:t> area-telecommunication network</a:t>
            </a:r>
          </a:p>
          <a:p>
            <a:r>
              <a:rPr lang="en-IN" dirty="0"/>
              <a:t>Internet (wide WAN)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2258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A464-29B7-4F27-B078-094E2F003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IPv4, IPv6, MAC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76AB6-EF24-45BC-9B62-DDD74C07C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61364"/>
          </a:xfrm>
        </p:spPr>
        <p:txBody>
          <a:bodyPr>
            <a:normAutofit/>
          </a:bodyPr>
          <a:lstStyle/>
          <a:p>
            <a:r>
              <a:rPr lang="en-IN" dirty="0"/>
              <a:t>IP address(ipconfig)</a:t>
            </a:r>
          </a:p>
          <a:p>
            <a:pPr lvl="1"/>
            <a:r>
              <a:rPr lang="en-IN" dirty="0"/>
              <a:t>Location based</a:t>
            </a:r>
          </a:p>
          <a:p>
            <a:pPr lvl="1"/>
            <a:r>
              <a:rPr lang="en-IN" dirty="0"/>
              <a:t>4 octets(32 bits- decimal)</a:t>
            </a:r>
          </a:p>
          <a:p>
            <a:pPr lvl="1"/>
            <a:r>
              <a:rPr lang="en-IN" dirty="0"/>
              <a:t>0.0.0.0 to 255.255.255.255</a:t>
            </a:r>
          </a:p>
          <a:p>
            <a:pPr lvl="1"/>
            <a:r>
              <a:rPr lang="en-IN" dirty="0"/>
              <a:t>Manual or dynamic</a:t>
            </a:r>
          </a:p>
          <a:p>
            <a:pPr marL="457200" lvl="1" indent="0">
              <a:buNone/>
            </a:pP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DBCFD-2B2E-4EE0-A82B-FBDDB30010A6}"/>
              </a:ext>
            </a:extLst>
          </p:cNvPr>
          <p:cNvSpPr txBox="1"/>
          <p:nvPr/>
        </p:nvSpPr>
        <p:spPr>
          <a:xfrm>
            <a:off x="838200" y="3897086"/>
            <a:ext cx="41193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MAC ADDRESS(ipconfig/all)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Name of the device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Physical 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Not on locality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UNIQUE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48 bits(-  .  :) hexadecimal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2835130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256B3-D169-44E7-B736-6B124F1D3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 address port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1B275-2D45-448F-B1E9-81FC33DD5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Identify the process(</a:t>
            </a:r>
            <a:r>
              <a:rPr lang="en-IN" dirty="0" err="1"/>
              <a:t>resmon</a:t>
            </a:r>
            <a:r>
              <a:rPr lang="en-IN" dirty="0"/>
              <a:t>-resource monitoring)</a:t>
            </a:r>
          </a:p>
          <a:p>
            <a:r>
              <a:rPr lang="en-IN" dirty="0"/>
              <a:t>Communicate the end point</a:t>
            </a:r>
          </a:p>
          <a:p>
            <a:r>
              <a:rPr lang="en-IN" dirty="0"/>
              <a:t>Assigned by OS</a:t>
            </a:r>
          </a:p>
          <a:p>
            <a:r>
              <a:rPr lang="en-IN" dirty="0"/>
              <a:t>0-65535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23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4906</TotalTime>
  <Words>467</Words>
  <Application>Microsoft Office PowerPoint</Application>
  <PresentationFormat>Widescreen</PresentationFormat>
  <Paragraphs>88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Computer Networks</vt:lpstr>
      <vt:lpstr>COURSE OUTCOMES</vt:lpstr>
      <vt:lpstr>PowerPoint Presentation</vt:lpstr>
      <vt:lpstr>PowerPoint Presentation</vt:lpstr>
      <vt:lpstr>PowerPoint Presentation</vt:lpstr>
      <vt:lpstr>Data communication</vt:lpstr>
      <vt:lpstr>Data communication characteristics</vt:lpstr>
      <vt:lpstr>Data communication characteristics</vt:lpstr>
      <vt:lpstr>PowerPoint Presentation</vt:lpstr>
      <vt:lpstr>Components </vt:lpstr>
      <vt:lpstr>PowerPoint Presentation</vt:lpstr>
      <vt:lpstr>Network</vt:lpstr>
      <vt:lpstr>PowerPoint Presentation</vt:lpstr>
      <vt:lpstr>Networking Protocols</vt:lpstr>
      <vt:lpstr>PowerPoint Presentation</vt:lpstr>
      <vt:lpstr>Mesh Topology</vt:lpstr>
      <vt:lpstr>Star topology</vt:lpstr>
      <vt:lpstr>Bus topology</vt:lpstr>
      <vt:lpstr>Ring topology</vt:lpstr>
      <vt:lpstr>Hybrid Topology</vt:lpstr>
      <vt:lpstr>Components of computer network</vt:lpstr>
      <vt:lpstr>Wired medium</vt:lpstr>
      <vt:lpstr>Wireless medium</vt:lpstr>
      <vt:lpstr>Classification of computer networks</vt:lpstr>
      <vt:lpstr>IPv4, IPv6, MAC</vt:lpstr>
      <vt:lpstr>Port address port number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</dc:title>
  <dc:creator>Admin</dc:creator>
  <cp:lastModifiedBy>KOPPERUNDEVI RAJAJI</cp:lastModifiedBy>
  <cp:revision>23</cp:revision>
  <dcterms:created xsi:type="dcterms:W3CDTF">2023-04-23T16:38:06Z</dcterms:created>
  <dcterms:modified xsi:type="dcterms:W3CDTF">2024-07-18T16:17:06Z</dcterms:modified>
</cp:coreProperties>
</file>