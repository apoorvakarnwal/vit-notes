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2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ED979-84E6-4295-8172-04720DBA8A25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E43CF-8374-405C-99CD-FCF54993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54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b="0" smtClean="0">
                <a:latin typeface="Times New Roman" pitchFamily="-128" charset="0"/>
              </a:rPr>
              <a:t>1.#</a:t>
            </a: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133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b="0" smtClean="0">
                <a:latin typeface="Times New Roman" pitchFamily="-128" charset="0"/>
              </a:rPr>
              <a:t>1.#</a:t>
            </a: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345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b="0" smtClean="0">
                <a:latin typeface="Times New Roman" pitchFamily="-128" charset="0"/>
              </a:rPr>
              <a:t>1.#</a:t>
            </a: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101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b="0" smtClean="0">
                <a:latin typeface="Times New Roman" pitchFamily="-128" charset="0"/>
              </a:rPr>
              <a:t>1.#</a:t>
            </a: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521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b="0" smtClean="0">
                <a:latin typeface="Times New Roman" pitchFamily="-128" charset="0"/>
              </a:rPr>
              <a:t>1.#</a:t>
            </a: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652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b="0" smtClean="0">
                <a:latin typeface="Times New Roman" pitchFamily="-128" charset="0"/>
              </a:rPr>
              <a:t>1.#</a:t>
            </a: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11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b="0" smtClean="0">
                <a:latin typeface="Times New Roman" pitchFamily="-128" charset="0"/>
              </a:rPr>
              <a:t>1.#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236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6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1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15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1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67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72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37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4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29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06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89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EAE29-0715-4CDD-8F7F-C0251EB9F56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2999E-6927-4853-9B8E-A1A3BDD1E7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87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Lecture - 2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879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3974"/>
          </a:xfrm>
        </p:spPr>
        <p:txBody>
          <a:bodyPr>
            <a:normAutofit/>
          </a:bodyPr>
          <a:lstStyle/>
          <a:p>
            <a:pPr algn="ctr"/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- Introduction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9555"/>
            <a:ext cx="10515600" cy="4747408"/>
          </a:xfrm>
        </p:spPr>
        <p:txBody>
          <a:bodyPr>
            <a:noAutofit/>
          </a:bodyPr>
          <a:lstStyle/>
          <a:p>
            <a:r>
              <a:rPr lang="en-IN" sz="2400" dirty="0" smtClean="0">
                <a:solidFill>
                  <a:srgbClr val="FF0000"/>
                </a:solidFill>
              </a:rPr>
              <a:t>Network Criteria </a:t>
            </a:r>
          </a:p>
          <a:p>
            <a:pPr lvl="2"/>
            <a:r>
              <a:rPr lang="en-IN" sz="2400" dirty="0" smtClean="0"/>
              <a:t>Performance</a:t>
            </a:r>
          </a:p>
          <a:p>
            <a:pPr lvl="2"/>
            <a:r>
              <a:rPr lang="en-IN" sz="2400" dirty="0" smtClean="0"/>
              <a:t>Reliability</a:t>
            </a:r>
          </a:p>
          <a:p>
            <a:pPr lvl="2"/>
            <a:r>
              <a:rPr lang="en-IN" sz="2400" dirty="0" smtClean="0"/>
              <a:t>Security</a:t>
            </a:r>
          </a:p>
          <a:p>
            <a:r>
              <a:rPr lang="en-IN" sz="2400" dirty="0" smtClean="0">
                <a:solidFill>
                  <a:srgbClr val="FF0000"/>
                </a:solidFill>
              </a:rPr>
              <a:t>Physical Structure</a:t>
            </a:r>
          </a:p>
          <a:p>
            <a:pPr lvl="2"/>
            <a:r>
              <a:rPr lang="en-IN" sz="2400" dirty="0" smtClean="0"/>
              <a:t>Point to Point</a:t>
            </a:r>
          </a:p>
          <a:p>
            <a:pPr lvl="2"/>
            <a:r>
              <a:rPr lang="en-IN" sz="2400" dirty="0" smtClean="0"/>
              <a:t>Multi-Point</a:t>
            </a:r>
          </a:p>
          <a:p>
            <a:r>
              <a:rPr lang="en-IN" sz="2400" dirty="0" smtClean="0">
                <a:solidFill>
                  <a:srgbClr val="FF0000"/>
                </a:solidFill>
              </a:rPr>
              <a:t>Physical Topology</a:t>
            </a:r>
          </a:p>
          <a:p>
            <a:pPr lvl="2"/>
            <a:r>
              <a:rPr lang="en-IN" sz="2400" dirty="0" smtClean="0"/>
              <a:t>Mesh, Star, Bus, Ring and Hybrid</a:t>
            </a:r>
          </a:p>
          <a:p>
            <a:r>
              <a:rPr lang="en-IN" sz="2400" dirty="0" smtClean="0">
                <a:solidFill>
                  <a:srgbClr val="FF0000"/>
                </a:solidFill>
              </a:rPr>
              <a:t>Categories of Networks</a:t>
            </a:r>
          </a:p>
          <a:p>
            <a:pPr lvl="2"/>
            <a:r>
              <a:rPr lang="en-IN" sz="2400" dirty="0" smtClean="0"/>
              <a:t>LAN, WAN, MAN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838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dirty="0"/>
              <a:t>A network is the interconnection of a set of devices capable of communication. </a:t>
            </a:r>
            <a:endParaRPr lang="en-US" dirty="0" smtClean="0"/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In this definition, a device can be a host (or an end system as it is sometimes called) such as a large computer, desktop, laptop, workstation, cellular phone, or security system. </a:t>
            </a:r>
            <a:endParaRPr lang="en-US" dirty="0" smtClean="0"/>
          </a:p>
          <a:p>
            <a:pPr marL="457200" lvl="1" indent="0" algn="just">
              <a:buNone/>
            </a:pPr>
            <a:endParaRPr lang="en-US" dirty="0" smtClean="0"/>
          </a:p>
          <a:p>
            <a:pPr lvl="1" algn="just"/>
            <a:r>
              <a:rPr lang="en-US" dirty="0" smtClean="0"/>
              <a:t>A </a:t>
            </a:r>
            <a:r>
              <a:rPr lang="en-US" dirty="0"/>
              <a:t>device can also be a connecting device such as a router, which connects the network to other networks, a switch, which connects devices together, a modem (modulator-demodulator), which changes the form of data, </a:t>
            </a:r>
            <a:r>
              <a:rPr lang="en-IN" dirty="0"/>
              <a:t>and so on. </a:t>
            </a:r>
            <a:endParaRPr lang="en-IN" dirty="0" smtClean="0"/>
          </a:p>
          <a:p>
            <a:pPr lvl="1" algn="just"/>
            <a:endParaRPr lang="en-IN" dirty="0"/>
          </a:p>
          <a:p>
            <a:pPr lvl="1" algn="just"/>
            <a:r>
              <a:rPr lang="en-US" dirty="0"/>
              <a:t>These devices in a network are connected using wired or wireless transmission media such as cable or air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683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412777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must be able to meet a certain number of criteria.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of these are performance,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security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measured in many ways, including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 time and response time.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amount of time required for a message to travel from one device to another.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elapsed time between an inquiry and a response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a network depends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users, the type of transmission medium, the capabilities of the connected hardware, and the efficiency of the software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often evaluated by two networking metrics: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throughput and delay.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22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332656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Reliability </a:t>
            </a:r>
          </a:p>
          <a:p>
            <a:pPr lvl="1"/>
            <a:r>
              <a:rPr lang="en-US" dirty="0"/>
              <a:t>In addition to accuracy of delivery, network reliability is measured by the frequency of failure, the time it takes a link to recover from a failure. 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Security </a:t>
            </a:r>
          </a:p>
          <a:p>
            <a:pPr lvl="1"/>
            <a:r>
              <a:rPr lang="en-US" dirty="0"/>
              <a:t>Network security issues include protecting data from unauthorized access, protecting data from damage and development, and implementing policies and procedures for recovery from breaches and data losses.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65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of Connection </a:t>
            </a:r>
            <a:endParaRPr lang="en-US" dirty="0" smtClean="0"/>
          </a:p>
          <a:p>
            <a:endParaRPr lang="en-US" dirty="0"/>
          </a:p>
          <a:p>
            <a:pPr lvl="1"/>
            <a:r>
              <a:rPr lang="en-US" dirty="0"/>
              <a:t>A network is two or more devices connected through links. </a:t>
            </a:r>
          </a:p>
          <a:p>
            <a:pPr lvl="1"/>
            <a:r>
              <a:rPr lang="en-US" dirty="0"/>
              <a:t>A link is a communications pathway that transfers data from one device to another. </a:t>
            </a:r>
          </a:p>
          <a:p>
            <a:pPr lvl="1"/>
            <a:r>
              <a:rPr lang="en-US" dirty="0"/>
              <a:t>For visualization purposes, it is simplest to imagine any link as a line drawn between </a:t>
            </a:r>
            <a:r>
              <a:rPr lang="en-IN" dirty="0"/>
              <a:t>two points.</a:t>
            </a:r>
          </a:p>
        </p:txBody>
      </p:sp>
    </p:spTree>
    <p:extLst>
      <p:ext uri="{BB962C8B-B14F-4D97-AF65-F5344CB8AC3E}">
        <p14:creationId xmlns:p14="http://schemas.microsoft.com/office/powerpoint/2010/main" val="93269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possible types of connections: point-to-point and multipoint.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2780928"/>
            <a:ext cx="5544616" cy="322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59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Point-to-Point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342900" lvl="1" indent="-342900" algn="just"/>
            <a:r>
              <a:rPr lang="en-US" dirty="0"/>
              <a:t>A point-to-point connection provides a dedicated link between two devices. </a:t>
            </a:r>
            <a:endParaRPr lang="en-US" dirty="0" smtClean="0"/>
          </a:p>
          <a:p>
            <a:pPr marL="0" lvl="1" indent="0" algn="just">
              <a:buNone/>
            </a:pPr>
            <a:endParaRPr lang="en-US" dirty="0"/>
          </a:p>
          <a:p>
            <a:pPr marL="342900" lvl="1" indent="-342900" algn="just"/>
            <a:r>
              <a:rPr lang="en-US" dirty="0"/>
              <a:t>The entire capacity of the link is reserved for transmission between those two </a:t>
            </a:r>
            <a:r>
              <a:rPr lang="en-US" dirty="0" smtClean="0"/>
              <a:t>devices</a:t>
            </a:r>
          </a:p>
          <a:p>
            <a:pPr marL="0" lvl="1" indent="0" algn="just">
              <a:buNone/>
            </a:pPr>
            <a:endParaRPr lang="en-US" dirty="0"/>
          </a:p>
          <a:p>
            <a:pPr marL="342900" lvl="1" indent="-342900" algn="just"/>
            <a:r>
              <a:rPr lang="en-US" dirty="0"/>
              <a:t>When we change television channels by infrared remote control, we are establishing a point-to-point connection between the remote control and the television’s control </a:t>
            </a:r>
            <a:r>
              <a:rPr lang="en-US" dirty="0" smtClean="0"/>
              <a:t>system. other </a:t>
            </a:r>
            <a:r>
              <a:rPr lang="en-US" dirty="0"/>
              <a:t>options for point to point communication is microwave or satellite links.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19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Multipoint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/>
          </a:p>
          <a:p>
            <a:pPr lvl="1" algn="just"/>
            <a:r>
              <a:rPr lang="en-US" dirty="0"/>
              <a:t>A multipoint (also called </a:t>
            </a:r>
            <a:r>
              <a:rPr lang="en-US" dirty="0" smtClean="0"/>
              <a:t>multi-drop</a:t>
            </a:r>
            <a:r>
              <a:rPr lang="en-US" dirty="0"/>
              <a:t>) connection is one in which more than two specific devices share a single link.</a:t>
            </a:r>
          </a:p>
          <a:p>
            <a:pPr lvl="1" algn="just"/>
            <a:r>
              <a:rPr lang="en-US" dirty="0"/>
              <a:t>In a multipoint environment, the capacity of the channel is shared, either spatially or temporally. </a:t>
            </a:r>
          </a:p>
          <a:p>
            <a:pPr lvl="1" algn="just"/>
            <a:r>
              <a:rPr lang="en-US" dirty="0"/>
              <a:t>If several devices can use the link simultaneously, it is a spatially shared connection. </a:t>
            </a:r>
          </a:p>
          <a:p>
            <a:pPr lvl="1" algn="just"/>
            <a:r>
              <a:rPr lang="en-US" dirty="0"/>
              <a:t>If users must take turns, it is a timeshared connection.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1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Topology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term physical topology refers to the way in which a network is laid out physically.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Two or more devices connect to a link; two or more links form a topology. </a:t>
            </a:r>
          </a:p>
          <a:p>
            <a:r>
              <a:rPr lang="en-US" dirty="0"/>
              <a:t>The topology of a network is the geometric representation of the relationship of all the links and linking devices (usually called nodes) to one another. </a:t>
            </a:r>
          </a:p>
          <a:p>
            <a:r>
              <a:rPr lang="en-US" dirty="0"/>
              <a:t>There are four basic topologies possible: </a:t>
            </a:r>
            <a:r>
              <a:rPr lang="en-US" dirty="0">
                <a:solidFill>
                  <a:srgbClr val="FF0000"/>
                </a:solidFill>
              </a:rPr>
              <a:t>mesh, star, bus, and ring.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34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88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1828800" y="381000"/>
            <a:ext cx="25458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i="1" dirty="0">
                <a:latin typeface="Times New Roman" pitchFamily="-128" charset="0"/>
              </a:rPr>
              <a:t>Categories of topology</a:t>
            </a:r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63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114" y="2317750"/>
            <a:ext cx="6389687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93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12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1828801" y="381000"/>
            <a:ext cx="51878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 smtClean="0">
                <a:solidFill>
                  <a:schemeClr val="folHlink"/>
                </a:solidFill>
                <a:latin typeface="Times New Roman" pitchFamily="-128" charset="0"/>
              </a:rPr>
              <a:t> </a:t>
            </a:r>
            <a:r>
              <a:rPr lang="en-US" sz="2000" i="1" dirty="0">
                <a:latin typeface="Times New Roman" pitchFamily="-128" charset="0"/>
              </a:rPr>
              <a:t>A fully connected mesh topology (five devices)</a:t>
            </a: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6" y="1268413"/>
            <a:ext cx="4854575" cy="36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5" name="Rectangle 1"/>
          <p:cNvSpPr>
            <a:spLocks noChangeArrowheads="1"/>
          </p:cNvSpPr>
          <p:nvPr/>
        </p:nvSpPr>
        <p:spPr bwMode="auto">
          <a:xfrm>
            <a:off x="1828800" y="5157788"/>
            <a:ext cx="8466138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800100" lvl="1" indent="-342900">
              <a:buClr>
                <a:srgbClr val="FF0000"/>
              </a:buClr>
              <a:buFont typeface="Arial" charset="0"/>
              <a:buChar char="•"/>
            </a:pPr>
            <a:r>
              <a:rPr lang="en-GB" sz="2000" dirty="0">
                <a:latin typeface="Times New Roman" pitchFamily="-128" charset="0"/>
              </a:rPr>
              <a:t>Every link is dedicated  point-to-point link</a:t>
            </a:r>
          </a:p>
          <a:p>
            <a:pPr marL="800100" lvl="1" indent="-342900">
              <a:buClr>
                <a:srgbClr val="FF0000"/>
              </a:buClr>
              <a:buFont typeface="Arial" charset="0"/>
              <a:buChar char="•"/>
            </a:pPr>
            <a:r>
              <a:rPr lang="en-GB" sz="2000" dirty="0">
                <a:latin typeface="Times New Roman" pitchFamily="-128" charset="0"/>
              </a:rPr>
              <a:t>The term dedicated means that the link carries traffic only between the two devices it connects</a:t>
            </a:r>
          </a:p>
          <a:p>
            <a:pPr marL="800100" lvl="1" indent="-342900">
              <a:buClr>
                <a:srgbClr val="FF0000"/>
              </a:buClr>
              <a:buFont typeface="Arial" charset="0"/>
              <a:buChar char="•"/>
            </a:pPr>
            <a:r>
              <a:rPr lang="en-GB" sz="2000" dirty="0">
                <a:latin typeface="Times New Roman" pitchFamily="-128" charset="0"/>
              </a:rPr>
              <a:t>To accommodate that many links, every device must have n-1 input/output 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88164" y="990600"/>
            <a:ext cx="3551237" cy="25542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buFont typeface="Wingdings" pitchFamily="2" charset="2"/>
              <a:buChar char="ü"/>
              <a:defRPr/>
            </a:pPr>
            <a:r>
              <a:rPr lang="en-GB" sz="2000" dirty="0">
                <a:latin typeface="Times New Roman" charset="0"/>
              </a:rPr>
              <a:t>To link n devices fully connected mesh has:</a:t>
            </a:r>
          </a:p>
          <a:p>
            <a:pPr lvl="1" eaLnBrk="1" hangingPunct="1">
              <a:defRPr/>
            </a:pPr>
            <a:r>
              <a:rPr lang="en-GB" sz="2000" dirty="0">
                <a:latin typeface="Times New Roman" charset="0"/>
              </a:rPr>
              <a:t>    n ( n - 1) / 2 physical channels (Full-Duplex)</a:t>
            </a:r>
          </a:p>
          <a:p>
            <a:pPr marL="800100" lvl="1" indent="-342900">
              <a:buFont typeface="Wingdings" pitchFamily="2" charset="2"/>
              <a:buChar char="ü"/>
              <a:defRPr/>
            </a:pPr>
            <a:endParaRPr lang="en-GB" sz="2000" dirty="0">
              <a:latin typeface="Times New Roman" charset="0"/>
            </a:endParaRPr>
          </a:p>
          <a:p>
            <a:pPr marL="800100" lvl="1" indent="-342900">
              <a:buFont typeface="Wingdings" pitchFamily="2" charset="2"/>
              <a:buChar char="ü"/>
              <a:defRPr/>
            </a:pPr>
            <a:r>
              <a:rPr lang="en-GB" sz="2000" dirty="0">
                <a:latin typeface="Times New Roman" charset="0"/>
              </a:rPr>
              <a:t>Every Device on the network must have n - 1 ports</a:t>
            </a:r>
          </a:p>
        </p:txBody>
      </p:sp>
      <p:pic>
        <p:nvPicPr>
          <p:cNvPr id="17417" name="Picture 6" descr="mesh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3544888"/>
            <a:ext cx="211455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810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857375" y="908050"/>
            <a:ext cx="8229600" cy="5949950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dirty="0">
                <a:latin typeface="Times New Roman" charset="0"/>
              </a:rPr>
              <a:t>Mesh</a:t>
            </a:r>
          </a:p>
          <a:p>
            <a:pPr marL="457200" lvl="1" indent="0" eaLnBrk="1" hangingPunct="1">
              <a:buNone/>
              <a:defRPr/>
            </a:pPr>
            <a:r>
              <a:rPr lang="en-US" dirty="0">
                <a:solidFill>
                  <a:srgbClr val="FF0000"/>
                </a:solidFill>
                <a:latin typeface="Times New Roman" charset="0"/>
              </a:rPr>
              <a:t>Example:</a:t>
            </a:r>
            <a:endParaRPr lang="en-GB" dirty="0">
              <a:solidFill>
                <a:srgbClr val="FF0000"/>
              </a:solidFill>
              <a:latin typeface="Times New Roman" charset="0"/>
            </a:endParaRPr>
          </a:p>
          <a:p>
            <a:pPr lvl="1" eaLnBrk="1" hangingPunct="1">
              <a:buFont typeface="Wingdings" charset="2"/>
              <a:buNone/>
              <a:defRPr/>
            </a:pPr>
            <a:r>
              <a:rPr lang="en-US" dirty="0">
                <a:latin typeface="Times New Roman" charset="0"/>
              </a:rPr>
              <a:t>		</a:t>
            </a:r>
            <a:r>
              <a:rPr lang="en-US" dirty="0" smtClean="0">
                <a:latin typeface="Times New Roman" charset="0"/>
              </a:rPr>
              <a:t>10 </a:t>
            </a:r>
            <a:r>
              <a:rPr lang="en-US" dirty="0">
                <a:latin typeface="Times New Roman" charset="0"/>
              </a:rPr>
              <a:t>devices in mesh has links: n(n-1) / 2</a:t>
            </a:r>
          </a:p>
          <a:p>
            <a:pPr lvl="1" eaLnBrk="1" hangingPunct="1">
              <a:buFont typeface="Wingdings" charset="2"/>
              <a:buNone/>
              <a:defRPr/>
            </a:pPr>
            <a:r>
              <a:rPr lang="en-US" dirty="0">
                <a:latin typeface="Times New Roman" charset="0"/>
              </a:rPr>
              <a:t>		number of links = </a:t>
            </a:r>
            <a:r>
              <a:rPr lang="en-US" dirty="0" smtClean="0">
                <a:latin typeface="Times New Roman" charset="0"/>
              </a:rPr>
              <a:t>10 (10-1</a:t>
            </a:r>
            <a:r>
              <a:rPr lang="en-US" dirty="0">
                <a:latin typeface="Times New Roman" charset="0"/>
              </a:rPr>
              <a:t>)/2 = </a:t>
            </a:r>
            <a:r>
              <a:rPr lang="en-US" dirty="0" smtClean="0">
                <a:latin typeface="Times New Roman" charset="0"/>
              </a:rPr>
              <a:t>45</a:t>
            </a:r>
            <a:endParaRPr lang="en-US" dirty="0">
              <a:latin typeface="Times New Roman" charset="0"/>
            </a:endParaRPr>
          </a:p>
          <a:p>
            <a:pPr lvl="1" eaLnBrk="1" hangingPunct="1">
              <a:buFont typeface="Wingdings" charset="2"/>
              <a:buNone/>
              <a:defRPr/>
            </a:pPr>
            <a:r>
              <a:rPr lang="en-US" dirty="0">
                <a:latin typeface="Times New Roman" charset="0"/>
              </a:rPr>
              <a:t>		number of ports per device = n – 1 = </a:t>
            </a:r>
            <a:r>
              <a:rPr lang="en-US" dirty="0" smtClean="0">
                <a:latin typeface="Times New Roman" charset="0"/>
              </a:rPr>
              <a:t>10 </a:t>
            </a:r>
            <a:r>
              <a:rPr lang="en-US" dirty="0">
                <a:latin typeface="Times New Roman" charset="0"/>
              </a:rPr>
              <a:t>–1 = </a:t>
            </a:r>
            <a:r>
              <a:rPr lang="en-US" dirty="0" smtClean="0">
                <a:latin typeface="Times New Roman" charset="0"/>
              </a:rPr>
              <a:t>9</a:t>
            </a:r>
            <a:endParaRPr lang="en-US" dirty="0">
              <a:latin typeface="Times New Roman" charset="0"/>
            </a:endParaRP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GB" dirty="0">
                <a:solidFill>
                  <a:srgbClr val="FF0000"/>
                </a:solidFill>
                <a:latin typeface="Times New Roman" charset="0"/>
              </a:rPr>
              <a:t>Advantages</a:t>
            </a:r>
          </a:p>
          <a:p>
            <a:pPr marL="342900" lvl="2" indent="-342900">
              <a:buSzPct val="60000"/>
              <a:buFont typeface="Wingdings" charset="2"/>
              <a:buChar char="n"/>
              <a:defRPr/>
            </a:pPr>
            <a:r>
              <a:rPr lang="en-US" dirty="0">
                <a:latin typeface="Times New Roman" charset="0"/>
              </a:rPr>
              <a:t>Each connection carry its own data load (no traffic problems)</a:t>
            </a:r>
          </a:p>
          <a:p>
            <a:pPr marL="342900" lvl="2" indent="-342900">
              <a:buSzPct val="60000"/>
              <a:buFont typeface="Wingdings" charset="2"/>
              <a:buChar char="n"/>
              <a:defRPr/>
            </a:pPr>
            <a:r>
              <a:rPr lang="en-US" dirty="0">
                <a:latin typeface="Times New Roman" charset="0"/>
              </a:rPr>
              <a:t>A mesh topology is robust</a:t>
            </a:r>
          </a:p>
          <a:p>
            <a:pPr marL="342900" lvl="2" indent="-342900">
              <a:buSzPct val="60000"/>
              <a:buFont typeface="Wingdings" charset="2"/>
              <a:buChar char="n"/>
              <a:defRPr/>
            </a:pPr>
            <a:r>
              <a:rPr lang="en-US" dirty="0">
                <a:latin typeface="Times New Roman" charset="0"/>
              </a:rPr>
              <a:t>Privacy or security</a:t>
            </a:r>
          </a:p>
          <a:p>
            <a:pPr marL="342900" lvl="2" indent="-342900">
              <a:buSzPct val="60000"/>
              <a:buFont typeface="Wingdings" charset="2"/>
              <a:buChar char="n"/>
              <a:defRPr/>
            </a:pPr>
            <a:r>
              <a:rPr lang="en-US" dirty="0">
                <a:latin typeface="Times New Roman" charset="0"/>
              </a:rPr>
              <a:t>Fault identification and fault isolation</a:t>
            </a:r>
          </a:p>
          <a:p>
            <a:pPr marL="0" lvl="2" indent="0">
              <a:buSzPct val="60000"/>
              <a:buNone/>
              <a:defRPr/>
            </a:pPr>
            <a:r>
              <a:rPr lang="en-GB" dirty="0">
                <a:solidFill>
                  <a:srgbClr val="FF0000"/>
                </a:solidFill>
                <a:latin typeface="Times New Roman" charset="0"/>
              </a:rPr>
              <a:t>Disadvantages</a:t>
            </a:r>
          </a:p>
          <a:p>
            <a:pPr lvl="2" eaLnBrk="1" hangingPunct="1">
              <a:lnSpc>
                <a:spcPct val="90000"/>
              </a:lnSpc>
              <a:buFont typeface="Wingdings" charset="2"/>
              <a:buChar char="n"/>
              <a:defRPr/>
            </a:pPr>
            <a:r>
              <a:rPr lang="en-US" dirty="0">
                <a:latin typeface="Times New Roman" charset="0"/>
              </a:rPr>
              <a:t>Big amount of cabling</a:t>
            </a:r>
          </a:p>
          <a:p>
            <a:pPr lvl="2" eaLnBrk="1" hangingPunct="1">
              <a:lnSpc>
                <a:spcPct val="90000"/>
              </a:lnSpc>
              <a:buFont typeface="Wingdings" charset="2"/>
              <a:buChar char="n"/>
              <a:defRPr/>
            </a:pPr>
            <a:r>
              <a:rPr lang="en-US" dirty="0">
                <a:latin typeface="Times New Roman" charset="0"/>
              </a:rPr>
              <a:t>Big number of I/O ports</a:t>
            </a:r>
          </a:p>
          <a:p>
            <a:pPr lvl="2" eaLnBrk="1" hangingPunct="1">
              <a:lnSpc>
                <a:spcPct val="90000"/>
              </a:lnSpc>
              <a:buFont typeface="Wingdings" charset="2"/>
              <a:buChar char="n"/>
              <a:defRPr/>
            </a:pPr>
            <a:r>
              <a:rPr lang="en-US" dirty="0">
                <a:latin typeface="Times New Roman" charset="0"/>
              </a:rPr>
              <a:t>Installation and reconnection are difficult</a:t>
            </a:r>
          </a:p>
          <a:p>
            <a:pPr lvl="2" eaLnBrk="1" hangingPunct="1">
              <a:lnSpc>
                <a:spcPct val="90000"/>
              </a:lnSpc>
              <a:buFont typeface="Wingdings" charset="2"/>
              <a:buChar char="n"/>
              <a:defRPr/>
            </a:pPr>
            <a:r>
              <a:rPr lang="en-US" dirty="0" smtClean="0">
                <a:latin typeface="Times New Roman" charset="0"/>
              </a:rPr>
              <a:t>Hardware </a:t>
            </a:r>
            <a:r>
              <a:rPr lang="en-US" dirty="0">
                <a:latin typeface="Times New Roman" charset="0"/>
              </a:rPr>
              <a:t>connect to each I/O could be expensive</a:t>
            </a:r>
            <a:endParaRPr lang="ar-SA" dirty="0">
              <a:latin typeface="Times New Roman" charset="0"/>
            </a:endParaRPr>
          </a:p>
          <a:p>
            <a:pPr marL="342900" lvl="2" indent="-342900">
              <a:buSzPct val="60000"/>
              <a:buFont typeface="Wingdings" charset="2"/>
              <a:buChar char="n"/>
              <a:defRPr/>
            </a:pPr>
            <a:endParaRPr lang="en-US" dirty="0">
              <a:latin typeface="Times New Roman" charset="0"/>
            </a:endParaRPr>
          </a:p>
          <a:p>
            <a:pPr lvl="1" eaLnBrk="1" hangingPunct="1">
              <a:buFont typeface="Wingdings" charset="2"/>
              <a:buNone/>
              <a:defRPr/>
            </a:pPr>
            <a:r>
              <a:rPr lang="en-GB" dirty="0" smtClean="0"/>
              <a:t/>
            </a:r>
            <a:br>
              <a:rPr lang="en-GB" dirty="0" smtClean="0"/>
            </a:br>
            <a:endParaRPr lang="en-US" dirty="0" smtClean="0"/>
          </a:p>
          <a:p>
            <a:pPr>
              <a:buFont typeface="Wingdings" charset="2"/>
              <a:buChar char="n"/>
              <a:defRPr/>
            </a:pPr>
            <a:endParaRPr lang="en-IN" dirty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857375" y="381000"/>
            <a:ext cx="67356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i="1" dirty="0">
                <a:latin typeface="Times New Roman" pitchFamily="-128" charset="0"/>
              </a:rPr>
              <a:t>Mesh topology  </a:t>
            </a:r>
            <a:r>
              <a:rPr lang="en-US" sz="2000" i="1" dirty="0" smtClean="0">
                <a:latin typeface="Times New Roman" pitchFamily="-128" charset="0"/>
              </a:rPr>
              <a:t>- Example</a:t>
            </a:r>
            <a:endParaRPr lang="en-US" sz="2000" i="1" dirty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50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60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1828800" y="381000"/>
            <a:ext cx="43879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i="1" dirty="0">
                <a:latin typeface="Times New Roman" pitchFamily="-128" charset="0"/>
              </a:rPr>
              <a:t>A star topology connecting four stations</a:t>
            </a:r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946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1090613"/>
            <a:ext cx="4038600" cy="314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4" name="Rectangle 1"/>
          <p:cNvSpPr>
            <a:spLocks noChangeArrowheads="1"/>
          </p:cNvSpPr>
          <p:nvPr/>
        </p:nvSpPr>
        <p:spPr bwMode="auto">
          <a:xfrm>
            <a:off x="1870075" y="4924426"/>
            <a:ext cx="83756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000" dirty="0">
                <a:solidFill>
                  <a:srgbClr val="FF0000"/>
                </a:solidFill>
                <a:latin typeface="Times New Roman" pitchFamily="-128" charset="0"/>
              </a:rPr>
              <a:t>Star:</a:t>
            </a:r>
            <a:endParaRPr lang="en-GB" sz="2000" dirty="0">
              <a:solidFill>
                <a:srgbClr val="FF0000"/>
              </a:solidFill>
              <a:latin typeface="Times New Roman" pitchFamily="-128" charset="0"/>
            </a:endParaRPr>
          </a:p>
          <a:p>
            <a:pPr marL="800100" lvl="1" indent="-342900"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Dedicated point-to-point to a central controller (Hub)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No direct traffic between devices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The control acts as an exchange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751" y="1068389"/>
            <a:ext cx="4651375" cy="31702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charset="0"/>
              </a:rPr>
              <a:t>Advantages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Less expensive than mesh</a:t>
            </a:r>
            <a:br>
              <a:rPr lang="en-US" sz="2000" dirty="0">
                <a:latin typeface="Times New Roman" charset="0"/>
              </a:rPr>
            </a:br>
            <a:r>
              <a:rPr lang="en-US" sz="2000" dirty="0">
                <a:latin typeface="Times New Roman" charset="0"/>
              </a:rPr>
              <a:t>(1 Link + 1 port per device)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Easy to install and reconfigure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Less cabling Additions, moves, and deletions required one connection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Robustness : one fail does not affect others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Easy fault identification and fault isolation</a:t>
            </a:r>
          </a:p>
        </p:txBody>
      </p:sp>
      <p:sp>
        <p:nvSpPr>
          <p:cNvPr id="19466" name="Rectangle 3"/>
          <p:cNvSpPr>
            <a:spLocks noChangeArrowheads="1"/>
          </p:cNvSpPr>
          <p:nvPr/>
        </p:nvSpPr>
        <p:spPr bwMode="auto">
          <a:xfrm>
            <a:off x="5816601" y="4030663"/>
            <a:ext cx="50196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lvl="1"/>
            <a:r>
              <a:rPr lang="en-US" sz="2000" dirty="0">
                <a:solidFill>
                  <a:srgbClr val="FF0000"/>
                </a:solidFill>
                <a:latin typeface="Times New Roman" pitchFamily="-128" charset="0"/>
              </a:rPr>
              <a:t>Disadvantages</a:t>
            </a:r>
          </a:p>
          <a:p>
            <a:pPr marL="342900" lvl="2" indent="-342900"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Dependency of the whole topology on one single point (hub)</a:t>
            </a:r>
          </a:p>
        </p:txBody>
      </p:sp>
    </p:spTree>
    <p:extLst>
      <p:ext uri="{BB962C8B-B14F-4D97-AF65-F5344CB8AC3E}">
        <p14:creationId xmlns:p14="http://schemas.microsoft.com/office/powerpoint/2010/main" val="257800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Line 2"/>
          <p:cNvSpPr>
            <a:spLocks noChangeShapeType="1"/>
          </p:cNvSpPr>
          <p:nvPr/>
        </p:nvSpPr>
        <p:spPr bwMode="auto">
          <a:xfrm>
            <a:off x="1676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84" name="Line 3"/>
          <p:cNvSpPr>
            <a:spLocks noChangeShapeType="1"/>
          </p:cNvSpPr>
          <p:nvPr/>
        </p:nvSpPr>
        <p:spPr bwMode="auto">
          <a:xfrm>
            <a:off x="1676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1828800" y="457200"/>
            <a:ext cx="45853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dirty="0">
                <a:latin typeface="Times New Roman" pitchFamily="-128" charset="0"/>
              </a:rPr>
              <a:t>A bus topology connecting three stations</a:t>
            </a:r>
          </a:p>
        </p:txBody>
      </p:sp>
      <p:sp>
        <p:nvSpPr>
          <p:cNvPr id="20486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048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7" y="1268413"/>
            <a:ext cx="7888288" cy="166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65301" y="3101976"/>
            <a:ext cx="7635875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buClr>
                <a:srgbClr val="FF0000"/>
              </a:buClr>
              <a:defRPr/>
            </a:pPr>
            <a:r>
              <a:rPr lang="en-US" sz="2000" dirty="0">
                <a:solidFill>
                  <a:srgbClr val="FF0000"/>
                </a:solidFill>
                <a:latin typeface="Times New Roman" charset="0"/>
              </a:rPr>
              <a:t>Bus:</a:t>
            </a:r>
          </a:p>
          <a:p>
            <a:pPr marL="800100" lvl="1" indent="-342900">
              <a:buClr>
                <a:srgbClr val="FF00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It is multipoint </a:t>
            </a:r>
          </a:p>
          <a:p>
            <a:pPr marL="800100" lvl="1" indent="-342900">
              <a:buClr>
                <a:srgbClr val="FF00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One long cable acts as a backbone</a:t>
            </a:r>
          </a:p>
          <a:p>
            <a:pPr marL="800100" lvl="1" indent="-342900">
              <a:buClr>
                <a:srgbClr val="FF0000"/>
              </a:buClr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charset="0"/>
              </a:rPr>
              <a:t>Used in the design of early LANS, and Ethernet LANs</a:t>
            </a:r>
          </a:p>
        </p:txBody>
      </p:sp>
      <p:sp>
        <p:nvSpPr>
          <p:cNvPr id="20489" name="Rectangle 2"/>
          <p:cNvSpPr>
            <a:spLocks noChangeArrowheads="1"/>
          </p:cNvSpPr>
          <p:nvPr/>
        </p:nvSpPr>
        <p:spPr bwMode="auto">
          <a:xfrm>
            <a:off x="1828800" y="4229101"/>
            <a:ext cx="8610600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</a:pPr>
            <a:endParaRPr lang="en-US" sz="2000" dirty="0">
              <a:latin typeface="Times New Roman" pitchFamily="-12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itchFamily="-128" charset="0"/>
              </a:rPr>
              <a:t>Advantages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Times New Roman" pitchFamily="-128" charset="0"/>
              </a:rPr>
              <a:t>Ease of installation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Times New Roman" pitchFamily="-128" charset="0"/>
              </a:rPr>
              <a:t>Less cables than mesh, star topologies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itchFamily="-128" charset="0"/>
              </a:rPr>
              <a:t>Disadvantages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Times New Roman" pitchFamily="-128" charset="0"/>
              </a:rPr>
              <a:t>Difficult reconnection and fault isolation ( limit of taps)</a:t>
            </a:r>
            <a:endParaRPr lang="en-IN" sz="2000" dirty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0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Line 2"/>
          <p:cNvSpPr>
            <a:spLocks noChangeShapeType="1"/>
          </p:cNvSpPr>
          <p:nvPr/>
        </p:nvSpPr>
        <p:spPr bwMode="auto">
          <a:xfrm>
            <a:off x="1676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08" name="Line 3"/>
          <p:cNvSpPr>
            <a:spLocks noChangeShapeType="1"/>
          </p:cNvSpPr>
          <p:nvPr/>
        </p:nvSpPr>
        <p:spPr bwMode="auto">
          <a:xfrm>
            <a:off x="1676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1828801" y="457200"/>
            <a:ext cx="42020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b="0" dirty="0">
                <a:latin typeface="Times New Roman" pitchFamily="-128" charset="0"/>
              </a:rPr>
              <a:t>A ring topology connecting six stations</a:t>
            </a:r>
          </a:p>
        </p:txBody>
      </p:sp>
      <p:sp>
        <p:nvSpPr>
          <p:cNvPr id="21510" name="Line 5"/>
          <p:cNvSpPr>
            <a:spLocks noChangeShapeType="1"/>
          </p:cNvSpPr>
          <p:nvPr/>
        </p:nvSpPr>
        <p:spPr bwMode="auto">
          <a:xfrm>
            <a:off x="1676400" y="6453188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877888"/>
            <a:ext cx="6989763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12" name="Rectangle 1"/>
          <p:cNvSpPr>
            <a:spLocks noChangeArrowheads="1"/>
          </p:cNvSpPr>
          <p:nvPr/>
        </p:nvSpPr>
        <p:spPr bwMode="auto">
          <a:xfrm>
            <a:off x="1992314" y="3500438"/>
            <a:ext cx="8567737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00100" lvl="1" indent="-342900">
              <a:buClr>
                <a:srgbClr val="FF0000"/>
              </a:buClr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Each device has dedicated point-to-point connection with only the two devices on either side of it</a:t>
            </a:r>
          </a:p>
          <a:p>
            <a:pPr marL="800100" lvl="1" indent="-342900">
              <a:buClr>
                <a:srgbClr val="FF0000"/>
              </a:buClr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A signal is passed along the ring in one direction from device to device until it reaches its destination</a:t>
            </a:r>
          </a:p>
          <a:p>
            <a:pPr marL="800100" lvl="1" indent="-342900">
              <a:buClr>
                <a:srgbClr val="FF0000"/>
              </a:buClr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Each devices incorporates a Repeater</a:t>
            </a:r>
          </a:p>
        </p:txBody>
      </p:sp>
      <p:sp>
        <p:nvSpPr>
          <p:cNvPr id="21513" name="Rectangle 2"/>
          <p:cNvSpPr>
            <a:spLocks noChangeArrowheads="1"/>
          </p:cNvSpPr>
          <p:nvPr/>
        </p:nvSpPr>
        <p:spPr bwMode="auto">
          <a:xfrm>
            <a:off x="1670050" y="5132388"/>
            <a:ext cx="40655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lvl="1"/>
            <a:r>
              <a:rPr lang="en-US" sz="2000" dirty="0">
                <a:solidFill>
                  <a:srgbClr val="C00000"/>
                </a:solidFill>
                <a:latin typeface="Times New Roman" pitchFamily="-128" charset="0"/>
              </a:rPr>
              <a:t>Advantages</a:t>
            </a:r>
          </a:p>
          <a:p>
            <a:pPr marL="0" lvl="2">
              <a:buClr>
                <a:srgbClr val="FF0000"/>
              </a:buClr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Easy of install and reconfigure</a:t>
            </a:r>
          </a:p>
          <a:p>
            <a:pPr marL="0" lvl="2">
              <a:buClr>
                <a:srgbClr val="FF0000"/>
              </a:buClr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Connect to immediate neighbors</a:t>
            </a:r>
          </a:p>
        </p:txBody>
      </p:sp>
      <p:sp>
        <p:nvSpPr>
          <p:cNvPr id="21514" name="Rectangle 3"/>
          <p:cNvSpPr>
            <a:spLocks noChangeArrowheads="1"/>
          </p:cNvSpPr>
          <p:nvPr/>
        </p:nvSpPr>
        <p:spPr bwMode="auto">
          <a:xfrm>
            <a:off x="5664200" y="5013326"/>
            <a:ext cx="4572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lvl="1"/>
            <a:r>
              <a:rPr lang="en-US" sz="2000" dirty="0">
                <a:solidFill>
                  <a:srgbClr val="C00000"/>
                </a:solidFill>
                <a:latin typeface="Times New Roman" pitchFamily="-128" charset="0"/>
              </a:rPr>
              <a:t>Disadvantage</a:t>
            </a:r>
          </a:p>
          <a:p>
            <a:pPr marL="342900" lvl="2" indent="-342900">
              <a:buClr>
                <a:srgbClr val="FF0000"/>
              </a:buClr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Unidirectional</a:t>
            </a:r>
          </a:p>
          <a:p>
            <a:pPr marL="342900" lvl="2" indent="-342900">
              <a:buClr>
                <a:srgbClr val="FF0000"/>
              </a:buClr>
              <a:buFont typeface="Arial" charset="0"/>
              <a:buChar char="•"/>
            </a:pPr>
            <a:r>
              <a:rPr lang="en-US" sz="2000" dirty="0">
                <a:latin typeface="Times New Roman" pitchFamily="-128" charset="0"/>
              </a:rPr>
              <a:t>One broken device can disable the entire network.</a:t>
            </a:r>
            <a:endParaRPr lang="en-IN" sz="2000" dirty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84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1828800" y="381000"/>
            <a:ext cx="64398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b="0" dirty="0">
                <a:latin typeface="Times New Roman" pitchFamily="-128" charset="0"/>
              </a:rPr>
              <a:t>A hybrid topology: a star backbone with three bus networks</a:t>
            </a:r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253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38" y="1020763"/>
            <a:ext cx="5707062" cy="344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6" name="Rectangle 1"/>
          <p:cNvSpPr>
            <a:spLocks noChangeArrowheads="1"/>
          </p:cNvSpPr>
          <p:nvPr/>
        </p:nvSpPr>
        <p:spPr bwMode="auto">
          <a:xfrm>
            <a:off x="1949450" y="4894264"/>
            <a:ext cx="76327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eaLnBrk="1" hangingPunct="1"/>
            <a:r>
              <a:rPr lang="en-US" sz="2000" dirty="0">
                <a:solidFill>
                  <a:srgbClr val="FF0000"/>
                </a:solidFill>
                <a:latin typeface="Times New Roman" pitchFamily="-128" charset="0"/>
              </a:rPr>
              <a:t>Example: </a:t>
            </a:r>
            <a:r>
              <a:rPr lang="en-US" sz="2000" dirty="0">
                <a:latin typeface="Times New Roman" pitchFamily="-128" charset="0"/>
              </a:rPr>
              <a:t>having a main star topology with each branch connecting several stations in a bus topology</a:t>
            </a:r>
          </a:p>
        </p:txBody>
      </p:sp>
    </p:spTree>
    <p:extLst>
      <p:ext uri="{BB962C8B-B14F-4D97-AF65-F5344CB8AC3E}">
        <p14:creationId xmlns:p14="http://schemas.microsoft.com/office/powerpoint/2010/main" val="142735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Line 2"/>
          <p:cNvSpPr>
            <a:spLocks noChangeShapeType="1"/>
          </p:cNvSpPr>
          <p:nvPr/>
        </p:nvSpPr>
        <p:spPr bwMode="auto">
          <a:xfrm>
            <a:off x="1676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1676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1828800" y="361950"/>
            <a:ext cx="4383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>
                <a:latin typeface="Times New Roman" pitchFamily="-128" charset="0"/>
              </a:rPr>
              <a:t>Categories of Networks</a:t>
            </a:r>
            <a:endParaRPr lang="en-US" sz="2000" i="1">
              <a:latin typeface="Times New Roman" pitchFamily="-128" charset="0"/>
            </a:endParaRPr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1981200" y="1524000"/>
            <a:ext cx="731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/>
          </a:p>
        </p:txBody>
      </p:sp>
      <p:sp>
        <p:nvSpPr>
          <p:cNvPr id="2356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3716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400" b="1" dirty="0">
                <a:latin typeface="Times New Roman" pitchFamily="-128" charset="0"/>
              </a:rPr>
              <a:t>Local Area Networks (LANs)</a:t>
            </a:r>
          </a:p>
          <a:p>
            <a:pPr lvl="1" eaLnBrk="1" hangingPunct="1"/>
            <a:r>
              <a:rPr lang="en-US" sz="2000" b="1" dirty="0">
                <a:latin typeface="Times New Roman" pitchFamily="-128" charset="0"/>
              </a:rPr>
              <a:t>Short distances (Covers area &lt; 2miles)</a:t>
            </a:r>
          </a:p>
          <a:p>
            <a:pPr lvl="1" eaLnBrk="1" hangingPunct="1"/>
            <a:r>
              <a:rPr lang="en-US" sz="2000" b="1" dirty="0">
                <a:latin typeface="Times New Roman" pitchFamily="-128" charset="0"/>
              </a:rPr>
              <a:t>Designed to provide local interconnectivity</a:t>
            </a:r>
          </a:p>
          <a:p>
            <a:pPr eaLnBrk="1" hangingPunct="1"/>
            <a:r>
              <a:rPr lang="en-US" sz="2400" b="1" dirty="0">
                <a:latin typeface="Times New Roman" pitchFamily="-128" charset="0"/>
              </a:rPr>
              <a:t>Wide Area Networks (WANs)</a:t>
            </a:r>
          </a:p>
          <a:p>
            <a:pPr lvl="1" eaLnBrk="1" hangingPunct="1"/>
            <a:r>
              <a:rPr lang="en-US" sz="2000" b="1" dirty="0">
                <a:latin typeface="Times New Roman" pitchFamily="-128" charset="0"/>
              </a:rPr>
              <a:t>Long distances (Can be worldwide)</a:t>
            </a:r>
          </a:p>
          <a:p>
            <a:pPr lvl="1" eaLnBrk="1" hangingPunct="1"/>
            <a:r>
              <a:rPr lang="en-US" sz="2000" b="1" dirty="0">
                <a:latin typeface="Times New Roman" pitchFamily="-128" charset="0"/>
              </a:rPr>
              <a:t>Provide connectivity over large areas</a:t>
            </a:r>
          </a:p>
          <a:p>
            <a:pPr eaLnBrk="1" hangingPunct="1"/>
            <a:r>
              <a:rPr lang="en-US" sz="2400" b="1" dirty="0">
                <a:latin typeface="Times New Roman" pitchFamily="-128" charset="0"/>
              </a:rPr>
              <a:t>Metropolitan Area Networks (MANs)</a:t>
            </a:r>
          </a:p>
          <a:p>
            <a:pPr lvl="1" eaLnBrk="1" hangingPunct="1"/>
            <a:r>
              <a:rPr lang="en-US" sz="2000" b="1" dirty="0">
                <a:latin typeface="Times New Roman" pitchFamily="-128" charset="0"/>
              </a:rPr>
              <a:t>Provide connectivity over areas such as a city, a campus</a:t>
            </a:r>
          </a:p>
          <a:p>
            <a:pPr lvl="1" eaLnBrk="1" hangingPunct="1"/>
            <a:r>
              <a:rPr lang="en-US" sz="2000" b="1" dirty="0">
                <a:latin typeface="Times New Roman" pitchFamily="-128" charset="0"/>
              </a:rPr>
              <a:t>Between LAN &amp; WAN, span 10s of miles</a:t>
            </a:r>
          </a:p>
        </p:txBody>
      </p:sp>
    </p:spTree>
    <p:extLst>
      <p:ext uri="{BB962C8B-B14F-4D97-AF65-F5344CB8AC3E}">
        <p14:creationId xmlns:p14="http://schemas.microsoft.com/office/powerpoint/2010/main" val="69077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charset="0"/>
                <a:ea typeface="+mn-ea"/>
                <a:cs typeface="+mn-cs"/>
              </a:rPr>
              <a:t>Local Area Network </a:t>
            </a:r>
            <a:endParaRPr lang="en-IN" sz="3200" b="1" dirty="0"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itchFamily="-128" charset="0"/>
              </a:rPr>
              <a:t>A local area network (LAN) is usually privately owned and connects some hosts in a single office, building, or campus. </a:t>
            </a:r>
            <a:endParaRPr lang="en-US" sz="2400" dirty="0" smtClean="0">
              <a:latin typeface="Times New Roman" pitchFamily="-128" charset="0"/>
            </a:endParaRPr>
          </a:p>
          <a:p>
            <a:pPr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itchFamily="-128" charset="0"/>
            </a:endParaRPr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itchFamily="-128" charset="0"/>
              </a:rPr>
              <a:t>Depending on the needs of an organization, a LAN can be as simple </a:t>
            </a:r>
            <a:r>
              <a:rPr lang="en-US" sz="2400" dirty="0" smtClean="0">
                <a:latin typeface="Times New Roman" pitchFamily="-128" charset="0"/>
              </a:rPr>
              <a:t>as </a:t>
            </a:r>
            <a:r>
              <a:rPr lang="en-US" sz="2400" dirty="0">
                <a:latin typeface="Times New Roman" pitchFamily="-128" charset="0"/>
              </a:rPr>
              <a:t>two PCs and a printer in someone’s home office, or it can extend throughout a company and include audio and video devices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273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charset="0"/>
                <a:ea typeface="+mn-ea"/>
                <a:cs typeface="+mn-cs"/>
              </a:rPr>
              <a:t>An isolated LAN in the past and today </a:t>
            </a:r>
            <a:endParaRPr lang="en-IN" sz="3200" b="1" dirty="0">
              <a:latin typeface="Times New Roman" charset="0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555" y="2202287"/>
            <a:ext cx="7691862" cy="3515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617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charset="0"/>
                <a:ea typeface="+mn-ea"/>
                <a:cs typeface="+mn-cs"/>
              </a:rPr>
              <a:t>Metropolitan area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</a:t>
            </a:r>
            <a:r>
              <a:rPr lang="en-US" b="1" dirty="0">
                <a:latin typeface="Times New Roman" pitchFamily="-128" charset="0"/>
              </a:rPr>
              <a:t> Metropolitan Area Network is a class of network which serves a large geographical area between 5 to 50 kilometers in range. </a:t>
            </a:r>
          </a:p>
          <a:p>
            <a:pPr algn="just"/>
            <a:r>
              <a:rPr lang="en-US" b="1" dirty="0">
                <a:latin typeface="Times New Roman" pitchFamily="-128" charset="0"/>
              </a:rPr>
              <a:t>This geographical area can include several buildings, such as a college campus, sometimes referred to as a campus network, or an area as large as a city (metropolitan area</a:t>
            </a:r>
            <a:r>
              <a:rPr lang="en-US" b="1" dirty="0" smtClean="0">
                <a:latin typeface="Times New Roman" pitchFamily="-128" charset="0"/>
              </a:rPr>
              <a:t>).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-128" charset="0"/>
              </a:rPr>
              <a:t> </a:t>
            </a:r>
            <a:endParaRPr lang="en-IN" b="1" dirty="0">
              <a:latin typeface="Times New Roman" pitchFamily="-128" charset="0"/>
            </a:endParaRPr>
          </a:p>
        </p:txBody>
      </p:sp>
      <p:pic>
        <p:nvPicPr>
          <p:cNvPr id="4" name="Picture 2" descr="Image result for metropolitan area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303" y="3323271"/>
            <a:ext cx="7488832" cy="285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83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414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charset="0"/>
                <a:ea typeface="+mn-ea"/>
                <a:cs typeface="+mn-cs"/>
              </a:rPr>
              <a:t>Wide Area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itchFamily="-128" charset="0"/>
              </a:rPr>
              <a:t>A wide area network (WAN) is also an interconnection of devices capable of communication. </a:t>
            </a:r>
          </a:p>
          <a:p>
            <a:pPr algn="just"/>
            <a:r>
              <a:rPr lang="en-US" sz="2400" b="1" dirty="0">
                <a:latin typeface="Times New Roman" pitchFamily="-128" charset="0"/>
              </a:rPr>
              <a:t>However, there are some differences between a LAN and a WAN. </a:t>
            </a:r>
          </a:p>
          <a:p>
            <a:pPr algn="just"/>
            <a:r>
              <a:rPr lang="en-US" sz="2400" b="1" dirty="0">
                <a:latin typeface="Times New Roman" pitchFamily="-128" charset="0"/>
              </a:rPr>
              <a:t>A LAN is normally limited in size, spanning an office, a building, or a campus; a WAN has a wider geographical span, spanning a town, a state, a country, or even the world. </a:t>
            </a:r>
          </a:p>
          <a:p>
            <a:pPr algn="just"/>
            <a:r>
              <a:rPr lang="en-US" sz="2400" b="1" dirty="0">
                <a:latin typeface="Times New Roman" pitchFamily="-128" charset="0"/>
              </a:rPr>
              <a:t>A LAN interconnects hosts; a WAN interconnects connecting devices such as switches, routers, or modems</a:t>
            </a:r>
            <a:endParaRPr lang="en-IN" sz="2400" b="1" dirty="0">
              <a:latin typeface="Times New Roman" pitchFamily="-12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8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1154</Words>
  <Application>Microsoft Office PowerPoint</Application>
  <PresentationFormat>Widescreen</PresentationFormat>
  <Paragraphs>160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Networks </vt:lpstr>
      <vt:lpstr>Networks - Introduction </vt:lpstr>
      <vt:lpstr>NETWORKS</vt:lpstr>
      <vt:lpstr> Network Criteria</vt:lpstr>
      <vt:lpstr>Network Criteria</vt:lpstr>
      <vt:lpstr>Physical Structures</vt:lpstr>
      <vt:lpstr>Physical Structures</vt:lpstr>
      <vt:lpstr> Physical Structures</vt:lpstr>
      <vt:lpstr>Physical Structures</vt:lpstr>
      <vt:lpstr>Physical Topology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Local Area Network </vt:lpstr>
      <vt:lpstr>An isolated LAN in the past and today </vt:lpstr>
      <vt:lpstr>Metropolitan area network</vt:lpstr>
      <vt:lpstr>Wide Area Network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</dc:title>
  <dc:creator>Arivoli Vijay</dc:creator>
  <cp:lastModifiedBy>Arivoli Vijay</cp:lastModifiedBy>
  <cp:revision>57</cp:revision>
  <dcterms:created xsi:type="dcterms:W3CDTF">2021-02-05T10:36:57Z</dcterms:created>
  <dcterms:modified xsi:type="dcterms:W3CDTF">2024-07-15T07:26:59Z</dcterms:modified>
</cp:coreProperties>
</file>