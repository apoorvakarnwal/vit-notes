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8" r:id="rId4"/>
    <p:sldId id="279" r:id="rId5"/>
    <p:sldId id="280" r:id="rId6"/>
    <p:sldId id="281" r:id="rId7"/>
    <p:sldId id="282" r:id="rId8"/>
    <p:sldId id="283" r:id="rId9"/>
    <p:sldId id="284" r:id="rId10"/>
    <p:sldId id="285" r:id="rId11"/>
    <p:sldId id="286" r:id="rId12"/>
    <p:sldId id="291" r:id="rId13"/>
    <p:sldId id="287" r:id="rId14"/>
    <p:sldId id="288" r:id="rId15"/>
    <p:sldId id="289" r:id="rId16"/>
    <p:sldId id="290" r:id="rId17"/>
    <p:sldId id="292" r:id="rId18"/>
    <p:sldId id="293" r:id="rId19"/>
    <p:sldId id="294" r:id="rId20"/>
    <p:sldId id="295" r:id="rId21"/>
    <p:sldId id="296" r:id="rId22"/>
    <p:sldId id="297" r:id="rId23"/>
    <p:sldId id="298" r:id="rId24"/>
    <p:sldId id="299" r:id="rId25"/>
    <p:sldId id="300" r:id="rId26"/>
    <p:sldId id="301" r:id="rId27"/>
    <p:sldId id="302" r:id="rId28"/>
    <p:sldId id="303" r:id="rId29"/>
    <p:sldId id="304" r:id="rId30"/>
    <p:sldId id="259" r:id="rId31"/>
    <p:sldId id="260" r:id="rId32"/>
    <p:sldId id="261" r:id="rId33"/>
    <p:sldId id="262" r:id="rId34"/>
    <p:sldId id="263" r:id="rId35"/>
    <p:sldId id="264" r:id="rId36"/>
    <p:sldId id="265" r:id="rId37"/>
    <p:sldId id="266" r:id="rId38"/>
    <p:sldId id="267" r:id="rId39"/>
    <p:sldId id="268" r:id="rId40"/>
    <p:sldId id="269" r:id="rId41"/>
    <p:sldId id="270" r:id="rId42"/>
    <p:sldId id="305" r:id="rId43"/>
    <p:sldId id="271" r:id="rId44"/>
    <p:sldId id="272" r:id="rId45"/>
    <p:sldId id="273" r:id="rId46"/>
    <p:sldId id="274" r:id="rId47"/>
    <p:sldId id="275" r:id="rId48"/>
    <p:sldId id="276" r:id="rId49"/>
    <p:sldId id="277"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08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EE3E316-0BA5-4202-946E-6A6607ABAF86}" type="datetimeFigureOut">
              <a:rPr lang="en-IN" smtClean="0"/>
              <a:t>26-09-2024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09BE98-2134-43DD-B15E-1375A2C70643}" type="slidenum">
              <a:rPr lang="en-IN" smtClean="0"/>
              <a:t>‹#›</a:t>
            </a:fld>
            <a:endParaRPr lang="en-IN"/>
          </a:p>
        </p:txBody>
      </p:sp>
    </p:spTree>
    <p:extLst>
      <p:ext uri="{BB962C8B-B14F-4D97-AF65-F5344CB8AC3E}">
        <p14:creationId xmlns:p14="http://schemas.microsoft.com/office/powerpoint/2010/main" val="1838465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EE3E316-0BA5-4202-946E-6A6607ABAF86}" type="datetimeFigureOut">
              <a:rPr lang="en-IN" smtClean="0"/>
              <a:t>26-09-2024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09BE98-2134-43DD-B15E-1375A2C70643}" type="slidenum">
              <a:rPr lang="en-IN" smtClean="0"/>
              <a:t>‹#›</a:t>
            </a:fld>
            <a:endParaRPr lang="en-IN"/>
          </a:p>
        </p:txBody>
      </p:sp>
    </p:spTree>
    <p:extLst>
      <p:ext uri="{BB962C8B-B14F-4D97-AF65-F5344CB8AC3E}">
        <p14:creationId xmlns:p14="http://schemas.microsoft.com/office/powerpoint/2010/main" val="3633010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EE3E316-0BA5-4202-946E-6A6607ABAF86}" type="datetimeFigureOut">
              <a:rPr lang="en-IN" smtClean="0"/>
              <a:t>26-09-2024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09BE98-2134-43DD-B15E-1375A2C70643}" type="slidenum">
              <a:rPr lang="en-IN" smtClean="0"/>
              <a:t>‹#›</a:t>
            </a:fld>
            <a:endParaRPr lang="en-IN"/>
          </a:p>
        </p:txBody>
      </p:sp>
    </p:spTree>
    <p:extLst>
      <p:ext uri="{BB962C8B-B14F-4D97-AF65-F5344CB8AC3E}">
        <p14:creationId xmlns:p14="http://schemas.microsoft.com/office/powerpoint/2010/main" val="1584863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EE3E316-0BA5-4202-946E-6A6607ABAF86}" type="datetimeFigureOut">
              <a:rPr lang="en-IN" smtClean="0"/>
              <a:t>26-09-2024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09BE98-2134-43DD-B15E-1375A2C70643}" type="slidenum">
              <a:rPr lang="en-IN" smtClean="0"/>
              <a:t>‹#›</a:t>
            </a:fld>
            <a:endParaRPr lang="en-IN"/>
          </a:p>
        </p:txBody>
      </p:sp>
    </p:spTree>
    <p:extLst>
      <p:ext uri="{BB962C8B-B14F-4D97-AF65-F5344CB8AC3E}">
        <p14:creationId xmlns:p14="http://schemas.microsoft.com/office/powerpoint/2010/main" val="2647441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EE3E316-0BA5-4202-946E-6A6607ABAF86}" type="datetimeFigureOut">
              <a:rPr lang="en-IN" smtClean="0"/>
              <a:t>26-09-2024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709BE98-2134-43DD-B15E-1375A2C70643}" type="slidenum">
              <a:rPr lang="en-IN" smtClean="0"/>
              <a:t>‹#›</a:t>
            </a:fld>
            <a:endParaRPr lang="en-IN"/>
          </a:p>
        </p:txBody>
      </p:sp>
    </p:spTree>
    <p:extLst>
      <p:ext uri="{BB962C8B-B14F-4D97-AF65-F5344CB8AC3E}">
        <p14:creationId xmlns:p14="http://schemas.microsoft.com/office/powerpoint/2010/main" val="3339210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EE3E316-0BA5-4202-946E-6A6607ABAF86}" type="datetimeFigureOut">
              <a:rPr lang="en-IN" smtClean="0"/>
              <a:t>26-09-2024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09BE98-2134-43DD-B15E-1375A2C70643}" type="slidenum">
              <a:rPr lang="en-IN" smtClean="0"/>
              <a:t>‹#›</a:t>
            </a:fld>
            <a:endParaRPr lang="en-IN"/>
          </a:p>
        </p:txBody>
      </p:sp>
    </p:spTree>
    <p:extLst>
      <p:ext uri="{BB962C8B-B14F-4D97-AF65-F5344CB8AC3E}">
        <p14:creationId xmlns:p14="http://schemas.microsoft.com/office/powerpoint/2010/main" val="1466159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E3E316-0BA5-4202-946E-6A6607ABAF86}" type="datetimeFigureOut">
              <a:rPr lang="en-IN" smtClean="0"/>
              <a:t>26-09-2024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709BE98-2134-43DD-B15E-1375A2C70643}" type="slidenum">
              <a:rPr lang="en-IN" smtClean="0"/>
              <a:t>‹#›</a:t>
            </a:fld>
            <a:endParaRPr lang="en-IN"/>
          </a:p>
        </p:txBody>
      </p:sp>
    </p:spTree>
    <p:extLst>
      <p:ext uri="{BB962C8B-B14F-4D97-AF65-F5344CB8AC3E}">
        <p14:creationId xmlns:p14="http://schemas.microsoft.com/office/powerpoint/2010/main" val="2094024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E3E316-0BA5-4202-946E-6A6607ABAF86}" type="datetimeFigureOut">
              <a:rPr lang="en-IN" smtClean="0"/>
              <a:t>26-09-2024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09BE98-2134-43DD-B15E-1375A2C70643}" type="slidenum">
              <a:rPr lang="en-IN" smtClean="0"/>
              <a:t>‹#›</a:t>
            </a:fld>
            <a:endParaRPr lang="en-IN"/>
          </a:p>
        </p:txBody>
      </p:sp>
    </p:spTree>
    <p:extLst>
      <p:ext uri="{BB962C8B-B14F-4D97-AF65-F5344CB8AC3E}">
        <p14:creationId xmlns:p14="http://schemas.microsoft.com/office/powerpoint/2010/main" val="407654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E3E316-0BA5-4202-946E-6A6607ABAF86}" type="datetimeFigureOut">
              <a:rPr lang="en-IN" smtClean="0"/>
              <a:t>26-09-2024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09BE98-2134-43DD-B15E-1375A2C70643}" type="slidenum">
              <a:rPr lang="en-IN" smtClean="0"/>
              <a:t>‹#›</a:t>
            </a:fld>
            <a:endParaRPr lang="en-IN"/>
          </a:p>
        </p:txBody>
      </p:sp>
    </p:spTree>
    <p:extLst>
      <p:ext uri="{BB962C8B-B14F-4D97-AF65-F5344CB8AC3E}">
        <p14:creationId xmlns:p14="http://schemas.microsoft.com/office/powerpoint/2010/main" val="1826419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EE3E316-0BA5-4202-946E-6A6607ABAF86}" type="datetimeFigureOut">
              <a:rPr lang="en-IN" smtClean="0"/>
              <a:t>26-09-2024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09BE98-2134-43DD-B15E-1375A2C70643}" type="slidenum">
              <a:rPr lang="en-IN" smtClean="0"/>
              <a:t>‹#›</a:t>
            </a:fld>
            <a:endParaRPr lang="en-IN"/>
          </a:p>
        </p:txBody>
      </p:sp>
    </p:spTree>
    <p:extLst>
      <p:ext uri="{BB962C8B-B14F-4D97-AF65-F5344CB8AC3E}">
        <p14:creationId xmlns:p14="http://schemas.microsoft.com/office/powerpoint/2010/main" val="1589628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EE3E316-0BA5-4202-946E-6A6607ABAF86}" type="datetimeFigureOut">
              <a:rPr lang="en-IN" smtClean="0"/>
              <a:t>26-09-2024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09BE98-2134-43DD-B15E-1375A2C70643}" type="slidenum">
              <a:rPr lang="en-IN" smtClean="0"/>
              <a:t>‹#›</a:t>
            </a:fld>
            <a:endParaRPr lang="en-IN"/>
          </a:p>
        </p:txBody>
      </p:sp>
    </p:spTree>
    <p:extLst>
      <p:ext uri="{BB962C8B-B14F-4D97-AF65-F5344CB8AC3E}">
        <p14:creationId xmlns:p14="http://schemas.microsoft.com/office/powerpoint/2010/main" val="2638029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E3E316-0BA5-4202-946E-6A6607ABAF86}" type="datetimeFigureOut">
              <a:rPr lang="en-IN" smtClean="0"/>
              <a:t>26-09-2024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09BE98-2134-43DD-B15E-1375A2C70643}" type="slidenum">
              <a:rPr lang="en-IN" smtClean="0"/>
              <a:t>‹#›</a:t>
            </a:fld>
            <a:endParaRPr lang="en-IN"/>
          </a:p>
        </p:txBody>
      </p:sp>
    </p:spTree>
    <p:extLst>
      <p:ext uri="{BB962C8B-B14F-4D97-AF65-F5344CB8AC3E}">
        <p14:creationId xmlns:p14="http://schemas.microsoft.com/office/powerpoint/2010/main" val="3522626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Times New Roman" pitchFamily="18" charset="0"/>
                <a:cs typeface="Times New Roman" pitchFamily="18" charset="0"/>
              </a:rPr>
              <a:t>Multiple Access Networks (IEEE 802.3)</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6710396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Multiple Access Networks (IEEE 802.3) – Ethernet </a:t>
            </a:r>
          </a:p>
          <a:p>
            <a:r>
              <a:rPr lang="en-IN" dirty="0" smtClean="0">
                <a:latin typeface="Times New Roman" pitchFamily="18" charset="0"/>
                <a:cs typeface="Times New Roman" pitchFamily="18" charset="0"/>
              </a:rPr>
              <a:t>Token Ring(IEEE 802.5)</a:t>
            </a:r>
          </a:p>
          <a:p>
            <a:r>
              <a:rPr lang="en-US" dirty="0" smtClean="0">
                <a:latin typeface="Times New Roman" pitchFamily="18" charset="0"/>
                <a:cs typeface="Times New Roman" pitchFamily="18" charset="0"/>
              </a:rPr>
              <a:t>Wireless Networks (IEEE 802.11, 802.15)</a:t>
            </a:r>
          </a:p>
          <a:p>
            <a:pPr lvl="1"/>
            <a:r>
              <a:rPr lang="en-US" dirty="0" smtClean="0">
                <a:latin typeface="Times New Roman" pitchFamily="18" charset="0"/>
                <a:cs typeface="Times New Roman" pitchFamily="18" charset="0"/>
              </a:rPr>
              <a:t>IEEE 802.11 - </a:t>
            </a:r>
            <a:r>
              <a:rPr lang="en-IN" dirty="0">
                <a:latin typeface="Times New Roman" pitchFamily="18" charset="0"/>
                <a:cs typeface="Times New Roman" pitchFamily="18" charset="0"/>
              </a:rPr>
              <a:t>W</a:t>
            </a:r>
            <a:r>
              <a:rPr lang="en-IN" dirty="0" smtClean="0">
                <a:latin typeface="Times New Roman" pitchFamily="18" charset="0"/>
                <a:cs typeface="Times New Roman" pitchFamily="18" charset="0"/>
              </a:rPr>
              <a:t>ireless Ethernet or Wireless LAN</a:t>
            </a:r>
          </a:p>
          <a:p>
            <a:pPr lvl="1"/>
            <a:r>
              <a:rPr lang="en-US" dirty="0" smtClean="0">
                <a:latin typeface="Times New Roman" pitchFamily="18" charset="0"/>
                <a:cs typeface="Times New Roman" pitchFamily="18" charset="0"/>
              </a:rPr>
              <a:t>IEEE 802.15- Bluetooth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4018269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Ethernet </a:t>
            </a:r>
            <a:r>
              <a:rPr lang="en-IN" dirty="0" smtClean="0"/>
              <a:t>Evolution </a:t>
            </a:r>
            <a:r>
              <a:rPr lang="en-US" dirty="0">
                <a:latin typeface="Times New Roman" pitchFamily="18" charset="0"/>
                <a:cs typeface="Times New Roman" pitchFamily="18" charset="0"/>
              </a:rPr>
              <a:t>(IEEE 802.3) </a:t>
            </a:r>
            <a:endParaRPr lang="en-IN" dirty="0"/>
          </a:p>
        </p:txBody>
      </p:sp>
      <p:sp>
        <p:nvSpPr>
          <p:cNvPr id="3" name="Content Placeholder 2"/>
          <p:cNvSpPr>
            <a:spLocks noGrp="1"/>
          </p:cNvSpPr>
          <p:nvPr>
            <p:ph idx="1"/>
          </p:nvPr>
        </p:nvSpPr>
        <p:spPr/>
        <p:txBody>
          <a:bodyPr>
            <a:normAutofit fontScale="92500"/>
          </a:bodyPr>
          <a:lstStyle/>
          <a:p>
            <a:r>
              <a:rPr lang="en-US" dirty="0">
                <a:latin typeface="Times New Roman" pitchFamily="18" charset="0"/>
                <a:cs typeface="Times New Roman" pitchFamily="18" charset="0"/>
              </a:rPr>
              <a:t>The Ethernet LAN was developed in the 1970s by Robert Metcalfe and David Boggs.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Since </a:t>
            </a:r>
            <a:r>
              <a:rPr lang="en-US" dirty="0">
                <a:latin typeface="Times New Roman" pitchFamily="18" charset="0"/>
                <a:cs typeface="Times New Roman" pitchFamily="18" charset="0"/>
              </a:rPr>
              <a:t>then, it has gone through four generations: </a:t>
            </a:r>
            <a:endParaRPr lang="en-US" dirty="0" smtClean="0">
              <a:latin typeface="Times New Roman" pitchFamily="18" charset="0"/>
              <a:cs typeface="Times New Roman" pitchFamily="18" charset="0"/>
            </a:endParaRPr>
          </a:p>
          <a:p>
            <a:pPr marL="514350" indent="-514350">
              <a:buFont typeface="+mj-lt"/>
              <a:buAutoNum type="arabicPeriod"/>
            </a:pPr>
            <a:r>
              <a:rPr lang="en-US" dirty="0" smtClean="0">
                <a:latin typeface="Times New Roman" pitchFamily="18" charset="0"/>
                <a:cs typeface="Times New Roman" pitchFamily="18" charset="0"/>
              </a:rPr>
              <a:t>Standard </a:t>
            </a:r>
            <a:r>
              <a:rPr lang="en-US" dirty="0">
                <a:latin typeface="Times New Roman" pitchFamily="18" charset="0"/>
                <a:cs typeface="Times New Roman" pitchFamily="18" charset="0"/>
              </a:rPr>
              <a:t>Ethernet (10 Mbps), </a:t>
            </a:r>
            <a:endParaRPr lang="en-US" dirty="0" smtClean="0">
              <a:latin typeface="Times New Roman" pitchFamily="18" charset="0"/>
              <a:cs typeface="Times New Roman" pitchFamily="18" charset="0"/>
            </a:endParaRPr>
          </a:p>
          <a:p>
            <a:pPr marL="514350" indent="-514350">
              <a:buFont typeface="+mj-lt"/>
              <a:buAutoNum type="arabicPeriod"/>
            </a:pPr>
            <a:r>
              <a:rPr lang="en-US" dirty="0" smtClean="0">
                <a:latin typeface="Times New Roman" pitchFamily="18" charset="0"/>
                <a:cs typeface="Times New Roman" pitchFamily="18" charset="0"/>
              </a:rPr>
              <a:t>Fast </a:t>
            </a:r>
            <a:r>
              <a:rPr lang="en-US" dirty="0">
                <a:latin typeface="Times New Roman" pitchFamily="18" charset="0"/>
                <a:cs typeface="Times New Roman" pitchFamily="18" charset="0"/>
              </a:rPr>
              <a:t>Ethernet (100 Mbps), </a:t>
            </a:r>
            <a:endParaRPr lang="en-US" dirty="0" smtClean="0">
              <a:latin typeface="Times New Roman" pitchFamily="18" charset="0"/>
              <a:cs typeface="Times New Roman" pitchFamily="18" charset="0"/>
            </a:endParaRPr>
          </a:p>
          <a:p>
            <a:pPr marL="514350" indent="-514350">
              <a:buFont typeface="+mj-lt"/>
              <a:buAutoNum type="arabicPeriod"/>
            </a:pPr>
            <a:r>
              <a:rPr lang="en-US" dirty="0" smtClean="0">
                <a:latin typeface="Times New Roman" pitchFamily="18" charset="0"/>
                <a:cs typeface="Times New Roman" pitchFamily="18" charset="0"/>
              </a:rPr>
              <a:t>Gigabit </a:t>
            </a:r>
            <a:r>
              <a:rPr lang="en-US" dirty="0">
                <a:latin typeface="Times New Roman" pitchFamily="18" charset="0"/>
                <a:cs typeface="Times New Roman" pitchFamily="18" charset="0"/>
              </a:rPr>
              <a:t>Ethernet (1 </a:t>
            </a:r>
            <a:r>
              <a:rPr lang="en-US" dirty="0" err="1">
                <a:latin typeface="Times New Roman" pitchFamily="18" charset="0"/>
                <a:cs typeface="Times New Roman" pitchFamily="18" charset="0"/>
              </a:rPr>
              <a:t>Gbps</a:t>
            </a:r>
            <a:r>
              <a:rPr lang="en-US" dirty="0">
                <a:latin typeface="Times New Roman" pitchFamily="18" charset="0"/>
                <a:cs typeface="Times New Roman" pitchFamily="18" charset="0"/>
              </a:rPr>
              <a:t>), and </a:t>
            </a:r>
            <a:endParaRPr lang="en-US" dirty="0" smtClean="0">
              <a:latin typeface="Times New Roman" pitchFamily="18" charset="0"/>
              <a:cs typeface="Times New Roman" pitchFamily="18" charset="0"/>
            </a:endParaRPr>
          </a:p>
          <a:p>
            <a:pPr marL="514350" indent="-514350">
              <a:buFont typeface="+mj-lt"/>
              <a:buAutoNum type="arabicPeriod"/>
            </a:pPr>
            <a:r>
              <a:rPr lang="en-US" dirty="0" smtClean="0">
                <a:latin typeface="Times New Roman" pitchFamily="18" charset="0"/>
                <a:cs typeface="Times New Roman" pitchFamily="18" charset="0"/>
              </a:rPr>
              <a:t>10 </a:t>
            </a:r>
            <a:r>
              <a:rPr lang="en-US" dirty="0">
                <a:latin typeface="Times New Roman" pitchFamily="18" charset="0"/>
                <a:cs typeface="Times New Roman" pitchFamily="18" charset="0"/>
              </a:rPr>
              <a:t>Gigabit Ethernet (10 </a:t>
            </a:r>
            <a:r>
              <a:rPr lang="en-US" dirty="0" err="1">
                <a:latin typeface="Times New Roman" pitchFamily="18" charset="0"/>
                <a:cs typeface="Times New Roman" pitchFamily="18" charset="0"/>
              </a:rPr>
              <a:t>Gbps</a:t>
            </a:r>
            <a:r>
              <a:rPr lang="en-US" dirty="0">
                <a:latin typeface="Times New Roman" pitchFamily="18" charset="0"/>
                <a:cs typeface="Times New Roman" pitchFamily="18" charset="0"/>
              </a:rPr>
              <a:t>), as shown in </a:t>
            </a:r>
            <a:r>
              <a:rPr lang="en-US" dirty="0" smtClean="0">
                <a:latin typeface="Times New Roman" pitchFamily="18" charset="0"/>
                <a:cs typeface="Times New Roman" pitchFamily="18" charset="0"/>
              </a:rPr>
              <a:t>Figure 1.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4840501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Ethernet evolution through four generation</a:t>
            </a:r>
            <a:endParaRPr lang="en-IN" dirty="0"/>
          </a:p>
        </p:txBody>
      </p:sp>
      <p:sp>
        <p:nvSpPr>
          <p:cNvPr id="3" name="Content Placeholder 2"/>
          <p:cNvSpPr>
            <a:spLocks noGrp="1"/>
          </p:cNvSpPr>
          <p:nvPr>
            <p:ph idx="1"/>
          </p:nvPr>
        </p:nvSpPr>
        <p:spPr/>
        <p:txBody>
          <a:bodyPr/>
          <a:lstStyle/>
          <a:p>
            <a:endParaRPr lang="en-IN"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988840"/>
            <a:ext cx="7544910"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979712" y="4941168"/>
            <a:ext cx="6392782" cy="369332"/>
          </a:xfrm>
          <a:prstGeom prst="rect">
            <a:avLst/>
          </a:prstGeom>
        </p:spPr>
        <p:txBody>
          <a:bodyPr wrap="square">
            <a:spAutoFit/>
          </a:bodyPr>
          <a:lstStyle/>
          <a:p>
            <a:r>
              <a:rPr lang="en-US" dirty="0"/>
              <a:t>Figure 1</a:t>
            </a:r>
            <a:r>
              <a:rPr lang="en-US" dirty="0" smtClean="0"/>
              <a:t> </a:t>
            </a:r>
            <a:r>
              <a:rPr lang="en-US" dirty="0"/>
              <a:t>Ethernet evolution through four generations</a:t>
            </a:r>
            <a:endParaRPr lang="en-IN" dirty="0"/>
          </a:p>
        </p:txBody>
      </p:sp>
    </p:spTree>
    <p:extLst>
      <p:ext uri="{BB962C8B-B14F-4D97-AF65-F5344CB8AC3E}">
        <p14:creationId xmlns:p14="http://schemas.microsoft.com/office/powerpoint/2010/main" val="19099999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STANDARD </a:t>
            </a:r>
            <a:r>
              <a:rPr lang="en-IN" dirty="0" smtClean="0"/>
              <a:t>ETHERNET: Characteristics</a:t>
            </a:r>
            <a:endParaRPr lang="en-IN" dirty="0"/>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original Ethernet technology with the </a:t>
            </a:r>
            <a:r>
              <a:rPr lang="en-US" dirty="0">
                <a:solidFill>
                  <a:srgbClr val="7030A0"/>
                </a:solidFill>
                <a:latin typeface="Times New Roman" pitchFamily="18" charset="0"/>
                <a:cs typeface="Times New Roman" pitchFamily="18" charset="0"/>
              </a:rPr>
              <a:t>data rate of 10 Mbps as the </a:t>
            </a:r>
            <a:r>
              <a:rPr lang="en-US" dirty="0" smtClean="0">
                <a:solidFill>
                  <a:srgbClr val="7030A0"/>
                </a:solidFill>
                <a:latin typeface="Times New Roman" pitchFamily="18" charset="0"/>
                <a:cs typeface="Times New Roman" pitchFamily="18" charset="0"/>
              </a:rPr>
              <a:t>Standard </a:t>
            </a:r>
            <a:r>
              <a:rPr lang="en-US" dirty="0">
                <a:solidFill>
                  <a:srgbClr val="7030A0"/>
                </a:solidFill>
                <a:latin typeface="Times New Roman" pitchFamily="18" charset="0"/>
                <a:cs typeface="Times New Roman" pitchFamily="18" charset="0"/>
              </a:rPr>
              <a:t>Ethernet</a:t>
            </a:r>
            <a:r>
              <a:rPr lang="en-US" dirty="0" smtClean="0">
                <a:solidFill>
                  <a:srgbClr val="7030A0"/>
                </a:solidFill>
                <a:latin typeface="Times New Roman" pitchFamily="18" charset="0"/>
                <a:cs typeface="Times New Roman" pitchFamily="18" charset="0"/>
              </a:rPr>
              <a:t>.</a:t>
            </a:r>
          </a:p>
          <a:p>
            <a:r>
              <a:rPr lang="en-IN" dirty="0" smtClean="0">
                <a:latin typeface="Times New Roman" pitchFamily="18" charset="0"/>
                <a:cs typeface="Times New Roman" pitchFamily="18" charset="0"/>
              </a:rPr>
              <a:t>Characteristics</a:t>
            </a:r>
          </a:p>
          <a:p>
            <a:r>
              <a:rPr lang="en-US" dirty="0">
                <a:latin typeface="Times New Roman" pitchFamily="18" charset="0"/>
                <a:cs typeface="Times New Roman" pitchFamily="18" charset="0"/>
              </a:rPr>
              <a:t>some characteristics of the Standard Ethernet.</a:t>
            </a:r>
            <a:endParaRPr lang="en-IN" dirty="0" smtClean="0">
              <a:latin typeface="Times New Roman" pitchFamily="18" charset="0"/>
              <a:cs typeface="Times New Roman" pitchFamily="18" charset="0"/>
            </a:endParaRPr>
          </a:p>
          <a:p>
            <a:pPr marL="514350" indent="-514350">
              <a:buAutoNum type="arabicPeriod"/>
            </a:pPr>
            <a:r>
              <a:rPr lang="en-IN" dirty="0" smtClean="0">
                <a:latin typeface="Times New Roman" pitchFamily="18" charset="0"/>
                <a:cs typeface="Times New Roman" pitchFamily="18" charset="0"/>
              </a:rPr>
              <a:t>Connectionless </a:t>
            </a:r>
            <a:r>
              <a:rPr lang="en-IN" dirty="0">
                <a:latin typeface="Times New Roman" pitchFamily="18" charset="0"/>
                <a:cs typeface="Times New Roman" pitchFamily="18" charset="0"/>
              </a:rPr>
              <a:t>and Unreliable </a:t>
            </a:r>
            <a:r>
              <a:rPr lang="en-IN" dirty="0" smtClean="0">
                <a:latin typeface="Times New Roman" pitchFamily="18" charset="0"/>
                <a:cs typeface="Times New Roman" pitchFamily="18" charset="0"/>
              </a:rPr>
              <a:t>Service</a:t>
            </a:r>
          </a:p>
          <a:p>
            <a:pPr marL="514350" indent="-514350">
              <a:buAutoNum type="arabicPeriod"/>
            </a:pPr>
            <a:r>
              <a:rPr lang="en-IN" dirty="0">
                <a:latin typeface="Times New Roman" pitchFamily="18" charset="0"/>
                <a:cs typeface="Times New Roman" pitchFamily="18" charset="0"/>
              </a:rPr>
              <a:t>Frame </a:t>
            </a:r>
            <a:r>
              <a:rPr lang="en-IN" dirty="0" smtClean="0">
                <a:latin typeface="Times New Roman" pitchFamily="18" charset="0"/>
                <a:cs typeface="Times New Roman" pitchFamily="18" charset="0"/>
              </a:rPr>
              <a:t>Format</a:t>
            </a:r>
          </a:p>
          <a:p>
            <a:pPr marL="514350" indent="-514350">
              <a:buAutoNum type="arabicPeriod"/>
            </a:pPr>
            <a:r>
              <a:rPr lang="en-IN" dirty="0">
                <a:latin typeface="Times New Roman" pitchFamily="18" charset="0"/>
                <a:cs typeface="Times New Roman" pitchFamily="18" charset="0"/>
              </a:rPr>
              <a:t>Frame Length</a:t>
            </a:r>
          </a:p>
        </p:txBody>
      </p:sp>
    </p:spTree>
    <p:extLst>
      <p:ext uri="{BB962C8B-B14F-4D97-AF65-F5344CB8AC3E}">
        <p14:creationId xmlns:p14="http://schemas.microsoft.com/office/powerpoint/2010/main" val="20550867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8229600" cy="864096"/>
          </a:xfrm>
        </p:spPr>
        <p:txBody>
          <a:bodyPr>
            <a:normAutofit fontScale="90000"/>
          </a:bodyPr>
          <a:lstStyle/>
          <a:p>
            <a:r>
              <a:rPr lang="en-IN" dirty="0"/>
              <a:t>STANDARD </a:t>
            </a:r>
            <a:r>
              <a:rPr lang="en-IN" dirty="0" smtClean="0"/>
              <a:t>ETHERNET</a:t>
            </a:r>
            <a:r>
              <a:rPr lang="en-IN" dirty="0"/>
              <a:t> : Characteristics</a:t>
            </a:r>
          </a:p>
        </p:txBody>
      </p:sp>
      <p:sp>
        <p:nvSpPr>
          <p:cNvPr id="3" name="Content Placeholder 2"/>
          <p:cNvSpPr>
            <a:spLocks noGrp="1"/>
          </p:cNvSpPr>
          <p:nvPr>
            <p:ph idx="1"/>
          </p:nvPr>
        </p:nvSpPr>
        <p:spPr>
          <a:xfrm>
            <a:off x="457200" y="1124744"/>
            <a:ext cx="8229600" cy="5001419"/>
          </a:xfrm>
        </p:spPr>
        <p:txBody>
          <a:bodyPr>
            <a:noAutofit/>
          </a:bodyPr>
          <a:lstStyle/>
          <a:p>
            <a:pPr algn="just"/>
            <a:r>
              <a:rPr lang="en-IN" sz="2400" b="1" dirty="0">
                <a:latin typeface="Times New Roman" pitchFamily="18" charset="0"/>
                <a:cs typeface="Times New Roman" pitchFamily="18" charset="0"/>
              </a:rPr>
              <a:t>Connectionless and Unreliable Service</a:t>
            </a:r>
          </a:p>
          <a:p>
            <a:pPr algn="just"/>
            <a:r>
              <a:rPr lang="en-US" sz="2400" dirty="0">
                <a:latin typeface="Times New Roman" pitchFamily="18" charset="0"/>
                <a:cs typeface="Times New Roman" pitchFamily="18" charset="0"/>
              </a:rPr>
              <a:t>Ethernet provides a connectionless service, which means each frame sent is independent of the previous or next frame.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Ethernet </a:t>
            </a:r>
            <a:r>
              <a:rPr lang="en-US" sz="2400" dirty="0">
                <a:latin typeface="Times New Roman" pitchFamily="18" charset="0"/>
                <a:cs typeface="Times New Roman" pitchFamily="18" charset="0"/>
              </a:rPr>
              <a:t>has no connection establishment or connection termination phases.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sender sends a frame whenever it has it; the receiver may or may not be ready for it.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sender may overwhelm the receiver with frames, which may result in dropping frames.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If </a:t>
            </a:r>
            <a:r>
              <a:rPr lang="en-US" sz="2400" dirty="0">
                <a:latin typeface="Times New Roman" pitchFamily="18" charset="0"/>
                <a:cs typeface="Times New Roman" pitchFamily="18" charset="0"/>
              </a:rPr>
              <a:t>a frame drops, the sender will not know about it. Since IP, which is using the service of Ethernet, is also connectionless, it will not know about it either. </a:t>
            </a:r>
            <a:endParaRPr lang="en-US" sz="24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14203026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STANDARD </a:t>
            </a:r>
            <a:r>
              <a:rPr lang="en-IN" dirty="0" smtClean="0"/>
              <a:t>ETHERNET</a:t>
            </a:r>
            <a:r>
              <a:rPr lang="en-IN" dirty="0"/>
              <a:t> : Characteristics</a:t>
            </a:r>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If the transport layer is also a connectionless protocol, such as UDP, the frame is lost and salvation may only come from the application layer. </a:t>
            </a:r>
          </a:p>
          <a:p>
            <a:pPr algn="just"/>
            <a:r>
              <a:rPr lang="en-US" dirty="0">
                <a:latin typeface="Times New Roman" pitchFamily="18" charset="0"/>
                <a:cs typeface="Times New Roman" pitchFamily="18" charset="0"/>
              </a:rPr>
              <a:t>However, if the transport layer is TCP, the sender TCP does not receive acknowledgment for its segment and sends it again.</a:t>
            </a:r>
            <a:endParaRPr lang="en-IN"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36812101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STANDARD ETHERNET : Characteristics</a:t>
            </a:r>
          </a:p>
        </p:txBody>
      </p:sp>
      <p:sp>
        <p:nvSpPr>
          <p:cNvPr id="3" name="Content Placeholder 2"/>
          <p:cNvSpPr>
            <a:spLocks noGrp="1"/>
          </p:cNvSpPr>
          <p:nvPr>
            <p:ph idx="1"/>
          </p:nvPr>
        </p:nvSpPr>
        <p:spPr/>
        <p:txBody>
          <a:bodyPr/>
          <a:lstStyle/>
          <a:p>
            <a:r>
              <a:rPr lang="en-IN" dirty="0">
                <a:latin typeface="Times New Roman" pitchFamily="18" charset="0"/>
                <a:cs typeface="Times New Roman" pitchFamily="18" charset="0"/>
              </a:rPr>
              <a:t>Frame </a:t>
            </a:r>
            <a:r>
              <a:rPr lang="en-IN" dirty="0" smtClean="0">
                <a:latin typeface="Times New Roman" pitchFamily="18" charset="0"/>
                <a:cs typeface="Times New Roman" pitchFamily="18" charset="0"/>
              </a:rPr>
              <a:t>Format</a:t>
            </a:r>
          </a:p>
          <a:p>
            <a:r>
              <a:rPr lang="en-US" dirty="0">
                <a:latin typeface="Times New Roman" pitchFamily="18" charset="0"/>
                <a:cs typeface="Times New Roman" pitchFamily="18" charset="0"/>
              </a:rPr>
              <a:t>The Ethernet frame contains seven fields, as shown in Figure </a:t>
            </a:r>
            <a:r>
              <a:rPr lang="en-US" dirty="0" smtClean="0">
                <a:latin typeface="Times New Roman" pitchFamily="18" charset="0"/>
                <a:cs typeface="Times New Roman" pitchFamily="18" charset="0"/>
              </a:rPr>
              <a:t>2. </a:t>
            </a:r>
            <a:endParaRPr lang="en-IN" dirty="0">
              <a:latin typeface="Times New Roman" pitchFamily="18" charset="0"/>
              <a:cs typeface="Times New Roman" pitchFamily="18"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134" y="3212976"/>
            <a:ext cx="8231352" cy="259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987824" y="5805263"/>
            <a:ext cx="2415598" cy="369332"/>
          </a:xfrm>
          <a:prstGeom prst="rect">
            <a:avLst/>
          </a:prstGeom>
        </p:spPr>
        <p:txBody>
          <a:bodyPr wrap="none">
            <a:spAutoFit/>
          </a:bodyPr>
          <a:lstStyle/>
          <a:p>
            <a:r>
              <a:rPr lang="en-IN" dirty="0"/>
              <a:t>Figure </a:t>
            </a:r>
            <a:r>
              <a:rPr lang="en-IN" dirty="0" smtClean="0"/>
              <a:t>2 Ethernet </a:t>
            </a:r>
            <a:r>
              <a:rPr lang="en-IN" dirty="0"/>
              <a:t>frame</a:t>
            </a:r>
          </a:p>
        </p:txBody>
      </p:sp>
    </p:spTree>
    <p:extLst>
      <p:ext uri="{BB962C8B-B14F-4D97-AF65-F5344CB8AC3E}">
        <p14:creationId xmlns:p14="http://schemas.microsoft.com/office/powerpoint/2010/main" val="11068486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latin typeface="Times New Roman" pitchFamily="18" charset="0"/>
                <a:cs typeface="Times New Roman" pitchFamily="18" charset="0"/>
              </a:rPr>
              <a:t>STANDARD ETHERNET : Characteristics</a:t>
            </a:r>
          </a:p>
        </p:txBody>
      </p:sp>
      <p:sp>
        <p:nvSpPr>
          <p:cNvPr id="3" name="Content Placeholder 2"/>
          <p:cNvSpPr>
            <a:spLocks noGrp="1"/>
          </p:cNvSpPr>
          <p:nvPr>
            <p:ph idx="1"/>
          </p:nvPr>
        </p:nvSpPr>
        <p:spPr/>
        <p:txBody>
          <a:bodyPr>
            <a:normAutofit/>
          </a:bodyPr>
          <a:lstStyle/>
          <a:p>
            <a:r>
              <a:rPr lang="en-US" dirty="0">
                <a:latin typeface="Times New Roman" pitchFamily="18" charset="0"/>
                <a:cs typeface="Times New Roman" pitchFamily="18" charset="0"/>
              </a:rPr>
              <a:t>Preamble.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This </a:t>
            </a:r>
            <a:r>
              <a:rPr lang="en-US" dirty="0">
                <a:latin typeface="Times New Roman" pitchFamily="18" charset="0"/>
                <a:cs typeface="Times New Roman" pitchFamily="18" charset="0"/>
              </a:rPr>
              <a:t>field contains 7 bytes (56 bits) of alternating 0s and 1s that alert the receiving system to the coming frame and enable it to synchronize its clock if it’s out of synchronization.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preamble </a:t>
            </a:r>
            <a:r>
              <a:rPr lang="en-US" dirty="0">
                <a:latin typeface="Times New Roman" pitchFamily="18" charset="0"/>
                <a:cs typeface="Times New Roman" pitchFamily="18" charset="0"/>
              </a:rPr>
              <a:t>is actually added at the physical layer and is not (formally) part of the frame</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9236783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latin typeface="Times New Roman" pitchFamily="18" charset="0"/>
                <a:cs typeface="Times New Roman" pitchFamily="18" charset="0"/>
              </a:rPr>
              <a:t>STANDARD ETHERNET : Characteristics</a:t>
            </a:r>
          </a:p>
        </p:txBody>
      </p:sp>
      <p:sp>
        <p:nvSpPr>
          <p:cNvPr id="3" name="Content Placeholder 2"/>
          <p:cNvSpPr>
            <a:spLocks noGrp="1"/>
          </p:cNvSpPr>
          <p:nvPr>
            <p:ph idx="1"/>
          </p:nvPr>
        </p:nvSpPr>
        <p:spPr/>
        <p:txBody>
          <a:bodyPr>
            <a:normAutofit fontScale="92500" lnSpcReduction="10000"/>
          </a:bodyPr>
          <a:lstStyle/>
          <a:p>
            <a:r>
              <a:rPr lang="en-US" dirty="0">
                <a:latin typeface="Times New Roman" pitchFamily="18" charset="0"/>
                <a:cs typeface="Times New Roman" pitchFamily="18" charset="0"/>
              </a:rPr>
              <a:t>Start frame delimiter (SFD). </a:t>
            </a:r>
            <a:endParaRPr lang="en-US" dirty="0" smtClean="0">
              <a:latin typeface="Times New Roman" pitchFamily="18" charset="0"/>
              <a:cs typeface="Times New Roman" pitchFamily="18" charset="0"/>
            </a:endParaRPr>
          </a:p>
          <a:p>
            <a:pPr lvl="1"/>
            <a:r>
              <a:rPr lang="en-US" dirty="0" smtClean="0">
                <a:latin typeface="Times New Roman" pitchFamily="18" charset="0"/>
                <a:cs typeface="Times New Roman" pitchFamily="18" charset="0"/>
              </a:rPr>
              <a:t>This </a:t>
            </a:r>
            <a:r>
              <a:rPr lang="en-US" dirty="0">
                <a:latin typeface="Times New Roman" pitchFamily="18" charset="0"/>
                <a:cs typeface="Times New Roman" pitchFamily="18" charset="0"/>
              </a:rPr>
              <a:t>field (1 byte: 10101011) signals the beginning of the frame. </a:t>
            </a:r>
            <a:endParaRPr lang="en-US" dirty="0" smtClean="0">
              <a:latin typeface="Times New Roman" pitchFamily="18" charset="0"/>
              <a:cs typeface="Times New Roman" pitchFamily="18" charset="0"/>
            </a:endParaRPr>
          </a:p>
          <a:p>
            <a:pPr lvl="1"/>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last 2 bits are (11)2 and alert the receiver that the next field is the destination address</a:t>
            </a:r>
            <a:r>
              <a:rPr lang="en-US" dirty="0" smtClean="0">
                <a:latin typeface="Times New Roman" pitchFamily="18" charset="0"/>
                <a:cs typeface="Times New Roman" pitchFamily="18" charset="0"/>
              </a:rPr>
              <a:t>.</a:t>
            </a:r>
          </a:p>
          <a:p>
            <a:pPr lvl="1"/>
            <a:r>
              <a:rPr lang="en-US" dirty="0">
                <a:latin typeface="Times New Roman" pitchFamily="18" charset="0"/>
                <a:cs typeface="Times New Roman" pitchFamily="18" charset="0"/>
              </a:rPr>
              <a:t>The SFD field is also added at the physical </a:t>
            </a:r>
            <a:r>
              <a:rPr lang="en-US" dirty="0" smtClean="0">
                <a:latin typeface="Times New Roman" pitchFamily="18" charset="0"/>
                <a:cs typeface="Times New Roman" pitchFamily="18" charset="0"/>
              </a:rPr>
              <a:t>layer</a:t>
            </a:r>
          </a:p>
          <a:p>
            <a:r>
              <a:rPr lang="en-US" dirty="0">
                <a:latin typeface="Times New Roman" pitchFamily="18" charset="0"/>
                <a:cs typeface="Times New Roman" pitchFamily="18" charset="0"/>
              </a:rPr>
              <a:t>Destination address (DA). </a:t>
            </a:r>
            <a:endParaRPr lang="en-US" dirty="0" smtClean="0">
              <a:latin typeface="Times New Roman" pitchFamily="18" charset="0"/>
              <a:cs typeface="Times New Roman" pitchFamily="18" charset="0"/>
            </a:endParaRPr>
          </a:p>
          <a:p>
            <a:pPr lvl="1"/>
            <a:r>
              <a:rPr lang="en-US" dirty="0" smtClean="0">
                <a:latin typeface="Times New Roman" pitchFamily="18" charset="0"/>
                <a:cs typeface="Times New Roman" pitchFamily="18" charset="0"/>
              </a:rPr>
              <a:t>This </a:t>
            </a:r>
            <a:r>
              <a:rPr lang="en-US" dirty="0">
                <a:latin typeface="Times New Roman" pitchFamily="18" charset="0"/>
                <a:cs typeface="Times New Roman" pitchFamily="18" charset="0"/>
              </a:rPr>
              <a:t>field is six bytes (48 bits) and contains the </a:t>
            </a:r>
            <a:r>
              <a:rPr lang="en-US" dirty="0" err="1">
                <a:latin typeface="Times New Roman" pitchFamily="18" charset="0"/>
                <a:cs typeface="Times New Roman" pitchFamily="18" charset="0"/>
              </a:rPr>
              <a:t>linklayer</a:t>
            </a:r>
            <a:r>
              <a:rPr lang="en-US" dirty="0">
                <a:latin typeface="Times New Roman" pitchFamily="18" charset="0"/>
                <a:cs typeface="Times New Roman" pitchFamily="18" charset="0"/>
              </a:rPr>
              <a:t> address of the destination station or stations to receive the packet.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3772939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latin typeface="Times New Roman" pitchFamily="18" charset="0"/>
                <a:cs typeface="Times New Roman" pitchFamily="18" charset="0"/>
              </a:rPr>
              <a:t>STANDARD ETHERNET : Characteristics</a:t>
            </a:r>
          </a:p>
        </p:txBody>
      </p:sp>
      <p:sp>
        <p:nvSpPr>
          <p:cNvPr id="3" name="Content Placeholder 2"/>
          <p:cNvSpPr>
            <a:spLocks noGrp="1"/>
          </p:cNvSpPr>
          <p:nvPr>
            <p:ph idx="1"/>
          </p:nvPr>
        </p:nvSpPr>
        <p:spPr/>
        <p:txBody>
          <a:bodyPr>
            <a:normAutofit fontScale="85000" lnSpcReduction="20000"/>
          </a:bodyPr>
          <a:lstStyle/>
          <a:p>
            <a:r>
              <a:rPr lang="en-US" dirty="0">
                <a:latin typeface="Times New Roman" pitchFamily="18" charset="0"/>
                <a:cs typeface="Times New Roman" pitchFamily="18" charset="0"/>
              </a:rPr>
              <a:t>Source address (SA). This field is also six bytes and contains the link-layer address of the sender of the packet. We will discuss addressing shortly. </a:t>
            </a:r>
            <a:endParaRPr lang="en-US" dirty="0" smtClean="0">
              <a:latin typeface="Times New Roman" pitchFamily="18" charset="0"/>
              <a:cs typeface="Times New Roman" pitchFamily="18" charset="0"/>
            </a:endParaRPr>
          </a:p>
          <a:p>
            <a:r>
              <a:rPr lang="en-US" dirty="0">
                <a:latin typeface="Times New Roman" pitchFamily="18" charset="0"/>
                <a:cs typeface="Times New Roman" pitchFamily="18" charset="0"/>
              </a:rPr>
              <a:t>Type. </a:t>
            </a:r>
            <a:r>
              <a:rPr lang="en-US" dirty="0" smtClean="0">
                <a:latin typeface="Times New Roman" pitchFamily="18" charset="0"/>
                <a:cs typeface="Times New Roman" pitchFamily="18" charset="0"/>
              </a:rPr>
              <a:t>This </a:t>
            </a:r>
            <a:r>
              <a:rPr lang="en-US" dirty="0">
                <a:latin typeface="Times New Roman" pitchFamily="18" charset="0"/>
                <a:cs typeface="Times New Roman" pitchFamily="18" charset="0"/>
              </a:rPr>
              <a:t>field defines the upper-layer protocol whose packet is encapsulated in the frame. This protocol can be IP, ARP, OSPF, and so </a:t>
            </a:r>
            <a:r>
              <a:rPr lang="en-US" dirty="0" smtClean="0">
                <a:latin typeface="Times New Roman" pitchFamily="18" charset="0"/>
                <a:cs typeface="Times New Roman" pitchFamily="18" charset="0"/>
              </a:rPr>
              <a:t>on</a:t>
            </a:r>
          </a:p>
          <a:p>
            <a:r>
              <a:rPr lang="en-US" dirty="0">
                <a:latin typeface="Times New Roman" pitchFamily="18" charset="0"/>
                <a:cs typeface="Times New Roman" pitchFamily="18" charset="0"/>
              </a:rPr>
              <a:t>Data. This field carries data encapsulated from the upper-layer protocols. It is a minimum of 46 and a maximum of 1500 bytes</a:t>
            </a:r>
            <a:r>
              <a:rPr lang="en-US" dirty="0" smtClean="0">
                <a:latin typeface="Times New Roman" pitchFamily="18" charset="0"/>
                <a:cs typeface="Times New Roman" pitchFamily="18" charset="0"/>
              </a:rPr>
              <a:t>.</a:t>
            </a:r>
          </a:p>
          <a:p>
            <a:r>
              <a:rPr lang="en-US" dirty="0">
                <a:latin typeface="Times New Roman" pitchFamily="18" charset="0"/>
                <a:cs typeface="Times New Roman" pitchFamily="18" charset="0"/>
              </a:rPr>
              <a:t>CRC. The last field contains error detection information, in this case a CRC-32. The CRC is calculated over the addresses, types, and data field.</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5926765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itchFamily="18" charset="0"/>
                <a:cs typeface="Times New Roman" pitchFamily="18" charset="0"/>
              </a:rPr>
              <a:t>Efficiency of Standard Ethernet</a:t>
            </a:r>
          </a:p>
        </p:txBody>
      </p:sp>
      <p:sp>
        <p:nvSpPr>
          <p:cNvPr id="3" name="Content Placeholder 2"/>
          <p:cNvSpPr>
            <a:spLocks noGrp="1"/>
          </p:cNvSpPr>
          <p:nvPr>
            <p:ph idx="1"/>
          </p:nvPr>
        </p:nvSpPr>
        <p:spPr>
          <a:xfrm>
            <a:off x="457200" y="1268760"/>
            <a:ext cx="8229600" cy="5112568"/>
          </a:xfrm>
        </p:spPr>
        <p:txBody>
          <a:bodyPr>
            <a:normAutofit fontScale="85000" lnSpcReduction="10000"/>
          </a:bodyPr>
          <a:lstStyle/>
          <a:p>
            <a:r>
              <a:rPr lang="en-US" dirty="0">
                <a:latin typeface="Times New Roman" pitchFamily="18" charset="0"/>
                <a:cs typeface="Times New Roman" pitchFamily="18" charset="0"/>
              </a:rPr>
              <a:t>The efficiency of the Ethernet is defined as the ratio of the time used by a station to send data to the time the medium is occupied by this station. The practical efficiency of standard Ethernet has been measured to be </a:t>
            </a:r>
            <a:endParaRPr lang="en-US" dirty="0" smtClean="0">
              <a:latin typeface="Times New Roman" pitchFamily="18" charset="0"/>
              <a:cs typeface="Times New Roman" pitchFamily="18" charset="0"/>
            </a:endParaRPr>
          </a:p>
          <a:p>
            <a:r>
              <a:rPr lang="en-US" dirty="0">
                <a:latin typeface="Times New Roman" pitchFamily="18" charset="0"/>
                <a:cs typeface="Times New Roman" pitchFamily="18" charset="0"/>
              </a:rPr>
              <a:t>Efficiency =</a:t>
            </a:r>
            <a:r>
              <a:rPr lang="en-US" dirty="0" smtClean="0">
                <a:latin typeface="Times New Roman" pitchFamily="18" charset="0"/>
                <a:cs typeface="Times New Roman" pitchFamily="18" charset="0"/>
              </a:rPr>
              <a:t>1 </a:t>
            </a:r>
            <a:r>
              <a:rPr lang="en-US" dirty="0">
                <a:latin typeface="Times New Roman" pitchFamily="18" charset="0"/>
                <a:cs typeface="Times New Roman" pitchFamily="18" charset="0"/>
              </a:rPr>
              <a:t>/ (1 </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6.4 </a:t>
            </a:r>
            <a:r>
              <a:rPr lang="en-US" dirty="0" smtClean="0">
                <a:latin typeface="Times New Roman" pitchFamily="18" charset="0"/>
                <a:cs typeface="Times New Roman" pitchFamily="18" charset="0"/>
              </a:rPr>
              <a:t>* a)</a:t>
            </a:r>
          </a:p>
          <a:p>
            <a:r>
              <a:rPr lang="en-US" dirty="0">
                <a:latin typeface="Times New Roman" pitchFamily="18" charset="0"/>
                <a:cs typeface="Times New Roman" pitchFamily="18" charset="0"/>
              </a:rPr>
              <a:t>in which the parameter “a” is the number of frames that can fit on the medium. It can be calculated as a = (propagation delay)/(transmission delay) because the transmission delay is the time it takes a frame of average size to be sent out and the propagation delay is the time it takes to reach the end of the </a:t>
            </a:r>
            <a:r>
              <a:rPr lang="en-US" dirty="0" smtClean="0">
                <a:latin typeface="Times New Roman" pitchFamily="18" charset="0"/>
                <a:cs typeface="Times New Roman" pitchFamily="18" charset="0"/>
              </a:rPr>
              <a:t>medium.</a:t>
            </a:r>
          </a:p>
          <a:p>
            <a:r>
              <a:rPr lang="en-US" dirty="0">
                <a:latin typeface="Times New Roman" pitchFamily="18" charset="0"/>
                <a:cs typeface="Times New Roman" pitchFamily="18" charset="0"/>
              </a:rPr>
              <a:t>In the ideal case, a = 0 and the </a:t>
            </a:r>
            <a:r>
              <a:rPr lang="en-US" dirty="0" smtClean="0">
                <a:latin typeface="Times New Roman" pitchFamily="18" charset="0"/>
                <a:cs typeface="Times New Roman" pitchFamily="18" charset="0"/>
              </a:rPr>
              <a:t>efficiency </a:t>
            </a:r>
            <a:r>
              <a:rPr lang="en-US" dirty="0">
                <a:latin typeface="Times New Roman" pitchFamily="18" charset="0"/>
                <a:cs typeface="Times New Roman" pitchFamily="18" charset="0"/>
              </a:rPr>
              <a:t>is 1.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3475448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43408"/>
            <a:ext cx="8229600" cy="954360"/>
          </a:xfrm>
        </p:spPr>
        <p:txBody>
          <a:bodyPr>
            <a:normAutofit/>
          </a:bodyPr>
          <a:lstStyle/>
          <a:p>
            <a:r>
              <a:rPr lang="en-IN" dirty="0" smtClean="0">
                <a:latin typeface="Times New Roman" pitchFamily="18" charset="0"/>
                <a:cs typeface="Times New Roman" pitchFamily="18" charset="0"/>
              </a:rPr>
              <a:t>Implementation</a:t>
            </a:r>
            <a:endParaRPr lang="en-IN" dirty="0"/>
          </a:p>
        </p:txBody>
      </p:sp>
      <p:sp>
        <p:nvSpPr>
          <p:cNvPr id="3" name="Content Placeholder 2"/>
          <p:cNvSpPr>
            <a:spLocks noGrp="1"/>
          </p:cNvSpPr>
          <p:nvPr>
            <p:ph idx="1"/>
          </p:nvPr>
        </p:nvSpPr>
        <p:spPr>
          <a:xfrm>
            <a:off x="457200" y="692696"/>
            <a:ext cx="8229600" cy="6165304"/>
          </a:xfrm>
        </p:spPr>
        <p:txBody>
          <a:bodyPr>
            <a:normAutofit/>
          </a:bodyPr>
          <a:lstStyle/>
          <a:p>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Standard Ethernet defined several implementations, but only four of them became popular during the 1980s. Table </a:t>
            </a:r>
            <a:r>
              <a:rPr lang="en-US" sz="2400" dirty="0" smtClean="0">
                <a:latin typeface="Times New Roman" pitchFamily="18" charset="0"/>
                <a:cs typeface="Times New Roman" pitchFamily="18" charset="0"/>
              </a:rPr>
              <a:t>1 </a:t>
            </a:r>
            <a:r>
              <a:rPr lang="en-US" sz="2400" dirty="0">
                <a:latin typeface="Times New Roman" pitchFamily="18" charset="0"/>
                <a:cs typeface="Times New Roman" pitchFamily="18" charset="0"/>
              </a:rPr>
              <a:t>shows a summary of Standard </a:t>
            </a:r>
            <a:r>
              <a:rPr lang="en-US" sz="2400" dirty="0" smtClean="0">
                <a:latin typeface="Times New Roman" pitchFamily="18" charset="0"/>
                <a:cs typeface="Times New Roman" pitchFamily="18" charset="0"/>
              </a:rPr>
              <a:t>Ethernet </a:t>
            </a:r>
            <a:r>
              <a:rPr lang="en-US" sz="2400" dirty="0">
                <a:latin typeface="Times New Roman" pitchFamily="18" charset="0"/>
                <a:cs typeface="Times New Roman" pitchFamily="18" charset="0"/>
              </a:rPr>
              <a:t>implementations. </a:t>
            </a:r>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400" dirty="0" smtClean="0"/>
          </a:p>
          <a:p>
            <a:endParaRPr lang="en-US" sz="2400" dirty="0"/>
          </a:p>
          <a:p>
            <a:r>
              <a:rPr lang="en-US" sz="2400" dirty="0" smtClean="0">
                <a:latin typeface="Times New Roman" pitchFamily="18" charset="0"/>
                <a:cs typeface="Times New Roman" pitchFamily="18" charset="0"/>
              </a:rPr>
              <a:t>In </a:t>
            </a:r>
            <a:r>
              <a:rPr lang="en-US" sz="2400" dirty="0">
                <a:latin typeface="Times New Roman" pitchFamily="18" charset="0"/>
                <a:cs typeface="Times New Roman" pitchFamily="18" charset="0"/>
              </a:rPr>
              <a:t>the nomenclature 10BaseX, the number defines the data rate (10 Mbps), the term Base means baseband (digital) signal, and X approximately defines either the maximum size of the cable in 100 meters (for example 5 for 500 or 2 for 185 meters) or the type of </a:t>
            </a:r>
            <a:r>
              <a:rPr lang="en-US" sz="2400" dirty="0" smtClean="0">
                <a:latin typeface="Times New Roman" pitchFamily="18" charset="0"/>
                <a:cs typeface="Times New Roman" pitchFamily="18" charset="0"/>
              </a:rPr>
              <a:t>cable</a:t>
            </a:r>
          </a:p>
        </p:txBody>
      </p:sp>
      <p:pic>
        <p:nvPicPr>
          <p:cNvPr id="921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22363"/>
          <a:stretch/>
        </p:blipFill>
        <p:spPr bwMode="auto">
          <a:xfrm>
            <a:off x="1475656" y="2420888"/>
            <a:ext cx="5904656" cy="1947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475656" y="1772816"/>
            <a:ext cx="5508104" cy="369332"/>
          </a:xfrm>
          <a:prstGeom prst="rect">
            <a:avLst/>
          </a:prstGeom>
        </p:spPr>
        <p:txBody>
          <a:bodyPr wrap="square">
            <a:spAutoFit/>
          </a:bodyPr>
          <a:lstStyle/>
          <a:p>
            <a:r>
              <a:rPr lang="en-US" dirty="0"/>
              <a:t>Table </a:t>
            </a:r>
            <a:r>
              <a:rPr lang="en-US" dirty="0" smtClean="0"/>
              <a:t>1 </a:t>
            </a:r>
            <a:r>
              <a:rPr lang="en-US" dirty="0"/>
              <a:t>Summary of Standard Ethernet implementations</a:t>
            </a:r>
            <a:endParaRPr lang="en-IN" dirty="0"/>
          </a:p>
        </p:txBody>
      </p:sp>
    </p:spTree>
    <p:extLst>
      <p:ext uri="{BB962C8B-B14F-4D97-AF65-F5344CB8AC3E}">
        <p14:creationId xmlns:p14="http://schemas.microsoft.com/office/powerpoint/2010/main" val="3648508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FAST ETHERNET (100 </a:t>
            </a:r>
            <a:r>
              <a:rPr lang="en-IN" dirty="0" smtClean="0"/>
              <a:t>Mbps)</a:t>
            </a:r>
            <a:endParaRPr lang="en-IN" dirty="0"/>
          </a:p>
        </p:txBody>
      </p:sp>
      <p:sp>
        <p:nvSpPr>
          <p:cNvPr id="3" name="Content Placeholder 2"/>
          <p:cNvSpPr>
            <a:spLocks noGrp="1"/>
          </p:cNvSpPr>
          <p:nvPr>
            <p:ph idx="1"/>
          </p:nvPr>
        </p:nvSpPr>
        <p:spPr/>
        <p:txBody>
          <a:bodyPr>
            <a:normAutofit lnSpcReduction="10000"/>
          </a:bodyPr>
          <a:lstStyle/>
          <a:p>
            <a:r>
              <a:rPr lang="en-US" dirty="0">
                <a:latin typeface="Times New Roman" pitchFamily="18" charset="0"/>
                <a:cs typeface="Times New Roman" pitchFamily="18" charset="0"/>
              </a:rPr>
              <a:t>In the 1990s, some LAN technologies with transmission rates higher than 10 Mbps, such as FDDI and Fiber Channel, appeared on the market.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If </a:t>
            </a:r>
            <a:r>
              <a:rPr lang="en-US" dirty="0">
                <a:latin typeface="Times New Roman" pitchFamily="18" charset="0"/>
                <a:cs typeface="Times New Roman" pitchFamily="18" charset="0"/>
              </a:rPr>
              <a:t>the Standard Ethernet wanted to survive, it had to compete with these technologies.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Ethernet </a:t>
            </a:r>
            <a:r>
              <a:rPr lang="en-US" dirty="0">
                <a:latin typeface="Times New Roman" pitchFamily="18" charset="0"/>
                <a:cs typeface="Times New Roman" pitchFamily="18" charset="0"/>
              </a:rPr>
              <a:t>made a big jump by increasing the transmission rate to 100 Mbps, and the new generation was called the Fast Ethernet.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6103413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FAST ETHERNET (100 </a:t>
            </a:r>
            <a:r>
              <a:rPr lang="en-IN" dirty="0" smtClean="0"/>
              <a:t>Mbps)</a:t>
            </a:r>
            <a:endParaRPr lang="en-IN" dirty="0"/>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The goals of Fast </a:t>
            </a:r>
            <a:r>
              <a:rPr lang="en-US" dirty="0" smtClean="0">
                <a:latin typeface="Times New Roman" pitchFamily="18" charset="0"/>
                <a:cs typeface="Times New Roman" pitchFamily="18" charset="0"/>
              </a:rPr>
              <a:t>Ethernet </a:t>
            </a:r>
            <a:r>
              <a:rPr lang="en-US" dirty="0">
                <a:latin typeface="Times New Roman" pitchFamily="18" charset="0"/>
                <a:cs typeface="Times New Roman" pitchFamily="18" charset="0"/>
              </a:rPr>
              <a:t>can be summarized as follows: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1</a:t>
            </a:r>
            <a:r>
              <a:rPr lang="en-US" dirty="0">
                <a:latin typeface="Times New Roman" pitchFamily="18" charset="0"/>
                <a:cs typeface="Times New Roman" pitchFamily="18" charset="0"/>
              </a:rPr>
              <a:t>. Upgrade the data rate to 100 Mbps.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2</a:t>
            </a:r>
            <a:r>
              <a:rPr lang="en-US" dirty="0">
                <a:latin typeface="Times New Roman" pitchFamily="18" charset="0"/>
                <a:cs typeface="Times New Roman" pitchFamily="18" charset="0"/>
              </a:rPr>
              <a:t>. Make it compatible with Standard Ethernet.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3</a:t>
            </a:r>
            <a:r>
              <a:rPr lang="en-US" dirty="0">
                <a:latin typeface="Times New Roman" pitchFamily="18" charset="0"/>
                <a:cs typeface="Times New Roman" pitchFamily="18" charset="0"/>
              </a:rPr>
              <a:t>. Keep the same 48-bit address.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4</a:t>
            </a:r>
            <a:r>
              <a:rPr lang="en-US" dirty="0">
                <a:latin typeface="Times New Roman" pitchFamily="18" charset="0"/>
                <a:cs typeface="Times New Roman" pitchFamily="18" charset="0"/>
              </a:rPr>
              <a:t>. Keep the same frame format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9211243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Fast Ethernet </a:t>
            </a:r>
            <a:r>
              <a:rPr lang="en-IN" dirty="0" smtClean="0"/>
              <a:t>implementations</a:t>
            </a:r>
            <a:endParaRPr lang="en-IN" dirty="0"/>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Fast Ethernet implementation at the physical layer can be categorized as either two-wire or four-wire. The two-wire implementation can be either shielded </a:t>
            </a:r>
            <a:r>
              <a:rPr lang="en-US" sz="2400" dirty="0">
                <a:solidFill>
                  <a:srgbClr val="7030A0"/>
                </a:solidFill>
                <a:latin typeface="Times New Roman" pitchFamily="18" charset="0"/>
                <a:cs typeface="Times New Roman" pitchFamily="18" charset="0"/>
              </a:rPr>
              <a:t>twisted pair</a:t>
            </a:r>
            <a:r>
              <a:rPr lang="en-US" sz="2400" dirty="0">
                <a:latin typeface="Times New Roman" pitchFamily="18" charset="0"/>
                <a:cs typeface="Times New Roman" pitchFamily="18" charset="0"/>
              </a:rPr>
              <a:t> (STP), which is called 100Base-</a:t>
            </a:r>
            <a:r>
              <a:rPr lang="en-US" sz="2400" dirty="0">
                <a:solidFill>
                  <a:srgbClr val="7030A0"/>
                </a:solidFill>
                <a:latin typeface="Times New Roman" pitchFamily="18" charset="0"/>
                <a:cs typeface="Times New Roman" pitchFamily="18" charset="0"/>
              </a:rPr>
              <a:t>TX</a:t>
            </a:r>
            <a:r>
              <a:rPr lang="en-US" sz="2400" dirty="0">
                <a:latin typeface="Times New Roman" pitchFamily="18" charset="0"/>
                <a:cs typeface="Times New Roman" pitchFamily="18" charset="0"/>
              </a:rPr>
              <a:t>, or </a:t>
            </a:r>
            <a:r>
              <a:rPr lang="en-US" sz="2400" dirty="0">
                <a:solidFill>
                  <a:srgbClr val="00B050"/>
                </a:solidFill>
                <a:latin typeface="Times New Roman" pitchFamily="18" charset="0"/>
                <a:cs typeface="Times New Roman" pitchFamily="18" charset="0"/>
              </a:rPr>
              <a:t>fiber-optic cable</a:t>
            </a:r>
            <a:r>
              <a:rPr lang="en-US" sz="2400" dirty="0">
                <a:latin typeface="Times New Roman" pitchFamily="18" charset="0"/>
                <a:cs typeface="Times New Roman" pitchFamily="18" charset="0"/>
              </a:rPr>
              <a:t>, which is called 100Base-</a:t>
            </a:r>
            <a:r>
              <a:rPr lang="en-US" sz="2400" dirty="0">
                <a:solidFill>
                  <a:srgbClr val="00B050"/>
                </a:solidFill>
                <a:latin typeface="Times New Roman" pitchFamily="18" charset="0"/>
                <a:cs typeface="Times New Roman" pitchFamily="18" charset="0"/>
              </a:rPr>
              <a:t>FX</a:t>
            </a:r>
            <a:r>
              <a:rPr lang="en-US" sz="2400" dirty="0">
                <a:latin typeface="Times New Roman" pitchFamily="18" charset="0"/>
                <a:cs typeface="Times New Roman" pitchFamily="18" charset="0"/>
              </a:rPr>
              <a:t>. The four-wire implementation is designed only for </a:t>
            </a:r>
            <a:r>
              <a:rPr lang="en-US" sz="2400" dirty="0">
                <a:solidFill>
                  <a:srgbClr val="0070C0"/>
                </a:solidFill>
                <a:latin typeface="Times New Roman" pitchFamily="18" charset="0"/>
                <a:cs typeface="Times New Roman" pitchFamily="18" charset="0"/>
              </a:rPr>
              <a:t>unshielded twisted pair </a:t>
            </a:r>
            <a:r>
              <a:rPr lang="en-US" sz="2400" dirty="0">
                <a:latin typeface="Times New Roman" pitchFamily="18" charset="0"/>
                <a:cs typeface="Times New Roman" pitchFamily="18" charset="0"/>
              </a:rPr>
              <a:t>(UTP), which is called 100Base-</a:t>
            </a:r>
            <a:r>
              <a:rPr lang="en-US" sz="2400" dirty="0">
                <a:solidFill>
                  <a:srgbClr val="0070C0"/>
                </a:solidFill>
                <a:latin typeface="Times New Roman" pitchFamily="18" charset="0"/>
                <a:cs typeface="Times New Roman" pitchFamily="18" charset="0"/>
              </a:rPr>
              <a:t>T4</a:t>
            </a:r>
            <a:r>
              <a:rPr lang="en-US" sz="2400" dirty="0">
                <a:latin typeface="Times New Roman" pitchFamily="18" charset="0"/>
                <a:cs typeface="Times New Roman" pitchFamily="18" charset="0"/>
              </a:rPr>
              <a:t>. </a:t>
            </a:r>
            <a:endParaRPr lang="en-IN" sz="2400" dirty="0">
              <a:latin typeface="Times New Roman" pitchFamily="18" charset="0"/>
              <a:cs typeface="Times New Roman" pitchFamily="18" charset="0"/>
            </a:endParaRPr>
          </a:p>
        </p:txBody>
      </p:sp>
      <p:pic>
        <p:nvPicPr>
          <p:cNvPr id="102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7558"/>
          <a:stretch/>
        </p:blipFill>
        <p:spPr bwMode="auto">
          <a:xfrm>
            <a:off x="1547664" y="4689986"/>
            <a:ext cx="6541450" cy="1331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003192" y="4251743"/>
            <a:ext cx="6085922" cy="369332"/>
          </a:xfrm>
          <a:prstGeom prst="rect">
            <a:avLst/>
          </a:prstGeom>
        </p:spPr>
        <p:txBody>
          <a:bodyPr wrap="square">
            <a:spAutoFit/>
          </a:bodyPr>
          <a:lstStyle/>
          <a:p>
            <a:r>
              <a:rPr lang="en-US" dirty="0"/>
              <a:t>Table </a:t>
            </a:r>
            <a:r>
              <a:rPr lang="en-US" dirty="0" smtClean="0"/>
              <a:t>2 </a:t>
            </a:r>
            <a:r>
              <a:rPr lang="en-US" dirty="0"/>
              <a:t>Summary of Fast Ethernet implementations</a:t>
            </a:r>
            <a:endParaRPr lang="en-IN" dirty="0"/>
          </a:p>
        </p:txBody>
      </p:sp>
    </p:spTree>
    <p:extLst>
      <p:ext uri="{BB962C8B-B14F-4D97-AF65-F5344CB8AC3E}">
        <p14:creationId xmlns:p14="http://schemas.microsoft.com/office/powerpoint/2010/main" val="24267518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GIGABIT ETHERNET</a:t>
            </a:r>
          </a:p>
        </p:txBody>
      </p:sp>
      <p:sp>
        <p:nvSpPr>
          <p:cNvPr id="3" name="Content Placeholder 2"/>
          <p:cNvSpPr>
            <a:spLocks noGrp="1"/>
          </p:cNvSpPr>
          <p:nvPr>
            <p:ph idx="1"/>
          </p:nvPr>
        </p:nvSpPr>
        <p:spPr/>
        <p:txBody>
          <a:bodyPr>
            <a:normAutofit fontScale="92500"/>
          </a:bodyPr>
          <a:lstStyle/>
          <a:p>
            <a:r>
              <a:rPr lang="en-US" dirty="0">
                <a:latin typeface="Times New Roman" pitchFamily="18" charset="0"/>
                <a:cs typeface="Times New Roman" pitchFamily="18" charset="0"/>
              </a:rPr>
              <a:t>The need for an even higher data rate resulted in the design of the Gigabit Ethernet Protocol (1000 Mbps).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IEEE committee calls it the Standard 802.3z.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goals of the Gigabit Ethernet were to upgrade the data rate to 1 </a:t>
            </a:r>
            <a:r>
              <a:rPr lang="en-US" dirty="0" err="1">
                <a:latin typeface="Times New Roman" pitchFamily="18" charset="0"/>
                <a:cs typeface="Times New Roman" pitchFamily="18" charset="0"/>
              </a:rPr>
              <a:t>Gbps</a:t>
            </a:r>
            <a:r>
              <a:rPr lang="en-US" dirty="0">
                <a:latin typeface="Times New Roman" pitchFamily="18" charset="0"/>
                <a:cs typeface="Times New Roman" pitchFamily="18" charset="0"/>
              </a:rPr>
              <a:t>, but keep the address length, the frame format, and the maximum and minimum frame length the same. </a:t>
            </a:r>
            <a:endParaRPr lang="en-US"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15889863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GIGABIT ETHERNET</a:t>
            </a:r>
          </a:p>
        </p:txBody>
      </p:sp>
      <p:sp>
        <p:nvSpPr>
          <p:cNvPr id="3" name="Content Placeholder 2"/>
          <p:cNvSpPr>
            <a:spLocks noGrp="1"/>
          </p:cNvSpPr>
          <p:nvPr>
            <p:ph idx="1"/>
          </p:nvPr>
        </p:nvSpPr>
        <p:spPr>
          <a:xfrm>
            <a:off x="467544" y="1268760"/>
            <a:ext cx="8229600" cy="4525963"/>
          </a:xfrm>
        </p:spPr>
        <p:txBody>
          <a:bodyPr>
            <a:noAutofit/>
          </a:bodyPr>
          <a:lstStyle/>
          <a:p>
            <a:r>
              <a:rPr lang="en-US" sz="2400" dirty="0">
                <a:latin typeface="Times New Roman" pitchFamily="18" charset="0"/>
                <a:cs typeface="Times New Roman" pitchFamily="18" charset="0"/>
              </a:rPr>
              <a:t>The goals of the Gigabit Ethernet design can be summarized as follows</a:t>
            </a:r>
            <a:endParaRPr lang="en-IN" sz="2400" dirty="0">
              <a:latin typeface="Times New Roman" pitchFamily="18" charset="0"/>
              <a:cs typeface="Times New Roman" pitchFamily="18" charset="0"/>
            </a:endParaRPr>
          </a:p>
          <a:p>
            <a:r>
              <a:rPr lang="en-US" sz="2400" dirty="0" smtClean="0">
                <a:latin typeface="Times New Roman" pitchFamily="18" charset="0"/>
                <a:cs typeface="Times New Roman" pitchFamily="18" charset="0"/>
              </a:rPr>
              <a:t>1</a:t>
            </a:r>
            <a:r>
              <a:rPr lang="en-US" sz="2400" dirty="0">
                <a:latin typeface="Times New Roman" pitchFamily="18" charset="0"/>
                <a:cs typeface="Times New Roman" pitchFamily="18" charset="0"/>
              </a:rPr>
              <a:t>. Upgrade the data rate to 1 </a:t>
            </a:r>
            <a:r>
              <a:rPr lang="en-US" sz="2400" dirty="0" err="1">
                <a:latin typeface="Times New Roman" pitchFamily="18" charset="0"/>
                <a:cs typeface="Times New Roman" pitchFamily="18" charset="0"/>
              </a:rPr>
              <a:t>Gbps</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2</a:t>
            </a:r>
            <a:r>
              <a:rPr lang="en-US" sz="2400" dirty="0">
                <a:latin typeface="Times New Roman" pitchFamily="18" charset="0"/>
                <a:cs typeface="Times New Roman" pitchFamily="18" charset="0"/>
              </a:rPr>
              <a:t>. Make it compatible with Standard or Fast Ethernet</a:t>
            </a:r>
            <a:r>
              <a:rPr lang="en-US" sz="2400" dirty="0" smtClean="0">
                <a:latin typeface="Times New Roman" pitchFamily="18" charset="0"/>
                <a:cs typeface="Times New Roman" pitchFamily="18" charset="0"/>
              </a:rPr>
              <a:t>.</a:t>
            </a:r>
          </a:p>
          <a:p>
            <a:r>
              <a:rPr lang="en-US" sz="2400" dirty="0">
                <a:latin typeface="Times New Roman" pitchFamily="18" charset="0"/>
                <a:cs typeface="Times New Roman" pitchFamily="18" charset="0"/>
              </a:rPr>
              <a:t>3. Use the same 48-bit address.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4</a:t>
            </a:r>
            <a:r>
              <a:rPr lang="en-US" sz="2400" dirty="0">
                <a:latin typeface="Times New Roman" pitchFamily="18" charset="0"/>
                <a:cs typeface="Times New Roman" pitchFamily="18" charset="0"/>
              </a:rPr>
              <a:t>. Use the same frame format.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5</a:t>
            </a:r>
            <a:r>
              <a:rPr lang="en-US" sz="2400" dirty="0">
                <a:latin typeface="Times New Roman" pitchFamily="18" charset="0"/>
                <a:cs typeface="Times New Roman" pitchFamily="18" charset="0"/>
              </a:rPr>
              <a:t>. Keep the same minimum and maximum frame lengths.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6</a:t>
            </a:r>
            <a:r>
              <a:rPr lang="en-US" sz="2400" dirty="0">
                <a:latin typeface="Times New Roman" pitchFamily="18" charset="0"/>
                <a:cs typeface="Times New Roman" pitchFamily="18" charset="0"/>
              </a:rPr>
              <a:t>. Support </a:t>
            </a:r>
            <a:r>
              <a:rPr lang="en-US" sz="2400" dirty="0" err="1">
                <a:latin typeface="Times New Roman" pitchFamily="18" charset="0"/>
                <a:cs typeface="Times New Roman" pitchFamily="18" charset="0"/>
              </a:rPr>
              <a:t>autonegotiation</a:t>
            </a:r>
            <a:r>
              <a:rPr lang="en-US" sz="2400" dirty="0">
                <a:latin typeface="Times New Roman" pitchFamily="18" charset="0"/>
                <a:cs typeface="Times New Roman" pitchFamily="18" charset="0"/>
              </a:rPr>
              <a:t> as defined in Fast Ethernet</a:t>
            </a:r>
            <a:r>
              <a:rPr lang="en-US" sz="2400" dirty="0" smtClean="0">
                <a:latin typeface="Times New Roman" pitchFamily="18" charset="0"/>
                <a:cs typeface="Times New Roman" pitchFamily="18" charset="0"/>
              </a:rPr>
              <a:t>.</a:t>
            </a:r>
          </a:p>
          <a:p>
            <a:endParaRPr lang="en-US" sz="2400" dirty="0">
              <a:latin typeface="Times New Roman" pitchFamily="18" charset="0"/>
              <a:cs typeface="Times New Roman" pitchFamily="18" charset="0"/>
            </a:endParaRPr>
          </a:p>
          <a:p>
            <a:r>
              <a:rPr lang="en-US" sz="2400" dirty="0" smtClean="0">
                <a:latin typeface="Times New Roman" pitchFamily="18" charset="0"/>
                <a:cs typeface="Times New Roman" pitchFamily="18" charset="0"/>
              </a:rPr>
              <a:t>Note: </a:t>
            </a:r>
            <a:r>
              <a:rPr lang="en-US" sz="2400" dirty="0">
                <a:latin typeface="Times New Roman" pitchFamily="18" charset="0"/>
                <a:cs typeface="Times New Roman" pitchFamily="18" charset="0"/>
              </a:rPr>
              <a:t>Auto-negotiation is the feature that allows a port on a switch, router, server, or other device to communicate with the device on the other end of the link to determine the optimal duplex mode and speed for the connection</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2530925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MAC </a:t>
            </a:r>
            <a:r>
              <a:rPr lang="en-IN" dirty="0" err="1"/>
              <a:t>Sublayer</a:t>
            </a:r>
            <a:endParaRPr lang="en-IN" dirty="0"/>
          </a:p>
        </p:txBody>
      </p:sp>
      <p:sp>
        <p:nvSpPr>
          <p:cNvPr id="3" name="Content Placeholder 2"/>
          <p:cNvSpPr>
            <a:spLocks noGrp="1"/>
          </p:cNvSpPr>
          <p:nvPr>
            <p:ph idx="1"/>
          </p:nvPr>
        </p:nvSpPr>
        <p:spPr/>
        <p:txBody>
          <a:bodyPr>
            <a:normAutofit fontScale="92500"/>
          </a:bodyPr>
          <a:lstStyle/>
          <a:p>
            <a:r>
              <a:rPr lang="en-US" dirty="0">
                <a:latin typeface="Times New Roman" pitchFamily="18" charset="0"/>
                <a:cs typeface="Times New Roman" pitchFamily="18" charset="0"/>
              </a:rPr>
              <a:t>A main consideration in the evolution of Ethernet was to keep the MAC </a:t>
            </a:r>
            <a:r>
              <a:rPr lang="en-US" dirty="0" err="1">
                <a:latin typeface="Times New Roman" pitchFamily="18" charset="0"/>
                <a:cs typeface="Times New Roman" pitchFamily="18" charset="0"/>
              </a:rPr>
              <a:t>sublayer</a:t>
            </a:r>
            <a:r>
              <a:rPr lang="en-US" dirty="0">
                <a:latin typeface="Times New Roman" pitchFamily="18" charset="0"/>
                <a:cs typeface="Times New Roman" pitchFamily="18" charset="0"/>
              </a:rPr>
              <a:t> untouched. However, to achieve a data rate of 1 </a:t>
            </a:r>
            <a:r>
              <a:rPr lang="en-US" dirty="0" err="1" smtClean="0">
                <a:latin typeface="Times New Roman" pitchFamily="18" charset="0"/>
                <a:cs typeface="Times New Roman" pitchFamily="18" charset="0"/>
              </a:rPr>
              <a:t>Gbps</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Gigabit </a:t>
            </a:r>
            <a:r>
              <a:rPr lang="en-US" dirty="0">
                <a:latin typeface="Times New Roman" pitchFamily="18" charset="0"/>
                <a:cs typeface="Times New Roman" pitchFamily="18" charset="0"/>
              </a:rPr>
              <a:t>Ethernet has two distinctive approaches for medium access</a:t>
            </a:r>
            <a:r>
              <a:rPr lang="en-US" dirty="0" smtClean="0">
                <a:latin typeface="Times New Roman" pitchFamily="18" charset="0"/>
                <a:cs typeface="Times New Roman" pitchFamily="18" charset="0"/>
              </a:rPr>
              <a:t>:</a:t>
            </a:r>
          </a:p>
          <a:p>
            <a:pPr lvl="1"/>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half-duplex and </a:t>
            </a:r>
            <a:r>
              <a:rPr lang="en-US" dirty="0" err="1" smtClean="0">
                <a:latin typeface="Times New Roman" pitchFamily="18" charset="0"/>
                <a:cs typeface="Times New Roman" pitchFamily="18" charset="0"/>
              </a:rPr>
              <a:t>fullduplex</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Almost </a:t>
            </a:r>
            <a:r>
              <a:rPr lang="en-US" dirty="0">
                <a:latin typeface="Times New Roman" pitchFamily="18" charset="0"/>
                <a:cs typeface="Times New Roman" pitchFamily="18" charset="0"/>
              </a:rPr>
              <a:t>all implementations of Gigabit Ethernet follow the full-duplex approach, so we mostly ignore the half-duplex mode</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9912806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9019"/>
            <a:ext cx="8229600" cy="796950"/>
          </a:xfrm>
        </p:spPr>
        <p:txBody>
          <a:bodyPr/>
          <a:lstStyle/>
          <a:p>
            <a:r>
              <a:rPr lang="en-IN" dirty="0"/>
              <a:t>Implementation Summary</a:t>
            </a:r>
          </a:p>
        </p:txBody>
      </p:sp>
      <p:sp>
        <p:nvSpPr>
          <p:cNvPr id="3" name="Content Placeholder 2"/>
          <p:cNvSpPr>
            <a:spLocks noGrp="1"/>
          </p:cNvSpPr>
          <p:nvPr>
            <p:ph idx="1"/>
          </p:nvPr>
        </p:nvSpPr>
        <p:spPr>
          <a:xfrm>
            <a:off x="457200" y="692696"/>
            <a:ext cx="8229600" cy="5433467"/>
          </a:xfrm>
        </p:spPr>
        <p:txBody>
          <a:bodyPr>
            <a:normAutofit/>
          </a:bodyPr>
          <a:lstStyle/>
          <a:p>
            <a:r>
              <a:rPr lang="en-US" sz="2000" dirty="0">
                <a:latin typeface="Times New Roman" pitchFamily="18" charset="0"/>
                <a:cs typeface="Times New Roman" pitchFamily="18" charset="0"/>
              </a:rPr>
              <a:t>Gigabit Ethernet can be categorized as either a two-wire or a four-wire implementation. </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two-wire implementations use fiber-optic cable (1000Base-SX, short-wave, or 1000Base-LX, long-wave), or STP (1000Base-CX</a:t>
            </a:r>
            <a:r>
              <a:rPr lang="en-US"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short-haul </a:t>
            </a:r>
            <a:r>
              <a:rPr lang="en-IN" sz="2000" dirty="0" smtClean="0">
                <a:latin typeface="Times New Roman" pitchFamily="18" charset="0"/>
                <a:cs typeface="Times New Roman" pitchFamily="18" charset="0"/>
              </a:rPr>
              <a:t>copper)</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The four-wire version uses </a:t>
            </a:r>
            <a:r>
              <a:rPr lang="en-US" sz="2000" dirty="0" smtClean="0">
                <a:latin typeface="Times New Roman" pitchFamily="18" charset="0"/>
                <a:cs typeface="Times New Roman" pitchFamily="18" charset="0"/>
              </a:rPr>
              <a:t>category </a:t>
            </a:r>
            <a:r>
              <a:rPr lang="en-US" sz="2000" dirty="0">
                <a:latin typeface="Times New Roman" pitchFamily="18" charset="0"/>
                <a:cs typeface="Times New Roman" pitchFamily="18" charset="0"/>
              </a:rPr>
              <a:t>5 twisted-pair cable (1000Base-T). </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In </a:t>
            </a:r>
            <a:r>
              <a:rPr lang="en-US" sz="2000" dirty="0">
                <a:latin typeface="Times New Roman" pitchFamily="18" charset="0"/>
                <a:cs typeface="Times New Roman" pitchFamily="18" charset="0"/>
              </a:rPr>
              <a:t>other words, we have four implementations. 1000Base-T was designed in response to those users who had already installed this </a:t>
            </a:r>
            <a:r>
              <a:rPr lang="en-US" sz="2000" dirty="0" smtClean="0">
                <a:latin typeface="Times New Roman" pitchFamily="18" charset="0"/>
                <a:cs typeface="Times New Roman" pitchFamily="18" charset="0"/>
              </a:rPr>
              <a:t>wiring </a:t>
            </a:r>
            <a:r>
              <a:rPr lang="en-US" sz="2000" dirty="0">
                <a:latin typeface="Times New Roman" pitchFamily="18" charset="0"/>
                <a:cs typeface="Times New Roman" pitchFamily="18" charset="0"/>
              </a:rPr>
              <a:t>for other purposes such as Fast Ethernet or telephone services</a:t>
            </a:r>
            <a:endParaRPr lang="en-IN"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20519"/>
          <a:stretch/>
        </p:blipFill>
        <p:spPr bwMode="auto">
          <a:xfrm>
            <a:off x="1403648" y="3933056"/>
            <a:ext cx="6984776" cy="2487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26711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10 GIGABIT ETHERNET</a:t>
            </a:r>
          </a:p>
        </p:txBody>
      </p:sp>
      <p:sp>
        <p:nvSpPr>
          <p:cNvPr id="3" name="Content Placeholder 2"/>
          <p:cNvSpPr>
            <a:spLocks noGrp="1"/>
          </p:cNvSpPr>
          <p:nvPr>
            <p:ph idx="1"/>
          </p:nvPr>
        </p:nvSpPr>
        <p:spPr/>
        <p:txBody>
          <a:bodyPr>
            <a:normAutofit fontScale="92500" lnSpcReduction="20000"/>
          </a:bodyPr>
          <a:lstStyle/>
          <a:p>
            <a:r>
              <a:rPr lang="en-US" dirty="0">
                <a:latin typeface="Times New Roman" pitchFamily="18" charset="0"/>
                <a:cs typeface="Times New Roman" pitchFamily="18" charset="0"/>
              </a:rPr>
              <a:t>The IEEE committee created 10 Gigabit Ethernet and called it Standard 802.3ae.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goals of the 10 Gigabit Ethernet design can be summarized as upgrading the data rate to 10 </a:t>
            </a:r>
            <a:r>
              <a:rPr lang="en-US" dirty="0" err="1">
                <a:latin typeface="Times New Roman" pitchFamily="18" charset="0"/>
                <a:cs typeface="Times New Roman" pitchFamily="18" charset="0"/>
              </a:rPr>
              <a:t>Gbps</a:t>
            </a:r>
            <a:r>
              <a:rPr lang="en-US" dirty="0">
                <a:latin typeface="Times New Roman" pitchFamily="18" charset="0"/>
                <a:cs typeface="Times New Roman" pitchFamily="18" charset="0"/>
              </a:rPr>
              <a:t>, keeping the same frame size and format, and allowing the interconnection of LANs, MANs, and WAN possible.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This </a:t>
            </a:r>
            <a:r>
              <a:rPr lang="en-US" dirty="0">
                <a:latin typeface="Times New Roman" pitchFamily="18" charset="0"/>
                <a:cs typeface="Times New Roman" pitchFamily="18" charset="0"/>
              </a:rPr>
              <a:t>data rate is possible only with fiber-optic technology at this time. The standard defines two types of physical layers: LAN PHY and WAN PHY</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59886209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latin typeface="Times New Roman" pitchFamily="18" charset="0"/>
                <a:cs typeface="Times New Roman" pitchFamily="18" charset="0"/>
              </a:rPr>
              <a:t>Implementation of </a:t>
            </a:r>
            <a:r>
              <a:rPr lang="en-IN" dirty="0">
                <a:latin typeface="Times New Roman" pitchFamily="18" charset="0"/>
                <a:cs typeface="Times New Roman" pitchFamily="18" charset="0"/>
              </a:rPr>
              <a:t>10 GIGABIT ETHERNET</a:t>
            </a:r>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10 Gigabit Ethernet operates only in full-duplex mode, which means there is no need for contention; CSMA/CD is not used in 10 Gigabit Ethernet.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Four </a:t>
            </a:r>
            <a:r>
              <a:rPr lang="en-US" sz="2400" dirty="0">
                <a:latin typeface="Times New Roman" pitchFamily="18" charset="0"/>
                <a:cs typeface="Times New Roman" pitchFamily="18" charset="0"/>
              </a:rPr>
              <a:t>implementations are the most common: 10GBase-SR, 10GBase-LR, 10GBase-EW, and 10GBase-X4.</a:t>
            </a:r>
            <a:endParaRPr lang="en-IN" sz="24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3645024"/>
            <a:ext cx="8145242"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287304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Token Ring (IEEE 802.5) </a:t>
            </a:r>
            <a:endParaRPr lang="en-IN" dirty="0"/>
          </a:p>
        </p:txBody>
      </p:sp>
      <p:sp>
        <p:nvSpPr>
          <p:cNvPr id="3" name="Content Placeholder 2"/>
          <p:cNvSpPr>
            <a:spLocks noGrp="1"/>
          </p:cNvSpPr>
          <p:nvPr>
            <p:ph idx="1"/>
          </p:nvPr>
        </p:nvSpPr>
        <p:spPr/>
        <p:txBody>
          <a:bodyPr>
            <a:normAutofit fontScale="92500" lnSpcReduction="20000"/>
          </a:bodyPr>
          <a:lstStyle/>
          <a:p>
            <a:pPr marL="0" indent="0">
              <a:buNone/>
            </a:pPr>
            <a:r>
              <a:rPr lang="en-IN" dirty="0" smtClean="0">
                <a:latin typeface="Times New Roman" pitchFamily="18" charset="0"/>
                <a:cs typeface="Times New Roman" pitchFamily="18" charset="0"/>
              </a:rPr>
              <a:t>Definition</a:t>
            </a:r>
          </a:p>
          <a:p>
            <a:pPr lvl="1"/>
            <a:r>
              <a:rPr lang="en-US" dirty="0">
                <a:latin typeface="Times New Roman" pitchFamily="18" charset="0"/>
                <a:cs typeface="Times New Roman" pitchFamily="18" charset="0"/>
              </a:rPr>
              <a:t>The foundation of a token ring is the IEEE 802.5 network of the “Institute of Electrical and Electronics Engineers” from 1985, in which all participants of the “Local Area Network” (LAN) are connected to form a logical ring. </a:t>
            </a:r>
            <a:endParaRPr lang="en-US" dirty="0" smtClean="0">
              <a:latin typeface="Times New Roman" pitchFamily="18" charset="0"/>
              <a:cs typeface="Times New Roman" pitchFamily="18" charset="0"/>
            </a:endParaRPr>
          </a:p>
          <a:p>
            <a:pPr lvl="1"/>
            <a:r>
              <a:rPr lang="en-US" dirty="0" smtClean="0">
                <a:latin typeface="Times New Roman" pitchFamily="18" charset="0"/>
                <a:cs typeface="Times New Roman" pitchFamily="18" charset="0"/>
              </a:rPr>
              <a:t>Usually </a:t>
            </a:r>
            <a:r>
              <a:rPr lang="en-US" dirty="0">
                <a:latin typeface="Times New Roman" pitchFamily="18" charset="0"/>
                <a:cs typeface="Times New Roman" pitchFamily="18" charset="0"/>
              </a:rPr>
              <a:t>token ring topologies have a transmission speed of 4 or 16 Mbit/s, but in theory speeds of 100 Mbit/s or 1 </a:t>
            </a:r>
            <a:r>
              <a:rPr lang="en-US" dirty="0" err="1">
                <a:latin typeface="Times New Roman" pitchFamily="18" charset="0"/>
                <a:cs typeface="Times New Roman" pitchFamily="18" charset="0"/>
              </a:rPr>
              <a:t>Gbit</a:t>
            </a:r>
            <a:r>
              <a:rPr lang="en-US" dirty="0">
                <a:latin typeface="Times New Roman" pitchFamily="18" charset="0"/>
                <a:cs typeface="Times New Roman" pitchFamily="18" charset="0"/>
              </a:rPr>
              <a:t>/s are also possible</a:t>
            </a:r>
            <a:r>
              <a:rPr lang="en-US" dirty="0" smtClean="0">
                <a:latin typeface="Times New Roman" pitchFamily="18" charset="0"/>
                <a:cs typeface="Times New Roman" pitchFamily="18" charset="0"/>
              </a:rPr>
              <a:t>.</a:t>
            </a:r>
          </a:p>
          <a:p>
            <a:r>
              <a:rPr lang="en-US" dirty="0">
                <a:latin typeface="Times New Roman" pitchFamily="18" charset="0"/>
                <a:cs typeface="Times New Roman" pitchFamily="18" charset="0"/>
              </a:rPr>
              <a:t>A token ring is an outdated form of network technology, and today </a:t>
            </a:r>
            <a:r>
              <a:rPr lang="en-US" u="sng" dirty="0">
                <a:latin typeface="Times New Roman" pitchFamily="18" charset="0"/>
                <a:cs typeface="Times New Roman" pitchFamily="18" charset="0"/>
              </a:rPr>
              <a:t>Ethernet</a:t>
            </a:r>
            <a:r>
              <a:rPr lang="en-US" dirty="0">
                <a:latin typeface="Times New Roman" pitchFamily="18" charset="0"/>
                <a:cs typeface="Times New Roman" pitchFamily="18" charset="0"/>
              </a:rPr>
              <a:t> is the most prevalent type of </a:t>
            </a:r>
            <a:r>
              <a:rPr lang="en-US" b="1" dirty="0">
                <a:latin typeface="Times New Roman" pitchFamily="18" charset="0"/>
                <a:cs typeface="Times New Roman" pitchFamily="18" charset="0"/>
              </a:rPr>
              <a:t>wired LAN connection</a:t>
            </a:r>
            <a:r>
              <a:rPr lang="en-US" dirty="0">
                <a:latin typeface="Times New Roman" pitchFamily="18" charset="0"/>
                <a:cs typeface="Times New Roman" pitchFamily="18" charset="0"/>
              </a:rPr>
              <a: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76412806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9925"/>
            <a:ext cx="8229600" cy="1143000"/>
          </a:xfrm>
        </p:spPr>
        <p:txBody>
          <a:bodyPr/>
          <a:lstStyle/>
          <a:p>
            <a:r>
              <a:rPr lang="en-US" dirty="0"/>
              <a:t>Token Ring (IEEE </a:t>
            </a:r>
            <a:r>
              <a:rPr lang="en-US" dirty="0" smtClean="0"/>
              <a:t>802.5) </a:t>
            </a:r>
            <a:endParaRPr lang="en-IN" dirty="0"/>
          </a:p>
        </p:txBody>
      </p:sp>
      <p:sp>
        <p:nvSpPr>
          <p:cNvPr id="3" name="Content Placeholder 2"/>
          <p:cNvSpPr>
            <a:spLocks noGrp="1"/>
          </p:cNvSpPr>
          <p:nvPr>
            <p:ph idx="1"/>
          </p:nvPr>
        </p:nvSpPr>
        <p:spPr>
          <a:xfrm>
            <a:off x="457200" y="980728"/>
            <a:ext cx="8229600" cy="5616624"/>
          </a:xfrm>
        </p:spPr>
        <p:txBody>
          <a:bodyPr>
            <a:noAutofit/>
          </a:bodyPr>
          <a:lstStyle/>
          <a:p>
            <a:r>
              <a:rPr lang="en-US" sz="2400" dirty="0">
                <a:latin typeface="Times New Roman" pitchFamily="18" charset="0"/>
                <a:cs typeface="Times New Roman" pitchFamily="18" charset="0"/>
              </a:rPr>
              <a:t>Token ring is the IEEE 802.5 standard for a token-passing ring in Communication networks.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 </a:t>
            </a:r>
            <a:r>
              <a:rPr lang="en-US" sz="2400" dirty="0">
                <a:latin typeface="Times New Roman" pitchFamily="18" charset="0"/>
                <a:cs typeface="Times New Roman" pitchFamily="18" charset="0"/>
              </a:rPr>
              <a:t>ring consists of a collection of ring interfaces connected by point-to-point lines </a:t>
            </a:r>
            <a:r>
              <a:rPr lang="en-US" sz="2400" i="1" dirty="0">
                <a:latin typeface="Times New Roman" pitchFamily="18" charset="0"/>
                <a:cs typeface="Times New Roman" pitchFamily="18" charset="0"/>
              </a:rPr>
              <a:t>i.e. </a:t>
            </a:r>
            <a:r>
              <a:rPr lang="en-US" sz="2400" dirty="0">
                <a:latin typeface="Times New Roman" pitchFamily="18" charset="0"/>
                <a:cs typeface="Times New Roman" pitchFamily="18" charset="0"/>
              </a:rPr>
              <a:t>ring interface of one station is connected to the ring interfaces of its left station as well as right station.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Internally</a:t>
            </a:r>
            <a:r>
              <a:rPr lang="en-US" sz="2400" dirty="0">
                <a:latin typeface="Times New Roman" pitchFamily="18" charset="0"/>
                <a:cs typeface="Times New Roman" pitchFamily="18" charset="0"/>
              </a:rPr>
              <a:t>, signals travel around the Communication network from one station to the next in a ring</a:t>
            </a:r>
            <a:r>
              <a:rPr lang="en-US" sz="2400" dirty="0" smtClean="0">
                <a:latin typeface="Times New Roman" pitchFamily="18" charset="0"/>
                <a:cs typeface="Times New Roman" pitchFamily="18" charset="0"/>
              </a:rPr>
              <a:t>.</a:t>
            </a:r>
          </a:p>
          <a:p>
            <a:r>
              <a:rPr lang="en-US" sz="2400" dirty="0">
                <a:latin typeface="Times New Roman" pitchFamily="18" charset="0"/>
                <a:cs typeface="Times New Roman" pitchFamily="18" charset="0"/>
              </a:rPr>
              <a:t>Token Ring is a LAN protocol defined in the IEEE 802.5 where all stations are connected in a ring and each station can directly hear transmissions only from its immediate neighbor.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Permission </a:t>
            </a:r>
            <a:r>
              <a:rPr lang="en-US" sz="2400" dirty="0">
                <a:latin typeface="Times New Roman" pitchFamily="18" charset="0"/>
                <a:cs typeface="Times New Roman" pitchFamily="18" charset="0"/>
              </a:rPr>
              <a:t>to transmit is granted by a message (token) that circulates around the ring.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 </a:t>
            </a:r>
            <a:r>
              <a:rPr lang="en-US" sz="2400" dirty="0">
                <a:latin typeface="Times New Roman" pitchFamily="18" charset="0"/>
                <a:cs typeface="Times New Roman" pitchFamily="18" charset="0"/>
              </a:rPr>
              <a:t>token is a special bit pattern (3 bytes long). There is only one token in the network.</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31704417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 Ring (IEEE </a:t>
            </a:r>
            <a:r>
              <a:rPr lang="en-US" dirty="0" smtClean="0"/>
              <a:t>802.5) </a:t>
            </a:r>
            <a:endParaRPr lang="en-IN" dirty="0"/>
          </a:p>
        </p:txBody>
      </p:sp>
      <p:sp>
        <p:nvSpPr>
          <p:cNvPr id="3" name="Content Placeholder 2"/>
          <p:cNvSpPr>
            <a:spLocks noGrp="1"/>
          </p:cNvSpPr>
          <p:nvPr>
            <p:ph idx="1"/>
          </p:nvPr>
        </p:nvSpPr>
        <p:spPr/>
        <p:txBody>
          <a:bodyPr>
            <a:normAutofit fontScale="85000" lnSpcReduction="20000"/>
          </a:bodyPr>
          <a:lstStyle/>
          <a:p>
            <a:pPr algn="just"/>
            <a:r>
              <a:rPr lang="en-US" dirty="0" smtClean="0">
                <a:latin typeface="Times New Roman" pitchFamily="18" charset="0"/>
                <a:cs typeface="Times New Roman" pitchFamily="18" charset="0"/>
              </a:rPr>
              <a:t>The network access mechanism used by Ethernet (CSMA/CD) may result in collision. </a:t>
            </a:r>
          </a:p>
          <a:p>
            <a:pPr algn="just"/>
            <a:r>
              <a:rPr lang="en-US" dirty="0" smtClean="0">
                <a:latin typeface="Times New Roman" pitchFamily="18" charset="0"/>
                <a:cs typeface="Times New Roman" pitchFamily="18" charset="0"/>
              </a:rPr>
              <a:t>Station may attempt to send data multiple times before a transmission makes it onto the link. </a:t>
            </a:r>
          </a:p>
          <a:p>
            <a:pPr algn="just"/>
            <a:r>
              <a:rPr lang="en-US" dirty="0" smtClean="0">
                <a:latin typeface="Times New Roman" pitchFamily="18" charset="0"/>
                <a:cs typeface="Times New Roman" pitchFamily="18" charset="0"/>
              </a:rPr>
              <a:t>This redundancy may create delays if the traffic is heavy. </a:t>
            </a:r>
          </a:p>
          <a:p>
            <a:pPr algn="just"/>
            <a:r>
              <a:rPr lang="en-US" dirty="0" smtClean="0">
                <a:latin typeface="Times New Roman" pitchFamily="18" charset="0"/>
                <a:cs typeface="Times New Roman" pitchFamily="18" charset="0"/>
              </a:rPr>
              <a:t>Token ring resolves this uncertainty by requiring that stations take turns sending data. </a:t>
            </a:r>
            <a:r>
              <a:rPr lang="en-US" dirty="0" smtClean="0">
                <a:solidFill>
                  <a:srgbClr val="7030A0"/>
                </a:solidFill>
                <a:latin typeface="Times New Roman" pitchFamily="18" charset="0"/>
                <a:cs typeface="Times New Roman" pitchFamily="18" charset="0"/>
              </a:rPr>
              <a:t>Each station may transmit only during its turn and may send only one frame during each turn</a:t>
            </a:r>
            <a:r>
              <a:rPr lang="en-US" dirty="0" smtClean="0">
                <a:latin typeface="Times New Roman" pitchFamily="18" charset="0"/>
                <a:cs typeface="Times New Roman" pitchFamily="18" charset="0"/>
              </a:rPr>
              <a:t>. </a:t>
            </a:r>
          </a:p>
          <a:p>
            <a:pPr algn="just"/>
            <a:r>
              <a:rPr lang="en-US" dirty="0" smtClean="0">
                <a:latin typeface="Times New Roman" pitchFamily="18" charset="0"/>
                <a:cs typeface="Times New Roman" pitchFamily="18" charset="0"/>
              </a:rPr>
              <a:t>The mechanism that coordinates this rotation is called </a:t>
            </a:r>
            <a:r>
              <a:rPr lang="en-US" b="1" dirty="0" smtClean="0">
                <a:solidFill>
                  <a:srgbClr val="7030A0"/>
                </a:solidFill>
                <a:latin typeface="Times New Roman" pitchFamily="18" charset="0"/>
                <a:cs typeface="Times New Roman" pitchFamily="18" charset="0"/>
              </a:rPr>
              <a:t>token passing</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8018951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Token Ring (IEEE </a:t>
            </a:r>
            <a:r>
              <a:rPr lang="en-US" dirty="0" smtClean="0"/>
              <a:t>802.5) - Access Method: Token Passing</a:t>
            </a:r>
            <a:endParaRPr lang="en-IN" dirty="0"/>
          </a:p>
        </p:txBody>
      </p:sp>
      <p:sp>
        <p:nvSpPr>
          <p:cNvPr id="3" name="Content Placeholder 2"/>
          <p:cNvSpPr>
            <a:spLocks noGrp="1"/>
          </p:cNvSpPr>
          <p:nvPr>
            <p:ph idx="1"/>
          </p:nvPr>
        </p:nvSpPr>
        <p:spPr/>
        <p:txBody>
          <a:bodyPr>
            <a:normAutofit lnSpcReduction="10000"/>
          </a:bodyPr>
          <a:lstStyle/>
          <a:p>
            <a:r>
              <a:rPr lang="en-US" dirty="0" smtClean="0"/>
              <a:t>Token Passing is shown in Fig. 1. </a:t>
            </a:r>
          </a:p>
          <a:p>
            <a:r>
              <a:rPr lang="en-US" dirty="0" smtClean="0"/>
              <a:t>Whenever the network is unoccupied, it circulates a simple three byte token. The station waits for the token to enter its network. If token is free, the station may then send a data frame. </a:t>
            </a:r>
          </a:p>
          <a:p>
            <a:r>
              <a:rPr lang="en-US" dirty="0" smtClean="0"/>
              <a:t>The data frame proceeds around the ring, being regenerated by each station. Each intermediate station examines the destination </a:t>
            </a:r>
            <a:endParaRPr lang="en-IN" dirty="0"/>
          </a:p>
        </p:txBody>
      </p:sp>
    </p:spTree>
    <p:extLst>
      <p:ext uri="{BB962C8B-B14F-4D97-AF65-F5344CB8AC3E}">
        <p14:creationId xmlns:p14="http://schemas.microsoft.com/office/powerpoint/2010/main" val="17789283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Fig. 1 Token Passing</a:t>
            </a:r>
            <a:endParaRPr lang="en-IN" dirty="0"/>
          </a:p>
        </p:txBody>
      </p:sp>
      <p:sp>
        <p:nvSpPr>
          <p:cNvPr id="3" name="Content Placeholder 2"/>
          <p:cNvSpPr>
            <a:spLocks noGrp="1"/>
          </p:cNvSpPr>
          <p:nvPr>
            <p:ph idx="1"/>
          </p:nvPr>
        </p:nvSpPr>
        <p:spPr/>
        <p:txBody>
          <a:bodyPr/>
          <a:lstStyle/>
          <a:p>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700808"/>
            <a:ext cx="7920880" cy="485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50237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Token Ring (IEEE </a:t>
            </a:r>
            <a:r>
              <a:rPr lang="en-US" dirty="0" smtClean="0"/>
              <a:t>802.5) </a:t>
            </a:r>
            <a:r>
              <a:rPr lang="en-US" dirty="0"/>
              <a:t>- Access Method: Token Passing</a:t>
            </a:r>
            <a:endParaRPr lang="en-IN" dirty="0"/>
          </a:p>
        </p:txBody>
      </p:sp>
      <p:sp>
        <p:nvSpPr>
          <p:cNvPr id="3" name="Content Placeholder 2"/>
          <p:cNvSpPr>
            <a:spLocks noGrp="1"/>
          </p:cNvSpPr>
          <p:nvPr>
            <p:ph idx="1"/>
          </p:nvPr>
        </p:nvSpPr>
        <p:spPr/>
        <p:txBody>
          <a:bodyPr>
            <a:normAutofit fontScale="85000" lnSpcReduction="20000"/>
          </a:bodyPr>
          <a:lstStyle/>
          <a:p>
            <a:r>
              <a:rPr lang="en-US" dirty="0" smtClean="0">
                <a:solidFill>
                  <a:srgbClr val="7030A0"/>
                </a:solidFill>
              </a:rPr>
              <a:t>Priority and Reservation </a:t>
            </a:r>
          </a:p>
          <a:p>
            <a:r>
              <a:rPr lang="en-US" dirty="0" smtClean="0"/>
              <a:t>Once a token has been released, the next station on the ring with data to send has the right to take charge of the ring. </a:t>
            </a:r>
          </a:p>
          <a:p>
            <a:r>
              <a:rPr lang="en-US" dirty="0" smtClean="0"/>
              <a:t>The busy token can be reserved by a station waiting to transmit. </a:t>
            </a:r>
          </a:p>
          <a:p>
            <a:r>
              <a:rPr lang="en-US" dirty="0" smtClean="0"/>
              <a:t>Each station has a priority code. A station with a higher priority may remove a lower priority reservation and replace it with its own.</a:t>
            </a:r>
          </a:p>
          <a:p>
            <a:pPr marL="0" indent="0">
              <a:buNone/>
            </a:pPr>
            <a:r>
              <a:rPr lang="en-US" dirty="0">
                <a:solidFill>
                  <a:srgbClr val="7030A0"/>
                </a:solidFill>
              </a:rPr>
              <a:t>Time Limits </a:t>
            </a:r>
          </a:p>
          <a:p>
            <a:r>
              <a:rPr lang="en-US" dirty="0"/>
              <a:t>To keep traffic moving, Token ring imposes a time limit on any station waiting to use the ring </a:t>
            </a:r>
            <a:r>
              <a:rPr lang="en-US" dirty="0" smtClean="0"/>
              <a:t>  </a:t>
            </a:r>
            <a:endParaRPr lang="en-IN" dirty="0"/>
          </a:p>
        </p:txBody>
      </p:sp>
    </p:spTree>
    <p:extLst>
      <p:ext uri="{BB962C8B-B14F-4D97-AF65-F5344CB8AC3E}">
        <p14:creationId xmlns:p14="http://schemas.microsoft.com/office/powerpoint/2010/main" val="149262687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smtClean="0"/>
          </a:p>
          <a:p>
            <a:endParaRPr lang="en-IN" dirty="0"/>
          </a:p>
          <a:p>
            <a:endParaRPr lang="en-IN" dirty="0" smtClean="0"/>
          </a:p>
          <a:p>
            <a:pPr marL="0" indent="0" algn="ctr">
              <a:buNone/>
            </a:pPr>
            <a:r>
              <a:rPr lang="en-IN" sz="4800" b="1" dirty="0">
                <a:latin typeface="Times New Roman" pitchFamily="18" charset="0"/>
                <a:cs typeface="Times New Roman" pitchFamily="18" charset="0"/>
              </a:rPr>
              <a:t>Wireless LAN IEEE 802.11</a:t>
            </a:r>
            <a:endParaRPr lang="en-IN" sz="4800" b="1" dirty="0"/>
          </a:p>
        </p:txBody>
      </p:sp>
    </p:spTree>
    <p:extLst>
      <p:ext uri="{BB962C8B-B14F-4D97-AF65-F5344CB8AC3E}">
        <p14:creationId xmlns:p14="http://schemas.microsoft.com/office/powerpoint/2010/main" val="266819324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Times New Roman" pitchFamily="18" charset="0"/>
                <a:cs typeface="Times New Roman" pitchFamily="18" charset="0"/>
              </a:rPr>
              <a:t>Wireless </a:t>
            </a:r>
            <a:r>
              <a:rPr lang="en-IN" dirty="0" smtClean="0">
                <a:latin typeface="Times New Roman" pitchFamily="18" charset="0"/>
                <a:cs typeface="Times New Roman" pitchFamily="18" charset="0"/>
              </a:rPr>
              <a:t>LAN IEEE 802.11</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IEEE has defined the specifications for a wireless LAN, called IEEE 802.11, which covers the physical and data-link layers.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It </a:t>
            </a:r>
            <a:r>
              <a:rPr lang="en-US" dirty="0">
                <a:latin typeface="Times New Roman" pitchFamily="18" charset="0"/>
                <a:cs typeface="Times New Roman" pitchFamily="18" charset="0"/>
              </a:rPr>
              <a:t>is sometimes called wireless </a:t>
            </a:r>
            <a:r>
              <a:rPr lang="en-US" dirty="0" smtClean="0">
                <a:latin typeface="Times New Roman" pitchFamily="18" charset="0"/>
                <a:cs typeface="Times New Roman" pitchFamily="18" charset="0"/>
              </a:rPr>
              <a:t>Ethernet.</a:t>
            </a:r>
          </a:p>
          <a:p>
            <a:r>
              <a:rPr lang="en-US" dirty="0" smtClean="0">
                <a:latin typeface="Times New Roman" pitchFamily="18" charset="0"/>
                <a:cs typeface="Times New Roman" pitchFamily="18" charset="0"/>
              </a:rPr>
              <a:t>In some </a:t>
            </a:r>
            <a:r>
              <a:rPr lang="en-US" dirty="0">
                <a:latin typeface="Times New Roman" pitchFamily="18" charset="0"/>
                <a:cs typeface="Times New Roman" pitchFamily="18" charset="0"/>
              </a:rPr>
              <a:t>countries, including the United States, the public uses the term </a:t>
            </a:r>
            <a:r>
              <a:rPr lang="en-US" dirty="0" err="1">
                <a:latin typeface="Times New Roman" pitchFamily="18" charset="0"/>
                <a:cs typeface="Times New Roman" pitchFamily="18" charset="0"/>
              </a:rPr>
              <a:t>WiFi</a:t>
            </a:r>
            <a:r>
              <a:rPr lang="en-US" dirty="0">
                <a:latin typeface="Times New Roman" pitchFamily="18" charset="0"/>
                <a:cs typeface="Times New Roman" pitchFamily="18" charset="0"/>
              </a:rPr>
              <a:t> (short for wireless fidelity) as a synonym for wireless LAN.</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4875594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latin typeface="Times New Roman" pitchFamily="18" charset="0"/>
                <a:cs typeface="Times New Roman" pitchFamily="18" charset="0"/>
              </a:rPr>
              <a:t>Architecture </a:t>
            </a:r>
            <a:r>
              <a:rPr lang="en-IN" dirty="0">
                <a:latin typeface="Times New Roman" pitchFamily="18" charset="0"/>
                <a:cs typeface="Times New Roman" pitchFamily="18" charset="0"/>
              </a:rPr>
              <a:t>Wireless LAN</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IEEE 802.11</a:t>
            </a:r>
            <a:r>
              <a:rPr lang="en-IN" dirty="0" smtClean="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r>
              <a:rPr lang="en-US" dirty="0">
                <a:latin typeface="Times New Roman" pitchFamily="18" charset="0"/>
                <a:cs typeface="Times New Roman" pitchFamily="18" charset="0"/>
              </a:rPr>
              <a:t>The standard defines two kinds of services: the basic service set (BSS) and the extended service set (ESS</a:t>
            </a:r>
            <a:r>
              <a:rPr lang="en-US" dirty="0" smtClean="0">
                <a:latin typeface="Times New Roman" pitchFamily="18" charset="0"/>
                <a:cs typeface="Times New Roman" pitchFamily="18" charset="0"/>
              </a:rPr>
              <a:t>).</a:t>
            </a:r>
          </a:p>
          <a:p>
            <a:r>
              <a:rPr lang="en-US" dirty="0">
                <a:latin typeface="Times New Roman" pitchFamily="18" charset="0"/>
                <a:cs typeface="Times New Roman" pitchFamily="18" charset="0"/>
              </a:rPr>
              <a:t>Basic Service </a:t>
            </a:r>
            <a:r>
              <a:rPr lang="en-US" dirty="0" smtClean="0">
                <a:latin typeface="Times New Roman" pitchFamily="18" charset="0"/>
                <a:cs typeface="Times New Roman" pitchFamily="18" charset="0"/>
              </a:rPr>
              <a:t>Set</a:t>
            </a:r>
          </a:p>
          <a:p>
            <a:pPr lvl="1"/>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IEEE 802.11 defines the basic service set (BSS) as the building blocks of a wireless LAN. </a:t>
            </a:r>
            <a:endParaRPr lang="en-US" dirty="0" smtClean="0">
              <a:latin typeface="Times New Roman" pitchFamily="18" charset="0"/>
              <a:cs typeface="Times New Roman" pitchFamily="18" charset="0"/>
            </a:endParaRPr>
          </a:p>
          <a:p>
            <a:pPr lvl="1"/>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basic service set is made of stationary or mobile wireless stations and an optional central base station, known as the </a:t>
            </a:r>
            <a:r>
              <a:rPr lang="en-US" b="1" dirty="0">
                <a:latin typeface="Times New Roman" pitchFamily="18" charset="0"/>
                <a:cs typeface="Times New Roman" pitchFamily="18" charset="0"/>
              </a:rPr>
              <a:t>access point (AP). </a:t>
            </a:r>
            <a:endParaRPr lang="en-US" b="1" dirty="0" smtClean="0">
              <a:latin typeface="Times New Roman" pitchFamily="18" charset="0"/>
              <a:cs typeface="Times New Roman" pitchFamily="18" charset="0"/>
            </a:endParaRPr>
          </a:p>
          <a:p>
            <a:pPr lvl="1"/>
            <a:r>
              <a:rPr lang="en-US" dirty="0" smtClean="0">
                <a:latin typeface="Times New Roman" pitchFamily="18" charset="0"/>
                <a:cs typeface="Times New Roman" pitchFamily="18" charset="0"/>
              </a:rPr>
              <a:t>Figure 1 </a:t>
            </a:r>
            <a:r>
              <a:rPr lang="en-US" dirty="0">
                <a:latin typeface="Times New Roman" pitchFamily="18" charset="0"/>
                <a:cs typeface="Times New Roman" pitchFamily="18" charset="0"/>
              </a:rPr>
              <a:t>shows two sets in this standard.</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52669960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itchFamily="18" charset="0"/>
                <a:cs typeface="Times New Roman" pitchFamily="18" charset="0"/>
              </a:rPr>
              <a:t>Basic service sets (</a:t>
            </a:r>
            <a:r>
              <a:rPr lang="en-IN" dirty="0" smtClean="0">
                <a:latin typeface="Times New Roman" pitchFamily="18" charset="0"/>
                <a:cs typeface="Times New Roman" pitchFamily="18" charset="0"/>
              </a:rPr>
              <a:t>BSSs) </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0000" lnSpcReduction="20000"/>
          </a:bodyPr>
          <a:lstStyle/>
          <a:p>
            <a:endParaRPr lang="en-US" dirty="0" smtClean="0"/>
          </a:p>
          <a:p>
            <a:endParaRPr lang="en-US" dirty="0"/>
          </a:p>
          <a:p>
            <a:endParaRPr lang="en-US" dirty="0" smtClean="0"/>
          </a:p>
          <a:p>
            <a:endParaRPr lang="en-US" dirty="0"/>
          </a:p>
          <a:p>
            <a:endParaRPr lang="en-US" dirty="0" smtClean="0"/>
          </a:p>
          <a:p>
            <a:endParaRPr lang="en-US" dirty="0" smtClean="0"/>
          </a:p>
          <a:p>
            <a:endParaRPr lang="en-US" dirty="0" smtClean="0"/>
          </a:p>
          <a:p>
            <a:endParaRPr lang="en-US" dirty="0"/>
          </a:p>
          <a:p>
            <a:pPr algn="just"/>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BSS without an AP is a stand-alone network and cannot send data to other BSSs. It is called an ad hoc architecture.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In </a:t>
            </a:r>
            <a:r>
              <a:rPr lang="en-US" dirty="0">
                <a:latin typeface="Times New Roman" pitchFamily="18" charset="0"/>
                <a:cs typeface="Times New Roman" pitchFamily="18" charset="0"/>
              </a:rPr>
              <a:t>this architecture, stations can form a </a:t>
            </a:r>
            <a:r>
              <a:rPr lang="en-US" dirty="0" smtClean="0">
                <a:latin typeface="Times New Roman" pitchFamily="18" charset="0"/>
                <a:cs typeface="Times New Roman" pitchFamily="18" charset="0"/>
              </a:rPr>
              <a:t>network </a:t>
            </a:r>
            <a:r>
              <a:rPr lang="en-US" dirty="0">
                <a:latin typeface="Times New Roman" pitchFamily="18" charset="0"/>
                <a:cs typeface="Times New Roman" pitchFamily="18" charset="0"/>
              </a:rPr>
              <a:t>without the need of an AP; they can locate one another and agree to be part of a BSS.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BSS with an AP is sometimes referred to as an infrastructure BSS.</a:t>
            </a:r>
            <a:endParaRPr lang="en-IN"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484784"/>
            <a:ext cx="7704856" cy="25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819531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Extended Service Set</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r>
              <a:rPr lang="en-US" dirty="0" smtClean="0">
                <a:latin typeface="Times New Roman" pitchFamily="18" charset="0"/>
                <a:cs typeface="Times New Roman" pitchFamily="18" charset="0"/>
              </a:rPr>
              <a:t>An </a:t>
            </a:r>
            <a:r>
              <a:rPr lang="en-US" dirty="0">
                <a:latin typeface="Times New Roman" pitchFamily="18" charset="0"/>
                <a:cs typeface="Times New Roman" pitchFamily="18" charset="0"/>
              </a:rPr>
              <a:t>extended service set (ESS) is made up of two or more BSSs with </a:t>
            </a:r>
            <a:r>
              <a:rPr lang="en-US" b="1" dirty="0" smtClean="0">
                <a:latin typeface="Times New Roman" pitchFamily="18" charset="0"/>
                <a:cs typeface="Times New Roman" pitchFamily="18" charset="0"/>
              </a:rPr>
              <a:t>Access Points (APs). </a:t>
            </a:r>
          </a:p>
          <a:p>
            <a:r>
              <a:rPr lang="en-US" dirty="0" smtClean="0">
                <a:latin typeface="Times New Roman" pitchFamily="18" charset="0"/>
                <a:cs typeface="Times New Roman" pitchFamily="18" charset="0"/>
              </a:rPr>
              <a:t>In </a:t>
            </a:r>
            <a:r>
              <a:rPr lang="en-US" dirty="0">
                <a:latin typeface="Times New Roman" pitchFamily="18" charset="0"/>
                <a:cs typeface="Times New Roman" pitchFamily="18" charset="0"/>
              </a:rPr>
              <a:t>this case, the BSSs are connected through a distribution system, which is a wired or a wireless network.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distribution system connects the APs in the BSSs.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IEEE </a:t>
            </a:r>
            <a:r>
              <a:rPr lang="en-US" dirty="0">
                <a:latin typeface="Times New Roman" pitchFamily="18" charset="0"/>
                <a:cs typeface="Times New Roman" pitchFamily="18" charset="0"/>
              </a:rPr>
              <a:t>802.11 does not restrict the distribution system; it can be any IEEE LAN such as an Ethernet</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Note that </a:t>
            </a:r>
            <a:r>
              <a:rPr lang="en-US" dirty="0">
                <a:solidFill>
                  <a:srgbClr val="002060"/>
                </a:solidFill>
                <a:latin typeface="Times New Roman" pitchFamily="18" charset="0"/>
                <a:cs typeface="Times New Roman" pitchFamily="18" charset="0"/>
              </a:rPr>
              <a:t>the extended service set uses two types of stations</a:t>
            </a:r>
            <a:r>
              <a:rPr lang="en-US" b="1" dirty="0">
                <a:latin typeface="Times New Roman" pitchFamily="18" charset="0"/>
                <a:cs typeface="Times New Roman" pitchFamily="18" charset="0"/>
              </a:rPr>
              <a:t>: mobile and stationary</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mobile stations are normal stations inside a BSS.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stationary </a:t>
            </a:r>
            <a:r>
              <a:rPr lang="en-US" dirty="0" smtClean="0">
                <a:latin typeface="Times New Roman" pitchFamily="18" charset="0"/>
                <a:cs typeface="Times New Roman" pitchFamily="18" charset="0"/>
              </a:rPr>
              <a:t>stations </a:t>
            </a:r>
            <a:r>
              <a:rPr lang="en-US" dirty="0">
                <a:latin typeface="Times New Roman" pitchFamily="18" charset="0"/>
                <a:cs typeface="Times New Roman" pitchFamily="18" charset="0"/>
              </a:rPr>
              <a:t>are AP stations that are part of a wired LAN. Figure 2</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shows an ESS.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5591640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764704"/>
          </a:xfrm>
        </p:spPr>
        <p:txBody>
          <a:bodyPr/>
          <a:lstStyle/>
          <a:p>
            <a:r>
              <a:rPr lang="en-US" dirty="0">
                <a:latin typeface="Times New Roman" pitchFamily="18" charset="0"/>
                <a:cs typeface="Times New Roman" pitchFamily="18" charset="0"/>
              </a:rPr>
              <a:t>Extended Service Set</a:t>
            </a:r>
            <a:endParaRPr lang="en-IN" dirty="0"/>
          </a:p>
        </p:txBody>
      </p:sp>
      <p:sp>
        <p:nvSpPr>
          <p:cNvPr id="3" name="Content Placeholder 2"/>
          <p:cNvSpPr>
            <a:spLocks noGrp="1"/>
          </p:cNvSpPr>
          <p:nvPr>
            <p:ph idx="1"/>
          </p:nvPr>
        </p:nvSpPr>
        <p:spPr>
          <a:xfrm>
            <a:off x="457200" y="1600200"/>
            <a:ext cx="8229600" cy="5141168"/>
          </a:xfrm>
        </p:spPr>
        <p:txBody>
          <a:bodyPr>
            <a:normAutofit fontScale="47500" lnSpcReduction="20000"/>
          </a:bodyPr>
          <a:lstStyle/>
          <a:p>
            <a:endParaRPr lang="en-US" dirty="0" smtClean="0"/>
          </a:p>
          <a:p>
            <a:endParaRPr lang="en-US" dirty="0"/>
          </a:p>
          <a:p>
            <a:endParaRPr lang="en-US" dirty="0" smtClean="0"/>
          </a:p>
          <a:p>
            <a:endParaRPr lang="en-US" dirty="0"/>
          </a:p>
          <a:p>
            <a:endParaRPr lang="en-US" dirty="0" smtClean="0"/>
          </a:p>
          <a:p>
            <a:endParaRPr lang="en-US" dirty="0"/>
          </a:p>
          <a:p>
            <a:endParaRPr lang="en-US" sz="5100" dirty="0" smtClean="0">
              <a:latin typeface="Times New Roman" pitchFamily="18" charset="0"/>
              <a:cs typeface="Times New Roman" pitchFamily="18" charset="0"/>
            </a:endParaRPr>
          </a:p>
          <a:p>
            <a:endParaRPr lang="en-US" sz="5100" dirty="0">
              <a:latin typeface="Times New Roman" pitchFamily="18" charset="0"/>
              <a:cs typeface="Times New Roman" pitchFamily="18" charset="0"/>
            </a:endParaRPr>
          </a:p>
          <a:p>
            <a:r>
              <a:rPr lang="en-US" sz="5100" dirty="0" smtClean="0">
                <a:latin typeface="Times New Roman" pitchFamily="18" charset="0"/>
                <a:cs typeface="Times New Roman" pitchFamily="18" charset="0"/>
              </a:rPr>
              <a:t>When </a:t>
            </a:r>
            <a:r>
              <a:rPr lang="en-US" sz="5100" dirty="0">
                <a:latin typeface="Times New Roman" pitchFamily="18" charset="0"/>
                <a:cs typeface="Times New Roman" pitchFamily="18" charset="0"/>
              </a:rPr>
              <a:t>BSSs are connected, the stations within reach of one another can communicate without the use of an AP. However, communication between a station in a BSS and the outside BSS occurs via the </a:t>
            </a:r>
            <a:r>
              <a:rPr lang="en-US" sz="5100" dirty="0" smtClean="0">
                <a:latin typeface="Times New Roman" pitchFamily="18" charset="0"/>
                <a:cs typeface="Times New Roman" pitchFamily="18" charset="0"/>
              </a:rPr>
              <a:t>AP. </a:t>
            </a:r>
          </a:p>
          <a:p>
            <a:endParaRPr lang="en-US" sz="5100" dirty="0">
              <a:latin typeface="Times New Roman" pitchFamily="18" charset="0"/>
              <a:cs typeface="Times New Roman" pitchFamily="18" charset="0"/>
            </a:endParaRPr>
          </a:p>
          <a:p>
            <a:r>
              <a:rPr lang="en-US" sz="5100" dirty="0">
                <a:latin typeface="Times New Roman" pitchFamily="18" charset="0"/>
                <a:cs typeface="Times New Roman" pitchFamily="18" charset="0"/>
              </a:rPr>
              <a:t>The idea is similar to communication in a cellular </a:t>
            </a:r>
            <a:r>
              <a:rPr lang="en-US" sz="5100" dirty="0" smtClean="0">
                <a:latin typeface="Times New Roman" pitchFamily="18" charset="0"/>
                <a:cs typeface="Times New Roman" pitchFamily="18" charset="0"/>
              </a:rPr>
              <a:t>network, if </a:t>
            </a:r>
            <a:r>
              <a:rPr lang="en-US" sz="5100" dirty="0">
                <a:latin typeface="Times New Roman" pitchFamily="18" charset="0"/>
                <a:cs typeface="Times New Roman" pitchFamily="18" charset="0"/>
              </a:rPr>
              <a:t>we consider each BSS to be a cell and each AP to be a base station. Note that a mobile station can belong to more than one BSS at the same time</a:t>
            </a:r>
            <a:r>
              <a:rPr lang="en-US" dirty="0">
                <a:latin typeface="Times New Roman" pitchFamily="18" charset="0"/>
                <a:cs typeface="Times New Roman" pitchFamily="18" charset="0"/>
              </a:rPr>
              <a:t>.</a:t>
            </a:r>
            <a:endParaRPr lang="en-IN"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692696"/>
            <a:ext cx="5400600" cy="2859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79512" y="1340768"/>
            <a:ext cx="3525324" cy="369332"/>
          </a:xfrm>
          <a:prstGeom prst="rect">
            <a:avLst/>
          </a:prstGeom>
        </p:spPr>
        <p:txBody>
          <a:bodyPr wrap="none">
            <a:spAutoFit/>
          </a:bodyPr>
          <a:lstStyle/>
          <a:p>
            <a:r>
              <a:rPr lang="en-US" dirty="0">
                <a:latin typeface="Times New Roman" pitchFamily="18" charset="0"/>
                <a:cs typeface="Times New Roman" pitchFamily="18" charset="0"/>
              </a:rPr>
              <a:t>Figure </a:t>
            </a:r>
            <a:r>
              <a:rPr lang="en-US" dirty="0" smtClean="0">
                <a:latin typeface="Times New Roman" pitchFamily="18" charset="0"/>
                <a:cs typeface="Times New Roman" pitchFamily="18" charset="0"/>
              </a:rPr>
              <a:t>2 </a:t>
            </a:r>
            <a:r>
              <a:rPr lang="en-US" dirty="0">
                <a:latin typeface="Times New Roman" pitchFamily="18" charset="0"/>
                <a:cs typeface="Times New Roman" pitchFamily="18" charset="0"/>
              </a:rPr>
              <a:t>Extended service set (ESS)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8861878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itchFamily="18" charset="0"/>
                <a:cs typeface="Times New Roman" pitchFamily="18" charset="0"/>
              </a:rPr>
              <a:t>Station Types</a:t>
            </a:r>
          </a:p>
        </p:txBody>
      </p:sp>
      <p:sp>
        <p:nvSpPr>
          <p:cNvPr id="3" name="Content Placeholder 2"/>
          <p:cNvSpPr>
            <a:spLocks noGrp="1"/>
          </p:cNvSpPr>
          <p:nvPr>
            <p:ph idx="1"/>
          </p:nvPr>
        </p:nvSpPr>
        <p:spPr/>
        <p:txBody>
          <a:bodyPr>
            <a:normAutofit fontScale="85000" lnSpcReduction="20000"/>
          </a:bodyPr>
          <a:lstStyle/>
          <a:p>
            <a:pPr algn="just"/>
            <a:r>
              <a:rPr lang="en-US" dirty="0">
                <a:latin typeface="Times New Roman" pitchFamily="18" charset="0"/>
                <a:cs typeface="Times New Roman" pitchFamily="18" charset="0"/>
              </a:rPr>
              <a:t>IEEE 802.11 defines three types of stations based on their mobility in a wireless LAN: </a:t>
            </a:r>
            <a:r>
              <a:rPr lang="en-US" dirty="0">
                <a:solidFill>
                  <a:srgbClr val="0070C0"/>
                </a:solidFill>
                <a:latin typeface="Times New Roman" pitchFamily="18" charset="0"/>
                <a:cs typeface="Times New Roman" pitchFamily="18" charset="0"/>
              </a:rPr>
              <a:t>no-transition, BSS-transition, and ESS-transition mobility.</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marL="514350" indent="-514350" algn="just">
              <a:buFont typeface="+mj-lt"/>
              <a:buAutoNum type="arabicPeriod"/>
            </a:pPr>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station with </a:t>
            </a:r>
            <a:r>
              <a:rPr lang="en-US" dirty="0">
                <a:solidFill>
                  <a:srgbClr val="7030A0"/>
                </a:solidFill>
                <a:latin typeface="Times New Roman" pitchFamily="18" charset="0"/>
                <a:cs typeface="Times New Roman" pitchFamily="18" charset="0"/>
              </a:rPr>
              <a:t>no-transition mobility </a:t>
            </a:r>
            <a:r>
              <a:rPr lang="en-US" dirty="0">
                <a:latin typeface="Times New Roman" pitchFamily="18" charset="0"/>
                <a:cs typeface="Times New Roman" pitchFamily="18" charset="0"/>
              </a:rPr>
              <a:t>is either </a:t>
            </a:r>
            <a:r>
              <a:rPr lang="en-US" dirty="0">
                <a:solidFill>
                  <a:srgbClr val="0070C0"/>
                </a:solidFill>
                <a:latin typeface="Times New Roman" pitchFamily="18" charset="0"/>
                <a:cs typeface="Times New Roman" pitchFamily="18" charset="0"/>
              </a:rPr>
              <a:t>stationary</a:t>
            </a:r>
            <a:r>
              <a:rPr lang="en-US" dirty="0">
                <a:latin typeface="Times New Roman" pitchFamily="18" charset="0"/>
                <a:cs typeface="Times New Roman" pitchFamily="18" charset="0"/>
              </a:rPr>
              <a:t> (not moving) or </a:t>
            </a:r>
            <a:r>
              <a:rPr lang="en-US" dirty="0">
                <a:solidFill>
                  <a:srgbClr val="0070C0"/>
                </a:solidFill>
                <a:latin typeface="Times New Roman" pitchFamily="18" charset="0"/>
                <a:cs typeface="Times New Roman" pitchFamily="18" charset="0"/>
              </a:rPr>
              <a:t>moving only inside a BSS. </a:t>
            </a:r>
            <a:endParaRPr lang="en-US" dirty="0" smtClean="0">
              <a:solidFill>
                <a:srgbClr val="0070C0"/>
              </a:solidFill>
              <a:latin typeface="Times New Roman" pitchFamily="18" charset="0"/>
              <a:cs typeface="Times New Roman" pitchFamily="18" charset="0"/>
            </a:endParaRPr>
          </a:p>
          <a:p>
            <a:pPr marL="514350" indent="-514350" algn="just">
              <a:buFont typeface="+mj-lt"/>
              <a:buAutoNum type="arabicPeriod"/>
            </a:pPr>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station with </a:t>
            </a:r>
            <a:r>
              <a:rPr lang="en-US" dirty="0">
                <a:solidFill>
                  <a:srgbClr val="7030A0"/>
                </a:solidFill>
                <a:latin typeface="Times New Roman" pitchFamily="18" charset="0"/>
                <a:cs typeface="Times New Roman" pitchFamily="18" charset="0"/>
              </a:rPr>
              <a:t>BSS-transition mobility </a:t>
            </a:r>
            <a:r>
              <a:rPr lang="en-US" dirty="0">
                <a:latin typeface="Times New Roman" pitchFamily="18" charset="0"/>
                <a:cs typeface="Times New Roman" pitchFamily="18" charset="0"/>
              </a:rPr>
              <a:t>can </a:t>
            </a:r>
            <a:r>
              <a:rPr lang="en-US" dirty="0">
                <a:solidFill>
                  <a:srgbClr val="0070C0"/>
                </a:solidFill>
                <a:latin typeface="Times New Roman" pitchFamily="18" charset="0"/>
                <a:cs typeface="Times New Roman" pitchFamily="18" charset="0"/>
              </a:rPr>
              <a:t>move from one BSS to another</a:t>
            </a:r>
            <a:r>
              <a:rPr lang="en-US" dirty="0">
                <a:latin typeface="Times New Roman" pitchFamily="18" charset="0"/>
                <a:cs typeface="Times New Roman" pitchFamily="18" charset="0"/>
              </a:rPr>
              <a:t>, but the movement is </a:t>
            </a:r>
            <a:r>
              <a:rPr lang="en-US" dirty="0" smtClean="0">
                <a:latin typeface="Times New Roman" pitchFamily="18" charset="0"/>
                <a:cs typeface="Times New Roman" pitchFamily="18" charset="0"/>
              </a:rPr>
              <a:t>confined </a:t>
            </a:r>
            <a:r>
              <a:rPr lang="en-US" dirty="0">
                <a:latin typeface="Times New Roman" pitchFamily="18" charset="0"/>
                <a:cs typeface="Times New Roman" pitchFamily="18" charset="0"/>
              </a:rPr>
              <a:t>inside one ESS. </a:t>
            </a:r>
            <a:endParaRPr lang="en-US" dirty="0" smtClean="0">
              <a:latin typeface="Times New Roman" pitchFamily="18" charset="0"/>
              <a:cs typeface="Times New Roman" pitchFamily="18" charset="0"/>
            </a:endParaRPr>
          </a:p>
          <a:p>
            <a:pPr marL="514350" indent="-514350" algn="just">
              <a:buFont typeface="+mj-lt"/>
              <a:buAutoNum type="arabicPeriod"/>
            </a:pPr>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station with </a:t>
            </a:r>
            <a:r>
              <a:rPr lang="en-US" dirty="0">
                <a:solidFill>
                  <a:srgbClr val="7030A0"/>
                </a:solidFill>
                <a:latin typeface="Times New Roman" pitchFamily="18" charset="0"/>
                <a:cs typeface="Times New Roman" pitchFamily="18" charset="0"/>
              </a:rPr>
              <a:t>ESS-transition mobility </a:t>
            </a:r>
            <a:r>
              <a:rPr lang="en-US" dirty="0">
                <a:latin typeface="Times New Roman" pitchFamily="18" charset="0"/>
                <a:cs typeface="Times New Roman" pitchFamily="18" charset="0"/>
              </a:rPr>
              <a:t>can </a:t>
            </a:r>
            <a:r>
              <a:rPr lang="en-US" dirty="0">
                <a:solidFill>
                  <a:srgbClr val="0070C0"/>
                </a:solidFill>
                <a:latin typeface="Times New Roman" pitchFamily="18" charset="0"/>
                <a:cs typeface="Times New Roman" pitchFamily="18" charset="0"/>
              </a:rPr>
              <a:t>move from one ESS to another</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However</a:t>
            </a:r>
            <a:r>
              <a:rPr lang="en-US" dirty="0">
                <a:latin typeface="Times New Roman" pitchFamily="18" charset="0"/>
                <a:cs typeface="Times New Roman" pitchFamily="18" charset="0"/>
              </a:rPr>
              <a:t>, IEEE 802.11 does not guarantee that communication is </a:t>
            </a:r>
            <a:r>
              <a:rPr lang="en-US" dirty="0" smtClean="0">
                <a:latin typeface="Times New Roman" pitchFamily="18" charset="0"/>
                <a:cs typeface="Times New Roman" pitchFamily="18" charset="0"/>
              </a:rPr>
              <a:t>continuous </a:t>
            </a:r>
            <a:r>
              <a:rPr lang="en-US" dirty="0">
                <a:latin typeface="Times New Roman" pitchFamily="18" charset="0"/>
                <a:cs typeface="Times New Roman" pitchFamily="18" charset="0"/>
              </a:rPr>
              <a:t>during the move.</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04821114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MAC </a:t>
            </a:r>
            <a:r>
              <a:rPr lang="en-IN" dirty="0" err="1"/>
              <a:t>Sublayer</a:t>
            </a:r>
            <a:endParaRPr lang="en-IN" dirty="0"/>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IEEE 802.11 defines two MAC </a:t>
            </a:r>
            <a:r>
              <a:rPr lang="en-US" sz="2400" dirty="0" err="1">
                <a:latin typeface="Times New Roman" pitchFamily="18" charset="0"/>
                <a:cs typeface="Times New Roman" pitchFamily="18" charset="0"/>
              </a:rPr>
              <a:t>sublayers</a:t>
            </a:r>
            <a:r>
              <a:rPr lang="en-US" sz="2400" dirty="0">
                <a:latin typeface="Times New Roman" pitchFamily="18" charset="0"/>
                <a:cs typeface="Times New Roman" pitchFamily="18" charset="0"/>
              </a:rPr>
              <a:t>: the distributed coordination function (DCF) and point coordination function (PCF).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Figure 3 </a:t>
            </a:r>
            <a:r>
              <a:rPr lang="en-US" sz="2400" dirty="0">
                <a:latin typeface="Times New Roman" pitchFamily="18" charset="0"/>
                <a:cs typeface="Times New Roman" pitchFamily="18" charset="0"/>
              </a:rPr>
              <a:t>shows the relationship between the two MAC </a:t>
            </a:r>
            <a:r>
              <a:rPr lang="en-US" sz="2400" dirty="0" err="1">
                <a:latin typeface="Times New Roman" pitchFamily="18" charset="0"/>
                <a:cs typeface="Times New Roman" pitchFamily="18" charset="0"/>
              </a:rPr>
              <a:t>sublayers</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LLC </a:t>
            </a:r>
            <a:r>
              <a:rPr lang="en-US" sz="2000" dirty="0" err="1">
                <a:latin typeface="Times New Roman" pitchFamily="18" charset="0"/>
                <a:cs typeface="Times New Roman" pitchFamily="18" charset="0"/>
              </a:rPr>
              <a:t>sublayer</a:t>
            </a:r>
            <a:r>
              <a:rPr lang="en-US" sz="2000" dirty="0">
                <a:latin typeface="Times New Roman" pitchFamily="18" charset="0"/>
                <a:cs typeface="Times New Roman" pitchFamily="18" charset="0"/>
              </a:rPr>
              <a:t>, and the physical layer. </a:t>
            </a:r>
            <a:endParaRPr lang="en-US" sz="2000" dirty="0" smtClean="0">
              <a:latin typeface="Times New Roman" pitchFamily="18" charset="0"/>
              <a:cs typeface="Times New Roman" pitchFamily="18" charset="0"/>
            </a:endParaRP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7341"/>
          <a:stretch/>
        </p:blipFill>
        <p:spPr bwMode="auto">
          <a:xfrm>
            <a:off x="1187624" y="4005064"/>
            <a:ext cx="5832648" cy="2007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691680" y="6165304"/>
            <a:ext cx="4284891" cy="369332"/>
          </a:xfrm>
          <a:prstGeom prst="rect">
            <a:avLst/>
          </a:prstGeom>
        </p:spPr>
        <p:txBody>
          <a:bodyPr wrap="none">
            <a:spAutoFit/>
          </a:bodyPr>
          <a:lstStyle/>
          <a:p>
            <a:r>
              <a:rPr lang="en-US" dirty="0"/>
              <a:t>Figure 3</a:t>
            </a:r>
            <a:r>
              <a:rPr lang="en-US" dirty="0" smtClean="0"/>
              <a:t> </a:t>
            </a:r>
            <a:r>
              <a:rPr lang="en-US" dirty="0"/>
              <a:t>MAC layers in IEEE 802.11 standard</a:t>
            </a:r>
            <a:endParaRPr lang="en-IN" dirty="0"/>
          </a:p>
        </p:txBody>
      </p:sp>
    </p:spTree>
    <p:extLst>
      <p:ext uri="{BB962C8B-B14F-4D97-AF65-F5344CB8AC3E}">
        <p14:creationId xmlns:p14="http://schemas.microsoft.com/office/powerpoint/2010/main" val="254086033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itchFamily="18" charset="0"/>
                <a:cs typeface="Times New Roman" pitchFamily="18" charset="0"/>
              </a:rPr>
              <a:t>Distributed Coordination Function</a:t>
            </a:r>
          </a:p>
        </p:txBody>
      </p:sp>
      <p:sp>
        <p:nvSpPr>
          <p:cNvPr id="3" name="Content Placeholder 2"/>
          <p:cNvSpPr>
            <a:spLocks noGrp="1"/>
          </p:cNvSpPr>
          <p:nvPr>
            <p:ph idx="1"/>
          </p:nvPr>
        </p:nvSpPr>
        <p:spPr>
          <a:xfrm>
            <a:off x="457200" y="1600200"/>
            <a:ext cx="8229600" cy="5257800"/>
          </a:xfrm>
        </p:spPr>
        <p:txBody>
          <a:bodyPr>
            <a:normAutofit fontScale="62500" lnSpcReduction="20000"/>
          </a:bodyPr>
          <a:lstStyle/>
          <a:p>
            <a:r>
              <a:rPr lang="en-US" dirty="0">
                <a:latin typeface="Times New Roman" pitchFamily="18" charset="0"/>
                <a:cs typeface="Times New Roman" pitchFamily="18" charset="0"/>
              </a:rPr>
              <a:t>One of the two protocols defined by IEEE at the MAC </a:t>
            </a:r>
            <a:r>
              <a:rPr lang="en-US" dirty="0" err="1">
                <a:latin typeface="Times New Roman" pitchFamily="18" charset="0"/>
                <a:cs typeface="Times New Roman" pitchFamily="18" charset="0"/>
              </a:rPr>
              <a:t>sublayer</a:t>
            </a:r>
            <a:r>
              <a:rPr lang="en-US" dirty="0">
                <a:latin typeface="Times New Roman" pitchFamily="18" charset="0"/>
                <a:cs typeface="Times New Roman" pitchFamily="18" charset="0"/>
              </a:rPr>
              <a:t> is called the distributed coordination function (DCF). </a:t>
            </a:r>
            <a:r>
              <a:rPr lang="en-US" dirty="0">
                <a:solidFill>
                  <a:srgbClr val="0070C0"/>
                </a:solidFill>
                <a:latin typeface="Times New Roman" pitchFamily="18" charset="0"/>
                <a:cs typeface="Times New Roman" pitchFamily="18" charset="0"/>
              </a:rPr>
              <a:t>DCF uses </a:t>
            </a:r>
            <a:r>
              <a:rPr lang="en-US" dirty="0" smtClean="0">
                <a:solidFill>
                  <a:srgbClr val="0070C0"/>
                </a:solidFill>
                <a:latin typeface="Times New Roman" pitchFamily="18" charset="0"/>
                <a:cs typeface="Times New Roman" pitchFamily="18" charset="0"/>
              </a:rPr>
              <a:t>CSMA/CA </a:t>
            </a:r>
            <a:r>
              <a:rPr lang="en-US" dirty="0">
                <a:solidFill>
                  <a:srgbClr val="0070C0"/>
                </a:solidFill>
                <a:latin typeface="Times New Roman" pitchFamily="18" charset="0"/>
                <a:cs typeface="Times New Roman" pitchFamily="18" charset="0"/>
              </a:rPr>
              <a:t>as the access </a:t>
            </a:r>
            <a:r>
              <a:rPr lang="en-US" dirty="0" smtClean="0">
                <a:solidFill>
                  <a:srgbClr val="0070C0"/>
                </a:solidFill>
                <a:latin typeface="Times New Roman" pitchFamily="18" charset="0"/>
                <a:cs typeface="Times New Roman" pitchFamily="18" charset="0"/>
              </a:rPr>
              <a:t>method</a:t>
            </a:r>
          </a:p>
          <a:p>
            <a:r>
              <a:rPr lang="en-US" b="1" dirty="0">
                <a:latin typeface="Times New Roman" pitchFamily="18" charset="0"/>
                <a:cs typeface="Times New Roman" pitchFamily="18" charset="0"/>
              </a:rPr>
              <a:t>Frame Exchange Time Line </a:t>
            </a:r>
            <a:endParaRPr lang="en-US" b="1"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Figure 4 </a:t>
            </a:r>
            <a:r>
              <a:rPr lang="en-US" dirty="0">
                <a:latin typeface="Times New Roman" pitchFamily="18" charset="0"/>
                <a:cs typeface="Times New Roman" pitchFamily="18" charset="0"/>
              </a:rPr>
              <a:t>shows the </a:t>
            </a:r>
            <a:r>
              <a:rPr lang="en-US" dirty="0">
                <a:solidFill>
                  <a:srgbClr val="0070C0"/>
                </a:solidFill>
                <a:latin typeface="Times New Roman" pitchFamily="18" charset="0"/>
                <a:cs typeface="Times New Roman" pitchFamily="18" charset="0"/>
              </a:rPr>
              <a:t>exchange of data and control frames in time</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marL="514350" indent="-514350">
              <a:buFont typeface="+mj-lt"/>
              <a:buAutoNum type="arabicPeriod"/>
            </a:pPr>
            <a:r>
              <a:rPr lang="en-US" dirty="0" smtClean="0">
                <a:latin typeface="Times New Roman" pitchFamily="18" charset="0"/>
                <a:cs typeface="Times New Roman" pitchFamily="18" charset="0"/>
              </a:rPr>
              <a:t>Before </a:t>
            </a:r>
            <a:r>
              <a:rPr lang="en-US" dirty="0">
                <a:latin typeface="Times New Roman" pitchFamily="18" charset="0"/>
                <a:cs typeface="Times New Roman" pitchFamily="18" charset="0"/>
              </a:rPr>
              <a:t>sending a frame, the source station senses the medium by checking the energy level at the carrier frequency. </a:t>
            </a:r>
            <a:endParaRPr lang="en-US" dirty="0" smtClean="0">
              <a:latin typeface="Times New Roman" pitchFamily="18" charset="0"/>
              <a:cs typeface="Times New Roman" pitchFamily="18" charset="0"/>
            </a:endParaRPr>
          </a:p>
          <a:p>
            <a:pPr marL="457200" lvl="1" indent="0">
              <a:buNone/>
            </a:pPr>
            <a:r>
              <a:rPr lang="en-US" dirty="0" smtClean="0">
                <a:latin typeface="Times New Roman" pitchFamily="18" charset="0"/>
                <a:cs typeface="Times New Roman" pitchFamily="18" charset="0"/>
              </a:rPr>
              <a:t>a</a:t>
            </a:r>
            <a:r>
              <a:rPr lang="en-US" dirty="0">
                <a:latin typeface="Times New Roman" pitchFamily="18" charset="0"/>
                <a:cs typeface="Times New Roman" pitchFamily="18" charset="0"/>
              </a:rPr>
              <a:t>. The channel uses a persistence strategy with </a:t>
            </a:r>
            <a:r>
              <a:rPr lang="en-US" dirty="0" err="1">
                <a:latin typeface="Times New Roman" pitchFamily="18" charset="0"/>
                <a:cs typeface="Times New Roman" pitchFamily="18" charset="0"/>
              </a:rPr>
              <a:t>backoff</a:t>
            </a:r>
            <a:r>
              <a:rPr lang="en-US" dirty="0">
                <a:latin typeface="Times New Roman" pitchFamily="18" charset="0"/>
                <a:cs typeface="Times New Roman" pitchFamily="18" charset="0"/>
              </a:rPr>
              <a:t> until the channel is idle. </a:t>
            </a:r>
            <a:endParaRPr lang="en-US" dirty="0" smtClean="0">
              <a:latin typeface="Times New Roman" pitchFamily="18" charset="0"/>
              <a:cs typeface="Times New Roman" pitchFamily="18" charset="0"/>
            </a:endParaRPr>
          </a:p>
          <a:p>
            <a:pPr marL="457200" lvl="1" indent="0">
              <a:buNone/>
            </a:pPr>
            <a:r>
              <a:rPr lang="en-US" dirty="0" smtClean="0">
                <a:latin typeface="Times New Roman" pitchFamily="18" charset="0"/>
                <a:cs typeface="Times New Roman" pitchFamily="18" charset="0"/>
              </a:rPr>
              <a:t>b</a:t>
            </a:r>
            <a:r>
              <a:rPr lang="en-US" dirty="0">
                <a:latin typeface="Times New Roman" pitchFamily="18" charset="0"/>
                <a:cs typeface="Times New Roman" pitchFamily="18" charset="0"/>
              </a:rPr>
              <a:t>. After the station is found to be idle, the station waits for a period of time called the distributed </a:t>
            </a:r>
            <a:r>
              <a:rPr lang="en-US" dirty="0" err="1">
                <a:latin typeface="Times New Roman" pitchFamily="18" charset="0"/>
                <a:cs typeface="Times New Roman" pitchFamily="18" charset="0"/>
              </a:rPr>
              <a:t>interframe</a:t>
            </a:r>
            <a:r>
              <a:rPr lang="en-US" dirty="0">
                <a:latin typeface="Times New Roman" pitchFamily="18" charset="0"/>
                <a:cs typeface="Times New Roman" pitchFamily="18" charset="0"/>
              </a:rPr>
              <a:t> space (DIFS); then the station sends a control frame called the request to send (RTS). </a:t>
            </a:r>
            <a:endParaRPr lang="en-US" dirty="0" smtClean="0">
              <a:latin typeface="Times New Roman" pitchFamily="18" charset="0"/>
              <a:cs typeface="Times New Roman" pitchFamily="18" charset="0"/>
            </a:endParaRPr>
          </a:p>
          <a:p>
            <a:pPr marL="514350" indent="-514350">
              <a:buFont typeface="+mj-lt"/>
              <a:buAutoNum type="arabicPeriod"/>
            </a:pPr>
            <a:r>
              <a:rPr lang="en-US" dirty="0" smtClean="0">
                <a:latin typeface="Times New Roman" pitchFamily="18" charset="0"/>
                <a:cs typeface="Times New Roman" pitchFamily="18" charset="0"/>
              </a:rPr>
              <a:t>After </a:t>
            </a:r>
            <a:r>
              <a:rPr lang="en-US" dirty="0">
                <a:latin typeface="Times New Roman" pitchFamily="18" charset="0"/>
                <a:cs typeface="Times New Roman" pitchFamily="18" charset="0"/>
              </a:rPr>
              <a:t>receiving the RTS and waiting a period of time called the short </a:t>
            </a:r>
            <a:r>
              <a:rPr lang="en-US" dirty="0" err="1">
                <a:latin typeface="Times New Roman" pitchFamily="18" charset="0"/>
                <a:cs typeface="Times New Roman" pitchFamily="18" charset="0"/>
              </a:rPr>
              <a:t>interframe</a:t>
            </a:r>
            <a:r>
              <a:rPr lang="en-US" dirty="0">
                <a:latin typeface="Times New Roman" pitchFamily="18" charset="0"/>
                <a:cs typeface="Times New Roman" pitchFamily="18" charset="0"/>
              </a:rPr>
              <a:t> space (SIFS), the destination station sends a control frame, called the clear to send (CTS), to the source station. This control frame indicates that the destination station is ready to receive data. </a:t>
            </a:r>
            <a:endParaRPr lang="en-US" dirty="0" smtClean="0">
              <a:latin typeface="Times New Roman" pitchFamily="18" charset="0"/>
              <a:cs typeface="Times New Roman" pitchFamily="18" charset="0"/>
            </a:endParaRPr>
          </a:p>
          <a:p>
            <a:pPr marL="514350" indent="-514350">
              <a:buFont typeface="+mj-lt"/>
              <a:buAutoNum type="arabicPeriod"/>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source station sends data after waiting an amount of time equal to </a:t>
            </a:r>
            <a:r>
              <a:rPr lang="en-US" dirty="0" smtClean="0">
                <a:latin typeface="Times New Roman" pitchFamily="18" charset="0"/>
                <a:cs typeface="Times New Roman" pitchFamily="18" charset="0"/>
              </a:rPr>
              <a:t>SIFS. </a:t>
            </a:r>
          </a:p>
          <a:p>
            <a:pPr marL="514350" indent="-514350">
              <a:buFont typeface="+mj-lt"/>
              <a:buAutoNum type="arabicPeriod"/>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destination station, after waiting an amount of time equal to SIFS, sends an acknowledgment to show that the frame has been received.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7012275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Figure 4</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CSMA/CA and NAV</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628800"/>
            <a:ext cx="5832648" cy="4202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480533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itchFamily="18" charset="0"/>
                <a:cs typeface="Times New Roman" pitchFamily="18" charset="0"/>
              </a:rPr>
              <a:t>Network Allocation Vector</a:t>
            </a:r>
          </a:p>
        </p:txBody>
      </p:sp>
      <p:sp>
        <p:nvSpPr>
          <p:cNvPr id="3" name="Content Placeholder 2"/>
          <p:cNvSpPr>
            <a:spLocks noGrp="1"/>
          </p:cNvSpPr>
          <p:nvPr>
            <p:ph idx="1"/>
          </p:nvPr>
        </p:nvSpPr>
        <p:spPr/>
        <p:txBody>
          <a:bodyPr>
            <a:normAutofit fontScale="85000" lnSpcReduction="10000"/>
          </a:bodyPr>
          <a:lstStyle/>
          <a:p>
            <a:r>
              <a:rPr lang="en-US" dirty="0">
                <a:latin typeface="Times New Roman" pitchFamily="18" charset="0"/>
                <a:cs typeface="Times New Roman" pitchFamily="18" charset="0"/>
              </a:rPr>
              <a:t>When a station sends an RTS frame, it includes the duration of time that it needs to occupy the channel.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stations that are affected by this transmission create a timer called a </a:t>
            </a:r>
            <a:r>
              <a:rPr lang="en-US" b="1" dirty="0">
                <a:latin typeface="Times New Roman" pitchFamily="18" charset="0"/>
                <a:cs typeface="Times New Roman" pitchFamily="18" charset="0"/>
              </a:rPr>
              <a:t>network allocation vector (NAV)</a:t>
            </a:r>
            <a:r>
              <a:rPr lang="en-US" dirty="0">
                <a:latin typeface="Times New Roman" pitchFamily="18" charset="0"/>
                <a:cs typeface="Times New Roman" pitchFamily="18" charset="0"/>
              </a:rPr>
              <a:t> that shows how much time must pass before these stations are allowed to check the channel for idleness.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Each </a:t>
            </a:r>
            <a:r>
              <a:rPr lang="en-US" dirty="0">
                <a:latin typeface="Times New Roman" pitchFamily="18" charset="0"/>
                <a:cs typeface="Times New Roman" pitchFamily="18" charset="0"/>
              </a:rPr>
              <a:t>time a station accesses the system and sends an RTS frame, other stations start their NAV.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In </a:t>
            </a:r>
            <a:r>
              <a:rPr lang="en-US" dirty="0">
                <a:latin typeface="Times New Roman" pitchFamily="18" charset="0"/>
                <a:cs typeface="Times New Roman" pitchFamily="18" charset="0"/>
              </a:rPr>
              <a:t>other words, each station, before sensing the physical medium to see if it is idle, first checks its NAV to see if it has expired. Figure </a:t>
            </a:r>
            <a:r>
              <a:rPr lang="en-US" dirty="0" smtClean="0">
                <a:latin typeface="Times New Roman" pitchFamily="18" charset="0"/>
                <a:cs typeface="Times New Roman" pitchFamily="18" charset="0"/>
              </a:rPr>
              <a:t>4 </a:t>
            </a:r>
            <a:r>
              <a:rPr lang="en-US" dirty="0">
                <a:latin typeface="Times New Roman" pitchFamily="18" charset="0"/>
                <a:cs typeface="Times New Roman" pitchFamily="18" charset="0"/>
              </a:rPr>
              <a:t>shows the idea of NAV.</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92222365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Collision </a:t>
            </a:r>
            <a:r>
              <a:rPr lang="en-US" dirty="0">
                <a:latin typeface="Times New Roman" pitchFamily="18" charset="0"/>
                <a:cs typeface="Times New Roman" pitchFamily="18" charset="0"/>
              </a:rPr>
              <a:t>During Handshaking </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85000" lnSpcReduction="10000"/>
          </a:bodyPr>
          <a:lstStyle/>
          <a:p>
            <a:r>
              <a:rPr lang="en-US" dirty="0" smtClean="0">
                <a:latin typeface="Times New Roman" pitchFamily="18" charset="0"/>
                <a:cs typeface="Times New Roman" pitchFamily="18" charset="0"/>
              </a:rPr>
              <a:t>What </a:t>
            </a:r>
            <a:r>
              <a:rPr lang="en-US" dirty="0">
                <a:latin typeface="Times New Roman" pitchFamily="18" charset="0"/>
                <a:cs typeface="Times New Roman" pitchFamily="18" charset="0"/>
              </a:rPr>
              <a:t>happens if there is a collision during the time when RTS or CTS control frames are in transition, often called the handshaking period?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Two </a:t>
            </a:r>
            <a:r>
              <a:rPr lang="en-US" dirty="0">
                <a:latin typeface="Times New Roman" pitchFamily="18" charset="0"/>
                <a:cs typeface="Times New Roman" pitchFamily="18" charset="0"/>
              </a:rPr>
              <a:t>or more stations may try to send RTS frames at the same time.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These </a:t>
            </a:r>
            <a:r>
              <a:rPr lang="en-US" dirty="0">
                <a:latin typeface="Times New Roman" pitchFamily="18" charset="0"/>
                <a:cs typeface="Times New Roman" pitchFamily="18" charset="0"/>
              </a:rPr>
              <a:t>control frames may collide</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However, because there is no mechanism for collision detection, the sender assumes there has been a collision if it has not received a CTS frame from the receiver.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a:t>
            </a:r>
            <a:r>
              <a:rPr lang="en-US" dirty="0" err="1">
                <a:latin typeface="Times New Roman" pitchFamily="18" charset="0"/>
                <a:cs typeface="Times New Roman" pitchFamily="18" charset="0"/>
              </a:rPr>
              <a:t>backoff</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strategy </a:t>
            </a:r>
            <a:r>
              <a:rPr lang="en-US" dirty="0">
                <a:latin typeface="Times New Roman" pitchFamily="18" charset="0"/>
                <a:cs typeface="Times New Roman" pitchFamily="18" charset="0"/>
              </a:rPr>
              <a:t>is employed, and the sender tries again.</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06131659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itchFamily="18" charset="0"/>
                <a:cs typeface="Times New Roman" pitchFamily="18" charset="0"/>
              </a:rPr>
              <a:t>Hidden-Station Problem</a:t>
            </a:r>
          </a:p>
        </p:txBody>
      </p:sp>
      <p:sp>
        <p:nvSpPr>
          <p:cNvPr id="3" name="Content Placeholder 2"/>
          <p:cNvSpPr>
            <a:spLocks noGrp="1"/>
          </p:cNvSpPr>
          <p:nvPr>
            <p:ph idx="1"/>
          </p:nvPr>
        </p:nvSpPr>
        <p:spPr/>
        <p:txBody>
          <a:bodyPr>
            <a:noAutofit/>
          </a:bodyPr>
          <a:lstStyle/>
          <a:p>
            <a:pPr algn="just"/>
            <a:r>
              <a:rPr lang="en-US" sz="2400" dirty="0">
                <a:latin typeface="Times New Roman" pitchFamily="18" charset="0"/>
                <a:cs typeface="Times New Roman" pitchFamily="18" charset="0"/>
              </a:rPr>
              <a:t>The solution to the hidden station problem is the use of the handshake frames (RTS and CTS).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Figure </a:t>
            </a:r>
            <a:r>
              <a:rPr lang="en-US" sz="2400" dirty="0">
                <a:latin typeface="Times New Roman" pitchFamily="18" charset="0"/>
                <a:cs typeface="Times New Roman" pitchFamily="18" charset="0"/>
              </a:rPr>
              <a:t>4</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also shows that the RTS message from B reaches A, but not C.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However</a:t>
            </a:r>
            <a:r>
              <a:rPr lang="en-US" sz="2400" dirty="0">
                <a:latin typeface="Times New Roman" pitchFamily="18" charset="0"/>
                <a:cs typeface="Times New Roman" pitchFamily="18" charset="0"/>
              </a:rPr>
              <a:t>, because both B and C are within the range of A, the CTS message, which contains the duration of data transmission from B to A, reaches C.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Station </a:t>
            </a:r>
            <a:r>
              <a:rPr lang="en-US" sz="2400" dirty="0">
                <a:latin typeface="Times New Roman" pitchFamily="18" charset="0"/>
                <a:cs typeface="Times New Roman" pitchFamily="18" charset="0"/>
              </a:rPr>
              <a:t>C knows that some </a:t>
            </a:r>
            <a:r>
              <a:rPr lang="en-US" sz="2400" dirty="0" smtClean="0">
                <a:latin typeface="Times New Roman" pitchFamily="18" charset="0"/>
                <a:cs typeface="Times New Roman" pitchFamily="18" charset="0"/>
              </a:rPr>
              <a:t>hidden </a:t>
            </a:r>
            <a:r>
              <a:rPr lang="en-US" sz="2400" dirty="0">
                <a:latin typeface="Times New Roman" pitchFamily="18" charset="0"/>
                <a:cs typeface="Times New Roman" pitchFamily="18" charset="0"/>
              </a:rPr>
              <a:t>station is using the channel and refrains from transmitting until that duration is </a:t>
            </a:r>
            <a:r>
              <a:rPr lang="en-US" sz="2400" dirty="0" smtClean="0">
                <a:latin typeface="Times New Roman" pitchFamily="18" charset="0"/>
                <a:cs typeface="Times New Roman" pitchFamily="18" charset="0"/>
              </a:rPr>
              <a:t>over. </a:t>
            </a:r>
            <a:endParaRPr lang="en-IN" sz="24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5116660"/>
            <a:ext cx="4824536" cy="174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302286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smtClean="0"/>
          </a:p>
          <a:p>
            <a:endParaRPr lang="en-IN" dirty="0"/>
          </a:p>
          <a:p>
            <a:endParaRPr lang="en-IN" dirty="0" smtClean="0"/>
          </a:p>
          <a:p>
            <a:pPr marL="0" indent="0" algn="ctr">
              <a:buNone/>
            </a:pPr>
            <a:r>
              <a:rPr lang="en-US" sz="4800" b="1" dirty="0">
                <a:latin typeface="Times New Roman" pitchFamily="18" charset="0"/>
                <a:cs typeface="Times New Roman" pitchFamily="18" charset="0"/>
              </a:rPr>
              <a:t>IEEE 802.15 - Bluetooth</a:t>
            </a:r>
            <a:endParaRPr lang="en-IN" sz="4800" b="1" dirty="0"/>
          </a:p>
        </p:txBody>
      </p:sp>
    </p:spTree>
    <p:extLst>
      <p:ext uri="{BB962C8B-B14F-4D97-AF65-F5344CB8AC3E}">
        <p14:creationId xmlns:p14="http://schemas.microsoft.com/office/powerpoint/2010/main" val="11203342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IEEE </a:t>
            </a:r>
            <a:r>
              <a:rPr lang="en-US" dirty="0" smtClean="0">
                <a:latin typeface="Times New Roman" pitchFamily="18" charset="0"/>
                <a:cs typeface="Times New Roman" pitchFamily="18" charset="0"/>
              </a:rPr>
              <a:t>802.15 - Bluetooth</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a:solidFill>
                  <a:srgbClr val="0070C0"/>
                </a:solidFill>
                <a:latin typeface="Times New Roman" pitchFamily="18" charset="0"/>
                <a:cs typeface="Times New Roman" pitchFamily="18" charset="0"/>
              </a:rPr>
              <a:t>Bluetooth </a:t>
            </a:r>
            <a:r>
              <a:rPr lang="en-US" dirty="0">
                <a:latin typeface="Times New Roman" pitchFamily="18" charset="0"/>
                <a:cs typeface="Times New Roman" pitchFamily="18" charset="0"/>
              </a:rPr>
              <a:t>is </a:t>
            </a:r>
            <a:r>
              <a:rPr lang="en-US" dirty="0">
                <a:solidFill>
                  <a:srgbClr val="0070C0"/>
                </a:solidFill>
                <a:latin typeface="Times New Roman" pitchFamily="18" charset="0"/>
                <a:cs typeface="Times New Roman" pitchFamily="18" charset="0"/>
              </a:rPr>
              <a:t>a wireless LAN </a:t>
            </a:r>
            <a:r>
              <a:rPr lang="en-US" dirty="0">
                <a:latin typeface="Times New Roman" pitchFamily="18" charset="0"/>
                <a:cs typeface="Times New Roman" pitchFamily="18" charset="0"/>
              </a:rPr>
              <a:t>technology designed to </a:t>
            </a:r>
            <a:r>
              <a:rPr lang="en-US" dirty="0">
                <a:solidFill>
                  <a:srgbClr val="0070C0"/>
                </a:solidFill>
                <a:latin typeface="Times New Roman" pitchFamily="18" charset="0"/>
                <a:cs typeface="Times New Roman" pitchFamily="18" charset="0"/>
              </a:rPr>
              <a:t>connect devices of different </a:t>
            </a:r>
            <a:r>
              <a:rPr lang="en-US" dirty="0" smtClean="0">
                <a:solidFill>
                  <a:srgbClr val="0070C0"/>
                </a:solidFill>
                <a:latin typeface="Times New Roman" pitchFamily="18" charset="0"/>
                <a:cs typeface="Times New Roman" pitchFamily="18" charset="0"/>
              </a:rPr>
              <a:t>functions </a:t>
            </a:r>
            <a:r>
              <a:rPr lang="en-US" dirty="0">
                <a:latin typeface="Times New Roman" pitchFamily="18" charset="0"/>
                <a:cs typeface="Times New Roman" pitchFamily="18" charset="0"/>
              </a:rPr>
              <a:t>such as telephones, notebooks, computers (desktop and laptop), cameras, printers, and even coffee makers when they are at a short distance from each other.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A </a:t>
            </a:r>
            <a:r>
              <a:rPr lang="en-US" dirty="0">
                <a:solidFill>
                  <a:srgbClr val="0070C0"/>
                </a:solidFill>
                <a:latin typeface="Times New Roman" pitchFamily="18" charset="0"/>
                <a:cs typeface="Times New Roman" pitchFamily="18" charset="0"/>
              </a:rPr>
              <a:t>Bluetooth LAN </a:t>
            </a:r>
            <a:r>
              <a:rPr lang="en-US" dirty="0">
                <a:latin typeface="Times New Roman" pitchFamily="18" charset="0"/>
                <a:cs typeface="Times New Roman" pitchFamily="18" charset="0"/>
              </a:rPr>
              <a:t>is an </a:t>
            </a:r>
            <a:r>
              <a:rPr lang="en-US" dirty="0">
                <a:solidFill>
                  <a:srgbClr val="0070C0"/>
                </a:solidFill>
                <a:latin typeface="Times New Roman" pitchFamily="18" charset="0"/>
                <a:cs typeface="Times New Roman" pitchFamily="18" charset="0"/>
              </a:rPr>
              <a:t>ad hoc network</a:t>
            </a:r>
            <a:r>
              <a:rPr lang="en-US" dirty="0">
                <a:latin typeface="Times New Roman" pitchFamily="18" charset="0"/>
                <a:cs typeface="Times New Roman" pitchFamily="18" charset="0"/>
              </a:rPr>
              <a:t>, which means that the </a:t>
            </a:r>
            <a:r>
              <a:rPr lang="en-US" dirty="0">
                <a:solidFill>
                  <a:srgbClr val="0070C0"/>
                </a:solidFill>
                <a:latin typeface="Times New Roman" pitchFamily="18" charset="0"/>
                <a:cs typeface="Times New Roman" pitchFamily="18" charset="0"/>
              </a:rPr>
              <a:t>network is formed </a:t>
            </a:r>
            <a:r>
              <a:rPr lang="en-US" dirty="0" smtClean="0">
                <a:solidFill>
                  <a:srgbClr val="0070C0"/>
                </a:solidFill>
                <a:latin typeface="Times New Roman" pitchFamily="18" charset="0"/>
                <a:cs typeface="Times New Roman" pitchFamily="18" charset="0"/>
              </a:rPr>
              <a:t>spontaneously</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the devices, sometimes called gadgets, find each other and make a network called a </a:t>
            </a:r>
            <a:r>
              <a:rPr lang="en-US" dirty="0" err="1">
                <a:latin typeface="Times New Roman" pitchFamily="18" charset="0"/>
                <a:cs typeface="Times New Roman" pitchFamily="18" charset="0"/>
              </a:rPr>
              <a:t>piconet</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Bluetooth LAN can even be connected to the Internet if one of the gadgets has this </a:t>
            </a:r>
            <a:r>
              <a:rPr lang="en-US" dirty="0" smtClean="0">
                <a:latin typeface="Times New Roman" pitchFamily="18" charset="0"/>
                <a:cs typeface="Times New Roman" pitchFamily="18" charset="0"/>
              </a:rPr>
              <a:t>capability.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16383471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IEEE 802.15 - Bluetooth</a:t>
            </a:r>
            <a:endParaRPr lang="en-IN" dirty="0"/>
          </a:p>
        </p:txBody>
      </p:sp>
      <p:sp>
        <p:nvSpPr>
          <p:cNvPr id="3" name="Content Placeholder 2"/>
          <p:cNvSpPr>
            <a:spLocks noGrp="1"/>
          </p:cNvSpPr>
          <p:nvPr>
            <p:ph idx="1"/>
          </p:nvPr>
        </p:nvSpPr>
        <p:spPr/>
        <p:txBody>
          <a:bodyPr>
            <a:normAutofit fontScale="85000" lnSpcReduction="10000"/>
          </a:bodyPr>
          <a:lstStyle/>
          <a:p>
            <a:r>
              <a:rPr lang="en-US" dirty="0">
                <a:latin typeface="Times New Roman" pitchFamily="18" charset="0"/>
                <a:cs typeface="Times New Roman" pitchFamily="18" charset="0"/>
              </a:rPr>
              <a:t>Bluetooth was originally started as a project by the Ericsson Company</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It is named for </a:t>
            </a:r>
            <a:r>
              <a:rPr lang="en-US" dirty="0" err="1">
                <a:latin typeface="Times New Roman" pitchFamily="18" charset="0"/>
                <a:cs typeface="Times New Roman" pitchFamily="18" charset="0"/>
              </a:rPr>
              <a:t>Harald</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Blaatand</a:t>
            </a:r>
            <a:r>
              <a:rPr lang="en-US" dirty="0">
                <a:latin typeface="Times New Roman" pitchFamily="18" charset="0"/>
                <a:cs typeface="Times New Roman" pitchFamily="18" charset="0"/>
              </a:rPr>
              <a:t>, the king of Denmark (940-981) who united Denmark and Norway. </a:t>
            </a:r>
            <a:endParaRPr lang="en-US" dirty="0" smtClean="0">
              <a:latin typeface="Times New Roman" pitchFamily="18" charset="0"/>
              <a:cs typeface="Times New Roman" pitchFamily="18" charset="0"/>
            </a:endParaRPr>
          </a:p>
          <a:p>
            <a:r>
              <a:rPr lang="en-US" dirty="0" err="1" smtClean="0">
                <a:latin typeface="Times New Roman" pitchFamily="18" charset="0"/>
                <a:cs typeface="Times New Roman" pitchFamily="18" charset="0"/>
              </a:rPr>
              <a:t>Blaatand</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translates to Bluetooth in English</a:t>
            </a:r>
            <a:r>
              <a:rPr lang="en-US" dirty="0" smtClean="0">
                <a:latin typeface="Times New Roman" pitchFamily="18" charset="0"/>
                <a:cs typeface="Times New Roman" pitchFamily="18" charset="0"/>
              </a:rPr>
              <a:t>.</a:t>
            </a:r>
          </a:p>
          <a:p>
            <a:r>
              <a:rPr lang="en-US" dirty="0">
                <a:latin typeface="Times New Roman" pitchFamily="18" charset="0"/>
                <a:cs typeface="Times New Roman" pitchFamily="18" charset="0"/>
              </a:rPr>
              <a:t>Today, Bluetooth technology is the implementation of a protocol defined by the IEEE 802.15 standard. </a:t>
            </a:r>
            <a:endParaRPr lang="en-US" dirty="0" smtClean="0">
              <a:latin typeface="Times New Roman" pitchFamily="18" charset="0"/>
              <a:cs typeface="Times New Roman" pitchFamily="18" charset="0"/>
            </a:endParaRPr>
          </a:p>
          <a:p>
            <a:r>
              <a:rPr lang="en-US" dirty="0" smtClean="0">
                <a:solidFill>
                  <a:srgbClr val="0070C0"/>
                </a:solidFill>
                <a:latin typeface="Times New Roman" pitchFamily="18" charset="0"/>
                <a:cs typeface="Times New Roman" pitchFamily="18" charset="0"/>
              </a:rPr>
              <a:t>The </a:t>
            </a:r>
            <a:r>
              <a:rPr lang="en-US" dirty="0">
                <a:solidFill>
                  <a:srgbClr val="0070C0"/>
                </a:solidFill>
                <a:latin typeface="Times New Roman" pitchFamily="18" charset="0"/>
                <a:cs typeface="Times New Roman" pitchFamily="18" charset="0"/>
              </a:rPr>
              <a:t>standard defines a wireless personal-area network (PAN)</a:t>
            </a:r>
            <a:r>
              <a:rPr lang="en-US" dirty="0">
                <a:latin typeface="Times New Roman" pitchFamily="18" charset="0"/>
                <a:cs typeface="Times New Roman" pitchFamily="18" charset="0"/>
              </a:rPr>
              <a:t> operable in an area the size of a room or a hall</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73812534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Times New Roman" pitchFamily="18" charset="0"/>
                <a:cs typeface="Times New Roman" pitchFamily="18" charset="0"/>
              </a:rPr>
              <a:t>Bluetooth </a:t>
            </a:r>
            <a:r>
              <a:rPr lang="en-IN" dirty="0" smtClean="0"/>
              <a:t>Architecture : </a:t>
            </a:r>
            <a:r>
              <a:rPr lang="en-US" dirty="0" err="1">
                <a:solidFill>
                  <a:srgbClr val="0070C0"/>
                </a:solidFill>
                <a:latin typeface="Times New Roman" pitchFamily="18" charset="0"/>
                <a:cs typeface="Times New Roman" pitchFamily="18" charset="0"/>
              </a:rPr>
              <a:t>Piconets</a:t>
            </a:r>
            <a:r>
              <a:rPr lang="en-US" dirty="0">
                <a:latin typeface="Times New Roman" pitchFamily="18" charset="0"/>
                <a:cs typeface="Times New Roman" pitchFamily="18" charset="0"/>
              </a:rPr>
              <a:t> </a:t>
            </a:r>
            <a:endParaRPr lang="en-IN" dirty="0"/>
          </a:p>
        </p:txBody>
      </p:sp>
      <p:sp>
        <p:nvSpPr>
          <p:cNvPr id="3" name="Content Placeholder 2"/>
          <p:cNvSpPr>
            <a:spLocks noGrp="1"/>
          </p:cNvSpPr>
          <p:nvPr>
            <p:ph idx="1"/>
          </p:nvPr>
        </p:nvSpPr>
        <p:spPr/>
        <p:txBody>
          <a:bodyPr>
            <a:normAutofit fontScale="85000" lnSpcReduction="20000"/>
          </a:bodyPr>
          <a:lstStyle/>
          <a:p>
            <a:r>
              <a:rPr lang="en-US" dirty="0">
                <a:latin typeface="Times New Roman" pitchFamily="18" charset="0"/>
                <a:cs typeface="Times New Roman" pitchFamily="18" charset="0"/>
              </a:rPr>
              <a:t>Bluetooth defines two types of networks: </a:t>
            </a:r>
            <a:r>
              <a:rPr lang="en-US" dirty="0" err="1">
                <a:latin typeface="Times New Roman" pitchFamily="18" charset="0"/>
                <a:cs typeface="Times New Roman" pitchFamily="18" charset="0"/>
              </a:rPr>
              <a:t>piconet</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scatternet</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r>
              <a:rPr lang="en-US" dirty="0" err="1">
                <a:solidFill>
                  <a:srgbClr val="0070C0"/>
                </a:solidFill>
                <a:latin typeface="Times New Roman" pitchFamily="18" charset="0"/>
                <a:cs typeface="Times New Roman" pitchFamily="18" charset="0"/>
              </a:rPr>
              <a:t>Piconets</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Bluetooth network is called a </a:t>
            </a:r>
            <a:r>
              <a:rPr lang="en-US" dirty="0" err="1">
                <a:latin typeface="Times New Roman" pitchFamily="18" charset="0"/>
                <a:cs typeface="Times New Roman" pitchFamily="18" charset="0"/>
              </a:rPr>
              <a:t>piconet</a:t>
            </a:r>
            <a:r>
              <a:rPr lang="en-US" dirty="0">
                <a:latin typeface="Times New Roman" pitchFamily="18" charset="0"/>
                <a:cs typeface="Times New Roman" pitchFamily="18" charset="0"/>
              </a:rPr>
              <a:t>, or a small net.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 </a:t>
            </a:r>
            <a:r>
              <a:rPr lang="en-US" dirty="0" err="1">
                <a:latin typeface="Times New Roman" pitchFamily="18" charset="0"/>
                <a:cs typeface="Times New Roman" pitchFamily="18" charset="0"/>
              </a:rPr>
              <a:t>piconet</a:t>
            </a:r>
            <a:r>
              <a:rPr lang="en-US" dirty="0">
                <a:latin typeface="Times New Roman" pitchFamily="18" charset="0"/>
                <a:cs typeface="Times New Roman" pitchFamily="18" charset="0"/>
              </a:rPr>
              <a:t> can have up to eight stations, one of which is called the primary; the rest are called </a:t>
            </a:r>
            <a:r>
              <a:rPr lang="en-US" dirty="0" err="1">
                <a:latin typeface="Times New Roman" pitchFamily="18" charset="0"/>
                <a:cs typeface="Times New Roman" pitchFamily="18" charset="0"/>
              </a:rPr>
              <a:t>secondaries</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All </a:t>
            </a:r>
            <a:r>
              <a:rPr lang="en-US" dirty="0">
                <a:latin typeface="Times New Roman" pitchFamily="18" charset="0"/>
                <a:cs typeface="Times New Roman" pitchFamily="18" charset="0"/>
              </a:rPr>
              <a:t>the </a:t>
            </a:r>
            <a:r>
              <a:rPr lang="en-US" dirty="0" smtClean="0">
                <a:latin typeface="Times New Roman" pitchFamily="18" charset="0"/>
                <a:cs typeface="Times New Roman" pitchFamily="18" charset="0"/>
              </a:rPr>
              <a:t>secondary </a:t>
            </a:r>
            <a:r>
              <a:rPr lang="en-US" dirty="0">
                <a:latin typeface="Times New Roman" pitchFamily="18" charset="0"/>
                <a:cs typeface="Times New Roman" pitchFamily="18" charset="0"/>
              </a:rPr>
              <a:t>stations synchronize their clocks and hopping sequence with the primary.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Note </a:t>
            </a:r>
            <a:r>
              <a:rPr lang="en-US" dirty="0">
                <a:latin typeface="Times New Roman" pitchFamily="18" charset="0"/>
                <a:cs typeface="Times New Roman" pitchFamily="18" charset="0"/>
              </a:rPr>
              <a:t>that a </a:t>
            </a:r>
            <a:r>
              <a:rPr lang="en-US" dirty="0" err="1">
                <a:latin typeface="Times New Roman" pitchFamily="18" charset="0"/>
                <a:cs typeface="Times New Roman" pitchFamily="18" charset="0"/>
              </a:rPr>
              <a:t>piconet</a:t>
            </a:r>
            <a:r>
              <a:rPr lang="en-US" dirty="0">
                <a:latin typeface="Times New Roman" pitchFamily="18" charset="0"/>
                <a:cs typeface="Times New Roman" pitchFamily="18" charset="0"/>
              </a:rPr>
              <a:t> can have only one primary station. The communication between the primary and secondary stations can be one-to-one or one-to-many. Figure 5</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shows a </a:t>
            </a:r>
            <a:r>
              <a:rPr lang="en-US" dirty="0" err="1">
                <a:latin typeface="Times New Roman" pitchFamily="18" charset="0"/>
                <a:cs typeface="Times New Roman" pitchFamily="18" charset="0"/>
              </a:rPr>
              <a:t>piconet</a:t>
            </a:r>
            <a:r>
              <a:rPr lang="en-US" dirty="0">
                <a:latin typeface="Times New Roman" pitchFamily="18" charset="0"/>
                <a:cs typeface="Times New Roman" pitchFamily="18" charset="0"/>
              </a:rPr>
              <a: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21108432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51520" y="-18694"/>
            <a:ext cx="8229600" cy="580926"/>
          </a:xfrm>
        </p:spPr>
        <p:txBody>
          <a:bodyPr>
            <a:noAutofit/>
          </a:bodyPr>
          <a:lstStyle/>
          <a:p>
            <a:r>
              <a:rPr lang="en-US" sz="4000" dirty="0">
                <a:latin typeface="Times New Roman" pitchFamily="18" charset="0"/>
                <a:cs typeface="Times New Roman" pitchFamily="18" charset="0"/>
              </a:rPr>
              <a:t>Bluetooth </a:t>
            </a:r>
            <a:r>
              <a:rPr lang="en-IN" sz="4000" dirty="0" smtClean="0">
                <a:latin typeface="Times New Roman" pitchFamily="18" charset="0"/>
                <a:cs typeface="Times New Roman" pitchFamily="18" charset="0"/>
              </a:rPr>
              <a:t>Architecture: </a:t>
            </a:r>
            <a:r>
              <a:rPr lang="en-US" sz="4000" dirty="0" err="1">
                <a:solidFill>
                  <a:srgbClr val="0070C0"/>
                </a:solidFill>
                <a:latin typeface="Times New Roman" pitchFamily="18" charset="0"/>
                <a:cs typeface="Times New Roman" pitchFamily="18" charset="0"/>
              </a:rPr>
              <a:t>Piconets</a:t>
            </a:r>
            <a:r>
              <a:rPr lang="en-US" sz="4000" dirty="0">
                <a:latin typeface="Times New Roman" pitchFamily="18" charset="0"/>
                <a:cs typeface="Times New Roman" pitchFamily="18" charset="0"/>
              </a:rPr>
              <a:t> </a:t>
            </a:r>
            <a:endParaRPr lang="en-IN" sz="4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5257800"/>
          </a:xfrm>
        </p:spPr>
        <p:txBody>
          <a:bodyPr>
            <a:normAutofit fontScale="92500" lnSpcReduction="20000"/>
          </a:bodyPr>
          <a:lstStyle/>
          <a:p>
            <a:endParaRPr lang="en-US" dirty="0" smtClean="0"/>
          </a:p>
          <a:p>
            <a:endParaRPr lang="en-US" dirty="0"/>
          </a:p>
          <a:p>
            <a:endParaRPr lang="en-US" dirty="0" smtClean="0"/>
          </a:p>
          <a:p>
            <a:endParaRPr lang="en-US" dirty="0"/>
          </a:p>
          <a:p>
            <a:endParaRPr lang="en-US" dirty="0" smtClean="0"/>
          </a:p>
          <a:p>
            <a:r>
              <a:rPr lang="en-US" sz="2600" dirty="0">
                <a:latin typeface="Times New Roman" pitchFamily="18" charset="0"/>
                <a:cs typeface="Times New Roman" pitchFamily="18" charset="0"/>
              </a:rPr>
              <a:t>Although a </a:t>
            </a:r>
            <a:r>
              <a:rPr lang="en-US" sz="2600" dirty="0" err="1">
                <a:latin typeface="Times New Roman" pitchFamily="18" charset="0"/>
                <a:cs typeface="Times New Roman" pitchFamily="18" charset="0"/>
              </a:rPr>
              <a:t>piconet</a:t>
            </a:r>
            <a:r>
              <a:rPr lang="en-US" sz="2600" dirty="0">
                <a:latin typeface="Times New Roman" pitchFamily="18" charset="0"/>
                <a:cs typeface="Times New Roman" pitchFamily="18" charset="0"/>
              </a:rPr>
              <a:t> can have a maximum of seven </a:t>
            </a:r>
            <a:r>
              <a:rPr lang="en-US" sz="2600" dirty="0" err="1">
                <a:latin typeface="Times New Roman" pitchFamily="18" charset="0"/>
                <a:cs typeface="Times New Roman" pitchFamily="18" charset="0"/>
              </a:rPr>
              <a:t>secondaries</a:t>
            </a:r>
            <a:r>
              <a:rPr lang="en-US" sz="2600" dirty="0">
                <a:latin typeface="Times New Roman" pitchFamily="18" charset="0"/>
                <a:cs typeface="Times New Roman" pitchFamily="18" charset="0"/>
              </a:rPr>
              <a:t>, additional </a:t>
            </a:r>
            <a:r>
              <a:rPr lang="en-US" sz="2600" dirty="0" err="1" smtClean="0">
                <a:latin typeface="Times New Roman" pitchFamily="18" charset="0"/>
                <a:cs typeface="Times New Roman" pitchFamily="18" charset="0"/>
              </a:rPr>
              <a:t>secondaries</a:t>
            </a:r>
            <a:r>
              <a:rPr lang="en-US" sz="2600" dirty="0" smtClean="0">
                <a:latin typeface="Times New Roman" pitchFamily="18" charset="0"/>
                <a:cs typeface="Times New Roman" pitchFamily="18" charset="0"/>
              </a:rPr>
              <a:t> </a:t>
            </a:r>
            <a:r>
              <a:rPr lang="en-US" sz="2600" dirty="0">
                <a:latin typeface="Times New Roman" pitchFamily="18" charset="0"/>
                <a:cs typeface="Times New Roman" pitchFamily="18" charset="0"/>
              </a:rPr>
              <a:t>can be in the parked state. </a:t>
            </a:r>
            <a:endParaRPr lang="en-US" sz="2600" dirty="0" smtClean="0">
              <a:latin typeface="Times New Roman" pitchFamily="18" charset="0"/>
              <a:cs typeface="Times New Roman" pitchFamily="18" charset="0"/>
            </a:endParaRPr>
          </a:p>
          <a:p>
            <a:r>
              <a:rPr lang="en-US" sz="2600" dirty="0" smtClean="0">
                <a:latin typeface="Times New Roman" pitchFamily="18" charset="0"/>
                <a:cs typeface="Times New Roman" pitchFamily="18" charset="0"/>
              </a:rPr>
              <a:t>A </a:t>
            </a:r>
            <a:r>
              <a:rPr lang="en-US" sz="2600" dirty="0">
                <a:latin typeface="Times New Roman" pitchFamily="18" charset="0"/>
                <a:cs typeface="Times New Roman" pitchFamily="18" charset="0"/>
              </a:rPr>
              <a:t>secondary in a parked state is synchronized with the primary, but cannot take part in communication until it is moved from the parked state to the active state. </a:t>
            </a:r>
            <a:endParaRPr lang="en-US" sz="2600" dirty="0" smtClean="0">
              <a:latin typeface="Times New Roman" pitchFamily="18" charset="0"/>
              <a:cs typeface="Times New Roman" pitchFamily="18" charset="0"/>
            </a:endParaRPr>
          </a:p>
          <a:p>
            <a:r>
              <a:rPr lang="en-US" sz="2600" dirty="0" smtClean="0">
                <a:latin typeface="Times New Roman" pitchFamily="18" charset="0"/>
                <a:cs typeface="Times New Roman" pitchFamily="18" charset="0"/>
              </a:rPr>
              <a:t>Because </a:t>
            </a:r>
            <a:r>
              <a:rPr lang="en-US" sz="2600" dirty="0">
                <a:latin typeface="Times New Roman" pitchFamily="18" charset="0"/>
                <a:cs typeface="Times New Roman" pitchFamily="18" charset="0"/>
              </a:rPr>
              <a:t>only eight stations can be active in a </a:t>
            </a:r>
            <a:r>
              <a:rPr lang="en-US" sz="2600" dirty="0" err="1">
                <a:latin typeface="Times New Roman" pitchFamily="18" charset="0"/>
                <a:cs typeface="Times New Roman" pitchFamily="18" charset="0"/>
              </a:rPr>
              <a:t>piconet</a:t>
            </a:r>
            <a:r>
              <a:rPr lang="en-US" sz="2600" dirty="0">
                <a:latin typeface="Times New Roman" pitchFamily="18" charset="0"/>
                <a:cs typeface="Times New Roman" pitchFamily="18" charset="0"/>
              </a:rPr>
              <a:t>, activating a station from the parked state means that an active station must go to the parked state</a:t>
            </a:r>
            <a:r>
              <a:rPr lang="en-US" dirty="0"/>
              <a:t>. </a:t>
            </a:r>
            <a:endParaRPr lang="en-IN"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2554" y="589330"/>
            <a:ext cx="5025355" cy="2808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419870" y="3213513"/>
            <a:ext cx="1710725" cy="369332"/>
          </a:xfrm>
          <a:prstGeom prst="rect">
            <a:avLst/>
          </a:prstGeom>
        </p:spPr>
        <p:txBody>
          <a:bodyPr wrap="none">
            <a:spAutoFit/>
          </a:bodyPr>
          <a:lstStyle/>
          <a:p>
            <a:r>
              <a:rPr lang="en-IN" dirty="0" smtClean="0">
                <a:latin typeface="Times New Roman" pitchFamily="18" charset="0"/>
                <a:cs typeface="Times New Roman" pitchFamily="18" charset="0"/>
              </a:rPr>
              <a:t>Figure 5 </a:t>
            </a:r>
            <a:r>
              <a:rPr lang="en-IN" dirty="0" err="1">
                <a:latin typeface="Times New Roman" pitchFamily="18" charset="0"/>
                <a:cs typeface="Times New Roman" pitchFamily="18" charset="0"/>
              </a:rPr>
              <a:t>Piconet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65086598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itchFamily="18" charset="0"/>
                <a:cs typeface="Times New Roman" pitchFamily="18" charset="0"/>
              </a:rPr>
              <a:t>Bluetooth </a:t>
            </a:r>
            <a:r>
              <a:rPr lang="en-IN" sz="4000" dirty="0">
                <a:latin typeface="Times New Roman" pitchFamily="18" charset="0"/>
                <a:cs typeface="Times New Roman" pitchFamily="18" charset="0"/>
              </a:rPr>
              <a:t>Architecture : </a:t>
            </a:r>
            <a:r>
              <a:rPr lang="en-IN" sz="4000" dirty="0" err="1">
                <a:latin typeface="Times New Roman" pitchFamily="18" charset="0"/>
                <a:cs typeface="Times New Roman" pitchFamily="18" charset="0"/>
              </a:rPr>
              <a:t>Scatternet</a:t>
            </a:r>
            <a:endParaRPr lang="en-IN"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r>
              <a:rPr lang="en-US" dirty="0" err="1">
                <a:solidFill>
                  <a:srgbClr val="7030A0"/>
                </a:solidFill>
              </a:rPr>
              <a:t>Scatternet</a:t>
            </a:r>
            <a:r>
              <a:rPr lang="en-US" dirty="0">
                <a:solidFill>
                  <a:srgbClr val="7030A0"/>
                </a:solidFill>
              </a:rPr>
              <a:t> </a:t>
            </a:r>
            <a:endParaRPr lang="en-US" dirty="0" smtClean="0">
              <a:solidFill>
                <a:srgbClr val="7030A0"/>
              </a:solidFill>
            </a:endParaRPr>
          </a:p>
          <a:p>
            <a:r>
              <a:rPr lang="en-US" dirty="0" err="1" smtClean="0">
                <a:solidFill>
                  <a:srgbClr val="0070C0"/>
                </a:solidFill>
                <a:latin typeface="Times New Roman" pitchFamily="18" charset="0"/>
                <a:cs typeface="Times New Roman" pitchFamily="18" charset="0"/>
              </a:rPr>
              <a:t>Piconets</a:t>
            </a:r>
            <a:r>
              <a:rPr lang="en-US" dirty="0" smtClean="0">
                <a:solidFill>
                  <a:srgbClr val="0070C0"/>
                </a:solidFill>
                <a:latin typeface="Times New Roman" pitchFamily="18" charset="0"/>
                <a:cs typeface="Times New Roman" pitchFamily="18" charset="0"/>
              </a:rPr>
              <a:t> </a:t>
            </a:r>
            <a:r>
              <a:rPr lang="en-US" dirty="0">
                <a:solidFill>
                  <a:srgbClr val="0070C0"/>
                </a:solidFill>
                <a:latin typeface="Times New Roman" pitchFamily="18" charset="0"/>
                <a:cs typeface="Times New Roman" pitchFamily="18" charset="0"/>
              </a:rPr>
              <a:t>can be combined to form what is called a </a:t>
            </a:r>
            <a:r>
              <a:rPr lang="en-US" dirty="0" err="1">
                <a:solidFill>
                  <a:srgbClr val="0070C0"/>
                </a:solidFill>
                <a:latin typeface="Times New Roman" pitchFamily="18" charset="0"/>
                <a:cs typeface="Times New Roman" pitchFamily="18" charset="0"/>
              </a:rPr>
              <a:t>scatternet</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secondary station in one </a:t>
            </a:r>
            <a:r>
              <a:rPr lang="en-US" dirty="0" err="1">
                <a:latin typeface="Times New Roman" pitchFamily="18" charset="0"/>
                <a:cs typeface="Times New Roman" pitchFamily="18" charset="0"/>
              </a:rPr>
              <a:t>piconet</a:t>
            </a:r>
            <a:r>
              <a:rPr lang="en-US" dirty="0">
                <a:latin typeface="Times New Roman" pitchFamily="18" charset="0"/>
                <a:cs typeface="Times New Roman" pitchFamily="18" charset="0"/>
              </a:rPr>
              <a:t> can be the primary in another </a:t>
            </a:r>
            <a:r>
              <a:rPr lang="en-US" dirty="0" err="1">
                <a:latin typeface="Times New Roman" pitchFamily="18" charset="0"/>
                <a:cs typeface="Times New Roman" pitchFamily="18" charset="0"/>
              </a:rPr>
              <a:t>piconet</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This </a:t>
            </a:r>
            <a:r>
              <a:rPr lang="en-US" dirty="0">
                <a:latin typeface="Times New Roman" pitchFamily="18" charset="0"/>
                <a:cs typeface="Times New Roman" pitchFamily="18" charset="0"/>
              </a:rPr>
              <a:t>station can receive messages from the primary in the first </a:t>
            </a:r>
            <a:r>
              <a:rPr lang="en-US" dirty="0" err="1">
                <a:latin typeface="Times New Roman" pitchFamily="18" charset="0"/>
                <a:cs typeface="Times New Roman" pitchFamily="18" charset="0"/>
              </a:rPr>
              <a:t>piconet</a:t>
            </a:r>
            <a:r>
              <a:rPr lang="en-US" dirty="0">
                <a:latin typeface="Times New Roman" pitchFamily="18" charset="0"/>
                <a:cs typeface="Times New Roman" pitchFamily="18" charset="0"/>
              </a:rPr>
              <a:t> (as a secondary) and, acting as a primary, deliver them to </a:t>
            </a:r>
            <a:r>
              <a:rPr lang="en-US" dirty="0" err="1">
                <a:latin typeface="Times New Roman" pitchFamily="18" charset="0"/>
                <a:cs typeface="Times New Roman" pitchFamily="18" charset="0"/>
              </a:rPr>
              <a:t>secondaries</a:t>
            </a:r>
            <a:r>
              <a:rPr lang="en-US" dirty="0">
                <a:latin typeface="Times New Roman" pitchFamily="18" charset="0"/>
                <a:cs typeface="Times New Roman" pitchFamily="18" charset="0"/>
              </a:rPr>
              <a:t> in the second </a:t>
            </a:r>
            <a:r>
              <a:rPr lang="en-US" dirty="0" err="1">
                <a:latin typeface="Times New Roman" pitchFamily="18" charset="0"/>
                <a:cs typeface="Times New Roman" pitchFamily="18" charset="0"/>
              </a:rPr>
              <a:t>piconet</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A station can be a member of two </a:t>
            </a:r>
            <a:r>
              <a:rPr lang="en-US" dirty="0" err="1">
                <a:latin typeface="Times New Roman" pitchFamily="18" charset="0"/>
                <a:cs typeface="Times New Roman" pitchFamily="18" charset="0"/>
              </a:rPr>
              <a:t>piconets</a:t>
            </a:r>
            <a:r>
              <a:rPr lang="en-US" dirty="0">
                <a:latin typeface="Times New Roman" pitchFamily="18" charset="0"/>
                <a:cs typeface="Times New Roman" pitchFamily="18" charset="0"/>
              </a:rPr>
              <a:t>. Figure </a:t>
            </a:r>
            <a:r>
              <a:rPr lang="en-US" dirty="0" smtClean="0">
                <a:latin typeface="Times New Roman" pitchFamily="18" charset="0"/>
                <a:cs typeface="Times New Roman" pitchFamily="18" charset="0"/>
              </a:rPr>
              <a:t>6 </a:t>
            </a:r>
            <a:r>
              <a:rPr lang="en-US" dirty="0">
                <a:latin typeface="Times New Roman" pitchFamily="18" charset="0"/>
                <a:cs typeface="Times New Roman" pitchFamily="18" charset="0"/>
              </a:rPr>
              <a:t>illustrates a </a:t>
            </a:r>
            <a:r>
              <a:rPr lang="en-US" dirty="0" err="1">
                <a:latin typeface="Times New Roman" pitchFamily="18" charset="0"/>
                <a:cs typeface="Times New Roman" pitchFamily="18" charset="0"/>
              </a:rPr>
              <a:t>scatternet</a:t>
            </a:r>
            <a:r>
              <a:rPr lang="en-US" dirty="0"/>
              <a:t>.</a:t>
            </a:r>
            <a:r>
              <a:rPr lang="en-US" dirty="0" smtClean="0">
                <a:latin typeface="Times New Roman" pitchFamily="18" charset="0"/>
                <a:cs typeface="Times New Roman" pitchFamily="18" charset="0"/>
              </a:rPr>
              <a:t> </a:t>
            </a:r>
            <a:endParaRPr lang="en-IN" dirty="0"/>
          </a:p>
        </p:txBody>
      </p:sp>
    </p:spTree>
    <p:extLst>
      <p:ext uri="{BB962C8B-B14F-4D97-AF65-F5344CB8AC3E}">
        <p14:creationId xmlns:p14="http://schemas.microsoft.com/office/powerpoint/2010/main" val="377402132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Bluetooth </a:t>
            </a:r>
            <a:r>
              <a:rPr lang="en-IN" dirty="0">
                <a:latin typeface="Times New Roman" pitchFamily="18" charset="0"/>
                <a:cs typeface="Times New Roman" pitchFamily="18" charset="0"/>
              </a:rPr>
              <a:t>Architecture : </a:t>
            </a:r>
            <a:r>
              <a:rPr lang="en-IN" dirty="0" err="1">
                <a:latin typeface="Times New Roman" pitchFamily="18" charset="0"/>
                <a:cs typeface="Times New Roman" pitchFamily="18" charset="0"/>
              </a:rPr>
              <a:t>Scatternet</a:t>
            </a:r>
            <a:endParaRPr lang="en-IN" dirty="0"/>
          </a:p>
        </p:txBody>
      </p:sp>
      <p:sp>
        <p:nvSpPr>
          <p:cNvPr id="3" name="Content Placeholder 2"/>
          <p:cNvSpPr>
            <a:spLocks noGrp="1"/>
          </p:cNvSpPr>
          <p:nvPr>
            <p:ph idx="1"/>
          </p:nvPr>
        </p:nvSpPr>
        <p:spPr/>
        <p:txBody>
          <a:bodyPr/>
          <a:lstStyle/>
          <a:p>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885950"/>
            <a:ext cx="6987999" cy="3127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627784" y="5373216"/>
            <a:ext cx="1956369" cy="369332"/>
          </a:xfrm>
          <a:prstGeom prst="rect">
            <a:avLst/>
          </a:prstGeom>
        </p:spPr>
        <p:txBody>
          <a:bodyPr wrap="none">
            <a:spAutoFit/>
          </a:bodyPr>
          <a:lstStyle/>
          <a:p>
            <a:r>
              <a:rPr lang="en-IN" dirty="0"/>
              <a:t>Figure 6</a:t>
            </a:r>
            <a:r>
              <a:rPr lang="en-IN" dirty="0" smtClean="0"/>
              <a:t> </a:t>
            </a:r>
            <a:r>
              <a:rPr lang="en-IN" dirty="0" err="1"/>
              <a:t>Scatternet</a:t>
            </a:r>
            <a:endParaRPr lang="en-IN" dirty="0"/>
          </a:p>
        </p:txBody>
      </p:sp>
    </p:spTree>
    <p:extLst>
      <p:ext uri="{BB962C8B-B14F-4D97-AF65-F5344CB8AC3E}">
        <p14:creationId xmlns:p14="http://schemas.microsoft.com/office/powerpoint/2010/main" val="65182705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Bluetooth Devices</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Bluetooth device has a built-in short-range radio transmitter.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current data rate is 1 Mbps with a 2.4-GHz bandwidth.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This </a:t>
            </a:r>
            <a:r>
              <a:rPr lang="en-US" dirty="0">
                <a:latin typeface="Times New Roman" pitchFamily="18" charset="0"/>
                <a:cs typeface="Times New Roman" pitchFamily="18" charset="0"/>
              </a:rPr>
              <a:t>means that there is a possibility of interference between the IEEE 802.11b wireless LANs and Bluetooth LANs.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28403228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847</TotalTime>
  <Words>3526</Words>
  <Application>Microsoft Office PowerPoint</Application>
  <PresentationFormat>On-screen Show (4:3)</PresentationFormat>
  <Paragraphs>268</Paragraphs>
  <Slides>49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Times New Roman</vt:lpstr>
      <vt:lpstr>Office Theme</vt:lpstr>
      <vt:lpstr>Multiple Access Networks (IEEE 802.3)</vt:lpstr>
      <vt:lpstr>PowerPoint Presentation</vt:lpstr>
      <vt:lpstr>Ethernet Evolution (IEEE 802.3) </vt:lpstr>
      <vt:lpstr>Ethernet evolution through four generation</vt:lpstr>
      <vt:lpstr>STANDARD ETHERNET: Characteristics</vt:lpstr>
      <vt:lpstr>STANDARD ETHERNET : Characteristics</vt:lpstr>
      <vt:lpstr>STANDARD ETHERNET : Characteristics</vt:lpstr>
      <vt:lpstr>STANDARD ETHERNET : Characteristics</vt:lpstr>
      <vt:lpstr>STANDARD ETHERNET : Characteristics</vt:lpstr>
      <vt:lpstr>STANDARD ETHERNET : Characteristics</vt:lpstr>
      <vt:lpstr>STANDARD ETHERNET : Characteristics</vt:lpstr>
      <vt:lpstr>Efficiency of Standard Ethernet</vt:lpstr>
      <vt:lpstr>Implementation</vt:lpstr>
      <vt:lpstr>FAST ETHERNET (100 Mbps)</vt:lpstr>
      <vt:lpstr>FAST ETHERNET (100 Mbps)</vt:lpstr>
      <vt:lpstr>Fast Ethernet implementations</vt:lpstr>
      <vt:lpstr>GIGABIT ETHERNET</vt:lpstr>
      <vt:lpstr>GIGABIT ETHERNET</vt:lpstr>
      <vt:lpstr>MAC Sublayer</vt:lpstr>
      <vt:lpstr>Implementation Summary</vt:lpstr>
      <vt:lpstr>10 GIGABIT ETHERNET</vt:lpstr>
      <vt:lpstr>Implementation of 10 GIGABIT ETHERNET</vt:lpstr>
      <vt:lpstr>Token Ring (IEEE 802.5) </vt:lpstr>
      <vt:lpstr>Token Ring (IEEE 802.5) </vt:lpstr>
      <vt:lpstr>Token Ring (IEEE 802.5) </vt:lpstr>
      <vt:lpstr>Token Ring (IEEE 802.5) - Access Method: Token Passing</vt:lpstr>
      <vt:lpstr>Fig. 1 Token Passing</vt:lpstr>
      <vt:lpstr>Token Ring (IEEE 802.5) - Access Method: Token Passing</vt:lpstr>
      <vt:lpstr>PowerPoint Presentation</vt:lpstr>
      <vt:lpstr>Wireless LAN IEEE 802.11</vt:lpstr>
      <vt:lpstr>Architecture Wireless LAN IEEE 802.11 </vt:lpstr>
      <vt:lpstr>Basic service sets (BSSs) </vt:lpstr>
      <vt:lpstr>Extended Service Set</vt:lpstr>
      <vt:lpstr>Extended Service Set</vt:lpstr>
      <vt:lpstr>Station Types</vt:lpstr>
      <vt:lpstr>MAC Sublayer</vt:lpstr>
      <vt:lpstr>Distributed Coordination Function</vt:lpstr>
      <vt:lpstr>Figure 4 CSMA/CA and NAV</vt:lpstr>
      <vt:lpstr>Network Allocation Vector</vt:lpstr>
      <vt:lpstr>Collision During Handshaking </vt:lpstr>
      <vt:lpstr>Hidden-Station Problem</vt:lpstr>
      <vt:lpstr>PowerPoint Presentation</vt:lpstr>
      <vt:lpstr>IEEE 802.15 - Bluetooth</vt:lpstr>
      <vt:lpstr>IEEE 802.15 - Bluetooth</vt:lpstr>
      <vt:lpstr>Bluetooth Architecture : Piconets </vt:lpstr>
      <vt:lpstr>Bluetooth Architecture: Piconets </vt:lpstr>
      <vt:lpstr>Bluetooth Architecture : Scatternet</vt:lpstr>
      <vt:lpstr>Bluetooth Architecture : Scatternet</vt:lpstr>
      <vt:lpstr>Bluetooth Devices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Multiple Access Networks (IEEE 802.3)</dc:title>
  <dc:creator>Admin</dc:creator>
  <cp:lastModifiedBy>Arivoli Vijay</cp:lastModifiedBy>
  <cp:revision>84</cp:revision>
  <dcterms:created xsi:type="dcterms:W3CDTF">2021-04-03T10:18:51Z</dcterms:created>
  <dcterms:modified xsi:type="dcterms:W3CDTF">2024-09-26T07:10:14Z</dcterms:modified>
</cp:coreProperties>
</file>