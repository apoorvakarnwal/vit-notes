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89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312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94327" y="307924"/>
            <a:ext cx="4403344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Arial Black"/>
                <a:cs typeface="Arial Black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939" y="1714461"/>
            <a:ext cx="10358120" cy="3989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mainnamestat.com/statistics/tldtype/generic" TargetMode="External"/><Relationship Id="rId2" Type="http://schemas.openxmlformats.org/officeDocument/2006/relationships/hyperlink" Target="https://domainnamestat.com/statistics/tldtype/new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mainnamestat.com/statistics/tldtype/all" TargetMode="External"/><Relationship Id="rId4" Type="http://schemas.openxmlformats.org/officeDocument/2006/relationships/hyperlink" Target="https://domainnamestat.com/statistics/tldtype/country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Relationship Id="rId14" Type="http://schemas.openxmlformats.org/officeDocument/2006/relationships/image" Target="../media/image2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9.png"/><Relationship Id="rId21" Type="http://schemas.openxmlformats.org/officeDocument/2006/relationships/image" Target="../media/image57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17" Type="http://schemas.openxmlformats.org/officeDocument/2006/relationships/image" Target="../media/image53.png"/><Relationship Id="rId2" Type="http://schemas.openxmlformats.org/officeDocument/2006/relationships/image" Target="../media/image38.jpg"/><Relationship Id="rId16" Type="http://schemas.openxmlformats.org/officeDocument/2006/relationships/image" Target="../media/image52.png"/><Relationship Id="rId20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19" Type="http://schemas.openxmlformats.org/officeDocument/2006/relationships/image" Target="../media/image55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Relationship Id="rId22" Type="http://schemas.openxmlformats.org/officeDocument/2006/relationships/image" Target="../media/image58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26" Type="http://schemas.openxmlformats.org/officeDocument/2006/relationships/image" Target="../media/image82.png"/><Relationship Id="rId3" Type="http://schemas.openxmlformats.org/officeDocument/2006/relationships/image" Target="../media/image59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5" Type="http://schemas.openxmlformats.org/officeDocument/2006/relationships/image" Target="../media/image81.png"/><Relationship Id="rId2" Type="http://schemas.openxmlformats.org/officeDocument/2006/relationships/image" Target="../media/image38.jpg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29" Type="http://schemas.openxmlformats.org/officeDocument/2006/relationships/image" Target="../media/image8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24" Type="http://schemas.openxmlformats.org/officeDocument/2006/relationships/image" Target="../media/image80.png"/><Relationship Id="rId32" Type="http://schemas.openxmlformats.org/officeDocument/2006/relationships/image" Target="../media/image88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23" Type="http://schemas.openxmlformats.org/officeDocument/2006/relationships/image" Target="../media/image79.png"/><Relationship Id="rId28" Type="http://schemas.openxmlformats.org/officeDocument/2006/relationships/image" Target="../media/image84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31" Type="http://schemas.openxmlformats.org/officeDocument/2006/relationships/image" Target="../media/image87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Relationship Id="rId27" Type="http://schemas.openxmlformats.org/officeDocument/2006/relationships/image" Target="../media/image83.png"/><Relationship Id="rId30" Type="http://schemas.openxmlformats.org/officeDocument/2006/relationships/image" Target="../media/image86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916939" y="6426809"/>
            <a:ext cx="68770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7</a:t>
            </a:r>
            <a:r>
              <a:rPr sz="1200" spc="5" dirty="0">
                <a:solidFill>
                  <a:srgbClr val="888888"/>
                </a:solidFill>
                <a:latin typeface="Carlito"/>
                <a:cs typeface="Carlito"/>
              </a:rPr>
              <a:t>/</a:t>
            </a:r>
            <a:r>
              <a:rPr sz="1200" dirty="0">
                <a:solidFill>
                  <a:srgbClr val="888888"/>
                </a:solidFill>
                <a:latin typeface="Carlito"/>
                <a:cs typeface="Carlito"/>
              </a:rPr>
              <a:t>23/2020</a:t>
            </a:r>
            <a:endParaRPr sz="1200">
              <a:latin typeface="Carlito"/>
              <a:cs typeface="Carlit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67200" y="2133600"/>
            <a:ext cx="5574792" cy="7521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4800" b="1" i="1" dirty="0" smtClean="0">
                <a:latin typeface="Times New Roman"/>
                <a:cs typeface="Times New Roman"/>
              </a:rPr>
              <a:t>Domain </a:t>
            </a:r>
            <a:r>
              <a:rPr sz="4800" b="1" i="1" dirty="0">
                <a:latin typeface="Times New Roman"/>
                <a:cs typeface="Times New Roman"/>
              </a:rPr>
              <a:t>Name</a:t>
            </a:r>
            <a:r>
              <a:rPr sz="4800" b="1" i="1" spc="-114" dirty="0">
                <a:latin typeface="Times New Roman"/>
                <a:cs typeface="Times New Roman"/>
              </a:rPr>
              <a:t> </a:t>
            </a:r>
            <a:r>
              <a:rPr sz="4800" b="1" i="1" dirty="0">
                <a:latin typeface="Times New Roman"/>
                <a:cs typeface="Times New Roman"/>
              </a:rPr>
              <a:t>System</a:t>
            </a:r>
            <a:endParaRPr sz="48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84985" y="99441"/>
            <a:ext cx="8620760" cy="1183640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053465" marR="5080" indent="-1041400">
              <a:lnSpc>
                <a:spcPts val="4320"/>
              </a:lnSpc>
              <a:spcBef>
                <a:spcPts val="640"/>
              </a:spcBef>
            </a:pPr>
            <a:r>
              <a:rPr sz="4000" spc="25" dirty="0"/>
              <a:t>The </a:t>
            </a:r>
            <a:r>
              <a:rPr sz="4000" spc="-30" dirty="0"/>
              <a:t>overall </a:t>
            </a:r>
            <a:r>
              <a:rPr sz="4000" spc="-5" dirty="0"/>
              <a:t>number of domains  </a:t>
            </a:r>
            <a:r>
              <a:rPr sz="4000" spc="15" dirty="0"/>
              <a:t>registered, </a:t>
            </a:r>
            <a:r>
              <a:rPr sz="4000" spc="-5" dirty="0"/>
              <a:t>by </a:t>
            </a:r>
            <a:r>
              <a:rPr sz="4000" spc="-10" dirty="0"/>
              <a:t>TLD</a:t>
            </a:r>
            <a:r>
              <a:rPr sz="4000" spc="-35" dirty="0"/>
              <a:t> </a:t>
            </a:r>
            <a:r>
              <a:rPr sz="4000" spc="-5" dirty="0"/>
              <a:t>type</a:t>
            </a:r>
            <a:endParaRPr sz="40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609600" y="2366962"/>
          <a:ext cx="10963908" cy="363219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31390"/>
                <a:gridCol w="1612264"/>
                <a:gridCol w="1914525"/>
                <a:gridCol w="2472054"/>
                <a:gridCol w="2733675"/>
              </a:tblGrid>
              <a:tr h="794512">
                <a:tc>
                  <a:txBody>
                    <a:bodyPr/>
                    <a:lstStyle/>
                    <a:p>
                      <a:pPr marL="322580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1700" spc="-5" dirty="0">
                          <a:latin typeface="Arial Black"/>
                          <a:cs typeface="Arial Black"/>
                        </a:rPr>
                        <a:t>Type 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of</a:t>
                      </a:r>
                      <a:r>
                        <a:rPr sz="1700" spc="5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TLD</a:t>
                      </a:r>
                    </a:p>
                  </a:txBody>
                  <a:tcPr marL="0" marR="0" marT="255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marL="322580" marR="354965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Numb</a:t>
                      </a:r>
                      <a:r>
                        <a:rPr sz="1700" spc="5" dirty="0">
                          <a:latin typeface="Arial Black"/>
                          <a:cs typeface="Arial Black"/>
                        </a:rPr>
                        <a:t>e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r  of</a:t>
                      </a:r>
                      <a:r>
                        <a:rPr sz="1700" spc="1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TLDs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2573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marL="323215" marR="356870">
                        <a:lnSpc>
                          <a:spcPct val="100000"/>
                        </a:lnSpc>
                        <a:spcBef>
                          <a:spcPts val="990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Domains  </a:t>
                      </a:r>
                      <a:r>
                        <a:rPr sz="1700" spc="20" dirty="0"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1700" spc="45" dirty="0">
                          <a:latin typeface="Arial Black"/>
                          <a:cs typeface="Arial Black"/>
                        </a:rPr>
                        <a:t>e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giste</a:t>
                      </a:r>
                      <a:r>
                        <a:rPr sz="1700" spc="20" dirty="0">
                          <a:latin typeface="Arial Black"/>
                          <a:cs typeface="Arial Black"/>
                        </a:rPr>
                        <a:t>r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ed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12573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Signed</a:t>
                      </a:r>
                      <a:r>
                        <a:rPr sz="17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zones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255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EF6FC"/>
                    </a:solidFill>
                  </a:tcPr>
                </a:tc>
                <a:tc>
                  <a:txBody>
                    <a:bodyPr/>
                    <a:lstStyle/>
                    <a:p>
                      <a:pPr marL="323215">
                        <a:lnSpc>
                          <a:spcPct val="100000"/>
                        </a:lnSpc>
                        <a:spcBef>
                          <a:spcPts val="2010"/>
                        </a:spcBef>
                      </a:pPr>
                      <a:r>
                        <a:rPr sz="1700" dirty="0">
                          <a:latin typeface="Arial Black"/>
                          <a:cs typeface="Arial Black"/>
                        </a:rPr>
                        <a:t>Upcoming</a:t>
                      </a:r>
                      <a:r>
                        <a:rPr sz="1700" spc="-35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1700" dirty="0">
                          <a:latin typeface="Arial Black"/>
                          <a:cs typeface="Arial Black"/>
                        </a:rPr>
                        <a:t>deletes</a:t>
                      </a:r>
                      <a:endParaRPr sz="1700">
                        <a:latin typeface="Arial Black"/>
                        <a:cs typeface="Arial Black"/>
                      </a:endParaRPr>
                    </a:p>
                  </a:txBody>
                  <a:tcPr marL="0" marR="0" marT="255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  <a:solidFill>
                      <a:srgbClr val="EEF6FC"/>
                    </a:solidFill>
                  </a:tcPr>
                </a:tc>
              </a:tr>
              <a:tr h="70942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 dirty="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2"/>
                        </a:rPr>
                        <a:t>New</a:t>
                      </a:r>
                      <a:r>
                        <a:rPr sz="1700" u="heavy" spc="-1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2"/>
                        </a:rPr>
                        <a:t> </a:t>
                      </a:r>
                      <a:r>
                        <a:rPr sz="17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2"/>
                        </a:rPr>
                        <a:t>gTLDs</a:t>
                      </a:r>
                      <a:endParaRPr sz="1700" dirty="0">
                        <a:latin typeface="Carlito"/>
                        <a:cs typeface="Carlito"/>
                      </a:endParaRPr>
                    </a:p>
                  </a:txBody>
                  <a:tcPr marL="0" marR="0" marT="635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1,248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635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62,839,600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635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302,681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635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6,416,786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635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 dirty="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3"/>
                        </a:rPr>
                        <a:t>Generic</a:t>
                      </a:r>
                      <a:r>
                        <a:rPr sz="1700" u="heavy" spc="-30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3"/>
                        </a:rPr>
                        <a:t> </a:t>
                      </a:r>
                      <a:r>
                        <a:rPr sz="1700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3"/>
                        </a:rPr>
                        <a:t>TLDs</a:t>
                      </a:r>
                      <a:endParaRPr sz="1700" dirty="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198,747,533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3,278,842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7,391,689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4"/>
                        </a:rPr>
                        <a:t>Country</a:t>
                      </a:r>
                      <a:r>
                        <a:rPr sz="1700" u="heavy" spc="-3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4"/>
                        </a:rPr>
                        <a:t> </a:t>
                      </a:r>
                      <a:r>
                        <a:rPr sz="1700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4"/>
                        </a:rPr>
                        <a:t>TLDs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315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148,821,163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3,815,035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1,831,826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  <a:tr h="70942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u="heavy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5"/>
                        </a:rPr>
                        <a:t>All</a:t>
                      </a:r>
                      <a:r>
                        <a:rPr sz="1700" u="heavy" spc="-1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5"/>
                        </a:rPr>
                        <a:t> </a:t>
                      </a:r>
                      <a:r>
                        <a:rPr sz="1700" u="heavy" spc="-5" dirty="0">
                          <a:solidFill>
                            <a:srgbClr val="0462C1"/>
                          </a:solidFill>
                          <a:uFill>
                            <a:solidFill>
                              <a:srgbClr val="0462C1"/>
                            </a:solidFill>
                          </a:uFill>
                          <a:latin typeface="Carlito"/>
                          <a:cs typeface="Carlito"/>
                          <a:hlinkClick r:id="rId5"/>
                        </a:rPr>
                        <a:t>TLDs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2580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1,571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410,408,296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7,396,558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450">
                        <a:latin typeface="Times New Roman"/>
                        <a:cs typeface="Times New Roman"/>
                      </a:endParaRPr>
                    </a:p>
                    <a:p>
                      <a:pPr marL="323215">
                        <a:lnSpc>
                          <a:spcPct val="100000"/>
                        </a:lnSpc>
                      </a:pPr>
                      <a:r>
                        <a:rPr sz="1700" dirty="0">
                          <a:latin typeface="Carlito"/>
                          <a:cs typeface="Carlito"/>
                        </a:rPr>
                        <a:t>15,640,301</a:t>
                      </a:r>
                      <a:endParaRPr sz="1700">
                        <a:latin typeface="Carlito"/>
                        <a:cs typeface="Carlito"/>
                      </a:endParaRPr>
                    </a:p>
                  </a:txBody>
                  <a:tcPr marL="0" marR="0" marT="1270" marB="0">
                    <a:lnL w="9525">
                      <a:solidFill>
                        <a:srgbClr val="D9E2E8"/>
                      </a:solidFill>
                      <a:prstDash val="solid"/>
                    </a:lnL>
                    <a:lnR w="9525">
                      <a:solidFill>
                        <a:srgbClr val="D9E2E8"/>
                      </a:solidFill>
                      <a:prstDash val="solid"/>
                    </a:lnR>
                    <a:lnT w="9525">
                      <a:solidFill>
                        <a:srgbClr val="D9E2E8"/>
                      </a:solidFill>
                      <a:prstDash val="solid"/>
                    </a:lnT>
                    <a:lnB w="9525">
                      <a:solidFill>
                        <a:srgbClr val="D9E2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4360926" y="6508191"/>
            <a:ext cx="284099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5" dirty="0">
                <a:latin typeface="Carlito"/>
                <a:cs typeface="Carlito"/>
              </a:rPr>
              <a:t>Sou</a:t>
            </a:r>
            <a:r>
              <a:rPr sz="1800" spc="-25" dirty="0">
                <a:latin typeface="Carlito"/>
                <a:cs typeface="Carlito"/>
              </a:rPr>
              <a:t>r</a:t>
            </a:r>
            <a:r>
              <a:rPr sz="1800" spc="-10" dirty="0">
                <a:latin typeface="Carlito"/>
                <a:cs typeface="Carlito"/>
              </a:rPr>
              <a:t>c</a:t>
            </a:r>
            <a:r>
              <a:rPr sz="1800" dirty="0">
                <a:latin typeface="Carlito"/>
                <a:cs typeface="Carlito"/>
              </a:rPr>
              <a:t>e:do</a:t>
            </a:r>
            <a:r>
              <a:rPr sz="1800" spc="5" dirty="0">
                <a:latin typeface="Carlito"/>
                <a:cs typeface="Carlito"/>
              </a:rPr>
              <a:t>m</a:t>
            </a:r>
            <a:r>
              <a:rPr sz="1800" dirty="0">
                <a:latin typeface="Carlito"/>
                <a:cs typeface="Carlito"/>
              </a:rPr>
              <a:t>ainna</a:t>
            </a:r>
            <a:r>
              <a:rPr sz="1800" spc="5" dirty="0">
                <a:latin typeface="Carlito"/>
                <a:cs typeface="Carlito"/>
              </a:rPr>
              <a:t>m</a:t>
            </a:r>
            <a:r>
              <a:rPr sz="1800" dirty="0">
                <a:latin typeface="Carlito"/>
                <a:cs typeface="Carlito"/>
              </a:rPr>
              <a:t>e</a:t>
            </a:r>
            <a:r>
              <a:rPr sz="1800" spc="-20" dirty="0">
                <a:latin typeface="Carlito"/>
                <a:cs typeface="Carlito"/>
              </a:rPr>
              <a:t>s</a:t>
            </a:r>
            <a:r>
              <a:rPr sz="1800" spc="-30" dirty="0">
                <a:latin typeface="Carlito"/>
                <a:cs typeface="Carlito"/>
              </a:rPr>
              <a:t>t</a:t>
            </a:r>
            <a:r>
              <a:rPr sz="1800" spc="-15" dirty="0">
                <a:latin typeface="Carlito"/>
                <a:cs typeface="Carlito"/>
              </a:rPr>
              <a:t>a</a:t>
            </a:r>
            <a:r>
              <a:rPr sz="1800" dirty="0">
                <a:latin typeface="Carlito"/>
                <a:cs typeface="Carlito"/>
              </a:rPr>
              <a:t>t.</a:t>
            </a:r>
            <a:r>
              <a:rPr sz="1800" spc="-20" dirty="0">
                <a:latin typeface="Carlito"/>
                <a:cs typeface="Carlito"/>
              </a:rPr>
              <a:t>c</a:t>
            </a:r>
            <a:r>
              <a:rPr sz="1800" spc="-5" dirty="0">
                <a:latin typeface="Carlito"/>
                <a:cs typeface="Carlito"/>
              </a:rPr>
              <a:t>o</a:t>
            </a:r>
            <a:r>
              <a:rPr sz="1800" dirty="0">
                <a:latin typeface="Carlito"/>
                <a:cs typeface="Carlito"/>
              </a:rPr>
              <a:t>m/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53588" y="365759"/>
            <a:ext cx="10823043" cy="6364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4494021" y="6409131"/>
            <a:ext cx="2522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rlito"/>
                <a:cs typeface="Carlito"/>
              </a:rPr>
              <a:t>Source:domainnamestat.com/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2357" y="567309"/>
            <a:ext cx="952373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spc="-70" dirty="0"/>
              <a:t>Top </a:t>
            </a:r>
            <a:r>
              <a:rPr sz="2800" spc="-5" dirty="0"/>
              <a:t>5 </a:t>
            </a:r>
            <a:r>
              <a:rPr sz="2800" spc="-10" dirty="0"/>
              <a:t>Domain name </a:t>
            </a:r>
            <a:r>
              <a:rPr sz="2800" dirty="0"/>
              <a:t>registrations, </a:t>
            </a:r>
            <a:r>
              <a:rPr sz="2800" spc="-5" dirty="0"/>
              <a:t>by </a:t>
            </a:r>
            <a:r>
              <a:rPr sz="2800" spc="-10" dirty="0"/>
              <a:t>the</a:t>
            </a:r>
            <a:r>
              <a:rPr sz="2800" spc="185" dirty="0"/>
              <a:t> </a:t>
            </a:r>
            <a:r>
              <a:rPr sz="2800" spc="10" dirty="0"/>
              <a:t>country</a:t>
            </a:r>
            <a:endParaRPr sz="2800"/>
          </a:p>
        </p:txBody>
      </p:sp>
      <p:sp>
        <p:nvSpPr>
          <p:cNvPr id="3" name="object 3"/>
          <p:cNvSpPr/>
          <p:nvPr/>
        </p:nvSpPr>
        <p:spPr>
          <a:xfrm>
            <a:off x="300227" y="1098803"/>
            <a:ext cx="11609276" cy="565861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4494021" y="6409131"/>
            <a:ext cx="252285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rlito"/>
                <a:cs typeface="Carlito"/>
              </a:rPr>
              <a:t>Source:domainnamestat.com/</a:t>
            </a:r>
            <a:endParaRPr sz="16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128772" y="352043"/>
            <a:ext cx="8359140" cy="614629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53923" y="304800"/>
            <a:ext cx="2875788" cy="294741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131308" y="190901"/>
            <a:ext cx="2103120" cy="409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108194" y="34543"/>
            <a:ext cx="212280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45" dirty="0"/>
              <a:t>T</a:t>
            </a:r>
            <a:r>
              <a:rPr sz="4000" spc="-5" dirty="0"/>
              <a:t>OPICS</a:t>
            </a:r>
            <a:endParaRPr sz="4000"/>
          </a:p>
        </p:txBody>
      </p:sp>
      <p:grpSp>
        <p:nvGrpSpPr>
          <p:cNvPr id="4" name="object 4"/>
          <p:cNvGrpSpPr/>
          <p:nvPr/>
        </p:nvGrpSpPr>
        <p:grpSpPr>
          <a:xfrm>
            <a:off x="573023" y="1131256"/>
            <a:ext cx="4025265" cy="5126355"/>
            <a:chOff x="573023" y="1131256"/>
            <a:chExt cx="4025265" cy="5126355"/>
          </a:xfrm>
        </p:grpSpPr>
        <p:sp>
          <p:nvSpPr>
            <p:cNvPr id="5" name="object 5"/>
            <p:cNvSpPr/>
            <p:nvPr/>
          </p:nvSpPr>
          <p:spPr>
            <a:xfrm>
              <a:off x="1110995" y="1131256"/>
              <a:ext cx="2404872" cy="3114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786383" y="1449324"/>
              <a:ext cx="2851404" cy="90220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739139" y="2080260"/>
              <a:ext cx="3858767" cy="90220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67511" y="2663952"/>
              <a:ext cx="2319528" cy="90220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38555" y="3249167"/>
              <a:ext cx="3081527" cy="90220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573023" y="3852672"/>
              <a:ext cx="3540252" cy="902207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73023" y="4445507"/>
              <a:ext cx="2263140" cy="90220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29055" y="5895288"/>
              <a:ext cx="2793492" cy="361799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573023" y="5021580"/>
              <a:ext cx="1569720" cy="90220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766978" y="901695"/>
            <a:ext cx="3559810" cy="53714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72415" marR="879475" indent="40005">
              <a:lnSpc>
                <a:spcPct val="114599"/>
              </a:lnSpc>
              <a:spcBef>
                <a:spcPts val="90"/>
              </a:spcBef>
            </a:pPr>
            <a:r>
              <a:rPr sz="3350" i="1" spc="-290" dirty="0">
                <a:latin typeface="Arial"/>
                <a:cs typeface="Arial"/>
              </a:rPr>
              <a:t>Need </a:t>
            </a:r>
            <a:r>
              <a:rPr sz="3350" i="1" spc="-65" dirty="0">
                <a:latin typeface="Arial"/>
                <a:cs typeface="Arial"/>
              </a:rPr>
              <a:t>for </a:t>
            </a:r>
            <a:r>
              <a:rPr sz="3350" i="1" spc="-345" dirty="0">
                <a:latin typeface="Arial"/>
                <a:cs typeface="Arial"/>
              </a:rPr>
              <a:t>DNS  </a:t>
            </a:r>
            <a:r>
              <a:rPr sz="3350" i="1" spc="-355" dirty="0">
                <a:latin typeface="Arial"/>
                <a:cs typeface="Arial"/>
              </a:rPr>
              <a:t>Name</a:t>
            </a:r>
            <a:r>
              <a:rPr sz="3350" i="1" spc="-10" dirty="0">
                <a:latin typeface="Arial"/>
                <a:cs typeface="Arial"/>
              </a:rPr>
              <a:t> </a:t>
            </a:r>
            <a:r>
              <a:rPr sz="3350" i="1" spc="-245" dirty="0">
                <a:latin typeface="Arial"/>
                <a:cs typeface="Arial"/>
              </a:rPr>
              <a:t>Spaces</a:t>
            </a:r>
            <a:endParaRPr sz="3350">
              <a:latin typeface="Arial"/>
              <a:cs typeface="Arial"/>
            </a:endParaRPr>
          </a:p>
          <a:p>
            <a:pPr marL="152400" marR="5080" indent="72390">
              <a:lnSpc>
                <a:spcPct val="114599"/>
              </a:lnSpc>
              <a:spcBef>
                <a:spcPts val="359"/>
              </a:spcBef>
            </a:pPr>
            <a:r>
              <a:rPr sz="3350" i="1" spc="-345" dirty="0">
                <a:latin typeface="Arial"/>
                <a:cs typeface="Arial"/>
              </a:rPr>
              <a:t>DNS </a:t>
            </a:r>
            <a:r>
              <a:rPr sz="3350" i="1" spc="-165" dirty="0">
                <a:latin typeface="Arial"/>
                <a:cs typeface="Arial"/>
              </a:rPr>
              <a:t>in </a:t>
            </a:r>
            <a:r>
              <a:rPr sz="3350" i="1" spc="-110" dirty="0">
                <a:latin typeface="Arial"/>
                <a:cs typeface="Arial"/>
              </a:rPr>
              <a:t>the </a:t>
            </a:r>
            <a:r>
              <a:rPr sz="3350" i="1" spc="-105" dirty="0">
                <a:latin typeface="Arial"/>
                <a:cs typeface="Arial"/>
              </a:rPr>
              <a:t>Internet  </a:t>
            </a:r>
            <a:r>
              <a:rPr sz="3350" i="1" spc="-185" dirty="0">
                <a:latin typeface="Arial"/>
                <a:cs typeface="Arial"/>
              </a:rPr>
              <a:t>Resolution</a:t>
            </a:r>
            <a:endParaRPr sz="3350">
              <a:latin typeface="Arial"/>
              <a:cs typeface="Arial"/>
            </a:endParaRPr>
          </a:p>
          <a:p>
            <a:pPr marL="123825">
              <a:lnSpc>
                <a:spcPct val="100000"/>
              </a:lnSpc>
              <a:spcBef>
                <a:spcPts val="585"/>
              </a:spcBef>
            </a:pPr>
            <a:r>
              <a:rPr sz="3350" i="1" spc="-345" dirty="0">
                <a:latin typeface="Arial"/>
                <a:cs typeface="Arial"/>
              </a:rPr>
              <a:t>DNS</a:t>
            </a:r>
            <a:r>
              <a:rPr sz="3350" i="1" spc="15" dirty="0">
                <a:latin typeface="Arial"/>
                <a:cs typeface="Arial"/>
              </a:rPr>
              <a:t> </a:t>
            </a:r>
            <a:r>
              <a:rPr sz="3350" i="1" spc="-290" dirty="0">
                <a:latin typeface="Arial"/>
                <a:cs typeface="Arial"/>
              </a:rPr>
              <a:t>Messages</a:t>
            </a:r>
            <a:endParaRPr sz="3350">
              <a:latin typeface="Arial"/>
              <a:cs typeface="Arial"/>
            </a:endParaRPr>
          </a:p>
          <a:p>
            <a:pPr marL="57785" marR="490220">
              <a:lnSpc>
                <a:spcPct val="116100"/>
              </a:lnSpc>
              <a:spcBef>
                <a:spcPts val="80"/>
              </a:spcBef>
            </a:pPr>
            <a:r>
              <a:rPr sz="3350" i="1" spc="-215" dirty="0">
                <a:latin typeface="Arial"/>
                <a:cs typeface="Arial"/>
              </a:rPr>
              <a:t>Types </a:t>
            </a:r>
            <a:r>
              <a:rPr sz="3350" i="1" spc="-100" dirty="0">
                <a:latin typeface="Arial"/>
                <a:cs typeface="Arial"/>
              </a:rPr>
              <a:t>of </a:t>
            </a:r>
            <a:r>
              <a:rPr sz="3350" i="1" spc="-210" dirty="0">
                <a:latin typeface="Arial"/>
                <a:cs typeface="Arial"/>
              </a:rPr>
              <a:t>Records  </a:t>
            </a:r>
            <a:r>
              <a:rPr sz="3350" i="1" spc="-170" dirty="0">
                <a:latin typeface="Arial"/>
                <a:cs typeface="Arial"/>
              </a:rPr>
              <a:t>Registrars</a:t>
            </a:r>
            <a:endParaRPr sz="3350">
              <a:latin typeface="Arial"/>
              <a:cs typeface="Arial"/>
            </a:endParaRPr>
          </a:p>
          <a:p>
            <a:pPr marL="57785">
              <a:lnSpc>
                <a:spcPct val="100000"/>
              </a:lnSpc>
              <a:spcBef>
                <a:spcPts val="525"/>
              </a:spcBef>
            </a:pPr>
            <a:r>
              <a:rPr sz="3350" i="1" spc="-345" dirty="0">
                <a:latin typeface="Arial"/>
                <a:cs typeface="Arial"/>
              </a:rPr>
              <a:t>DDNS</a:t>
            </a:r>
            <a:endParaRPr sz="33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30"/>
              </a:spcBef>
            </a:pPr>
            <a:r>
              <a:rPr sz="3350" i="1" spc="-114" dirty="0">
                <a:latin typeface="Arial"/>
                <a:cs typeface="Arial"/>
              </a:rPr>
              <a:t>Security </a:t>
            </a:r>
            <a:r>
              <a:rPr sz="3350" i="1" spc="-100" dirty="0">
                <a:latin typeface="Arial"/>
                <a:cs typeface="Arial"/>
              </a:rPr>
              <a:t>of</a:t>
            </a:r>
            <a:r>
              <a:rPr sz="3350" i="1" spc="140" dirty="0">
                <a:latin typeface="Arial"/>
                <a:cs typeface="Arial"/>
              </a:rPr>
              <a:t> </a:t>
            </a:r>
            <a:r>
              <a:rPr sz="3350" i="1" spc="-345" dirty="0">
                <a:latin typeface="Arial"/>
                <a:cs typeface="Arial"/>
              </a:rPr>
              <a:t>DNS</a:t>
            </a:r>
            <a:endParaRPr sz="33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981200" y="2522220"/>
            <a:ext cx="8001696" cy="17449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735704" y="505409"/>
            <a:ext cx="4020820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5" dirty="0"/>
              <a:t>PURPOSE </a:t>
            </a:r>
            <a:r>
              <a:rPr sz="3200" dirty="0"/>
              <a:t>OF</a:t>
            </a:r>
            <a:r>
              <a:rPr sz="3200" spc="-90" dirty="0"/>
              <a:t> </a:t>
            </a:r>
            <a:r>
              <a:rPr sz="3200" spc="-5" dirty="0"/>
              <a:t>DNS</a:t>
            </a:r>
            <a:endParaRPr sz="3200"/>
          </a:p>
        </p:txBody>
      </p:sp>
      <p:sp>
        <p:nvSpPr>
          <p:cNvPr id="4" name="object 4"/>
          <p:cNvSpPr txBox="1"/>
          <p:nvPr/>
        </p:nvSpPr>
        <p:spPr>
          <a:xfrm>
            <a:off x="3445102" y="1581493"/>
            <a:ext cx="38354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spc="-10" dirty="0">
                <a:latin typeface="Times New Roman"/>
                <a:cs typeface="Times New Roman"/>
              </a:rPr>
              <a:t>U</a:t>
            </a:r>
            <a:r>
              <a:rPr sz="1500" spc="-5" dirty="0">
                <a:latin typeface="Times New Roman"/>
                <a:cs typeface="Times New Roman"/>
              </a:rPr>
              <a:t>ser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769481" y="2158157"/>
            <a:ext cx="436245" cy="41592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 marR="5080">
              <a:lnSpc>
                <a:spcPct val="71100"/>
              </a:lnSpc>
              <a:spcBef>
                <a:spcPts val="610"/>
              </a:spcBef>
            </a:pPr>
            <a:r>
              <a:rPr sz="1500" spc="-10" dirty="0">
                <a:latin typeface="Times New Roman"/>
                <a:cs typeface="Times New Roman"/>
              </a:rPr>
              <a:t>Host  name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6" name="object 6"/>
          <p:cNvGrpSpPr/>
          <p:nvPr/>
        </p:nvGrpSpPr>
        <p:grpSpPr>
          <a:xfrm>
            <a:off x="3509254" y="1892167"/>
            <a:ext cx="189865" cy="1005840"/>
            <a:chOff x="3509254" y="1892167"/>
            <a:chExt cx="189865" cy="1005840"/>
          </a:xfrm>
        </p:grpSpPr>
        <p:sp>
          <p:nvSpPr>
            <p:cNvPr id="7" name="object 7"/>
            <p:cNvSpPr/>
            <p:nvPr/>
          </p:nvSpPr>
          <p:spPr>
            <a:xfrm>
              <a:off x="3610852" y="1902327"/>
              <a:ext cx="0" cy="833119"/>
            </a:xfrm>
            <a:custGeom>
              <a:avLst/>
              <a:gdLst/>
              <a:ahLst/>
              <a:cxnLst/>
              <a:rect l="l" t="t" r="r" b="b"/>
              <a:pathLst>
                <a:path h="833119">
                  <a:moveTo>
                    <a:pt x="0" y="0"/>
                  </a:moveTo>
                  <a:lnTo>
                    <a:pt x="0" y="832860"/>
                  </a:lnTo>
                </a:path>
              </a:pathLst>
            </a:custGeom>
            <a:ln w="2032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554371" y="2676626"/>
              <a:ext cx="110544" cy="22116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509254" y="2103156"/>
              <a:ext cx="189587" cy="189696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3544839" y="2044762"/>
            <a:ext cx="120014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4106873" y="3039843"/>
            <a:ext cx="885825" cy="189865"/>
            <a:chOff x="4106873" y="3039843"/>
            <a:chExt cx="885825" cy="189865"/>
          </a:xfrm>
        </p:grpSpPr>
        <p:sp>
          <p:nvSpPr>
            <p:cNvPr id="12" name="object 12"/>
            <p:cNvSpPr/>
            <p:nvPr/>
          </p:nvSpPr>
          <p:spPr>
            <a:xfrm>
              <a:off x="4117033" y="3130020"/>
              <a:ext cx="817244" cy="0"/>
            </a:xfrm>
            <a:custGeom>
              <a:avLst/>
              <a:gdLst/>
              <a:ahLst/>
              <a:cxnLst/>
              <a:rect l="l" t="t" r="r" b="b"/>
              <a:pathLst>
                <a:path w="817245">
                  <a:moveTo>
                    <a:pt x="0" y="0"/>
                  </a:moveTo>
                  <a:lnTo>
                    <a:pt x="816836" y="0"/>
                  </a:lnTo>
                </a:path>
              </a:pathLst>
            </a:custGeom>
            <a:ln w="202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911330" y="3073798"/>
              <a:ext cx="81006" cy="112625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157605" y="3039843"/>
              <a:ext cx="188907" cy="189443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4167706" y="2689267"/>
            <a:ext cx="656590" cy="41529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8279">
              <a:lnSpc>
                <a:spcPts val="1540"/>
              </a:lnSpc>
              <a:spcBef>
                <a:spcPts val="90"/>
              </a:spcBef>
            </a:pPr>
            <a:r>
              <a:rPr sz="1500" spc="-10" dirty="0">
                <a:latin typeface="Times New Roman"/>
                <a:cs typeface="Times New Roman"/>
              </a:rPr>
              <a:t>Host</a:t>
            </a:r>
            <a:endParaRPr sz="1500">
              <a:latin typeface="Times New Roman"/>
              <a:cs typeface="Times New Roman"/>
            </a:endParaRPr>
          </a:p>
          <a:p>
            <a:pPr marL="38100">
              <a:lnSpc>
                <a:spcPts val="1540"/>
              </a:lnSpc>
            </a:pPr>
            <a:r>
              <a:rPr sz="2250" b="1" spc="-7" baseline="-38888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sz="2250" b="1" spc="240" baseline="-38888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1500" spc="-10" dirty="0">
                <a:latin typeface="Times New Roman"/>
                <a:cs typeface="Times New Roman"/>
              </a:rPr>
              <a:t>name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643984" y="4090423"/>
            <a:ext cx="3578225" cy="632460"/>
            <a:chOff x="5643984" y="4090423"/>
            <a:chExt cx="3578225" cy="632460"/>
          </a:xfrm>
        </p:grpSpPr>
        <p:sp>
          <p:nvSpPr>
            <p:cNvPr id="17" name="object 17"/>
            <p:cNvSpPr/>
            <p:nvPr/>
          </p:nvSpPr>
          <p:spPr>
            <a:xfrm>
              <a:off x="5657637" y="4108402"/>
              <a:ext cx="3500120" cy="412115"/>
            </a:xfrm>
            <a:custGeom>
              <a:avLst/>
              <a:gdLst/>
              <a:ahLst/>
              <a:cxnLst/>
              <a:rect l="l" t="t" r="r" b="b"/>
              <a:pathLst>
                <a:path w="3500120" h="412114">
                  <a:moveTo>
                    <a:pt x="0" y="0"/>
                  </a:moveTo>
                  <a:lnTo>
                    <a:pt x="0" y="411599"/>
                  </a:lnTo>
                  <a:lnTo>
                    <a:pt x="3499524" y="411599"/>
                  </a:lnTo>
                  <a:lnTo>
                    <a:pt x="3499524" y="63044"/>
                  </a:lnTo>
                </a:path>
              </a:pathLst>
            </a:custGeom>
            <a:ln w="26886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9094176" y="4090423"/>
              <a:ext cx="128021" cy="116986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6251016" y="4398568"/>
              <a:ext cx="849630" cy="317500"/>
            </a:xfrm>
            <a:custGeom>
              <a:avLst/>
              <a:gdLst/>
              <a:ahLst/>
              <a:cxnLst/>
              <a:rect l="l" t="t" r="r" b="b"/>
              <a:pathLst>
                <a:path w="849629" h="317500">
                  <a:moveTo>
                    <a:pt x="849503" y="0"/>
                  </a:moveTo>
                  <a:lnTo>
                    <a:pt x="0" y="0"/>
                  </a:lnTo>
                  <a:lnTo>
                    <a:pt x="0" y="276631"/>
                  </a:lnTo>
                  <a:lnTo>
                    <a:pt x="0" y="317042"/>
                  </a:lnTo>
                  <a:lnTo>
                    <a:pt x="849503" y="317042"/>
                  </a:lnTo>
                  <a:lnTo>
                    <a:pt x="849503" y="276631"/>
                  </a:lnTo>
                  <a:lnTo>
                    <a:pt x="849503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6251021" y="4398562"/>
              <a:ext cx="849630" cy="317500"/>
            </a:xfrm>
            <a:custGeom>
              <a:avLst/>
              <a:gdLst/>
              <a:ahLst/>
              <a:cxnLst/>
              <a:rect l="l" t="t" r="r" b="b"/>
              <a:pathLst>
                <a:path w="849629" h="317500">
                  <a:moveTo>
                    <a:pt x="0" y="317044"/>
                  </a:moveTo>
                  <a:lnTo>
                    <a:pt x="849497" y="317044"/>
                  </a:lnTo>
                  <a:lnTo>
                    <a:pt x="849497" y="0"/>
                  </a:lnTo>
                  <a:lnTo>
                    <a:pt x="0" y="0"/>
                  </a:lnTo>
                  <a:lnTo>
                    <a:pt x="0" y="317044"/>
                  </a:lnTo>
                  <a:close/>
                </a:path>
              </a:pathLst>
            </a:custGeom>
            <a:ln w="13548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10639" y="4358144"/>
              <a:ext cx="849630" cy="317500"/>
            </a:xfrm>
            <a:custGeom>
              <a:avLst/>
              <a:gdLst/>
              <a:ahLst/>
              <a:cxnLst/>
              <a:rect l="l" t="t" r="r" b="b"/>
              <a:pathLst>
                <a:path w="849629" h="317500">
                  <a:moveTo>
                    <a:pt x="849497" y="0"/>
                  </a:moveTo>
                  <a:lnTo>
                    <a:pt x="0" y="0"/>
                  </a:lnTo>
                  <a:lnTo>
                    <a:pt x="0" y="317044"/>
                  </a:lnTo>
                  <a:lnTo>
                    <a:pt x="849497" y="317044"/>
                  </a:lnTo>
                  <a:lnTo>
                    <a:pt x="8494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210639" y="4358144"/>
              <a:ext cx="849630" cy="317500"/>
            </a:xfrm>
            <a:custGeom>
              <a:avLst/>
              <a:gdLst/>
              <a:ahLst/>
              <a:cxnLst/>
              <a:rect l="l" t="t" r="r" b="b"/>
              <a:pathLst>
                <a:path w="849629" h="317500">
                  <a:moveTo>
                    <a:pt x="0" y="317044"/>
                  </a:moveTo>
                  <a:lnTo>
                    <a:pt x="849497" y="317044"/>
                  </a:lnTo>
                  <a:lnTo>
                    <a:pt x="849497" y="0"/>
                  </a:lnTo>
                  <a:lnTo>
                    <a:pt x="0" y="0"/>
                  </a:lnTo>
                  <a:lnTo>
                    <a:pt x="0" y="317044"/>
                  </a:lnTo>
                  <a:close/>
                </a:path>
              </a:pathLst>
            </a:custGeom>
            <a:ln w="135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230830" y="4385128"/>
            <a:ext cx="849630" cy="121920"/>
          </a:xfrm>
          <a:prstGeom prst="rect">
            <a:avLst/>
          </a:prstGeom>
          <a:solidFill>
            <a:srgbClr val="57585B"/>
          </a:solidFill>
        </p:spPr>
        <p:txBody>
          <a:bodyPr vert="horz" wrap="square" lIns="0" tIns="0" rIns="0" bIns="0" rtlCol="0">
            <a:spAutoFit/>
          </a:bodyPr>
          <a:lstStyle/>
          <a:p>
            <a:pPr marL="175895">
              <a:lnSpc>
                <a:spcPts val="955"/>
              </a:lnSpc>
            </a:pPr>
            <a:r>
              <a:rPr sz="1450" spc="15" dirty="0">
                <a:latin typeface="Times New Roman"/>
                <a:cs typeface="Times New Roman"/>
              </a:rPr>
              <a:t>Query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029200" y="3946518"/>
            <a:ext cx="4705985" cy="1155065"/>
            <a:chOff x="5029200" y="3946518"/>
            <a:chExt cx="4705985" cy="1155065"/>
          </a:xfrm>
        </p:grpSpPr>
        <p:sp>
          <p:nvSpPr>
            <p:cNvPr id="25" name="object 25"/>
            <p:cNvSpPr/>
            <p:nvPr/>
          </p:nvSpPr>
          <p:spPr>
            <a:xfrm>
              <a:off x="5839728" y="4441209"/>
              <a:ext cx="188817" cy="18892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5094585" y="3960170"/>
              <a:ext cx="4626610" cy="945515"/>
            </a:xfrm>
            <a:custGeom>
              <a:avLst/>
              <a:gdLst/>
              <a:ahLst/>
              <a:cxnLst/>
              <a:rect l="l" t="t" r="r" b="b"/>
              <a:pathLst>
                <a:path w="4626609" h="945514">
                  <a:moveTo>
                    <a:pt x="4626603" y="0"/>
                  </a:moveTo>
                  <a:lnTo>
                    <a:pt x="4626603" y="945309"/>
                  </a:lnTo>
                  <a:lnTo>
                    <a:pt x="0" y="945309"/>
                  </a:lnTo>
                  <a:lnTo>
                    <a:pt x="0" y="153090"/>
                  </a:lnTo>
                </a:path>
              </a:pathLst>
            </a:custGeom>
            <a:ln w="27045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5029200" y="4032168"/>
              <a:ext cx="128332" cy="11489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8221853" y="4777180"/>
              <a:ext cx="851535" cy="317500"/>
            </a:xfrm>
            <a:custGeom>
              <a:avLst/>
              <a:gdLst/>
              <a:ahLst/>
              <a:cxnLst/>
              <a:rect l="l" t="t" r="r" b="b"/>
              <a:pathLst>
                <a:path w="851534" h="317500">
                  <a:moveTo>
                    <a:pt x="850925" y="0"/>
                  </a:moveTo>
                  <a:lnTo>
                    <a:pt x="0" y="0"/>
                  </a:lnTo>
                  <a:lnTo>
                    <a:pt x="0" y="276936"/>
                  </a:lnTo>
                  <a:lnTo>
                    <a:pt x="0" y="317398"/>
                  </a:lnTo>
                  <a:lnTo>
                    <a:pt x="850925" y="317398"/>
                  </a:lnTo>
                  <a:lnTo>
                    <a:pt x="850925" y="276936"/>
                  </a:lnTo>
                  <a:lnTo>
                    <a:pt x="850925" y="0"/>
                  </a:lnTo>
                  <a:close/>
                </a:path>
              </a:pathLst>
            </a:custGeom>
            <a:solidFill>
              <a:srgbClr val="57585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8221859" y="4777180"/>
              <a:ext cx="851535" cy="317500"/>
            </a:xfrm>
            <a:custGeom>
              <a:avLst/>
              <a:gdLst/>
              <a:ahLst/>
              <a:cxnLst/>
              <a:rect l="l" t="t" r="r" b="b"/>
              <a:pathLst>
                <a:path w="851534" h="317500">
                  <a:moveTo>
                    <a:pt x="0" y="317396"/>
                  </a:moveTo>
                  <a:lnTo>
                    <a:pt x="850929" y="317396"/>
                  </a:lnTo>
                  <a:lnTo>
                    <a:pt x="850929" y="0"/>
                  </a:lnTo>
                  <a:lnTo>
                    <a:pt x="0" y="0"/>
                  </a:lnTo>
                  <a:lnTo>
                    <a:pt x="0" y="317396"/>
                  </a:lnTo>
                  <a:close/>
                </a:path>
              </a:pathLst>
            </a:custGeom>
            <a:ln w="13621">
              <a:solidFill>
                <a:srgbClr val="333333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8181201" y="4736713"/>
              <a:ext cx="851535" cy="317500"/>
            </a:xfrm>
            <a:custGeom>
              <a:avLst/>
              <a:gdLst/>
              <a:ahLst/>
              <a:cxnLst/>
              <a:rect l="l" t="t" r="r" b="b"/>
              <a:pathLst>
                <a:path w="851534" h="317500">
                  <a:moveTo>
                    <a:pt x="851157" y="0"/>
                  </a:moveTo>
                  <a:lnTo>
                    <a:pt x="0" y="0"/>
                  </a:lnTo>
                  <a:lnTo>
                    <a:pt x="0" y="317396"/>
                  </a:lnTo>
                  <a:lnTo>
                    <a:pt x="851157" y="317396"/>
                  </a:lnTo>
                  <a:lnTo>
                    <a:pt x="851157" y="0"/>
                  </a:lnTo>
                  <a:close/>
                </a:path>
              </a:pathLst>
            </a:custGeom>
            <a:solidFill>
              <a:srgbClr val="FFF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8181201" y="4736713"/>
              <a:ext cx="851535" cy="317500"/>
            </a:xfrm>
            <a:custGeom>
              <a:avLst/>
              <a:gdLst/>
              <a:ahLst/>
              <a:cxnLst/>
              <a:rect l="l" t="t" r="r" b="b"/>
              <a:pathLst>
                <a:path w="851534" h="317500">
                  <a:moveTo>
                    <a:pt x="0" y="317396"/>
                  </a:moveTo>
                  <a:lnTo>
                    <a:pt x="851157" y="317396"/>
                  </a:lnTo>
                  <a:lnTo>
                    <a:pt x="851157" y="0"/>
                  </a:lnTo>
                  <a:lnTo>
                    <a:pt x="0" y="0"/>
                  </a:lnTo>
                  <a:lnTo>
                    <a:pt x="0" y="317396"/>
                  </a:lnTo>
                  <a:close/>
                </a:path>
              </a:pathLst>
            </a:custGeom>
            <a:ln w="136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874513" y="4384197"/>
            <a:ext cx="1206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8201530" y="4763757"/>
            <a:ext cx="851535" cy="128270"/>
          </a:xfrm>
          <a:prstGeom prst="rect">
            <a:avLst/>
          </a:prstGeom>
          <a:solidFill>
            <a:srgbClr val="FFF100"/>
          </a:solidFill>
        </p:spPr>
        <p:txBody>
          <a:bodyPr vert="horz" wrap="square" lIns="0" tIns="0" rIns="0" bIns="0" rtlCol="0">
            <a:spAutoFit/>
          </a:bodyPr>
          <a:lstStyle/>
          <a:p>
            <a:pPr marL="47625">
              <a:lnSpc>
                <a:spcPts val="1010"/>
              </a:lnSpc>
            </a:pPr>
            <a:r>
              <a:rPr sz="1450" spc="15" dirty="0">
                <a:latin typeface="Times New Roman"/>
                <a:cs typeface="Times New Roman"/>
              </a:rPr>
              <a:t>Response</a:t>
            </a:r>
            <a:endParaRPr sz="145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9284454" y="4824546"/>
            <a:ext cx="189053" cy="18909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9318276" y="4765783"/>
            <a:ext cx="12065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4108891" y="3744992"/>
            <a:ext cx="998855" cy="190500"/>
            <a:chOff x="4108891" y="3744992"/>
            <a:chExt cx="998855" cy="190500"/>
          </a:xfrm>
        </p:grpSpPr>
        <p:sp>
          <p:nvSpPr>
            <p:cNvPr id="37" name="object 37"/>
            <p:cNvSpPr/>
            <p:nvPr/>
          </p:nvSpPr>
          <p:spPr>
            <a:xfrm>
              <a:off x="4108891" y="3783586"/>
              <a:ext cx="81367" cy="113000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917939" y="3744992"/>
              <a:ext cx="189670" cy="190005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157172" y="3658604"/>
            <a:ext cx="915669" cy="537845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15"/>
              </a:spcBef>
              <a:tabLst>
                <a:tab pos="807085" algn="l"/>
              </a:tabLst>
            </a:pPr>
            <a:r>
              <a:rPr sz="1500" b="1" strike="sngStrike" dirty="0">
                <a:solidFill>
                  <a:srgbClr val="FFFFFF"/>
                </a:solidFill>
                <a:latin typeface="Times New Roman"/>
                <a:cs typeface="Times New Roman"/>
              </a:rPr>
              <a:t> 	5</a:t>
            </a:r>
            <a:endParaRPr sz="1500">
              <a:latin typeface="Times New Roman"/>
              <a:cs typeface="Times New Roman"/>
            </a:endParaRPr>
          </a:p>
          <a:p>
            <a:pPr marL="26670">
              <a:lnSpc>
                <a:spcPct val="100000"/>
              </a:lnSpc>
              <a:spcBef>
                <a:spcPts val="220"/>
              </a:spcBef>
            </a:pPr>
            <a:r>
              <a:rPr sz="1500" spc="-5" dirty="0">
                <a:latin typeface="Times New Roman"/>
                <a:cs typeface="Times New Roman"/>
              </a:rPr>
              <a:t>IP</a:t>
            </a:r>
            <a:r>
              <a:rPr sz="1500" spc="-90" dirty="0">
                <a:latin typeface="Times New Roman"/>
                <a:cs typeface="Times New Roman"/>
              </a:rPr>
              <a:t> </a:t>
            </a:r>
            <a:r>
              <a:rPr sz="1500" spc="-5" dirty="0">
                <a:latin typeface="Times New Roman"/>
                <a:cs typeface="Times New Roman"/>
              </a:rPr>
              <a:t>address</a:t>
            </a:r>
            <a:endParaRPr sz="15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035300" y="5070859"/>
            <a:ext cx="1179195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spc="5" dirty="0">
                <a:latin typeface="Times New Roman"/>
                <a:cs typeface="Times New Roman"/>
              </a:rPr>
              <a:t>Transport</a:t>
            </a:r>
            <a:r>
              <a:rPr sz="1450" spc="-35" dirty="0">
                <a:latin typeface="Times New Roman"/>
                <a:cs typeface="Times New Roman"/>
              </a:rPr>
              <a:t> </a:t>
            </a:r>
            <a:r>
              <a:rPr sz="1450" spc="10" dirty="0">
                <a:latin typeface="Times New Roman"/>
                <a:cs typeface="Times New Roman"/>
              </a:rPr>
              <a:t>layer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41" name="object 41"/>
          <p:cNvGrpSpPr/>
          <p:nvPr/>
        </p:nvGrpSpPr>
        <p:grpSpPr>
          <a:xfrm>
            <a:off x="3547654" y="4069879"/>
            <a:ext cx="189230" cy="1026160"/>
            <a:chOff x="3547654" y="4069879"/>
            <a:chExt cx="189230" cy="1026160"/>
          </a:xfrm>
        </p:grpSpPr>
        <p:sp>
          <p:nvSpPr>
            <p:cNvPr id="42" name="object 42"/>
            <p:cNvSpPr/>
            <p:nvPr/>
          </p:nvSpPr>
          <p:spPr>
            <a:xfrm>
              <a:off x="3630896" y="4069879"/>
              <a:ext cx="0" cy="890905"/>
            </a:xfrm>
            <a:custGeom>
              <a:avLst/>
              <a:gdLst/>
              <a:ahLst/>
              <a:cxnLst/>
              <a:rect l="l" t="t" r="r" b="b"/>
              <a:pathLst>
                <a:path h="890904">
                  <a:moveTo>
                    <a:pt x="0" y="0"/>
                  </a:moveTo>
                  <a:lnTo>
                    <a:pt x="0" y="890634"/>
                  </a:lnTo>
                </a:path>
              </a:pathLst>
            </a:custGeom>
            <a:ln w="2034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3574718" y="4911106"/>
              <a:ext cx="112361" cy="18438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3547654" y="4355526"/>
              <a:ext cx="188890" cy="188890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5" name="object 45"/>
          <p:cNvSpPr txBox="1"/>
          <p:nvPr/>
        </p:nvSpPr>
        <p:spPr>
          <a:xfrm>
            <a:off x="3582363" y="4298646"/>
            <a:ext cx="921385" cy="43434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ts val="1585"/>
              </a:lnSpc>
              <a:spcBef>
                <a:spcPts val="135"/>
              </a:spcBef>
            </a:pPr>
            <a:r>
              <a:rPr sz="145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  <a:p>
            <a:pPr marL="132715">
              <a:lnSpc>
                <a:spcPts val="1585"/>
              </a:lnSpc>
            </a:pPr>
            <a:r>
              <a:rPr sz="1450" spc="15" dirty="0">
                <a:latin typeface="Times New Roman"/>
                <a:cs typeface="Times New Roman"/>
              </a:rPr>
              <a:t>IP</a:t>
            </a:r>
            <a:r>
              <a:rPr sz="1450" spc="-105" dirty="0">
                <a:latin typeface="Times New Roman"/>
                <a:cs typeface="Times New Roman"/>
              </a:rPr>
              <a:t> </a:t>
            </a:r>
            <a:r>
              <a:rPr sz="1450" spc="10" dirty="0">
                <a:latin typeface="Times New Roman"/>
                <a:cs typeface="Times New Roman"/>
              </a:rPr>
              <a:t>address</a:t>
            </a:r>
            <a:endParaRPr sz="14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829948" y="1554772"/>
            <a:ext cx="8852096" cy="530322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893822" y="381965"/>
            <a:ext cx="66294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688464" algn="l"/>
              </a:tabLst>
            </a:pPr>
            <a:r>
              <a:rPr spc="5" dirty="0"/>
              <a:t>DNS	</a:t>
            </a:r>
            <a:r>
              <a:rPr spc="-10" dirty="0"/>
              <a:t>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67734" y="157098"/>
            <a:ext cx="42589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NEED </a:t>
            </a:r>
            <a:r>
              <a:rPr sz="4000" spc="-5" dirty="0"/>
              <a:t>FOR</a:t>
            </a:r>
            <a:r>
              <a:rPr sz="4000" spc="-30" dirty="0"/>
              <a:t> </a:t>
            </a:r>
            <a:r>
              <a:rPr sz="4000" spc="-5" dirty="0"/>
              <a:t>DNS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16939" y="1232357"/>
            <a:ext cx="10358120" cy="403479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4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Arial"/>
                <a:cs typeface="Arial"/>
              </a:rPr>
              <a:t>To identify an </a:t>
            </a:r>
            <a:r>
              <a:rPr sz="2800" dirty="0">
                <a:latin typeface="Arial"/>
                <a:cs typeface="Arial"/>
              </a:rPr>
              <a:t>entity, </a:t>
            </a:r>
            <a:r>
              <a:rPr sz="2800" spc="-5" dirty="0">
                <a:latin typeface="Arial"/>
                <a:cs typeface="Arial"/>
              </a:rPr>
              <a:t>TCP/IP protocols use the IP address,  which uniquely identifies the connection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host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spc="-10" dirty="0">
                <a:latin typeface="Arial"/>
                <a:cs typeface="Arial"/>
              </a:rPr>
              <a:t>the  </a:t>
            </a:r>
            <a:r>
              <a:rPr sz="2800" dirty="0">
                <a:latin typeface="Arial"/>
                <a:cs typeface="Arial"/>
              </a:rPr>
              <a:t>Internet.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Font typeface="Wingdings"/>
              <a:buChar char=""/>
            </a:pPr>
            <a:endParaRPr sz="4400">
              <a:latin typeface="Arial"/>
              <a:cs typeface="Arial"/>
            </a:endParaRPr>
          </a:p>
          <a:p>
            <a:pPr marL="241300" marR="8890" indent="-228600" algn="just">
              <a:lnSpc>
                <a:spcPts val="302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Arial"/>
                <a:cs typeface="Arial"/>
              </a:rPr>
              <a:t>However, people prefer to </a:t>
            </a:r>
            <a:r>
              <a:rPr sz="2800" dirty="0">
                <a:latin typeface="Arial"/>
                <a:cs typeface="Arial"/>
              </a:rPr>
              <a:t>use </a:t>
            </a:r>
            <a:r>
              <a:rPr sz="2800" spc="-5" dirty="0">
                <a:latin typeface="Arial"/>
                <a:cs typeface="Arial"/>
              </a:rPr>
              <a:t>names instead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numeric  </a:t>
            </a:r>
            <a:r>
              <a:rPr sz="2800" dirty="0">
                <a:latin typeface="Arial"/>
                <a:cs typeface="Arial"/>
              </a:rPr>
              <a:t>addresses.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Wingdings"/>
              <a:buChar char=""/>
            </a:pPr>
            <a:endParaRPr sz="4350">
              <a:latin typeface="Arial"/>
              <a:cs typeface="Arial"/>
            </a:endParaRPr>
          </a:p>
          <a:p>
            <a:pPr marL="241300" marR="5080" indent="-228600" algn="just">
              <a:lnSpc>
                <a:spcPts val="302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dirty="0">
                <a:latin typeface="Arial"/>
                <a:cs typeface="Arial"/>
              </a:rPr>
              <a:t>Therefore, </a:t>
            </a:r>
            <a:r>
              <a:rPr sz="2800" spc="-10" dirty="0">
                <a:latin typeface="Arial"/>
                <a:cs typeface="Arial"/>
              </a:rPr>
              <a:t>we </a:t>
            </a:r>
            <a:r>
              <a:rPr sz="2800" dirty="0">
                <a:latin typeface="Arial"/>
                <a:cs typeface="Arial"/>
              </a:rPr>
              <a:t>need </a:t>
            </a:r>
            <a:r>
              <a:rPr sz="2800" spc="-5" dirty="0">
                <a:latin typeface="Arial"/>
                <a:cs typeface="Arial"/>
              </a:rPr>
              <a:t>a system that </a:t>
            </a:r>
            <a:r>
              <a:rPr sz="2800" dirty="0">
                <a:latin typeface="Arial"/>
                <a:cs typeface="Arial"/>
              </a:rPr>
              <a:t>can </a:t>
            </a:r>
            <a:r>
              <a:rPr sz="2800" spc="-5" dirty="0">
                <a:latin typeface="Arial"/>
                <a:cs typeface="Arial"/>
              </a:rPr>
              <a:t>map a name to </a:t>
            </a:r>
            <a:r>
              <a:rPr sz="2800" dirty="0">
                <a:latin typeface="Arial"/>
                <a:cs typeface="Arial"/>
              </a:rPr>
              <a:t>an  address or an address </a:t>
            </a:r>
            <a:r>
              <a:rPr sz="2800" spc="-5" dirty="0">
                <a:latin typeface="Arial"/>
                <a:cs typeface="Arial"/>
              </a:rPr>
              <a:t>to a</a:t>
            </a:r>
            <a:r>
              <a:rPr sz="2800" spc="1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name.</a:t>
            </a:r>
            <a:endParaRPr sz="2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6794" y="307924"/>
            <a:ext cx="4058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NAME</a:t>
            </a:r>
            <a:r>
              <a:rPr spc="-85" dirty="0"/>
              <a:t> </a:t>
            </a:r>
            <a:r>
              <a:rPr spc="-95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02640" y="1394282"/>
            <a:ext cx="10359390" cy="4133215"/>
          </a:xfrm>
          <a:prstGeom prst="rect">
            <a:avLst/>
          </a:prstGeom>
        </p:spPr>
        <p:txBody>
          <a:bodyPr vert="horz" wrap="square" lIns="0" tIns="89535" rIns="0" bIns="0" rtlCol="0">
            <a:spAutoFit/>
          </a:bodyPr>
          <a:lstStyle/>
          <a:p>
            <a:pPr marL="241300" marR="5080" indent="-228600" algn="just">
              <a:lnSpc>
                <a:spcPts val="2500"/>
              </a:lnSpc>
              <a:spcBef>
                <a:spcPts val="70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"/>
                <a:cs typeface="Arial"/>
              </a:rPr>
              <a:t>To be </a:t>
            </a:r>
            <a:r>
              <a:rPr sz="2600" spc="-5" dirty="0">
                <a:latin typeface="Arial"/>
                <a:cs typeface="Arial"/>
              </a:rPr>
              <a:t>unambiguous, </a:t>
            </a: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names assigned </a:t>
            </a:r>
            <a:r>
              <a:rPr sz="2600" dirty="0">
                <a:latin typeface="Arial"/>
                <a:cs typeface="Arial"/>
              </a:rPr>
              <a:t>to machines must be  carefully selected from a </a:t>
            </a:r>
            <a:r>
              <a:rPr sz="2600" spc="-5" dirty="0">
                <a:latin typeface="Arial"/>
                <a:cs typeface="Arial"/>
              </a:rPr>
              <a:t>name </a:t>
            </a:r>
            <a:r>
              <a:rPr sz="2600" dirty="0">
                <a:latin typeface="Arial"/>
                <a:cs typeface="Arial"/>
              </a:rPr>
              <a:t>space </a:t>
            </a:r>
            <a:r>
              <a:rPr sz="2600" spc="-5" dirty="0">
                <a:latin typeface="Arial"/>
                <a:cs typeface="Arial"/>
              </a:rPr>
              <a:t>binded between </a:t>
            </a:r>
            <a:r>
              <a:rPr sz="2600" dirty="0">
                <a:latin typeface="Arial"/>
                <a:cs typeface="Arial"/>
              </a:rPr>
              <a:t>the names  and </a:t>
            </a:r>
            <a:r>
              <a:rPr sz="2600" spc="-5" dirty="0">
                <a:latin typeface="Arial"/>
                <a:cs typeface="Arial"/>
              </a:rPr>
              <a:t>IP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addresses.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"/>
              <a:buChar char="•"/>
            </a:pPr>
            <a:endParaRPr sz="3900">
              <a:latin typeface="Arial"/>
              <a:cs typeface="Arial"/>
            </a:endParaRPr>
          </a:p>
          <a:p>
            <a:pPr marL="241300" marR="5715" indent="-228600" algn="just">
              <a:lnSpc>
                <a:spcPts val="2500"/>
              </a:lnSpc>
              <a:buChar char="•"/>
              <a:tabLst>
                <a:tab pos="241300" algn="l"/>
              </a:tabLst>
            </a:pPr>
            <a:r>
              <a:rPr sz="2600" dirty="0">
                <a:latin typeface="Arial"/>
                <a:cs typeface="Arial"/>
              </a:rPr>
              <a:t>In </a:t>
            </a:r>
            <a:r>
              <a:rPr sz="2600" spc="-5" dirty="0">
                <a:latin typeface="Arial"/>
                <a:cs typeface="Arial"/>
              </a:rPr>
              <a:t>other words, </a:t>
            </a: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names must </a:t>
            </a:r>
            <a:r>
              <a:rPr sz="2600" dirty="0">
                <a:latin typeface="Arial"/>
                <a:cs typeface="Arial"/>
              </a:rPr>
              <a:t>be </a:t>
            </a:r>
            <a:r>
              <a:rPr sz="2600" spc="-5" dirty="0">
                <a:latin typeface="Arial"/>
                <a:cs typeface="Arial"/>
              </a:rPr>
              <a:t>unique because </a:t>
            </a: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addresses  are </a:t>
            </a:r>
            <a:r>
              <a:rPr sz="2600" dirty="0">
                <a:latin typeface="Arial"/>
                <a:cs typeface="Arial"/>
              </a:rPr>
              <a:t>unique.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3900">
              <a:latin typeface="Arial"/>
              <a:cs typeface="Arial"/>
            </a:endParaRPr>
          </a:p>
          <a:p>
            <a:pPr marL="241300" marR="5080" indent="-228600">
              <a:lnSpc>
                <a:spcPts val="2500"/>
              </a:lnSpc>
              <a:buChar char="•"/>
              <a:tabLst>
                <a:tab pos="241300" algn="l"/>
                <a:tab pos="605155" algn="l"/>
                <a:tab pos="1577975" algn="l"/>
                <a:tab pos="2606675" algn="l"/>
                <a:tab pos="3303270" algn="l"/>
                <a:tab pos="4255770" algn="l"/>
                <a:tab pos="5116830" algn="l"/>
                <a:tab pos="6438265" algn="l"/>
                <a:tab pos="6859270" algn="l"/>
                <a:tab pos="7188200" algn="l"/>
                <a:tab pos="8326755" algn="l"/>
                <a:tab pos="9299575" algn="l"/>
                <a:tab pos="9977755" algn="l"/>
              </a:tabLst>
            </a:pPr>
            <a:r>
              <a:rPr sz="2600" dirty="0">
                <a:latin typeface="Arial"/>
                <a:cs typeface="Arial"/>
              </a:rPr>
              <a:t>A	</a:t>
            </a:r>
            <a:r>
              <a:rPr sz="2600" spc="-5" dirty="0">
                <a:latin typeface="Arial"/>
                <a:cs typeface="Arial"/>
              </a:rPr>
              <a:t>nam</a:t>
            </a:r>
            <a:r>
              <a:rPr sz="2600" dirty="0">
                <a:latin typeface="Arial"/>
                <a:cs typeface="Arial"/>
              </a:rPr>
              <a:t>e	sp</a:t>
            </a:r>
            <a:r>
              <a:rPr sz="2600" spc="5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ce	that	maps	</a:t>
            </a:r>
            <a:r>
              <a:rPr sz="2600" spc="-5" dirty="0">
                <a:latin typeface="Arial"/>
                <a:cs typeface="Arial"/>
              </a:rPr>
              <a:t>eac</a:t>
            </a:r>
            <a:r>
              <a:rPr sz="2600" dirty="0">
                <a:latin typeface="Arial"/>
                <a:cs typeface="Arial"/>
              </a:rPr>
              <a:t>h	</a:t>
            </a:r>
            <a:r>
              <a:rPr sz="2600" spc="-5" dirty="0">
                <a:latin typeface="Arial"/>
                <a:cs typeface="Arial"/>
              </a:rPr>
              <a:t>ad</a:t>
            </a:r>
            <a:r>
              <a:rPr sz="2600" dirty="0">
                <a:latin typeface="Arial"/>
                <a:cs typeface="Arial"/>
              </a:rPr>
              <a:t>dress	</a:t>
            </a:r>
            <a:r>
              <a:rPr sz="2600" spc="-5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o	a	</a:t>
            </a:r>
            <a:r>
              <a:rPr sz="2600" spc="-5" dirty="0">
                <a:latin typeface="Arial"/>
                <a:cs typeface="Arial"/>
              </a:rPr>
              <a:t>uniq</a:t>
            </a:r>
            <a:r>
              <a:rPr sz="2600" dirty="0">
                <a:latin typeface="Arial"/>
                <a:cs typeface="Arial"/>
              </a:rPr>
              <a:t>ue	</a:t>
            </a:r>
            <a:r>
              <a:rPr sz="2600" spc="-5" dirty="0">
                <a:latin typeface="Arial"/>
                <a:cs typeface="Arial"/>
              </a:rPr>
              <a:t>nam</a:t>
            </a:r>
            <a:r>
              <a:rPr sz="2600" dirty="0">
                <a:latin typeface="Arial"/>
                <a:cs typeface="Arial"/>
              </a:rPr>
              <a:t>e	can	be  </a:t>
            </a:r>
            <a:r>
              <a:rPr sz="2600" spc="-5" dirty="0">
                <a:latin typeface="Arial"/>
                <a:cs typeface="Arial"/>
              </a:rPr>
              <a:t>organized in </a:t>
            </a:r>
            <a:r>
              <a:rPr sz="2600" dirty="0">
                <a:latin typeface="Arial"/>
                <a:cs typeface="Arial"/>
              </a:rPr>
              <a:t>two</a:t>
            </a:r>
            <a:r>
              <a:rPr sz="2600" spc="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ways:</a:t>
            </a:r>
            <a:endParaRPr sz="2600">
              <a:latin typeface="Arial"/>
              <a:cs typeface="Arial"/>
            </a:endParaRPr>
          </a:p>
          <a:p>
            <a:pPr marL="698500" lvl="1" indent="-229235">
              <a:lnSpc>
                <a:spcPts val="2630"/>
              </a:lnSpc>
              <a:spcBef>
                <a:spcPts val="10"/>
              </a:spcBef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b="1" spc="-55" dirty="0">
                <a:solidFill>
                  <a:srgbClr val="FF0000"/>
                </a:solidFill>
                <a:latin typeface="Arial"/>
                <a:cs typeface="Arial"/>
              </a:rPr>
              <a:t>Flat</a:t>
            </a:r>
            <a:endParaRPr sz="2200">
              <a:latin typeface="Arial"/>
              <a:cs typeface="Arial"/>
            </a:endParaRPr>
          </a:p>
          <a:p>
            <a:pPr marL="698500" lvl="1" indent="-229235">
              <a:lnSpc>
                <a:spcPts val="2630"/>
              </a:lnSpc>
              <a:buSzPct val="95454"/>
              <a:buFont typeface="Wingdings"/>
              <a:buChar char=""/>
              <a:tabLst>
                <a:tab pos="699135" algn="l"/>
              </a:tabLst>
            </a:pPr>
            <a:r>
              <a:rPr sz="2200" b="1" spc="-85" dirty="0">
                <a:solidFill>
                  <a:srgbClr val="FF0000"/>
                </a:solidFill>
                <a:latin typeface="Arial"/>
                <a:cs typeface="Arial"/>
              </a:rPr>
              <a:t>Hierarchical</a:t>
            </a:r>
            <a:endParaRPr sz="22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6794" y="307924"/>
            <a:ext cx="4058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NAME</a:t>
            </a:r>
            <a:r>
              <a:rPr spc="-85" dirty="0"/>
              <a:t> </a:t>
            </a:r>
            <a:r>
              <a:rPr spc="-95" dirty="0"/>
              <a:t>SPACE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2144394"/>
            <a:ext cx="4262755" cy="30130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5275" indent="-283210">
              <a:lnSpc>
                <a:spcPct val="100000"/>
              </a:lnSpc>
              <a:spcBef>
                <a:spcPts val="9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5" dirty="0">
                <a:latin typeface="Carlito"/>
                <a:cs typeface="Carlito"/>
              </a:rPr>
              <a:t>Flat </a:t>
            </a:r>
            <a:r>
              <a:rPr sz="2800" spc="-5" dirty="0">
                <a:latin typeface="Carlito"/>
                <a:cs typeface="Carlito"/>
              </a:rPr>
              <a:t>Name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Space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rlito"/>
              <a:cs typeface="Carlito"/>
            </a:endParaRPr>
          </a:p>
          <a:p>
            <a:pPr marL="295275" indent="-28321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5" dirty="0">
                <a:latin typeface="Carlito"/>
                <a:cs typeface="Carlito"/>
              </a:rPr>
              <a:t>Hierarchical </a:t>
            </a:r>
            <a:r>
              <a:rPr sz="2800" spc="-5" dirty="0">
                <a:latin typeface="Carlito"/>
                <a:cs typeface="Carlito"/>
              </a:rPr>
              <a:t>Name</a:t>
            </a:r>
            <a:r>
              <a:rPr sz="2800" spc="30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Space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buFont typeface="Wingdings"/>
              <a:buChar char=""/>
            </a:pPr>
            <a:endParaRPr sz="2750">
              <a:latin typeface="Carlito"/>
              <a:cs typeface="Carlito"/>
            </a:endParaRPr>
          </a:p>
          <a:p>
            <a:pPr marL="295275" indent="-283210">
              <a:lnSpc>
                <a:spcPct val="100000"/>
              </a:lnSpc>
              <a:spcBef>
                <a:spcPts val="5"/>
              </a:spcBef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5" dirty="0">
                <a:latin typeface="Carlito"/>
                <a:cs typeface="Carlito"/>
              </a:rPr>
              <a:t>Domain Name</a:t>
            </a:r>
            <a:r>
              <a:rPr sz="2800" spc="1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Space</a:t>
            </a:r>
            <a:endParaRPr sz="2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Wingdings"/>
              <a:buChar char=""/>
            </a:pPr>
            <a:endParaRPr sz="2750">
              <a:latin typeface="Carlito"/>
              <a:cs typeface="Carlito"/>
            </a:endParaRPr>
          </a:p>
          <a:p>
            <a:pPr marL="295275" indent="-283210">
              <a:lnSpc>
                <a:spcPct val="100000"/>
              </a:lnSpc>
              <a:buSzPct val="96428"/>
              <a:buFont typeface="Wingdings"/>
              <a:buChar char=""/>
              <a:tabLst>
                <a:tab pos="295910" algn="l"/>
              </a:tabLst>
            </a:pPr>
            <a:r>
              <a:rPr sz="2800" spc="-15" dirty="0">
                <a:latin typeface="Carlito"/>
                <a:cs typeface="Carlito"/>
              </a:rPr>
              <a:t>Distribution </a:t>
            </a:r>
            <a:r>
              <a:rPr sz="2800" spc="-5" dirty="0">
                <a:latin typeface="Carlito"/>
                <a:cs typeface="Carlito"/>
              </a:rPr>
              <a:t>of Name</a:t>
            </a:r>
            <a:r>
              <a:rPr sz="2800" spc="65" dirty="0">
                <a:latin typeface="Carlito"/>
                <a:cs typeface="Carlito"/>
              </a:rPr>
              <a:t> </a:t>
            </a:r>
            <a:r>
              <a:rPr sz="2800" spc="-5" dirty="0">
                <a:latin typeface="Carlito"/>
                <a:cs typeface="Carlito"/>
              </a:rPr>
              <a:t>Space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Azure Data Lake Storage Gen2 Billing FAQs | Azure Stor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06" y="297688"/>
            <a:ext cx="11077575" cy="65206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98806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037844" y="462136"/>
            <a:ext cx="10549128" cy="59051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194050" y="1459738"/>
            <a:ext cx="6142990" cy="3540125"/>
            <a:chOff x="3194050" y="1459738"/>
            <a:chExt cx="6142990" cy="3540125"/>
          </a:xfrm>
        </p:grpSpPr>
        <p:sp>
          <p:nvSpPr>
            <p:cNvPr id="3" name="object 3"/>
            <p:cNvSpPr/>
            <p:nvPr/>
          </p:nvSpPr>
          <p:spPr>
            <a:xfrm>
              <a:off x="3200400" y="2584704"/>
              <a:ext cx="6130290" cy="2408555"/>
            </a:xfrm>
            <a:custGeom>
              <a:avLst/>
              <a:gdLst/>
              <a:ahLst/>
              <a:cxnLst/>
              <a:rect l="l" t="t" r="r" b="b"/>
              <a:pathLst>
                <a:path w="6130290" h="2408554">
                  <a:moveTo>
                    <a:pt x="3066161" y="0"/>
                  </a:moveTo>
                  <a:lnTo>
                    <a:pt x="3066161" y="1204341"/>
                  </a:lnTo>
                  <a:lnTo>
                    <a:pt x="2697479" y="1204341"/>
                  </a:lnTo>
                </a:path>
                <a:path w="6130290" h="2408554">
                  <a:moveTo>
                    <a:pt x="3064764" y="0"/>
                  </a:moveTo>
                  <a:lnTo>
                    <a:pt x="3064764" y="2147824"/>
                  </a:lnTo>
                  <a:lnTo>
                    <a:pt x="6130290" y="2147824"/>
                  </a:lnTo>
                  <a:lnTo>
                    <a:pt x="6130290" y="2408555"/>
                  </a:lnTo>
                </a:path>
                <a:path w="6130290" h="2408554">
                  <a:moveTo>
                    <a:pt x="3064764" y="0"/>
                  </a:moveTo>
                  <a:lnTo>
                    <a:pt x="3064764" y="2147824"/>
                  </a:lnTo>
                  <a:lnTo>
                    <a:pt x="3172714" y="2147824"/>
                  </a:lnTo>
                  <a:lnTo>
                    <a:pt x="3172714" y="2408555"/>
                  </a:lnTo>
                </a:path>
                <a:path w="6130290" h="2408554">
                  <a:moveTo>
                    <a:pt x="3065526" y="0"/>
                  </a:moveTo>
                  <a:lnTo>
                    <a:pt x="3065526" y="2147824"/>
                  </a:lnTo>
                  <a:lnTo>
                    <a:pt x="0" y="2147824"/>
                  </a:lnTo>
                  <a:lnTo>
                    <a:pt x="0" y="2408555"/>
                  </a:lnTo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5186172" y="1466087"/>
              <a:ext cx="2159635" cy="1118870"/>
            </a:xfrm>
            <a:custGeom>
              <a:avLst/>
              <a:gdLst/>
              <a:ahLst/>
              <a:cxnLst/>
              <a:rect l="l" t="t" r="r" b="b"/>
              <a:pathLst>
                <a:path w="2159634" h="1118870">
                  <a:moveTo>
                    <a:pt x="2159508" y="0"/>
                  </a:moveTo>
                  <a:lnTo>
                    <a:pt x="0" y="0"/>
                  </a:lnTo>
                  <a:lnTo>
                    <a:pt x="0" y="870216"/>
                  </a:lnTo>
                  <a:lnTo>
                    <a:pt x="0" y="1118616"/>
                  </a:lnTo>
                  <a:lnTo>
                    <a:pt x="2159508" y="1118616"/>
                  </a:lnTo>
                  <a:lnTo>
                    <a:pt x="2159508" y="870216"/>
                  </a:lnTo>
                  <a:lnTo>
                    <a:pt x="2159508" y="0"/>
                  </a:lnTo>
                  <a:close/>
                </a:path>
              </a:pathLst>
            </a:custGeom>
            <a:solidFill>
              <a:srgbClr val="A4A4A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186172" y="1466088"/>
              <a:ext cx="2159635" cy="1118870"/>
            </a:xfrm>
            <a:custGeom>
              <a:avLst/>
              <a:gdLst/>
              <a:ahLst/>
              <a:cxnLst/>
              <a:rect l="l" t="t" r="r" b="b"/>
              <a:pathLst>
                <a:path w="2159634" h="1118870">
                  <a:moveTo>
                    <a:pt x="0" y="1118615"/>
                  </a:moveTo>
                  <a:lnTo>
                    <a:pt x="2159507" y="1118615"/>
                  </a:lnTo>
                  <a:lnTo>
                    <a:pt x="2159507" y="0"/>
                  </a:lnTo>
                  <a:lnTo>
                    <a:pt x="0" y="0"/>
                  </a:lnTo>
                  <a:lnTo>
                    <a:pt x="0" y="1118615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5502909" y="1484833"/>
            <a:ext cx="152717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50" dirty="0">
                <a:solidFill>
                  <a:srgbClr val="FFFFFF"/>
                </a:solidFill>
                <a:latin typeface="Carlito"/>
                <a:cs typeface="Carlito"/>
              </a:rPr>
              <a:t>R</a:t>
            </a:r>
            <a:r>
              <a:rPr sz="5100" spc="-5" dirty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sz="5100" spc="-145" dirty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r>
              <a:rPr sz="510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endParaRPr sz="5100">
              <a:latin typeface="Carlito"/>
              <a:cs typeface="Carlito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2115057" y="2329942"/>
            <a:ext cx="5452110" cy="3786504"/>
            <a:chOff x="2115057" y="2329942"/>
            <a:chExt cx="5452110" cy="3786504"/>
          </a:xfrm>
        </p:grpSpPr>
        <p:sp>
          <p:nvSpPr>
            <p:cNvPr id="8" name="object 8"/>
            <p:cNvSpPr/>
            <p:nvPr/>
          </p:nvSpPr>
          <p:spPr>
            <a:xfrm>
              <a:off x="5618987" y="2336292"/>
              <a:ext cx="1941830" cy="372110"/>
            </a:xfrm>
            <a:custGeom>
              <a:avLst/>
              <a:gdLst/>
              <a:ahLst/>
              <a:cxnLst/>
              <a:rect l="l" t="t" r="r" b="b"/>
              <a:pathLst>
                <a:path w="1941829" h="372110">
                  <a:moveTo>
                    <a:pt x="1941575" y="0"/>
                  </a:moveTo>
                  <a:lnTo>
                    <a:pt x="0" y="0"/>
                  </a:lnTo>
                  <a:lnTo>
                    <a:pt x="0" y="371855"/>
                  </a:lnTo>
                  <a:lnTo>
                    <a:pt x="1941575" y="371855"/>
                  </a:lnTo>
                  <a:lnTo>
                    <a:pt x="1941575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5618987" y="2336292"/>
              <a:ext cx="1941830" cy="372110"/>
            </a:xfrm>
            <a:custGeom>
              <a:avLst/>
              <a:gdLst/>
              <a:ahLst/>
              <a:cxnLst/>
              <a:rect l="l" t="t" r="r" b="b"/>
              <a:pathLst>
                <a:path w="1941829" h="372110">
                  <a:moveTo>
                    <a:pt x="0" y="371855"/>
                  </a:moveTo>
                  <a:lnTo>
                    <a:pt x="1941575" y="371855"/>
                  </a:lnTo>
                  <a:lnTo>
                    <a:pt x="1941575" y="0"/>
                  </a:lnTo>
                  <a:lnTo>
                    <a:pt x="0" y="0"/>
                  </a:lnTo>
                  <a:lnTo>
                    <a:pt x="0" y="371855"/>
                  </a:lnTo>
                  <a:close/>
                </a:path>
              </a:pathLst>
            </a:custGeom>
            <a:ln w="12192">
              <a:solidFill>
                <a:srgbClr val="A4A4A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121408" y="4992623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2157984" y="0"/>
                  </a:moveTo>
                  <a:lnTo>
                    <a:pt x="0" y="0"/>
                  </a:lnTo>
                  <a:lnTo>
                    <a:pt x="0" y="868692"/>
                  </a:lnTo>
                  <a:lnTo>
                    <a:pt x="0" y="1117092"/>
                  </a:lnTo>
                  <a:lnTo>
                    <a:pt x="2157984" y="1117092"/>
                  </a:lnTo>
                  <a:lnTo>
                    <a:pt x="2157984" y="868692"/>
                  </a:lnTo>
                  <a:lnTo>
                    <a:pt x="2157984" y="0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121407" y="4992624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0" y="1117092"/>
                  </a:moveTo>
                  <a:lnTo>
                    <a:pt x="2157984" y="1117092"/>
                  </a:lnTo>
                  <a:lnTo>
                    <a:pt x="2157984" y="0"/>
                  </a:lnTo>
                  <a:lnTo>
                    <a:pt x="0" y="0"/>
                  </a:lnTo>
                  <a:lnTo>
                    <a:pt x="0" y="1117092"/>
                  </a:lnTo>
                  <a:close/>
                </a:path>
              </a:pathLst>
            </a:custGeom>
            <a:ln w="12191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537586" y="5011623"/>
            <a:ext cx="132651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dirty="0">
                <a:solidFill>
                  <a:srgbClr val="FFFFFF"/>
                </a:solidFill>
                <a:latin typeface="Carlito"/>
                <a:cs typeface="Carlito"/>
              </a:rPr>
              <a:t>IN</a:t>
            </a:r>
            <a:r>
              <a:rPr sz="5100" spc="-65" dirty="0">
                <a:solidFill>
                  <a:srgbClr val="FFFFFF"/>
                </a:solidFill>
                <a:latin typeface="Carlito"/>
                <a:cs typeface="Carlito"/>
              </a:rPr>
              <a:t>F</a:t>
            </a:r>
            <a:r>
              <a:rPr sz="5100" dirty="0">
                <a:solidFill>
                  <a:srgbClr val="FFFFFF"/>
                </a:solidFill>
                <a:latin typeface="Carlito"/>
                <a:cs typeface="Carlito"/>
              </a:rPr>
              <a:t>O</a:t>
            </a:r>
            <a:endParaRPr sz="5100">
              <a:latin typeface="Carlito"/>
              <a:cs typeface="Carlito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552700" y="5861303"/>
            <a:ext cx="1943100" cy="373380"/>
          </a:xfrm>
          <a:custGeom>
            <a:avLst/>
            <a:gdLst/>
            <a:ahLst/>
            <a:cxnLst/>
            <a:rect l="l" t="t" r="r" b="b"/>
            <a:pathLst>
              <a:path w="1943100" h="373379">
                <a:moveTo>
                  <a:pt x="1943100" y="0"/>
                </a:moveTo>
                <a:lnTo>
                  <a:pt x="0" y="0"/>
                </a:lnTo>
                <a:lnTo>
                  <a:pt x="0" y="373380"/>
                </a:lnTo>
                <a:lnTo>
                  <a:pt x="1943100" y="373380"/>
                </a:lnTo>
                <a:lnTo>
                  <a:pt x="1943100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552700" y="5861303"/>
            <a:ext cx="1943100" cy="373380"/>
          </a:xfrm>
          <a:prstGeom prst="rect">
            <a:avLst/>
          </a:prstGeom>
          <a:ln w="12192">
            <a:solidFill>
              <a:srgbClr val="FFC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373380">
              <a:lnSpc>
                <a:spcPts val="2635"/>
              </a:lnSpc>
            </a:pPr>
            <a:r>
              <a:rPr sz="2400" spc="-15" dirty="0">
                <a:latin typeface="Carlito"/>
                <a:cs typeface="Carlito"/>
              </a:rPr>
              <a:t>info.vit.ac.in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5010658" y="4986273"/>
            <a:ext cx="2727325" cy="1130300"/>
            <a:chOff x="5010658" y="4986273"/>
            <a:chExt cx="2727325" cy="1130300"/>
          </a:xfrm>
        </p:grpSpPr>
        <p:sp>
          <p:nvSpPr>
            <p:cNvPr id="16" name="object 16"/>
            <p:cNvSpPr/>
            <p:nvPr/>
          </p:nvSpPr>
          <p:spPr>
            <a:xfrm>
              <a:off x="5017008" y="4992623"/>
              <a:ext cx="2714625" cy="1117600"/>
            </a:xfrm>
            <a:custGeom>
              <a:avLst/>
              <a:gdLst/>
              <a:ahLst/>
              <a:cxnLst/>
              <a:rect l="l" t="t" r="r" b="b"/>
              <a:pathLst>
                <a:path w="2714625" h="1117600">
                  <a:moveTo>
                    <a:pt x="2714244" y="0"/>
                  </a:moveTo>
                  <a:lnTo>
                    <a:pt x="0" y="0"/>
                  </a:lnTo>
                  <a:lnTo>
                    <a:pt x="0" y="868692"/>
                  </a:lnTo>
                  <a:lnTo>
                    <a:pt x="0" y="1117092"/>
                  </a:lnTo>
                  <a:lnTo>
                    <a:pt x="2714244" y="1117092"/>
                  </a:lnTo>
                  <a:lnTo>
                    <a:pt x="2714244" y="868692"/>
                  </a:lnTo>
                  <a:lnTo>
                    <a:pt x="2714244" y="0"/>
                  </a:lnTo>
                  <a:close/>
                </a:path>
              </a:pathLst>
            </a:custGeom>
            <a:solidFill>
              <a:srgbClr val="22E04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5017008" y="4992623"/>
              <a:ext cx="2714625" cy="1117600"/>
            </a:xfrm>
            <a:custGeom>
              <a:avLst/>
              <a:gdLst/>
              <a:ahLst/>
              <a:cxnLst/>
              <a:rect l="l" t="t" r="r" b="b"/>
              <a:pathLst>
                <a:path w="2714625" h="1117600">
                  <a:moveTo>
                    <a:pt x="0" y="1117092"/>
                  </a:moveTo>
                  <a:lnTo>
                    <a:pt x="2714243" y="1117092"/>
                  </a:lnTo>
                  <a:lnTo>
                    <a:pt x="2714243" y="0"/>
                  </a:lnTo>
                  <a:lnTo>
                    <a:pt x="0" y="0"/>
                  </a:lnTo>
                  <a:lnTo>
                    <a:pt x="0" y="111709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5056759" y="5011623"/>
            <a:ext cx="263715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dirty="0">
                <a:solidFill>
                  <a:srgbClr val="FFFFFF"/>
                </a:solidFill>
                <a:latin typeface="Carlito"/>
                <a:cs typeface="Carlito"/>
              </a:rPr>
              <a:t>WEBMAIL</a:t>
            </a:r>
            <a:endParaRPr sz="5100">
              <a:latin typeface="Carlito"/>
              <a:cs typeface="Carlito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725667" y="5861303"/>
            <a:ext cx="1943100" cy="373380"/>
          </a:xfrm>
          <a:custGeom>
            <a:avLst/>
            <a:gdLst/>
            <a:ahLst/>
            <a:cxnLst/>
            <a:rect l="l" t="t" r="r" b="b"/>
            <a:pathLst>
              <a:path w="1943100" h="373379">
                <a:moveTo>
                  <a:pt x="1943099" y="0"/>
                </a:moveTo>
                <a:lnTo>
                  <a:pt x="0" y="0"/>
                </a:lnTo>
                <a:lnTo>
                  <a:pt x="0" y="373380"/>
                </a:lnTo>
                <a:lnTo>
                  <a:pt x="1943099" y="373380"/>
                </a:lnTo>
                <a:lnTo>
                  <a:pt x="1943099" y="0"/>
                </a:lnTo>
                <a:close/>
              </a:path>
            </a:pathLst>
          </a:custGeom>
          <a:solidFill>
            <a:srgbClr val="FFFFFF">
              <a:alpha val="90194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5725667" y="5861303"/>
            <a:ext cx="1943100" cy="373380"/>
          </a:xfrm>
          <a:prstGeom prst="rect">
            <a:avLst/>
          </a:prstGeom>
          <a:ln w="12192">
            <a:solidFill>
              <a:srgbClr val="22E047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63500">
              <a:lnSpc>
                <a:spcPts val="2490"/>
              </a:lnSpc>
            </a:pPr>
            <a:r>
              <a:rPr sz="2100" spc="-10" dirty="0">
                <a:latin typeface="Carlito"/>
                <a:cs typeface="Carlito"/>
              </a:rPr>
              <a:t>webmail.vit.ac.in</a:t>
            </a:r>
            <a:endParaRPr sz="2100">
              <a:latin typeface="Carlito"/>
              <a:cs typeface="Carlito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8246109" y="4986273"/>
            <a:ext cx="2171065" cy="1130300"/>
            <a:chOff x="8246109" y="4986273"/>
            <a:chExt cx="2171065" cy="1130300"/>
          </a:xfrm>
        </p:grpSpPr>
        <p:sp>
          <p:nvSpPr>
            <p:cNvPr id="22" name="object 22"/>
            <p:cNvSpPr/>
            <p:nvPr/>
          </p:nvSpPr>
          <p:spPr>
            <a:xfrm>
              <a:off x="8252460" y="4992623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2157971" y="0"/>
                  </a:moveTo>
                  <a:lnTo>
                    <a:pt x="0" y="0"/>
                  </a:lnTo>
                  <a:lnTo>
                    <a:pt x="0" y="868692"/>
                  </a:lnTo>
                  <a:lnTo>
                    <a:pt x="0" y="1117092"/>
                  </a:lnTo>
                  <a:lnTo>
                    <a:pt x="2157971" y="1117092"/>
                  </a:lnTo>
                  <a:lnTo>
                    <a:pt x="2157971" y="868692"/>
                  </a:lnTo>
                  <a:lnTo>
                    <a:pt x="2157971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8252459" y="4992623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0" y="1117092"/>
                  </a:moveTo>
                  <a:lnTo>
                    <a:pt x="2157983" y="1117092"/>
                  </a:lnTo>
                  <a:lnTo>
                    <a:pt x="2157983" y="0"/>
                  </a:lnTo>
                  <a:lnTo>
                    <a:pt x="0" y="0"/>
                  </a:lnTo>
                  <a:lnTo>
                    <a:pt x="0" y="1117092"/>
                  </a:lnTo>
                  <a:close/>
                </a:path>
              </a:pathLst>
            </a:custGeom>
            <a:ln w="12192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8605266" y="5011623"/>
            <a:ext cx="1453515" cy="803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5" dirty="0">
                <a:solidFill>
                  <a:srgbClr val="FFFFFF"/>
                </a:solidFill>
                <a:latin typeface="Carlito"/>
                <a:cs typeface="Carlito"/>
              </a:rPr>
              <a:t>V</a:t>
            </a:r>
            <a:r>
              <a:rPr sz="5100" spc="-150" dirty="0">
                <a:solidFill>
                  <a:srgbClr val="FFFFFF"/>
                </a:solidFill>
                <a:latin typeface="Carlito"/>
                <a:cs typeface="Carlito"/>
              </a:rPr>
              <a:t>T</a:t>
            </a:r>
            <a:r>
              <a:rPr sz="5100" spc="-5" dirty="0">
                <a:solidFill>
                  <a:srgbClr val="FFFFFF"/>
                </a:solidFill>
                <a:latin typeface="Carlito"/>
                <a:cs typeface="Carlito"/>
              </a:rPr>
              <a:t>OP</a:t>
            </a:r>
            <a:endParaRPr sz="5100">
              <a:latin typeface="Carlito"/>
              <a:cs typeface="Carlito"/>
            </a:endParaRPr>
          </a:p>
        </p:txBody>
      </p:sp>
      <p:grpSp>
        <p:nvGrpSpPr>
          <p:cNvPr id="25" name="object 25"/>
          <p:cNvGrpSpPr/>
          <p:nvPr/>
        </p:nvGrpSpPr>
        <p:grpSpPr>
          <a:xfrm>
            <a:off x="8677402" y="5854953"/>
            <a:ext cx="1955800" cy="386080"/>
            <a:chOff x="8677402" y="5854953"/>
            <a:chExt cx="1955800" cy="386080"/>
          </a:xfrm>
        </p:grpSpPr>
        <p:sp>
          <p:nvSpPr>
            <p:cNvPr id="26" name="object 26"/>
            <p:cNvSpPr/>
            <p:nvPr/>
          </p:nvSpPr>
          <p:spPr>
            <a:xfrm>
              <a:off x="8683752" y="5861303"/>
              <a:ext cx="1943100" cy="373380"/>
            </a:xfrm>
            <a:custGeom>
              <a:avLst/>
              <a:gdLst/>
              <a:ahLst/>
              <a:cxnLst/>
              <a:rect l="l" t="t" r="r" b="b"/>
              <a:pathLst>
                <a:path w="1943100" h="373379">
                  <a:moveTo>
                    <a:pt x="1943100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943100" y="373380"/>
                  </a:lnTo>
                  <a:lnTo>
                    <a:pt x="1943100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8683752" y="5861303"/>
              <a:ext cx="1943100" cy="373380"/>
            </a:xfrm>
            <a:custGeom>
              <a:avLst/>
              <a:gdLst/>
              <a:ahLst/>
              <a:cxnLst/>
              <a:rect l="l" t="t" r="r" b="b"/>
              <a:pathLst>
                <a:path w="1943100" h="373379">
                  <a:moveTo>
                    <a:pt x="0" y="373380"/>
                  </a:moveTo>
                  <a:lnTo>
                    <a:pt x="1943100" y="373380"/>
                  </a:lnTo>
                  <a:lnTo>
                    <a:pt x="1943100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8689847" y="5867400"/>
            <a:ext cx="1885950" cy="24257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0" rIns="0" bIns="0" rtlCol="0">
            <a:spAutoFit/>
          </a:bodyPr>
          <a:lstStyle/>
          <a:p>
            <a:pPr marL="285750">
              <a:lnSpc>
                <a:spcPts val="1910"/>
              </a:lnSpc>
            </a:pPr>
            <a:r>
              <a:rPr sz="2400" spc="5" dirty="0">
                <a:latin typeface="Carlito"/>
                <a:cs typeface="Carlito"/>
              </a:rPr>
              <a:t>v</a:t>
            </a:r>
            <a:r>
              <a:rPr sz="2400" spc="-25" dirty="0">
                <a:latin typeface="Carlito"/>
                <a:cs typeface="Carlito"/>
              </a:rPr>
              <a:t>t</a:t>
            </a:r>
            <a:r>
              <a:rPr sz="2400" spc="-5" dirty="0">
                <a:latin typeface="Carlito"/>
                <a:cs typeface="Carlito"/>
              </a:rPr>
              <a:t>op</a:t>
            </a:r>
            <a:r>
              <a:rPr sz="2400" spc="-95" dirty="0">
                <a:latin typeface="Carlito"/>
                <a:cs typeface="Carlito"/>
              </a:rPr>
              <a:t>.</a:t>
            </a:r>
            <a:r>
              <a:rPr sz="2400" dirty="0">
                <a:latin typeface="Carlito"/>
                <a:cs typeface="Carlito"/>
              </a:rPr>
              <a:t>vit</a:t>
            </a:r>
            <a:r>
              <a:rPr sz="2400" spc="-10" dirty="0">
                <a:latin typeface="Carlito"/>
                <a:cs typeface="Carlito"/>
              </a:rPr>
              <a:t>.</a:t>
            </a:r>
            <a:r>
              <a:rPr sz="2400" dirty="0">
                <a:latin typeface="Carlito"/>
                <a:cs typeface="Carlito"/>
              </a:rPr>
              <a:t>ac.in</a:t>
            </a:r>
            <a:endParaRPr sz="2400">
              <a:latin typeface="Carlito"/>
              <a:cs typeface="Carlito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3733546" y="3223005"/>
            <a:ext cx="2171065" cy="1130300"/>
            <a:chOff x="3733546" y="3223005"/>
            <a:chExt cx="2171065" cy="1130300"/>
          </a:xfrm>
        </p:grpSpPr>
        <p:sp>
          <p:nvSpPr>
            <p:cNvPr id="30" name="object 30"/>
            <p:cNvSpPr/>
            <p:nvPr/>
          </p:nvSpPr>
          <p:spPr>
            <a:xfrm>
              <a:off x="3739896" y="3229368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2157984" y="0"/>
                  </a:moveTo>
                  <a:lnTo>
                    <a:pt x="0" y="0"/>
                  </a:lnTo>
                  <a:lnTo>
                    <a:pt x="0" y="868667"/>
                  </a:lnTo>
                  <a:lnTo>
                    <a:pt x="0" y="1117079"/>
                  </a:lnTo>
                  <a:lnTo>
                    <a:pt x="2157984" y="1117079"/>
                  </a:lnTo>
                  <a:lnTo>
                    <a:pt x="2157984" y="868667"/>
                  </a:lnTo>
                  <a:lnTo>
                    <a:pt x="2157984" y="0"/>
                  </a:lnTo>
                  <a:close/>
                </a:path>
              </a:pathLst>
            </a:custGeom>
            <a:solidFill>
              <a:srgbClr val="4471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3739896" y="3229355"/>
              <a:ext cx="2158365" cy="1117600"/>
            </a:xfrm>
            <a:custGeom>
              <a:avLst/>
              <a:gdLst/>
              <a:ahLst/>
              <a:cxnLst/>
              <a:rect l="l" t="t" r="r" b="b"/>
              <a:pathLst>
                <a:path w="2158365" h="1117600">
                  <a:moveTo>
                    <a:pt x="0" y="1117091"/>
                  </a:moveTo>
                  <a:lnTo>
                    <a:pt x="2157983" y="1117091"/>
                  </a:lnTo>
                  <a:lnTo>
                    <a:pt x="2157983" y="0"/>
                  </a:lnTo>
                  <a:lnTo>
                    <a:pt x="0" y="0"/>
                  </a:lnTo>
                  <a:lnTo>
                    <a:pt x="0" y="1117091"/>
                  </a:lnTo>
                  <a:close/>
                </a:path>
              </a:pathLst>
            </a:custGeom>
            <a:ln w="12192">
              <a:solidFill>
                <a:srgbClr val="E7E7E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4382770" y="3248660"/>
            <a:ext cx="871219" cy="802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5100" spc="-5" dirty="0">
                <a:solidFill>
                  <a:srgbClr val="FFFFFF"/>
                </a:solidFill>
                <a:latin typeface="Carlito"/>
                <a:cs typeface="Carlito"/>
              </a:rPr>
              <a:t>VIT</a:t>
            </a:r>
            <a:endParaRPr sz="5100">
              <a:latin typeface="Carlito"/>
              <a:cs typeface="Carlito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4165091" y="4091940"/>
            <a:ext cx="1953895" cy="386080"/>
            <a:chOff x="4165091" y="4091940"/>
            <a:chExt cx="1953895" cy="386080"/>
          </a:xfrm>
        </p:grpSpPr>
        <p:sp>
          <p:nvSpPr>
            <p:cNvPr id="34" name="object 34"/>
            <p:cNvSpPr/>
            <p:nvPr/>
          </p:nvSpPr>
          <p:spPr>
            <a:xfrm>
              <a:off x="4171187" y="4098036"/>
              <a:ext cx="1941830" cy="373380"/>
            </a:xfrm>
            <a:custGeom>
              <a:avLst/>
              <a:gdLst/>
              <a:ahLst/>
              <a:cxnLst/>
              <a:rect l="l" t="t" r="r" b="b"/>
              <a:pathLst>
                <a:path w="1941829" h="373379">
                  <a:moveTo>
                    <a:pt x="1941576" y="0"/>
                  </a:moveTo>
                  <a:lnTo>
                    <a:pt x="0" y="0"/>
                  </a:lnTo>
                  <a:lnTo>
                    <a:pt x="0" y="373380"/>
                  </a:lnTo>
                  <a:lnTo>
                    <a:pt x="1941576" y="373380"/>
                  </a:lnTo>
                  <a:lnTo>
                    <a:pt x="1941576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4171187" y="4098036"/>
              <a:ext cx="1941830" cy="373380"/>
            </a:xfrm>
            <a:custGeom>
              <a:avLst/>
              <a:gdLst/>
              <a:ahLst/>
              <a:cxnLst/>
              <a:rect l="l" t="t" r="r" b="b"/>
              <a:pathLst>
                <a:path w="1941829" h="373379">
                  <a:moveTo>
                    <a:pt x="0" y="373380"/>
                  </a:moveTo>
                  <a:lnTo>
                    <a:pt x="1941576" y="373380"/>
                  </a:lnTo>
                  <a:lnTo>
                    <a:pt x="1941576" y="0"/>
                  </a:lnTo>
                  <a:lnTo>
                    <a:pt x="0" y="0"/>
                  </a:lnTo>
                  <a:lnTo>
                    <a:pt x="0" y="373380"/>
                  </a:lnTo>
                  <a:close/>
                </a:path>
              </a:pathLst>
            </a:custGeom>
            <a:ln w="12192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6" name="object 36"/>
          <p:cNvSpPr txBox="1"/>
          <p:nvPr/>
        </p:nvSpPr>
        <p:spPr>
          <a:xfrm>
            <a:off x="4177284" y="4104132"/>
            <a:ext cx="1879600" cy="236220"/>
          </a:xfrm>
          <a:prstGeom prst="rect">
            <a:avLst/>
          </a:prstGeom>
          <a:solidFill>
            <a:srgbClr val="4471C4"/>
          </a:solidFill>
        </p:spPr>
        <p:txBody>
          <a:bodyPr vert="horz" wrap="square" lIns="0" tIns="0" rIns="0" bIns="0" rtlCol="0">
            <a:spAutoFit/>
          </a:bodyPr>
          <a:lstStyle/>
          <a:p>
            <a:pPr marL="908050">
              <a:lnSpc>
                <a:spcPts val="1860"/>
              </a:lnSpc>
            </a:pPr>
            <a:r>
              <a:rPr sz="2400" dirty="0">
                <a:latin typeface="Carlito"/>
                <a:cs typeface="Carlito"/>
              </a:rPr>
              <a:t>vit</a:t>
            </a:r>
            <a:r>
              <a:rPr sz="2400" spc="-10" dirty="0">
                <a:latin typeface="Carlito"/>
                <a:cs typeface="Carlito"/>
              </a:rPr>
              <a:t>.</a:t>
            </a:r>
            <a:r>
              <a:rPr sz="2400" dirty="0">
                <a:latin typeface="Carlito"/>
                <a:cs typeface="Carlito"/>
              </a:rPr>
              <a:t>ac.in</a:t>
            </a:r>
            <a:endParaRPr sz="2400">
              <a:latin typeface="Carlito"/>
              <a:cs typeface="Carlito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219705" y="237185"/>
            <a:ext cx="831469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1F5F"/>
                </a:solidFill>
                <a:latin typeface="Arial Black"/>
                <a:cs typeface="Arial Black"/>
              </a:rPr>
              <a:t>DOMAIN </a:t>
            </a:r>
            <a:r>
              <a:rPr sz="4400" spc="-10" dirty="0">
                <a:solidFill>
                  <a:srgbClr val="001F5F"/>
                </a:solidFill>
                <a:latin typeface="Arial Black"/>
                <a:cs typeface="Arial Black"/>
              </a:rPr>
              <a:t>NAME </a:t>
            </a:r>
            <a:r>
              <a:rPr sz="4400" spc="5" dirty="0">
                <a:solidFill>
                  <a:srgbClr val="001F5F"/>
                </a:solidFill>
                <a:latin typeface="Arial Black"/>
                <a:cs typeface="Arial Black"/>
              </a:rPr>
              <a:t>AND</a:t>
            </a:r>
            <a:r>
              <a:rPr sz="4400" spc="-90" dirty="0">
                <a:solidFill>
                  <a:srgbClr val="001F5F"/>
                </a:solidFill>
                <a:latin typeface="Arial Black"/>
                <a:cs typeface="Arial Black"/>
              </a:rPr>
              <a:t> </a:t>
            </a:r>
            <a:r>
              <a:rPr sz="4400" dirty="0">
                <a:solidFill>
                  <a:srgbClr val="001F5F"/>
                </a:solidFill>
                <a:latin typeface="Arial Black"/>
                <a:cs typeface="Arial Black"/>
              </a:rPr>
              <a:t>LABEL</a:t>
            </a:r>
            <a:endParaRPr sz="4400">
              <a:latin typeface="Arial Black"/>
              <a:cs typeface="Arial Black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FQDN &amp;</a:t>
            </a:r>
            <a:r>
              <a:rPr spc="-150" dirty="0"/>
              <a:t> </a:t>
            </a:r>
            <a:r>
              <a:rPr dirty="0"/>
              <a:t>PQDN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74719" y="3344672"/>
            <a:ext cx="4241800" cy="543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3400" b="1" spc="-20" dirty="0">
                <a:latin typeface="Carlito"/>
                <a:cs typeface="Carlito"/>
              </a:rPr>
              <a:t>https://events.vit.ac.in</a:t>
            </a:r>
            <a:r>
              <a:rPr sz="3400" spc="-20" dirty="0">
                <a:latin typeface="Carlito"/>
                <a:cs typeface="Carlito"/>
              </a:rPr>
              <a:t>.</a:t>
            </a:r>
            <a:endParaRPr sz="3400">
              <a:latin typeface="Carlito"/>
              <a:cs typeface="Carlito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23680" y="5364581"/>
            <a:ext cx="234823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Country Specific</a:t>
            </a:r>
            <a:r>
              <a:rPr sz="1800" b="1" spc="-11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Domain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868668" y="2929127"/>
            <a:ext cx="1921510" cy="525145"/>
          </a:xfrm>
          <a:custGeom>
            <a:avLst/>
            <a:gdLst/>
            <a:ahLst/>
            <a:cxnLst/>
            <a:rect l="l" t="t" r="r" b="b"/>
            <a:pathLst>
              <a:path w="1921509" h="525145">
                <a:moveTo>
                  <a:pt x="1921128" y="0"/>
                </a:moveTo>
                <a:lnTo>
                  <a:pt x="0" y="525145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619113" y="5405120"/>
            <a:ext cx="174371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Academic</a:t>
            </a:r>
            <a:r>
              <a:rPr sz="1800" b="1" spc="-5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Domain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7318247" y="3846576"/>
            <a:ext cx="12065" cy="1540510"/>
          </a:xfrm>
          <a:custGeom>
            <a:avLst/>
            <a:gdLst/>
            <a:ahLst/>
            <a:cxnLst/>
            <a:rect l="l" t="t" r="r" b="b"/>
            <a:pathLst>
              <a:path w="12065" h="1540510">
                <a:moveTo>
                  <a:pt x="0" y="0"/>
                </a:moveTo>
                <a:lnTo>
                  <a:pt x="11937" y="1540002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834883" y="3750564"/>
            <a:ext cx="1908810" cy="1594485"/>
          </a:xfrm>
          <a:custGeom>
            <a:avLst/>
            <a:gdLst/>
            <a:ahLst/>
            <a:cxnLst/>
            <a:rect l="l" t="t" r="r" b="b"/>
            <a:pathLst>
              <a:path w="1908809" h="1594485">
                <a:moveTo>
                  <a:pt x="0" y="47243"/>
                </a:moveTo>
                <a:lnTo>
                  <a:pt x="1908429" y="1594104"/>
                </a:lnTo>
              </a:path>
              <a:path w="1908809" h="1594485">
                <a:moveTo>
                  <a:pt x="280416" y="0"/>
                </a:moveTo>
                <a:lnTo>
                  <a:pt x="1552575" y="95758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16939" y="1345768"/>
            <a:ext cx="10359390" cy="16871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ts val="2450"/>
              </a:lnSpc>
              <a:spcBef>
                <a:spcPts val="100"/>
              </a:spcBef>
              <a:buFont typeface="Arial"/>
              <a:buChar char="•"/>
              <a:tabLst>
                <a:tab pos="2413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fully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qualified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domain</a:t>
            </a:r>
            <a:r>
              <a:rPr sz="2400" b="1" spc="125" dirty="0">
                <a:latin typeface="Times New Roman"/>
                <a:cs typeface="Times New Roman"/>
              </a:rPr>
              <a:t> </a:t>
            </a:r>
            <a:r>
              <a:rPr sz="2400" b="1" dirty="0">
                <a:latin typeface="Times New Roman"/>
                <a:cs typeface="Times New Roman"/>
              </a:rPr>
              <a:t>name</a:t>
            </a:r>
            <a:r>
              <a:rPr sz="2400" b="1" spc="12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(FQDN),</a:t>
            </a:r>
            <a:r>
              <a:rPr sz="2400" b="1" spc="13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sometimes</a:t>
            </a:r>
            <a:r>
              <a:rPr sz="2400" spc="1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referred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1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an</a:t>
            </a:r>
            <a:r>
              <a:rPr sz="2400" spc="12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absolute</a:t>
            </a:r>
            <a:endParaRPr sz="2400">
              <a:latin typeface="Times New Roman"/>
              <a:cs typeface="Times New Roman"/>
            </a:endParaRPr>
          </a:p>
          <a:p>
            <a:pPr marL="241300" marR="6985">
              <a:lnSpc>
                <a:spcPct val="70000"/>
              </a:lnSpc>
              <a:spcBef>
                <a:spcPts val="434"/>
              </a:spcBef>
              <a:tabLst>
                <a:tab pos="1312545" algn="l"/>
                <a:tab pos="2204085" algn="l"/>
                <a:tab pos="2566670" algn="l"/>
                <a:tab pos="2859405" algn="l"/>
                <a:tab pos="3929379" algn="l"/>
                <a:tab pos="4744720" algn="l"/>
                <a:tab pos="5360670" algn="l"/>
                <a:tab pos="6581775" algn="l"/>
                <a:tab pos="7028180" algn="l"/>
                <a:tab pos="7827009" algn="l"/>
                <a:tab pos="8964295" algn="l"/>
                <a:tab pos="9358630" algn="l"/>
                <a:tab pos="9887585" algn="l"/>
              </a:tabLst>
            </a:pPr>
            <a:r>
              <a:rPr sz="2400" dirty="0">
                <a:latin typeface="Times New Roman"/>
                <a:cs typeface="Times New Roman"/>
              </a:rPr>
              <a:t>do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ain	n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e,	i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a	</a:t>
            </a:r>
            <a:r>
              <a:rPr sz="2400" spc="-15" dirty="0">
                <a:latin typeface="Times New Roman"/>
                <a:cs typeface="Times New Roman"/>
              </a:rPr>
              <a:t>d</a:t>
            </a:r>
            <a:r>
              <a:rPr sz="2400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ain	na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	that	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spc="-15" dirty="0">
                <a:latin typeface="Times New Roman"/>
                <a:cs typeface="Times New Roman"/>
              </a:rPr>
              <a:t>p</a:t>
            </a:r>
            <a:r>
              <a:rPr sz="2400" dirty="0">
                <a:latin typeface="Times New Roman"/>
                <a:cs typeface="Times New Roman"/>
              </a:rPr>
              <a:t>e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5" dirty="0">
                <a:latin typeface="Times New Roman"/>
                <a:cs typeface="Times New Roman"/>
              </a:rPr>
              <a:t>f</a:t>
            </a:r>
            <a:r>
              <a:rPr sz="2400" spc="-5" dirty="0">
                <a:latin typeface="Times New Roman"/>
                <a:cs typeface="Times New Roman"/>
              </a:rPr>
              <a:t>ies</a:t>
            </a:r>
            <a:r>
              <a:rPr sz="2400" dirty="0">
                <a:latin typeface="Times New Roman"/>
                <a:cs typeface="Times New Roman"/>
              </a:rPr>
              <a:t>	it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e</a:t>
            </a:r>
            <a:r>
              <a:rPr sz="2400" spc="-10" dirty="0">
                <a:latin typeface="Times New Roman"/>
                <a:cs typeface="Times New Roman"/>
              </a:rPr>
              <a:t>xa</a:t>
            </a:r>
            <a:r>
              <a:rPr sz="2400" dirty="0">
                <a:latin typeface="Times New Roman"/>
                <a:cs typeface="Times New Roman"/>
              </a:rPr>
              <a:t>ct	l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tion	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the	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e  hierarchy of the </a:t>
            </a:r>
            <a:r>
              <a:rPr sz="2400" b="1" dirty="0">
                <a:latin typeface="Times New Roman"/>
                <a:cs typeface="Times New Roman"/>
              </a:rPr>
              <a:t>Domain Name </a:t>
            </a:r>
            <a:r>
              <a:rPr sz="2400" b="1" spc="-5" dirty="0">
                <a:latin typeface="Times New Roman"/>
                <a:cs typeface="Times New Roman"/>
              </a:rPr>
              <a:t>System</a:t>
            </a:r>
            <a:r>
              <a:rPr sz="2400" b="1" spc="-40" dirty="0">
                <a:latin typeface="Times New Roman"/>
                <a:cs typeface="Times New Roman"/>
              </a:rPr>
              <a:t> </a:t>
            </a:r>
            <a:r>
              <a:rPr sz="2400" b="1" spc="-5" dirty="0">
                <a:latin typeface="Times New Roman"/>
                <a:cs typeface="Times New Roman"/>
              </a:rPr>
              <a:t>(DNS).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3450">
              <a:latin typeface="Times New Roman"/>
              <a:cs typeface="Times New Roman"/>
            </a:endParaRPr>
          </a:p>
          <a:p>
            <a:pPr marR="1577340" algn="r">
              <a:lnSpc>
                <a:spcPct val="100000"/>
              </a:lnSpc>
            </a:pP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Domain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401047" y="3642741"/>
            <a:ext cx="263017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4135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Empty</a:t>
            </a:r>
            <a:endParaRPr sz="1800">
              <a:latin typeface="Carlito"/>
              <a:cs typeface="Carlito"/>
            </a:endParaRPr>
          </a:p>
          <a:p>
            <a:pPr marL="12700">
              <a:lnSpc>
                <a:spcPct val="100000"/>
              </a:lnSpc>
            </a:pP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(string </a:t>
            </a:r>
            <a:r>
              <a:rPr sz="1800" b="1" spc="-10" dirty="0">
                <a:solidFill>
                  <a:srgbClr val="001F5F"/>
                </a:solidFill>
                <a:latin typeface="Carlito"/>
                <a:cs typeface="Carlito"/>
              </a:rPr>
              <a:t>represent </a:t>
            </a: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the</a:t>
            </a:r>
            <a:r>
              <a:rPr sz="1800" b="1" spc="-95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800" b="1" spc="-20" dirty="0">
                <a:solidFill>
                  <a:srgbClr val="001F5F"/>
                </a:solidFill>
                <a:latin typeface="Carlito"/>
                <a:cs typeface="Carlito"/>
              </a:rPr>
              <a:t>ROOT)</a:t>
            </a:r>
            <a:endParaRPr sz="1800">
              <a:latin typeface="Carlito"/>
              <a:cs typeface="Carlito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98164" y="3846576"/>
            <a:ext cx="2077085" cy="1684020"/>
          </a:xfrm>
          <a:custGeom>
            <a:avLst/>
            <a:gdLst/>
            <a:ahLst/>
            <a:cxnLst/>
            <a:rect l="l" t="t" r="r" b="b"/>
            <a:pathLst>
              <a:path w="2077085" h="1684020">
                <a:moveTo>
                  <a:pt x="2076703" y="0"/>
                </a:moveTo>
                <a:lnTo>
                  <a:pt x="0" y="1683639"/>
                </a:lnTo>
              </a:path>
            </a:pathLst>
          </a:custGeom>
          <a:ln w="6096">
            <a:solidFill>
              <a:srgbClr val="5B9BD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558190" y="5604459"/>
            <a:ext cx="10716260" cy="11303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6319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A </a:t>
            </a:r>
            <a:r>
              <a:rPr sz="1800" b="1" spc="-5" dirty="0">
                <a:solidFill>
                  <a:srgbClr val="001F5F"/>
                </a:solidFill>
                <a:latin typeface="Carlito"/>
                <a:cs typeface="Carlito"/>
              </a:rPr>
              <a:t>subdomain </a:t>
            </a: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under</a:t>
            </a:r>
            <a:r>
              <a:rPr sz="1800" b="1" spc="-60" dirty="0">
                <a:solidFill>
                  <a:srgbClr val="001F5F"/>
                </a:solidFill>
                <a:latin typeface="Carlito"/>
                <a:cs typeface="Carlito"/>
              </a:rPr>
              <a:t> </a:t>
            </a:r>
            <a:r>
              <a:rPr sz="1800" b="1" dirty="0">
                <a:solidFill>
                  <a:srgbClr val="001F5F"/>
                </a:solidFill>
                <a:latin typeface="Carlito"/>
                <a:cs typeface="Carlito"/>
              </a:rPr>
              <a:t>vit</a:t>
            </a:r>
            <a:endParaRPr sz="1800">
              <a:latin typeface="Carlito"/>
              <a:cs typeface="Carlito"/>
            </a:endParaRPr>
          </a:p>
          <a:p>
            <a:pPr>
              <a:lnSpc>
                <a:spcPct val="100000"/>
              </a:lnSpc>
              <a:spcBef>
                <a:spcPts val="60"/>
              </a:spcBef>
            </a:pPr>
            <a:endParaRPr sz="1900">
              <a:latin typeface="Carlito"/>
              <a:cs typeface="Carlito"/>
            </a:endParaRPr>
          </a:p>
          <a:p>
            <a:pPr marL="12700" marR="5080">
              <a:lnSpc>
                <a:spcPts val="2110"/>
              </a:lnSpc>
            </a:pP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DNS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Domain </a:t>
            </a: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names can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contain </a:t>
            </a: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characters "a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to z", </a:t>
            </a: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"A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to Z", </a:t>
            </a: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"0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to 9", and "-" (hyphen) </a:t>
            </a:r>
            <a:r>
              <a:rPr sz="1800" b="1" i="1" spc="-15" dirty="0">
                <a:solidFill>
                  <a:srgbClr val="202429"/>
                </a:solidFill>
                <a:latin typeface="Arial"/>
                <a:cs typeface="Arial"/>
              </a:rPr>
              <a:t>only.</a:t>
            </a:r>
            <a:r>
              <a:rPr sz="1800" b="1" i="1" spc="-85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Other  </a:t>
            </a:r>
            <a:r>
              <a:rPr sz="1800" b="1" i="1" spc="-5" dirty="0">
                <a:solidFill>
                  <a:srgbClr val="202429"/>
                </a:solidFill>
                <a:latin typeface="Arial"/>
                <a:cs typeface="Arial"/>
              </a:rPr>
              <a:t>common characters are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not</a:t>
            </a:r>
            <a:r>
              <a:rPr sz="1800" b="1" i="1" spc="25" dirty="0">
                <a:solidFill>
                  <a:srgbClr val="202429"/>
                </a:solidFill>
                <a:latin typeface="Arial"/>
                <a:cs typeface="Arial"/>
              </a:rPr>
              <a:t> </a:t>
            </a:r>
            <a:r>
              <a:rPr sz="1800" b="1" i="1" dirty="0">
                <a:solidFill>
                  <a:srgbClr val="202429"/>
                </a:solidFill>
                <a:latin typeface="Arial"/>
                <a:cs typeface="Arial"/>
              </a:rPr>
              <a:t>allowed.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FQDN &amp;</a:t>
            </a:r>
            <a:r>
              <a:rPr spc="-150" dirty="0"/>
              <a:t> </a:t>
            </a:r>
            <a:r>
              <a:rPr dirty="0"/>
              <a:t>PQDN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3857"/>
            <a:ext cx="10360025" cy="389572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241300" marR="6985" indent="-228600" algn="just">
              <a:lnSpc>
                <a:spcPts val="3030"/>
              </a:lnSpc>
              <a:spcBef>
                <a:spcPts val="475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Times New Roman"/>
                <a:cs typeface="Times New Roman"/>
              </a:rPr>
              <a:t>A </a:t>
            </a:r>
            <a:r>
              <a:rPr sz="2800" b="1" spc="-5" dirty="0">
                <a:latin typeface="Times New Roman"/>
                <a:cs typeface="Times New Roman"/>
              </a:rPr>
              <a:t>partially qualified domain </a:t>
            </a:r>
            <a:r>
              <a:rPr sz="2800" b="1" dirty="0">
                <a:latin typeface="Times New Roman"/>
                <a:cs typeface="Times New Roman"/>
              </a:rPr>
              <a:t>name (PQDN) </a:t>
            </a:r>
            <a:r>
              <a:rPr sz="2800" spc="-5" dirty="0">
                <a:latin typeface="Times New Roman"/>
                <a:cs typeface="Times New Roman"/>
              </a:rPr>
              <a:t>is a domain </a:t>
            </a:r>
            <a:r>
              <a:rPr sz="2800" spc="-10" dirty="0">
                <a:latin typeface="Times New Roman"/>
                <a:cs typeface="Times New Roman"/>
              </a:rPr>
              <a:t>name </a:t>
            </a:r>
            <a:r>
              <a:rPr sz="2800" spc="-5" dirty="0">
                <a:latin typeface="Times New Roman"/>
                <a:cs typeface="Times New Roman"/>
              </a:rPr>
              <a:t>that  </a:t>
            </a:r>
            <a:r>
              <a:rPr sz="2800" dirty="0">
                <a:latin typeface="Times New Roman"/>
                <a:cs typeface="Times New Roman"/>
              </a:rPr>
              <a:t>does not </a:t>
            </a:r>
            <a:r>
              <a:rPr sz="2800" spc="-5" dirty="0">
                <a:latin typeface="Times New Roman"/>
                <a:cs typeface="Times New Roman"/>
              </a:rPr>
              <a:t>include all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levels between </a:t>
            </a:r>
            <a:r>
              <a:rPr sz="2800" dirty="0">
                <a:latin typeface="Times New Roman"/>
                <a:cs typeface="Times New Roman"/>
              </a:rPr>
              <a:t>the </a:t>
            </a:r>
            <a:r>
              <a:rPr sz="2800" spc="-5" dirty="0">
                <a:latin typeface="Times New Roman"/>
                <a:cs typeface="Times New Roman"/>
              </a:rPr>
              <a:t>host and </a:t>
            </a:r>
            <a:r>
              <a:rPr sz="2800" dirty="0">
                <a:latin typeface="Times New Roman"/>
                <a:cs typeface="Times New Roman"/>
              </a:rPr>
              <a:t>the root</a:t>
            </a:r>
            <a:r>
              <a:rPr sz="2800" spc="-65" dirty="0">
                <a:latin typeface="Times New Roman"/>
                <a:cs typeface="Times New Roman"/>
              </a:rPr>
              <a:t> </a:t>
            </a:r>
            <a:r>
              <a:rPr sz="2800" dirty="0">
                <a:latin typeface="Times New Roman"/>
                <a:cs typeface="Times New Roman"/>
              </a:rPr>
              <a:t>node</a:t>
            </a:r>
            <a:endParaRPr sz="2800">
              <a:latin typeface="Times New Roman"/>
              <a:cs typeface="Times New Roman"/>
            </a:endParaRPr>
          </a:p>
          <a:p>
            <a:pPr marL="241300" marR="8890" indent="-228600" algn="just">
              <a:lnSpc>
                <a:spcPts val="3020"/>
              </a:lnSpc>
              <a:spcBef>
                <a:spcPts val="919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5" dirty="0">
                <a:latin typeface="Carlito"/>
                <a:cs typeface="Carlito"/>
              </a:rPr>
              <a:t>A </a:t>
            </a:r>
            <a:r>
              <a:rPr sz="2800" spc="-10" dirty="0">
                <a:latin typeface="Carlito"/>
                <a:cs typeface="Carlito"/>
              </a:rPr>
              <a:t>Partially Qualified Domain </a:t>
            </a:r>
            <a:r>
              <a:rPr sz="2800" spc="-5" dirty="0">
                <a:latin typeface="Carlito"/>
                <a:cs typeface="Carlito"/>
              </a:rPr>
              <a:t>Name </a:t>
            </a:r>
            <a:r>
              <a:rPr sz="2800" dirty="0">
                <a:latin typeface="Carlito"/>
                <a:cs typeface="Carlito"/>
              </a:rPr>
              <a:t>(PQDN) is </a:t>
            </a:r>
            <a:r>
              <a:rPr sz="2800" spc="-10" dirty="0">
                <a:latin typeface="Carlito"/>
                <a:cs typeface="Carlito"/>
              </a:rPr>
              <a:t>used </a:t>
            </a:r>
            <a:r>
              <a:rPr sz="2800" spc="-15" dirty="0">
                <a:latin typeface="Carlito"/>
                <a:cs typeface="Carlito"/>
              </a:rPr>
              <a:t>to  </a:t>
            </a:r>
            <a:r>
              <a:rPr sz="2800" spc="-5" dirty="0">
                <a:latin typeface="Carlito"/>
                <a:cs typeface="Carlito"/>
              </a:rPr>
              <a:t>specify a  </a:t>
            </a:r>
            <a:r>
              <a:rPr sz="2800" spc="-10" dirty="0">
                <a:latin typeface="Carlito"/>
                <a:cs typeface="Carlito"/>
              </a:rPr>
              <a:t>portion </a:t>
            </a:r>
            <a:r>
              <a:rPr sz="2800" spc="-5" dirty="0">
                <a:latin typeface="Carlito"/>
                <a:cs typeface="Carlito"/>
              </a:rPr>
              <a:t>of a </a:t>
            </a:r>
            <a:r>
              <a:rPr sz="2800" spc="-10" dirty="0">
                <a:latin typeface="Carlito"/>
                <a:cs typeface="Carlito"/>
              </a:rPr>
              <a:t>domain </a:t>
            </a:r>
            <a:r>
              <a:rPr sz="2800" spc="-5" dirty="0">
                <a:latin typeface="Carlito"/>
                <a:cs typeface="Carlito"/>
              </a:rPr>
              <a:t>name, </a:t>
            </a:r>
            <a:r>
              <a:rPr sz="2800" spc="-10" dirty="0">
                <a:latin typeface="Carlito"/>
                <a:cs typeface="Carlito"/>
              </a:rPr>
              <a:t>normally </a:t>
            </a:r>
            <a:r>
              <a:rPr sz="2800" spc="-5" dirty="0">
                <a:latin typeface="Carlito"/>
                <a:cs typeface="Carlito"/>
              </a:rPr>
              <a:t>the </a:t>
            </a:r>
            <a:r>
              <a:rPr sz="2800" spc="-15" dirty="0">
                <a:latin typeface="Carlito"/>
                <a:cs typeface="Carlito"/>
              </a:rPr>
              <a:t>host </a:t>
            </a:r>
            <a:r>
              <a:rPr sz="2800" spc="-10" dirty="0">
                <a:latin typeface="Carlito"/>
                <a:cs typeface="Carlito"/>
              </a:rPr>
              <a:t>portion </a:t>
            </a:r>
            <a:r>
              <a:rPr sz="2800" spc="-5" dirty="0">
                <a:latin typeface="Carlito"/>
                <a:cs typeface="Carlito"/>
              </a:rPr>
              <a:t>of</a:t>
            </a:r>
            <a:r>
              <a:rPr sz="2800" spc="215" dirty="0">
                <a:latin typeface="Carlito"/>
                <a:cs typeface="Carlito"/>
              </a:rPr>
              <a:t> </a:t>
            </a:r>
            <a:r>
              <a:rPr sz="2800" spc="-10" dirty="0">
                <a:latin typeface="Carlito"/>
                <a:cs typeface="Carlito"/>
              </a:rPr>
              <a:t>it.</a:t>
            </a:r>
            <a:endParaRPr sz="2800">
              <a:latin typeface="Carlito"/>
              <a:cs typeface="Carlito"/>
            </a:endParaRPr>
          </a:p>
          <a:p>
            <a:pPr marL="241300" marR="5080" indent="-228600" algn="just">
              <a:lnSpc>
                <a:spcPct val="90000"/>
              </a:lnSpc>
              <a:spcBef>
                <a:spcPts val="960"/>
              </a:spcBef>
              <a:buFont typeface="Arial"/>
              <a:buChar char="•"/>
              <a:tabLst>
                <a:tab pos="241300" algn="l"/>
              </a:tabLst>
            </a:pPr>
            <a:r>
              <a:rPr sz="2800" spc="-10" dirty="0">
                <a:latin typeface="Carlito"/>
                <a:cs typeface="Carlito"/>
              </a:rPr>
              <a:t>Example </a:t>
            </a:r>
            <a:r>
              <a:rPr sz="2800" spc="-5" dirty="0">
                <a:latin typeface="Carlito"/>
                <a:cs typeface="Carlito"/>
              </a:rPr>
              <a:t>of </a:t>
            </a:r>
            <a:r>
              <a:rPr sz="2800" spc="-10" dirty="0">
                <a:latin typeface="Carlito"/>
                <a:cs typeface="Carlito"/>
              </a:rPr>
              <a:t>Partially </a:t>
            </a:r>
            <a:r>
              <a:rPr sz="2800" spc="-5" dirty="0">
                <a:latin typeface="Carlito"/>
                <a:cs typeface="Carlito"/>
              </a:rPr>
              <a:t>Qualified </a:t>
            </a:r>
            <a:r>
              <a:rPr sz="2800" spc="-10" dirty="0">
                <a:latin typeface="Carlito"/>
                <a:cs typeface="Carlito"/>
              </a:rPr>
              <a:t>Domain </a:t>
            </a:r>
            <a:r>
              <a:rPr sz="2800" spc="-5" dirty="0">
                <a:latin typeface="Carlito"/>
                <a:cs typeface="Carlito"/>
              </a:rPr>
              <a:t>Name (PQDN) </a:t>
            </a:r>
            <a:r>
              <a:rPr sz="2800" b="1" spc="-5" dirty="0">
                <a:solidFill>
                  <a:srgbClr val="FF0000"/>
                </a:solidFill>
                <a:latin typeface="Carlito"/>
                <a:cs typeface="Carlito"/>
              </a:rPr>
              <a:t>vtop. </a:t>
            </a:r>
            <a:r>
              <a:rPr sz="2800" spc="-5" dirty="0">
                <a:latin typeface="Carlito"/>
                <a:cs typeface="Carlito"/>
              </a:rPr>
              <a:t>Usually the  </a:t>
            </a:r>
            <a:r>
              <a:rPr sz="2800" spc="-15" dirty="0">
                <a:latin typeface="Carlito"/>
                <a:cs typeface="Carlito"/>
              </a:rPr>
              <a:t>computers </a:t>
            </a:r>
            <a:r>
              <a:rPr sz="2800" spc="-5" dirty="0">
                <a:latin typeface="Carlito"/>
                <a:cs typeface="Carlito"/>
              </a:rPr>
              <a:t>will add the DNS </a:t>
            </a:r>
            <a:r>
              <a:rPr sz="2800" spc="-10" dirty="0">
                <a:latin typeface="Carlito"/>
                <a:cs typeface="Carlito"/>
              </a:rPr>
              <a:t>suffix </a:t>
            </a:r>
            <a:r>
              <a:rPr sz="2800" spc="-5" dirty="0">
                <a:latin typeface="Carlito"/>
                <a:cs typeface="Carlito"/>
              </a:rPr>
              <a:t>along with </a:t>
            </a:r>
            <a:r>
              <a:rPr sz="2800" spc="-10" dirty="0">
                <a:latin typeface="Carlito"/>
                <a:cs typeface="Carlito"/>
              </a:rPr>
              <a:t>Partially Qualified  </a:t>
            </a:r>
            <a:r>
              <a:rPr sz="2800" spc="-5" dirty="0">
                <a:latin typeface="Carlito"/>
                <a:cs typeface="Carlito"/>
              </a:rPr>
              <a:t>Domain Name </a:t>
            </a:r>
            <a:r>
              <a:rPr sz="2800" dirty="0">
                <a:latin typeface="Carlito"/>
                <a:cs typeface="Carlito"/>
              </a:rPr>
              <a:t>(PQDN) </a:t>
            </a:r>
            <a:r>
              <a:rPr sz="2800" spc="-25" dirty="0">
                <a:latin typeface="Carlito"/>
                <a:cs typeface="Carlito"/>
              </a:rPr>
              <a:t>before </a:t>
            </a:r>
            <a:r>
              <a:rPr sz="2800" spc="-5" dirty="0">
                <a:latin typeface="Carlito"/>
                <a:cs typeface="Carlito"/>
              </a:rPr>
              <a:t>sending a DNS query </a:t>
            </a:r>
            <a:r>
              <a:rPr sz="2800" spc="-25" dirty="0">
                <a:latin typeface="Carlito"/>
                <a:cs typeface="Carlito"/>
              </a:rPr>
              <a:t>for </a:t>
            </a:r>
            <a:r>
              <a:rPr sz="2800" spc="-10" dirty="0">
                <a:latin typeface="Carlito"/>
                <a:cs typeface="Carlito"/>
              </a:rPr>
              <a:t>name  resolution.</a:t>
            </a:r>
            <a:endParaRPr sz="2800">
              <a:latin typeface="Carlito"/>
              <a:cs typeface="Carlito"/>
            </a:endParaRPr>
          </a:p>
          <a:p>
            <a:pPr marL="3670935" algn="just">
              <a:lnSpc>
                <a:spcPct val="100000"/>
              </a:lnSpc>
              <a:spcBef>
                <a:spcPts val="660"/>
              </a:spcBef>
            </a:pPr>
            <a:r>
              <a:rPr sz="2800" spc="-10" dirty="0">
                <a:latin typeface="Carlito"/>
                <a:cs typeface="Carlito"/>
              </a:rPr>
              <a:t>Example </a:t>
            </a:r>
            <a:r>
              <a:rPr sz="2800" spc="-5" dirty="0">
                <a:latin typeface="Carlito"/>
                <a:cs typeface="Carlito"/>
              </a:rPr>
              <a:t>:</a:t>
            </a:r>
            <a:r>
              <a:rPr sz="2800" spc="10" dirty="0">
                <a:latin typeface="Carlito"/>
                <a:cs typeface="Carlito"/>
              </a:rPr>
              <a:t> </a:t>
            </a:r>
            <a:r>
              <a:rPr sz="2800" b="1" spc="-10" dirty="0">
                <a:solidFill>
                  <a:srgbClr val="FF0000"/>
                </a:solidFill>
                <a:latin typeface="Carlito"/>
                <a:cs typeface="Carlito"/>
              </a:rPr>
              <a:t>vtop</a:t>
            </a:r>
            <a:endParaRPr sz="2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09013" y="312496"/>
            <a:ext cx="817054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Hierarchy </a:t>
            </a:r>
            <a:r>
              <a:rPr dirty="0"/>
              <a:t>of name</a:t>
            </a:r>
            <a:r>
              <a:rPr spc="165" dirty="0"/>
              <a:t> </a:t>
            </a:r>
            <a:r>
              <a:rPr spc="35" dirty="0"/>
              <a:t>servers</a:t>
            </a:r>
          </a:p>
        </p:txBody>
      </p:sp>
      <p:sp>
        <p:nvSpPr>
          <p:cNvPr id="3" name="object 3"/>
          <p:cNvSpPr/>
          <p:nvPr/>
        </p:nvSpPr>
        <p:spPr>
          <a:xfrm>
            <a:off x="845574" y="1747107"/>
            <a:ext cx="10508225" cy="45593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15436" y="307924"/>
            <a:ext cx="596392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369310" algn="l"/>
              </a:tabLst>
            </a:pPr>
            <a:r>
              <a:rPr dirty="0"/>
              <a:t>Zones and	domains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4642" y="1286383"/>
            <a:ext cx="11459210" cy="22923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241300" marR="6350" indent="-228600">
              <a:lnSpc>
                <a:spcPts val="2590"/>
              </a:lnSpc>
              <a:spcBef>
                <a:spcPts val="425"/>
              </a:spcBef>
              <a:buFont typeface="Arial"/>
              <a:buChar char="•"/>
              <a:tabLst>
                <a:tab pos="241300" algn="l"/>
                <a:tab pos="979805" algn="l"/>
                <a:tab pos="1685925" algn="l"/>
                <a:tab pos="2510790" algn="l"/>
                <a:tab pos="2876550" algn="l"/>
                <a:tab pos="3141345" algn="l"/>
                <a:tab pos="4098290" algn="l"/>
                <a:tab pos="5106035" algn="l"/>
                <a:tab pos="5490210" algn="l"/>
                <a:tab pos="7360284" algn="l"/>
                <a:tab pos="8166734" algn="l"/>
                <a:tab pos="9073515" algn="l"/>
                <a:tab pos="9574530" algn="l"/>
                <a:tab pos="10466705" algn="l"/>
              </a:tabLst>
            </a:pPr>
            <a:r>
              <a:rPr sz="2400" spc="-5" dirty="0">
                <a:latin typeface="Times New Roman"/>
                <a:cs typeface="Times New Roman"/>
              </a:rPr>
              <a:t>DNS	zone	refers	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	a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ert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in	por</a:t>
            </a:r>
            <a:r>
              <a:rPr sz="2400" spc="-1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i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n	or	ad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inist</a:t>
            </a:r>
            <a:r>
              <a:rPr sz="2400" spc="5" dirty="0">
                <a:latin typeface="Times New Roman"/>
                <a:cs typeface="Times New Roman"/>
              </a:rPr>
              <a:t>r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spc="-15" dirty="0">
                <a:latin typeface="Times New Roman"/>
                <a:cs typeface="Times New Roman"/>
              </a:rPr>
              <a:t>v</a:t>
            </a:r>
            <a:r>
              <a:rPr sz="2400" dirty="0">
                <a:latin typeface="Times New Roman"/>
                <a:cs typeface="Times New Roman"/>
              </a:rPr>
              <a:t>e	</a:t>
            </a:r>
            <a:r>
              <a:rPr sz="2400" spc="-5" dirty="0">
                <a:latin typeface="Times New Roman"/>
                <a:cs typeface="Times New Roman"/>
              </a:rPr>
              <a:t>sp</a:t>
            </a:r>
            <a:r>
              <a:rPr sz="2400" spc="-15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ce	</a:t>
            </a:r>
            <a:r>
              <a:rPr sz="2400" spc="-5" dirty="0">
                <a:latin typeface="Times New Roman"/>
                <a:cs typeface="Times New Roman"/>
              </a:rPr>
              <a:t>w</a:t>
            </a:r>
            <a:r>
              <a:rPr sz="2400" spc="-20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th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e	glo</a:t>
            </a:r>
            <a:r>
              <a:rPr sz="2400" spc="-10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al	</a:t>
            </a:r>
            <a:r>
              <a:rPr sz="2400" spc="-5" dirty="0">
                <a:latin typeface="Times New Roman"/>
                <a:cs typeface="Times New Roman"/>
              </a:rPr>
              <a:t>D</a:t>
            </a:r>
            <a:r>
              <a:rPr sz="2400" spc="-25" dirty="0">
                <a:latin typeface="Times New Roman"/>
                <a:cs typeface="Times New Roman"/>
              </a:rPr>
              <a:t>o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ain  </a:t>
            </a:r>
            <a:r>
              <a:rPr sz="2400" spc="-10" dirty="0">
                <a:latin typeface="Times New Roman"/>
                <a:cs typeface="Times New Roman"/>
              </a:rPr>
              <a:t>Name </a:t>
            </a:r>
            <a:r>
              <a:rPr sz="2400" spc="-5" dirty="0">
                <a:latin typeface="Times New Roman"/>
                <a:cs typeface="Times New Roman"/>
              </a:rPr>
              <a:t>System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(DNS).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590"/>
              </a:lnSpc>
              <a:spcBef>
                <a:spcPts val="1005"/>
              </a:spcBef>
              <a:buFont typeface="Arial"/>
              <a:buChar char="•"/>
              <a:tabLst>
                <a:tab pos="241300" algn="l"/>
                <a:tab pos="996950" algn="l"/>
                <a:tab pos="1751330" algn="l"/>
                <a:tab pos="2472690" algn="l"/>
                <a:tab pos="3853179" algn="l"/>
                <a:tab pos="4135120" algn="l"/>
                <a:tab pos="5432425" algn="l"/>
                <a:tab pos="5831840" algn="l"/>
                <a:tab pos="7076440" algn="l"/>
                <a:tab pos="8084184" algn="l"/>
                <a:tab pos="8467090" algn="l"/>
                <a:tab pos="10168255" algn="l"/>
                <a:tab pos="10619105" algn="l"/>
              </a:tabLst>
            </a:pPr>
            <a:r>
              <a:rPr sz="2400" dirty="0">
                <a:latin typeface="Times New Roman"/>
                <a:cs typeface="Times New Roman"/>
              </a:rPr>
              <a:t>Each	</a:t>
            </a:r>
            <a:r>
              <a:rPr sz="2400" spc="-10" dirty="0">
                <a:latin typeface="Times New Roman"/>
                <a:cs typeface="Times New Roman"/>
              </a:rPr>
              <a:t>DN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zone	rep</a:t>
            </a:r>
            <a:r>
              <a:rPr sz="2400" spc="-5" dirty="0">
                <a:latin typeface="Times New Roman"/>
                <a:cs typeface="Times New Roman"/>
              </a:rPr>
              <a:t>re</a:t>
            </a:r>
            <a:r>
              <a:rPr sz="2400" spc="-20" dirty="0">
                <a:latin typeface="Times New Roman"/>
                <a:cs typeface="Times New Roman"/>
              </a:rPr>
              <a:t>s</a:t>
            </a:r>
            <a:r>
              <a:rPr sz="2400" spc="-5" dirty="0">
                <a:latin typeface="Times New Roman"/>
                <a:cs typeface="Times New Roman"/>
              </a:rPr>
              <a:t>ents</a:t>
            </a:r>
            <a:r>
              <a:rPr sz="2400" dirty="0">
                <a:latin typeface="Times New Roman"/>
                <a:cs typeface="Times New Roman"/>
              </a:rPr>
              <a:t>	a	bou</a:t>
            </a:r>
            <a:r>
              <a:rPr sz="2400" spc="-15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dary	of	a</a:t>
            </a:r>
            <a:r>
              <a:rPr sz="2400" spc="-10" dirty="0">
                <a:latin typeface="Times New Roman"/>
                <a:cs typeface="Times New Roman"/>
              </a:rPr>
              <a:t>u</a:t>
            </a:r>
            <a:r>
              <a:rPr sz="2400" dirty="0">
                <a:latin typeface="Times New Roman"/>
                <a:cs typeface="Times New Roman"/>
              </a:rPr>
              <a:t>t</a:t>
            </a:r>
            <a:r>
              <a:rPr sz="2400" spc="-10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ority	</a:t>
            </a:r>
            <a:r>
              <a:rPr sz="2400" spc="-5" dirty="0">
                <a:latin typeface="Times New Roman"/>
                <a:cs typeface="Times New Roman"/>
              </a:rPr>
              <a:t>su</a:t>
            </a:r>
            <a:r>
              <a:rPr sz="2400" spc="-15" dirty="0">
                <a:latin typeface="Times New Roman"/>
                <a:cs typeface="Times New Roman"/>
              </a:rPr>
              <a:t>b</a:t>
            </a:r>
            <a:r>
              <a:rPr sz="2400" dirty="0">
                <a:latin typeface="Times New Roman"/>
                <a:cs typeface="Times New Roman"/>
              </a:rPr>
              <a:t>ject	</a:t>
            </a:r>
            <a:r>
              <a:rPr sz="2400" spc="5" dirty="0">
                <a:latin typeface="Times New Roman"/>
                <a:cs typeface="Times New Roman"/>
              </a:rPr>
              <a:t>t</a:t>
            </a:r>
            <a:r>
              <a:rPr sz="2400" dirty="0">
                <a:latin typeface="Times New Roman"/>
                <a:cs typeface="Times New Roman"/>
              </a:rPr>
              <a:t>o	</a:t>
            </a:r>
            <a:r>
              <a:rPr sz="2400" spc="-20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anage</a:t>
            </a:r>
            <a:r>
              <a:rPr sz="2400" spc="-15" dirty="0">
                <a:latin typeface="Times New Roman"/>
                <a:cs typeface="Times New Roman"/>
              </a:rPr>
              <a:t>m</a:t>
            </a:r>
            <a:r>
              <a:rPr sz="2400" dirty="0">
                <a:latin typeface="Times New Roman"/>
                <a:cs typeface="Times New Roman"/>
              </a:rPr>
              <a:t>ent	by	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ert</a:t>
            </a:r>
            <a:r>
              <a:rPr sz="2400" spc="-10" dirty="0">
                <a:latin typeface="Times New Roman"/>
                <a:cs typeface="Times New Roman"/>
              </a:rPr>
              <a:t>a</a:t>
            </a:r>
            <a:r>
              <a:rPr sz="2400" dirty="0">
                <a:latin typeface="Times New Roman"/>
                <a:cs typeface="Times New Roman"/>
              </a:rPr>
              <a:t>in  entities.</a:t>
            </a:r>
            <a:endParaRPr sz="2400">
              <a:latin typeface="Times New Roman"/>
              <a:cs typeface="Times New Roman"/>
            </a:endParaRPr>
          </a:p>
          <a:p>
            <a:pPr marL="241300" marR="5080" indent="-228600">
              <a:lnSpc>
                <a:spcPts val="2590"/>
              </a:lnSpc>
              <a:spcBef>
                <a:spcPts val="1010"/>
              </a:spcBef>
              <a:buFont typeface="Arial"/>
              <a:buChar char="•"/>
              <a:tabLst>
                <a:tab pos="241300" algn="l"/>
                <a:tab pos="873125" algn="l"/>
                <a:tab pos="1572895" algn="l"/>
                <a:tab pos="1983105" algn="l"/>
                <a:tab pos="2447925" algn="l"/>
                <a:tab pos="3217545" algn="l"/>
                <a:tab pos="4147185" algn="l"/>
                <a:tab pos="5049520" algn="l"/>
                <a:tab pos="5581650" algn="l"/>
                <a:tab pos="6934834" algn="l"/>
                <a:tab pos="7331075" algn="l"/>
                <a:tab pos="7625715" algn="l"/>
                <a:tab pos="9218295" algn="l"/>
                <a:tab pos="10390505" algn="l"/>
                <a:tab pos="11191875" algn="l"/>
              </a:tabLst>
            </a:pPr>
            <a:r>
              <a:rPr sz="2400" dirty="0">
                <a:latin typeface="Times New Roman"/>
                <a:cs typeface="Times New Roman"/>
              </a:rPr>
              <a:t>The	t</a:t>
            </a:r>
            <a:r>
              <a:rPr sz="2400" spc="-10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tal	</a:t>
            </a:r>
            <a:r>
              <a:rPr sz="2400" spc="-15" dirty="0">
                <a:latin typeface="Times New Roman"/>
                <a:cs typeface="Times New Roman"/>
              </a:rPr>
              <a:t>o</a:t>
            </a:r>
            <a:r>
              <a:rPr sz="2400" dirty="0">
                <a:latin typeface="Times New Roman"/>
                <a:cs typeface="Times New Roman"/>
              </a:rPr>
              <a:t>f	all	</a:t>
            </a:r>
            <a:r>
              <a:rPr sz="2400" spc="-10" dirty="0">
                <a:latin typeface="Times New Roman"/>
                <a:cs typeface="Times New Roman"/>
              </a:rPr>
              <a:t>DN</a:t>
            </a:r>
            <a:r>
              <a:rPr sz="2400" spc="-5" dirty="0">
                <a:latin typeface="Times New Roman"/>
                <a:cs typeface="Times New Roman"/>
              </a:rPr>
              <a:t>S</a:t>
            </a:r>
            <a:r>
              <a:rPr sz="2400" dirty="0">
                <a:latin typeface="Times New Roman"/>
                <a:cs typeface="Times New Roman"/>
              </a:rPr>
              <a:t>	zones,	whi</a:t>
            </a:r>
            <a:r>
              <a:rPr sz="2400" spc="-10" dirty="0">
                <a:latin typeface="Times New Roman"/>
                <a:cs typeface="Times New Roman"/>
              </a:rPr>
              <a:t>c</a:t>
            </a:r>
            <a:r>
              <a:rPr sz="2400" dirty="0">
                <a:latin typeface="Times New Roman"/>
                <a:cs typeface="Times New Roman"/>
              </a:rPr>
              <a:t>h	are	o</a:t>
            </a:r>
            <a:r>
              <a:rPr sz="2400" spc="-45" dirty="0">
                <a:latin typeface="Times New Roman"/>
                <a:cs typeface="Times New Roman"/>
              </a:rPr>
              <a:t>r</a:t>
            </a:r>
            <a:r>
              <a:rPr sz="2400" dirty="0">
                <a:latin typeface="Times New Roman"/>
                <a:cs typeface="Times New Roman"/>
              </a:rPr>
              <a:t>ga</a:t>
            </a:r>
            <a:r>
              <a:rPr sz="2400" spc="-10" dirty="0">
                <a:latin typeface="Times New Roman"/>
                <a:cs typeface="Times New Roman"/>
              </a:rPr>
              <a:t>n</a:t>
            </a:r>
            <a:r>
              <a:rPr sz="2400" dirty="0">
                <a:latin typeface="Times New Roman"/>
                <a:cs typeface="Times New Roman"/>
              </a:rPr>
              <a:t>ized	</a:t>
            </a:r>
            <a:r>
              <a:rPr sz="2400" spc="5" dirty="0">
                <a:latin typeface="Times New Roman"/>
                <a:cs typeface="Times New Roman"/>
              </a:rPr>
              <a:t>i</a:t>
            </a:r>
            <a:r>
              <a:rPr sz="2400" dirty="0">
                <a:latin typeface="Times New Roman"/>
                <a:cs typeface="Times New Roman"/>
              </a:rPr>
              <a:t>n	a	</a:t>
            </a:r>
            <a:r>
              <a:rPr sz="2400" spc="-1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ierarc</a:t>
            </a:r>
            <a:r>
              <a:rPr sz="2400" spc="-15" dirty="0">
                <a:latin typeface="Times New Roman"/>
                <a:cs typeface="Times New Roman"/>
              </a:rPr>
              <a:t>h</a:t>
            </a:r>
            <a:r>
              <a:rPr sz="2400" dirty="0">
                <a:latin typeface="Times New Roman"/>
                <a:cs typeface="Times New Roman"/>
              </a:rPr>
              <a:t>ical	tre</a:t>
            </a:r>
            <a:r>
              <a:rPr sz="2400" spc="-10" dirty="0">
                <a:latin typeface="Times New Roman"/>
                <a:cs typeface="Times New Roman"/>
              </a:rPr>
              <a:t>e</a:t>
            </a:r>
            <a:r>
              <a:rPr sz="2400" dirty="0">
                <a:latin typeface="Times New Roman"/>
                <a:cs typeface="Times New Roman"/>
              </a:rPr>
              <a:t>-li</a:t>
            </a:r>
            <a:r>
              <a:rPr sz="2400" spc="-15" dirty="0">
                <a:latin typeface="Times New Roman"/>
                <a:cs typeface="Times New Roman"/>
              </a:rPr>
              <a:t>k</a:t>
            </a:r>
            <a:r>
              <a:rPr sz="2400" dirty="0">
                <a:latin typeface="Times New Roman"/>
                <a:cs typeface="Times New Roman"/>
              </a:rPr>
              <a:t>e	order	of  cascading </a:t>
            </a:r>
            <a:r>
              <a:rPr sz="2400" spc="-5" dirty="0">
                <a:latin typeface="Times New Roman"/>
                <a:cs typeface="Times New Roman"/>
              </a:rPr>
              <a:t>lower-level domains, form </a:t>
            </a:r>
            <a:r>
              <a:rPr sz="2400" dirty="0">
                <a:latin typeface="Times New Roman"/>
                <a:cs typeface="Times New Roman"/>
              </a:rPr>
              <a:t>the </a:t>
            </a:r>
            <a:r>
              <a:rPr sz="2400" spc="-10" dirty="0">
                <a:latin typeface="Times New Roman"/>
                <a:cs typeface="Times New Roman"/>
              </a:rPr>
              <a:t>DNS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Times New Roman"/>
                <a:cs typeface="Times New Roman"/>
              </a:rPr>
              <a:t>namespace.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957828" y="3753528"/>
            <a:ext cx="4872228" cy="2918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75941" y="307924"/>
            <a:ext cx="704215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DNS </a:t>
            </a:r>
            <a:r>
              <a:rPr dirty="0"/>
              <a:t>IN </a:t>
            </a:r>
            <a:r>
              <a:rPr spc="-5" dirty="0"/>
              <a:t>THE</a:t>
            </a:r>
            <a:r>
              <a:rPr spc="-114" dirty="0"/>
              <a:t> </a:t>
            </a:r>
            <a:r>
              <a:rPr spc="-5" dirty="0"/>
              <a:t>INTERNET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12" rIns="0" bIns="0" rtlCol="0">
            <a:spAutoFit/>
          </a:bodyPr>
          <a:lstStyle/>
          <a:p>
            <a:pPr marL="187960" indent="-175260">
              <a:lnSpc>
                <a:spcPct val="100000"/>
              </a:lnSpc>
              <a:spcBef>
                <a:spcPts val="95"/>
              </a:spcBef>
              <a:buChar char="•"/>
              <a:tabLst>
                <a:tab pos="187960" algn="l"/>
              </a:tabLst>
            </a:pPr>
            <a:r>
              <a:rPr spc="-5" dirty="0"/>
              <a:t>DNS is a protocol </a:t>
            </a:r>
            <a:r>
              <a:rPr dirty="0"/>
              <a:t>that </a:t>
            </a:r>
            <a:r>
              <a:rPr spc="-5" dirty="0"/>
              <a:t>can be used in different</a:t>
            </a:r>
            <a:r>
              <a:rPr spc="90" dirty="0"/>
              <a:t> </a:t>
            </a:r>
            <a:r>
              <a:rPr spc="-5" dirty="0"/>
              <a:t>platforms.</a:t>
            </a:r>
          </a:p>
          <a:p>
            <a:pPr>
              <a:lnSpc>
                <a:spcPct val="100000"/>
              </a:lnSpc>
              <a:spcBef>
                <a:spcPts val="10"/>
              </a:spcBef>
              <a:buFont typeface="Arial"/>
              <a:buChar char="•"/>
            </a:pPr>
            <a:endParaRPr sz="4400"/>
          </a:p>
          <a:p>
            <a:pPr marL="187325" marR="5080" indent="-175260">
              <a:lnSpc>
                <a:spcPts val="3030"/>
              </a:lnSpc>
              <a:spcBef>
                <a:spcPts val="5"/>
              </a:spcBef>
              <a:buChar char="•"/>
              <a:tabLst>
                <a:tab pos="187960" algn="l"/>
                <a:tab pos="658495" algn="l"/>
                <a:tab pos="1327785" algn="l"/>
                <a:tab pos="2807335" algn="l"/>
                <a:tab pos="3477260" algn="l"/>
                <a:tab pos="4820920" algn="l"/>
                <a:tab pos="5885180" algn="l"/>
                <a:tab pos="7011670" algn="l"/>
                <a:tab pos="8037195" algn="l"/>
                <a:tab pos="8468995" algn="l"/>
                <a:tab pos="9772015" algn="l"/>
              </a:tabLst>
            </a:pPr>
            <a:r>
              <a:rPr spc="-5" dirty="0"/>
              <a:t>In	the	Inte</a:t>
            </a:r>
            <a:r>
              <a:rPr dirty="0"/>
              <a:t>r</a:t>
            </a:r>
            <a:r>
              <a:rPr spc="-10" dirty="0"/>
              <a:t>n</a:t>
            </a:r>
            <a:r>
              <a:rPr dirty="0"/>
              <a:t>e</a:t>
            </a:r>
            <a:r>
              <a:rPr spc="-5" dirty="0"/>
              <a:t>t,</a:t>
            </a:r>
            <a:r>
              <a:rPr dirty="0"/>
              <a:t>	</a:t>
            </a:r>
            <a:r>
              <a:rPr spc="-5" dirty="0"/>
              <a:t>t</a:t>
            </a:r>
            <a:r>
              <a:rPr dirty="0"/>
              <a:t>h</a:t>
            </a:r>
            <a:r>
              <a:rPr spc="-5" dirty="0"/>
              <a:t>e</a:t>
            </a:r>
            <a:r>
              <a:rPr dirty="0"/>
              <a:t>	</a:t>
            </a:r>
            <a:r>
              <a:rPr spc="-10" dirty="0"/>
              <a:t>d</a:t>
            </a:r>
            <a:r>
              <a:rPr dirty="0"/>
              <a:t>o</a:t>
            </a:r>
            <a:r>
              <a:rPr spc="-5" dirty="0"/>
              <a:t>m</a:t>
            </a:r>
            <a:r>
              <a:rPr spc="5" dirty="0"/>
              <a:t>a</a:t>
            </a:r>
            <a:r>
              <a:rPr spc="-10" dirty="0"/>
              <a:t>i</a:t>
            </a:r>
            <a:r>
              <a:rPr spc="-5" dirty="0"/>
              <a:t>n</a:t>
            </a:r>
            <a:r>
              <a:rPr dirty="0"/>
              <a:t>	</a:t>
            </a:r>
            <a:r>
              <a:rPr spc="-10" dirty="0"/>
              <a:t>n</a:t>
            </a:r>
            <a:r>
              <a:rPr dirty="0"/>
              <a:t>a</a:t>
            </a:r>
            <a:r>
              <a:rPr spc="-5" dirty="0"/>
              <a:t>me</a:t>
            </a:r>
            <a:r>
              <a:rPr dirty="0"/>
              <a:t>	</a:t>
            </a:r>
            <a:r>
              <a:rPr spc="5" dirty="0"/>
              <a:t>s</a:t>
            </a:r>
            <a:r>
              <a:rPr spc="-10" dirty="0"/>
              <a:t>p</a:t>
            </a:r>
            <a:r>
              <a:rPr dirty="0"/>
              <a:t>a</a:t>
            </a:r>
            <a:r>
              <a:rPr spc="-5" dirty="0"/>
              <a:t>ce</a:t>
            </a:r>
            <a:r>
              <a:rPr dirty="0"/>
              <a:t>	</a:t>
            </a:r>
            <a:r>
              <a:rPr spc="-5" dirty="0"/>
              <a:t>(t</a:t>
            </a:r>
            <a:r>
              <a:rPr dirty="0"/>
              <a:t>r</a:t>
            </a:r>
            <a:r>
              <a:rPr spc="-10" dirty="0"/>
              <a:t>e</a:t>
            </a:r>
            <a:r>
              <a:rPr dirty="0"/>
              <a:t>e</a:t>
            </a:r>
            <a:r>
              <a:rPr spc="-5" dirty="0"/>
              <a:t>)</a:t>
            </a:r>
            <a:r>
              <a:rPr dirty="0"/>
              <a:t>	</a:t>
            </a:r>
            <a:r>
              <a:rPr spc="-5" dirty="0"/>
              <a:t>is</a:t>
            </a:r>
            <a:r>
              <a:rPr dirty="0"/>
              <a:t>	</a:t>
            </a:r>
            <a:r>
              <a:rPr spc="-10" dirty="0"/>
              <a:t>d</a:t>
            </a:r>
            <a:r>
              <a:rPr dirty="0"/>
              <a:t>i</a:t>
            </a:r>
            <a:r>
              <a:rPr spc="-5" dirty="0"/>
              <a:t>v</a:t>
            </a:r>
            <a:r>
              <a:rPr dirty="0"/>
              <a:t>i</a:t>
            </a:r>
            <a:r>
              <a:rPr spc="-10" dirty="0"/>
              <a:t>d</a:t>
            </a:r>
            <a:r>
              <a:rPr dirty="0"/>
              <a:t>e</a:t>
            </a:r>
            <a:r>
              <a:rPr spc="-5" dirty="0"/>
              <a:t>d</a:t>
            </a:r>
            <a:r>
              <a:rPr dirty="0"/>
              <a:t>	</a:t>
            </a:r>
            <a:r>
              <a:rPr spc="-10" dirty="0"/>
              <a:t>i</a:t>
            </a:r>
            <a:r>
              <a:rPr dirty="0"/>
              <a:t>n</a:t>
            </a:r>
            <a:r>
              <a:rPr spc="-5" dirty="0"/>
              <a:t>to  </a:t>
            </a:r>
            <a:r>
              <a:rPr dirty="0"/>
              <a:t>three </a:t>
            </a:r>
            <a:r>
              <a:rPr spc="-5" dirty="0"/>
              <a:t>different</a:t>
            </a:r>
            <a:r>
              <a:rPr dirty="0"/>
              <a:t> sections:</a:t>
            </a:r>
          </a:p>
          <a:p>
            <a:pPr marL="481330" lvl="1" indent="-283845">
              <a:lnSpc>
                <a:spcPct val="100000"/>
              </a:lnSpc>
              <a:spcBef>
                <a:spcPts val="610"/>
              </a:spcBef>
              <a:buSzPct val="96428"/>
              <a:buFont typeface="Wingdings"/>
              <a:buChar char=""/>
              <a:tabLst>
                <a:tab pos="481965" algn="l"/>
              </a:tabLst>
            </a:pPr>
            <a:r>
              <a:rPr sz="2800" spc="-5" dirty="0">
                <a:latin typeface="Arial"/>
                <a:cs typeface="Arial"/>
              </a:rPr>
              <a:t>Generic</a:t>
            </a:r>
            <a:r>
              <a:rPr sz="2800" spc="-2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domains</a:t>
            </a:r>
            <a:endParaRPr sz="2800">
              <a:latin typeface="Arial"/>
              <a:cs typeface="Arial"/>
            </a:endParaRPr>
          </a:p>
          <a:p>
            <a:pPr marL="481330" lvl="1" indent="-283845">
              <a:lnSpc>
                <a:spcPct val="100000"/>
              </a:lnSpc>
              <a:spcBef>
                <a:spcPts val="670"/>
              </a:spcBef>
              <a:buSzPct val="96428"/>
              <a:buFont typeface="Wingdings"/>
              <a:buChar char=""/>
              <a:tabLst>
                <a:tab pos="481965" algn="l"/>
              </a:tabLst>
            </a:pPr>
            <a:r>
              <a:rPr sz="2800" spc="-5" dirty="0">
                <a:latin typeface="Arial"/>
                <a:cs typeface="Arial"/>
              </a:rPr>
              <a:t>Country</a:t>
            </a:r>
            <a:r>
              <a:rPr sz="2800" spc="-75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domains</a:t>
            </a:r>
            <a:endParaRPr sz="2800">
              <a:latin typeface="Arial"/>
              <a:cs typeface="Arial"/>
            </a:endParaRPr>
          </a:p>
          <a:p>
            <a:pPr marL="481330" lvl="1" indent="-283845">
              <a:lnSpc>
                <a:spcPct val="100000"/>
              </a:lnSpc>
              <a:spcBef>
                <a:spcPts val="665"/>
              </a:spcBef>
              <a:buSzPct val="96428"/>
              <a:buFont typeface="Wingdings"/>
              <a:buChar char=""/>
              <a:tabLst>
                <a:tab pos="481965" algn="l"/>
              </a:tabLst>
            </a:pPr>
            <a:r>
              <a:rPr sz="2800" spc="-5" dirty="0">
                <a:latin typeface="Arial"/>
                <a:cs typeface="Arial"/>
              </a:rPr>
              <a:t>Inverse</a:t>
            </a:r>
            <a:r>
              <a:rPr sz="280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domain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488179" y="4155669"/>
            <a:ext cx="6865620" cy="234880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09213" y="457"/>
            <a:ext cx="49784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GENERIC</a:t>
            </a:r>
            <a:r>
              <a:rPr sz="4000" b="1" spc="-40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DOMAINS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42900" y="1287780"/>
            <a:ext cx="11558016" cy="53781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37915" y="181432"/>
            <a:ext cx="497522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5" dirty="0">
                <a:latin typeface="Times New Roman"/>
                <a:cs typeface="Times New Roman"/>
              </a:rPr>
              <a:t>GENERIC</a:t>
            </a:r>
            <a:r>
              <a:rPr sz="4000" b="1" spc="-65" dirty="0">
                <a:latin typeface="Times New Roman"/>
                <a:cs typeface="Times New Roman"/>
              </a:rPr>
              <a:t> </a:t>
            </a:r>
            <a:r>
              <a:rPr sz="4000" b="1" spc="-5" dirty="0">
                <a:latin typeface="Times New Roman"/>
                <a:cs typeface="Times New Roman"/>
              </a:rPr>
              <a:t>DOMAINS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57200" y="1152144"/>
            <a:ext cx="11335512" cy="502462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70884" y="324688"/>
            <a:ext cx="56515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1" spc="-25" dirty="0">
                <a:latin typeface="Times New Roman"/>
                <a:cs typeface="Times New Roman"/>
              </a:rPr>
              <a:t>COUNTRY</a:t>
            </a:r>
            <a:r>
              <a:rPr b="1" spc="-240" dirty="0">
                <a:latin typeface="Times New Roman"/>
                <a:cs typeface="Times New Roman"/>
              </a:rPr>
              <a:t> </a:t>
            </a:r>
            <a:r>
              <a:rPr b="1" dirty="0">
                <a:latin typeface="Times New Roman"/>
                <a:cs typeface="Times New Roman"/>
              </a:rPr>
              <a:t>DOMAINS</a:t>
            </a:r>
          </a:p>
        </p:txBody>
      </p:sp>
      <p:sp>
        <p:nvSpPr>
          <p:cNvPr id="3" name="object 3"/>
          <p:cNvSpPr/>
          <p:nvPr/>
        </p:nvSpPr>
        <p:spPr>
          <a:xfrm>
            <a:off x="758951" y="1243583"/>
            <a:ext cx="10674096" cy="55153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82339" y="115316"/>
            <a:ext cx="457898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b="1" spc="-10" dirty="0">
                <a:latin typeface="Times New Roman"/>
                <a:cs typeface="Times New Roman"/>
              </a:rPr>
              <a:t>INVERSE</a:t>
            </a:r>
            <a:r>
              <a:rPr sz="4000" b="1" spc="-20" dirty="0">
                <a:latin typeface="Times New Roman"/>
                <a:cs typeface="Times New Roman"/>
              </a:rPr>
              <a:t> </a:t>
            </a:r>
            <a:r>
              <a:rPr sz="4000" b="1" spc="-10" dirty="0">
                <a:latin typeface="Times New Roman"/>
                <a:cs typeface="Times New Roman"/>
              </a:rPr>
              <a:t>DOMAIN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838200" y="1014983"/>
            <a:ext cx="10692384" cy="551840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95269" y="307924"/>
            <a:ext cx="560451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DNS</a:t>
            </a:r>
            <a:r>
              <a:rPr spc="-90" dirty="0"/>
              <a:t> </a:t>
            </a:r>
            <a:r>
              <a:rPr spc="-10" dirty="0"/>
              <a:t>RESOLUTION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6672" rIns="0" bIns="0" rtlCol="0">
            <a:spAutoFit/>
          </a:bodyPr>
          <a:lstStyle/>
          <a:p>
            <a:pPr marL="241300" marR="5080" indent="-228600">
              <a:lnSpc>
                <a:spcPts val="3030"/>
              </a:lnSpc>
              <a:spcBef>
                <a:spcPts val="475"/>
              </a:spcBef>
              <a:buChar char="•"/>
              <a:tabLst>
                <a:tab pos="241300" algn="l"/>
                <a:tab pos="1780539" algn="l"/>
                <a:tab pos="2150745" algn="l"/>
                <a:tab pos="3213100" algn="l"/>
                <a:tab pos="3683000" algn="l"/>
                <a:tab pos="4251325" algn="l"/>
                <a:tab pos="5691505" algn="l"/>
                <a:tab pos="6181090" algn="l"/>
                <a:tab pos="6747509" algn="l"/>
                <a:tab pos="8187690" algn="l"/>
                <a:tab pos="8656320" algn="l"/>
                <a:tab pos="9026525" algn="l"/>
                <a:tab pos="10086975" algn="l"/>
              </a:tabLst>
            </a:pPr>
            <a:r>
              <a:rPr spc="-5" dirty="0"/>
              <a:t>Ma</a:t>
            </a:r>
            <a:r>
              <a:rPr dirty="0"/>
              <a:t>p</a:t>
            </a:r>
            <a:r>
              <a:rPr spc="-10" dirty="0"/>
              <a:t>p</a:t>
            </a:r>
            <a:r>
              <a:rPr spc="10" dirty="0"/>
              <a:t>i</a:t>
            </a:r>
            <a:r>
              <a:rPr spc="-10" dirty="0"/>
              <a:t>n</a:t>
            </a:r>
            <a:r>
              <a:rPr spc="-5" dirty="0"/>
              <a:t>g</a:t>
            </a:r>
            <a:r>
              <a:rPr dirty="0"/>
              <a:t>	</a:t>
            </a:r>
            <a:r>
              <a:rPr spc="-5" dirty="0"/>
              <a:t>a</a:t>
            </a:r>
            <a:r>
              <a:rPr dirty="0"/>
              <a:t>	</a:t>
            </a:r>
            <a:r>
              <a:rPr spc="-10" dirty="0"/>
              <a:t>nam</a:t>
            </a:r>
            <a:r>
              <a:rPr spc="-5" dirty="0"/>
              <a:t>e</a:t>
            </a:r>
            <a:r>
              <a:rPr dirty="0"/>
              <a:t>	</a:t>
            </a:r>
            <a:r>
              <a:rPr spc="-5" dirty="0"/>
              <a:t>to</a:t>
            </a:r>
            <a:r>
              <a:rPr dirty="0"/>
              <a:t>	</a:t>
            </a:r>
            <a:r>
              <a:rPr spc="-5" dirty="0"/>
              <a:t>an</a:t>
            </a:r>
            <a:r>
              <a:rPr dirty="0"/>
              <a:t>	</a:t>
            </a:r>
            <a:r>
              <a:rPr spc="-5" dirty="0"/>
              <a:t>address</a:t>
            </a:r>
            <a:r>
              <a:rPr dirty="0"/>
              <a:t>	</a:t>
            </a:r>
            <a:r>
              <a:rPr spc="-5" dirty="0"/>
              <a:t>or</a:t>
            </a:r>
            <a:r>
              <a:rPr dirty="0"/>
              <a:t>	</a:t>
            </a:r>
            <a:r>
              <a:rPr spc="-15" dirty="0"/>
              <a:t>a</a:t>
            </a:r>
            <a:r>
              <a:rPr spc="-5" dirty="0"/>
              <a:t>n</a:t>
            </a:r>
            <a:r>
              <a:rPr dirty="0"/>
              <a:t>	</a:t>
            </a:r>
            <a:r>
              <a:rPr spc="-5" dirty="0"/>
              <a:t>address</a:t>
            </a:r>
            <a:r>
              <a:rPr dirty="0"/>
              <a:t>	</a:t>
            </a:r>
            <a:r>
              <a:rPr spc="-5" dirty="0"/>
              <a:t>to</a:t>
            </a:r>
            <a:r>
              <a:rPr dirty="0"/>
              <a:t>	</a:t>
            </a:r>
            <a:r>
              <a:rPr spc="-5" dirty="0"/>
              <a:t>a</a:t>
            </a:r>
            <a:r>
              <a:rPr dirty="0"/>
              <a:t>	</a:t>
            </a:r>
            <a:r>
              <a:rPr spc="-10" dirty="0"/>
              <a:t>nam</a:t>
            </a:r>
            <a:r>
              <a:rPr spc="-5" dirty="0"/>
              <a:t>e</a:t>
            </a:r>
            <a:r>
              <a:rPr dirty="0"/>
              <a:t>	</a:t>
            </a:r>
            <a:r>
              <a:rPr spc="-5" dirty="0"/>
              <a:t>is  called </a:t>
            </a:r>
            <a:r>
              <a:rPr dirty="0"/>
              <a:t>name-address</a:t>
            </a:r>
            <a:r>
              <a:rPr spc="30" dirty="0"/>
              <a:t> </a:t>
            </a:r>
            <a:r>
              <a:rPr dirty="0"/>
              <a:t>resolution.</a:t>
            </a: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050"/>
          </a:p>
          <a:p>
            <a:pPr marL="340360" indent="-328295">
              <a:lnSpc>
                <a:spcPct val="100000"/>
              </a:lnSpc>
              <a:spcBef>
                <a:spcPts val="5"/>
              </a:spcBef>
              <a:buClr>
                <a:srgbClr val="000000"/>
              </a:buClr>
              <a:buSzPct val="112500"/>
              <a:buFont typeface="Wingdings"/>
              <a:buChar char=""/>
              <a:tabLst>
                <a:tab pos="340995" algn="l"/>
              </a:tabLst>
            </a:pPr>
            <a:r>
              <a:rPr spc="-5" dirty="0">
                <a:solidFill>
                  <a:srgbClr val="001F5F"/>
                </a:solidFill>
                <a:latin typeface="Times New Roman"/>
                <a:cs typeface="Times New Roman"/>
              </a:rPr>
              <a:t>Resolver</a:t>
            </a:r>
          </a:p>
          <a:p>
            <a:pPr marL="939165" lvl="1" indent="-419734">
              <a:lnSpc>
                <a:spcPct val="100000"/>
              </a:lnSpc>
              <a:spcBef>
                <a:spcPts val="245"/>
              </a:spcBef>
              <a:buClr>
                <a:srgbClr val="000000"/>
              </a:buClr>
              <a:buSzPct val="116071"/>
              <a:buFont typeface="Wingdings"/>
              <a:buChar char=""/>
              <a:tabLst>
                <a:tab pos="939800" algn="l"/>
              </a:tabLst>
            </a:pP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Mapping </a:t>
            </a:r>
            <a:r>
              <a:rPr sz="2800" spc="-10" dirty="0">
                <a:solidFill>
                  <a:srgbClr val="001F5F"/>
                </a:solidFill>
                <a:latin typeface="Times New Roman"/>
                <a:cs typeface="Times New Roman"/>
              </a:rPr>
              <a:t>Names </a:t>
            </a: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to</a:t>
            </a:r>
            <a:r>
              <a:rPr sz="2800" spc="-16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Addresses</a:t>
            </a:r>
            <a:endParaRPr sz="2800">
              <a:latin typeface="Times New Roman"/>
              <a:cs typeface="Times New Roman"/>
            </a:endParaRPr>
          </a:p>
          <a:p>
            <a:pPr marL="939165" lvl="1" indent="-419734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6071"/>
              <a:buFont typeface="Wingdings"/>
              <a:buChar char=""/>
              <a:tabLst>
                <a:tab pos="939800" algn="l"/>
              </a:tabLst>
            </a:pPr>
            <a:r>
              <a:rPr sz="2800" spc="-5" dirty="0">
                <a:solidFill>
                  <a:srgbClr val="001F5F"/>
                </a:solidFill>
                <a:latin typeface="Times New Roman"/>
                <a:cs typeface="Times New Roman"/>
              </a:rPr>
              <a:t>Mapping Addresses to</a:t>
            </a:r>
            <a:r>
              <a:rPr sz="2800" spc="-180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solidFill>
                  <a:srgbClr val="001F5F"/>
                </a:solidFill>
                <a:latin typeface="Times New Roman"/>
                <a:cs typeface="Times New Roman"/>
              </a:rPr>
              <a:t>Names</a:t>
            </a:r>
            <a:endParaRPr sz="2800">
              <a:latin typeface="Times New Roman"/>
              <a:cs typeface="Times New Roman"/>
            </a:endParaRPr>
          </a:p>
          <a:p>
            <a:pPr marL="428625" indent="-416559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112500"/>
              <a:buFont typeface="Wingdings"/>
              <a:buChar char=""/>
              <a:tabLst>
                <a:tab pos="429259" algn="l"/>
              </a:tabLst>
            </a:pPr>
            <a:r>
              <a:rPr spc="-5" dirty="0">
                <a:solidFill>
                  <a:srgbClr val="001F5F"/>
                </a:solidFill>
                <a:latin typeface="Times New Roman"/>
                <a:cs typeface="Times New Roman"/>
              </a:rPr>
              <a:t>Recursive</a:t>
            </a:r>
            <a:r>
              <a:rPr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1F5F"/>
                </a:solidFill>
                <a:latin typeface="Times New Roman"/>
                <a:cs typeface="Times New Roman"/>
              </a:rPr>
              <a:t>Resolution</a:t>
            </a:r>
          </a:p>
          <a:p>
            <a:pPr marL="428625" indent="-416559">
              <a:lnSpc>
                <a:spcPct val="100000"/>
              </a:lnSpc>
              <a:spcBef>
                <a:spcPts val="335"/>
              </a:spcBef>
              <a:buClr>
                <a:srgbClr val="000000"/>
              </a:buClr>
              <a:buSzPct val="112500"/>
              <a:buFont typeface="Wingdings"/>
              <a:buChar char=""/>
              <a:tabLst>
                <a:tab pos="429259" algn="l"/>
              </a:tabLst>
            </a:pPr>
            <a:r>
              <a:rPr spc="-5" dirty="0">
                <a:solidFill>
                  <a:srgbClr val="001F5F"/>
                </a:solidFill>
                <a:latin typeface="Times New Roman"/>
                <a:cs typeface="Times New Roman"/>
              </a:rPr>
              <a:t>Iterative</a:t>
            </a:r>
            <a:r>
              <a:rPr spc="-15" dirty="0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1F5F"/>
                </a:solidFill>
                <a:latin typeface="Times New Roman"/>
                <a:cs typeface="Times New Roman"/>
              </a:rPr>
              <a:t>Resolution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743455" y="1123188"/>
            <a:ext cx="8629015" cy="4494530"/>
            <a:chOff x="1743455" y="1123188"/>
            <a:chExt cx="8629015" cy="4494530"/>
          </a:xfrm>
        </p:grpSpPr>
        <p:sp>
          <p:nvSpPr>
            <p:cNvPr id="3" name="object 3"/>
            <p:cNvSpPr/>
            <p:nvPr/>
          </p:nvSpPr>
          <p:spPr>
            <a:xfrm>
              <a:off x="1743455" y="1123188"/>
              <a:ext cx="8628888" cy="4494002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8530461" y="4014950"/>
              <a:ext cx="833755" cy="927100"/>
            </a:xfrm>
            <a:custGeom>
              <a:avLst/>
              <a:gdLst/>
              <a:ahLst/>
              <a:cxnLst/>
              <a:rect l="l" t="t" r="r" b="b"/>
              <a:pathLst>
                <a:path w="833754" h="927100">
                  <a:moveTo>
                    <a:pt x="833220" y="927010"/>
                  </a:moveTo>
                  <a:lnTo>
                    <a:pt x="0" y="0"/>
                  </a:lnTo>
                </a:path>
              </a:pathLst>
            </a:custGeom>
            <a:ln w="26894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87855" y="3967764"/>
              <a:ext cx="98553" cy="10109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803704" y="4356045"/>
              <a:ext cx="206183" cy="20657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522979" y="185674"/>
            <a:ext cx="577596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/>
              <a:t>RECURSIVE</a:t>
            </a:r>
            <a:r>
              <a:rPr sz="3200" spc="-70" dirty="0"/>
              <a:t> </a:t>
            </a:r>
            <a:r>
              <a:rPr sz="3200" spc="-10" dirty="0"/>
              <a:t>RESOLUTION</a:t>
            </a:r>
            <a:endParaRPr sz="3200"/>
          </a:p>
        </p:txBody>
      </p:sp>
      <p:sp>
        <p:nvSpPr>
          <p:cNvPr id="8" name="object 8"/>
          <p:cNvSpPr txBox="1"/>
          <p:nvPr/>
        </p:nvSpPr>
        <p:spPr>
          <a:xfrm>
            <a:off x="8846210" y="4306563"/>
            <a:ext cx="120014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7186489" y="2288254"/>
            <a:ext cx="821690" cy="909319"/>
            <a:chOff x="7186489" y="2288254"/>
            <a:chExt cx="821690" cy="909319"/>
          </a:xfrm>
        </p:grpSpPr>
        <p:sp>
          <p:nvSpPr>
            <p:cNvPr id="10" name="object 10"/>
            <p:cNvSpPr/>
            <p:nvPr/>
          </p:nvSpPr>
          <p:spPr>
            <a:xfrm>
              <a:off x="7231237" y="2337477"/>
              <a:ext cx="763270" cy="846455"/>
            </a:xfrm>
            <a:custGeom>
              <a:avLst/>
              <a:gdLst/>
              <a:ahLst/>
              <a:cxnLst/>
              <a:rect l="l" t="t" r="r" b="b"/>
              <a:pathLst>
                <a:path w="763270" h="846455">
                  <a:moveTo>
                    <a:pt x="762756" y="846360"/>
                  </a:moveTo>
                  <a:lnTo>
                    <a:pt x="0" y="0"/>
                  </a:lnTo>
                </a:path>
              </a:pathLst>
            </a:custGeom>
            <a:ln w="26830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7186489" y="2288254"/>
              <a:ext cx="100775" cy="10296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7457197" y="2612876"/>
              <a:ext cx="205807" cy="205938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500339" y="2591656"/>
            <a:ext cx="119380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472033" y="1948587"/>
            <a:ext cx="912494" cy="944880"/>
            <a:chOff x="7472033" y="1948587"/>
            <a:chExt cx="912494" cy="944880"/>
          </a:xfrm>
        </p:grpSpPr>
        <p:sp>
          <p:nvSpPr>
            <p:cNvPr id="15" name="object 15"/>
            <p:cNvSpPr/>
            <p:nvPr/>
          </p:nvSpPr>
          <p:spPr>
            <a:xfrm>
              <a:off x="7485685" y="1962240"/>
              <a:ext cx="854075" cy="886460"/>
            </a:xfrm>
            <a:custGeom>
              <a:avLst/>
              <a:gdLst/>
              <a:ahLst/>
              <a:cxnLst/>
              <a:rect l="l" t="t" r="r" b="b"/>
              <a:pathLst>
                <a:path w="854075" h="886460">
                  <a:moveTo>
                    <a:pt x="853603" y="885922"/>
                  </a:moveTo>
                  <a:lnTo>
                    <a:pt x="0" y="0"/>
                  </a:lnTo>
                </a:path>
              </a:pathLst>
            </a:custGeom>
            <a:ln w="2703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8283037" y="2791824"/>
              <a:ext cx="101297" cy="10148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7866278" y="2403977"/>
              <a:ext cx="207342" cy="207452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7910768" y="2329161"/>
            <a:ext cx="120014" cy="2527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6096000" y="2362063"/>
            <a:ext cx="944244" cy="944880"/>
            <a:chOff x="6096000" y="2362063"/>
            <a:chExt cx="944244" cy="944880"/>
          </a:xfrm>
        </p:grpSpPr>
        <p:sp>
          <p:nvSpPr>
            <p:cNvPr id="20" name="object 20"/>
            <p:cNvSpPr/>
            <p:nvPr/>
          </p:nvSpPr>
          <p:spPr>
            <a:xfrm>
              <a:off x="6140716" y="2375715"/>
              <a:ext cx="885825" cy="883919"/>
            </a:xfrm>
            <a:custGeom>
              <a:avLst/>
              <a:gdLst/>
              <a:ahLst/>
              <a:cxnLst/>
              <a:rect l="l" t="t" r="r" b="b"/>
              <a:pathLst>
                <a:path w="885825" h="883920">
                  <a:moveTo>
                    <a:pt x="0" y="883600"/>
                  </a:moveTo>
                  <a:lnTo>
                    <a:pt x="885786" y="0"/>
                  </a:lnTo>
                </a:path>
              </a:pathLst>
            </a:custGeom>
            <a:ln w="26903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096000" y="3203282"/>
              <a:ext cx="100937" cy="103161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6533140" y="2687464"/>
              <a:ext cx="206331" cy="2063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77220" y="2638773"/>
            <a:ext cx="1200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636280" y="1828968"/>
            <a:ext cx="944880" cy="944244"/>
            <a:chOff x="5636280" y="1828968"/>
            <a:chExt cx="944880" cy="944244"/>
          </a:xfrm>
        </p:grpSpPr>
        <p:sp>
          <p:nvSpPr>
            <p:cNvPr id="25" name="object 25"/>
            <p:cNvSpPr/>
            <p:nvPr/>
          </p:nvSpPr>
          <p:spPr>
            <a:xfrm>
              <a:off x="5649932" y="1873684"/>
              <a:ext cx="885825" cy="885825"/>
            </a:xfrm>
            <a:custGeom>
              <a:avLst/>
              <a:gdLst/>
              <a:ahLst/>
              <a:cxnLst/>
              <a:rect l="l" t="t" r="r" b="b"/>
              <a:pathLst>
                <a:path w="885825" h="885825">
                  <a:moveTo>
                    <a:pt x="0" y="885814"/>
                  </a:moveTo>
                  <a:lnTo>
                    <a:pt x="885814" y="0"/>
                  </a:lnTo>
                </a:path>
              </a:pathLst>
            </a:custGeom>
            <a:ln w="26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6479721" y="1828968"/>
              <a:ext cx="100892" cy="100967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6004320" y="2185425"/>
              <a:ext cx="206331" cy="2063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/>
          <p:nvPr/>
        </p:nvSpPr>
        <p:spPr>
          <a:xfrm>
            <a:off x="6048588" y="2136915"/>
            <a:ext cx="120014" cy="2520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4186253" y="3505218"/>
            <a:ext cx="944244" cy="944880"/>
            <a:chOff x="4186253" y="3505218"/>
            <a:chExt cx="944244" cy="944880"/>
          </a:xfrm>
        </p:grpSpPr>
        <p:sp>
          <p:nvSpPr>
            <p:cNvPr id="30" name="object 30"/>
            <p:cNvSpPr/>
            <p:nvPr/>
          </p:nvSpPr>
          <p:spPr>
            <a:xfrm>
              <a:off x="4199906" y="3550084"/>
              <a:ext cx="885825" cy="885825"/>
            </a:xfrm>
            <a:custGeom>
              <a:avLst/>
              <a:gdLst/>
              <a:ahLst/>
              <a:cxnLst/>
              <a:rect l="l" t="t" r="r" b="b"/>
              <a:pathLst>
                <a:path w="885825" h="885825">
                  <a:moveTo>
                    <a:pt x="0" y="885814"/>
                  </a:moveTo>
                  <a:lnTo>
                    <a:pt x="885779" y="0"/>
                  </a:lnTo>
                </a:path>
              </a:pathLst>
            </a:custGeom>
            <a:ln w="2690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31"/>
            <p:cNvSpPr/>
            <p:nvPr/>
          </p:nvSpPr>
          <p:spPr>
            <a:xfrm>
              <a:off x="5029659" y="3505218"/>
              <a:ext cx="100741" cy="10089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4556339" y="3868506"/>
              <a:ext cx="206324" cy="20632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600600" y="3820185"/>
            <a:ext cx="1200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spc="15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4495800" y="3930231"/>
            <a:ext cx="944880" cy="944880"/>
            <a:chOff x="4495800" y="3930231"/>
            <a:chExt cx="944880" cy="944880"/>
          </a:xfrm>
        </p:grpSpPr>
        <p:sp>
          <p:nvSpPr>
            <p:cNvPr id="35" name="object 35"/>
            <p:cNvSpPr/>
            <p:nvPr/>
          </p:nvSpPr>
          <p:spPr>
            <a:xfrm>
              <a:off x="4540701" y="3943883"/>
              <a:ext cx="885825" cy="883919"/>
            </a:xfrm>
            <a:custGeom>
              <a:avLst/>
              <a:gdLst/>
              <a:ahLst/>
              <a:cxnLst/>
              <a:rect l="l" t="t" r="r" b="b"/>
              <a:pathLst>
                <a:path w="885825" h="883920">
                  <a:moveTo>
                    <a:pt x="0" y="883560"/>
                  </a:moveTo>
                  <a:lnTo>
                    <a:pt x="885827" y="0"/>
                  </a:lnTo>
                </a:path>
              </a:pathLst>
            </a:custGeom>
            <a:ln w="26903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4495800" y="4773637"/>
              <a:ext cx="100937" cy="100935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4895094" y="4253370"/>
              <a:ext cx="206135" cy="206324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8" name="object 38"/>
          <p:cNvSpPr txBox="1"/>
          <p:nvPr/>
        </p:nvSpPr>
        <p:spPr>
          <a:xfrm>
            <a:off x="4939167" y="4203932"/>
            <a:ext cx="120014" cy="2514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50" b="1" spc="15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1450">
              <a:latin typeface="Times New Roman"/>
              <a:cs typeface="Times New Roman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2427293" y="4815162"/>
            <a:ext cx="1081405" cy="657225"/>
            <a:chOff x="2427293" y="4815162"/>
            <a:chExt cx="1081405" cy="657225"/>
          </a:xfrm>
        </p:grpSpPr>
        <p:sp>
          <p:nvSpPr>
            <p:cNvPr id="40" name="object 40"/>
            <p:cNvSpPr/>
            <p:nvPr/>
          </p:nvSpPr>
          <p:spPr>
            <a:xfrm>
              <a:off x="2440628" y="4914252"/>
              <a:ext cx="1002665" cy="0"/>
            </a:xfrm>
            <a:custGeom>
              <a:avLst/>
              <a:gdLst/>
              <a:ahLst/>
              <a:cxnLst/>
              <a:rect l="l" t="t" r="r" b="b"/>
              <a:pathLst>
                <a:path w="1002664">
                  <a:moveTo>
                    <a:pt x="0" y="0"/>
                  </a:moveTo>
                  <a:lnTo>
                    <a:pt x="1002551" y="0"/>
                  </a:lnTo>
                </a:path>
              </a:pathLst>
            </a:custGeom>
            <a:ln w="26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3416233" y="4862520"/>
              <a:ext cx="91933" cy="103651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2844395" y="4815162"/>
              <a:ext cx="206156" cy="207297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501285" y="5359260"/>
              <a:ext cx="991235" cy="0"/>
            </a:xfrm>
            <a:custGeom>
              <a:avLst/>
              <a:gdLst/>
              <a:ahLst/>
              <a:cxnLst/>
              <a:rect l="l" t="t" r="r" b="b"/>
              <a:pathLst>
                <a:path w="991235">
                  <a:moveTo>
                    <a:pt x="990912" y="0"/>
                  </a:moveTo>
                  <a:lnTo>
                    <a:pt x="0" y="0"/>
                  </a:lnTo>
                </a:path>
              </a:pathLst>
            </a:custGeom>
            <a:ln w="26413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2436167" y="5307350"/>
              <a:ext cx="92096" cy="103647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858505" y="5264538"/>
              <a:ext cx="206706" cy="207301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6" name="object 46"/>
          <p:cNvSpPr txBox="1"/>
          <p:nvPr/>
        </p:nvSpPr>
        <p:spPr>
          <a:xfrm>
            <a:off x="2855665" y="4766755"/>
            <a:ext cx="217170" cy="7023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45085">
              <a:lnSpc>
                <a:spcPct val="100000"/>
              </a:lnSpc>
              <a:spcBef>
                <a:spcPts val="90"/>
              </a:spcBef>
            </a:pPr>
            <a:r>
              <a:rPr sz="1500" b="1" spc="5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5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15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5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500">
              <a:latin typeface="Times New Roman"/>
              <a:cs typeface="Times New Roman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8987021" y="3513589"/>
            <a:ext cx="918844" cy="984885"/>
            <a:chOff x="8987021" y="3513589"/>
            <a:chExt cx="918844" cy="984885"/>
          </a:xfrm>
        </p:grpSpPr>
        <p:sp>
          <p:nvSpPr>
            <p:cNvPr id="48" name="object 48"/>
            <p:cNvSpPr/>
            <p:nvPr/>
          </p:nvSpPr>
          <p:spPr>
            <a:xfrm>
              <a:off x="9000564" y="3527132"/>
              <a:ext cx="860425" cy="923925"/>
            </a:xfrm>
            <a:custGeom>
              <a:avLst/>
              <a:gdLst/>
              <a:ahLst/>
              <a:cxnLst/>
              <a:rect l="l" t="t" r="r" b="b"/>
              <a:pathLst>
                <a:path w="860425" h="923925">
                  <a:moveTo>
                    <a:pt x="860202" y="923448"/>
                  </a:moveTo>
                  <a:lnTo>
                    <a:pt x="0" y="0"/>
                  </a:lnTo>
                </a:path>
              </a:pathLst>
            </a:custGeom>
            <a:ln w="2708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9804147" y="4394148"/>
              <a:ext cx="101625" cy="103893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9327942" y="3877123"/>
              <a:ext cx="207667" cy="207782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9365106" y="3841817"/>
            <a:ext cx="120650" cy="2533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50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5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828800" y="707136"/>
            <a:ext cx="7858125" cy="3978275"/>
            <a:chOff x="1828800" y="707136"/>
            <a:chExt cx="7858125" cy="3978275"/>
          </a:xfrm>
        </p:grpSpPr>
        <p:sp>
          <p:nvSpPr>
            <p:cNvPr id="3" name="object 3"/>
            <p:cNvSpPr/>
            <p:nvPr/>
          </p:nvSpPr>
          <p:spPr>
            <a:xfrm>
              <a:off x="1828800" y="707136"/>
              <a:ext cx="7857744" cy="3978156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2649271" y="4075157"/>
              <a:ext cx="1005205" cy="0"/>
            </a:xfrm>
            <a:custGeom>
              <a:avLst/>
              <a:gdLst/>
              <a:ahLst/>
              <a:cxnLst/>
              <a:rect l="l" t="t" r="r" b="b"/>
              <a:pathLst>
                <a:path w="1005204">
                  <a:moveTo>
                    <a:pt x="0" y="0"/>
                  </a:moveTo>
                  <a:lnTo>
                    <a:pt x="1004645" y="0"/>
                  </a:lnTo>
                </a:path>
              </a:pathLst>
            </a:custGeom>
            <a:ln w="26413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3613505" y="3998647"/>
              <a:ext cx="137051" cy="153201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588565" y="4014319"/>
              <a:ext cx="121411" cy="12186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038083" y="3966954"/>
              <a:ext cx="206886" cy="207481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2689599" y="4357548"/>
              <a:ext cx="990600" cy="0"/>
            </a:xfrm>
            <a:custGeom>
              <a:avLst/>
              <a:gdLst/>
              <a:ahLst/>
              <a:cxnLst/>
              <a:rect l="l" t="t" r="r" b="b"/>
              <a:pathLst>
                <a:path w="990600">
                  <a:moveTo>
                    <a:pt x="990446" y="0"/>
                  </a:moveTo>
                  <a:lnTo>
                    <a:pt x="0" y="0"/>
                  </a:lnTo>
                </a:path>
              </a:pathLst>
            </a:custGeom>
            <a:ln w="26413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590800" y="4280860"/>
              <a:ext cx="139178" cy="1531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619326" y="4296710"/>
              <a:ext cx="121363" cy="121683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3042188" y="4274123"/>
              <a:ext cx="206529" cy="20729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414842" y="2745517"/>
              <a:ext cx="2270125" cy="1014094"/>
            </a:xfrm>
            <a:custGeom>
              <a:avLst/>
              <a:gdLst/>
              <a:ahLst/>
              <a:cxnLst/>
              <a:rect l="l" t="t" r="r" b="b"/>
              <a:pathLst>
                <a:path w="2270125" h="1014095">
                  <a:moveTo>
                    <a:pt x="0" y="1013785"/>
                  </a:moveTo>
                  <a:lnTo>
                    <a:pt x="2269709" y="0"/>
                  </a:lnTo>
                </a:path>
              </a:pathLst>
            </a:custGeom>
            <a:ln w="22427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4626274" y="2700541"/>
              <a:ext cx="133442" cy="118289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2363644" y="3708070"/>
              <a:ext cx="102550" cy="102556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3380665" y="3186820"/>
              <a:ext cx="172801" cy="172614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634287" y="2905444"/>
              <a:ext cx="2270125" cy="1014094"/>
            </a:xfrm>
            <a:custGeom>
              <a:avLst/>
              <a:gdLst/>
              <a:ahLst/>
              <a:cxnLst/>
              <a:rect l="l" t="t" r="r" b="b"/>
              <a:pathLst>
                <a:path w="2270125" h="1014095">
                  <a:moveTo>
                    <a:pt x="0" y="1013885"/>
                  </a:moveTo>
                  <a:lnTo>
                    <a:pt x="2269836" y="0"/>
                  </a:lnTo>
                </a:path>
              </a:pathLst>
            </a:custGeom>
            <a:ln w="22427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4852860" y="2854259"/>
              <a:ext cx="102638" cy="102497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2559146" y="3846020"/>
              <a:ext cx="131536" cy="11829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647022" y="3346691"/>
              <a:ext cx="172938" cy="17277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258481" y="1311165"/>
              <a:ext cx="4012565" cy="2361565"/>
            </a:xfrm>
            <a:custGeom>
              <a:avLst/>
              <a:gdLst/>
              <a:ahLst/>
              <a:cxnLst/>
              <a:rect l="l" t="t" r="r" b="b"/>
              <a:pathLst>
                <a:path w="4012565" h="2361565">
                  <a:moveTo>
                    <a:pt x="0" y="2361527"/>
                  </a:moveTo>
                  <a:lnTo>
                    <a:pt x="0" y="0"/>
                  </a:lnTo>
                  <a:lnTo>
                    <a:pt x="4012336" y="0"/>
                  </a:lnTo>
                </a:path>
              </a:pathLst>
            </a:custGeom>
            <a:ln w="22448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237083" y="1245549"/>
              <a:ext cx="116232" cy="12933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207927" y="3622043"/>
              <a:ext cx="103133" cy="101300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966532" y="1221228"/>
              <a:ext cx="172604" cy="172337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2423981" y="1556567"/>
              <a:ext cx="3720465" cy="2047875"/>
            </a:xfrm>
            <a:custGeom>
              <a:avLst/>
              <a:gdLst/>
              <a:ahLst/>
              <a:cxnLst/>
              <a:rect l="l" t="t" r="r" b="b"/>
              <a:pathLst>
                <a:path w="3720465" h="2047875">
                  <a:moveTo>
                    <a:pt x="0" y="2047622"/>
                  </a:moveTo>
                  <a:lnTo>
                    <a:pt x="0" y="0"/>
                  </a:lnTo>
                  <a:lnTo>
                    <a:pt x="3719844" y="0"/>
                  </a:lnTo>
                </a:path>
              </a:pathLst>
            </a:custGeom>
            <a:ln w="22605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6093293" y="1505956"/>
              <a:ext cx="103095" cy="101159"/>
            </a:xfrm>
            <a:prstGeom prst="rect">
              <a:avLst/>
            </a:prstGeom>
            <a:blipFill>
              <a:blip r:embed="rId1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2360171" y="3570371"/>
              <a:ext cx="129489" cy="114404"/>
            </a:xfrm>
            <a:prstGeom prst="rect">
              <a:avLst/>
            </a:prstGeom>
            <a:blipFill>
              <a:blip r:embed="rId1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852773" y="1451544"/>
              <a:ext cx="172396" cy="172547"/>
            </a:xfrm>
            <a:prstGeom prst="rect">
              <a:avLst/>
            </a:prstGeom>
            <a:blipFill>
              <a:blip r:embed="rId2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8" name="object 28"/>
          <p:cNvSpPr txBox="1">
            <a:spLocks noGrp="1"/>
          </p:cNvSpPr>
          <p:nvPr>
            <p:ph type="title"/>
          </p:nvPr>
        </p:nvSpPr>
        <p:spPr>
          <a:xfrm>
            <a:off x="3577844" y="29336"/>
            <a:ext cx="623062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spc="-35" dirty="0"/>
              <a:t>ITERATIVE</a:t>
            </a:r>
            <a:r>
              <a:rPr sz="3600" spc="-55" dirty="0"/>
              <a:t> </a:t>
            </a:r>
            <a:r>
              <a:rPr sz="3600" spc="-10" dirty="0"/>
              <a:t>RESOLUTION</a:t>
            </a:r>
            <a:endParaRPr sz="3600"/>
          </a:p>
        </p:txBody>
      </p:sp>
      <p:sp>
        <p:nvSpPr>
          <p:cNvPr id="29" name="object 29"/>
          <p:cNvSpPr txBox="1"/>
          <p:nvPr/>
        </p:nvSpPr>
        <p:spPr>
          <a:xfrm>
            <a:off x="3887309" y="1135803"/>
            <a:ext cx="218440" cy="48831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6364">
              <a:lnSpc>
                <a:spcPct val="100000"/>
              </a:lnSpc>
              <a:spcBef>
                <a:spcPts val="475"/>
              </a:spcBef>
            </a:pPr>
            <a:r>
              <a:rPr sz="12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sz="12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438400" y="3141335"/>
            <a:ext cx="5538470" cy="2037080"/>
            <a:chOff x="2438400" y="3141335"/>
            <a:chExt cx="5538470" cy="2037080"/>
          </a:xfrm>
        </p:grpSpPr>
        <p:sp>
          <p:nvSpPr>
            <p:cNvPr id="31" name="object 31"/>
            <p:cNvSpPr/>
            <p:nvPr/>
          </p:nvSpPr>
          <p:spPr>
            <a:xfrm>
              <a:off x="2643199" y="3204983"/>
              <a:ext cx="4815205" cy="1593850"/>
            </a:xfrm>
            <a:custGeom>
              <a:avLst/>
              <a:gdLst/>
              <a:ahLst/>
              <a:cxnLst/>
              <a:rect l="l" t="t" r="r" b="b"/>
              <a:pathLst>
                <a:path w="4815205" h="1593850">
                  <a:moveTo>
                    <a:pt x="0" y="1315821"/>
                  </a:moveTo>
                  <a:lnTo>
                    <a:pt x="89986" y="1593242"/>
                  </a:lnTo>
                  <a:lnTo>
                    <a:pt x="3514784" y="1593242"/>
                  </a:lnTo>
                  <a:lnTo>
                    <a:pt x="4815117" y="0"/>
                  </a:lnTo>
                </a:path>
              </a:pathLst>
            </a:custGeom>
            <a:ln w="22421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7387079" y="3141335"/>
              <a:ext cx="121749" cy="131219"/>
            </a:xfrm>
            <a:prstGeom prst="rect">
              <a:avLst/>
            </a:prstGeom>
            <a:blipFill>
              <a:blip r:embed="rId2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33"/>
            <p:cNvSpPr/>
            <p:nvPr/>
          </p:nvSpPr>
          <p:spPr>
            <a:xfrm>
              <a:off x="2592569" y="4470239"/>
              <a:ext cx="100866" cy="101125"/>
            </a:xfrm>
            <a:prstGeom prst="rect">
              <a:avLst/>
            </a:prstGeom>
            <a:blipFill>
              <a:blip r:embed="rId2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09544" y="4700767"/>
              <a:ext cx="172325" cy="172341"/>
            </a:xfrm>
            <a:prstGeom prst="rect">
              <a:avLst/>
            </a:prstGeom>
            <a:blipFill>
              <a:blip r:embed="rId2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2496656" y="3192857"/>
              <a:ext cx="5429885" cy="1887855"/>
            </a:xfrm>
            <a:custGeom>
              <a:avLst/>
              <a:gdLst/>
              <a:ahLst/>
              <a:cxnLst/>
              <a:rect l="l" t="t" r="r" b="b"/>
              <a:pathLst>
                <a:path w="5429884" h="1887854">
                  <a:moveTo>
                    <a:pt x="0" y="1317104"/>
                  </a:moveTo>
                  <a:lnTo>
                    <a:pt x="89958" y="1887638"/>
                  </a:lnTo>
                  <a:lnTo>
                    <a:pt x="3857260" y="1887638"/>
                  </a:lnTo>
                  <a:lnTo>
                    <a:pt x="5429421" y="0"/>
                  </a:lnTo>
                </a:path>
              </a:pathLst>
            </a:custGeom>
            <a:ln w="22457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7875688" y="3142424"/>
              <a:ext cx="100755" cy="100834"/>
            </a:xfrm>
            <a:prstGeom prst="rect">
              <a:avLst/>
            </a:prstGeom>
            <a:blipFill>
              <a:blip r:embed="rId2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2438400" y="4429358"/>
              <a:ext cx="127599" cy="123795"/>
            </a:xfrm>
            <a:prstGeom prst="rect">
              <a:avLst/>
            </a:prstGeom>
            <a:blipFill>
              <a:blip r:embed="rId2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50742" y="5005341"/>
              <a:ext cx="172582" cy="172606"/>
            </a:xfrm>
            <a:prstGeom prst="rect">
              <a:avLst/>
            </a:prstGeom>
            <a:blipFill>
              <a:blip r:embed="rId2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3080878" y="3144541"/>
            <a:ext cx="1308100" cy="20332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28320" algn="ctr">
              <a:lnSpc>
                <a:spcPts val="1380"/>
              </a:lnSpc>
              <a:spcBef>
                <a:spcPts val="90"/>
              </a:spcBef>
            </a:pPr>
            <a:r>
              <a:rPr sz="12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1250">
              <a:latin typeface="Times New Roman"/>
              <a:cs typeface="Times New Roman"/>
            </a:endParaRPr>
          </a:p>
          <a:p>
            <a:pPr algn="ctr">
              <a:lnSpc>
                <a:spcPts val="1380"/>
              </a:lnSpc>
            </a:pPr>
            <a:r>
              <a:rPr sz="12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12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3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5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500">
              <a:latin typeface="Times New Roman"/>
              <a:cs typeface="Times New Roman"/>
            </a:endParaRPr>
          </a:p>
          <a:p>
            <a:pPr marL="16510">
              <a:lnSpc>
                <a:spcPct val="100000"/>
              </a:lnSpc>
              <a:spcBef>
                <a:spcPts val="615"/>
              </a:spcBef>
            </a:pPr>
            <a:r>
              <a:rPr sz="1500" b="1" spc="10" dirty="0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5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Times New Roman"/>
              <a:cs typeface="Times New Roman"/>
            </a:endParaRPr>
          </a:p>
          <a:p>
            <a:pPr marL="1174750">
              <a:lnSpc>
                <a:spcPct val="100000"/>
              </a:lnSpc>
            </a:pPr>
            <a:r>
              <a:rPr sz="1200" b="1" spc="20" dirty="0">
                <a:solidFill>
                  <a:srgbClr val="FFFFFF"/>
                </a:solidFill>
                <a:latin typeface="Times New Roman"/>
                <a:cs typeface="Times New Roman"/>
              </a:rPr>
              <a:t>7</a:t>
            </a:r>
            <a:endParaRPr sz="1200">
              <a:latin typeface="Times New Roman"/>
              <a:cs typeface="Times New Roman"/>
            </a:endParaRPr>
          </a:p>
          <a:p>
            <a:pPr marL="1216025">
              <a:lnSpc>
                <a:spcPct val="100000"/>
              </a:lnSpc>
              <a:spcBef>
                <a:spcPts val="910"/>
              </a:spcBef>
            </a:pPr>
            <a:r>
              <a:rPr sz="12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250">
              <a:latin typeface="Times New Roman"/>
              <a:cs typeface="Times New Roman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1832741" y="4648198"/>
            <a:ext cx="7352030" cy="1288415"/>
            <a:chOff x="1832741" y="4648198"/>
            <a:chExt cx="7352030" cy="1288415"/>
          </a:xfrm>
        </p:grpSpPr>
        <p:sp>
          <p:nvSpPr>
            <p:cNvPr id="41" name="object 41"/>
            <p:cNvSpPr/>
            <p:nvPr/>
          </p:nvSpPr>
          <p:spPr>
            <a:xfrm>
              <a:off x="2222927" y="4696956"/>
              <a:ext cx="6712584" cy="848360"/>
            </a:xfrm>
            <a:custGeom>
              <a:avLst/>
              <a:gdLst/>
              <a:ahLst/>
              <a:cxnLst/>
              <a:rect l="l" t="t" r="r" b="b"/>
              <a:pathLst>
                <a:path w="6712584" h="848360">
                  <a:moveTo>
                    <a:pt x="67668" y="0"/>
                  </a:moveTo>
                  <a:lnTo>
                    <a:pt x="0" y="847768"/>
                  </a:lnTo>
                  <a:lnTo>
                    <a:pt x="6711975" y="847768"/>
                  </a:lnTo>
                  <a:lnTo>
                    <a:pt x="6711975" y="97452"/>
                  </a:lnTo>
                </a:path>
              </a:pathLst>
            </a:custGeom>
            <a:ln w="2238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8871134" y="4713756"/>
              <a:ext cx="127727" cy="116399"/>
            </a:xfrm>
            <a:prstGeom prst="rect">
              <a:avLst/>
            </a:prstGeom>
            <a:blipFill>
              <a:blip r:embed="rId2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2239963" y="4648198"/>
              <a:ext cx="101273" cy="99284"/>
            </a:xfrm>
            <a:prstGeom prst="rect">
              <a:avLst/>
            </a:prstGeom>
            <a:blipFill>
              <a:blip r:embed="rId2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5447577" y="5456607"/>
              <a:ext cx="172695" cy="172501"/>
            </a:xfrm>
            <a:prstGeom prst="rect">
              <a:avLst/>
            </a:prstGeom>
            <a:blipFill>
              <a:blip r:embed="rId2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843945" y="4730656"/>
              <a:ext cx="7290434" cy="1118235"/>
            </a:xfrm>
            <a:custGeom>
              <a:avLst/>
              <a:gdLst/>
              <a:ahLst/>
              <a:cxnLst/>
              <a:rect l="l" t="t" r="r" b="b"/>
              <a:pathLst>
                <a:path w="7290434" h="1118235">
                  <a:moveTo>
                    <a:pt x="202507" y="0"/>
                  </a:moveTo>
                  <a:lnTo>
                    <a:pt x="0" y="1117836"/>
                  </a:lnTo>
                  <a:lnTo>
                    <a:pt x="7290029" y="1117836"/>
                  </a:lnTo>
                  <a:lnTo>
                    <a:pt x="7290029" y="97573"/>
                  </a:lnTo>
                </a:path>
              </a:pathLst>
            </a:custGeom>
            <a:ln w="22408">
              <a:solidFill>
                <a:srgbClr val="EB008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9081498" y="4777641"/>
              <a:ext cx="103048" cy="101304"/>
            </a:xfrm>
            <a:prstGeom prst="rect">
              <a:avLst/>
            </a:prstGeom>
            <a:blipFill>
              <a:blip r:embed="rId3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976970" y="4650029"/>
              <a:ext cx="125689" cy="125777"/>
            </a:xfrm>
            <a:prstGeom prst="rect">
              <a:avLst/>
            </a:prstGeom>
            <a:blipFill>
              <a:blip r:embed="rId3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5355748" y="5764160"/>
              <a:ext cx="172530" cy="172403"/>
            </a:xfrm>
            <a:prstGeom prst="rect">
              <a:avLst/>
            </a:prstGeom>
            <a:blipFill>
              <a:blip r:embed="rId3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9" name="object 49"/>
          <p:cNvSpPr txBox="1"/>
          <p:nvPr/>
        </p:nvSpPr>
        <p:spPr>
          <a:xfrm>
            <a:off x="5351171" y="5414376"/>
            <a:ext cx="234950" cy="5219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</a:pPr>
            <a:r>
              <a:rPr sz="12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9</a:t>
            </a:r>
            <a:endParaRPr sz="1250">
              <a:latin typeface="Times New Roman"/>
              <a:cs typeface="Times New Roman"/>
            </a:endParaRPr>
          </a:p>
          <a:p>
            <a:pPr marR="55880" algn="r">
              <a:lnSpc>
                <a:spcPct val="100000"/>
              </a:lnSpc>
              <a:spcBef>
                <a:spcPts val="919"/>
              </a:spcBef>
            </a:pPr>
            <a:r>
              <a:rPr sz="125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sz="1250" b="1" spc="-5" dirty="0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125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19880" y="307924"/>
            <a:ext cx="495554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DNS</a:t>
            </a:r>
            <a:r>
              <a:rPr spc="-90" dirty="0"/>
              <a:t> </a:t>
            </a:r>
            <a:r>
              <a:rPr spc="-10" dirty="0"/>
              <a:t>MESSAGES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84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775"/>
              </a:spcBef>
              <a:buChar char="•"/>
              <a:tabLst>
                <a:tab pos="241300" algn="l"/>
              </a:tabLst>
            </a:pPr>
            <a:r>
              <a:rPr spc="-5" dirty="0"/>
              <a:t>DNS has two types of</a:t>
            </a:r>
            <a:r>
              <a:rPr spc="10" dirty="0"/>
              <a:t> </a:t>
            </a:r>
            <a:r>
              <a:rPr dirty="0"/>
              <a:t>messages:</a:t>
            </a:r>
          </a:p>
          <a:p>
            <a:pPr marL="824865" lvl="1" indent="-405765">
              <a:lnSpc>
                <a:spcPct val="100000"/>
              </a:lnSpc>
              <a:spcBef>
                <a:spcPts val="675"/>
              </a:spcBef>
              <a:buFont typeface="Wingdings"/>
              <a:buChar char=""/>
              <a:tabLst>
                <a:tab pos="82550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Query</a:t>
            </a:r>
            <a:endParaRPr sz="2800">
              <a:latin typeface="Arial"/>
              <a:cs typeface="Arial"/>
            </a:endParaRPr>
          </a:p>
          <a:p>
            <a:pPr marL="824865" lvl="1" indent="-405765">
              <a:lnSpc>
                <a:spcPct val="100000"/>
              </a:lnSpc>
              <a:spcBef>
                <a:spcPts val="660"/>
              </a:spcBef>
              <a:buFont typeface="Wingdings"/>
              <a:buChar char=""/>
              <a:tabLst>
                <a:tab pos="825500" algn="l"/>
              </a:tabLst>
            </a:pPr>
            <a:r>
              <a:rPr sz="2800" spc="-5" dirty="0">
                <a:solidFill>
                  <a:srgbClr val="FF0000"/>
                </a:solidFill>
                <a:latin typeface="Arial"/>
                <a:cs typeface="Arial"/>
              </a:rPr>
              <a:t>Response.</a:t>
            </a:r>
            <a:endParaRPr sz="2800">
              <a:latin typeface="Arial"/>
              <a:cs typeface="Arial"/>
            </a:endParaRPr>
          </a:p>
          <a:p>
            <a:pPr marL="243840" indent="-231775">
              <a:lnSpc>
                <a:spcPct val="100000"/>
              </a:lnSpc>
              <a:spcBef>
                <a:spcPts val="665"/>
              </a:spcBef>
              <a:buChar char="•"/>
              <a:tabLst>
                <a:tab pos="244475" algn="l"/>
              </a:tabLst>
            </a:pPr>
            <a:r>
              <a:rPr spc="-5" dirty="0"/>
              <a:t>Both types </a:t>
            </a:r>
            <a:r>
              <a:rPr dirty="0"/>
              <a:t>have </a:t>
            </a:r>
            <a:r>
              <a:rPr spc="-5" dirty="0"/>
              <a:t>the same</a:t>
            </a:r>
            <a:r>
              <a:rPr spc="40" dirty="0"/>
              <a:t> </a:t>
            </a:r>
            <a:r>
              <a:rPr dirty="0"/>
              <a:t>format.</a:t>
            </a: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4050"/>
          </a:p>
          <a:p>
            <a:pPr marL="243840" indent="-231775">
              <a:lnSpc>
                <a:spcPct val="100000"/>
              </a:lnSpc>
              <a:buChar char="•"/>
              <a:tabLst>
                <a:tab pos="244475" algn="l"/>
              </a:tabLst>
            </a:pPr>
            <a:r>
              <a:rPr spc="-5" dirty="0"/>
              <a:t>The query message consists of a header and question</a:t>
            </a:r>
            <a:r>
              <a:rPr spc="215" dirty="0"/>
              <a:t> </a:t>
            </a:r>
            <a:r>
              <a:rPr spc="-5" dirty="0"/>
              <a:t>records.</a:t>
            </a:r>
          </a:p>
          <a:p>
            <a:pPr marL="243840" marR="5080" indent="-231775">
              <a:lnSpc>
                <a:spcPts val="3020"/>
              </a:lnSpc>
              <a:spcBef>
                <a:spcPts val="1045"/>
              </a:spcBef>
              <a:buChar char="•"/>
              <a:tabLst>
                <a:tab pos="244475" algn="l"/>
              </a:tabLst>
            </a:pPr>
            <a:r>
              <a:rPr spc="-5" dirty="0"/>
              <a:t>The </a:t>
            </a:r>
            <a:r>
              <a:rPr dirty="0"/>
              <a:t>response </a:t>
            </a:r>
            <a:r>
              <a:rPr spc="-5" dirty="0"/>
              <a:t>message consists </a:t>
            </a:r>
            <a:r>
              <a:rPr dirty="0"/>
              <a:t>of </a:t>
            </a:r>
            <a:r>
              <a:rPr spc="-5" dirty="0"/>
              <a:t>a </a:t>
            </a:r>
            <a:r>
              <a:rPr dirty="0"/>
              <a:t>header, </a:t>
            </a:r>
            <a:r>
              <a:rPr spc="-5" dirty="0"/>
              <a:t>question </a:t>
            </a:r>
            <a:r>
              <a:rPr dirty="0"/>
              <a:t>records,  </a:t>
            </a:r>
            <a:r>
              <a:rPr spc="-5" dirty="0"/>
              <a:t>answer </a:t>
            </a:r>
            <a:r>
              <a:rPr dirty="0"/>
              <a:t>records, authoritative records, and </a:t>
            </a:r>
            <a:r>
              <a:rPr spc="-5" dirty="0"/>
              <a:t>additional</a:t>
            </a:r>
            <a:r>
              <a:rPr spc="50" dirty="0"/>
              <a:t> </a:t>
            </a:r>
            <a:r>
              <a:rPr dirty="0"/>
              <a:t>records.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4262" y="373456"/>
            <a:ext cx="99250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45" dirty="0"/>
              <a:t>QUERY </a:t>
            </a:r>
            <a:r>
              <a:rPr sz="4000" spc="-5" dirty="0"/>
              <a:t>AND </a:t>
            </a:r>
            <a:r>
              <a:rPr sz="4000" spc="-10" dirty="0"/>
              <a:t>RESPONSE</a:t>
            </a:r>
            <a:r>
              <a:rPr sz="4000" spc="105" dirty="0"/>
              <a:t> </a:t>
            </a:r>
            <a:r>
              <a:rPr sz="4000" spc="-20" dirty="0"/>
              <a:t>MESSAGES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905000" y="2438400"/>
            <a:ext cx="3913632" cy="116710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068567" y="2438400"/>
            <a:ext cx="3913632" cy="253569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947797" y="307924"/>
            <a:ext cx="629602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3272154" algn="l"/>
              </a:tabLst>
            </a:pPr>
            <a:r>
              <a:rPr spc="-5" dirty="0"/>
              <a:t>TYPE</a:t>
            </a:r>
            <a:r>
              <a:rPr dirty="0"/>
              <a:t>S</a:t>
            </a:r>
            <a:r>
              <a:rPr spc="-30" dirty="0"/>
              <a:t> </a:t>
            </a:r>
            <a:r>
              <a:rPr dirty="0"/>
              <a:t>OF	</a:t>
            </a:r>
            <a:r>
              <a:rPr spc="-20" dirty="0"/>
              <a:t>R</a:t>
            </a:r>
            <a:r>
              <a:rPr dirty="0"/>
              <a:t>ECO</a:t>
            </a:r>
            <a:r>
              <a:rPr spc="-15" dirty="0"/>
              <a:t>R</a:t>
            </a:r>
            <a:r>
              <a:rPr dirty="0"/>
              <a:t>DS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1592" rIns="0" bIns="0" rtlCol="0">
            <a:spAutoFit/>
          </a:bodyPr>
          <a:lstStyle/>
          <a:p>
            <a:pPr marL="241300" marR="5080" indent="-228600" algn="just">
              <a:lnSpc>
                <a:spcPct val="90000"/>
              </a:lnSpc>
              <a:spcBef>
                <a:spcPts val="434"/>
              </a:spcBef>
              <a:buChar char="•"/>
              <a:tabLst>
                <a:tab pos="241300" algn="l"/>
              </a:tabLst>
            </a:pPr>
            <a:r>
              <a:rPr spc="-5" dirty="0"/>
              <a:t>As we </a:t>
            </a:r>
            <a:r>
              <a:rPr dirty="0"/>
              <a:t>saw </a:t>
            </a:r>
            <a:r>
              <a:rPr spc="-5" dirty="0"/>
              <a:t>in </a:t>
            </a:r>
            <a:r>
              <a:rPr dirty="0"/>
              <a:t>the previous </a:t>
            </a:r>
            <a:r>
              <a:rPr spc="-5" dirty="0"/>
              <a:t>section, two types of records are  </a:t>
            </a:r>
            <a:r>
              <a:rPr dirty="0"/>
              <a:t>used </a:t>
            </a:r>
            <a:r>
              <a:rPr spc="-5" dirty="0"/>
              <a:t>in DNS. </a:t>
            </a:r>
            <a:r>
              <a:rPr dirty="0"/>
              <a:t>The </a:t>
            </a:r>
            <a:r>
              <a:rPr spc="-5" dirty="0"/>
              <a:t>question </a:t>
            </a:r>
            <a:r>
              <a:rPr dirty="0"/>
              <a:t>records are used </a:t>
            </a:r>
            <a:r>
              <a:rPr spc="-5" dirty="0"/>
              <a:t>in the question  </a:t>
            </a:r>
            <a:r>
              <a:rPr dirty="0"/>
              <a:t>section </a:t>
            </a:r>
            <a:r>
              <a:rPr spc="-10" dirty="0"/>
              <a:t>of </a:t>
            </a:r>
            <a:r>
              <a:rPr spc="-5" dirty="0"/>
              <a:t>the </a:t>
            </a:r>
            <a:r>
              <a:rPr dirty="0"/>
              <a:t>query and </a:t>
            </a:r>
            <a:r>
              <a:rPr spc="-5" dirty="0"/>
              <a:t>response </a:t>
            </a:r>
            <a:r>
              <a:rPr dirty="0"/>
              <a:t>messages. </a:t>
            </a:r>
            <a:r>
              <a:rPr spc="-5" dirty="0"/>
              <a:t>The resource  </a:t>
            </a:r>
            <a:r>
              <a:rPr dirty="0"/>
              <a:t>records </a:t>
            </a:r>
            <a:r>
              <a:rPr spc="-5" dirty="0"/>
              <a:t>are used in the </a:t>
            </a:r>
            <a:r>
              <a:rPr spc="-10" dirty="0"/>
              <a:t>answer, </a:t>
            </a:r>
            <a:r>
              <a:rPr spc="-5" dirty="0"/>
              <a:t>authoritative, </a:t>
            </a:r>
            <a:r>
              <a:rPr dirty="0"/>
              <a:t>and </a:t>
            </a:r>
            <a:r>
              <a:rPr spc="-5" dirty="0"/>
              <a:t>additional  </a:t>
            </a:r>
            <a:r>
              <a:rPr dirty="0"/>
              <a:t>information </a:t>
            </a:r>
            <a:r>
              <a:rPr spc="-5" dirty="0"/>
              <a:t>sections </a:t>
            </a:r>
            <a:r>
              <a:rPr dirty="0"/>
              <a:t>of </a:t>
            </a:r>
            <a:r>
              <a:rPr spc="-5" dirty="0"/>
              <a:t>the response</a:t>
            </a:r>
            <a:r>
              <a:rPr spc="55" dirty="0"/>
              <a:t> </a:t>
            </a:r>
            <a:r>
              <a:rPr spc="-5" dirty="0"/>
              <a:t>message.</a:t>
            </a: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3500"/>
          </a:p>
          <a:p>
            <a:pPr marL="428625" indent="-416559">
              <a:lnSpc>
                <a:spcPct val="100000"/>
              </a:lnSpc>
              <a:buClr>
                <a:srgbClr val="000000"/>
              </a:buClr>
              <a:buSzPct val="116071"/>
              <a:buFont typeface="Wingdings"/>
              <a:buChar char=""/>
              <a:tabLst>
                <a:tab pos="429259" algn="l"/>
              </a:tabLst>
            </a:pPr>
            <a:r>
              <a:rPr spc="-5" dirty="0">
                <a:solidFill>
                  <a:srgbClr val="0033CC"/>
                </a:solidFill>
                <a:latin typeface="Times New Roman"/>
                <a:cs typeface="Times New Roman"/>
              </a:rPr>
              <a:t>Question</a:t>
            </a:r>
            <a:r>
              <a:rPr spc="-15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33CC"/>
                </a:solidFill>
                <a:latin typeface="Times New Roman"/>
                <a:cs typeface="Times New Roman"/>
              </a:rPr>
              <a:t>Record</a:t>
            </a:r>
          </a:p>
          <a:p>
            <a:pPr marL="428625" indent="-416559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SzPct val="116071"/>
              <a:buFont typeface="Wingdings"/>
              <a:buChar char=""/>
              <a:tabLst>
                <a:tab pos="429259" algn="l"/>
              </a:tabLst>
            </a:pPr>
            <a:r>
              <a:rPr spc="-5" dirty="0">
                <a:solidFill>
                  <a:srgbClr val="0033CC"/>
                </a:solidFill>
                <a:latin typeface="Times New Roman"/>
                <a:cs typeface="Times New Roman"/>
              </a:rPr>
              <a:t>Resource</a:t>
            </a:r>
            <a:r>
              <a:rPr spc="-2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spc="-5" dirty="0">
                <a:solidFill>
                  <a:srgbClr val="0033CC"/>
                </a:solidFill>
                <a:latin typeface="Times New Roman"/>
                <a:cs typeface="Times New Roman"/>
              </a:rPr>
              <a:t>Record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240279" y="2968751"/>
            <a:ext cx="7741920" cy="10698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319020" y="472821"/>
            <a:ext cx="80899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/>
              <a:t>QUESTION RECORD</a:t>
            </a:r>
            <a:r>
              <a:rPr sz="4000" spc="75" dirty="0"/>
              <a:t> </a:t>
            </a:r>
            <a:r>
              <a:rPr sz="4000" spc="-55" dirty="0"/>
              <a:t>FORMAT</a:t>
            </a:r>
            <a:endParaRPr sz="40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76069" y="372872"/>
            <a:ext cx="822134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20" dirty="0"/>
              <a:t>RESOURCE </a:t>
            </a:r>
            <a:r>
              <a:rPr sz="4000" spc="-10" dirty="0"/>
              <a:t>RECORD</a:t>
            </a:r>
            <a:r>
              <a:rPr sz="4000" spc="90" dirty="0"/>
              <a:t> </a:t>
            </a:r>
            <a:r>
              <a:rPr sz="4000" spc="-55" dirty="0"/>
              <a:t>FORMAT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859279" y="2103120"/>
            <a:ext cx="8421867" cy="30022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065270" y="307924"/>
            <a:ext cx="4064000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REGIST</a:t>
            </a:r>
            <a:r>
              <a:rPr spc="-15" dirty="0"/>
              <a:t>R</a:t>
            </a:r>
            <a:r>
              <a:rPr spc="5" dirty="0"/>
              <a:t>A</a:t>
            </a:r>
            <a:r>
              <a:rPr spc="-15" dirty="0"/>
              <a:t>R</a:t>
            </a:r>
            <a:r>
              <a:rPr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800809"/>
            <a:ext cx="10295255" cy="160464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41300" marR="5080" indent="-228600">
              <a:lnSpc>
                <a:spcPct val="90000"/>
              </a:lnSpc>
              <a:spcBef>
                <a:spcPts val="434"/>
              </a:spcBef>
              <a:buChar char="•"/>
              <a:tabLst>
                <a:tab pos="241300" algn="l"/>
              </a:tabLst>
            </a:pPr>
            <a:r>
              <a:rPr sz="2800" spc="-5" dirty="0">
                <a:latin typeface="Arial"/>
                <a:cs typeface="Arial"/>
              </a:rPr>
              <a:t>How are </a:t>
            </a:r>
            <a:r>
              <a:rPr sz="2800" dirty="0">
                <a:latin typeface="Arial"/>
                <a:cs typeface="Arial"/>
              </a:rPr>
              <a:t>new </a:t>
            </a:r>
            <a:r>
              <a:rPr sz="2800" spc="-5" dirty="0">
                <a:latin typeface="Arial"/>
                <a:cs typeface="Arial"/>
              </a:rPr>
              <a:t>domains </a:t>
            </a:r>
            <a:r>
              <a:rPr sz="2800" dirty="0">
                <a:latin typeface="Arial"/>
                <a:cs typeface="Arial"/>
              </a:rPr>
              <a:t>added </a:t>
            </a:r>
            <a:r>
              <a:rPr sz="2800" spc="-5" dirty="0">
                <a:latin typeface="Arial"/>
                <a:cs typeface="Arial"/>
              </a:rPr>
              <a:t>to DNS? This is done </a:t>
            </a:r>
            <a:r>
              <a:rPr sz="2800" dirty="0">
                <a:latin typeface="Arial"/>
                <a:cs typeface="Arial"/>
              </a:rPr>
              <a:t>through </a:t>
            </a:r>
            <a:r>
              <a:rPr sz="2800" spc="-5" dirty="0">
                <a:latin typeface="Arial"/>
                <a:cs typeface="Arial"/>
              </a:rPr>
              <a:t>a  </a:t>
            </a:r>
            <a:r>
              <a:rPr sz="2800" dirty="0">
                <a:latin typeface="Arial"/>
                <a:cs typeface="Arial"/>
              </a:rPr>
              <a:t>registrar,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commercial entity accredited </a:t>
            </a:r>
            <a:r>
              <a:rPr sz="2800" spc="-5" dirty="0">
                <a:latin typeface="Arial"/>
                <a:cs typeface="Arial"/>
              </a:rPr>
              <a:t>by </a:t>
            </a:r>
            <a:r>
              <a:rPr sz="2800" spc="-5" dirty="0">
                <a:solidFill>
                  <a:srgbClr val="FFC000"/>
                </a:solidFill>
                <a:latin typeface="Arial"/>
                <a:cs typeface="Arial"/>
              </a:rPr>
              <a:t>ICANN.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registrar  first </a:t>
            </a:r>
            <a:r>
              <a:rPr sz="2800" spc="-5" dirty="0">
                <a:latin typeface="Arial"/>
                <a:cs typeface="Arial"/>
              </a:rPr>
              <a:t>verifies that the </a:t>
            </a:r>
            <a:r>
              <a:rPr sz="2800" dirty="0">
                <a:latin typeface="Arial"/>
                <a:cs typeface="Arial"/>
              </a:rPr>
              <a:t>requested </a:t>
            </a:r>
            <a:r>
              <a:rPr sz="2800" spc="-5" dirty="0">
                <a:latin typeface="Arial"/>
                <a:cs typeface="Arial"/>
              </a:rPr>
              <a:t>domain name is unique and then  </a:t>
            </a:r>
            <a:r>
              <a:rPr sz="2800" dirty="0">
                <a:latin typeface="Arial"/>
                <a:cs typeface="Arial"/>
              </a:rPr>
              <a:t>enters </a:t>
            </a:r>
            <a:r>
              <a:rPr sz="2800" spc="-5" dirty="0">
                <a:latin typeface="Arial"/>
                <a:cs typeface="Arial"/>
              </a:rPr>
              <a:t>it into </a:t>
            </a:r>
            <a:r>
              <a:rPr sz="2800" dirty="0">
                <a:latin typeface="Arial"/>
                <a:cs typeface="Arial"/>
              </a:rPr>
              <a:t>the </a:t>
            </a:r>
            <a:r>
              <a:rPr sz="2800" spc="-5" dirty="0">
                <a:latin typeface="Arial"/>
                <a:cs typeface="Arial"/>
              </a:rPr>
              <a:t>DNS </a:t>
            </a:r>
            <a:r>
              <a:rPr sz="2800" dirty="0">
                <a:latin typeface="Arial"/>
                <a:cs typeface="Arial"/>
              </a:rPr>
              <a:t>database. </a:t>
            </a: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fee </a:t>
            </a:r>
            <a:r>
              <a:rPr sz="2800" spc="-5" dirty="0">
                <a:latin typeface="Arial"/>
                <a:cs typeface="Arial"/>
              </a:rPr>
              <a:t>is</a:t>
            </a:r>
            <a:r>
              <a:rPr sz="2800" spc="1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charged.</a:t>
            </a:r>
            <a:endParaRPr sz="2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124961" y="4306316"/>
            <a:ext cx="60369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i="1" dirty="0">
                <a:solidFill>
                  <a:srgbClr val="FF0000"/>
                </a:solidFill>
                <a:latin typeface="Carlito"/>
                <a:cs typeface="Carlito"/>
              </a:rPr>
              <a:t>ICANN - </a:t>
            </a:r>
            <a:r>
              <a:rPr sz="1800" b="1" i="1" spc="-10" dirty="0">
                <a:solidFill>
                  <a:srgbClr val="FF0000"/>
                </a:solidFill>
                <a:latin typeface="Carlito"/>
                <a:cs typeface="Carlito"/>
              </a:rPr>
              <a:t>Internet </a:t>
            </a:r>
            <a:r>
              <a:rPr sz="1800" b="1" i="1" dirty="0">
                <a:solidFill>
                  <a:srgbClr val="FF0000"/>
                </a:solidFill>
                <a:latin typeface="Carlito"/>
                <a:cs typeface="Carlito"/>
              </a:rPr>
              <a:t>Corporation </a:t>
            </a:r>
            <a:r>
              <a:rPr sz="1800" b="1" i="1" spc="-10" dirty="0">
                <a:solidFill>
                  <a:srgbClr val="FF0000"/>
                </a:solidFill>
                <a:latin typeface="Carlito"/>
                <a:cs typeface="Carlito"/>
              </a:rPr>
              <a:t>for </a:t>
            </a:r>
            <a:r>
              <a:rPr sz="1800" b="1" i="1" dirty="0">
                <a:solidFill>
                  <a:srgbClr val="FF0000"/>
                </a:solidFill>
                <a:latin typeface="Carlito"/>
                <a:cs typeface="Carlito"/>
              </a:rPr>
              <a:t>Assigned </a:t>
            </a:r>
            <a:r>
              <a:rPr sz="1800" b="1" i="1" spc="-5" dirty="0">
                <a:solidFill>
                  <a:srgbClr val="FF0000"/>
                </a:solidFill>
                <a:latin typeface="Carlito"/>
                <a:cs typeface="Carlito"/>
              </a:rPr>
              <a:t>Names </a:t>
            </a:r>
            <a:r>
              <a:rPr sz="1800" b="1" i="1" dirty="0">
                <a:solidFill>
                  <a:srgbClr val="FF0000"/>
                </a:solidFill>
                <a:latin typeface="Carlito"/>
                <a:cs typeface="Carlito"/>
              </a:rPr>
              <a:t>and</a:t>
            </a:r>
            <a:r>
              <a:rPr sz="1800" b="1" i="1" spc="65" dirty="0">
                <a:solidFill>
                  <a:srgbClr val="FF0000"/>
                </a:solidFill>
                <a:latin typeface="Carlito"/>
                <a:cs typeface="Carlito"/>
              </a:rPr>
              <a:t> </a:t>
            </a:r>
            <a:r>
              <a:rPr sz="1800" b="1" i="1" spc="-5" dirty="0">
                <a:solidFill>
                  <a:srgbClr val="FF0000"/>
                </a:solidFill>
                <a:latin typeface="Carlito"/>
                <a:cs typeface="Carlito"/>
              </a:rPr>
              <a:t>Numbers</a:t>
            </a:r>
            <a:endParaRPr sz="1800">
              <a:latin typeface="Carlito"/>
              <a:cs typeface="Carli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214365" y="307924"/>
            <a:ext cx="1764664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D</a:t>
            </a:r>
            <a:r>
              <a:rPr spc="-15" dirty="0"/>
              <a:t>D</a:t>
            </a:r>
            <a:r>
              <a:rPr spc="5" dirty="0"/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7811770" cy="325374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"/>
                <a:cs typeface="Arial"/>
              </a:rPr>
              <a:t>In DNS, when there </a:t>
            </a:r>
            <a:r>
              <a:rPr sz="2600" spc="-5" dirty="0">
                <a:latin typeface="Arial"/>
                <a:cs typeface="Arial"/>
              </a:rPr>
              <a:t>is </a:t>
            </a:r>
            <a:r>
              <a:rPr sz="2600" dirty="0">
                <a:latin typeface="Arial"/>
                <a:cs typeface="Arial"/>
              </a:rPr>
              <a:t>a change, </a:t>
            </a:r>
            <a:r>
              <a:rPr sz="2600" spc="5" dirty="0">
                <a:latin typeface="Arial"/>
                <a:cs typeface="Arial"/>
              </a:rPr>
              <a:t>such</a:t>
            </a:r>
            <a:r>
              <a:rPr sz="2600" spc="-5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as</a:t>
            </a:r>
            <a:endParaRPr sz="2600">
              <a:latin typeface="Arial"/>
              <a:cs typeface="Arial"/>
            </a:endParaRPr>
          </a:p>
          <a:p>
            <a:pPr marL="394335" lvl="1" indent="-263525">
              <a:lnSpc>
                <a:spcPct val="100000"/>
              </a:lnSpc>
              <a:spcBef>
                <a:spcPts val="65"/>
              </a:spcBef>
              <a:buSzPct val="96153"/>
              <a:buFont typeface="Wingdings"/>
              <a:buChar char=""/>
              <a:tabLst>
                <a:tab pos="394970" algn="l"/>
              </a:tabLst>
            </a:pPr>
            <a:r>
              <a:rPr sz="2600" spc="-5" dirty="0">
                <a:latin typeface="Arial"/>
                <a:cs typeface="Arial"/>
              </a:rPr>
              <a:t>adding </a:t>
            </a:r>
            <a:r>
              <a:rPr sz="2600" dirty="0">
                <a:latin typeface="Arial"/>
                <a:cs typeface="Arial"/>
              </a:rPr>
              <a:t>a new</a:t>
            </a:r>
            <a:r>
              <a:rPr sz="2600" spc="-1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host</a:t>
            </a:r>
            <a:endParaRPr sz="2600">
              <a:latin typeface="Arial"/>
              <a:cs typeface="Arial"/>
            </a:endParaRPr>
          </a:p>
          <a:p>
            <a:pPr marL="394335" lvl="1" indent="-263525">
              <a:lnSpc>
                <a:spcPct val="100000"/>
              </a:lnSpc>
              <a:spcBef>
                <a:spcPts val="60"/>
              </a:spcBef>
              <a:buSzPct val="96153"/>
              <a:buFont typeface="Wingdings"/>
              <a:buChar char=""/>
              <a:tabLst>
                <a:tab pos="394970" algn="l"/>
              </a:tabLst>
            </a:pPr>
            <a:r>
              <a:rPr sz="2600" dirty="0">
                <a:latin typeface="Arial"/>
                <a:cs typeface="Arial"/>
              </a:rPr>
              <a:t>removing a</a:t>
            </a:r>
            <a:r>
              <a:rPr sz="2600" spc="-2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host</a:t>
            </a:r>
            <a:endParaRPr sz="2600">
              <a:latin typeface="Arial"/>
              <a:cs typeface="Arial"/>
            </a:endParaRPr>
          </a:p>
          <a:p>
            <a:pPr marL="394970" lvl="1" indent="-264160">
              <a:lnSpc>
                <a:spcPct val="100000"/>
              </a:lnSpc>
              <a:spcBef>
                <a:spcPts val="70"/>
              </a:spcBef>
              <a:buSzPct val="96153"/>
              <a:buFont typeface="Wingdings"/>
              <a:buChar char=""/>
              <a:tabLst>
                <a:tab pos="395605" algn="l"/>
              </a:tabLst>
            </a:pPr>
            <a:r>
              <a:rPr sz="2600" dirty="0">
                <a:latin typeface="Arial"/>
                <a:cs typeface="Arial"/>
              </a:rPr>
              <a:t>changing an IP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address</a:t>
            </a:r>
            <a:endParaRPr sz="26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Font typeface="Wingdings"/>
              <a:buChar char=""/>
            </a:pP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600" spc="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change must be made </a:t>
            </a:r>
            <a:r>
              <a:rPr sz="2600" spc="-5" dirty="0">
                <a:latin typeface="Arial"/>
                <a:cs typeface="Arial"/>
              </a:rPr>
              <a:t>to </a:t>
            </a:r>
            <a:r>
              <a:rPr sz="2600" dirty="0">
                <a:latin typeface="Arial"/>
                <a:cs typeface="Arial"/>
              </a:rPr>
              <a:t>the DNS master</a:t>
            </a:r>
            <a:r>
              <a:rPr sz="2600" spc="-4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file.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600" spc="5" dirty="0">
                <a:latin typeface="Arial"/>
                <a:cs typeface="Arial"/>
              </a:rPr>
              <a:t>The </a:t>
            </a:r>
            <a:r>
              <a:rPr sz="2600" dirty="0">
                <a:latin typeface="Arial"/>
                <a:cs typeface="Arial"/>
              </a:rPr>
              <a:t>DNSZmaster </a:t>
            </a:r>
            <a:r>
              <a:rPr sz="2600" spc="-5" dirty="0">
                <a:latin typeface="Arial"/>
                <a:cs typeface="Arial"/>
              </a:rPr>
              <a:t>file </a:t>
            </a:r>
            <a:r>
              <a:rPr sz="2600" dirty="0">
                <a:latin typeface="Arial"/>
                <a:cs typeface="Arial"/>
              </a:rPr>
              <a:t>must be updated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dynamically.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16939" y="5377383"/>
            <a:ext cx="1035621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</a:tabLst>
            </a:pPr>
            <a:r>
              <a:rPr sz="2600" spc="5" dirty="0">
                <a:latin typeface="Arial"/>
                <a:cs typeface="Arial"/>
              </a:rPr>
              <a:t>The</a:t>
            </a:r>
            <a:r>
              <a:rPr sz="2600" spc="180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Dynamic</a:t>
            </a:r>
            <a:r>
              <a:rPr sz="2600" spc="18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Domain</a:t>
            </a:r>
            <a:r>
              <a:rPr sz="2600" spc="18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Name</a:t>
            </a:r>
            <a:r>
              <a:rPr sz="2600" spc="19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System</a:t>
            </a:r>
            <a:r>
              <a:rPr sz="2600" spc="19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(DDNS)</a:t>
            </a:r>
            <a:r>
              <a:rPr sz="2600" spc="180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therefore</a:t>
            </a:r>
            <a:r>
              <a:rPr sz="2600" spc="18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was</a:t>
            </a:r>
            <a:r>
              <a:rPr sz="2600" spc="195" dirty="0">
                <a:latin typeface="Arial"/>
                <a:cs typeface="Arial"/>
              </a:rPr>
              <a:t> </a:t>
            </a:r>
            <a:r>
              <a:rPr sz="2600" spc="-5" dirty="0">
                <a:latin typeface="Arial"/>
                <a:cs typeface="Arial"/>
              </a:rPr>
              <a:t>devised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5654446"/>
            <a:ext cx="348615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to respond to this</a:t>
            </a:r>
            <a:r>
              <a:rPr sz="2600" spc="-6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need.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26689" y="307924"/>
            <a:ext cx="574230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422775" algn="l"/>
              </a:tabLst>
            </a:pPr>
            <a:r>
              <a:rPr spc="-5" dirty="0"/>
              <a:t>SECURIT</a:t>
            </a:r>
            <a:r>
              <a:rPr spc="5" dirty="0"/>
              <a:t>Y</a:t>
            </a:r>
            <a:r>
              <a:rPr spc="-20" dirty="0"/>
              <a:t> </a:t>
            </a:r>
            <a:r>
              <a:rPr dirty="0"/>
              <a:t>OF	</a:t>
            </a:r>
            <a:r>
              <a:rPr spc="5" dirty="0"/>
              <a:t>DNS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16939" y="1736801"/>
            <a:ext cx="228917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  <a:tab pos="1212215" algn="l"/>
                <a:tab pos="1722755" algn="l"/>
              </a:tabLst>
            </a:pPr>
            <a:r>
              <a:rPr sz="2600" spc="-5" dirty="0">
                <a:latin typeface="Arial"/>
                <a:cs typeface="Arial"/>
              </a:rPr>
              <a:t>DN</a:t>
            </a:r>
            <a:r>
              <a:rPr sz="2600" dirty="0">
                <a:latin typeface="Arial"/>
                <a:cs typeface="Arial"/>
              </a:rPr>
              <a:t>S	</a:t>
            </a:r>
            <a:r>
              <a:rPr sz="2600" spc="-5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s	one</a:t>
            </a:r>
            <a:endParaRPr sz="26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53129" y="1736801"/>
            <a:ext cx="782193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561340" algn="l"/>
                <a:tab pos="1296035" algn="l"/>
                <a:tab pos="2284730" algn="l"/>
                <a:tab pos="3935729" algn="l"/>
                <a:tab pos="5421630" algn="l"/>
                <a:tab pos="5952490" algn="l"/>
                <a:tab pos="6685280" algn="l"/>
              </a:tabLst>
            </a:pPr>
            <a:r>
              <a:rPr sz="2600" dirty="0">
                <a:latin typeface="Arial"/>
                <a:cs typeface="Arial"/>
              </a:rPr>
              <a:t>of	t</a:t>
            </a:r>
            <a:r>
              <a:rPr sz="2600" spc="5" dirty="0">
                <a:latin typeface="Arial"/>
                <a:cs typeface="Arial"/>
              </a:rPr>
              <a:t>h</a:t>
            </a:r>
            <a:r>
              <a:rPr sz="2600" dirty="0">
                <a:latin typeface="Arial"/>
                <a:cs typeface="Arial"/>
              </a:rPr>
              <a:t>e	</a:t>
            </a:r>
            <a:r>
              <a:rPr sz="2600" spc="5" dirty="0">
                <a:latin typeface="Arial"/>
                <a:cs typeface="Arial"/>
              </a:rPr>
              <a:t>m</a:t>
            </a:r>
            <a:r>
              <a:rPr sz="2600" spc="-10" dirty="0">
                <a:latin typeface="Arial"/>
                <a:cs typeface="Arial"/>
              </a:rPr>
              <a:t>o</a:t>
            </a:r>
            <a:r>
              <a:rPr sz="2600" dirty="0">
                <a:latin typeface="Arial"/>
                <a:cs typeface="Arial"/>
              </a:rPr>
              <a:t>st	</a:t>
            </a:r>
            <a:r>
              <a:rPr sz="2600" spc="-5" dirty="0">
                <a:latin typeface="Arial"/>
                <a:cs typeface="Arial"/>
              </a:rPr>
              <a:t>importa</a:t>
            </a:r>
            <a:r>
              <a:rPr sz="2600" spc="-1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t	s</a:t>
            </a:r>
            <a:r>
              <a:rPr sz="2600" spc="5" dirty="0">
                <a:latin typeface="Arial"/>
                <a:cs typeface="Arial"/>
              </a:rPr>
              <a:t>y</a:t>
            </a:r>
            <a:r>
              <a:rPr sz="2600" dirty="0">
                <a:latin typeface="Arial"/>
                <a:cs typeface="Arial"/>
              </a:rPr>
              <a:t>st</a:t>
            </a:r>
            <a:r>
              <a:rPr sz="2600" spc="-10" dirty="0">
                <a:latin typeface="Arial"/>
                <a:cs typeface="Arial"/>
              </a:rPr>
              <a:t>em</a:t>
            </a:r>
            <a:r>
              <a:rPr sz="2600" dirty="0">
                <a:latin typeface="Arial"/>
                <a:cs typeface="Arial"/>
              </a:rPr>
              <a:t>s	</a:t>
            </a:r>
            <a:r>
              <a:rPr sz="2600" spc="-5" dirty="0">
                <a:latin typeface="Arial"/>
                <a:cs typeface="Arial"/>
              </a:rPr>
              <a:t>i</a:t>
            </a:r>
            <a:r>
              <a:rPr sz="2600" dirty="0">
                <a:latin typeface="Arial"/>
                <a:cs typeface="Arial"/>
              </a:rPr>
              <a:t>n	the	Internet</a:t>
            </a:r>
            <a:endParaRPr sz="2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2014855"/>
            <a:ext cx="204851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Arial"/>
                <a:cs typeface="Arial"/>
              </a:rPr>
              <a:t>infra</a:t>
            </a:r>
            <a:r>
              <a:rPr sz="2600" spc="10" dirty="0">
                <a:latin typeface="Arial"/>
                <a:cs typeface="Arial"/>
              </a:rPr>
              <a:t>s</a:t>
            </a:r>
            <a:r>
              <a:rPr sz="2600" dirty="0">
                <a:latin typeface="Arial"/>
                <a:cs typeface="Arial"/>
              </a:rPr>
              <a:t>tru</a:t>
            </a:r>
            <a:r>
              <a:rPr sz="2600" spc="5" dirty="0">
                <a:latin typeface="Arial"/>
                <a:cs typeface="Arial"/>
              </a:rPr>
              <a:t>c</a:t>
            </a:r>
            <a:r>
              <a:rPr sz="2600" dirty="0">
                <a:latin typeface="Arial"/>
                <a:cs typeface="Arial"/>
              </a:rPr>
              <a:t>tur</a:t>
            </a:r>
            <a:r>
              <a:rPr sz="2600" spc="-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;</a:t>
            </a:r>
            <a:endParaRPr sz="2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6939" y="2822575"/>
            <a:ext cx="10358120" cy="4222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</a:tabLst>
            </a:pPr>
            <a:r>
              <a:rPr sz="2600" dirty="0">
                <a:latin typeface="Arial"/>
                <a:cs typeface="Arial"/>
              </a:rPr>
              <a:t>Applications such </a:t>
            </a:r>
            <a:r>
              <a:rPr sz="2600" spc="-5" dirty="0">
                <a:latin typeface="Arial"/>
                <a:cs typeface="Arial"/>
              </a:rPr>
              <a:t>as Web access </a:t>
            </a:r>
            <a:r>
              <a:rPr sz="2600" dirty="0">
                <a:latin typeface="Arial"/>
                <a:cs typeface="Arial"/>
              </a:rPr>
              <a:t>or </a:t>
            </a:r>
            <a:r>
              <a:rPr sz="2600" spc="-5" dirty="0">
                <a:latin typeface="Arial"/>
                <a:cs typeface="Arial"/>
              </a:rPr>
              <a:t>e-mail are heavily dependent</a:t>
            </a:r>
            <a:r>
              <a:rPr sz="2600" spc="180" dirty="0">
                <a:latin typeface="Arial"/>
                <a:cs typeface="Arial"/>
              </a:rPr>
              <a:t> </a:t>
            </a:r>
            <a:r>
              <a:rPr sz="2600" spc="-10" dirty="0">
                <a:latin typeface="Arial"/>
                <a:cs typeface="Arial"/>
              </a:rPr>
              <a:t>on</a:t>
            </a:r>
            <a:endParaRPr sz="26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916939" y="3099638"/>
            <a:ext cx="5900420" cy="12325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>
              <a:lnSpc>
                <a:spcPct val="100000"/>
              </a:lnSpc>
              <a:spcBef>
                <a:spcPts val="105"/>
              </a:spcBef>
            </a:pPr>
            <a:r>
              <a:rPr sz="2600" dirty="0">
                <a:latin typeface="Arial"/>
                <a:cs typeface="Arial"/>
              </a:rPr>
              <a:t>the </a:t>
            </a:r>
            <a:r>
              <a:rPr sz="2600" spc="-5" dirty="0">
                <a:latin typeface="Arial"/>
                <a:cs typeface="Arial"/>
              </a:rPr>
              <a:t>proper </a:t>
            </a:r>
            <a:r>
              <a:rPr sz="2600" dirty="0">
                <a:latin typeface="Arial"/>
                <a:cs typeface="Arial"/>
              </a:rPr>
              <a:t>operation of</a:t>
            </a:r>
            <a:r>
              <a:rPr sz="2600" spc="-15" dirty="0">
                <a:latin typeface="Arial"/>
                <a:cs typeface="Arial"/>
              </a:rPr>
              <a:t> </a:t>
            </a:r>
            <a:r>
              <a:rPr sz="2600" dirty="0">
                <a:latin typeface="Arial"/>
                <a:cs typeface="Arial"/>
              </a:rPr>
              <a:t>DNS.</a:t>
            </a:r>
            <a:endParaRPr sz="2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8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buChar char="•"/>
              <a:tabLst>
                <a:tab pos="241300" algn="l"/>
              </a:tabLst>
            </a:pPr>
            <a:r>
              <a:rPr sz="2600" spc="5" dirty="0">
                <a:latin typeface="Arial"/>
                <a:cs typeface="Arial"/>
              </a:rPr>
              <a:t>DNS </a:t>
            </a:r>
            <a:r>
              <a:rPr sz="2600" dirty="0">
                <a:latin typeface="Arial"/>
                <a:cs typeface="Arial"/>
              </a:rPr>
              <a:t>can be </a:t>
            </a:r>
            <a:r>
              <a:rPr sz="2600" spc="-5" dirty="0">
                <a:latin typeface="Arial"/>
                <a:cs typeface="Arial"/>
              </a:rPr>
              <a:t>attacked in </a:t>
            </a:r>
            <a:r>
              <a:rPr sz="2600" dirty="0">
                <a:latin typeface="Arial"/>
                <a:cs typeface="Arial"/>
              </a:rPr>
              <a:t>several</a:t>
            </a:r>
            <a:r>
              <a:rPr sz="2600" spc="-50" dirty="0">
                <a:latin typeface="Arial"/>
                <a:cs typeface="Arial"/>
              </a:rPr>
              <a:t> </a:t>
            </a:r>
            <a:r>
              <a:rPr sz="2600" spc="5" dirty="0">
                <a:latin typeface="Arial"/>
                <a:cs typeface="Arial"/>
              </a:rPr>
              <a:t>Ways.</a:t>
            </a:r>
            <a:endParaRPr sz="26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16939" y="4719065"/>
            <a:ext cx="1036002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har char="•"/>
              <a:tabLst>
                <a:tab pos="241300" algn="l"/>
                <a:tab pos="854075" algn="l"/>
                <a:tab pos="2089785" algn="l"/>
                <a:tab pos="3106420" algn="l"/>
                <a:tab pos="4048760" algn="l"/>
                <a:tab pos="4807585" algn="l"/>
                <a:tab pos="6173470" algn="l"/>
                <a:tab pos="6583045" algn="l"/>
                <a:tab pos="8412480" algn="l"/>
                <a:tab pos="9648190" algn="l"/>
              </a:tabLst>
            </a:pPr>
            <a:r>
              <a:rPr sz="2600" spc="5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o	</a:t>
            </a:r>
            <a:r>
              <a:rPr sz="2600" spc="-5" dirty="0">
                <a:latin typeface="Arial"/>
                <a:cs typeface="Arial"/>
              </a:rPr>
              <a:t>protec</a:t>
            </a:r>
            <a:r>
              <a:rPr sz="2600" dirty="0">
                <a:latin typeface="Arial"/>
                <a:cs typeface="Arial"/>
              </a:rPr>
              <a:t>t	DNS,	IE</a:t>
            </a:r>
            <a:r>
              <a:rPr sz="2600" spc="-10" dirty="0">
                <a:latin typeface="Arial"/>
                <a:cs typeface="Arial"/>
              </a:rPr>
              <a:t>T</a:t>
            </a:r>
            <a:r>
              <a:rPr sz="2600" dirty="0">
                <a:latin typeface="Arial"/>
                <a:cs typeface="Arial"/>
              </a:rPr>
              <a:t>F	has	</a:t>
            </a:r>
            <a:r>
              <a:rPr sz="2600" spc="-5" dirty="0">
                <a:latin typeface="Arial"/>
                <a:cs typeface="Arial"/>
              </a:rPr>
              <a:t>d</a:t>
            </a:r>
            <a:r>
              <a:rPr sz="2600" dirty="0">
                <a:latin typeface="Arial"/>
                <a:cs typeface="Arial"/>
              </a:rPr>
              <a:t>evised	a	tec</a:t>
            </a:r>
            <a:r>
              <a:rPr sz="2600" spc="5" dirty="0">
                <a:latin typeface="Arial"/>
                <a:cs typeface="Arial"/>
              </a:rPr>
              <a:t>h</a:t>
            </a:r>
            <a:r>
              <a:rPr sz="2600" spc="-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o</a:t>
            </a:r>
            <a:r>
              <a:rPr sz="2600" spc="-5" dirty="0">
                <a:latin typeface="Arial"/>
                <a:cs typeface="Arial"/>
              </a:rPr>
              <a:t>log</a:t>
            </a:r>
            <a:r>
              <a:rPr sz="2600" dirty="0">
                <a:latin typeface="Arial"/>
                <a:cs typeface="Arial"/>
              </a:rPr>
              <a:t>y	</a:t>
            </a:r>
            <a:r>
              <a:rPr sz="2600" spc="-5" dirty="0">
                <a:latin typeface="Arial"/>
                <a:cs typeface="Arial"/>
              </a:rPr>
              <a:t>name</a:t>
            </a:r>
            <a:r>
              <a:rPr sz="2600" dirty="0">
                <a:latin typeface="Arial"/>
                <a:cs typeface="Arial"/>
              </a:rPr>
              <a:t>d	</a:t>
            </a:r>
            <a:r>
              <a:rPr sz="2600" spc="-5" dirty="0">
                <a:latin typeface="Arial"/>
                <a:cs typeface="Arial"/>
              </a:rPr>
              <a:t>DNS</a:t>
            </a:r>
            <a:endParaRPr sz="26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5539" y="4996434"/>
            <a:ext cx="1222375" cy="422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600" dirty="0">
                <a:latin typeface="Arial"/>
                <a:cs typeface="Arial"/>
              </a:rPr>
              <a:t>S</a:t>
            </a:r>
            <a:r>
              <a:rPr sz="2600" spc="10" dirty="0">
                <a:latin typeface="Arial"/>
                <a:cs typeface="Arial"/>
              </a:rPr>
              <a:t>e</a:t>
            </a:r>
            <a:r>
              <a:rPr sz="2600" spc="5" dirty="0">
                <a:latin typeface="Arial"/>
                <a:cs typeface="Arial"/>
              </a:rPr>
              <a:t>c</a:t>
            </a:r>
            <a:r>
              <a:rPr sz="2600" spc="-5" dirty="0">
                <a:latin typeface="Arial"/>
                <a:cs typeface="Arial"/>
              </a:rPr>
              <a:t>urity</a:t>
            </a:r>
            <a:endParaRPr sz="26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16939" y="5399938"/>
            <a:ext cx="1035812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5"/>
              </a:spcBef>
              <a:buChar char="•"/>
              <a:tabLst>
                <a:tab pos="241300" algn="l"/>
                <a:tab pos="2048510" algn="l"/>
                <a:tab pos="2812415" algn="l"/>
                <a:tab pos="4275455" algn="l"/>
                <a:tab pos="4946015" algn="l"/>
                <a:tab pos="6499225" algn="l"/>
                <a:tab pos="7519034" algn="l"/>
                <a:tab pos="9791700" algn="l"/>
              </a:tabLst>
            </a:pPr>
            <a:r>
              <a:rPr sz="2600" dirty="0">
                <a:latin typeface="Arial"/>
                <a:cs typeface="Arial"/>
              </a:rPr>
              <a:t>(</a:t>
            </a:r>
            <a:r>
              <a:rPr sz="2600" spc="-15" dirty="0">
                <a:latin typeface="Arial"/>
                <a:cs typeface="Arial"/>
              </a:rPr>
              <a:t>D</a:t>
            </a:r>
            <a:r>
              <a:rPr sz="2600" spc="-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SSE</a:t>
            </a:r>
            <a:r>
              <a:rPr sz="2600" spc="-15" dirty="0">
                <a:latin typeface="Arial"/>
                <a:cs typeface="Arial"/>
              </a:rPr>
              <a:t>C</a:t>
            </a:r>
            <a:r>
              <a:rPr sz="2600" dirty="0">
                <a:latin typeface="Arial"/>
                <a:cs typeface="Arial"/>
              </a:rPr>
              <a:t>)	that	</a:t>
            </a:r>
            <a:r>
              <a:rPr sz="2600" spc="-5" dirty="0">
                <a:latin typeface="Arial"/>
                <a:cs typeface="Arial"/>
              </a:rPr>
              <a:t>pro</a:t>
            </a:r>
            <a:r>
              <a:rPr sz="2600" spc="10" dirty="0">
                <a:latin typeface="Arial"/>
                <a:cs typeface="Arial"/>
              </a:rPr>
              <a:t>v</a:t>
            </a:r>
            <a:r>
              <a:rPr sz="2600" spc="-5" dirty="0">
                <a:latin typeface="Arial"/>
                <a:cs typeface="Arial"/>
              </a:rPr>
              <a:t>ide</a:t>
            </a:r>
            <a:r>
              <a:rPr sz="2600" dirty="0">
                <a:latin typeface="Arial"/>
                <a:cs typeface="Arial"/>
              </a:rPr>
              <a:t>s	t</a:t>
            </a:r>
            <a:r>
              <a:rPr sz="2600" spc="-15" dirty="0">
                <a:latin typeface="Arial"/>
                <a:cs typeface="Arial"/>
              </a:rPr>
              <a:t>h</a:t>
            </a:r>
            <a:r>
              <a:rPr sz="2600" dirty="0">
                <a:latin typeface="Arial"/>
                <a:cs typeface="Arial"/>
              </a:rPr>
              <a:t>e	</a:t>
            </a:r>
            <a:r>
              <a:rPr sz="2600" spc="5" dirty="0">
                <a:latin typeface="Arial"/>
                <a:cs typeface="Arial"/>
              </a:rPr>
              <a:t>m</a:t>
            </a:r>
            <a:r>
              <a:rPr sz="2600" spc="-10" dirty="0">
                <a:latin typeface="Arial"/>
                <a:cs typeface="Arial"/>
              </a:rPr>
              <a:t>e</a:t>
            </a:r>
            <a:r>
              <a:rPr sz="2600" dirty="0">
                <a:latin typeface="Arial"/>
                <a:cs typeface="Arial"/>
              </a:rPr>
              <a:t>ssa</a:t>
            </a:r>
            <a:r>
              <a:rPr sz="2600" spc="-10" dirty="0">
                <a:latin typeface="Arial"/>
                <a:cs typeface="Arial"/>
              </a:rPr>
              <a:t>g</a:t>
            </a:r>
            <a:r>
              <a:rPr sz="2600" dirty="0">
                <a:latin typeface="Arial"/>
                <a:cs typeface="Arial"/>
              </a:rPr>
              <a:t>e	</a:t>
            </a:r>
            <a:r>
              <a:rPr sz="2600" spc="-5" dirty="0">
                <a:latin typeface="Arial"/>
                <a:cs typeface="Arial"/>
              </a:rPr>
              <a:t>origi</a:t>
            </a:r>
            <a:r>
              <a:rPr sz="2600" dirty="0">
                <a:latin typeface="Arial"/>
                <a:cs typeface="Arial"/>
              </a:rPr>
              <a:t>n	</a:t>
            </a:r>
            <a:r>
              <a:rPr sz="2600" spc="-5" dirty="0">
                <a:latin typeface="Arial"/>
                <a:cs typeface="Arial"/>
              </a:rPr>
              <a:t>authe</a:t>
            </a:r>
            <a:r>
              <a:rPr sz="2600" spc="5" dirty="0">
                <a:latin typeface="Arial"/>
                <a:cs typeface="Arial"/>
              </a:rPr>
              <a:t>n</a:t>
            </a:r>
            <a:r>
              <a:rPr sz="2600" dirty="0">
                <a:latin typeface="Arial"/>
                <a:cs typeface="Arial"/>
              </a:rPr>
              <a:t>tic</a:t>
            </a:r>
            <a:r>
              <a:rPr sz="2600" spc="-10" dirty="0">
                <a:latin typeface="Arial"/>
                <a:cs typeface="Arial"/>
              </a:rPr>
              <a:t>a</a:t>
            </a:r>
            <a:r>
              <a:rPr sz="2600" dirty="0">
                <a:latin typeface="Arial"/>
                <a:cs typeface="Arial"/>
              </a:rPr>
              <a:t>tion	and</a:t>
            </a:r>
            <a:endParaRPr sz="2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145539" y="5677306"/>
            <a:ext cx="956564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00" spc="5" dirty="0">
                <a:latin typeface="Arial"/>
                <a:cs typeface="Arial"/>
              </a:rPr>
              <a:t>message </a:t>
            </a:r>
            <a:r>
              <a:rPr sz="2600" spc="-5" dirty="0">
                <a:latin typeface="Arial"/>
                <a:cs typeface="Arial"/>
              </a:rPr>
              <a:t>integrity </a:t>
            </a:r>
            <a:r>
              <a:rPr sz="2600" dirty="0">
                <a:latin typeface="Arial"/>
                <a:cs typeface="Arial"/>
              </a:rPr>
              <a:t>using a security service called </a:t>
            </a:r>
            <a:r>
              <a:rPr sz="2600" spc="-5" dirty="0">
                <a:solidFill>
                  <a:srgbClr val="FFC000"/>
                </a:solidFill>
                <a:latin typeface="Arial"/>
                <a:cs typeface="Arial"/>
              </a:rPr>
              <a:t>Digital</a:t>
            </a:r>
            <a:r>
              <a:rPr sz="2600" spc="-90" dirty="0">
                <a:solidFill>
                  <a:srgbClr val="FFC000"/>
                </a:solidFill>
                <a:latin typeface="Arial"/>
                <a:cs typeface="Arial"/>
              </a:rPr>
              <a:t> </a:t>
            </a:r>
            <a:r>
              <a:rPr sz="2600" dirty="0">
                <a:solidFill>
                  <a:srgbClr val="FFC000"/>
                </a:solidFill>
                <a:latin typeface="Arial"/>
                <a:cs typeface="Arial"/>
              </a:rPr>
              <a:t>signature</a:t>
            </a:r>
            <a:endParaRPr sz="2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60</TotalTime>
  <Words>746</Words>
  <Application>Microsoft Office PowerPoint</Application>
  <PresentationFormat>Widescreen</PresentationFormat>
  <Paragraphs>217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Arial Black</vt:lpstr>
      <vt:lpstr>Calibri</vt:lpstr>
      <vt:lpstr>Carlito</vt:lpstr>
      <vt:lpstr>Times New Roman</vt:lpstr>
      <vt:lpstr>Wingdings</vt:lpstr>
      <vt:lpstr>Office Theme</vt:lpstr>
      <vt:lpstr>PowerPoint Presentation</vt:lpstr>
      <vt:lpstr>The overall number of domains  registered, by TLD type</vt:lpstr>
      <vt:lpstr>PowerPoint Presentation</vt:lpstr>
      <vt:lpstr>Top 5 Domain name registrations, by the country</vt:lpstr>
      <vt:lpstr>PowerPoint Presentation</vt:lpstr>
      <vt:lpstr>TOPICS</vt:lpstr>
      <vt:lpstr>PURPOSE OF DNS</vt:lpstr>
      <vt:lpstr>DNS ARCHITECTURE</vt:lpstr>
      <vt:lpstr>NEED FOR DNS</vt:lpstr>
      <vt:lpstr>NAME SPACE</vt:lpstr>
      <vt:lpstr>NAME SPACE</vt:lpstr>
      <vt:lpstr>PowerPoint Presentation</vt:lpstr>
      <vt:lpstr>PowerPoint Presentation</vt:lpstr>
      <vt:lpstr>ROOT</vt:lpstr>
      <vt:lpstr>FQDN &amp; PQDN</vt:lpstr>
      <vt:lpstr>FQDN &amp; PQDN</vt:lpstr>
      <vt:lpstr>Hierarchy of name servers</vt:lpstr>
      <vt:lpstr>Zones and domains</vt:lpstr>
      <vt:lpstr>DNS IN THE INTERNET</vt:lpstr>
      <vt:lpstr>GENERIC DOMAINS</vt:lpstr>
      <vt:lpstr>GENERIC DOMAINS</vt:lpstr>
      <vt:lpstr>COUNTRY DOMAINS</vt:lpstr>
      <vt:lpstr>INVERSE DOMAIN</vt:lpstr>
      <vt:lpstr>DNS RESOLUTION</vt:lpstr>
      <vt:lpstr>RECURSIVE RESOLUTION</vt:lpstr>
      <vt:lpstr>ITERATIVE RESOLUTION</vt:lpstr>
      <vt:lpstr>DNS MESSAGES</vt:lpstr>
      <vt:lpstr>QUERY AND RESPONSE MESSAGES</vt:lpstr>
      <vt:lpstr>TYPES OF RECORDS</vt:lpstr>
      <vt:lpstr>QUESTION RECORD FORMAT</vt:lpstr>
      <vt:lpstr>RESOURCE RECORD FORMAT</vt:lpstr>
      <vt:lpstr>REGISTRARS</vt:lpstr>
      <vt:lpstr>DDNS</vt:lpstr>
      <vt:lpstr>SECURITY OF DNS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3002  INTERNET AND WEB PROGRAMMING</dc:title>
  <dc:creator>Admin</dc:creator>
  <cp:lastModifiedBy>Arivoli Vijay</cp:lastModifiedBy>
  <cp:revision>2</cp:revision>
  <dcterms:created xsi:type="dcterms:W3CDTF">2021-08-25T11:28:37Z</dcterms:created>
  <dcterms:modified xsi:type="dcterms:W3CDTF">2024-11-04T09:53:39Z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2020-07-23T00:00:00Z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2021-08-25T00:00:00Z</vt:filetime>
  </property>
</Properties>
</file>