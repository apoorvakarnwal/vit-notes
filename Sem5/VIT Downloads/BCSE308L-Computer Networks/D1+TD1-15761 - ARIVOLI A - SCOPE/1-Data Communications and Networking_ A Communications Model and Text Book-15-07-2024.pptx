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1" r:id="rId4"/>
    <p:sldId id="258" r:id="rId5"/>
    <p:sldId id="259" r:id="rId6"/>
    <p:sldId id="275" r:id="rId7"/>
    <p:sldId id="276" r:id="rId8"/>
    <p:sldId id="262" r:id="rId9"/>
    <p:sldId id="263" r:id="rId10"/>
    <p:sldId id="264" r:id="rId11"/>
    <p:sldId id="265" r:id="rId12"/>
    <p:sldId id="266" r:id="rId13"/>
    <p:sldId id="274" r:id="rId14"/>
    <p:sldId id="267" r:id="rId15"/>
    <p:sldId id="268" r:id="rId16"/>
    <p:sldId id="269"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6" d="100"/>
          <a:sy n="86" d="100"/>
        </p:scale>
        <p:origin x="13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1B48B15-0BFF-456F-916C-2C8C89951174}" type="datetimeFigureOut">
              <a:rPr lang="en-IN" smtClean="0"/>
              <a:t>15-07-2024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0A3772-AB38-49DC-80C9-4C6489133C14}" type="slidenum">
              <a:rPr lang="en-IN" smtClean="0"/>
              <a:t>‹#›</a:t>
            </a:fld>
            <a:endParaRPr lang="en-IN"/>
          </a:p>
        </p:txBody>
      </p:sp>
    </p:spTree>
    <p:extLst>
      <p:ext uri="{BB962C8B-B14F-4D97-AF65-F5344CB8AC3E}">
        <p14:creationId xmlns:p14="http://schemas.microsoft.com/office/powerpoint/2010/main" val="1067472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1B48B15-0BFF-456F-916C-2C8C89951174}" type="datetimeFigureOut">
              <a:rPr lang="en-IN" smtClean="0"/>
              <a:t>15-07-2024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0A3772-AB38-49DC-80C9-4C6489133C14}" type="slidenum">
              <a:rPr lang="en-IN" smtClean="0"/>
              <a:t>‹#›</a:t>
            </a:fld>
            <a:endParaRPr lang="en-IN"/>
          </a:p>
        </p:txBody>
      </p:sp>
    </p:spTree>
    <p:extLst>
      <p:ext uri="{BB962C8B-B14F-4D97-AF65-F5344CB8AC3E}">
        <p14:creationId xmlns:p14="http://schemas.microsoft.com/office/powerpoint/2010/main" val="19035342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1B48B15-0BFF-456F-916C-2C8C89951174}" type="datetimeFigureOut">
              <a:rPr lang="en-IN" smtClean="0"/>
              <a:t>15-07-2024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0A3772-AB38-49DC-80C9-4C6489133C14}" type="slidenum">
              <a:rPr lang="en-IN" smtClean="0"/>
              <a:t>‹#›</a:t>
            </a:fld>
            <a:endParaRPr lang="en-IN"/>
          </a:p>
        </p:txBody>
      </p:sp>
    </p:spTree>
    <p:extLst>
      <p:ext uri="{BB962C8B-B14F-4D97-AF65-F5344CB8AC3E}">
        <p14:creationId xmlns:p14="http://schemas.microsoft.com/office/powerpoint/2010/main" val="1771872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1B48B15-0BFF-456F-916C-2C8C89951174}" type="datetimeFigureOut">
              <a:rPr lang="en-IN" smtClean="0"/>
              <a:t>15-07-2024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0A3772-AB38-49DC-80C9-4C6489133C14}" type="slidenum">
              <a:rPr lang="en-IN" smtClean="0"/>
              <a:t>‹#›</a:t>
            </a:fld>
            <a:endParaRPr lang="en-IN"/>
          </a:p>
        </p:txBody>
      </p:sp>
    </p:spTree>
    <p:extLst>
      <p:ext uri="{BB962C8B-B14F-4D97-AF65-F5344CB8AC3E}">
        <p14:creationId xmlns:p14="http://schemas.microsoft.com/office/powerpoint/2010/main" val="2171945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1B48B15-0BFF-456F-916C-2C8C89951174}" type="datetimeFigureOut">
              <a:rPr lang="en-IN" smtClean="0"/>
              <a:t>15-07-2024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E0A3772-AB38-49DC-80C9-4C6489133C14}" type="slidenum">
              <a:rPr lang="en-IN" smtClean="0"/>
              <a:t>‹#›</a:t>
            </a:fld>
            <a:endParaRPr lang="en-IN"/>
          </a:p>
        </p:txBody>
      </p:sp>
    </p:spTree>
    <p:extLst>
      <p:ext uri="{BB962C8B-B14F-4D97-AF65-F5344CB8AC3E}">
        <p14:creationId xmlns:p14="http://schemas.microsoft.com/office/powerpoint/2010/main" val="242453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1B48B15-0BFF-456F-916C-2C8C89951174}" type="datetimeFigureOut">
              <a:rPr lang="en-IN" smtClean="0"/>
              <a:t>15-07-2024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E0A3772-AB38-49DC-80C9-4C6489133C14}" type="slidenum">
              <a:rPr lang="en-IN" smtClean="0"/>
              <a:t>‹#›</a:t>
            </a:fld>
            <a:endParaRPr lang="en-IN"/>
          </a:p>
        </p:txBody>
      </p:sp>
    </p:spTree>
    <p:extLst>
      <p:ext uri="{BB962C8B-B14F-4D97-AF65-F5344CB8AC3E}">
        <p14:creationId xmlns:p14="http://schemas.microsoft.com/office/powerpoint/2010/main" val="1913080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B48B15-0BFF-456F-916C-2C8C89951174}" type="datetimeFigureOut">
              <a:rPr lang="en-IN" smtClean="0"/>
              <a:t>15-07-2024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E0A3772-AB38-49DC-80C9-4C6489133C14}" type="slidenum">
              <a:rPr lang="en-IN" smtClean="0"/>
              <a:t>‹#›</a:t>
            </a:fld>
            <a:endParaRPr lang="en-IN"/>
          </a:p>
        </p:txBody>
      </p:sp>
    </p:spTree>
    <p:extLst>
      <p:ext uri="{BB962C8B-B14F-4D97-AF65-F5344CB8AC3E}">
        <p14:creationId xmlns:p14="http://schemas.microsoft.com/office/powerpoint/2010/main" val="19538212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1B48B15-0BFF-456F-916C-2C8C89951174}" type="datetimeFigureOut">
              <a:rPr lang="en-IN" smtClean="0"/>
              <a:t>15-07-2024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0A3772-AB38-49DC-80C9-4C6489133C14}" type="slidenum">
              <a:rPr lang="en-IN" smtClean="0"/>
              <a:t>‹#›</a:t>
            </a:fld>
            <a:endParaRPr lang="en-IN"/>
          </a:p>
        </p:txBody>
      </p:sp>
    </p:spTree>
    <p:extLst>
      <p:ext uri="{BB962C8B-B14F-4D97-AF65-F5344CB8AC3E}">
        <p14:creationId xmlns:p14="http://schemas.microsoft.com/office/powerpoint/2010/main" val="67757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1B48B15-0BFF-456F-916C-2C8C89951174}" type="datetimeFigureOut">
              <a:rPr lang="en-IN" smtClean="0"/>
              <a:t>15-07-2024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E0A3772-AB38-49DC-80C9-4C6489133C14}" type="slidenum">
              <a:rPr lang="en-IN" smtClean="0"/>
              <a:t>‹#›</a:t>
            </a:fld>
            <a:endParaRPr lang="en-IN"/>
          </a:p>
        </p:txBody>
      </p:sp>
    </p:spTree>
    <p:extLst>
      <p:ext uri="{BB962C8B-B14F-4D97-AF65-F5344CB8AC3E}">
        <p14:creationId xmlns:p14="http://schemas.microsoft.com/office/powerpoint/2010/main" val="2878197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1B48B15-0BFF-456F-916C-2C8C89951174}" type="datetimeFigureOut">
              <a:rPr lang="en-IN" smtClean="0"/>
              <a:t>15-07-2024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0A3772-AB38-49DC-80C9-4C6489133C14}" type="slidenum">
              <a:rPr lang="en-IN" smtClean="0"/>
              <a:t>‹#›</a:t>
            </a:fld>
            <a:endParaRPr lang="en-IN"/>
          </a:p>
        </p:txBody>
      </p:sp>
    </p:spTree>
    <p:extLst>
      <p:ext uri="{BB962C8B-B14F-4D97-AF65-F5344CB8AC3E}">
        <p14:creationId xmlns:p14="http://schemas.microsoft.com/office/powerpoint/2010/main" val="3012968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1B48B15-0BFF-456F-916C-2C8C89951174}" type="datetimeFigureOut">
              <a:rPr lang="en-IN" smtClean="0"/>
              <a:t>15-07-2024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E0A3772-AB38-49DC-80C9-4C6489133C14}" type="slidenum">
              <a:rPr lang="en-IN" smtClean="0"/>
              <a:t>‹#›</a:t>
            </a:fld>
            <a:endParaRPr lang="en-IN"/>
          </a:p>
        </p:txBody>
      </p:sp>
    </p:spTree>
    <p:extLst>
      <p:ext uri="{BB962C8B-B14F-4D97-AF65-F5344CB8AC3E}">
        <p14:creationId xmlns:p14="http://schemas.microsoft.com/office/powerpoint/2010/main" val="707087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B48B15-0BFF-456F-916C-2C8C89951174}" type="datetimeFigureOut">
              <a:rPr lang="en-IN" smtClean="0"/>
              <a:t>15-07-2024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0A3772-AB38-49DC-80C9-4C6489133C14}" type="slidenum">
              <a:rPr lang="en-IN" smtClean="0"/>
              <a:t>‹#›</a:t>
            </a:fld>
            <a:endParaRPr lang="en-IN"/>
          </a:p>
        </p:txBody>
      </p:sp>
    </p:spTree>
    <p:extLst>
      <p:ext uri="{BB962C8B-B14F-4D97-AF65-F5344CB8AC3E}">
        <p14:creationId xmlns:p14="http://schemas.microsoft.com/office/powerpoint/2010/main" val="14488513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png"/><Relationship Id="rId5" Type="http://schemas.openxmlformats.org/officeDocument/2006/relationships/image" Target="../media/image1.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wmf"/><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IN" sz="4400" dirty="0" smtClean="0">
                <a:latin typeface="Times New Roman" panose="02020603050405020304" pitchFamily="18" charset="0"/>
                <a:cs typeface="Times New Roman" panose="02020603050405020304" pitchFamily="18" charset="0"/>
              </a:rPr>
              <a:t>COMPUTER NETWORKS</a:t>
            </a:r>
            <a:endParaRPr lang="en-IN" sz="44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24000" y="3602038"/>
            <a:ext cx="9144000" cy="1008599"/>
          </a:xfrm>
        </p:spPr>
        <p:txBody>
          <a:bodyPr/>
          <a:lstStyle/>
          <a:p>
            <a:r>
              <a:rPr lang="en-IN" dirty="0" smtClean="0">
                <a:latin typeface="Times New Roman" panose="02020603050405020304" pitchFamily="18" charset="0"/>
                <a:cs typeface="Times New Roman" panose="02020603050405020304" pitchFamily="18" charset="0"/>
              </a:rPr>
              <a:t>					             Module 1</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23603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 Communication - Introduction</a:t>
            </a:r>
            <a:endParaRPr lang="en-IN" dirty="0"/>
          </a:p>
        </p:txBody>
      </p:sp>
      <p:sp>
        <p:nvSpPr>
          <p:cNvPr id="3" name="Content Placeholder 2"/>
          <p:cNvSpPr>
            <a:spLocks noGrp="1"/>
          </p:cNvSpPr>
          <p:nvPr>
            <p:ph idx="1"/>
          </p:nvPr>
        </p:nvSpPr>
        <p:spPr/>
        <p:txBody>
          <a:bodyPr>
            <a:normAutofit/>
          </a:bodyPr>
          <a:lstStyle/>
          <a:p>
            <a:pPr marL="0" indent="0">
              <a:buNone/>
              <a:defRPr/>
            </a:pPr>
            <a:r>
              <a:rPr lang="en-US" sz="2400" dirty="0">
                <a:latin typeface="Times New Roman" panose="02020603050405020304" pitchFamily="18" charset="0"/>
                <a:cs typeface="Times New Roman" panose="02020603050405020304" pitchFamily="18" charset="0"/>
              </a:rPr>
              <a:t>Data Communication </a:t>
            </a:r>
            <a:r>
              <a:rPr lang="en-US" sz="2400" dirty="0" smtClean="0">
                <a:latin typeface="Times New Roman" panose="02020603050405020304" pitchFamily="18" charset="0"/>
                <a:cs typeface="Times New Roman" panose="02020603050405020304" pitchFamily="18" charset="0"/>
              </a:rPr>
              <a:t>Overview</a:t>
            </a:r>
          </a:p>
          <a:p>
            <a:pPr lvl="1">
              <a:defRPr/>
            </a:pPr>
            <a:endParaRPr lang="en-US" dirty="0">
              <a:latin typeface="Times New Roman" panose="02020603050405020304" pitchFamily="18" charset="0"/>
              <a:cs typeface="Times New Roman" panose="02020603050405020304" pitchFamily="18" charset="0"/>
            </a:endParaRPr>
          </a:p>
          <a:p>
            <a:pPr lvl="1">
              <a:defRPr/>
            </a:pPr>
            <a:r>
              <a:rPr lang="en-US" dirty="0" smtClean="0">
                <a:latin typeface="Times New Roman" panose="02020603050405020304" pitchFamily="18" charset="0"/>
                <a:cs typeface="Times New Roman" panose="02020603050405020304" pitchFamily="18" charset="0"/>
              </a:rPr>
              <a:t>Definition</a:t>
            </a:r>
          </a:p>
          <a:p>
            <a:pPr lvl="1">
              <a:defRPr/>
            </a:pPr>
            <a:r>
              <a:rPr lang="en-US" dirty="0" smtClean="0">
                <a:latin typeface="Times New Roman" panose="02020603050405020304" pitchFamily="18" charset="0"/>
                <a:cs typeface="Times New Roman" panose="02020603050405020304" pitchFamily="18" charset="0"/>
              </a:rPr>
              <a:t>Characteristics</a:t>
            </a:r>
            <a:endParaRPr lang="en-US" dirty="0">
              <a:latin typeface="Times New Roman" panose="02020603050405020304" pitchFamily="18" charset="0"/>
              <a:cs typeface="Times New Roman" panose="02020603050405020304" pitchFamily="18" charset="0"/>
            </a:endParaRPr>
          </a:p>
          <a:p>
            <a:pPr lvl="1">
              <a:defRPr/>
            </a:pPr>
            <a:r>
              <a:rPr lang="en-US" dirty="0">
                <a:latin typeface="Times New Roman" panose="02020603050405020304" pitchFamily="18" charset="0"/>
                <a:cs typeface="Times New Roman" panose="02020603050405020304" pitchFamily="18" charset="0"/>
              </a:rPr>
              <a:t>Components</a:t>
            </a:r>
          </a:p>
          <a:p>
            <a:pPr lvl="1">
              <a:defRPr/>
            </a:pPr>
            <a:r>
              <a:rPr lang="en-US" dirty="0">
                <a:latin typeface="Times New Roman" panose="02020603050405020304" pitchFamily="18" charset="0"/>
                <a:cs typeface="Times New Roman" panose="02020603050405020304" pitchFamily="18" charset="0"/>
              </a:rPr>
              <a:t>Protocols and </a:t>
            </a:r>
            <a:r>
              <a:rPr lang="en-US" dirty="0" smtClean="0">
                <a:latin typeface="Times New Roman" panose="02020603050405020304" pitchFamily="18" charset="0"/>
                <a:cs typeface="Times New Roman" panose="02020603050405020304" pitchFamily="18" charset="0"/>
              </a:rPr>
              <a:t>standards</a:t>
            </a:r>
          </a:p>
          <a:p>
            <a:pPr lvl="1">
              <a:defRPr/>
            </a:pPr>
            <a:r>
              <a:rPr lang="en-US" dirty="0" smtClean="0">
                <a:latin typeface="Times New Roman" panose="02020603050405020304" pitchFamily="18" charset="0"/>
                <a:cs typeface="Times New Roman" panose="02020603050405020304" pitchFamily="18" charset="0"/>
              </a:rPr>
              <a:t>Data Representation</a:t>
            </a:r>
          </a:p>
          <a:p>
            <a:pPr lvl="1">
              <a:defRPr/>
            </a:pPr>
            <a:r>
              <a:rPr lang="en-US" dirty="0" smtClean="0">
                <a:latin typeface="Times New Roman" panose="02020603050405020304" pitchFamily="18" charset="0"/>
                <a:cs typeface="Times New Roman" panose="02020603050405020304" pitchFamily="18" charset="0"/>
              </a:rPr>
              <a:t>Data Flow</a:t>
            </a:r>
            <a:endParaRPr lang="en-US"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0573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28824"/>
          </a:xfrm>
        </p:spPr>
        <p:txBody>
          <a:bodyPr/>
          <a:lstStyle/>
          <a:p>
            <a:r>
              <a:rPr lang="en-IN" dirty="0" smtClean="0"/>
              <a:t>Motivation</a:t>
            </a:r>
            <a:endParaRPr lang="en-IN" dirty="0"/>
          </a:p>
        </p:txBody>
      </p:sp>
      <p:sp>
        <p:nvSpPr>
          <p:cNvPr id="3" name="Content Placeholder 2"/>
          <p:cNvSpPr>
            <a:spLocks noGrp="1"/>
          </p:cNvSpPr>
          <p:nvPr>
            <p:ph idx="1"/>
          </p:nvPr>
        </p:nvSpPr>
        <p:spPr/>
        <p:txBody>
          <a:bodyPr/>
          <a:lstStyle/>
          <a:p>
            <a:pPr>
              <a:defRPr/>
            </a:pPr>
            <a:r>
              <a:rPr lang="en-US" dirty="0"/>
              <a:t>Efficient way to share resources</a:t>
            </a:r>
          </a:p>
          <a:p>
            <a:pPr lvl="1">
              <a:defRPr/>
            </a:pPr>
            <a:r>
              <a:rPr lang="en-US" dirty="0"/>
              <a:t>Cost </a:t>
            </a:r>
            <a:r>
              <a:rPr lang="en-US" dirty="0">
                <a:latin typeface="Times New Roman" pitchFamily="18" charset="0"/>
              </a:rPr>
              <a:t>–</a:t>
            </a:r>
            <a:r>
              <a:rPr lang="en-US" dirty="0"/>
              <a:t> less expensive</a:t>
            </a:r>
          </a:p>
          <a:p>
            <a:pPr lvl="1">
              <a:defRPr/>
            </a:pPr>
            <a:r>
              <a:rPr lang="en-US" dirty="0"/>
              <a:t>Accessibility </a:t>
            </a:r>
            <a:r>
              <a:rPr lang="en-US" dirty="0">
                <a:latin typeface="Times New Roman" pitchFamily="18" charset="0"/>
              </a:rPr>
              <a:t>–</a:t>
            </a:r>
            <a:r>
              <a:rPr lang="en-US" dirty="0"/>
              <a:t> easier </a:t>
            </a:r>
          </a:p>
          <a:p>
            <a:pPr>
              <a:defRPr/>
            </a:pPr>
            <a:r>
              <a:rPr lang="en-US" dirty="0"/>
              <a:t>Efficient way to exchange information</a:t>
            </a:r>
          </a:p>
          <a:p>
            <a:pPr lvl="1">
              <a:defRPr/>
            </a:pPr>
            <a:r>
              <a:rPr lang="en-US" dirty="0"/>
              <a:t>Time </a:t>
            </a:r>
            <a:r>
              <a:rPr lang="en-US" dirty="0">
                <a:latin typeface="Times New Roman" pitchFamily="18" charset="0"/>
              </a:rPr>
              <a:t>–</a:t>
            </a:r>
            <a:r>
              <a:rPr lang="en-US" dirty="0"/>
              <a:t> faster </a:t>
            </a:r>
          </a:p>
          <a:p>
            <a:pPr lvl="1">
              <a:defRPr/>
            </a:pPr>
            <a:r>
              <a:rPr lang="en-US" dirty="0"/>
              <a:t>Size </a:t>
            </a:r>
            <a:r>
              <a:rPr lang="en-US" dirty="0">
                <a:latin typeface="Times New Roman" pitchFamily="18" charset="0"/>
              </a:rPr>
              <a:t>–</a:t>
            </a:r>
            <a:r>
              <a:rPr lang="en-US" dirty="0"/>
              <a:t> bigger </a:t>
            </a:r>
          </a:p>
          <a:p>
            <a:pPr lvl="1">
              <a:defRPr/>
            </a:pPr>
            <a:r>
              <a:rPr lang="en-US" dirty="0"/>
              <a:t>Correctness </a:t>
            </a:r>
            <a:r>
              <a:rPr lang="en-US" dirty="0">
                <a:latin typeface="Times New Roman" pitchFamily="18" charset="0"/>
              </a:rPr>
              <a:t>–</a:t>
            </a:r>
            <a:r>
              <a:rPr lang="en-US" dirty="0"/>
              <a:t> more accurate </a:t>
            </a:r>
          </a:p>
          <a:p>
            <a:pPr marL="0" indent="0">
              <a:buNone/>
            </a:pPr>
            <a:endParaRPr lang="en-IN" dirty="0"/>
          </a:p>
        </p:txBody>
      </p:sp>
    </p:spTree>
    <p:extLst>
      <p:ext uri="{BB962C8B-B14F-4D97-AF65-F5344CB8AC3E}">
        <p14:creationId xmlns:p14="http://schemas.microsoft.com/office/powerpoint/2010/main" val="12787177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Definition</a:t>
            </a:r>
            <a:endParaRPr lang="en-IN" dirty="0"/>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IN" sz="2400" dirty="0" smtClean="0"/>
              <a:t>Data Communication – Local or remote</a:t>
            </a:r>
          </a:p>
          <a:p>
            <a:pPr>
              <a:buFont typeface="Wingdings" panose="05000000000000000000" pitchFamily="2" charset="2"/>
              <a:buChar char="§"/>
            </a:pPr>
            <a:r>
              <a:rPr lang="en-IN" sz="2400" dirty="0" smtClean="0"/>
              <a:t>Telecommunication – Tele means “Far”</a:t>
            </a:r>
            <a:endParaRPr lang="en-IN" sz="2400" dirty="0"/>
          </a:p>
          <a:p>
            <a:pPr>
              <a:buFont typeface="Wingdings" panose="05000000000000000000" pitchFamily="2" charset="2"/>
              <a:buChar char="§"/>
            </a:pPr>
            <a:r>
              <a:rPr lang="en-US" altLang="en-US" sz="2400" dirty="0">
                <a:solidFill>
                  <a:schemeClr val="hlink"/>
                </a:solidFill>
                <a:latin typeface="Times New Roman" panose="02020603050405020304" pitchFamily="18" charset="0"/>
              </a:rPr>
              <a:t>Data communications</a:t>
            </a:r>
            <a:r>
              <a:rPr lang="en-US" altLang="en-US" sz="2400" dirty="0">
                <a:latin typeface="Times New Roman" panose="02020603050405020304" pitchFamily="18" charset="0"/>
              </a:rPr>
              <a:t> are the exchange of data between two devices via some form of transmission medium such as a wire cable. </a:t>
            </a:r>
            <a:endParaRPr lang="en-US" altLang="en-US" sz="2400" dirty="0" smtClean="0">
              <a:latin typeface="Times New Roman" panose="02020603050405020304" pitchFamily="18" charset="0"/>
            </a:endParaRPr>
          </a:p>
          <a:p>
            <a:pPr>
              <a:buFont typeface="Wingdings" panose="05000000000000000000" pitchFamily="2" charset="2"/>
              <a:buChar char="§"/>
            </a:pPr>
            <a:r>
              <a:rPr lang="en-US" altLang="en-US" sz="2400" dirty="0" smtClean="0">
                <a:latin typeface="Times New Roman" panose="02020603050405020304" pitchFamily="18" charset="0"/>
              </a:rPr>
              <a:t> For data communications to occur,</a:t>
            </a:r>
          </a:p>
          <a:p>
            <a:pPr>
              <a:buFont typeface="Wingdings" panose="05000000000000000000" pitchFamily="2" charset="2"/>
              <a:buChar char="§"/>
            </a:pPr>
            <a:r>
              <a:rPr lang="en-US" altLang="en-US" sz="2400" dirty="0">
                <a:latin typeface="Times New Roman" panose="02020603050405020304" pitchFamily="18" charset="0"/>
              </a:rPr>
              <a:t>	</a:t>
            </a:r>
            <a:r>
              <a:rPr lang="en-US" altLang="en-US" sz="2400" dirty="0" smtClean="0">
                <a:latin typeface="Times New Roman" panose="02020603050405020304" pitchFamily="18" charset="0"/>
              </a:rPr>
              <a:t> </a:t>
            </a:r>
            <a:r>
              <a:rPr lang="en-US" altLang="en-US" sz="2400" dirty="0">
                <a:latin typeface="Times New Roman" panose="02020603050405020304" pitchFamily="18" charset="0"/>
              </a:rPr>
              <a:t>T</a:t>
            </a:r>
            <a:r>
              <a:rPr lang="en-US" altLang="en-US" sz="2400" dirty="0" smtClean="0">
                <a:latin typeface="Times New Roman" panose="02020603050405020304" pitchFamily="18" charset="0"/>
              </a:rPr>
              <a:t>he communicating devices must be part of a communication system made up of a combination of hardware (physical equipment) and software (programs). </a:t>
            </a:r>
          </a:p>
          <a:p>
            <a:pPr>
              <a:buFont typeface="Wingdings" panose="05000000000000000000" pitchFamily="2" charset="2"/>
              <a:buChar char="§"/>
            </a:pPr>
            <a:endParaRPr lang="en-US" altLang="en-US" sz="2400" dirty="0" smtClean="0">
              <a:latin typeface="Times New Roman" panose="02020603050405020304" pitchFamily="18" charset="0"/>
            </a:endParaRPr>
          </a:p>
          <a:p>
            <a:pPr>
              <a:buFont typeface="Wingdings" panose="05000000000000000000" pitchFamily="2" charset="2"/>
              <a:buChar char="§"/>
            </a:pPr>
            <a:r>
              <a:rPr lang="en-US" altLang="en-US" sz="2400" dirty="0" smtClean="0">
                <a:latin typeface="Times New Roman" panose="02020603050405020304" pitchFamily="18" charset="0"/>
              </a:rPr>
              <a:t>Effectiveness – Based on characteristics</a:t>
            </a:r>
            <a:endParaRPr lang="en-US" altLang="en-US" sz="2400" dirty="0">
              <a:latin typeface="Times New Roman" panose="02020603050405020304" pitchFamily="18" charset="0"/>
            </a:endParaRPr>
          </a:p>
          <a:p>
            <a:endParaRPr lang="en-IN" sz="2400" dirty="0"/>
          </a:p>
        </p:txBody>
      </p:sp>
    </p:spTree>
    <p:extLst>
      <p:ext uri="{BB962C8B-B14F-4D97-AF65-F5344CB8AC3E}">
        <p14:creationId xmlns:p14="http://schemas.microsoft.com/office/powerpoint/2010/main" val="513351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33365"/>
          </a:xfrm>
        </p:spPr>
        <p:txBody>
          <a:bodyPr>
            <a:normAutofit fontScale="90000"/>
          </a:bodyPr>
          <a:lstStyle/>
          <a:p>
            <a:r>
              <a:rPr lang="en-IN" dirty="0" smtClean="0"/>
              <a:t>Characteristics </a:t>
            </a:r>
            <a:endParaRPr lang="en-IN" dirty="0"/>
          </a:p>
        </p:txBody>
      </p:sp>
      <p:sp>
        <p:nvSpPr>
          <p:cNvPr id="3" name="Content Placeholder 2"/>
          <p:cNvSpPr>
            <a:spLocks noGrp="1"/>
          </p:cNvSpPr>
          <p:nvPr>
            <p:ph idx="1"/>
          </p:nvPr>
        </p:nvSpPr>
        <p:spPr>
          <a:xfrm>
            <a:off x="838200" y="1094704"/>
            <a:ext cx="10515600" cy="5082259"/>
          </a:xfrm>
        </p:spPr>
        <p:txBody>
          <a:bodyPr>
            <a:noAutofit/>
          </a:bodyPr>
          <a:lstStyle/>
          <a:p>
            <a:pPr marL="0" indent="0" algn="just">
              <a:buNone/>
            </a:pPr>
            <a:r>
              <a:rPr lang="en-US" sz="2300" dirty="0">
                <a:latin typeface="Times New Roman" panose="02020603050405020304" pitchFamily="18" charset="0"/>
                <a:cs typeface="Times New Roman" panose="02020603050405020304" pitchFamily="18" charset="0"/>
              </a:rPr>
              <a:t> </a:t>
            </a:r>
            <a:r>
              <a:rPr lang="en-US" sz="2300" dirty="0" smtClean="0">
                <a:solidFill>
                  <a:srgbClr val="FF0000"/>
                </a:solidFill>
                <a:latin typeface="Times New Roman" panose="02020603050405020304" pitchFamily="18" charset="0"/>
                <a:cs typeface="Times New Roman" panose="02020603050405020304" pitchFamily="18" charset="0"/>
              </a:rPr>
              <a:t>Delivery</a:t>
            </a:r>
          </a:p>
          <a:p>
            <a:pPr marL="0" indent="0" algn="just">
              <a:buNone/>
            </a:pPr>
            <a:r>
              <a:rPr lang="en-US" sz="2300" dirty="0">
                <a:latin typeface="Times New Roman" panose="02020603050405020304" pitchFamily="18" charset="0"/>
                <a:cs typeface="Times New Roman" panose="02020603050405020304" pitchFamily="18" charset="0"/>
              </a:rPr>
              <a:t>	</a:t>
            </a: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system must deliver data to the correct destination. Data must be received by the intended device or user and only by that device or user. </a:t>
            </a:r>
            <a:endParaRPr lang="en-IN" sz="2300" dirty="0" smtClean="0">
              <a:latin typeface="Times New Roman" panose="02020603050405020304" pitchFamily="18" charset="0"/>
              <a:cs typeface="Times New Roman" panose="02020603050405020304" pitchFamily="18" charset="0"/>
            </a:endParaRPr>
          </a:p>
          <a:p>
            <a:pPr marL="0" indent="0" algn="just">
              <a:buNone/>
            </a:pPr>
            <a:r>
              <a:rPr lang="en-US" sz="2300" dirty="0" smtClean="0">
                <a:solidFill>
                  <a:srgbClr val="FF0000"/>
                </a:solidFill>
                <a:latin typeface="Times New Roman" panose="02020603050405020304" pitchFamily="18" charset="0"/>
                <a:cs typeface="Times New Roman" panose="02020603050405020304" pitchFamily="18" charset="0"/>
              </a:rPr>
              <a:t>Accuracy</a:t>
            </a:r>
          </a:p>
          <a:p>
            <a:pPr marL="0" indent="0" algn="just">
              <a:buNone/>
            </a:pPr>
            <a:r>
              <a:rPr lang="en-US" sz="2300" dirty="0">
                <a:latin typeface="Times New Roman" panose="02020603050405020304" pitchFamily="18" charset="0"/>
                <a:cs typeface="Times New Roman" panose="02020603050405020304" pitchFamily="18" charset="0"/>
              </a:rPr>
              <a:t>	</a:t>
            </a:r>
            <a:r>
              <a:rPr lang="en-US" sz="2300" dirty="0" smtClean="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The system must deliver the data accurately. Data that have been altered in transmission and left uncorrected are unusable. </a:t>
            </a:r>
            <a:endParaRPr lang="en-IN" sz="2300" dirty="0" smtClean="0">
              <a:latin typeface="Times New Roman" panose="02020603050405020304" pitchFamily="18" charset="0"/>
              <a:cs typeface="Times New Roman" panose="02020603050405020304" pitchFamily="18" charset="0"/>
            </a:endParaRPr>
          </a:p>
          <a:p>
            <a:pPr marL="0" indent="0" algn="just">
              <a:buNone/>
            </a:pPr>
            <a:r>
              <a:rPr lang="en-US" sz="2300" dirty="0" smtClean="0">
                <a:solidFill>
                  <a:srgbClr val="FF0000"/>
                </a:solidFill>
                <a:latin typeface="Times New Roman" panose="02020603050405020304" pitchFamily="18" charset="0"/>
                <a:cs typeface="Times New Roman" panose="02020603050405020304" pitchFamily="18" charset="0"/>
              </a:rPr>
              <a:t>Timeliness</a:t>
            </a:r>
          </a:p>
          <a:p>
            <a:pPr marL="0" indent="0" algn="just">
              <a:buNone/>
            </a:pPr>
            <a:r>
              <a:rPr lang="en-US" sz="2300" dirty="0">
                <a:latin typeface="Times New Roman" panose="02020603050405020304" pitchFamily="18" charset="0"/>
                <a:cs typeface="Times New Roman" panose="02020603050405020304" pitchFamily="18" charset="0"/>
              </a:rPr>
              <a:t>	</a:t>
            </a:r>
            <a:r>
              <a:rPr lang="en-US" sz="2300" dirty="0" smtClean="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The system must deliver data in a timely manner. Data delivered late are useless. In the case of video and audio, timely delivery means delivering data as they are produced, in the same order that they are produced, and without significant delay. This kind </a:t>
            </a:r>
            <a:r>
              <a:rPr lang="en-US" sz="2300" dirty="0" smtClean="0">
                <a:latin typeface="Times New Roman" panose="02020603050405020304" pitchFamily="18" charset="0"/>
                <a:cs typeface="Times New Roman" panose="02020603050405020304" pitchFamily="18" charset="0"/>
              </a:rPr>
              <a:t>of delivery </a:t>
            </a:r>
            <a:r>
              <a:rPr lang="en-US" sz="2300" dirty="0">
                <a:latin typeface="Times New Roman" panose="02020603050405020304" pitchFamily="18" charset="0"/>
                <a:cs typeface="Times New Roman" panose="02020603050405020304" pitchFamily="18" charset="0"/>
              </a:rPr>
              <a:t>is called </a:t>
            </a:r>
            <a:r>
              <a:rPr lang="en-US" sz="2300" dirty="0" smtClean="0">
                <a:latin typeface="Times New Roman" panose="02020603050405020304" pitchFamily="18" charset="0"/>
                <a:cs typeface="Times New Roman" panose="02020603050405020304" pitchFamily="18" charset="0"/>
              </a:rPr>
              <a:t>real-time transmission</a:t>
            </a:r>
            <a:r>
              <a:rPr lang="en-US" sz="2300" dirty="0">
                <a:latin typeface="Times New Roman" panose="02020603050405020304" pitchFamily="18" charset="0"/>
                <a:cs typeface="Times New Roman" panose="02020603050405020304" pitchFamily="18" charset="0"/>
              </a:rPr>
              <a:t>. </a:t>
            </a:r>
            <a:endParaRPr lang="en-US" sz="2300" dirty="0" smtClean="0">
              <a:latin typeface="Times New Roman" panose="02020603050405020304" pitchFamily="18" charset="0"/>
              <a:cs typeface="Times New Roman" panose="02020603050405020304" pitchFamily="18" charset="0"/>
            </a:endParaRPr>
          </a:p>
          <a:p>
            <a:pPr marL="0" indent="0" algn="just">
              <a:buNone/>
            </a:pPr>
            <a:r>
              <a:rPr lang="en-US" sz="2300" dirty="0">
                <a:solidFill>
                  <a:srgbClr val="FF0000"/>
                </a:solidFill>
                <a:latin typeface="Times New Roman" panose="02020603050405020304" pitchFamily="18" charset="0"/>
                <a:cs typeface="Times New Roman" panose="02020603050405020304" pitchFamily="18" charset="0"/>
              </a:rPr>
              <a:t>Jitter</a:t>
            </a:r>
          </a:p>
          <a:p>
            <a:pPr marL="0" indent="0" algn="just">
              <a:buNone/>
            </a:pPr>
            <a:r>
              <a:rPr lang="en-US" sz="2300" dirty="0">
                <a:latin typeface="Times New Roman" panose="02020603050405020304" pitchFamily="18" charset="0"/>
                <a:cs typeface="Times New Roman" panose="02020603050405020304" pitchFamily="18" charset="0"/>
              </a:rPr>
              <a:t>	 Jitter refers to the variation in the packet arrival time. It is the uneven delay in the delivery of audio or video packets.</a:t>
            </a:r>
          </a:p>
          <a:p>
            <a:pPr marL="0" indent="0" algn="just">
              <a:buNone/>
            </a:pPr>
            <a:r>
              <a:rPr lang="en-US" sz="2300" dirty="0">
                <a:latin typeface="Times New Roman" panose="02020603050405020304" pitchFamily="18" charset="0"/>
                <a:cs typeface="Times New Roman" panose="02020603050405020304" pitchFamily="18" charset="0"/>
              </a:rPr>
              <a:t>	</a:t>
            </a:r>
          </a:p>
          <a:p>
            <a:pPr marL="0" indent="0" algn="just">
              <a:buNone/>
            </a:pPr>
            <a:endParaRPr lang="en-IN"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22002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Slide Number Placeholder 3"/>
          <p:cNvSpPr>
            <a:spLocks noGrp="1"/>
          </p:cNvSpPr>
          <p:nvPr>
            <p:ph type="sldNum" sz="quarter" idx="12"/>
          </p:nvPr>
        </p:nvSpPr>
        <p:spPr/>
        <p:txBody>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defRPr/>
            </a:pPr>
            <a:fld id="{1F6EC709-407A-4A01-8483-61F7F31E65CD}" type="slidenum">
              <a:rPr lang="en-US" altLang="en-US" smtClean="0">
                <a:latin typeface="Arial" panose="020B0604020202020204" pitchFamily="34" charset="0"/>
              </a:rPr>
              <a:pPr eaLnBrk="1" hangingPunct="1">
                <a:defRPr/>
              </a:pPr>
              <a:t>6</a:t>
            </a:fld>
            <a:endParaRPr lang="en-US" altLang="en-US" smtClean="0">
              <a:latin typeface="Arial" panose="020B0604020202020204" pitchFamily="34" charset="0"/>
            </a:endParaRPr>
          </a:p>
        </p:txBody>
      </p:sp>
      <p:sp>
        <p:nvSpPr>
          <p:cNvPr id="59395" name="Rectangle 2"/>
          <p:cNvSpPr>
            <a:spLocks noGrp="1" noChangeArrowheads="1"/>
          </p:cNvSpPr>
          <p:nvPr>
            <p:ph type="title" idx="4294967295"/>
          </p:nvPr>
        </p:nvSpPr>
        <p:spPr>
          <a:xfrm>
            <a:off x="838200" y="365125"/>
            <a:ext cx="10515600" cy="727513"/>
          </a:xfrm>
        </p:spPr>
        <p:txBody>
          <a:bodyPr anchor="b"/>
          <a:lstStyle/>
          <a:p>
            <a:pPr eaLnBrk="1" hangingPunct="1">
              <a:defRPr/>
            </a:pPr>
            <a:r>
              <a:rPr lang="en-US" dirty="0" smtClean="0"/>
              <a:t>Data Communication</a:t>
            </a:r>
          </a:p>
        </p:txBody>
      </p:sp>
      <p:grpSp>
        <p:nvGrpSpPr>
          <p:cNvPr id="9220" name="Group 4"/>
          <p:cNvGrpSpPr>
            <a:grpSpLocks/>
          </p:cNvGrpSpPr>
          <p:nvPr/>
        </p:nvGrpSpPr>
        <p:grpSpPr bwMode="auto">
          <a:xfrm>
            <a:off x="2895600" y="3276600"/>
            <a:ext cx="2133600" cy="2114550"/>
            <a:chOff x="5184" y="1008"/>
            <a:chExt cx="462" cy="564"/>
          </a:xfrm>
        </p:grpSpPr>
        <p:pic>
          <p:nvPicPr>
            <p:cNvPr id="9252" name="Picture 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55" y="1156"/>
              <a:ext cx="291"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253" name="Group 6"/>
            <p:cNvGrpSpPr>
              <a:grpSpLocks/>
            </p:cNvGrpSpPr>
            <p:nvPr/>
          </p:nvGrpSpPr>
          <p:grpSpPr bwMode="auto">
            <a:xfrm>
              <a:off x="5184" y="1008"/>
              <a:ext cx="270" cy="564"/>
              <a:chOff x="5184" y="1008"/>
              <a:chExt cx="270" cy="564"/>
            </a:xfrm>
          </p:grpSpPr>
          <p:grpSp>
            <p:nvGrpSpPr>
              <p:cNvPr id="9254" name="Group 7"/>
              <p:cNvGrpSpPr>
                <a:grpSpLocks/>
              </p:cNvGrpSpPr>
              <p:nvPr/>
            </p:nvGrpSpPr>
            <p:grpSpPr bwMode="auto">
              <a:xfrm>
                <a:off x="5281" y="1127"/>
                <a:ext cx="37" cy="91"/>
                <a:chOff x="5281" y="1127"/>
                <a:chExt cx="37" cy="91"/>
              </a:xfrm>
            </p:grpSpPr>
            <p:sp>
              <p:nvSpPr>
                <p:cNvPr id="9340" name="Freeform 8"/>
                <p:cNvSpPr>
                  <a:spLocks/>
                </p:cNvSpPr>
                <p:nvPr/>
              </p:nvSpPr>
              <p:spPr bwMode="auto">
                <a:xfrm>
                  <a:off x="5281" y="1127"/>
                  <a:ext cx="37" cy="91"/>
                </a:xfrm>
                <a:custGeom>
                  <a:avLst/>
                  <a:gdLst>
                    <a:gd name="T0" fmla="*/ 0 w 37"/>
                    <a:gd name="T1" fmla="*/ 31 h 91"/>
                    <a:gd name="T2" fmla="*/ 6 w 37"/>
                    <a:gd name="T3" fmla="*/ 19 h 91"/>
                    <a:gd name="T4" fmla="*/ 13 w 37"/>
                    <a:gd name="T5" fmla="*/ 14 h 91"/>
                    <a:gd name="T6" fmla="*/ 15 w 37"/>
                    <a:gd name="T7" fmla="*/ 5 h 91"/>
                    <a:gd name="T8" fmla="*/ 18 w 37"/>
                    <a:gd name="T9" fmla="*/ 1 h 91"/>
                    <a:gd name="T10" fmla="*/ 25 w 37"/>
                    <a:gd name="T11" fmla="*/ 0 h 91"/>
                    <a:gd name="T12" fmla="*/ 36 w 37"/>
                    <a:gd name="T13" fmla="*/ 7 h 91"/>
                    <a:gd name="T14" fmla="*/ 33 w 37"/>
                    <a:gd name="T15" fmla="*/ 23 h 91"/>
                    <a:gd name="T16" fmla="*/ 29 w 37"/>
                    <a:gd name="T17" fmla="*/ 33 h 91"/>
                    <a:gd name="T18" fmla="*/ 23 w 37"/>
                    <a:gd name="T19" fmla="*/ 60 h 91"/>
                    <a:gd name="T20" fmla="*/ 11 w 37"/>
                    <a:gd name="T21" fmla="*/ 90 h 91"/>
                    <a:gd name="T22" fmla="*/ 0 w 37"/>
                    <a:gd name="T23" fmla="*/ 31 h 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91"/>
                    <a:gd name="T38" fmla="*/ 37 w 37"/>
                    <a:gd name="T39" fmla="*/ 91 h 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91">
                      <a:moveTo>
                        <a:pt x="0" y="31"/>
                      </a:moveTo>
                      <a:lnTo>
                        <a:pt x="6" y="19"/>
                      </a:lnTo>
                      <a:lnTo>
                        <a:pt x="13" y="14"/>
                      </a:lnTo>
                      <a:lnTo>
                        <a:pt x="15" y="5"/>
                      </a:lnTo>
                      <a:lnTo>
                        <a:pt x="18" y="1"/>
                      </a:lnTo>
                      <a:lnTo>
                        <a:pt x="25" y="0"/>
                      </a:lnTo>
                      <a:lnTo>
                        <a:pt x="36" y="7"/>
                      </a:lnTo>
                      <a:lnTo>
                        <a:pt x="33" y="23"/>
                      </a:lnTo>
                      <a:lnTo>
                        <a:pt x="29" y="33"/>
                      </a:lnTo>
                      <a:lnTo>
                        <a:pt x="23" y="60"/>
                      </a:lnTo>
                      <a:lnTo>
                        <a:pt x="11" y="90"/>
                      </a:lnTo>
                      <a:lnTo>
                        <a:pt x="0" y="31"/>
                      </a:lnTo>
                    </a:path>
                  </a:pathLst>
                </a:custGeom>
                <a:solidFill>
                  <a:srgbClr val="C0C0C0"/>
                </a:solidFill>
                <a:ln w="12700" cap="rnd" cmpd="sng">
                  <a:solidFill>
                    <a:srgbClr val="000000"/>
                  </a:solidFill>
                  <a:prstDash val="solid"/>
                  <a:round/>
                  <a:headEnd/>
                  <a:tailEnd/>
                </a:ln>
              </p:spPr>
              <p:txBody>
                <a:bodyPr/>
                <a:lstStyle/>
                <a:p>
                  <a:endParaRPr lang="en-IN"/>
                </a:p>
              </p:txBody>
            </p:sp>
            <p:sp>
              <p:nvSpPr>
                <p:cNvPr id="9341" name="Freeform 9"/>
                <p:cNvSpPr>
                  <a:spLocks/>
                </p:cNvSpPr>
                <p:nvPr/>
              </p:nvSpPr>
              <p:spPr bwMode="auto">
                <a:xfrm>
                  <a:off x="5287" y="1134"/>
                  <a:ext cx="29" cy="66"/>
                </a:xfrm>
                <a:custGeom>
                  <a:avLst/>
                  <a:gdLst>
                    <a:gd name="T0" fmla="*/ 11 w 29"/>
                    <a:gd name="T1" fmla="*/ 0 h 66"/>
                    <a:gd name="T2" fmla="*/ 14 w 29"/>
                    <a:gd name="T3" fmla="*/ 4 h 66"/>
                    <a:gd name="T4" fmla="*/ 21 w 29"/>
                    <a:gd name="T5" fmla="*/ 8 h 66"/>
                    <a:gd name="T6" fmla="*/ 28 w 29"/>
                    <a:gd name="T7" fmla="*/ 8 h 66"/>
                    <a:gd name="T8" fmla="*/ 24 w 29"/>
                    <a:gd name="T9" fmla="*/ 22 h 66"/>
                    <a:gd name="T10" fmla="*/ 18 w 29"/>
                    <a:gd name="T11" fmla="*/ 21 h 66"/>
                    <a:gd name="T12" fmla="*/ 15 w 29"/>
                    <a:gd name="T13" fmla="*/ 19 h 66"/>
                    <a:gd name="T14" fmla="*/ 17 w 29"/>
                    <a:gd name="T15" fmla="*/ 23 h 66"/>
                    <a:gd name="T16" fmla="*/ 23 w 29"/>
                    <a:gd name="T17" fmla="*/ 24 h 66"/>
                    <a:gd name="T18" fmla="*/ 18 w 29"/>
                    <a:gd name="T19" fmla="*/ 40 h 66"/>
                    <a:gd name="T20" fmla="*/ 16 w 29"/>
                    <a:gd name="T21" fmla="*/ 52 h 66"/>
                    <a:gd name="T22" fmla="*/ 14 w 29"/>
                    <a:gd name="T23" fmla="*/ 45 h 66"/>
                    <a:gd name="T24" fmla="*/ 13 w 29"/>
                    <a:gd name="T25" fmla="*/ 32 h 66"/>
                    <a:gd name="T26" fmla="*/ 13 w 29"/>
                    <a:gd name="T27" fmla="*/ 26 h 66"/>
                    <a:gd name="T28" fmla="*/ 11 w 29"/>
                    <a:gd name="T29" fmla="*/ 28 h 66"/>
                    <a:gd name="T30" fmla="*/ 11 w 29"/>
                    <a:gd name="T31" fmla="*/ 37 h 66"/>
                    <a:gd name="T32" fmla="*/ 13 w 29"/>
                    <a:gd name="T33" fmla="*/ 48 h 66"/>
                    <a:gd name="T34" fmla="*/ 14 w 29"/>
                    <a:gd name="T35" fmla="*/ 56 h 66"/>
                    <a:gd name="T36" fmla="*/ 11 w 29"/>
                    <a:gd name="T37" fmla="*/ 65 h 66"/>
                    <a:gd name="T38" fmla="*/ 7 w 29"/>
                    <a:gd name="T39" fmla="*/ 41 h 66"/>
                    <a:gd name="T40" fmla="*/ 4 w 29"/>
                    <a:gd name="T41" fmla="*/ 34 h 66"/>
                    <a:gd name="T42" fmla="*/ 1 w 29"/>
                    <a:gd name="T43" fmla="*/ 22 h 66"/>
                    <a:gd name="T44" fmla="*/ 0 w 29"/>
                    <a:gd name="T45" fmla="*/ 19 h 66"/>
                    <a:gd name="T46" fmla="*/ 2 w 29"/>
                    <a:gd name="T47" fmla="*/ 15 h 66"/>
                    <a:gd name="T48" fmla="*/ 8 w 29"/>
                    <a:gd name="T49" fmla="*/ 11 h 66"/>
                    <a:gd name="T50" fmla="*/ 10 w 29"/>
                    <a:gd name="T51" fmla="*/ 14 h 66"/>
                    <a:gd name="T52" fmla="*/ 9 w 29"/>
                    <a:gd name="T53" fmla="*/ 8 h 66"/>
                    <a:gd name="T54" fmla="*/ 11 w 29"/>
                    <a:gd name="T55" fmla="*/ 0 h 6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9"/>
                    <a:gd name="T85" fmla="*/ 0 h 66"/>
                    <a:gd name="T86" fmla="*/ 29 w 29"/>
                    <a:gd name="T87" fmla="*/ 66 h 6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9" h="66">
                      <a:moveTo>
                        <a:pt x="11" y="0"/>
                      </a:moveTo>
                      <a:lnTo>
                        <a:pt x="14" y="4"/>
                      </a:lnTo>
                      <a:lnTo>
                        <a:pt x="21" y="8"/>
                      </a:lnTo>
                      <a:lnTo>
                        <a:pt x="28" y="8"/>
                      </a:lnTo>
                      <a:lnTo>
                        <a:pt x="24" y="22"/>
                      </a:lnTo>
                      <a:lnTo>
                        <a:pt x="18" y="21"/>
                      </a:lnTo>
                      <a:lnTo>
                        <a:pt x="15" y="19"/>
                      </a:lnTo>
                      <a:lnTo>
                        <a:pt x="17" y="23"/>
                      </a:lnTo>
                      <a:lnTo>
                        <a:pt x="23" y="24"/>
                      </a:lnTo>
                      <a:lnTo>
                        <a:pt x="18" y="40"/>
                      </a:lnTo>
                      <a:lnTo>
                        <a:pt x="16" y="52"/>
                      </a:lnTo>
                      <a:lnTo>
                        <a:pt x="14" y="45"/>
                      </a:lnTo>
                      <a:lnTo>
                        <a:pt x="13" y="32"/>
                      </a:lnTo>
                      <a:lnTo>
                        <a:pt x="13" y="26"/>
                      </a:lnTo>
                      <a:lnTo>
                        <a:pt x="11" y="28"/>
                      </a:lnTo>
                      <a:lnTo>
                        <a:pt x="11" y="37"/>
                      </a:lnTo>
                      <a:lnTo>
                        <a:pt x="13" y="48"/>
                      </a:lnTo>
                      <a:lnTo>
                        <a:pt x="14" y="56"/>
                      </a:lnTo>
                      <a:lnTo>
                        <a:pt x="11" y="65"/>
                      </a:lnTo>
                      <a:lnTo>
                        <a:pt x="7" y="41"/>
                      </a:lnTo>
                      <a:lnTo>
                        <a:pt x="4" y="34"/>
                      </a:lnTo>
                      <a:lnTo>
                        <a:pt x="1" y="22"/>
                      </a:lnTo>
                      <a:lnTo>
                        <a:pt x="0" y="19"/>
                      </a:lnTo>
                      <a:lnTo>
                        <a:pt x="2" y="15"/>
                      </a:lnTo>
                      <a:lnTo>
                        <a:pt x="8" y="11"/>
                      </a:lnTo>
                      <a:lnTo>
                        <a:pt x="10" y="14"/>
                      </a:lnTo>
                      <a:lnTo>
                        <a:pt x="9" y="8"/>
                      </a:lnTo>
                      <a:lnTo>
                        <a:pt x="11" y="0"/>
                      </a:lnTo>
                    </a:path>
                  </a:pathLst>
                </a:custGeom>
                <a:solidFill>
                  <a:srgbClr val="E0E0E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grpSp>
            <p:nvGrpSpPr>
              <p:cNvPr id="9255" name="Group 10"/>
              <p:cNvGrpSpPr>
                <a:grpSpLocks/>
              </p:cNvGrpSpPr>
              <p:nvPr/>
            </p:nvGrpSpPr>
            <p:grpSpPr bwMode="auto">
              <a:xfrm>
                <a:off x="5275" y="1075"/>
                <a:ext cx="58" cy="65"/>
                <a:chOff x="5275" y="1075"/>
                <a:chExt cx="58" cy="65"/>
              </a:xfrm>
            </p:grpSpPr>
            <p:sp>
              <p:nvSpPr>
                <p:cNvPr id="9325" name="Freeform 11"/>
                <p:cNvSpPr>
                  <a:spLocks/>
                </p:cNvSpPr>
                <p:nvPr/>
              </p:nvSpPr>
              <p:spPr bwMode="auto">
                <a:xfrm>
                  <a:off x="5287" y="1080"/>
                  <a:ext cx="36" cy="60"/>
                </a:xfrm>
                <a:custGeom>
                  <a:avLst/>
                  <a:gdLst>
                    <a:gd name="T0" fmla="*/ 0 w 36"/>
                    <a:gd name="T1" fmla="*/ 21 h 60"/>
                    <a:gd name="T2" fmla="*/ 1 w 36"/>
                    <a:gd name="T3" fmla="*/ 25 h 60"/>
                    <a:gd name="T4" fmla="*/ 3 w 36"/>
                    <a:gd name="T5" fmla="*/ 27 h 60"/>
                    <a:gd name="T6" fmla="*/ 5 w 36"/>
                    <a:gd name="T7" fmla="*/ 31 h 60"/>
                    <a:gd name="T8" fmla="*/ 6 w 36"/>
                    <a:gd name="T9" fmla="*/ 33 h 60"/>
                    <a:gd name="T10" fmla="*/ 8 w 36"/>
                    <a:gd name="T11" fmla="*/ 36 h 60"/>
                    <a:gd name="T12" fmla="*/ 10 w 36"/>
                    <a:gd name="T13" fmla="*/ 37 h 60"/>
                    <a:gd name="T14" fmla="*/ 12 w 36"/>
                    <a:gd name="T15" fmla="*/ 39 h 60"/>
                    <a:gd name="T16" fmla="*/ 12 w 36"/>
                    <a:gd name="T17" fmla="*/ 42 h 60"/>
                    <a:gd name="T18" fmla="*/ 12 w 36"/>
                    <a:gd name="T19" fmla="*/ 45 h 60"/>
                    <a:gd name="T20" fmla="*/ 12 w 36"/>
                    <a:gd name="T21" fmla="*/ 52 h 60"/>
                    <a:gd name="T22" fmla="*/ 17 w 36"/>
                    <a:gd name="T23" fmla="*/ 56 h 60"/>
                    <a:gd name="T24" fmla="*/ 21 w 36"/>
                    <a:gd name="T25" fmla="*/ 59 h 60"/>
                    <a:gd name="T26" fmla="*/ 24 w 36"/>
                    <a:gd name="T27" fmla="*/ 59 h 60"/>
                    <a:gd name="T28" fmla="*/ 27 w 36"/>
                    <a:gd name="T29" fmla="*/ 59 h 60"/>
                    <a:gd name="T30" fmla="*/ 29 w 36"/>
                    <a:gd name="T31" fmla="*/ 54 h 60"/>
                    <a:gd name="T32" fmla="*/ 30 w 36"/>
                    <a:gd name="T33" fmla="*/ 43 h 60"/>
                    <a:gd name="T34" fmla="*/ 32 w 36"/>
                    <a:gd name="T35" fmla="*/ 39 h 60"/>
                    <a:gd name="T36" fmla="*/ 33 w 36"/>
                    <a:gd name="T37" fmla="*/ 34 h 60"/>
                    <a:gd name="T38" fmla="*/ 33 w 36"/>
                    <a:gd name="T39" fmla="*/ 28 h 60"/>
                    <a:gd name="T40" fmla="*/ 34 w 36"/>
                    <a:gd name="T41" fmla="*/ 21 h 60"/>
                    <a:gd name="T42" fmla="*/ 35 w 36"/>
                    <a:gd name="T43" fmla="*/ 17 h 60"/>
                    <a:gd name="T44" fmla="*/ 34 w 36"/>
                    <a:gd name="T45" fmla="*/ 15 h 60"/>
                    <a:gd name="T46" fmla="*/ 33 w 36"/>
                    <a:gd name="T47" fmla="*/ 11 h 60"/>
                    <a:gd name="T48" fmla="*/ 31 w 36"/>
                    <a:gd name="T49" fmla="*/ 8 h 60"/>
                    <a:gd name="T50" fmla="*/ 29 w 36"/>
                    <a:gd name="T51" fmla="*/ 7 h 60"/>
                    <a:gd name="T52" fmla="*/ 27 w 36"/>
                    <a:gd name="T53" fmla="*/ 5 h 60"/>
                    <a:gd name="T54" fmla="*/ 25 w 36"/>
                    <a:gd name="T55" fmla="*/ 3 h 60"/>
                    <a:gd name="T56" fmla="*/ 23 w 36"/>
                    <a:gd name="T57" fmla="*/ 5 h 60"/>
                    <a:gd name="T58" fmla="*/ 21 w 36"/>
                    <a:gd name="T59" fmla="*/ 2 h 60"/>
                    <a:gd name="T60" fmla="*/ 18 w 36"/>
                    <a:gd name="T61" fmla="*/ 0 h 60"/>
                    <a:gd name="T62" fmla="*/ 15 w 36"/>
                    <a:gd name="T63" fmla="*/ 3 h 60"/>
                    <a:gd name="T64" fmla="*/ 14 w 36"/>
                    <a:gd name="T65" fmla="*/ 0 h 60"/>
                    <a:gd name="T66" fmla="*/ 10 w 36"/>
                    <a:gd name="T67" fmla="*/ 0 h 60"/>
                    <a:gd name="T68" fmla="*/ 8 w 36"/>
                    <a:gd name="T69" fmla="*/ 7 h 60"/>
                    <a:gd name="T70" fmla="*/ 7 w 36"/>
                    <a:gd name="T71" fmla="*/ 10 h 60"/>
                    <a:gd name="T72" fmla="*/ 7 w 36"/>
                    <a:gd name="T73" fmla="*/ 15 h 60"/>
                    <a:gd name="T74" fmla="*/ 7 w 36"/>
                    <a:gd name="T75" fmla="*/ 21 h 60"/>
                    <a:gd name="T76" fmla="*/ 5 w 36"/>
                    <a:gd name="T77" fmla="*/ 19 h 60"/>
                    <a:gd name="T78" fmla="*/ 5 w 36"/>
                    <a:gd name="T79" fmla="*/ 15 h 60"/>
                    <a:gd name="T80" fmla="*/ 4 w 36"/>
                    <a:gd name="T81" fmla="*/ 11 h 60"/>
                    <a:gd name="T82" fmla="*/ 3 w 36"/>
                    <a:gd name="T83" fmla="*/ 10 h 60"/>
                    <a:gd name="T84" fmla="*/ 1 w 36"/>
                    <a:gd name="T85" fmla="*/ 8 h 60"/>
                    <a:gd name="T86" fmla="*/ 0 w 36"/>
                    <a:gd name="T87" fmla="*/ 9 h 60"/>
                    <a:gd name="T88" fmla="*/ 0 w 36"/>
                    <a:gd name="T89" fmla="*/ 11 h 60"/>
                    <a:gd name="T90" fmla="*/ 0 w 36"/>
                    <a:gd name="T91" fmla="*/ 13 h 60"/>
                    <a:gd name="T92" fmla="*/ 0 w 36"/>
                    <a:gd name="T93" fmla="*/ 17 h 60"/>
                    <a:gd name="T94" fmla="*/ 0 w 36"/>
                    <a:gd name="T95" fmla="*/ 21 h 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6"/>
                    <a:gd name="T145" fmla="*/ 0 h 60"/>
                    <a:gd name="T146" fmla="*/ 36 w 36"/>
                    <a:gd name="T147" fmla="*/ 60 h 6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6" h="60">
                      <a:moveTo>
                        <a:pt x="0" y="21"/>
                      </a:moveTo>
                      <a:lnTo>
                        <a:pt x="1" y="25"/>
                      </a:lnTo>
                      <a:lnTo>
                        <a:pt x="3" y="27"/>
                      </a:lnTo>
                      <a:lnTo>
                        <a:pt x="5" y="31"/>
                      </a:lnTo>
                      <a:lnTo>
                        <a:pt x="6" y="33"/>
                      </a:lnTo>
                      <a:lnTo>
                        <a:pt x="8" y="36"/>
                      </a:lnTo>
                      <a:lnTo>
                        <a:pt x="10" y="37"/>
                      </a:lnTo>
                      <a:lnTo>
                        <a:pt x="12" y="39"/>
                      </a:lnTo>
                      <a:lnTo>
                        <a:pt x="12" y="42"/>
                      </a:lnTo>
                      <a:lnTo>
                        <a:pt x="12" y="45"/>
                      </a:lnTo>
                      <a:lnTo>
                        <a:pt x="12" y="52"/>
                      </a:lnTo>
                      <a:lnTo>
                        <a:pt x="17" y="56"/>
                      </a:lnTo>
                      <a:lnTo>
                        <a:pt x="21" y="59"/>
                      </a:lnTo>
                      <a:lnTo>
                        <a:pt x="24" y="59"/>
                      </a:lnTo>
                      <a:lnTo>
                        <a:pt x="27" y="59"/>
                      </a:lnTo>
                      <a:lnTo>
                        <a:pt x="29" y="54"/>
                      </a:lnTo>
                      <a:lnTo>
                        <a:pt x="30" y="43"/>
                      </a:lnTo>
                      <a:lnTo>
                        <a:pt x="32" y="39"/>
                      </a:lnTo>
                      <a:lnTo>
                        <a:pt x="33" y="34"/>
                      </a:lnTo>
                      <a:lnTo>
                        <a:pt x="33" y="28"/>
                      </a:lnTo>
                      <a:lnTo>
                        <a:pt x="34" y="21"/>
                      </a:lnTo>
                      <a:lnTo>
                        <a:pt x="35" y="17"/>
                      </a:lnTo>
                      <a:lnTo>
                        <a:pt x="34" y="15"/>
                      </a:lnTo>
                      <a:lnTo>
                        <a:pt x="33" y="11"/>
                      </a:lnTo>
                      <a:lnTo>
                        <a:pt x="31" y="8"/>
                      </a:lnTo>
                      <a:lnTo>
                        <a:pt x="29" y="7"/>
                      </a:lnTo>
                      <a:lnTo>
                        <a:pt x="27" y="5"/>
                      </a:lnTo>
                      <a:lnTo>
                        <a:pt x="25" y="3"/>
                      </a:lnTo>
                      <a:lnTo>
                        <a:pt x="23" y="5"/>
                      </a:lnTo>
                      <a:lnTo>
                        <a:pt x="21" y="2"/>
                      </a:lnTo>
                      <a:lnTo>
                        <a:pt x="18" y="0"/>
                      </a:lnTo>
                      <a:lnTo>
                        <a:pt x="15" y="3"/>
                      </a:lnTo>
                      <a:lnTo>
                        <a:pt x="14" y="0"/>
                      </a:lnTo>
                      <a:lnTo>
                        <a:pt x="10" y="0"/>
                      </a:lnTo>
                      <a:lnTo>
                        <a:pt x="8" y="7"/>
                      </a:lnTo>
                      <a:lnTo>
                        <a:pt x="7" y="10"/>
                      </a:lnTo>
                      <a:lnTo>
                        <a:pt x="7" y="15"/>
                      </a:lnTo>
                      <a:lnTo>
                        <a:pt x="7" y="21"/>
                      </a:lnTo>
                      <a:lnTo>
                        <a:pt x="5" y="19"/>
                      </a:lnTo>
                      <a:lnTo>
                        <a:pt x="5" y="15"/>
                      </a:lnTo>
                      <a:lnTo>
                        <a:pt x="4" y="11"/>
                      </a:lnTo>
                      <a:lnTo>
                        <a:pt x="3" y="10"/>
                      </a:lnTo>
                      <a:lnTo>
                        <a:pt x="1" y="8"/>
                      </a:lnTo>
                      <a:lnTo>
                        <a:pt x="0" y="9"/>
                      </a:lnTo>
                      <a:lnTo>
                        <a:pt x="0" y="11"/>
                      </a:lnTo>
                      <a:lnTo>
                        <a:pt x="0" y="13"/>
                      </a:lnTo>
                      <a:lnTo>
                        <a:pt x="0" y="17"/>
                      </a:lnTo>
                      <a:lnTo>
                        <a:pt x="0" y="21"/>
                      </a:lnTo>
                    </a:path>
                  </a:pathLst>
                </a:custGeom>
                <a:solidFill>
                  <a:srgbClr val="FFC080"/>
                </a:solidFill>
                <a:ln w="12700" cap="rnd" cmpd="sng">
                  <a:solidFill>
                    <a:srgbClr val="402000"/>
                  </a:solidFill>
                  <a:prstDash val="solid"/>
                  <a:round/>
                  <a:headEnd/>
                  <a:tailEnd/>
                </a:ln>
              </p:spPr>
              <p:txBody>
                <a:bodyPr/>
                <a:lstStyle/>
                <a:p>
                  <a:endParaRPr lang="en-IN"/>
                </a:p>
              </p:txBody>
            </p:sp>
            <p:sp>
              <p:nvSpPr>
                <p:cNvPr id="9326" name="Freeform 12"/>
                <p:cNvSpPr>
                  <a:spLocks/>
                </p:cNvSpPr>
                <p:nvPr/>
              </p:nvSpPr>
              <p:spPr bwMode="auto">
                <a:xfrm>
                  <a:off x="5302" y="1084"/>
                  <a:ext cx="18" cy="23"/>
                </a:xfrm>
                <a:custGeom>
                  <a:avLst/>
                  <a:gdLst>
                    <a:gd name="T0" fmla="*/ 1 w 18"/>
                    <a:gd name="T1" fmla="*/ 0 h 23"/>
                    <a:gd name="T2" fmla="*/ 2 w 18"/>
                    <a:gd name="T3" fmla="*/ 4 h 23"/>
                    <a:gd name="T4" fmla="*/ 3 w 18"/>
                    <a:gd name="T5" fmla="*/ 7 h 23"/>
                    <a:gd name="T6" fmla="*/ 1 w 18"/>
                    <a:gd name="T7" fmla="*/ 14 h 23"/>
                    <a:gd name="T8" fmla="*/ 2 w 18"/>
                    <a:gd name="T9" fmla="*/ 16 h 23"/>
                    <a:gd name="T10" fmla="*/ 4 w 18"/>
                    <a:gd name="T11" fmla="*/ 17 h 23"/>
                    <a:gd name="T12" fmla="*/ 5 w 18"/>
                    <a:gd name="T13" fmla="*/ 16 h 23"/>
                    <a:gd name="T14" fmla="*/ 6 w 18"/>
                    <a:gd name="T15" fmla="*/ 13 h 23"/>
                    <a:gd name="T16" fmla="*/ 8 w 18"/>
                    <a:gd name="T17" fmla="*/ 10 h 23"/>
                    <a:gd name="T18" fmla="*/ 7 w 18"/>
                    <a:gd name="T19" fmla="*/ 5 h 23"/>
                    <a:gd name="T20" fmla="*/ 6 w 18"/>
                    <a:gd name="T21" fmla="*/ 1 h 23"/>
                    <a:gd name="T22" fmla="*/ 8 w 18"/>
                    <a:gd name="T23" fmla="*/ 1 h 23"/>
                    <a:gd name="T24" fmla="*/ 8 w 18"/>
                    <a:gd name="T25" fmla="*/ 6 h 23"/>
                    <a:gd name="T26" fmla="*/ 8 w 18"/>
                    <a:gd name="T27" fmla="*/ 8 h 23"/>
                    <a:gd name="T28" fmla="*/ 8 w 18"/>
                    <a:gd name="T29" fmla="*/ 11 h 23"/>
                    <a:gd name="T30" fmla="*/ 7 w 18"/>
                    <a:gd name="T31" fmla="*/ 13 h 23"/>
                    <a:gd name="T32" fmla="*/ 6 w 18"/>
                    <a:gd name="T33" fmla="*/ 16 h 23"/>
                    <a:gd name="T34" fmla="*/ 6 w 18"/>
                    <a:gd name="T35" fmla="*/ 18 h 23"/>
                    <a:gd name="T36" fmla="*/ 7 w 18"/>
                    <a:gd name="T37" fmla="*/ 20 h 23"/>
                    <a:gd name="T38" fmla="*/ 10 w 18"/>
                    <a:gd name="T39" fmla="*/ 19 h 23"/>
                    <a:gd name="T40" fmla="*/ 11 w 18"/>
                    <a:gd name="T41" fmla="*/ 17 h 23"/>
                    <a:gd name="T42" fmla="*/ 13 w 18"/>
                    <a:gd name="T43" fmla="*/ 13 h 23"/>
                    <a:gd name="T44" fmla="*/ 13 w 18"/>
                    <a:gd name="T45" fmla="*/ 11 h 23"/>
                    <a:gd name="T46" fmla="*/ 13 w 18"/>
                    <a:gd name="T47" fmla="*/ 7 h 23"/>
                    <a:gd name="T48" fmla="*/ 14 w 18"/>
                    <a:gd name="T49" fmla="*/ 10 h 23"/>
                    <a:gd name="T50" fmla="*/ 14 w 18"/>
                    <a:gd name="T51" fmla="*/ 13 h 23"/>
                    <a:gd name="T52" fmla="*/ 12 w 18"/>
                    <a:gd name="T53" fmla="*/ 17 h 23"/>
                    <a:gd name="T54" fmla="*/ 12 w 18"/>
                    <a:gd name="T55" fmla="*/ 18 h 23"/>
                    <a:gd name="T56" fmla="*/ 12 w 18"/>
                    <a:gd name="T57" fmla="*/ 21 h 23"/>
                    <a:gd name="T58" fmla="*/ 13 w 18"/>
                    <a:gd name="T59" fmla="*/ 21 h 23"/>
                    <a:gd name="T60" fmla="*/ 14 w 18"/>
                    <a:gd name="T61" fmla="*/ 20 h 23"/>
                    <a:gd name="T62" fmla="*/ 17 w 18"/>
                    <a:gd name="T63" fmla="*/ 18 h 23"/>
                    <a:gd name="T64" fmla="*/ 14 w 18"/>
                    <a:gd name="T65" fmla="*/ 21 h 23"/>
                    <a:gd name="T66" fmla="*/ 14 w 18"/>
                    <a:gd name="T67" fmla="*/ 22 h 23"/>
                    <a:gd name="T68" fmla="*/ 12 w 18"/>
                    <a:gd name="T69" fmla="*/ 22 h 23"/>
                    <a:gd name="T70" fmla="*/ 12 w 18"/>
                    <a:gd name="T71" fmla="*/ 20 h 23"/>
                    <a:gd name="T72" fmla="*/ 11 w 18"/>
                    <a:gd name="T73" fmla="*/ 18 h 23"/>
                    <a:gd name="T74" fmla="*/ 10 w 18"/>
                    <a:gd name="T75" fmla="*/ 20 h 23"/>
                    <a:gd name="T76" fmla="*/ 8 w 18"/>
                    <a:gd name="T77" fmla="*/ 21 h 23"/>
                    <a:gd name="T78" fmla="*/ 6 w 18"/>
                    <a:gd name="T79" fmla="*/ 21 h 23"/>
                    <a:gd name="T80" fmla="*/ 5 w 18"/>
                    <a:gd name="T81" fmla="*/ 18 h 23"/>
                    <a:gd name="T82" fmla="*/ 5 w 18"/>
                    <a:gd name="T83" fmla="*/ 17 h 23"/>
                    <a:gd name="T84" fmla="*/ 4 w 18"/>
                    <a:gd name="T85" fmla="*/ 18 h 23"/>
                    <a:gd name="T86" fmla="*/ 3 w 18"/>
                    <a:gd name="T87" fmla="*/ 18 h 23"/>
                    <a:gd name="T88" fmla="*/ 1 w 18"/>
                    <a:gd name="T89" fmla="*/ 16 h 23"/>
                    <a:gd name="T90" fmla="*/ 1 w 18"/>
                    <a:gd name="T91" fmla="*/ 14 h 23"/>
                    <a:gd name="T92" fmla="*/ 2 w 18"/>
                    <a:gd name="T93" fmla="*/ 8 h 23"/>
                    <a:gd name="T94" fmla="*/ 1 w 18"/>
                    <a:gd name="T95" fmla="*/ 4 h 23"/>
                    <a:gd name="T96" fmla="*/ 0 w 18"/>
                    <a:gd name="T97" fmla="*/ 0 h 23"/>
                    <a:gd name="T98" fmla="*/ 1 w 18"/>
                    <a:gd name="T99" fmla="*/ 0 h 2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8"/>
                    <a:gd name="T151" fmla="*/ 0 h 23"/>
                    <a:gd name="T152" fmla="*/ 18 w 18"/>
                    <a:gd name="T153" fmla="*/ 23 h 2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8" h="23">
                      <a:moveTo>
                        <a:pt x="1" y="0"/>
                      </a:moveTo>
                      <a:lnTo>
                        <a:pt x="2" y="4"/>
                      </a:lnTo>
                      <a:lnTo>
                        <a:pt x="3" y="7"/>
                      </a:lnTo>
                      <a:lnTo>
                        <a:pt x="1" y="14"/>
                      </a:lnTo>
                      <a:lnTo>
                        <a:pt x="2" y="16"/>
                      </a:lnTo>
                      <a:lnTo>
                        <a:pt x="4" y="17"/>
                      </a:lnTo>
                      <a:lnTo>
                        <a:pt x="5" y="16"/>
                      </a:lnTo>
                      <a:lnTo>
                        <a:pt x="6" y="13"/>
                      </a:lnTo>
                      <a:lnTo>
                        <a:pt x="8" y="10"/>
                      </a:lnTo>
                      <a:lnTo>
                        <a:pt x="7" y="5"/>
                      </a:lnTo>
                      <a:lnTo>
                        <a:pt x="6" y="1"/>
                      </a:lnTo>
                      <a:lnTo>
                        <a:pt x="8" y="1"/>
                      </a:lnTo>
                      <a:lnTo>
                        <a:pt x="8" y="6"/>
                      </a:lnTo>
                      <a:lnTo>
                        <a:pt x="8" y="8"/>
                      </a:lnTo>
                      <a:lnTo>
                        <a:pt x="8" y="11"/>
                      </a:lnTo>
                      <a:lnTo>
                        <a:pt x="7" y="13"/>
                      </a:lnTo>
                      <a:lnTo>
                        <a:pt x="6" y="16"/>
                      </a:lnTo>
                      <a:lnTo>
                        <a:pt x="6" y="18"/>
                      </a:lnTo>
                      <a:lnTo>
                        <a:pt x="7" y="20"/>
                      </a:lnTo>
                      <a:lnTo>
                        <a:pt x="10" y="19"/>
                      </a:lnTo>
                      <a:lnTo>
                        <a:pt x="11" y="17"/>
                      </a:lnTo>
                      <a:lnTo>
                        <a:pt x="13" y="13"/>
                      </a:lnTo>
                      <a:lnTo>
                        <a:pt x="13" y="11"/>
                      </a:lnTo>
                      <a:lnTo>
                        <a:pt x="13" y="7"/>
                      </a:lnTo>
                      <a:lnTo>
                        <a:pt x="14" y="10"/>
                      </a:lnTo>
                      <a:lnTo>
                        <a:pt x="14" y="13"/>
                      </a:lnTo>
                      <a:lnTo>
                        <a:pt x="12" y="17"/>
                      </a:lnTo>
                      <a:lnTo>
                        <a:pt x="12" y="18"/>
                      </a:lnTo>
                      <a:lnTo>
                        <a:pt x="12" y="21"/>
                      </a:lnTo>
                      <a:lnTo>
                        <a:pt x="13" y="21"/>
                      </a:lnTo>
                      <a:lnTo>
                        <a:pt x="14" y="20"/>
                      </a:lnTo>
                      <a:lnTo>
                        <a:pt x="17" y="18"/>
                      </a:lnTo>
                      <a:lnTo>
                        <a:pt x="14" y="21"/>
                      </a:lnTo>
                      <a:lnTo>
                        <a:pt x="14" y="22"/>
                      </a:lnTo>
                      <a:lnTo>
                        <a:pt x="12" y="22"/>
                      </a:lnTo>
                      <a:lnTo>
                        <a:pt x="12" y="20"/>
                      </a:lnTo>
                      <a:lnTo>
                        <a:pt x="11" y="18"/>
                      </a:lnTo>
                      <a:lnTo>
                        <a:pt x="10" y="20"/>
                      </a:lnTo>
                      <a:lnTo>
                        <a:pt x="8" y="21"/>
                      </a:lnTo>
                      <a:lnTo>
                        <a:pt x="6" y="21"/>
                      </a:lnTo>
                      <a:lnTo>
                        <a:pt x="5" y="18"/>
                      </a:lnTo>
                      <a:lnTo>
                        <a:pt x="5" y="17"/>
                      </a:lnTo>
                      <a:lnTo>
                        <a:pt x="4" y="18"/>
                      </a:lnTo>
                      <a:lnTo>
                        <a:pt x="3" y="18"/>
                      </a:lnTo>
                      <a:lnTo>
                        <a:pt x="1" y="16"/>
                      </a:lnTo>
                      <a:lnTo>
                        <a:pt x="1" y="14"/>
                      </a:lnTo>
                      <a:lnTo>
                        <a:pt x="2" y="8"/>
                      </a:lnTo>
                      <a:lnTo>
                        <a:pt x="1" y="4"/>
                      </a:lnTo>
                      <a:lnTo>
                        <a:pt x="0" y="0"/>
                      </a:lnTo>
                      <a:lnTo>
                        <a:pt x="1"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27" name="Freeform 13"/>
                <p:cNvSpPr>
                  <a:spLocks/>
                </p:cNvSpPr>
                <p:nvPr/>
              </p:nvSpPr>
              <p:spPr bwMode="auto">
                <a:xfrm>
                  <a:off x="5306" y="1096"/>
                  <a:ext cx="17" cy="17"/>
                </a:xfrm>
                <a:custGeom>
                  <a:avLst/>
                  <a:gdLst>
                    <a:gd name="T0" fmla="*/ 0 w 17"/>
                    <a:gd name="T1" fmla="*/ 16 h 17"/>
                    <a:gd name="T2" fmla="*/ 8 w 17"/>
                    <a:gd name="T3" fmla="*/ 16 h 17"/>
                    <a:gd name="T4" fmla="*/ 16 w 17"/>
                    <a:gd name="T5" fmla="*/ 16 h 17"/>
                    <a:gd name="T6" fmla="*/ 4 w 17"/>
                    <a:gd name="T7" fmla="*/ 0 h 17"/>
                    <a:gd name="T8" fmla="*/ 0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16"/>
                      </a:moveTo>
                      <a:lnTo>
                        <a:pt x="8" y="16"/>
                      </a:lnTo>
                      <a:lnTo>
                        <a:pt x="16" y="16"/>
                      </a:lnTo>
                      <a:lnTo>
                        <a:pt x="4" y="0"/>
                      </a:lnTo>
                      <a:lnTo>
                        <a:pt x="0" y="16"/>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28" name="Freeform 14"/>
                <p:cNvSpPr>
                  <a:spLocks/>
                </p:cNvSpPr>
                <p:nvPr/>
              </p:nvSpPr>
              <p:spPr bwMode="auto">
                <a:xfrm>
                  <a:off x="5309" y="1099"/>
                  <a:ext cx="17" cy="17"/>
                </a:xfrm>
                <a:custGeom>
                  <a:avLst/>
                  <a:gdLst>
                    <a:gd name="T0" fmla="*/ 16 w 17"/>
                    <a:gd name="T1" fmla="*/ 16 h 17"/>
                    <a:gd name="T2" fmla="*/ 13 w 17"/>
                    <a:gd name="T3" fmla="*/ 8 h 17"/>
                    <a:gd name="T4" fmla="*/ 10 w 17"/>
                    <a:gd name="T5" fmla="*/ 8 h 17"/>
                    <a:gd name="T6" fmla="*/ 5 w 17"/>
                    <a:gd name="T7" fmla="*/ 0 h 17"/>
                    <a:gd name="T8" fmla="*/ 0 w 17"/>
                    <a:gd name="T9" fmla="*/ 16 h 17"/>
                    <a:gd name="T10" fmla="*/ 5 w 17"/>
                    <a:gd name="T11" fmla="*/ 8 h 17"/>
                    <a:gd name="T12" fmla="*/ 8 w 17"/>
                    <a:gd name="T13" fmla="*/ 8 h 17"/>
                    <a:gd name="T14" fmla="*/ 16 w 17"/>
                    <a:gd name="T15" fmla="*/ 16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16" y="16"/>
                      </a:moveTo>
                      <a:lnTo>
                        <a:pt x="13" y="8"/>
                      </a:lnTo>
                      <a:lnTo>
                        <a:pt x="10" y="8"/>
                      </a:lnTo>
                      <a:lnTo>
                        <a:pt x="5" y="0"/>
                      </a:lnTo>
                      <a:lnTo>
                        <a:pt x="0" y="16"/>
                      </a:lnTo>
                      <a:lnTo>
                        <a:pt x="5" y="8"/>
                      </a:lnTo>
                      <a:lnTo>
                        <a:pt x="8" y="8"/>
                      </a:lnTo>
                      <a:lnTo>
                        <a:pt x="16" y="16"/>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29" name="Freeform 15"/>
                <p:cNvSpPr>
                  <a:spLocks/>
                </p:cNvSpPr>
                <p:nvPr/>
              </p:nvSpPr>
              <p:spPr bwMode="auto">
                <a:xfrm>
                  <a:off x="5316" y="1102"/>
                  <a:ext cx="17" cy="17"/>
                </a:xfrm>
                <a:custGeom>
                  <a:avLst/>
                  <a:gdLst>
                    <a:gd name="T0" fmla="*/ 0 w 17"/>
                    <a:gd name="T1" fmla="*/ 16 h 17"/>
                    <a:gd name="T2" fmla="*/ 0 w 17"/>
                    <a:gd name="T3" fmla="*/ 0 h 17"/>
                    <a:gd name="T4" fmla="*/ 10 w 17"/>
                    <a:gd name="T5" fmla="*/ 0 h 17"/>
                    <a:gd name="T6" fmla="*/ 16 w 17"/>
                    <a:gd name="T7" fmla="*/ 16 h 17"/>
                    <a:gd name="T8" fmla="*/ 10 w 17"/>
                    <a:gd name="T9" fmla="*/ 16 h 17"/>
                    <a:gd name="T10" fmla="*/ 10 w 17"/>
                    <a:gd name="T11" fmla="*/ 16 h 17"/>
                    <a:gd name="T12" fmla="*/ 0 w 17"/>
                    <a:gd name="T13" fmla="*/ 16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16"/>
                      </a:moveTo>
                      <a:lnTo>
                        <a:pt x="0" y="0"/>
                      </a:lnTo>
                      <a:lnTo>
                        <a:pt x="10" y="0"/>
                      </a:lnTo>
                      <a:lnTo>
                        <a:pt x="16" y="16"/>
                      </a:lnTo>
                      <a:lnTo>
                        <a:pt x="10" y="16"/>
                      </a:lnTo>
                      <a:lnTo>
                        <a:pt x="0" y="16"/>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30" name="Freeform 16"/>
                <p:cNvSpPr>
                  <a:spLocks/>
                </p:cNvSpPr>
                <p:nvPr/>
              </p:nvSpPr>
              <p:spPr bwMode="auto">
                <a:xfrm>
                  <a:off x="5304" y="1106"/>
                  <a:ext cx="17" cy="17"/>
                </a:xfrm>
                <a:custGeom>
                  <a:avLst/>
                  <a:gdLst>
                    <a:gd name="T0" fmla="*/ 0 w 17"/>
                    <a:gd name="T1" fmla="*/ 0 h 17"/>
                    <a:gd name="T2" fmla="*/ 8 w 17"/>
                    <a:gd name="T3" fmla="*/ 3 h 17"/>
                    <a:gd name="T4" fmla="*/ 13 w 17"/>
                    <a:gd name="T5" fmla="*/ 8 h 17"/>
                    <a:gd name="T6" fmla="*/ 13 w 17"/>
                    <a:gd name="T7" fmla="*/ 16 h 17"/>
                    <a:gd name="T8" fmla="*/ 16 w 17"/>
                    <a:gd name="T9" fmla="*/ 10 h 17"/>
                    <a:gd name="T10" fmla="*/ 13 w 17"/>
                    <a:gd name="T11" fmla="*/ 5 h 17"/>
                    <a:gd name="T12" fmla="*/ 13 w 17"/>
                    <a:gd name="T13" fmla="*/ 4 h 17"/>
                    <a:gd name="T14" fmla="*/ 0 w 17"/>
                    <a:gd name="T15" fmla="*/ 0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0" y="0"/>
                      </a:moveTo>
                      <a:lnTo>
                        <a:pt x="8" y="3"/>
                      </a:lnTo>
                      <a:lnTo>
                        <a:pt x="13" y="8"/>
                      </a:lnTo>
                      <a:lnTo>
                        <a:pt x="13" y="16"/>
                      </a:lnTo>
                      <a:lnTo>
                        <a:pt x="16" y="10"/>
                      </a:lnTo>
                      <a:lnTo>
                        <a:pt x="13" y="5"/>
                      </a:lnTo>
                      <a:lnTo>
                        <a:pt x="13" y="4"/>
                      </a:lnTo>
                      <a:lnTo>
                        <a:pt x="0"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31" name="Freeform 17"/>
                <p:cNvSpPr>
                  <a:spLocks/>
                </p:cNvSpPr>
                <p:nvPr/>
              </p:nvSpPr>
              <p:spPr bwMode="auto">
                <a:xfrm>
                  <a:off x="5294" y="1100"/>
                  <a:ext cx="17" cy="17"/>
                </a:xfrm>
                <a:custGeom>
                  <a:avLst/>
                  <a:gdLst>
                    <a:gd name="T0" fmla="*/ 0 w 17"/>
                    <a:gd name="T1" fmla="*/ 8 h 17"/>
                    <a:gd name="T2" fmla="*/ 6 w 17"/>
                    <a:gd name="T3" fmla="*/ 8 h 17"/>
                    <a:gd name="T4" fmla="*/ 16 w 17"/>
                    <a:gd name="T5" fmla="*/ 16 h 17"/>
                    <a:gd name="T6" fmla="*/ 8 w 17"/>
                    <a:gd name="T7" fmla="*/ 5 h 17"/>
                    <a:gd name="T8" fmla="*/ 0 w 17"/>
                    <a:gd name="T9" fmla="*/ 0 h 17"/>
                    <a:gd name="T10" fmla="*/ 0 w 17"/>
                    <a:gd name="T11" fmla="*/ 8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8"/>
                      </a:moveTo>
                      <a:lnTo>
                        <a:pt x="6" y="8"/>
                      </a:lnTo>
                      <a:lnTo>
                        <a:pt x="16" y="16"/>
                      </a:lnTo>
                      <a:lnTo>
                        <a:pt x="8" y="5"/>
                      </a:lnTo>
                      <a:lnTo>
                        <a:pt x="0" y="0"/>
                      </a:lnTo>
                      <a:lnTo>
                        <a:pt x="0" y="8"/>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32" name="Freeform 18"/>
                <p:cNvSpPr>
                  <a:spLocks/>
                </p:cNvSpPr>
                <p:nvPr/>
              </p:nvSpPr>
              <p:spPr bwMode="auto">
                <a:xfrm>
                  <a:off x="5303" y="1119"/>
                  <a:ext cx="17" cy="17"/>
                </a:xfrm>
                <a:custGeom>
                  <a:avLst/>
                  <a:gdLst>
                    <a:gd name="T0" fmla="*/ 16 w 17"/>
                    <a:gd name="T1" fmla="*/ 0 h 17"/>
                    <a:gd name="T2" fmla="*/ 9 w 17"/>
                    <a:gd name="T3" fmla="*/ 9 h 17"/>
                    <a:gd name="T4" fmla="*/ 0 w 17"/>
                    <a:gd name="T5" fmla="*/ 16 h 17"/>
                    <a:gd name="T6" fmla="*/ 11 w 17"/>
                    <a:gd name="T7" fmla="*/ 11 h 17"/>
                    <a:gd name="T8" fmla="*/ 16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0"/>
                      </a:moveTo>
                      <a:lnTo>
                        <a:pt x="9" y="9"/>
                      </a:lnTo>
                      <a:lnTo>
                        <a:pt x="0" y="16"/>
                      </a:lnTo>
                      <a:lnTo>
                        <a:pt x="11" y="11"/>
                      </a:lnTo>
                      <a:lnTo>
                        <a:pt x="16"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33" name="Freeform 19"/>
                <p:cNvSpPr>
                  <a:spLocks/>
                </p:cNvSpPr>
                <p:nvPr/>
              </p:nvSpPr>
              <p:spPr bwMode="auto">
                <a:xfrm>
                  <a:off x="5310" y="1116"/>
                  <a:ext cx="17" cy="17"/>
                </a:xfrm>
                <a:custGeom>
                  <a:avLst/>
                  <a:gdLst>
                    <a:gd name="T0" fmla="*/ 0 w 17"/>
                    <a:gd name="T1" fmla="*/ 0 h 17"/>
                    <a:gd name="T2" fmla="*/ 0 w 17"/>
                    <a:gd name="T3" fmla="*/ 4 h 17"/>
                    <a:gd name="T4" fmla="*/ 9 w 17"/>
                    <a:gd name="T5" fmla="*/ 13 h 17"/>
                    <a:gd name="T6" fmla="*/ 16 w 17"/>
                    <a:gd name="T7" fmla="*/ 16 h 17"/>
                    <a:gd name="T8" fmla="*/ 4 w 17"/>
                    <a:gd name="T9" fmla="*/ 13 h 17"/>
                    <a:gd name="T10" fmla="*/ 0 w 17"/>
                    <a:gd name="T11" fmla="*/ 9 h 17"/>
                    <a:gd name="T12" fmla="*/ 0 w 17"/>
                    <a:gd name="T13" fmla="*/ 4 h 17"/>
                    <a:gd name="T14" fmla="*/ 0 w 17"/>
                    <a:gd name="T15" fmla="*/ 0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0" y="0"/>
                      </a:moveTo>
                      <a:lnTo>
                        <a:pt x="0" y="4"/>
                      </a:lnTo>
                      <a:lnTo>
                        <a:pt x="9" y="13"/>
                      </a:lnTo>
                      <a:lnTo>
                        <a:pt x="16" y="16"/>
                      </a:lnTo>
                      <a:lnTo>
                        <a:pt x="4" y="13"/>
                      </a:lnTo>
                      <a:lnTo>
                        <a:pt x="0" y="9"/>
                      </a:lnTo>
                      <a:lnTo>
                        <a:pt x="0" y="4"/>
                      </a:lnTo>
                      <a:lnTo>
                        <a:pt x="0"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34" name="Freeform 20"/>
                <p:cNvSpPr>
                  <a:spLocks/>
                </p:cNvSpPr>
                <p:nvPr/>
              </p:nvSpPr>
              <p:spPr bwMode="auto">
                <a:xfrm>
                  <a:off x="5275" y="1075"/>
                  <a:ext cx="27" cy="28"/>
                </a:xfrm>
                <a:custGeom>
                  <a:avLst/>
                  <a:gdLst>
                    <a:gd name="T0" fmla="*/ 21 w 27"/>
                    <a:gd name="T1" fmla="*/ 27 h 28"/>
                    <a:gd name="T2" fmla="*/ 26 w 27"/>
                    <a:gd name="T3" fmla="*/ 13 h 28"/>
                    <a:gd name="T4" fmla="*/ 17 w 27"/>
                    <a:gd name="T5" fmla="*/ 5 h 28"/>
                    <a:gd name="T6" fmla="*/ 4 w 27"/>
                    <a:gd name="T7" fmla="*/ 0 h 28"/>
                    <a:gd name="T8" fmla="*/ 0 w 27"/>
                    <a:gd name="T9" fmla="*/ 14 h 28"/>
                    <a:gd name="T10" fmla="*/ 12 w 27"/>
                    <a:gd name="T11" fmla="*/ 19 h 28"/>
                    <a:gd name="T12" fmla="*/ 21 w 27"/>
                    <a:gd name="T13" fmla="*/ 27 h 28"/>
                    <a:gd name="T14" fmla="*/ 0 60000 65536"/>
                    <a:gd name="T15" fmla="*/ 0 60000 65536"/>
                    <a:gd name="T16" fmla="*/ 0 60000 65536"/>
                    <a:gd name="T17" fmla="*/ 0 60000 65536"/>
                    <a:gd name="T18" fmla="*/ 0 60000 65536"/>
                    <a:gd name="T19" fmla="*/ 0 60000 65536"/>
                    <a:gd name="T20" fmla="*/ 0 60000 65536"/>
                    <a:gd name="T21" fmla="*/ 0 w 27"/>
                    <a:gd name="T22" fmla="*/ 0 h 28"/>
                    <a:gd name="T23" fmla="*/ 27 w 27"/>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 h="28">
                      <a:moveTo>
                        <a:pt x="21" y="27"/>
                      </a:moveTo>
                      <a:lnTo>
                        <a:pt x="26" y="13"/>
                      </a:lnTo>
                      <a:lnTo>
                        <a:pt x="17" y="5"/>
                      </a:lnTo>
                      <a:lnTo>
                        <a:pt x="4" y="0"/>
                      </a:lnTo>
                      <a:lnTo>
                        <a:pt x="0" y="14"/>
                      </a:lnTo>
                      <a:lnTo>
                        <a:pt x="12" y="19"/>
                      </a:lnTo>
                      <a:lnTo>
                        <a:pt x="21" y="27"/>
                      </a:lnTo>
                    </a:path>
                  </a:pathLst>
                </a:custGeom>
                <a:solidFill>
                  <a:srgbClr val="FFFFFF"/>
                </a:solidFill>
                <a:ln w="12700" cap="rnd" cmpd="sng">
                  <a:solidFill>
                    <a:srgbClr val="000000"/>
                  </a:solidFill>
                  <a:prstDash val="solid"/>
                  <a:round/>
                  <a:headEnd/>
                  <a:tailEnd/>
                </a:ln>
              </p:spPr>
              <p:txBody>
                <a:bodyPr/>
                <a:lstStyle/>
                <a:p>
                  <a:endParaRPr lang="en-IN"/>
                </a:p>
              </p:txBody>
            </p:sp>
            <p:sp>
              <p:nvSpPr>
                <p:cNvPr id="9335" name="Oval 21"/>
                <p:cNvSpPr>
                  <a:spLocks noChangeArrowheads="1"/>
                </p:cNvSpPr>
                <p:nvPr/>
              </p:nvSpPr>
              <p:spPr bwMode="auto">
                <a:xfrm>
                  <a:off x="5295" y="1091"/>
                  <a:ext cx="8" cy="8"/>
                </a:xfrm>
                <a:prstGeom prst="ellipse">
                  <a:avLst/>
                </a:prstGeom>
                <a:solidFill>
                  <a:srgbClr val="FFFFFF"/>
                </a:solidFill>
                <a:ln w="12700">
                  <a:solidFill>
                    <a:srgbClr val="000000"/>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sp>
              <p:nvSpPr>
                <p:cNvPr id="9336" name="Freeform 22"/>
                <p:cNvSpPr>
                  <a:spLocks/>
                </p:cNvSpPr>
                <p:nvPr/>
              </p:nvSpPr>
              <p:spPr bwMode="auto">
                <a:xfrm>
                  <a:off x="5287" y="1089"/>
                  <a:ext cx="17" cy="19"/>
                </a:xfrm>
                <a:custGeom>
                  <a:avLst/>
                  <a:gdLst>
                    <a:gd name="T0" fmla="*/ 0 w 17"/>
                    <a:gd name="T1" fmla="*/ 12 h 19"/>
                    <a:gd name="T2" fmla="*/ 1 w 17"/>
                    <a:gd name="T3" fmla="*/ 9 h 19"/>
                    <a:gd name="T4" fmla="*/ 1 w 17"/>
                    <a:gd name="T5" fmla="*/ 6 h 19"/>
                    <a:gd name="T6" fmla="*/ 0 w 17"/>
                    <a:gd name="T7" fmla="*/ 3 h 19"/>
                    <a:gd name="T8" fmla="*/ 0 w 17"/>
                    <a:gd name="T9" fmla="*/ 2 h 19"/>
                    <a:gd name="T10" fmla="*/ 0 w 17"/>
                    <a:gd name="T11" fmla="*/ 0 h 19"/>
                    <a:gd name="T12" fmla="*/ 3 w 17"/>
                    <a:gd name="T13" fmla="*/ 0 h 19"/>
                    <a:gd name="T14" fmla="*/ 8 w 17"/>
                    <a:gd name="T15" fmla="*/ 0 h 19"/>
                    <a:gd name="T16" fmla="*/ 9 w 17"/>
                    <a:gd name="T17" fmla="*/ 3 h 19"/>
                    <a:gd name="T18" fmla="*/ 11 w 17"/>
                    <a:gd name="T19" fmla="*/ 4 h 19"/>
                    <a:gd name="T20" fmla="*/ 11 w 17"/>
                    <a:gd name="T21" fmla="*/ 6 h 19"/>
                    <a:gd name="T22" fmla="*/ 11 w 17"/>
                    <a:gd name="T23" fmla="*/ 9 h 19"/>
                    <a:gd name="T24" fmla="*/ 16 w 17"/>
                    <a:gd name="T25" fmla="*/ 13 h 19"/>
                    <a:gd name="T26" fmla="*/ 6 w 17"/>
                    <a:gd name="T27" fmla="*/ 18 h 19"/>
                    <a:gd name="T28" fmla="*/ 3 w 17"/>
                    <a:gd name="T29" fmla="*/ 17 h 19"/>
                    <a:gd name="T30" fmla="*/ 0 w 17"/>
                    <a:gd name="T31" fmla="*/ 12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19"/>
                    <a:gd name="T50" fmla="*/ 17 w 17"/>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19">
                      <a:moveTo>
                        <a:pt x="0" y="12"/>
                      </a:moveTo>
                      <a:lnTo>
                        <a:pt x="1" y="9"/>
                      </a:lnTo>
                      <a:lnTo>
                        <a:pt x="1" y="6"/>
                      </a:lnTo>
                      <a:lnTo>
                        <a:pt x="0" y="3"/>
                      </a:lnTo>
                      <a:lnTo>
                        <a:pt x="0" y="2"/>
                      </a:lnTo>
                      <a:lnTo>
                        <a:pt x="0" y="0"/>
                      </a:lnTo>
                      <a:lnTo>
                        <a:pt x="3" y="0"/>
                      </a:lnTo>
                      <a:lnTo>
                        <a:pt x="8" y="0"/>
                      </a:lnTo>
                      <a:lnTo>
                        <a:pt x="9" y="3"/>
                      </a:lnTo>
                      <a:lnTo>
                        <a:pt x="11" y="4"/>
                      </a:lnTo>
                      <a:lnTo>
                        <a:pt x="11" y="6"/>
                      </a:lnTo>
                      <a:lnTo>
                        <a:pt x="11" y="9"/>
                      </a:lnTo>
                      <a:lnTo>
                        <a:pt x="16" y="13"/>
                      </a:lnTo>
                      <a:lnTo>
                        <a:pt x="6" y="18"/>
                      </a:lnTo>
                      <a:lnTo>
                        <a:pt x="3" y="17"/>
                      </a:lnTo>
                      <a:lnTo>
                        <a:pt x="0" y="12"/>
                      </a:lnTo>
                    </a:path>
                  </a:pathLst>
                </a:custGeom>
                <a:solidFill>
                  <a:srgbClr val="FFC080"/>
                </a:solidFill>
                <a:ln w="12700" cap="rnd" cmpd="sng">
                  <a:solidFill>
                    <a:srgbClr val="402000"/>
                  </a:solidFill>
                  <a:prstDash val="solid"/>
                  <a:round/>
                  <a:headEnd/>
                  <a:tailEnd/>
                </a:ln>
              </p:spPr>
              <p:txBody>
                <a:bodyPr/>
                <a:lstStyle/>
                <a:p>
                  <a:endParaRPr lang="en-IN"/>
                </a:p>
              </p:txBody>
            </p:sp>
            <p:sp>
              <p:nvSpPr>
                <p:cNvPr id="9337" name="Freeform 23"/>
                <p:cNvSpPr>
                  <a:spLocks/>
                </p:cNvSpPr>
                <p:nvPr/>
              </p:nvSpPr>
              <p:spPr bwMode="auto">
                <a:xfrm>
                  <a:off x="5290" y="1102"/>
                  <a:ext cx="17" cy="17"/>
                </a:xfrm>
                <a:custGeom>
                  <a:avLst/>
                  <a:gdLst>
                    <a:gd name="T0" fmla="*/ 10 w 17"/>
                    <a:gd name="T1" fmla="*/ 0 h 17"/>
                    <a:gd name="T2" fmla="*/ 16 w 17"/>
                    <a:gd name="T3" fmla="*/ 2 h 17"/>
                    <a:gd name="T4" fmla="*/ 2 w 17"/>
                    <a:gd name="T5" fmla="*/ 16 h 17"/>
                    <a:gd name="T6" fmla="*/ 0 w 17"/>
                    <a:gd name="T7" fmla="*/ 13 h 17"/>
                    <a:gd name="T8" fmla="*/ 1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0" y="0"/>
                      </a:moveTo>
                      <a:lnTo>
                        <a:pt x="16" y="2"/>
                      </a:lnTo>
                      <a:lnTo>
                        <a:pt x="2" y="16"/>
                      </a:lnTo>
                      <a:lnTo>
                        <a:pt x="0" y="13"/>
                      </a:lnTo>
                      <a:lnTo>
                        <a:pt x="10" y="0"/>
                      </a:lnTo>
                    </a:path>
                  </a:pathLst>
                </a:custGeom>
                <a:solidFill>
                  <a:srgbClr val="FFC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38" name="Freeform 24"/>
                <p:cNvSpPr>
                  <a:spLocks/>
                </p:cNvSpPr>
                <p:nvPr/>
              </p:nvSpPr>
              <p:spPr bwMode="auto">
                <a:xfrm>
                  <a:off x="5297" y="1080"/>
                  <a:ext cx="17" cy="18"/>
                </a:xfrm>
                <a:custGeom>
                  <a:avLst/>
                  <a:gdLst>
                    <a:gd name="T0" fmla="*/ 0 w 17"/>
                    <a:gd name="T1" fmla="*/ 4 h 18"/>
                    <a:gd name="T2" fmla="*/ 1 w 17"/>
                    <a:gd name="T3" fmla="*/ 7 h 18"/>
                    <a:gd name="T4" fmla="*/ 1 w 17"/>
                    <a:gd name="T5" fmla="*/ 8 h 18"/>
                    <a:gd name="T6" fmla="*/ 1 w 17"/>
                    <a:gd name="T7" fmla="*/ 11 h 18"/>
                    <a:gd name="T8" fmla="*/ 1 w 17"/>
                    <a:gd name="T9" fmla="*/ 12 h 18"/>
                    <a:gd name="T10" fmla="*/ 1 w 17"/>
                    <a:gd name="T11" fmla="*/ 14 h 18"/>
                    <a:gd name="T12" fmla="*/ 5 w 17"/>
                    <a:gd name="T13" fmla="*/ 16 h 18"/>
                    <a:gd name="T14" fmla="*/ 7 w 17"/>
                    <a:gd name="T15" fmla="*/ 16 h 18"/>
                    <a:gd name="T16" fmla="*/ 10 w 17"/>
                    <a:gd name="T17" fmla="*/ 17 h 18"/>
                    <a:gd name="T18" fmla="*/ 14 w 17"/>
                    <a:gd name="T19" fmla="*/ 15 h 18"/>
                    <a:gd name="T20" fmla="*/ 16 w 17"/>
                    <a:gd name="T21" fmla="*/ 15 h 18"/>
                    <a:gd name="T22" fmla="*/ 16 w 17"/>
                    <a:gd name="T23" fmla="*/ 13 h 18"/>
                    <a:gd name="T24" fmla="*/ 16 w 17"/>
                    <a:gd name="T25" fmla="*/ 10 h 18"/>
                    <a:gd name="T26" fmla="*/ 16 w 17"/>
                    <a:gd name="T27" fmla="*/ 8 h 18"/>
                    <a:gd name="T28" fmla="*/ 16 w 17"/>
                    <a:gd name="T29" fmla="*/ 5 h 18"/>
                    <a:gd name="T30" fmla="*/ 14 w 17"/>
                    <a:gd name="T31" fmla="*/ 4 h 18"/>
                    <a:gd name="T32" fmla="*/ 12 w 17"/>
                    <a:gd name="T33" fmla="*/ 0 h 18"/>
                    <a:gd name="T34" fmla="*/ 1 w 17"/>
                    <a:gd name="T35" fmla="*/ 0 h 18"/>
                    <a:gd name="T36" fmla="*/ 0 w 17"/>
                    <a:gd name="T37" fmla="*/ 4 h 1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18"/>
                    <a:gd name="T59" fmla="*/ 17 w 17"/>
                    <a:gd name="T60" fmla="*/ 18 h 1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18">
                      <a:moveTo>
                        <a:pt x="0" y="4"/>
                      </a:moveTo>
                      <a:lnTo>
                        <a:pt x="1" y="7"/>
                      </a:lnTo>
                      <a:lnTo>
                        <a:pt x="1" y="8"/>
                      </a:lnTo>
                      <a:lnTo>
                        <a:pt x="1" y="11"/>
                      </a:lnTo>
                      <a:lnTo>
                        <a:pt x="1" y="12"/>
                      </a:lnTo>
                      <a:lnTo>
                        <a:pt x="1" y="14"/>
                      </a:lnTo>
                      <a:lnTo>
                        <a:pt x="5" y="16"/>
                      </a:lnTo>
                      <a:lnTo>
                        <a:pt x="7" y="16"/>
                      </a:lnTo>
                      <a:lnTo>
                        <a:pt x="10" y="17"/>
                      </a:lnTo>
                      <a:lnTo>
                        <a:pt x="14" y="15"/>
                      </a:lnTo>
                      <a:lnTo>
                        <a:pt x="16" y="15"/>
                      </a:lnTo>
                      <a:lnTo>
                        <a:pt x="16" y="13"/>
                      </a:lnTo>
                      <a:lnTo>
                        <a:pt x="16" y="10"/>
                      </a:lnTo>
                      <a:lnTo>
                        <a:pt x="16" y="8"/>
                      </a:lnTo>
                      <a:lnTo>
                        <a:pt x="16" y="5"/>
                      </a:lnTo>
                      <a:lnTo>
                        <a:pt x="14" y="4"/>
                      </a:lnTo>
                      <a:lnTo>
                        <a:pt x="12" y="0"/>
                      </a:lnTo>
                      <a:lnTo>
                        <a:pt x="1" y="0"/>
                      </a:lnTo>
                      <a:lnTo>
                        <a:pt x="0" y="4"/>
                      </a:lnTo>
                    </a:path>
                  </a:pathLst>
                </a:custGeom>
                <a:solidFill>
                  <a:srgbClr val="FFC080"/>
                </a:solidFill>
                <a:ln w="12700" cap="rnd" cmpd="sng">
                  <a:solidFill>
                    <a:srgbClr val="402000"/>
                  </a:solidFill>
                  <a:prstDash val="solid"/>
                  <a:round/>
                  <a:headEnd/>
                  <a:tailEnd/>
                </a:ln>
              </p:spPr>
              <p:txBody>
                <a:bodyPr/>
                <a:lstStyle/>
                <a:p>
                  <a:endParaRPr lang="en-IN"/>
                </a:p>
              </p:txBody>
            </p:sp>
            <p:sp>
              <p:nvSpPr>
                <p:cNvPr id="9339" name="Freeform 25"/>
                <p:cNvSpPr>
                  <a:spLocks/>
                </p:cNvSpPr>
                <p:nvPr/>
              </p:nvSpPr>
              <p:spPr bwMode="auto">
                <a:xfrm>
                  <a:off x="5300" y="1091"/>
                  <a:ext cx="17" cy="17"/>
                </a:xfrm>
                <a:custGeom>
                  <a:avLst/>
                  <a:gdLst>
                    <a:gd name="T0" fmla="*/ 16 w 17"/>
                    <a:gd name="T1" fmla="*/ 6 h 17"/>
                    <a:gd name="T2" fmla="*/ 9 w 17"/>
                    <a:gd name="T3" fmla="*/ 0 h 17"/>
                    <a:gd name="T4" fmla="*/ 3 w 17"/>
                    <a:gd name="T5" fmla="*/ 3 h 17"/>
                    <a:gd name="T6" fmla="*/ 0 w 17"/>
                    <a:gd name="T7" fmla="*/ 6 h 17"/>
                    <a:gd name="T8" fmla="*/ 0 w 17"/>
                    <a:gd name="T9" fmla="*/ 16 h 17"/>
                    <a:gd name="T10" fmla="*/ 3 w 17"/>
                    <a:gd name="T11" fmla="*/ 6 h 17"/>
                    <a:gd name="T12" fmla="*/ 3 w 17"/>
                    <a:gd name="T13" fmla="*/ 3 h 17"/>
                    <a:gd name="T14" fmla="*/ 16 w 17"/>
                    <a:gd name="T15" fmla="*/ 6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16" y="6"/>
                      </a:moveTo>
                      <a:lnTo>
                        <a:pt x="9" y="0"/>
                      </a:lnTo>
                      <a:lnTo>
                        <a:pt x="3" y="3"/>
                      </a:lnTo>
                      <a:lnTo>
                        <a:pt x="0" y="6"/>
                      </a:lnTo>
                      <a:lnTo>
                        <a:pt x="0" y="16"/>
                      </a:lnTo>
                      <a:lnTo>
                        <a:pt x="3" y="6"/>
                      </a:lnTo>
                      <a:lnTo>
                        <a:pt x="3" y="3"/>
                      </a:lnTo>
                      <a:lnTo>
                        <a:pt x="16" y="6"/>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grpSp>
            <p:nvGrpSpPr>
              <p:cNvPr id="9256" name="Group 26"/>
              <p:cNvGrpSpPr>
                <a:grpSpLocks/>
              </p:cNvGrpSpPr>
              <p:nvPr/>
            </p:nvGrpSpPr>
            <p:grpSpPr bwMode="auto">
              <a:xfrm>
                <a:off x="5339" y="1496"/>
                <a:ext cx="91" cy="59"/>
                <a:chOff x="5339" y="1496"/>
                <a:chExt cx="91" cy="59"/>
              </a:xfrm>
            </p:grpSpPr>
            <p:sp>
              <p:nvSpPr>
                <p:cNvPr id="9320" name="Freeform 27"/>
                <p:cNvSpPr>
                  <a:spLocks/>
                </p:cNvSpPr>
                <p:nvPr/>
              </p:nvSpPr>
              <p:spPr bwMode="auto">
                <a:xfrm>
                  <a:off x="5339" y="1496"/>
                  <a:ext cx="91" cy="59"/>
                </a:xfrm>
                <a:custGeom>
                  <a:avLst/>
                  <a:gdLst>
                    <a:gd name="T0" fmla="*/ 36 w 91"/>
                    <a:gd name="T1" fmla="*/ 1 h 59"/>
                    <a:gd name="T2" fmla="*/ 35 w 91"/>
                    <a:gd name="T3" fmla="*/ 16 h 59"/>
                    <a:gd name="T4" fmla="*/ 59 w 91"/>
                    <a:gd name="T5" fmla="*/ 30 h 59"/>
                    <a:gd name="T6" fmla="*/ 79 w 91"/>
                    <a:gd name="T7" fmla="*/ 36 h 59"/>
                    <a:gd name="T8" fmla="*/ 90 w 91"/>
                    <a:gd name="T9" fmla="*/ 43 h 59"/>
                    <a:gd name="T10" fmla="*/ 89 w 91"/>
                    <a:gd name="T11" fmla="*/ 50 h 59"/>
                    <a:gd name="T12" fmla="*/ 75 w 91"/>
                    <a:gd name="T13" fmla="*/ 55 h 59"/>
                    <a:gd name="T14" fmla="*/ 53 w 91"/>
                    <a:gd name="T15" fmla="*/ 58 h 59"/>
                    <a:gd name="T16" fmla="*/ 35 w 91"/>
                    <a:gd name="T17" fmla="*/ 54 h 59"/>
                    <a:gd name="T18" fmla="*/ 24 w 91"/>
                    <a:gd name="T19" fmla="*/ 50 h 59"/>
                    <a:gd name="T20" fmla="*/ 24 w 91"/>
                    <a:gd name="T21" fmla="*/ 54 h 59"/>
                    <a:gd name="T22" fmla="*/ 9 w 91"/>
                    <a:gd name="T23" fmla="*/ 54 h 59"/>
                    <a:gd name="T24" fmla="*/ 0 w 91"/>
                    <a:gd name="T25" fmla="*/ 51 h 59"/>
                    <a:gd name="T26" fmla="*/ 0 w 91"/>
                    <a:gd name="T27" fmla="*/ 43 h 59"/>
                    <a:gd name="T28" fmla="*/ 0 w 91"/>
                    <a:gd name="T29" fmla="*/ 39 h 59"/>
                    <a:gd name="T30" fmla="*/ 0 w 91"/>
                    <a:gd name="T31" fmla="*/ 28 h 59"/>
                    <a:gd name="T32" fmla="*/ 2 w 91"/>
                    <a:gd name="T33" fmla="*/ 21 h 59"/>
                    <a:gd name="T34" fmla="*/ 6 w 91"/>
                    <a:gd name="T35" fmla="*/ 14 h 59"/>
                    <a:gd name="T36" fmla="*/ 8 w 91"/>
                    <a:gd name="T37" fmla="*/ 0 h 59"/>
                    <a:gd name="T38" fmla="*/ 36 w 91"/>
                    <a:gd name="T39" fmla="*/ 1 h 5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1"/>
                    <a:gd name="T61" fmla="*/ 0 h 59"/>
                    <a:gd name="T62" fmla="*/ 91 w 91"/>
                    <a:gd name="T63" fmla="*/ 59 h 5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1" h="59">
                      <a:moveTo>
                        <a:pt x="36" y="1"/>
                      </a:moveTo>
                      <a:lnTo>
                        <a:pt x="35" y="16"/>
                      </a:lnTo>
                      <a:lnTo>
                        <a:pt x="59" y="30"/>
                      </a:lnTo>
                      <a:lnTo>
                        <a:pt x="79" y="36"/>
                      </a:lnTo>
                      <a:lnTo>
                        <a:pt x="90" y="43"/>
                      </a:lnTo>
                      <a:lnTo>
                        <a:pt x="89" y="50"/>
                      </a:lnTo>
                      <a:lnTo>
                        <a:pt x="75" y="55"/>
                      </a:lnTo>
                      <a:lnTo>
                        <a:pt x="53" y="58"/>
                      </a:lnTo>
                      <a:lnTo>
                        <a:pt x="35" y="54"/>
                      </a:lnTo>
                      <a:lnTo>
                        <a:pt x="24" y="50"/>
                      </a:lnTo>
                      <a:lnTo>
                        <a:pt x="24" y="54"/>
                      </a:lnTo>
                      <a:lnTo>
                        <a:pt x="9" y="54"/>
                      </a:lnTo>
                      <a:lnTo>
                        <a:pt x="0" y="51"/>
                      </a:lnTo>
                      <a:lnTo>
                        <a:pt x="0" y="43"/>
                      </a:lnTo>
                      <a:lnTo>
                        <a:pt x="0" y="39"/>
                      </a:lnTo>
                      <a:lnTo>
                        <a:pt x="0" y="28"/>
                      </a:lnTo>
                      <a:lnTo>
                        <a:pt x="2" y="21"/>
                      </a:lnTo>
                      <a:lnTo>
                        <a:pt x="6" y="14"/>
                      </a:lnTo>
                      <a:lnTo>
                        <a:pt x="8" y="0"/>
                      </a:lnTo>
                      <a:lnTo>
                        <a:pt x="36" y="1"/>
                      </a:lnTo>
                    </a:path>
                  </a:pathLst>
                </a:custGeom>
                <a:solidFill>
                  <a:srgbClr val="606060"/>
                </a:solidFill>
                <a:ln w="12700" cap="rnd" cmpd="sng">
                  <a:solidFill>
                    <a:srgbClr val="000000"/>
                  </a:solidFill>
                  <a:prstDash val="solid"/>
                  <a:round/>
                  <a:headEnd/>
                  <a:tailEnd/>
                </a:ln>
              </p:spPr>
              <p:txBody>
                <a:bodyPr/>
                <a:lstStyle/>
                <a:p>
                  <a:endParaRPr lang="en-IN"/>
                </a:p>
              </p:txBody>
            </p:sp>
            <p:sp>
              <p:nvSpPr>
                <p:cNvPr id="9321" name="Freeform 28"/>
                <p:cNvSpPr>
                  <a:spLocks/>
                </p:cNvSpPr>
                <p:nvPr/>
              </p:nvSpPr>
              <p:spPr bwMode="auto">
                <a:xfrm>
                  <a:off x="5370" y="1516"/>
                  <a:ext cx="27" cy="19"/>
                </a:xfrm>
                <a:custGeom>
                  <a:avLst/>
                  <a:gdLst>
                    <a:gd name="T0" fmla="*/ 6 w 27"/>
                    <a:gd name="T1" fmla="*/ 0 h 19"/>
                    <a:gd name="T2" fmla="*/ 0 w 27"/>
                    <a:gd name="T3" fmla="*/ 9 h 19"/>
                    <a:gd name="T4" fmla="*/ 23 w 27"/>
                    <a:gd name="T5" fmla="*/ 18 h 19"/>
                    <a:gd name="T6" fmla="*/ 26 w 27"/>
                    <a:gd name="T7" fmla="*/ 11 h 19"/>
                    <a:gd name="T8" fmla="*/ 6 w 27"/>
                    <a:gd name="T9" fmla="*/ 0 h 19"/>
                    <a:gd name="T10" fmla="*/ 0 60000 65536"/>
                    <a:gd name="T11" fmla="*/ 0 60000 65536"/>
                    <a:gd name="T12" fmla="*/ 0 60000 65536"/>
                    <a:gd name="T13" fmla="*/ 0 60000 65536"/>
                    <a:gd name="T14" fmla="*/ 0 60000 65536"/>
                    <a:gd name="T15" fmla="*/ 0 w 27"/>
                    <a:gd name="T16" fmla="*/ 0 h 19"/>
                    <a:gd name="T17" fmla="*/ 27 w 27"/>
                    <a:gd name="T18" fmla="*/ 19 h 19"/>
                  </a:gdLst>
                  <a:ahLst/>
                  <a:cxnLst>
                    <a:cxn ang="T10">
                      <a:pos x="T0" y="T1"/>
                    </a:cxn>
                    <a:cxn ang="T11">
                      <a:pos x="T2" y="T3"/>
                    </a:cxn>
                    <a:cxn ang="T12">
                      <a:pos x="T4" y="T5"/>
                    </a:cxn>
                    <a:cxn ang="T13">
                      <a:pos x="T6" y="T7"/>
                    </a:cxn>
                    <a:cxn ang="T14">
                      <a:pos x="T8" y="T9"/>
                    </a:cxn>
                  </a:cxnLst>
                  <a:rect l="T15" t="T16" r="T17" b="T18"/>
                  <a:pathLst>
                    <a:path w="27" h="19">
                      <a:moveTo>
                        <a:pt x="6" y="0"/>
                      </a:moveTo>
                      <a:lnTo>
                        <a:pt x="0" y="9"/>
                      </a:lnTo>
                      <a:lnTo>
                        <a:pt x="23" y="18"/>
                      </a:lnTo>
                      <a:lnTo>
                        <a:pt x="26" y="11"/>
                      </a:lnTo>
                      <a:lnTo>
                        <a:pt x="6" y="0"/>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22" name="Freeform 29"/>
                <p:cNvSpPr>
                  <a:spLocks/>
                </p:cNvSpPr>
                <p:nvPr/>
              </p:nvSpPr>
              <p:spPr bwMode="auto">
                <a:xfrm>
                  <a:off x="5396" y="1529"/>
                  <a:ext cx="32" cy="17"/>
                </a:xfrm>
                <a:custGeom>
                  <a:avLst/>
                  <a:gdLst>
                    <a:gd name="T0" fmla="*/ 3 w 32"/>
                    <a:gd name="T1" fmla="*/ 0 h 17"/>
                    <a:gd name="T2" fmla="*/ 0 w 32"/>
                    <a:gd name="T3" fmla="*/ 8 h 17"/>
                    <a:gd name="T4" fmla="*/ 15 w 32"/>
                    <a:gd name="T5" fmla="*/ 14 h 17"/>
                    <a:gd name="T6" fmla="*/ 22 w 32"/>
                    <a:gd name="T7" fmla="*/ 16 h 17"/>
                    <a:gd name="T8" fmla="*/ 31 w 32"/>
                    <a:gd name="T9" fmla="*/ 16 h 17"/>
                    <a:gd name="T10" fmla="*/ 21 w 32"/>
                    <a:gd name="T11" fmla="*/ 6 h 17"/>
                    <a:gd name="T12" fmla="*/ 3 w 32"/>
                    <a:gd name="T13" fmla="*/ 0 h 17"/>
                    <a:gd name="T14" fmla="*/ 0 60000 65536"/>
                    <a:gd name="T15" fmla="*/ 0 60000 65536"/>
                    <a:gd name="T16" fmla="*/ 0 60000 65536"/>
                    <a:gd name="T17" fmla="*/ 0 60000 65536"/>
                    <a:gd name="T18" fmla="*/ 0 60000 65536"/>
                    <a:gd name="T19" fmla="*/ 0 60000 65536"/>
                    <a:gd name="T20" fmla="*/ 0 60000 65536"/>
                    <a:gd name="T21" fmla="*/ 0 w 32"/>
                    <a:gd name="T22" fmla="*/ 0 h 17"/>
                    <a:gd name="T23" fmla="*/ 32 w 32"/>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7">
                      <a:moveTo>
                        <a:pt x="3" y="0"/>
                      </a:moveTo>
                      <a:lnTo>
                        <a:pt x="0" y="8"/>
                      </a:lnTo>
                      <a:lnTo>
                        <a:pt x="15" y="14"/>
                      </a:lnTo>
                      <a:lnTo>
                        <a:pt x="22" y="16"/>
                      </a:lnTo>
                      <a:lnTo>
                        <a:pt x="31" y="16"/>
                      </a:lnTo>
                      <a:lnTo>
                        <a:pt x="21" y="6"/>
                      </a:lnTo>
                      <a:lnTo>
                        <a:pt x="3" y="0"/>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23" name="Freeform 30"/>
                <p:cNvSpPr>
                  <a:spLocks/>
                </p:cNvSpPr>
                <p:nvPr/>
              </p:nvSpPr>
              <p:spPr bwMode="auto">
                <a:xfrm>
                  <a:off x="5340" y="1516"/>
                  <a:ext cx="89" cy="36"/>
                </a:xfrm>
                <a:custGeom>
                  <a:avLst/>
                  <a:gdLst>
                    <a:gd name="T0" fmla="*/ 88 w 89"/>
                    <a:gd name="T1" fmla="*/ 29 h 36"/>
                    <a:gd name="T2" fmla="*/ 88 w 89"/>
                    <a:gd name="T3" fmla="*/ 24 h 36"/>
                    <a:gd name="T4" fmla="*/ 76 w 89"/>
                    <a:gd name="T5" fmla="*/ 25 h 36"/>
                    <a:gd name="T6" fmla="*/ 58 w 89"/>
                    <a:gd name="T7" fmla="*/ 22 h 36"/>
                    <a:gd name="T8" fmla="*/ 47 w 89"/>
                    <a:gd name="T9" fmla="*/ 19 h 36"/>
                    <a:gd name="T10" fmla="*/ 27 w 89"/>
                    <a:gd name="T11" fmla="*/ 11 h 36"/>
                    <a:gd name="T12" fmla="*/ 18 w 89"/>
                    <a:gd name="T13" fmla="*/ 9 h 36"/>
                    <a:gd name="T14" fmla="*/ 9 w 89"/>
                    <a:gd name="T15" fmla="*/ 5 h 36"/>
                    <a:gd name="T16" fmla="*/ 5 w 89"/>
                    <a:gd name="T17" fmla="*/ 0 h 36"/>
                    <a:gd name="T18" fmla="*/ 0 w 89"/>
                    <a:gd name="T19" fmla="*/ 7 h 36"/>
                    <a:gd name="T20" fmla="*/ 0 w 89"/>
                    <a:gd name="T21" fmla="*/ 22 h 36"/>
                    <a:gd name="T22" fmla="*/ 6 w 89"/>
                    <a:gd name="T23" fmla="*/ 24 h 36"/>
                    <a:gd name="T24" fmla="*/ 22 w 89"/>
                    <a:gd name="T25" fmla="*/ 27 h 36"/>
                    <a:gd name="T26" fmla="*/ 29 w 89"/>
                    <a:gd name="T27" fmla="*/ 27 h 36"/>
                    <a:gd name="T28" fmla="*/ 39 w 89"/>
                    <a:gd name="T29" fmla="*/ 32 h 36"/>
                    <a:gd name="T30" fmla="*/ 51 w 89"/>
                    <a:gd name="T31" fmla="*/ 35 h 36"/>
                    <a:gd name="T32" fmla="*/ 59 w 89"/>
                    <a:gd name="T33" fmla="*/ 35 h 36"/>
                    <a:gd name="T34" fmla="*/ 72 w 89"/>
                    <a:gd name="T35" fmla="*/ 35 h 36"/>
                    <a:gd name="T36" fmla="*/ 88 w 89"/>
                    <a:gd name="T37" fmla="*/ 29 h 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9"/>
                    <a:gd name="T58" fmla="*/ 0 h 36"/>
                    <a:gd name="T59" fmla="*/ 89 w 89"/>
                    <a:gd name="T60" fmla="*/ 36 h 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9" h="36">
                      <a:moveTo>
                        <a:pt x="88" y="29"/>
                      </a:moveTo>
                      <a:lnTo>
                        <a:pt x="88" y="24"/>
                      </a:lnTo>
                      <a:lnTo>
                        <a:pt x="76" y="25"/>
                      </a:lnTo>
                      <a:lnTo>
                        <a:pt x="58" y="22"/>
                      </a:lnTo>
                      <a:lnTo>
                        <a:pt x="47" y="19"/>
                      </a:lnTo>
                      <a:lnTo>
                        <a:pt x="27" y="11"/>
                      </a:lnTo>
                      <a:lnTo>
                        <a:pt x="18" y="9"/>
                      </a:lnTo>
                      <a:lnTo>
                        <a:pt x="9" y="5"/>
                      </a:lnTo>
                      <a:lnTo>
                        <a:pt x="5" y="0"/>
                      </a:lnTo>
                      <a:lnTo>
                        <a:pt x="0" y="7"/>
                      </a:lnTo>
                      <a:lnTo>
                        <a:pt x="0" y="22"/>
                      </a:lnTo>
                      <a:lnTo>
                        <a:pt x="6" y="24"/>
                      </a:lnTo>
                      <a:lnTo>
                        <a:pt x="22" y="27"/>
                      </a:lnTo>
                      <a:lnTo>
                        <a:pt x="29" y="27"/>
                      </a:lnTo>
                      <a:lnTo>
                        <a:pt x="39" y="32"/>
                      </a:lnTo>
                      <a:lnTo>
                        <a:pt x="51" y="35"/>
                      </a:lnTo>
                      <a:lnTo>
                        <a:pt x="59" y="35"/>
                      </a:lnTo>
                      <a:lnTo>
                        <a:pt x="72" y="35"/>
                      </a:lnTo>
                      <a:lnTo>
                        <a:pt x="88" y="29"/>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24" name="Freeform 31"/>
                <p:cNvSpPr>
                  <a:spLocks/>
                </p:cNvSpPr>
                <p:nvPr/>
              </p:nvSpPr>
              <p:spPr bwMode="auto">
                <a:xfrm>
                  <a:off x="5346" y="1496"/>
                  <a:ext cx="30" cy="30"/>
                </a:xfrm>
                <a:custGeom>
                  <a:avLst/>
                  <a:gdLst>
                    <a:gd name="T0" fmla="*/ 28 w 30"/>
                    <a:gd name="T1" fmla="*/ 1 h 30"/>
                    <a:gd name="T2" fmla="*/ 26 w 30"/>
                    <a:gd name="T3" fmla="*/ 16 h 30"/>
                    <a:gd name="T4" fmla="*/ 29 w 30"/>
                    <a:gd name="T5" fmla="*/ 19 h 30"/>
                    <a:gd name="T6" fmla="*/ 22 w 30"/>
                    <a:gd name="T7" fmla="*/ 29 h 30"/>
                    <a:gd name="T8" fmla="*/ 13 w 30"/>
                    <a:gd name="T9" fmla="*/ 29 h 30"/>
                    <a:gd name="T10" fmla="*/ 3 w 30"/>
                    <a:gd name="T11" fmla="*/ 24 h 30"/>
                    <a:gd name="T12" fmla="*/ 0 w 30"/>
                    <a:gd name="T13" fmla="*/ 18 h 30"/>
                    <a:gd name="T14" fmla="*/ 2 w 30"/>
                    <a:gd name="T15" fmla="*/ 15 h 30"/>
                    <a:gd name="T16" fmla="*/ 2 w 30"/>
                    <a:gd name="T17" fmla="*/ 0 h 30"/>
                    <a:gd name="T18" fmla="*/ 28 w 30"/>
                    <a:gd name="T19" fmla="*/ 1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30"/>
                    <a:gd name="T32" fmla="*/ 30 w 30"/>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30">
                      <a:moveTo>
                        <a:pt x="28" y="1"/>
                      </a:moveTo>
                      <a:lnTo>
                        <a:pt x="26" y="16"/>
                      </a:lnTo>
                      <a:lnTo>
                        <a:pt x="29" y="19"/>
                      </a:lnTo>
                      <a:lnTo>
                        <a:pt x="22" y="29"/>
                      </a:lnTo>
                      <a:lnTo>
                        <a:pt x="13" y="29"/>
                      </a:lnTo>
                      <a:lnTo>
                        <a:pt x="3" y="24"/>
                      </a:lnTo>
                      <a:lnTo>
                        <a:pt x="0" y="18"/>
                      </a:lnTo>
                      <a:lnTo>
                        <a:pt x="2" y="15"/>
                      </a:lnTo>
                      <a:lnTo>
                        <a:pt x="2" y="0"/>
                      </a:lnTo>
                      <a:lnTo>
                        <a:pt x="28" y="1"/>
                      </a:lnTo>
                    </a:path>
                  </a:pathLst>
                </a:custGeom>
                <a:solidFill>
                  <a:srgbClr val="A0A0A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grpSp>
            <p:nvGrpSpPr>
              <p:cNvPr id="9257" name="Group 32"/>
              <p:cNvGrpSpPr>
                <a:grpSpLocks/>
              </p:cNvGrpSpPr>
              <p:nvPr/>
            </p:nvGrpSpPr>
            <p:grpSpPr bwMode="auto">
              <a:xfrm>
                <a:off x="5340" y="1392"/>
                <a:ext cx="40" cy="119"/>
                <a:chOff x="5340" y="1392"/>
                <a:chExt cx="40" cy="119"/>
              </a:xfrm>
            </p:grpSpPr>
            <p:sp>
              <p:nvSpPr>
                <p:cNvPr id="9318" name="Freeform 33"/>
                <p:cNvSpPr>
                  <a:spLocks/>
                </p:cNvSpPr>
                <p:nvPr/>
              </p:nvSpPr>
              <p:spPr bwMode="auto">
                <a:xfrm>
                  <a:off x="5340" y="1392"/>
                  <a:ext cx="40" cy="119"/>
                </a:xfrm>
                <a:custGeom>
                  <a:avLst/>
                  <a:gdLst>
                    <a:gd name="T0" fmla="*/ 3 w 40"/>
                    <a:gd name="T1" fmla="*/ 2 h 119"/>
                    <a:gd name="T2" fmla="*/ 1 w 40"/>
                    <a:gd name="T3" fmla="*/ 42 h 119"/>
                    <a:gd name="T4" fmla="*/ 1 w 40"/>
                    <a:gd name="T5" fmla="*/ 75 h 119"/>
                    <a:gd name="T6" fmla="*/ 0 w 40"/>
                    <a:gd name="T7" fmla="*/ 112 h 119"/>
                    <a:gd name="T8" fmla="*/ 19 w 40"/>
                    <a:gd name="T9" fmla="*/ 118 h 119"/>
                    <a:gd name="T10" fmla="*/ 37 w 40"/>
                    <a:gd name="T11" fmla="*/ 118 h 119"/>
                    <a:gd name="T12" fmla="*/ 39 w 40"/>
                    <a:gd name="T13" fmla="*/ 0 h 119"/>
                    <a:gd name="T14" fmla="*/ 3 w 40"/>
                    <a:gd name="T15" fmla="*/ 2 h 119"/>
                    <a:gd name="T16" fmla="*/ 0 60000 65536"/>
                    <a:gd name="T17" fmla="*/ 0 60000 65536"/>
                    <a:gd name="T18" fmla="*/ 0 60000 65536"/>
                    <a:gd name="T19" fmla="*/ 0 60000 65536"/>
                    <a:gd name="T20" fmla="*/ 0 60000 65536"/>
                    <a:gd name="T21" fmla="*/ 0 60000 65536"/>
                    <a:gd name="T22" fmla="*/ 0 60000 65536"/>
                    <a:gd name="T23" fmla="*/ 0 60000 65536"/>
                    <a:gd name="T24" fmla="*/ 0 w 40"/>
                    <a:gd name="T25" fmla="*/ 0 h 119"/>
                    <a:gd name="T26" fmla="*/ 40 w 40"/>
                    <a:gd name="T27" fmla="*/ 119 h 11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 h="119">
                      <a:moveTo>
                        <a:pt x="3" y="2"/>
                      </a:moveTo>
                      <a:lnTo>
                        <a:pt x="1" y="42"/>
                      </a:lnTo>
                      <a:lnTo>
                        <a:pt x="1" y="75"/>
                      </a:lnTo>
                      <a:lnTo>
                        <a:pt x="0" y="112"/>
                      </a:lnTo>
                      <a:lnTo>
                        <a:pt x="19" y="118"/>
                      </a:lnTo>
                      <a:lnTo>
                        <a:pt x="37" y="118"/>
                      </a:lnTo>
                      <a:lnTo>
                        <a:pt x="39" y="0"/>
                      </a:lnTo>
                      <a:lnTo>
                        <a:pt x="3" y="2"/>
                      </a:lnTo>
                    </a:path>
                  </a:pathLst>
                </a:custGeom>
                <a:solidFill>
                  <a:srgbClr val="606060"/>
                </a:solidFill>
                <a:ln w="12700" cap="rnd" cmpd="sng">
                  <a:solidFill>
                    <a:srgbClr val="000000"/>
                  </a:solidFill>
                  <a:prstDash val="solid"/>
                  <a:round/>
                  <a:headEnd/>
                  <a:tailEnd/>
                </a:ln>
              </p:spPr>
              <p:txBody>
                <a:bodyPr/>
                <a:lstStyle/>
                <a:p>
                  <a:endParaRPr lang="en-IN"/>
                </a:p>
              </p:txBody>
            </p:sp>
            <p:sp>
              <p:nvSpPr>
                <p:cNvPr id="9319" name="Freeform 34"/>
                <p:cNvSpPr>
                  <a:spLocks/>
                </p:cNvSpPr>
                <p:nvPr/>
              </p:nvSpPr>
              <p:spPr bwMode="auto">
                <a:xfrm>
                  <a:off x="5344" y="1394"/>
                  <a:ext cx="34" cy="114"/>
                </a:xfrm>
                <a:custGeom>
                  <a:avLst/>
                  <a:gdLst>
                    <a:gd name="T0" fmla="*/ 2 w 34"/>
                    <a:gd name="T1" fmla="*/ 3 h 114"/>
                    <a:gd name="T2" fmla="*/ 0 w 34"/>
                    <a:gd name="T3" fmla="*/ 37 h 114"/>
                    <a:gd name="T4" fmla="*/ 0 w 34"/>
                    <a:gd name="T5" fmla="*/ 63 h 114"/>
                    <a:gd name="T6" fmla="*/ 0 w 34"/>
                    <a:gd name="T7" fmla="*/ 105 h 114"/>
                    <a:gd name="T8" fmla="*/ 16 w 34"/>
                    <a:gd name="T9" fmla="*/ 113 h 114"/>
                    <a:gd name="T10" fmla="*/ 30 w 34"/>
                    <a:gd name="T11" fmla="*/ 113 h 114"/>
                    <a:gd name="T12" fmla="*/ 33 w 34"/>
                    <a:gd name="T13" fmla="*/ 0 h 114"/>
                    <a:gd name="T14" fmla="*/ 2 w 34"/>
                    <a:gd name="T15" fmla="*/ 3 h 114"/>
                    <a:gd name="T16" fmla="*/ 0 60000 65536"/>
                    <a:gd name="T17" fmla="*/ 0 60000 65536"/>
                    <a:gd name="T18" fmla="*/ 0 60000 65536"/>
                    <a:gd name="T19" fmla="*/ 0 60000 65536"/>
                    <a:gd name="T20" fmla="*/ 0 60000 65536"/>
                    <a:gd name="T21" fmla="*/ 0 60000 65536"/>
                    <a:gd name="T22" fmla="*/ 0 60000 65536"/>
                    <a:gd name="T23" fmla="*/ 0 60000 65536"/>
                    <a:gd name="T24" fmla="*/ 0 w 34"/>
                    <a:gd name="T25" fmla="*/ 0 h 114"/>
                    <a:gd name="T26" fmla="*/ 34 w 34"/>
                    <a:gd name="T27" fmla="*/ 114 h 1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 h="114">
                      <a:moveTo>
                        <a:pt x="2" y="3"/>
                      </a:moveTo>
                      <a:lnTo>
                        <a:pt x="0" y="37"/>
                      </a:lnTo>
                      <a:lnTo>
                        <a:pt x="0" y="63"/>
                      </a:lnTo>
                      <a:lnTo>
                        <a:pt x="0" y="105"/>
                      </a:lnTo>
                      <a:lnTo>
                        <a:pt x="16" y="113"/>
                      </a:lnTo>
                      <a:lnTo>
                        <a:pt x="30" y="113"/>
                      </a:lnTo>
                      <a:lnTo>
                        <a:pt x="33" y="0"/>
                      </a:lnTo>
                      <a:lnTo>
                        <a:pt x="2" y="3"/>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grpSp>
            <p:nvGrpSpPr>
              <p:cNvPr id="9258" name="Group 35"/>
              <p:cNvGrpSpPr>
                <a:grpSpLocks/>
              </p:cNvGrpSpPr>
              <p:nvPr/>
            </p:nvGrpSpPr>
            <p:grpSpPr bwMode="auto">
              <a:xfrm>
                <a:off x="5360" y="1512"/>
                <a:ext cx="94" cy="60"/>
                <a:chOff x="5360" y="1512"/>
                <a:chExt cx="94" cy="60"/>
              </a:xfrm>
            </p:grpSpPr>
            <p:sp>
              <p:nvSpPr>
                <p:cNvPr id="9313" name="Freeform 36"/>
                <p:cNvSpPr>
                  <a:spLocks/>
                </p:cNvSpPr>
                <p:nvPr/>
              </p:nvSpPr>
              <p:spPr bwMode="auto">
                <a:xfrm>
                  <a:off x="5360" y="1512"/>
                  <a:ext cx="94" cy="60"/>
                </a:xfrm>
                <a:custGeom>
                  <a:avLst/>
                  <a:gdLst>
                    <a:gd name="T0" fmla="*/ 37 w 94"/>
                    <a:gd name="T1" fmla="*/ 1 h 60"/>
                    <a:gd name="T2" fmla="*/ 36 w 94"/>
                    <a:gd name="T3" fmla="*/ 16 h 60"/>
                    <a:gd name="T4" fmla="*/ 61 w 94"/>
                    <a:gd name="T5" fmla="*/ 31 h 60"/>
                    <a:gd name="T6" fmla="*/ 81 w 94"/>
                    <a:gd name="T7" fmla="*/ 37 h 60"/>
                    <a:gd name="T8" fmla="*/ 93 w 94"/>
                    <a:gd name="T9" fmla="*/ 43 h 60"/>
                    <a:gd name="T10" fmla="*/ 92 w 94"/>
                    <a:gd name="T11" fmla="*/ 51 h 60"/>
                    <a:gd name="T12" fmla="*/ 77 w 94"/>
                    <a:gd name="T13" fmla="*/ 57 h 60"/>
                    <a:gd name="T14" fmla="*/ 55 w 94"/>
                    <a:gd name="T15" fmla="*/ 59 h 60"/>
                    <a:gd name="T16" fmla="*/ 36 w 94"/>
                    <a:gd name="T17" fmla="*/ 55 h 60"/>
                    <a:gd name="T18" fmla="*/ 25 w 94"/>
                    <a:gd name="T19" fmla="*/ 51 h 60"/>
                    <a:gd name="T20" fmla="*/ 24 w 94"/>
                    <a:gd name="T21" fmla="*/ 55 h 60"/>
                    <a:gd name="T22" fmla="*/ 10 w 94"/>
                    <a:gd name="T23" fmla="*/ 55 h 60"/>
                    <a:gd name="T24" fmla="*/ 1 w 94"/>
                    <a:gd name="T25" fmla="*/ 52 h 60"/>
                    <a:gd name="T26" fmla="*/ 1 w 94"/>
                    <a:gd name="T27" fmla="*/ 44 h 60"/>
                    <a:gd name="T28" fmla="*/ 0 w 94"/>
                    <a:gd name="T29" fmla="*/ 39 h 60"/>
                    <a:gd name="T30" fmla="*/ 0 w 94"/>
                    <a:gd name="T31" fmla="*/ 28 h 60"/>
                    <a:gd name="T32" fmla="*/ 2 w 94"/>
                    <a:gd name="T33" fmla="*/ 22 h 60"/>
                    <a:gd name="T34" fmla="*/ 7 w 94"/>
                    <a:gd name="T35" fmla="*/ 15 h 60"/>
                    <a:gd name="T36" fmla="*/ 8 w 94"/>
                    <a:gd name="T37" fmla="*/ 0 h 60"/>
                    <a:gd name="T38" fmla="*/ 37 w 94"/>
                    <a:gd name="T39" fmla="*/ 1 h 6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4"/>
                    <a:gd name="T61" fmla="*/ 0 h 60"/>
                    <a:gd name="T62" fmla="*/ 94 w 94"/>
                    <a:gd name="T63" fmla="*/ 60 h 6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4" h="60">
                      <a:moveTo>
                        <a:pt x="37" y="1"/>
                      </a:moveTo>
                      <a:lnTo>
                        <a:pt x="36" y="16"/>
                      </a:lnTo>
                      <a:lnTo>
                        <a:pt x="61" y="31"/>
                      </a:lnTo>
                      <a:lnTo>
                        <a:pt x="81" y="37"/>
                      </a:lnTo>
                      <a:lnTo>
                        <a:pt x="93" y="43"/>
                      </a:lnTo>
                      <a:lnTo>
                        <a:pt x="92" y="51"/>
                      </a:lnTo>
                      <a:lnTo>
                        <a:pt x="77" y="57"/>
                      </a:lnTo>
                      <a:lnTo>
                        <a:pt x="55" y="59"/>
                      </a:lnTo>
                      <a:lnTo>
                        <a:pt x="36" y="55"/>
                      </a:lnTo>
                      <a:lnTo>
                        <a:pt x="25" y="51"/>
                      </a:lnTo>
                      <a:lnTo>
                        <a:pt x="24" y="55"/>
                      </a:lnTo>
                      <a:lnTo>
                        <a:pt x="10" y="55"/>
                      </a:lnTo>
                      <a:lnTo>
                        <a:pt x="1" y="52"/>
                      </a:lnTo>
                      <a:lnTo>
                        <a:pt x="1" y="44"/>
                      </a:lnTo>
                      <a:lnTo>
                        <a:pt x="0" y="39"/>
                      </a:lnTo>
                      <a:lnTo>
                        <a:pt x="0" y="28"/>
                      </a:lnTo>
                      <a:lnTo>
                        <a:pt x="2" y="22"/>
                      </a:lnTo>
                      <a:lnTo>
                        <a:pt x="7" y="15"/>
                      </a:lnTo>
                      <a:lnTo>
                        <a:pt x="8" y="0"/>
                      </a:lnTo>
                      <a:lnTo>
                        <a:pt x="37" y="1"/>
                      </a:lnTo>
                    </a:path>
                  </a:pathLst>
                </a:custGeom>
                <a:solidFill>
                  <a:srgbClr val="606060"/>
                </a:solidFill>
                <a:ln w="12700" cap="rnd" cmpd="sng">
                  <a:solidFill>
                    <a:srgbClr val="000000"/>
                  </a:solidFill>
                  <a:prstDash val="solid"/>
                  <a:round/>
                  <a:headEnd/>
                  <a:tailEnd/>
                </a:ln>
              </p:spPr>
              <p:txBody>
                <a:bodyPr/>
                <a:lstStyle/>
                <a:p>
                  <a:endParaRPr lang="en-IN"/>
                </a:p>
              </p:txBody>
            </p:sp>
            <p:sp>
              <p:nvSpPr>
                <p:cNvPr id="9314" name="Freeform 37"/>
                <p:cNvSpPr>
                  <a:spLocks/>
                </p:cNvSpPr>
                <p:nvPr/>
              </p:nvSpPr>
              <p:spPr bwMode="auto">
                <a:xfrm>
                  <a:off x="5391" y="1533"/>
                  <a:ext cx="30" cy="19"/>
                </a:xfrm>
                <a:custGeom>
                  <a:avLst/>
                  <a:gdLst>
                    <a:gd name="T0" fmla="*/ 7 w 30"/>
                    <a:gd name="T1" fmla="*/ 0 h 19"/>
                    <a:gd name="T2" fmla="*/ 0 w 30"/>
                    <a:gd name="T3" fmla="*/ 10 h 19"/>
                    <a:gd name="T4" fmla="*/ 26 w 30"/>
                    <a:gd name="T5" fmla="*/ 18 h 19"/>
                    <a:gd name="T6" fmla="*/ 29 w 30"/>
                    <a:gd name="T7" fmla="*/ 11 h 19"/>
                    <a:gd name="T8" fmla="*/ 7 w 30"/>
                    <a:gd name="T9" fmla="*/ 0 h 19"/>
                    <a:gd name="T10" fmla="*/ 0 60000 65536"/>
                    <a:gd name="T11" fmla="*/ 0 60000 65536"/>
                    <a:gd name="T12" fmla="*/ 0 60000 65536"/>
                    <a:gd name="T13" fmla="*/ 0 60000 65536"/>
                    <a:gd name="T14" fmla="*/ 0 60000 65536"/>
                    <a:gd name="T15" fmla="*/ 0 w 30"/>
                    <a:gd name="T16" fmla="*/ 0 h 19"/>
                    <a:gd name="T17" fmla="*/ 30 w 30"/>
                    <a:gd name="T18" fmla="*/ 19 h 19"/>
                  </a:gdLst>
                  <a:ahLst/>
                  <a:cxnLst>
                    <a:cxn ang="T10">
                      <a:pos x="T0" y="T1"/>
                    </a:cxn>
                    <a:cxn ang="T11">
                      <a:pos x="T2" y="T3"/>
                    </a:cxn>
                    <a:cxn ang="T12">
                      <a:pos x="T4" y="T5"/>
                    </a:cxn>
                    <a:cxn ang="T13">
                      <a:pos x="T6" y="T7"/>
                    </a:cxn>
                    <a:cxn ang="T14">
                      <a:pos x="T8" y="T9"/>
                    </a:cxn>
                  </a:cxnLst>
                  <a:rect l="T15" t="T16" r="T17" b="T18"/>
                  <a:pathLst>
                    <a:path w="30" h="19">
                      <a:moveTo>
                        <a:pt x="7" y="0"/>
                      </a:moveTo>
                      <a:lnTo>
                        <a:pt x="0" y="10"/>
                      </a:lnTo>
                      <a:lnTo>
                        <a:pt x="26" y="18"/>
                      </a:lnTo>
                      <a:lnTo>
                        <a:pt x="29" y="11"/>
                      </a:lnTo>
                      <a:lnTo>
                        <a:pt x="7" y="0"/>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15" name="Freeform 38"/>
                <p:cNvSpPr>
                  <a:spLocks/>
                </p:cNvSpPr>
                <p:nvPr/>
              </p:nvSpPr>
              <p:spPr bwMode="auto">
                <a:xfrm>
                  <a:off x="5419" y="1546"/>
                  <a:ext cx="32" cy="17"/>
                </a:xfrm>
                <a:custGeom>
                  <a:avLst/>
                  <a:gdLst>
                    <a:gd name="T0" fmla="*/ 4 w 32"/>
                    <a:gd name="T1" fmla="*/ 0 h 17"/>
                    <a:gd name="T2" fmla="*/ 0 w 32"/>
                    <a:gd name="T3" fmla="*/ 7 h 17"/>
                    <a:gd name="T4" fmla="*/ 15 w 32"/>
                    <a:gd name="T5" fmla="*/ 14 h 17"/>
                    <a:gd name="T6" fmla="*/ 22 w 32"/>
                    <a:gd name="T7" fmla="*/ 16 h 17"/>
                    <a:gd name="T8" fmla="*/ 31 w 32"/>
                    <a:gd name="T9" fmla="*/ 16 h 17"/>
                    <a:gd name="T10" fmla="*/ 22 w 32"/>
                    <a:gd name="T11" fmla="*/ 7 h 17"/>
                    <a:gd name="T12" fmla="*/ 4 w 32"/>
                    <a:gd name="T13" fmla="*/ 0 h 17"/>
                    <a:gd name="T14" fmla="*/ 0 60000 65536"/>
                    <a:gd name="T15" fmla="*/ 0 60000 65536"/>
                    <a:gd name="T16" fmla="*/ 0 60000 65536"/>
                    <a:gd name="T17" fmla="*/ 0 60000 65536"/>
                    <a:gd name="T18" fmla="*/ 0 60000 65536"/>
                    <a:gd name="T19" fmla="*/ 0 60000 65536"/>
                    <a:gd name="T20" fmla="*/ 0 60000 65536"/>
                    <a:gd name="T21" fmla="*/ 0 w 32"/>
                    <a:gd name="T22" fmla="*/ 0 h 17"/>
                    <a:gd name="T23" fmla="*/ 32 w 32"/>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7">
                      <a:moveTo>
                        <a:pt x="4" y="0"/>
                      </a:moveTo>
                      <a:lnTo>
                        <a:pt x="0" y="7"/>
                      </a:lnTo>
                      <a:lnTo>
                        <a:pt x="15" y="14"/>
                      </a:lnTo>
                      <a:lnTo>
                        <a:pt x="22" y="16"/>
                      </a:lnTo>
                      <a:lnTo>
                        <a:pt x="31" y="16"/>
                      </a:lnTo>
                      <a:lnTo>
                        <a:pt x="22" y="7"/>
                      </a:lnTo>
                      <a:lnTo>
                        <a:pt x="4" y="0"/>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16" name="Freeform 39"/>
                <p:cNvSpPr>
                  <a:spLocks/>
                </p:cNvSpPr>
                <p:nvPr/>
              </p:nvSpPr>
              <p:spPr bwMode="auto">
                <a:xfrm>
                  <a:off x="5362" y="1533"/>
                  <a:ext cx="90" cy="36"/>
                </a:xfrm>
                <a:custGeom>
                  <a:avLst/>
                  <a:gdLst>
                    <a:gd name="T0" fmla="*/ 89 w 90"/>
                    <a:gd name="T1" fmla="*/ 29 h 36"/>
                    <a:gd name="T2" fmla="*/ 89 w 90"/>
                    <a:gd name="T3" fmla="*/ 24 h 36"/>
                    <a:gd name="T4" fmla="*/ 77 w 90"/>
                    <a:gd name="T5" fmla="*/ 26 h 36"/>
                    <a:gd name="T6" fmla="*/ 58 w 90"/>
                    <a:gd name="T7" fmla="*/ 22 h 36"/>
                    <a:gd name="T8" fmla="*/ 47 w 90"/>
                    <a:gd name="T9" fmla="*/ 19 h 36"/>
                    <a:gd name="T10" fmla="*/ 27 w 90"/>
                    <a:gd name="T11" fmla="*/ 11 h 36"/>
                    <a:gd name="T12" fmla="*/ 18 w 90"/>
                    <a:gd name="T13" fmla="*/ 10 h 36"/>
                    <a:gd name="T14" fmla="*/ 9 w 90"/>
                    <a:gd name="T15" fmla="*/ 5 h 36"/>
                    <a:gd name="T16" fmla="*/ 4 w 90"/>
                    <a:gd name="T17" fmla="*/ 0 h 36"/>
                    <a:gd name="T18" fmla="*/ 0 w 90"/>
                    <a:gd name="T19" fmla="*/ 7 h 36"/>
                    <a:gd name="T20" fmla="*/ 0 w 90"/>
                    <a:gd name="T21" fmla="*/ 22 h 36"/>
                    <a:gd name="T22" fmla="*/ 6 w 90"/>
                    <a:gd name="T23" fmla="*/ 24 h 36"/>
                    <a:gd name="T24" fmla="*/ 22 w 90"/>
                    <a:gd name="T25" fmla="*/ 27 h 36"/>
                    <a:gd name="T26" fmla="*/ 29 w 90"/>
                    <a:gd name="T27" fmla="*/ 27 h 36"/>
                    <a:gd name="T28" fmla="*/ 39 w 90"/>
                    <a:gd name="T29" fmla="*/ 32 h 36"/>
                    <a:gd name="T30" fmla="*/ 51 w 90"/>
                    <a:gd name="T31" fmla="*/ 35 h 36"/>
                    <a:gd name="T32" fmla="*/ 60 w 90"/>
                    <a:gd name="T33" fmla="*/ 35 h 36"/>
                    <a:gd name="T34" fmla="*/ 73 w 90"/>
                    <a:gd name="T35" fmla="*/ 35 h 36"/>
                    <a:gd name="T36" fmla="*/ 89 w 90"/>
                    <a:gd name="T37" fmla="*/ 29 h 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0"/>
                    <a:gd name="T58" fmla="*/ 0 h 36"/>
                    <a:gd name="T59" fmla="*/ 90 w 90"/>
                    <a:gd name="T60" fmla="*/ 36 h 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0" h="36">
                      <a:moveTo>
                        <a:pt x="89" y="29"/>
                      </a:moveTo>
                      <a:lnTo>
                        <a:pt x="89" y="24"/>
                      </a:lnTo>
                      <a:lnTo>
                        <a:pt x="77" y="26"/>
                      </a:lnTo>
                      <a:lnTo>
                        <a:pt x="58" y="22"/>
                      </a:lnTo>
                      <a:lnTo>
                        <a:pt x="47" y="19"/>
                      </a:lnTo>
                      <a:lnTo>
                        <a:pt x="27" y="11"/>
                      </a:lnTo>
                      <a:lnTo>
                        <a:pt x="18" y="10"/>
                      </a:lnTo>
                      <a:lnTo>
                        <a:pt x="9" y="5"/>
                      </a:lnTo>
                      <a:lnTo>
                        <a:pt x="4" y="0"/>
                      </a:lnTo>
                      <a:lnTo>
                        <a:pt x="0" y="7"/>
                      </a:lnTo>
                      <a:lnTo>
                        <a:pt x="0" y="22"/>
                      </a:lnTo>
                      <a:lnTo>
                        <a:pt x="6" y="24"/>
                      </a:lnTo>
                      <a:lnTo>
                        <a:pt x="22" y="27"/>
                      </a:lnTo>
                      <a:lnTo>
                        <a:pt x="29" y="27"/>
                      </a:lnTo>
                      <a:lnTo>
                        <a:pt x="39" y="32"/>
                      </a:lnTo>
                      <a:lnTo>
                        <a:pt x="51" y="35"/>
                      </a:lnTo>
                      <a:lnTo>
                        <a:pt x="60" y="35"/>
                      </a:lnTo>
                      <a:lnTo>
                        <a:pt x="73" y="35"/>
                      </a:lnTo>
                      <a:lnTo>
                        <a:pt x="89" y="29"/>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17" name="Freeform 40"/>
                <p:cNvSpPr>
                  <a:spLocks/>
                </p:cNvSpPr>
                <p:nvPr/>
              </p:nvSpPr>
              <p:spPr bwMode="auto">
                <a:xfrm>
                  <a:off x="5367" y="1513"/>
                  <a:ext cx="31" cy="30"/>
                </a:xfrm>
                <a:custGeom>
                  <a:avLst/>
                  <a:gdLst>
                    <a:gd name="T0" fmla="*/ 29 w 31"/>
                    <a:gd name="T1" fmla="*/ 2 h 30"/>
                    <a:gd name="T2" fmla="*/ 27 w 31"/>
                    <a:gd name="T3" fmla="*/ 16 h 30"/>
                    <a:gd name="T4" fmla="*/ 30 w 31"/>
                    <a:gd name="T5" fmla="*/ 19 h 30"/>
                    <a:gd name="T6" fmla="*/ 23 w 31"/>
                    <a:gd name="T7" fmla="*/ 29 h 30"/>
                    <a:gd name="T8" fmla="*/ 13 w 31"/>
                    <a:gd name="T9" fmla="*/ 29 h 30"/>
                    <a:gd name="T10" fmla="*/ 4 w 31"/>
                    <a:gd name="T11" fmla="*/ 24 h 30"/>
                    <a:gd name="T12" fmla="*/ 0 w 31"/>
                    <a:gd name="T13" fmla="*/ 19 h 30"/>
                    <a:gd name="T14" fmla="*/ 2 w 31"/>
                    <a:gd name="T15" fmla="*/ 15 h 30"/>
                    <a:gd name="T16" fmla="*/ 2 w 31"/>
                    <a:gd name="T17" fmla="*/ 0 h 30"/>
                    <a:gd name="T18" fmla="*/ 29 w 31"/>
                    <a:gd name="T19" fmla="*/ 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
                    <a:gd name="T31" fmla="*/ 0 h 30"/>
                    <a:gd name="T32" fmla="*/ 31 w 31"/>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 h="30">
                      <a:moveTo>
                        <a:pt x="29" y="2"/>
                      </a:moveTo>
                      <a:lnTo>
                        <a:pt x="27" y="16"/>
                      </a:lnTo>
                      <a:lnTo>
                        <a:pt x="30" y="19"/>
                      </a:lnTo>
                      <a:lnTo>
                        <a:pt x="23" y="29"/>
                      </a:lnTo>
                      <a:lnTo>
                        <a:pt x="13" y="29"/>
                      </a:lnTo>
                      <a:lnTo>
                        <a:pt x="4" y="24"/>
                      </a:lnTo>
                      <a:lnTo>
                        <a:pt x="0" y="19"/>
                      </a:lnTo>
                      <a:lnTo>
                        <a:pt x="2" y="15"/>
                      </a:lnTo>
                      <a:lnTo>
                        <a:pt x="2" y="0"/>
                      </a:lnTo>
                      <a:lnTo>
                        <a:pt x="29" y="2"/>
                      </a:lnTo>
                    </a:path>
                  </a:pathLst>
                </a:custGeom>
                <a:solidFill>
                  <a:srgbClr val="A0A0A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sp>
            <p:nvSpPr>
              <p:cNvPr id="9259" name="Oval 41"/>
              <p:cNvSpPr>
                <a:spLocks noChangeArrowheads="1"/>
              </p:cNvSpPr>
              <p:nvPr/>
            </p:nvSpPr>
            <p:spPr bwMode="auto">
              <a:xfrm>
                <a:off x="5225" y="1515"/>
                <a:ext cx="103" cy="49"/>
              </a:xfrm>
              <a:prstGeom prst="ellipse">
                <a:avLst/>
              </a:prstGeom>
              <a:solidFill>
                <a:srgbClr val="606060"/>
              </a:solidFill>
              <a:ln w="12700">
                <a:solidFill>
                  <a:srgbClr val="000000"/>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sp>
            <p:nvSpPr>
              <p:cNvPr id="9260" name="Rectangle 42"/>
              <p:cNvSpPr>
                <a:spLocks noChangeArrowheads="1"/>
              </p:cNvSpPr>
              <p:nvPr/>
            </p:nvSpPr>
            <p:spPr bwMode="auto">
              <a:xfrm>
                <a:off x="5265" y="1408"/>
                <a:ext cx="23" cy="117"/>
              </a:xfrm>
              <a:prstGeom prst="rect">
                <a:avLst/>
              </a:prstGeom>
              <a:solidFill>
                <a:srgbClr val="606060"/>
              </a:solidFill>
              <a:ln w="12700">
                <a:solidFill>
                  <a:srgbClr val="000000"/>
                </a:solidFill>
                <a:miter lim="800000"/>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grpSp>
            <p:nvGrpSpPr>
              <p:cNvPr id="9261" name="Group 43"/>
              <p:cNvGrpSpPr>
                <a:grpSpLocks/>
              </p:cNvGrpSpPr>
              <p:nvPr/>
            </p:nvGrpSpPr>
            <p:grpSpPr bwMode="auto">
              <a:xfrm>
                <a:off x="5212" y="1359"/>
                <a:ext cx="146" cy="65"/>
                <a:chOff x="5212" y="1359"/>
                <a:chExt cx="146" cy="65"/>
              </a:xfrm>
            </p:grpSpPr>
            <p:sp>
              <p:nvSpPr>
                <p:cNvPr id="9311" name="Freeform 44"/>
                <p:cNvSpPr>
                  <a:spLocks/>
                </p:cNvSpPr>
                <p:nvPr/>
              </p:nvSpPr>
              <p:spPr bwMode="auto">
                <a:xfrm>
                  <a:off x="5212" y="1359"/>
                  <a:ext cx="146" cy="65"/>
                </a:xfrm>
                <a:custGeom>
                  <a:avLst/>
                  <a:gdLst>
                    <a:gd name="T0" fmla="*/ 145 w 146"/>
                    <a:gd name="T1" fmla="*/ 33 h 65"/>
                    <a:gd name="T2" fmla="*/ 143 w 146"/>
                    <a:gd name="T3" fmla="*/ 52 h 65"/>
                    <a:gd name="T4" fmla="*/ 95 w 146"/>
                    <a:gd name="T5" fmla="*/ 64 h 65"/>
                    <a:gd name="T6" fmla="*/ 43 w 146"/>
                    <a:gd name="T7" fmla="*/ 64 h 65"/>
                    <a:gd name="T8" fmla="*/ 2 w 146"/>
                    <a:gd name="T9" fmla="*/ 47 h 65"/>
                    <a:gd name="T10" fmla="*/ 0 w 146"/>
                    <a:gd name="T11" fmla="*/ 1 h 65"/>
                    <a:gd name="T12" fmla="*/ 81 w 146"/>
                    <a:gd name="T13" fmla="*/ 0 h 65"/>
                    <a:gd name="T14" fmla="*/ 145 w 146"/>
                    <a:gd name="T15" fmla="*/ 33 h 65"/>
                    <a:gd name="T16" fmla="*/ 0 60000 65536"/>
                    <a:gd name="T17" fmla="*/ 0 60000 65536"/>
                    <a:gd name="T18" fmla="*/ 0 60000 65536"/>
                    <a:gd name="T19" fmla="*/ 0 60000 65536"/>
                    <a:gd name="T20" fmla="*/ 0 60000 65536"/>
                    <a:gd name="T21" fmla="*/ 0 60000 65536"/>
                    <a:gd name="T22" fmla="*/ 0 60000 65536"/>
                    <a:gd name="T23" fmla="*/ 0 60000 65536"/>
                    <a:gd name="T24" fmla="*/ 0 w 146"/>
                    <a:gd name="T25" fmla="*/ 0 h 65"/>
                    <a:gd name="T26" fmla="*/ 146 w 14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6" h="65">
                      <a:moveTo>
                        <a:pt x="145" y="33"/>
                      </a:moveTo>
                      <a:lnTo>
                        <a:pt x="143" y="52"/>
                      </a:lnTo>
                      <a:lnTo>
                        <a:pt x="95" y="64"/>
                      </a:lnTo>
                      <a:lnTo>
                        <a:pt x="43" y="64"/>
                      </a:lnTo>
                      <a:lnTo>
                        <a:pt x="2" y="47"/>
                      </a:lnTo>
                      <a:lnTo>
                        <a:pt x="0" y="1"/>
                      </a:lnTo>
                      <a:lnTo>
                        <a:pt x="81" y="0"/>
                      </a:lnTo>
                      <a:lnTo>
                        <a:pt x="145" y="33"/>
                      </a:lnTo>
                    </a:path>
                  </a:pathLst>
                </a:custGeom>
                <a:solidFill>
                  <a:srgbClr val="404040"/>
                </a:solidFill>
                <a:ln w="12700" cap="rnd" cmpd="sng">
                  <a:solidFill>
                    <a:srgbClr val="000000"/>
                  </a:solidFill>
                  <a:prstDash val="solid"/>
                  <a:round/>
                  <a:headEnd/>
                  <a:tailEnd/>
                </a:ln>
              </p:spPr>
              <p:txBody>
                <a:bodyPr/>
                <a:lstStyle/>
                <a:p>
                  <a:endParaRPr lang="en-IN"/>
                </a:p>
              </p:txBody>
            </p:sp>
            <p:sp>
              <p:nvSpPr>
                <p:cNvPr id="9312" name="Freeform 45"/>
                <p:cNvSpPr>
                  <a:spLocks/>
                </p:cNvSpPr>
                <p:nvPr/>
              </p:nvSpPr>
              <p:spPr bwMode="auto">
                <a:xfrm>
                  <a:off x="5215" y="1384"/>
                  <a:ext cx="140" cy="37"/>
                </a:xfrm>
                <a:custGeom>
                  <a:avLst/>
                  <a:gdLst>
                    <a:gd name="T0" fmla="*/ 139 w 140"/>
                    <a:gd name="T1" fmla="*/ 11 h 37"/>
                    <a:gd name="T2" fmla="*/ 137 w 140"/>
                    <a:gd name="T3" fmla="*/ 26 h 37"/>
                    <a:gd name="T4" fmla="*/ 94 w 140"/>
                    <a:gd name="T5" fmla="*/ 36 h 37"/>
                    <a:gd name="T6" fmla="*/ 38 w 140"/>
                    <a:gd name="T7" fmla="*/ 36 h 37"/>
                    <a:gd name="T8" fmla="*/ 0 w 140"/>
                    <a:gd name="T9" fmla="*/ 18 h 37"/>
                    <a:gd name="T10" fmla="*/ 0 w 140"/>
                    <a:gd name="T11" fmla="*/ 0 h 37"/>
                    <a:gd name="T12" fmla="*/ 36 w 140"/>
                    <a:gd name="T13" fmla="*/ 18 h 37"/>
                    <a:gd name="T14" fmla="*/ 93 w 140"/>
                    <a:gd name="T15" fmla="*/ 20 h 37"/>
                    <a:gd name="T16" fmla="*/ 139 w 140"/>
                    <a:gd name="T17" fmla="*/ 11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0"/>
                    <a:gd name="T28" fmla="*/ 0 h 37"/>
                    <a:gd name="T29" fmla="*/ 140 w 140"/>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0" h="37">
                      <a:moveTo>
                        <a:pt x="139" y="11"/>
                      </a:moveTo>
                      <a:lnTo>
                        <a:pt x="137" y="26"/>
                      </a:lnTo>
                      <a:lnTo>
                        <a:pt x="94" y="36"/>
                      </a:lnTo>
                      <a:lnTo>
                        <a:pt x="38" y="36"/>
                      </a:lnTo>
                      <a:lnTo>
                        <a:pt x="0" y="18"/>
                      </a:lnTo>
                      <a:lnTo>
                        <a:pt x="0" y="0"/>
                      </a:lnTo>
                      <a:lnTo>
                        <a:pt x="36" y="18"/>
                      </a:lnTo>
                      <a:lnTo>
                        <a:pt x="93" y="20"/>
                      </a:lnTo>
                      <a:lnTo>
                        <a:pt x="139" y="11"/>
                      </a:lnTo>
                    </a:path>
                  </a:pathLst>
                </a:custGeom>
                <a:solidFill>
                  <a:srgbClr val="606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sp>
            <p:nvSpPr>
              <p:cNvPr id="9262" name="Freeform 46"/>
              <p:cNvSpPr>
                <a:spLocks/>
              </p:cNvSpPr>
              <p:nvPr/>
            </p:nvSpPr>
            <p:spPr bwMode="auto">
              <a:xfrm>
                <a:off x="5207" y="1291"/>
                <a:ext cx="199" cy="234"/>
              </a:xfrm>
              <a:custGeom>
                <a:avLst/>
                <a:gdLst>
                  <a:gd name="T0" fmla="*/ 197 w 199"/>
                  <a:gd name="T1" fmla="*/ 131 h 234"/>
                  <a:gd name="T2" fmla="*/ 196 w 199"/>
                  <a:gd name="T3" fmla="*/ 107 h 234"/>
                  <a:gd name="T4" fmla="*/ 196 w 199"/>
                  <a:gd name="T5" fmla="*/ 82 h 234"/>
                  <a:gd name="T6" fmla="*/ 195 w 199"/>
                  <a:gd name="T7" fmla="*/ 63 h 234"/>
                  <a:gd name="T8" fmla="*/ 187 w 199"/>
                  <a:gd name="T9" fmla="*/ 52 h 234"/>
                  <a:gd name="T10" fmla="*/ 177 w 199"/>
                  <a:gd name="T11" fmla="*/ 46 h 234"/>
                  <a:gd name="T12" fmla="*/ 153 w 199"/>
                  <a:gd name="T13" fmla="*/ 34 h 234"/>
                  <a:gd name="T14" fmla="*/ 119 w 199"/>
                  <a:gd name="T15" fmla="*/ 24 h 234"/>
                  <a:gd name="T16" fmla="*/ 112 w 199"/>
                  <a:gd name="T17" fmla="*/ 23 h 234"/>
                  <a:gd name="T18" fmla="*/ 107 w 199"/>
                  <a:gd name="T19" fmla="*/ 24 h 234"/>
                  <a:gd name="T20" fmla="*/ 106 w 199"/>
                  <a:gd name="T21" fmla="*/ 22 h 234"/>
                  <a:gd name="T22" fmla="*/ 104 w 199"/>
                  <a:gd name="T23" fmla="*/ 19 h 234"/>
                  <a:gd name="T24" fmla="*/ 102 w 199"/>
                  <a:gd name="T25" fmla="*/ 20 h 234"/>
                  <a:gd name="T26" fmla="*/ 99 w 199"/>
                  <a:gd name="T27" fmla="*/ 20 h 234"/>
                  <a:gd name="T28" fmla="*/ 98 w 199"/>
                  <a:gd name="T29" fmla="*/ 16 h 234"/>
                  <a:gd name="T30" fmla="*/ 95 w 199"/>
                  <a:gd name="T31" fmla="*/ 14 h 234"/>
                  <a:gd name="T32" fmla="*/ 92 w 199"/>
                  <a:gd name="T33" fmla="*/ 13 h 234"/>
                  <a:gd name="T34" fmla="*/ 89 w 199"/>
                  <a:gd name="T35" fmla="*/ 13 h 234"/>
                  <a:gd name="T36" fmla="*/ 90 w 199"/>
                  <a:gd name="T37" fmla="*/ 9 h 234"/>
                  <a:gd name="T38" fmla="*/ 85 w 199"/>
                  <a:gd name="T39" fmla="*/ 0 h 234"/>
                  <a:gd name="T40" fmla="*/ 4 w 199"/>
                  <a:gd name="T41" fmla="*/ 2 h 234"/>
                  <a:gd name="T42" fmla="*/ 5 w 199"/>
                  <a:gd name="T43" fmla="*/ 13 h 234"/>
                  <a:gd name="T44" fmla="*/ 4 w 199"/>
                  <a:gd name="T45" fmla="*/ 22 h 234"/>
                  <a:gd name="T46" fmla="*/ 2 w 199"/>
                  <a:gd name="T47" fmla="*/ 29 h 234"/>
                  <a:gd name="T48" fmla="*/ 1 w 199"/>
                  <a:gd name="T49" fmla="*/ 37 h 234"/>
                  <a:gd name="T50" fmla="*/ 0 w 199"/>
                  <a:gd name="T51" fmla="*/ 50 h 234"/>
                  <a:gd name="T52" fmla="*/ 1 w 199"/>
                  <a:gd name="T53" fmla="*/ 58 h 234"/>
                  <a:gd name="T54" fmla="*/ 4 w 199"/>
                  <a:gd name="T55" fmla="*/ 66 h 234"/>
                  <a:gd name="T56" fmla="*/ 6 w 199"/>
                  <a:gd name="T57" fmla="*/ 72 h 234"/>
                  <a:gd name="T58" fmla="*/ 10 w 199"/>
                  <a:gd name="T59" fmla="*/ 74 h 234"/>
                  <a:gd name="T60" fmla="*/ 16 w 199"/>
                  <a:gd name="T61" fmla="*/ 77 h 234"/>
                  <a:gd name="T62" fmla="*/ 24 w 199"/>
                  <a:gd name="T63" fmla="*/ 80 h 234"/>
                  <a:gd name="T64" fmla="*/ 27 w 199"/>
                  <a:gd name="T65" fmla="*/ 85 h 234"/>
                  <a:gd name="T66" fmla="*/ 31 w 199"/>
                  <a:gd name="T67" fmla="*/ 89 h 234"/>
                  <a:gd name="T68" fmla="*/ 38 w 199"/>
                  <a:gd name="T69" fmla="*/ 93 h 234"/>
                  <a:gd name="T70" fmla="*/ 46 w 199"/>
                  <a:gd name="T71" fmla="*/ 97 h 234"/>
                  <a:gd name="T72" fmla="*/ 58 w 199"/>
                  <a:gd name="T73" fmla="*/ 98 h 234"/>
                  <a:gd name="T74" fmla="*/ 68 w 199"/>
                  <a:gd name="T75" fmla="*/ 98 h 234"/>
                  <a:gd name="T76" fmla="*/ 76 w 199"/>
                  <a:gd name="T77" fmla="*/ 97 h 234"/>
                  <a:gd name="T78" fmla="*/ 83 w 199"/>
                  <a:gd name="T79" fmla="*/ 97 h 234"/>
                  <a:gd name="T80" fmla="*/ 89 w 199"/>
                  <a:gd name="T81" fmla="*/ 100 h 234"/>
                  <a:gd name="T82" fmla="*/ 99 w 199"/>
                  <a:gd name="T83" fmla="*/ 99 h 234"/>
                  <a:gd name="T84" fmla="*/ 141 w 199"/>
                  <a:gd name="T85" fmla="*/ 107 h 234"/>
                  <a:gd name="T86" fmla="*/ 153 w 199"/>
                  <a:gd name="T87" fmla="*/ 108 h 234"/>
                  <a:gd name="T88" fmla="*/ 148 w 199"/>
                  <a:gd name="T89" fmla="*/ 139 h 234"/>
                  <a:gd name="T90" fmla="*/ 148 w 199"/>
                  <a:gd name="T91" fmla="*/ 156 h 234"/>
                  <a:gd name="T92" fmla="*/ 150 w 199"/>
                  <a:gd name="T93" fmla="*/ 177 h 234"/>
                  <a:gd name="T94" fmla="*/ 153 w 199"/>
                  <a:gd name="T95" fmla="*/ 201 h 234"/>
                  <a:gd name="T96" fmla="*/ 153 w 199"/>
                  <a:gd name="T97" fmla="*/ 226 h 234"/>
                  <a:gd name="T98" fmla="*/ 163 w 199"/>
                  <a:gd name="T99" fmla="*/ 229 h 234"/>
                  <a:gd name="T100" fmla="*/ 175 w 199"/>
                  <a:gd name="T101" fmla="*/ 231 h 234"/>
                  <a:gd name="T102" fmla="*/ 186 w 199"/>
                  <a:gd name="T103" fmla="*/ 233 h 234"/>
                  <a:gd name="T104" fmla="*/ 198 w 199"/>
                  <a:gd name="T105" fmla="*/ 231 h 234"/>
                  <a:gd name="T106" fmla="*/ 197 w 199"/>
                  <a:gd name="T107" fmla="*/ 208 h 234"/>
                  <a:gd name="T108" fmla="*/ 197 w 199"/>
                  <a:gd name="T109" fmla="*/ 170 h 234"/>
                  <a:gd name="T110" fmla="*/ 197 w 199"/>
                  <a:gd name="T111" fmla="*/ 136 h 234"/>
                  <a:gd name="T112" fmla="*/ 197 w 199"/>
                  <a:gd name="T113" fmla="*/ 131 h 23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99"/>
                  <a:gd name="T172" fmla="*/ 0 h 234"/>
                  <a:gd name="T173" fmla="*/ 199 w 199"/>
                  <a:gd name="T174" fmla="*/ 234 h 23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99" h="234">
                    <a:moveTo>
                      <a:pt x="197" y="131"/>
                    </a:moveTo>
                    <a:lnTo>
                      <a:pt x="196" y="107"/>
                    </a:lnTo>
                    <a:lnTo>
                      <a:pt x="196" y="82"/>
                    </a:lnTo>
                    <a:lnTo>
                      <a:pt x="195" y="63"/>
                    </a:lnTo>
                    <a:lnTo>
                      <a:pt x="187" y="52"/>
                    </a:lnTo>
                    <a:lnTo>
                      <a:pt x="177" y="46"/>
                    </a:lnTo>
                    <a:lnTo>
                      <a:pt x="153" y="34"/>
                    </a:lnTo>
                    <a:lnTo>
                      <a:pt x="119" y="24"/>
                    </a:lnTo>
                    <a:lnTo>
                      <a:pt x="112" y="23"/>
                    </a:lnTo>
                    <a:lnTo>
                      <a:pt x="107" y="24"/>
                    </a:lnTo>
                    <a:lnTo>
                      <a:pt x="106" y="22"/>
                    </a:lnTo>
                    <a:lnTo>
                      <a:pt x="104" y="19"/>
                    </a:lnTo>
                    <a:lnTo>
                      <a:pt x="102" y="20"/>
                    </a:lnTo>
                    <a:lnTo>
                      <a:pt x="99" y="20"/>
                    </a:lnTo>
                    <a:lnTo>
                      <a:pt x="98" y="16"/>
                    </a:lnTo>
                    <a:lnTo>
                      <a:pt x="95" y="14"/>
                    </a:lnTo>
                    <a:lnTo>
                      <a:pt x="92" y="13"/>
                    </a:lnTo>
                    <a:lnTo>
                      <a:pt x="89" y="13"/>
                    </a:lnTo>
                    <a:lnTo>
                      <a:pt x="90" y="9"/>
                    </a:lnTo>
                    <a:lnTo>
                      <a:pt x="85" y="0"/>
                    </a:lnTo>
                    <a:lnTo>
                      <a:pt x="4" y="2"/>
                    </a:lnTo>
                    <a:lnTo>
                      <a:pt x="5" y="13"/>
                    </a:lnTo>
                    <a:lnTo>
                      <a:pt x="4" y="22"/>
                    </a:lnTo>
                    <a:lnTo>
                      <a:pt x="2" y="29"/>
                    </a:lnTo>
                    <a:lnTo>
                      <a:pt x="1" y="37"/>
                    </a:lnTo>
                    <a:lnTo>
                      <a:pt x="0" y="50"/>
                    </a:lnTo>
                    <a:lnTo>
                      <a:pt x="1" y="58"/>
                    </a:lnTo>
                    <a:lnTo>
                      <a:pt x="4" y="66"/>
                    </a:lnTo>
                    <a:lnTo>
                      <a:pt x="6" y="72"/>
                    </a:lnTo>
                    <a:lnTo>
                      <a:pt x="10" y="74"/>
                    </a:lnTo>
                    <a:lnTo>
                      <a:pt x="16" y="77"/>
                    </a:lnTo>
                    <a:lnTo>
                      <a:pt x="24" y="80"/>
                    </a:lnTo>
                    <a:lnTo>
                      <a:pt x="27" y="85"/>
                    </a:lnTo>
                    <a:lnTo>
                      <a:pt x="31" y="89"/>
                    </a:lnTo>
                    <a:lnTo>
                      <a:pt x="38" y="93"/>
                    </a:lnTo>
                    <a:lnTo>
                      <a:pt x="46" y="97"/>
                    </a:lnTo>
                    <a:lnTo>
                      <a:pt x="58" y="98"/>
                    </a:lnTo>
                    <a:lnTo>
                      <a:pt x="68" y="98"/>
                    </a:lnTo>
                    <a:lnTo>
                      <a:pt x="76" y="97"/>
                    </a:lnTo>
                    <a:lnTo>
                      <a:pt x="83" y="97"/>
                    </a:lnTo>
                    <a:lnTo>
                      <a:pt x="89" y="100"/>
                    </a:lnTo>
                    <a:lnTo>
                      <a:pt x="99" y="99"/>
                    </a:lnTo>
                    <a:lnTo>
                      <a:pt x="141" y="107"/>
                    </a:lnTo>
                    <a:lnTo>
                      <a:pt x="153" y="108"/>
                    </a:lnTo>
                    <a:lnTo>
                      <a:pt x="148" y="139"/>
                    </a:lnTo>
                    <a:lnTo>
                      <a:pt x="148" y="156"/>
                    </a:lnTo>
                    <a:lnTo>
                      <a:pt x="150" y="177"/>
                    </a:lnTo>
                    <a:lnTo>
                      <a:pt x="153" y="201"/>
                    </a:lnTo>
                    <a:lnTo>
                      <a:pt x="153" y="226"/>
                    </a:lnTo>
                    <a:lnTo>
                      <a:pt x="163" y="229"/>
                    </a:lnTo>
                    <a:lnTo>
                      <a:pt x="175" y="231"/>
                    </a:lnTo>
                    <a:lnTo>
                      <a:pt x="186" y="233"/>
                    </a:lnTo>
                    <a:lnTo>
                      <a:pt x="198" y="231"/>
                    </a:lnTo>
                    <a:lnTo>
                      <a:pt x="197" y="208"/>
                    </a:lnTo>
                    <a:lnTo>
                      <a:pt x="197" y="170"/>
                    </a:lnTo>
                    <a:lnTo>
                      <a:pt x="197" y="136"/>
                    </a:lnTo>
                    <a:lnTo>
                      <a:pt x="197" y="131"/>
                    </a:lnTo>
                  </a:path>
                </a:pathLst>
              </a:custGeom>
              <a:solidFill>
                <a:srgbClr val="606060"/>
              </a:solidFill>
              <a:ln w="12700" cap="rnd" cmpd="sng">
                <a:solidFill>
                  <a:srgbClr val="000000"/>
                </a:solidFill>
                <a:prstDash val="solid"/>
                <a:round/>
                <a:headEnd/>
                <a:tailEnd/>
              </a:ln>
            </p:spPr>
            <p:txBody>
              <a:bodyPr/>
              <a:lstStyle/>
              <a:p>
                <a:endParaRPr lang="en-IN"/>
              </a:p>
            </p:txBody>
          </p:sp>
          <p:sp>
            <p:nvSpPr>
              <p:cNvPr id="9263" name="Freeform 47"/>
              <p:cNvSpPr>
                <a:spLocks/>
              </p:cNvSpPr>
              <p:nvPr/>
            </p:nvSpPr>
            <p:spPr bwMode="auto">
              <a:xfrm>
                <a:off x="5210" y="1301"/>
                <a:ext cx="195" cy="221"/>
              </a:xfrm>
              <a:custGeom>
                <a:avLst/>
                <a:gdLst>
                  <a:gd name="T0" fmla="*/ 6 w 195"/>
                  <a:gd name="T1" fmla="*/ 11 h 221"/>
                  <a:gd name="T2" fmla="*/ 1 w 195"/>
                  <a:gd name="T3" fmla="*/ 23 h 221"/>
                  <a:gd name="T4" fmla="*/ 4 w 195"/>
                  <a:gd name="T5" fmla="*/ 61 h 221"/>
                  <a:gd name="T6" fmla="*/ 15 w 195"/>
                  <a:gd name="T7" fmla="*/ 61 h 221"/>
                  <a:gd name="T8" fmla="*/ 27 w 195"/>
                  <a:gd name="T9" fmla="*/ 74 h 221"/>
                  <a:gd name="T10" fmla="*/ 55 w 195"/>
                  <a:gd name="T11" fmla="*/ 84 h 221"/>
                  <a:gd name="T12" fmla="*/ 81 w 195"/>
                  <a:gd name="T13" fmla="*/ 84 h 221"/>
                  <a:gd name="T14" fmla="*/ 71 w 195"/>
                  <a:gd name="T15" fmla="*/ 70 h 221"/>
                  <a:gd name="T16" fmla="*/ 84 w 195"/>
                  <a:gd name="T17" fmla="*/ 83 h 221"/>
                  <a:gd name="T18" fmla="*/ 97 w 195"/>
                  <a:gd name="T19" fmla="*/ 86 h 221"/>
                  <a:gd name="T20" fmla="*/ 88 w 195"/>
                  <a:gd name="T21" fmla="*/ 77 h 221"/>
                  <a:gd name="T22" fmla="*/ 102 w 195"/>
                  <a:gd name="T23" fmla="*/ 87 h 221"/>
                  <a:gd name="T24" fmla="*/ 146 w 195"/>
                  <a:gd name="T25" fmla="*/ 95 h 221"/>
                  <a:gd name="T26" fmla="*/ 148 w 195"/>
                  <a:gd name="T27" fmla="*/ 138 h 221"/>
                  <a:gd name="T28" fmla="*/ 152 w 195"/>
                  <a:gd name="T29" fmla="*/ 213 h 221"/>
                  <a:gd name="T30" fmla="*/ 179 w 195"/>
                  <a:gd name="T31" fmla="*/ 220 h 221"/>
                  <a:gd name="T32" fmla="*/ 193 w 195"/>
                  <a:gd name="T33" fmla="*/ 165 h 221"/>
                  <a:gd name="T34" fmla="*/ 191 w 195"/>
                  <a:gd name="T35" fmla="*/ 96 h 221"/>
                  <a:gd name="T36" fmla="*/ 191 w 195"/>
                  <a:gd name="T37" fmla="*/ 63 h 221"/>
                  <a:gd name="T38" fmla="*/ 178 w 195"/>
                  <a:gd name="T39" fmla="*/ 43 h 221"/>
                  <a:gd name="T40" fmla="*/ 139 w 195"/>
                  <a:gd name="T41" fmla="*/ 25 h 221"/>
                  <a:gd name="T42" fmla="*/ 106 w 195"/>
                  <a:gd name="T43" fmla="*/ 16 h 221"/>
                  <a:gd name="T44" fmla="*/ 86 w 195"/>
                  <a:gd name="T45" fmla="*/ 34 h 221"/>
                  <a:gd name="T46" fmla="*/ 100 w 195"/>
                  <a:gd name="T47" fmla="*/ 22 h 221"/>
                  <a:gd name="T48" fmla="*/ 102 w 195"/>
                  <a:gd name="T49" fmla="*/ 13 h 221"/>
                  <a:gd name="T50" fmla="*/ 95 w 195"/>
                  <a:gd name="T51" fmla="*/ 16 h 221"/>
                  <a:gd name="T52" fmla="*/ 86 w 195"/>
                  <a:gd name="T53" fmla="*/ 23 h 221"/>
                  <a:gd name="T54" fmla="*/ 95 w 195"/>
                  <a:gd name="T55" fmla="*/ 11 h 221"/>
                  <a:gd name="T56" fmla="*/ 88 w 195"/>
                  <a:gd name="T57" fmla="*/ 6 h 221"/>
                  <a:gd name="T58" fmla="*/ 75 w 195"/>
                  <a:gd name="T59" fmla="*/ 19 h 221"/>
                  <a:gd name="T60" fmla="*/ 84 w 195"/>
                  <a:gd name="T61" fmla="*/ 3 h 221"/>
                  <a:gd name="T62" fmla="*/ 78 w 195"/>
                  <a:gd name="T63" fmla="*/ 1 h 221"/>
                  <a:gd name="T64" fmla="*/ 68 w 195"/>
                  <a:gd name="T65" fmla="*/ 10 h 221"/>
                  <a:gd name="T66" fmla="*/ 50 w 195"/>
                  <a:gd name="T67" fmla="*/ 7 h 221"/>
                  <a:gd name="T68" fmla="*/ 45 w 195"/>
                  <a:gd name="T69" fmla="*/ 11 h 221"/>
                  <a:gd name="T70" fmla="*/ 27 w 195"/>
                  <a:gd name="T71" fmla="*/ 15 h 221"/>
                  <a:gd name="T72" fmla="*/ 24 w 195"/>
                  <a:gd name="T73" fmla="*/ 7 h 221"/>
                  <a:gd name="T74" fmla="*/ 17 w 195"/>
                  <a:gd name="T75" fmla="*/ 15 h 221"/>
                  <a:gd name="T76" fmla="*/ 9 w 195"/>
                  <a:gd name="T77" fmla="*/ 7 h 22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95"/>
                  <a:gd name="T118" fmla="*/ 0 h 221"/>
                  <a:gd name="T119" fmla="*/ 195 w 195"/>
                  <a:gd name="T120" fmla="*/ 221 h 22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95" h="221">
                    <a:moveTo>
                      <a:pt x="6" y="3"/>
                    </a:moveTo>
                    <a:lnTo>
                      <a:pt x="6" y="11"/>
                    </a:lnTo>
                    <a:lnTo>
                      <a:pt x="3" y="7"/>
                    </a:lnTo>
                    <a:lnTo>
                      <a:pt x="1" y="23"/>
                    </a:lnTo>
                    <a:lnTo>
                      <a:pt x="0" y="42"/>
                    </a:lnTo>
                    <a:lnTo>
                      <a:pt x="4" y="61"/>
                    </a:lnTo>
                    <a:lnTo>
                      <a:pt x="17" y="65"/>
                    </a:lnTo>
                    <a:lnTo>
                      <a:pt x="15" y="61"/>
                    </a:lnTo>
                    <a:lnTo>
                      <a:pt x="22" y="67"/>
                    </a:lnTo>
                    <a:lnTo>
                      <a:pt x="27" y="74"/>
                    </a:lnTo>
                    <a:lnTo>
                      <a:pt x="40" y="81"/>
                    </a:lnTo>
                    <a:lnTo>
                      <a:pt x="55" y="84"/>
                    </a:lnTo>
                    <a:lnTo>
                      <a:pt x="73" y="84"/>
                    </a:lnTo>
                    <a:lnTo>
                      <a:pt x="81" y="84"/>
                    </a:lnTo>
                    <a:lnTo>
                      <a:pt x="75" y="80"/>
                    </a:lnTo>
                    <a:lnTo>
                      <a:pt x="71" y="70"/>
                    </a:lnTo>
                    <a:lnTo>
                      <a:pt x="77" y="78"/>
                    </a:lnTo>
                    <a:lnTo>
                      <a:pt x="84" y="83"/>
                    </a:lnTo>
                    <a:lnTo>
                      <a:pt x="90" y="87"/>
                    </a:lnTo>
                    <a:lnTo>
                      <a:pt x="97" y="86"/>
                    </a:lnTo>
                    <a:lnTo>
                      <a:pt x="93" y="82"/>
                    </a:lnTo>
                    <a:lnTo>
                      <a:pt x="88" y="77"/>
                    </a:lnTo>
                    <a:lnTo>
                      <a:pt x="95" y="81"/>
                    </a:lnTo>
                    <a:lnTo>
                      <a:pt x="102" y="87"/>
                    </a:lnTo>
                    <a:lnTo>
                      <a:pt x="124" y="90"/>
                    </a:lnTo>
                    <a:lnTo>
                      <a:pt x="146" y="95"/>
                    </a:lnTo>
                    <a:lnTo>
                      <a:pt x="153" y="97"/>
                    </a:lnTo>
                    <a:lnTo>
                      <a:pt x="148" y="138"/>
                    </a:lnTo>
                    <a:lnTo>
                      <a:pt x="152" y="176"/>
                    </a:lnTo>
                    <a:lnTo>
                      <a:pt x="152" y="213"/>
                    </a:lnTo>
                    <a:lnTo>
                      <a:pt x="166" y="217"/>
                    </a:lnTo>
                    <a:lnTo>
                      <a:pt x="179" y="220"/>
                    </a:lnTo>
                    <a:lnTo>
                      <a:pt x="194" y="219"/>
                    </a:lnTo>
                    <a:lnTo>
                      <a:pt x="193" y="165"/>
                    </a:lnTo>
                    <a:lnTo>
                      <a:pt x="193" y="121"/>
                    </a:lnTo>
                    <a:lnTo>
                      <a:pt x="191" y="96"/>
                    </a:lnTo>
                    <a:lnTo>
                      <a:pt x="193" y="81"/>
                    </a:lnTo>
                    <a:lnTo>
                      <a:pt x="191" y="63"/>
                    </a:lnTo>
                    <a:lnTo>
                      <a:pt x="189" y="52"/>
                    </a:lnTo>
                    <a:lnTo>
                      <a:pt x="178" y="43"/>
                    </a:lnTo>
                    <a:lnTo>
                      <a:pt x="165" y="35"/>
                    </a:lnTo>
                    <a:lnTo>
                      <a:pt x="139" y="25"/>
                    </a:lnTo>
                    <a:lnTo>
                      <a:pt x="118" y="17"/>
                    </a:lnTo>
                    <a:lnTo>
                      <a:pt x="106" y="16"/>
                    </a:lnTo>
                    <a:lnTo>
                      <a:pt x="101" y="25"/>
                    </a:lnTo>
                    <a:lnTo>
                      <a:pt x="86" y="34"/>
                    </a:lnTo>
                    <a:lnTo>
                      <a:pt x="95" y="26"/>
                    </a:lnTo>
                    <a:lnTo>
                      <a:pt x="100" y="22"/>
                    </a:lnTo>
                    <a:lnTo>
                      <a:pt x="102" y="15"/>
                    </a:lnTo>
                    <a:lnTo>
                      <a:pt x="102" y="13"/>
                    </a:lnTo>
                    <a:lnTo>
                      <a:pt x="98" y="13"/>
                    </a:lnTo>
                    <a:lnTo>
                      <a:pt x="95" y="16"/>
                    </a:lnTo>
                    <a:lnTo>
                      <a:pt x="93" y="19"/>
                    </a:lnTo>
                    <a:lnTo>
                      <a:pt x="86" y="23"/>
                    </a:lnTo>
                    <a:lnTo>
                      <a:pt x="92" y="16"/>
                    </a:lnTo>
                    <a:lnTo>
                      <a:pt x="95" y="11"/>
                    </a:lnTo>
                    <a:lnTo>
                      <a:pt x="93" y="7"/>
                    </a:lnTo>
                    <a:lnTo>
                      <a:pt x="88" y="6"/>
                    </a:lnTo>
                    <a:lnTo>
                      <a:pt x="81" y="13"/>
                    </a:lnTo>
                    <a:lnTo>
                      <a:pt x="75" y="19"/>
                    </a:lnTo>
                    <a:lnTo>
                      <a:pt x="82" y="7"/>
                    </a:lnTo>
                    <a:lnTo>
                      <a:pt x="84" y="3"/>
                    </a:lnTo>
                    <a:lnTo>
                      <a:pt x="84" y="0"/>
                    </a:lnTo>
                    <a:lnTo>
                      <a:pt x="78" y="1"/>
                    </a:lnTo>
                    <a:lnTo>
                      <a:pt x="73" y="7"/>
                    </a:lnTo>
                    <a:lnTo>
                      <a:pt x="68" y="10"/>
                    </a:lnTo>
                    <a:lnTo>
                      <a:pt x="50" y="12"/>
                    </a:lnTo>
                    <a:lnTo>
                      <a:pt x="50" y="7"/>
                    </a:lnTo>
                    <a:lnTo>
                      <a:pt x="45" y="4"/>
                    </a:lnTo>
                    <a:lnTo>
                      <a:pt x="45" y="11"/>
                    </a:lnTo>
                    <a:lnTo>
                      <a:pt x="39" y="13"/>
                    </a:lnTo>
                    <a:lnTo>
                      <a:pt x="27" y="15"/>
                    </a:lnTo>
                    <a:lnTo>
                      <a:pt x="28" y="7"/>
                    </a:lnTo>
                    <a:lnTo>
                      <a:pt x="24" y="7"/>
                    </a:lnTo>
                    <a:lnTo>
                      <a:pt x="23" y="15"/>
                    </a:lnTo>
                    <a:lnTo>
                      <a:pt x="17" y="15"/>
                    </a:lnTo>
                    <a:lnTo>
                      <a:pt x="9" y="13"/>
                    </a:lnTo>
                    <a:lnTo>
                      <a:pt x="9" y="7"/>
                    </a:lnTo>
                    <a:lnTo>
                      <a:pt x="6" y="3"/>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64" name="Freeform 48"/>
              <p:cNvSpPr>
                <a:spLocks/>
              </p:cNvSpPr>
              <p:nvPr/>
            </p:nvSpPr>
            <p:spPr bwMode="auto">
              <a:xfrm>
                <a:off x="5236" y="1338"/>
                <a:ext cx="28" cy="17"/>
              </a:xfrm>
              <a:custGeom>
                <a:avLst/>
                <a:gdLst>
                  <a:gd name="T0" fmla="*/ 0 w 28"/>
                  <a:gd name="T1" fmla="*/ 0 h 17"/>
                  <a:gd name="T2" fmla="*/ 12 w 28"/>
                  <a:gd name="T3" fmla="*/ 16 h 17"/>
                  <a:gd name="T4" fmla="*/ 27 w 28"/>
                  <a:gd name="T5" fmla="*/ 11 h 17"/>
                  <a:gd name="T6" fmla="*/ 0 w 28"/>
                  <a:gd name="T7" fmla="*/ 0 h 17"/>
                  <a:gd name="T8" fmla="*/ 0 60000 65536"/>
                  <a:gd name="T9" fmla="*/ 0 60000 65536"/>
                  <a:gd name="T10" fmla="*/ 0 60000 65536"/>
                  <a:gd name="T11" fmla="*/ 0 60000 65536"/>
                  <a:gd name="T12" fmla="*/ 0 w 28"/>
                  <a:gd name="T13" fmla="*/ 0 h 17"/>
                  <a:gd name="T14" fmla="*/ 28 w 28"/>
                  <a:gd name="T15" fmla="*/ 17 h 17"/>
                </a:gdLst>
                <a:ahLst/>
                <a:cxnLst>
                  <a:cxn ang="T8">
                    <a:pos x="T0" y="T1"/>
                  </a:cxn>
                  <a:cxn ang="T9">
                    <a:pos x="T2" y="T3"/>
                  </a:cxn>
                  <a:cxn ang="T10">
                    <a:pos x="T4" y="T5"/>
                  </a:cxn>
                  <a:cxn ang="T11">
                    <a:pos x="T6" y="T7"/>
                  </a:cxn>
                </a:cxnLst>
                <a:rect l="T12" t="T13" r="T14" b="T15"/>
                <a:pathLst>
                  <a:path w="28" h="17">
                    <a:moveTo>
                      <a:pt x="0" y="0"/>
                    </a:moveTo>
                    <a:lnTo>
                      <a:pt x="12" y="16"/>
                    </a:lnTo>
                    <a:lnTo>
                      <a:pt x="27" y="11"/>
                    </a:lnTo>
                    <a:lnTo>
                      <a:pt x="0" y="0"/>
                    </a:lnTo>
                  </a:path>
                </a:pathLst>
              </a:custGeom>
              <a:solidFill>
                <a:srgbClr val="606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65" name="Freeform 49"/>
              <p:cNvSpPr>
                <a:spLocks/>
              </p:cNvSpPr>
              <p:nvPr/>
            </p:nvSpPr>
            <p:spPr bwMode="auto">
              <a:xfrm>
                <a:off x="5211" y="1328"/>
                <a:ext cx="17" cy="17"/>
              </a:xfrm>
              <a:custGeom>
                <a:avLst/>
                <a:gdLst>
                  <a:gd name="T0" fmla="*/ 0 w 17"/>
                  <a:gd name="T1" fmla="*/ 0 h 17"/>
                  <a:gd name="T2" fmla="*/ 4 w 17"/>
                  <a:gd name="T3" fmla="*/ 10 h 17"/>
                  <a:gd name="T4" fmla="*/ 16 w 17"/>
                  <a:gd name="T5" fmla="*/ 14 h 17"/>
                  <a:gd name="T6" fmla="*/ 4 w 17"/>
                  <a:gd name="T7" fmla="*/ 16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4" y="10"/>
                    </a:lnTo>
                    <a:lnTo>
                      <a:pt x="16" y="14"/>
                    </a:lnTo>
                    <a:lnTo>
                      <a:pt x="4" y="16"/>
                    </a:lnTo>
                    <a:lnTo>
                      <a:pt x="0" y="0"/>
                    </a:lnTo>
                  </a:path>
                </a:pathLst>
              </a:custGeom>
              <a:solidFill>
                <a:srgbClr val="606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66" name="Freeform 50"/>
              <p:cNvSpPr>
                <a:spLocks/>
              </p:cNvSpPr>
              <p:nvPr/>
            </p:nvSpPr>
            <p:spPr bwMode="auto">
              <a:xfrm>
                <a:off x="5277" y="1323"/>
                <a:ext cx="26" cy="18"/>
              </a:xfrm>
              <a:custGeom>
                <a:avLst/>
                <a:gdLst>
                  <a:gd name="T0" fmla="*/ 0 w 26"/>
                  <a:gd name="T1" fmla="*/ 0 h 18"/>
                  <a:gd name="T2" fmla="*/ 11 w 26"/>
                  <a:gd name="T3" fmla="*/ 1 h 18"/>
                  <a:gd name="T4" fmla="*/ 13 w 26"/>
                  <a:gd name="T5" fmla="*/ 3 h 18"/>
                  <a:gd name="T6" fmla="*/ 13 w 26"/>
                  <a:gd name="T7" fmla="*/ 8 h 18"/>
                  <a:gd name="T8" fmla="*/ 14 w 26"/>
                  <a:gd name="T9" fmla="*/ 14 h 18"/>
                  <a:gd name="T10" fmla="*/ 25 w 26"/>
                  <a:gd name="T11" fmla="*/ 17 h 18"/>
                  <a:gd name="T12" fmla="*/ 12 w 26"/>
                  <a:gd name="T13" fmla="*/ 16 h 18"/>
                  <a:gd name="T14" fmla="*/ 10 w 26"/>
                  <a:gd name="T15" fmla="*/ 5 h 18"/>
                  <a:gd name="T16" fmla="*/ 0 w 26"/>
                  <a:gd name="T17" fmla="*/ 0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
                  <a:gd name="T28" fmla="*/ 0 h 18"/>
                  <a:gd name="T29" fmla="*/ 26 w 26"/>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 h="18">
                    <a:moveTo>
                      <a:pt x="0" y="0"/>
                    </a:moveTo>
                    <a:lnTo>
                      <a:pt x="11" y="1"/>
                    </a:lnTo>
                    <a:lnTo>
                      <a:pt x="13" y="3"/>
                    </a:lnTo>
                    <a:lnTo>
                      <a:pt x="13" y="8"/>
                    </a:lnTo>
                    <a:lnTo>
                      <a:pt x="14" y="14"/>
                    </a:lnTo>
                    <a:lnTo>
                      <a:pt x="25" y="17"/>
                    </a:lnTo>
                    <a:lnTo>
                      <a:pt x="12" y="16"/>
                    </a:lnTo>
                    <a:lnTo>
                      <a:pt x="10" y="5"/>
                    </a:lnTo>
                    <a:lnTo>
                      <a:pt x="0" y="0"/>
                    </a:lnTo>
                  </a:path>
                </a:pathLst>
              </a:custGeom>
              <a:solidFill>
                <a:srgbClr val="606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67" name="Freeform 51"/>
              <p:cNvSpPr>
                <a:spLocks/>
              </p:cNvSpPr>
              <p:nvPr/>
            </p:nvSpPr>
            <p:spPr bwMode="auto">
              <a:xfrm>
                <a:off x="5303" y="1361"/>
                <a:ext cx="80" cy="27"/>
              </a:xfrm>
              <a:custGeom>
                <a:avLst/>
                <a:gdLst>
                  <a:gd name="T0" fmla="*/ 0 w 80"/>
                  <a:gd name="T1" fmla="*/ 0 h 27"/>
                  <a:gd name="T2" fmla="*/ 19 w 80"/>
                  <a:gd name="T3" fmla="*/ 1 h 27"/>
                  <a:gd name="T4" fmla="*/ 40 w 80"/>
                  <a:gd name="T5" fmla="*/ 8 h 27"/>
                  <a:gd name="T6" fmla="*/ 56 w 80"/>
                  <a:gd name="T7" fmla="*/ 8 h 27"/>
                  <a:gd name="T8" fmla="*/ 68 w 80"/>
                  <a:gd name="T9" fmla="*/ 12 h 27"/>
                  <a:gd name="T10" fmla="*/ 73 w 80"/>
                  <a:gd name="T11" fmla="*/ 21 h 27"/>
                  <a:gd name="T12" fmla="*/ 79 w 80"/>
                  <a:gd name="T13" fmla="*/ 26 h 27"/>
                  <a:gd name="T14" fmla="*/ 73 w 80"/>
                  <a:gd name="T15" fmla="*/ 24 h 27"/>
                  <a:gd name="T16" fmla="*/ 68 w 80"/>
                  <a:gd name="T17" fmla="*/ 14 h 27"/>
                  <a:gd name="T18" fmla="*/ 50 w 80"/>
                  <a:gd name="T19" fmla="*/ 10 h 27"/>
                  <a:gd name="T20" fmla="*/ 40 w 80"/>
                  <a:gd name="T21" fmla="*/ 10 h 27"/>
                  <a:gd name="T22" fmla="*/ 32 w 80"/>
                  <a:gd name="T23" fmla="*/ 8 h 27"/>
                  <a:gd name="T24" fmla="*/ 19 w 80"/>
                  <a:gd name="T25" fmla="*/ 3 h 27"/>
                  <a:gd name="T26" fmla="*/ 0 w 80"/>
                  <a:gd name="T27" fmla="*/ 0 h 2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0"/>
                  <a:gd name="T43" fmla="*/ 0 h 27"/>
                  <a:gd name="T44" fmla="*/ 80 w 80"/>
                  <a:gd name="T45" fmla="*/ 27 h 2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0" h="27">
                    <a:moveTo>
                      <a:pt x="0" y="0"/>
                    </a:moveTo>
                    <a:lnTo>
                      <a:pt x="19" y="1"/>
                    </a:lnTo>
                    <a:lnTo>
                      <a:pt x="40" y="8"/>
                    </a:lnTo>
                    <a:lnTo>
                      <a:pt x="56" y="8"/>
                    </a:lnTo>
                    <a:lnTo>
                      <a:pt x="68" y="12"/>
                    </a:lnTo>
                    <a:lnTo>
                      <a:pt x="73" y="21"/>
                    </a:lnTo>
                    <a:lnTo>
                      <a:pt x="79" y="26"/>
                    </a:lnTo>
                    <a:lnTo>
                      <a:pt x="73" y="24"/>
                    </a:lnTo>
                    <a:lnTo>
                      <a:pt x="68" y="14"/>
                    </a:lnTo>
                    <a:lnTo>
                      <a:pt x="50" y="10"/>
                    </a:lnTo>
                    <a:lnTo>
                      <a:pt x="40" y="10"/>
                    </a:lnTo>
                    <a:lnTo>
                      <a:pt x="32" y="8"/>
                    </a:lnTo>
                    <a:lnTo>
                      <a:pt x="19" y="3"/>
                    </a:lnTo>
                    <a:lnTo>
                      <a:pt x="0" y="0"/>
                    </a:lnTo>
                  </a:path>
                </a:pathLst>
              </a:custGeom>
              <a:solidFill>
                <a:srgbClr val="606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68" name="Freeform 52"/>
              <p:cNvSpPr>
                <a:spLocks/>
              </p:cNvSpPr>
              <p:nvPr/>
            </p:nvSpPr>
            <p:spPr bwMode="auto">
              <a:xfrm>
                <a:off x="5222" y="1021"/>
                <a:ext cx="71" cy="98"/>
              </a:xfrm>
              <a:custGeom>
                <a:avLst/>
                <a:gdLst>
                  <a:gd name="T0" fmla="*/ 46 w 71"/>
                  <a:gd name="T1" fmla="*/ 3 h 98"/>
                  <a:gd name="T2" fmla="*/ 53 w 71"/>
                  <a:gd name="T3" fmla="*/ 8 h 98"/>
                  <a:gd name="T4" fmla="*/ 56 w 71"/>
                  <a:gd name="T5" fmla="*/ 16 h 98"/>
                  <a:gd name="T6" fmla="*/ 59 w 71"/>
                  <a:gd name="T7" fmla="*/ 23 h 98"/>
                  <a:gd name="T8" fmla="*/ 61 w 71"/>
                  <a:gd name="T9" fmla="*/ 27 h 98"/>
                  <a:gd name="T10" fmla="*/ 61 w 71"/>
                  <a:gd name="T11" fmla="*/ 31 h 98"/>
                  <a:gd name="T12" fmla="*/ 60 w 71"/>
                  <a:gd name="T13" fmla="*/ 36 h 98"/>
                  <a:gd name="T14" fmla="*/ 63 w 71"/>
                  <a:gd name="T15" fmla="*/ 40 h 98"/>
                  <a:gd name="T16" fmla="*/ 67 w 71"/>
                  <a:gd name="T17" fmla="*/ 50 h 98"/>
                  <a:gd name="T18" fmla="*/ 70 w 71"/>
                  <a:gd name="T19" fmla="*/ 56 h 98"/>
                  <a:gd name="T20" fmla="*/ 70 w 71"/>
                  <a:gd name="T21" fmla="*/ 57 h 98"/>
                  <a:gd name="T22" fmla="*/ 69 w 71"/>
                  <a:gd name="T23" fmla="*/ 60 h 98"/>
                  <a:gd name="T24" fmla="*/ 67 w 71"/>
                  <a:gd name="T25" fmla="*/ 60 h 98"/>
                  <a:gd name="T26" fmla="*/ 64 w 71"/>
                  <a:gd name="T27" fmla="*/ 60 h 98"/>
                  <a:gd name="T28" fmla="*/ 63 w 71"/>
                  <a:gd name="T29" fmla="*/ 61 h 98"/>
                  <a:gd name="T30" fmla="*/ 63 w 71"/>
                  <a:gd name="T31" fmla="*/ 65 h 98"/>
                  <a:gd name="T32" fmla="*/ 63 w 71"/>
                  <a:gd name="T33" fmla="*/ 70 h 98"/>
                  <a:gd name="T34" fmla="*/ 62 w 71"/>
                  <a:gd name="T35" fmla="*/ 72 h 98"/>
                  <a:gd name="T36" fmla="*/ 63 w 71"/>
                  <a:gd name="T37" fmla="*/ 76 h 98"/>
                  <a:gd name="T38" fmla="*/ 60 w 71"/>
                  <a:gd name="T39" fmla="*/ 79 h 98"/>
                  <a:gd name="T40" fmla="*/ 59 w 71"/>
                  <a:gd name="T41" fmla="*/ 85 h 98"/>
                  <a:gd name="T42" fmla="*/ 57 w 71"/>
                  <a:gd name="T43" fmla="*/ 87 h 98"/>
                  <a:gd name="T44" fmla="*/ 54 w 71"/>
                  <a:gd name="T45" fmla="*/ 87 h 98"/>
                  <a:gd name="T46" fmla="*/ 49 w 71"/>
                  <a:gd name="T47" fmla="*/ 86 h 98"/>
                  <a:gd name="T48" fmla="*/ 44 w 71"/>
                  <a:gd name="T49" fmla="*/ 85 h 98"/>
                  <a:gd name="T50" fmla="*/ 45 w 71"/>
                  <a:gd name="T51" fmla="*/ 97 h 98"/>
                  <a:gd name="T52" fmla="*/ 7 w 71"/>
                  <a:gd name="T53" fmla="*/ 81 h 98"/>
                  <a:gd name="T54" fmla="*/ 11 w 71"/>
                  <a:gd name="T55" fmla="*/ 72 h 98"/>
                  <a:gd name="T56" fmla="*/ 9 w 71"/>
                  <a:gd name="T57" fmla="*/ 65 h 98"/>
                  <a:gd name="T58" fmla="*/ 0 w 71"/>
                  <a:gd name="T59" fmla="*/ 52 h 98"/>
                  <a:gd name="T60" fmla="*/ 0 w 71"/>
                  <a:gd name="T61" fmla="*/ 18 h 98"/>
                  <a:gd name="T62" fmla="*/ 7 w 71"/>
                  <a:gd name="T63" fmla="*/ 9 h 98"/>
                  <a:gd name="T64" fmla="*/ 15 w 71"/>
                  <a:gd name="T65" fmla="*/ 4 h 98"/>
                  <a:gd name="T66" fmla="*/ 24 w 71"/>
                  <a:gd name="T67" fmla="*/ 0 h 98"/>
                  <a:gd name="T68" fmla="*/ 36 w 71"/>
                  <a:gd name="T69" fmla="*/ 2 h 98"/>
                  <a:gd name="T70" fmla="*/ 46 w 71"/>
                  <a:gd name="T71" fmla="*/ 3 h 9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1"/>
                  <a:gd name="T109" fmla="*/ 0 h 98"/>
                  <a:gd name="T110" fmla="*/ 71 w 71"/>
                  <a:gd name="T111" fmla="*/ 98 h 9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1" h="98">
                    <a:moveTo>
                      <a:pt x="46" y="3"/>
                    </a:moveTo>
                    <a:lnTo>
                      <a:pt x="53" y="8"/>
                    </a:lnTo>
                    <a:lnTo>
                      <a:pt x="56" y="16"/>
                    </a:lnTo>
                    <a:lnTo>
                      <a:pt x="59" y="23"/>
                    </a:lnTo>
                    <a:lnTo>
                      <a:pt x="61" y="27"/>
                    </a:lnTo>
                    <a:lnTo>
                      <a:pt x="61" y="31"/>
                    </a:lnTo>
                    <a:lnTo>
                      <a:pt x="60" y="36"/>
                    </a:lnTo>
                    <a:lnTo>
                      <a:pt x="63" y="40"/>
                    </a:lnTo>
                    <a:lnTo>
                      <a:pt x="67" y="50"/>
                    </a:lnTo>
                    <a:lnTo>
                      <a:pt x="70" y="56"/>
                    </a:lnTo>
                    <a:lnTo>
                      <a:pt x="70" y="57"/>
                    </a:lnTo>
                    <a:lnTo>
                      <a:pt x="69" y="60"/>
                    </a:lnTo>
                    <a:lnTo>
                      <a:pt x="67" y="60"/>
                    </a:lnTo>
                    <a:lnTo>
                      <a:pt x="64" y="60"/>
                    </a:lnTo>
                    <a:lnTo>
                      <a:pt x="63" y="61"/>
                    </a:lnTo>
                    <a:lnTo>
                      <a:pt x="63" y="65"/>
                    </a:lnTo>
                    <a:lnTo>
                      <a:pt x="63" y="70"/>
                    </a:lnTo>
                    <a:lnTo>
                      <a:pt x="62" y="72"/>
                    </a:lnTo>
                    <a:lnTo>
                      <a:pt x="63" y="76"/>
                    </a:lnTo>
                    <a:lnTo>
                      <a:pt x="60" y="79"/>
                    </a:lnTo>
                    <a:lnTo>
                      <a:pt x="59" y="85"/>
                    </a:lnTo>
                    <a:lnTo>
                      <a:pt x="57" y="87"/>
                    </a:lnTo>
                    <a:lnTo>
                      <a:pt x="54" y="87"/>
                    </a:lnTo>
                    <a:lnTo>
                      <a:pt x="49" y="86"/>
                    </a:lnTo>
                    <a:lnTo>
                      <a:pt x="44" y="85"/>
                    </a:lnTo>
                    <a:lnTo>
                      <a:pt x="45" y="97"/>
                    </a:lnTo>
                    <a:lnTo>
                      <a:pt x="7" y="81"/>
                    </a:lnTo>
                    <a:lnTo>
                      <a:pt x="11" y="72"/>
                    </a:lnTo>
                    <a:lnTo>
                      <a:pt x="9" y="65"/>
                    </a:lnTo>
                    <a:lnTo>
                      <a:pt x="0" y="52"/>
                    </a:lnTo>
                    <a:lnTo>
                      <a:pt x="0" y="18"/>
                    </a:lnTo>
                    <a:lnTo>
                      <a:pt x="7" y="9"/>
                    </a:lnTo>
                    <a:lnTo>
                      <a:pt x="15" y="4"/>
                    </a:lnTo>
                    <a:lnTo>
                      <a:pt x="24" y="0"/>
                    </a:lnTo>
                    <a:lnTo>
                      <a:pt x="36" y="2"/>
                    </a:lnTo>
                    <a:lnTo>
                      <a:pt x="46" y="3"/>
                    </a:lnTo>
                  </a:path>
                </a:pathLst>
              </a:custGeom>
              <a:solidFill>
                <a:srgbClr val="FFC080"/>
              </a:solidFill>
              <a:ln w="12700" cap="rnd" cmpd="sng">
                <a:solidFill>
                  <a:srgbClr val="402000"/>
                </a:solidFill>
                <a:prstDash val="solid"/>
                <a:round/>
                <a:headEnd/>
                <a:tailEnd/>
              </a:ln>
            </p:spPr>
            <p:txBody>
              <a:bodyPr/>
              <a:lstStyle/>
              <a:p>
                <a:endParaRPr lang="en-IN"/>
              </a:p>
            </p:txBody>
          </p:sp>
          <p:sp>
            <p:nvSpPr>
              <p:cNvPr id="9269" name="Freeform 53"/>
              <p:cNvSpPr>
                <a:spLocks/>
              </p:cNvSpPr>
              <p:nvPr/>
            </p:nvSpPr>
            <p:spPr bwMode="auto">
              <a:xfrm>
                <a:off x="5284" y="1079"/>
                <a:ext cx="17" cy="17"/>
              </a:xfrm>
              <a:custGeom>
                <a:avLst/>
                <a:gdLst>
                  <a:gd name="T0" fmla="*/ 16 w 17"/>
                  <a:gd name="T1" fmla="*/ 16 h 17"/>
                  <a:gd name="T2" fmla="*/ 12 w 17"/>
                  <a:gd name="T3" fmla="*/ 16 h 17"/>
                  <a:gd name="T4" fmla="*/ 3 w 17"/>
                  <a:gd name="T5" fmla="*/ 16 h 17"/>
                  <a:gd name="T6" fmla="*/ 0 w 17"/>
                  <a:gd name="T7" fmla="*/ 16 h 17"/>
                  <a:gd name="T8" fmla="*/ 0 w 17"/>
                  <a:gd name="T9" fmla="*/ 0 h 17"/>
                  <a:gd name="T10" fmla="*/ 3 w 17"/>
                  <a:gd name="T11" fmla="*/ 0 h 17"/>
                  <a:gd name="T12" fmla="*/ 16 w 17"/>
                  <a:gd name="T13" fmla="*/ 16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16" y="16"/>
                    </a:moveTo>
                    <a:lnTo>
                      <a:pt x="12" y="16"/>
                    </a:lnTo>
                    <a:lnTo>
                      <a:pt x="3" y="16"/>
                    </a:lnTo>
                    <a:lnTo>
                      <a:pt x="0" y="16"/>
                    </a:lnTo>
                    <a:lnTo>
                      <a:pt x="0" y="0"/>
                    </a:lnTo>
                    <a:lnTo>
                      <a:pt x="3" y="0"/>
                    </a:lnTo>
                    <a:lnTo>
                      <a:pt x="16" y="16"/>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70" name="Freeform 54"/>
              <p:cNvSpPr>
                <a:spLocks/>
              </p:cNvSpPr>
              <p:nvPr/>
            </p:nvSpPr>
            <p:spPr bwMode="auto">
              <a:xfrm>
                <a:off x="5283" y="1075"/>
                <a:ext cx="17" cy="17"/>
              </a:xfrm>
              <a:custGeom>
                <a:avLst/>
                <a:gdLst>
                  <a:gd name="T0" fmla="*/ 16 w 17"/>
                  <a:gd name="T1" fmla="*/ 0 h 17"/>
                  <a:gd name="T2" fmla="*/ 8 w 17"/>
                  <a:gd name="T3" fmla="*/ 6 h 17"/>
                  <a:gd name="T4" fmla="*/ 8 w 17"/>
                  <a:gd name="T5" fmla="*/ 9 h 17"/>
                  <a:gd name="T6" fmla="*/ 0 w 17"/>
                  <a:gd name="T7" fmla="*/ 16 h 17"/>
                  <a:gd name="T8" fmla="*/ 0 w 17"/>
                  <a:gd name="T9" fmla="*/ 6 h 17"/>
                  <a:gd name="T10" fmla="*/ 0 w 17"/>
                  <a:gd name="T11" fmla="*/ 3 h 17"/>
                  <a:gd name="T12" fmla="*/ 16 w 17"/>
                  <a:gd name="T13" fmla="*/ 0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16" y="0"/>
                    </a:moveTo>
                    <a:lnTo>
                      <a:pt x="8" y="6"/>
                    </a:lnTo>
                    <a:lnTo>
                      <a:pt x="8" y="9"/>
                    </a:lnTo>
                    <a:lnTo>
                      <a:pt x="0" y="16"/>
                    </a:lnTo>
                    <a:lnTo>
                      <a:pt x="0" y="6"/>
                    </a:lnTo>
                    <a:lnTo>
                      <a:pt x="0" y="3"/>
                    </a:lnTo>
                    <a:lnTo>
                      <a:pt x="16"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71" name="Freeform 55"/>
              <p:cNvSpPr>
                <a:spLocks/>
              </p:cNvSpPr>
              <p:nvPr/>
            </p:nvSpPr>
            <p:spPr bwMode="auto">
              <a:xfrm>
                <a:off x="5280" y="1064"/>
                <a:ext cx="17" cy="17"/>
              </a:xfrm>
              <a:custGeom>
                <a:avLst/>
                <a:gdLst>
                  <a:gd name="T0" fmla="*/ 0 w 17"/>
                  <a:gd name="T1" fmla="*/ 0 h 17"/>
                  <a:gd name="T2" fmla="*/ 16 w 17"/>
                  <a:gd name="T3" fmla="*/ 10 h 17"/>
                  <a:gd name="T4" fmla="*/ 16 w 17"/>
                  <a:gd name="T5" fmla="*/ 16 h 17"/>
                  <a:gd name="T6" fmla="*/ 8 w 17"/>
                  <a:gd name="T7" fmla="*/ 12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16" y="10"/>
                    </a:lnTo>
                    <a:lnTo>
                      <a:pt x="16" y="16"/>
                    </a:lnTo>
                    <a:lnTo>
                      <a:pt x="8" y="12"/>
                    </a:lnTo>
                    <a:lnTo>
                      <a:pt x="0"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72" name="Freeform 56"/>
              <p:cNvSpPr>
                <a:spLocks/>
              </p:cNvSpPr>
              <p:nvPr/>
            </p:nvSpPr>
            <p:spPr bwMode="auto">
              <a:xfrm>
                <a:off x="5272" y="1057"/>
                <a:ext cx="17" cy="17"/>
              </a:xfrm>
              <a:custGeom>
                <a:avLst/>
                <a:gdLst>
                  <a:gd name="T0" fmla="*/ 16 w 17"/>
                  <a:gd name="T1" fmla="*/ 0 h 17"/>
                  <a:gd name="T2" fmla="*/ 13 w 17"/>
                  <a:gd name="T3" fmla="*/ 9 h 17"/>
                  <a:gd name="T4" fmla="*/ 13 w 17"/>
                  <a:gd name="T5" fmla="*/ 11 h 17"/>
                  <a:gd name="T6" fmla="*/ 13 w 17"/>
                  <a:gd name="T7" fmla="*/ 13 h 17"/>
                  <a:gd name="T8" fmla="*/ 14 w 17"/>
                  <a:gd name="T9" fmla="*/ 16 h 17"/>
                  <a:gd name="T10" fmla="*/ 11 w 17"/>
                  <a:gd name="T11" fmla="*/ 11 h 17"/>
                  <a:gd name="T12" fmla="*/ 8 w 17"/>
                  <a:gd name="T13" fmla="*/ 11 h 17"/>
                  <a:gd name="T14" fmla="*/ 5 w 17"/>
                  <a:gd name="T15" fmla="*/ 9 h 17"/>
                  <a:gd name="T16" fmla="*/ 0 w 17"/>
                  <a:gd name="T17" fmla="*/ 9 h 17"/>
                  <a:gd name="T18" fmla="*/ 5 w 17"/>
                  <a:gd name="T19" fmla="*/ 2 h 17"/>
                  <a:gd name="T20" fmla="*/ 16 w 17"/>
                  <a:gd name="T21" fmla="*/ 0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17"/>
                  <a:gd name="T35" fmla="*/ 17 w 17"/>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17">
                    <a:moveTo>
                      <a:pt x="16" y="0"/>
                    </a:moveTo>
                    <a:lnTo>
                      <a:pt x="13" y="9"/>
                    </a:lnTo>
                    <a:lnTo>
                      <a:pt x="13" y="11"/>
                    </a:lnTo>
                    <a:lnTo>
                      <a:pt x="13" y="13"/>
                    </a:lnTo>
                    <a:lnTo>
                      <a:pt x="14" y="16"/>
                    </a:lnTo>
                    <a:lnTo>
                      <a:pt x="11" y="11"/>
                    </a:lnTo>
                    <a:lnTo>
                      <a:pt x="8" y="11"/>
                    </a:lnTo>
                    <a:lnTo>
                      <a:pt x="5" y="9"/>
                    </a:lnTo>
                    <a:lnTo>
                      <a:pt x="0" y="9"/>
                    </a:lnTo>
                    <a:lnTo>
                      <a:pt x="5" y="2"/>
                    </a:lnTo>
                    <a:lnTo>
                      <a:pt x="16"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73" name="Freeform 57"/>
              <p:cNvSpPr>
                <a:spLocks/>
              </p:cNvSpPr>
              <p:nvPr/>
            </p:nvSpPr>
            <p:spPr bwMode="auto">
              <a:xfrm>
                <a:off x="5269" y="1048"/>
                <a:ext cx="17" cy="17"/>
              </a:xfrm>
              <a:custGeom>
                <a:avLst/>
                <a:gdLst>
                  <a:gd name="T0" fmla="*/ 16 w 17"/>
                  <a:gd name="T1" fmla="*/ 9 h 17"/>
                  <a:gd name="T2" fmla="*/ 15 w 17"/>
                  <a:gd name="T3" fmla="*/ 13 h 17"/>
                  <a:gd name="T4" fmla="*/ 13 w 17"/>
                  <a:gd name="T5" fmla="*/ 16 h 17"/>
                  <a:gd name="T6" fmla="*/ 10 w 17"/>
                  <a:gd name="T7" fmla="*/ 11 h 17"/>
                  <a:gd name="T8" fmla="*/ 8 w 17"/>
                  <a:gd name="T9" fmla="*/ 9 h 17"/>
                  <a:gd name="T10" fmla="*/ 1 w 17"/>
                  <a:gd name="T11" fmla="*/ 9 h 17"/>
                  <a:gd name="T12" fmla="*/ 0 w 17"/>
                  <a:gd name="T13" fmla="*/ 9 h 17"/>
                  <a:gd name="T14" fmla="*/ 3 w 17"/>
                  <a:gd name="T15" fmla="*/ 4 h 17"/>
                  <a:gd name="T16" fmla="*/ 6 w 17"/>
                  <a:gd name="T17" fmla="*/ 2 h 17"/>
                  <a:gd name="T18" fmla="*/ 6 w 17"/>
                  <a:gd name="T19" fmla="*/ 0 h 17"/>
                  <a:gd name="T20" fmla="*/ 8 w 17"/>
                  <a:gd name="T21" fmla="*/ 4 h 17"/>
                  <a:gd name="T22" fmla="*/ 8 w 17"/>
                  <a:gd name="T23" fmla="*/ 2 h 17"/>
                  <a:gd name="T24" fmla="*/ 10 w 17"/>
                  <a:gd name="T25" fmla="*/ 4 h 17"/>
                  <a:gd name="T26" fmla="*/ 13 w 17"/>
                  <a:gd name="T27" fmla="*/ 4 h 17"/>
                  <a:gd name="T28" fmla="*/ 16 w 17"/>
                  <a:gd name="T29" fmla="*/ 9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17"/>
                  <a:gd name="T47" fmla="*/ 17 w 17"/>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17">
                    <a:moveTo>
                      <a:pt x="16" y="9"/>
                    </a:moveTo>
                    <a:lnTo>
                      <a:pt x="15" y="13"/>
                    </a:lnTo>
                    <a:lnTo>
                      <a:pt x="13" y="16"/>
                    </a:lnTo>
                    <a:lnTo>
                      <a:pt x="10" y="11"/>
                    </a:lnTo>
                    <a:lnTo>
                      <a:pt x="8" y="9"/>
                    </a:lnTo>
                    <a:lnTo>
                      <a:pt x="1" y="9"/>
                    </a:lnTo>
                    <a:lnTo>
                      <a:pt x="0" y="9"/>
                    </a:lnTo>
                    <a:lnTo>
                      <a:pt x="3" y="4"/>
                    </a:lnTo>
                    <a:lnTo>
                      <a:pt x="6" y="2"/>
                    </a:lnTo>
                    <a:lnTo>
                      <a:pt x="6" y="0"/>
                    </a:lnTo>
                    <a:lnTo>
                      <a:pt x="8" y="4"/>
                    </a:lnTo>
                    <a:lnTo>
                      <a:pt x="8" y="2"/>
                    </a:lnTo>
                    <a:lnTo>
                      <a:pt x="10" y="4"/>
                    </a:lnTo>
                    <a:lnTo>
                      <a:pt x="13" y="4"/>
                    </a:lnTo>
                    <a:lnTo>
                      <a:pt x="16" y="9"/>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74" name="Freeform 58"/>
              <p:cNvSpPr>
                <a:spLocks/>
              </p:cNvSpPr>
              <p:nvPr/>
            </p:nvSpPr>
            <p:spPr bwMode="auto">
              <a:xfrm>
                <a:off x="5246" y="1056"/>
                <a:ext cx="17" cy="20"/>
              </a:xfrm>
              <a:custGeom>
                <a:avLst/>
                <a:gdLst>
                  <a:gd name="T0" fmla="*/ 16 w 17"/>
                  <a:gd name="T1" fmla="*/ 3 h 20"/>
                  <a:gd name="T2" fmla="*/ 10 w 17"/>
                  <a:gd name="T3" fmla="*/ 1 h 20"/>
                  <a:gd name="T4" fmla="*/ 5 w 17"/>
                  <a:gd name="T5" fmla="*/ 2 h 20"/>
                  <a:gd name="T6" fmla="*/ 2 w 17"/>
                  <a:gd name="T7" fmla="*/ 5 h 20"/>
                  <a:gd name="T8" fmla="*/ 1 w 17"/>
                  <a:gd name="T9" fmla="*/ 9 h 20"/>
                  <a:gd name="T10" fmla="*/ 2 w 17"/>
                  <a:gd name="T11" fmla="*/ 12 h 20"/>
                  <a:gd name="T12" fmla="*/ 4 w 17"/>
                  <a:gd name="T13" fmla="*/ 15 h 20"/>
                  <a:gd name="T14" fmla="*/ 7 w 17"/>
                  <a:gd name="T15" fmla="*/ 11 h 20"/>
                  <a:gd name="T16" fmla="*/ 10 w 17"/>
                  <a:gd name="T17" fmla="*/ 8 h 20"/>
                  <a:gd name="T18" fmla="*/ 14 w 17"/>
                  <a:gd name="T19" fmla="*/ 7 h 20"/>
                  <a:gd name="T20" fmla="*/ 10 w 17"/>
                  <a:gd name="T21" fmla="*/ 10 h 20"/>
                  <a:gd name="T22" fmla="*/ 5 w 17"/>
                  <a:gd name="T23" fmla="*/ 13 h 20"/>
                  <a:gd name="T24" fmla="*/ 5 w 17"/>
                  <a:gd name="T25" fmla="*/ 15 h 20"/>
                  <a:gd name="T26" fmla="*/ 7 w 17"/>
                  <a:gd name="T27" fmla="*/ 18 h 20"/>
                  <a:gd name="T28" fmla="*/ 10 w 17"/>
                  <a:gd name="T29" fmla="*/ 19 h 20"/>
                  <a:gd name="T30" fmla="*/ 4 w 17"/>
                  <a:gd name="T31" fmla="*/ 18 h 20"/>
                  <a:gd name="T32" fmla="*/ 0 w 17"/>
                  <a:gd name="T33" fmla="*/ 14 h 20"/>
                  <a:gd name="T34" fmla="*/ 0 w 17"/>
                  <a:gd name="T35" fmla="*/ 8 h 20"/>
                  <a:gd name="T36" fmla="*/ 0 w 17"/>
                  <a:gd name="T37" fmla="*/ 3 h 20"/>
                  <a:gd name="T38" fmla="*/ 4 w 17"/>
                  <a:gd name="T39" fmla="*/ 0 h 20"/>
                  <a:gd name="T40" fmla="*/ 8 w 17"/>
                  <a:gd name="T41" fmla="*/ 0 h 20"/>
                  <a:gd name="T42" fmla="*/ 13 w 17"/>
                  <a:gd name="T43" fmla="*/ 0 h 20"/>
                  <a:gd name="T44" fmla="*/ 16 w 17"/>
                  <a:gd name="T45" fmla="*/ 3 h 2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
                  <a:gd name="T70" fmla="*/ 0 h 20"/>
                  <a:gd name="T71" fmla="*/ 17 w 17"/>
                  <a:gd name="T72" fmla="*/ 20 h 2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 h="20">
                    <a:moveTo>
                      <a:pt x="16" y="3"/>
                    </a:moveTo>
                    <a:lnTo>
                      <a:pt x="10" y="1"/>
                    </a:lnTo>
                    <a:lnTo>
                      <a:pt x="5" y="2"/>
                    </a:lnTo>
                    <a:lnTo>
                      <a:pt x="2" y="5"/>
                    </a:lnTo>
                    <a:lnTo>
                      <a:pt x="1" y="9"/>
                    </a:lnTo>
                    <a:lnTo>
                      <a:pt x="2" y="12"/>
                    </a:lnTo>
                    <a:lnTo>
                      <a:pt x="4" y="15"/>
                    </a:lnTo>
                    <a:lnTo>
                      <a:pt x="7" y="11"/>
                    </a:lnTo>
                    <a:lnTo>
                      <a:pt x="10" y="8"/>
                    </a:lnTo>
                    <a:lnTo>
                      <a:pt x="14" y="7"/>
                    </a:lnTo>
                    <a:lnTo>
                      <a:pt x="10" y="10"/>
                    </a:lnTo>
                    <a:lnTo>
                      <a:pt x="5" y="13"/>
                    </a:lnTo>
                    <a:lnTo>
                      <a:pt x="5" y="15"/>
                    </a:lnTo>
                    <a:lnTo>
                      <a:pt x="7" y="18"/>
                    </a:lnTo>
                    <a:lnTo>
                      <a:pt x="10" y="19"/>
                    </a:lnTo>
                    <a:lnTo>
                      <a:pt x="4" y="18"/>
                    </a:lnTo>
                    <a:lnTo>
                      <a:pt x="0" y="14"/>
                    </a:lnTo>
                    <a:lnTo>
                      <a:pt x="0" y="8"/>
                    </a:lnTo>
                    <a:lnTo>
                      <a:pt x="0" y="3"/>
                    </a:lnTo>
                    <a:lnTo>
                      <a:pt x="4" y="0"/>
                    </a:lnTo>
                    <a:lnTo>
                      <a:pt x="8" y="0"/>
                    </a:lnTo>
                    <a:lnTo>
                      <a:pt x="13" y="0"/>
                    </a:lnTo>
                    <a:lnTo>
                      <a:pt x="16" y="3"/>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75" name="Freeform 59"/>
              <p:cNvSpPr>
                <a:spLocks/>
              </p:cNvSpPr>
              <p:nvPr/>
            </p:nvSpPr>
            <p:spPr bwMode="auto">
              <a:xfrm>
                <a:off x="5243" y="1052"/>
                <a:ext cx="17" cy="27"/>
              </a:xfrm>
              <a:custGeom>
                <a:avLst/>
                <a:gdLst>
                  <a:gd name="T0" fmla="*/ 16 w 17"/>
                  <a:gd name="T1" fmla="*/ 6 h 27"/>
                  <a:gd name="T2" fmla="*/ 13 w 17"/>
                  <a:gd name="T3" fmla="*/ 2 h 27"/>
                  <a:gd name="T4" fmla="*/ 9 w 17"/>
                  <a:gd name="T5" fmla="*/ 1 h 27"/>
                  <a:gd name="T6" fmla="*/ 4 w 17"/>
                  <a:gd name="T7" fmla="*/ 2 h 27"/>
                  <a:gd name="T8" fmla="*/ 2 w 17"/>
                  <a:gd name="T9" fmla="*/ 4 h 27"/>
                  <a:gd name="T10" fmla="*/ 1 w 17"/>
                  <a:gd name="T11" fmla="*/ 8 h 27"/>
                  <a:gd name="T12" fmla="*/ 1 w 17"/>
                  <a:gd name="T13" fmla="*/ 11 h 27"/>
                  <a:gd name="T14" fmla="*/ 2 w 17"/>
                  <a:gd name="T15" fmla="*/ 13 h 27"/>
                  <a:gd name="T16" fmla="*/ 2 w 17"/>
                  <a:gd name="T17" fmla="*/ 17 h 27"/>
                  <a:gd name="T18" fmla="*/ 2 w 17"/>
                  <a:gd name="T19" fmla="*/ 21 h 27"/>
                  <a:gd name="T20" fmla="*/ 6 w 17"/>
                  <a:gd name="T21" fmla="*/ 24 h 27"/>
                  <a:gd name="T22" fmla="*/ 8 w 17"/>
                  <a:gd name="T23" fmla="*/ 24 h 27"/>
                  <a:gd name="T24" fmla="*/ 10 w 17"/>
                  <a:gd name="T25" fmla="*/ 24 h 27"/>
                  <a:gd name="T26" fmla="*/ 10 w 17"/>
                  <a:gd name="T27" fmla="*/ 25 h 27"/>
                  <a:gd name="T28" fmla="*/ 8 w 17"/>
                  <a:gd name="T29" fmla="*/ 26 h 27"/>
                  <a:gd name="T30" fmla="*/ 6 w 17"/>
                  <a:gd name="T31" fmla="*/ 26 h 27"/>
                  <a:gd name="T32" fmla="*/ 3 w 17"/>
                  <a:gd name="T33" fmla="*/ 25 h 27"/>
                  <a:gd name="T34" fmla="*/ 1 w 17"/>
                  <a:gd name="T35" fmla="*/ 21 h 27"/>
                  <a:gd name="T36" fmla="*/ 0 w 17"/>
                  <a:gd name="T37" fmla="*/ 14 h 27"/>
                  <a:gd name="T38" fmla="*/ 0 w 17"/>
                  <a:gd name="T39" fmla="*/ 10 h 27"/>
                  <a:gd name="T40" fmla="*/ 0 w 17"/>
                  <a:gd name="T41" fmla="*/ 7 h 27"/>
                  <a:gd name="T42" fmla="*/ 1 w 17"/>
                  <a:gd name="T43" fmla="*/ 4 h 27"/>
                  <a:gd name="T44" fmla="*/ 3 w 17"/>
                  <a:gd name="T45" fmla="*/ 1 h 27"/>
                  <a:gd name="T46" fmla="*/ 7 w 17"/>
                  <a:gd name="T47" fmla="*/ 0 h 27"/>
                  <a:gd name="T48" fmla="*/ 13 w 17"/>
                  <a:gd name="T49" fmla="*/ 0 h 27"/>
                  <a:gd name="T50" fmla="*/ 15 w 17"/>
                  <a:gd name="T51" fmla="*/ 2 h 27"/>
                  <a:gd name="T52" fmla="*/ 16 w 17"/>
                  <a:gd name="T53" fmla="*/ 6 h 2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7"/>
                  <a:gd name="T82" fmla="*/ 0 h 27"/>
                  <a:gd name="T83" fmla="*/ 17 w 17"/>
                  <a:gd name="T84" fmla="*/ 27 h 2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7" h="27">
                    <a:moveTo>
                      <a:pt x="16" y="6"/>
                    </a:moveTo>
                    <a:lnTo>
                      <a:pt x="13" y="2"/>
                    </a:lnTo>
                    <a:lnTo>
                      <a:pt x="9" y="1"/>
                    </a:lnTo>
                    <a:lnTo>
                      <a:pt x="4" y="2"/>
                    </a:lnTo>
                    <a:lnTo>
                      <a:pt x="2" y="4"/>
                    </a:lnTo>
                    <a:lnTo>
                      <a:pt x="1" y="8"/>
                    </a:lnTo>
                    <a:lnTo>
                      <a:pt x="1" y="11"/>
                    </a:lnTo>
                    <a:lnTo>
                      <a:pt x="2" y="13"/>
                    </a:lnTo>
                    <a:lnTo>
                      <a:pt x="2" y="17"/>
                    </a:lnTo>
                    <a:lnTo>
                      <a:pt x="2" y="21"/>
                    </a:lnTo>
                    <a:lnTo>
                      <a:pt x="6" y="24"/>
                    </a:lnTo>
                    <a:lnTo>
                      <a:pt x="8" y="24"/>
                    </a:lnTo>
                    <a:lnTo>
                      <a:pt x="10" y="24"/>
                    </a:lnTo>
                    <a:lnTo>
                      <a:pt x="10" y="25"/>
                    </a:lnTo>
                    <a:lnTo>
                      <a:pt x="8" y="26"/>
                    </a:lnTo>
                    <a:lnTo>
                      <a:pt x="6" y="26"/>
                    </a:lnTo>
                    <a:lnTo>
                      <a:pt x="3" y="25"/>
                    </a:lnTo>
                    <a:lnTo>
                      <a:pt x="1" y="21"/>
                    </a:lnTo>
                    <a:lnTo>
                      <a:pt x="0" y="14"/>
                    </a:lnTo>
                    <a:lnTo>
                      <a:pt x="0" y="10"/>
                    </a:lnTo>
                    <a:lnTo>
                      <a:pt x="0" y="7"/>
                    </a:lnTo>
                    <a:lnTo>
                      <a:pt x="1" y="4"/>
                    </a:lnTo>
                    <a:lnTo>
                      <a:pt x="3" y="1"/>
                    </a:lnTo>
                    <a:lnTo>
                      <a:pt x="7" y="0"/>
                    </a:lnTo>
                    <a:lnTo>
                      <a:pt x="13" y="0"/>
                    </a:lnTo>
                    <a:lnTo>
                      <a:pt x="15" y="2"/>
                    </a:lnTo>
                    <a:lnTo>
                      <a:pt x="16" y="6"/>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76" name="Freeform 60"/>
              <p:cNvSpPr>
                <a:spLocks/>
              </p:cNvSpPr>
              <p:nvPr/>
            </p:nvSpPr>
            <p:spPr bwMode="auto">
              <a:xfrm>
                <a:off x="5251" y="1080"/>
                <a:ext cx="17" cy="23"/>
              </a:xfrm>
              <a:custGeom>
                <a:avLst/>
                <a:gdLst>
                  <a:gd name="T0" fmla="*/ 0 w 17"/>
                  <a:gd name="T1" fmla="*/ 0 h 23"/>
                  <a:gd name="T2" fmla="*/ 2 w 17"/>
                  <a:gd name="T3" fmla="*/ 4 h 23"/>
                  <a:gd name="T4" fmla="*/ 5 w 17"/>
                  <a:gd name="T5" fmla="*/ 9 h 23"/>
                  <a:gd name="T6" fmla="*/ 8 w 17"/>
                  <a:gd name="T7" fmla="*/ 13 h 23"/>
                  <a:gd name="T8" fmla="*/ 13 w 17"/>
                  <a:gd name="T9" fmla="*/ 19 h 23"/>
                  <a:gd name="T10" fmla="*/ 16 w 17"/>
                  <a:gd name="T11" fmla="*/ 22 h 23"/>
                  <a:gd name="T12" fmla="*/ 10 w 17"/>
                  <a:gd name="T13" fmla="*/ 19 h 23"/>
                  <a:gd name="T14" fmla="*/ 6 w 17"/>
                  <a:gd name="T15" fmla="*/ 13 h 23"/>
                  <a:gd name="T16" fmla="*/ 2 w 17"/>
                  <a:gd name="T17" fmla="*/ 8 h 23"/>
                  <a:gd name="T18" fmla="*/ 0 w 17"/>
                  <a:gd name="T19" fmla="*/ 0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23"/>
                  <a:gd name="T32" fmla="*/ 17 w 17"/>
                  <a:gd name="T33" fmla="*/ 23 h 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23">
                    <a:moveTo>
                      <a:pt x="0" y="0"/>
                    </a:moveTo>
                    <a:lnTo>
                      <a:pt x="2" y="4"/>
                    </a:lnTo>
                    <a:lnTo>
                      <a:pt x="5" y="9"/>
                    </a:lnTo>
                    <a:lnTo>
                      <a:pt x="8" y="13"/>
                    </a:lnTo>
                    <a:lnTo>
                      <a:pt x="13" y="19"/>
                    </a:lnTo>
                    <a:lnTo>
                      <a:pt x="16" y="22"/>
                    </a:lnTo>
                    <a:lnTo>
                      <a:pt x="10" y="19"/>
                    </a:lnTo>
                    <a:lnTo>
                      <a:pt x="6" y="13"/>
                    </a:lnTo>
                    <a:lnTo>
                      <a:pt x="2" y="8"/>
                    </a:lnTo>
                    <a:lnTo>
                      <a:pt x="0"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77" name="Freeform 61"/>
              <p:cNvSpPr>
                <a:spLocks/>
              </p:cNvSpPr>
              <p:nvPr/>
            </p:nvSpPr>
            <p:spPr bwMode="auto">
              <a:xfrm>
                <a:off x="5217" y="1008"/>
                <a:ext cx="64" cy="80"/>
              </a:xfrm>
              <a:custGeom>
                <a:avLst/>
                <a:gdLst>
                  <a:gd name="T0" fmla="*/ 58 w 64"/>
                  <a:gd name="T1" fmla="*/ 22 h 80"/>
                  <a:gd name="T2" fmla="*/ 48 w 64"/>
                  <a:gd name="T3" fmla="*/ 20 h 80"/>
                  <a:gd name="T4" fmla="*/ 42 w 64"/>
                  <a:gd name="T5" fmla="*/ 22 h 80"/>
                  <a:gd name="T6" fmla="*/ 38 w 64"/>
                  <a:gd name="T7" fmla="*/ 27 h 80"/>
                  <a:gd name="T8" fmla="*/ 40 w 64"/>
                  <a:gd name="T9" fmla="*/ 34 h 80"/>
                  <a:gd name="T10" fmla="*/ 43 w 64"/>
                  <a:gd name="T11" fmla="*/ 37 h 80"/>
                  <a:gd name="T12" fmla="*/ 44 w 64"/>
                  <a:gd name="T13" fmla="*/ 43 h 80"/>
                  <a:gd name="T14" fmla="*/ 42 w 64"/>
                  <a:gd name="T15" fmla="*/ 47 h 80"/>
                  <a:gd name="T16" fmla="*/ 44 w 64"/>
                  <a:gd name="T17" fmla="*/ 53 h 80"/>
                  <a:gd name="T18" fmla="*/ 40 w 64"/>
                  <a:gd name="T19" fmla="*/ 53 h 80"/>
                  <a:gd name="T20" fmla="*/ 39 w 64"/>
                  <a:gd name="T21" fmla="*/ 46 h 80"/>
                  <a:gd name="T22" fmla="*/ 36 w 64"/>
                  <a:gd name="T23" fmla="*/ 43 h 80"/>
                  <a:gd name="T24" fmla="*/ 31 w 64"/>
                  <a:gd name="T25" fmla="*/ 43 h 80"/>
                  <a:gd name="T26" fmla="*/ 27 w 64"/>
                  <a:gd name="T27" fmla="*/ 45 h 80"/>
                  <a:gd name="T28" fmla="*/ 26 w 64"/>
                  <a:gd name="T29" fmla="*/ 49 h 80"/>
                  <a:gd name="T30" fmla="*/ 25 w 64"/>
                  <a:gd name="T31" fmla="*/ 56 h 80"/>
                  <a:gd name="T32" fmla="*/ 26 w 64"/>
                  <a:gd name="T33" fmla="*/ 60 h 80"/>
                  <a:gd name="T34" fmla="*/ 26 w 64"/>
                  <a:gd name="T35" fmla="*/ 64 h 80"/>
                  <a:gd name="T36" fmla="*/ 25 w 64"/>
                  <a:gd name="T37" fmla="*/ 68 h 80"/>
                  <a:gd name="T38" fmla="*/ 22 w 64"/>
                  <a:gd name="T39" fmla="*/ 72 h 80"/>
                  <a:gd name="T40" fmla="*/ 20 w 64"/>
                  <a:gd name="T41" fmla="*/ 75 h 80"/>
                  <a:gd name="T42" fmla="*/ 15 w 64"/>
                  <a:gd name="T43" fmla="*/ 79 h 80"/>
                  <a:gd name="T44" fmla="*/ 4 w 64"/>
                  <a:gd name="T45" fmla="*/ 65 h 80"/>
                  <a:gd name="T46" fmla="*/ 2 w 64"/>
                  <a:gd name="T47" fmla="*/ 55 h 80"/>
                  <a:gd name="T48" fmla="*/ 0 w 64"/>
                  <a:gd name="T49" fmla="*/ 37 h 80"/>
                  <a:gd name="T50" fmla="*/ 0 w 64"/>
                  <a:gd name="T51" fmla="*/ 25 h 80"/>
                  <a:gd name="T52" fmla="*/ 1 w 64"/>
                  <a:gd name="T53" fmla="*/ 13 h 80"/>
                  <a:gd name="T54" fmla="*/ 4 w 64"/>
                  <a:gd name="T55" fmla="*/ 7 h 80"/>
                  <a:gd name="T56" fmla="*/ 10 w 64"/>
                  <a:gd name="T57" fmla="*/ 2 h 80"/>
                  <a:gd name="T58" fmla="*/ 15 w 64"/>
                  <a:gd name="T59" fmla="*/ 0 h 80"/>
                  <a:gd name="T60" fmla="*/ 27 w 64"/>
                  <a:gd name="T61" fmla="*/ 0 h 80"/>
                  <a:gd name="T62" fmla="*/ 37 w 64"/>
                  <a:gd name="T63" fmla="*/ 0 h 80"/>
                  <a:gd name="T64" fmla="*/ 50 w 64"/>
                  <a:gd name="T65" fmla="*/ 3 h 80"/>
                  <a:gd name="T66" fmla="*/ 56 w 64"/>
                  <a:gd name="T67" fmla="*/ 7 h 80"/>
                  <a:gd name="T68" fmla="*/ 59 w 64"/>
                  <a:gd name="T69" fmla="*/ 11 h 80"/>
                  <a:gd name="T70" fmla="*/ 63 w 64"/>
                  <a:gd name="T71" fmla="*/ 16 h 80"/>
                  <a:gd name="T72" fmla="*/ 62 w 64"/>
                  <a:gd name="T73" fmla="*/ 19 h 80"/>
                  <a:gd name="T74" fmla="*/ 58 w 64"/>
                  <a:gd name="T75" fmla="*/ 22 h 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4"/>
                  <a:gd name="T115" fmla="*/ 0 h 80"/>
                  <a:gd name="T116" fmla="*/ 64 w 64"/>
                  <a:gd name="T117" fmla="*/ 80 h 8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4" h="80">
                    <a:moveTo>
                      <a:pt x="58" y="22"/>
                    </a:moveTo>
                    <a:lnTo>
                      <a:pt x="48" y="20"/>
                    </a:lnTo>
                    <a:lnTo>
                      <a:pt x="42" y="22"/>
                    </a:lnTo>
                    <a:lnTo>
                      <a:pt x="38" y="27"/>
                    </a:lnTo>
                    <a:lnTo>
                      <a:pt x="40" y="34"/>
                    </a:lnTo>
                    <a:lnTo>
                      <a:pt x="43" y="37"/>
                    </a:lnTo>
                    <a:lnTo>
                      <a:pt x="44" y="43"/>
                    </a:lnTo>
                    <a:lnTo>
                      <a:pt x="42" y="47"/>
                    </a:lnTo>
                    <a:lnTo>
                      <a:pt x="44" y="53"/>
                    </a:lnTo>
                    <a:lnTo>
                      <a:pt x="40" y="53"/>
                    </a:lnTo>
                    <a:lnTo>
                      <a:pt x="39" y="46"/>
                    </a:lnTo>
                    <a:lnTo>
                      <a:pt x="36" y="43"/>
                    </a:lnTo>
                    <a:lnTo>
                      <a:pt x="31" y="43"/>
                    </a:lnTo>
                    <a:lnTo>
                      <a:pt x="27" y="45"/>
                    </a:lnTo>
                    <a:lnTo>
                      <a:pt x="26" y="49"/>
                    </a:lnTo>
                    <a:lnTo>
                      <a:pt x="25" y="56"/>
                    </a:lnTo>
                    <a:lnTo>
                      <a:pt x="26" y="60"/>
                    </a:lnTo>
                    <a:lnTo>
                      <a:pt x="26" y="64"/>
                    </a:lnTo>
                    <a:lnTo>
                      <a:pt x="25" y="68"/>
                    </a:lnTo>
                    <a:lnTo>
                      <a:pt x="22" y="72"/>
                    </a:lnTo>
                    <a:lnTo>
                      <a:pt x="20" y="75"/>
                    </a:lnTo>
                    <a:lnTo>
                      <a:pt x="15" y="79"/>
                    </a:lnTo>
                    <a:lnTo>
                      <a:pt x="4" y="65"/>
                    </a:lnTo>
                    <a:lnTo>
                      <a:pt x="2" y="55"/>
                    </a:lnTo>
                    <a:lnTo>
                      <a:pt x="0" y="37"/>
                    </a:lnTo>
                    <a:lnTo>
                      <a:pt x="0" y="25"/>
                    </a:lnTo>
                    <a:lnTo>
                      <a:pt x="1" y="13"/>
                    </a:lnTo>
                    <a:lnTo>
                      <a:pt x="4" y="7"/>
                    </a:lnTo>
                    <a:lnTo>
                      <a:pt x="10" y="2"/>
                    </a:lnTo>
                    <a:lnTo>
                      <a:pt x="15" y="0"/>
                    </a:lnTo>
                    <a:lnTo>
                      <a:pt x="27" y="0"/>
                    </a:lnTo>
                    <a:lnTo>
                      <a:pt x="37" y="0"/>
                    </a:lnTo>
                    <a:lnTo>
                      <a:pt x="50" y="3"/>
                    </a:lnTo>
                    <a:lnTo>
                      <a:pt x="56" y="7"/>
                    </a:lnTo>
                    <a:lnTo>
                      <a:pt x="59" y="11"/>
                    </a:lnTo>
                    <a:lnTo>
                      <a:pt x="63" y="16"/>
                    </a:lnTo>
                    <a:lnTo>
                      <a:pt x="62" y="19"/>
                    </a:lnTo>
                    <a:lnTo>
                      <a:pt x="58" y="22"/>
                    </a:lnTo>
                  </a:path>
                </a:pathLst>
              </a:custGeom>
              <a:solidFill>
                <a:srgbClr val="603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78" name="Freeform 62"/>
              <p:cNvSpPr>
                <a:spLocks/>
              </p:cNvSpPr>
              <p:nvPr/>
            </p:nvSpPr>
            <p:spPr bwMode="auto">
              <a:xfrm>
                <a:off x="5218" y="1009"/>
                <a:ext cx="60" cy="77"/>
              </a:xfrm>
              <a:custGeom>
                <a:avLst/>
                <a:gdLst>
                  <a:gd name="T0" fmla="*/ 56 w 60"/>
                  <a:gd name="T1" fmla="*/ 11 h 77"/>
                  <a:gd name="T2" fmla="*/ 57 w 60"/>
                  <a:gd name="T3" fmla="*/ 18 h 77"/>
                  <a:gd name="T4" fmla="*/ 44 w 60"/>
                  <a:gd name="T5" fmla="*/ 19 h 77"/>
                  <a:gd name="T6" fmla="*/ 32 w 60"/>
                  <a:gd name="T7" fmla="*/ 15 h 77"/>
                  <a:gd name="T8" fmla="*/ 37 w 60"/>
                  <a:gd name="T9" fmla="*/ 17 h 77"/>
                  <a:gd name="T10" fmla="*/ 39 w 60"/>
                  <a:gd name="T11" fmla="*/ 19 h 77"/>
                  <a:gd name="T12" fmla="*/ 33 w 60"/>
                  <a:gd name="T13" fmla="*/ 19 h 77"/>
                  <a:gd name="T14" fmla="*/ 32 w 60"/>
                  <a:gd name="T15" fmla="*/ 20 h 77"/>
                  <a:gd name="T16" fmla="*/ 35 w 60"/>
                  <a:gd name="T17" fmla="*/ 26 h 77"/>
                  <a:gd name="T18" fmla="*/ 34 w 60"/>
                  <a:gd name="T19" fmla="*/ 26 h 77"/>
                  <a:gd name="T20" fmla="*/ 37 w 60"/>
                  <a:gd name="T21" fmla="*/ 33 h 77"/>
                  <a:gd name="T22" fmla="*/ 26 w 60"/>
                  <a:gd name="T23" fmla="*/ 30 h 77"/>
                  <a:gd name="T24" fmla="*/ 41 w 60"/>
                  <a:gd name="T25" fmla="*/ 37 h 77"/>
                  <a:gd name="T26" fmla="*/ 32 w 60"/>
                  <a:gd name="T27" fmla="*/ 35 h 77"/>
                  <a:gd name="T28" fmla="*/ 40 w 60"/>
                  <a:gd name="T29" fmla="*/ 40 h 77"/>
                  <a:gd name="T30" fmla="*/ 37 w 60"/>
                  <a:gd name="T31" fmla="*/ 42 h 77"/>
                  <a:gd name="T32" fmla="*/ 26 w 60"/>
                  <a:gd name="T33" fmla="*/ 41 h 77"/>
                  <a:gd name="T34" fmla="*/ 17 w 60"/>
                  <a:gd name="T35" fmla="*/ 41 h 77"/>
                  <a:gd name="T36" fmla="*/ 18 w 60"/>
                  <a:gd name="T37" fmla="*/ 45 h 77"/>
                  <a:gd name="T38" fmla="*/ 16 w 60"/>
                  <a:gd name="T39" fmla="*/ 46 h 77"/>
                  <a:gd name="T40" fmla="*/ 23 w 60"/>
                  <a:gd name="T41" fmla="*/ 53 h 77"/>
                  <a:gd name="T42" fmla="*/ 17 w 60"/>
                  <a:gd name="T43" fmla="*/ 52 h 77"/>
                  <a:gd name="T44" fmla="*/ 23 w 60"/>
                  <a:gd name="T45" fmla="*/ 60 h 77"/>
                  <a:gd name="T46" fmla="*/ 19 w 60"/>
                  <a:gd name="T47" fmla="*/ 60 h 77"/>
                  <a:gd name="T48" fmla="*/ 20 w 60"/>
                  <a:gd name="T49" fmla="*/ 69 h 77"/>
                  <a:gd name="T50" fmla="*/ 13 w 60"/>
                  <a:gd name="T51" fmla="*/ 56 h 77"/>
                  <a:gd name="T52" fmla="*/ 20 w 60"/>
                  <a:gd name="T53" fmla="*/ 71 h 77"/>
                  <a:gd name="T54" fmla="*/ 11 w 60"/>
                  <a:gd name="T55" fmla="*/ 65 h 77"/>
                  <a:gd name="T56" fmla="*/ 13 w 60"/>
                  <a:gd name="T57" fmla="*/ 71 h 77"/>
                  <a:gd name="T58" fmla="*/ 8 w 60"/>
                  <a:gd name="T59" fmla="*/ 71 h 77"/>
                  <a:gd name="T60" fmla="*/ 1 w 60"/>
                  <a:gd name="T61" fmla="*/ 45 h 77"/>
                  <a:gd name="T62" fmla="*/ 5 w 60"/>
                  <a:gd name="T63" fmla="*/ 30 h 77"/>
                  <a:gd name="T64" fmla="*/ 11 w 60"/>
                  <a:gd name="T65" fmla="*/ 31 h 77"/>
                  <a:gd name="T66" fmla="*/ 0 w 60"/>
                  <a:gd name="T67" fmla="*/ 26 h 77"/>
                  <a:gd name="T68" fmla="*/ 8 w 60"/>
                  <a:gd name="T69" fmla="*/ 16 h 77"/>
                  <a:gd name="T70" fmla="*/ 13 w 60"/>
                  <a:gd name="T71" fmla="*/ 16 h 77"/>
                  <a:gd name="T72" fmla="*/ 2 w 60"/>
                  <a:gd name="T73" fmla="*/ 8 h 77"/>
                  <a:gd name="T74" fmla="*/ 14 w 60"/>
                  <a:gd name="T75" fmla="*/ 4 h 77"/>
                  <a:gd name="T76" fmla="*/ 11 w 60"/>
                  <a:gd name="T77" fmla="*/ 2 h 77"/>
                  <a:gd name="T78" fmla="*/ 26 w 60"/>
                  <a:gd name="T79" fmla="*/ 1 h 77"/>
                  <a:gd name="T80" fmla="*/ 31 w 60"/>
                  <a:gd name="T81" fmla="*/ 3 h 77"/>
                  <a:gd name="T82" fmla="*/ 32 w 60"/>
                  <a:gd name="T83" fmla="*/ 0 h 77"/>
                  <a:gd name="T84" fmla="*/ 43 w 60"/>
                  <a:gd name="T85" fmla="*/ 6 h 77"/>
                  <a:gd name="T86" fmla="*/ 41 w 60"/>
                  <a:gd name="T87" fmla="*/ 2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0"/>
                  <a:gd name="T133" fmla="*/ 0 h 77"/>
                  <a:gd name="T134" fmla="*/ 60 w 60"/>
                  <a:gd name="T135" fmla="*/ 77 h 7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0" h="77">
                    <a:moveTo>
                      <a:pt x="49" y="4"/>
                    </a:moveTo>
                    <a:lnTo>
                      <a:pt x="54" y="7"/>
                    </a:lnTo>
                    <a:lnTo>
                      <a:pt x="56" y="11"/>
                    </a:lnTo>
                    <a:lnTo>
                      <a:pt x="58" y="14"/>
                    </a:lnTo>
                    <a:lnTo>
                      <a:pt x="59" y="16"/>
                    </a:lnTo>
                    <a:lnTo>
                      <a:pt x="57" y="18"/>
                    </a:lnTo>
                    <a:lnTo>
                      <a:pt x="55" y="19"/>
                    </a:lnTo>
                    <a:lnTo>
                      <a:pt x="48" y="19"/>
                    </a:lnTo>
                    <a:lnTo>
                      <a:pt x="44" y="19"/>
                    </a:lnTo>
                    <a:lnTo>
                      <a:pt x="41" y="16"/>
                    </a:lnTo>
                    <a:lnTo>
                      <a:pt x="36" y="15"/>
                    </a:lnTo>
                    <a:lnTo>
                      <a:pt x="32" y="15"/>
                    </a:lnTo>
                    <a:lnTo>
                      <a:pt x="27" y="15"/>
                    </a:lnTo>
                    <a:lnTo>
                      <a:pt x="34" y="16"/>
                    </a:lnTo>
                    <a:lnTo>
                      <a:pt x="37" y="17"/>
                    </a:lnTo>
                    <a:lnTo>
                      <a:pt x="40" y="19"/>
                    </a:lnTo>
                    <a:lnTo>
                      <a:pt x="41" y="19"/>
                    </a:lnTo>
                    <a:lnTo>
                      <a:pt x="39" y="19"/>
                    </a:lnTo>
                    <a:lnTo>
                      <a:pt x="37" y="22"/>
                    </a:lnTo>
                    <a:lnTo>
                      <a:pt x="35" y="19"/>
                    </a:lnTo>
                    <a:lnTo>
                      <a:pt x="33" y="19"/>
                    </a:lnTo>
                    <a:lnTo>
                      <a:pt x="28" y="19"/>
                    </a:lnTo>
                    <a:lnTo>
                      <a:pt x="27" y="19"/>
                    </a:lnTo>
                    <a:lnTo>
                      <a:pt x="32" y="20"/>
                    </a:lnTo>
                    <a:lnTo>
                      <a:pt x="34" y="22"/>
                    </a:lnTo>
                    <a:lnTo>
                      <a:pt x="37" y="23"/>
                    </a:lnTo>
                    <a:lnTo>
                      <a:pt x="35" y="26"/>
                    </a:lnTo>
                    <a:lnTo>
                      <a:pt x="32" y="24"/>
                    </a:lnTo>
                    <a:lnTo>
                      <a:pt x="28" y="23"/>
                    </a:lnTo>
                    <a:lnTo>
                      <a:pt x="34" y="26"/>
                    </a:lnTo>
                    <a:lnTo>
                      <a:pt x="36" y="28"/>
                    </a:lnTo>
                    <a:lnTo>
                      <a:pt x="37" y="31"/>
                    </a:lnTo>
                    <a:lnTo>
                      <a:pt x="37" y="33"/>
                    </a:lnTo>
                    <a:lnTo>
                      <a:pt x="34" y="31"/>
                    </a:lnTo>
                    <a:lnTo>
                      <a:pt x="31" y="30"/>
                    </a:lnTo>
                    <a:lnTo>
                      <a:pt x="26" y="30"/>
                    </a:lnTo>
                    <a:lnTo>
                      <a:pt x="33" y="33"/>
                    </a:lnTo>
                    <a:lnTo>
                      <a:pt x="38" y="34"/>
                    </a:lnTo>
                    <a:lnTo>
                      <a:pt x="41" y="37"/>
                    </a:lnTo>
                    <a:lnTo>
                      <a:pt x="41" y="39"/>
                    </a:lnTo>
                    <a:lnTo>
                      <a:pt x="37" y="38"/>
                    </a:lnTo>
                    <a:lnTo>
                      <a:pt x="32" y="35"/>
                    </a:lnTo>
                    <a:lnTo>
                      <a:pt x="30" y="35"/>
                    </a:lnTo>
                    <a:lnTo>
                      <a:pt x="36" y="38"/>
                    </a:lnTo>
                    <a:lnTo>
                      <a:pt x="40" y="40"/>
                    </a:lnTo>
                    <a:lnTo>
                      <a:pt x="41" y="41"/>
                    </a:lnTo>
                    <a:lnTo>
                      <a:pt x="41" y="44"/>
                    </a:lnTo>
                    <a:lnTo>
                      <a:pt x="37" y="42"/>
                    </a:lnTo>
                    <a:lnTo>
                      <a:pt x="34" y="41"/>
                    </a:lnTo>
                    <a:lnTo>
                      <a:pt x="28" y="40"/>
                    </a:lnTo>
                    <a:lnTo>
                      <a:pt x="26" y="41"/>
                    </a:lnTo>
                    <a:lnTo>
                      <a:pt x="20" y="41"/>
                    </a:lnTo>
                    <a:lnTo>
                      <a:pt x="13" y="40"/>
                    </a:lnTo>
                    <a:lnTo>
                      <a:pt x="17" y="41"/>
                    </a:lnTo>
                    <a:lnTo>
                      <a:pt x="24" y="43"/>
                    </a:lnTo>
                    <a:lnTo>
                      <a:pt x="23" y="46"/>
                    </a:lnTo>
                    <a:lnTo>
                      <a:pt x="18" y="45"/>
                    </a:lnTo>
                    <a:lnTo>
                      <a:pt x="13" y="42"/>
                    </a:lnTo>
                    <a:lnTo>
                      <a:pt x="10" y="41"/>
                    </a:lnTo>
                    <a:lnTo>
                      <a:pt x="16" y="46"/>
                    </a:lnTo>
                    <a:lnTo>
                      <a:pt x="20" y="48"/>
                    </a:lnTo>
                    <a:lnTo>
                      <a:pt x="23" y="49"/>
                    </a:lnTo>
                    <a:lnTo>
                      <a:pt x="23" y="53"/>
                    </a:lnTo>
                    <a:lnTo>
                      <a:pt x="18" y="51"/>
                    </a:lnTo>
                    <a:lnTo>
                      <a:pt x="15" y="50"/>
                    </a:lnTo>
                    <a:lnTo>
                      <a:pt x="17" y="52"/>
                    </a:lnTo>
                    <a:lnTo>
                      <a:pt x="21" y="53"/>
                    </a:lnTo>
                    <a:lnTo>
                      <a:pt x="23" y="53"/>
                    </a:lnTo>
                    <a:lnTo>
                      <a:pt x="23" y="60"/>
                    </a:lnTo>
                    <a:lnTo>
                      <a:pt x="18" y="58"/>
                    </a:lnTo>
                    <a:lnTo>
                      <a:pt x="15" y="57"/>
                    </a:lnTo>
                    <a:lnTo>
                      <a:pt x="19" y="60"/>
                    </a:lnTo>
                    <a:lnTo>
                      <a:pt x="24" y="63"/>
                    </a:lnTo>
                    <a:lnTo>
                      <a:pt x="23" y="65"/>
                    </a:lnTo>
                    <a:lnTo>
                      <a:pt x="20" y="69"/>
                    </a:lnTo>
                    <a:lnTo>
                      <a:pt x="18" y="65"/>
                    </a:lnTo>
                    <a:lnTo>
                      <a:pt x="15" y="60"/>
                    </a:lnTo>
                    <a:lnTo>
                      <a:pt x="13" y="56"/>
                    </a:lnTo>
                    <a:lnTo>
                      <a:pt x="15" y="63"/>
                    </a:lnTo>
                    <a:lnTo>
                      <a:pt x="17" y="65"/>
                    </a:lnTo>
                    <a:lnTo>
                      <a:pt x="20" y="71"/>
                    </a:lnTo>
                    <a:lnTo>
                      <a:pt x="17" y="74"/>
                    </a:lnTo>
                    <a:lnTo>
                      <a:pt x="14" y="70"/>
                    </a:lnTo>
                    <a:lnTo>
                      <a:pt x="11" y="65"/>
                    </a:lnTo>
                    <a:lnTo>
                      <a:pt x="8" y="60"/>
                    </a:lnTo>
                    <a:lnTo>
                      <a:pt x="11" y="68"/>
                    </a:lnTo>
                    <a:lnTo>
                      <a:pt x="13" y="71"/>
                    </a:lnTo>
                    <a:lnTo>
                      <a:pt x="15" y="75"/>
                    </a:lnTo>
                    <a:lnTo>
                      <a:pt x="13" y="76"/>
                    </a:lnTo>
                    <a:lnTo>
                      <a:pt x="8" y="71"/>
                    </a:lnTo>
                    <a:lnTo>
                      <a:pt x="4" y="63"/>
                    </a:lnTo>
                    <a:lnTo>
                      <a:pt x="2" y="57"/>
                    </a:lnTo>
                    <a:lnTo>
                      <a:pt x="1" y="45"/>
                    </a:lnTo>
                    <a:lnTo>
                      <a:pt x="1" y="38"/>
                    </a:lnTo>
                    <a:lnTo>
                      <a:pt x="0" y="28"/>
                    </a:lnTo>
                    <a:lnTo>
                      <a:pt x="5" y="30"/>
                    </a:lnTo>
                    <a:lnTo>
                      <a:pt x="10" y="33"/>
                    </a:lnTo>
                    <a:lnTo>
                      <a:pt x="19" y="35"/>
                    </a:lnTo>
                    <a:lnTo>
                      <a:pt x="11" y="31"/>
                    </a:lnTo>
                    <a:lnTo>
                      <a:pt x="8" y="29"/>
                    </a:lnTo>
                    <a:lnTo>
                      <a:pt x="3" y="26"/>
                    </a:lnTo>
                    <a:lnTo>
                      <a:pt x="0" y="26"/>
                    </a:lnTo>
                    <a:lnTo>
                      <a:pt x="0" y="21"/>
                    </a:lnTo>
                    <a:lnTo>
                      <a:pt x="1" y="15"/>
                    </a:lnTo>
                    <a:lnTo>
                      <a:pt x="8" y="16"/>
                    </a:lnTo>
                    <a:lnTo>
                      <a:pt x="12" y="19"/>
                    </a:lnTo>
                    <a:lnTo>
                      <a:pt x="17" y="21"/>
                    </a:lnTo>
                    <a:lnTo>
                      <a:pt x="13" y="16"/>
                    </a:lnTo>
                    <a:lnTo>
                      <a:pt x="6" y="15"/>
                    </a:lnTo>
                    <a:lnTo>
                      <a:pt x="1" y="13"/>
                    </a:lnTo>
                    <a:lnTo>
                      <a:pt x="2" y="8"/>
                    </a:lnTo>
                    <a:lnTo>
                      <a:pt x="4" y="5"/>
                    </a:lnTo>
                    <a:lnTo>
                      <a:pt x="9" y="3"/>
                    </a:lnTo>
                    <a:lnTo>
                      <a:pt x="14" y="4"/>
                    </a:lnTo>
                    <a:lnTo>
                      <a:pt x="19" y="9"/>
                    </a:lnTo>
                    <a:lnTo>
                      <a:pt x="15" y="4"/>
                    </a:lnTo>
                    <a:lnTo>
                      <a:pt x="11" y="2"/>
                    </a:lnTo>
                    <a:lnTo>
                      <a:pt x="16" y="0"/>
                    </a:lnTo>
                    <a:lnTo>
                      <a:pt x="20" y="0"/>
                    </a:lnTo>
                    <a:lnTo>
                      <a:pt x="26" y="1"/>
                    </a:lnTo>
                    <a:lnTo>
                      <a:pt x="29" y="4"/>
                    </a:lnTo>
                    <a:lnTo>
                      <a:pt x="35" y="6"/>
                    </a:lnTo>
                    <a:lnTo>
                      <a:pt x="31" y="3"/>
                    </a:lnTo>
                    <a:lnTo>
                      <a:pt x="28" y="1"/>
                    </a:lnTo>
                    <a:lnTo>
                      <a:pt x="26" y="0"/>
                    </a:lnTo>
                    <a:lnTo>
                      <a:pt x="32" y="0"/>
                    </a:lnTo>
                    <a:lnTo>
                      <a:pt x="37" y="0"/>
                    </a:lnTo>
                    <a:lnTo>
                      <a:pt x="41" y="3"/>
                    </a:lnTo>
                    <a:lnTo>
                      <a:pt x="43" y="6"/>
                    </a:lnTo>
                    <a:lnTo>
                      <a:pt x="46" y="11"/>
                    </a:lnTo>
                    <a:lnTo>
                      <a:pt x="45" y="5"/>
                    </a:lnTo>
                    <a:lnTo>
                      <a:pt x="41" y="2"/>
                    </a:lnTo>
                    <a:lnTo>
                      <a:pt x="49" y="4"/>
                    </a:lnTo>
                  </a:path>
                </a:pathLst>
              </a:custGeom>
              <a:solidFill>
                <a:srgbClr val="A05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nvGrpSpPr>
              <p:cNvPr id="9279" name="Group 63"/>
              <p:cNvGrpSpPr>
                <a:grpSpLocks/>
              </p:cNvGrpSpPr>
              <p:nvPr/>
            </p:nvGrpSpPr>
            <p:grpSpPr bwMode="auto">
              <a:xfrm>
                <a:off x="5340" y="1203"/>
                <a:ext cx="78" cy="51"/>
                <a:chOff x="5340" y="1203"/>
                <a:chExt cx="78" cy="51"/>
              </a:xfrm>
            </p:grpSpPr>
            <p:sp>
              <p:nvSpPr>
                <p:cNvPr id="9301" name="Freeform 64"/>
                <p:cNvSpPr>
                  <a:spLocks/>
                </p:cNvSpPr>
                <p:nvPr/>
              </p:nvSpPr>
              <p:spPr bwMode="auto">
                <a:xfrm>
                  <a:off x="5340" y="1203"/>
                  <a:ext cx="66" cy="51"/>
                </a:xfrm>
                <a:custGeom>
                  <a:avLst/>
                  <a:gdLst>
                    <a:gd name="T0" fmla="*/ 0 w 66"/>
                    <a:gd name="T1" fmla="*/ 29 h 51"/>
                    <a:gd name="T2" fmla="*/ 8 w 66"/>
                    <a:gd name="T3" fmla="*/ 27 h 51"/>
                    <a:gd name="T4" fmla="*/ 10 w 66"/>
                    <a:gd name="T5" fmla="*/ 26 h 51"/>
                    <a:gd name="T6" fmla="*/ 13 w 66"/>
                    <a:gd name="T7" fmla="*/ 24 h 51"/>
                    <a:gd name="T8" fmla="*/ 15 w 66"/>
                    <a:gd name="T9" fmla="*/ 21 h 51"/>
                    <a:gd name="T10" fmla="*/ 18 w 66"/>
                    <a:gd name="T11" fmla="*/ 16 h 51"/>
                    <a:gd name="T12" fmla="*/ 26 w 66"/>
                    <a:gd name="T13" fmla="*/ 8 h 51"/>
                    <a:gd name="T14" fmla="*/ 27 w 66"/>
                    <a:gd name="T15" fmla="*/ 6 h 51"/>
                    <a:gd name="T16" fmla="*/ 28 w 66"/>
                    <a:gd name="T17" fmla="*/ 3 h 51"/>
                    <a:gd name="T18" fmla="*/ 32 w 66"/>
                    <a:gd name="T19" fmla="*/ 3 h 51"/>
                    <a:gd name="T20" fmla="*/ 43 w 66"/>
                    <a:gd name="T21" fmla="*/ 0 h 51"/>
                    <a:gd name="T22" fmla="*/ 47 w 66"/>
                    <a:gd name="T23" fmla="*/ 0 h 51"/>
                    <a:gd name="T24" fmla="*/ 49 w 66"/>
                    <a:gd name="T25" fmla="*/ 1 h 51"/>
                    <a:gd name="T26" fmla="*/ 51 w 66"/>
                    <a:gd name="T27" fmla="*/ 3 h 51"/>
                    <a:gd name="T28" fmla="*/ 58 w 66"/>
                    <a:gd name="T29" fmla="*/ 5 h 51"/>
                    <a:gd name="T30" fmla="*/ 60 w 66"/>
                    <a:gd name="T31" fmla="*/ 7 h 51"/>
                    <a:gd name="T32" fmla="*/ 61 w 66"/>
                    <a:gd name="T33" fmla="*/ 8 h 51"/>
                    <a:gd name="T34" fmla="*/ 62 w 66"/>
                    <a:gd name="T35" fmla="*/ 12 h 51"/>
                    <a:gd name="T36" fmla="*/ 63 w 66"/>
                    <a:gd name="T37" fmla="*/ 15 h 51"/>
                    <a:gd name="T38" fmla="*/ 63 w 66"/>
                    <a:gd name="T39" fmla="*/ 16 h 51"/>
                    <a:gd name="T40" fmla="*/ 65 w 66"/>
                    <a:gd name="T41" fmla="*/ 19 h 51"/>
                    <a:gd name="T42" fmla="*/ 65 w 66"/>
                    <a:gd name="T43" fmla="*/ 20 h 51"/>
                    <a:gd name="T44" fmla="*/ 63 w 66"/>
                    <a:gd name="T45" fmla="*/ 22 h 51"/>
                    <a:gd name="T46" fmla="*/ 60 w 66"/>
                    <a:gd name="T47" fmla="*/ 22 h 51"/>
                    <a:gd name="T48" fmla="*/ 56 w 66"/>
                    <a:gd name="T49" fmla="*/ 19 h 51"/>
                    <a:gd name="T50" fmla="*/ 51 w 66"/>
                    <a:gd name="T51" fmla="*/ 18 h 51"/>
                    <a:gd name="T52" fmla="*/ 46 w 66"/>
                    <a:gd name="T53" fmla="*/ 19 h 51"/>
                    <a:gd name="T54" fmla="*/ 51 w 66"/>
                    <a:gd name="T55" fmla="*/ 20 h 51"/>
                    <a:gd name="T56" fmla="*/ 54 w 66"/>
                    <a:gd name="T57" fmla="*/ 22 h 51"/>
                    <a:gd name="T58" fmla="*/ 59 w 66"/>
                    <a:gd name="T59" fmla="*/ 24 h 51"/>
                    <a:gd name="T60" fmla="*/ 60 w 66"/>
                    <a:gd name="T61" fmla="*/ 26 h 51"/>
                    <a:gd name="T62" fmla="*/ 60 w 66"/>
                    <a:gd name="T63" fmla="*/ 28 h 51"/>
                    <a:gd name="T64" fmla="*/ 58 w 66"/>
                    <a:gd name="T65" fmla="*/ 29 h 51"/>
                    <a:gd name="T66" fmla="*/ 56 w 66"/>
                    <a:gd name="T67" fmla="*/ 29 h 51"/>
                    <a:gd name="T68" fmla="*/ 51 w 66"/>
                    <a:gd name="T69" fmla="*/ 27 h 51"/>
                    <a:gd name="T70" fmla="*/ 45 w 66"/>
                    <a:gd name="T71" fmla="*/ 26 h 51"/>
                    <a:gd name="T72" fmla="*/ 41 w 66"/>
                    <a:gd name="T73" fmla="*/ 27 h 51"/>
                    <a:gd name="T74" fmla="*/ 39 w 66"/>
                    <a:gd name="T75" fmla="*/ 29 h 51"/>
                    <a:gd name="T76" fmla="*/ 36 w 66"/>
                    <a:gd name="T77" fmla="*/ 32 h 51"/>
                    <a:gd name="T78" fmla="*/ 34 w 66"/>
                    <a:gd name="T79" fmla="*/ 36 h 51"/>
                    <a:gd name="T80" fmla="*/ 32 w 66"/>
                    <a:gd name="T81" fmla="*/ 40 h 51"/>
                    <a:gd name="T82" fmla="*/ 30 w 66"/>
                    <a:gd name="T83" fmla="*/ 42 h 51"/>
                    <a:gd name="T84" fmla="*/ 28 w 66"/>
                    <a:gd name="T85" fmla="*/ 46 h 51"/>
                    <a:gd name="T86" fmla="*/ 25 w 66"/>
                    <a:gd name="T87" fmla="*/ 46 h 51"/>
                    <a:gd name="T88" fmla="*/ 21 w 66"/>
                    <a:gd name="T89" fmla="*/ 46 h 51"/>
                    <a:gd name="T90" fmla="*/ 17 w 66"/>
                    <a:gd name="T91" fmla="*/ 46 h 51"/>
                    <a:gd name="T92" fmla="*/ 15 w 66"/>
                    <a:gd name="T93" fmla="*/ 46 h 51"/>
                    <a:gd name="T94" fmla="*/ 10 w 66"/>
                    <a:gd name="T95" fmla="*/ 47 h 51"/>
                    <a:gd name="T96" fmla="*/ 0 w 66"/>
                    <a:gd name="T97" fmla="*/ 50 h 51"/>
                    <a:gd name="T98" fmla="*/ 0 w 66"/>
                    <a:gd name="T99" fmla="*/ 29 h 5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6"/>
                    <a:gd name="T151" fmla="*/ 0 h 51"/>
                    <a:gd name="T152" fmla="*/ 66 w 66"/>
                    <a:gd name="T153" fmla="*/ 51 h 5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6" h="51">
                      <a:moveTo>
                        <a:pt x="0" y="29"/>
                      </a:moveTo>
                      <a:lnTo>
                        <a:pt x="8" y="27"/>
                      </a:lnTo>
                      <a:lnTo>
                        <a:pt x="10" y="26"/>
                      </a:lnTo>
                      <a:lnTo>
                        <a:pt x="13" y="24"/>
                      </a:lnTo>
                      <a:lnTo>
                        <a:pt x="15" y="21"/>
                      </a:lnTo>
                      <a:lnTo>
                        <a:pt x="18" y="16"/>
                      </a:lnTo>
                      <a:lnTo>
                        <a:pt x="26" y="8"/>
                      </a:lnTo>
                      <a:lnTo>
                        <a:pt x="27" y="6"/>
                      </a:lnTo>
                      <a:lnTo>
                        <a:pt x="28" y="3"/>
                      </a:lnTo>
                      <a:lnTo>
                        <a:pt x="32" y="3"/>
                      </a:lnTo>
                      <a:lnTo>
                        <a:pt x="43" y="0"/>
                      </a:lnTo>
                      <a:lnTo>
                        <a:pt x="47" y="0"/>
                      </a:lnTo>
                      <a:lnTo>
                        <a:pt x="49" y="1"/>
                      </a:lnTo>
                      <a:lnTo>
                        <a:pt x="51" y="3"/>
                      </a:lnTo>
                      <a:lnTo>
                        <a:pt x="58" y="5"/>
                      </a:lnTo>
                      <a:lnTo>
                        <a:pt x="60" y="7"/>
                      </a:lnTo>
                      <a:lnTo>
                        <a:pt x="61" y="8"/>
                      </a:lnTo>
                      <a:lnTo>
                        <a:pt x="62" y="12"/>
                      </a:lnTo>
                      <a:lnTo>
                        <a:pt x="63" y="15"/>
                      </a:lnTo>
                      <a:lnTo>
                        <a:pt x="63" y="16"/>
                      </a:lnTo>
                      <a:lnTo>
                        <a:pt x="65" y="19"/>
                      </a:lnTo>
                      <a:lnTo>
                        <a:pt x="65" y="20"/>
                      </a:lnTo>
                      <a:lnTo>
                        <a:pt x="63" y="22"/>
                      </a:lnTo>
                      <a:lnTo>
                        <a:pt x="60" y="22"/>
                      </a:lnTo>
                      <a:lnTo>
                        <a:pt x="56" y="19"/>
                      </a:lnTo>
                      <a:lnTo>
                        <a:pt x="51" y="18"/>
                      </a:lnTo>
                      <a:lnTo>
                        <a:pt x="46" y="19"/>
                      </a:lnTo>
                      <a:lnTo>
                        <a:pt x="51" y="20"/>
                      </a:lnTo>
                      <a:lnTo>
                        <a:pt x="54" y="22"/>
                      </a:lnTo>
                      <a:lnTo>
                        <a:pt x="59" y="24"/>
                      </a:lnTo>
                      <a:lnTo>
                        <a:pt x="60" y="26"/>
                      </a:lnTo>
                      <a:lnTo>
                        <a:pt x="60" y="28"/>
                      </a:lnTo>
                      <a:lnTo>
                        <a:pt x="58" y="29"/>
                      </a:lnTo>
                      <a:lnTo>
                        <a:pt x="56" y="29"/>
                      </a:lnTo>
                      <a:lnTo>
                        <a:pt x="51" y="27"/>
                      </a:lnTo>
                      <a:lnTo>
                        <a:pt x="45" y="26"/>
                      </a:lnTo>
                      <a:lnTo>
                        <a:pt x="41" y="27"/>
                      </a:lnTo>
                      <a:lnTo>
                        <a:pt x="39" y="29"/>
                      </a:lnTo>
                      <a:lnTo>
                        <a:pt x="36" y="32"/>
                      </a:lnTo>
                      <a:lnTo>
                        <a:pt x="34" y="36"/>
                      </a:lnTo>
                      <a:lnTo>
                        <a:pt x="32" y="40"/>
                      </a:lnTo>
                      <a:lnTo>
                        <a:pt x="30" y="42"/>
                      </a:lnTo>
                      <a:lnTo>
                        <a:pt x="28" y="46"/>
                      </a:lnTo>
                      <a:lnTo>
                        <a:pt x="25" y="46"/>
                      </a:lnTo>
                      <a:lnTo>
                        <a:pt x="21" y="46"/>
                      </a:lnTo>
                      <a:lnTo>
                        <a:pt x="17" y="46"/>
                      </a:lnTo>
                      <a:lnTo>
                        <a:pt x="15" y="46"/>
                      </a:lnTo>
                      <a:lnTo>
                        <a:pt x="10" y="47"/>
                      </a:lnTo>
                      <a:lnTo>
                        <a:pt x="0" y="50"/>
                      </a:lnTo>
                      <a:lnTo>
                        <a:pt x="0" y="29"/>
                      </a:lnTo>
                    </a:path>
                  </a:pathLst>
                </a:custGeom>
                <a:solidFill>
                  <a:srgbClr val="FFC080"/>
                </a:solidFill>
                <a:ln w="12700" cap="rnd" cmpd="sng">
                  <a:solidFill>
                    <a:srgbClr val="402000"/>
                  </a:solidFill>
                  <a:prstDash val="solid"/>
                  <a:round/>
                  <a:headEnd/>
                  <a:tailEnd/>
                </a:ln>
              </p:spPr>
              <p:txBody>
                <a:bodyPr/>
                <a:lstStyle/>
                <a:p>
                  <a:endParaRPr lang="en-IN"/>
                </a:p>
              </p:txBody>
            </p:sp>
            <p:sp>
              <p:nvSpPr>
                <p:cNvPr id="9302" name="Freeform 65"/>
                <p:cNvSpPr>
                  <a:spLocks/>
                </p:cNvSpPr>
                <p:nvPr/>
              </p:nvSpPr>
              <p:spPr bwMode="auto">
                <a:xfrm>
                  <a:off x="5381" y="1211"/>
                  <a:ext cx="22" cy="17"/>
                </a:xfrm>
                <a:custGeom>
                  <a:avLst/>
                  <a:gdLst>
                    <a:gd name="T0" fmla="*/ 21 w 22"/>
                    <a:gd name="T1" fmla="*/ 16 h 17"/>
                    <a:gd name="T2" fmla="*/ 17 w 22"/>
                    <a:gd name="T3" fmla="*/ 10 h 17"/>
                    <a:gd name="T4" fmla="*/ 14 w 22"/>
                    <a:gd name="T5" fmla="*/ 8 h 17"/>
                    <a:gd name="T6" fmla="*/ 11 w 22"/>
                    <a:gd name="T7" fmla="*/ 6 h 17"/>
                    <a:gd name="T8" fmla="*/ 7 w 22"/>
                    <a:gd name="T9" fmla="*/ 2 h 17"/>
                    <a:gd name="T10" fmla="*/ 3 w 22"/>
                    <a:gd name="T11" fmla="*/ 4 h 17"/>
                    <a:gd name="T12" fmla="*/ 0 w 22"/>
                    <a:gd name="T13" fmla="*/ 6 h 17"/>
                    <a:gd name="T14" fmla="*/ 4 w 22"/>
                    <a:gd name="T15" fmla="*/ 2 h 17"/>
                    <a:gd name="T16" fmla="*/ 9 w 22"/>
                    <a:gd name="T17" fmla="*/ 0 h 17"/>
                    <a:gd name="T18" fmla="*/ 14 w 22"/>
                    <a:gd name="T19" fmla="*/ 8 h 17"/>
                    <a:gd name="T20" fmla="*/ 17 w 22"/>
                    <a:gd name="T21" fmla="*/ 8 h 17"/>
                    <a:gd name="T22" fmla="*/ 21 w 22"/>
                    <a:gd name="T23" fmla="*/ 12 h 17"/>
                    <a:gd name="T24" fmla="*/ 21 w 22"/>
                    <a:gd name="T25" fmla="*/ 16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17"/>
                    <a:gd name="T41" fmla="*/ 22 w 22"/>
                    <a:gd name="T42" fmla="*/ 17 h 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17">
                      <a:moveTo>
                        <a:pt x="21" y="16"/>
                      </a:moveTo>
                      <a:lnTo>
                        <a:pt x="17" y="10"/>
                      </a:lnTo>
                      <a:lnTo>
                        <a:pt x="14" y="8"/>
                      </a:lnTo>
                      <a:lnTo>
                        <a:pt x="11" y="6"/>
                      </a:lnTo>
                      <a:lnTo>
                        <a:pt x="7" y="2"/>
                      </a:lnTo>
                      <a:lnTo>
                        <a:pt x="3" y="4"/>
                      </a:lnTo>
                      <a:lnTo>
                        <a:pt x="0" y="6"/>
                      </a:lnTo>
                      <a:lnTo>
                        <a:pt x="4" y="2"/>
                      </a:lnTo>
                      <a:lnTo>
                        <a:pt x="9" y="0"/>
                      </a:lnTo>
                      <a:lnTo>
                        <a:pt x="14" y="8"/>
                      </a:lnTo>
                      <a:lnTo>
                        <a:pt x="17" y="8"/>
                      </a:lnTo>
                      <a:lnTo>
                        <a:pt x="21" y="12"/>
                      </a:lnTo>
                      <a:lnTo>
                        <a:pt x="21" y="16"/>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03" name="Freeform 66"/>
                <p:cNvSpPr>
                  <a:spLocks/>
                </p:cNvSpPr>
                <p:nvPr/>
              </p:nvSpPr>
              <p:spPr bwMode="auto">
                <a:xfrm>
                  <a:off x="5372" y="1204"/>
                  <a:ext cx="20" cy="17"/>
                </a:xfrm>
                <a:custGeom>
                  <a:avLst/>
                  <a:gdLst>
                    <a:gd name="T0" fmla="*/ 13 w 20"/>
                    <a:gd name="T1" fmla="*/ 0 h 17"/>
                    <a:gd name="T2" fmla="*/ 16 w 20"/>
                    <a:gd name="T3" fmla="*/ 2 h 17"/>
                    <a:gd name="T4" fmla="*/ 19 w 20"/>
                    <a:gd name="T5" fmla="*/ 5 h 17"/>
                    <a:gd name="T6" fmla="*/ 16 w 20"/>
                    <a:gd name="T7" fmla="*/ 5 h 17"/>
                    <a:gd name="T8" fmla="*/ 13 w 20"/>
                    <a:gd name="T9" fmla="*/ 2 h 17"/>
                    <a:gd name="T10" fmla="*/ 8 w 20"/>
                    <a:gd name="T11" fmla="*/ 10 h 17"/>
                    <a:gd name="T12" fmla="*/ 4 w 20"/>
                    <a:gd name="T13" fmla="*/ 13 h 17"/>
                    <a:gd name="T14" fmla="*/ 0 w 20"/>
                    <a:gd name="T15" fmla="*/ 16 h 17"/>
                    <a:gd name="T16" fmla="*/ 0 w 20"/>
                    <a:gd name="T17" fmla="*/ 13 h 17"/>
                    <a:gd name="T18" fmla="*/ 4 w 20"/>
                    <a:gd name="T19" fmla="*/ 10 h 17"/>
                    <a:gd name="T20" fmla="*/ 9 w 20"/>
                    <a:gd name="T21" fmla="*/ 5 h 17"/>
                    <a:gd name="T22" fmla="*/ 13 w 20"/>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
                    <a:gd name="T37" fmla="*/ 0 h 17"/>
                    <a:gd name="T38" fmla="*/ 20 w 20"/>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 h="17">
                      <a:moveTo>
                        <a:pt x="13" y="0"/>
                      </a:moveTo>
                      <a:lnTo>
                        <a:pt x="16" y="2"/>
                      </a:lnTo>
                      <a:lnTo>
                        <a:pt x="19" y="5"/>
                      </a:lnTo>
                      <a:lnTo>
                        <a:pt x="16" y="5"/>
                      </a:lnTo>
                      <a:lnTo>
                        <a:pt x="13" y="2"/>
                      </a:lnTo>
                      <a:lnTo>
                        <a:pt x="8" y="10"/>
                      </a:lnTo>
                      <a:lnTo>
                        <a:pt x="4" y="13"/>
                      </a:lnTo>
                      <a:lnTo>
                        <a:pt x="0" y="16"/>
                      </a:lnTo>
                      <a:lnTo>
                        <a:pt x="0" y="13"/>
                      </a:lnTo>
                      <a:lnTo>
                        <a:pt x="4" y="10"/>
                      </a:lnTo>
                      <a:lnTo>
                        <a:pt x="9" y="5"/>
                      </a:lnTo>
                      <a:lnTo>
                        <a:pt x="13"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04" name="Freeform 67"/>
                <p:cNvSpPr>
                  <a:spLocks/>
                </p:cNvSpPr>
                <p:nvPr/>
              </p:nvSpPr>
              <p:spPr bwMode="auto">
                <a:xfrm>
                  <a:off x="5380" y="1220"/>
                  <a:ext cx="17" cy="17"/>
                </a:xfrm>
                <a:custGeom>
                  <a:avLst/>
                  <a:gdLst>
                    <a:gd name="T0" fmla="*/ 16 w 17"/>
                    <a:gd name="T1" fmla="*/ 5 h 17"/>
                    <a:gd name="T2" fmla="*/ 14 w 17"/>
                    <a:gd name="T3" fmla="*/ 16 h 17"/>
                    <a:gd name="T4" fmla="*/ 8 w 17"/>
                    <a:gd name="T5" fmla="*/ 10 h 17"/>
                    <a:gd name="T6" fmla="*/ 1 w 17"/>
                    <a:gd name="T7" fmla="*/ 10 h 17"/>
                    <a:gd name="T8" fmla="*/ 0 w 17"/>
                    <a:gd name="T9" fmla="*/ 0 h 17"/>
                    <a:gd name="T10" fmla="*/ 4 w 17"/>
                    <a:gd name="T11" fmla="*/ 5 h 17"/>
                    <a:gd name="T12" fmla="*/ 16 w 17"/>
                    <a:gd name="T13" fmla="*/ 5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16" y="5"/>
                      </a:moveTo>
                      <a:lnTo>
                        <a:pt x="14" y="16"/>
                      </a:lnTo>
                      <a:lnTo>
                        <a:pt x="8" y="10"/>
                      </a:lnTo>
                      <a:lnTo>
                        <a:pt x="1" y="10"/>
                      </a:lnTo>
                      <a:lnTo>
                        <a:pt x="0" y="0"/>
                      </a:lnTo>
                      <a:lnTo>
                        <a:pt x="4" y="5"/>
                      </a:lnTo>
                      <a:lnTo>
                        <a:pt x="16" y="5"/>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05" name="Freeform 68"/>
                <p:cNvSpPr>
                  <a:spLocks/>
                </p:cNvSpPr>
                <p:nvPr/>
              </p:nvSpPr>
              <p:spPr bwMode="auto">
                <a:xfrm>
                  <a:off x="5401" y="1218"/>
                  <a:ext cx="17" cy="17"/>
                </a:xfrm>
                <a:custGeom>
                  <a:avLst/>
                  <a:gdLst>
                    <a:gd name="T0" fmla="*/ 0 w 17"/>
                    <a:gd name="T1" fmla="*/ 0 h 17"/>
                    <a:gd name="T2" fmla="*/ 0 w 17"/>
                    <a:gd name="T3" fmla="*/ 3 h 17"/>
                    <a:gd name="T4" fmla="*/ 8 w 17"/>
                    <a:gd name="T5" fmla="*/ 12 h 17"/>
                    <a:gd name="T6" fmla="*/ 16 w 17"/>
                    <a:gd name="T7" fmla="*/ 16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0" y="3"/>
                      </a:lnTo>
                      <a:lnTo>
                        <a:pt x="8" y="12"/>
                      </a:lnTo>
                      <a:lnTo>
                        <a:pt x="16" y="16"/>
                      </a:lnTo>
                      <a:lnTo>
                        <a:pt x="0"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06" name="Freeform 69"/>
                <p:cNvSpPr>
                  <a:spLocks/>
                </p:cNvSpPr>
                <p:nvPr/>
              </p:nvSpPr>
              <p:spPr bwMode="auto">
                <a:xfrm>
                  <a:off x="5396" y="1228"/>
                  <a:ext cx="17" cy="17"/>
                </a:xfrm>
                <a:custGeom>
                  <a:avLst/>
                  <a:gdLst>
                    <a:gd name="T0" fmla="*/ 0 w 17"/>
                    <a:gd name="T1" fmla="*/ 0 h 17"/>
                    <a:gd name="T2" fmla="*/ 8 w 17"/>
                    <a:gd name="T3" fmla="*/ 8 h 17"/>
                    <a:gd name="T4" fmla="*/ 16 w 17"/>
                    <a:gd name="T5" fmla="*/ 16 h 17"/>
                    <a:gd name="T6" fmla="*/ 0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0"/>
                      </a:moveTo>
                      <a:lnTo>
                        <a:pt x="8" y="8"/>
                      </a:lnTo>
                      <a:lnTo>
                        <a:pt x="16" y="16"/>
                      </a:lnTo>
                      <a:lnTo>
                        <a:pt x="0"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07" name="Freeform 70"/>
                <p:cNvSpPr>
                  <a:spLocks/>
                </p:cNvSpPr>
                <p:nvPr/>
              </p:nvSpPr>
              <p:spPr bwMode="auto">
                <a:xfrm>
                  <a:off x="5371" y="1214"/>
                  <a:ext cx="17" cy="17"/>
                </a:xfrm>
                <a:custGeom>
                  <a:avLst/>
                  <a:gdLst>
                    <a:gd name="T0" fmla="*/ 16 w 17"/>
                    <a:gd name="T1" fmla="*/ 0 h 17"/>
                    <a:gd name="T2" fmla="*/ 12 w 17"/>
                    <a:gd name="T3" fmla="*/ 5 h 17"/>
                    <a:gd name="T4" fmla="*/ 12 w 17"/>
                    <a:gd name="T5" fmla="*/ 10 h 17"/>
                    <a:gd name="T6" fmla="*/ 0 w 17"/>
                    <a:gd name="T7" fmla="*/ 16 h 17"/>
                    <a:gd name="T8" fmla="*/ 16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0"/>
                      </a:moveTo>
                      <a:lnTo>
                        <a:pt x="12" y="5"/>
                      </a:lnTo>
                      <a:lnTo>
                        <a:pt x="12" y="10"/>
                      </a:lnTo>
                      <a:lnTo>
                        <a:pt x="0" y="16"/>
                      </a:lnTo>
                      <a:lnTo>
                        <a:pt x="16"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08" name="Freeform 71"/>
                <p:cNvSpPr>
                  <a:spLocks/>
                </p:cNvSpPr>
                <p:nvPr/>
              </p:nvSpPr>
              <p:spPr bwMode="auto">
                <a:xfrm>
                  <a:off x="5356" y="1214"/>
                  <a:ext cx="17" cy="17"/>
                </a:xfrm>
                <a:custGeom>
                  <a:avLst/>
                  <a:gdLst>
                    <a:gd name="T0" fmla="*/ 16 w 17"/>
                    <a:gd name="T1" fmla="*/ 0 h 17"/>
                    <a:gd name="T2" fmla="*/ 13 w 17"/>
                    <a:gd name="T3" fmla="*/ 4 h 17"/>
                    <a:gd name="T4" fmla="*/ 10 w 17"/>
                    <a:gd name="T5" fmla="*/ 9 h 17"/>
                    <a:gd name="T6" fmla="*/ 0 w 17"/>
                    <a:gd name="T7" fmla="*/ 16 h 17"/>
                    <a:gd name="T8" fmla="*/ 9 w 17"/>
                    <a:gd name="T9" fmla="*/ 7 h 17"/>
                    <a:gd name="T10" fmla="*/ 16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6" y="0"/>
                      </a:moveTo>
                      <a:lnTo>
                        <a:pt x="13" y="4"/>
                      </a:lnTo>
                      <a:lnTo>
                        <a:pt x="10" y="9"/>
                      </a:lnTo>
                      <a:lnTo>
                        <a:pt x="0" y="16"/>
                      </a:lnTo>
                      <a:lnTo>
                        <a:pt x="9" y="7"/>
                      </a:lnTo>
                      <a:lnTo>
                        <a:pt x="16"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09" name="Freeform 72"/>
                <p:cNvSpPr>
                  <a:spLocks/>
                </p:cNvSpPr>
                <p:nvPr/>
              </p:nvSpPr>
              <p:spPr bwMode="auto">
                <a:xfrm>
                  <a:off x="5352" y="1234"/>
                  <a:ext cx="17" cy="17"/>
                </a:xfrm>
                <a:custGeom>
                  <a:avLst/>
                  <a:gdLst>
                    <a:gd name="T0" fmla="*/ 0 w 17"/>
                    <a:gd name="T1" fmla="*/ 0 h 17"/>
                    <a:gd name="T2" fmla="*/ 10 w 17"/>
                    <a:gd name="T3" fmla="*/ 5 h 17"/>
                    <a:gd name="T4" fmla="*/ 16 w 17"/>
                    <a:gd name="T5" fmla="*/ 12 h 17"/>
                    <a:gd name="T6" fmla="*/ 16 w 17"/>
                    <a:gd name="T7" fmla="*/ 16 h 17"/>
                    <a:gd name="T8" fmla="*/ 16 w 17"/>
                    <a:gd name="T9" fmla="*/ 9 h 17"/>
                    <a:gd name="T10" fmla="*/ 16 w 17"/>
                    <a:gd name="T11" fmla="*/ 4 h 17"/>
                    <a:gd name="T12" fmla="*/ 0 w 17"/>
                    <a:gd name="T13" fmla="*/ 0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0"/>
                      </a:moveTo>
                      <a:lnTo>
                        <a:pt x="10" y="5"/>
                      </a:lnTo>
                      <a:lnTo>
                        <a:pt x="16" y="12"/>
                      </a:lnTo>
                      <a:lnTo>
                        <a:pt x="16" y="16"/>
                      </a:lnTo>
                      <a:lnTo>
                        <a:pt x="16" y="9"/>
                      </a:lnTo>
                      <a:lnTo>
                        <a:pt x="16" y="4"/>
                      </a:lnTo>
                      <a:lnTo>
                        <a:pt x="0"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10" name="Freeform 73"/>
                <p:cNvSpPr>
                  <a:spLocks/>
                </p:cNvSpPr>
                <p:nvPr/>
              </p:nvSpPr>
              <p:spPr bwMode="auto">
                <a:xfrm>
                  <a:off x="5376" y="1223"/>
                  <a:ext cx="17" cy="17"/>
                </a:xfrm>
                <a:custGeom>
                  <a:avLst/>
                  <a:gdLst>
                    <a:gd name="T0" fmla="*/ 8 w 17"/>
                    <a:gd name="T1" fmla="*/ 0 h 17"/>
                    <a:gd name="T2" fmla="*/ 0 w 17"/>
                    <a:gd name="T3" fmla="*/ 6 h 17"/>
                    <a:gd name="T4" fmla="*/ 16 w 17"/>
                    <a:gd name="T5" fmla="*/ 16 h 17"/>
                    <a:gd name="T6" fmla="*/ 8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8" y="0"/>
                      </a:moveTo>
                      <a:lnTo>
                        <a:pt x="0" y="6"/>
                      </a:lnTo>
                      <a:lnTo>
                        <a:pt x="16" y="16"/>
                      </a:lnTo>
                      <a:lnTo>
                        <a:pt x="8"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grpSp>
            <p:nvGrpSpPr>
              <p:cNvPr id="9280" name="Group 74"/>
              <p:cNvGrpSpPr>
                <a:grpSpLocks/>
              </p:cNvGrpSpPr>
              <p:nvPr/>
            </p:nvGrpSpPr>
            <p:grpSpPr bwMode="auto">
              <a:xfrm>
                <a:off x="5198" y="1091"/>
                <a:ext cx="152" cy="219"/>
                <a:chOff x="5198" y="1091"/>
                <a:chExt cx="152" cy="219"/>
              </a:xfrm>
            </p:grpSpPr>
            <p:sp>
              <p:nvSpPr>
                <p:cNvPr id="9287" name="Freeform 75"/>
                <p:cNvSpPr>
                  <a:spLocks/>
                </p:cNvSpPr>
                <p:nvPr/>
              </p:nvSpPr>
              <p:spPr bwMode="auto">
                <a:xfrm>
                  <a:off x="5280" y="1091"/>
                  <a:ext cx="17" cy="17"/>
                </a:xfrm>
                <a:custGeom>
                  <a:avLst/>
                  <a:gdLst>
                    <a:gd name="T0" fmla="*/ 16 w 17"/>
                    <a:gd name="T1" fmla="*/ 0 h 17"/>
                    <a:gd name="T2" fmla="*/ 11 w 17"/>
                    <a:gd name="T3" fmla="*/ 3 h 17"/>
                    <a:gd name="T4" fmla="*/ 6 w 17"/>
                    <a:gd name="T5" fmla="*/ 6 h 17"/>
                    <a:gd name="T6" fmla="*/ 2 w 17"/>
                    <a:gd name="T7" fmla="*/ 9 h 17"/>
                    <a:gd name="T8" fmla="*/ 0 w 17"/>
                    <a:gd name="T9" fmla="*/ 16 h 17"/>
                    <a:gd name="T10" fmla="*/ 4 w 17"/>
                    <a:gd name="T11" fmla="*/ 12 h 17"/>
                    <a:gd name="T12" fmla="*/ 11 w 17"/>
                    <a:gd name="T13" fmla="*/ 9 h 17"/>
                    <a:gd name="T14" fmla="*/ 16 w 17"/>
                    <a:gd name="T15" fmla="*/ 0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16" y="0"/>
                      </a:moveTo>
                      <a:lnTo>
                        <a:pt x="11" y="3"/>
                      </a:lnTo>
                      <a:lnTo>
                        <a:pt x="6" y="6"/>
                      </a:lnTo>
                      <a:lnTo>
                        <a:pt x="2" y="9"/>
                      </a:lnTo>
                      <a:lnTo>
                        <a:pt x="0" y="16"/>
                      </a:lnTo>
                      <a:lnTo>
                        <a:pt x="4" y="12"/>
                      </a:lnTo>
                      <a:lnTo>
                        <a:pt x="11" y="9"/>
                      </a:lnTo>
                      <a:lnTo>
                        <a:pt x="16"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88" name="Freeform 76"/>
                <p:cNvSpPr>
                  <a:spLocks/>
                </p:cNvSpPr>
                <p:nvPr/>
              </p:nvSpPr>
              <p:spPr bwMode="auto">
                <a:xfrm>
                  <a:off x="5282" y="1098"/>
                  <a:ext cx="17" cy="17"/>
                </a:xfrm>
                <a:custGeom>
                  <a:avLst/>
                  <a:gdLst>
                    <a:gd name="T0" fmla="*/ 16 w 17"/>
                    <a:gd name="T1" fmla="*/ 0 h 17"/>
                    <a:gd name="T2" fmla="*/ 0 w 17"/>
                    <a:gd name="T3" fmla="*/ 0 h 17"/>
                    <a:gd name="T4" fmla="*/ 0 w 17"/>
                    <a:gd name="T5" fmla="*/ 16 h 17"/>
                    <a:gd name="T6" fmla="*/ 16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16" y="0"/>
                      </a:moveTo>
                      <a:lnTo>
                        <a:pt x="0" y="0"/>
                      </a:lnTo>
                      <a:lnTo>
                        <a:pt x="0" y="16"/>
                      </a:lnTo>
                      <a:lnTo>
                        <a:pt x="16"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89" name="Freeform 77"/>
                <p:cNvSpPr>
                  <a:spLocks/>
                </p:cNvSpPr>
                <p:nvPr/>
              </p:nvSpPr>
              <p:spPr bwMode="auto">
                <a:xfrm>
                  <a:off x="5263" y="1120"/>
                  <a:ext cx="41" cy="129"/>
                </a:xfrm>
                <a:custGeom>
                  <a:avLst/>
                  <a:gdLst>
                    <a:gd name="T0" fmla="*/ 5 w 41"/>
                    <a:gd name="T1" fmla="*/ 0 h 129"/>
                    <a:gd name="T2" fmla="*/ 9 w 41"/>
                    <a:gd name="T3" fmla="*/ 5 h 129"/>
                    <a:gd name="T4" fmla="*/ 11 w 41"/>
                    <a:gd name="T5" fmla="*/ 12 h 129"/>
                    <a:gd name="T6" fmla="*/ 16 w 41"/>
                    <a:gd name="T7" fmla="*/ 19 h 129"/>
                    <a:gd name="T8" fmla="*/ 28 w 41"/>
                    <a:gd name="T9" fmla="*/ 54 h 129"/>
                    <a:gd name="T10" fmla="*/ 35 w 41"/>
                    <a:gd name="T11" fmla="*/ 85 h 129"/>
                    <a:gd name="T12" fmla="*/ 40 w 41"/>
                    <a:gd name="T13" fmla="*/ 128 h 129"/>
                    <a:gd name="T14" fmla="*/ 23 w 41"/>
                    <a:gd name="T15" fmla="*/ 109 h 129"/>
                    <a:gd name="T16" fmla="*/ 0 w 41"/>
                    <a:gd name="T17" fmla="*/ 16 h 129"/>
                    <a:gd name="T18" fmla="*/ 5 w 41"/>
                    <a:gd name="T19" fmla="*/ 0 h 1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
                    <a:gd name="T31" fmla="*/ 0 h 129"/>
                    <a:gd name="T32" fmla="*/ 41 w 41"/>
                    <a:gd name="T33" fmla="*/ 129 h 1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 h="129">
                      <a:moveTo>
                        <a:pt x="5" y="0"/>
                      </a:moveTo>
                      <a:lnTo>
                        <a:pt x="9" y="5"/>
                      </a:lnTo>
                      <a:lnTo>
                        <a:pt x="11" y="12"/>
                      </a:lnTo>
                      <a:lnTo>
                        <a:pt x="16" y="19"/>
                      </a:lnTo>
                      <a:lnTo>
                        <a:pt x="28" y="54"/>
                      </a:lnTo>
                      <a:lnTo>
                        <a:pt x="35" y="85"/>
                      </a:lnTo>
                      <a:lnTo>
                        <a:pt x="40" y="128"/>
                      </a:lnTo>
                      <a:lnTo>
                        <a:pt x="23" y="109"/>
                      </a:lnTo>
                      <a:lnTo>
                        <a:pt x="0" y="16"/>
                      </a:lnTo>
                      <a:lnTo>
                        <a:pt x="5" y="0"/>
                      </a:lnTo>
                    </a:path>
                  </a:pathLst>
                </a:custGeom>
                <a:solidFill>
                  <a:srgbClr val="400000"/>
                </a:solidFill>
                <a:ln w="12700" cap="rnd" cmpd="sng">
                  <a:solidFill>
                    <a:srgbClr val="000000"/>
                  </a:solidFill>
                  <a:prstDash val="solid"/>
                  <a:round/>
                  <a:headEnd/>
                  <a:tailEnd/>
                </a:ln>
              </p:spPr>
              <p:txBody>
                <a:bodyPr/>
                <a:lstStyle/>
                <a:p>
                  <a:endParaRPr lang="en-IN"/>
                </a:p>
              </p:txBody>
            </p:sp>
            <p:sp>
              <p:nvSpPr>
                <p:cNvPr id="9290" name="Freeform 78"/>
                <p:cNvSpPr>
                  <a:spLocks/>
                </p:cNvSpPr>
                <p:nvPr/>
              </p:nvSpPr>
              <p:spPr bwMode="auto">
                <a:xfrm>
                  <a:off x="5198" y="1095"/>
                  <a:ext cx="152" cy="215"/>
                </a:xfrm>
                <a:custGeom>
                  <a:avLst/>
                  <a:gdLst>
                    <a:gd name="T0" fmla="*/ 27 w 152"/>
                    <a:gd name="T1" fmla="*/ 11 h 215"/>
                    <a:gd name="T2" fmla="*/ 32 w 152"/>
                    <a:gd name="T3" fmla="*/ 0 h 215"/>
                    <a:gd name="T4" fmla="*/ 69 w 152"/>
                    <a:gd name="T5" fmla="*/ 19 h 215"/>
                    <a:gd name="T6" fmla="*/ 70 w 152"/>
                    <a:gd name="T7" fmla="*/ 34 h 215"/>
                    <a:gd name="T8" fmla="*/ 74 w 152"/>
                    <a:gd name="T9" fmla="*/ 39 h 215"/>
                    <a:gd name="T10" fmla="*/ 78 w 152"/>
                    <a:gd name="T11" fmla="*/ 45 h 215"/>
                    <a:gd name="T12" fmla="*/ 80 w 152"/>
                    <a:gd name="T13" fmla="*/ 56 h 215"/>
                    <a:gd name="T14" fmla="*/ 89 w 152"/>
                    <a:gd name="T15" fmla="*/ 81 h 215"/>
                    <a:gd name="T16" fmla="*/ 96 w 152"/>
                    <a:gd name="T17" fmla="*/ 109 h 215"/>
                    <a:gd name="T18" fmla="*/ 98 w 152"/>
                    <a:gd name="T19" fmla="*/ 129 h 215"/>
                    <a:gd name="T20" fmla="*/ 128 w 152"/>
                    <a:gd name="T21" fmla="*/ 130 h 215"/>
                    <a:gd name="T22" fmla="*/ 132 w 152"/>
                    <a:gd name="T23" fmla="*/ 134 h 215"/>
                    <a:gd name="T24" fmla="*/ 146 w 152"/>
                    <a:gd name="T25" fmla="*/ 134 h 215"/>
                    <a:gd name="T26" fmla="*/ 151 w 152"/>
                    <a:gd name="T27" fmla="*/ 141 h 215"/>
                    <a:gd name="T28" fmla="*/ 151 w 152"/>
                    <a:gd name="T29" fmla="*/ 150 h 215"/>
                    <a:gd name="T30" fmla="*/ 150 w 152"/>
                    <a:gd name="T31" fmla="*/ 159 h 215"/>
                    <a:gd name="T32" fmla="*/ 137 w 152"/>
                    <a:gd name="T33" fmla="*/ 161 h 215"/>
                    <a:gd name="T34" fmla="*/ 131 w 152"/>
                    <a:gd name="T35" fmla="*/ 173 h 215"/>
                    <a:gd name="T36" fmla="*/ 119 w 152"/>
                    <a:gd name="T37" fmla="*/ 176 h 215"/>
                    <a:gd name="T38" fmla="*/ 110 w 152"/>
                    <a:gd name="T39" fmla="*/ 176 h 215"/>
                    <a:gd name="T40" fmla="*/ 100 w 152"/>
                    <a:gd name="T41" fmla="*/ 178 h 215"/>
                    <a:gd name="T42" fmla="*/ 100 w 152"/>
                    <a:gd name="T43" fmla="*/ 184 h 215"/>
                    <a:gd name="T44" fmla="*/ 100 w 152"/>
                    <a:gd name="T45" fmla="*/ 195 h 215"/>
                    <a:gd name="T46" fmla="*/ 99 w 152"/>
                    <a:gd name="T47" fmla="*/ 202 h 215"/>
                    <a:gd name="T48" fmla="*/ 93 w 152"/>
                    <a:gd name="T49" fmla="*/ 203 h 215"/>
                    <a:gd name="T50" fmla="*/ 86 w 152"/>
                    <a:gd name="T51" fmla="*/ 205 h 215"/>
                    <a:gd name="T52" fmla="*/ 80 w 152"/>
                    <a:gd name="T53" fmla="*/ 213 h 215"/>
                    <a:gd name="T54" fmla="*/ 73 w 152"/>
                    <a:gd name="T55" fmla="*/ 213 h 215"/>
                    <a:gd name="T56" fmla="*/ 66 w 152"/>
                    <a:gd name="T57" fmla="*/ 212 h 215"/>
                    <a:gd name="T58" fmla="*/ 54 w 152"/>
                    <a:gd name="T59" fmla="*/ 207 h 215"/>
                    <a:gd name="T60" fmla="*/ 43 w 152"/>
                    <a:gd name="T61" fmla="*/ 209 h 215"/>
                    <a:gd name="T62" fmla="*/ 31 w 152"/>
                    <a:gd name="T63" fmla="*/ 214 h 215"/>
                    <a:gd name="T64" fmla="*/ 20 w 152"/>
                    <a:gd name="T65" fmla="*/ 210 h 215"/>
                    <a:gd name="T66" fmla="*/ 12 w 152"/>
                    <a:gd name="T67" fmla="*/ 199 h 215"/>
                    <a:gd name="T68" fmla="*/ 13 w 152"/>
                    <a:gd name="T69" fmla="*/ 187 h 215"/>
                    <a:gd name="T70" fmla="*/ 9 w 152"/>
                    <a:gd name="T71" fmla="*/ 172 h 215"/>
                    <a:gd name="T72" fmla="*/ 8 w 152"/>
                    <a:gd name="T73" fmla="*/ 152 h 215"/>
                    <a:gd name="T74" fmla="*/ 4 w 152"/>
                    <a:gd name="T75" fmla="*/ 135 h 215"/>
                    <a:gd name="T76" fmla="*/ 0 w 152"/>
                    <a:gd name="T77" fmla="*/ 108 h 215"/>
                    <a:gd name="T78" fmla="*/ 0 w 152"/>
                    <a:gd name="T79" fmla="*/ 81 h 215"/>
                    <a:gd name="T80" fmla="*/ 0 w 152"/>
                    <a:gd name="T81" fmla="*/ 56 h 215"/>
                    <a:gd name="T82" fmla="*/ 1 w 152"/>
                    <a:gd name="T83" fmla="*/ 40 h 215"/>
                    <a:gd name="T84" fmla="*/ 4 w 152"/>
                    <a:gd name="T85" fmla="*/ 32 h 215"/>
                    <a:gd name="T86" fmla="*/ 11 w 152"/>
                    <a:gd name="T87" fmla="*/ 27 h 215"/>
                    <a:gd name="T88" fmla="*/ 18 w 152"/>
                    <a:gd name="T89" fmla="*/ 16 h 215"/>
                    <a:gd name="T90" fmla="*/ 27 w 152"/>
                    <a:gd name="T91" fmla="*/ 11 h 2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2"/>
                    <a:gd name="T139" fmla="*/ 0 h 215"/>
                    <a:gd name="T140" fmla="*/ 152 w 152"/>
                    <a:gd name="T141" fmla="*/ 215 h 2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2" h="215">
                      <a:moveTo>
                        <a:pt x="27" y="11"/>
                      </a:moveTo>
                      <a:lnTo>
                        <a:pt x="32" y="0"/>
                      </a:lnTo>
                      <a:lnTo>
                        <a:pt x="69" y="19"/>
                      </a:lnTo>
                      <a:lnTo>
                        <a:pt x="70" y="34"/>
                      </a:lnTo>
                      <a:lnTo>
                        <a:pt x="74" y="39"/>
                      </a:lnTo>
                      <a:lnTo>
                        <a:pt x="78" y="45"/>
                      </a:lnTo>
                      <a:lnTo>
                        <a:pt x="80" y="56"/>
                      </a:lnTo>
                      <a:lnTo>
                        <a:pt x="89" y="81"/>
                      </a:lnTo>
                      <a:lnTo>
                        <a:pt x="96" y="109"/>
                      </a:lnTo>
                      <a:lnTo>
                        <a:pt x="98" y="129"/>
                      </a:lnTo>
                      <a:lnTo>
                        <a:pt x="128" y="130"/>
                      </a:lnTo>
                      <a:lnTo>
                        <a:pt x="132" y="134"/>
                      </a:lnTo>
                      <a:lnTo>
                        <a:pt x="146" y="134"/>
                      </a:lnTo>
                      <a:lnTo>
                        <a:pt x="151" y="141"/>
                      </a:lnTo>
                      <a:lnTo>
                        <a:pt x="151" y="150"/>
                      </a:lnTo>
                      <a:lnTo>
                        <a:pt x="150" y="159"/>
                      </a:lnTo>
                      <a:lnTo>
                        <a:pt x="137" y="161"/>
                      </a:lnTo>
                      <a:lnTo>
                        <a:pt x="131" y="173"/>
                      </a:lnTo>
                      <a:lnTo>
                        <a:pt x="119" y="176"/>
                      </a:lnTo>
                      <a:lnTo>
                        <a:pt x="110" y="176"/>
                      </a:lnTo>
                      <a:lnTo>
                        <a:pt x="100" y="178"/>
                      </a:lnTo>
                      <a:lnTo>
                        <a:pt x="100" y="184"/>
                      </a:lnTo>
                      <a:lnTo>
                        <a:pt x="100" y="195"/>
                      </a:lnTo>
                      <a:lnTo>
                        <a:pt x="99" y="202"/>
                      </a:lnTo>
                      <a:lnTo>
                        <a:pt x="93" y="203"/>
                      </a:lnTo>
                      <a:lnTo>
                        <a:pt x="86" y="205"/>
                      </a:lnTo>
                      <a:lnTo>
                        <a:pt x="80" y="213"/>
                      </a:lnTo>
                      <a:lnTo>
                        <a:pt x="73" y="213"/>
                      </a:lnTo>
                      <a:lnTo>
                        <a:pt x="66" y="212"/>
                      </a:lnTo>
                      <a:lnTo>
                        <a:pt x="54" y="207"/>
                      </a:lnTo>
                      <a:lnTo>
                        <a:pt x="43" y="209"/>
                      </a:lnTo>
                      <a:lnTo>
                        <a:pt x="31" y="214"/>
                      </a:lnTo>
                      <a:lnTo>
                        <a:pt x="20" y="210"/>
                      </a:lnTo>
                      <a:lnTo>
                        <a:pt x="12" y="199"/>
                      </a:lnTo>
                      <a:lnTo>
                        <a:pt x="13" y="187"/>
                      </a:lnTo>
                      <a:lnTo>
                        <a:pt x="9" y="172"/>
                      </a:lnTo>
                      <a:lnTo>
                        <a:pt x="8" y="152"/>
                      </a:lnTo>
                      <a:lnTo>
                        <a:pt x="4" y="135"/>
                      </a:lnTo>
                      <a:lnTo>
                        <a:pt x="0" y="108"/>
                      </a:lnTo>
                      <a:lnTo>
                        <a:pt x="0" y="81"/>
                      </a:lnTo>
                      <a:lnTo>
                        <a:pt x="0" y="56"/>
                      </a:lnTo>
                      <a:lnTo>
                        <a:pt x="1" y="40"/>
                      </a:lnTo>
                      <a:lnTo>
                        <a:pt x="4" y="32"/>
                      </a:lnTo>
                      <a:lnTo>
                        <a:pt x="11" y="27"/>
                      </a:lnTo>
                      <a:lnTo>
                        <a:pt x="18" y="16"/>
                      </a:lnTo>
                      <a:lnTo>
                        <a:pt x="27" y="11"/>
                      </a:lnTo>
                    </a:path>
                  </a:pathLst>
                </a:custGeom>
                <a:solidFill>
                  <a:srgbClr val="C0C0C0"/>
                </a:solidFill>
                <a:ln w="12700" cap="rnd" cmpd="sng">
                  <a:solidFill>
                    <a:srgbClr val="000000"/>
                  </a:solidFill>
                  <a:prstDash val="solid"/>
                  <a:round/>
                  <a:headEnd/>
                  <a:tailEnd/>
                </a:ln>
              </p:spPr>
              <p:txBody>
                <a:bodyPr/>
                <a:lstStyle/>
                <a:p>
                  <a:endParaRPr lang="en-IN"/>
                </a:p>
              </p:txBody>
            </p:sp>
            <p:sp>
              <p:nvSpPr>
                <p:cNvPr id="9291" name="Freeform 79"/>
                <p:cNvSpPr>
                  <a:spLocks/>
                </p:cNvSpPr>
                <p:nvPr/>
              </p:nvSpPr>
              <p:spPr bwMode="auto">
                <a:xfrm>
                  <a:off x="5201" y="1108"/>
                  <a:ext cx="97" cy="200"/>
                </a:xfrm>
                <a:custGeom>
                  <a:avLst/>
                  <a:gdLst>
                    <a:gd name="T0" fmla="*/ 83 w 97"/>
                    <a:gd name="T1" fmla="*/ 164 h 200"/>
                    <a:gd name="T2" fmla="*/ 60 w 97"/>
                    <a:gd name="T3" fmla="*/ 162 h 200"/>
                    <a:gd name="T4" fmla="*/ 41 w 97"/>
                    <a:gd name="T5" fmla="*/ 155 h 200"/>
                    <a:gd name="T6" fmla="*/ 34 w 97"/>
                    <a:gd name="T7" fmla="*/ 136 h 200"/>
                    <a:gd name="T8" fmla="*/ 36 w 97"/>
                    <a:gd name="T9" fmla="*/ 124 h 200"/>
                    <a:gd name="T10" fmla="*/ 21 w 97"/>
                    <a:gd name="T11" fmla="*/ 99 h 200"/>
                    <a:gd name="T12" fmla="*/ 35 w 97"/>
                    <a:gd name="T13" fmla="*/ 110 h 200"/>
                    <a:gd name="T14" fmla="*/ 27 w 97"/>
                    <a:gd name="T15" fmla="*/ 88 h 200"/>
                    <a:gd name="T16" fmla="*/ 16 w 97"/>
                    <a:gd name="T17" fmla="*/ 58 h 200"/>
                    <a:gd name="T18" fmla="*/ 34 w 97"/>
                    <a:gd name="T19" fmla="*/ 83 h 200"/>
                    <a:gd name="T20" fmla="*/ 36 w 97"/>
                    <a:gd name="T21" fmla="*/ 44 h 200"/>
                    <a:gd name="T22" fmla="*/ 45 w 97"/>
                    <a:gd name="T23" fmla="*/ 31 h 200"/>
                    <a:gd name="T24" fmla="*/ 57 w 97"/>
                    <a:gd name="T25" fmla="*/ 25 h 200"/>
                    <a:gd name="T26" fmla="*/ 33 w 97"/>
                    <a:gd name="T27" fmla="*/ 15 h 200"/>
                    <a:gd name="T28" fmla="*/ 22 w 97"/>
                    <a:gd name="T29" fmla="*/ 27 h 200"/>
                    <a:gd name="T30" fmla="*/ 29 w 97"/>
                    <a:gd name="T31" fmla="*/ 15 h 200"/>
                    <a:gd name="T32" fmla="*/ 43 w 97"/>
                    <a:gd name="T33" fmla="*/ 9 h 200"/>
                    <a:gd name="T34" fmla="*/ 33 w 97"/>
                    <a:gd name="T35" fmla="*/ 5 h 200"/>
                    <a:gd name="T36" fmla="*/ 25 w 97"/>
                    <a:gd name="T37" fmla="*/ 0 h 200"/>
                    <a:gd name="T38" fmla="*/ 13 w 97"/>
                    <a:gd name="T39" fmla="*/ 11 h 200"/>
                    <a:gd name="T40" fmla="*/ 3 w 97"/>
                    <a:gd name="T41" fmla="*/ 21 h 200"/>
                    <a:gd name="T42" fmla="*/ 0 w 97"/>
                    <a:gd name="T43" fmla="*/ 39 h 200"/>
                    <a:gd name="T44" fmla="*/ 0 w 97"/>
                    <a:gd name="T45" fmla="*/ 74 h 200"/>
                    <a:gd name="T46" fmla="*/ 4 w 97"/>
                    <a:gd name="T47" fmla="*/ 116 h 200"/>
                    <a:gd name="T48" fmla="*/ 9 w 97"/>
                    <a:gd name="T49" fmla="*/ 156 h 200"/>
                    <a:gd name="T50" fmla="*/ 11 w 97"/>
                    <a:gd name="T51" fmla="*/ 182 h 200"/>
                    <a:gd name="T52" fmla="*/ 17 w 97"/>
                    <a:gd name="T53" fmla="*/ 193 h 200"/>
                    <a:gd name="T54" fmla="*/ 29 w 97"/>
                    <a:gd name="T55" fmla="*/ 199 h 200"/>
                    <a:gd name="T56" fmla="*/ 38 w 97"/>
                    <a:gd name="T57" fmla="*/ 196 h 200"/>
                    <a:gd name="T58" fmla="*/ 44 w 97"/>
                    <a:gd name="T59" fmla="*/ 185 h 200"/>
                    <a:gd name="T60" fmla="*/ 47 w 97"/>
                    <a:gd name="T61" fmla="*/ 182 h 200"/>
                    <a:gd name="T62" fmla="*/ 57 w 97"/>
                    <a:gd name="T63" fmla="*/ 193 h 200"/>
                    <a:gd name="T64" fmla="*/ 69 w 97"/>
                    <a:gd name="T65" fmla="*/ 197 h 200"/>
                    <a:gd name="T66" fmla="*/ 79 w 97"/>
                    <a:gd name="T67" fmla="*/ 195 h 200"/>
                    <a:gd name="T68" fmla="*/ 73 w 97"/>
                    <a:gd name="T69" fmla="*/ 186 h 200"/>
                    <a:gd name="T70" fmla="*/ 62 w 97"/>
                    <a:gd name="T71" fmla="*/ 171 h 200"/>
                    <a:gd name="T72" fmla="*/ 79 w 97"/>
                    <a:gd name="T73" fmla="*/ 183 h 200"/>
                    <a:gd name="T74" fmla="*/ 92 w 97"/>
                    <a:gd name="T75" fmla="*/ 189 h 200"/>
                    <a:gd name="T76" fmla="*/ 96 w 97"/>
                    <a:gd name="T77" fmla="*/ 182 h 20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7"/>
                    <a:gd name="T118" fmla="*/ 0 h 200"/>
                    <a:gd name="T119" fmla="*/ 97 w 97"/>
                    <a:gd name="T120" fmla="*/ 200 h 20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7" h="200">
                      <a:moveTo>
                        <a:pt x="96" y="167"/>
                      </a:moveTo>
                      <a:lnTo>
                        <a:pt x="83" y="164"/>
                      </a:lnTo>
                      <a:lnTo>
                        <a:pt x="72" y="163"/>
                      </a:lnTo>
                      <a:lnTo>
                        <a:pt x="60" y="162"/>
                      </a:lnTo>
                      <a:lnTo>
                        <a:pt x="47" y="159"/>
                      </a:lnTo>
                      <a:lnTo>
                        <a:pt x="41" y="155"/>
                      </a:lnTo>
                      <a:lnTo>
                        <a:pt x="25" y="129"/>
                      </a:lnTo>
                      <a:lnTo>
                        <a:pt x="34" y="136"/>
                      </a:lnTo>
                      <a:lnTo>
                        <a:pt x="38" y="143"/>
                      </a:lnTo>
                      <a:lnTo>
                        <a:pt x="36" y="124"/>
                      </a:lnTo>
                      <a:lnTo>
                        <a:pt x="29" y="118"/>
                      </a:lnTo>
                      <a:lnTo>
                        <a:pt x="21" y="99"/>
                      </a:lnTo>
                      <a:lnTo>
                        <a:pt x="29" y="108"/>
                      </a:lnTo>
                      <a:lnTo>
                        <a:pt x="35" y="110"/>
                      </a:lnTo>
                      <a:lnTo>
                        <a:pt x="34" y="97"/>
                      </a:lnTo>
                      <a:lnTo>
                        <a:pt x="27" y="88"/>
                      </a:lnTo>
                      <a:lnTo>
                        <a:pt x="22" y="81"/>
                      </a:lnTo>
                      <a:lnTo>
                        <a:pt x="16" y="58"/>
                      </a:lnTo>
                      <a:lnTo>
                        <a:pt x="27" y="77"/>
                      </a:lnTo>
                      <a:lnTo>
                        <a:pt x="34" y="83"/>
                      </a:lnTo>
                      <a:lnTo>
                        <a:pt x="34" y="55"/>
                      </a:lnTo>
                      <a:lnTo>
                        <a:pt x="36" y="44"/>
                      </a:lnTo>
                      <a:lnTo>
                        <a:pt x="39" y="39"/>
                      </a:lnTo>
                      <a:lnTo>
                        <a:pt x="45" y="31"/>
                      </a:lnTo>
                      <a:lnTo>
                        <a:pt x="53" y="27"/>
                      </a:lnTo>
                      <a:lnTo>
                        <a:pt x="57" y="25"/>
                      </a:lnTo>
                      <a:lnTo>
                        <a:pt x="45" y="11"/>
                      </a:lnTo>
                      <a:lnTo>
                        <a:pt x="33" y="15"/>
                      </a:lnTo>
                      <a:lnTo>
                        <a:pt x="25" y="20"/>
                      </a:lnTo>
                      <a:lnTo>
                        <a:pt x="22" y="27"/>
                      </a:lnTo>
                      <a:lnTo>
                        <a:pt x="24" y="17"/>
                      </a:lnTo>
                      <a:lnTo>
                        <a:pt x="29" y="15"/>
                      </a:lnTo>
                      <a:lnTo>
                        <a:pt x="36" y="11"/>
                      </a:lnTo>
                      <a:lnTo>
                        <a:pt x="43" y="9"/>
                      </a:lnTo>
                      <a:lnTo>
                        <a:pt x="38" y="7"/>
                      </a:lnTo>
                      <a:lnTo>
                        <a:pt x="33" y="5"/>
                      </a:lnTo>
                      <a:lnTo>
                        <a:pt x="27" y="2"/>
                      </a:lnTo>
                      <a:lnTo>
                        <a:pt x="25" y="0"/>
                      </a:lnTo>
                      <a:lnTo>
                        <a:pt x="18" y="5"/>
                      </a:lnTo>
                      <a:lnTo>
                        <a:pt x="13" y="11"/>
                      </a:lnTo>
                      <a:lnTo>
                        <a:pt x="9" y="17"/>
                      </a:lnTo>
                      <a:lnTo>
                        <a:pt x="3" y="21"/>
                      </a:lnTo>
                      <a:lnTo>
                        <a:pt x="2" y="28"/>
                      </a:lnTo>
                      <a:lnTo>
                        <a:pt x="0" y="39"/>
                      </a:lnTo>
                      <a:lnTo>
                        <a:pt x="0" y="56"/>
                      </a:lnTo>
                      <a:lnTo>
                        <a:pt x="0" y="74"/>
                      </a:lnTo>
                      <a:lnTo>
                        <a:pt x="1" y="95"/>
                      </a:lnTo>
                      <a:lnTo>
                        <a:pt x="4" y="116"/>
                      </a:lnTo>
                      <a:lnTo>
                        <a:pt x="7" y="137"/>
                      </a:lnTo>
                      <a:lnTo>
                        <a:pt x="9" y="156"/>
                      </a:lnTo>
                      <a:lnTo>
                        <a:pt x="12" y="169"/>
                      </a:lnTo>
                      <a:lnTo>
                        <a:pt x="11" y="182"/>
                      </a:lnTo>
                      <a:lnTo>
                        <a:pt x="13" y="188"/>
                      </a:lnTo>
                      <a:lnTo>
                        <a:pt x="17" y="193"/>
                      </a:lnTo>
                      <a:lnTo>
                        <a:pt x="22" y="198"/>
                      </a:lnTo>
                      <a:lnTo>
                        <a:pt x="29" y="199"/>
                      </a:lnTo>
                      <a:lnTo>
                        <a:pt x="33" y="197"/>
                      </a:lnTo>
                      <a:lnTo>
                        <a:pt x="38" y="196"/>
                      </a:lnTo>
                      <a:lnTo>
                        <a:pt x="49" y="193"/>
                      </a:lnTo>
                      <a:lnTo>
                        <a:pt x="44" y="185"/>
                      </a:lnTo>
                      <a:lnTo>
                        <a:pt x="38" y="175"/>
                      </a:lnTo>
                      <a:lnTo>
                        <a:pt x="47" y="182"/>
                      </a:lnTo>
                      <a:lnTo>
                        <a:pt x="52" y="189"/>
                      </a:lnTo>
                      <a:lnTo>
                        <a:pt x="57" y="193"/>
                      </a:lnTo>
                      <a:lnTo>
                        <a:pt x="63" y="197"/>
                      </a:lnTo>
                      <a:lnTo>
                        <a:pt x="69" y="197"/>
                      </a:lnTo>
                      <a:lnTo>
                        <a:pt x="75" y="197"/>
                      </a:lnTo>
                      <a:lnTo>
                        <a:pt x="79" y="195"/>
                      </a:lnTo>
                      <a:lnTo>
                        <a:pt x="81" y="192"/>
                      </a:lnTo>
                      <a:lnTo>
                        <a:pt x="73" y="186"/>
                      </a:lnTo>
                      <a:lnTo>
                        <a:pt x="64" y="176"/>
                      </a:lnTo>
                      <a:lnTo>
                        <a:pt x="62" y="171"/>
                      </a:lnTo>
                      <a:lnTo>
                        <a:pt x="68" y="174"/>
                      </a:lnTo>
                      <a:lnTo>
                        <a:pt x="79" y="183"/>
                      </a:lnTo>
                      <a:lnTo>
                        <a:pt x="83" y="188"/>
                      </a:lnTo>
                      <a:lnTo>
                        <a:pt x="92" y="189"/>
                      </a:lnTo>
                      <a:lnTo>
                        <a:pt x="96" y="187"/>
                      </a:lnTo>
                      <a:lnTo>
                        <a:pt x="96" y="182"/>
                      </a:lnTo>
                      <a:lnTo>
                        <a:pt x="96" y="167"/>
                      </a:lnTo>
                    </a:path>
                  </a:pathLst>
                </a:custGeom>
                <a:solidFill>
                  <a:srgbClr val="E0E0E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92" name="Freeform 80"/>
                <p:cNvSpPr>
                  <a:spLocks/>
                </p:cNvSpPr>
                <p:nvPr/>
              </p:nvSpPr>
              <p:spPr bwMode="auto">
                <a:xfrm>
                  <a:off x="5208" y="1207"/>
                  <a:ext cx="29" cy="93"/>
                </a:xfrm>
                <a:custGeom>
                  <a:avLst/>
                  <a:gdLst>
                    <a:gd name="T0" fmla="*/ 28 w 29"/>
                    <a:gd name="T1" fmla="*/ 92 h 93"/>
                    <a:gd name="T2" fmla="*/ 23 w 29"/>
                    <a:gd name="T3" fmla="*/ 88 h 93"/>
                    <a:gd name="T4" fmla="*/ 18 w 29"/>
                    <a:gd name="T5" fmla="*/ 81 h 93"/>
                    <a:gd name="T6" fmla="*/ 13 w 29"/>
                    <a:gd name="T7" fmla="*/ 68 h 93"/>
                    <a:gd name="T8" fmla="*/ 11 w 29"/>
                    <a:gd name="T9" fmla="*/ 57 h 93"/>
                    <a:gd name="T10" fmla="*/ 7 w 29"/>
                    <a:gd name="T11" fmla="*/ 44 h 93"/>
                    <a:gd name="T12" fmla="*/ 5 w 29"/>
                    <a:gd name="T13" fmla="*/ 32 h 93"/>
                    <a:gd name="T14" fmla="*/ 2 w 29"/>
                    <a:gd name="T15" fmla="*/ 13 h 93"/>
                    <a:gd name="T16" fmla="*/ 0 w 29"/>
                    <a:gd name="T17" fmla="*/ 0 h 93"/>
                    <a:gd name="T18" fmla="*/ 6 w 29"/>
                    <a:gd name="T19" fmla="*/ 26 h 93"/>
                    <a:gd name="T20" fmla="*/ 11 w 29"/>
                    <a:gd name="T21" fmla="*/ 47 h 93"/>
                    <a:gd name="T22" fmla="*/ 16 w 29"/>
                    <a:gd name="T23" fmla="*/ 61 h 93"/>
                    <a:gd name="T24" fmla="*/ 24 w 29"/>
                    <a:gd name="T25" fmla="*/ 76 h 93"/>
                    <a:gd name="T26" fmla="*/ 28 w 29"/>
                    <a:gd name="T27" fmla="*/ 92 h 9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
                    <a:gd name="T43" fmla="*/ 0 h 93"/>
                    <a:gd name="T44" fmla="*/ 29 w 29"/>
                    <a:gd name="T45" fmla="*/ 93 h 9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 h="93">
                      <a:moveTo>
                        <a:pt x="28" y="92"/>
                      </a:moveTo>
                      <a:lnTo>
                        <a:pt x="23" y="88"/>
                      </a:lnTo>
                      <a:lnTo>
                        <a:pt x="18" y="81"/>
                      </a:lnTo>
                      <a:lnTo>
                        <a:pt x="13" y="68"/>
                      </a:lnTo>
                      <a:lnTo>
                        <a:pt x="11" y="57"/>
                      </a:lnTo>
                      <a:lnTo>
                        <a:pt x="7" y="44"/>
                      </a:lnTo>
                      <a:lnTo>
                        <a:pt x="5" y="32"/>
                      </a:lnTo>
                      <a:lnTo>
                        <a:pt x="2" y="13"/>
                      </a:lnTo>
                      <a:lnTo>
                        <a:pt x="0" y="0"/>
                      </a:lnTo>
                      <a:lnTo>
                        <a:pt x="6" y="26"/>
                      </a:lnTo>
                      <a:lnTo>
                        <a:pt x="11" y="47"/>
                      </a:lnTo>
                      <a:lnTo>
                        <a:pt x="16" y="61"/>
                      </a:lnTo>
                      <a:lnTo>
                        <a:pt x="24" y="76"/>
                      </a:lnTo>
                      <a:lnTo>
                        <a:pt x="28" y="92"/>
                      </a:lnTo>
                    </a:path>
                  </a:pathLst>
                </a:custGeom>
                <a:solidFill>
                  <a:srgbClr val="C0C0C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93" name="Freeform 81"/>
                <p:cNvSpPr>
                  <a:spLocks/>
                </p:cNvSpPr>
                <p:nvPr/>
              </p:nvSpPr>
              <p:spPr bwMode="auto">
                <a:xfrm>
                  <a:off x="5236" y="1133"/>
                  <a:ext cx="112" cy="139"/>
                </a:xfrm>
                <a:custGeom>
                  <a:avLst/>
                  <a:gdLst>
                    <a:gd name="T0" fmla="*/ 33 w 112"/>
                    <a:gd name="T1" fmla="*/ 5 h 139"/>
                    <a:gd name="T2" fmla="*/ 43 w 112"/>
                    <a:gd name="T3" fmla="*/ 25 h 139"/>
                    <a:gd name="T4" fmla="*/ 41 w 112"/>
                    <a:gd name="T5" fmla="*/ 45 h 139"/>
                    <a:gd name="T6" fmla="*/ 42 w 112"/>
                    <a:gd name="T7" fmla="*/ 67 h 139"/>
                    <a:gd name="T8" fmla="*/ 42 w 112"/>
                    <a:gd name="T9" fmla="*/ 73 h 139"/>
                    <a:gd name="T10" fmla="*/ 41 w 112"/>
                    <a:gd name="T11" fmla="*/ 81 h 139"/>
                    <a:gd name="T12" fmla="*/ 46 w 112"/>
                    <a:gd name="T13" fmla="*/ 86 h 139"/>
                    <a:gd name="T14" fmla="*/ 50 w 112"/>
                    <a:gd name="T15" fmla="*/ 92 h 139"/>
                    <a:gd name="T16" fmla="*/ 57 w 112"/>
                    <a:gd name="T17" fmla="*/ 92 h 139"/>
                    <a:gd name="T18" fmla="*/ 82 w 112"/>
                    <a:gd name="T19" fmla="*/ 94 h 139"/>
                    <a:gd name="T20" fmla="*/ 94 w 112"/>
                    <a:gd name="T21" fmla="*/ 98 h 139"/>
                    <a:gd name="T22" fmla="*/ 111 w 112"/>
                    <a:gd name="T23" fmla="*/ 103 h 139"/>
                    <a:gd name="T24" fmla="*/ 110 w 112"/>
                    <a:gd name="T25" fmla="*/ 118 h 139"/>
                    <a:gd name="T26" fmla="*/ 101 w 112"/>
                    <a:gd name="T27" fmla="*/ 115 h 139"/>
                    <a:gd name="T28" fmla="*/ 98 w 112"/>
                    <a:gd name="T29" fmla="*/ 108 h 139"/>
                    <a:gd name="T30" fmla="*/ 97 w 112"/>
                    <a:gd name="T31" fmla="*/ 122 h 139"/>
                    <a:gd name="T32" fmla="*/ 90 w 112"/>
                    <a:gd name="T33" fmla="*/ 132 h 139"/>
                    <a:gd name="T34" fmla="*/ 73 w 112"/>
                    <a:gd name="T35" fmla="*/ 137 h 139"/>
                    <a:gd name="T36" fmla="*/ 75 w 112"/>
                    <a:gd name="T37" fmla="*/ 130 h 139"/>
                    <a:gd name="T38" fmla="*/ 85 w 112"/>
                    <a:gd name="T39" fmla="*/ 115 h 139"/>
                    <a:gd name="T40" fmla="*/ 77 w 112"/>
                    <a:gd name="T41" fmla="*/ 110 h 139"/>
                    <a:gd name="T42" fmla="*/ 73 w 112"/>
                    <a:gd name="T43" fmla="*/ 122 h 139"/>
                    <a:gd name="T44" fmla="*/ 60 w 112"/>
                    <a:gd name="T45" fmla="*/ 136 h 139"/>
                    <a:gd name="T46" fmla="*/ 43 w 112"/>
                    <a:gd name="T47" fmla="*/ 136 h 139"/>
                    <a:gd name="T48" fmla="*/ 62 w 112"/>
                    <a:gd name="T49" fmla="*/ 120 h 139"/>
                    <a:gd name="T50" fmla="*/ 69 w 112"/>
                    <a:gd name="T51" fmla="*/ 110 h 139"/>
                    <a:gd name="T52" fmla="*/ 66 w 112"/>
                    <a:gd name="T53" fmla="*/ 104 h 139"/>
                    <a:gd name="T54" fmla="*/ 59 w 112"/>
                    <a:gd name="T55" fmla="*/ 115 h 139"/>
                    <a:gd name="T56" fmla="*/ 47 w 112"/>
                    <a:gd name="T57" fmla="*/ 126 h 139"/>
                    <a:gd name="T58" fmla="*/ 37 w 112"/>
                    <a:gd name="T59" fmla="*/ 133 h 139"/>
                    <a:gd name="T60" fmla="*/ 24 w 112"/>
                    <a:gd name="T61" fmla="*/ 134 h 139"/>
                    <a:gd name="T62" fmla="*/ 32 w 112"/>
                    <a:gd name="T63" fmla="*/ 126 h 139"/>
                    <a:gd name="T64" fmla="*/ 42 w 112"/>
                    <a:gd name="T65" fmla="*/ 115 h 139"/>
                    <a:gd name="T66" fmla="*/ 39 w 112"/>
                    <a:gd name="T67" fmla="*/ 110 h 139"/>
                    <a:gd name="T68" fmla="*/ 34 w 112"/>
                    <a:gd name="T69" fmla="*/ 119 h 139"/>
                    <a:gd name="T70" fmla="*/ 25 w 112"/>
                    <a:gd name="T71" fmla="*/ 129 h 139"/>
                    <a:gd name="T72" fmla="*/ 12 w 112"/>
                    <a:gd name="T73" fmla="*/ 130 h 139"/>
                    <a:gd name="T74" fmla="*/ 5 w 112"/>
                    <a:gd name="T75" fmla="*/ 117 h 139"/>
                    <a:gd name="T76" fmla="*/ 28 w 112"/>
                    <a:gd name="T77" fmla="*/ 113 h 139"/>
                    <a:gd name="T78" fmla="*/ 41 w 112"/>
                    <a:gd name="T79" fmla="*/ 103 h 139"/>
                    <a:gd name="T80" fmla="*/ 44 w 112"/>
                    <a:gd name="T81" fmla="*/ 94 h 139"/>
                    <a:gd name="T82" fmla="*/ 39 w 112"/>
                    <a:gd name="T83" fmla="*/ 98 h 139"/>
                    <a:gd name="T84" fmla="*/ 23 w 112"/>
                    <a:gd name="T85" fmla="*/ 111 h 139"/>
                    <a:gd name="T86" fmla="*/ 5 w 112"/>
                    <a:gd name="T87" fmla="*/ 117 h 139"/>
                    <a:gd name="T88" fmla="*/ 2 w 112"/>
                    <a:gd name="T89" fmla="*/ 91 h 139"/>
                    <a:gd name="T90" fmla="*/ 12 w 112"/>
                    <a:gd name="T91" fmla="*/ 88 h 139"/>
                    <a:gd name="T92" fmla="*/ 33 w 112"/>
                    <a:gd name="T93" fmla="*/ 90 h 139"/>
                    <a:gd name="T94" fmla="*/ 37 w 112"/>
                    <a:gd name="T95" fmla="*/ 84 h 139"/>
                    <a:gd name="T96" fmla="*/ 25 w 112"/>
                    <a:gd name="T97" fmla="*/ 87 h 139"/>
                    <a:gd name="T98" fmla="*/ 2 w 112"/>
                    <a:gd name="T99" fmla="*/ 81 h 139"/>
                    <a:gd name="T100" fmla="*/ 0 w 112"/>
                    <a:gd name="T101" fmla="*/ 57 h 139"/>
                    <a:gd name="T102" fmla="*/ 1 w 112"/>
                    <a:gd name="T103" fmla="*/ 30 h 139"/>
                    <a:gd name="T104" fmla="*/ 13 w 112"/>
                    <a:gd name="T105" fmla="*/ 18 h 139"/>
                    <a:gd name="T106" fmla="*/ 1 w 112"/>
                    <a:gd name="T107" fmla="*/ 23 h 139"/>
                    <a:gd name="T108" fmla="*/ 8 w 112"/>
                    <a:gd name="T109" fmla="*/ 7 h 139"/>
                    <a:gd name="T110" fmla="*/ 20 w 112"/>
                    <a:gd name="T111" fmla="*/ 0 h 13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12"/>
                    <a:gd name="T169" fmla="*/ 0 h 139"/>
                    <a:gd name="T170" fmla="*/ 112 w 112"/>
                    <a:gd name="T171" fmla="*/ 139 h 13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12" h="139">
                      <a:moveTo>
                        <a:pt x="20" y="0"/>
                      </a:moveTo>
                      <a:lnTo>
                        <a:pt x="33" y="5"/>
                      </a:lnTo>
                      <a:lnTo>
                        <a:pt x="39" y="11"/>
                      </a:lnTo>
                      <a:lnTo>
                        <a:pt x="43" y="25"/>
                      </a:lnTo>
                      <a:lnTo>
                        <a:pt x="43" y="38"/>
                      </a:lnTo>
                      <a:lnTo>
                        <a:pt x="41" y="45"/>
                      </a:lnTo>
                      <a:lnTo>
                        <a:pt x="42" y="57"/>
                      </a:lnTo>
                      <a:lnTo>
                        <a:pt x="42" y="67"/>
                      </a:lnTo>
                      <a:lnTo>
                        <a:pt x="40" y="70"/>
                      </a:lnTo>
                      <a:lnTo>
                        <a:pt x="42" y="73"/>
                      </a:lnTo>
                      <a:lnTo>
                        <a:pt x="43" y="77"/>
                      </a:lnTo>
                      <a:lnTo>
                        <a:pt x="41" y="81"/>
                      </a:lnTo>
                      <a:lnTo>
                        <a:pt x="41" y="84"/>
                      </a:lnTo>
                      <a:lnTo>
                        <a:pt x="46" y="86"/>
                      </a:lnTo>
                      <a:lnTo>
                        <a:pt x="45" y="90"/>
                      </a:lnTo>
                      <a:lnTo>
                        <a:pt x="50" y="92"/>
                      </a:lnTo>
                      <a:lnTo>
                        <a:pt x="54" y="91"/>
                      </a:lnTo>
                      <a:lnTo>
                        <a:pt x="57" y="92"/>
                      </a:lnTo>
                      <a:lnTo>
                        <a:pt x="70" y="95"/>
                      </a:lnTo>
                      <a:lnTo>
                        <a:pt x="82" y="94"/>
                      </a:lnTo>
                      <a:lnTo>
                        <a:pt x="90" y="95"/>
                      </a:lnTo>
                      <a:lnTo>
                        <a:pt x="94" y="98"/>
                      </a:lnTo>
                      <a:lnTo>
                        <a:pt x="106" y="98"/>
                      </a:lnTo>
                      <a:lnTo>
                        <a:pt x="111" y="103"/>
                      </a:lnTo>
                      <a:lnTo>
                        <a:pt x="111" y="109"/>
                      </a:lnTo>
                      <a:lnTo>
                        <a:pt x="110" y="118"/>
                      </a:lnTo>
                      <a:lnTo>
                        <a:pt x="101" y="122"/>
                      </a:lnTo>
                      <a:lnTo>
                        <a:pt x="101" y="115"/>
                      </a:lnTo>
                      <a:lnTo>
                        <a:pt x="100" y="111"/>
                      </a:lnTo>
                      <a:lnTo>
                        <a:pt x="98" y="108"/>
                      </a:lnTo>
                      <a:lnTo>
                        <a:pt x="98" y="115"/>
                      </a:lnTo>
                      <a:lnTo>
                        <a:pt x="97" y="122"/>
                      </a:lnTo>
                      <a:lnTo>
                        <a:pt x="94" y="126"/>
                      </a:lnTo>
                      <a:lnTo>
                        <a:pt x="90" y="132"/>
                      </a:lnTo>
                      <a:lnTo>
                        <a:pt x="80" y="135"/>
                      </a:lnTo>
                      <a:lnTo>
                        <a:pt x="73" y="137"/>
                      </a:lnTo>
                      <a:lnTo>
                        <a:pt x="64" y="138"/>
                      </a:lnTo>
                      <a:lnTo>
                        <a:pt x="75" y="130"/>
                      </a:lnTo>
                      <a:lnTo>
                        <a:pt x="83" y="122"/>
                      </a:lnTo>
                      <a:lnTo>
                        <a:pt x="85" y="115"/>
                      </a:lnTo>
                      <a:lnTo>
                        <a:pt x="83" y="111"/>
                      </a:lnTo>
                      <a:lnTo>
                        <a:pt x="77" y="110"/>
                      </a:lnTo>
                      <a:lnTo>
                        <a:pt x="74" y="115"/>
                      </a:lnTo>
                      <a:lnTo>
                        <a:pt x="73" y="122"/>
                      </a:lnTo>
                      <a:lnTo>
                        <a:pt x="67" y="130"/>
                      </a:lnTo>
                      <a:lnTo>
                        <a:pt x="60" y="136"/>
                      </a:lnTo>
                      <a:lnTo>
                        <a:pt x="53" y="137"/>
                      </a:lnTo>
                      <a:lnTo>
                        <a:pt x="43" y="136"/>
                      </a:lnTo>
                      <a:lnTo>
                        <a:pt x="54" y="126"/>
                      </a:lnTo>
                      <a:lnTo>
                        <a:pt x="62" y="120"/>
                      </a:lnTo>
                      <a:lnTo>
                        <a:pt x="68" y="115"/>
                      </a:lnTo>
                      <a:lnTo>
                        <a:pt x="69" y="110"/>
                      </a:lnTo>
                      <a:lnTo>
                        <a:pt x="69" y="105"/>
                      </a:lnTo>
                      <a:lnTo>
                        <a:pt x="66" y="104"/>
                      </a:lnTo>
                      <a:lnTo>
                        <a:pt x="62" y="109"/>
                      </a:lnTo>
                      <a:lnTo>
                        <a:pt x="59" y="115"/>
                      </a:lnTo>
                      <a:lnTo>
                        <a:pt x="53" y="122"/>
                      </a:lnTo>
                      <a:lnTo>
                        <a:pt x="47" y="126"/>
                      </a:lnTo>
                      <a:lnTo>
                        <a:pt x="42" y="130"/>
                      </a:lnTo>
                      <a:lnTo>
                        <a:pt x="37" y="133"/>
                      </a:lnTo>
                      <a:lnTo>
                        <a:pt x="31" y="134"/>
                      </a:lnTo>
                      <a:lnTo>
                        <a:pt x="24" y="134"/>
                      </a:lnTo>
                      <a:lnTo>
                        <a:pt x="17" y="133"/>
                      </a:lnTo>
                      <a:lnTo>
                        <a:pt x="32" y="126"/>
                      </a:lnTo>
                      <a:lnTo>
                        <a:pt x="38" y="122"/>
                      </a:lnTo>
                      <a:lnTo>
                        <a:pt x="42" y="115"/>
                      </a:lnTo>
                      <a:lnTo>
                        <a:pt x="43" y="110"/>
                      </a:lnTo>
                      <a:lnTo>
                        <a:pt x="39" y="110"/>
                      </a:lnTo>
                      <a:lnTo>
                        <a:pt x="37" y="115"/>
                      </a:lnTo>
                      <a:lnTo>
                        <a:pt x="34" y="119"/>
                      </a:lnTo>
                      <a:lnTo>
                        <a:pt x="30" y="124"/>
                      </a:lnTo>
                      <a:lnTo>
                        <a:pt x="25" y="129"/>
                      </a:lnTo>
                      <a:lnTo>
                        <a:pt x="17" y="133"/>
                      </a:lnTo>
                      <a:lnTo>
                        <a:pt x="12" y="130"/>
                      </a:lnTo>
                      <a:lnTo>
                        <a:pt x="9" y="126"/>
                      </a:lnTo>
                      <a:lnTo>
                        <a:pt x="5" y="117"/>
                      </a:lnTo>
                      <a:lnTo>
                        <a:pt x="13" y="115"/>
                      </a:lnTo>
                      <a:lnTo>
                        <a:pt x="28" y="113"/>
                      </a:lnTo>
                      <a:lnTo>
                        <a:pt x="37" y="107"/>
                      </a:lnTo>
                      <a:lnTo>
                        <a:pt x="41" y="103"/>
                      </a:lnTo>
                      <a:lnTo>
                        <a:pt x="43" y="96"/>
                      </a:lnTo>
                      <a:lnTo>
                        <a:pt x="44" y="94"/>
                      </a:lnTo>
                      <a:lnTo>
                        <a:pt x="41" y="94"/>
                      </a:lnTo>
                      <a:lnTo>
                        <a:pt x="39" y="98"/>
                      </a:lnTo>
                      <a:lnTo>
                        <a:pt x="34" y="106"/>
                      </a:lnTo>
                      <a:lnTo>
                        <a:pt x="23" y="111"/>
                      </a:lnTo>
                      <a:lnTo>
                        <a:pt x="13" y="115"/>
                      </a:lnTo>
                      <a:lnTo>
                        <a:pt x="5" y="117"/>
                      </a:lnTo>
                      <a:lnTo>
                        <a:pt x="2" y="102"/>
                      </a:lnTo>
                      <a:lnTo>
                        <a:pt x="2" y="91"/>
                      </a:lnTo>
                      <a:lnTo>
                        <a:pt x="2" y="80"/>
                      </a:lnTo>
                      <a:lnTo>
                        <a:pt x="12" y="88"/>
                      </a:lnTo>
                      <a:lnTo>
                        <a:pt x="24" y="91"/>
                      </a:lnTo>
                      <a:lnTo>
                        <a:pt x="33" y="90"/>
                      </a:lnTo>
                      <a:lnTo>
                        <a:pt x="36" y="88"/>
                      </a:lnTo>
                      <a:lnTo>
                        <a:pt x="37" y="84"/>
                      </a:lnTo>
                      <a:lnTo>
                        <a:pt x="32" y="84"/>
                      </a:lnTo>
                      <a:lnTo>
                        <a:pt x="25" y="87"/>
                      </a:lnTo>
                      <a:lnTo>
                        <a:pt x="11" y="88"/>
                      </a:lnTo>
                      <a:lnTo>
                        <a:pt x="2" y="81"/>
                      </a:lnTo>
                      <a:lnTo>
                        <a:pt x="1" y="67"/>
                      </a:lnTo>
                      <a:lnTo>
                        <a:pt x="0" y="57"/>
                      </a:lnTo>
                      <a:lnTo>
                        <a:pt x="0" y="47"/>
                      </a:lnTo>
                      <a:lnTo>
                        <a:pt x="1" y="30"/>
                      </a:lnTo>
                      <a:lnTo>
                        <a:pt x="4" y="25"/>
                      </a:lnTo>
                      <a:lnTo>
                        <a:pt x="13" y="18"/>
                      </a:lnTo>
                      <a:lnTo>
                        <a:pt x="10" y="19"/>
                      </a:lnTo>
                      <a:lnTo>
                        <a:pt x="1" y="23"/>
                      </a:lnTo>
                      <a:lnTo>
                        <a:pt x="4" y="13"/>
                      </a:lnTo>
                      <a:lnTo>
                        <a:pt x="8" y="7"/>
                      </a:lnTo>
                      <a:lnTo>
                        <a:pt x="10" y="4"/>
                      </a:lnTo>
                      <a:lnTo>
                        <a:pt x="20" y="0"/>
                      </a:lnTo>
                    </a:path>
                  </a:pathLst>
                </a:custGeom>
                <a:solidFill>
                  <a:srgbClr val="E0E0E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94" name="Freeform 82"/>
                <p:cNvSpPr>
                  <a:spLocks/>
                </p:cNvSpPr>
                <p:nvPr/>
              </p:nvSpPr>
              <p:spPr bwMode="auto">
                <a:xfrm>
                  <a:off x="5244" y="1184"/>
                  <a:ext cx="28" cy="32"/>
                </a:xfrm>
                <a:custGeom>
                  <a:avLst/>
                  <a:gdLst>
                    <a:gd name="T0" fmla="*/ 27 w 28"/>
                    <a:gd name="T1" fmla="*/ 0 h 32"/>
                    <a:gd name="T2" fmla="*/ 27 w 28"/>
                    <a:gd name="T3" fmla="*/ 2 h 32"/>
                    <a:gd name="T4" fmla="*/ 23 w 28"/>
                    <a:gd name="T5" fmla="*/ 8 h 32"/>
                    <a:gd name="T6" fmla="*/ 20 w 28"/>
                    <a:gd name="T7" fmla="*/ 11 h 32"/>
                    <a:gd name="T8" fmla="*/ 12 w 28"/>
                    <a:gd name="T9" fmla="*/ 19 h 32"/>
                    <a:gd name="T10" fmla="*/ 10 w 28"/>
                    <a:gd name="T11" fmla="*/ 21 h 32"/>
                    <a:gd name="T12" fmla="*/ 3 w 28"/>
                    <a:gd name="T13" fmla="*/ 27 h 32"/>
                    <a:gd name="T14" fmla="*/ 10 w 28"/>
                    <a:gd name="T15" fmla="*/ 25 h 32"/>
                    <a:gd name="T16" fmla="*/ 18 w 28"/>
                    <a:gd name="T17" fmla="*/ 22 h 32"/>
                    <a:gd name="T18" fmla="*/ 25 w 28"/>
                    <a:gd name="T19" fmla="*/ 21 h 32"/>
                    <a:gd name="T20" fmla="*/ 24 w 28"/>
                    <a:gd name="T21" fmla="*/ 24 h 32"/>
                    <a:gd name="T22" fmla="*/ 12 w 28"/>
                    <a:gd name="T23" fmla="*/ 27 h 32"/>
                    <a:gd name="T24" fmla="*/ 6 w 28"/>
                    <a:gd name="T25" fmla="*/ 30 h 32"/>
                    <a:gd name="T26" fmla="*/ 3 w 28"/>
                    <a:gd name="T27" fmla="*/ 31 h 32"/>
                    <a:gd name="T28" fmla="*/ 0 w 28"/>
                    <a:gd name="T29" fmla="*/ 30 h 32"/>
                    <a:gd name="T30" fmla="*/ 0 w 28"/>
                    <a:gd name="T31" fmla="*/ 26 h 32"/>
                    <a:gd name="T32" fmla="*/ 2 w 28"/>
                    <a:gd name="T33" fmla="*/ 23 h 32"/>
                    <a:gd name="T34" fmla="*/ 6 w 28"/>
                    <a:gd name="T35" fmla="*/ 19 h 32"/>
                    <a:gd name="T36" fmla="*/ 10 w 28"/>
                    <a:gd name="T37" fmla="*/ 13 h 32"/>
                    <a:gd name="T38" fmla="*/ 14 w 28"/>
                    <a:gd name="T39" fmla="*/ 6 h 32"/>
                    <a:gd name="T40" fmla="*/ 18 w 28"/>
                    <a:gd name="T41" fmla="*/ 2 h 32"/>
                    <a:gd name="T42" fmla="*/ 23 w 28"/>
                    <a:gd name="T43" fmla="*/ 0 h 32"/>
                    <a:gd name="T44" fmla="*/ 27 w 28"/>
                    <a:gd name="T45" fmla="*/ 0 h 3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8"/>
                    <a:gd name="T70" fmla="*/ 0 h 32"/>
                    <a:gd name="T71" fmla="*/ 28 w 28"/>
                    <a:gd name="T72" fmla="*/ 32 h 3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8" h="32">
                      <a:moveTo>
                        <a:pt x="27" y="0"/>
                      </a:moveTo>
                      <a:lnTo>
                        <a:pt x="27" y="2"/>
                      </a:lnTo>
                      <a:lnTo>
                        <a:pt x="23" y="8"/>
                      </a:lnTo>
                      <a:lnTo>
                        <a:pt x="20" y="11"/>
                      </a:lnTo>
                      <a:lnTo>
                        <a:pt x="12" y="19"/>
                      </a:lnTo>
                      <a:lnTo>
                        <a:pt x="10" y="21"/>
                      </a:lnTo>
                      <a:lnTo>
                        <a:pt x="3" y="27"/>
                      </a:lnTo>
                      <a:lnTo>
                        <a:pt x="10" y="25"/>
                      </a:lnTo>
                      <a:lnTo>
                        <a:pt x="18" y="22"/>
                      </a:lnTo>
                      <a:lnTo>
                        <a:pt x="25" y="21"/>
                      </a:lnTo>
                      <a:lnTo>
                        <a:pt x="24" y="24"/>
                      </a:lnTo>
                      <a:lnTo>
                        <a:pt x="12" y="27"/>
                      </a:lnTo>
                      <a:lnTo>
                        <a:pt x="6" y="30"/>
                      </a:lnTo>
                      <a:lnTo>
                        <a:pt x="3" y="31"/>
                      </a:lnTo>
                      <a:lnTo>
                        <a:pt x="0" y="30"/>
                      </a:lnTo>
                      <a:lnTo>
                        <a:pt x="0" y="26"/>
                      </a:lnTo>
                      <a:lnTo>
                        <a:pt x="2" y="23"/>
                      </a:lnTo>
                      <a:lnTo>
                        <a:pt x="6" y="19"/>
                      </a:lnTo>
                      <a:lnTo>
                        <a:pt x="10" y="13"/>
                      </a:lnTo>
                      <a:lnTo>
                        <a:pt x="14" y="6"/>
                      </a:lnTo>
                      <a:lnTo>
                        <a:pt x="18" y="2"/>
                      </a:lnTo>
                      <a:lnTo>
                        <a:pt x="23" y="0"/>
                      </a:lnTo>
                      <a:lnTo>
                        <a:pt x="27" y="0"/>
                      </a:lnTo>
                    </a:path>
                  </a:pathLst>
                </a:custGeom>
                <a:solidFill>
                  <a:srgbClr val="C0C0C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95" name="Freeform 83"/>
                <p:cNvSpPr>
                  <a:spLocks/>
                </p:cNvSpPr>
                <p:nvPr/>
              </p:nvSpPr>
              <p:spPr bwMode="auto">
                <a:xfrm>
                  <a:off x="5245" y="1158"/>
                  <a:ext cx="26" cy="42"/>
                </a:xfrm>
                <a:custGeom>
                  <a:avLst/>
                  <a:gdLst>
                    <a:gd name="T0" fmla="*/ 20 w 26"/>
                    <a:gd name="T1" fmla="*/ 0 h 42"/>
                    <a:gd name="T2" fmla="*/ 23 w 26"/>
                    <a:gd name="T3" fmla="*/ 0 h 42"/>
                    <a:gd name="T4" fmla="*/ 25 w 26"/>
                    <a:gd name="T5" fmla="*/ 4 h 42"/>
                    <a:gd name="T6" fmla="*/ 25 w 26"/>
                    <a:gd name="T7" fmla="*/ 7 h 42"/>
                    <a:gd name="T8" fmla="*/ 22 w 26"/>
                    <a:gd name="T9" fmla="*/ 11 h 42"/>
                    <a:gd name="T10" fmla="*/ 19 w 26"/>
                    <a:gd name="T11" fmla="*/ 12 h 42"/>
                    <a:gd name="T12" fmla="*/ 13 w 26"/>
                    <a:gd name="T13" fmla="*/ 17 h 42"/>
                    <a:gd name="T14" fmla="*/ 9 w 26"/>
                    <a:gd name="T15" fmla="*/ 22 h 42"/>
                    <a:gd name="T16" fmla="*/ 4 w 26"/>
                    <a:gd name="T17" fmla="*/ 30 h 42"/>
                    <a:gd name="T18" fmla="*/ 0 w 26"/>
                    <a:gd name="T19" fmla="*/ 37 h 42"/>
                    <a:gd name="T20" fmla="*/ 0 w 26"/>
                    <a:gd name="T21" fmla="*/ 41 h 42"/>
                    <a:gd name="T22" fmla="*/ 0 w 26"/>
                    <a:gd name="T23" fmla="*/ 31 h 42"/>
                    <a:gd name="T24" fmla="*/ 2 w 26"/>
                    <a:gd name="T25" fmla="*/ 23 h 42"/>
                    <a:gd name="T26" fmla="*/ 3 w 26"/>
                    <a:gd name="T27" fmla="*/ 16 h 42"/>
                    <a:gd name="T28" fmla="*/ 6 w 26"/>
                    <a:gd name="T29" fmla="*/ 10 h 42"/>
                    <a:gd name="T30" fmla="*/ 16 w 26"/>
                    <a:gd name="T31" fmla="*/ 0 h 42"/>
                    <a:gd name="T32" fmla="*/ 20 w 26"/>
                    <a:gd name="T33" fmla="*/ 0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6"/>
                    <a:gd name="T52" fmla="*/ 0 h 42"/>
                    <a:gd name="T53" fmla="*/ 26 w 26"/>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6" h="42">
                      <a:moveTo>
                        <a:pt x="20" y="0"/>
                      </a:moveTo>
                      <a:lnTo>
                        <a:pt x="23" y="0"/>
                      </a:lnTo>
                      <a:lnTo>
                        <a:pt x="25" y="4"/>
                      </a:lnTo>
                      <a:lnTo>
                        <a:pt x="25" y="7"/>
                      </a:lnTo>
                      <a:lnTo>
                        <a:pt x="22" y="11"/>
                      </a:lnTo>
                      <a:lnTo>
                        <a:pt x="19" y="12"/>
                      </a:lnTo>
                      <a:lnTo>
                        <a:pt x="13" y="17"/>
                      </a:lnTo>
                      <a:lnTo>
                        <a:pt x="9" y="22"/>
                      </a:lnTo>
                      <a:lnTo>
                        <a:pt x="4" y="30"/>
                      </a:lnTo>
                      <a:lnTo>
                        <a:pt x="0" y="37"/>
                      </a:lnTo>
                      <a:lnTo>
                        <a:pt x="0" y="41"/>
                      </a:lnTo>
                      <a:lnTo>
                        <a:pt x="0" y="31"/>
                      </a:lnTo>
                      <a:lnTo>
                        <a:pt x="2" y="23"/>
                      </a:lnTo>
                      <a:lnTo>
                        <a:pt x="3" y="16"/>
                      </a:lnTo>
                      <a:lnTo>
                        <a:pt x="6" y="10"/>
                      </a:lnTo>
                      <a:lnTo>
                        <a:pt x="16" y="0"/>
                      </a:lnTo>
                      <a:lnTo>
                        <a:pt x="20" y="0"/>
                      </a:lnTo>
                    </a:path>
                  </a:pathLst>
                </a:custGeom>
                <a:solidFill>
                  <a:srgbClr val="C0C0C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96" name="Freeform 84"/>
                <p:cNvSpPr>
                  <a:spLocks/>
                </p:cNvSpPr>
                <p:nvPr/>
              </p:nvSpPr>
              <p:spPr bwMode="auto">
                <a:xfrm>
                  <a:off x="5248" y="1118"/>
                  <a:ext cx="28" cy="24"/>
                </a:xfrm>
                <a:custGeom>
                  <a:avLst/>
                  <a:gdLst>
                    <a:gd name="T0" fmla="*/ 27 w 28"/>
                    <a:gd name="T1" fmla="*/ 23 h 24"/>
                    <a:gd name="T2" fmla="*/ 22 w 28"/>
                    <a:gd name="T3" fmla="*/ 17 h 24"/>
                    <a:gd name="T4" fmla="*/ 14 w 28"/>
                    <a:gd name="T5" fmla="*/ 14 h 24"/>
                    <a:gd name="T6" fmla="*/ 9 w 28"/>
                    <a:gd name="T7" fmla="*/ 13 h 24"/>
                    <a:gd name="T8" fmla="*/ 0 w 28"/>
                    <a:gd name="T9" fmla="*/ 0 h 24"/>
                    <a:gd name="T10" fmla="*/ 6 w 28"/>
                    <a:gd name="T11" fmla="*/ 5 h 24"/>
                    <a:gd name="T12" fmla="*/ 13 w 28"/>
                    <a:gd name="T13" fmla="*/ 8 h 24"/>
                    <a:gd name="T14" fmla="*/ 18 w 28"/>
                    <a:gd name="T15" fmla="*/ 11 h 24"/>
                    <a:gd name="T16" fmla="*/ 20 w 28"/>
                    <a:gd name="T17" fmla="*/ 14 h 24"/>
                    <a:gd name="T18" fmla="*/ 27 w 28"/>
                    <a:gd name="T19" fmla="*/ 23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24"/>
                    <a:gd name="T32" fmla="*/ 28 w 28"/>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24">
                      <a:moveTo>
                        <a:pt x="27" y="23"/>
                      </a:moveTo>
                      <a:lnTo>
                        <a:pt x="22" y="17"/>
                      </a:lnTo>
                      <a:lnTo>
                        <a:pt x="14" y="14"/>
                      </a:lnTo>
                      <a:lnTo>
                        <a:pt x="9" y="13"/>
                      </a:lnTo>
                      <a:lnTo>
                        <a:pt x="0" y="0"/>
                      </a:lnTo>
                      <a:lnTo>
                        <a:pt x="6" y="5"/>
                      </a:lnTo>
                      <a:lnTo>
                        <a:pt x="13" y="8"/>
                      </a:lnTo>
                      <a:lnTo>
                        <a:pt x="18" y="11"/>
                      </a:lnTo>
                      <a:lnTo>
                        <a:pt x="20" y="14"/>
                      </a:lnTo>
                      <a:lnTo>
                        <a:pt x="27" y="23"/>
                      </a:lnTo>
                    </a:path>
                  </a:pathLst>
                </a:custGeom>
                <a:solidFill>
                  <a:srgbClr val="E0E0E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97" name="Freeform 85"/>
                <p:cNvSpPr>
                  <a:spLocks/>
                </p:cNvSpPr>
                <p:nvPr/>
              </p:nvSpPr>
              <p:spPr bwMode="auto">
                <a:xfrm>
                  <a:off x="5280" y="1161"/>
                  <a:ext cx="17" cy="62"/>
                </a:xfrm>
                <a:custGeom>
                  <a:avLst/>
                  <a:gdLst>
                    <a:gd name="T0" fmla="*/ 16 w 17"/>
                    <a:gd name="T1" fmla="*/ 61 h 62"/>
                    <a:gd name="T2" fmla="*/ 8 w 17"/>
                    <a:gd name="T3" fmla="*/ 61 h 62"/>
                    <a:gd name="T4" fmla="*/ 5 w 17"/>
                    <a:gd name="T5" fmla="*/ 60 h 62"/>
                    <a:gd name="T6" fmla="*/ 5 w 17"/>
                    <a:gd name="T7" fmla="*/ 57 h 62"/>
                    <a:gd name="T8" fmla="*/ 3 w 17"/>
                    <a:gd name="T9" fmla="*/ 55 h 62"/>
                    <a:gd name="T10" fmla="*/ 1 w 17"/>
                    <a:gd name="T11" fmla="*/ 53 h 62"/>
                    <a:gd name="T12" fmla="*/ 2 w 17"/>
                    <a:gd name="T13" fmla="*/ 50 h 62"/>
                    <a:gd name="T14" fmla="*/ 2 w 17"/>
                    <a:gd name="T15" fmla="*/ 48 h 62"/>
                    <a:gd name="T16" fmla="*/ 0 w 17"/>
                    <a:gd name="T17" fmla="*/ 44 h 62"/>
                    <a:gd name="T18" fmla="*/ 0 w 17"/>
                    <a:gd name="T19" fmla="*/ 40 h 62"/>
                    <a:gd name="T20" fmla="*/ 2 w 17"/>
                    <a:gd name="T21" fmla="*/ 36 h 62"/>
                    <a:gd name="T22" fmla="*/ 2 w 17"/>
                    <a:gd name="T23" fmla="*/ 26 h 62"/>
                    <a:gd name="T24" fmla="*/ 0 w 17"/>
                    <a:gd name="T25" fmla="*/ 17 h 62"/>
                    <a:gd name="T26" fmla="*/ 0 w 17"/>
                    <a:gd name="T27" fmla="*/ 11 h 62"/>
                    <a:gd name="T28" fmla="*/ 0 w 17"/>
                    <a:gd name="T29" fmla="*/ 0 h 62"/>
                    <a:gd name="T30" fmla="*/ 5 w 17"/>
                    <a:gd name="T31" fmla="*/ 16 h 62"/>
                    <a:gd name="T32" fmla="*/ 9 w 17"/>
                    <a:gd name="T33" fmla="*/ 32 h 62"/>
                    <a:gd name="T34" fmla="*/ 13 w 17"/>
                    <a:gd name="T35" fmla="*/ 49 h 62"/>
                    <a:gd name="T36" fmla="*/ 16 w 17"/>
                    <a:gd name="T37" fmla="*/ 61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62"/>
                    <a:gd name="T59" fmla="*/ 17 w 17"/>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62">
                      <a:moveTo>
                        <a:pt x="16" y="61"/>
                      </a:moveTo>
                      <a:lnTo>
                        <a:pt x="8" y="61"/>
                      </a:lnTo>
                      <a:lnTo>
                        <a:pt x="5" y="60"/>
                      </a:lnTo>
                      <a:lnTo>
                        <a:pt x="5" y="57"/>
                      </a:lnTo>
                      <a:lnTo>
                        <a:pt x="3" y="55"/>
                      </a:lnTo>
                      <a:lnTo>
                        <a:pt x="1" y="53"/>
                      </a:lnTo>
                      <a:lnTo>
                        <a:pt x="2" y="50"/>
                      </a:lnTo>
                      <a:lnTo>
                        <a:pt x="2" y="48"/>
                      </a:lnTo>
                      <a:lnTo>
                        <a:pt x="0" y="44"/>
                      </a:lnTo>
                      <a:lnTo>
                        <a:pt x="0" y="40"/>
                      </a:lnTo>
                      <a:lnTo>
                        <a:pt x="2" y="36"/>
                      </a:lnTo>
                      <a:lnTo>
                        <a:pt x="2" y="26"/>
                      </a:lnTo>
                      <a:lnTo>
                        <a:pt x="0" y="17"/>
                      </a:lnTo>
                      <a:lnTo>
                        <a:pt x="0" y="11"/>
                      </a:lnTo>
                      <a:lnTo>
                        <a:pt x="0" y="0"/>
                      </a:lnTo>
                      <a:lnTo>
                        <a:pt x="5" y="16"/>
                      </a:lnTo>
                      <a:lnTo>
                        <a:pt x="9" y="32"/>
                      </a:lnTo>
                      <a:lnTo>
                        <a:pt x="13" y="49"/>
                      </a:lnTo>
                      <a:lnTo>
                        <a:pt x="16" y="61"/>
                      </a:lnTo>
                    </a:path>
                  </a:pathLst>
                </a:custGeom>
                <a:solidFill>
                  <a:srgbClr val="E0E0E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98" name="Freeform 86"/>
                <p:cNvSpPr>
                  <a:spLocks/>
                </p:cNvSpPr>
                <p:nvPr/>
              </p:nvSpPr>
              <p:spPr bwMode="auto">
                <a:xfrm>
                  <a:off x="5245" y="1227"/>
                  <a:ext cx="28" cy="17"/>
                </a:xfrm>
                <a:custGeom>
                  <a:avLst/>
                  <a:gdLst>
                    <a:gd name="T0" fmla="*/ 5 w 28"/>
                    <a:gd name="T1" fmla="*/ 8 h 17"/>
                    <a:gd name="T2" fmla="*/ 11 w 28"/>
                    <a:gd name="T3" fmla="*/ 3 h 17"/>
                    <a:gd name="T4" fmla="*/ 17 w 28"/>
                    <a:gd name="T5" fmla="*/ 1 h 17"/>
                    <a:gd name="T6" fmla="*/ 24 w 28"/>
                    <a:gd name="T7" fmla="*/ 0 h 17"/>
                    <a:gd name="T8" fmla="*/ 27 w 28"/>
                    <a:gd name="T9" fmla="*/ 1 h 17"/>
                    <a:gd name="T10" fmla="*/ 25 w 28"/>
                    <a:gd name="T11" fmla="*/ 5 h 17"/>
                    <a:gd name="T12" fmla="*/ 22 w 28"/>
                    <a:gd name="T13" fmla="*/ 10 h 17"/>
                    <a:gd name="T14" fmla="*/ 16 w 28"/>
                    <a:gd name="T15" fmla="*/ 13 h 17"/>
                    <a:gd name="T16" fmla="*/ 6 w 28"/>
                    <a:gd name="T17" fmla="*/ 16 h 17"/>
                    <a:gd name="T18" fmla="*/ 0 w 28"/>
                    <a:gd name="T19" fmla="*/ 14 h 17"/>
                    <a:gd name="T20" fmla="*/ 5 w 28"/>
                    <a:gd name="T21" fmla="*/ 8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
                    <a:gd name="T34" fmla="*/ 0 h 17"/>
                    <a:gd name="T35" fmla="*/ 28 w 28"/>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 h="17">
                      <a:moveTo>
                        <a:pt x="5" y="8"/>
                      </a:moveTo>
                      <a:lnTo>
                        <a:pt x="11" y="3"/>
                      </a:lnTo>
                      <a:lnTo>
                        <a:pt x="17" y="1"/>
                      </a:lnTo>
                      <a:lnTo>
                        <a:pt x="24" y="0"/>
                      </a:lnTo>
                      <a:lnTo>
                        <a:pt x="27" y="1"/>
                      </a:lnTo>
                      <a:lnTo>
                        <a:pt x="25" y="5"/>
                      </a:lnTo>
                      <a:lnTo>
                        <a:pt x="22" y="10"/>
                      </a:lnTo>
                      <a:lnTo>
                        <a:pt x="16" y="13"/>
                      </a:lnTo>
                      <a:lnTo>
                        <a:pt x="6" y="16"/>
                      </a:lnTo>
                      <a:lnTo>
                        <a:pt x="0" y="14"/>
                      </a:lnTo>
                      <a:lnTo>
                        <a:pt x="5" y="8"/>
                      </a:lnTo>
                    </a:path>
                  </a:pathLst>
                </a:custGeom>
                <a:solidFill>
                  <a:srgbClr val="C0C0C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99" name="Freeform 87"/>
                <p:cNvSpPr>
                  <a:spLocks/>
                </p:cNvSpPr>
                <p:nvPr/>
              </p:nvSpPr>
              <p:spPr bwMode="auto">
                <a:xfrm>
                  <a:off x="5278" y="1234"/>
                  <a:ext cx="18" cy="26"/>
                </a:xfrm>
                <a:custGeom>
                  <a:avLst/>
                  <a:gdLst>
                    <a:gd name="T0" fmla="*/ 9 w 18"/>
                    <a:gd name="T1" fmla="*/ 6 h 26"/>
                    <a:gd name="T2" fmla="*/ 11 w 18"/>
                    <a:gd name="T3" fmla="*/ 1 h 26"/>
                    <a:gd name="T4" fmla="*/ 14 w 18"/>
                    <a:gd name="T5" fmla="*/ 0 h 26"/>
                    <a:gd name="T6" fmla="*/ 16 w 18"/>
                    <a:gd name="T7" fmla="*/ 0 h 26"/>
                    <a:gd name="T8" fmla="*/ 17 w 18"/>
                    <a:gd name="T9" fmla="*/ 3 h 26"/>
                    <a:gd name="T10" fmla="*/ 15 w 18"/>
                    <a:gd name="T11" fmla="*/ 8 h 26"/>
                    <a:gd name="T12" fmla="*/ 12 w 18"/>
                    <a:gd name="T13" fmla="*/ 13 h 26"/>
                    <a:gd name="T14" fmla="*/ 9 w 18"/>
                    <a:gd name="T15" fmla="*/ 17 h 26"/>
                    <a:gd name="T16" fmla="*/ 6 w 18"/>
                    <a:gd name="T17" fmla="*/ 21 h 26"/>
                    <a:gd name="T18" fmla="*/ 0 w 18"/>
                    <a:gd name="T19" fmla="*/ 25 h 26"/>
                    <a:gd name="T20" fmla="*/ 5 w 18"/>
                    <a:gd name="T21" fmla="*/ 17 h 26"/>
                    <a:gd name="T22" fmla="*/ 7 w 18"/>
                    <a:gd name="T23" fmla="*/ 12 h 26"/>
                    <a:gd name="T24" fmla="*/ 9 w 18"/>
                    <a:gd name="T25" fmla="*/ 6 h 2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
                    <a:gd name="T40" fmla="*/ 0 h 26"/>
                    <a:gd name="T41" fmla="*/ 18 w 18"/>
                    <a:gd name="T42" fmla="*/ 26 h 2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 h="26">
                      <a:moveTo>
                        <a:pt x="9" y="6"/>
                      </a:moveTo>
                      <a:lnTo>
                        <a:pt x="11" y="1"/>
                      </a:lnTo>
                      <a:lnTo>
                        <a:pt x="14" y="0"/>
                      </a:lnTo>
                      <a:lnTo>
                        <a:pt x="16" y="0"/>
                      </a:lnTo>
                      <a:lnTo>
                        <a:pt x="17" y="3"/>
                      </a:lnTo>
                      <a:lnTo>
                        <a:pt x="15" y="8"/>
                      </a:lnTo>
                      <a:lnTo>
                        <a:pt x="12" y="13"/>
                      </a:lnTo>
                      <a:lnTo>
                        <a:pt x="9" y="17"/>
                      </a:lnTo>
                      <a:lnTo>
                        <a:pt x="6" y="21"/>
                      </a:lnTo>
                      <a:lnTo>
                        <a:pt x="0" y="25"/>
                      </a:lnTo>
                      <a:lnTo>
                        <a:pt x="5" y="17"/>
                      </a:lnTo>
                      <a:lnTo>
                        <a:pt x="7" y="12"/>
                      </a:lnTo>
                      <a:lnTo>
                        <a:pt x="9" y="6"/>
                      </a:lnTo>
                    </a:path>
                  </a:pathLst>
                </a:custGeom>
                <a:solidFill>
                  <a:srgbClr val="C0C0C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300" name="Freeform 88"/>
                <p:cNvSpPr>
                  <a:spLocks/>
                </p:cNvSpPr>
                <p:nvPr/>
              </p:nvSpPr>
              <p:spPr bwMode="auto">
                <a:xfrm>
                  <a:off x="5228" y="1098"/>
                  <a:ext cx="41" cy="32"/>
                </a:xfrm>
                <a:custGeom>
                  <a:avLst/>
                  <a:gdLst>
                    <a:gd name="T0" fmla="*/ 40 w 41"/>
                    <a:gd name="T1" fmla="*/ 31 h 32"/>
                    <a:gd name="T2" fmla="*/ 38 w 41"/>
                    <a:gd name="T3" fmla="*/ 18 h 32"/>
                    <a:gd name="T4" fmla="*/ 30 w 41"/>
                    <a:gd name="T5" fmla="*/ 13 h 32"/>
                    <a:gd name="T6" fmla="*/ 18 w 41"/>
                    <a:gd name="T7" fmla="*/ 7 h 32"/>
                    <a:gd name="T8" fmla="*/ 11 w 41"/>
                    <a:gd name="T9" fmla="*/ 3 h 32"/>
                    <a:gd name="T10" fmla="*/ 3 w 41"/>
                    <a:gd name="T11" fmla="*/ 0 h 32"/>
                    <a:gd name="T12" fmla="*/ 0 w 41"/>
                    <a:gd name="T13" fmla="*/ 8 h 32"/>
                    <a:gd name="T14" fmla="*/ 7 w 41"/>
                    <a:gd name="T15" fmla="*/ 14 h 32"/>
                    <a:gd name="T16" fmla="*/ 16 w 41"/>
                    <a:gd name="T17" fmla="*/ 17 h 32"/>
                    <a:gd name="T18" fmla="*/ 22 w 41"/>
                    <a:gd name="T19" fmla="*/ 19 h 32"/>
                    <a:gd name="T20" fmla="*/ 30 w 41"/>
                    <a:gd name="T21" fmla="*/ 25 h 32"/>
                    <a:gd name="T22" fmla="*/ 40 w 41"/>
                    <a:gd name="T23" fmla="*/ 31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2"/>
                    <a:gd name="T38" fmla="*/ 41 w 41"/>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2">
                      <a:moveTo>
                        <a:pt x="40" y="31"/>
                      </a:moveTo>
                      <a:lnTo>
                        <a:pt x="38" y="18"/>
                      </a:lnTo>
                      <a:lnTo>
                        <a:pt x="30" y="13"/>
                      </a:lnTo>
                      <a:lnTo>
                        <a:pt x="18" y="7"/>
                      </a:lnTo>
                      <a:lnTo>
                        <a:pt x="11" y="3"/>
                      </a:lnTo>
                      <a:lnTo>
                        <a:pt x="3" y="0"/>
                      </a:lnTo>
                      <a:lnTo>
                        <a:pt x="0" y="8"/>
                      </a:lnTo>
                      <a:lnTo>
                        <a:pt x="7" y="14"/>
                      </a:lnTo>
                      <a:lnTo>
                        <a:pt x="16" y="17"/>
                      </a:lnTo>
                      <a:lnTo>
                        <a:pt x="22" y="19"/>
                      </a:lnTo>
                      <a:lnTo>
                        <a:pt x="30" y="25"/>
                      </a:lnTo>
                      <a:lnTo>
                        <a:pt x="40" y="31"/>
                      </a:lnTo>
                    </a:path>
                  </a:pathLst>
                </a:custGeom>
                <a:solidFill>
                  <a:srgbClr val="E0E0E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grpSp>
            <p:nvGrpSpPr>
              <p:cNvPr id="9281" name="Group 89"/>
              <p:cNvGrpSpPr>
                <a:grpSpLocks/>
              </p:cNvGrpSpPr>
              <p:nvPr/>
            </p:nvGrpSpPr>
            <p:grpSpPr bwMode="auto">
              <a:xfrm>
                <a:off x="5184" y="1242"/>
                <a:ext cx="82" cy="140"/>
                <a:chOff x="5184" y="1242"/>
                <a:chExt cx="82" cy="140"/>
              </a:xfrm>
            </p:grpSpPr>
            <p:sp>
              <p:nvSpPr>
                <p:cNvPr id="9285" name="Freeform 90"/>
                <p:cNvSpPr>
                  <a:spLocks/>
                </p:cNvSpPr>
                <p:nvPr/>
              </p:nvSpPr>
              <p:spPr bwMode="auto">
                <a:xfrm>
                  <a:off x="5184" y="1242"/>
                  <a:ext cx="82" cy="140"/>
                </a:xfrm>
                <a:custGeom>
                  <a:avLst/>
                  <a:gdLst>
                    <a:gd name="T0" fmla="*/ 45 w 82"/>
                    <a:gd name="T1" fmla="*/ 20 h 140"/>
                    <a:gd name="T2" fmla="*/ 30 w 82"/>
                    <a:gd name="T3" fmla="*/ 19 h 140"/>
                    <a:gd name="T4" fmla="*/ 21 w 82"/>
                    <a:gd name="T5" fmla="*/ 15 h 140"/>
                    <a:gd name="T6" fmla="*/ 18 w 82"/>
                    <a:gd name="T7" fmla="*/ 10 h 140"/>
                    <a:gd name="T8" fmla="*/ 18 w 82"/>
                    <a:gd name="T9" fmla="*/ 6 h 140"/>
                    <a:gd name="T10" fmla="*/ 15 w 82"/>
                    <a:gd name="T11" fmla="*/ 2 h 140"/>
                    <a:gd name="T12" fmla="*/ 7 w 82"/>
                    <a:gd name="T13" fmla="*/ 0 h 140"/>
                    <a:gd name="T14" fmla="*/ 0 w 82"/>
                    <a:gd name="T15" fmla="*/ 0 h 140"/>
                    <a:gd name="T16" fmla="*/ 9 w 82"/>
                    <a:gd name="T17" fmla="*/ 108 h 140"/>
                    <a:gd name="T18" fmla="*/ 15 w 82"/>
                    <a:gd name="T19" fmla="*/ 117 h 140"/>
                    <a:gd name="T20" fmla="*/ 24 w 82"/>
                    <a:gd name="T21" fmla="*/ 127 h 140"/>
                    <a:gd name="T22" fmla="*/ 36 w 82"/>
                    <a:gd name="T23" fmla="*/ 135 h 140"/>
                    <a:gd name="T24" fmla="*/ 49 w 82"/>
                    <a:gd name="T25" fmla="*/ 137 h 140"/>
                    <a:gd name="T26" fmla="*/ 68 w 82"/>
                    <a:gd name="T27" fmla="*/ 139 h 140"/>
                    <a:gd name="T28" fmla="*/ 78 w 82"/>
                    <a:gd name="T29" fmla="*/ 136 h 140"/>
                    <a:gd name="T30" fmla="*/ 81 w 82"/>
                    <a:gd name="T31" fmla="*/ 128 h 140"/>
                    <a:gd name="T32" fmla="*/ 80 w 82"/>
                    <a:gd name="T33" fmla="*/ 119 h 140"/>
                    <a:gd name="T34" fmla="*/ 72 w 82"/>
                    <a:gd name="T35" fmla="*/ 88 h 140"/>
                    <a:gd name="T36" fmla="*/ 65 w 82"/>
                    <a:gd name="T37" fmla="*/ 59 h 140"/>
                    <a:gd name="T38" fmla="*/ 63 w 82"/>
                    <a:gd name="T39" fmla="*/ 36 h 140"/>
                    <a:gd name="T40" fmla="*/ 63 w 82"/>
                    <a:gd name="T41" fmla="*/ 30 h 140"/>
                    <a:gd name="T42" fmla="*/ 58 w 82"/>
                    <a:gd name="T43" fmla="*/ 22 h 140"/>
                    <a:gd name="T44" fmla="*/ 54 w 82"/>
                    <a:gd name="T45" fmla="*/ 20 h 140"/>
                    <a:gd name="T46" fmla="*/ 45 w 82"/>
                    <a:gd name="T47" fmla="*/ 20 h 14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2"/>
                    <a:gd name="T73" fmla="*/ 0 h 140"/>
                    <a:gd name="T74" fmla="*/ 82 w 82"/>
                    <a:gd name="T75" fmla="*/ 140 h 14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2" h="140">
                      <a:moveTo>
                        <a:pt x="45" y="20"/>
                      </a:moveTo>
                      <a:lnTo>
                        <a:pt x="30" y="19"/>
                      </a:lnTo>
                      <a:lnTo>
                        <a:pt x="21" y="15"/>
                      </a:lnTo>
                      <a:lnTo>
                        <a:pt x="18" y="10"/>
                      </a:lnTo>
                      <a:lnTo>
                        <a:pt x="18" y="6"/>
                      </a:lnTo>
                      <a:lnTo>
                        <a:pt x="15" y="2"/>
                      </a:lnTo>
                      <a:lnTo>
                        <a:pt x="7" y="0"/>
                      </a:lnTo>
                      <a:lnTo>
                        <a:pt x="0" y="0"/>
                      </a:lnTo>
                      <a:lnTo>
                        <a:pt x="9" y="108"/>
                      </a:lnTo>
                      <a:lnTo>
                        <a:pt x="15" y="117"/>
                      </a:lnTo>
                      <a:lnTo>
                        <a:pt x="24" y="127"/>
                      </a:lnTo>
                      <a:lnTo>
                        <a:pt x="36" y="135"/>
                      </a:lnTo>
                      <a:lnTo>
                        <a:pt x="49" y="137"/>
                      </a:lnTo>
                      <a:lnTo>
                        <a:pt x="68" y="139"/>
                      </a:lnTo>
                      <a:lnTo>
                        <a:pt x="78" y="136"/>
                      </a:lnTo>
                      <a:lnTo>
                        <a:pt x="81" y="128"/>
                      </a:lnTo>
                      <a:lnTo>
                        <a:pt x="80" y="119"/>
                      </a:lnTo>
                      <a:lnTo>
                        <a:pt x="72" y="88"/>
                      </a:lnTo>
                      <a:lnTo>
                        <a:pt x="65" y="59"/>
                      </a:lnTo>
                      <a:lnTo>
                        <a:pt x="63" y="36"/>
                      </a:lnTo>
                      <a:lnTo>
                        <a:pt x="63" y="30"/>
                      </a:lnTo>
                      <a:lnTo>
                        <a:pt x="58" y="22"/>
                      </a:lnTo>
                      <a:lnTo>
                        <a:pt x="54" y="20"/>
                      </a:lnTo>
                      <a:lnTo>
                        <a:pt x="45" y="20"/>
                      </a:lnTo>
                    </a:path>
                  </a:pathLst>
                </a:custGeom>
                <a:solidFill>
                  <a:srgbClr val="404040"/>
                </a:solidFill>
                <a:ln w="12700" cap="rnd" cmpd="sng">
                  <a:solidFill>
                    <a:srgbClr val="000000"/>
                  </a:solidFill>
                  <a:prstDash val="solid"/>
                  <a:round/>
                  <a:headEnd/>
                  <a:tailEnd/>
                </a:ln>
              </p:spPr>
              <p:txBody>
                <a:bodyPr/>
                <a:lstStyle/>
                <a:p>
                  <a:endParaRPr lang="en-IN"/>
                </a:p>
              </p:txBody>
            </p:sp>
            <p:sp>
              <p:nvSpPr>
                <p:cNvPr id="9286" name="Freeform 91"/>
                <p:cNvSpPr>
                  <a:spLocks/>
                </p:cNvSpPr>
                <p:nvPr/>
              </p:nvSpPr>
              <p:spPr bwMode="auto">
                <a:xfrm>
                  <a:off x="5186" y="1249"/>
                  <a:ext cx="70" cy="128"/>
                </a:xfrm>
                <a:custGeom>
                  <a:avLst/>
                  <a:gdLst>
                    <a:gd name="T0" fmla="*/ 45 w 70"/>
                    <a:gd name="T1" fmla="*/ 25 h 128"/>
                    <a:gd name="T2" fmla="*/ 32 w 70"/>
                    <a:gd name="T3" fmla="*/ 24 h 128"/>
                    <a:gd name="T4" fmla="*/ 18 w 70"/>
                    <a:gd name="T5" fmla="*/ 21 h 128"/>
                    <a:gd name="T6" fmla="*/ 10 w 70"/>
                    <a:gd name="T7" fmla="*/ 15 h 128"/>
                    <a:gd name="T8" fmla="*/ 5 w 70"/>
                    <a:gd name="T9" fmla="*/ 11 h 128"/>
                    <a:gd name="T10" fmla="*/ 0 w 70"/>
                    <a:gd name="T11" fmla="*/ 0 h 128"/>
                    <a:gd name="T12" fmla="*/ 8 w 70"/>
                    <a:gd name="T13" fmla="*/ 97 h 128"/>
                    <a:gd name="T14" fmla="*/ 14 w 70"/>
                    <a:gd name="T15" fmla="*/ 106 h 128"/>
                    <a:gd name="T16" fmla="*/ 20 w 70"/>
                    <a:gd name="T17" fmla="*/ 115 h 128"/>
                    <a:gd name="T18" fmla="*/ 28 w 70"/>
                    <a:gd name="T19" fmla="*/ 120 h 128"/>
                    <a:gd name="T20" fmla="*/ 36 w 70"/>
                    <a:gd name="T21" fmla="*/ 123 h 128"/>
                    <a:gd name="T22" fmla="*/ 45 w 70"/>
                    <a:gd name="T23" fmla="*/ 125 h 128"/>
                    <a:gd name="T24" fmla="*/ 53 w 70"/>
                    <a:gd name="T25" fmla="*/ 127 h 128"/>
                    <a:gd name="T26" fmla="*/ 62 w 70"/>
                    <a:gd name="T27" fmla="*/ 127 h 128"/>
                    <a:gd name="T28" fmla="*/ 66 w 70"/>
                    <a:gd name="T29" fmla="*/ 125 h 128"/>
                    <a:gd name="T30" fmla="*/ 69 w 70"/>
                    <a:gd name="T31" fmla="*/ 120 h 128"/>
                    <a:gd name="T32" fmla="*/ 68 w 70"/>
                    <a:gd name="T33" fmla="*/ 113 h 128"/>
                    <a:gd name="T34" fmla="*/ 62 w 70"/>
                    <a:gd name="T35" fmla="*/ 96 h 128"/>
                    <a:gd name="T36" fmla="*/ 52 w 70"/>
                    <a:gd name="T37" fmla="*/ 38 h 128"/>
                    <a:gd name="T38" fmla="*/ 50 w 70"/>
                    <a:gd name="T39" fmla="*/ 29 h 128"/>
                    <a:gd name="T40" fmla="*/ 45 w 70"/>
                    <a:gd name="T41" fmla="*/ 25 h 1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0"/>
                    <a:gd name="T64" fmla="*/ 0 h 128"/>
                    <a:gd name="T65" fmla="*/ 70 w 70"/>
                    <a:gd name="T66" fmla="*/ 128 h 12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0" h="128">
                      <a:moveTo>
                        <a:pt x="45" y="25"/>
                      </a:moveTo>
                      <a:lnTo>
                        <a:pt x="32" y="24"/>
                      </a:lnTo>
                      <a:lnTo>
                        <a:pt x="18" y="21"/>
                      </a:lnTo>
                      <a:lnTo>
                        <a:pt x="10" y="15"/>
                      </a:lnTo>
                      <a:lnTo>
                        <a:pt x="5" y="11"/>
                      </a:lnTo>
                      <a:lnTo>
                        <a:pt x="0" y="0"/>
                      </a:lnTo>
                      <a:lnTo>
                        <a:pt x="8" y="97"/>
                      </a:lnTo>
                      <a:lnTo>
                        <a:pt x="14" y="106"/>
                      </a:lnTo>
                      <a:lnTo>
                        <a:pt x="20" y="115"/>
                      </a:lnTo>
                      <a:lnTo>
                        <a:pt x="28" y="120"/>
                      </a:lnTo>
                      <a:lnTo>
                        <a:pt x="36" y="123"/>
                      </a:lnTo>
                      <a:lnTo>
                        <a:pt x="45" y="125"/>
                      </a:lnTo>
                      <a:lnTo>
                        <a:pt x="53" y="127"/>
                      </a:lnTo>
                      <a:lnTo>
                        <a:pt x="62" y="127"/>
                      </a:lnTo>
                      <a:lnTo>
                        <a:pt x="66" y="125"/>
                      </a:lnTo>
                      <a:lnTo>
                        <a:pt x="69" y="120"/>
                      </a:lnTo>
                      <a:lnTo>
                        <a:pt x="68" y="113"/>
                      </a:lnTo>
                      <a:lnTo>
                        <a:pt x="62" y="96"/>
                      </a:lnTo>
                      <a:lnTo>
                        <a:pt x="52" y="38"/>
                      </a:lnTo>
                      <a:lnTo>
                        <a:pt x="50" y="29"/>
                      </a:lnTo>
                      <a:lnTo>
                        <a:pt x="45" y="25"/>
                      </a:lnTo>
                    </a:path>
                  </a:pathLst>
                </a:custGeom>
                <a:solidFill>
                  <a:srgbClr val="606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sp>
            <p:nvSpPr>
              <p:cNvPr id="9282" name="Freeform 92"/>
              <p:cNvSpPr>
                <a:spLocks/>
              </p:cNvSpPr>
              <p:nvPr/>
            </p:nvSpPr>
            <p:spPr bwMode="auto">
              <a:xfrm>
                <a:off x="5383" y="1400"/>
                <a:ext cx="17" cy="117"/>
              </a:xfrm>
              <a:custGeom>
                <a:avLst/>
                <a:gdLst>
                  <a:gd name="T0" fmla="*/ 10 w 17"/>
                  <a:gd name="T1" fmla="*/ 0 h 117"/>
                  <a:gd name="T2" fmla="*/ 16 w 17"/>
                  <a:gd name="T3" fmla="*/ 5 h 117"/>
                  <a:gd name="T4" fmla="*/ 10 w 17"/>
                  <a:gd name="T5" fmla="*/ 10 h 117"/>
                  <a:gd name="T6" fmla="*/ 5 w 17"/>
                  <a:gd name="T7" fmla="*/ 19 h 117"/>
                  <a:gd name="T8" fmla="*/ 10 w 17"/>
                  <a:gd name="T9" fmla="*/ 28 h 117"/>
                  <a:gd name="T10" fmla="*/ 7 w 17"/>
                  <a:gd name="T11" fmla="*/ 81 h 117"/>
                  <a:gd name="T12" fmla="*/ 7 w 17"/>
                  <a:gd name="T13" fmla="*/ 114 h 117"/>
                  <a:gd name="T14" fmla="*/ 0 w 17"/>
                  <a:gd name="T15" fmla="*/ 116 h 117"/>
                  <a:gd name="T16" fmla="*/ 1 w 17"/>
                  <a:gd name="T17" fmla="*/ 46 h 117"/>
                  <a:gd name="T18" fmla="*/ 7 w 17"/>
                  <a:gd name="T19" fmla="*/ 30 h 117"/>
                  <a:gd name="T20" fmla="*/ 3 w 17"/>
                  <a:gd name="T21" fmla="*/ 22 h 117"/>
                  <a:gd name="T22" fmla="*/ 1 w 17"/>
                  <a:gd name="T23" fmla="*/ 19 h 117"/>
                  <a:gd name="T24" fmla="*/ 5 w 17"/>
                  <a:gd name="T25" fmla="*/ 11 h 117"/>
                  <a:gd name="T26" fmla="*/ 10 w 17"/>
                  <a:gd name="T27" fmla="*/ 6 h 117"/>
                  <a:gd name="T28" fmla="*/ 10 w 17"/>
                  <a:gd name="T29" fmla="*/ 0 h 1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117"/>
                  <a:gd name="T47" fmla="*/ 17 w 17"/>
                  <a:gd name="T48" fmla="*/ 117 h 1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117">
                    <a:moveTo>
                      <a:pt x="10" y="0"/>
                    </a:moveTo>
                    <a:lnTo>
                      <a:pt x="16" y="5"/>
                    </a:lnTo>
                    <a:lnTo>
                      <a:pt x="10" y="10"/>
                    </a:lnTo>
                    <a:lnTo>
                      <a:pt x="5" y="19"/>
                    </a:lnTo>
                    <a:lnTo>
                      <a:pt x="10" y="28"/>
                    </a:lnTo>
                    <a:lnTo>
                      <a:pt x="7" y="81"/>
                    </a:lnTo>
                    <a:lnTo>
                      <a:pt x="7" y="114"/>
                    </a:lnTo>
                    <a:lnTo>
                      <a:pt x="0" y="116"/>
                    </a:lnTo>
                    <a:lnTo>
                      <a:pt x="1" y="46"/>
                    </a:lnTo>
                    <a:lnTo>
                      <a:pt x="7" y="30"/>
                    </a:lnTo>
                    <a:lnTo>
                      <a:pt x="3" y="22"/>
                    </a:lnTo>
                    <a:lnTo>
                      <a:pt x="1" y="19"/>
                    </a:lnTo>
                    <a:lnTo>
                      <a:pt x="5" y="11"/>
                    </a:lnTo>
                    <a:lnTo>
                      <a:pt x="10" y="6"/>
                    </a:lnTo>
                    <a:lnTo>
                      <a:pt x="10" y="0"/>
                    </a:lnTo>
                  </a:path>
                </a:pathLst>
              </a:custGeom>
              <a:solidFill>
                <a:srgbClr val="606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83" name="Freeform 93"/>
              <p:cNvSpPr>
                <a:spLocks/>
              </p:cNvSpPr>
              <p:nvPr/>
            </p:nvSpPr>
            <p:spPr bwMode="auto">
              <a:xfrm>
                <a:off x="5360" y="1401"/>
                <a:ext cx="17" cy="17"/>
              </a:xfrm>
              <a:custGeom>
                <a:avLst/>
                <a:gdLst>
                  <a:gd name="T0" fmla="*/ 16 w 17"/>
                  <a:gd name="T1" fmla="*/ 0 h 17"/>
                  <a:gd name="T2" fmla="*/ 8 w 17"/>
                  <a:gd name="T3" fmla="*/ 12 h 17"/>
                  <a:gd name="T4" fmla="*/ 1 w 17"/>
                  <a:gd name="T5" fmla="*/ 16 h 17"/>
                  <a:gd name="T6" fmla="*/ 0 w 17"/>
                  <a:gd name="T7" fmla="*/ 16 h 17"/>
                  <a:gd name="T8" fmla="*/ 3 w 17"/>
                  <a:gd name="T9" fmla="*/ 4 h 17"/>
                  <a:gd name="T10" fmla="*/ 16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6" y="0"/>
                    </a:moveTo>
                    <a:lnTo>
                      <a:pt x="8" y="12"/>
                    </a:lnTo>
                    <a:lnTo>
                      <a:pt x="1" y="16"/>
                    </a:lnTo>
                    <a:lnTo>
                      <a:pt x="0" y="16"/>
                    </a:lnTo>
                    <a:lnTo>
                      <a:pt x="3" y="4"/>
                    </a:lnTo>
                    <a:lnTo>
                      <a:pt x="16" y="0"/>
                    </a:lnTo>
                  </a:path>
                </a:pathLst>
              </a:custGeom>
              <a:solidFill>
                <a:srgbClr val="606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9284" name="Freeform 94"/>
              <p:cNvSpPr>
                <a:spLocks/>
              </p:cNvSpPr>
              <p:nvPr/>
            </p:nvSpPr>
            <p:spPr bwMode="auto">
              <a:xfrm>
                <a:off x="5299" y="1098"/>
                <a:ext cx="20" cy="68"/>
              </a:xfrm>
              <a:custGeom>
                <a:avLst/>
                <a:gdLst>
                  <a:gd name="T0" fmla="*/ 0 w 20"/>
                  <a:gd name="T1" fmla="*/ 0 h 68"/>
                  <a:gd name="T2" fmla="*/ 2 w 20"/>
                  <a:gd name="T3" fmla="*/ 1 h 68"/>
                  <a:gd name="T4" fmla="*/ 2 w 20"/>
                  <a:gd name="T5" fmla="*/ 5 h 68"/>
                  <a:gd name="T6" fmla="*/ 4 w 20"/>
                  <a:gd name="T7" fmla="*/ 3 h 68"/>
                  <a:gd name="T8" fmla="*/ 4 w 20"/>
                  <a:gd name="T9" fmla="*/ 7 h 68"/>
                  <a:gd name="T10" fmla="*/ 7 w 20"/>
                  <a:gd name="T11" fmla="*/ 7 h 68"/>
                  <a:gd name="T12" fmla="*/ 4 w 20"/>
                  <a:gd name="T13" fmla="*/ 11 h 68"/>
                  <a:gd name="T14" fmla="*/ 11 w 20"/>
                  <a:gd name="T15" fmla="*/ 11 h 68"/>
                  <a:gd name="T16" fmla="*/ 8 w 20"/>
                  <a:gd name="T17" fmla="*/ 16 h 68"/>
                  <a:gd name="T18" fmla="*/ 13 w 20"/>
                  <a:gd name="T19" fmla="*/ 16 h 68"/>
                  <a:gd name="T20" fmla="*/ 9 w 20"/>
                  <a:gd name="T21" fmla="*/ 21 h 68"/>
                  <a:gd name="T22" fmla="*/ 15 w 20"/>
                  <a:gd name="T23" fmla="*/ 20 h 68"/>
                  <a:gd name="T24" fmla="*/ 11 w 20"/>
                  <a:gd name="T25" fmla="*/ 27 h 68"/>
                  <a:gd name="T26" fmla="*/ 16 w 20"/>
                  <a:gd name="T27" fmla="*/ 26 h 68"/>
                  <a:gd name="T28" fmla="*/ 12 w 20"/>
                  <a:gd name="T29" fmla="*/ 32 h 68"/>
                  <a:gd name="T30" fmla="*/ 19 w 20"/>
                  <a:gd name="T31" fmla="*/ 33 h 68"/>
                  <a:gd name="T32" fmla="*/ 13 w 20"/>
                  <a:gd name="T33" fmla="*/ 38 h 68"/>
                  <a:gd name="T34" fmla="*/ 19 w 20"/>
                  <a:gd name="T35" fmla="*/ 40 h 68"/>
                  <a:gd name="T36" fmla="*/ 12 w 20"/>
                  <a:gd name="T37" fmla="*/ 44 h 68"/>
                  <a:gd name="T38" fmla="*/ 19 w 20"/>
                  <a:gd name="T39" fmla="*/ 48 h 68"/>
                  <a:gd name="T40" fmla="*/ 12 w 20"/>
                  <a:gd name="T41" fmla="*/ 51 h 68"/>
                  <a:gd name="T42" fmla="*/ 17 w 20"/>
                  <a:gd name="T43" fmla="*/ 55 h 68"/>
                  <a:gd name="T44" fmla="*/ 12 w 20"/>
                  <a:gd name="T45" fmla="*/ 58 h 68"/>
                  <a:gd name="T46" fmla="*/ 15 w 20"/>
                  <a:gd name="T47" fmla="*/ 63 h 68"/>
                  <a:gd name="T48" fmla="*/ 11 w 20"/>
                  <a:gd name="T49" fmla="*/ 67 h 6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
                  <a:gd name="T76" fmla="*/ 0 h 68"/>
                  <a:gd name="T77" fmla="*/ 20 w 20"/>
                  <a:gd name="T78" fmla="*/ 68 h 6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 h="68">
                    <a:moveTo>
                      <a:pt x="0" y="0"/>
                    </a:moveTo>
                    <a:lnTo>
                      <a:pt x="2" y="1"/>
                    </a:lnTo>
                    <a:lnTo>
                      <a:pt x="2" y="5"/>
                    </a:lnTo>
                    <a:lnTo>
                      <a:pt x="4" y="3"/>
                    </a:lnTo>
                    <a:lnTo>
                      <a:pt x="4" y="7"/>
                    </a:lnTo>
                    <a:lnTo>
                      <a:pt x="7" y="7"/>
                    </a:lnTo>
                    <a:lnTo>
                      <a:pt x="4" y="11"/>
                    </a:lnTo>
                    <a:lnTo>
                      <a:pt x="11" y="11"/>
                    </a:lnTo>
                    <a:lnTo>
                      <a:pt x="8" y="16"/>
                    </a:lnTo>
                    <a:lnTo>
                      <a:pt x="13" y="16"/>
                    </a:lnTo>
                    <a:lnTo>
                      <a:pt x="9" y="21"/>
                    </a:lnTo>
                    <a:lnTo>
                      <a:pt x="15" y="20"/>
                    </a:lnTo>
                    <a:lnTo>
                      <a:pt x="11" y="27"/>
                    </a:lnTo>
                    <a:lnTo>
                      <a:pt x="16" y="26"/>
                    </a:lnTo>
                    <a:lnTo>
                      <a:pt x="12" y="32"/>
                    </a:lnTo>
                    <a:lnTo>
                      <a:pt x="19" y="33"/>
                    </a:lnTo>
                    <a:lnTo>
                      <a:pt x="13" y="38"/>
                    </a:lnTo>
                    <a:lnTo>
                      <a:pt x="19" y="40"/>
                    </a:lnTo>
                    <a:lnTo>
                      <a:pt x="12" y="44"/>
                    </a:lnTo>
                    <a:lnTo>
                      <a:pt x="19" y="48"/>
                    </a:lnTo>
                    <a:lnTo>
                      <a:pt x="12" y="51"/>
                    </a:lnTo>
                    <a:lnTo>
                      <a:pt x="17" y="55"/>
                    </a:lnTo>
                    <a:lnTo>
                      <a:pt x="12" y="58"/>
                    </a:lnTo>
                    <a:lnTo>
                      <a:pt x="15" y="63"/>
                    </a:lnTo>
                    <a:lnTo>
                      <a:pt x="11" y="67"/>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IN"/>
              </a:p>
            </p:txBody>
          </p:sp>
        </p:grpSp>
      </p:grpSp>
      <p:sp>
        <p:nvSpPr>
          <p:cNvPr id="39007" name="AutoShape 95"/>
          <p:cNvSpPr>
            <a:spLocks noChangeArrowheads="1"/>
          </p:cNvSpPr>
          <p:nvPr/>
        </p:nvSpPr>
        <p:spPr bwMode="auto">
          <a:xfrm>
            <a:off x="3276600" y="2590800"/>
            <a:ext cx="2209800" cy="457200"/>
          </a:xfrm>
          <a:prstGeom prst="wedgeRoundRectCallout">
            <a:avLst>
              <a:gd name="adj1" fmla="val -45042"/>
              <a:gd name="adj2" fmla="val 96528"/>
              <a:gd name="adj3" fmla="val 16667"/>
            </a:avLst>
          </a:prstGeom>
          <a:solidFill>
            <a:schemeClr val="accent1"/>
          </a:solidFill>
          <a:ln w="9525">
            <a:solidFill>
              <a:schemeClr val="tx1"/>
            </a:solidFill>
            <a:miter lim="800000"/>
            <a:headEnd type="none" w="sm" len="sm"/>
            <a:tailEnd type="none" w="sm" len="sm"/>
          </a:ln>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buClrTx/>
              <a:buSzTx/>
              <a:buFontTx/>
              <a:buNone/>
            </a:pPr>
            <a:r>
              <a:rPr lang="en-US" altLang="en-US" sz="2000">
                <a:latin typeface="Times New Roman" panose="02020603050405020304" pitchFamily="18" charset="0"/>
                <a:cs typeface="Angsana New" pitchFamily="18" charset="-34"/>
              </a:rPr>
              <a:t>Hi, how are you?</a:t>
            </a:r>
          </a:p>
        </p:txBody>
      </p:sp>
      <p:cxnSp>
        <p:nvCxnSpPr>
          <p:cNvPr id="39008" name="AutoShape 96"/>
          <p:cNvCxnSpPr>
            <a:cxnSpLocks noChangeShapeType="1"/>
          </p:cNvCxnSpPr>
          <p:nvPr/>
        </p:nvCxnSpPr>
        <p:spPr bwMode="auto">
          <a:xfrm rot="16200000" flipH="1">
            <a:off x="7019925" y="2590800"/>
            <a:ext cx="165100" cy="5016500"/>
          </a:xfrm>
          <a:prstGeom prst="bentConnector3">
            <a:avLst>
              <a:gd name="adj1" fmla="val 238463"/>
            </a:avLst>
          </a:prstGeom>
          <a:noFill/>
          <a:ln w="76200">
            <a:solidFill>
              <a:schemeClr val="tx1"/>
            </a:solidFill>
            <a:miter lim="800000"/>
            <a:headEnd type="none" w="sm" len="sm"/>
            <a:tailEnd type="none" w="sm" len="sm"/>
          </a:ln>
          <a:extLst>
            <a:ext uri="{909E8E84-426E-40DD-AFC4-6F175D3DCCD1}">
              <a14:hiddenFill xmlns:a14="http://schemas.microsoft.com/office/drawing/2010/main">
                <a:noFill/>
              </a14:hiddenFill>
            </a:ext>
          </a:extLst>
        </p:spPr>
      </p:cxnSp>
      <p:sp>
        <p:nvSpPr>
          <p:cNvPr id="59495" name="Rectangle 102"/>
          <p:cNvSpPr>
            <a:spLocks noChangeArrowheads="1"/>
          </p:cNvSpPr>
          <p:nvPr/>
        </p:nvSpPr>
        <p:spPr bwMode="auto">
          <a:xfrm>
            <a:off x="3048000" y="5638800"/>
            <a:ext cx="1752600" cy="304800"/>
          </a:xfrm>
          <a:prstGeom prst="rect">
            <a:avLst/>
          </a:prstGeom>
          <a:solidFill>
            <a:srgbClr val="FF9966"/>
          </a:solidFill>
          <a:ln w="9525">
            <a:solidFill>
              <a:schemeClr val="tx1"/>
            </a:solidFill>
            <a:miter lim="800000"/>
            <a:headEnd type="none" w="sm" len="sm"/>
            <a:tailEnd type="none" w="sm" len="sm"/>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buClrTx/>
              <a:buSzTx/>
              <a:buFontTx/>
              <a:buNone/>
            </a:pPr>
            <a:r>
              <a:rPr lang="en-US" altLang="en-US" sz="2000">
                <a:solidFill>
                  <a:schemeClr val="bg2"/>
                </a:solidFill>
                <a:latin typeface="Times New Roman" panose="02020603050405020304" pitchFamily="18" charset="0"/>
                <a:cs typeface="Angsana New" pitchFamily="18" charset="-34"/>
              </a:rPr>
              <a:t>01010001</a:t>
            </a:r>
          </a:p>
        </p:txBody>
      </p:sp>
      <p:sp>
        <p:nvSpPr>
          <p:cNvPr id="39040" name="Rectangle 128"/>
          <p:cNvSpPr>
            <a:spLocks noChangeArrowheads="1"/>
          </p:cNvSpPr>
          <p:nvPr/>
        </p:nvSpPr>
        <p:spPr bwMode="auto">
          <a:xfrm>
            <a:off x="8077200" y="2590800"/>
            <a:ext cx="1752600" cy="457200"/>
          </a:xfrm>
          <a:prstGeom prst="rect">
            <a:avLst/>
          </a:prstGeom>
          <a:solidFill>
            <a:schemeClr val="accent1"/>
          </a:solidFill>
          <a:ln w="9525">
            <a:solidFill>
              <a:schemeClr val="tx1"/>
            </a:solidFill>
            <a:miter lim="800000"/>
            <a:headEnd type="none" w="sm" len="sm"/>
            <a:tailEnd type="none" w="sm" len="sm"/>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buClrTx/>
              <a:buSzTx/>
              <a:buFontTx/>
              <a:buNone/>
            </a:pPr>
            <a:r>
              <a:rPr lang="en-US" altLang="en-US" sz="1800">
                <a:latin typeface="Times New Roman" panose="02020603050405020304" pitchFamily="18" charset="0"/>
                <a:cs typeface="Angsana New" pitchFamily="18" charset="-34"/>
              </a:rPr>
              <a:t>Hi, how are you?</a:t>
            </a:r>
          </a:p>
        </p:txBody>
      </p:sp>
      <p:grpSp>
        <p:nvGrpSpPr>
          <p:cNvPr id="9225" name="Group 129"/>
          <p:cNvGrpSpPr>
            <a:grpSpLocks/>
          </p:cNvGrpSpPr>
          <p:nvPr/>
        </p:nvGrpSpPr>
        <p:grpSpPr bwMode="auto">
          <a:xfrm>
            <a:off x="8477250" y="3962400"/>
            <a:ext cx="1962150" cy="1219200"/>
            <a:chOff x="4745" y="2736"/>
            <a:chExt cx="1339" cy="768"/>
          </a:xfrm>
        </p:grpSpPr>
        <p:graphicFrame>
          <p:nvGraphicFramePr>
            <p:cNvPr id="9236" name="Object 130"/>
            <p:cNvGraphicFramePr>
              <a:graphicFrameLocks noChangeAspect="1"/>
            </p:cNvGraphicFramePr>
            <p:nvPr/>
          </p:nvGraphicFramePr>
          <p:xfrm>
            <a:off x="5492" y="2863"/>
            <a:ext cx="592" cy="641"/>
          </p:xfrm>
          <a:graphic>
            <a:graphicData uri="http://schemas.openxmlformats.org/presentationml/2006/ole">
              <mc:AlternateContent xmlns:mc="http://schemas.openxmlformats.org/markup-compatibility/2006">
                <mc:Choice xmlns:v="urn:schemas-microsoft-com:vml" Requires="v">
                  <p:oleObj spid="_x0000_s2058" name="VISIO" r:id="rId4" imgW="1068324" imgH="1178052" progId="Visio.Drawing.6">
                    <p:embed/>
                  </p:oleObj>
                </mc:Choice>
                <mc:Fallback>
                  <p:oleObj name="VISIO" r:id="rId4" imgW="1068324" imgH="1178052"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92" y="2863"/>
                          <a:ext cx="592" cy="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9237" name="Group 131"/>
            <p:cNvGrpSpPr>
              <a:grpSpLocks/>
            </p:cNvGrpSpPr>
            <p:nvPr/>
          </p:nvGrpSpPr>
          <p:grpSpPr bwMode="auto">
            <a:xfrm>
              <a:off x="4745" y="3239"/>
              <a:ext cx="698" cy="193"/>
              <a:chOff x="4745" y="3239"/>
              <a:chExt cx="698" cy="193"/>
            </a:xfrm>
          </p:grpSpPr>
          <p:sp>
            <p:nvSpPr>
              <p:cNvPr id="9247" name="Rectangle 132"/>
              <p:cNvSpPr>
                <a:spLocks noChangeArrowheads="1"/>
              </p:cNvSpPr>
              <p:nvPr/>
            </p:nvSpPr>
            <p:spPr bwMode="auto">
              <a:xfrm>
                <a:off x="4745" y="3239"/>
                <a:ext cx="698" cy="193"/>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sp>
            <p:nvSpPr>
              <p:cNvPr id="9248" name="Rectangle 133"/>
              <p:cNvSpPr>
                <a:spLocks noChangeArrowheads="1"/>
              </p:cNvSpPr>
              <p:nvPr/>
            </p:nvSpPr>
            <p:spPr bwMode="auto">
              <a:xfrm>
                <a:off x="4767" y="3261"/>
                <a:ext cx="655" cy="149"/>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sp>
            <p:nvSpPr>
              <p:cNvPr id="9249" name="Freeform 134"/>
              <p:cNvSpPr>
                <a:spLocks/>
              </p:cNvSpPr>
              <p:nvPr/>
            </p:nvSpPr>
            <p:spPr bwMode="auto">
              <a:xfrm>
                <a:off x="4745" y="3239"/>
                <a:ext cx="698" cy="193"/>
              </a:xfrm>
              <a:custGeom>
                <a:avLst/>
                <a:gdLst>
                  <a:gd name="T0" fmla="*/ 0 w 2094"/>
                  <a:gd name="T1" fmla="*/ 0 h 577"/>
                  <a:gd name="T2" fmla="*/ 0 w 2094"/>
                  <a:gd name="T3" fmla="*/ 0 h 577"/>
                  <a:gd name="T4" fmla="*/ 0 w 2094"/>
                  <a:gd name="T5" fmla="*/ 0 h 577"/>
                  <a:gd name="T6" fmla="*/ 0 w 2094"/>
                  <a:gd name="T7" fmla="*/ 0 h 577"/>
                  <a:gd name="T8" fmla="*/ 0 w 2094"/>
                  <a:gd name="T9" fmla="*/ 0 h 577"/>
                  <a:gd name="T10" fmla="*/ 0 w 2094"/>
                  <a:gd name="T11" fmla="*/ 0 h 577"/>
                  <a:gd name="T12" fmla="*/ 0 w 2094"/>
                  <a:gd name="T13" fmla="*/ 0 h 577"/>
                  <a:gd name="T14" fmla="*/ 0 60000 65536"/>
                  <a:gd name="T15" fmla="*/ 0 60000 65536"/>
                  <a:gd name="T16" fmla="*/ 0 60000 65536"/>
                  <a:gd name="T17" fmla="*/ 0 60000 65536"/>
                  <a:gd name="T18" fmla="*/ 0 60000 65536"/>
                  <a:gd name="T19" fmla="*/ 0 60000 65536"/>
                  <a:gd name="T20" fmla="*/ 0 60000 65536"/>
                  <a:gd name="T21" fmla="*/ 0 w 2094"/>
                  <a:gd name="T22" fmla="*/ 0 h 577"/>
                  <a:gd name="T23" fmla="*/ 2094 w 2094"/>
                  <a:gd name="T24" fmla="*/ 577 h 5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94" h="577">
                    <a:moveTo>
                      <a:pt x="0" y="577"/>
                    </a:moveTo>
                    <a:lnTo>
                      <a:pt x="65" y="513"/>
                    </a:lnTo>
                    <a:lnTo>
                      <a:pt x="2030" y="513"/>
                    </a:lnTo>
                    <a:lnTo>
                      <a:pt x="2030" y="65"/>
                    </a:lnTo>
                    <a:lnTo>
                      <a:pt x="2094" y="0"/>
                    </a:lnTo>
                    <a:lnTo>
                      <a:pt x="2094" y="577"/>
                    </a:lnTo>
                    <a:lnTo>
                      <a:pt x="0" y="577"/>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250" name="Freeform 135"/>
              <p:cNvSpPr>
                <a:spLocks/>
              </p:cNvSpPr>
              <p:nvPr/>
            </p:nvSpPr>
            <p:spPr bwMode="auto">
              <a:xfrm>
                <a:off x="4745" y="3239"/>
                <a:ext cx="698" cy="193"/>
              </a:xfrm>
              <a:custGeom>
                <a:avLst/>
                <a:gdLst>
                  <a:gd name="T0" fmla="*/ 0 w 2094"/>
                  <a:gd name="T1" fmla="*/ 0 h 577"/>
                  <a:gd name="T2" fmla="*/ 0 w 2094"/>
                  <a:gd name="T3" fmla="*/ 0 h 577"/>
                  <a:gd name="T4" fmla="*/ 0 w 2094"/>
                  <a:gd name="T5" fmla="*/ 0 h 577"/>
                  <a:gd name="T6" fmla="*/ 0 w 2094"/>
                  <a:gd name="T7" fmla="*/ 0 h 577"/>
                  <a:gd name="T8" fmla="*/ 0 w 2094"/>
                  <a:gd name="T9" fmla="*/ 0 h 577"/>
                  <a:gd name="T10" fmla="*/ 0 w 2094"/>
                  <a:gd name="T11" fmla="*/ 0 h 577"/>
                  <a:gd name="T12" fmla="*/ 0 w 2094"/>
                  <a:gd name="T13" fmla="*/ 0 h 577"/>
                  <a:gd name="T14" fmla="*/ 0 60000 65536"/>
                  <a:gd name="T15" fmla="*/ 0 60000 65536"/>
                  <a:gd name="T16" fmla="*/ 0 60000 65536"/>
                  <a:gd name="T17" fmla="*/ 0 60000 65536"/>
                  <a:gd name="T18" fmla="*/ 0 60000 65536"/>
                  <a:gd name="T19" fmla="*/ 0 60000 65536"/>
                  <a:gd name="T20" fmla="*/ 0 60000 65536"/>
                  <a:gd name="T21" fmla="*/ 0 w 2094"/>
                  <a:gd name="T22" fmla="*/ 0 h 577"/>
                  <a:gd name="T23" fmla="*/ 2094 w 2094"/>
                  <a:gd name="T24" fmla="*/ 577 h 5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94" h="577">
                    <a:moveTo>
                      <a:pt x="0" y="577"/>
                    </a:moveTo>
                    <a:lnTo>
                      <a:pt x="65" y="513"/>
                    </a:lnTo>
                    <a:lnTo>
                      <a:pt x="65" y="65"/>
                    </a:lnTo>
                    <a:lnTo>
                      <a:pt x="2030" y="65"/>
                    </a:lnTo>
                    <a:lnTo>
                      <a:pt x="2094" y="0"/>
                    </a:lnTo>
                    <a:lnTo>
                      <a:pt x="0" y="0"/>
                    </a:lnTo>
                    <a:lnTo>
                      <a:pt x="0" y="57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251" name="Freeform 136"/>
              <p:cNvSpPr>
                <a:spLocks/>
              </p:cNvSpPr>
              <p:nvPr/>
            </p:nvSpPr>
            <p:spPr bwMode="auto">
              <a:xfrm>
                <a:off x="5181" y="3293"/>
                <a:ext cx="219" cy="42"/>
              </a:xfrm>
              <a:custGeom>
                <a:avLst/>
                <a:gdLst>
                  <a:gd name="T0" fmla="*/ 0 w 655"/>
                  <a:gd name="T1" fmla="*/ 0 h 127"/>
                  <a:gd name="T2" fmla="*/ 0 w 655"/>
                  <a:gd name="T3" fmla="*/ 0 h 127"/>
                  <a:gd name="T4" fmla="*/ 0 w 655"/>
                  <a:gd name="T5" fmla="*/ 0 h 127"/>
                  <a:gd name="T6" fmla="*/ 0 w 655"/>
                  <a:gd name="T7" fmla="*/ 0 h 127"/>
                  <a:gd name="T8" fmla="*/ 0 w 655"/>
                  <a:gd name="T9" fmla="*/ 0 h 127"/>
                  <a:gd name="T10" fmla="*/ 0 w 655"/>
                  <a:gd name="T11" fmla="*/ 0 h 127"/>
                  <a:gd name="T12" fmla="*/ 0 w 655"/>
                  <a:gd name="T13" fmla="*/ 0 h 127"/>
                  <a:gd name="T14" fmla="*/ 0 w 655"/>
                  <a:gd name="T15" fmla="*/ 0 h 127"/>
                  <a:gd name="T16" fmla="*/ 0 w 655"/>
                  <a:gd name="T17" fmla="*/ 0 h 127"/>
                  <a:gd name="T18" fmla="*/ 0 w 655"/>
                  <a:gd name="T19" fmla="*/ 0 h 127"/>
                  <a:gd name="T20" fmla="*/ 0 w 655"/>
                  <a:gd name="T21" fmla="*/ 0 h 127"/>
                  <a:gd name="T22" fmla="*/ 0 w 655"/>
                  <a:gd name="T23" fmla="*/ 0 h 127"/>
                  <a:gd name="T24" fmla="*/ 0 w 655"/>
                  <a:gd name="T25" fmla="*/ 0 h 1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55"/>
                  <a:gd name="T40" fmla="*/ 0 h 127"/>
                  <a:gd name="T41" fmla="*/ 655 w 655"/>
                  <a:gd name="T42" fmla="*/ 127 h 1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55" h="127">
                    <a:moveTo>
                      <a:pt x="131" y="96"/>
                    </a:moveTo>
                    <a:lnTo>
                      <a:pt x="131" y="127"/>
                    </a:lnTo>
                    <a:lnTo>
                      <a:pt x="524" y="127"/>
                    </a:lnTo>
                    <a:lnTo>
                      <a:pt x="524" y="96"/>
                    </a:lnTo>
                    <a:lnTo>
                      <a:pt x="655" y="96"/>
                    </a:lnTo>
                    <a:lnTo>
                      <a:pt x="655" y="32"/>
                    </a:lnTo>
                    <a:lnTo>
                      <a:pt x="524" y="32"/>
                    </a:lnTo>
                    <a:lnTo>
                      <a:pt x="524" y="0"/>
                    </a:lnTo>
                    <a:lnTo>
                      <a:pt x="131" y="0"/>
                    </a:lnTo>
                    <a:lnTo>
                      <a:pt x="131" y="32"/>
                    </a:lnTo>
                    <a:lnTo>
                      <a:pt x="0" y="32"/>
                    </a:lnTo>
                    <a:lnTo>
                      <a:pt x="0" y="96"/>
                    </a:lnTo>
                    <a:lnTo>
                      <a:pt x="131"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9238" name="Rectangle 137"/>
            <p:cNvSpPr>
              <a:spLocks noChangeArrowheads="1"/>
            </p:cNvSpPr>
            <p:nvPr/>
          </p:nvSpPr>
          <p:spPr bwMode="auto">
            <a:xfrm>
              <a:off x="4963" y="3176"/>
              <a:ext cx="262"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sp>
          <p:nvSpPr>
            <p:cNvPr id="9239" name="Rectangle 138"/>
            <p:cNvSpPr>
              <a:spLocks noChangeArrowheads="1"/>
            </p:cNvSpPr>
            <p:nvPr/>
          </p:nvSpPr>
          <p:spPr bwMode="auto">
            <a:xfrm>
              <a:off x="4789" y="3282"/>
              <a:ext cx="43" cy="32"/>
            </a:xfrm>
            <a:prstGeom prst="rect">
              <a:avLst/>
            </a:prstGeom>
            <a:solidFill>
              <a:srgbClr val="0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sp>
          <p:nvSpPr>
            <p:cNvPr id="9240" name="Rectangle 139"/>
            <p:cNvSpPr>
              <a:spLocks noChangeArrowheads="1"/>
            </p:cNvSpPr>
            <p:nvPr/>
          </p:nvSpPr>
          <p:spPr bwMode="auto">
            <a:xfrm>
              <a:off x="4789" y="3282"/>
              <a:ext cx="22" cy="16"/>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sp>
          <p:nvSpPr>
            <p:cNvPr id="9241" name="Rectangle 140"/>
            <p:cNvSpPr>
              <a:spLocks noChangeArrowheads="1"/>
            </p:cNvSpPr>
            <p:nvPr/>
          </p:nvSpPr>
          <p:spPr bwMode="auto">
            <a:xfrm>
              <a:off x="5001" y="3443"/>
              <a:ext cx="190"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buClrTx/>
                <a:buSzTx/>
                <a:buFontTx/>
                <a:buNone/>
              </a:pPr>
              <a:r>
                <a:rPr lang="en-US" altLang="en-US" sz="500">
                  <a:solidFill>
                    <a:srgbClr val="000000"/>
                  </a:solidFill>
                  <a:latin typeface="Arial" panose="020B0604020202020204" pitchFamily="34" charset="0"/>
                </a:rPr>
                <a:t>Computer</a:t>
              </a:r>
              <a:endParaRPr lang="en-US" altLang="en-US" sz="2400">
                <a:latin typeface="Times New Roman" panose="02020603050405020304" pitchFamily="18" charset="0"/>
                <a:cs typeface="Angsana New" pitchFamily="18" charset="-34"/>
              </a:endParaRPr>
            </a:p>
          </p:txBody>
        </p:sp>
        <p:grpSp>
          <p:nvGrpSpPr>
            <p:cNvPr id="9242" name="Group 141"/>
            <p:cNvGrpSpPr>
              <a:grpSpLocks/>
            </p:cNvGrpSpPr>
            <p:nvPr/>
          </p:nvGrpSpPr>
          <p:grpSpPr bwMode="auto">
            <a:xfrm>
              <a:off x="4800" y="2736"/>
              <a:ext cx="611" cy="428"/>
              <a:chOff x="3744" y="2592"/>
              <a:chExt cx="611" cy="428"/>
            </a:xfrm>
          </p:grpSpPr>
          <p:sp>
            <p:nvSpPr>
              <p:cNvPr id="9243" name="Rectangle 142"/>
              <p:cNvSpPr>
                <a:spLocks noChangeArrowheads="1"/>
              </p:cNvSpPr>
              <p:nvPr/>
            </p:nvSpPr>
            <p:spPr bwMode="auto">
              <a:xfrm>
                <a:off x="3744" y="2592"/>
                <a:ext cx="611" cy="42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sp>
            <p:nvSpPr>
              <p:cNvPr id="9244" name="Freeform 143"/>
              <p:cNvSpPr>
                <a:spLocks noEditPoints="1"/>
              </p:cNvSpPr>
              <p:nvPr/>
            </p:nvSpPr>
            <p:spPr bwMode="auto">
              <a:xfrm>
                <a:off x="3744" y="2592"/>
                <a:ext cx="611" cy="428"/>
              </a:xfrm>
              <a:custGeom>
                <a:avLst/>
                <a:gdLst>
                  <a:gd name="T0" fmla="*/ 0 w 1833"/>
                  <a:gd name="T1" fmla="*/ 0 h 1282"/>
                  <a:gd name="T2" fmla="*/ 0 w 1833"/>
                  <a:gd name="T3" fmla="*/ 0 h 1282"/>
                  <a:gd name="T4" fmla="*/ 0 w 1833"/>
                  <a:gd name="T5" fmla="*/ 0 h 1282"/>
                  <a:gd name="T6" fmla="*/ 0 w 1833"/>
                  <a:gd name="T7" fmla="*/ 0 h 1282"/>
                  <a:gd name="T8" fmla="*/ 0 w 1833"/>
                  <a:gd name="T9" fmla="*/ 0 h 1282"/>
                  <a:gd name="T10" fmla="*/ 0 w 1833"/>
                  <a:gd name="T11" fmla="*/ 0 h 1282"/>
                  <a:gd name="T12" fmla="*/ 0 w 1833"/>
                  <a:gd name="T13" fmla="*/ 0 h 1282"/>
                  <a:gd name="T14" fmla="*/ 0 w 1833"/>
                  <a:gd name="T15" fmla="*/ 0 h 1282"/>
                  <a:gd name="T16" fmla="*/ 0 w 1833"/>
                  <a:gd name="T17" fmla="*/ 0 h 1282"/>
                  <a:gd name="T18" fmla="*/ 0 w 1833"/>
                  <a:gd name="T19" fmla="*/ 0 h 12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33"/>
                  <a:gd name="T31" fmla="*/ 0 h 1282"/>
                  <a:gd name="T32" fmla="*/ 1833 w 1833"/>
                  <a:gd name="T33" fmla="*/ 1282 h 12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33" h="1282">
                    <a:moveTo>
                      <a:pt x="0" y="1282"/>
                    </a:moveTo>
                    <a:lnTo>
                      <a:pt x="1833" y="1282"/>
                    </a:lnTo>
                    <a:lnTo>
                      <a:pt x="1833" y="0"/>
                    </a:lnTo>
                    <a:lnTo>
                      <a:pt x="0" y="0"/>
                    </a:lnTo>
                    <a:lnTo>
                      <a:pt x="0" y="1282"/>
                    </a:lnTo>
                    <a:close/>
                    <a:moveTo>
                      <a:pt x="66" y="1217"/>
                    </a:moveTo>
                    <a:lnTo>
                      <a:pt x="1767" y="1217"/>
                    </a:lnTo>
                    <a:lnTo>
                      <a:pt x="1767" y="65"/>
                    </a:lnTo>
                    <a:lnTo>
                      <a:pt x="66" y="65"/>
                    </a:lnTo>
                    <a:lnTo>
                      <a:pt x="66" y="121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245" name="Freeform 144"/>
              <p:cNvSpPr>
                <a:spLocks/>
              </p:cNvSpPr>
              <p:nvPr/>
            </p:nvSpPr>
            <p:spPr bwMode="auto">
              <a:xfrm>
                <a:off x="3744" y="2592"/>
                <a:ext cx="567" cy="384"/>
              </a:xfrm>
              <a:custGeom>
                <a:avLst/>
                <a:gdLst>
                  <a:gd name="T0" fmla="*/ 0 w 1701"/>
                  <a:gd name="T1" fmla="*/ 0 h 1152"/>
                  <a:gd name="T2" fmla="*/ 0 w 1701"/>
                  <a:gd name="T3" fmla="*/ 0 h 1152"/>
                  <a:gd name="T4" fmla="*/ 0 w 1701"/>
                  <a:gd name="T5" fmla="*/ 0 h 1152"/>
                  <a:gd name="T6" fmla="*/ 0 w 1701"/>
                  <a:gd name="T7" fmla="*/ 0 h 1152"/>
                  <a:gd name="T8" fmla="*/ 0 w 1701"/>
                  <a:gd name="T9" fmla="*/ 0 h 1152"/>
                  <a:gd name="T10" fmla="*/ 0 w 1701"/>
                  <a:gd name="T11" fmla="*/ 0 h 1152"/>
                  <a:gd name="T12" fmla="*/ 0 w 1701"/>
                  <a:gd name="T13" fmla="*/ 0 h 1152"/>
                  <a:gd name="T14" fmla="*/ 0 60000 65536"/>
                  <a:gd name="T15" fmla="*/ 0 60000 65536"/>
                  <a:gd name="T16" fmla="*/ 0 60000 65536"/>
                  <a:gd name="T17" fmla="*/ 0 60000 65536"/>
                  <a:gd name="T18" fmla="*/ 0 60000 65536"/>
                  <a:gd name="T19" fmla="*/ 0 60000 65536"/>
                  <a:gd name="T20" fmla="*/ 0 60000 65536"/>
                  <a:gd name="T21" fmla="*/ 0 w 1701"/>
                  <a:gd name="T22" fmla="*/ 0 h 1152"/>
                  <a:gd name="T23" fmla="*/ 1701 w 1701"/>
                  <a:gd name="T24" fmla="*/ 1152 h 11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01" h="1152">
                    <a:moveTo>
                      <a:pt x="65" y="1088"/>
                    </a:moveTo>
                    <a:lnTo>
                      <a:pt x="0" y="1152"/>
                    </a:lnTo>
                    <a:lnTo>
                      <a:pt x="0" y="0"/>
                    </a:lnTo>
                    <a:lnTo>
                      <a:pt x="1701" y="0"/>
                    </a:lnTo>
                    <a:lnTo>
                      <a:pt x="1636" y="63"/>
                    </a:lnTo>
                    <a:lnTo>
                      <a:pt x="65" y="63"/>
                    </a:lnTo>
                    <a:lnTo>
                      <a:pt x="65" y="1088"/>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246" name="Rectangle 145"/>
              <p:cNvSpPr>
                <a:spLocks noChangeArrowheads="1"/>
              </p:cNvSpPr>
              <p:nvPr/>
            </p:nvSpPr>
            <p:spPr bwMode="auto">
              <a:xfrm>
                <a:off x="3792" y="2640"/>
                <a:ext cx="528" cy="336"/>
              </a:xfrm>
              <a:prstGeom prst="rect">
                <a:avLst/>
              </a:prstGeom>
              <a:solidFill>
                <a:srgbClr val="3366FF"/>
              </a:solidFill>
              <a:ln w="9525">
                <a:solidFill>
                  <a:schemeClr val="tx1"/>
                </a:solidFill>
                <a:miter lim="800000"/>
                <a:headEnd type="none" w="sm" len="sm"/>
                <a:tailEnd type="none" w="sm" len="sm"/>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grpSp>
      </p:grpSp>
      <p:pic>
        <p:nvPicPr>
          <p:cNvPr id="39059" name="Picture 147" descr="t1"/>
          <p:cNvPicPr>
            <a:picLocks noGrp="1" noChangeAspect="1" noChangeArrowheads="1"/>
          </p:cNvPicPr>
          <p:nvPr>
            <p:ph sz="quarter" idx="4294967295"/>
          </p:nvPr>
        </p:nvPicPr>
        <p:blipFill>
          <a:blip r:embed="rId6">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a:xfrm>
            <a:off x="6172200" y="5513388"/>
            <a:ext cx="1524000" cy="658812"/>
          </a:xfrm>
          <a:noFill/>
        </p:spPr>
      </p:pic>
      <p:sp>
        <p:nvSpPr>
          <p:cNvPr id="59556" name="Rectangle 164"/>
          <p:cNvSpPr>
            <a:spLocks noChangeArrowheads="1"/>
          </p:cNvSpPr>
          <p:nvPr/>
        </p:nvSpPr>
        <p:spPr bwMode="auto">
          <a:xfrm>
            <a:off x="3581400" y="2286000"/>
            <a:ext cx="1143000" cy="304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en-US" altLang="en-US" sz="1600" b="1">
                <a:latin typeface="Courier" pitchFamily="49" charset="0"/>
              </a:rPr>
              <a:t>you?</a:t>
            </a:r>
          </a:p>
        </p:txBody>
      </p:sp>
      <p:sp>
        <p:nvSpPr>
          <p:cNvPr id="59557" name="Rectangle 165"/>
          <p:cNvSpPr>
            <a:spLocks noChangeArrowheads="1"/>
          </p:cNvSpPr>
          <p:nvPr/>
        </p:nvSpPr>
        <p:spPr bwMode="auto">
          <a:xfrm>
            <a:off x="3581400" y="1676400"/>
            <a:ext cx="1143000" cy="3048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en-US" altLang="en-US" sz="1600" b="1">
                <a:latin typeface="Courier" pitchFamily="49" charset="0"/>
              </a:rPr>
              <a:t>how</a:t>
            </a:r>
          </a:p>
        </p:txBody>
      </p:sp>
      <p:sp>
        <p:nvSpPr>
          <p:cNvPr id="59558" name="Rectangle 166"/>
          <p:cNvSpPr>
            <a:spLocks noChangeArrowheads="1"/>
          </p:cNvSpPr>
          <p:nvPr/>
        </p:nvSpPr>
        <p:spPr bwMode="auto">
          <a:xfrm>
            <a:off x="3581400" y="1981200"/>
            <a:ext cx="1143000" cy="304800"/>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en-US" altLang="en-US" sz="1600" b="1">
                <a:latin typeface="Courier" pitchFamily="49" charset="0"/>
              </a:rPr>
              <a:t>are</a:t>
            </a:r>
          </a:p>
        </p:txBody>
      </p:sp>
      <p:sp>
        <p:nvSpPr>
          <p:cNvPr id="59559" name="Rectangle 167"/>
          <p:cNvSpPr>
            <a:spLocks noChangeArrowheads="1"/>
          </p:cNvSpPr>
          <p:nvPr/>
        </p:nvSpPr>
        <p:spPr bwMode="auto">
          <a:xfrm>
            <a:off x="3581400" y="1371600"/>
            <a:ext cx="1143000" cy="304800"/>
          </a:xfrm>
          <a:prstGeom prst="rect">
            <a:avLst/>
          </a:prstGeom>
          <a:solidFill>
            <a:srgbClr val="33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en-US" altLang="en-US" sz="1600" b="1">
                <a:latin typeface="Courier" pitchFamily="49" charset="0"/>
              </a:rPr>
              <a:t>Hi,</a:t>
            </a:r>
          </a:p>
        </p:txBody>
      </p:sp>
      <p:sp>
        <p:nvSpPr>
          <p:cNvPr id="59560" name="Rectangle 168"/>
          <p:cNvSpPr>
            <a:spLocks noChangeArrowheads="1"/>
          </p:cNvSpPr>
          <p:nvPr/>
        </p:nvSpPr>
        <p:spPr bwMode="auto">
          <a:xfrm>
            <a:off x="8458200" y="2286000"/>
            <a:ext cx="1143000" cy="304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en-US" altLang="en-US" sz="1600" b="1">
                <a:latin typeface="Courier" pitchFamily="49" charset="0"/>
              </a:rPr>
              <a:t>you?</a:t>
            </a:r>
          </a:p>
        </p:txBody>
      </p:sp>
      <p:sp>
        <p:nvSpPr>
          <p:cNvPr id="59561" name="Rectangle 169"/>
          <p:cNvSpPr>
            <a:spLocks noChangeArrowheads="1"/>
          </p:cNvSpPr>
          <p:nvPr/>
        </p:nvSpPr>
        <p:spPr bwMode="auto">
          <a:xfrm>
            <a:off x="8458200" y="1676400"/>
            <a:ext cx="1143000" cy="304800"/>
          </a:xfrm>
          <a:prstGeom prst="rect">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en-US" altLang="en-US" sz="1600" b="1">
                <a:latin typeface="Courier" pitchFamily="49" charset="0"/>
              </a:rPr>
              <a:t>how</a:t>
            </a:r>
          </a:p>
        </p:txBody>
      </p:sp>
      <p:sp>
        <p:nvSpPr>
          <p:cNvPr id="59562" name="Rectangle 170"/>
          <p:cNvSpPr>
            <a:spLocks noChangeArrowheads="1"/>
          </p:cNvSpPr>
          <p:nvPr/>
        </p:nvSpPr>
        <p:spPr bwMode="auto">
          <a:xfrm>
            <a:off x="8458200" y="1981200"/>
            <a:ext cx="1143000" cy="304800"/>
          </a:xfrm>
          <a:prstGeom prst="rect">
            <a:avLst/>
          </a:pr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en-US" altLang="en-US" sz="1600" b="1">
                <a:latin typeface="Courier" pitchFamily="49" charset="0"/>
              </a:rPr>
              <a:t>are</a:t>
            </a:r>
          </a:p>
        </p:txBody>
      </p:sp>
      <p:sp>
        <p:nvSpPr>
          <p:cNvPr id="59563" name="Rectangle 171"/>
          <p:cNvSpPr>
            <a:spLocks noChangeArrowheads="1"/>
          </p:cNvSpPr>
          <p:nvPr/>
        </p:nvSpPr>
        <p:spPr bwMode="auto">
          <a:xfrm>
            <a:off x="8458200" y="1371600"/>
            <a:ext cx="1143000" cy="304800"/>
          </a:xfrm>
          <a:prstGeom prst="rect">
            <a:avLst/>
          </a:prstGeom>
          <a:solidFill>
            <a:srgbClr val="33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en-US" altLang="en-US" sz="1600" b="1">
                <a:latin typeface="Courier" pitchFamily="49" charset="0"/>
              </a:rPr>
              <a:t>Hi,</a:t>
            </a:r>
          </a:p>
        </p:txBody>
      </p:sp>
      <p:sp>
        <p:nvSpPr>
          <p:cNvPr id="59564" name="Rectangle 102"/>
          <p:cNvSpPr>
            <a:spLocks noChangeArrowheads="1"/>
          </p:cNvSpPr>
          <p:nvPr/>
        </p:nvSpPr>
        <p:spPr bwMode="auto">
          <a:xfrm>
            <a:off x="8077200" y="5638800"/>
            <a:ext cx="1752600" cy="304800"/>
          </a:xfrm>
          <a:prstGeom prst="rect">
            <a:avLst/>
          </a:prstGeom>
          <a:solidFill>
            <a:srgbClr val="FF9966"/>
          </a:solidFill>
          <a:ln w="9525">
            <a:solidFill>
              <a:schemeClr val="tx1"/>
            </a:solidFill>
            <a:miter lim="800000"/>
            <a:headEnd type="none" w="sm" len="sm"/>
            <a:tailEnd type="none" w="sm" len="sm"/>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buClrTx/>
              <a:buSzTx/>
              <a:buFontTx/>
              <a:buNone/>
            </a:pPr>
            <a:r>
              <a:rPr lang="en-US" altLang="en-US" sz="2000">
                <a:solidFill>
                  <a:schemeClr val="bg2"/>
                </a:solidFill>
                <a:latin typeface="Times New Roman" panose="02020603050405020304" pitchFamily="18" charset="0"/>
                <a:cs typeface="Angsana New" pitchFamily="18" charset="-34"/>
              </a:rPr>
              <a:t>01010001</a:t>
            </a:r>
          </a:p>
        </p:txBody>
      </p:sp>
    </p:spTree>
    <p:extLst>
      <p:ext uri="{BB962C8B-B14F-4D97-AF65-F5344CB8AC3E}">
        <p14:creationId xmlns:p14="http://schemas.microsoft.com/office/powerpoint/2010/main" val="40779993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9008"/>
                                        </p:tgtEl>
                                        <p:attrNameLst>
                                          <p:attrName>style.visibility</p:attrName>
                                        </p:attrNameLst>
                                      </p:cBhvr>
                                      <p:to>
                                        <p:strVal val="visible"/>
                                      </p:to>
                                    </p:set>
                                    <p:animEffect transition="in" filter="dissolve">
                                      <p:cBhvr>
                                        <p:cTn id="7" dur="500"/>
                                        <p:tgtEl>
                                          <p:spTgt spid="390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9007"/>
                                        </p:tgtEl>
                                        <p:attrNameLst>
                                          <p:attrName>style.visibility</p:attrName>
                                        </p:attrNameLst>
                                      </p:cBhvr>
                                      <p:to>
                                        <p:strVal val="visible"/>
                                      </p:to>
                                    </p:set>
                                    <p:animEffect transition="in" filter="dissolve">
                                      <p:cBhvr>
                                        <p:cTn id="12" dur="500"/>
                                        <p:tgtEl>
                                          <p:spTgt spid="39007"/>
                                        </p:tgtEl>
                                      </p:cBhvr>
                                    </p:animEffect>
                                  </p:childTnLst>
                                  <p:subTnLst>
                                    <p:set>
                                      <p:cBhvr override="childStyle">
                                        <p:cTn dur="1" fill="hold" display="0" masterRel="nextClick" afterEffect="1"/>
                                        <p:tgtEl>
                                          <p:spTgt spid="39007"/>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xit" presetSubtype="0" fill="hold" grpId="1" nodeType="clickEffect">
                                  <p:stCondLst>
                                    <p:cond delay="0"/>
                                  </p:stCondLst>
                                  <p:childTnLst>
                                    <p:animEffect transition="out" filter="fade">
                                      <p:cBhvr>
                                        <p:cTn id="16" dur="500"/>
                                        <p:tgtEl>
                                          <p:spTgt spid="39007"/>
                                        </p:tgtEl>
                                      </p:cBhvr>
                                    </p:animEffect>
                                    <p:set>
                                      <p:cBhvr>
                                        <p:cTn id="17" dur="1" fill="hold">
                                          <p:stCondLst>
                                            <p:cond delay="499"/>
                                          </p:stCondLst>
                                        </p:cTn>
                                        <p:tgtEl>
                                          <p:spTgt spid="39007"/>
                                        </p:tgtEl>
                                        <p:attrNameLst>
                                          <p:attrName>style.visibility</p:attrName>
                                        </p:attrNameLst>
                                      </p:cBhvr>
                                      <p:to>
                                        <p:strVal val="hidden"/>
                                      </p:to>
                                    </p:set>
                                  </p:childTnLst>
                                </p:cTn>
                              </p:par>
                              <p:par>
                                <p:cTn id="18" presetID="10" presetClass="entr" presetSubtype="0" fill="hold" grpId="0" nodeType="withEffect">
                                  <p:stCondLst>
                                    <p:cond delay="0"/>
                                  </p:stCondLst>
                                  <p:childTnLst>
                                    <p:set>
                                      <p:cBhvr>
                                        <p:cTn id="19" dur="1" fill="hold">
                                          <p:stCondLst>
                                            <p:cond delay="0"/>
                                          </p:stCondLst>
                                        </p:cTn>
                                        <p:tgtEl>
                                          <p:spTgt spid="59556"/>
                                        </p:tgtEl>
                                        <p:attrNameLst>
                                          <p:attrName>style.visibility</p:attrName>
                                        </p:attrNameLst>
                                      </p:cBhvr>
                                      <p:to>
                                        <p:strVal val="visible"/>
                                      </p:to>
                                    </p:set>
                                    <p:animEffect transition="in" filter="fade">
                                      <p:cBhvr>
                                        <p:cTn id="20" dur="500"/>
                                        <p:tgtEl>
                                          <p:spTgt spid="5955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9557"/>
                                        </p:tgtEl>
                                        <p:attrNameLst>
                                          <p:attrName>style.visibility</p:attrName>
                                        </p:attrNameLst>
                                      </p:cBhvr>
                                      <p:to>
                                        <p:strVal val="visible"/>
                                      </p:to>
                                    </p:set>
                                    <p:animEffect transition="in" filter="fade">
                                      <p:cBhvr>
                                        <p:cTn id="23" dur="500"/>
                                        <p:tgtEl>
                                          <p:spTgt spid="5955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9558"/>
                                        </p:tgtEl>
                                        <p:attrNameLst>
                                          <p:attrName>style.visibility</p:attrName>
                                        </p:attrNameLst>
                                      </p:cBhvr>
                                      <p:to>
                                        <p:strVal val="visible"/>
                                      </p:to>
                                    </p:set>
                                    <p:animEffect transition="in" filter="fade">
                                      <p:cBhvr>
                                        <p:cTn id="26" dur="500"/>
                                        <p:tgtEl>
                                          <p:spTgt spid="5955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9559"/>
                                        </p:tgtEl>
                                        <p:attrNameLst>
                                          <p:attrName>style.visibility</p:attrName>
                                        </p:attrNameLst>
                                      </p:cBhvr>
                                      <p:to>
                                        <p:strVal val="visible"/>
                                      </p:to>
                                    </p:set>
                                    <p:animEffect transition="in" filter="fade">
                                      <p:cBhvr>
                                        <p:cTn id="29" dur="500"/>
                                        <p:tgtEl>
                                          <p:spTgt spid="5955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xit" presetSubtype="4" fill="hold" grpId="1" nodeType="clickEffect">
                                  <p:stCondLst>
                                    <p:cond delay="0"/>
                                  </p:stCondLst>
                                  <p:childTnLst>
                                    <p:anim calcmode="lin" valueType="num">
                                      <p:cBhvr additive="base">
                                        <p:cTn id="33" dur="500"/>
                                        <p:tgtEl>
                                          <p:spTgt spid="59559"/>
                                        </p:tgtEl>
                                        <p:attrNameLst>
                                          <p:attrName>ppt_x</p:attrName>
                                        </p:attrNameLst>
                                      </p:cBhvr>
                                      <p:tavLst>
                                        <p:tav tm="0">
                                          <p:val>
                                            <p:strVal val="ppt_x"/>
                                          </p:val>
                                        </p:tav>
                                        <p:tav tm="100000">
                                          <p:val>
                                            <p:strVal val="ppt_x"/>
                                          </p:val>
                                        </p:tav>
                                      </p:tavLst>
                                    </p:anim>
                                    <p:anim calcmode="lin" valueType="num">
                                      <p:cBhvr additive="base">
                                        <p:cTn id="34" dur="500"/>
                                        <p:tgtEl>
                                          <p:spTgt spid="59559"/>
                                        </p:tgtEl>
                                        <p:attrNameLst>
                                          <p:attrName>ppt_y</p:attrName>
                                        </p:attrNameLst>
                                      </p:cBhvr>
                                      <p:tavLst>
                                        <p:tav tm="0">
                                          <p:val>
                                            <p:strVal val="ppt_y"/>
                                          </p:val>
                                        </p:tav>
                                        <p:tav tm="100000">
                                          <p:val>
                                            <p:strVal val="1+ppt_h/2"/>
                                          </p:val>
                                        </p:tav>
                                      </p:tavLst>
                                    </p:anim>
                                    <p:set>
                                      <p:cBhvr>
                                        <p:cTn id="35" dur="1" fill="hold">
                                          <p:stCondLst>
                                            <p:cond delay="499"/>
                                          </p:stCondLst>
                                        </p:cTn>
                                        <p:tgtEl>
                                          <p:spTgt spid="59559"/>
                                        </p:tgtEl>
                                        <p:attrNameLst>
                                          <p:attrName>style.visibility</p:attrName>
                                        </p:attrNameLst>
                                      </p:cBhvr>
                                      <p:to>
                                        <p:strVal val="hidden"/>
                                      </p:to>
                                    </p:set>
                                  </p:childTnLst>
                                </p:cTn>
                              </p:par>
                              <p:par>
                                <p:cTn id="36" presetID="10" presetClass="exit" presetSubtype="0" fill="hold" grpId="2" nodeType="withEffect">
                                  <p:stCondLst>
                                    <p:cond delay="0"/>
                                  </p:stCondLst>
                                  <p:childTnLst>
                                    <p:animEffect transition="out" filter="fade">
                                      <p:cBhvr>
                                        <p:cTn id="37" dur="500"/>
                                        <p:tgtEl>
                                          <p:spTgt spid="59559"/>
                                        </p:tgtEl>
                                      </p:cBhvr>
                                    </p:animEffect>
                                    <p:set>
                                      <p:cBhvr>
                                        <p:cTn id="38" dur="1" fill="hold">
                                          <p:stCondLst>
                                            <p:cond delay="499"/>
                                          </p:stCondLst>
                                        </p:cTn>
                                        <p:tgtEl>
                                          <p:spTgt spid="59559"/>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59495"/>
                                        </p:tgtEl>
                                        <p:attrNameLst>
                                          <p:attrName>style.visibility</p:attrName>
                                        </p:attrNameLst>
                                      </p:cBhvr>
                                      <p:to>
                                        <p:strVal val="visible"/>
                                      </p:to>
                                    </p:set>
                                    <p:animEffect transition="in" filter="fade">
                                      <p:cBhvr>
                                        <p:cTn id="41" dur="500"/>
                                        <p:tgtEl>
                                          <p:spTgt spid="59495"/>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0" presetClass="exit" presetSubtype="0" fill="hold" grpId="1" nodeType="clickEffect">
                                  <p:stCondLst>
                                    <p:cond delay="0"/>
                                  </p:stCondLst>
                                  <p:childTnLst>
                                    <p:animEffect transition="out" filter="fade">
                                      <p:cBhvr>
                                        <p:cTn id="45" dur="500"/>
                                        <p:tgtEl>
                                          <p:spTgt spid="59495"/>
                                        </p:tgtEl>
                                      </p:cBhvr>
                                    </p:animEffect>
                                    <p:set>
                                      <p:cBhvr>
                                        <p:cTn id="46" dur="1" fill="hold">
                                          <p:stCondLst>
                                            <p:cond delay="499"/>
                                          </p:stCondLst>
                                        </p:cTn>
                                        <p:tgtEl>
                                          <p:spTgt spid="59495"/>
                                        </p:tgtEl>
                                        <p:attrNameLst>
                                          <p:attrName>style.visibility</p:attrName>
                                        </p:attrNameLst>
                                      </p:cBhvr>
                                      <p:to>
                                        <p:strVal val="hidden"/>
                                      </p:to>
                                    </p:set>
                                  </p:childTnLst>
                                </p:cTn>
                              </p:par>
                              <p:par>
                                <p:cTn id="47" presetID="22" presetClass="entr" presetSubtype="8" fill="hold" nodeType="withEffect">
                                  <p:stCondLst>
                                    <p:cond delay="0"/>
                                  </p:stCondLst>
                                  <p:childTnLst>
                                    <p:set>
                                      <p:cBhvr>
                                        <p:cTn id="48" dur="1" fill="hold">
                                          <p:stCondLst>
                                            <p:cond delay="0"/>
                                          </p:stCondLst>
                                        </p:cTn>
                                        <p:tgtEl>
                                          <p:spTgt spid="39059"/>
                                        </p:tgtEl>
                                        <p:attrNameLst>
                                          <p:attrName>style.visibility</p:attrName>
                                        </p:attrNameLst>
                                      </p:cBhvr>
                                      <p:to>
                                        <p:strVal val="visible"/>
                                      </p:to>
                                    </p:set>
                                    <p:animEffect transition="in" filter="wipe(left)">
                                      <p:cBhvr>
                                        <p:cTn id="49" dur="500"/>
                                        <p:tgtEl>
                                          <p:spTgt spid="39059"/>
                                        </p:tgtEl>
                                      </p:cBhvr>
                                    </p:animEffect>
                                  </p:childTnLst>
                                  <p:subTnLst>
                                    <p:set>
                                      <p:cBhvr override="childStyle">
                                        <p:cTn dur="1" fill="hold" display="0" masterRel="nextClick" afterEffect="1"/>
                                        <p:tgtEl>
                                          <p:spTgt spid="39059"/>
                                        </p:tgtEl>
                                        <p:attrNameLst>
                                          <p:attrName>style.visibility</p:attrName>
                                        </p:attrNameLst>
                                      </p:cBhvr>
                                      <p:to>
                                        <p:strVal val="hidden"/>
                                      </p:to>
                                    </p:set>
                                  </p:subTnLst>
                                </p:cTn>
                              </p:par>
                            </p:childTnLst>
                          </p:cTn>
                        </p:par>
                      </p:childTnLst>
                    </p:cTn>
                  </p:par>
                  <p:par>
                    <p:cTn id="50" fill="hold" nodeType="clickPar">
                      <p:stCondLst>
                        <p:cond delay="indefinite"/>
                      </p:stCondLst>
                      <p:childTnLst>
                        <p:par>
                          <p:cTn id="51" fill="hold" nodeType="withGroup">
                            <p:stCondLst>
                              <p:cond delay="0"/>
                            </p:stCondLst>
                            <p:childTnLst>
                              <p:par>
                                <p:cTn id="52" presetID="10" presetClass="exit" presetSubtype="0" fill="hold" nodeType="clickEffect">
                                  <p:stCondLst>
                                    <p:cond delay="0"/>
                                  </p:stCondLst>
                                  <p:childTnLst>
                                    <p:animEffect transition="out" filter="fade">
                                      <p:cBhvr>
                                        <p:cTn id="53" dur="500"/>
                                        <p:tgtEl>
                                          <p:spTgt spid="39059"/>
                                        </p:tgtEl>
                                      </p:cBhvr>
                                    </p:animEffect>
                                    <p:set>
                                      <p:cBhvr>
                                        <p:cTn id="54" dur="1" fill="hold">
                                          <p:stCondLst>
                                            <p:cond delay="499"/>
                                          </p:stCondLst>
                                        </p:cTn>
                                        <p:tgtEl>
                                          <p:spTgt spid="39059"/>
                                        </p:tgtEl>
                                        <p:attrNameLst>
                                          <p:attrName>style.visibility</p:attrName>
                                        </p:attrNameLst>
                                      </p:cBhvr>
                                      <p:to>
                                        <p:strVal val="hidden"/>
                                      </p:to>
                                    </p:set>
                                  </p:childTnLst>
                                </p:cTn>
                              </p:par>
                              <p:par>
                                <p:cTn id="55" presetID="22" presetClass="entr" presetSubtype="8" fill="hold" grpId="0" nodeType="withEffect">
                                  <p:stCondLst>
                                    <p:cond delay="0"/>
                                  </p:stCondLst>
                                  <p:childTnLst>
                                    <p:set>
                                      <p:cBhvr>
                                        <p:cTn id="56" dur="1" fill="hold">
                                          <p:stCondLst>
                                            <p:cond delay="0"/>
                                          </p:stCondLst>
                                        </p:cTn>
                                        <p:tgtEl>
                                          <p:spTgt spid="59564"/>
                                        </p:tgtEl>
                                        <p:attrNameLst>
                                          <p:attrName>style.visibility</p:attrName>
                                        </p:attrNameLst>
                                      </p:cBhvr>
                                      <p:to>
                                        <p:strVal val="visible"/>
                                      </p:to>
                                    </p:set>
                                    <p:animEffect transition="in" filter="wipe(left)">
                                      <p:cBhvr>
                                        <p:cTn id="57" dur="500"/>
                                        <p:tgtEl>
                                          <p:spTgt spid="5956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 presetClass="exit" presetSubtype="1" fill="hold" grpId="1" nodeType="clickEffect">
                                  <p:stCondLst>
                                    <p:cond delay="0"/>
                                  </p:stCondLst>
                                  <p:childTnLst>
                                    <p:anim calcmode="lin" valueType="num">
                                      <p:cBhvr additive="base">
                                        <p:cTn id="61" dur="500"/>
                                        <p:tgtEl>
                                          <p:spTgt spid="59564"/>
                                        </p:tgtEl>
                                        <p:attrNameLst>
                                          <p:attrName>ppt_x</p:attrName>
                                        </p:attrNameLst>
                                      </p:cBhvr>
                                      <p:tavLst>
                                        <p:tav tm="0">
                                          <p:val>
                                            <p:strVal val="ppt_x"/>
                                          </p:val>
                                        </p:tav>
                                        <p:tav tm="100000">
                                          <p:val>
                                            <p:strVal val="ppt_x"/>
                                          </p:val>
                                        </p:tav>
                                      </p:tavLst>
                                    </p:anim>
                                    <p:anim calcmode="lin" valueType="num">
                                      <p:cBhvr additive="base">
                                        <p:cTn id="62" dur="500"/>
                                        <p:tgtEl>
                                          <p:spTgt spid="59564"/>
                                        </p:tgtEl>
                                        <p:attrNameLst>
                                          <p:attrName>ppt_y</p:attrName>
                                        </p:attrNameLst>
                                      </p:cBhvr>
                                      <p:tavLst>
                                        <p:tav tm="0">
                                          <p:val>
                                            <p:strVal val="ppt_y"/>
                                          </p:val>
                                        </p:tav>
                                        <p:tav tm="100000">
                                          <p:val>
                                            <p:strVal val="0-ppt_h/2"/>
                                          </p:val>
                                        </p:tav>
                                      </p:tavLst>
                                    </p:anim>
                                    <p:set>
                                      <p:cBhvr>
                                        <p:cTn id="63" dur="1" fill="hold">
                                          <p:stCondLst>
                                            <p:cond delay="499"/>
                                          </p:stCondLst>
                                        </p:cTn>
                                        <p:tgtEl>
                                          <p:spTgt spid="59564"/>
                                        </p:tgtEl>
                                        <p:attrNameLst>
                                          <p:attrName>style.visibility</p:attrName>
                                        </p:attrNameLst>
                                      </p:cBhvr>
                                      <p:to>
                                        <p:strVal val="hidden"/>
                                      </p:to>
                                    </p:set>
                                  </p:childTnLst>
                                </p:cTn>
                              </p:par>
                              <p:par>
                                <p:cTn id="64" presetID="10" presetClass="exit" presetSubtype="0" fill="hold" grpId="2" nodeType="withEffect">
                                  <p:stCondLst>
                                    <p:cond delay="0"/>
                                  </p:stCondLst>
                                  <p:childTnLst>
                                    <p:animEffect transition="out" filter="fade">
                                      <p:cBhvr>
                                        <p:cTn id="65" dur="500"/>
                                        <p:tgtEl>
                                          <p:spTgt spid="59564"/>
                                        </p:tgtEl>
                                      </p:cBhvr>
                                    </p:animEffect>
                                    <p:set>
                                      <p:cBhvr>
                                        <p:cTn id="66" dur="1" fill="hold">
                                          <p:stCondLst>
                                            <p:cond delay="499"/>
                                          </p:stCondLst>
                                        </p:cTn>
                                        <p:tgtEl>
                                          <p:spTgt spid="59564"/>
                                        </p:tgtEl>
                                        <p:attrNameLst>
                                          <p:attrName>style.visibility</p:attrName>
                                        </p:attrNameLst>
                                      </p:cBhvr>
                                      <p:to>
                                        <p:strVal val="hidden"/>
                                      </p:to>
                                    </p:set>
                                  </p:childTnLst>
                                </p:cTn>
                              </p:par>
                              <p:par>
                                <p:cTn id="67" presetID="10" presetClass="entr" presetSubtype="0" fill="hold" grpId="0" nodeType="withEffect">
                                  <p:stCondLst>
                                    <p:cond delay="0"/>
                                  </p:stCondLst>
                                  <p:childTnLst>
                                    <p:set>
                                      <p:cBhvr>
                                        <p:cTn id="68" dur="1" fill="hold">
                                          <p:stCondLst>
                                            <p:cond delay="0"/>
                                          </p:stCondLst>
                                        </p:cTn>
                                        <p:tgtEl>
                                          <p:spTgt spid="59563"/>
                                        </p:tgtEl>
                                        <p:attrNameLst>
                                          <p:attrName>style.visibility</p:attrName>
                                        </p:attrNameLst>
                                      </p:cBhvr>
                                      <p:to>
                                        <p:strVal val="visible"/>
                                      </p:to>
                                    </p:set>
                                    <p:animEffect transition="in" filter="fade">
                                      <p:cBhvr>
                                        <p:cTn id="69" dur="500"/>
                                        <p:tgtEl>
                                          <p:spTgt spid="5956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10" presetClass="exit" presetSubtype="0" fill="hold" grpId="1" nodeType="clickEffect">
                                  <p:stCondLst>
                                    <p:cond delay="0"/>
                                  </p:stCondLst>
                                  <p:childTnLst>
                                    <p:animEffect transition="out" filter="fade">
                                      <p:cBhvr>
                                        <p:cTn id="73" dur="500"/>
                                        <p:tgtEl>
                                          <p:spTgt spid="59557"/>
                                        </p:tgtEl>
                                      </p:cBhvr>
                                    </p:animEffect>
                                    <p:set>
                                      <p:cBhvr>
                                        <p:cTn id="74" dur="1" fill="hold">
                                          <p:stCondLst>
                                            <p:cond delay="499"/>
                                          </p:stCondLst>
                                        </p:cTn>
                                        <p:tgtEl>
                                          <p:spTgt spid="59557"/>
                                        </p:tgtEl>
                                        <p:attrNameLst>
                                          <p:attrName>style.visibility</p:attrName>
                                        </p:attrNameLst>
                                      </p:cBhvr>
                                      <p:to>
                                        <p:strVal val="hidden"/>
                                      </p:to>
                                    </p:set>
                                  </p:childTnLst>
                                </p:cTn>
                              </p:par>
                              <p:par>
                                <p:cTn id="75" presetID="10" presetClass="entr" presetSubtype="0" fill="hold" grpId="0" nodeType="withEffect">
                                  <p:stCondLst>
                                    <p:cond delay="0"/>
                                  </p:stCondLst>
                                  <p:childTnLst>
                                    <p:set>
                                      <p:cBhvr>
                                        <p:cTn id="76" dur="1" fill="hold">
                                          <p:stCondLst>
                                            <p:cond delay="0"/>
                                          </p:stCondLst>
                                        </p:cTn>
                                        <p:tgtEl>
                                          <p:spTgt spid="59561"/>
                                        </p:tgtEl>
                                        <p:attrNameLst>
                                          <p:attrName>style.visibility</p:attrName>
                                        </p:attrNameLst>
                                      </p:cBhvr>
                                      <p:to>
                                        <p:strVal val="visible"/>
                                      </p:to>
                                    </p:set>
                                    <p:animEffect transition="in" filter="fade">
                                      <p:cBhvr>
                                        <p:cTn id="77" dur="500"/>
                                        <p:tgtEl>
                                          <p:spTgt spid="59561"/>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0" presetClass="exit" presetSubtype="0" fill="hold" grpId="1" nodeType="clickEffect">
                                  <p:stCondLst>
                                    <p:cond delay="0"/>
                                  </p:stCondLst>
                                  <p:childTnLst>
                                    <p:animEffect transition="out" filter="fade">
                                      <p:cBhvr>
                                        <p:cTn id="81" dur="500"/>
                                        <p:tgtEl>
                                          <p:spTgt spid="59558"/>
                                        </p:tgtEl>
                                      </p:cBhvr>
                                    </p:animEffect>
                                    <p:set>
                                      <p:cBhvr>
                                        <p:cTn id="82" dur="1" fill="hold">
                                          <p:stCondLst>
                                            <p:cond delay="499"/>
                                          </p:stCondLst>
                                        </p:cTn>
                                        <p:tgtEl>
                                          <p:spTgt spid="59558"/>
                                        </p:tgtEl>
                                        <p:attrNameLst>
                                          <p:attrName>style.visibility</p:attrName>
                                        </p:attrNameLst>
                                      </p:cBhvr>
                                      <p:to>
                                        <p:strVal val="hidden"/>
                                      </p:to>
                                    </p:set>
                                  </p:childTnLst>
                                </p:cTn>
                              </p:par>
                              <p:par>
                                <p:cTn id="83" presetID="10" presetClass="entr" presetSubtype="0" fill="hold" grpId="0" nodeType="withEffect">
                                  <p:stCondLst>
                                    <p:cond delay="0"/>
                                  </p:stCondLst>
                                  <p:childTnLst>
                                    <p:set>
                                      <p:cBhvr>
                                        <p:cTn id="84" dur="1" fill="hold">
                                          <p:stCondLst>
                                            <p:cond delay="0"/>
                                          </p:stCondLst>
                                        </p:cTn>
                                        <p:tgtEl>
                                          <p:spTgt spid="59562"/>
                                        </p:tgtEl>
                                        <p:attrNameLst>
                                          <p:attrName>style.visibility</p:attrName>
                                        </p:attrNameLst>
                                      </p:cBhvr>
                                      <p:to>
                                        <p:strVal val="visible"/>
                                      </p:to>
                                    </p:set>
                                    <p:animEffect transition="in" filter="fade">
                                      <p:cBhvr>
                                        <p:cTn id="85" dur="500"/>
                                        <p:tgtEl>
                                          <p:spTgt spid="59562"/>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10" presetClass="exit" presetSubtype="0" fill="hold" grpId="1" nodeType="clickEffect">
                                  <p:stCondLst>
                                    <p:cond delay="0"/>
                                  </p:stCondLst>
                                  <p:childTnLst>
                                    <p:animEffect transition="out" filter="fade">
                                      <p:cBhvr>
                                        <p:cTn id="89" dur="500"/>
                                        <p:tgtEl>
                                          <p:spTgt spid="59556"/>
                                        </p:tgtEl>
                                      </p:cBhvr>
                                    </p:animEffect>
                                    <p:set>
                                      <p:cBhvr>
                                        <p:cTn id="90" dur="1" fill="hold">
                                          <p:stCondLst>
                                            <p:cond delay="499"/>
                                          </p:stCondLst>
                                        </p:cTn>
                                        <p:tgtEl>
                                          <p:spTgt spid="59556"/>
                                        </p:tgtEl>
                                        <p:attrNameLst>
                                          <p:attrName>style.visibility</p:attrName>
                                        </p:attrNameLst>
                                      </p:cBhvr>
                                      <p:to>
                                        <p:strVal val="hidden"/>
                                      </p:to>
                                    </p:set>
                                  </p:childTnLst>
                                </p:cTn>
                              </p:par>
                              <p:par>
                                <p:cTn id="91" presetID="10" presetClass="entr" presetSubtype="0" fill="hold" grpId="0" nodeType="withEffect">
                                  <p:stCondLst>
                                    <p:cond delay="0"/>
                                  </p:stCondLst>
                                  <p:childTnLst>
                                    <p:set>
                                      <p:cBhvr>
                                        <p:cTn id="92" dur="1" fill="hold">
                                          <p:stCondLst>
                                            <p:cond delay="0"/>
                                          </p:stCondLst>
                                        </p:cTn>
                                        <p:tgtEl>
                                          <p:spTgt spid="59560"/>
                                        </p:tgtEl>
                                        <p:attrNameLst>
                                          <p:attrName>style.visibility</p:attrName>
                                        </p:attrNameLst>
                                      </p:cBhvr>
                                      <p:to>
                                        <p:strVal val="visible"/>
                                      </p:to>
                                    </p:set>
                                    <p:animEffect transition="in" filter="fade">
                                      <p:cBhvr>
                                        <p:cTn id="93" dur="500"/>
                                        <p:tgtEl>
                                          <p:spTgt spid="59560"/>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10" presetClass="exit" presetSubtype="0" fill="hold" grpId="1" nodeType="clickEffect">
                                  <p:stCondLst>
                                    <p:cond delay="0"/>
                                  </p:stCondLst>
                                  <p:childTnLst>
                                    <p:animEffect transition="out" filter="fade">
                                      <p:cBhvr>
                                        <p:cTn id="97" dur="500"/>
                                        <p:tgtEl>
                                          <p:spTgt spid="59560"/>
                                        </p:tgtEl>
                                      </p:cBhvr>
                                    </p:animEffect>
                                    <p:set>
                                      <p:cBhvr>
                                        <p:cTn id="98" dur="1" fill="hold">
                                          <p:stCondLst>
                                            <p:cond delay="499"/>
                                          </p:stCondLst>
                                        </p:cTn>
                                        <p:tgtEl>
                                          <p:spTgt spid="59560"/>
                                        </p:tgtEl>
                                        <p:attrNameLst>
                                          <p:attrName>style.visibility</p:attrName>
                                        </p:attrNameLst>
                                      </p:cBhvr>
                                      <p:to>
                                        <p:strVal val="hidden"/>
                                      </p:to>
                                    </p:set>
                                  </p:childTnLst>
                                </p:cTn>
                              </p:par>
                              <p:par>
                                <p:cTn id="99" presetID="10" presetClass="exit" presetSubtype="0" fill="hold" grpId="1" nodeType="withEffect">
                                  <p:stCondLst>
                                    <p:cond delay="0"/>
                                  </p:stCondLst>
                                  <p:childTnLst>
                                    <p:animEffect transition="out" filter="fade">
                                      <p:cBhvr>
                                        <p:cTn id="100" dur="500"/>
                                        <p:tgtEl>
                                          <p:spTgt spid="59561"/>
                                        </p:tgtEl>
                                      </p:cBhvr>
                                    </p:animEffect>
                                    <p:set>
                                      <p:cBhvr>
                                        <p:cTn id="101" dur="1" fill="hold">
                                          <p:stCondLst>
                                            <p:cond delay="499"/>
                                          </p:stCondLst>
                                        </p:cTn>
                                        <p:tgtEl>
                                          <p:spTgt spid="59561"/>
                                        </p:tgtEl>
                                        <p:attrNameLst>
                                          <p:attrName>style.visibility</p:attrName>
                                        </p:attrNameLst>
                                      </p:cBhvr>
                                      <p:to>
                                        <p:strVal val="hidden"/>
                                      </p:to>
                                    </p:set>
                                  </p:childTnLst>
                                </p:cTn>
                              </p:par>
                              <p:par>
                                <p:cTn id="102" presetID="10" presetClass="exit" presetSubtype="0" fill="hold" grpId="1" nodeType="withEffect">
                                  <p:stCondLst>
                                    <p:cond delay="0"/>
                                  </p:stCondLst>
                                  <p:childTnLst>
                                    <p:animEffect transition="out" filter="fade">
                                      <p:cBhvr>
                                        <p:cTn id="103" dur="500"/>
                                        <p:tgtEl>
                                          <p:spTgt spid="59562"/>
                                        </p:tgtEl>
                                      </p:cBhvr>
                                    </p:animEffect>
                                    <p:set>
                                      <p:cBhvr>
                                        <p:cTn id="104" dur="1" fill="hold">
                                          <p:stCondLst>
                                            <p:cond delay="499"/>
                                          </p:stCondLst>
                                        </p:cTn>
                                        <p:tgtEl>
                                          <p:spTgt spid="59562"/>
                                        </p:tgtEl>
                                        <p:attrNameLst>
                                          <p:attrName>style.visibility</p:attrName>
                                        </p:attrNameLst>
                                      </p:cBhvr>
                                      <p:to>
                                        <p:strVal val="hidden"/>
                                      </p:to>
                                    </p:set>
                                  </p:childTnLst>
                                </p:cTn>
                              </p:par>
                              <p:par>
                                <p:cTn id="105" presetID="10" presetClass="exit" presetSubtype="0" fill="hold" grpId="1" nodeType="withEffect">
                                  <p:stCondLst>
                                    <p:cond delay="0"/>
                                  </p:stCondLst>
                                  <p:childTnLst>
                                    <p:animEffect transition="out" filter="fade">
                                      <p:cBhvr>
                                        <p:cTn id="106" dur="500"/>
                                        <p:tgtEl>
                                          <p:spTgt spid="59563"/>
                                        </p:tgtEl>
                                      </p:cBhvr>
                                    </p:animEffect>
                                    <p:set>
                                      <p:cBhvr>
                                        <p:cTn id="107" dur="1" fill="hold">
                                          <p:stCondLst>
                                            <p:cond delay="499"/>
                                          </p:stCondLst>
                                        </p:cTn>
                                        <p:tgtEl>
                                          <p:spTgt spid="59563"/>
                                        </p:tgtEl>
                                        <p:attrNameLst>
                                          <p:attrName>style.visibility</p:attrName>
                                        </p:attrNameLst>
                                      </p:cBhvr>
                                      <p:to>
                                        <p:strVal val="hidden"/>
                                      </p:to>
                                    </p:set>
                                  </p:childTnLst>
                                </p:cTn>
                              </p:par>
                              <p:par>
                                <p:cTn id="108" presetID="10" presetClass="entr" presetSubtype="0" fill="hold" grpId="0" nodeType="withEffect">
                                  <p:stCondLst>
                                    <p:cond delay="0"/>
                                  </p:stCondLst>
                                  <p:childTnLst>
                                    <p:set>
                                      <p:cBhvr>
                                        <p:cTn id="109" dur="1" fill="hold">
                                          <p:stCondLst>
                                            <p:cond delay="0"/>
                                          </p:stCondLst>
                                        </p:cTn>
                                        <p:tgtEl>
                                          <p:spTgt spid="39040"/>
                                        </p:tgtEl>
                                        <p:attrNameLst>
                                          <p:attrName>style.visibility</p:attrName>
                                        </p:attrNameLst>
                                      </p:cBhvr>
                                      <p:to>
                                        <p:strVal val="visible"/>
                                      </p:to>
                                    </p:set>
                                    <p:animEffect transition="in" filter="fade">
                                      <p:cBhvr>
                                        <p:cTn id="110" dur="500"/>
                                        <p:tgtEl>
                                          <p:spTgt spid="390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007" grpId="0" animBg="1" autoUpdateAnimBg="0"/>
      <p:bldP spid="39007" grpId="1" animBg="1"/>
      <p:bldP spid="59495" grpId="0" animBg="1"/>
      <p:bldP spid="59495" grpId="1" animBg="1"/>
      <p:bldP spid="39040" grpId="0" animBg="1"/>
      <p:bldP spid="59556" grpId="0" animBg="1"/>
      <p:bldP spid="59556" grpId="1" animBg="1"/>
      <p:bldP spid="59557" grpId="0" animBg="1"/>
      <p:bldP spid="59557" grpId="1" animBg="1"/>
      <p:bldP spid="59558" grpId="0" animBg="1"/>
      <p:bldP spid="59558" grpId="1" animBg="1"/>
      <p:bldP spid="59559" grpId="0" animBg="1"/>
      <p:bldP spid="59559" grpId="1" animBg="1"/>
      <p:bldP spid="59559" grpId="2" animBg="1"/>
      <p:bldP spid="59560" grpId="0" animBg="1"/>
      <p:bldP spid="59560" grpId="1" animBg="1"/>
      <p:bldP spid="59561" grpId="0" animBg="1"/>
      <p:bldP spid="59561" grpId="1" animBg="1"/>
      <p:bldP spid="59562" grpId="0" animBg="1"/>
      <p:bldP spid="59562" grpId="1" animBg="1"/>
      <p:bldP spid="59563" grpId="0" animBg="1"/>
      <p:bldP spid="59563" grpId="1" animBg="1"/>
      <p:bldP spid="59564" grpId="0" animBg="1"/>
      <p:bldP spid="59564" grpId="1" animBg="1"/>
      <p:bldP spid="59564" grpId="2"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Slide Number Placeholder 3"/>
          <p:cNvSpPr>
            <a:spLocks noGrp="1"/>
          </p:cNvSpPr>
          <p:nvPr>
            <p:ph type="sldNum" sz="quarter" idx="12"/>
          </p:nvPr>
        </p:nvSpPr>
        <p:spPr/>
        <p:txBody>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defRPr/>
            </a:pPr>
            <a:fld id="{C75A9633-9ABF-415C-852D-979D62ED4750}" type="slidenum">
              <a:rPr lang="en-US" altLang="en-US" smtClean="0">
                <a:latin typeface="Arial" panose="020B0604020202020204" pitchFamily="34" charset="0"/>
              </a:rPr>
              <a:pPr eaLnBrk="1" hangingPunct="1">
                <a:defRPr/>
              </a:pPr>
              <a:t>7</a:t>
            </a:fld>
            <a:endParaRPr lang="en-US" altLang="en-US" smtClean="0">
              <a:latin typeface="Arial" panose="020B0604020202020204" pitchFamily="34" charset="0"/>
            </a:endParaRPr>
          </a:p>
        </p:txBody>
      </p:sp>
      <p:sp>
        <p:nvSpPr>
          <p:cNvPr id="60419" name="Rectangle 192"/>
          <p:cNvSpPr>
            <a:spLocks noGrp="1" noChangeArrowheads="1"/>
          </p:cNvSpPr>
          <p:nvPr>
            <p:ph type="title" idx="4294967295"/>
          </p:nvPr>
        </p:nvSpPr>
        <p:spPr>
          <a:xfrm>
            <a:off x="838200" y="365125"/>
            <a:ext cx="10515600" cy="832593"/>
          </a:xfrm>
        </p:spPr>
        <p:txBody>
          <a:bodyPr anchor="b"/>
          <a:lstStyle/>
          <a:p>
            <a:pPr eaLnBrk="1" hangingPunct="1">
              <a:defRPr/>
            </a:pPr>
            <a:r>
              <a:rPr lang="en-US" dirty="0" smtClean="0"/>
              <a:t>Components in Communication</a:t>
            </a:r>
          </a:p>
        </p:txBody>
      </p:sp>
      <p:grpSp>
        <p:nvGrpSpPr>
          <p:cNvPr id="10244" name="Group 3"/>
          <p:cNvGrpSpPr>
            <a:grpSpLocks/>
          </p:cNvGrpSpPr>
          <p:nvPr/>
        </p:nvGrpSpPr>
        <p:grpSpPr bwMode="auto">
          <a:xfrm>
            <a:off x="2514600" y="3200400"/>
            <a:ext cx="2133600" cy="2114550"/>
            <a:chOff x="5184" y="1008"/>
            <a:chExt cx="462" cy="564"/>
          </a:xfrm>
        </p:grpSpPr>
        <p:pic>
          <p:nvPicPr>
            <p:cNvPr id="10287" name="Picture 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55" y="1156"/>
              <a:ext cx="291"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88" name="Group 5"/>
            <p:cNvGrpSpPr>
              <a:grpSpLocks/>
            </p:cNvGrpSpPr>
            <p:nvPr/>
          </p:nvGrpSpPr>
          <p:grpSpPr bwMode="auto">
            <a:xfrm>
              <a:off x="5184" y="1008"/>
              <a:ext cx="270" cy="564"/>
              <a:chOff x="5184" y="1008"/>
              <a:chExt cx="270" cy="564"/>
            </a:xfrm>
          </p:grpSpPr>
          <p:grpSp>
            <p:nvGrpSpPr>
              <p:cNvPr id="10289" name="Group 6"/>
              <p:cNvGrpSpPr>
                <a:grpSpLocks/>
              </p:cNvGrpSpPr>
              <p:nvPr/>
            </p:nvGrpSpPr>
            <p:grpSpPr bwMode="auto">
              <a:xfrm>
                <a:off x="5281" y="1127"/>
                <a:ext cx="37" cy="91"/>
                <a:chOff x="5281" y="1127"/>
                <a:chExt cx="37" cy="91"/>
              </a:xfrm>
            </p:grpSpPr>
            <p:sp>
              <p:nvSpPr>
                <p:cNvPr id="10375" name="Freeform 7"/>
                <p:cNvSpPr>
                  <a:spLocks/>
                </p:cNvSpPr>
                <p:nvPr/>
              </p:nvSpPr>
              <p:spPr bwMode="auto">
                <a:xfrm>
                  <a:off x="5281" y="1127"/>
                  <a:ext cx="37" cy="91"/>
                </a:xfrm>
                <a:custGeom>
                  <a:avLst/>
                  <a:gdLst>
                    <a:gd name="T0" fmla="*/ 0 w 37"/>
                    <a:gd name="T1" fmla="*/ 31 h 91"/>
                    <a:gd name="T2" fmla="*/ 6 w 37"/>
                    <a:gd name="T3" fmla="*/ 19 h 91"/>
                    <a:gd name="T4" fmla="*/ 13 w 37"/>
                    <a:gd name="T5" fmla="*/ 14 h 91"/>
                    <a:gd name="T6" fmla="*/ 15 w 37"/>
                    <a:gd name="T7" fmla="*/ 5 h 91"/>
                    <a:gd name="T8" fmla="*/ 18 w 37"/>
                    <a:gd name="T9" fmla="*/ 1 h 91"/>
                    <a:gd name="T10" fmla="*/ 25 w 37"/>
                    <a:gd name="T11" fmla="*/ 0 h 91"/>
                    <a:gd name="T12" fmla="*/ 36 w 37"/>
                    <a:gd name="T13" fmla="*/ 7 h 91"/>
                    <a:gd name="T14" fmla="*/ 33 w 37"/>
                    <a:gd name="T15" fmla="*/ 23 h 91"/>
                    <a:gd name="T16" fmla="*/ 29 w 37"/>
                    <a:gd name="T17" fmla="*/ 33 h 91"/>
                    <a:gd name="T18" fmla="*/ 23 w 37"/>
                    <a:gd name="T19" fmla="*/ 60 h 91"/>
                    <a:gd name="T20" fmla="*/ 11 w 37"/>
                    <a:gd name="T21" fmla="*/ 90 h 91"/>
                    <a:gd name="T22" fmla="*/ 0 w 37"/>
                    <a:gd name="T23" fmla="*/ 31 h 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7"/>
                    <a:gd name="T37" fmla="*/ 0 h 91"/>
                    <a:gd name="T38" fmla="*/ 37 w 37"/>
                    <a:gd name="T39" fmla="*/ 91 h 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7" h="91">
                      <a:moveTo>
                        <a:pt x="0" y="31"/>
                      </a:moveTo>
                      <a:lnTo>
                        <a:pt x="6" y="19"/>
                      </a:lnTo>
                      <a:lnTo>
                        <a:pt x="13" y="14"/>
                      </a:lnTo>
                      <a:lnTo>
                        <a:pt x="15" y="5"/>
                      </a:lnTo>
                      <a:lnTo>
                        <a:pt x="18" y="1"/>
                      </a:lnTo>
                      <a:lnTo>
                        <a:pt x="25" y="0"/>
                      </a:lnTo>
                      <a:lnTo>
                        <a:pt x="36" y="7"/>
                      </a:lnTo>
                      <a:lnTo>
                        <a:pt x="33" y="23"/>
                      </a:lnTo>
                      <a:lnTo>
                        <a:pt x="29" y="33"/>
                      </a:lnTo>
                      <a:lnTo>
                        <a:pt x="23" y="60"/>
                      </a:lnTo>
                      <a:lnTo>
                        <a:pt x="11" y="90"/>
                      </a:lnTo>
                      <a:lnTo>
                        <a:pt x="0" y="31"/>
                      </a:lnTo>
                    </a:path>
                  </a:pathLst>
                </a:custGeom>
                <a:solidFill>
                  <a:srgbClr val="C0C0C0"/>
                </a:solidFill>
                <a:ln w="12700" cap="rnd" cmpd="sng">
                  <a:solidFill>
                    <a:srgbClr val="000000"/>
                  </a:solidFill>
                  <a:prstDash val="solid"/>
                  <a:round/>
                  <a:headEnd/>
                  <a:tailEnd/>
                </a:ln>
              </p:spPr>
              <p:txBody>
                <a:bodyPr/>
                <a:lstStyle/>
                <a:p>
                  <a:endParaRPr lang="en-IN"/>
                </a:p>
              </p:txBody>
            </p:sp>
            <p:sp>
              <p:nvSpPr>
                <p:cNvPr id="10376" name="Freeform 8"/>
                <p:cNvSpPr>
                  <a:spLocks/>
                </p:cNvSpPr>
                <p:nvPr/>
              </p:nvSpPr>
              <p:spPr bwMode="auto">
                <a:xfrm>
                  <a:off x="5287" y="1134"/>
                  <a:ext cx="29" cy="66"/>
                </a:xfrm>
                <a:custGeom>
                  <a:avLst/>
                  <a:gdLst>
                    <a:gd name="T0" fmla="*/ 11 w 29"/>
                    <a:gd name="T1" fmla="*/ 0 h 66"/>
                    <a:gd name="T2" fmla="*/ 14 w 29"/>
                    <a:gd name="T3" fmla="*/ 4 h 66"/>
                    <a:gd name="T4" fmla="*/ 21 w 29"/>
                    <a:gd name="T5" fmla="*/ 8 h 66"/>
                    <a:gd name="T6" fmla="*/ 28 w 29"/>
                    <a:gd name="T7" fmla="*/ 8 h 66"/>
                    <a:gd name="T8" fmla="*/ 24 w 29"/>
                    <a:gd name="T9" fmla="*/ 22 h 66"/>
                    <a:gd name="T10" fmla="*/ 18 w 29"/>
                    <a:gd name="T11" fmla="*/ 21 h 66"/>
                    <a:gd name="T12" fmla="*/ 15 w 29"/>
                    <a:gd name="T13" fmla="*/ 19 h 66"/>
                    <a:gd name="T14" fmla="*/ 17 w 29"/>
                    <a:gd name="T15" fmla="*/ 23 h 66"/>
                    <a:gd name="T16" fmla="*/ 23 w 29"/>
                    <a:gd name="T17" fmla="*/ 24 h 66"/>
                    <a:gd name="T18" fmla="*/ 18 w 29"/>
                    <a:gd name="T19" fmla="*/ 40 h 66"/>
                    <a:gd name="T20" fmla="*/ 16 w 29"/>
                    <a:gd name="T21" fmla="*/ 52 h 66"/>
                    <a:gd name="T22" fmla="*/ 14 w 29"/>
                    <a:gd name="T23" fmla="*/ 45 h 66"/>
                    <a:gd name="T24" fmla="*/ 13 w 29"/>
                    <a:gd name="T25" fmla="*/ 32 h 66"/>
                    <a:gd name="T26" fmla="*/ 13 w 29"/>
                    <a:gd name="T27" fmla="*/ 26 h 66"/>
                    <a:gd name="T28" fmla="*/ 11 w 29"/>
                    <a:gd name="T29" fmla="*/ 28 h 66"/>
                    <a:gd name="T30" fmla="*/ 11 w 29"/>
                    <a:gd name="T31" fmla="*/ 37 h 66"/>
                    <a:gd name="T32" fmla="*/ 13 w 29"/>
                    <a:gd name="T33" fmla="*/ 48 h 66"/>
                    <a:gd name="T34" fmla="*/ 14 w 29"/>
                    <a:gd name="T35" fmla="*/ 56 h 66"/>
                    <a:gd name="T36" fmla="*/ 11 w 29"/>
                    <a:gd name="T37" fmla="*/ 65 h 66"/>
                    <a:gd name="T38" fmla="*/ 7 w 29"/>
                    <a:gd name="T39" fmla="*/ 41 h 66"/>
                    <a:gd name="T40" fmla="*/ 4 w 29"/>
                    <a:gd name="T41" fmla="*/ 34 h 66"/>
                    <a:gd name="T42" fmla="*/ 1 w 29"/>
                    <a:gd name="T43" fmla="*/ 22 h 66"/>
                    <a:gd name="T44" fmla="*/ 0 w 29"/>
                    <a:gd name="T45" fmla="*/ 19 h 66"/>
                    <a:gd name="T46" fmla="*/ 2 w 29"/>
                    <a:gd name="T47" fmla="*/ 15 h 66"/>
                    <a:gd name="T48" fmla="*/ 8 w 29"/>
                    <a:gd name="T49" fmla="*/ 11 h 66"/>
                    <a:gd name="T50" fmla="*/ 10 w 29"/>
                    <a:gd name="T51" fmla="*/ 14 h 66"/>
                    <a:gd name="T52" fmla="*/ 9 w 29"/>
                    <a:gd name="T53" fmla="*/ 8 h 66"/>
                    <a:gd name="T54" fmla="*/ 11 w 29"/>
                    <a:gd name="T55" fmla="*/ 0 h 6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9"/>
                    <a:gd name="T85" fmla="*/ 0 h 66"/>
                    <a:gd name="T86" fmla="*/ 29 w 29"/>
                    <a:gd name="T87" fmla="*/ 66 h 6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9" h="66">
                      <a:moveTo>
                        <a:pt x="11" y="0"/>
                      </a:moveTo>
                      <a:lnTo>
                        <a:pt x="14" y="4"/>
                      </a:lnTo>
                      <a:lnTo>
                        <a:pt x="21" y="8"/>
                      </a:lnTo>
                      <a:lnTo>
                        <a:pt x="28" y="8"/>
                      </a:lnTo>
                      <a:lnTo>
                        <a:pt x="24" y="22"/>
                      </a:lnTo>
                      <a:lnTo>
                        <a:pt x="18" y="21"/>
                      </a:lnTo>
                      <a:lnTo>
                        <a:pt x="15" y="19"/>
                      </a:lnTo>
                      <a:lnTo>
                        <a:pt x="17" y="23"/>
                      </a:lnTo>
                      <a:lnTo>
                        <a:pt x="23" y="24"/>
                      </a:lnTo>
                      <a:lnTo>
                        <a:pt x="18" y="40"/>
                      </a:lnTo>
                      <a:lnTo>
                        <a:pt x="16" y="52"/>
                      </a:lnTo>
                      <a:lnTo>
                        <a:pt x="14" y="45"/>
                      </a:lnTo>
                      <a:lnTo>
                        <a:pt x="13" y="32"/>
                      </a:lnTo>
                      <a:lnTo>
                        <a:pt x="13" y="26"/>
                      </a:lnTo>
                      <a:lnTo>
                        <a:pt x="11" y="28"/>
                      </a:lnTo>
                      <a:lnTo>
                        <a:pt x="11" y="37"/>
                      </a:lnTo>
                      <a:lnTo>
                        <a:pt x="13" y="48"/>
                      </a:lnTo>
                      <a:lnTo>
                        <a:pt x="14" y="56"/>
                      </a:lnTo>
                      <a:lnTo>
                        <a:pt x="11" y="65"/>
                      </a:lnTo>
                      <a:lnTo>
                        <a:pt x="7" y="41"/>
                      </a:lnTo>
                      <a:lnTo>
                        <a:pt x="4" y="34"/>
                      </a:lnTo>
                      <a:lnTo>
                        <a:pt x="1" y="22"/>
                      </a:lnTo>
                      <a:lnTo>
                        <a:pt x="0" y="19"/>
                      </a:lnTo>
                      <a:lnTo>
                        <a:pt x="2" y="15"/>
                      </a:lnTo>
                      <a:lnTo>
                        <a:pt x="8" y="11"/>
                      </a:lnTo>
                      <a:lnTo>
                        <a:pt x="10" y="14"/>
                      </a:lnTo>
                      <a:lnTo>
                        <a:pt x="9" y="8"/>
                      </a:lnTo>
                      <a:lnTo>
                        <a:pt x="11" y="0"/>
                      </a:lnTo>
                    </a:path>
                  </a:pathLst>
                </a:custGeom>
                <a:solidFill>
                  <a:srgbClr val="E0E0E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grpSp>
            <p:nvGrpSpPr>
              <p:cNvPr id="10290" name="Group 9"/>
              <p:cNvGrpSpPr>
                <a:grpSpLocks/>
              </p:cNvGrpSpPr>
              <p:nvPr/>
            </p:nvGrpSpPr>
            <p:grpSpPr bwMode="auto">
              <a:xfrm>
                <a:off x="5275" y="1075"/>
                <a:ext cx="58" cy="65"/>
                <a:chOff x="5275" y="1075"/>
                <a:chExt cx="58" cy="65"/>
              </a:xfrm>
            </p:grpSpPr>
            <p:sp>
              <p:nvSpPr>
                <p:cNvPr id="10360" name="Freeform 10"/>
                <p:cNvSpPr>
                  <a:spLocks/>
                </p:cNvSpPr>
                <p:nvPr/>
              </p:nvSpPr>
              <p:spPr bwMode="auto">
                <a:xfrm>
                  <a:off x="5287" y="1080"/>
                  <a:ext cx="36" cy="60"/>
                </a:xfrm>
                <a:custGeom>
                  <a:avLst/>
                  <a:gdLst>
                    <a:gd name="T0" fmla="*/ 0 w 36"/>
                    <a:gd name="T1" fmla="*/ 21 h 60"/>
                    <a:gd name="T2" fmla="*/ 1 w 36"/>
                    <a:gd name="T3" fmla="*/ 25 h 60"/>
                    <a:gd name="T4" fmla="*/ 3 w 36"/>
                    <a:gd name="T5" fmla="*/ 27 h 60"/>
                    <a:gd name="T6" fmla="*/ 5 w 36"/>
                    <a:gd name="T7" fmla="*/ 31 h 60"/>
                    <a:gd name="T8" fmla="*/ 6 w 36"/>
                    <a:gd name="T9" fmla="*/ 33 h 60"/>
                    <a:gd name="T10" fmla="*/ 8 w 36"/>
                    <a:gd name="T11" fmla="*/ 36 h 60"/>
                    <a:gd name="T12" fmla="*/ 10 w 36"/>
                    <a:gd name="T13" fmla="*/ 37 h 60"/>
                    <a:gd name="T14" fmla="*/ 12 w 36"/>
                    <a:gd name="T15" fmla="*/ 39 h 60"/>
                    <a:gd name="T16" fmla="*/ 12 w 36"/>
                    <a:gd name="T17" fmla="*/ 42 h 60"/>
                    <a:gd name="T18" fmla="*/ 12 w 36"/>
                    <a:gd name="T19" fmla="*/ 45 h 60"/>
                    <a:gd name="T20" fmla="*/ 12 w 36"/>
                    <a:gd name="T21" fmla="*/ 52 h 60"/>
                    <a:gd name="T22" fmla="*/ 17 w 36"/>
                    <a:gd name="T23" fmla="*/ 56 h 60"/>
                    <a:gd name="T24" fmla="*/ 21 w 36"/>
                    <a:gd name="T25" fmla="*/ 59 h 60"/>
                    <a:gd name="T26" fmla="*/ 24 w 36"/>
                    <a:gd name="T27" fmla="*/ 59 h 60"/>
                    <a:gd name="T28" fmla="*/ 27 w 36"/>
                    <a:gd name="T29" fmla="*/ 59 h 60"/>
                    <a:gd name="T30" fmla="*/ 29 w 36"/>
                    <a:gd name="T31" fmla="*/ 54 h 60"/>
                    <a:gd name="T32" fmla="*/ 30 w 36"/>
                    <a:gd name="T33" fmla="*/ 43 h 60"/>
                    <a:gd name="T34" fmla="*/ 32 w 36"/>
                    <a:gd name="T35" fmla="*/ 39 h 60"/>
                    <a:gd name="T36" fmla="*/ 33 w 36"/>
                    <a:gd name="T37" fmla="*/ 34 h 60"/>
                    <a:gd name="T38" fmla="*/ 33 w 36"/>
                    <a:gd name="T39" fmla="*/ 28 h 60"/>
                    <a:gd name="T40" fmla="*/ 34 w 36"/>
                    <a:gd name="T41" fmla="*/ 21 h 60"/>
                    <a:gd name="T42" fmla="*/ 35 w 36"/>
                    <a:gd name="T43" fmla="*/ 17 h 60"/>
                    <a:gd name="T44" fmla="*/ 34 w 36"/>
                    <a:gd name="T45" fmla="*/ 15 h 60"/>
                    <a:gd name="T46" fmla="*/ 33 w 36"/>
                    <a:gd name="T47" fmla="*/ 11 h 60"/>
                    <a:gd name="T48" fmla="*/ 31 w 36"/>
                    <a:gd name="T49" fmla="*/ 8 h 60"/>
                    <a:gd name="T50" fmla="*/ 29 w 36"/>
                    <a:gd name="T51" fmla="*/ 7 h 60"/>
                    <a:gd name="T52" fmla="*/ 27 w 36"/>
                    <a:gd name="T53" fmla="*/ 5 h 60"/>
                    <a:gd name="T54" fmla="*/ 25 w 36"/>
                    <a:gd name="T55" fmla="*/ 3 h 60"/>
                    <a:gd name="T56" fmla="*/ 23 w 36"/>
                    <a:gd name="T57" fmla="*/ 5 h 60"/>
                    <a:gd name="T58" fmla="*/ 21 w 36"/>
                    <a:gd name="T59" fmla="*/ 2 h 60"/>
                    <a:gd name="T60" fmla="*/ 18 w 36"/>
                    <a:gd name="T61" fmla="*/ 0 h 60"/>
                    <a:gd name="T62" fmla="*/ 15 w 36"/>
                    <a:gd name="T63" fmla="*/ 3 h 60"/>
                    <a:gd name="T64" fmla="*/ 14 w 36"/>
                    <a:gd name="T65" fmla="*/ 0 h 60"/>
                    <a:gd name="T66" fmla="*/ 10 w 36"/>
                    <a:gd name="T67" fmla="*/ 0 h 60"/>
                    <a:gd name="T68" fmla="*/ 8 w 36"/>
                    <a:gd name="T69" fmla="*/ 7 h 60"/>
                    <a:gd name="T70" fmla="*/ 7 w 36"/>
                    <a:gd name="T71" fmla="*/ 10 h 60"/>
                    <a:gd name="T72" fmla="*/ 7 w 36"/>
                    <a:gd name="T73" fmla="*/ 15 h 60"/>
                    <a:gd name="T74" fmla="*/ 7 w 36"/>
                    <a:gd name="T75" fmla="*/ 21 h 60"/>
                    <a:gd name="T76" fmla="*/ 5 w 36"/>
                    <a:gd name="T77" fmla="*/ 19 h 60"/>
                    <a:gd name="T78" fmla="*/ 5 w 36"/>
                    <a:gd name="T79" fmla="*/ 15 h 60"/>
                    <a:gd name="T80" fmla="*/ 4 w 36"/>
                    <a:gd name="T81" fmla="*/ 11 h 60"/>
                    <a:gd name="T82" fmla="*/ 3 w 36"/>
                    <a:gd name="T83" fmla="*/ 10 h 60"/>
                    <a:gd name="T84" fmla="*/ 1 w 36"/>
                    <a:gd name="T85" fmla="*/ 8 h 60"/>
                    <a:gd name="T86" fmla="*/ 0 w 36"/>
                    <a:gd name="T87" fmla="*/ 9 h 60"/>
                    <a:gd name="T88" fmla="*/ 0 w 36"/>
                    <a:gd name="T89" fmla="*/ 11 h 60"/>
                    <a:gd name="T90" fmla="*/ 0 w 36"/>
                    <a:gd name="T91" fmla="*/ 13 h 60"/>
                    <a:gd name="T92" fmla="*/ 0 w 36"/>
                    <a:gd name="T93" fmla="*/ 17 h 60"/>
                    <a:gd name="T94" fmla="*/ 0 w 36"/>
                    <a:gd name="T95" fmla="*/ 21 h 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6"/>
                    <a:gd name="T145" fmla="*/ 0 h 60"/>
                    <a:gd name="T146" fmla="*/ 36 w 36"/>
                    <a:gd name="T147" fmla="*/ 60 h 6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6" h="60">
                      <a:moveTo>
                        <a:pt x="0" y="21"/>
                      </a:moveTo>
                      <a:lnTo>
                        <a:pt x="1" y="25"/>
                      </a:lnTo>
                      <a:lnTo>
                        <a:pt x="3" y="27"/>
                      </a:lnTo>
                      <a:lnTo>
                        <a:pt x="5" y="31"/>
                      </a:lnTo>
                      <a:lnTo>
                        <a:pt x="6" y="33"/>
                      </a:lnTo>
                      <a:lnTo>
                        <a:pt x="8" y="36"/>
                      </a:lnTo>
                      <a:lnTo>
                        <a:pt x="10" y="37"/>
                      </a:lnTo>
                      <a:lnTo>
                        <a:pt x="12" y="39"/>
                      </a:lnTo>
                      <a:lnTo>
                        <a:pt x="12" y="42"/>
                      </a:lnTo>
                      <a:lnTo>
                        <a:pt x="12" y="45"/>
                      </a:lnTo>
                      <a:lnTo>
                        <a:pt x="12" y="52"/>
                      </a:lnTo>
                      <a:lnTo>
                        <a:pt x="17" y="56"/>
                      </a:lnTo>
                      <a:lnTo>
                        <a:pt x="21" y="59"/>
                      </a:lnTo>
                      <a:lnTo>
                        <a:pt x="24" y="59"/>
                      </a:lnTo>
                      <a:lnTo>
                        <a:pt x="27" y="59"/>
                      </a:lnTo>
                      <a:lnTo>
                        <a:pt x="29" y="54"/>
                      </a:lnTo>
                      <a:lnTo>
                        <a:pt x="30" y="43"/>
                      </a:lnTo>
                      <a:lnTo>
                        <a:pt x="32" y="39"/>
                      </a:lnTo>
                      <a:lnTo>
                        <a:pt x="33" y="34"/>
                      </a:lnTo>
                      <a:lnTo>
                        <a:pt x="33" y="28"/>
                      </a:lnTo>
                      <a:lnTo>
                        <a:pt x="34" y="21"/>
                      </a:lnTo>
                      <a:lnTo>
                        <a:pt x="35" y="17"/>
                      </a:lnTo>
                      <a:lnTo>
                        <a:pt x="34" y="15"/>
                      </a:lnTo>
                      <a:lnTo>
                        <a:pt x="33" y="11"/>
                      </a:lnTo>
                      <a:lnTo>
                        <a:pt x="31" y="8"/>
                      </a:lnTo>
                      <a:lnTo>
                        <a:pt x="29" y="7"/>
                      </a:lnTo>
                      <a:lnTo>
                        <a:pt x="27" y="5"/>
                      </a:lnTo>
                      <a:lnTo>
                        <a:pt x="25" y="3"/>
                      </a:lnTo>
                      <a:lnTo>
                        <a:pt x="23" y="5"/>
                      </a:lnTo>
                      <a:lnTo>
                        <a:pt x="21" y="2"/>
                      </a:lnTo>
                      <a:lnTo>
                        <a:pt x="18" y="0"/>
                      </a:lnTo>
                      <a:lnTo>
                        <a:pt x="15" y="3"/>
                      </a:lnTo>
                      <a:lnTo>
                        <a:pt x="14" y="0"/>
                      </a:lnTo>
                      <a:lnTo>
                        <a:pt x="10" y="0"/>
                      </a:lnTo>
                      <a:lnTo>
                        <a:pt x="8" y="7"/>
                      </a:lnTo>
                      <a:lnTo>
                        <a:pt x="7" y="10"/>
                      </a:lnTo>
                      <a:lnTo>
                        <a:pt x="7" y="15"/>
                      </a:lnTo>
                      <a:lnTo>
                        <a:pt x="7" y="21"/>
                      </a:lnTo>
                      <a:lnTo>
                        <a:pt x="5" y="19"/>
                      </a:lnTo>
                      <a:lnTo>
                        <a:pt x="5" y="15"/>
                      </a:lnTo>
                      <a:lnTo>
                        <a:pt x="4" y="11"/>
                      </a:lnTo>
                      <a:lnTo>
                        <a:pt x="3" y="10"/>
                      </a:lnTo>
                      <a:lnTo>
                        <a:pt x="1" y="8"/>
                      </a:lnTo>
                      <a:lnTo>
                        <a:pt x="0" y="9"/>
                      </a:lnTo>
                      <a:lnTo>
                        <a:pt x="0" y="11"/>
                      </a:lnTo>
                      <a:lnTo>
                        <a:pt x="0" y="13"/>
                      </a:lnTo>
                      <a:lnTo>
                        <a:pt x="0" y="17"/>
                      </a:lnTo>
                      <a:lnTo>
                        <a:pt x="0" y="21"/>
                      </a:lnTo>
                    </a:path>
                  </a:pathLst>
                </a:custGeom>
                <a:solidFill>
                  <a:srgbClr val="FFC080"/>
                </a:solidFill>
                <a:ln w="12700" cap="rnd" cmpd="sng">
                  <a:solidFill>
                    <a:srgbClr val="402000"/>
                  </a:solidFill>
                  <a:prstDash val="solid"/>
                  <a:round/>
                  <a:headEnd/>
                  <a:tailEnd/>
                </a:ln>
              </p:spPr>
              <p:txBody>
                <a:bodyPr/>
                <a:lstStyle/>
                <a:p>
                  <a:endParaRPr lang="en-IN"/>
                </a:p>
              </p:txBody>
            </p:sp>
            <p:sp>
              <p:nvSpPr>
                <p:cNvPr id="10361" name="Freeform 11"/>
                <p:cNvSpPr>
                  <a:spLocks/>
                </p:cNvSpPr>
                <p:nvPr/>
              </p:nvSpPr>
              <p:spPr bwMode="auto">
                <a:xfrm>
                  <a:off x="5302" y="1084"/>
                  <a:ext cx="18" cy="23"/>
                </a:xfrm>
                <a:custGeom>
                  <a:avLst/>
                  <a:gdLst>
                    <a:gd name="T0" fmla="*/ 1 w 18"/>
                    <a:gd name="T1" fmla="*/ 0 h 23"/>
                    <a:gd name="T2" fmla="*/ 2 w 18"/>
                    <a:gd name="T3" fmla="*/ 4 h 23"/>
                    <a:gd name="T4" fmla="*/ 3 w 18"/>
                    <a:gd name="T5" fmla="*/ 7 h 23"/>
                    <a:gd name="T6" fmla="*/ 1 w 18"/>
                    <a:gd name="T7" fmla="*/ 14 h 23"/>
                    <a:gd name="T8" fmla="*/ 2 w 18"/>
                    <a:gd name="T9" fmla="*/ 16 h 23"/>
                    <a:gd name="T10" fmla="*/ 4 w 18"/>
                    <a:gd name="T11" fmla="*/ 17 h 23"/>
                    <a:gd name="T12" fmla="*/ 5 w 18"/>
                    <a:gd name="T13" fmla="*/ 16 h 23"/>
                    <a:gd name="T14" fmla="*/ 6 w 18"/>
                    <a:gd name="T15" fmla="*/ 13 h 23"/>
                    <a:gd name="T16" fmla="*/ 8 w 18"/>
                    <a:gd name="T17" fmla="*/ 10 h 23"/>
                    <a:gd name="T18" fmla="*/ 7 w 18"/>
                    <a:gd name="T19" fmla="*/ 5 h 23"/>
                    <a:gd name="T20" fmla="*/ 6 w 18"/>
                    <a:gd name="T21" fmla="*/ 1 h 23"/>
                    <a:gd name="T22" fmla="*/ 8 w 18"/>
                    <a:gd name="T23" fmla="*/ 1 h 23"/>
                    <a:gd name="T24" fmla="*/ 8 w 18"/>
                    <a:gd name="T25" fmla="*/ 6 h 23"/>
                    <a:gd name="T26" fmla="*/ 8 w 18"/>
                    <a:gd name="T27" fmla="*/ 8 h 23"/>
                    <a:gd name="T28" fmla="*/ 8 w 18"/>
                    <a:gd name="T29" fmla="*/ 11 h 23"/>
                    <a:gd name="T30" fmla="*/ 7 w 18"/>
                    <a:gd name="T31" fmla="*/ 13 h 23"/>
                    <a:gd name="T32" fmla="*/ 6 w 18"/>
                    <a:gd name="T33" fmla="*/ 16 h 23"/>
                    <a:gd name="T34" fmla="*/ 6 w 18"/>
                    <a:gd name="T35" fmla="*/ 18 h 23"/>
                    <a:gd name="T36" fmla="*/ 7 w 18"/>
                    <a:gd name="T37" fmla="*/ 20 h 23"/>
                    <a:gd name="T38" fmla="*/ 10 w 18"/>
                    <a:gd name="T39" fmla="*/ 19 h 23"/>
                    <a:gd name="T40" fmla="*/ 11 w 18"/>
                    <a:gd name="T41" fmla="*/ 17 h 23"/>
                    <a:gd name="T42" fmla="*/ 13 w 18"/>
                    <a:gd name="T43" fmla="*/ 13 h 23"/>
                    <a:gd name="T44" fmla="*/ 13 w 18"/>
                    <a:gd name="T45" fmla="*/ 11 h 23"/>
                    <a:gd name="T46" fmla="*/ 13 w 18"/>
                    <a:gd name="T47" fmla="*/ 7 h 23"/>
                    <a:gd name="T48" fmla="*/ 14 w 18"/>
                    <a:gd name="T49" fmla="*/ 10 h 23"/>
                    <a:gd name="T50" fmla="*/ 14 w 18"/>
                    <a:gd name="T51" fmla="*/ 13 h 23"/>
                    <a:gd name="T52" fmla="*/ 12 w 18"/>
                    <a:gd name="T53" fmla="*/ 17 h 23"/>
                    <a:gd name="T54" fmla="*/ 12 w 18"/>
                    <a:gd name="T55" fmla="*/ 18 h 23"/>
                    <a:gd name="T56" fmla="*/ 12 w 18"/>
                    <a:gd name="T57" fmla="*/ 21 h 23"/>
                    <a:gd name="T58" fmla="*/ 13 w 18"/>
                    <a:gd name="T59" fmla="*/ 21 h 23"/>
                    <a:gd name="T60" fmla="*/ 14 w 18"/>
                    <a:gd name="T61" fmla="*/ 20 h 23"/>
                    <a:gd name="T62" fmla="*/ 17 w 18"/>
                    <a:gd name="T63" fmla="*/ 18 h 23"/>
                    <a:gd name="T64" fmla="*/ 14 w 18"/>
                    <a:gd name="T65" fmla="*/ 21 h 23"/>
                    <a:gd name="T66" fmla="*/ 14 w 18"/>
                    <a:gd name="T67" fmla="*/ 22 h 23"/>
                    <a:gd name="T68" fmla="*/ 12 w 18"/>
                    <a:gd name="T69" fmla="*/ 22 h 23"/>
                    <a:gd name="T70" fmla="*/ 12 w 18"/>
                    <a:gd name="T71" fmla="*/ 20 h 23"/>
                    <a:gd name="T72" fmla="*/ 11 w 18"/>
                    <a:gd name="T73" fmla="*/ 18 h 23"/>
                    <a:gd name="T74" fmla="*/ 10 w 18"/>
                    <a:gd name="T75" fmla="*/ 20 h 23"/>
                    <a:gd name="T76" fmla="*/ 8 w 18"/>
                    <a:gd name="T77" fmla="*/ 21 h 23"/>
                    <a:gd name="T78" fmla="*/ 6 w 18"/>
                    <a:gd name="T79" fmla="*/ 21 h 23"/>
                    <a:gd name="T80" fmla="*/ 5 w 18"/>
                    <a:gd name="T81" fmla="*/ 18 h 23"/>
                    <a:gd name="T82" fmla="*/ 5 w 18"/>
                    <a:gd name="T83" fmla="*/ 17 h 23"/>
                    <a:gd name="T84" fmla="*/ 4 w 18"/>
                    <a:gd name="T85" fmla="*/ 18 h 23"/>
                    <a:gd name="T86" fmla="*/ 3 w 18"/>
                    <a:gd name="T87" fmla="*/ 18 h 23"/>
                    <a:gd name="T88" fmla="*/ 1 w 18"/>
                    <a:gd name="T89" fmla="*/ 16 h 23"/>
                    <a:gd name="T90" fmla="*/ 1 w 18"/>
                    <a:gd name="T91" fmla="*/ 14 h 23"/>
                    <a:gd name="T92" fmla="*/ 2 w 18"/>
                    <a:gd name="T93" fmla="*/ 8 h 23"/>
                    <a:gd name="T94" fmla="*/ 1 w 18"/>
                    <a:gd name="T95" fmla="*/ 4 h 23"/>
                    <a:gd name="T96" fmla="*/ 0 w 18"/>
                    <a:gd name="T97" fmla="*/ 0 h 23"/>
                    <a:gd name="T98" fmla="*/ 1 w 18"/>
                    <a:gd name="T99" fmla="*/ 0 h 2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8"/>
                    <a:gd name="T151" fmla="*/ 0 h 23"/>
                    <a:gd name="T152" fmla="*/ 18 w 18"/>
                    <a:gd name="T153" fmla="*/ 23 h 2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8" h="23">
                      <a:moveTo>
                        <a:pt x="1" y="0"/>
                      </a:moveTo>
                      <a:lnTo>
                        <a:pt x="2" y="4"/>
                      </a:lnTo>
                      <a:lnTo>
                        <a:pt x="3" y="7"/>
                      </a:lnTo>
                      <a:lnTo>
                        <a:pt x="1" y="14"/>
                      </a:lnTo>
                      <a:lnTo>
                        <a:pt x="2" y="16"/>
                      </a:lnTo>
                      <a:lnTo>
                        <a:pt x="4" y="17"/>
                      </a:lnTo>
                      <a:lnTo>
                        <a:pt x="5" y="16"/>
                      </a:lnTo>
                      <a:lnTo>
                        <a:pt x="6" y="13"/>
                      </a:lnTo>
                      <a:lnTo>
                        <a:pt x="8" y="10"/>
                      </a:lnTo>
                      <a:lnTo>
                        <a:pt x="7" y="5"/>
                      </a:lnTo>
                      <a:lnTo>
                        <a:pt x="6" y="1"/>
                      </a:lnTo>
                      <a:lnTo>
                        <a:pt x="8" y="1"/>
                      </a:lnTo>
                      <a:lnTo>
                        <a:pt x="8" y="6"/>
                      </a:lnTo>
                      <a:lnTo>
                        <a:pt x="8" y="8"/>
                      </a:lnTo>
                      <a:lnTo>
                        <a:pt x="8" y="11"/>
                      </a:lnTo>
                      <a:lnTo>
                        <a:pt x="7" y="13"/>
                      </a:lnTo>
                      <a:lnTo>
                        <a:pt x="6" y="16"/>
                      </a:lnTo>
                      <a:lnTo>
                        <a:pt x="6" y="18"/>
                      </a:lnTo>
                      <a:lnTo>
                        <a:pt x="7" y="20"/>
                      </a:lnTo>
                      <a:lnTo>
                        <a:pt x="10" y="19"/>
                      </a:lnTo>
                      <a:lnTo>
                        <a:pt x="11" y="17"/>
                      </a:lnTo>
                      <a:lnTo>
                        <a:pt x="13" y="13"/>
                      </a:lnTo>
                      <a:lnTo>
                        <a:pt x="13" y="11"/>
                      </a:lnTo>
                      <a:lnTo>
                        <a:pt x="13" y="7"/>
                      </a:lnTo>
                      <a:lnTo>
                        <a:pt x="14" y="10"/>
                      </a:lnTo>
                      <a:lnTo>
                        <a:pt x="14" y="13"/>
                      </a:lnTo>
                      <a:lnTo>
                        <a:pt x="12" y="17"/>
                      </a:lnTo>
                      <a:lnTo>
                        <a:pt x="12" y="18"/>
                      </a:lnTo>
                      <a:lnTo>
                        <a:pt x="12" y="21"/>
                      </a:lnTo>
                      <a:lnTo>
                        <a:pt x="13" y="21"/>
                      </a:lnTo>
                      <a:lnTo>
                        <a:pt x="14" y="20"/>
                      </a:lnTo>
                      <a:lnTo>
                        <a:pt x="17" y="18"/>
                      </a:lnTo>
                      <a:lnTo>
                        <a:pt x="14" y="21"/>
                      </a:lnTo>
                      <a:lnTo>
                        <a:pt x="14" y="22"/>
                      </a:lnTo>
                      <a:lnTo>
                        <a:pt x="12" y="22"/>
                      </a:lnTo>
                      <a:lnTo>
                        <a:pt x="12" y="20"/>
                      </a:lnTo>
                      <a:lnTo>
                        <a:pt x="11" y="18"/>
                      </a:lnTo>
                      <a:lnTo>
                        <a:pt x="10" y="20"/>
                      </a:lnTo>
                      <a:lnTo>
                        <a:pt x="8" y="21"/>
                      </a:lnTo>
                      <a:lnTo>
                        <a:pt x="6" y="21"/>
                      </a:lnTo>
                      <a:lnTo>
                        <a:pt x="5" y="18"/>
                      </a:lnTo>
                      <a:lnTo>
                        <a:pt x="5" y="17"/>
                      </a:lnTo>
                      <a:lnTo>
                        <a:pt x="4" y="18"/>
                      </a:lnTo>
                      <a:lnTo>
                        <a:pt x="3" y="18"/>
                      </a:lnTo>
                      <a:lnTo>
                        <a:pt x="1" y="16"/>
                      </a:lnTo>
                      <a:lnTo>
                        <a:pt x="1" y="14"/>
                      </a:lnTo>
                      <a:lnTo>
                        <a:pt x="2" y="8"/>
                      </a:lnTo>
                      <a:lnTo>
                        <a:pt x="1" y="4"/>
                      </a:lnTo>
                      <a:lnTo>
                        <a:pt x="0" y="0"/>
                      </a:lnTo>
                      <a:lnTo>
                        <a:pt x="1"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62" name="Freeform 12"/>
                <p:cNvSpPr>
                  <a:spLocks/>
                </p:cNvSpPr>
                <p:nvPr/>
              </p:nvSpPr>
              <p:spPr bwMode="auto">
                <a:xfrm>
                  <a:off x="5306" y="1096"/>
                  <a:ext cx="17" cy="17"/>
                </a:xfrm>
                <a:custGeom>
                  <a:avLst/>
                  <a:gdLst>
                    <a:gd name="T0" fmla="*/ 0 w 17"/>
                    <a:gd name="T1" fmla="*/ 16 h 17"/>
                    <a:gd name="T2" fmla="*/ 8 w 17"/>
                    <a:gd name="T3" fmla="*/ 16 h 17"/>
                    <a:gd name="T4" fmla="*/ 16 w 17"/>
                    <a:gd name="T5" fmla="*/ 16 h 17"/>
                    <a:gd name="T6" fmla="*/ 4 w 17"/>
                    <a:gd name="T7" fmla="*/ 0 h 17"/>
                    <a:gd name="T8" fmla="*/ 0 w 17"/>
                    <a:gd name="T9" fmla="*/ 16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16"/>
                      </a:moveTo>
                      <a:lnTo>
                        <a:pt x="8" y="16"/>
                      </a:lnTo>
                      <a:lnTo>
                        <a:pt x="16" y="16"/>
                      </a:lnTo>
                      <a:lnTo>
                        <a:pt x="4" y="0"/>
                      </a:lnTo>
                      <a:lnTo>
                        <a:pt x="0" y="16"/>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63" name="Freeform 13"/>
                <p:cNvSpPr>
                  <a:spLocks/>
                </p:cNvSpPr>
                <p:nvPr/>
              </p:nvSpPr>
              <p:spPr bwMode="auto">
                <a:xfrm>
                  <a:off x="5309" y="1099"/>
                  <a:ext cx="17" cy="17"/>
                </a:xfrm>
                <a:custGeom>
                  <a:avLst/>
                  <a:gdLst>
                    <a:gd name="T0" fmla="*/ 16 w 17"/>
                    <a:gd name="T1" fmla="*/ 16 h 17"/>
                    <a:gd name="T2" fmla="*/ 13 w 17"/>
                    <a:gd name="T3" fmla="*/ 8 h 17"/>
                    <a:gd name="T4" fmla="*/ 10 w 17"/>
                    <a:gd name="T5" fmla="*/ 8 h 17"/>
                    <a:gd name="T6" fmla="*/ 5 w 17"/>
                    <a:gd name="T7" fmla="*/ 0 h 17"/>
                    <a:gd name="T8" fmla="*/ 0 w 17"/>
                    <a:gd name="T9" fmla="*/ 16 h 17"/>
                    <a:gd name="T10" fmla="*/ 5 w 17"/>
                    <a:gd name="T11" fmla="*/ 8 h 17"/>
                    <a:gd name="T12" fmla="*/ 8 w 17"/>
                    <a:gd name="T13" fmla="*/ 8 h 17"/>
                    <a:gd name="T14" fmla="*/ 16 w 17"/>
                    <a:gd name="T15" fmla="*/ 16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16" y="16"/>
                      </a:moveTo>
                      <a:lnTo>
                        <a:pt x="13" y="8"/>
                      </a:lnTo>
                      <a:lnTo>
                        <a:pt x="10" y="8"/>
                      </a:lnTo>
                      <a:lnTo>
                        <a:pt x="5" y="0"/>
                      </a:lnTo>
                      <a:lnTo>
                        <a:pt x="0" y="16"/>
                      </a:lnTo>
                      <a:lnTo>
                        <a:pt x="5" y="8"/>
                      </a:lnTo>
                      <a:lnTo>
                        <a:pt x="8" y="8"/>
                      </a:lnTo>
                      <a:lnTo>
                        <a:pt x="16" y="16"/>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64" name="Freeform 14"/>
                <p:cNvSpPr>
                  <a:spLocks/>
                </p:cNvSpPr>
                <p:nvPr/>
              </p:nvSpPr>
              <p:spPr bwMode="auto">
                <a:xfrm>
                  <a:off x="5316" y="1102"/>
                  <a:ext cx="17" cy="17"/>
                </a:xfrm>
                <a:custGeom>
                  <a:avLst/>
                  <a:gdLst>
                    <a:gd name="T0" fmla="*/ 0 w 17"/>
                    <a:gd name="T1" fmla="*/ 16 h 17"/>
                    <a:gd name="T2" fmla="*/ 0 w 17"/>
                    <a:gd name="T3" fmla="*/ 0 h 17"/>
                    <a:gd name="T4" fmla="*/ 10 w 17"/>
                    <a:gd name="T5" fmla="*/ 0 h 17"/>
                    <a:gd name="T6" fmla="*/ 16 w 17"/>
                    <a:gd name="T7" fmla="*/ 16 h 17"/>
                    <a:gd name="T8" fmla="*/ 10 w 17"/>
                    <a:gd name="T9" fmla="*/ 16 h 17"/>
                    <a:gd name="T10" fmla="*/ 10 w 17"/>
                    <a:gd name="T11" fmla="*/ 16 h 17"/>
                    <a:gd name="T12" fmla="*/ 0 w 17"/>
                    <a:gd name="T13" fmla="*/ 16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16"/>
                      </a:moveTo>
                      <a:lnTo>
                        <a:pt x="0" y="0"/>
                      </a:lnTo>
                      <a:lnTo>
                        <a:pt x="10" y="0"/>
                      </a:lnTo>
                      <a:lnTo>
                        <a:pt x="16" y="16"/>
                      </a:lnTo>
                      <a:lnTo>
                        <a:pt x="10" y="16"/>
                      </a:lnTo>
                      <a:lnTo>
                        <a:pt x="0" y="16"/>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65" name="Freeform 15"/>
                <p:cNvSpPr>
                  <a:spLocks/>
                </p:cNvSpPr>
                <p:nvPr/>
              </p:nvSpPr>
              <p:spPr bwMode="auto">
                <a:xfrm>
                  <a:off x="5304" y="1106"/>
                  <a:ext cx="17" cy="17"/>
                </a:xfrm>
                <a:custGeom>
                  <a:avLst/>
                  <a:gdLst>
                    <a:gd name="T0" fmla="*/ 0 w 17"/>
                    <a:gd name="T1" fmla="*/ 0 h 17"/>
                    <a:gd name="T2" fmla="*/ 8 w 17"/>
                    <a:gd name="T3" fmla="*/ 3 h 17"/>
                    <a:gd name="T4" fmla="*/ 13 w 17"/>
                    <a:gd name="T5" fmla="*/ 8 h 17"/>
                    <a:gd name="T6" fmla="*/ 13 w 17"/>
                    <a:gd name="T7" fmla="*/ 16 h 17"/>
                    <a:gd name="T8" fmla="*/ 16 w 17"/>
                    <a:gd name="T9" fmla="*/ 10 h 17"/>
                    <a:gd name="T10" fmla="*/ 13 w 17"/>
                    <a:gd name="T11" fmla="*/ 5 h 17"/>
                    <a:gd name="T12" fmla="*/ 13 w 17"/>
                    <a:gd name="T13" fmla="*/ 4 h 17"/>
                    <a:gd name="T14" fmla="*/ 0 w 17"/>
                    <a:gd name="T15" fmla="*/ 0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0" y="0"/>
                      </a:moveTo>
                      <a:lnTo>
                        <a:pt x="8" y="3"/>
                      </a:lnTo>
                      <a:lnTo>
                        <a:pt x="13" y="8"/>
                      </a:lnTo>
                      <a:lnTo>
                        <a:pt x="13" y="16"/>
                      </a:lnTo>
                      <a:lnTo>
                        <a:pt x="16" y="10"/>
                      </a:lnTo>
                      <a:lnTo>
                        <a:pt x="13" y="5"/>
                      </a:lnTo>
                      <a:lnTo>
                        <a:pt x="13" y="4"/>
                      </a:lnTo>
                      <a:lnTo>
                        <a:pt x="0"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66" name="Freeform 16"/>
                <p:cNvSpPr>
                  <a:spLocks/>
                </p:cNvSpPr>
                <p:nvPr/>
              </p:nvSpPr>
              <p:spPr bwMode="auto">
                <a:xfrm>
                  <a:off x="5294" y="1100"/>
                  <a:ext cx="17" cy="17"/>
                </a:xfrm>
                <a:custGeom>
                  <a:avLst/>
                  <a:gdLst>
                    <a:gd name="T0" fmla="*/ 0 w 17"/>
                    <a:gd name="T1" fmla="*/ 8 h 17"/>
                    <a:gd name="T2" fmla="*/ 6 w 17"/>
                    <a:gd name="T3" fmla="*/ 8 h 17"/>
                    <a:gd name="T4" fmla="*/ 16 w 17"/>
                    <a:gd name="T5" fmla="*/ 16 h 17"/>
                    <a:gd name="T6" fmla="*/ 8 w 17"/>
                    <a:gd name="T7" fmla="*/ 5 h 17"/>
                    <a:gd name="T8" fmla="*/ 0 w 17"/>
                    <a:gd name="T9" fmla="*/ 0 h 17"/>
                    <a:gd name="T10" fmla="*/ 0 w 17"/>
                    <a:gd name="T11" fmla="*/ 8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0" y="8"/>
                      </a:moveTo>
                      <a:lnTo>
                        <a:pt x="6" y="8"/>
                      </a:lnTo>
                      <a:lnTo>
                        <a:pt x="16" y="16"/>
                      </a:lnTo>
                      <a:lnTo>
                        <a:pt x="8" y="5"/>
                      </a:lnTo>
                      <a:lnTo>
                        <a:pt x="0" y="0"/>
                      </a:lnTo>
                      <a:lnTo>
                        <a:pt x="0" y="8"/>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67" name="Freeform 17"/>
                <p:cNvSpPr>
                  <a:spLocks/>
                </p:cNvSpPr>
                <p:nvPr/>
              </p:nvSpPr>
              <p:spPr bwMode="auto">
                <a:xfrm>
                  <a:off x="5303" y="1119"/>
                  <a:ext cx="17" cy="17"/>
                </a:xfrm>
                <a:custGeom>
                  <a:avLst/>
                  <a:gdLst>
                    <a:gd name="T0" fmla="*/ 16 w 17"/>
                    <a:gd name="T1" fmla="*/ 0 h 17"/>
                    <a:gd name="T2" fmla="*/ 9 w 17"/>
                    <a:gd name="T3" fmla="*/ 9 h 17"/>
                    <a:gd name="T4" fmla="*/ 0 w 17"/>
                    <a:gd name="T5" fmla="*/ 16 h 17"/>
                    <a:gd name="T6" fmla="*/ 11 w 17"/>
                    <a:gd name="T7" fmla="*/ 11 h 17"/>
                    <a:gd name="T8" fmla="*/ 16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0"/>
                      </a:moveTo>
                      <a:lnTo>
                        <a:pt x="9" y="9"/>
                      </a:lnTo>
                      <a:lnTo>
                        <a:pt x="0" y="16"/>
                      </a:lnTo>
                      <a:lnTo>
                        <a:pt x="11" y="11"/>
                      </a:lnTo>
                      <a:lnTo>
                        <a:pt x="16"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68" name="Freeform 18"/>
                <p:cNvSpPr>
                  <a:spLocks/>
                </p:cNvSpPr>
                <p:nvPr/>
              </p:nvSpPr>
              <p:spPr bwMode="auto">
                <a:xfrm>
                  <a:off x="5310" y="1116"/>
                  <a:ext cx="17" cy="17"/>
                </a:xfrm>
                <a:custGeom>
                  <a:avLst/>
                  <a:gdLst>
                    <a:gd name="T0" fmla="*/ 0 w 17"/>
                    <a:gd name="T1" fmla="*/ 0 h 17"/>
                    <a:gd name="T2" fmla="*/ 0 w 17"/>
                    <a:gd name="T3" fmla="*/ 4 h 17"/>
                    <a:gd name="T4" fmla="*/ 9 w 17"/>
                    <a:gd name="T5" fmla="*/ 13 h 17"/>
                    <a:gd name="T6" fmla="*/ 16 w 17"/>
                    <a:gd name="T7" fmla="*/ 16 h 17"/>
                    <a:gd name="T8" fmla="*/ 4 w 17"/>
                    <a:gd name="T9" fmla="*/ 13 h 17"/>
                    <a:gd name="T10" fmla="*/ 0 w 17"/>
                    <a:gd name="T11" fmla="*/ 9 h 17"/>
                    <a:gd name="T12" fmla="*/ 0 w 17"/>
                    <a:gd name="T13" fmla="*/ 4 h 17"/>
                    <a:gd name="T14" fmla="*/ 0 w 17"/>
                    <a:gd name="T15" fmla="*/ 0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0" y="0"/>
                      </a:moveTo>
                      <a:lnTo>
                        <a:pt x="0" y="4"/>
                      </a:lnTo>
                      <a:lnTo>
                        <a:pt x="9" y="13"/>
                      </a:lnTo>
                      <a:lnTo>
                        <a:pt x="16" y="16"/>
                      </a:lnTo>
                      <a:lnTo>
                        <a:pt x="4" y="13"/>
                      </a:lnTo>
                      <a:lnTo>
                        <a:pt x="0" y="9"/>
                      </a:lnTo>
                      <a:lnTo>
                        <a:pt x="0" y="4"/>
                      </a:lnTo>
                      <a:lnTo>
                        <a:pt x="0"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69" name="Freeform 19"/>
                <p:cNvSpPr>
                  <a:spLocks/>
                </p:cNvSpPr>
                <p:nvPr/>
              </p:nvSpPr>
              <p:spPr bwMode="auto">
                <a:xfrm>
                  <a:off x="5275" y="1075"/>
                  <a:ext cx="27" cy="28"/>
                </a:xfrm>
                <a:custGeom>
                  <a:avLst/>
                  <a:gdLst>
                    <a:gd name="T0" fmla="*/ 21 w 27"/>
                    <a:gd name="T1" fmla="*/ 27 h 28"/>
                    <a:gd name="T2" fmla="*/ 26 w 27"/>
                    <a:gd name="T3" fmla="*/ 13 h 28"/>
                    <a:gd name="T4" fmla="*/ 17 w 27"/>
                    <a:gd name="T5" fmla="*/ 5 h 28"/>
                    <a:gd name="T6" fmla="*/ 4 w 27"/>
                    <a:gd name="T7" fmla="*/ 0 h 28"/>
                    <a:gd name="T8" fmla="*/ 0 w 27"/>
                    <a:gd name="T9" fmla="*/ 14 h 28"/>
                    <a:gd name="T10" fmla="*/ 12 w 27"/>
                    <a:gd name="T11" fmla="*/ 19 h 28"/>
                    <a:gd name="T12" fmla="*/ 21 w 27"/>
                    <a:gd name="T13" fmla="*/ 27 h 28"/>
                    <a:gd name="T14" fmla="*/ 0 60000 65536"/>
                    <a:gd name="T15" fmla="*/ 0 60000 65536"/>
                    <a:gd name="T16" fmla="*/ 0 60000 65536"/>
                    <a:gd name="T17" fmla="*/ 0 60000 65536"/>
                    <a:gd name="T18" fmla="*/ 0 60000 65536"/>
                    <a:gd name="T19" fmla="*/ 0 60000 65536"/>
                    <a:gd name="T20" fmla="*/ 0 60000 65536"/>
                    <a:gd name="T21" fmla="*/ 0 w 27"/>
                    <a:gd name="T22" fmla="*/ 0 h 28"/>
                    <a:gd name="T23" fmla="*/ 27 w 27"/>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 h="28">
                      <a:moveTo>
                        <a:pt x="21" y="27"/>
                      </a:moveTo>
                      <a:lnTo>
                        <a:pt x="26" y="13"/>
                      </a:lnTo>
                      <a:lnTo>
                        <a:pt x="17" y="5"/>
                      </a:lnTo>
                      <a:lnTo>
                        <a:pt x="4" y="0"/>
                      </a:lnTo>
                      <a:lnTo>
                        <a:pt x="0" y="14"/>
                      </a:lnTo>
                      <a:lnTo>
                        <a:pt x="12" y="19"/>
                      </a:lnTo>
                      <a:lnTo>
                        <a:pt x="21" y="27"/>
                      </a:lnTo>
                    </a:path>
                  </a:pathLst>
                </a:custGeom>
                <a:solidFill>
                  <a:srgbClr val="FFFFFF"/>
                </a:solidFill>
                <a:ln w="12700" cap="rnd" cmpd="sng">
                  <a:solidFill>
                    <a:srgbClr val="000000"/>
                  </a:solidFill>
                  <a:prstDash val="solid"/>
                  <a:round/>
                  <a:headEnd/>
                  <a:tailEnd/>
                </a:ln>
              </p:spPr>
              <p:txBody>
                <a:bodyPr/>
                <a:lstStyle/>
                <a:p>
                  <a:endParaRPr lang="en-IN"/>
                </a:p>
              </p:txBody>
            </p:sp>
            <p:sp>
              <p:nvSpPr>
                <p:cNvPr id="10370" name="Oval 20"/>
                <p:cNvSpPr>
                  <a:spLocks noChangeArrowheads="1"/>
                </p:cNvSpPr>
                <p:nvPr/>
              </p:nvSpPr>
              <p:spPr bwMode="auto">
                <a:xfrm>
                  <a:off x="5295" y="1091"/>
                  <a:ext cx="8" cy="8"/>
                </a:xfrm>
                <a:prstGeom prst="ellipse">
                  <a:avLst/>
                </a:prstGeom>
                <a:solidFill>
                  <a:srgbClr val="FFFFFF"/>
                </a:solidFill>
                <a:ln w="12700">
                  <a:solidFill>
                    <a:srgbClr val="000000"/>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sp>
              <p:nvSpPr>
                <p:cNvPr id="10371" name="Freeform 21"/>
                <p:cNvSpPr>
                  <a:spLocks/>
                </p:cNvSpPr>
                <p:nvPr/>
              </p:nvSpPr>
              <p:spPr bwMode="auto">
                <a:xfrm>
                  <a:off x="5287" y="1089"/>
                  <a:ext cx="17" cy="19"/>
                </a:xfrm>
                <a:custGeom>
                  <a:avLst/>
                  <a:gdLst>
                    <a:gd name="T0" fmla="*/ 0 w 17"/>
                    <a:gd name="T1" fmla="*/ 12 h 19"/>
                    <a:gd name="T2" fmla="*/ 1 w 17"/>
                    <a:gd name="T3" fmla="*/ 9 h 19"/>
                    <a:gd name="T4" fmla="*/ 1 w 17"/>
                    <a:gd name="T5" fmla="*/ 6 h 19"/>
                    <a:gd name="T6" fmla="*/ 0 w 17"/>
                    <a:gd name="T7" fmla="*/ 3 h 19"/>
                    <a:gd name="T8" fmla="*/ 0 w 17"/>
                    <a:gd name="T9" fmla="*/ 2 h 19"/>
                    <a:gd name="T10" fmla="*/ 0 w 17"/>
                    <a:gd name="T11" fmla="*/ 0 h 19"/>
                    <a:gd name="T12" fmla="*/ 3 w 17"/>
                    <a:gd name="T13" fmla="*/ 0 h 19"/>
                    <a:gd name="T14" fmla="*/ 8 w 17"/>
                    <a:gd name="T15" fmla="*/ 0 h 19"/>
                    <a:gd name="T16" fmla="*/ 9 w 17"/>
                    <a:gd name="T17" fmla="*/ 3 h 19"/>
                    <a:gd name="T18" fmla="*/ 11 w 17"/>
                    <a:gd name="T19" fmla="*/ 4 h 19"/>
                    <a:gd name="T20" fmla="*/ 11 w 17"/>
                    <a:gd name="T21" fmla="*/ 6 h 19"/>
                    <a:gd name="T22" fmla="*/ 11 w 17"/>
                    <a:gd name="T23" fmla="*/ 9 h 19"/>
                    <a:gd name="T24" fmla="*/ 16 w 17"/>
                    <a:gd name="T25" fmla="*/ 13 h 19"/>
                    <a:gd name="T26" fmla="*/ 6 w 17"/>
                    <a:gd name="T27" fmla="*/ 18 h 19"/>
                    <a:gd name="T28" fmla="*/ 3 w 17"/>
                    <a:gd name="T29" fmla="*/ 17 h 19"/>
                    <a:gd name="T30" fmla="*/ 0 w 17"/>
                    <a:gd name="T31" fmla="*/ 12 h 1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7"/>
                    <a:gd name="T49" fmla="*/ 0 h 19"/>
                    <a:gd name="T50" fmla="*/ 17 w 17"/>
                    <a:gd name="T51" fmla="*/ 19 h 1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7" h="19">
                      <a:moveTo>
                        <a:pt x="0" y="12"/>
                      </a:moveTo>
                      <a:lnTo>
                        <a:pt x="1" y="9"/>
                      </a:lnTo>
                      <a:lnTo>
                        <a:pt x="1" y="6"/>
                      </a:lnTo>
                      <a:lnTo>
                        <a:pt x="0" y="3"/>
                      </a:lnTo>
                      <a:lnTo>
                        <a:pt x="0" y="2"/>
                      </a:lnTo>
                      <a:lnTo>
                        <a:pt x="0" y="0"/>
                      </a:lnTo>
                      <a:lnTo>
                        <a:pt x="3" y="0"/>
                      </a:lnTo>
                      <a:lnTo>
                        <a:pt x="8" y="0"/>
                      </a:lnTo>
                      <a:lnTo>
                        <a:pt x="9" y="3"/>
                      </a:lnTo>
                      <a:lnTo>
                        <a:pt x="11" y="4"/>
                      </a:lnTo>
                      <a:lnTo>
                        <a:pt x="11" y="6"/>
                      </a:lnTo>
                      <a:lnTo>
                        <a:pt x="11" y="9"/>
                      </a:lnTo>
                      <a:lnTo>
                        <a:pt x="16" y="13"/>
                      </a:lnTo>
                      <a:lnTo>
                        <a:pt x="6" y="18"/>
                      </a:lnTo>
                      <a:lnTo>
                        <a:pt x="3" y="17"/>
                      </a:lnTo>
                      <a:lnTo>
                        <a:pt x="0" y="12"/>
                      </a:lnTo>
                    </a:path>
                  </a:pathLst>
                </a:custGeom>
                <a:solidFill>
                  <a:srgbClr val="FFC080"/>
                </a:solidFill>
                <a:ln w="12700" cap="rnd" cmpd="sng">
                  <a:solidFill>
                    <a:srgbClr val="402000"/>
                  </a:solidFill>
                  <a:prstDash val="solid"/>
                  <a:round/>
                  <a:headEnd/>
                  <a:tailEnd/>
                </a:ln>
              </p:spPr>
              <p:txBody>
                <a:bodyPr/>
                <a:lstStyle/>
                <a:p>
                  <a:endParaRPr lang="en-IN"/>
                </a:p>
              </p:txBody>
            </p:sp>
            <p:sp>
              <p:nvSpPr>
                <p:cNvPr id="10372" name="Freeform 22"/>
                <p:cNvSpPr>
                  <a:spLocks/>
                </p:cNvSpPr>
                <p:nvPr/>
              </p:nvSpPr>
              <p:spPr bwMode="auto">
                <a:xfrm>
                  <a:off x="5290" y="1102"/>
                  <a:ext cx="17" cy="17"/>
                </a:xfrm>
                <a:custGeom>
                  <a:avLst/>
                  <a:gdLst>
                    <a:gd name="T0" fmla="*/ 10 w 17"/>
                    <a:gd name="T1" fmla="*/ 0 h 17"/>
                    <a:gd name="T2" fmla="*/ 16 w 17"/>
                    <a:gd name="T3" fmla="*/ 2 h 17"/>
                    <a:gd name="T4" fmla="*/ 2 w 17"/>
                    <a:gd name="T5" fmla="*/ 16 h 17"/>
                    <a:gd name="T6" fmla="*/ 0 w 17"/>
                    <a:gd name="T7" fmla="*/ 13 h 17"/>
                    <a:gd name="T8" fmla="*/ 1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0" y="0"/>
                      </a:moveTo>
                      <a:lnTo>
                        <a:pt x="16" y="2"/>
                      </a:lnTo>
                      <a:lnTo>
                        <a:pt x="2" y="16"/>
                      </a:lnTo>
                      <a:lnTo>
                        <a:pt x="0" y="13"/>
                      </a:lnTo>
                      <a:lnTo>
                        <a:pt x="10" y="0"/>
                      </a:lnTo>
                    </a:path>
                  </a:pathLst>
                </a:custGeom>
                <a:solidFill>
                  <a:srgbClr val="FFC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73" name="Freeform 23"/>
                <p:cNvSpPr>
                  <a:spLocks/>
                </p:cNvSpPr>
                <p:nvPr/>
              </p:nvSpPr>
              <p:spPr bwMode="auto">
                <a:xfrm>
                  <a:off x="5297" y="1080"/>
                  <a:ext cx="17" cy="18"/>
                </a:xfrm>
                <a:custGeom>
                  <a:avLst/>
                  <a:gdLst>
                    <a:gd name="T0" fmla="*/ 0 w 17"/>
                    <a:gd name="T1" fmla="*/ 4 h 18"/>
                    <a:gd name="T2" fmla="*/ 1 w 17"/>
                    <a:gd name="T3" fmla="*/ 7 h 18"/>
                    <a:gd name="T4" fmla="*/ 1 w 17"/>
                    <a:gd name="T5" fmla="*/ 8 h 18"/>
                    <a:gd name="T6" fmla="*/ 1 w 17"/>
                    <a:gd name="T7" fmla="*/ 11 h 18"/>
                    <a:gd name="T8" fmla="*/ 1 w 17"/>
                    <a:gd name="T9" fmla="*/ 12 h 18"/>
                    <a:gd name="T10" fmla="*/ 1 w 17"/>
                    <a:gd name="T11" fmla="*/ 14 h 18"/>
                    <a:gd name="T12" fmla="*/ 5 w 17"/>
                    <a:gd name="T13" fmla="*/ 16 h 18"/>
                    <a:gd name="T14" fmla="*/ 7 w 17"/>
                    <a:gd name="T15" fmla="*/ 16 h 18"/>
                    <a:gd name="T16" fmla="*/ 10 w 17"/>
                    <a:gd name="T17" fmla="*/ 17 h 18"/>
                    <a:gd name="T18" fmla="*/ 14 w 17"/>
                    <a:gd name="T19" fmla="*/ 15 h 18"/>
                    <a:gd name="T20" fmla="*/ 16 w 17"/>
                    <a:gd name="T21" fmla="*/ 15 h 18"/>
                    <a:gd name="T22" fmla="*/ 16 w 17"/>
                    <a:gd name="T23" fmla="*/ 13 h 18"/>
                    <a:gd name="T24" fmla="*/ 16 w 17"/>
                    <a:gd name="T25" fmla="*/ 10 h 18"/>
                    <a:gd name="T26" fmla="*/ 16 w 17"/>
                    <a:gd name="T27" fmla="*/ 8 h 18"/>
                    <a:gd name="T28" fmla="*/ 16 w 17"/>
                    <a:gd name="T29" fmla="*/ 5 h 18"/>
                    <a:gd name="T30" fmla="*/ 14 w 17"/>
                    <a:gd name="T31" fmla="*/ 4 h 18"/>
                    <a:gd name="T32" fmla="*/ 12 w 17"/>
                    <a:gd name="T33" fmla="*/ 0 h 18"/>
                    <a:gd name="T34" fmla="*/ 1 w 17"/>
                    <a:gd name="T35" fmla="*/ 0 h 18"/>
                    <a:gd name="T36" fmla="*/ 0 w 17"/>
                    <a:gd name="T37" fmla="*/ 4 h 1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18"/>
                    <a:gd name="T59" fmla="*/ 17 w 17"/>
                    <a:gd name="T60" fmla="*/ 18 h 1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18">
                      <a:moveTo>
                        <a:pt x="0" y="4"/>
                      </a:moveTo>
                      <a:lnTo>
                        <a:pt x="1" y="7"/>
                      </a:lnTo>
                      <a:lnTo>
                        <a:pt x="1" y="8"/>
                      </a:lnTo>
                      <a:lnTo>
                        <a:pt x="1" y="11"/>
                      </a:lnTo>
                      <a:lnTo>
                        <a:pt x="1" y="12"/>
                      </a:lnTo>
                      <a:lnTo>
                        <a:pt x="1" y="14"/>
                      </a:lnTo>
                      <a:lnTo>
                        <a:pt x="5" y="16"/>
                      </a:lnTo>
                      <a:lnTo>
                        <a:pt x="7" y="16"/>
                      </a:lnTo>
                      <a:lnTo>
                        <a:pt x="10" y="17"/>
                      </a:lnTo>
                      <a:lnTo>
                        <a:pt x="14" y="15"/>
                      </a:lnTo>
                      <a:lnTo>
                        <a:pt x="16" y="15"/>
                      </a:lnTo>
                      <a:lnTo>
                        <a:pt x="16" y="13"/>
                      </a:lnTo>
                      <a:lnTo>
                        <a:pt x="16" y="10"/>
                      </a:lnTo>
                      <a:lnTo>
                        <a:pt x="16" y="8"/>
                      </a:lnTo>
                      <a:lnTo>
                        <a:pt x="16" y="5"/>
                      </a:lnTo>
                      <a:lnTo>
                        <a:pt x="14" y="4"/>
                      </a:lnTo>
                      <a:lnTo>
                        <a:pt x="12" y="0"/>
                      </a:lnTo>
                      <a:lnTo>
                        <a:pt x="1" y="0"/>
                      </a:lnTo>
                      <a:lnTo>
                        <a:pt x="0" y="4"/>
                      </a:lnTo>
                    </a:path>
                  </a:pathLst>
                </a:custGeom>
                <a:solidFill>
                  <a:srgbClr val="FFC080"/>
                </a:solidFill>
                <a:ln w="12700" cap="rnd" cmpd="sng">
                  <a:solidFill>
                    <a:srgbClr val="402000"/>
                  </a:solidFill>
                  <a:prstDash val="solid"/>
                  <a:round/>
                  <a:headEnd/>
                  <a:tailEnd/>
                </a:ln>
              </p:spPr>
              <p:txBody>
                <a:bodyPr/>
                <a:lstStyle/>
                <a:p>
                  <a:endParaRPr lang="en-IN"/>
                </a:p>
              </p:txBody>
            </p:sp>
            <p:sp>
              <p:nvSpPr>
                <p:cNvPr id="10374" name="Freeform 24"/>
                <p:cNvSpPr>
                  <a:spLocks/>
                </p:cNvSpPr>
                <p:nvPr/>
              </p:nvSpPr>
              <p:spPr bwMode="auto">
                <a:xfrm>
                  <a:off x="5300" y="1091"/>
                  <a:ext cx="17" cy="17"/>
                </a:xfrm>
                <a:custGeom>
                  <a:avLst/>
                  <a:gdLst>
                    <a:gd name="T0" fmla="*/ 16 w 17"/>
                    <a:gd name="T1" fmla="*/ 6 h 17"/>
                    <a:gd name="T2" fmla="*/ 9 w 17"/>
                    <a:gd name="T3" fmla="*/ 0 h 17"/>
                    <a:gd name="T4" fmla="*/ 3 w 17"/>
                    <a:gd name="T5" fmla="*/ 3 h 17"/>
                    <a:gd name="T6" fmla="*/ 0 w 17"/>
                    <a:gd name="T7" fmla="*/ 6 h 17"/>
                    <a:gd name="T8" fmla="*/ 0 w 17"/>
                    <a:gd name="T9" fmla="*/ 16 h 17"/>
                    <a:gd name="T10" fmla="*/ 3 w 17"/>
                    <a:gd name="T11" fmla="*/ 6 h 17"/>
                    <a:gd name="T12" fmla="*/ 3 w 17"/>
                    <a:gd name="T13" fmla="*/ 3 h 17"/>
                    <a:gd name="T14" fmla="*/ 16 w 17"/>
                    <a:gd name="T15" fmla="*/ 6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16" y="6"/>
                      </a:moveTo>
                      <a:lnTo>
                        <a:pt x="9" y="0"/>
                      </a:lnTo>
                      <a:lnTo>
                        <a:pt x="3" y="3"/>
                      </a:lnTo>
                      <a:lnTo>
                        <a:pt x="0" y="6"/>
                      </a:lnTo>
                      <a:lnTo>
                        <a:pt x="0" y="16"/>
                      </a:lnTo>
                      <a:lnTo>
                        <a:pt x="3" y="6"/>
                      </a:lnTo>
                      <a:lnTo>
                        <a:pt x="3" y="3"/>
                      </a:lnTo>
                      <a:lnTo>
                        <a:pt x="16" y="6"/>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grpSp>
            <p:nvGrpSpPr>
              <p:cNvPr id="10291" name="Group 25"/>
              <p:cNvGrpSpPr>
                <a:grpSpLocks/>
              </p:cNvGrpSpPr>
              <p:nvPr/>
            </p:nvGrpSpPr>
            <p:grpSpPr bwMode="auto">
              <a:xfrm>
                <a:off x="5339" y="1496"/>
                <a:ext cx="91" cy="59"/>
                <a:chOff x="5339" y="1496"/>
                <a:chExt cx="91" cy="59"/>
              </a:xfrm>
            </p:grpSpPr>
            <p:sp>
              <p:nvSpPr>
                <p:cNvPr id="10355" name="Freeform 26"/>
                <p:cNvSpPr>
                  <a:spLocks/>
                </p:cNvSpPr>
                <p:nvPr/>
              </p:nvSpPr>
              <p:spPr bwMode="auto">
                <a:xfrm>
                  <a:off x="5339" y="1496"/>
                  <a:ext cx="91" cy="59"/>
                </a:xfrm>
                <a:custGeom>
                  <a:avLst/>
                  <a:gdLst>
                    <a:gd name="T0" fmla="*/ 36 w 91"/>
                    <a:gd name="T1" fmla="*/ 1 h 59"/>
                    <a:gd name="T2" fmla="*/ 35 w 91"/>
                    <a:gd name="T3" fmla="*/ 16 h 59"/>
                    <a:gd name="T4" fmla="*/ 59 w 91"/>
                    <a:gd name="T5" fmla="*/ 30 h 59"/>
                    <a:gd name="T6" fmla="*/ 79 w 91"/>
                    <a:gd name="T7" fmla="*/ 36 h 59"/>
                    <a:gd name="T8" fmla="*/ 90 w 91"/>
                    <a:gd name="T9" fmla="*/ 43 h 59"/>
                    <a:gd name="T10" fmla="*/ 89 w 91"/>
                    <a:gd name="T11" fmla="*/ 50 h 59"/>
                    <a:gd name="T12" fmla="*/ 75 w 91"/>
                    <a:gd name="T13" fmla="*/ 55 h 59"/>
                    <a:gd name="T14" fmla="*/ 53 w 91"/>
                    <a:gd name="T15" fmla="*/ 58 h 59"/>
                    <a:gd name="T16" fmla="*/ 35 w 91"/>
                    <a:gd name="T17" fmla="*/ 54 h 59"/>
                    <a:gd name="T18" fmla="*/ 24 w 91"/>
                    <a:gd name="T19" fmla="*/ 50 h 59"/>
                    <a:gd name="T20" fmla="*/ 24 w 91"/>
                    <a:gd name="T21" fmla="*/ 54 h 59"/>
                    <a:gd name="T22" fmla="*/ 9 w 91"/>
                    <a:gd name="T23" fmla="*/ 54 h 59"/>
                    <a:gd name="T24" fmla="*/ 0 w 91"/>
                    <a:gd name="T25" fmla="*/ 51 h 59"/>
                    <a:gd name="T26" fmla="*/ 0 w 91"/>
                    <a:gd name="T27" fmla="*/ 43 h 59"/>
                    <a:gd name="T28" fmla="*/ 0 w 91"/>
                    <a:gd name="T29" fmla="*/ 39 h 59"/>
                    <a:gd name="T30" fmla="*/ 0 w 91"/>
                    <a:gd name="T31" fmla="*/ 28 h 59"/>
                    <a:gd name="T32" fmla="*/ 2 w 91"/>
                    <a:gd name="T33" fmla="*/ 21 h 59"/>
                    <a:gd name="T34" fmla="*/ 6 w 91"/>
                    <a:gd name="T35" fmla="*/ 14 h 59"/>
                    <a:gd name="T36" fmla="*/ 8 w 91"/>
                    <a:gd name="T37" fmla="*/ 0 h 59"/>
                    <a:gd name="T38" fmla="*/ 36 w 91"/>
                    <a:gd name="T39" fmla="*/ 1 h 5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1"/>
                    <a:gd name="T61" fmla="*/ 0 h 59"/>
                    <a:gd name="T62" fmla="*/ 91 w 91"/>
                    <a:gd name="T63" fmla="*/ 59 h 5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1" h="59">
                      <a:moveTo>
                        <a:pt x="36" y="1"/>
                      </a:moveTo>
                      <a:lnTo>
                        <a:pt x="35" y="16"/>
                      </a:lnTo>
                      <a:lnTo>
                        <a:pt x="59" y="30"/>
                      </a:lnTo>
                      <a:lnTo>
                        <a:pt x="79" y="36"/>
                      </a:lnTo>
                      <a:lnTo>
                        <a:pt x="90" y="43"/>
                      </a:lnTo>
                      <a:lnTo>
                        <a:pt x="89" y="50"/>
                      </a:lnTo>
                      <a:lnTo>
                        <a:pt x="75" y="55"/>
                      </a:lnTo>
                      <a:lnTo>
                        <a:pt x="53" y="58"/>
                      </a:lnTo>
                      <a:lnTo>
                        <a:pt x="35" y="54"/>
                      </a:lnTo>
                      <a:lnTo>
                        <a:pt x="24" y="50"/>
                      </a:lnTo>
                      <a:lnTo>
                        <a:pt x="24" y="54"/>
                      </a:lnTo>
                      <a:lnTo>
                        <a:pt x="9" y="54"/>
                      </a:lnTo>
                      <a:lnTo>
                        <a:pt x="0" y="51"/>
                      </a:lnTo>
                      <a:lnTo>
                        <a:pt x="0" y="43"/>
                      </a:lnTo>
                      <a:lnTo>
                        <a:pt x="0" y="39"/>
                      </a:lnTo>
                      <a:lnTo>
                        <a:pt x="0" y="28"/>
                      </a:lnTo>
                      <a:lnTo>
                        <a:pt x="2" y="21"/>
                      </a:lnTo>
                      <a:lnTo>
                        <a:pt x="6" y="14"/>
                      </a:lnTo>
                      <a:lnTo>
                        <a:pt x="8" y="0"/>
                      </a:lnTo>
                      <a:lnTo>
                        <a:pt x="36" y="1"/>
                      </a:lnTo>
                    </a:path>
                  </a:pathLst>
                </a:custGeom>
                <a:solidFill>
                  <a:srgbClr val="606060"/>
                </a:solidFill>
                <a:ln w="12700" cap="rnd" cmpd="sng">
                  <a:solidFill>
                    <a:srgbClr val="000000"/>
                  </a:solidFill>
                  <a:prstDash val="solid"/>
                  <a:round/>
                  <a:headEnd/>
                  <a:tailEnd/>
                </a:ln>
              </p:spPr>
              <p:txBody>
                <a:bodyPr/>
                <a:lstStyle/>
                <a:p>
                  <a:endParaRPr lang="en-IN"/>
                </a:p>
              </p:txBody>
            </p:sp>
            <p:sp>
              <p:nvSpPr>
                <p:cNvPr id="10356" name="Freeform 27"/>
                <p:cNvSpPr>
                  <a:spLocks/>
                </p:cNvSpPr>
                <p:nvPr/>
              </p:nvSpPr>
              <p:spPr bwMode="auto">
                <a:xfrm>
                  <a:off x="5370" y="1516"/>
                  <a:ext cx="27" cy="19"/>
                </a:xfrm>
                <a:custGeom>
                  <a:avLst/>
                  <a:gdLst>
                    <a:gd name="T0" fmla="*/ 6 w 27"/>
                    <a:gd name="T1" fmla="*/ 0 h 19"/>
                    <a:gd name="T2" fmla="*/ 0 w 27"/>
                    <a:gd name="T3" fmla="*/ 9 h 19"/>
                    <a:gd name="T4" fmla="*/ 23 w 27"/>
                    <a:gd name="T5" fmla="*/ 18 h 19"/>
                    <a:gd name="T6" fmla="*/ 26 w 27"/>
                    <a:gd name="T7" fmla="*/ 11 h 19"/>
                    <a:gd name="T8" fmla="*/ 6 w 27"/>
                    <a:gd name="T9" fmla="*/ 0 h 19"/>
                    <a:gd name="T10" fmla="*/ 0 60000 65536"/>
                    <a:gd name="T11" fmla="*/ 0 60000 65536"/>
                    <a:gd name="T12" fmla="*/ 0 60000 65536"/>
                    <a:gd name="T13" fmla="*/ 0 60000 65536"/>
                    <a:gd name="T14" fmla="*/ 0 60000 65536"/>
                    <a:gd name="T15" fmla="*/ 0 w 27"/>
                    <a:gd name="T16" fmla="*/ 0 h 19"/>
                    <a:gd name="T17" fmla="*/ 27 w 27"/>
                    <a:gd name="T18" fmla="*/ 19 h 19"/>
                  </a:gdLst>
                  <a:ahLst/>
                  <a:cxnLst>
                    <a:cxn ang="T10">
                      <a:pos x="T0" y="T1"/>
                    </a:cxn>
                    <a:cxn ang="T11">
                      <a:pos x="T2" y="T3"/>
                    </a:cxn>
                    <a:cxn ang="T12">
                      <a:pos x="T4" y="T5"/>
                    </a:cxn>
                    <a:cxn ang="T13">
                      <a:pos x="T6" y="T7"/>
                    </a:cxn>
                    <a:cxn ang="T14">
                      <a:pos x="T8" y="T9"/>
                    </a:cxn>
                  </a:cxnLst>
                  <a:rect l="T15" t="T16" r="T17" b="T18"/>
                  <a:pathLst>
                    <a:path w="27" h="19">
                      <a:moveTo>
                        <a:pt x="6" y="0"/>
                      </a:moveTo>
                      <a:lnTo>
                        <a:pt x="0" y="9"/>
                      </a:lnTo>
                      <a:lnTo>
                        <a:pt x="23" y="18"/>
                      </a:lnTo>
                      <a:lnTo>
                        <a:pt x="26" y="11"/>
                      </a:lnTo>
                      <a:lnTo>
                        <a:pt x="6" y="0"/>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57" name="Freeform 28"/>
                <p:cNvSpPr>
                  <a:spLocks/>
                </p:cNvSpPr>
                <p:nvPr/>
              </p:nvSpPr>
              <p:spPr bwMode="auto">
                <a:xfrm>
                  <a:off x="5396" y="1529"/>
                  <a:ext cx="32" cy="17"/>
                </a:xfrm>
                <a:custGeom>
                  <a:avLst/>
                  <a:gdLst>
                    <a:gd name="T0" fmla="*/ 3 w 32"/>
                    <a:gd name="T1" fmla="*/ 0 h 17"/>
                    <a:gd name="T2" fmla="*/ 0 w 32"/>
                    <a:gd name="T3" fmla="*/ 8 h 17"/>
                    <a:gd name="T4" fmla="*/ 15 w 32"/>
                    <a:gd name="T5" fmla="*/ 14 h 17"/>
                    <a:gd name="T6" fmla="*/ 22 w 32"/>
                    <a:gd name="T7" fmla="*/ 16 h 17"/>
                    <a:gd name="T8" fmla="*/ 31 w 32"/>
                    <a:gd name="T9" fmla="*/ 16 h 17"/>
                    <a:gd name="T10" fmla="*/ 21 w 32"/>
                    <a:gd name="T11" fmla="*/ 6 h 17"/>
                    <a:gd name="T12" fmla="*/ 3 w 32"/>
                    <a:gd name="T13" fmla="*/ 0 h 17"/>
                    <a:gd name="T14" fmla="*/ 0 60000 65536"/>
                    <a:gd name="T15" fmla="*/ 0 60000 65536"/>
                    <a:gd name="T16" fmla="*/ 0 60000 65536"/>
                    <a:gd name="T17" fmla="*/ 0 60000 65536"/>
                    <a:gd name="T18" fmla="*/ 0 60000 65536"/>
                    <a:gd name="T19" fmla="*/ 0 60000 65536"/>
                    <a:gd name="T20" fmla="*/ 0 60000 65536"/>
                    <a:gd name="T21" fmla="*/ 0 w 32"/>
                    <a:gd name="T22" fmla="*/ 0 h 17"/>
                    <a:gd name="T23" fmla="*/ 32 w 32"/>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7">
                      <a:moveTo>
                        <a:pt x="3" y="0"/>
                      </a:moveTo>
                      <a:lnTo>
                        <a:pt x="0" y="8"/>
                      </a:lnTo>
                      <a:lnTo>
                        <a:pt x="15" y="14"/>
                      </a:lnTo>
                      <a:lnTo>
                        <a:pt x="22" y="16"/>
                      </a:lnTo>
                      <a:lnTo>
                        <a:pt x="31" y="16"/>
                      </a:lnTo>
                      <a:lnTo>
                        <a:pt x="21" y="6"/>
                      </a:lnTo>
                      <a:lnTo>
                        <a:pt x="3" y="0"/>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58" name="Freeform 29"/>
                <p:cNvSpPr>
                  <a:spLocks/>
                </p:cNvSpPr>
                <p:nvPr/>
              </p:nvSpPr>
              <p:spPr bwMode="auto">
                <a:xfrm>
                  <a:off x="5340" y="1516"/>
                  <a:ext cx="89" cy="36"/>
                </a:xfrm>
                <a:custGeom>
                  <a:avLst/>
                  <a:gdLst>
                    <a:gd name="T0" fmla="*/ 88 w 89"/>
                    <a:gd name="T1" fmla="*/ 29 h 36"/>
                    <a:gd name="T2" fmla="*/ 88 w 89"/>
                    <a:gd name="T3" fmla="*/ 24 h 36"/>
                    <a:gd name="T4" fmla="*/ 76 w 89"/>
                    <a:gd name="T5" fmla="*/ 25 h 36"/>
                    <a:gd name="T6" fmla="*/ 58 w 89"/>
                    <a:gd name="T7" fmla="*/ 22 h 36"/>
                    <a:gd name="T8" fmla="*/ 47 w 89"/>
                    <a:gd name="T9" fmla="*/ 19 h 36"/>
                    <a:gd name="T10" fmla="*/ 27 w 89"/>
                    <a:gd name="T11" fmla="*/ 11 h 36"/>
                    <a:gd name="T12" fmla="*/ 18 w 89"/>
                    <a:gd name="T13" fmla="*/ 9 h 36"/>
                    <a:gd name="T14" fmla="*/ 9 w 89"/>
                    <a:gd name="T15" fmla="*/ 5 h 36"/>
                    <a:gd name="T16" fmla="*/ 5 w 89"/>
                    <a:gd name="T17" fmla="*/ 0 h 36"/>
                    <a:gd name="T18" fmla="*/ 0 w 89"/>
                    <a:gd name="T19" fmla="*/ 7 h 36"/>
                    <a:gd name="T20" fmla="*/ 0 w 89"/>
                    <a:gd name="T21" fmla="*/ 22 h 36"/>
                    <a:gd name="T22" fmla="*/ 6 w 89"/>
                    <a:gd name="T23" fmla="*/ 24 h 36"/>
                    <a:gd name="T24" fmla="*/ 22 w 89"/>
                    <a:gd name="T25" fmla="*/ 27 h 36"/>
                    <a:gd name="T26" fmla="*/ 29 w 89"/>
                    <a:gd name="T27" fmla="*/ 27 h 36"/>
                    <a:gd name="T28" fmla="*/ 39 w 89"/>
                    <a:gd name="T29" fmla="*/ 32 h 36"/>
                    <a:gd name="T30" fmla="*/ 51 w 89"/>
                    <a:gd name="T31" fmla="*/ 35 h 36"/>
                    <a:gd name="T32" fmla="*/ 59 w 89"/>
                    <a:gd name="T33" fmla="*/ 35 h 36"/>
                    <a:gd name="T34" fmla="*/ 72 w 89"/>
                    <a:gd name="T35" fmla="*/ 35 h 36"/>
                    <a:gd name="T36" fmla="*/ 88 w 89"/>
                    <a:gd name="T37" fmla="*/ 29 h 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9"/>
                    <a:gd name="T58" fmla="*/ 0 h 36"/>
                    <a:gd name="T59" fmla="*/ 89 w 89"/>
                    <a:gd name="T60" fmla="*/ 36 h 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9" h="36">
                      <a:moveTo>
                        <a:pt x="88" y="29"/>
                      </a:moveTo>
                      <a:lnTo>
                        <a:pt x="88" y="24"/>
                      </a:lnTo>
                      <a:lnTo>
                        <a:pt x="76" y="25"/>
                      </a:lnTo>
                      <a:lnTo>
                        <a:pt x="58" y="22"/>
                      </a:lnTo>
                      <a:lnTo>
                        <a:pt x="47" y="19"/>
                      </a:lnTo>
                      <a:lnTo>
                        <a:pt x="27" y="11"/>
                      </a:lnTo>
                      <a:lnTo>
                        <a:pt x="18" y="9"/>
                      </a:lnTo>
                      <a:lnTo>
                        <a:pt x="9" y="5"/>
                      </a:lnTo>
                      <a:lnTo>
                        <a:pt x="5" y="0"/>
                      </a:lnTo>
                      <a:lnTo>
                        <a:pt x="0" y="7"/>
                      </a:lnTo>
                      <a:lnTo>
                        <a:pt x="0" y="22"/>
                      </a:lnTo>
                      <a:lnTo>
                        <a:pt x="6" y="24"/>
                      </a:lnTo>
                      <a:lnTo>
                        <a:pt x="22" y="27"/>
                      </a:lnTo>
                      <a:lnTo>
                        <a:pt x="29" y="27"/>
                      </a:lnTo>
                      <a:lnTo>
                        <a:pt x="39" y="32"/>
                      </a:lnTo>
                      <a:lnTo>
                        <a:pt x="51" y="35"/>
                      </a:lnTo>
                      <a:lnTo>
                        <a:pt x="59" y="35"/>
                      </a:lnTo>
                      <a:lnTo>
                        <a:pt x="72" y="35"/>
                      </a:lnTo>
                      <a:lnTo>
                        <a:pt x="88" y="29"/>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59" name="Freeform 30"/>
                <p:cNvSpPr>
                  <a:spLocks/>
                </p:cNvSpPr>
                <p:nvPr/>
              </p:nvSpPr>
              <p:spPr bwMode="auto">
                <a:xfrm>
                  <a:off x="5346" y="1496"/>
                  <a:ext cx="30" cy="30"/>
                </a:xfrm>
                <a:custGeom>
                  <a:avLst/>
                  <a:gdLst>
                    <a:gd name="T0" fmla="*/ 28 w 30"/>
                    <a:gd name="T1" fmla="*/ 1 h 30"/>
                    <a:gd name="T2" fmla="*/ 26 w 30"/>
                    <a:gd name="T3" fmla="*/ 16 h 30"/>
                    <a:gd name="T4" fmla="*/ 29 w 30"/>
                    <a:gd name="T5" fmla="*/ 19 h 30"/>
                    <a:gd name="T6" fmla="*/ 22 w 30"/>
                    <a:gd name="T7" fmla="*/ 29 h 30"/>
                    <a:gd name="T8" fmla="*/ 13 w 30"/>
                    <a:gd name="T9" fmla="*/ 29 h 30"/>
                    <a:gd name="T10" fmla="*/ 3 w 30"/>
                    <a:gd name="T11" fmla="*/ 24 h 30"/>
                    <a:gd name="T12" fmla="*/ 0 w 30"/>
                    <a:gd name="T13" fmla="*/ 18 h 30"/>
                    <a:gd name="T14" fmla="*/ 2 w 30"/>
                    <a:gd name="T15" fmla="*/ 15 h 30"/>
                    <a:gd name="T16" fmla="*/ 2 w 30"/>
                    <a:gd name="T17" fmla="*/ 0 h 30"/>
                    <a:gd name="T18" fmla="*/ 28 w 30"/>
                    <a:gd name="T19" fmla="*/ 1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30"/>
                    <a:gd name="T32" fmla="*/ 30 w 30"/>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30">
                      <a:moveTo>
                        <a:pt x="28" y="1"/>
                      </a:moveTo>
                      <a:lnTo>
                        <a:pt x="26" y="16"/>
                      </a:lnTo>
                      <a:lnTo>
                        <a:pt x="29" y="19"/>
                      </a:lnTo>
                      <a:lnTo>
                        <a:pt x="22" y="29"/>
                      </a:lnTo>
                      <a:lnTo>
                        <a:pt x="13" y="29"/>
                      </a:lnTo>
                      <a:lnTo>
                        <a:pt x="3" y="24"/>
                      </a:lnTo>
                      <a:lnTo>
                        <a:pt x="0" y="18"/>
                      </a:lnTo>
                      <a:lnTo>
                        <a:pt x="2" y="15"/>
                      </a:lnTo>
                      <a:lnTo>
                        <a:pt x="2" y="0"/>
                      </a:lnTo>
                      <a:lnTo>
                        <a:pt x="28" y="1"/>
                      </a:lnTo>
                    </a:path>
                  </a:pathLst>
                </a:custGeom>
                <a:solidFill>
                  <a:srgbClr val="A0A0A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grpSp>
            <p:nvGrpSpPr>
              <p:cNvPr id="10292" name="Group 31"/>
              <p:cNvGrpSpPr>
                <a:grpSpLocks/>
              </p:cNvGrpSpPr>
              <p:nvPr/>
            </p:nvGrpSpPr>
            <p:grpSpPr bwMode="auto">
              <a:xfrm>
                <a:off x="5340" y="1392"/>
                <a:ext cx="40" cy="119"/>
                <a:chOff x="5340" y="1392"/>
                <a:chExt cx="40" cy="119"/>
              </a:xfrm>
            </p:grpSpPr>
            <p:sp>
              <p:nvSpPr>
                <p:cNvPr id="10353" name="Freeform 32"/>
                <p:cNvSpPr>
                  <a:spLocks/>
                </p:cNvSpPr>
                <p:nvPr/>
              </p:nvSpPr>
              <p:spPr bwMode="auto">
                <a:xfrm>
                  <a:off x="5340" y="1392"/>
                  <a:ext cx="40" cy="119"/>
                </a:xfrm>
                <a:custGeom>
                  <a:avLst/>
                  <a:gdLst>
                    <a:gd name="T0" fmla="*/ 3 w 40"/>
                    <a:gd name="T1" fmla="*/ 2 h 119"/>
                    <a:gd name="T2" fmla="*/ 1 w 40"/>
                    <a:gd name="T3" fmla="*/ 42 h 119"/>
                    <a:gd name="T4" fmla="*/ 1 w 40"/>
                    <a:gd name="T5" fmla="*/ 75 h 119"/>
                    <a:gd name="T6" fmla="*/ 0 w 40"/>
                    <a:gd name="T7" fmla="*/ 112 h 119"/>
                    <a:gd name="T8" fmla="*/ 19 w 40"/>
                    <a:gd name="T9" fmla="*/ 118 h 119"/>
                    <a:gd name="T10" fmla="*/ 37 w 40"/>
                    <a:gd name="T11" fmla="*/ 118 h 119"/>
                    <a:gd name="T12" fmla="*/ 39 w 40"/>
                    <a:gd name="T13" fmla="*/ 0 h 119"/>
                    <a:gd name="T14" fmla="*/ 3 w 40"/>
                    <a:gd name="T15" fmla="*/ 2 h 119"/>
                    <a:gd name="T16" fmla="*/ 0 60000 65536"/>
                    <a:gd name="T17" fmla="*/ 0 60000 65536"/>
                    <a:gd name="T18" fmla="*/ 0 60000 65536"/>
                    <a:gd name="T19" fmla="*/ 0 60000 65536"/>
                    <a:gd name="T20" fmla="*/ 0 60000 65536"/>
                    <a:gd name="T21" fmla="*/ 0 60000 65536"/>
                    <a:gd name="T22" fmla="*/ 0 60000 65536"/>
                    <a:gd name="T23" fmla="*/ 0 60000 65536"/>
                    <a:gd name="T24" fmla="*/ 0 w 40"/>
                    <a:gd name="T25" fmla="*/ 0 h 119"/>
                    <a:gd name="T26" fmla="*/ 40 w 40"/>
                    <a:gd name="T27" fmla="*/ 119 h 11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 h="119">
                      <a:moveTo>
                        <a:pt x="3" y="2"/>
                      </a:moveTo>
                      <a:lnTo>
                        <a:pt x="1" y="42"/>
                      </a:lnTo>
                      <a:lnTo>
                        <a:pt x="1" y="75"/>
                      </a:lnTo>
                      <a:lnTo>
                        <a:pt x="0" y="112"/>
                      </a:lnTo>
                      <a:lnTo>
                        <a:pt x="19" y="118"/>
                      </a:lnTo>
                      <a:lnTo>
                        <a:pt x="37" y="118"/>
                      </a:lnTo>
                      <a:lnTo>
                        <a:pt x="39" y="0"/>
                      </a:lnTo>
                      <a:lnTo>
                        <a:pt x="3" y="2"/>
                      </a:lnTo>
                    </a:path>
                  </a:pathLst>
                </a:custGeom>
                <a:solidFill>
                  <a:srgbClr val="606060"/>
                </a:solidFill>
                <a:ln w="12700" cap="rnd" cmpd="sng">
                  <a:solidFill>
                    <a:srgbClr val="000000"/>
                  </a:solidFill>
                  <a:prstDash val="solid"/>
                  <a:round/>
                  <a:headEnd/>
                  <a:tailEnd/>
                </a:ln>
              </p:spPr>
              <p:txBody>
                <a:bodyPr/>
                <a:lstStyle/>
                <a:p>
                  <a:endParaRPr lang="en-IN"/>
                </a:p>
              </p:txBody>
            </p:sp>
            <p:sp>
              <p:nvSpPr>
                <p:cNvPr id="10354" name="Freeform 33"/>
                <p:cNvSpPr>
                  <a:spLocks/>
                </p:cNvSpPr>
                <p:nvPr/>
              </p:nvSpPr>
              <p:spPr bwMode="auto">
                <a:xfrm>
                  <a:off x="5344" y="1394"/>
                  <a:ext cx="34" cy="114"/>
                </a:xfrm>
                <a:custGeom>
                  <a:avLst/>
                  <a:gdLst>
                    <a:gd name="T0" fmla="*/ 2 w 34"/>
                    <a:gd name="T1" fmla="*/ 3 h 114"/>
                    <a:gd name="T2" fmla="*/ 0 w 34"/>
                    <a:gd name="T3" fmla="*/ 37 h 114"/>
                    <a:gd name="T4" fmla="*/ 0 w 34"/>
                    <a:gd name="T5" fmla="*/ 63 h 114"/>
                    <a:gd name="T6" fmla="*/ 0 w 34"/>
                    <a:gd name="T7" fmla="*/ 105 h 114"/>
                    <a:gd name="T8" fmla="*/ 16 w 34"/>
                    <a:gd name="T9" fmla="*/ 113 h 114"/>
                    <a:gd name="T10" fmla="*/ 30 w 34"/>
                    <a:gd name="T11" fmla="*/ 113 h 114"/>
                    <a:gd name="T12" fmla="*/ 33 w 34"/>
                    <a:gd name="T13" fmla="*/ 0 h 114"/>
                    <a:gd name="T14" fmla="*/ 2 w 34"/>
                    <a:gd name="T15" fmla="*/ 3 h 114"/>
                    <a:gd name="T16" fmla="*/ 0 60000 65536"/>
                    <a:gd name="T17" fmla="*/ 0 60000 65536"/>
                    <a:gd name="T18" fmla="*/ 0 60000 65536"/>
                    <a:gd name="T19" fmla="*/ 0 60000 65536"/>
                    <a:gd name="T20" fmla="*/ 0 60000 65536"/>
                    <a:gd name="T21" fmla="*/ 0 60000 65536"/>
                    <a:gd name="T22" fmla="*/ 0 60000 65536"/>
                    <a:gd name="T23" fmla="*/ 0 60000 65536"/>
                    <a:gd name="T24" fmla="*/ 0 w 34"/>
                    <a:gd name="T25" fmla="*/ 0 h 114"/>
                    <a:gd name="T26" fmla="*/ 34 w 34"/>
                    <a:gd name="T27" fmla="*/ 114 h 1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4" h="114">
                      <a:moveTo>
                        <a:pt x="2" y="3"/>
                      </a:moveTo>
                      <a:lnTo>
                        <a:pt x="0" y="37"/>
                      </a:lnTo>
                      <a:lnTo>
                        <a:pt x="0" y="63"/>
                      </a:lnTo>
                      <a:lnTo>
                        <a:pt x="0" y="105"/>
                      </a:lnTo>
                      <a:lnTo>
                        <a:pt x="16" y="113"/>
                      </a:lnTo>
                      <a:lnTo>
                        <a:pt x="30" y="113"/>
                      </a:lnTo>
                      <a:lnTo>
                        <a:pt x="33" y="0"/>
                      </a:lnTo>
                      <a:lnTo>
                        <a:pt x="2" y="3"/>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grpSp>
            <p:nvGrpSpPr>
              <p:cNvPr id="10293" name="Group 34"/>
              <p:cNvGrpSpPr>
                <a:grpSpLocks/>
              </p:cNvGrpSpPr>
              <p:nvPr/>
            </p:nvGrpSpPr>
            <p:grpSpPr bwMode="auto">
              <a:xfrm>
                <a:off x="5360" y="1512"/>
                <a:ext cx="94" cy="60"/>
                <a:chOff x="5360" y="1512"/>
                <a:chExt cx="94" cy="60"/>
              </a:xfrm>
            </p:grpSpPr>
            <p:sp>
              <p:nvSpPr>
                <p:cNvPr id="10348" name="Freeform 35"/>
                <p:cNvSpPr>
                  <a:spLocks/>
                </p:cNvSpPr>
                <p:nvPr/>
              </p:nvSpPr>
              <p:spPr bwMode="auto">
                <a:xfrm>
                  <a:off x="5360" y="1512"/>
                  <a:ext cx="94" cy="60"/>
                </a:xfrm>
                <a:custGeom>
                  <a:avLst/>
                  <a:gdLst>
                    <a:gd name="T0" fmla="*/ 37 w 94"/>
                    <a:gd name="T1" fmla="*/ 1 h 60"/>
                    <a:gd name="T2" fmla="*/ 36 w 94"/>
                    <a:gd name="T3" fmla="*/ 16 h 60"/>
                    <a:gd name="T4" fmla="*/ 61 w 94"/>
                    <a:gd name="T5" fmla="*/ 31 h 60"/>
                    <a:gd name="T6" fmla="*/ 81 w 94"/>
                    <a:gd name="T7" fmla="*/ 37 h 60"/>
                    <a:gd name="T8" fmla="*/ 93 w 94"/>
                    <a:gd name="T9" fmla="*/ 43 h 60"/>
                    <a:gd name="T10" fmla="*/ 92 w 94"/>
                    <a:gd name="T11" fmla="*/ 51 h 60"/>
                    <a:gd name="T12" fmla="*/ 77 w 94"/>
                    <a:gd name="T13" fmla="*/ 57 h 60"/>
                    <a:gd name="T14" fmla="*/ 55 w 94"/>
                    <a:gd name="T15" fmla="*/ 59 h 60"/>
                    <a:gd name="T16" fmla="*/ 36 w 94"/>
                    <a:gd name="T17" fmla="*/ 55 h 60"/>
                    <a:gd name="T18" fmla="*/ 25 w 94"/>
                    <a:gd name="T19" fmla="*/ 51 h 60"/>
                    <a:gd name="T20" fmla="*/ 24 w 94"/>
                    <a:gd name="T21" fmla="*/ 55 h 60"/>
                    <a:gd name="T22" fmla="*/ 10 w 94"/>
                    <a:gd name="T23" fmla="*/ 55 h 60"/>
                    <a:gd name="T24" fmla="*/ 1 w 94"/>
                    <a:gd name="T25" fmla="*/ 52 h 60"/>
                    <a:gd name="T26" fmla="*/ 1 w 94"/>
                    <a:gd name="T27" fmla="*/ 44 h 60"/>
                    <a:gd name="T28" fmla="*/ 0 w 94"/>
                    <a:gd name="T29" fmla="*/ 39 h 60"/>
                    <a:gd name="T30" fmla="*/ 0 w 94"/>
                    <a:gd name="T31" fmla="*/ 28 h 60"/>
                    <a:gd name="T32" fmla="*/ 2 w 94"/>
                    <a:gd name="T33" fmla="*/ 22 h 60"/>
                    <a:gd name="T34" fmla="*/ 7 w 94"/>
                    <a:gd name="T35" fmla="*/ 15 h 60"/>
                    <a:gd name="T36" fmla="*/ 8 w 94"/>
                    <a:gd name="T37" fmla="*/ 0 h 60"/>
                    <a:gd name="T38" fmla="*/ 37 w 94"/>
                    <a:gd name="T39" fmla="*/ 1 h 6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4"/>
                    <a:gd name="T61" fmla="*/ 0 h 60"/>
                    <a:gd name="T62" fmla="*/ 94 w 94"/>
                    <a:gd name="T63" fmla="*/ 60 h 6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4" h="60">
                      <a:moveTo>
                        <a:pt x="37" y="1"/>
                      </a:moveTo>
                      <a:lnTo>
                        <a:pt x="36" y="16"/>
                      </a:lnTo>
                      <a:lnTo>
                        <a:pt x="61" y="31"/>
                      </a:lnTo>
                      <a:lnTo>
                        <a:pt x="81" y="37"/>
                      </a:lnTo>
                      <a:lnTo>
                        <a:pt x="93" y="43"/>
                      </a:lnTo>
                      <a:lnTo>
                        <a:pt x="92" y="51"/>
                      </a:lnTo>
                      <a:lnTo>
                        <a:pt x="77" y="57"/>
                      </a:lnTo>
                      <a:lnTo>
                        <a:pt x="55" y="59"/>
                      </a:lnTo>
                      <a:lnTo>
                        <a:pt x="36" y="55"/>
                      </a:lnTo>
                      <a:lnTo>
                        <a:pt x="25" y="51"/>
                      </a:lnTo>
                      <a:lnTo>
                        <a:pt x="24" y="55"/>
                      </a:lnTo>
                      <a:lnTo>
                        <a:pt x="10" y="55"/>
                      </a:lnTo>
                      <a:lnTo>
                        <a:pt x="1" y="52"/>
                      </a:lnTo>
                      <a:lnTo>
                        <a:pt x="1" y="44"/>
                      </a:lnTo>
                      <a:lnTo>
                        <a:pt x="0" y="39"/>
                      </a:lnTo>
                      <a:lnTo>
                        <a:pt x="0" y="28"/>
                      </a:lnTo>
                      <a:lnTo>
                        <a:pt x="2" y="22"/>
                      </a:lnTo>
                      <a:lnTo>
                        <a:pt x="7" y="15"/>
                      </a:lnTo>
                      <a:lnTo>
                        <a:pt x="8" y="0"/>
                      </a:lnTo>
                      <a:lnTo>
                        <a:pt x="37" y="1"/>
                      </a:lnTo>
                    </a:path>
                  </a:pathLst>
                </a:custGeom>
                <a:solidFill>
                  <a:srgbClr val="606060"/>
                </a:solidFill>
                <a:ln w="12700" cap="rnd" cmpd="sng">
                  <a:solidFill>
                    <a:srgbClr val="000000"/>
                  </a:solidFill>
                  <a:prstDash val="solid"/>
                  <a:round/>
                  <a:headEnd/>
                  <a:tailEnd/>
                </a:ln>
              </p:spPr>
              <p:txBody>
                <a:bodyPr/>
                <a:lstStyle/>
                <a:p>
                  <a:endParaRPr lang="en-IN"/>
                </a:p>
              </p:txBody>
            </p:sp>
            <p:sp>
              <p:nvSpPr>
                <p:cNvPr id="10349" name="Freeform 36"/>
                <p:cNvSpPr>
                  <a:spLocks/>
                </p:cNvSpPr>
                <p:nvPr/>
              </p:nvSpPr>
              <p:spPr bwMode="auto">
                <a:xfrm>
                  <a:off x="5391" y="1533"/>
                  <a:ext cx="30" cy="19"/>
                </a:xfrm>
                <a:custGeom>
                  <a:avLst/>
                  <a:gdLst>
                    <a:gd name="T0" fmla="*/ 7 w 30"/>
                    <a:gd name="T1" fmla="*/ 0 h 19"/>
                    <a:gd name="T2" fmla="*/ 0 w 30"/>
                    <a:gd name="T3" fmla="*/ 10 h 19"/>
                    <a:gd name="T4" fmla="*/ 26 w 30"/>
                    <a:gd name="T5" fmla="*/ 18 h 19"/>
                    <a:gd name="T6" fmla="*/ 29 w 30"/>
                    <a:gd name="T7" fmla="*/ 11 h 19"/>
                    <a:gd name="T8" fmla="*/ 7 w 30"/>
                    <a:gd name="T9" fmla="*/ 0 h 19"/>
                    <a:gd name="T10" fmla="*/ 0 60000 65536"/>
                    <a:gd name="T11" fmla="*/ 0 60000 65536"/>
                    <a:gd name="T12" fmla="*/ 0 60000 65536"/>
                    <a:gd name="T13" fmla="*/ 0 60000 65536"/>
                    <a:gd name="T14" fmla="*/ 0 60000 65536"/>
                    <a:gd name="T15" fmla="*/ 0 w 30"/>
                    <a:gd name="T16" fmla="*/ 0 h 19"/>
                    <a:gd name="T17" fmla="*/ 30 w 30"/>
                    <a:gd name="T18" fmla="*/ 19 h 19"/>
                  </a:gdLst>
                  <a:ahLst/>
                  <a:cxnLst>
                    <a:cxn ang="T10">
                      <a:pos x="T0" y="T1"/>
                    </a:cxn>
                    <a:cxn ang="T11">
                      <a:pos x="T2" y="T3"/>
                    </a:cxn>
                    <a:cxn ang="T12">
                      <a:pos x="T4" y="T5"/>
                    </a:cxn>
                    <a:cxn ang="T13">
                      <a:pos x="T6" y="T7"/>
                    </a:cxn>
                    <a:cxn ang="T14">
                      <a:pos x="T8" y="T9"/>
                    </a:cxn>
                  </a:cxnLst>
                  <a:rect l="T15" t="T16" r="T17" b="T18"/>
                  <a:pathLst>
                    <a:path w="30" h="19">
                      <a:moveTo>
                        <a:pt x="7" y="0"/>
                      </a:moveTo>
                      <a:lnTo>
                        <a:pt x="0" y="10"/>
                      </a:lnTo>
                      <a:lnTo>
                        <a:pt x="26" y="18"/>
                      </a:lnTo>
                      <a:lnTo>
                        <a:pt x="29" y="11"/>
                      </a:lnTo>
                      <a:lnTo>
                        <a:pt x="7" y="0"/>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50" name="Freeform 37"/>
                <p:cNvSpPr>
                  <a:spLocks/>
                </p:cNvSpPr>
                <p:nvPr/>
              </p:nvSpPr>
              <p:spPr bwMode="auto">
                <a:xfrm>
                  <a:off x="5419" y="1546"/>
                  <a:ext cx="32" cy="17"/>
                </a:xfrm>
                <a:custGeom>
                  <a:avLst/>
                  <a:gdLst>
                    <a:gd name="T0" fmla="*/ 4 w 32"/>
                    <a:gd name="T1" fmla="*/ 0 h 17"/>
                    <a:gd name="T2" fmla="*/ 0 w 32"/>
                    <a:gd name="T3" fmla="*/ 7 h 17"/>
                    <a:gd name="T4" fmla="*/ 15 w 32"/>
                    <a:gd name="T5" fmla="*/ 14 h 17"/>
                    <a:gd name="T6" fmla="*/ 22 w 32"/>
                    <a:gd name="T7" fmla="*/ 16 h 17"/>
                    <a:gd name="T8" fmla="*/ 31 w 32"/>
                    <a:gd name="T9" fmla="*/ 16 h 17"/>
                    <a:gd name="T10" fmla="*/ 22 w 32"/>
                    <a:gd name="T11" fmla="*/ 7 h 17"/>
                    <a:gd name="T12" fmla="*/ 4 w 32"/>
                    <a:gd name="T13" fmla="*/ 0 h 17"/>
                    <a:gd name="T14" fmla="*/ 0 60000 65536"/>
                    <a:gd name="T15" fmla="*/ 0 60000 65536"/>
                    <a:gd name="T16" fmla="*/ 0 60000 65536"/>
                    <a:gd name="T17" fmla="*/ 0 60000 65536"/>
                    <a:gd name="T18" fmla="*/ 0 60000 65536"/>
                    <a:gd name="T19" fmla="*/ 0 60000 65536"/>
                    <a:gd name="T20" fmla="*/ 0 60000 65536"/>
                    <a:gd name="T21" fmla="*/ 0 w 32"/>
                    <a:gd name="T22" fmla="*/ 0 h 17"/>
                    <a:gd name="T23" fmla="*/ 32 w 32"/>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17">
                      <a:moveTo>
                        <a:pt x="4" y="0"/>
                      </a:moveTo>
                      <a:lnTo>
                        <a:pt x="0" y="7"/>
                      </a:lnTo>
                      <a:lnTo>
                        <a:pt x="15" y="14"/>
                      </a:lnTo>
                      <a:lnTo>
                        <a:pt x="22" y="16"/>
                      </a:lnTo>
                      <a:lnTo>
                        <a:pt x="31" y="16"/>
                      </a:lnTo>
                      <a:lnTo>
                        <a:pt x="22" y="7"/>
                      </a:lnTo>
                      <a:lnTo>
                        <a:pt x="4" y="0"/>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51" name="Freeform 38"/>
                <p:cNvSpPr>
                  <a:spLocks/>
                </p:cNvSpPr>
                <p:nvPr/>
              </p:nvSpPr>
              <p:spPr bwMode="auto">
                <a:xfrm>
                  <a:off x="5362" y="1533"/>
                  <a:ext cx="90" cy="36"/>
                </a:xfrm>
                <a:custGeom>
                  <a:avLst/>
                  <a:gdLst>
                    <a:gd name="T0" fmla="*/ 89 w 90"/>
                    <a:gd name="T1" fmla="*/ 29 h 36"/>
                    <a:gd name="T2" fmla="*/ 89 w 90"/>
                    <a:gd name="T3" fmla="*/ 24 h 36"/>
                    <a:gd name="T4" fmla="*/ 77 w 90"/>
                    <a:gd name="T5" fmla="*/ 26 h 36"/>
                    <a:gd name="T6" fmla="*/ 58 w 90"/>
                    <a:gd name="T7" fmla="*/ 22 h 36"/>
                    <a:gd name="T8" fmla="*/ 47 w 90"/>
                    <a:gd name="T9" fmla="*/ 19 h 36"/>
                    <a:gd name="T10" fmla="*/ 27 w 90"/>
                    <a:gd name="T11" fmla="*/ 11 h 36"/>
                    <a:gd name="T12" fmla="*/ 18 w 90"/>
                    <a:gd name="T13" fmla="*/ 10 h 36"/>
                    <a:gd name="T14" fmla="*/ 9 w 90"/>
                    <a:gd name="T15" fmla="*/ 5 h 36"/>
                    <a:gd name="T16" fmla="*/ 4 w 90"/>
                    <a:gd name="T17" fmla="*/ 0 h 36"/>
                    <a:gd name="T18" fmla="*/ 0 w 90"/>
                    <a:gd name="T19" fmla="*/ 7 h 36"/>
                    <a:gd name="T20" fmla="*/ 0 w 90"/>
                    <a:gd name="T21" fmla="*/ 22 h 36"/>
                    <a:gd name="T22" fmla="*/ 6 w 90"/>
                    <a:gd name="T23" fmla="*/ 24 h 36"/>
                    <a:gd name="T24" fmla="*/ 22 w 90"/>
                    <a:gd name="T25" fmla="*/ 27 h 36"/>
                    <a:gd name="T26" fmla="*/ 29 w 90"/>
                    <a:gd name="T27" fmla="*/ 27 h 36"/>
                    <a:gd name="T28" fmla="*/ 39 w 90"/>
                    <a:gd name="T29" fmla="*/ 32 h 36"/>
                    <a:gd name="T30" fmla="*/ 51 w 90"/>
                    <a:gd name="T31" fmla="*/ 35 h 36"/>
                    <a:gd name="T32" fmla="*/ 60 w 90"/>
                    <a:gd name="T33" fmla="*/ 35 h 36"/>
                    <a:gd name="T34" fmla="*/ 73 w 90"/>
                    <a:gd name="T35" fmla="*/ 35 h 36"/>
                    <a:gd name="T36" fmla="*/ 89 w 90"/>
                    <a:gd name="T37" fmla="*/ 29 h 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0"/>
                    <a:gd name="T58" fmla="*/ 0 h 36"/>
                    <a:gd name="T59" fmla="*/ 90 w 90"/>
                    <a:gd name="T60" fmla="*/ 36 h 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0" h="36">
                      <a:moveTo>
                        <a:pt x="89" y="29"/>
                      </a:moveTo>
                      <a:lnTo>
                        <a:pt x="89" y="24"/>
                      </a:lnTo>
                      <a:lnTo>
                        <a:pt x="77" y="26"/>
                      </a:lnTo>
                      <a:lnTo>
                        <a:pt x="58" y="22"/>
                      </a:lnTo>
                      <a:lnTo>
                        <a:pt x="47" y="19"/>
                      </a:lnTo>
                      <a:lnTo>
                        <a:pt x="27" y="11"/>
                      </a:lnTo>
                      <a:lnTo>
                        <a:pt x="18" y="10"/>
                      </a:lnTo>
                      <a:lnTo>
                        <a:pt x="9" y="5"/>
                      </a:lnTo>
                      <a:lnTo>
                        <a:pt x="4" y="0"/>
                      </a:lnTo>
                      <a:lnTo>
                        <a:pt x="0" y="7"/>
                      </a:lnTo>
                      <a:lnTo>
                        <a:pt x="0" y="22"/>
                      </a:lnTo>
                      <a:lnTo>
                        <a:pt x="6" y="24"/>
                      </a:lnTo>
                      <a:lnTo>
                        <a:pt x="22" y="27"/>
                      </a:lnTo>
                      <a:lnTo>
                        <a:pt x="29" y="27"/>
                      </a:lnTo>
                      <a:lnTo>
                        <a:pt x="39" y="32"/>
                      </a:lnTo>
                      <a:lnTo>
                        <a:pt x="51" y="35"/>
                      </a:lnTo>
                      <a:lnTo>
                        <a:pt x="60" y="35"/>
                      </a:lnTo>
                      <a:lnTo>
                        <a:pt x="73" y="35"/>
                      </a:lnTo>
                      <a:lnTo>
                        <a:pt x="89" y="29"/>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52" name="Freeform 39"/>
                <p:cNvSpPr>
                  <a:spLocks/>
                </p:cNvSpPr>
                <p:nvPr/>
              </p:nvSpPr>
              <p:spPr bwMode="auto">
                <a:xfrm>
                  <a:off x="5367" y="1513"/>
                  <a:ext cx="31" cy="30"/>
                </a:xfrm>
                <a:custGeom>
                  <a:avLst/>
                  <a:gdLst>
                    <a:gd name="T0" fmla="*/ 29 w 31"/>
                    <a:gd name="T1" fmla="*/ 2 h 30"/>
                    <a:gd name="T2" fmla="*/ 27 w 31"/>
                    <a:gd name="T3" fmla="*/ 16 h 30"/>
                    <a:gd name="T4" fmla="*/ 30 w 31"/>
                    <a:gd name="T5" fmla="*/ 19 h 30"/>
                    <a:gd name="T6" fmla="*/ 23 w 31"/>
                    <a:gd name="T7" fmla="*/ 29 h 30"/>
                    <a:gd name="T8" fmla="*/ 13 w 31"/>
                    <a:gd name="T9" fmla="*/ 29 h 30"/>
                    <a:gd name="T10" fmla="*/ 4 w 31"/>
                    <a:gd name="T11" fmla="*/ 24 h 30"/>
                    <a:gd name="T12" fmla="*/ 0 w 31"/>
                    <a:gd name="T13" fmla="*/ 19 h 30"/>
                    <a:gd name="T14" fmla="*/ 2 w 31"/>
                    <a:gd name="T15" fmla="*/ 15 h 30"/>
                    <a:gd name="T16" fmla="*/ 2 w 31"/>
                    <a:gd name="T17" fmla="*/ 0 h 30"/>
                    <a:gd name="T18" fmla="*/ 29 w 31"/>
                    <a:gd name="T19" fmla="*/ 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
                    <a:gd name="T31" fmla="*/ 0 h 30"/>
                    <a:gd name="T32" fmla="*/ 31 w 31"/>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 h="30">
                      <a:moveTo>
                        <a:pt x="29" y="2"/>
                      </a:moveTo>
                      <a:lnTo>
                        <a:pt x="27" y="16"/>
                      </a:lnTo>
                      <a:lnTo>
                        <a:pt x="30" y="19"/>
                      </a:lnTo>
                      <a:lnTo>
                        <a:pt x="23" y="29"/>
                      </a:lnTo>
                      <a:lnTo>
                        <a:pt x="13" y="29"/>
                      </a:lnTo>
                      <a:lnTo>
                        <a:pt x="4" y="24"/>
                      </a:lnTo>
                      <a:lnTo>
                        <a:pt x="0" y="19"/>
                      </a:lnTo>
                      <a:lnTo>
                        <a:pt x="2" y="15"/>
                      </a:lnTo>
                      <a:lnTo>
                        <a:pt x="2" y="0"/>
                      </a:lnTo>
                      <a:lnTo>
                        <a:pt x="29" y="2"/>
                      </a:lnTo>
                    </a:path>
                  </a:pathLst>
                </a:custGeom>
                <a:solidFill>
                  <a:srgbClr val="A0A0A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sp>
            <p:nvSpPr>
              <p:cNvPr id="10294" name="Oval 40"/>
              <p:cNvSpPr>
                <a:spLocks noChangeArrowheads="1"/>
              </p:cNvSpPr>
              <p:nvPr/>
            </p:nvSpPr>
            <p:spPr bwMode="auto">
              <a:xfrm>
                <a:off x="5225" y="1515"/>
                <a:ext cx="103" cy="49"/>
              </a:xfrm>
              <a:prstGeom prst="ellipse">
                <a:avLst/>
              </a:prstGeom>
              <a:solidFill>
                <a:srgbClr val="606060"/>
              </a:solidFill>
              <a:ln w="12700">
                <a:solidFill>
                  <a:srgbClr val="000000"/>
                </a:solidFill>
                <a:round/>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sp>
            <p:nvSpPr>
              <p:cNvPr id="10295" name="Rectangle 41"/>
              <p:cNvSpPr>
                <a:spLocks noChangeArrowheads="1"/>
              </p:cNvSpPr>
              <p:nvPr/>
            </p:nvSpPr>
            <p:spPr bwMode="auto">
              <a:xfrm>
                <a:off x="5265" y="1408"/>
                <a:ext cx="23" cy="117"/>
              </a:xfrm>
              <a:prstGeom prst="rect">
                <a:avLst/>
              </a:prstGeom>
              <a:solidFill>
                <a:srgbClr val="606060"/>
              </a:solidFill>
              <a:ln w="12700">
                <a:solidFill>
                  <a:srgbClr val="000000"/>
                </a:solidFill>
                <a:miter lim="800000"/>
                <a:headEnd/>
                <a:tailEnd/>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grpSp>
            <p:nvGrpSpPr>
              <p:cNvPr id="10296" name="Group 42"/>
              <p:cNvGrpSpPr>
                <a:grpSpLocks/>
              </p:cNvGrpSpPr>
              <p:nvPr/>
            </p:nvGrpSpPr>
            <p:grpSpPr bwMode="auto">
              <a:xfrm>
                <a:off x="5212" y="1359"/>
                <a:ext cx="146" cy="65"/>
                <a:chOff x="5212" y="1359"/>
                <a:chExt cx="146" cy="65"/>
              </a:xfrm>
            </p:grpSpPr>
            <p:sp>
              <p:nvSpPr>
                <p:cNvPr id="10346" name="Freeform 43"/>
                <p:cNvSpPr>
                  <a:spLocks/>
                </p:cNvSpPr>
                <p:nvPr/>
              </p:nvSpPr>
              <p:spPr bwMode="auto">
                <a:xfrm>
                  <a:off x="5212" y="1359"/>
                  <a:ext cx="146" cy="65"/>
                </a:xfrm>
                <a:custGeom>
                  <a:avLst/>
                  <a:gdLst>
                    <a:gd name="T0" fmla="*/ 145 w 146"/>
                    <a:gd name="T1" fmla="*/ 33 h 65"/>
                    <a:gd name="T2" fmla="*/ 143 w 146"/>
                    <a:gd name="T3" fmla="*/ 52 h 65"/>
                    <a:gd name="T4" fmla="*/ 95 w 146"/>
                    <a:gd name="T5" fmla="*/ 64 h 65"/>
                    <a:gd name="T6" fmla="*/ 43 w 146"/>
                    <a:gd name="T7" fmla="*/ 64 h 65"/>
                    <a:gd name="T8" fmla="*/ 2 w 146"/>
                    <a:gd name="T9" fmla="*/ 47 h 65"/>
                    <a:gd name="T10" fmla="*/ 0 w 146"/>
                    <a:gd name="T11" fmla="*/ 1 h 65"/>
                    <a:gd name="T12" fmla="*/ 81 w 146"/>
                    <a:gd name="T13" fmla="*/ 0 h 65"/>
                    <a:gd name="T14" fmla="*/ 145 w 146"/>
                    <a:gd name="T15" fmla="*/ 33 h 65"/>
                    <a:gd name="T16" fmla="*/ 0 60000 65536"/>
                    <a:gd name="T17" fmla="*/ 0 60000 65536"/>
                    <a:gd name="T18" fmla="*/ 0 60000 65536"/>
                    <a:gd name="T19" fmla="*/ 0 60000 65536"/>
                    <a:gd name="T20" fmla="*/ 0 60000 65536"/>
                    <a:gd name="T21" fmla="*/ 0 60000 65536"/>
                    <a:gd name="T22" fmla="*/ 0 60000 65536"/>
                    <a:gd name="T23" fmla="*/ 0 60000 65536"/>
                    <a:gd name="T24" fmla="*/ 0 w 146"/>
                    <a:gd name="T25" fmla="*/ 0 h 65"/>
                    <a:gd name="T26" fmla="*/ 146 w 146"/>
                    <a:gd name="T27" fmla="*/ 65 h 6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6" h="65">
                      <a:moveTo>
                        <a:pt x="145" y="33"/>
                      </a:moveTo>
                      <a:lnTo>
                        <a:pt x="143" y="52"/>
                      </a:lnTo>
                      <a:lnTo>
                        <a:pt x="95" y="64"/>
                      </a:lnTo>
                      <a:lnTo>
                        <a:pt x="43" y="64"/>
                      </a:lnTo>
                      <a:lnTo>
                        <a:pt x="2" y="47"/>
                      </a:lnTo>
                      <a:lnTo>
                        <a:pt x="0" y="1"/>
                      </a:lnTo>
                      <a:lnTo>
                        <a:pt x="81" y="0"/>
                      </a:lnTo>
                      <a:lnTo>
                        <a:pt x="145" y="33"/>
                      </a:lnTo>
                    </a:path>
                  </a:pathLst>
                </a:custGeom>
                <a:solidFill>
                  <a:srgbClr val="404040"/>
                </a:solidFill>
                <a:ln w="12700" cap="rnd" cmpd="sng">
                  <a:solidFill>
                    <a:srgbClr val="000000"/>
                  </a:solidFill>
                  <a:prstDash val="solid"/>
                  <a:round/>
                  <a:headEnd/>
                  <a:tailEnd/>
                </a:ln>
              </p:spPr>
              <p:txBody>
                <a:bodyPr/>
                <a:lstStyle/>
                <a:p>
                  <a:endParaRPr lang="en-IN"/>
                </a:p>
              </p:txBody>
            </p:sp>
            <p:sp>
              <p:nvSpPr>
                <p:cNvPr id="10347" name="Freeform 44"/>
                <p:cNvSpPr>
                  <a:spLocks/>
                </p:cNvSpPr>
                <p:nvPr/>
              </p:nvSpPr>
              <p:spPr bwMode="auto">
                <a:xfrm>
                  <a:off x="5215" y="1384"/>
                  <a:ext cx="140" cy="37"/>
                </a:xfrm>
                <a:custGeom>
                  <a:avLst/>
                  <a:gdLst>
                    <a:gd name="T0" fmla="*/ 139 w 140"/>
                    <a:gd name="T1" fmla="*/ 11 h 37"/>
                    <a:gd name="T2" fmla="*/ 137 w 140"/>
                    <a:gd name="T3" fmla="*/ 26 h 37"/>
                    <a:gd name="T4" fmla="*/ 94 w 140"/>
                    <a:gd name="T5" fmla="*/ 36 h 37"/>
                    <a:gd name="T6" fmla="*/ 38 w 140"/>
                    <a:gd name="T7" fmla="*/ 36 h 37"/>
                    <a:gd name="T8" fmla="*/ 0 w 140"/>
                    <a:gd name="T9" fmla="*/ 18 h 37"/>
                    <a:gd name="T10" fmla="*/ 0 w 140"/>
                    <a:gd name="T11" fmla="*/ 0 h 37"/>
                    <a:gd name="T12" fmla="*/ 36 w 140"/>
                    <a:gd name="T13" fmla="*/ 18 h 37"/>
                    <a:gd name="T14" fmla="*/ 93 w 140"/>
                    <a:gd name="T15" fmla="*/ 20 h 37"/>
                    <a:gd name="T16" fmla="*/ 139 w 140"/>
                    <a:gd name="T17" fmla="*/ 11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0"/>
                    <a:gd name="T28" fmla="*/ 0 h 37"/>
                    <a:gd name="T29" fmla="*/ 140 w 140"/>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0" h="37">
                      <a:moveTo>
                        <a:pt x="139" y="11"/>
                      </a:moveTo>
                      <a:lnTo>
                        <a:pt x="137" y="26"/>
                      </a:lnTo>
                      <a:lnTo>
                        <a:pt x="94" y="36"/>
                      </a:lnTo>
                      <a:lnTo>
                        <a:pt x="38" y="36"/>
                      </a:lnTo>
                      <a:lnTo>
                        <a:pt x="0" y="18"/>
                      </a:lnTo>
                      <a:lnTo>
                        <a:pt x="0" y="0"/>
                      </a:lnTo>
                      <a:lnTo>
                        <a:pt x="36" y="18"/>
                      </a:lnTo>
                      <a:lnTo>
                        <a:pt x="93" y="20"/>
                      </a:lnTo>
                      <a:lnTo>
                        <a:pt x="139" y="11"/>
                      </a:lnTo>
                    </a:path>
                  </a:pathLst>
                </a:custGeom>
                <a:solidFill>
                  <a:srgbClr val="606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sp>
            <p:nvSpPr>
              <p:cNvPr id="10297" name="Freeform 45"/>
              <p:cNvSpPr>
                <a:spLocks/>
              </p:cNvSpPr>
              <p:nvPr/>
            </p:nvSpPr>
            <p:spPr bwMode="auto">
              <a:xfrm>
                <a:off x="5207" y="1291"/>
                <a:ext cx="199" cy="234"/>
              </a:xfrm>
              <a:custGeom>
                <a:avLst/>
                <a:gdLst>
                  <a:gd name="T0" fmla="*/ 197 w 199"/>
                  <a:gd name="T1" fmla="*/ 131 h 234"/>
                  <a:gd name="T2" fmla="*/ 196 w 199"/>
                  <a:gd name="T3" fmla="*/ 107 h 234"/>
                  <a:gd name="T4" fmla="*/ 196 w 199"/>
                  <a:gd name="T5" fmla="*/ 82 h 234"/>
                  <a:gd name="T6" fmla="*/ 195 w 199"/>
                  <a:gd name="T7" fmla="*/ 63 h 234"/>
                  <a:gd name="T8" fmla="*/ 187 w 199"/>
                  <a:gd name="T9" fmla="*/ 52 h 234"/>
                  <a:gd name="T10" fmla="*/ 177 w 199"/>
                  <a:gd name="T11" fmla="*/ 46 h 234"/>
                  <a:gd name="T12" fmla="*/ 153 w 199"/>
                  <a:gd name="T13" fmla="*/ 34 h 234"/>
                  <a:gd name="T14" fmla="*/ 119 w 199"/>
                  <a:gd name="T15" fmla="*/ 24 h 234"/>
                  <a:gd name="T16" fmla="*/ 112 w 199"/>
                  <a:gd name="T17" fmla="*/ 23 h 234"/>
                  <a:gd name="T18" fmla="*/ 107 w 199"/>
                  <a:gd name="T19" fmla="*/ 24 h 234"/>
                  <a:gd name="T20" fmla="*/ 106 w 199"/>
                  <a:gd name="T21" fmla="*/ 22 h 234"/>
                  <a:gd name="T22" fmla="*/ 104 w 199"/>
                  <a:gd name="T23" fmla="*/ 19 h 234"/>
                  <a:gd name="T24" fmla="*/ 102 w 199"/>
                  <a:gd name="T25" fmla="*/ 20 h 234"/>
                  <a:gd name="T26" fmla="*/ 99 w 199"/>
                  <a:gd name="T27" fmla="*/ 20 h 234"/>
                  <a:gd name="T28" fmla="*/ 98 w 199"/>
                  <a:gd name="T29" fmla="*/ 16 h 234"/>
                  <a:gd name="T30" fmla="*/ 95 w 199"/>
                  <a:gd name="T31" fmla="*/ 14 h 234"/>
                  <a:gd name="T32" fmla="*/ 92 w 199"/>
                  <a:gd name="T33" fmla="*/ 13 h 234"/>
                  <a:gd name="T34" fmla="*/ 89 w 199"/>
                  <a:gd name="T35" fmla="*/ 13 h 234"/>
                  <a:gd name="T36" fmla="*/ 90 w 199"/>
                  <a:gd name="T37" fmla="*/ 9 h 234"/>
                  <a:gd name="T38" fmla="*/ 85 w 199"/>
                  <a:gd name="T39" fmla="*/ 0 h 234"/>
                  <a:gd name="T40" fmla="*/ 4 w 199"/>
                  <a:gd name="T41" fmla="*/ 2 h 234"/>
                  <a:gd name="T42" fmla="*/ 5 w 199"/>
                  <a:gd name="T43" fmla="*/ 13 h 234"/>
                  <a:gd name="T44" fmla="*/ 4 w 199"/>
                  <a:gd name="T45" fmla="*/ 22 h 234"/>
                  <a:gd name="T46" fmla="*/ 2 w 199"/>
                  <a:gd name="T47" fmla="*/ 29 h 234"/>
                  <a:gd name="T48" fmla="*/ 1 w 199"/>
                  <a:gd name="T49" fmla="*/ 37 h 234"/>
                  <a:gd name="T50" fmla="*/ 0 w 199"/>
                  <a:gd name="T51" fmla="*/ 50 h 234"/>
                  <a:gd name="T52" fmla="*/ 1 w 199"/>
                  <a:gd name="T53" fmla="*/ 58 h 234"/>
                  <a:gd name="T54" fmla="*/ 4 w 199"/>
                  <a:gd name="T55" fmla="*/ 66 h 234"/>
                  <a:gd name="T56" fmla="*/ 6 w 199"/>
                  <a:gd name="T57" fmla="*/ 72 h 234"/>
                  <a:gd name="T58" fmla="*/ 10 w 199"/>
                  <a:gd name="T59" fmla="*/ 74 h 234"/>
                  <a:gd name="T60" fmla="*/ 16 w 199"/>
                  <a:gd name="T61" fmla="*/ 77 h 234"/>
                  <a:gd name="T62" fmla="*/ 24 w 199"/>
                  <a:gd name="T63" fmla="*/ 80 h 234"/>
                  <a:gd name="T64" fmla="*/ 27 w 199"/>
                  <a:gd name="T65" fmla="*/ 85 h 234"/>
                  <a:gd name="T66" fmla="*/ 31 w 199"/>
                  <a:gd name="T67" fmla="*/ 89 h 234"/>
                  <a:gd name="T68" fmla="*/ 38 w 199"/>
                  <a:gd name="T69" fmla="*/ 93 h 234"/>
                  <a:gd name="T70" fmla="*/ 46 w 199"/>
                  <a:gd name="T71" fmla="*/ 97 h 234"/>
                  <a:gd name="T72" fmla="*/ 58 w 199"/>
                  <a:gd name="T73" fmla="*/ 98 h 234"/>
                  <a:gd name="T74" fmla="*/ 68 w 199"/>
                  <a:gd name="T75" fmla="*/ 98 h 234"/>
                  <a:gd name="T76" fmla="*/ 76 w 199"/>
                  <a:gd name="T77" fmla="*/ 97 h 234"/>
                  <a:gd name="T78" fmla="*/ 83 w 199"/>
                  <a:gd name="T79" fmla="*/ 97 h 234"/>
                  <a:gd name="T80" fmla="*/ 89 w 199"/>
                  <a:gd name="T81" fmla="*/ 100 h 234"/>
                  <a:gd name="T82" fmla="*/ 99 w 199"/>
                  <a:gd name="T83" fmla="*/ 99 h 234"/>
                  <a:gd name="T84" fmla="*/ 141 w 199"/>
                  <a:gd name="T85" fmla="*/ 107 h 234"/>
                  <a:gd name="T86" fmla="*/ 153 w 199"/>
                  <a:gd name="T87" fmla="*/ 108 h 234"/>
                  <a:gd name="T88" fmla="*/ 148 w 199"/>
                  <a:gd name="T89" fmla="*/ 139 h 234"/>
                  <a:gd name="T90" fmla="*/ 148 w 199"/>
                  <a:gd name="T91" fmla="*/ 156 h 234"/>
                  <a:gd name="T92" fmla="*/ 150 w 199"/>
                  <a:gd name="T93" fmla="*/ 177 h 234"/>
                  <a:gd name="T94" fmla="*/ 153 w 199"/>
                  <a:gd name="T95" fmla="*/ 201 h 234"/>
                  <a:gd name="T96" fmla="*/ 153 w 199"/>
                  <a:gd name="T97" fmla="*/ 226 h 234"/>
                  <a:gd name="T98" fmla="*/ 163 w 199"/>
                  <a:gd name="T99" fmla="*/ 229 h 234"/>
                  <a:gd name="T100" fmla="*/ 175 w 199"/>
                  <a:gd name="T101" fmla="*/ 231 h 234"/>
                  <a:gd name="T102" fmla="*/ 186 w 199"/>
                  <a:gd name="T103" fmla="*/ 233 h 234"/>
                  <a:gd name="T104" fmla="*/ 198 w 199"/>
                  <a:gd name="T105" fmla="*/ 231 h 234"/>
                  <a:gd name="T106" fmla="*/ 197 w 199"/>
                  <a:gd name="T107" fmla="*/ 208 h 234"/>
                  <a:gd name="T108" fmla="*/ 197 w 199"/>
                  <a:gd name="T109" fmla="*/ 170 h 234"/>
                  <a:gd name="T110" fmla="*/ 197 w 199"/>
                  <a:gd name="T111" fmla="*/ 136 h 234"/>
                  <a:gd name="T112" fmla="*/ 197 w 199"/>
                  <a:gd name="T113" fmla="*/ 131 h 23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99"/>
                  <a:gd name="T172" fmla="*/ 0 h 234"/>
                  <a:gd name="T173" fmla="*/ 199 w 199"/>
                  <a:gd name="T174" fmla="*/ 234 h 23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99" h="234">
                    <a:moveTo>
                      <a:pt x="197" y="131"/>
                    </a:moveTo>
                    <a:lnTo>
                      <a:pt x="196" y="107"/>
                    </a:lnTo>
                    <a:lnTo>
                      <a:pt x="196" y="82"/>
                    </a:lnTo>
                    <a:lnTo>
                      <a:pt x="195" y="63"/>
                    </a:lnTo>
                    <a:lnTo>
                      <a:pt x="187" y="52"/>
                    </a:lnTo>
                    <a:lnTo>
                      <a:pt x="177" y="46"/>
                    </a:lnTo>
                    <a:lnTo>
                      <a:pt x="153" y="34"/>
                    </a:lnTo>
                    <a:lnTo>
                      <a:pt x="119" y="24"/>
                    </a:lnTo>
                    <a:lnTo>
                      <a:pt x="112" y="23"/>
                    </a:lnTo>
                    <a:lnTo>
                      <a:pt x="107" y="24"/>
                    </a:lnTo>
                    <a:lnTo>
                      <a:pt x="106" y="22"/>
                    </a:lnTo>
                    <a:lnTo>
                      <a:pt x="104" y="19"/>
                    </a:lnTo>
                    <a:lnTo>
                      <a:pt x="102" y="20"/>
                    </a:lnTo>
                    <a:lnTo>
                      <a:pt x="99" y="20"/>
                    </a:lnTo>
                    <a:lnTo>
                      <a:pt x="98" y="16"/>
                    </a:lnTo>
                    <a:lnTo>
                      <a:pt x="95" y="14"/>
                    </a:lnTo>
                    <a:lnTo>
                      <a:pt x="92" y="13"/>
                    </a:lnTo>
                    <a:lnTo>
                      <a:pt x="89" y="13"/>
                    </a:lnTo>
                    <a:lnTo>
                      <a:pt x="90" y="9"/>
                    </a:lnTo>
                    <a:lnTo>
                      <a:pt x="85" y="0"/>
                    </a:lnTo>
                    <a:lnTo>
                      <a:pt x="4" y="2"/>
                    </a:lnTo>
                    <a:lnTo>
                      <a:pt x="5" y="13"/>
                    </a:lnTo>
                    <a:lnTo>
                      <a:pt x="4" y="22"/>
                    </a:lnTo>
                    <a:lnTo>
                      <a:pt x="2" y="29"/>
                    </a:lnTo>
                    <a:lnTo>
                      <a:pt x="1" y="37"/>
                    </a:lnTo>
                    <a:lnTo>
                      <a:pt x="0" y="50"/>
                    </a:lnTo>
                    <a:lnTo>
                      <a:pt x="1" y="58"/>
                    </a:lnTo>
                    <a:lnTo>
                      <a:pt x="4" y="66"/>
                    </a:lnTo>
                    <a:lnTo>
                      <a:pt x="6" y="72"/>
                    </a:lnTo>
                    <a:lnTo>
                      <a:pt x="10" y="74"/>
                    </a:lnTo>
                    <a:lnTo>
                      <a:pt x="16" y="77"/>
                    </a:lnTo>
                    <a:lnTo>
                      <a:pt x="24" y="80"/>
                    </a:lnTo>
                    <a:lnTo>
                      <a:pt x="27" y="85"/>
                    </a:lnTo>
                    <a:lnTo>
                      <a:pt x="31" y="89"/>
                    </a:lnTo>
                    <a:lnTo>
                      <a:pt x="38" y="93"/>
                    </a:lnTo>
                    <a:lnTo>
                      <a:pt x="46" y="97"/>
                    </a:lnTo>
                    <a:lnTo>
                      <a:pt x="58" y="98"/>
                    </a:lnTo>
                    <a:lnTo>
                      <a:pt x="68" y="98"/>
                    </a:lnTo>
                    <a:lnTo>
                      <a:pt x="76" y="97"/>
                    </a:lnTo>
                    <a:lnTo>
                      <a:pt x="83" y="97"/>
                    </a:lnTo>
                    <a:lnTo>
                      <a:pt x="89" y="100"/>
                    </a:lnTo>
                    <a:lnTo>
                      <a:pt x="99" y="99"/>
                    </a:lnTo>
                    <a:lnTo>
                      <a:pt x="141" y="107"/>
                    </a:lnTo>
                    <a:lnTo>
                      <a:pt x="153" y="108"/>
                    </a:lnTo>
                    <a:lnTo>
                      <a:pt x="148" y="139"/>
                    </a:lnTo>
                    <a:lnTo>
                      <a:pt x="148" y="156"/>
                    </a:lnTo>
                    <a:lnTo>
                      <a:pt x="150" y="177"/>
                    </a:lnTo>
                    <a:lnTo>
                      <a:pt x="153" y="201"/>
                    </a:lnTo>
                    <a:lnTo>
                      <a:pt x="153" y="226"/>
                    </a:lnTo>
                    <a:lnTo>
                      <a:pt x="163" y="229"/>
                    </a:lnTo>
                    <a:lnTo>
                      <a:pt x="175" y="231"/>
                    </a:lnTo>
                    <a:lnTo>
                      <a:pt x="186" y="233"/>
                    </a:lnTo>
                    <a:lnTo>
                      <a:pt x="198" y="231"/>
                    </a:lnTo>
                    <a:lnTo>
                      <a:pt x="197" y="208"/>
                    </a:lnTo>
                    <a:lnTo>
                      <a:pt x="197" y="170"/>
                    </a:lnTo>
                    <a:lnTo>
                      <a:pt x="197" y="136"/>
                    </a:lnTo>
                    <a:lnTo>
                      <a:pt x="197" y="131"/>
                    </a:lnTo>
                  </a:path>
                </a:pathLst>
              </a:custGeom>
              <a:solidFill>
                <a:srgbClr val="606060"/>
              </a:solidFill>
              <a:ln w="12700" cap="rnd" cmpd="sng">
                <a:solidFill>
                  <a:srgbClr val="000000"/>
                </a:solidFill>
                <a:prstDash val="solid"/>
                <a:round/>
                <a:headEnd/>
                <a:tailEnd/>
              </a:ln>
            </p:spPr>
            <p:txBody>
              <a:bodyPr/>
              <a:lstStyle/>
              <a:p>
                <a:endParaRPr lang="en-IN"/>
              </a:p>
            </p:txBody>
          </p:sp>
          <p:sp>
            <p:nvSpPr>
              <p:cNvPr id="10298" name="Freeform 46"/>
              <p:cNvSpPr>
                <a:spLocks/>
              </p:cNvSpPr>
              <p:nvPr/>
            </p:nvSpPr>
            <p:spPr bwMode="auto">
              <a:xfrm>
                <a:off x="5210" y="1301"/>
                <a:ext cx="195" cy="221"/>
              </a:xfrm>
              <a:custGeom>
                <a:avLst/>
                <a:gdLst>
                  <a:gd name="T0" fmla="*/ 6 w 195"/>
                  <a:gd name="T1" fmla="*/ 11 h 221"/>
                  <a:gd name="T2" fmla="*/ 1 w 195"/>
                  <a:gd name="T3" fmla="*/ 23 h 221"/>
                  <a:gd name="T4" fmla="*/ 4 w 195"/>
                  <a:gd name="T5" fmla="*/ 61 h 221"/>
                  <a:gd name="T6" fmla="*/ 15 w 195"/>
                  <a:gd name="T7" fmla="*/ 61 h 221"/>
                  <a:gd name="T8" fmla="*/ 27 w 195"/>
                  <a:gd name="T9" fmla="*/ 74 h 221"/>
                  <a:gd name="T10" fmla="*/ 55 w 195"/>
                  <a:gd name="T11" fmla="*/ 84 h 221"/>
                  <a:gd name="T12" fmla="*/ 81 w 195"/>
                  <a:gd name="T13" fmla="*/ 84 h 221"/>
                  <a:gd name="T14" fmla="*/ 71 w 195"/>
                  <a:gd name="T15" fmla="*/ 70 h 221"/>
                  <a:gd name="T16" fmla="*/ 84 w 195"/>
                  <a:gd name="T17" fmla="*/ 83 h 221"/>
                  <a:gd name="T18" fmla="*/ 97 w 195"/>
                  <a:gd name="T19" fmla="*/ 86 h 221"/>
                  <a:gd name="T20" fmla="*/ 88 w 195"/>
                  <a:gd name="T21" fmla="*/ 77 h 221"/>
                  <a:gd name="T22" fmla="*/ 102 w 195"/>
                  <a:gd name="T23" fmla="*/ 87 h 221"/>
                  <a:gd name="T24" fmla="*/ 146 w 195"/>
                  <a:gd name="T25" fmla="*/ 95 h 221"/>
                  <a:gd name="T26" fmla="*/ 148 w 195"/>
                  <a:gd name="T27" fmla="*/ 138 h 221"/>
                  <a:gd name="T28" fmla="*/ 152 w 195"/>
                  <a:gd name="T29" fmla="*/ 213 h 221"/>
                  <a:gd name="T30" fmla="*/ 179 w 195"/>
                  <a:gd name="T31" fmla="*/ 220 h 221"/>
                  <a:gd name="T32" fmla="*/ 193 w 195"/>
                  <a:gd name="T33" fmla="*/ 165 h 221"/>
                  <a:gd name="T34" fmla="*/ 191 w 195"/>
                  <a:gd name="T35" fmla="*/ 96 h 221"/>
                  <a:gd name="T36" fmla="*/ 191 w 195"/>
                  <a:gd name="T37" fmla="*/ 63 h 221"/>
                  <a:gd name="T38" fmla="*/ 178 w 195"/>
                  <a:gd name="T39" fmla="*/ 43 h 221"/>
                  <a:gd name="T40" fmla="*/ 139 w 195"/>
                  <a:gd name="T41" fmla="*/ 25 h 221"/>
                  <a:gd name="T42" fmla="*/ 106 w 195"/>
                  <a:gd name="T43" fmla="*/ 16 h 221"/>
                  <a:gd name="T44" fmla="*/ 86 w 195"/>
                  <a:gd name="T45" fmla="*/ 34 h 221"/>
                  <a:gd name="T46" fmla="*/ 100 w 195"/>
                  <a:gd name="T47" fmla="*/ 22 h 221"/>
                  <a:gd name="T48" fmla="*/ 102 w 195"/>
                  <a:gd name="T49" fmla="*/ 13 h 221"/>
                  <a:gd name="T50" fmla="*/ 95 w 195"/>
                  <a:gd name="T51" fmla="*/ 16 h 221"/>
                  <a:gd name="T52" fmla="*/ 86 w 195"/>
                  <a:gd name="T53" fmla="*/ 23 h 221"/>
                  <a:gd name="T54" fmla="*/ 95 w 195"/>
                  <a:gd name="T55" fmla="*/ 11 h 221"/>
                  <a:gd name="T56" fmla="*/ 88 w 195"/>
                  <a:gd name="T57" fmla="*/ 6 h 221"/>
                  <a:gd name="T58" fmla="*/ 75 w 195"/>
                  <a:gd name="T59" fmla="*/ 19 h 221"/>
                  <a:gd name="T60" fmla="*/ 84 w 195"/>
                  <a:gd name="T61" fmla="*/ 3 h 221"/>
                  <a:gd name="T62" fmla="*/ 78 w 195"/>
                  <a:gd name="T63" fmla="*/ 1 h 221"/>
                  <a:gd name="T64" fmla="*/ 68 w 195"/>
                  <a:gd name="T65" fmla="*/ 10 h 221"/>
                  <a:gd name="T66" fmla="*/ 50 w 195"/>
                  <a:gd name="T67" fmla="*/ 7 h 221"/>
                  <a:gd name="T68" fmla="*/ 45 w 195"/>
                  <a:gd name="T69" fmla="*/ 11 h 221"/>
                  <a:gd name="T70" fmla="*/ 27 w 195"/>
                  <a:gd name="T71" fmla="*/ 15 h 221"/>
                  <a:gd name="T72" fmla="*/ 24 w 195"/>
                  <a:gd name="T73" fmla="*/ 7 h 221"/>
                  <a:gd name="T74" fmla="*/ 17 w 195"/>
                  <a:gd name="T75" fmla="*/ 15 h 221"/>
                  <a:gd name="T76" fmla="*/ 9 w 195"/>
                  <a:gd name="T77" fmla="*/ 7 h 22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95"/>
                  <a:gd name="T118" fmla="*/ 0 h 221"/>
                  <a:gd name="T119" fmla="*/ 195 w 195"/>
                  <a:gd name="T120" fmla="*/ 221 h 22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95" h="221">
                    <a:moveTo>
                      <a:pt x="6" y="3"/>
                    </a:moveTo>
                    <a:lnTo>
                      <a:pt x="6" y="11"/>
                    </a:lnTo>
                    <a:lnTo>
                      <a:pt x="3" y="7"/>
                    </a:lnTo>
                    <a:lnTo>
                      <a:pt x="1" y="23"/>
                    </a:lnTo>
                    <a:lnTo>
                      <a:pt x="0" y="42"/>
                    </a:lnTo>
                    <a:lnTo>
                      <a:pt x="4" y="61"/>
                    </a:lnTo>
                    <a:lnTo>
                      <a:pt x="17" y="65"/>
                    </a:lnTo>
                    <a:lnTo>
                      <a:pt x="15" y="61"/>
                    </a:lnTo>
                    <a:lnTo>
                      <a:pt x="22" y="67"/>
                    </a:lnTo>
                    <a:lnTo>
                      <a:pt x="27" y="74"/>
                    </a:lnTo>
                    <a:lnTo>
                      <a:pt x="40" y="81"/>
                    </a:lnTo>
                    <a:lnTo>
                      <a:pt x="55" y="84"/>
                    </a:lnTo>
                    <a:lnTo>
                      <a:pt x="73" y="84"/>
                    </a:lnTo>
                    <a:lnTo>
                      <a:pt x="81" y="84"/>
                    </a:lnTo>
                    <a:lnTo>
                      <a:pt x="75" y="80"/>
                    </a:lnTo>
                    <a:lnTo>
                      <a:pt x="71" y="70"/>
                    </a:lnTo>
                    <a:lnTo>
                      <a:pt x="77" y="78"/>
                    </a:lnTo>
                    <a:lnTo>
                      <a:pt x="84" y="83"/>
                    </a:lnTo>
                    <a:lnTo>
                      <a:pt x="90" y="87"/>
                    </a:lnTo>
                    <a:lnTo>
                      <a:pt x="97" y="86"/>
                    </a:lnTo>
                    <a:lnTo>
                      <a:pt x="93" y="82"/>
                    </a:lnTo>
                    <a:lnTo>
                      <a:pt x="88" y="77"/>
                    </a:lnTo>
                    <a:lnTo>
                      <a:pt x="95" y="81"/>
                    </a:lnTo>
                    <a:lnTo>
                      <a:pt x="102" y="87"/>
                    </a:lnTo>
                    <a:lnTo>
                      <a:pt x="124" y="90"/>
                    </a:lnTo>
                    <a:lnTo>
                      <a:pt x="146" y="95"/>
                    </a:lnTo>
                    <a:lnTo>
                      <a:pt x="153" y="97"/>
                    </a:lnTo>
                    <a:lnTo>
                      <a:pt x="148" y="138"/>
                    </a:lnTo>
                    <a:lnTo>
                      <a:pt x="152" y="176"/>
                    </a:lnTo>
                    <a:lnTo>
                      <a:pt x="152" y="213"/>
                    </a:lnTo>
                    <a:lnTo>
                      <a:pt x="166" y="217"/>
                    </a:lnTo>
                    <a:lnTo>
                      <a:pt x="179" y="220"/>
                    </a:lnTo>
                    <a:lnTo>
                      <a:pt x="194" y="219"/>
                    </a:lnTo>
                    <a:lnTo>
                      <a:pt x="193" y="165"/>
                    </a:lnTo>
                    <a:lnTo>
                      <a:pt x="193" y="121"/>
                    </a:lnTo>
                    <a:lnTo>
                      <a:pt x="191" y="96"/>
                    </a:lnTo>
                    <a:lnTo>
                      <a:pt x="193" y="81"/>
                    </a:lnTo>
                    <a:lnTo>
                      <a:pt x="191" y="63"/>
                    </a:lnTo>
                    <a:lnTo>
                      <a:pt x="189" y="52"/>
                    </a:lnTo>
                    <a:lnTo>
                      <a:pt x="178" y="43"/>
                    </a:lnTo>
                    <a:lnTo>
                      <a:pt x="165" y="35"/>
                    </a:lnTo>
                    <a:lnTo>
                      <a:pt x="139" y="25"/>
                    </a:lnTo>
                    <a:lnTo>
                      <a:pt x="118" y="17"/>
                    </a:lnTo>
                    <a:lnTo>
                      <a:pt x="106" y="16"/>
                    </a:lnTo>
                    <a:lnTo>
                      <a:pt x="101" y="25"/>
                    </a:lnTo>
                    <a:lnTo>
                      <a:pt x="86" y="34"/>
                    </a:lnTo>
                    <a:lnTo>
                      <a:pt x="95" y="26"/>
                    </a:lnTo>
                    <a:lnTo>
                      <a:pt x="100" y="22"/>
                    </a:lnTo>
                    <a:lnTo>
                      <a:pt x="102" y="15"/>
                    </a:lnTo>
                    <a:lnTo>
                      <a:pt x="102" y="13"/>
                    </a:lnTo>
                    <a:lnTo>
                      <a:pt x="98" y="13"/>
                    </a:lnTo>
                    <a:lnTo>
                      <a:pt x="95" y="16"/>
                    </a:lnTo>
                    <a:lnTo>
                      <a:pt x="93" y="19"/>
                    </a:lnTo>
                    <a:lnTo>
                      <a:pt x="86" y="23"/>
                    </a:lnTo>
                    <a:lnTo>
                      <a:pt x="92" y="16"/>
                    </a:lnTo>
                    <a:lnTo>
                      <a:pt x="95" y="11"/>
                    </a:lnTo>
                    <a:lnTo>
                      <a:pt x="93" y="7"/>
                    </a:lnTo>
                    <a:lnTo>
                      <a:pt x="88" y="6"/>
                    </a:lnTo>
                    <a:lnTo>
                      <a:pt x="81" y="13"/>
                    </a:lnTo>
                    <a:lnTo>
                      <a:pt x="75" y="19"/>
                    </a:lnTo>
                    <a:lnTo>
                      <a:pt x="82" y="7"/>
                    </a:lnTo>
                    <a:lnTo>
                      <a:pt x="84" y="3"/>
                    </a:lnTo>
                    <a:lnTo>
                      <a:pt x="84" y="0"/>
                    </a:lnTo>
                    <a:lnTo>
                      <a:pt x="78" y="1"/>
                    </a:lnTo>
                    <a:lnTo>
                      <a:pt x="73" y="7"/>
                    </a:lnTo>
                    <a:lnTo>
                      <a:pt x="68" y="10"/>
                    </a:lnTo>
                    <a:lnTo>
                      <a:pt x="50" y="12"/>
                    </a:lnTo>
                    <a:lnTo>
                      <a:pt x="50" y="7"/>
                    </a:lnTo>
                    <a:lnTo>
                      <a:pt x="45" y="4"/>
                    </a:lnTo>
                    <a:lnTo>
                      <a:pt x="45" y="11"/>
                    </a:lnTo>
                    <a:lnTo>
                      <a:pt x="39" y="13"/>
                    </a:lnTo>
                    <a:lnTo>
                      <a:pt x="27" y="15"/>
                    </a:lnTo>
                    <a:lnTo>
                      <a:pt x="28" y="7"/>
                    </a:lnTo>
                    <a:lnTo>
                      <a:pt x="24" y="7"/>
                    </a:lnTo>
                    <a:lnTo>
                      <a:pt x="23" y="15"/>
                    </a:lnTo>
                    <a:lnTo>
                      <a:pt x="17" y="15"/>
                    </a:lnTo>
                    <a:lnTo>
                      <a:pt x="9" y="13"/>
                    </a:lnTo>
                    <a:lnTo>
                      <a:pt x="9" y="7"/>
                    </a:lnTo>
                    <a:lnTo>
                      <a:pt x="6" y="3"/>
                    </a:lnTo>
                  </a:path>
                </a:pathLst>
              </a:custGeom>
              <a:solidFill>
                <a:srgbClr val="80808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299" name="Freeform 47"/>
              <p:cNvSpPr>
                <a:spLocks/>
              </p:cNvSpPr>
              <p:nvPr/>
            </p:nvSpPr>
            <p:spPr bwMode="auto">
              <a:xfrm>
                <a:off x="5236" y="1338"/>
                <a:ext cx="28" cy="17"/>
              </a:xfrm>
              <a:custGeom>
                <a:avLst/>
                <a:gdLst>
                  <a:gd name="T0" fmla="*/ 0 w 28"/>
                  <a:gd name="T1" fmla="*/ 0 h 17"/>
                  <a:gd name="T2" fmla="*/ 12 w 28"/>
                  <a:gd name="T3" fmla="*/ 16 h 17"/>
                  <a:gd name="T4" fmla="*/ 27 w 28"/>
                  <a:gd name="T5" fmla="*/ 11 h 17"/>
                  <a:gd name="T6" fmla="*/ 0 w 28"/>
                  <a:gd name="T7" fmla="*/ 0 h 17"/>
                  <a:gd name="T8" fmla="*/ 0 60000 65536"/>
                  <a:gd name="T9" fmla="*/ 0 60000 65536"/>
                  <a:gd name="T10" fmla="*/ 0 60000 65536"/>
                  <a:gd name="T11" fmla="*/ 0 60000 65536"/>
                  <a:gd name="T12" fmla="*/ 0 w 28"/>
                  <a:gd name="T13" fmla="*/ 0 h 17"/>
                  <a:gd name="T14" fmla="*/ 28 w 28"/>
                  <a:gd name="T15" fmla="*/ 17 h 17"/>
                </a:gdLst>
                <a:ahLst/>
                <a:cxnLst>
                  <a:cxn ang="T8">
                    <a:pos x="T0" y="T1"/>
                  </a:cxn>
                  <a:cxn ang="T9">
                    <a:pos x="T2" y="T3"/>
                  </a:cxn>
                  <a:cxn ang="T10">
                    <a:pos x="T4" y="T5"/>
                  </a:cxn>
                  <a:cxn ang="T11">
                    <a:pos x="T6" y="T7"/>
                  </a:cxn>
                </a:cxnLst>
                <a:rect l="T12" t="T13" r="T14" b="T15"/>
                <a:pathLst>
                  <a:path w="28" h="17">
                    <a:moveTo>
                      <a:pt x="0" y="0"/>
                    </a:moveTo>
                    <a:lnTo>
                      <a:pt x="12" y="16"/>
                    </a:lnTo>
                    <a:lnTo>
                      <a:pt x="27" y="11"/>
                    </a:lnTo>
                    <a:lnTo>
                      <a:pt x="0" y="0"/>
                    </a:lnTo>
                  </a:path>
                </a:pathLst>
              </a:custGeom>
              <a:solidFill>
                <a:srgbClr val="606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00" name="Freeform 48"/>
              <p:cNvSpPr>
                <a:spLocks/>
              </p:cNvSpPr>
              <p:nvPr/>
            </p:nvSpPr>
            <p:spPr bwMode="auto">
              <a:xfrm>
                <a:off x="5211" y="1328"/>
                <a:ext cx="17" cy="17"/>
              </a:xfrm>
              <a:custGeom>
                <a:avLst/>
                <a:gdLst>
                  <a:gd name="T0" fmla="*/ 0 w 17"/>
                  <a:gd name="T1" fmla="*/ 0 h 17"/>
                  <a:gd name="T2" fmla="*/ 4 w 17"/>
                  <a:gd name="T3" fmla="*/ 10 h 17"/>
                  <a:gd name="T4" fmla="*/ 16 w 17"/>
                  <a:gd name="T5" fmla="*/ 14 h 17"/>
                  <a:gd name="T6" fmla="*/ 4 w 17"/>
                  <a:gd name="T7" fmla="*/ 16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4" y="10"/>
                    </a:lnTo>
                    <a:lnTo>
                      <a:pt x="16" y="14"/>
                    </a:lnTo>
                    <a:lnTo>
                      <a:pt x="4" y="16"/>
                    </a:lnTo>
                    <a:lnTo>
                      <a:pt x="0" y="0"/>
                    </a:lnTo>
                  </a:path>
                </a:pathLst>
              </a:custGeom>
              <a:solidFill>
                <a:srgbClr val="606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01" name="Freeform 49"/>
              <p:cNvSpPr>
                <a:spLocks/>
              </p:cNvSpPr>
              <p:nvPr/>
            </p:nvSpPr>
            <p:spPr bwMode="auto">
              <a:xfrm>
                <a:off x="5277" y="1323"/>
                <a:ext cx="26" cy="18"/>
              </a:xfrm>
              <a:custGeom>
                <a:avLst/>
                <a:gdLst>
                  <a:gd name="T0" fmla="*/ 0 w 26"/>
                  <a:gd name="T1" fmla="*/ 0 h 18"/>
                  <a:gd name="T2" fmla="*/ 11 w 26"/>
                  <a:gd name="T3" fmla="*/ 1 h 18"/>
                  <a:gd name="T4" fmla="*/ 13 w 26"/>
                  <a:gd name="T5" fmla="*/ 3 h 18"/>
                  <a:gd name="T6" fmla="*/ 13 w 26"/>
                  <a:gd name="T7" fmla="*/ 8 h 18"/>
                  <a:gd name="T8" fmla="*/ 14 w 26"/>
                  <a:gd name="T9" fmla="*/ 14 h 18"/>
                  <a:gd name="T10" fmla="*/ 25 w 26"/>
                  <a:gd name="T11" fmla="*/ 17 h 18"/>
                  <a:gd name="T12" fmla="*/ 12 w 26"/>
                  <a:gd name="T13" fmla="*/ 16 h 18"/>
                  <a:gd name="T14" fmla="*/ 10 w 26"/>
                  <a:gd name="T15" fmla="*/ 5 h 18"/>
                  <a:gd name="T16" fmla="*/ 0 w 26"/>
                  <a:gd name="T17" fmla="*/ 0 h 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
                  <a:gd name="T28" fmla="*/ 0 h 18"/>
                  <a:gd name="T29" fmla="*/ 26 w 26"/>
                  <a:gd name="T30" fmla="*/ 18 h 1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 h="18">
                    <a:moveTo>
                      <a:pt x="0" y="0"/>
                    </a:moveTo>
                    <a:lnTo>
                      <a:pt x="11" y="1"/>
                    </a:lnTo>
                    <a:lnTo>
                      <a:pt x="13" y="3"/>
                    </a:lnTo>
                    <a:lnTo>
                      <a:pt x="13" y="8"/>
                    </a:lnTo>
                    <a:lnTo>
                      <a:pt x="14" y="14"/>
                    </a:lnTo>
                    <a:lnTo>
                      <a:pt x="25" y="17"/>
                    </a:lnTo>
                    <a:lnTo>
                      <a:pt x="12" y="16"/>
                    </a:lnTo>
                    <a:lnTo>
                      <a:pt x="10" y="5"/>
                    </a:lnTo>
                    <a:lnTo>
                      <a:pt x="0" y="0"/>
                    </a:lnTo>
                  </a:path>
                </a:pathLst>
              </a:custGeom>
              <a:solidFill>
                <a:srgbClr val="606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02" name="Freeform 50"/>
              <p:cNvSpPr>
                <a:spLocks/>
              </p:cNvSpPr>
              <p:nvPr/>
            </p:nvSpPr>
            <p:spPr bwMode="auto">
              <a:xfrm>
                <a:off x="5303" y="1361"/>
                <a:ext cx="80" cy="27"/>
              </a:xfrm>
              <a:custGeom>
                <a:avLst/>
                <a:gdLst>
                  <a:gd name="T0" fmla="*/ 0 w 80"/>
                  <a:gd name="T1" fmla="*/ 0 h 27"/>
                  <a:gd name="T2" fmla="*/ 19 w 80"/>
                  <a:gd name="T3" fmla="*/ 1 h 27"/>
                  <a:gd name="T4" fmla="*/ 40 w 80"/>
                  <a:gd name="T5" fmla="*/ 8 h 27"/>
                  <a:gd name="T6" fmla="*/ 56 w 80"/>
                  <a:gd name="T7" fmla="*/ 8 h 27"/>
                  <a:gd name="T8" fmla="*/ 68 w 80"/>
                  <a:gd name="T9" fmla="*/ 12 h 27"/>
                  <a:gd name="T10" fmla="*/ 73 w 80"/>
                  <a:gd name="T11" fmla="*/ 21 h 27"/>
                  <a:gd name="T12" fmla="*/ 79 w 80"/>
                  <a:gd name="T13" fmla="*/ 26 h 27"/>
                  <a:gd name="T14" fmla="*/ 73 w 80"/>
                  <a:gd name="T15" fmla="*/ 24 h 27"/>
                  <a:gd name="T16" fmla="*/ 68 w 80"/>
                  <a:gd name="T17" fmla="*/ 14 h 27"/>
                  <a:gd name="T18" fmla="*/ 50 w 80"/>
                  <a:gd name="T19" fmla="*/ 10 h 27"/>
                  <a:gd name="T20" fmla="*/ 40 w 80"/>
                  <a:gd name="T21" fmla="*/ 10 h 27"/>
                  <a:gd name="T22" fmla="*/ 32 w 80"/>
                  <a:gd name="T23" fmla="*/ 8 h 27"/>
                  <a:gd name="T24" fmla="*/ 19 w 80"/>
                  <a:gd name="T25" fmla="*/ 3 h 27"/>
                  <a:gd name="T26" fmla="*/ 0 w 80"/>
                  <a:gd name="T27" fmla="*/ 0 h 2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0"/>
                  <a:gd name="T43" fmla="*/ 0 h 27"/>
                  <a:gd name="T44" fmla="*/ 80 w 80"/>
                  <a:gd name="T45" fmla="*/ 27 h 2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0" h="27">
                    <a:moveTo>
                      <a:pt x="0" y="0"/>
                    </a:moveTo>
                    <a:lnTo>
                      <a:pt x="19" y="1"/>
                    </a:lnTo>
                    <a:lnTo>
                      <a:pt x="40" y="8"/>
                    </a:lnTo>
                    <a:lnTo>
                      <a:pt x="56" y="8"/>
                    </a:lnTo>
                    <a:lnTo>
                      <a:pt x="68" y="12"/>
                    </a:lnTo>
                    <a:lnTo>
                      <a:pt x="73" y="21"/>
                    </a:lnTo>
                    <a:lnTo>
                      <a:pt x="79" y="26"/>
                    </a:lnTo>
                    <a:lnTo>
                      <a:pt x="73" y="24"/>
                    </a:lnTo>
                    <a:lnTo>
                      <a:pt x="68" y="14"/>
                    </a:lnTo>
                    <a:lnTo>
                      <a:pt x="50" y="10"/>
                    </a:lnTo>
                    <a:lnTo>
                      <a:pt x="40" y="10"/>
                    </a:lnTo>
                    <a:lnTo>
                      <a:pt x="32" y="8"/>
                    </a:lnTo>
                    <a:lnTo>
                      <a:pt x="19" y="3"/>
                    </a:lnTo>
                    <a:lnTo>
                      <a:pt x="0" y="0"/>
                    </a:lnTo>
                  </a:path>
                </a:pathLst>
              </a:custGeom>
              <a:solidFill>
                <a:srgbClr val="606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03" name="Freeform 51"/>
              <p:cNvSpPr>
                <a:spLocks/>
              </p:cNvSpPr>
              <p:nvPr/>
            </p:nvSpPr>
            <p:spPr bwMode="auto">
              <a:xfrm>
                <a:off x="5222" y="1021"/>
                <a:ext cx="71" cy="98"/>
              </a:xfrm>
              <a:custGeom>
                <a:avLst/>
                <a:gdLst>
                  <a:gd name="T0" fmla="*/ 46 w 71"/>
                  <a:gd name="T1" fmla="*/ 3 h 98"/>
                  <a:gd name="T2" fmla="*/ 53 w 71"/>
                  <a:gd name="T3" fmla="*/ 8 h 98"/>
                  <a:gd name="T4" fmla="*/ 56 w 71"/>
                  <a:gd name="T5" fmla="*/ 16 h 98"/>
                  <a:gd name="T6" fmla="*/ 59 w 71"/>
                  <a:gd name="T7" fmla="*/ 23 h 98"/>
                  <a:gd name="T8" fmla="*/ 61 w 71"/>
                  <a:gd name="T9" fmla="*/ 27 h 98"/>
                  <a:gd name="T10" fmla="*/ 61 w 71"/>
                  <a:gd name="T11" fmla="*/ 31 h 98"/>
                  <a:gd name="T12" fmla="*/ 60 w 71"/>
                  <a:gd name="T13" fmla="*/ 36 h 98"/>
                  <a:gd name="T14" fmla="*/ 63 w 71"/>
                  <a:gd name="T15" fmla="*/ 40 h 98"/>
                  <a:gd name="T16" fmla="*/ 67 w 71"/>
                  <a:gd name="T17" fmla="*/ 50 h 98"/>
                  <a:gd name="T18" fmla="*/ 70 w 71"/>
                  <a:gd name="T19" fmla="*/ 56 h 98"/>
                  <a:gd name="T20" fmla="*/ 70 w 71"/>
                  <a:gd name="T21" fmla="*/ 57 h 98"/>
                  <a:gd name="T22" fmla="*/ 69 w 71"/>
                  <a:gd name="T23" fmla="*/ 60 h 98"/>
                  <a:gd name="T24" fmla="*/ 67 w 71"/>
                  <a:gd name="T25" fmla="*/ 60 h 98"/>
                  <a:gd name="T26" fmla="*/ 64 w 71"/>
                  <a:gd name="T27" fmla="*/ 60 h 98"/>
                  <a:gd name="T28" fmla="*/ 63 w 71"/>
                  <a:gd name="T29" fmla="*/ 61 h 98"/>
                  <a:gd name="T30" fmla="*/ 63 w 71"/>
                  <a:gd name="T31" fmla="*/ 65 h 98"/>
                  <a:gd name="T32" fmla="*/ 63 w 71"/>
                  <a:gd name="T33" fmla="*/ 70 h 98"/>
                  <a:gd name="T34" fmla="*/ 62 w 71"/>
                  <a:gd name="T35" fmla="*/ 72 h 98"/>
                  <a:gd name="T36" fmla="*/ 63 w 71"/>
                  <a:gd name="T37" fmla="*/ 76 h 98"/>
                  <a:gd name="T38" fmla="*/ 60 w 71"/>
                  <a:gd name="T39" fmla="*/ 79 h 98"/>
                  <a:gd name="T40" fmla="*/ 59 w 71"/>
                  <a:gd name="T41" fmla="*/ 85 h 98"/>
                  <a:gd name="T42" fmla="*/ 57 w 71"/>
                  <a:gd name="T43" fmla="*/ 87 h 98"/>
                  <a:gd name="T44" fmla="*/ 54 w 71"/>
                  <a:gd name="T45" fmla="*/ 87 h 98"/>
                  <a:gd name="T46" fmla="*/ 49 w 71"/>
                  <a:gd name="T47" fmla="*/ 86 h 98"/>
                  <a:gd name="T48" fmla="*/ 44 w 71"/>
                  <a:gd name="T49" fmla="*/ 85 h 98"/>
                  <a:gd name="T50" fmla="*/ 45 w 71"/>
                  <a:gd name="T51" fmla="*/ 97 h 98"/>
                  <a:gd name="T52" fmla="*/ 7 w 71"/>
                  <a:gd name="T53" fmla="*/ 81 h 98"/>
                  <a:gd name="T54" fmla="*/ 11 w 71"/>
                  <a:gd name="T55" fmla="*/ 72 h 98"/>
                  <a:gd name="T56" fmla="*/ 9 w 71"/>
                  <a:gd name="T57" fmla="*/ 65 h 98"/>
                  <a:gd name="T58" fmla="*/ 0 w 71"/>
                  <a:gd name="T59" fmla="*/ 52 h 98"/>
                  <a:gd name="T60" fmla="*/ 0 w 71"/>
                  <a:gd name="T61" fmla="*/ 18 h 98"/>
                  <a:gd name="T62" fmla="*/ 7 w 71"/>
                  <a:gd name="T63" fmla="*/ 9 h 98"/>
                  <a:gd name="T64" fmla="*/ 15 w 71"/>
                  <a:gd name="T65" fmla="*/ 4 h 98"/>
                  <a:gd name="T66" fmla="*/ 24 w 71"/>
                  <a:gd name="T67" fmla="*/ 0 h 98"/>
                  <a:gd name="T68" fmla="*/ 36 w 71"/>
                  <a:gd name="T69" fmla="*/ 2 h 98"/>
                  <a:gd name="T70" fmla="*/ 46 w 71"/>
                  <a:gd name="T71" fmla="*/ 3 h 9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1"/>
                  <a:gd name="T109" fmla="*/ 0 h 98"/>
                  <a:gd name="T110" fmla="*/ 71 w 71"/>
                  <a:gd name="T111" fmla="*/ 98 h 9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1" h="98">
                    <a:moveTo>
                      <a:pt x="46" y="3"/>
                    </a:moveTo>
                    <a:lnTo>
                      <a:pt x="53" y="8"/>
                    </a:lnTo>
                    <a:lnTo>
                      <a:pt x="56" y="16"/>
                    </a:lnTo>
                    <a:lnTo>
                      <a:pt x="59" y="23"/>
                    </a:lnTo>
                    <a:lnTo>
                      <a:pt x="61" y="27"/>
                    </a:lnTo>
                    <a:lnTo>
                      <a:pt x="61" y="31"/>
                    </a:lnTo>
                    <a:lnTo>
                      <a:pt x="60" y="36"/>
                    </a:lnTo>
                    <a:lnTo>
                      <a:pt x="63" y="40"/>
                    </a:lnTo>
                    <a:lnTo>
                      <a:pt x="67" y="50"/>
                    </a:lnTo>
                    <a:lnTo>
                      <a:pt x="70" y="56"/>
                    </a:lnTo>
                    <a:lnTo>
                      <a:pt x="70" y="57"/>
                    </a:lnTo>
                    <a:lnTo>
                      <a:pt x="69" y="60"/>
                    </a:lnTo>
                    <a:lnTo>
                      <a:pt x="67" y="60"/>
                    </a:lnTo>
                    <a:lnTo>
                      <a:pt x="64" y="60"/>
                    </a:lnTo>
                    <a:lnTo>
                      <a:pt x="63" y="61"/>
                    </a:lnTo>
                    <a:lnTo>
                      <a:pt x="63" y="65"/>
                    </a:lnTo>
                    <a:lnTo>
                      <a:pt x="63" y="70"/>
                    </a:lnTo>
                    <a:lnTo>
                      <a:pt x="62" y="72"/>
                    </a:lnTo>
                    <a:lnTo>
                      <a:pt x="63" y="76"/>
                    </a:lnTo>
                    <a:lnTo>
                      <a:pt x="60" y="79"/>
                    </a:lnTo>
                    <a:lnTo>
                      <a:pt x="59" y="85"/>
                    </a:lnTo>
                    <a:lnTo>
                      <a:pt x="57" y="87"/>
                    </a:lnTo>
                    <a:lnTo>
                      <a:pt x="54" y="87"/>
                    </a:lnTo>
                    <a:lnTo>
                      <a:pt x="49" y="86"/>
                    </a:lnTo>
                    <a:lnTo>
                      <a:pt x="44" y="85"/>
                    </a:lnTo>
                    <a:lnTo>
                      <a:pt x="45" y="97"/>
                    </a:lnTo>
                    <a:lnTo>
                      <a:pt x="7" y="81"/>
                    </a:lnTo>
                    <a:lnTo>
                      <a:pt x="11" y="72"/>
                    </a:lnTo>
                    <a:lnTo>
                      <a:pt x="9" y="65"/>
                    </a:lnTo>
                    <a:lnTo>
                      <a:pt x="0" y="52"/>
                    </a:lnTo>
                    <a:lnTo>
                      <a:pt x="0" y="18"/>
                    </a:lnTo>
                    <a:lnTo>
                      <a:pt x="7" y="9"/>
                    </a:lnTo>
                    <a:lnTo>
                      <a:pt x="15" y="4"/>
                    </a:lnTo>
                    <a:lnTo>
                      <a:pt x="24" y="0"/>
                    </a:lnTo>
                    <a:lnTo>
                      <a:pt x="36" y="2"/>
                    </a:lnTo>
                    <a:lnTo>
                      <a:pt x="46" y="3"/>
                    </a:lnTo>
                  </a:path>
                </a:pathLst>
              </a:custGeom>
              <a:solidFill>
                <a:srgbClr val="FFC080"/>
              </a:solidFill>
              <a:ln w="12700" cap="rnd" cmpd="sng">
                <a:solidFill>
                  <a:srgbClr val="402000"/>
                </a:solidFill>
                <a:prstDash val="solid"/>
                <a:round/>
                <a:headEnd/>
                <a:tailEnd/>
              </a:ln>
            </p:spPr>
            <p:txBody>
              <a:bodyPr/>
              <a:lstStyle/>
              <a:p>
                <a:endParaRPr lang="en-IN"/>
              </a:p>
            </p:txBody>
          </p:sp>
          <p:sp>
            <p:nvSpPr>
              <p:cNvPr id="10304" name="Freeform 52"/>
              <p:cNvSpPr>
                <a:spLocks/>
              </p:cNvSpPr>
              <p:nvPr/>
            </p:nvSpPr>
            <p:spPr bwMode="auto">
              <a:xfrm>
                <a:off x="5284" y="1079"/>
                <a:ext cx="17" cy="17"/>
              </a:xfrm>
              <a:custGeom>
                <a:avLst/>
                <a:gdLst>
                  <a:gd name="T0" fmla="*/ 16 w 17"/>
                  <a:gd name="T1" fmla="*/ 16 h 17"/>
                  <a:gd name="T2" fmla="*/ 12 w 17"/>
                  <a:gd name="T3" fmla="*/ 16 h 17"/>
                  <a:gd name="T4" fmla="*/ 3 w 17"/>
                  <a:gd name="T5" fmla="*/ 16 h 17"/>
                  <a:gd name="T6" fmla="*/ 0 w 17"/>
                  <a:gd name="T7" fmla="*/ 16 h 17"/>
                  <a:gd name="T8" fmla="*/ 0 w 17"/>
                  <a:gd name="T9" fmla="*/ 0 h 17"/>
                  <a:gd name="T10" fmla="*/ 3 w 17"/>
                  <a:gd name="T11" fmla="*/ 0 h 17"/>
                  <a:gd name="T12" fmla="*/ 16 w 17"/>
                  <a:gd name="T13" fmla="*/ 16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16" y="16"/>
                    </a:moveTo>
                    <a:lnTo>
                      <a:pt x="12" y="16"/>
                    </a:lnTo>
                    <a:lnTo>
                      <a:pt x="3" y="16"/>
                    </a:lnTo>
                    <a:lnTo>
                      <a:pt x="0" y="16"/>
                    </a:lnTo>
                    <a:lnTo>
                      <a:pt x="0" y="0"/>
                    </a:lnTo>
                    <a:lnTo>
                      <a:pt x="3" y="0"/>
                    </a:lnTo>
                    <a:lnTo>
                      <a:pt x="16" y="16"/>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05" name="Freeform 53"/>
              <p:cNvSpPr>
                <a:spLocks/>
              </p:cNvSpPr>
              <p:nvPr/>
            </p:nvSpPr>
            <p:spPr bwMode="auto">
              <a:xfrm>
                <a:off x="5283" y="1075"/>
                <a:ext cx="17" cy="17"/>
              </a:xfrm>
              <a:custGeom>
                <a:avLst/>
                <a:gdLst>
                  <a:gd name="T0" fmla="*/ 16 w 17"/>
                  <a:gd name="T1" fmla="*/ 0 h 17"/>
                  <a:gd name="T2" fmla="*/ 8 w 17"/>
                  <a:gd name="T3" fmla="*/ 6 h 17"/>
                  <a:gd name="T4" fmla="*/ 8 w 17"/>
                  <a:gd name="T5" fmla="*/ 9 h 17"/>
                  <a:gd name="T6" fmla="*/ 0 w 17"/>
                  <a:gd name="T7" fmla="*/ 16 h 17"/>
                  <a:gd name="T8" fmla="*/ 0 w 17"/>
                  <a:gd name="T9" fmla="*/ 6 h 17"/>
                  <a:gd name="T10" fmla="*/ 0 w 17"/>
                  <a:gd name="T11" fmla="*/ 3 h 17"/>
                  <a:gd name="T12" fmla="*/ 16 w 17"/>
                  <a:gd name="T13" fmla="*/ 0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16" y="0"/>
                    </a:moveTo>
                    <a:lnTo>
                      <a:pt x="8" y="6"/>
                    </a:lnTo>
                    <a:lnTo>
                      <a:pt x="8" y="9"/>
                    </a:lnTo>
                    <a:lnTo>
                      <a:pt x="0" y="16"/>
                    </a:lnTo>
                    <a:lnTo>
                      <a:pt x="0" y="6"/>
                    </a:lnTo>
                    <a:lnTo>
                      <a:pt x="0" y="3"/>
                    </a:lnTo>
                    <a:lnTo>
                      <a:pt x="16"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06" name="Freeform 54"/>
              <p:cNvSpPr>
                <a:spLocks/>
              </p:cNvSpPr>
              <p:nvPr/>
            </p:nvSpPr>
            <p:spPr bwMode="auto">
              <a:xfrm>
                <a:off x="5280" y="1064"/>
                <a:ext cx="17" cy="17"/>
              </a:xfrm>
              <a:custGeom>
                <a:avLst/>
                <a:gdLst>
                  <a:gd name="T0" fmla="*/ 0 w 17"/>
                  <a:gd name="T1" fmla="*/ 0 h 17"/>
                  <a:gd name="T2" fmla="*/ 16 w 17"/>
                  <a:gd name="T3" fmla="*/ 10 h 17"/>
                  <a:gd name="T4" fmla="*/ 16 w 17"/>
                  <a:gd name="T5" fmla="*/ 16 h 17"/>
                  <a:gd name="T6" fmla="*/ 8 w 17"/>
                  <a:gd name="T7" fmla="*/ 12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16" y="10"/>
                    </a:lnTo>
                    <a:lnTo>
                      <a:pt x="16" y="16"/>
                    </a:lnTo>
                    <a:lnTo>
                      <a:pt x="8" y="12"/>
                    </a:lnTo>
                    <a:lnTo>
                      <a:pt x="0"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07" name="Freeform 55"/>
              <p:cNvSpPr>
                <a:spLocks/>
              </p:cNvSpPr>
              <p:nvPr/>
            </p:nvSpPr>
            <p:spPr bwMode="auto">
              <a:xfrm>
                <a:off x="5272" y="1057"/>
                <a:ext cx="17" cy="17"/>
              </a:xfrm>
              <a:custGeom>
                <a:avLst/>
                <a:gdLst>
                  <a:gd name="T0" fmla="*/ 16 w 17"/>
                  <a:gd name="T1" fmla="*/ 0 h 17"/>
                  <a:gd name="T2" fmla="*/ 13 w 17"/>
                  <a:gd name="T3" fmla="*/ 9 h 17"/>
                  <a:gd name="T4" fmla="*/ 13 w 17"/>
                  <a:gd name="T5" fmla="*/ 11 h 17"/>
                  <a:gd name="T6" fmla="*/ 13 w 17"/>
                  <a:gd name="T7" fmla="*/ 13 h 17"/>
                  <a:gd name="T8" fmla="*/ 14 w 17"/>
                  <a:gd name="T9" fmla="*/ 16 h 17"/>
                  <a:gd name="T10" fmla="*/ 11 w 17"/>
                  <a:gd name="T11" fmla="*/ 11 h 17"/>
                  <a:gd name="T12" fmla="*/ 8 w 17"/>
                  <a:gd name="T13" fmla="*/ 11 h 17"/>
                  <a:gd name="T14" fmla="*/ 5 w 17"/>
                  <a:gd name="T15" fmla="*/ 9 h 17"/>
                  <a:gd name="T16" fmla="*/ 0 w 17"/>
                  <a:gd name="T17" fmla="*/ 9 h 17"/>
                  <a:gd name="T18" fmla="*/ 5 w 17"/>
                  <a:gd name="T19" fmla="*/ 2 h 17"/>
                  <a:gd name="T20" fmla="*/ 16 w 17"/>
                  <a:gd name="T21" fmla="*/ 0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17"/>
                  <a:gd name="T35" fmla="*/ 17 w 17"/>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17">
                    <a:moveTo>
                      <a:pt x="16" y="0"/>
                    </a:moveTo>
                    <a:lnTo>
                      <a:pt x="13" y="9"/>
                    </a:lnTo>
                    <a:lnTo>
                      <a:pt x="13" y="11"/>
                    </a:lnTo>
                    <a:lnTo>
                      <a:pt x="13" y="13"/>
                    </a:lnTo>
                    <a:lnTo>
                      <a:pt x="14" y="16"/>
                    </a:lnTo>
                    <a:lnTo>
                      <a:pt x="11" y="11"/>
                    </a:lnTo>
                    <a:lnTo>
                      <a:pt x="8" y="11"/>
                    </a:lnTo>
                    <a:lnTo>
                      <a:pt x="5" y="9"/>
                    </a:lnTo>
                    <a:lnTo>
                      <a:pt x="0" y="9"/>
                    </a:lnTo>
                    <a:lnTo>
                      <a:pt x="5" y="2"/>
                    </a:lnTo>
                    <a:lnTo>
                      <a:pt x="16"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08" name="Freeform 56"/>
              <p:cNvSpPr>
                <a:spLocks/>
              </p:cNvSpPr>
              <p:nvPr/>
            </p:nvSpPr>
            <p:spPr bwMode="auto">
              <a:xfrm>
                <a:off x="5269" y="1048"/>
                <a:ext cx="17" cy="17"/>
              </a:xfrm>
              <a:custGeom>
                <a:avLst/>
                <a:gdLst>
                  <a:gd name="T0" fmla="*/ 16 w 17"/>
                  <a:gd name="T1" fmla="*/ 9 h 17"/>
                  <a:gd name="T2" fmla="*/ 15 w 17"/>
                  <a:gd name="T3" fmla="*/ 13 h 17"/>
                  <a:gd name="T4" fmla="*/ 13 w 17"/>
                  <a:gd name="T5" fmla="*/ 16 h 17"/>
                  <a:gd name="T6" fmla="*/ 10 w 17"/>
                  <a:gd name="T7" fmla="*/ 11 h 17"/>
                  <a:gd name="T8" fmla="*/ 8 w 17"/>
                  <a:gd name="T9" fmla="*/ 9 h 17"/>
                  <a:gd name="T10" fmla="*/ 1 w 17"/>
                  <a:gd name="T11" fmla="*/ 9 h 17"/>
                  <a:gd name="T12" fmla="*/ 0 w 17"/>
                  <a:gd name="T13" fmla="*/ 9 h 17"/>
                  <a:gd name="T14" fmla="*/ 3 w 17"/>
                  <a:gd name="T15" fmla="*/ 4 h 17"/>
                  <a:gd name="T16" fmla="*/ 6 w 17"/>
                  <a:gd name="T17" fmla="*/ 2 h 17"/>
                  <a:gd name="T18" fmla="*/ 6 w 17"/>
                  <a:gd name="T19" fmla="*/ 0 h 17"/>
                  <a:gd name="T20" fmla="*/ 8 w 17"/>
                  <a:gd name="T21" fmla="*/ 4 h 17"/>
                  <a:gd name="T22" fmla="*/ 8 w 17"/>
                  <a:gd name="T23" fmla="*/ 2 h 17"/>
                  <a:gd name="T24" fmla="*/ 10 w 17"/>
                  <a:gd name="T25" fmla="*/ 4 h 17"/>
                  <a:gd name="T26" fmla="*/ 13 w 17"/>
                  <a:gd name="T27" fmla="*/ 4 h 17"/>
                  <a:gd name="T28" fmla="*/ 16 w 17"/>
                  <a:gd name="T29" fmla="*/ 9 h 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17"/>
                  <a:gd name="T47" fmla="*/ 17 w 17"/>
                  <a:gd name="T48" fmla="*/ 17 h 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17">
                    <a:moveTo>
                      <a:pt x="16" y="9"/>
                    </a:moveTo>
                    <a:lnTo>
                      <a:pt x="15" y="13"/>
                    </a:lnTo>
                    <a:lnTo>
                      <a:pt x="13" y="16"/>
                    </a:lnTo>
                    <a:lnTo>
                      <a:pt x="10" y="11"/>
                    </a:lnTo>
                    <a:lnTo>
                      <a:pt x="8" y="9"/>
                    </a:lnTo>
                    <a:lnTo>
                      <a:pt x="1" y="9"/>
                    </a:lnTo>
                    <a:lnTo>
                      <a:pt x="0" y="9"/>
                    </a:lnTo>
                    <a:lnTo>
                      <a:pt x="3" y="4"/>
                    </a:lnTo>
                    <a:lnTo>
                      <a:pt x="6" y="2"/>
                    </a:lnTo>
                    <a:lnTo>
                      <a:pt x="6" y="0"/>
                    </a:lnTo>
                    <a:lnTo>
                      <a:pt x="8" y="4"/>
                    </a:lnTo>
                    <a:lnTo>
                      <a:pt x="8" y="2"/>
                    </a:lnTo>
                    <a:lnTo>
                      <a:pt x="10" y="4"/>
                    </a:lnTo>
                    <a:lnTo>
                      <a:pt x="13" y="4"/>
                    </a:lnTo>
                    <a:lnTo>
                      <a:pt x="16" y="9"/>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09" name="Freeform 57"/>
              <p:cNvSpPr>
                <a:spLocks/>
              </p:cNvSpPr>
              <p:nvPr/>
            </p:nvSpPr>
            <p:spPr bwMode="auto">
              <a:xfrm>
                <a:off x="5246" y="1056"/>
                <a:ext cx="17" cy="20"/>
              </a:xfrm>
              <a:custGeom>
                <a:avLst/>
                <a:gdLst>
                  <a:gd name="T0" fmla="*/ 16 w 17"/>
                  <a:gd name="T1" fmla="*/ 3 h 20"/>
                  <a:gd name="T2" fmla="*/ 10 w 17"/>
                  <a:gd name="T3" fmla="*/ 1 h 20"/>
                  <a:gd name="T4" fmla="*/ 5 w 17"/>
                  <a:gd name="T5" fmla="*/ 2 h 20"/>
                  <a:gd name="T6" fmla="*/ 2 w 17"/>
                  <a:gd name="T7" fmla="*/ 5 h 20"/>
                  <a:gd name="T8" fmla="*/ 1 w 17"/>
                  <a:gd name="T9" fmla="*/ 9 h 20"/>
                  <a:gd name="T10" fmla="*/ 2 w 17"/>
                  <a:gd name="T11" fmla="*/ 12 h 20"/>
                  <a:gd name="T12" fmla="*/ 4 w 17"/>
                  <a:gd name="T13" fmla="*/ 15 h 20"/>
                  <a:gd name="T14" fmla="*/ 7 w 17"/>
                  <a:gd name="T15" fmla="*/ 11 h 20"/>
                  <a:gd name="T16" fmla="*/ 10 w 17"/>
                  <a:gd name="T17" fmla="*/ 8 h 20"/>
                  <a:gd name="T18" fmla="*/ 14 w 17"/>
                  <a:gd name="T19" fmla="*/ 7 h 20"/>
                  <a:gd name="T20" fmla="*/ 10 w 17"/>
                  <a:gd name="T21" fmla="*/ 10 h 20"/>
                  <a:gd name="T22" fmla="*/ 5 w 17"/>
                  <a:gd name="T23" fmla="*/ 13 h 20"/>
                  <a:gd name="T24" fmla="*/ 5 w 17"/>
                  <a:gd name="T25" fmla="*/ 15 h 20"/>
                  <a:gd name="T26" fmla="*/ 7 w 17"/>
                  <a:gd name="T27" fmla="*/ 18 h 20"/>
                  <a:gd name="T28" fmla="*/ 10 w 17"/>
                  <a:gd name="T29" fmla="*/ 19 h 20"/>
                  <a:gd name="T30" fmla="*/ 4 w 17"/>
                  <a:gd name="T31" fmla="*/ 18 h 20"/>
                  <a:gd name="T32" fmla="*/ 0 w 17"/>
                  <a:gd name="T33" fmla="*/ 14 h 20"/>
                  <a:gd name="T34" fmla="*/ 0 w 17"/>
                  <a:gd name="T35" fmla="*/ 8 h 20"/>
                  <a:gd name="T36" fmla="*/ 0 w 17"/>
                  <a:gd name="T37" fmla="*/ 3 h 20"/>
                  <a:gd name="T38" fmla="*/ 4 w 17"/>
                  <a:gd name="T39" fmla="*/ 0 h 20"/>
                  <a:gd name="T40" fmla="*/ 8 w 17"/>
                  <a:gd name="T41" fmla="*/ 0 h 20"/>
                  <a:gd name="T42" fmla="*/ 13 w 17"/>
                  <a:gd name="T43" fmla="*/ 0 h 20"/>
                  <a:gd name="T44" fmla="*/ 16 w 17"/>
                  <a:gd name="T45" fmla="*/ 3 h 2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7"/>
                  <a:gd name="T70" fmla="*/ 0 h 20"/>
                  <a:gd name="T71" fmla="*/ 17 w 17"/>
                  <a:gd name="T72" fmla="*/ 20 h 2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7" h="20">
                    <a:moveTo>
                      <a:pt x="16" y="3"/>
                    </a:moveTo>
                    <a:lnTo>
                      <a:pt x="10" y="1"/>
                    </a:lnTo>
                    <a:lnTo>
                      <a:pt x="5" y="2"/>
                    </a:lnTo>
                    <a:lnTo>
                      <a:pt x="2" y="5"/>
                    </a:lnTo>
                    <a:lnTo>
                      <a:pt x="1" y="9"/>
                    </a:lnTo>
                    <a:lnTo>
                      <a:pt x="2" y="12"/>
                    </a:lnTo>
                    <a:lnTo>
                      <a:pt x="4" y="15"/>
                    </a:lnTo>
                    <a:lnTo>
                      <a:pt x="7" y="11"/>
                    </a:lnTo>
                    <a:lnTo>
                      <a:pt x="10" y="8"/>
                    </a:lnTo>
                    <a:lnTo>
                      <a:pt x="14" y="7"/>
                    </a:lnTo>
                    <a:lnTo>
                      <a:pt x="10" y="10"/>
                    </a:lnTo>
                    <a:lnTo>
                      <a:pt x="5" y="13"/>
                    </a:lnTo>
                    <a:lnTo>
                      <a:pt x="5" y="15"/>
                    </a:lnTo>
                    <a:lnTo>
                      <a:pt x="7" y="18"/>
                    </a:lnTo>
                    <a:lnTo>
                      <a:pt x="10" y="19"/>
                    </a:lnTo>
                    <a:lnTo>
                      <a:pt x="4" y="18"/>
                    </a:lnTo>
                    <a:lnTo>
                      <a:pt x="0" y="14"/>
                    </a:lnTo>
                    <a:lnTo>
                      <a:pt x="0" y="8"/>
                    </a:lnTo>
                    <a:lnTo>
                      <a:pt x="0" y="3"/>
                    </a:lnTo>
                    <a:lnTo>
                      <a:pt x="4" y="0"/>
                    </a:lnTo>
                    <a:lnTo>
                      <a:pt x="8" y="0"/>
                    </a:lnTo>
                    <a:lnTo>
                      <a:pt x="13" y="0"/>
                    </a:lnTo>
                    <a:lnTo>
                      <a:pt x="16" y="3"/>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10" name="Freeform 58"/>
              <p:cNvSpPr>
                <a:spLocks/>
              </p:cNvSpPr>
              <p:nvPr/>
            </p:nvSpPr>
            <p:spPr bwMode="auto">
              <a:xfrm>
                <a:off x="5243" y="1052"/>
                <a:ext cx="17" cy="27"/>
              </a:xfrm>
              <a:custGeom>
                <a:avLst/>
                <a:gdLst>
                  <a:gd name="T0" fmla="*/ 16 w 17"/>
                  <a:gd name="T1" fmla="*/ 6 h 27"/>
                  <a:gd name="T2" fmla="*/ 13 w 17"/>
                  <a:gd name="T3" fmla="*/ 2 h 27"/>
                  <a:gd name="T4" fmla="*/ 9 w 17"/>
                  <a:gd name="T5" fmla="*/ 1 h 27"/>
                  <a:gd name="T6" fmla="*/ 4 w 17"/>
                  <a:gd name="T7" fmla="*/ 2 h 27"/>
                  <a:gd name="T8" fmla="*/ 2 w 17"/>
                  <a:gd name="T9" fmla="*/ 4 h 27"/>
                  <a:gd name="T10" fmla="*/ 1 w 17"/>
                  <a:gd name="T11" fmla="*/ 8 h 27"/>
                  <a:gd name="T12" fmla="*/ 1 w 17"/>
                  <a:gd name="T13" fmla="*/ 11 h 27"/>
                  <a:gd name="T14" fmla="*/ 2 w 17"/>
                  <a:gd name="T15" fmla="*/ 13 h 27"/>
                  <a:gd name="T16" fmla="*/ 2 w 17"/>
                  <a:gd name="T17" fmla="*/ 17 h 27"/>
                  <a:gd name="T18" fmla="*/ 2 w 17"/>
                  <a:gd name="T19" fmla="*/ 21 h 27"/>
                  <a:gd name="T20" fmla="*/ 6 w 17"/>
                  <a:gd name="T21" fmla="*/ 24 h 27"/>
                  <a:gd name="T22" fmla="*/ 8 w 17"/>
                  <a:gd name="T23" fmla="*/ 24 h 27"/>
                  <a:gd name="T24" fmla="*/ 10 w 17"/>
                  <a:gd name="T25" fmla="*/ 24 h 27"/>
                  <a:gd name="T26" fmla="*/ 10 w 17"/>
                  <a:gd name="T27" fmla="*/ 25 h 27"/>
                  <a:gd name="T28" fmla="*/ 8 w 17"/>
                  <a:gd name="T29" fmla="*/ 26 h 27"/>
                  <a:gd name="T30" fmla="*/ 6 w 17"/>
                  <a:gd name="T31" fmla="*/ 26 h 27"/>
                  <a:gd name="T32" fmla="*/ 3 w 17"/>
                  <a:gd name="T33" fmla="*/ 25 h 27"/>
                  <a:gd name="T34" fmla="*/ 1 w 17"/>
                  <a:gd name="T35" fmla="*/ 21 h 27"/>
                  <a:gd name="T36" fmla="*/ 0 w 17"/>
                  <a:gd name="T37" fmla="*/ 14 h 27"/>
                  <a:gd name="T38" fmla="*/ 0 w 17"/>
                  <a:gd name="T39" fmla="*/ 10 h 27"/>
                  <a:gd name="T40" fmla="*/ 0 w 17"/>
                  <a:gd name="T41" fmla="*/ 7 h 27"/>
                  <a:gd name="T42" fmla="*/ 1 w 17"/>
                  <a:gd name="T43" fmla="*/ 4 h 27"/>
                  <a:gd name="T44" fmla="*/ 3 w 17"/>
                  <a:gd name="T45" fmla="*/ 1 h 27"/>
                  <a:gd name="T46" fmla="*/ 7 w 17"/>
                  <a:gd name="T47" fmla="*/ 0 h 27"/>
                  <a:gd name="T48" fmla="*/ 13 w 17"/>
                  <a:gd name="T49" fmla="*/ 0 h 27"/>
                  <a:gd name="T50" fmla="*/ 15 w 17"/>
                  <a:gd name="T51" fmla="*/ 2 h 27"/>
                  <a:gd name="T52" fmla="*/ 16 w 17"/>
                  <a:gd name="T53" fmla="*/ 6 h 2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7"/>
                  <a:gd name="T82" fmla="*/ 0 h 27"/>
                  <a:gd name="T83" fmla="*/ 17 w 17"/>
                  <a:gd name="T84" fmla="*/ 27 h 2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7" h="27">
                    <a:moveTo>
                      <a:pt x="16" y="6"/>
                    </a:moveTo>
                    <a:lnTo>
                      <a:pt x="13" y="2"/>
                    </a:lnTo>
                    <a:lnTo>
                      <a:pt x="9" y="1"/>
                    </a:lnTo>
                    <a:lnTo>
                      <a:pt x="4" y="2"/>
                    </a:lnTo>
                    <a:lnTo>
                      <a:pt x="2" y="4"/>
                    </a:lnTo>
                    <a:lnTo>
                      <a:pt x="1" y="8"/>
                    </a:lnTo>
                    <a:lnTo>
                      <a:pt x="1" y="11"/>
                    </a:lnTo>
                    <a:lnTo>
                      <a:pt x="2" y="13"/>
                    </a:lnTo>
                    <a:lnTo>
                      <a:pt x="2" y="17"/>
                    </a:lnTo>
                    <a:lnTo>
                      <a:pt x="2" y="21"/>
                    </a:lnTo>
                    <a:lnTo>
                      <a:pt x="6" y="24"/>
                    </a:lnTo>
                    <a:lnTo>
                      <a:pt x="8" y="24"/>
                    </a:lnTo>
                    <a:lnTo>
                      <a:pt x="10" y="24"/>
                    </a:lnTo>
                    <a:lnTo>
                      <a:pt x="10" y="25"/>
                    </a:lnTo>
                    <a:lnTo>
                      <a:pt x="8" y="26"/>
                    </a:lnTo>
                    <a:lnTo>
                      <a:pt x="6" y="26"/>
                    </a:lnTo>
                    <a:lnTo>
                      <a:pt x="3" y="25"/>
                    </a:lnTo>
                    <a:lnTo>
                      <a:pt x="1" y="21"/>
                    </a:lnTo>
                    <a:lnTo>
                      <a:pt x="0" y="14"/>
                    </a:lnTo>
                    <a:lnTo>
                      <a:pt x="0" y="10"/>
                    </a:lnTo>
                    <a:lnTo>
                      <a:pt x="0" y="7"/>
                    </a:lnTo>
                    <a:lnTo>
                      <a:pt x="1" y="4"/>
                    </a:lnTo>
                    <a:lnTo>
                      <a:pt x="3" y="1"/>
                    </a:lnTo>
                    <a:lnTo>
                      <a:pt x="7" y="0"/>
                    </a:lnTo>
                    <a:lnTo>
                      <a:pt x="13" y="0"/>
                    </a:lnTo>
                    <a:lnTo>
                      <a:pt x="15" y="2"/>
                    </a:lnTo>
                    <a:lnTo>
                      <a:pt x="16" y="6"/>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11" name="Freeform 59"/>
              <p:cNvSpPr>
                <a:spLocks/>
              </p:cNvSpPr>
              <p:nvPr/>
            </p:nvSpPr>
            <p:spPr bwMode="auto">
              <a:xfrm>
                <a:off x="5251" y="1080"/>
                <a:ext cx="17" cy="23"/>
              </a:xfrm>
              <a:custGeom>
                <a:avLst/>
                <a:gdLst>
                  <a:gd name="T0" fmla="*/ 0 w 17"/>
                  <a:gd name="T1" fmla="*/ 0 h 23"/>
                  <a:gd name="T2" fmla="*/ 2 w 17"/>
                  <a:gd name="T3" fmla="*/ 4 h 23"/>
                  <a:gd name="T4" fmla="*/ 5 w 17"/>
                  <a:gd name="T5" fmla="*/ 9 h 23"/>
                  <a:gd name="T6" fmla="*/ 8 w 17"/>
                  <a:gd name="T7" fmla="*/ 13 h 23"/>
                  <a:gd name="T8" fmla="*/ 13 w 17"/>
                  <a:gd name="T9" fmla="*/ 19 h 23"/>
                  <a:gd name="T10" fmla="*/ 16 w 17"/>
                  <a:gd name="T11" fmla="*/ 22 h 23"/>
                  <a:gd name="T12" fmla="*/ 10 w 17"/>
                  <a:gd name="T13" fmla="*/ 19 h 23"/>
                  <a:gd name="T14" fmla="*/ 6 w 17"/>
                  <a:gd name="T15" fmla="*/ 13 h 23"/>
                  <a:gd name="T16" fmla="*/ 2 w 17"/>
                  <a:gd name="T17" fmla="*/ 8 h 23"/>
                  <a:gd name="T18" fmla="*/ 0 w 17"/>
                  <a:gd name="T19" fmla="*/ 0 h 2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
                  <a:gd name="T31" fmla="*/ 0 h 23"/>
                  <a:gd name="T32" fmla="*/ 17 w 17"/>
                  <a:gd name="T33" fmla="*/ 23 h 2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 h="23">
                    <a:moveTo>
                      <a:pt x="0" y="0"/>
                    </a:moveTo>
                    <a:lnTo>
                      <a:pt x="2" y="4"/>
                    </a:lnTo>
                    <a:lnTo>
                      <a:pt x="5" y="9"/>
                    </a:lnTo>
                    <a:lnTo>
                      <a:pt x="8" y="13"/>
                    </a:lnTo>
                    <a:lnTo>
                      <a:pt x="13" y="19"/>
                    </a:lnTo>
                    <a:lnTo>
                      <a:pt x="16" y="22"/>
                    </a:lnTo>
                    <a:lnTo>
                      <a:pt x="10" y="19"/>
                    </a:lnTo>
                    <a:lnTo>
                      <a:pt x="6" y="13"/>
                    </a:lnTo>
                    <a:lnTo>
                      <a:pt x="2" y="8"/>
                    </a:lnTo>
                    <a:lnTo>
                      <a:pt x="0"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12" name="Freeform 60"/>
              <p:cNvSpPr>
                <a:spLocks/>
              </p:cNvSpPr>
              <p:nvPr/>
            </p:nvSpPr>
            <p:spPr bwMode="auto">
              <a:xfrm>
                <a:off x="5217" y="1008"/>
                <a:ext cx="64" cy="80"/>
              </a:xfrm>
              <a:custGeom>
                <a:avLst/>
                <a:gdLst>
                  <a:gd name="T0" fmla="*/ 58 w 64"/>
                  <a:gd name="T1" fmla="*/ 22 h 80"/>
                  <a:gd name="T2" fmla="*/ 48 w 64"/>
                  <a:gd name="T3" fmla="*/ 20 h 80"/>
                  <a:gd name="T4" fmla="*/ 42 w 64"/>
                  <a:gd name="T5" fmla="*/ 22 h 80"/>
                  <a:gd name="T6" fmla="*/ 38 w 64"/>
                  <a:gd name="T7" fmla="*/ 27 h 80"/>
                  <a:gd name="T8" fmla="*/ 40 w 64"/>
                  <a:gd name="T9" fmla="*/ 34 h 80"/>
                  <a:gd name="T10" fmla="*/ 43 w 64"/>
                  <a:gd name="T11" fmla="*/ 37 h 80"/>
                  <a:gd name="T12" fmla="*/ 44 w 64"/>
                  <a:gd name="T13" fmla="*/ 43 h 80"/>
                  <a:gd name="T14" fmla="*/ 42 w 64"/>
                  <a:gd name="T15" fmla="*/ 47 h 80"/>
                  <a:gd name="T16" fmla="*/ 44 w 64"/>
                  <a:gd name="T17" fmla="*/ 53 h 80"/>
                  <a:gd name="T18" fmla="*/ 40 w 64"/>
                  <a:gd name="T19" fmla="*/ 53 h 80"/>
                  <a:gd name="T20" fmla="*/ 39 w 64"/>
                  <a:gd name="T21" fmla="*/ 46 h 80"/>
                  <a:gd name="T22" fmla="*/ 36 w 64"/>
                  <a:gd name="T23" fmla="*/ 43 h 80"/>
                  <a:gd name="T24" fmla="*/ 31 w 64"/>
                  <a:gd name="T25" fmla="*/ 43 h 80"/>
                  <a:gd name="T26" fmla="*/ 27 w 64"/>
                  <a:gd name="T27" fmla="*/ 45 h 80"/>
                  <a:gd name="T28" fmla="*/ 26 w 64"/>
                  <a:gd name="T29" fmla="*/ 49 h 80"/>
                  <a:gd name="T30" fmla="*/ 25 w 64"/>
                  <a:gd name="T31" fmla="*/ 56 h 80"/>
                  <a:gd name="T32" fmla="*/ 26 w 64"/>
                  <a:gd name="T33" fmla="*/ 60 h 80"/>
                  <a:gd name="T34" fmla="*/ 26 w 64"/>
                  <a:gd name="T35" fmla="*/ 64 h 80"/>
                  <a:gd name="T36" fmla="*/ 25 w 64"/>
                  <a:gd name="T37" fmla="*/ 68 h 80"/>
                  <a:gd name="T38" fmla="*/ 22 w 64"/>
                  <a:gd name="T39" fmla="*/ 72 h 80"/>
                  <a:gd name="T40" fmla="*/ 20 w 64"/>
                  <a:gd name="T41" fmla="*/ 75 h 80"/>
                  <a:gd name="T42" fmla="*/ 15 w 64"/>
                  <a:gd name="T43" fmla="*/ 79 h 80"/>
                  <a:gd name="T44" fmla="*/ 4 w 64"/>
                  <a:gd name="T45" fmla="*/ 65 h 80"/>
                  <a:gd name="T46" fmla="*/ 2 w 64"/>
                  <a:gd name="T47" fmla="*/ 55 h 80"/>
                  <a:gd name="T48" fmla="*/ 0 w 64"/>
                  <a:gd name="T49" fmla="*/ 37 h 80"/>
                  <a:gd name="T50" fmla="*/ 0 w 64"/>
                  <a:gd name="T51" fmla="*/ 25 h 80"/>
                  <a:gd name="T52" fmla="*/ 1 w 64"/>
                  <a:gd name="T53" fmla="*/ 13 h 80"/>
                  <a:gd name="T54" fmla="*/ 4 w 64"/>
                  <a:gd name="T55" fmla="*/ 7 h 80"/>
                  <a:gd name="T56" fmla="*/ 10 w 64"/>
                  <a:gd name="T57" fmla="*/ 2 h 80"/>
                  <a:gd name="T58" fmla="*/ 15 w 64"/>
                  <a:gd name="T59" fmla="*/ 0 h 80"/>
                  <a:gd name="T60" fmla="*/ 27 w 64"/>
                  <a:gd name="T61" fmla="*/ 0 h 80"/>
                  <a:gd name="T62" fmla="*/ 37 w 64"/>
                  <a:gd name="T63" fmla="*/ 0 h 80"/>
                  <a:gd name="T64" fmla="*/ 50 w 64"/>
                  <a:gd name="T65" fmla="*/ 3 h 80"/>
                  <a:gd name="T66" fmla="*/ 56 w 64"/>
                  <a:gd name="T67" fmla="*/ 7 h 80"/>
                  <a:gd name="T68" fmla="*/ 59 w 64"/>
                  <a:gd name="T69" fmla="*/ 11 h 80"/>
                  <a:gd name="T70" fmla="*/ 63 w 64"/>
                  <a:gd name="T71" fmla="*/ 16 h 80"/>
                  <a:gd name="T72" fmla="*/ 62 w 64"/>
                  <a:gd name="T73" fmla="*/ 19 h 80"/>
                  <a:gd name="T74" fmla="*/ 58 w 64"/>
                  <a:gd name="T75" fmla="*/ 22 h 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4"/>
                  <a:gd name="T115" fmla="*/ 0 h 80"/>
                  <a:gd name="T116" fmla="*/ 64 w 64"/>
                  <a:gd name="T117" fmla="*/ 80 h 8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4" h="80">
                    <a:moveTo>
                      <a:pt x="58" y="22"/>
                    </a:moveTo>
                    <a:lnTo>
                      <a:pt x="48" y="20"/>
                    </a:lnTo>
                    <a:lnTo>
                      <a:pt x="42" y="22"/>
                    </a:lnTo>
                    <a:lnTo>
                      <a:pt x="38" y="27"/>
                    </a:lnTo>
                    <a:lnTo>
                      <a:pt x="40" y="34"/>
                    </a:lnTo>
                    <a:lnTo>
                      <a:pt x="43" y="37"/>
                    </a:lnTo>
                    <a:lnTo>
                      <a:pt x="44" y="43"/>
                    </a:lnTo>
                    <a:lnTo>
                      <a:pt x="42" y="47"/>
                    </a:lnTo>
                    <a:lnTo>
                      <a:pt x="44" y="53"/>
                    </a:lnTo>
                    <a:lnTo>
                      <a:pt x="40" y="53"/>
                    </a:lnTo>
                    <a:lnTo>
                      <a:pt x="39" y="46"/>
                    </a:lnTo>
                    <a:lnTo>
                      <a:pt x="36" y="43"/>
                    </a:lnTo>
                    <a:lnTo>
                      <a:pt x="31" y="43"/>
                    </a:lnTo>
                    <a:lnTo>
                      <a:pt x="27" y="45"/>
                    </a:lnTo>
                    <a:lnTo>
                      <a:pt x="26" y="49"/>
                    </a:lnTo>
                    <a:lnTo>
                      <a:pt x="25" y="56"/>
                    </a:lnTo>
                    <a:lnTo>
                      <a:pt x="26" y="60"/>
                    </a:lnTo>
                    <a:lnTo>
                      <a:pt x="26" y="64"/>
                    </a:lnTo>
                    <a:lnTo>
                      <a:pt x="25" y="68"/>
                    </a:lnTo>
                    <a:lnTo>
                      <a:pt x="22" y="72"/>
                    </a:lnTo>
                    <a:lnTo>
                      <a:pt x="20" y="75"/>
                    </a:lnTo>
                    <a:lnTo>
                      <a:pt x="15" y="79"/>
                    </a:lnTo>
                    <a:lnTo>
                      <a:pt x="4" y="65"/>
                    </a:lnTo>
                    <a:lnTo>
                      <a:pt x="2" y="55"/>
                    </a:lnTo>
                    <a:lnTo>
                      <a:pt x="0" y="37"/>
                    </a:lnTo>
                    <a:lnTo>
                      <a:pt x="0" y="25"/>
                    </a:lnTo>
                    <a:lnTo>
                      <a:pt x="1" y="13"/>
                    </a:lnTo>
                    <a:lnTo>
                      <a:pt x="4" y="7"/>
                    </a:lnTo>
                    <a:lnTo>
                      <a:pt x="10" y="2"/>
                    </a:lnTo>
                    <a:lnTo>
                      <a:pt x="15" y="0"/>
                    </a:lnTo>
                    <a:lnTo>
                      <a:pt x="27" y="0"/>
                    </a:lnTo>
                    <a:lnTo>
                      <a:pt x="37" y="0"/>
                    </a:lnTo>
                    <a:lnTo>
                      <a:pt x="50" y="3"/>
                    </a:lnTo>
                    <a:lnTo>
                      <a:pt x="56" y="7"/>
                    </a:lnTo>
                    <a:lnTo>
                      <a:pt x="59" y="11"/>
                    </a:lnTo>
                    <a:lnTo>
                      <a:pt x="63" y="16"/>
                    </a:lnTo>
                    <a:lnTo>
                      <a:pt x="62" y="19"/>
                    </a:lnTo>
                    <a:lnTo>
                      <a:pt x="58" y="22"/>
                    </a:lnTo>
                  </a:path>
                </a:pathLst>
              </a:custGeom>
              <a:solidFill>
                <a:srgbClr val="603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13" name="Freeform 61"/>
              <p:cNvSpPr>
                <a:spLocks/>
              </p:cNvSpPr>
              <p:nvPr/>
            </p:nvSpPr>
            <p:spPr bwMode="auto">
              <a:xfrm>
                <a:off x="5218" y="1009"/>
                <a:ext cx="60" cy="77"/>
              </a:xfrm>
              <a:custGeom>
                <a:avLst/>
                <a:gdLst>
                  <a:gd name="T0" fmla="*/ 56 w 60"/>
                  <a:gd name="T1" fmla="*/ 11 h 77"/>
                  <a:gd name="T2" fmla="*/ 57 w 60"/>
                  <a:gd name="T3" fmla="*/ 18 h 77"/>
                  <a:gd name="T4" fmla="*/ 44 w 60"/>
                  <a:gd name="T5" fmla="*/ 19 h 77"/>
                  <a:gd name="T6" fmla="*/ 32 w 60"/>
                  <a:gd name="T7" fmla="*/ 15 h 77"/>
                  <a:gd name="T8" fmla="*/ 37 w 60"/>
                  <a:gd name="T9" fmla="*/ 17 h 77"/>
                  <a:gd name="T10" fmla="*/ 39 w 60"/>
                  <a:gd name="T11" fmla="*/ 19 h 77"/>
                  <a:gd name="T12" fmla="*/ 33 w 60"/>
                  <a:gd name="T13" fmla="*/ 19 h 77"/>
                  <a:gd name="T14" fmla="*/ 32 w 60"/>
                  <a:gd name="T15" fmla="*/ 20 h 77"/>
                  <a:gd name="T16" fmla="*/ 35 w 60"/>
                  <a:gd name="T17" fmla="*/ 26 h 77"/>
                  <a:gd name="T18" fmla="*/ 34 w 60"/>
                  <a:gd name="T19" fmla="*/ 26 h 77"/>
                  <a:gd name="T20" fmla="*/ 37 w 60"/>
                  <a:gd name="T21" fmla="*/ 33 h 77"/>
                  <a:gd name="T22" fmla="*/ 26 w 60"/>
                  <a:gd name="T23" fmla="*/ 30 h 77"/>
                  <a:gd name="T24" fmla="*/ 41 w 60"/>
                  <a:gd name="T25" fmla="*/ 37 h 77"/>
                  <a:gd name="T26" fmla="*/ 32 w 60"/>
                  <a:gd name="T27" fmla="*/ 35 h 77"/>
                  <a:gd name="T28" fmla="*/ 40 w 60"/>
                  <a:gd name="T29" fmla="*/ 40 h 77"/>
                  <a:gd name="T30" fmla="*/ 37 w 60"/>
                  <a:gd name="T31" fmla="*/ 42 h 77"/>
                  <a:gd name="T32" fmla="*/ 26 w 60"/>
                  <a:gd name="T33" fmla="*/ 41 h 77"/>
                  <a:gd name="T34" fmla="*/ 17 w 60"/>
                  <a:gd name="T35" fmla="*/ 41 h 77"/>
                  <a:gd name="T36" fmla="*/ 18 w 60"/>
                  <a:gd name="T37" fmla="*/ 45 h 77"/>
                  <a:gd name="T38" fmla="*/ 16 w 60"/>
                  <a:gd name="T39" fmla="*/ 46 h 77"/>
                  <a:gd name="T40" fmla="*/ 23 w 60"/>
                  <a:gd name="T41" fmla="*/ 53 h 77"/>
                  <a:gd name="T42" fmla="*/ 17 w 60"/>
                  <a:gd name="T43" fmla="*/ 52 h 77"/>
                  <a:gd name="T44" fmla="*/ 23 w 60"/>
                  <a:gd name="T45" fmla="*/ 60 h 77"/>
                  <a:gd name="T46" fmla="*/ 19 w 60"/>
                  <a:gd name="T47" fmla="*/ 60 h 77"/>
                  <a:gd name="T48" fmla="*/ 20 w 60"/>
                  <a:gd name="T49" fmla="*/ 69 h 77"/>
                  <a:gd name="T50" fmla="*/ 13 w 60"/>
                  <a:gd name="T51" fmla="*/ 56 h 77"/>
                  <a:gd name="T52" fmla="*/ 20 w 60"/>
                  <a:gd name="T53" fmla="*/ 71 h 77"/>
                  <a:gd name="T54" fmla="*/ 11 w 60"/>
                  <a:gd name="T55" fmla="*/ 65 h 77"/>
                  <a:gd name="T56" fmla="*/ 13 w 60"/>
                  <a:gd name="T57" fmla="*/ 71 h 77"/>
                  <a:gd name="T58" fmla="*/ 8 w 60"/>
                  <a:gd name="T59" fmla="*/ 71 h 77"/>
                  <a:gd name="T60" fmla="*/ 1 w 60"/>
                  <a:gd name="T61" fmla="*/ 45 h 77"/>
                  <a:gd name="T62" fmla="*/ 5 w 60"/>
                  <a:gd name="T63" fmla="*/ 30 h 77"/>
                  <a:gd name="T64" fmla="*/ 11 w 60"/>
                  <a:gd name="T65" fmla="*/ 31 h 77"/>
                  <a:gd name="T66" fmla="*/ 0 w 60"/>
                  <a:gd name="T67" fmla="*/ 26 h 77"/>
                  <a:gd name="T68" fmla="*/ 8 w 60"/>
                  <a:gd name="T69" fmla="*/ 16 h 77"/>
                  <a:gd name="T70" fmla="*/ 13 w 60"/>
                  <a:gd name="T71" fmla="*/ 16 h 77"/>
                  <a:gd name="T72" fmla="*/ 2 w 60"/>
                  <a:gd name="T73" fmla="*/ 8 h 77"/>
                  <a:gd name="T74" fmla="*/ 14 w 60"/>
                  <a:gd name="T75" fmla="*/ 4 h 77"/>
                  <a:gd name="T76" fmla="*/ 11 w 60"/>
                  <a:gd name="T77" fmla="*/ 2 h 77"/>
                  <a:gd name="T78" fmla="*/ 26 w 60"/>
                  <a:gd name="T79" fmla="*/ 1 h 77"/>
                  <a:gd name="T80" fmla="*/ 31 w 60"/>
                  <a:gd name="T81" fmla="*/ 3 h 77"/>
                  <a:gd name="T82" fmla="*/ 32 w 60"/>
                  <a:gd name="T83" fmla="*/ 0 h 77"/>
                  <a:gd name="T84" fmla="*/ 43 w 60"/>
                  <a:gd name="T85" fmla="*/ 6 h 77"/>
                  <a:gd name="T86" fmla="*/ 41 w 60"/>
                  <a:gd name="T87" fmla="*/ 2 h 7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0"/>
                  <a:gd name="T133" fmla="*/ 0 h 77"/>
                  <a:gd name="T134" fmla="*/ 60 w 60"/>
                  <a:gd name="T135" fmla="*/ 77 h 77"/>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0" h="77">
                    <a:moveTo>
                      <a:pt x="49" y="4"/>
                    </a:moveTo>
                    <a:lnTo>
                      <a:pt x="54" y="7"/>
                    </a:lnTo>
                    <a:lnTo>
                      <a:pt x="56" y="11"/>
                    </a:lnTo>
                    <a:lnTo>
                      <a:pt x="58" y="14"/>
                    </a:lnTo>
                    <a:lnTo>
                      <a:pt x="59" y="16"/>
                    </a:lnTo>
                    <a:lnTo>
                      <a:pt x="57" y="18"/>
                    </a:lnTo>
                    <a:lnTo>
                      <a:pt x="55" y="19"/>
                    </a:lnTo>
                    <a:lnTo>
                      <a:pt x="48" y="19"/>
                    </a:lnTo>
                    <a:lnTo>
                      <a:pt x="44" y="19"/>
                    </a:lnTo>
                    <a:lnTo>
                      <a:pt x="41" y="16"/>
                    </a:lnTo>
                    <a:lnTo>
                      <a:pt x="36" y="15"/>
                    </a:lnTo>
                    <a:lnTo>
                      <a:pt x="32" y="15"/>
                    </a:lnTo>
                    <a:lnTo>
                      <a:pt x="27" y="15"/>
                    </a:lnTo>
                    <a:lnTo>
                      <a:pt x="34" y="16"/>
                    </a:lnTo>
                    <a:lnTo>
                      <a:pt x="37" y="17"/>
                    </a:lnTo>
                    <a:lnTo>
                      <a:pt x="40" y="19"/>
                    </a:lnTo>
                    <a:lnTo>
                      <a:pt x="41" y="19"/>
                    </a:lnTo>
                    <a:lnTo>
                      <a:pt x="39" y="19"/>
                    </a:lnTo>
                    <a:lnTo>
                      <a:pt x="37" y="22"/>
                    </a:lnTo>
                    <a:lnTo>
                      <a:pt x="35" y="19"/>
                    </a:lnTo>
                    <a:lnTo>
                      <a:pt x="33" y="19"/>
                    </a:lnTo>
                    <a:lnTo>
                      <a:pt x="28" y="19"/>
                    </a:lnTo>
                    <a:lnTo>
                      <a:pt x="27" y="19"/>
                    </a:lnTo>
                    <a:lnTo>
                      <a:pt x="32" y="20"/>
                    </a:lnTo>
                    <a:lnTo>
                      <a:pt x="34" y="22"/>
                    </a:lnTo>
                    <a:lnTo>
                      <a:pt x="37" y="23"/>
                    </a:lnTo>
                    <a:lnTo>
                      <a:pt x="35" y="26"/>
                    </a:lnTo>
                    <a:lnTo>
                      <a:pt x="32" y="24"/>
                    </a:lnTo>
                    <a:lnTo>
                      <a:pt x="28" y="23"/>
                    </a:lnTo>
                    <a:lnTo>
                      <a:pt x="34" y="26"/>
                    </a:lnTo>
                    <a:lnTo>
                      <a:pt x="36" y="28"/>
                    </a:lnTo>
                    <a:lnTo>
                      <a:pt x="37" y="31"/>
                    </a:lnTo>
                    <a:lnTo>
                      <a:pt x="37" y="33"/>
                    </a:lnTo>
                    <a:lnTo>
                      <a:pt x="34" y="31"/>
                    </a:lnTo>
                    <a:lnTo>
                      <a:pt x="31" y="30"/>
                    </a:lnTo>
                    <a:lnTo>
                      <a:pt x="26" y="30"/>
                    </a:lnTo>
                    <a:lnTo>
                      <a:pt x="33" y="33"/>
                    </a:lnTo>
                    <a:lnTo>
                      <a:pt x="38" y="34"/>
                    </a:lnTo>
                    <a:lnTo>
                      <a:pt x="41" y="37"/>
                    </a:lnTo>
                    <a:lnTo>
                      <a:pt x="41" y="39"/>
                    </a:lnTo>
                    <a:lnTo>
                      <a:pt x="37" y="38"/>
                    </a:lnTo>
                    <a:lnTo>
                      <a:pt x="32" y="35"/>
                    </a:lnTo>
                    <a:lnTo>
                      <a:pt x="30" y="35"/>
                    </a:lnTo>
                    <a:lnTo>
                      <a:pt x="36" y="38"/>
                    </a:lnTo>
                    <a:lnTo>
                      <a:pt x="40" y="40"/>
                    </a:lnTo>
                    <a:lnTo>
                      <a:pt x="41" y="41"/>
                    </a:lnTo>
                    <a:lnTo>
                      <a:pt x="41" y="44"/>
                    </a:lnTo>
                    <a:lnTo>
                      <a:pt x="37" y="42"/>
                    </a:lnTo>
                    <a:lnTo>
                      <a:pt x="34" y="41"/>
                    </a:lnTo>
                    <a:lnTo>
                      <a:pt x="28" y="40"/>
                    </a:lnTo>
                    <a:lnTo>
                      <a:pt x="26" y="41"/>
                    </a:lnTo>
                    <a:lnTo>
                      <a:pt x="20" y="41"/>
                    </a:lnTo>
                    <a:lnTo>
                      <a:pt x="13" y="40"/>
                    </a:lnTo>
                    <a:lnTo>
                      <a:pt x="17" y="41"/>
                    </a:lnTo>
                    <a:lnTo>
                      <a:pt x="24" y="43"/>
                    </a:lnTo>
                    <a:lnTo>
                      <a:pt x="23" y="46"/>
                    </a:lnTo>
                    <a:lnTo>
                      <a:pt x="18" y="45"/>
                    </a:lnTo>
                    <a:lnTo>
                      <a:pt x="13" y="42"/>
                    </a:lnTo>
                    <a:lnTo>
                      <a:pt x="10" y="41"/>
                    </a:lnTo>
                    <a:lnTo>
                      <a:pt x="16" y="46"/>
                    </a:lnTo>
                    <a:lnTo>
                      <a:pt x="20" y="48"/>
                    </a:lnTo>
                    <a:lnTo>
                      <a:pt x="23" y="49"/>
                    </a:lnTo>
                    <a:lnTo>
                      <a:pt x="23" y="53"/>
                    </a:lnTo>
                    <a:lnTo>
                      <a:pt x="18" y="51"/>
                    </a:lnTo>
                    <a:lnTo>
                      <a:pt x="15" y="50"/>
                    </a:lnTo>
                    <a:lnTo>
                      <a:pt x="17" y="52"/>
                    </a:lnTo>
                    <a:lnTo>
                      <a:pt x="21" y="53"/>
                    </a:lnTo>
                    <a:lnTo>
                      <a:pt x="23" y="53"/>
                    </a:lnTo>
                    <a:lnTo>
                      <a:pt x="23" y="60"/>
                    </a:lnTo>
                    <a:lnTo>
                      <a:pt x="18" y="58"/>
                    </a:lnTo>
                    <a:lnTo>
                      <a:pt x="15" y="57"/>
                    </a:lnTo>
                    <a:lnTo>
                      <a:pt x="19" y="60"/>
                    </a:lnTo>
                    <a:lnTo>
                      <a:pt x="24" y="63"/>
                    </a:lnTo>
                    <a:lnTo>
                      <a:pt x="23" y="65"/>
                    </a:lnTo>
                    <a:lnTo>
                      <a:pt x="20" y="69"/>
                    </a:lnTo>
                    <a:lnTo>
                      <a:pt x="18" y="65"/>
                    </a:lnTo>
                    <a:lnTo>
                      <a:pt x="15" y="60"/>
                    </a:lnTo>
                    <a:lnTo>
                      <a:pt x="13" y="56"/>
                    </a:lnTo>
                    <a:lnTo>
                      <a:pt x="15" y="63"/>
                    </a:lnTo>
                    <a:lnTo>
                      <a:pt x="17" y="65"/>
                    </a:lnTo>
                    <a:lnTo>
                      <a:pt x="20" y="71"/>
                    </a:lnTo>
                    <a:lnTo>
                      <a:pt x="17" y="74"/>
                    </a:lnTo>
                    <a:lnTo>
                      <a:pt x="14" y="70"/>
                    </a:lnTo>
                    <a:lnTo>
                      <a:pt x="11" y="65"/>
                    </a:lnTo>
                    <a:lnTo>
                      <a:pt x="8" y="60"/>
                    </a:lnTo>
                    <a:lnTo>
                      <a:pt x="11" y="68"/>
                    </a:lnTo>
                    <a:lnTo>
                      <a:pt x="13" y="71"/>
                    </a:lnTo>
                    <a:lnTo>
                      <a:pt x="15" y="75"/>
                    </a:lnTo>
                    <a:lnTo>
                      <a:pt x="13" y="76"/>
                    </a:lnTo>
                    <a:lnTo>
                      <a:pt x="8" y="71"/>
                    </a:lnTo>
                    <a:lnTo>
                      <a:pt x="4" y="63"/>
                    </a:lnTo>
                    <a:lnTo>
                      <a:pt x="2" y="57"/>
                    </a:lnTo>
                    <a:lnTo>
                      <a:pt x="1" y="45"/>
                    </a:lnTo>
                    <a:lnTo>
                      <a:pt x="1" y="38"/>
                    </a:lnTo>
                    <a:lnTo>
                      <a:pt x="0" y="28"/>
                    </a:lnTo>
                    <a:lnTo>
                      <a:pt x="5" y="30"/>
                    </a:lnTo>
                    <a:lnTo>
                      <a:pt x="10" y="33"/>
                    </a:lnTo>
                    <a:lnTo>
                      <a:pt x="19" y="35"/>
                    </a:lnTo>
                    <a:lnTo>
                      <a:pt x="11" y="31"/>
                    </a:lnTo>
                    <a:lnTo>
                      <a:pt x="8" y="29"/>
                    </a:lnTo>
                    <a:lnTo>
                      <a:pt x="3" y="26"/>
                    </a:lnTo>
                    <a:lnTo>
                      <a:pt x="0" y="26"/>
                    </a:lnTo>
                    <a:lnTo>
                      <a:pt x="0" y="21"/>
                    </a:lnTo>
                    <a:lnTo>
                      <a:pt x="1" y="15"/>
                    </a:lnTo>
                    <a:lnTo>
                      <a:pt x="8" y="16"/>
                    </a:lnTo>
                    <a:lnTo>
                      <a:pt x="12" y="19"/>
                    </a:lnTo>
                    <a:lnTo>
                      <a:pt x="17" y="21"/>
                    </a:lnTo>
                    <a:lnTo>
                      <a:pt x="13" y="16"/>
                    </a:lnTo>
                    <a:lnTo>
                      <a:pt x="6" y="15"/>
                    </a:lnTo>
                    <a:lnTo>
                      <a:pt x="1" y="13"/>
                    </a:lnTo>
                    <a:lnTo>
                      <a:pt x="2" y="8"/>
                    </a:lnTo>
                    <a:lnTo>
                      <a:pt x="4" y="5"/>
                    </a:lnTo>
                    <a:lnTo>
                      <a:pt x="9" y="3"/>
                    </a:lnTo>
                    <a:lnTo>
                      <a:pt x="14" y="4"/>
                    </a:lnTo>
                    <a:lnTo>
                      <a:pt x="19" y="9"/>
                    </a:lnTo>
                    <a:lnTo>
                      <a:pt x="15" y="4"/>
                    </a:lnTo>
                    <a:lnTo>
                      <a:pt x="11" y="2"/>
                    </a:lnTo>
                    <a:lnTo>
                      <a:pt x="16" y="0"/>
                    </a:lnTo>
                    <a:lnTo>
                      <a:pt x="20" y="0"/>
                    </a:lnTo>
                    <a:lnTo>
                      <a:pt x="26" y="1"/>
                    </a:lnTo>
                    <a:lnTo>
                      <a:pt x="29" y="4"/>
                    </a:lnTo>
                    <a:lnTo>
                      <a:pt x="35" y="6"/>
                    </a:lnTo>
                    <a:lnTo>
                      <a:pt x="31" y="3"/>
                    </a:lnTo>
                    <a:lnTo>
                      <a:pt x="28" y="1"/>
                    </a:lnTo>
                    <a:lnTo>
                      <a:pt x="26" y="0"/>
                    </a:lnTo>
                    <a:lnTo>
                      <a:pt x="32" y="0"/>
                    </a:lnTo>
                    <a:lnTo>
                      <a:pt x="37" y="0"/>
                    </a:lnTo>
                    <a:lnTo>
                      <a:pt x="41" y="3"/>
                    </a:lnTo>
                    <a:lnTo>
                      <a:pt x="43" y="6"/>
                    </a:lnTo>
                    <a:lnTo>
                      <a:pt x="46" y="11"/>
                    </a:lnTo>
                    <a:lnTo>
                      <a:pt x="45" y="5"/>
                    </a:lnTo>
                    <a:lnTo>
                      <a:pt x="41" y="2"/>
                    </a:lnTo>
                    <a:lnTo>
                      <a:pt x="49" y="4"/>
                    </a:lnTo>
                  </a:path>
                </a:pathLst>
              </a:custGeom>
              <a:solidFill>
                <a:srgbClr val="A05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nvGrpSpPr>
              <p:cNvPr id="10314" name="Group 62"/>
              <p:cNvGrpSpPr>
                <a:grpSpLocks/>
              </p:cNvGrpSpPr>
              <p:nvPr/>
            </p:nvGrpSpPr>
            <p:grpSpPr bwMode="auto">
              <a:xfrm>
                <a:off x="5340" y="1203"/>
                <a:ext cx="78" cy="51"/>
                <a:chOff x="5340" y="1203"/>
                <a:chExt cx="78" cy="51"/>
              </a:xfrm>
            </p:grpSpPr>
            <p:sp>
              <p:nvSpPr>
                <p:cNvPr id="10336" name="Freeform 63"/>
                <p:cNvSpPr>
                  <a:spLocks/>
                </p:cNvSpPr>
                <p:nvPr/>
              </p:nvSpPr>
              <p:spPr bwMode="auto">
                <a:xfrm>
                  <a:off x="5340" y="1203"/>
                  <a:ext cx="66" cy="51"/>
                </a:xfrm>
                <a:custGeom>
                  <a:avLst/>
                  <a:gdLst>
                    <a:gd name="T0" fmla="*/ 0 w 66"/>
                    <a:gd name="T1" fmla="*/ 29 h 51"/>
                    <a:gd name="T2" fmla="*/ 8 w 66"/>
                    <a:gd name="T3" fmla="*/ 27 h 51"/>
                    <a:gd name="T4" fmla="*/ 10 w 66"/>
                    <a:gd name="T5" fmla="*/ 26 h 51"/>
                    <a:gd name="T6" fmla="*/ 13 w 66"/>
                    <a:gd name="T7" fmla="*/ 24 h 51"/>
                    <a:gd name="T8" fmla="*/ 15 w 66"/>
                    <a:gd name="T9" fmla="*/ 21 h 51"/>
                    <a:gd name="T10" fmla="*/ 18 w 66"/>
                    <a:gd name="T11" fmla="*/ 16 h 51"/>
                    <a:gd name="T12" fmla="*/ 26 w 66"/>
                    <a:gd name="T13" fmla="*/ 8 h 51"/>
                    <a:gd name="T14" fmla="*/ 27 w 66"/>
                    <a:gd name="T15" fmla="*/ 6 h 51"/>
                    <a:gd name="T16" fmla="*/ 28 w 66"/>
                    <a:gd name="T17" fmla="*/ 3 h 51"/>
                    <a:gd name="T18" fmla="*/ 32 w 66"/>
                    <a:gd name="T19" fmla="*/ 3 h 51"/>
                    <a:gd name="T20" fmla="*/ 43 w 66"/>
                    <a:gd name="T21" fmla="*/ 0 h 51"/>
                    <a:gd name="T22" fmla="*/ 47 w 66"/>
                    <a:gd name="T23" fmla="*/ 0 h 51"/>
                    <a:gd name="T24" fmla="*/ 49 w 66"/>
                    <a:gd name="T25" fmla="*/ 1 h 51"/>
                    <a:gd name="T26" fmla="*/ 51 w 66"/>
                    <a:gd name="T27" fmla="*/ 3 h 51"/>
                    <a:gd name="T28" fmla="*/ 58 w 66"/>
                    <a:gd name="T29" fmla="*/ 5 h 51"/>
                    <a:gd name="T30" fmla="*/ 60 w 66"/>
                    <a:gd name="T31" fmla="*/ 7 h 51"/>
                    <a:gd name="T32" fmla="*/ 61 w 66"/>
                    <a:gd name="T33" fmla="*/ 8 h 51"/>
                    <a:gd name="T34" fmla="*/ 62 w 66"/>
                    <a:gd name="T35" fmla="*/ 12 h 51"/>
                    <a:gd name="T36" fmla="*/ 63 w 66"/>
                    <a:gd name="T37" fmla="*/ 15 h 51"/>
                    <a:gd name="T38" fmla="*/ 63 w 66"/>
                    <a:gd name="T39" fmla="*/ 16 h 51"/>
                    <a:gd name="T40" fmla="*/ 65 w 66"/>
                    <a:gd name="T41" fmla="*/ 19 h 51"/>
                    <a:gd name="T42" fmla="*/ 65 w 66"/>
                    <a:gd name="T43" fmla="*/ 20 h 51"/>
                    <a:gd name="T44" fmla="*/ 63 w 66"/>
                    <a:gd name="T45" fmla="*/ 22 h 51"/>
                    <a:gd name="T46" fmla="*/ 60 w 66"/>
                    <a:gd name="T47" fmla="*/ 22 h 51"/>
                    <a:gd name="T48" fmla="*/ 56 w 66"/>
                    <a:gd name="T49" fmla="*/ 19 h 51"/>
                    <a:gd name="T50" fmla="*/ 51 w 66"/>
                    <a:gd name="T51" fmla="*/ 18 h 51"/>
                    <a:gd name="T52" fmla="*/ 46 w 66"/>
                    <a:gd name="T53" fmla="*/ 19 h 51"/>
                    <a:gd name="T54" fmla="*/ 51 w 66"/>
                    <a:gd name="T55" fmla="*/ 20 h 51"/>
                    <a:gd name="T56" fmla="*/ 54 w 66"/>
                    <a:gd name="T57" fmla="*/ 22 h 51"/>
                    <a:gd name="T58" fmla="*/ 59 w 66"/>
                    <a:gd name="T59" fmla="*/ 24 h 51"/>
                    <a:gd name="T60" fmla="*/ 60 w 66"/>
                    <a:gd name="T61" fmla="*/ 26 h 51"/>
                    <a:gd name="T62" fmla="*/ 60 w 66"/>
                    <a:gd name="T63" fmla="*/ 28 h 51"/>
                    <a:gd name="T64" fmla="*/ 58 w 66"/>
                    <a:gd name="T65" fmla="*/ 29 h 51"/>
                    <a:gd name="T66" fmla="*/ 56 w 66"/>
                    <a:gd name="T67" fmla="*/ 29 h 51"/>
                    <a:gd name="T68" fmla="*/ 51 w 66"/>
                    <a:gd name="T69" fmla="*/ 27 h 51"/>
                    <a:gd name="T70" fmla="*/ 45 w 66"/>
                    <a:gd name="T71" fmla="*/ 26 h 51"/>
                    <a:gd name="T72" fmla="*/ 41 w 66"/>
                    <a:gd name="T73" fmla="*/ 27 h 51"/>
                    <a:gd name="T74" fmla="*/ 39 w 66"/>
                    <a:gd name="T75" fmla="*/ 29 h 51"/>
                    <a:gd name="T76" fmla="*/ 36 w 66"/>
                    <a:gd name="T77" fmla="*/ 32 h 51"/>
                    <a:gd name="T78" fmla="*/ 34 w 66"/>
                    <a:gd name="T79" fmla="*/ 36 h 51"/>
                    <a:gd name="T80" fmla="*/ 32 w 66"/>
                    <a:gd name="T81" fmla="*/ 40 h 51"/>
                    <a:gd name="T82" fmla="*/ 30 w 66"/>
                    <a:gd name="T83" fmla="*/ 42 h 51"/>
                    <a:gd name="T84" fmla="*/ 28 w 66"/>
                    <a:gd name="T85" fmla="*/ 46 h 51"/>
                    <a:gd name="T86" fmla="*/ 25 w 66"/>
                    <a:gd name="T87" fmla="*/ 46 h 51"/>
                    <a:gd name="T88" fmla="*/ 21 w 66"/>
                    <a:gd name="T89" fmla="*/ 46 h 51"/>
                    <a:gd name="T90" fmla="*/ 17 w 66"/>
                    <a:gd name="T91" fmla="*/ 46 h 51"/>
                    <a:gd name="T92" fmla="*/ 15 w 66"/>
                    <a:gd name="T93" fmla="*/ 46 h 51"/>
                    <a:gd name="T94" fmla="*/ 10 w 66"/>
                    <a:gd name="T95" fmla="*/ 47 h 51"/>
                    <a:gd name="T96" fmla="*/ 0 w 66"/>
                    <a:gd name="T97" fmla="*/ 50 h 51"/>
                    <a:gd name="T98" fmla="*/ 0 w 66"/>
                    <a:gd name="T99" fmla="*/ 29 h 5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6"/>
                    <a:gd name="T151" fmla="*/ 0 h 51"/>
                    <a:gd name="T152" fmla="*/ 66 w 66"/>
                    <a:gd name="T153" fmla="*/ 51 h 5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6" h="51">
                      <a:moveTo>
                        <a:pt x="0" y="29"/>
                      </a:moveTo>
                      <a:lnTo>
                        <a:pt x="8" y="27"/>
                      </a:lnTo>
                      <a:lnTo>
                        <a:pt x="10" y="26"/>
                      </a:lnTo>
                      <a:lnTo>
                        <a:pt x="13" y="24"/>
                      </a:lnTo>
                      <a:lnTo>
                        <a:pt x="15" y="21"/>
                      </a:lnTo>
                      <a:lnTo>
                        <a:pt x="18" y="16"/>
                      </a:lnTo>
                      <a:lnTo>
                        <a:pt x="26" y="8"/>
                      </a:lnTo>
                      <a:lnTo>
                        <a:pt x="27" y="6"/>
                      </a:lnTo>
                      <a:lnTo>
                        <a:pt x="28" y="3"/>
                      </a:lnTo>
                      <a:lnTo>
                        <a:pt x="32" y="3"/>
                      </a:lnTo>
                      <a:lnTo>
                        <a:pt x="43" y="0"/>
                      </a:lnTo>
                      <a:lnTo>
                        <a:pt x="47" y="0"/>
                      </a:lnTo>
                      <a:lnTo>
                        <a:pt x="49" y="1"/>
                      </a:lnTo>
                      <a:lnTo>
                        <a:pt x="51" y="3"/>
                      </a:lnTo>
                      <a:lnTo>
                        <a:pt x="58" y="5"/>
                      </a:lnTo>
                      <a:lnTo>
                        <a:pt x="60" y="7"/>
                      </a:lnTo>
                      <a:lnTo>
                        <a:pt x="61" y="8"/>
                      </a:lnTo>
                      <a:lnTo>
                        <a:pt x="62" y="12"/>
                      </a:lnTo>
                      <a:lnTo>
                        <a:pt x="63" y="15"/>
                      </a:lnTo>
                      <a:lnTo>
                        <a:pt x="63" y="16"/>
                      </a:lnTo>
                      <a:lnTo>
                        <a:pt x="65" y="19"/>
                      </a:lnTo>
                      <a:lnTo>
                        <a:pt x="65" y="20"/>
                      </a:lnTo>
                      <a:lnTo>
                        <a:pt x="63" y="22"/>
                      </a:lnTo>
                      <a:lnTo>
                        <a:pt x="60" y="22"/>
                      </a:lnTo>
                      <a:lnTo>
                        <a:pt x="56" y="19"/>
                      </a:lnTo>
                      <a:lnTo>
                        <a:pt x="51" y="18"/>
                      </a:lnTo>
                      <a:lnTo>
                        <a:pt x="46" y="19"/>
                      </a:lnTo>
                      <a:lnTo>
                        <a:pt x="51" y="20"/>
                      </a:lnTo>
                      <a:lnTo>
                        <a:pt x="54" y="22"/>
                      </a:lnTo>
                      <a:lnTo>
                        <a:pt x="59" y="24"/>
                      </a:lnTo>
                      <a:lnTo>
                        <a:pt x="60" y="26"/>
                      </a:lnTo>
                      <a:lnTo>
                        <a:pt x="60" y="28"/>
                      </a:lnTo>
                      <a:lnTo>
                        <a:pt x="58" y="29"/>
                      </a:lnTo>
                      <a:lnTo>
                        <a:pt x="56" y="29"/>
                      </a:lnTo>
                      <a:lnTo>
                        <a:pt x="51" y="27"/>
                      </a:lnTo>
                      <a:lnTo>
                        <a:pt x="45" y="26"/>
                      </a:lnTo>
                      <a:lnTo>
                        <a:pt x="41" y="27"/>
                      </a:lnTo>
                      <a:lnTo>
                        <a:pt x="39" y="29"/>
                      </a:lnTo>
                      <a:lnTo>
                        <a:pt x="36" y="32"/>
                      </a:lnTo>
                      <a:lnTo>
                        <a:pt x="34" y="36"/>
                      </a:lnTo>
                      <a:lnTo>
                        <a:pt x="32" y="40"/>
                      </a:lnTo>
                      <a:lnTo>
                        <a:pt x="30" y="42"/>
                      </a:lnTo>
                      <a:lnTo>
                        <a:pt x="28" y="46"/>
                      </a:lnTo>
                      <a:lnTo>
                        <a:pt x="25" y="46"/>
                      </a:lnTo>
                      <a:lnTo>
                        <a:pt x="21" y="46"/>
                      </a:lnTo>
                      <a:lnTo>
                        <a:pt x="17" y="46"/>
                      </a:lnTo>
                      <a:lnTo>
                        <a:pt x="15" y="46"/>
                      </a:lnTo>
                      <a:lnTo>
                        <a:pt x="10" y="47"/>
                      </a:lnTo>
                      <a:lnTo>
                        <a:pt x="0" y="50"/>
                      </a:lnTo>
                      <a:lnTo>
                        <a:pt x="0" y="29"/>
                      </a:lnTo>
                    </a:path>
                  </a:pathLst>
                </a:custGeom>
                <a:solidFill>
                  <a:srgbClr val="FFC080"/>
                </a:solidFill>
                <a:ln w="12700" cap="rnd" cmpd="sng">
                  <a:solidFill>
                    <a:srgbClr val="402000"/>
                  </a:solidFill>
                  <a:prstDash val="solid"/>
                  <a:round/>
                  <a:headEnd/>
                  <a:tailEnd/>
                </a:ln>
              </p:spPr>
              <p:txBody>
                <a:bodyPr/>
                <a:lstStyle/>
                <a:p>
                  <a:endParaRPr lang="en-IN"/>
                </a:p>
              </p:txBody>
            </p:sp>
            <p:sp>
              <p:nvSpPr>
                <p:cNvPr id="10337" name="Freeform 64"/>
                <p:cNvSpPr>
                  <a:spLocks/>
                </p:cNvSpPr>
                <p:nvPr/>
              </p:nvSpPr>
              <p:spPr bwMode="auto">
                <a:xfrm>
                  <a:off x="5381" y="1211"/>
                  <a:ext cx="22" cy="17"/>
                </a:xfrm>
                <a:custGeom>
                  <a:avLst/>
                  <a:gdLst>
                    <a:gd name="T0" fmla="*/ 21 w 22"/>
                    <a:gd name="T1" fmla="*/ 16 h 17"/>
                    <a:gd name="T2" fmla="*/ 17 w 22"/>
                    <a:gd name="T3" fmla="*/ 10 h 17"/>
                    <a:gd name="T4" fmla="*/ 14 w 22"/>
                    <a:gd name="T5" fmla="*/ 8 h 17"/>
                    <a:gd name="T6" fmla="*/ 11 w 22"/>
                    <a:gd name="T7" fmla="*/ 6 h 17"/>
                    <a:gd name="T8" fmla="*/ 7 w 22"/>
                    <a:gd name="T9" fmla="*/ 2 h 17"/>
                    <a:gd name="T10" fmla="*/ 3 w 22"/>
                    <a:gd name="T11" fmla="*/ 4 h 17"/>
                    <a:gd name="T12" fmla="*/ 0 w 22"/>
                    <a:gd name="T13" fmla="*/ 6 h 17"/>
                    <a:gd name="T14" fmla="*/ 4 w 22"/>
                    <a:gd name="T15" fmla="*/ 2 h 17"/>
                    <a:gd name="T16" fmla="*/ 9 w 22"/>
                    <a:gd name="T17" fmla="*/ 0 h 17"/>
                    <a:gd name="T18" fmla="*/ 14 w 22"/>
                    <a:gd name="T19" fmla="*/ 8 h 17"/>
                    <a:gd name="T20" fmla="*/ 17 w 22"/>
                    <a:gd name="T21" fmla="*/ 8 h 17"/>
                    <a:gd name="T22" fmla="*/ 21 w 22"/>
                    <a:gd name="T23" fmla="*/ 12 h 17"/>
                    <a:gd name="T24" fmla="*/ 21 w 22"/>
                    <a:gd name="T25" fmla="*/ 16 h 1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2"/>
                    <a:gd name="T40" fmla="*/ 0 h 17"/>
                    <a:gd name="T41" fmla="*/ 22 w 22"/>
                    <a:gd name="T42" fmla="*/ 17 h 1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2" h="17">
                      <a:moveTo>
                        <a:pt x="21" y="16"/>
                      </a:moveTo>
                      <a:lnTo>
                        <a:pt x="17" y="10"/>
                      </a:lnTo>
                      <a:lnTo>
                        <a:pt x="14" y="8"/>
                      </a:lnTo>
                      <a:lnTo>
                        <a:pt x="11" y="6"/>
                      </a:lnTo>
                      <a:lnTo>
                        <a:pt x="7" y="2"/>
                      </a:lnTo>
                      <a:lnTo>
                        <a:pt x="3" y="4"/>
                      </a:lnTo>
                      <a:lnTo>
                        <a:pt x="0" y="6"/>
                      </a:lnTo>
                      <a:lnTo>
                        <a:pt x="4" y="2"/>
                      </a:lnTo>
                      <a:lnTo>
                        <a:pt x="9" y="0"/>
                      </a:lnTo>
                      <a:lnTo>
                        <a:pt x="14" y="8"/>
                      </a:lnTo>
                      <a:lnTo>
                        <a:pt x="17" y="8"/>
                      </a:lnTo>
                      <a:lnTo>
                        <a:pt x="21" y="12"/>
                      </a:lnTo>
                      <a:lnTo>
                        <a:pt x="21" y="16"/>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38" name="Freeform 65"/>
                <p:cNvSpPr>
                  <a:spLocks/>
                </p:cNvSpPr>
                <p:nvPr/>
              </p:nvSpPr>
              <p:spPr bwMode="auto">
                <a:xfrm>
                  <a:off x="5372" y="1204"/>
                  <a:ext cx="20" cy="17"/>
                </a:xfrm>
                <a:custGeom>
                  <a:avLst/>
                  <a:gdLst>
                    <a:gd name="T0" fmla="*/ 13 w 20"/>
                    <a:gd name="T1" fmla="*/ 0 h 17"/>
                    <a:gd name="T2" fmla="*/ 16 w 20"/>
                    <a:gd name="T3" fmla="*/ 2 h 17"/>
                    <a:gd name="T4" fmla="*/ 19 w 20"/>
                    <a:gd name="T5" fmla="*/ 5 h 17"/>
                    <a:gd name="T6" fmla="*/ 16 w 20"/>
                    <a:gd name="T7" fmla="*/ 5 h 17"/>
                    <a:gd name="T8" fmla="*/ 13 w 20"/>
                    <a:gd name="T9" fmla="*/ 2 h 17"/>
                    <a:gd name="T10" fmla="*/ 8 w 20"/>
                    <a:gd name="T11" fmla="*/ 10 h 17"/>
                    <a:gd name="T12" fmla="*/ 4 w 20"/>
                    <a:gd name="T13" fmla="*/ 13 h 17"/>
                    <a:gd name="T14" fmla="*/ 0 w 20"/>
                    <a:gd name="T15" fmla="*/ 16 h 17"/>
                    <a:gd name="T16" fmla="*/ 0 w 20"/>
                    <a:gd name="T17" fmla="*/ 13 h 17"/>
                    <a:gd name="T18" fmla="*/ 4 w 20"/>
                    <a:gd name="T19" fmla="*/ 10 h 17"/>
                    <a:gd name="T20" fmla="*/ 9 w 20"/>
                    <a:gd name="T21" fmla="*/ 5 h 17"/>
                    <a:gd name="T22" fmla="*/ 13 w 20"/>
                    <a:gd name="T23" fmla="*/ 0 h 1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0"/>
                    <a:gd name="T37" fmla="*/ 0 h 17"/>
                    <a:gd name="T38" fmla="*/ 20 w 20"/>
                    <a:gd name="T39" fmla="*/ 17 h 1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0" h="17">
                      <a:moveTo>
                        <a:pt x="13" y="0"/>
                      </a:moveTo>
                      <a:lnTo>
                        <a:pt x="16" y="2"/>
                      </a:lnTo>
                      <a:lnTo>
                        <a:pt x="19" y="5"/>
                      </a:lnTo>
                      <a:lnTo>
                        <a:pt x="16" y="5"/>
                      </a:lnTo>
                      <a:lnTo>
                        <a:pt x="13" y="2"/>
                      </a:lnTo>
                      <a:lnTo>
                        <a:pt x="8" y="10"/>
                      </a:lnTo>
                      <a:lnTo>
                        <a:pt x="4" y="13"/>
                      </a:lnTo>
                      <a:lnTo>
                        <a:pt x="0" y="16"/>
                      </a:lnTo>
                      <a:lnTo>
                        <a:pt x="0" y="13"/>
                      </a:lnTo>
                      <a:lnTo>
                        <a:pt x="4" y="10"/>
                      </a:lnTo>
                      <a:lnTo>
                        <a:pt x="9" y="5"/>
                      </a:lnTo>
                      <a:lnTo>
                        <a:pt x="13"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39" name="Freeform 66"/>
                <p:cNvSpPr>
                  <a:spLocks/>
                </p:cNvSpPr>
                <p:nvPr/>
              </p:nvSpPr>
              <p:spPr bwMode="auto">
                <a:xfrm>
                  <a:off x="5380" y="1220"/>
                  <a:ext cx="17" cy="17"/>
                </a:xfrm>
                <a:custGeom>
                  <a:avLst/>
                  <a:gdLst>
                    <a:gd name="T0" fmla="*/ 16 w 17"/>
                    <a:gd name="T1" fmla="*/ 5 h 17"/>
                    <a:gd name="T2" fmla="*/ 14 w 17"/>
                    <a:gd name="T3" fmla="*/ 16 h 17"/>
                    <a:gd name="T4" fmla="*/ 8 w 17"/>
                    <a:gd name="T5" fmla="*/ 10 h 17"/>
                    <a:gd name="T6" fmla="*/ 1 w 17"/>
                    <a:gd name="T7" fmla="*/ 10 h 17"/>
                    <a:gd name="T8" fmla="*/ 0 w 17"/>
                    <a:gd name="T9" fmla="*/ 0 h 17"/>
                    <a:gd name="T10" fmla="*/ 4 w 17"/>
                    <a:gd name="T11" fmla="*/ 5 h 17"/>
                    <a:gd name="T12" fmla="*/ 16 w 17"/>
                    <a:gd name="T13" fmla="*/ 5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16" y="5"/>
                      </a:moveTo>
                      <a:lnTo>
                        <a:pt x="14" y="16"/>
                      </a:lnTo>
                      <a:lnTo>
                        <a:pt x="8" y="10"/>
                      </a:lnTo>
                      <a:lnTo>
                        <a:pt x="1" y="10"/>
                      </a:lnTo>
                      <a:lnTo>
                        <a:pt x="0" y="0"/>
                      </a:lnTo>
                      <a:lnTo>
                        <a:pt x="4" y="5"/>
                      </a:lnTo>
                      <a:lnTo>
                        <a:pt x="16" y="5"/>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40" name="Freeform 67"/>
                <p:cNvSpPr>
                  <a:spLocks/>
                </p:cNvSpPr>
                <p:nvPr/>
              </p:nvSpPr>
              <p:spPr bwMode="auto">
                <a:xfrm>
                  <a:off x="5401" y="1218"/>
                  <a:ext cx="17" cy="17"/>
                </a:xfrm>
                <a:custGeom>
                  <a:avLst/>
                  <a:gdLst>
                    <a:gd name="T0" fmla="*/ 0 w 17"/>
                    <a:gd name="T1" fmla="*/ 0 h 17"/>
                    <a:gd name="T2" fmla="*/ 0 w 17"/>
                    <a:gd name="T3" fmla="*/ 3 h 17"/>
                    <a:gd name="T4" fmla="*/ 8 w 17"/>
                    <a:gd name="T5" fmla="*/ 12 h 17"/>
                    <a:gd name="T6" fmla="*/ 16 w 17"/>
                    <a:gd name="T7" fmla="*/ 16 h 17"/>
                    <a:gd name="T8" fmla="*/ 0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0" y="0"/>
                      </a:moveTo>
                      <a:lnTo>
                        <a:pt x="0" y="3"/>
                      </a:lnTo>
                      <a:lnTo>
                        <a:pt x="8" y="12"/>
                      </a:lnTo>
                      <a:lnTo>
                        <a:pt x="16" y="16"/>
                      </a:lnTo>
                      <a:lnTo>
                        <a:pt x="0"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41" name="Freeform 68"/>
                <p:cNvSpPr>
                  <a:spLocks/>
                </p:cNvSpPr>
                <p:nvPr/>
              </p:nvSpPr>
              <p:spPr bwMode="auto">
                <a:xfrm>
                  <a:off x="5396" y="1228"/>
                  <a:ext cx="17" cy="17"/>
                </a:xfrm>
                <a:custGeom>
                  <a:avLst/>
                  <a:gdLst>
                    <a:gd name="T0" fmla="*/ 0 w 17"/>
                    <a:gd name="T1" fmla="*/ 0 h 17"/>
                    <a:gd name="T2" fmla="*/ 8 w 17"/>
                    <a:gd name="T3" fmla="*/ 8 h 17"/>
                    <a:gd name="T4" fmla="*/ 16 w 17"/>
                    <a:gd name="T5" fmla="*/ 16 h 17"/>
                    <a:gd name="T6" fmla="*/ 0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0" y="0"/>
                      </a:moveTo>
                      <a:lnTo>
                        <a:pt x="8" y="8"/>
                      </a:lnTo>
                      <a:lnTo>
                        <a:pt x="16" y="16"/>
                      </a:lnTo>
                      <a:lnTo>
                        <a:pt x="0"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42" name="Freeform 69"/>
                <p:cNvSpPr>
                  <a:spLocks/>
                </p:cNvSpPr>
                <p:nvPr/>
              </p:nvSpPr>
              <p:spPr bwMode="auto">
                <a:xfrm>
                  <a:off x="5371" y="1214"/>
                  <a:ext cx="17" cy="17"/>
                </a:xfrm>
                <a:custGeom>
                  <a:avLst/>
                  <a:gdLst>
                    <a:gd name="T0" fmla="*/ 16 w 17"/>
                    <a:gd name="T1" fmla="*/ 0 h 17"/>
                    <a:gd name="T2" fmla="*/ 12 w 17"/>
                    <a:gd name="T3" fmla="*/ 5 h 17"/>
                    <a:gd name="T4" fmla="*/ 12 w 17"/>
                    <a:gd name="T5" fmla="*/ 10 h 17"/>
                    <a:gd name="T6" fmla="*/ 0 w 17"/>
                    <a:gd name="T7" fmla="*/ 16 h 17"/>
                    <a:gd name="T8" fmla="*/ 16 w 17"/>
                    <a:gd name="T9" fmla="*/ 0 h 17"/>
                    <a:gd name="T10" fmla="*/ 0 60000 65536"/>
                    <a:gd name="T11" fmla="*/ 0 60000 65536"/>
                    <a:gd name="T12" fmla="*/ 0 60000 65536"/>
                    <a:gd name="T13" fmla="*/ 0 60000 65536"/>
                    <a:gd name="T14" fmla="*/ 0 60000 65536"/>
                    <a:gd name="T15" fmla="*/ 0 w 17"/>
                    <a:gd name="T16" fmla="*/ 0 h 17"/>
                    <a:gd name="T17" fmla="*/ 17 w 17"/>
                    <a:gd name="T18" fmla="*/ 17 h 17"/>
                  </a:gdLst>
                  <a:ahLst/>
                  <a:cxnLst>
                    <a:cxn ang="T10">
                      <a:pos x="T0" y="T1"/>
                    </a:cxn>
                    <a:cxn ang="T11">
                      <a:pos x="T2" y="T3"/>
                    </a:cxn>
                    <a:cxn ang="T12">
                      <a:pos x="T4" y="T5"/>
                    </a:cxn>
                    <a:cxn ang="T13">
                      <a:pos x="T6" y="T7"/>
                    </a:cxn>
                    <a:cxn ang="T14">
                      <a:pos x="T8" y="T9"/>
                    </a:cxn>
                  </a:cxnLst>
                  <a:rect l="T15" t="T16" r="T17" b="T18"/>
                  <a:pathLst>
                    <a:path w="17" h="17">
                      <a:moveTo>
                        <a:pt x="16" y="0"/>
                      </a:moveTo>
                      <a:lnTo>
                        <a:pt x="12" y="5"/>
                      </a:lnTo>
                      <a:lnTo>
                        <a:pt x="12" y="10"/>
                      </a:lnTo>
                      <a:lnTo>
                        <a:pt x="0" y="16"/>
                      </a:lnTo>
                      <a:lnTo>
                        <a:pt x="16"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43" name="Freeform 70"/>
                <p:cNvSpPr>
                  <a:spLocks/>
                </p:cNvSpPr>
                <p:nvPr/>
              </p:nvSpPr>
              <p:spPr bwMode="auto">
                <a:xfrm>
                  <a:off x="5356" y="1214"/>
                  <a:ext cx="17" cy="17"/>
                </a:xfrm>
                <a:custGeom>
                  <a:avLst/>
                  <a:gdLst>
                    <a:gd name="T0" fmla="*/ 16 w 17"/>
                    <a:gd name="T1" fmla="*/ 0 h 17"/>
                    <a:gd name="T2" fmla="*/ 13 w 17"/>
                    <a:gd name="T3" fmla="*/ 4 h 17"/>
                    <a:gd name="T4" fmla="*/ 10 w 17"/>
                    <a:gd name="T5" fmla="*/ 9 h 17"/>
                    <a:gd name="T6" fmla="*/ 0 w 17"/>
                    <a:gd name="T7" fmla="*/ 16 h 17"/>
                    <a:gd name="T8" fmla="*/ 9 w 17"/>
                    <a:gd name="T9" fmla="*/ 7 h 17"/>
                    <a:gd name="T10" fmla="*/ 16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6" y="0"/>
                      </a:moveTo>
                      <a:lnTo>
                        <a:pt x="13" y="4"/>
                      </a:lnTo>
                      <a:lnTo>
                        <a:pt x="10" y="9"/>
                      </a:lnTo>
                      <a:lnTo>
                        <a:pt x="0" y="16"/>
                      </a:lnTo>
                      <a:lnTo>
                        <a:pt x="9" y="7"/>
                      </a:lnTo>
                      <a:lnTo>
                        <a:pt x="16"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44" name="Freeform 71"/>
                <p:cNvSpPr>
                  <a:spLocks/>
                </p:cNvSpPr>
                <p:nvPr/>
              </p:nvSpPr>
              <p:spPr bwMode="auto">
                <a:xfrm>
                  <a:off x="5352" y="1234"/>
                  <a:ext cx="17" cy="17"/>
                </a:xfrm>
                <a:custGeom>
                  <a:avLst/>
                  <a:gdLst>
                    <a:gd name="T0" fmla="*/ 0 w 17"/>
                    <a:gd name="T1" fmla="*/ 0 h 17"/>
                    <a:gd name="T2" fmla="*/ 10 w 17"/>
                    <a:gd name="T3" fmla="*/ 5 h 17"/>
                    <a:gd name="T4" fmla="*/ 16 w 17"/>
                    <a:gd name="T5" fmla="*/ 12 h 17"/>
                    <a:gd name="T6" fmla="*/ 16 w 17"/>
                    <a:gd name="T7" fmla="*/ 16 h 17"/>
                    <a:gd name="T8" fmla="*/ 16 w 17"/>
                    <a:gd name="T9" fmla="*/ 9 h 17"/>
                    <a:gd name="T10" fmla="*/ 16 w 17"/>
                    <a:gd name="T11" fmla="*/ 4 h 17"/>
                    <a:gd name="T12" fmla="*/ 0 w 17"/>
                    <a:gd name="T13" fmla="*/ 0 h 17"/>
                    <a:gd name="T14" fmla="*/ 0 60000 65536"/>
                    <a:gd name="T15" fmla="*/ 0 60000 65536"/>
                    <a:gd name="T16" fmla="*/ 0 60000 65536"/>
                    <a:gd name="T17" fmla="*/ 0 60000 65536"/>
                    <a:gd name="T18" fmla="*/ 0 60000 65536"/>
                    <a:gd name="T19" fmla="*/ 0 60000 65536"/>
                    <a:gd name="T20" fmla="*/ 0 60000 65536"/>
                    <a:gd name="T21" fmla="*/ 0 w 17"/>
                    <a:gd name="T22" fmla="*/ 0 h 17"/>
                    <a:gd name="T23" fmla="*/ 17 w 17"/>
                    <a:gd name="T24" fmla="*/ 17 h 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7">
                      <a:moveTo>
                        <a:pt x="0" y="0"/>
                      </a:moveTo>
                      <a:lnTo>
                        <a:pt x="10" y="5"/>
                      </a:lnTo>
                      <a:lnTo>
                        <a:pt x="16" y="12"/>
                      </a:lnTo>
                      <a:lnTo>
                        <a:pt x="16" y="16"/>
                      </a:lnTo>
                      <a:lnTo>
                        <a:pt x="16" y="9"/>
                      </a:lnTo>
                      <a:lnTo>
                        <a:pt x="16" y="4"/>
                      </a:lnTo>
                      <a:lnTo>
                        <a:pt x="0"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45" name="Freeform 72"/>
                <p:cNvSpPr>
                  <a:spLocks/>
                </p:cNvSpPr>
                <p:nvPr/>
              </p:nvSpPr>
              <p:spPr bwMode="auto">
                <a:xfrm>
                  <a:off x="5376" y="1223"/>
                  <a:ext cx="17" cy="17"/>
                </a:xfrm>
                <a:custGeom>
                  <a:avLst/>
                  <a:gdLst>
                    <a:gd name="T0" fmla="*/ 8 w 17"/>
                    <a:gd name="T1" fmla="*/ 0 h 17"/>
                    <a:gd name="T2" fmla="*/ 0 w 17"/>
                    <a:gd name="T3" fmla="*/ 6 h 17"/>
                    <a:gd name="T4" fmla="*/ 16 w 17"/>
                    <a:gd name="T5" fmla="*/ 16 h 17"/>
                    <a:gd name="T6" fmla="*/ 8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8" y="0"/>
                      </a:moveTo>
                      <a:lnTo>
                        <a:pt x="0" y="6"/>
                      </a:lnTo>
                      <a:lnTo>
                        <a:pt x="16" y="16"/>
                      </a:lnTo>
                      <a:lnTo>
                        <a:pt x="8"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grpSp>
            <p:nvGrpSpPr>
              <p:cNvPr id="10315" name="Group 73"/>
              <p:cNvGrpSpPr>
                <a:grpSpLocks/>
              </p:cNvGrpSpPr>
              <p:nvPr/>
            </p:nvGrpSpPr>
            <p:grpSpPr bwMode="auto">
              <a:xfrm>
                <a:off x="5198" y="1091"/>
                <a:ext cx="152" cy="219"/>
                <a:chOff x="5198" y="1091"/>
                <a:chExt cx="152" cy="219"/>
              </a:xfrm>
            </p:grpSpPr>
            <p:sp>
              <p:nvSpPr>
                <p:cNvPr id="10322" name="Freeform 74"/>
                <p:cNvSpPr>
                  <a:spLocks/>
                </p:cNvSpPr>
                <p:nvPr/>
              </p:nvSpPr>
              <p:spPr bwMode="auto">
                <a:xfrm>
                  <a:off x="5280" y="1091"/>
                  <a:ext cx="17" cy="17"/>
                </a:xfrm>
                <a:custGeom>
                  <a:avLst/>
                  <a:gdLst>
                    <a:gd name="T0" fmla="*/ 16 w 17"/>
                    <a:gd name="T1" fmla="*/ 0 h 17"/>
                    <a:gd name="T2" fmla="*/ 11 w 17"/>
                    <a:gd name="T3" fmla="*/ 3 h 17"/>
                    <a:gd name="T4" fmla="*/ 6 w 17"/>
                    <a:gd name="T5" fmla="*/ 6 h 17"/>
                    <a:gd name="T6" fmla="*/ 2 w 17"/>
                    <a:gd name="T7" fmla="*/ 9 h 17"/>
                    <a:gd name="T8" fmla="*/ 0 w 17"/>
                    <a:gd name="T9" fmla="*/ 16 h 17"/>
                    <a:gd name="T10" fmla="*/ 4 w 17"/>
                    <a:gd name="T11" fmla="*/ 12 h 17"/>
                    <a:gd name="T12" fmla="*/ 11 w 17"/>
                    <a:gd name="T13" fmla="*/ 9 h 17"/>
                    <a:gd name="T14" fmla="*/ 16 w 17"/>
                    <a:gd name="T15" fmla="*/ 0 h 17"/>
                    <a:gd name="T16" fmla="*/ 0 60000 65536"/>
                    <a:gd name="T17" fmla="*/ 0 60000 65536"/>
                    <a:gd name="T18" fmla="*/ 0 60000 65536"/>
                    <a:gd name="T19" fmla="*/ 0 60000 65536"/>
                    <a:gd name="T20" fmla="*/ 0 60000 65536"/>
                    <a:gd name="T21" fmla="*/ 0 60000 65536"/>
                    <a:gd name="T22" fmla="*/ 0 60000 65536"/>
                    <a:gd name="T23" fmla="*/ 0 60000 65536"/>
                    <a:gd name="T24" fmla="*/ 0 w 17"/>
                    <a:gd name="T25" fmla="*/ 0 h 17"/>
                    <a:gd name="T26" fmla="*/ 17 w 17"/>
                    <a:gd name="T27" fmla="*/ 17 h 1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 h="17">
                      <a:moveTo>
                        <a:pt x="16" y="0"/>
                      </a:moveTo>
                      <a:lnTo>
                        <a:pt x="11" y="3"/>
                      </a:lnTo>
                      <a:lnTo>
                        <a:pt x="6" y="6"/>
                      </a:lnTo>
                      <a:lnTo>
                        <a:pt x="2" y="9"/>
                      </a:lnTo>
                      <a:lnTo>
                        <a:pt x="0" y="16"/>
                      </a:lnTo>
                      <a:lnTo>
                        <a:pt x="4" y="12"/>
                      </a:lnTo>
                      <a:lnTo>
                        <a:pt x="11" y="9"/>
                      </a:lnTo>
                      <a:lnTo>
                        <a:pt x="16"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23" name="Freeform 75"/>
                <p:cNvSpPr>
                  <a:spLocks/>
                </p:cNvSpPr>
                <p:nvPr/>
              </p:nvSpPr>
              <p:spPr bwMode="auto">
                <a:xfrm>
                  <a:off x="5282" y="1098"/>
                  <a:ext cx="17" cy="17"/>
                </a:xfrm>
                <a:custGeom>
                  <a:avLst/>
                  <a:gdLst>
                    <a:gd name="T0" fmla="*/ 16 w 17"/>
                    <a:gd name="T1" fmla="*/ 0 h 17"/>
                    <a:gd name="T2" fmla="*/ 0 w 17"/>
                    <a:gd name="T3" fmla="*/ 0 h 17"/>
                    <a:gd name="T4" fmla="*/ 0 w 17"/>
                    <a:gd name="T5" fmla="*/ 16 h 17"/>
                    <a:gd name="T6" fmla="*/ 16 w 17"/>
                    <a:gd name="T7" fmla="*/ 0 h 17"/>
                    <a:gd name="T8" fmla="*/ 0 60000 65536"/>
                    <a:gd name="T9" fmla="*/ 0 60000 65536"/>
                    <a:gd name="T10" fmla="*/ 0 60000 65536"/>
                    <a:gd name="T11" fmla="*/ 0 60000 65536"/>
                    <a:gd name="T12" fmla="*/ 0 w 17"/>
                    <a:gd name="T13" fmla="*/ 0 h 17"/>
                    <a:gd name="T14" fmla="*/ 17 w 17"/>
                    <a:gd name="T15" fmla="*/ 17 h 17"/>
                  </a:gdLst>
                  <a:ahLst/>
                  <a:cxnLst>
                    <a:cxn ang="T8">
                      <a:pos x="T0" y="T1"/>
                    </a:cxn>
                    <a:cxn ang="T9">
                      <a:pos x="T2" y="T3"/>
                    </a:cxn>
                    <a:cxn ang="T10">
                      <a:pos x="T4" y="T5"/>
                    </a:cxn>
                    <a:cxn ang="T11">
                      <a:pos x="T6" y="T7"/>
                    </a:cxn>
                  </a:cxnLst>
                  <a:rect l="T12" t="T13" r="T14" b="T15"/>
                  <a:pathLst>
                    <a:path w="17" h="17">
                      <a:moveTo>
                        <a:pt x="16" y="0"/>
                      </a:moveTo>
                      <a:lnTo>
                        <a:pt x="0" y="0"/>
                      </a:lnTo>
                      <a:lnTo>
                        <a:pt x="0" y="16"/>
                      </a:lnTo>
                      <a:lnTo>
                        <a:pt x="16" y="0"/>
                      </a:lnTo>
                    </a:path>
                  </a:pathLst>
                </a:custGeom>
                <a:solidFill>
                  <a:srgbClr val="40200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24" name="Freeform 76"/>
                <p:cNvSpPr>
                  <a:spLocks/>
                </p:cNvSpPr>
                <p:nvPr/>
              </p:nvSpPr>
              <p:spPr bwMode="auto">
                <a:xfrm>
                  <a:off x="5263" y="1120"/>
                  <a:ext cx="41" cy="129"/>
                </a:xfrm>
                <a:custGeom>
                  <a:avLst/>
                  <a:gdLst>
                    <a:gd name="T0" fmla="*/ 5 w 41"/>
                    <a:gd name="T1" fmla="*/ 0 h 129"/>
                    <a:gd name="T2" fmla="*/ 9 w 41"/>
                    <a:gd name="T3" fmla="*/ 5 h 129"/>
                    <a:gd name="T4" fmla="*/ 11 w 41"/>
                    <a:gd name="T5" fmla="*/ 12 h 129"/>
                    <a:gd name="T6" fmla="*/ 16 w 41"/>
                    <a:gd name="T7" fmla="*/ 19 h 129"/>
                    <a:gd name="T8" fmla="*/ 28 w 41"/>
                    <a:gd name="T9" fmla="*/ 54 h 129"/>
                    <a:gd name="T10" fmla="*/ 35 w 41"/>
                    <a:gd name="T11" fmla="*/ 85 h 129"/>
                    <a:gd name="T12" fmla="*/ 40 w 41"/>
                    <a:gd name="T13" fmla="*/ 128 h 129"/>
                    <a:gd name="T14" fmla="*/ 23 w 41"/>
                    <a:gd name="T15" fmla="*/ 109 h 129"/>
                    <a:gd name="T16" fmla="*/ 0 w 41"/>
                    <a:gd name="T17" fmla="*/ 16 h 129"/>
                    <a:gd name="T18" fmla="*/ 5 w 41"/>
                    <a:gd name="T19" fmla="*/ 0 h 1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1"/>
                    <a:gd name="T31" fmla="*/ 0 h 129"/>
                    <a:gd name="T32" fmla="*/ 41 w 41"/>
                    <a:gd name="T33" fmla="*/ 129 h 1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1" h="129">
                      <a:moveTo>
                        <a:pt x="5" y="0"/>
                      </a:moveTo>
                      <a:lnTo>
                        <a:pt x="9" y="5"/>
                      </a:lnTo>
                      <a:lnTo>
                        <a:pt x="11" y="12"/>
                      </a:lnTo>
                      <a:lnTo>
                        <a:pt x="16" y="19"/>
                      </a:lnTo>
                      <a:lnTo>
                        <a:pt x="28" y="54"/>
                      </a:lnTo>
                      <a:lnTo>
                        <a:pt x="35" y="85"/>
                      </a:lnTo>
                      <a:lnTo>
                        <a:pt x="40" y="128"/>
                      </a:lnTo>
                      <a:lnTo>
                        <a:pt x="23" y="109"/>
                      </a:lnTo>
                      <a:lnTo>
                        <a:pt x="0" y="16"/>
                      </a:lnTo>
                      <a:lnTo>
                        <a:pt x="5" y="0"/>
                      </a:lnTo>
                    </a:path>
                  </a:pathLst>
                </a:custGeom>
                <a:solidFill>
                  <a:srgbClr val="400000"/>
                </a:solidFill>
                <a:ln w="12700" cap="rnd" cmpd="sng">
                  <a:solidFill>
                    <a:srgbClr val="000000"/>
                  </a:solidFill>
                  <a:prstDash val="solid"/>
                  <a:round/>
                  <a:headEnd/>
                  <a:tailEnd/>
                </a:ln>
              </p:spPr>
              <p:txBody>
                <a:bodyPr/>
                <a:lstStyle/>
                <a:p>
                  <a:endParaRPr lang="en-IN"/>
                </a:p>
              </p:txBody>
            </p:sp>
            <p:sp>
              <p:nvSpPr>
                <p:cNvPr id="10325" name="Freeform 77"/>
                <p:cNvSpPr>
                  <a:spLocks/>
                </p:cNvSpPr>
                <p:nvPr/>
              </p:nvSpPr>
              <p:spPr bwMode="auto">
                <a:xfrm>
                  <a:off x="5198" y="1095"/>
                  <a:ext cx="152" cy="215"/>
                </a:xfrm>
                <a:custGeom>
                  <a:avLst/>
                  <a:gdLst>
                    <a:gd name="T0" fmla="*/ 27 w 152"/>
                    <a:gd name="T1" fmla="*/ 11 h 215"/>
                    <a:gd name="T2" fmla="*/ 32 w 152"/>
                    <a:gd name="T3" fmla="*/ 0 h 215"/>
                    <a:gd name="T4" fmla="*/ 69 w 152"/>
                    <a:gd name="T5" fmla="*/ 19 h 215"/>
                    <a:gd name="T6" fmla="*/ 70 w 152"/>
                    <a:gd name="T7" fmla="*/ 34 h 215"/>
                    <a:gd name="T8" fmla="*/ 74 w 152"/>
                    <a:gd name="T9" fmla="*/ 39 h 215"/>
                    <a:gd name="T10" fmla="*/ 78 w 152"/>
                    <a:gd name="T11" fmla="*/ 45 h 215"/>
                    <a:gd name="T12" fmla="*/ 80 w 152"/>
                    <a:gd name="T13" fmla="*/ 56 h 215"/>
                    <a:gd name="T14" fmla="*/ 89 w 152"/>
                    <a:gd name="T15" fmla="*/ 81 h 215"/>
                    <a:gd name="T16" fmla="*/ 96 w 152"/>
                    <a:gd name="T17" fmla="*/ 109 h 215"/>
                    <a:gd name="T18" fmla="*/ 98 w 152"/>
                    <a:gd name="T19" fmla="*/ 129 h 215"/>
                    <a:gd name="T20" fmla="*/ 128 w 152"/>
                    <a:gd name="T21" fmla="*/ 130 h 215"/>
                    <a:gd name="T22" fmla="*/ 132 w 152"/>
                    <a:gd name="T23" fmla="*/ 134 h 215"/>
                    <a:gd name="T24" fmla="*/ 146 w 152"/>
                    <a:gd name="T25" fmla="*/ 134 h 215"/>
                    <a:gd name="T26" fmla="*/ 151 w 152"/>
                    <a:gd name="T27" fmla="*/ 141 h 215"/>
                    <a:gd name="T28" fmla="*/ 151 w 152"/>
                    <a:gd name="T29" fmla="*/ 150 h 215"/>
                    <a:gd name="T30" fmla="*/ 150 w 152"/>
                    <a:gd name="T31" fmla="*/ 159 h 215"/>
                    <a:gd name="T32" fmla="*/ 137 w 152"/>
                    <a:gd name="T33" fmla="*/ 161 h 215"/>
                    <a:gd name="T34" fmla="*/ 131 w 152"/>
                    <a:gd name="T35" fmla="*/ 173 h 215"/>
                    <a:gd name="T36" fmla="*/ 119 w 152"/>
                    <a:gd name="T37" fmla="*/ 176 h 215"/>
                    <a:gd name="T38" fmla="*/ 110 w 152"/>
                    <a:gd name="T39" fmla="*/ 176 h 215"/>
                    <a:gd name="T40" fmla="*/ 100 w 152"/>
                    <a:gd name="T41" fmla="*/ 178 h 215"/>
                    <a:gd name="T42" fmla="*/ 100 w 152"/>
                    <a:gd name="T43" fmla="*/ 184 h 215"/>
                    <a:gd name="T44" fmla="*/ 100 w 152"/>
                    <a:gd name="T45" fmla="*/ 195 h 215"/>
                    <a:gd name="T46" fmla="*/ 99 w 152"/>
                    <a:gd name="T47" fmla="*/ 202 h 215"/>
                    <a:gd name="T48" fmla="*/ 93 w 152"/>
                    <a:gd name="T49" fmla="*/ 203 h 215"/>
                    <a:gd name="T50" fmla="*/ 86 w 152"/>
                    <a:gd name="T51" fmla="*/ 205 h 215"/>
                    <a:gd name="T52" fmla="*/ 80 w 152"/>
                    <a:gd name="T53" fmla="*/ 213 h 215"/>
                    <a:gd name="T54" fmla="*/ 73 w 152"/>
                    <a:gd name="T55" fmla="*/ 213 h 215"/>
                    <a:gd name="T56" fmla="*/ 66 w 152"/>
                    <a:gd name="T57" fmla="*/ 212 h 215"/>
                    <a:gd name="T58" fmla="*/ 54 w 152"/>
                    <a:gd name="T59" fmla="*/ 207 h 215"/>
                    <a:gd name="T60" fmla="*/ 43 w 152"/>
                    <a:gd name="T61" fmla="*/ 209 h 215"/>
                    <a:gd name="T62" fmla="*/ 31 w 152"/>
                    <a:gd name="T63" fmla="*/ 214 h 215"/>
                    <a:gd name="T64" fmla="*/ 20 w 152"/>
                    <a:gd name="T65" fmla="*/ 210 h 215"/>
                    <a:gd name="T66" fmla="*/ 12 w 152"/>
                    <a:gd name="T67" fmla="*/ 199 h 215"/>
                    <a:gd name="T68" fmla="*/ 13 w 152"/>
                    <a:gd name="T69" fmla="*/ 187 h 215"/>
                    <a:gd name="T70" fmla="*/ 9 w 152"/>
                    <a:gd name="T71" fmla="*/ 172 h 215"/>
                    <a:gd name="T72" fmla="*/ 8 w 152"/>
                    <a:gd name="T73" fmla="*/ 152 h 215"/>
                    <a:gd name="T74" fmla="*/ 4 w 152"/>
                    <a:gd name="T75" fmla="*/ 135 h 215"/>
                    <a:gd name="T76" fmla="*/ 0 w 152"/>
                    <a:gd name="T77" fmla="*/ 108 h 215"/>
                    <a:gd name="T78" fmla="*/ 0 w 152"/>
                    <a:gd name="T79" fmla="*/ 81 h 215"/>
                    <a:gd name="T80" fmla="*/ 0 w 152"/>
                    <a:gd name="T81" fmla="*/ 56 h 215"/>
                    <a:gd name="T82" fmla="*/ 1 w 152"/>
                    <a:gd name="T83" fmla="*/ 40 h 215"/>
                    <a:gd name="T84" fmla="*/ 4 w 152"/>
                    <a:gd name="T85" fmla="*/ 32 h 215"/>
                    <a:gd name="T86" fmla="*/ 11 w 152"/>
                    <a:gd name="T87" fmla="*/ 27 h 215"/>
                    <a:gd name="T88" fmla="*/ 18 w 152"/>
                    <a:gd name="T89" fmla="*/ 16 h 215"/>
                    <a:gd name="T90" fmla="*/ 27 w 152"/>
                    <a:gd name="T91" fmla="*/ 11 h 215"/>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2"/>
                    <a:gd name="T139" fmla="*/ 0 h 215"/>
                    <a:gd name="T140" fmla="*/ 152 w 152"/>
                    <a:gd name="T141" fmla="*/ 215 h 215"/>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2" h="215">
                      <a:moveTo>
                        <a:pt x="27" y="11"/>
                      </a:moveTo>
                      <a:lnTo>
                        <a:pt x="32" y="0"/>
                      </a:lnTo>
                      <a:lnTo>
                        <a:pt x="69" y="19"/>
                      </a:lnTo>
                      <a:lnTo>
                        <a:pt x="70" y="34"/>
                      </a:lnTo>
                      <a:lnTo>
                        <a:pt x="74" y="39"/>
                      </a:lnTo>
                      <a:lnTo>
                        <a:pt x="78" y="45"/>
                      </a:lnTo>
                      <a:lnTo>
                        <a:pt x="80" y="56"/>
                      </a:lnTo>
                      <a:lnTo>
                        <a:pt x="89" y="81"/>
                      </a:lnTo>
                      <a:lnTo>
                        <a:pt x="96" y="109"/>
                      </a:lnTo>
                      <a:lnTo>
                        <a:pt x="98" y="129"/>
                      </a:lnTo>
                      <a:lnTo>
                        <a:pt x="128" y="130"/>
                      </a:lnTo>
                      <a:lnTo>
                        <a:pt x="132" y="134"/>
                      </a:lnTo>
                      <a:lnTo>
                        <a:pt x="146" y="134"/>
                      </a:lnTo>
                      <a:lnTo>
                        <a:pt x="151" y="141"/>
                      </a:lnTo>
                      <a:lnTo>
                        <a:pt x="151" y="150"/>
                      </a:lnTo>
                      <a:lnTo>
                        <a:pt x="150" y="159"/>
                      </a:lnTo>
                      <a:lnTo>
                        <a:pt x="137" y="161"/>
                      </a:lnTo>
                      <a:lnTo>
                        <a:pt x="131" y="173"/>
                      </a:lnTo>
                      <a:lnTo>
                        <a:pt x="119" y="176"/>
                      </a:lnTo>
                      <a:lnTo>
                        <a:pt x="110" y="176"/>
                      </a:lnTo>
                      <a:lnTo>
                        <a:pt x="100" y="178"/>
                      </a:lnTo>
                      <a:lnTo>
                        <a:pt x="100" y="184"/>
                      </a:lnTo>
                      <a:lnTo>
                        <a:pt x="100" y="195"/>
                      </a:lnTo>
                      <a:lnTo>
                        <a:pt x="99" y="202"/>
                      </a:lnTo>
                      <a:lnTo>
                        <a:pt x="93" y="203"/>
                      </a:lnTo>
                      <a:lnTo>
                        <a:pt x="86" y="205"/>
                      </a:lnTo>
                      <a:lnTo>
                        <a:pt x="80" y="213"/>
                      </a:lnTo>
                      <a:lnTo>
                        <a:pt x="73" y="213"/>
                      </a:lnTo>
                      <a:lnTo>
                        <a:pt x="66" y="212"/>
                      </a:lnTo>
                      <a:lnTo>
                        <a:pt x="54" y="207"/>
                      </a:lnTo>
                      <a:lnTo>
                        <a:pt x="43" y="209"/>
                      </a:lnTo>
                      <a:lnTo>
                        <a:pt x="31" y="214"/>
                      </a:lnTo>
                      <a:lnTo>
                        <a:pt x="20" y="210"/>
                      </a:lnTo>
                      <a:lnTo>
                        <a:pt x="12" y="199"/>
                      </a:lnTo>
                      <a:lnTo>
                        <a:pt x="13" y="187"/>
                      </a:lnTo>
                      <a:lnTo>
                        <a:pt x="9" y="172"/>
                      </a:lnTo>
                      <a:lnTo>
                        <a:pt x="8" y="152"/>
                      </a:lnTo>
                      <a:lnTo>
                        <a:pt x="4" y="135"/>
                      </a:lnTo>
                      <a:lnTo>
                        <a:pt x="0" y="108"/>
                      </a:lnTo>
                      <a:lnTo>
                        <a:pt x="0" y="81"/>
                      </a:lnTo>
                      <a:lnTo>
                        <a:pt x="0" y="56"/>
                      </a:lnTo>
                      <a:lnTo>
                        <a:pt x="1" y="40"/>
                      </a:lnTo>
                      <a:lnTo>
                        <a:pt x="4" y="32"/>
                      </a:lnTo>
                      <a:lnTo>
                        <a:pt x="11" y="27"/>
                      </a:lnTo>
                      <a:lnTo>
                        <a:pt x="18" y="16"/>
                      </a:lnTo>
                      <a:lnTo>
                        <a:pt x="27" y="11"/>
                      </a:lnTo>
                    </a:path>
                  </a:pathLst>
                </a:custGeom>
                <a:solidFill>
                  <a:srgbClr val="C0C0C0"/>
                </a:solidFill>
                <a:ln w="12700" cap="rnd" cmpd="sng">
                  <a:solidFill>
                    <a:srgbClr val="000000"/>
                  </a:solidFill>
                  <a:prstDash val="solid"/>
                  <a:round/>
                  <a:headEnd/>
                  <a:tailEnd/>
                </a:ln>
              </p:spPr>
              <p:txBody>
                <a:bodyPr/>
                <a:lstStyle/>
                <a:p>
                  <a:endParaRPr lang="en-IN"/>
                </a:p>
              </p:txBody>
            </p:sp>
            <p:sp>
              <p:nvSpPr>
                <p:cNvPr id="10326" name="Freeform 78"/>
                <p:cNvSpPr>
                  <a:spLocks/>
                </p:cNvSpPr>
                <p:nvPr/>
              </p:nvSpPr>
              <p:spPr bwMode="auto">
                <a:xfrm>
                  <a:off x="5201" y="1108"/>
                  <a:ext cx="97" cy="200"/>
                </a:xfrm>
                <a:custGeom>
                  <a:avLst/>
                  <a:gdLst>
                    <a:gd name="T0" fmla="*/ 83 w 97"/>
                    <a:gd name="T1" fmla="*/ 164 h 200"/>
                    <a:gd name="T2" fmla="*/ 60 w 97"/>
                    <a:gd name="T3" fmla="*/ 162 h 200"/>
                    <a:gd name="T4" fmla="*/ 41 w 97"/>
                    <a:gd name="T5" fmla="*/ 155 h 200"/>
                    <a:gd name="T6" fmla="*/ 34 w 97"/>
                    <a:gd name="T7" fmla="*/ 136 h 200"/>
                    <a:gd name="T8" fmla="*/ 36 w 97"/>
                    <a:gd name="T9" fmla="*/ 124 h 200"/>
                    <a:gd name="T10" fmla="*/ 21 w 97"/>
                    <a:gd name="T11" fmla="*/ 99 h 200"/>
                    <a:gd name="T12" fmla="*/ 35 w 97"/>
                    <a:gd name="T13" fmla="*/ 110 h 200"/>
                    <a:gd name="T14" fmla="*/ 27 w 97"/>
                    <a:gd name="T15" fmla="*/ 88 h 200"/>
                    <a:gd name="T16" fmla="*/ 16 w 97"/>
                    <a:gd name="T17" fmla="*/ 58 h 200"/>
                    <a:gd name="T18" fmla="*/ 34 w 97"/>
                    <a:gd name="T19" fmla="*/ 83 h 200"/>
                    <a:gd name="T20" fmla="*/ 36 w 97"/>
                    <a:gd name="T21" fmla="*/ 44 h 200"/>
                    <a:gd name="T22" fmla="*/ 45 w 97"/>
                    <a:gd name="T23" fmla="*/ 31 h 200"/>
                    <a:gd name="T24" fmla="*/ 57 w 97"/>
                    <a:gd name="T25" fmla="*/ 25 h 200"/>
                    <a:gd name="T26" fmla="*/ 33 w 97"/>
                    <a:gd name="T27" fmla="*/ 15 h 200"/>
                    <a:gd name="T28" fmla="*/ 22 w 97"/>
                    <a:gd name="T29" fmla="*/ 27 h 200"/>
                    <a:gd name="T30" fmla="*/ 29 w 97"/>
                    <a:gd name="T31" fmla="*/ 15 h 200"/>
                    <a:gd name="T32" fmla="*/ 43 w 97"/>
                    <a:gd name="T33" fmla="*/ 9 h 200"/>
                    <a:gd name="T34" fmla="*/ 33 w 97"/>
                    <a:gd name="T35" fmla="*/ 5 h 200"/>
                    <a:gd name="T36" fmla="*/ 25 w 97"/>
                    <a:gd name="T37" fmla="*/ 0 h 200"/>
                    <a:gd name="T38" fmla="*/ 13 w 97"/>
                    <a:gd name="T39" fmla="*/ 11 h 200"/>
                    <a:gd name="T40" fmla="*/ 3 w 97"/>
                    <a:gd name="T41" fmla="*/ 21 h 200"/>
                    <a:gd name="T42" fmla="*/ 0 w 97"/>
                    <a:gd name="T43" fmla="*/ 39 h 200"/>
                    <a:gd name="T44" fmla="*/ 0 w 97"/>
                    <a:gd name="T45" fmla="*/ 74 h 200"/>
                    <a:gd name="T46" fmla="*/ 4 w 97"/>
                    <a:gd name="T47" fmla="*/ 116 h 200"/>
                    <a:gd name="T48" fmla="*/ 9 w 97"/>
                    <a:gd name="T49" fmla="*/ 156 h 200"/>
                    <a:gd name="T50" fmla="*/ 11 w 97"/>
                    <a:gd name="T51" fmla="*/ 182 h 200"/>
                    <a:gd name="T52" fmla="*/ 17 w 97"/>
                    <a:gd name="T53" fmla="*/ 193 h 200"/>
                    <a:gd name="T54" fmla="*/ 29 w 97"/>
                    <a:gd name="T55" fmla="*/ 199 h 200"/>
                    <a:gd name="T56" fmla="*/ 38 w 97"/>
                    <a:gd name="T57" fmla="*/ 196 h 200"/>
                    <a:gd name="T58" fmla="*/ 44 w 97"/>
                    <a:gd name="T59" fmla="*/ 185 h 200"/>
                    <a:gd name="T60" fmla="*/ 47 w 97"/>
                    <a:gd name="T61" fmla="*/ 182 h 200"/>
                    <a:gd name="T62" fmla="*/ 57 w 97"/>
                    <a:gd name="T63" fmla="*/ 193 h 200"/>
                    <a:gd name="T64" fmla="*/ 69 w 97"/>
                    <a:gd name="T65" fmla="*/ 197 h 200"/>
                    <a:gd name="T66" fmla="*/ 79 w 97"/>
                    <a:gd name="T67" fmla="*/ 195 h 200"/>
                    <a:gd name="T68" fmla="*/ 73 w 97"/>
                    <a:gd name="T69" fmla="*/ 186 h 200"/>
                    <a:gd name="T70" fmla="*/ 62 w 97"/>
                    <a:gd name="T71" fmla="*/ 171 h 200"/>
                    <a:gd name="T72" fmla="*/ 79 w 97"/>
                    <a:gd name="T73" fmla="*/ 183 h 200"/>
                    <a:gd name="T74" fmla="*/ 92 w 97"/>
                    <a:gd name="T75" fmla="*/ 189 h 200"/>
                    <a:gd name="T76" fmla="*/ 96 w 97"/>
                    <a:gd name="T77" fmla="*/ 182 h 20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7"/>
                    <a:gd name="T118" fmla="*/ 0 h 200"/>
                    <a:gd name="T119" fmla="*/ 97 w 97"/>
                    <a:gd name="T120" fmla="*/ 200 h 20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7" h="200">
                      <a:moveTo>
                        <a:pt x="96" y="167"/>
                      </a:moveTo>
                      <a:lnTo>
                        <a:pt x="83" y="164"/>
                      </a:lnTo>
                      <a:lnTo>
                        <a:pt x="72" y="163"/>
                      </a:lnTo>
                      <a:lnTo>
                        <a:pt x="60" y="162"/>
                      </a:lnTo>
                      <a:lnTo>
                        <a:pt x="47" y="159"/>
                      </a:lnTo>
                      <a:lnTo>
                        <a:pt x="41" y="155"/>
                      </a:lnTo>
                      <a:lnTo>
                        <a:pt x="25" y="129"/>
                      </a:lnTo>
                      <a:lnTo>
                        <a:pt x="34" y="136"/>
                      </a:lnTo>
                      <a:lnTo>
                        <a:pt x="38" y="143"/>
                      </a:lnTo>
                      <a:lnTo>
                        <a:pt x="36" y="124"/>
                      </a:lnTo>
                      <a:lnTo>
                        <a:pt x="29" y="118"/>
                      </a:lnTo>
                      <a:lnTo>
                        <a:pt x="21" y="99"/>
                      </a:lnTo>
                      <a:lnTo>
                        <a:pt x="29" y="108"/>
                      </a:lnTo>
                      <a:lnTo>
                        <a:pt x="35" y="110"/>
                      </a:lnTo>
                      <a:lnTo>
                        <a:pt x="34" y="97"/>
                      </a:lnTo>
                      <a:lnTo>
                        <a:pt x="27" y="88"/>
                      </a:lnTo>
                      <a:lnTo>
                        <a:pt x="22" y="81"/>
                      </a:lnTo>
                      <a:lnTo>
                        <a:pt x="16" y="58"/>
                      </a:lnTo>
                      <a:lnTo>
                        <a:pt x="27" y="77"/>
                      </a:lnTo>
                      <a:lnTo>
                        <a:pt x="34" y="83"/>
                      </a:lnTo>
                      <a:lnTo>
                        <a:pt x="34" y="55"/>
                      </a:lnTo>
                      <a:lnTo>
                        <a:pt x="36" y="44"/>
                      </a:lnTo>
                      <a:lnTo>
                        <a:pt x="39" y="39"/>
                      </a:lnTo>
                      <a:lnTo>
                        <a:pt x="45" y="31"/>
                      </a:lnTo>
                      <a:lnTo>
                        <a:pt x="53" y="27"/>
                      </a:lnTo>
                      <a:lnTo>
                        <a:pt x="57" y="25"/>
                      </a:lnTo>
                      <a:lnTo>
                        <a:pt x="45" y="11"/>
                      </a:lnTo>
                      <a:lnTo>
                        <a:pt x="33" y="15"/>
                      </a:lnTo>
                      <a:lnTo>
                        <a:pt x="25" y="20"/>
                      </a:lnTo>
                      <a:lnTo>
                        <a:pt x="22" y="27"/>
                      </a:lnTo>
                      <a:lnTo>
                        <a:pt x="24" y="17"/>
                      </a:lnTo>
                      <a:lnTo>
                        <a:pt x="29" y="15"/>
                      </a:lnTo>
                      <a:lnTo>
                        <a:pt x="36" y="11"/>
                      </a:lnTo>
                      <a:lnTo>
                        <a:pt x="43" y="9"/>
                      </a:lnTo>
                      <a:lnTo>
                        <a:pt x="38" y="7"/>
                      </a:lnTo>
                      <a:lnTo>
                        <a:pt x="33" y="5"/>
                      </a:lnTo>
                      <a:lnTo>
                        <a:pt x="27" y="2"/>
                      </a:lnTo>
                      <a:lnTo>
                        <a:pt x="25" y="0"/>
                      </a:lnTo>
                      <a:lnTo>
                        <a:pt x="18" y="5"/>
                      </a:lnTo>
                      <a:lnTo>
                        <a:pt x="13" y="11"/>
                      </a:lnTo>
                      <a:lnTo>
                        <a:pt x="9" y="17"/>
                      </a:lnTo>
                      <a:lnTo>
                        <a:pt x="3" y="21"/>
                      </a:lnTo>
                      <a:lnTo>
                        <a:pt x="2" y="28"/>
                      </a:lnTo>
                      <a:lnTo>
                        <a:pt x="0" y="39"/>
                      </a:lnTo>
                      <a:lnTo>
                        <a:pt x="0" y="56"/>
                      </a:lnTo>
                      <a:lnTo>
                        <a:pt x="0" y="74"/>
                      </a:lnTo>
                      <a:lnTo>
                        <a:pt x="1" y="95"/>
                      </a:lnTo>
                      <a:lnTo>
                        <a:pt x="4" y="116"/>
                      </a:lnTo>
                      <a:lnTo>
                        <a:pt x="7" y="137"/>
                      </a:lnTo>
                      <a:lnTo>
                        <a:pt x="9" y="156"/>
                      </a:lnTo>
                      <a:lnTo>
                        <a:pt x="12" y="169"/>
                      </a:lnTo>
                      <a:lnTo>
                        <a:pt x="11" y="182"/>
                      </a:lnTo>
                      <a:lnTo>
                        <a:pt x="13" y="188"/>
                      </a:lnTo>
                      <a:lnTo>
                        <a:pt x="17" y="193"/>
                      </a:lnTo>
                      <a:lnTo>
                        <a:pt x="22" y="198"/>
                      </a:lnTo>
                      <a:lnTo>
                        <a:pt x="29" y="199"/>
                      </a:lnTo>
                      <a:lnTo>
                        <a:pt x="33" y="197"/>
                      </a:lnTo>
                      <a:lnTo>
                        <a:pt x="38" y="196"/>
                      </a:lnTo>
                      <a:lnTo>
                        <a:pt x="49" y="193"/>
                      </a:lnTo>
                      <a:lnTo>
                        <a:pt x="44" y="185"/>
                      </a:lnTo>
                      <a:lnTo>
                        <a:pt x="38" y="175"/>
                      </a:lnTo>
                      <a:lnTo>
                        <a:pt x="47" y="182"/>
                      </a:lnTo>
                      <a:lnTo>
                        <a:pt x="52" y="189"/>
                      </a:lnTo>
                      <a:lnTo>
                        <a:pt x="57" y="193"/>
                      </a:lnTo>
                      <a:lnTo>
                        <a:pt x="63" y="197"/>
                      </a:lnTo>
                      <a:lnTo>
                        <a:pt x="69" y="197"/>
                      </a:lnTo>
                      <a:lnTo>
                        <a:pt x="75" y="197"/>
                      </a:lnTo>
                      <a:lnTo>
                        <a:pt x="79" y="195"/>
                      </a:lnTo>
                      <a:lnTo>
                        <a:pt x="81" y="192"/>
                      </a:lnTo>
                      <a:lnTo>
                        <a:pt x="73" y="186"/>
                      </a:lnTo>
                      <a:lnTo>
                        <a:pt x="64" y="176"/>
                      </a:lnTo>
                      <a:lnTo>
                        <a:pt x="62" y="171"/>
                      </a:lnTo>
                      <a:lnTo>
                        <a:pt x="68" y="174"/>
                      </a:lnTo>
                      <a:lnTo>
                        <a:pt x="79" y="183"/>
                      </a:lnTo>
                      <a:lnTo>
                        <a:pt x="83" y="188"/>
                      </a:lnTo>
                      <a:lnTo>
                        <a:pt x="92" y="189"/>
                      </a:lnTo>
                      <a:lnTo>
                        <a:pt x="96" y="187"/>
                      </a:lnTo>
                      <a:lnTo>
                        <a:pt x="96" y="182"/>
                      </a:lnTo>
                      <a:lnTo>
                        <a:pt x="96" y="167"/>
                      </a:lnTo>
                    </a:path>
                  </a:pathLst>
                </a:custGeom>
                <a:solidFill>
                  <a:srgbClr val="E0E0E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27" name="Freeform 79"/>
                <p:cNvSpPr>
                  <a:spLocks/>
                </p:cNvSpPr>
                <p:nvPr/>
              </p:nvSpPr>
              <p:spPr bwMode="auto">
                <a:xfrm>
                  <a:off x="5208" y="1207"/>
                  <a:ext cx="29" cy="93"/>
                </a:xfrm>
                <a:custGeom>
                  <a:avLst/>
                  <a:gdLst>
                    <a:gd name="T0" fmla="*/ 28 w 29"/>
                    <a:gd name="T1" fmla="*/ 92 h 93"/>
                    <a:gd name="T2" fmla="*/ 23 w 29"/>
                    <a:gd name="T3" fmla="*/ 88 h 93"/>
                    <a:gd name="T4" fmla="*/ 18 w 29"/>
                    <a:gd name="T5" fmla="*/ 81 h 93"/>
                    <a:gd name="T6" fmla="*/ 13 w 29"/>
                    <a:gd name="T7" fmla="*/ 68 h 93"/>
                    <a:gd name="T8" fmla="*/ 11 w 29"/>
                    <a:gd name="T9" fmla="*/ 57 h 93"/>
                    <a:gd name="T10" fmla="*/ 7 w 29"/>
                    <a:gd name="T11" fmla="*/ 44 h 93"/>
                    <a:gd name="T12" fmla="*/ 5 w 29"/>
                    <a:gd name="T13" fmla="*/ 32 h 93"/>
                    <a:gd name="T14" fmla="*/ 2 w 29"/>
                    <a:gd name="T15" fmla="*/ 13 h 93"/>
                    <a:gd name="T16" fmla="*/ 0 w 29"/>
                    <a:gd name="T17" fmla="*/ 0 h 93"/>
                    <a:gd name="T18" fmla="*/ 6 w 29"/>
                    <a:gd name="T19" fmla="*/ 26 h 93"/>
                    <a:gd name="T20" fmla="*/ 11 w 29"/>
                    <a:gd name="T21" fmla="*/ 47 h 93"/>
                    <a:gd name="T22" fmla="*/ 16 w 29"/>
                    <a:gd name="T23" fmla="*/ 61 h 93"/>
                    <a:gd name="T24" fmla="*/ 24 w 29"/>
                    <a:gd name="T25" fmla="*/ 76 h 93"/>
                    <a:gd name="T26" fmla="*/ 28 w 29"/>
                    <a:gd name="T27" fmla="*/ 92 h 9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29"/>
                    <a:gd name="T43" fmla="*/ 0 h 93"/>
                    <a:gd name="T44" fmla="*/ 29 w 29"/>
                    <a:gd name="T45" fmla="*/ 93 h 9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9" h="93">
                      <a:moveTo>
                        <a:pt x="28" y="92"/>
                      </a:moveTo>
                      <a:lnTo>
                        <a:pt x="23" y="88"/>
                      </a:lnTo>
                      <a:lnTo>
                        <a:pt x="18" y="81"/>
                      </a:lnTo>
                      <a:lnTo>
                        <a:pt x="13" y="68"/>
                      </a:lnTo>
                      <a:lnTo>
                        <a:pt x="11" y="57"/>
                      </a:lnTo>
                      <a:lnTo>
                        <a:pt x="7" y="44"/>
                      </a:lnTo>
                      <a:lnTo>
                        <a:pt x="5" y="32"/>
                      </a:lnTo>
                      <a:lnTo>
                        <a:pt x="2" y="13"/>
                      </a:lnTo>
                      <a:lnTo>
                        <a:pt x="0" y="0"/>
                      </a:lnTo>
                      <a:lnTo>
                        <a:pt x="6" y="26"/>
                      </a:lnTo>
                      <a:lnTo>
                        <a:pt x="11" y="47"/>
                      </a:lnTo>
                      <a:lnTo>
                        <a:pt x="16" y="61"/>
                      </a:lnTo>
                      <a:lnTo>
                        <a:pt x="24" y="76"/>
                      </a:lnTo>
                      <a:lnTo>
                        <a:pt x="28" y="92"/>
                      </a:lnTo>
                    </a:path>
                  </a:pathLst>
                </a:custGeom>
                <a:solidFill>
                  <a:srgbClr val="C0C0C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28" name="Freeform 80"/>
                <p:cNvSpPr>
                  <a:spLocks/>
                </p:cNvSpPr>
                <p:nvPr/>
              </p:nvSpPr>
              <p:spPr bwMode="auto">
                <a:xfrm>
                  <a:off x="5236" y="1133"/>
                  <a:ext cx="112" cy="139"/>
                </a:xfrm>
                <a:custGeom>
                  <a:avLst/>
                  <a:gdLst>
                    <a:gd name="T0" fmla="*/ 33 w 112"/>
                    <a:gd name="T1" fmla="*/ 5 h 139"/>
                    <a:gd name="T2" fmla="*/ 43 w 112"/>
                    <a:gd name="T3" fmla="*/ 25 h 139"/>
                    <a:gd name="T4" fmla="*/ 41 w 112"/>
                    <a:gd name="T5" fmla="*/ 45 h 139"/>
                    <a:gd name="T6" fmla="*/ 42 w 112"/>
                    <a:gd name="T7" fmla="*/ 67 h 139"/>
                    <a:gd name="T8" fmla="*/ 42 w 112"/>
                    <a:gd name="T9" fmla="*/ 73 h 139"/>
                    <a:gd name="T10" fmla="*/ 41 w 112"/>
                    <a:gd name="T11" fmla="*/ 81 h 139"/>
                    <a:gd name="T12" fmla="*/ 46 w 112"/>
                    <a:gd name="T13" fmla="*/ 86 h 139"/>
                    <a:gd name="T14" fmla="*/ 50 w 112"/>
                    <a:gd name="T15" fmla="*/ 92 h 139"/>
                    <a:gd name="T16" fmla="*/ 57 w 112"/>
                    <a:gd name="T17" fmla="*/ 92 h 139"/>
                    <a:gd name="T18" fmla="*/ 82 w 112"/>
                    <a:gd name="T19" fmla="*/ 94 h 139"/>
                    <a:gd name="T20" fmla="*/ 94 w 112"/>
                    <a:gd name="T21" fmla="*/ 98 h 139"/>
                    <a:gd name="T22" fmla="*/ 111 w 112"/>
                    <a:gd name="T23" fmla="*/ 103 h 139"/>
                    <a:gd name="T24" fmla="*/ 110 w 112"/>
                    <a:gd name="T25" fmla="*/ 118 h 139"/>
                    <a:gd name="T26" fmla="*/ 101 w 112"/>
                    <a:gd name="T27" fmla="*/ 115 h 139"/>
                    <a:gd name="T28" fmla="*/ 98 w 112"/>
                    <a:gd name="T29" fmla="*/ 108 h 139"/>
                    <a:gd name="T30" fmla="*/ 97 w 112"/>
                    <a:gd name="T31" fmla="*/ 122 h 139"/>
                    <a:gd name="T32" fmla="*/ 90 w 112"/>
                    <a:gd name="T33" fmla="*/ 132 h 139"/>
                    <a:gd name="T34" fmla="*/ 73 w 112"/>
                    <a:gd name="T35" fmla="*/ 137 h 139"/>
                    <a:gd name="T36" fmla="*/ 75 w 112"/>
                    <a:gd name="T37" fmla="*/ 130 h 139"/>
                    <a:gd name="T38" fmla="*/ 85 w 112"/>
                    <a:gd name="T39" fmla="*/ 115 h 139"/>
                    <a:gd name="T40" fmla="*/ 77 w 112"/>
                    <a:gd name="T41" fmla="*/ 110 h 139"/>
                    <a:gd name="T42" fmla="*/ 73 w 112"/>
                    <a:gd name="T43" fmla="*/ 122 h 139"/>
                    <a:gd name="T44" fmla="*/ 60 w 112"/>
                    <a:gd name="T45" fmla="*/ 136 h 139"/>
                    <a:gd name="T46" fmla="*/ 43 w 112"/>
                    <a:gd name="T47" fmla="*/ 136 h 139"/>
                    <a:gd name="T48" fmla="*/ 62 w 112"/>
                    <a:gd name="T49" fmla="*/ 120 h 139"/>
                    <a:gd name="T50" fmla="*/ 69 w 112"/>
                    <a:gd name="T51" fmla="*/ 110 h 139"/>
                    <a:gd name="T52" fmla="*/ 66 w 112"/>
                    <a:gd name="T53" fmla="*/ 104 h 139"/>
                    <a:gd name="T54" fmla="*/ 59 w 112"/>
                    <a:gd name="T55" fmla="*/ 115 h 139"/>
                    <a:gd name="T56" fmla="*/ 47 w 112"/>
                    <a:gd name="T57" fmla="*/ 126 h 139"/>
                    <a:gd name="T58" fmla="*/ 37 w 112"/>
                    <a:gd name="T59" fmla="*/ 133 h 139"/>
                    <a:gd name="T60" fmla="*/ 24 w 112"/>
                    <a:gd name="T61" fmla="*/ 134 h 139"/>
                    <a:gd name="T62" fmla="*/ 32 w 112"/>
                    <a:gd name="T63" fmla="*/ 126 h 139"/>
                    <a:gd name="T64" fmla="*/ 42 w 112"/>
                    <a:gd name="T65" fmla="*/ 115 h 139"/>
                    <a:gd name="T66" fmla="*/ 39 w 112"/>
                    <a:gd name="T67" fmla="*/ 110 h 139"/>
                    <a:gd name="T68" fmla="*/ 34 w 112"/>
                    <a:gd name="T69" fmla="*/ 119 h 139"/>
                    <a:gd name="T70" fmla="*/ 25 w 112"/>
                    <a:gd name="T71" fmla="*/ 129 h 139"/>
                    <a:gd name="T72" fmla="*/ 12 w 112"/>
                    <a:gd name="T73" fmla="*/ 130 h 139"/>
                    <a:gd name="T74" fmla="*/ 5 w 112"/>
                    <a:gd name="T75" fmla="*/ 117 h 139"/>
                    <a:gd name="T76" fmla="*/ 28 w 112"/>
                    <a:gd name="T77" fmla="*/ 113 h 139"/>
                    <a:gd name="T78" fmla="*/ 41 w 112"/>
                    <a:gd name="T79" fmla="*/ 103 h 139"/>
                    <a:gd name="T80" fmla="*/ 44 w 112"/>
                    <a:gd name="T81" fmla="*/ 94 h 139"/>
                    <a:gd name="T82" fmla="*/ 39 w 112"/>
                    <a:gd name="T83" fmla="*/ 98 h 139"/>
                    <a:gd name="T84" fmla="*/ 23 w 112"/>
                    <a:gd name="T85" fmla="*/ 111 h 139"/>
                    <a:gd name="T86" fmla="*/ 5 w 112"/>
                    <a:gd name="T87" fmla="*/ 117 h 139"/>
                    <a:gd name="T88" fmla="*/ 2 w 112"/>
                    <a:gd name="T89" fmla="*/ 91 h 139"/>
                    <a:gd name="T90" fmla="*/ 12 w 112"/>
                    <a:gd name="T91" fmla="*/ 88 h 139"/>
                    <a:gd name="T92" fmla="*/ 33 w 112"/>
                    <a:gd name="T93" fmla="*/ 90 h 139"/>
                    <a:gd name="T94" fmla="*/ 37 w 112"/>
                    <a:gd name="T95" fmla="*/ 84 h 139"/>
                    <a:gd name="T96" fmla="*/ 25 w 112"/>
                    <a:gd name="T97" fmla="*/ 87 h 139"/>
                    <a:gd name="T98" fmla="*/ 2 w 112"/>
                    <a:gd name="T99" fmla="*/ 81 h 139"/>
                    <a:gd name="T100" fmla="*/ 0 w 112"/>
                    <a:gd name="T101" fmla="*/ 57 h 139"/>
                    <a:gd name="T102" fmla="*/ 1 w 112"/>
                    <a:gd name="T103" fmla="*/ 30 h 139"/>
                    <a:gd name="T104" fmla="*/ 13 w 112"/>
                    <a:gd name="T105" fmla="*/ 18 h 139"/>
                    <a:gd name="T106" fmla="*/ 1 w 112"/>
                    <a:gd name="T107" fmla="*/ 23 h 139"/>
                    <a:gd name="T108" fmla="*/ 8 w 112"/>
                    <a:gd name="T109" fmla="*/ 7 h 139"/>
                    <a:gd name="T110" fmla="*/ 20 w 112"/>
                    <a:gd name="T111" fmla="*/ 0 h 13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12"/>
                    <a:gd name="T169" fmla="*/ 0 h 139"/>
                    <a:gd name="T170" fmla="*/ 112 w 112"/>
                    <a:gd name="T171" fmla="*/ 139 h 13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12" h="139">
                      <a:moveTo>
                        <a:pt x="20" y="0"/>
                      </a:moveTo>
                      <a:lnTo>
                        <a:pt x="33" y="5"/>
                      </a:lnTo>
                      <a:lnTo>
                        <a:pt x="39" y="11"/>
                      </a:lnTo>
                      <a:lnTo>
                        <a:pt x="43" y="25"/>
                      </a:lnTo>
                      <a:lnTo>
                        <a:pt x="43" y="38"/>
                      </a:lnTo>
                      <a:lnTo>
                        <a:pt x="41" y="45"/>
                      </a:lnTo>
                      <a:lnTo>
                        <a:pt x="42" y="57"/>
                      </a:lnTo>
                      <a:lnTo>
                        <a:pt x="42" y="67"/>
                      </a:lnTo>
                      <a:lnTo>
                        <a:pt x="40" y="70"/>
                      </a:lnTo>
                      <a:lnTo>
                        <a:pt x="42" y="73"/>
                      </a:lnTo>
                      <a:lnTo>
                        <a:pt x="43" y="77"/>
                      </a:lnTo>
                      <a:lnTo>
                        <a:pt x="41" y="81"/>
                      </a:lnTo>
                      <a:lnTo>
                        <a:pt x="41" y="84"/>
                      </a:lnTo>
                      <a:lnTo>
                        <a:pt x="46" y="86"/>
                      </a:lnTo>
                      <a:lnTo>
                        <a:pt x="45" y="90"/>
                      </a:lnTo>
                      <a:lnTo>
                        <a:pt x="50" y="92"/>
                      </a:lnTo>
                      <a:lnTo>
                        <a:pt x="54" y="91"/>
                      </a:lnTo>
                      <a:lnTo>
                        <a:pt x="57" y="92"/>
                      </a:lnTo>
                      <a:lnTo>
                        <a:pt x="70" y="95"/>
                      </a:lnTo>
                      <a:lnTo>
                        <a:pt x="82" y="94"/>
                      </a:lnTo>
                      <a:lnTo>
                        <a:pt x="90" y="95"/>
                      </a:lnTo>
                      <a:lnTo>
                        <a:pt x="94" y="98"/>
                      </a:lnTo>
                      <a:lnTo>
                        <a:pt x="106" y="98"/>
                      </a:lnTo>
                      <a:lnTo>
                        <a:pt x="111" y="103"/>
                      </a:lnTo>
                      <a:lnTo>
                        <a:pt x="111" y="109"/>
                      </a:lnTo>
                      <a:lnTo>
                        <a:pt x="110" y="118"/>
                      </a:lnTo>
                      <a:lnTo>
                        <a:pt x="101" y="122"/>
                      </a:lnTo>
                      <a:lnTo>
                        <a:pt x="101" y="115"/>
                      </a:lnTo>
                      <a:lnTo>
                        <a:pt x="100" y="111"/>
                      </a:lnTo>
                      <a:lnTo>
                        <a:pt x="98" y="108"/>
                      </a:lnTo>
                      <a:lnTo>
                        <a:pt x="98" y="115"/>
                      </a:lnTo>
                      <a:lnTo>
                        <a:pt x="97" y="122"/>
                      </a:lnTo>
                      <a:lnTo>
                        <a:pt x="94" y="126"/>
                      </a:lnTo>
                      <a:lnTo>
                        <a:pt x="90" y="132"/>
                      </a:lnTo>
                      <a:lnTo>
                        <a:pt x="80" y="135"/>
                      </a:lnTo>
                      <a:lnTo>
                        <a:pt x="73" y="137"/>
                      </a:lnTo>
                      <a:lnTo>
                        <a:pt x="64" y="138"/>
                      </a:lnTo>
                      <a:lnTo>
                        <a:pt x="75" y="130"/>
                      </a:lnTo>
                      <a:lnTo>
                        <a:pt x="83" y="122"/>
                      </a:lnTo>
                      <a:lnTo>
                        <a:pt x="85" y="115"/>
                      </a:lnTo>
                      <a:lnTo>
                        <a:pt x="83" y="111"/>
                      </a:lnTo>
                      <a:lnTo>
                        <a:pt x="77" y="110"/>
                      </a:lnTo>
                      <a:lnTo>
                        <a:pt x="74" y="115"/>
                      </a:lnTo>
                      <a:lnTo>
                        <a:pt x="73" y="122"/>
                      </a:lnTo>
                      <a:lnTo>
                        <a:pt x="67" y="130"/>
                      </a:lnTo>
                      <a:lnTo>
                        <a:pt x="60" y="136"/>
                      </a:lnTo>
                      <a:lnTo>
                        <a:pt x="53" y="137"/>
                      </a:lnTo>
                      <a:lnTo>
                        <a:pt x="43" y="136"/>
                      </a:lnTo>
                      <a:lnTo>
                        <a:pt x="54" y="126"/>
                      </a:lnTo>
                      <a:lnTo>
                        <a:pt x="62" y="120"/>
                      </a:lnTo>
                      <a:lnTo>
                        <a:pt x="68" y="115"/>
                      </a:lnTo>
                      <a:lnTo>
                        <a:pt x="69" y="110"/>
                      </a:lnTo>
                      <a:lnTo>
                        <a:pt x="69" y="105"/>
                      </a:lnTo>
                      <a:lnTo>
                        <a:pt x="66" y="104"/>
                      </a:lnTo>
                      <a:lnTo>
                        <a:pt x="62" y="109"/>
                      </a:lnTo>
                      <a:lnTo>
                        <a:pt x="59" y="115"/>
                      </a:lnTo>
                      <a:lnTo>
                        <a:pt x="53" y="122"/>
                      </a:lnTo>
                      <a:lnTo>
                        <a:pt x="47" y="126"/>
                      </a:lnTo>
                      <a:lnTo>
                        <a:pt x="42" y="130"/>
                      </a:lnTo>
                      <a:lnTo>
                        <a:pt x="37" y="133"/>
                      </a:lnTo>
                      <a:lnTo>
                        <a:pt x="31" y="134"/>
                      </a:lnTo>
                      <a:lnTo>
                        <a:pt x="24" y="134"/>
                      </a:lnTo>
                      <a:lnTo>
                        <a:pt x="17" y="133"/>
                      </a:lnTo>
                      <a:lnTo>
                        <a:pt x="32" y="126"/>
                      </a:lnTo>
                      <a:lnTo>
                        <a:pt x="38" y="122"/>
                      </a:lnTo>
                      <a:lnTo>
                        <a:pt x="42" y="115"/>
                      </a:lnTo>
                      <a:lnTo>
                        <a:pt x="43" y="110"/>
                      </a:lnTo>
                      <a:lnTo>
                        <a:pt x="39" y="110"/>
                      </a:lnTo>
                      <a:lnTo>
                        <a:pt x="37" y="115"/>
                      </a:lnTo>
                      <a:lnTo>
                        <a:pt x="34" y="119"/>
                      </a:lnTo>
                      <a:lnTo>
                        <a:pt x="30" y="124"/>
                      </a:lnTo>
                      <a:lnTo>
                        <a:pt x="25" y="129"/>
                      </a:lnTo>
                      <a:lnTo>
                        <a:pt x="17" y="133"/>
                      </a:lnTo>
                      <a:lnTo>
                        <a:pt x="12" y="130"/>
                      </a:lnTo>
                      <a:lnTo>
                        <a:pt x="9" y="126"/>
                      </a:lnTo>
                      <a:lnTo>
                        <a:pt x="5" y="117"/>
                      </a:lnTo>
                      <a:lnTo>
                        <a:pt x="13" y="115"/>
                      </a:lnTo>
                      <a:lnTo>
                        <a:pt x="28" y="113"/>
                      </a:lnTo>
                      <a:lnTo>
                        <a:pt x="37" y="107"/>
                      </a:lnTo>
                      <a:lnTo>
                        <a:pt x="41" y="103"/>
                      </a:lnTo>
                      <a:lnTo>
                        <a:pt x="43" y="96"/>
                      </a:lnTo>
                      <a:lnTo>
                        <a:pt x="44" y="94"/>
                      </a:lnTo>
                      <a:lnTo>
                        <a:pt x="41" y="94"/>
                      </a:lnTo>
                      <a:lnTo>
                        <a:pt x="39" y="98"/>
                      </a:lnTo>
                      <a:lnTo>
                        <a:pt x="34" y="106"/>
                      </a:lnTo>
                      <a:lnTo>
                        <a:pt x="23" y="111"/>
                      </a:lnTo>
                      <a:lnTo>
                        <a:pt x="13" y="115"/>
                      </a:lnTo>
                      <a:lnTo>
                        <a:pt x="5" y="117"/>
                      </a:lnTo>
                      <a:lnTo>
                        <a:pt x="2" y="102"/>
                      </a:lnTo>
                      <a:lnTo>
                        <a:pt x="2" y="91"/>
                      </a:lnTo>
                      <a:lnTo>
                        <a:pt x="2" y="80"/>
                      </a:lnTo>
                      <a:lnTo>
                        <a:pt x="12" y="88"/>
                      </a:lnTo>
                      <a:lnTo>
                        <a:pt x="24" y="91"/>
                      </a:lnTo>
                      <a:lnTo>
                        <a:pt x="33" y="90"/>
                      </a:lnTo>
                      <a:lnTo>
                        <a:pt x="36" y="88"/>
                      </a:lnTo>
                      <a:lnTo>
                        <a:pt x="37" y="84"/>
                      </a:lnTo>
                      <a:lnTo>
                        <a:pt x="32" y="84"/>
                      </a:lnTo>
                      <a:lnTo>
                        <a:pt x="25" y="87"/>
                      </a:lnTo>
                      <a:lnTo>
                        <a:pt x="11" y="88"/>
                      </a:lnTo>
                      <a:lnTo>
                        <a:pt x="2" y="81"/>
                      </a:lnTo>
                      <a:lnTo>
                        <a:pt x="1" y="67"/>
                      </a:lnTo>
                      <a:lnTo>
                        <a:pt x="0" y="57"/>
                      </a:lnTo>
                      <a:lnTo>
                        <a:pt x="0" y="47"/>
                      </a:lnTo>
                      <a:lnTo>
                        <a:pt x="1" y="30"/>
                      </a:lnTo>
                      <a:lnTo>
                        <a:pt x="4" y="25"/>
                      </a:lnTo>
                      <a:lnTo>
                        <a:pt x="13" y="18"/>
                      </a:lnTo>
                      <a:lnTo>
                        <a:pt x="10" y="19"/>
                      </a:lnTo>
                      <a:lnTo>
                        <a:pt x="1" y="23"/>
                      </a:lnTo>
                      <a:lnTo>
                        <a:pt x="4" y="13"/>
                      </a:lnTo>
                      <a:lnTo>
                        <a:pt x="8" y="7"/>
                      </a:lnTo>
                      <a:lnTo>
                        <a:pt x="10" y="4"/>
                      </a:lnTo>
                      <a:lnTo>
                        <a:pt x="20" y="0"/>
                      </a:lnTo>
                    </a:path>
                  </a:pathLst>
                </a:custGeom>
                <a:solidFill>
                  <a:srgbClr val="E0E0E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29" name="Freeform 81"/>
                <p:cNvSpPr>
                  <a:spLocks/>
                </p:cNvSpPr>
                <p:nvPr/>
              </p:nvSpPr>
              <p:spPr bwMode="auto">
                <a:xfrm>
                  <a:off x="5244" y="1184"/>
                  <a:ext cx="28" cy="32"/>
                </a:xfrm>
                <a:custGeom>
                  <a:avLst/>
                  <a:gdLst>
                    <a:gd name="T0" fmla="*/ 27 w 28"/>
                    <a:gd name="T1" fmla="*/ 0 h 32"/>
                    <a:gd name="T2" fmla="*/ 27 w 28"/>
                    <a:gd name="T3" fmla="*/ 2 h 32"/>
                    <a:gd name="T4" fmla="*/ 23 w 28"/>
                    <a:gd name="T5" fmla="*/ 8 h 32"/>
                    <a:gd name="T6" fmla="*/ 20 w 28"/>
                    <a:gd name="T7" fmla="*/ 11 h 32"/>
                    <a:gd name="T8" fmla="*/ 12 w 28"/>
                    <a:gd name="T9" fmla="*/ 19 h 32"/>
                    <a:gd name="T10" fmla="*/ 10 w 28"/>
                    <a:gd name="T11" fmla="*/ 21 h 32"/>
                    <a:gd name="T12" fmla="*/ 3 w 28"/>
                    <a:gd name="T13" fmla="*/ 27 h 32"/>
                    <a:gd name="T14" fmla="*/ 10 w 28"/>
                    <a:gd name="T15" fmla="*/ 25 h 32"/>
                    <a:gd name="T16" fmla="*/ 18 w 28"/>
                    <a:gd name="T17" fmla="*/ 22 h 32"/>
                    <a:gd name="T18" fmla="*/ 25 w 28"/>
                    <a:gd name="T19" fmla="*/ 21 h 32"/>
                    <a:gd name="T20" fmla="*/ 24 w 28"/>
                    <a:gd name="T21" fmla="*/ 24 h 32"/>
                    <a:gd name="T22" fmla="*/ 12 w 28"/>
                    <a:gd name="T23" fmla="*/ 27 h 32"/>
                    <a:gd name="T24" fmla="*/ 6 w 28"/>
                    <a:gd name="T25" fmla="*/ 30 h 32"/>
                    <a:gd name="T26" fmla="*/ 3 w 28"/>
                    <a:gd name="T27" fmla="*/ 31 h 32"/>
                    <a:gd name="T28" fmla="*/ 0 w 28"/>
                    <a:gd name="T29" fmla="*/ 30 h 32"/>
                    <a:gd name="T30" fmla="*/ 0 w 28"/>
                    <a:gd name="T31" fmla="*/ 26 h 32"/>
                    <a:gd name="T32" fmla="*/ 2 w 28"/>
                    <a:gd name="T33" fmla="*/ 23 h 32"/>
                    <a:gd name="T34" fmla="*/ 6 w 28"/>
                    <a:gd name="T35" fmla="*/ 19 h 32"/>
                    <a:gd name="T36" fmla="*/ 10 w 28"/>
                    <a:gd name="T37" fmla="*/ 13 h 32"/>
                    <a:gd name="T38" fmla="*/ 14 w 28"/>
                    <a:gd name="T39" fmla="*/ 6 h 32"/>
                    <a:gd name="T40" fmla="*/ 18 w 28"/>
                    <a:gd name="T41" fmla="*/ 2 h 32"/>
                    <a:gd name="T42" fmla="*/ 23 w 28"/>
                    <a:gd name="T43" fmla="*/ 0 h 32"/>
                    <a:gd name="T44" fmla="*/ 27 w 28"/>
                    <a:gd name="T45" fmla="*/ 0 h 3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8"/>
                    <a:gd name="T70" fmla="*/ 0 h 32"/>
                    <a:gd name="T71" fmla="*/ 28 w 28"/>
                    <a:gd name="T72" fmla="*/ 32 h 3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8" h="32">
                      <a:moveTo>
                        <a:pt x="27" y="0"/>
                      </a:moveTo>
                      <a:lnTo>
                        <a:pt x="27" y="2"/>
                      </a:lnTo>
                      <a:lnTo>
                        <a:pt x="23" y="8"/>
                      </a:lnTo>
                      <a:lnTo>
                        <a:pt x="20" y="11"/>
                      </a:lnTo>
                      <a:lnTo>
                        <a:pt x="12" y="19"/>
                      </a:lnTo>
                      <a:lnTo>
                        <a:pt x="10" y="21"/>
                      </a:lnTo>
                      <a:lnTo>
                        <a:pt x="3" y="27"/>
                      </a:lnTo>
                      <a:lnTo>
                        <a:pt x="10" y="25"/>
                      </a:lnTo>
                      <a:lnTo>
                        <a:pt x="18" y="22"/>
                      </a:lnTo>
                      <a:lnTo>
                        <a:pt x="25" y="21"/>
                      </a:lnTo>
                      <a:lnTo>
                        <a:pt x="24" y="24"/>
                      </a:lnTo>
                      <a:lnTo>
                        <a:pt x="12" y="27"/>
                      </a:lnTo>
                      <a:lnTo>
                        <a:pt x="6" y="30"/>
                      </a:lnTo>
                      <a:lnTo>
                        <a:pt x="3" y="31"/>
                      </a:lnTo>
                      <a:lnTo>
                        <a:pt x="0" y="30"/>
                      </a:lnTo>
                      <a:lnTo>
                        <a:pt x="0" y="26"/>
                      </a:lnTo>
                      <a:lnTo>
                        <a:pt x="2" y="23"/>
                      </a:lnTo>
                      <a:lnTo>
                        <a:pt x="6" y="19"/>
                      </a:lnTo>
                      <a:lnTo>
                        <a:pt x="10" y="13"/>
                      </a:lnTo>
                      <a:lnTo>
                        <a:pt x="14" y="6"/>
                      </a:lnTo>
                      <a:lnTo>
                        <a:pt x="18" y="2"/>
                      </a:lnTo>
                      <a:lnTo>
                        <a:pt x="23" y="0"/>
                      </a:lnTo>
                      <a:lnTo>
                        <a:pt x="27" y="0"/>
                      </a:lnTo>
                    </a:path>
                  </a:pathLst>
                </a:custGeom>
                <a:solidFill>
                  <a:srgbClr val="C0C0C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30" name="Freeform 82"/>
                <p:cNvSpPr>
                  <a:spLocks/>
                </p:cNvSpPr>
                <p:nvPr/>
              </p:nvSpPr>
              <p:spPr bwMode="auto">
                <a:xfrm>
                  <a:off x="5245" y="1158"/>
                  <a:ext cx="26" cy="42"/>
                </a:xfrm>
                <a:custGeom>
                  <a:avLst/>
                  <a:gdLst>
                    <a:gd name="T0" fmla="*/ 20 w 26"/>
                    <a:gd name="T1" fmla="*/ 0 h 42"/>
                    <a:gd name="T2" fmla="*/ 23 w 26"/>
                    <a:gd name="T3" fmla="*/ 0 h 42"/>
                    <a:gd name="T4" fmla="*/ 25 w 26"/>
                    <a:gd name="T5" fmla="*/ 4 h 42"/>
                    <a:gd name="T6" fmla="*/ 25 w 26"/>
                    <a:gd name="T7" fmla="*/ 7 h 42"/>
                    <a:gd name="T8" fmla="*/ 22 w 26"/>
                    <a:gd name="T9" fmla="*/ 11 h 42"/>
                    <a:gd name="T10" fmla="*/ 19 w 26"/>
                    <a:gd name="T11" fmla="*/ 12 h 42"/>
                    <a:gd name="T12" fmla="*/ 13 w 26"/>
                    <a:gd name="T13" fmla="*/ 17 h 42"/>
                    <a:gd name="T14" fmla="*/ 9 w 26"/>
                    <a:gd name="T15" fmla="*/ 22 h 42"/>
                    <a:gd name="T16" fmla="*/ 4 w 26"/>
                    <a:gd name="T17" fmla="*/ 30 h 42"/>
                    <a:gd name="T18" fmla="*/ 0 w 26"/>
                    <a:gd name="T19" fmla="*/ 37 h 42"/>
                    <a:gd name="T20" fmla="*/ 0 w 26"/>
                    <a:gd name="T21" fmla="*/ 41 h 42"/>
                    <a:gd name="T22" fmla="*/ 0 w 26"/>
                    <a:gd name="T23" fmla="*/ 31 h 42"/>
                    <a:gd name="T24" fmla="*/ 2 w 26"/>
                    <a:gd name="T25" fmla="*/ 23 h 42"/>
                    <a:gd name="T26" fmla="*/ 3 w 26"/>
                    <a:gd name="T27" fmla="*/ 16 h 42"/>
                    <a:gd name="T28" fmla="*/ 6 w 26"/>
                    <a:gd name="T29" fmla="*/ 10 h 42"/>
                    <a:gd name="T30" fmla="*/ 16 w 26"/>
                    <a:gd name="T31" fmla="*/ 0 h 42"/>
                    <a:gd name="T32" fmla="*/ 20 w 26"/>
                    <a:gd name="T33" fmla="*/ 0 h 4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6"/>
                    <a:gd name="T52" fmla="*/ 0 h 42"/>
                    <a:gd name="T53" fmla="*/ 26 w 26"/>
                    <a:gd name="T54" fmla="*/ 42 h 4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6" h="42">
                      <a:moveTo>
                        <a:pt x="20" y="0"/>
                      </a:moveTo>
                      <a:lnTo>
                        <a:pt x="23" y="0"/>
                      </a:lnTo>
                      <a:lnTo>
                        <a:pt x="25" y="4"/>
                      </a:lnTo>
                      <a:lnTo>
                        <a:pt x="25" y="7"/>
                      </a:lnTo>
                      <a:lnTo>
                        <a:pt x="22" y="11"/>
                      </a:lnTo>
                      <a:lnTo>
                        <a:pt x="19" y="12"/>
                      </a:lnTo>
                      <a:lnTo>
                        <a:pt x="13" y="17"/>
                      </a:lnTo>
                      <a:lnTo>
                        <a:pt x="9" y="22"/>
                      </a:lnTo>
                      <a:lnTo>
                        <a:pt x="4" y="30"/>
                      </a:lnTo>
                      <a:lnTo>
                        <a:pt x="0" y="37"/>
                      </a:lnTo>
                      <a:lnTo>
                        <a:pt x="0" y="41"/>
                      </a:lnTo>
                      <a:lnTo>
                        <a:pt x="0" y="31"/>
                      </a:lnTo>
                      <a:lnTo>
                        <a:pt x="2" y="23"/>
                      </a:lnTo>
                      <a:lnTo>
                        <a:pt x="3" y="16"/>
                      </a:lnTo>
                      <a:lnTo>
                        <a:pt x="6" y="10"/>
                      </a:lnTo>
                      <a:lnTo>
                        <a:pt x="16" y="0"/>
                      </a:lnTo>
                      <a:lnTo>
                        <a:pt x="20" y="0"/>
                      </a:lnTo>
                    </a:path>
                  </a:pathLst>
                </a:custGeom>
                <a:solidFill>
                  <a:srgbClr val="C0C0C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31" name="Freeform 83"/>
                <p:cNvSpPr>
                  <a:spLocks/>
                </p:cNvSpPr>
                <p:nvPr/>
              </p:nvSpPr>
              <p:spPr bwMode="auto">
                <a:xfrm>
                  <a:off x="5248" y="1118"/>
                  <a:ext cx="28" cy="24"/>
                </a:xfrm>
                <a:custGeom>
                  <a:avLst/>
                  <a:gdLst>
                    <a:gd name="T0" fmla="*/ 27 w 28"/>
                    <a:gd name="T1" fmla="*/ 23 h 24"/>
                    <a:gd name="T2" fmla="*/ 22 w 28"/>
                    <a:gd name="T3" fmla="*/ 17 h 24"/>
                    <a:gd name="T4" fmla="*/ 14 w 28"/>
                    <a:gd name="T5" fmla="*/ 14 h 24"/>
                    <a:gd name="T6" fmla="*/ 9 w 28"/>
                    <a:gd name="T7" fmla="*/ 13 h 24"/>
                    <a:gd name="T8" fmla="*/ 0 w 28"/>
                    <a:gd name="T9" fmla="*/ 0 h 24"/>
                    <a:gd name="T10" fmla="*/ 6 w 28"/>
                    <a:gd name="T11" fmla="*/ 5 h 24"/>
                    <a:gd name="T12" fmla="*/ 13 w 28"/>
                    <a:gd name="T13" fmla="*/ 8 h 24"/>
                    <a:gd name="T14" fmla="*/ 18 w 28"/>
                    <a:gd name="T15" fmla="*/ 11 h 24"/>
                    <a:gd name="T16" fmla="*/ 20 w 28"/>
                    <a:gd name="T17" fmla="*/ 14 h 24"/>
                    <a:gd name="T18" fmla="*/ 27 w 28"/>
                    <a:gd name="T19" fmla="*/ 23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8"/>
                    <a:gd name="T31" fmla="*/ 0 h 24"/>
                    <a:gd name="T32" fmla="*/ 28 w 28"/>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8" h="24">
                      <a:moveTo>
                        <a:pt x="27" y="23"/>
                      </a:moveTo>
                      <a:lnTo>
                        <a:pt x="22" y="17"/>
                      </a:lnTo>
                      <a:lnTo>
                        <a:pt x="14" y="14"/>
                      </a:lnTo>
                      <a:lnTo>
                        <a:pt x="9" y="13"/>
                      </a:lnTo>
                      <a:lnTo>
                        <a:pt x="0" y="0"/>
                      </a:lnTo>
                      <a:lnTo>
                        <a:pt x="6" y="5"/>
                      </a:lnTo>
                      <a:lnTo>
                        <a:pt x="13" y="8"/>
                      </a:lnTo>
                      <a:lnTo>
                        <a:pt x="18" y="11"/>
                      </a:lnTo>
                      <a:lnTo>
                        <a:pt x="20" y="14"/>
                      </a:lnTo>
                      <a:lnTo>
                        <a:pt x="27" y="23"/>
                      </a:lnTo>
                    </a:path>
                  </a:pathLst>
                </a:custGeom>
                <a:solidFill>
                  <a:srgbClr val="E0E0E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32" name="Freeform 84"/>
                <p:cNvSpPr>
                  <a:spLocks/>
                </p:cNvSpPr>
                <p:nvPr/>
              </p:nvSpPr>
              <p:spPr bwMode="auto">
                <a:xfrm>
                  <a:off x="5280" y="1161"/>
                  <a:ext cx="17" cy="62"/>
                </a:xfrm>
                <a:custGeom>
                  <a:avLst/>
                  <a:gdLst>
                    <a:gd name="T0" fmla="*/ 16 w 17"/>
                    <a:gd name="T1" fmla="*/ 61 h 62"/>
                    <a:gd name="T2" fmla="*/ 8 w 17"/>
                    <a:gd name="T3" fmla="*/ 61 h 62"/>
                    <a:gd name="T4" fmla="*/ 5 w 17"/>
                    <a:gd name="T5" fmla="*/ 60 h 62"/>
                    <a:gd name="T6" fmla="*/ 5 w 17"/>
                    <a:gd name="T7" fmla="*/ 57 h 62"/>
                    <a:gd name="T8" fmla="*/ 3 w 17"/>
                    <a:gd name="T9" fmla="*/ 55 h 62"/>
                    <a:gd name="T10" fmla="*/ 1 w 17"/>
                    <a:gd name="T11" fmla="*/ 53 h 62"/>
                    <a:gd name="T12" fmla="*/ 2 w 17"/>
                    <a:gd name="T13" fmla="*/ 50 h 62"/>
                    <a:gd name="T14" fmla="*/ 2 w 17"/>
                    <a:gd name="T15" fmla="*/ 48 h 62"/>
                    <a:gd name="T16" fmla="*/ 0 w 17"/>
                    <a:gd name="T17" fmla="*/ 44 h 62"/>
                    <a:gd name="T18" fmla="*/ 0 w 17"/>
                    <a:gd name="T19" fmla="*/ 40 h 62"/>
                    <a:gd name="T20" fmla="*/ 2 w 17"/>
                    <a:gd name="T21" fmla="*/ 36 h 62"/>
                    <a:gd name="T22" fmla="*/ 2 w 17"/>
                    <a:gd name="T23" fmla="*/ 26 h 62"/>
                    <a:gd name="T24" fmla="*/ 0 w 17"/>
                    <a:gd name="T25" fmla="*/ 17 h 62"/>
                    <a:gd name="T26" fmla="*/ 0 w 17"/>
                    <a:gd name="T27" fmla="*/ 11 h 62"/>
                    <a:gd name="T28" fmla="*/ 0 w 17"/>
                    <a:gd name="T29" fmla="*/ 0 h 62"/>
                    <a:gd name="T30" fmla="*/ 5 w 17"/>
                    <a:gd name="T31" fmla="*/ 16 h 62"/>
                    <a:gd name="T32" fmla="*/ 9 w 17"/>
                    <a:gd name="T33" fmla="*/ 32 h 62"/>
                    <a:gd name="T34" fmla="*/ 13 w 17"/>
                    <a:gd name="T35" fmla="*/ 49 h 62"/>
                    <a:gd name="T36" fmla="*/ 16 w 17"/>
                    <a:gd name="T37" fmla="*/ 61 h 6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
                    <a:gd name="T58" fmla="*/ 0 h 62"/>
                    <a:gd name="T59" fmla="*/ 17 w 17"/>
                    <a:gd name="T60" fmla="*/ 62 h 6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 h="62">
                      <a:moveTo>
                        <a:pt x="16" y="61"/>
                      </a:moveTo>
                      <a:lnTo>
                        <a:pt x="8" y="61"/>
                      </a:lnTo>
                      <a:lnTo>
                        <a:pt x="5" y="60"/>
                      </a:lnTo>
                      <a:lnTo>
                        <a:pt x="5" y="57"/>
                      </a:lnTo>
                      <a:lnTo>
                        <a:pt x="3" y="55"/>
                      </a:lnTo>
                      <a:lnTo>
                        <a:pt x="1" y="53"/>
                      </a:lnTo>
                      <a:lnTo>
                        <a:pt x="2" y="50"/>
                      </a:lnTo>
                      <a:lnTo>
                        <a:pt x="2" y="48"/>
                      </a:lnTo>
                      <a:lnTo>
                        <a:pt x="0" y="44"/>
                      </a:lnTo>
                      <a:lnTo>
                        <a:pt x="0" y="40"/>
                      </a:lnTo>
                      <a:lnTo>
                        <a:pt x="2" y="36"/>
                      </a:lnTo>
                      <a:lnTo>
                        <a:pt x="2" y="26"/>
                      </a:lnTo>
                      <a:lnTo>
                        <a:pt x="0" y="17"/>
                      </a:lnTo>
                      <a:lnTo>
                        <a:pt x="0" y="11"/>
                      </a:lnTo>
                      <a:lnTo>
                        <a:pt x="0" y="0"/>
                      </a:lnTo>
                      <a:lnTo>
                        <a:pt x="5" y="16"/>
                      </a:lnTo>
                      <a:lnTo>
                        <a:pt x="9" y="32"/>
                      </a:lnTo>
                      <a:lnTo>
                        <a:pt x="13" y="49"/>
                      </a:lnTo>
                      <a:lnTo>
                        <a:pt x="16" y="61"/>
                      </a:lnTo>
                    </a:path>
                  </a:pathLst>
                </a:custGeom>
                <a:solidFill>
                  <a:srgbClr val="E0E0E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33" name="Freeform 85"/>
                <p:cNvSpPr>
                  <a:spLocks/>
                </p:cNvSpPr>
                <p:nvPr/>
              </p:nvSpPr>
              <p:spPr bwMode="auto">
                <a:xfrm>
                  <a:off x="5245" y="1227"/>
                  <a:ext cx="28" cy="17"/>
                </a:xfrm>
                <a:custGeom>
                  <a:avLst/>
                  <a:gdLst>
                    <a:gd name="T0" fmla="*/ 5 w 28"/>
                    <a:gd name="T1" fmla="*/ 8 h 17"/>
                    <a:gd name="T2" fmla="*/ 11 w 28"/>
                    <a:gd name="T3" fmla="*/ 3 h 17"/>
                    <a:gd name="T4" fmla="*/ 17 w 28"/>
                    <a:gd name="T5" fmla="*/ 1 h 17"/>
                    <a:gd name="T6" fmla="*/ 24 w 28"/>
                    <a:gd name="T7" fmla="*/ 0 h 17"/>
                    <a:gd name="T8" fmla="*/ 27 w 28"/>
                    <a:gd name="T9" fmla="*/ 1 h 17"/>
                    <a:gd name="T10" fmla="*/ 25 w 28"/>
                    <a:gd name="T11" fmla="*/ 5 h 17"/>
                    <a:gd name="T12" fmla="*/ 22 w 28"/>
                    <a:gd name="T13" fmla="*/ 10 h 17"/>
                    <a:gd name="T14" fmla="*/ 16 w 28"/>
                    <a:gd name="T15" fmla="*/ 13 h 17"/>
                    <a:gd name="T16" fmla="*/ 6 w 28"/>
                    <a:gd name="T17" fmla="*/ 16 h 17"/>
                    <a:gd name="T18" fmla="*/ 0 w 28"/>
                    <a:gd name="T19" fmla="*/ 14 h 17"/>
                    <a:gd name="T20" fmla="*/ 5 w 28"/>
                    <a:gd name="T21" fmla="*/ 8 h 1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8"/>
                    <a:gd name="T34" fmla="*/ 0 h 17"/>
                    <a:gd name="T35" fmla="*/ 28 w 28"/>
                    <a:gd name="T36" fmla="*/ 17 h 1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8" h="17">
                      <a:moveTo>
                        <a:pt x="5" y="8"/>
                      </a:moveTo>
                      <a:lnTo>
                        <a:pt x="11" y="3"/>
                      </a:lnTo>
                      <a:lnTo>
                        <a:pt x="17" y="1"/>
                      </a:lnTo>
                      <a:lnTo>
                        <a:pt x="24" y="0"/>
                      </a:lnTo>
                      <a:lnTo>
                        <a:pt x="27" y="1"/>
                      </a:lnTo>
                      <a:lnTo>
                        <a:pt x="25" y="5"/>
                      </a:lnTo>
                      <a:lnTo>
                        <a:pt x="22" y="10"/>
                      </a:lnTo>
                      <a:lnTo>
                        <a:pt x="16" y="13"/>
                      </a:lnTo>
                      <a:lnTo>
                        <a:pt x="6" y="16"/>
                      </a:lnTo>
                      <a:lnTo>
                        <a:pt x="0" y="14"/>
                      </a:lnTo>
                      <a:lnTo>
                        <a:pt x="5" y="8"/>
                      </a:lnTo>
                    </a:path>
                  </a:pathLst>
                </a:custGeom>
                <a:solidFill>
                  <a:srgbClr val="C0C0C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34" name="Freeform 86"/>
                <p:cNvSpPr>
                  <a:spLocks/>
                </p:cNvSpPr>
                <p:nvPr/>
              </p:nvSpPr>
              <p:spPr bwMode="auto">
                <a:xfrm>
                  <a:off x="5278" y="1234"/>
                  <a:ext cx="18" cy="26"/>
                </a:xfrm>
                <a:custGeom>
                  <a:avLst/>
                  <a:gdLst>
                    <a:gd name="T0" fmla="*/ 9 w 18"/>
                    <a:gd name="T1" fmla="*/ 6 h 26"/>
                    <a:gd name="T2" fmla="*/ 11 w 18"/>
                    <a:gd name="T3" fmla="*/ 1 h 26"/>
                    <a:gd name="T4" fmla="*/ 14 w 18"/>
                    <a:gd name="T5" fmla="*/ 0 h 26"/>
                    <a:gd name="T6" fmla="*/ 16 w 18"/>
                    <a:gd name="T7" fmla="*/ 0 h 26"/>
                    <a:gd name="T8" fmla="*/ 17 w 18"/>
                    <a:gd name="T9" fmla="*/ 3 h 26"/>
                    <a:gd name="T10" fmla="*/ 15 w 18"/>
                    <a:gd name="T11" fmla="*/ 8 h 26"/>
                    <a:gd name="T12" fmla="*/ 12 w 18"/>
                    <a:gd name="T13" fmla="*/ 13 h 26"/>
                    <a:gd name="T14" fmla="*/ 9 w 18"/>
                    <a:gd name="T15" fmla="*/ 17 h 26"/>
                    <a:gd name="T16" fmla="*/ 6 w 18"/>
                    <a:gd name="T17" fmla="*/ 21 h 26"/>
                    <a:gd name="T18" fmla="*/ 0 w 18"/>
                    <a:gd name="T19" fmla="*/ 25 h 26"/>
                    <a:gd name="T20" fmla="*/ 5 w 18"/>
                    <a:gd name="T21" fmla="*/ 17 h 26"/>
                    <a:gd name="T22" fmla="*/ 7 w 18"/>
                    <a:gd name="T23" fmla="*/ 12 h 26"/>
                    <a:gd name="T24" fmla="*/ 9 w 18"/>
                    <a:gd name="T25" fmla="*/ 6 h 2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8"/>
                    <a:gd name="T40" fmla="*/ 0 h 26"/>
                    <a:gd name="T41" fmla="*/ 18 w 18"/>
                    <a:gd name="T42" fmla="*/ 26 h 2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8" h="26">
                      <a:moveTo>
                        <a:pt x="9" y="6"/>
                      </a:moveTo>
                      <a:lnTo>
                        <a:pt x="11" y="1"/>
                      </a:lnTo>
                      <a:lnTo>
                        <a:pt x="14" y="0"/>
                      </a:lnTo>
                      <a:lnTo>
                        <a:pt x="16" y="0"/>
                      </a:lnTo>
                      <a:lnTo>
                        <a:pt x="17" y="3"/>
                      </a:lnTo>
                      <a:lnTo>
                        <a:pt x="15" y="8"/>
                      </a:lnTo>
                      <a:lnTo>
                        <a:pt x="12" y="13"/>
                      </a:lnTo>
                      <a:lnTo>
                        <a:pt x="9" y="17"/>
                      </a:lnTo>
                      <a:lnTo>
                        <a:pt x="6" y="21"/>
                      </a:lnTo>
                      <a:lnTo>
                        <a:pt x="0" y="25"/>
                      </a:lnTo>
                      <a:lnTo>
                        <a:pt x="5" y="17"/>
                      </a:lnTo>
                      <a:lnTo>
                        <a:pt x="7" y="12"/>
                      </a:lnTo>
                      <a:lnTo>
                        <a:pt x="9" y="6"/>
                      </a:lnTo>
                    </a:path>
                  </a:pathLst>
                </a:custGeom>
                <a:solidFill>
                  <a:srgbClr val="C0C0C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35" name="Freeform 87"/>
                <p:cNvSpPr>
                  <a:spLocks/>
                </p:cNvSpPr>
                <p:nvPr/>
              </p:nvSpPr>
              <p:spPr bwMode="auto">
                <a:xfrm>
                  <a:off x="5228" y="1098"/>
                  <a:ext cx="41" cy="32"/>
                </a:xfrm>
                <a:custGeom>
                  <a:avLst/>
                  <a:gdLst>
                    <a:gd name="T0" fmla="*/ 40 w 41"/>
                    <a:gd name="T1" fmla="*/ 31 h 32"/>
                    <a:gd name="T2" fmla="*/ 38 w 41"/>
                    <a:gd name="T3" fmla="*/ 18 h 32"/>
                    <a:gd name="T4" fmla="*/ 30 w 41"/>
                    <a:gd name="T5" fmla="*/ 13 h 32"/>
                    <a:gd name="T6" fmla="*/ 18 w 41"/>
                    <a:gd name="T7" fmla="*/ 7 h 32"/>
                    <a:gd name="T8" fmla="*/ 11 w 41"/>
                    <a:gd name="T9" fmla="*/ 3 h 32"/>
                    <a:gd name="T10" fmla="*/ 3 w 41"/>
                    <a:gd name="T11" fmla="*/ 0 h 32"/>
                    <a:gd name="T12" fmla="*/ 0 w 41"/>
                    <a:gd name="T13" fmla="*/ 8 h 32"/>
                    <a:gd name="T14" fmla="*/ 7 w 41"/>
                    <a:gd name="T15" fmla="*/ 14 h 32"/>
                    <a:gd name="T16" fmla="*/ 16 w 41"/>
                    <a:gd name="T17" fmla="*/ 17 h 32"/>
                    <a:gd name="T18" fmla="*/ 22 w 41"/>
                    <a:gd name="T19" fmla="*/ 19 h 32"/>
                    <a:gd name="T20" fmla="*/ 30 w 41"/>
                    <a:gd name="T21" fmla="*/ 25 h 32"/>
                    <a:gd name="T22" fmla="*/ 40 w 41"/>
                    <a:gd name="T23" fmla="*/ 31 h 3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1"/>
                    <a:gd name="T37" fmla="*/ 0 h 32"/>
                    <a:gd name="T38" fmla="*/ 41 w 41"/>
                    <a:gd name="T39" fmla="*/ 32 h 3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1" h="32">
                      <a:moveTo>
                        <a:pt x="40" y="31"/>
                      </a:moveTo>
                      <a:lnTo>
                        <a:pt x="38" y="18"/>
                      </a:lnTo>
                      <a:lnTo>
                        <a:pt x="30" y="13"/>
                      </a:lnTo>
                      <a:lnTo>
                        <a:pt x="18" y="7"/>
                      </a:lnTo>
                      <a:lnTo>
                        <a:pt x="11" y="3"/>
                      </a:lnTo>
                      <a:lnTo>
                        <a:pt x="3" y="0"/>
                      </a:lnTo>
                      <a:lnTo>
                        <a:pt x="0" y="8"/>
                      </a:lnTo>
                      <a:lnTo>
                        <a:pt x="7" y="14"/>
                      </a:lnTo>
                      <a:lnTo>
                        <a:pt x="16" y="17"/>
                      </a:lnTo>
                      <a:lnTo>
                        <a:pt x="22" y="19"/>
                      </a:lnTo>
                      <a:lnTo>
                        <a:pt x="30" y="25"/>
                      </a:lnTo>
                      <a:lnTo>
                        <a:pt x="40" y="31"/>
                      </a:lnTo>
                    </a:path>
                  </a:pathLst>
                </a:custGeom>
                <a:solidFill>
                  <a:srgbClr val="E0E0E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grpSp>
            <p:nvGrpSpPr>
              <p:cNvPr id="10316" name="Group 88"/>
              <p:cNvGrpSpPr>
                <a:grpSpLocks/>
              </p:cNvGrpSpPr>
              <p:nvPr/>
            </p:nvGrpSpPr>
            <p:grpSpPr bwMode="auto">
              <a:xfrm>
                <a:off x="5184" y="1242"/>
                <a:ext cx="82" cy="140"/>
                <a:chOff x="5184" y="1242"/>
                <a:chExt cx="82" cy="140"/>
              </a:xfrm>
            </p:grpSpPr>
            <p:sp>
              <p:nvSpPr>
                <p:cNvPr id="10320" name="Freeform 89"/>
                <p:cNvSpPr>
                  <a:spLocks/>
                </p:cNvSpPr>
                <p:nvPr/>
              </p:nvSpPr>
              <p:spPr bwMode="auto">
                <a:xfrm>
                  <a:off x="5184" y="1242"/>
                  <a:ext cx="82" cy="140"/>
                </a:xfrm>
                <a:custGeom>
                  <a:avLst/>
                  <a:gdLst>
                    <a:gd name="T0" fmla="*/ 45 w 82"/>
                    <a:gd name="T1" fmla="*/ 20 h 140"/>
                    <a:gd name="T2" fmla="*/ 30 w 82"/>
                    <a:gd name="T3" fmla="*/ 19 h 140"/>
                    <a:gd name="T4" fmla="*/ 21 w 82"/>
                    <a:gd name="T5" fmla="*/ 15 h 140"/>
                    <a:gd name="T6" fmla="*/ 18 w 82"/>
                    <a:gd name="T7" fmla="*/ 10 h 140"/>
                    <a:gd name="T8" fmla="*/ 18 w 82"/>
                    <a:gd name="T9" fmla="*/ 6 h 140"/>
                    <a:gd name="T10" fmla="*/ 15 w 82"/>
                    <a:gd name="T11" fmla="*/ 2 h 140"/>
                    <a:gd name="T12" fmla="*/ 7 w 82"/>
                    <a:gd name="T13" fmla="*/ 0 h 140"/>
                    <a:gd name="T14" fmla="*/ 0 w 82"/>
                    <a:gd name="T15" fmla="*/ 0 h 140"/>
                    <a:gd name="T16" fmla="*/ 9 w 82"/>
                    <a:gd name="T17" fmla="*/ 108 h 140"/>
                    <a:gd name="T18" fmla="*/ 15 w 82"/>
                    <a:gd name="T19" fmla="*/ 117 h 140"/>
                    <a:gd name="T20" fmla="*/ 24 w 82"/>
                    <a:gd name="T21" fmla="*/ 127 h 140"/>
                    <a:gd name="T22" fmla="*/ 36 w 82"/>
                    <a:gd name="T23" fmla="*/ 135 h 140"/>
                    <a:gd name="T24" fmla="*/ 49 w 82"/>
                    <a:gd name="T25" fmla="*/ 137 h 140"/>
                    <a:gd name="T26" fmla="*/ 68 w 82"/>
                    <a:gd name="T27" fmla="*/ 139 h 140"/>
                    <a:gd name="T28" fmla="*/ 78 w 82"/>
                    <a:gd name="T29" fmla="*/ 136 h 140"/>
                    <a:gd name="T30" fmla="*/ 81 w 82"/>
                    <a:gd name="T31" fmla="*/ 128 h 140"/>
                    <a:gd name="T32" fmla="*/ 80 w 82"/>
                    <a:gd name="T33" fmla="*/ 119 h 140"/>
                    <a:gd name="T34" fmla="*/ 72 w 82"/>
                    <a:gd name="T35" fmla="*/ 88 h 140"/>
                    <a:gd name="T36" fmla="*/ 65 w 82"/>
                    <a:gd name="T37" fmla="*/ 59 h 140"/>
                    <a:gd name="T38" fmla="*/ 63 w 82"/>
                    <a:gd name="T39" fmla="*/ 36 h 140"/>
                    <a:gd name="T40" fmla="*/ 63 w 82"/>
                    <a:gd name="T41" fmla="*/ 30 h 140"/>
                    <a:gd name="T42" fmla="*/ 58 w 82"/>
                    <a:gd name="T43" fmla="*/ 22 h 140"/>
                    <a:gd name="T44" fmla="*/ 54 w 82"/>
                    <a:gd name="T45" fmla="*/ 20 h 140"/>
                    <a:gd name="T46" fmla="*/ 45 w 82"/>
                    <a:gd name="T47" fmla="*/ 20 h 14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2"/>
                    <a:gd name="T73" fmla="*/ 0 h 140"/>
                    <a:gd name="T74" fmla="*/ 82 w 82"/>
                    <a:gd name="T75" fmla="*/ 140 h 14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2" h="140">
                      <a:moveTo>
                        <a:pt x="45" y="20"/>
                      </a:moveTo>
                      <a:lnTo>
                        <a:pt x="30" y="19"/>
                      </a:lnTo>
                      <a:lnTo>
                        <a:pt x="21" y="15"/>
                      </a:lnTo>
                      <a:lnTo>
                        <a:pt x="18" y="10"/>
                      </a:lnTo>
                      <a:lnTo>
                        <a:pt x="18" y="6"/>
                      </a:lnTo>
                      <a:lnTo>
                        <a:pt x="15" y="2"/>
                      </a:lnTo>
                      <a:lnTo>
                        <a:pt x="7" y="0"/>
                      </a:lnTo>
                      <a:lnTo>
                        <a:pt x="0" y="0"/>
                      </a:lnTo>
                      <a:lnTo>
                        <a:pt x="9" y="108"/>
                      </a:lnTo>
                      <a:lnTo>
                        <a:pt x="15" y="117"/>
                      </a:lnTo>
                      <a:lnTo>
                        <a:pt x="24" y="127"/>
                      </a:lnTo>
                      <a:lnTo>
                        <a:pt x="36" y="135"/>
                      </a:lnTo>
                      <a:lnTo>
                        <a:pt x="49" y="137"/>
                      </a:lnTo>
                      <a:lnTo>
                        <a:pt x="68" y="139"/>
                      </a:lnTo>
                      <a:lnTo>
                        <a:pt x="78" y="136"/>
                      </a:lnTo>
                      <a:lnTo>
                        <a:pt x="81" y="128"/>
                      </a:lnTo>
                      <a:lnTo>
                        <a:pt x="80" y="119"/>
                      </a:lnTo>
                      <a:lnTo>
                        <a:pt x="72" y="88"/>
                      </a:lnTo>
                      <a:lnTo>
                        <a:pt x="65" y="59"/>
                      </a:lnTo>
                      <a:lnTo>
                        <a:pt x="63" y="36"/>
                      </a:lnTo>
                      <a:lnTo>
                        <a:pt x="63" y="30"/>
                      </a:lnTo>
                      <a:lnTo>
                        <a:pt x="58" y="22"/>
                      </a:lnTo>
                      <a:lnTo>
                        <a:pt x="54" y="20"/>
                      </a:lnTo>
                      <a:lnTo>
                        <a:pt x="45" y="20"/>
                      </a:lnTo>
                    </a:path>
                  </a:pathLst>
                </a:custGeom>
                <a:solidFill>
                  <a:srgbClr val="404040"/>
                </a:solidFill>
                <a:ln w="12700" cap="rnd" cmpd="sng">
                  <a:solidFill>
                    <a:srgbClr val="000000"/>
                  </a:solidFill>
                  <a:prstDash val="solid"/>
                  <a:round/>
                  <a:headEnd/>
                  <a:tailEnd/>
                </a:ln>
              </p:spPr>
              <p:txBody>
                <a:bodyPr/>
                <a:lstStyle/>
                <a:p>
                  <a:endParaRPr lang="en-IN"/>
                </a:p>
              </p:txBody>
            </p:sp>
            <p:sp>
              <p:nvSpPr>
                <p:cNvPr id="10321" name="Freeform 90"/>
                <p:cNvSpPr>
                  <a:spLocks/>
                </p:cNvSpPr>
                <p:nvPr/>
              </p:nvSpPr>
              <p:spPr bwMode="auto">
                <a:xfrm>
                  <a:off x="5186" y="1249"/>
                  <a:ext cx="70" cy="128"/>
                </a:xfrm>
                <a:custGeom>
                  <a:avLst/>
                  <a:gdLst>
                    <a:gd name="T0" fmla="*/ 45 w 70"/>
                    <a:gd name="T1" fmla="*/ 25 h 128"/>
                    <a:gd name="T2" fmla="*/ 32 w 70"/>
                    <a:gd name="T3" fmla="*/ 24 h 128"/>
                    <a:gd name="T4" fmla="*/ 18 w 70"/>
                    <a:gd name="T5" fmla="*/ 21 h 128"/>
                    <a:gd name="T6" fmla="*/ 10 w 70"/>
                    <a:gd name="T7" fmla="*/ 15 h 128"/>
                    <a:gd name="T8" fmla="*/ 5 w 70"/>
                    <a:gd name="T9" fmla="*/ 11 h 128"/>
                    <a:gd name="T10" fmla="*/ 0 w 70"/>
                    <a:gd name="T11" fmla="*/ 0 h 128"/>
                    <a:gd name="T12" fmla="*/ 8 w 70"/>
                    <a:gd name="T13" fmla="*/ 97 h 128"/>
                    <a:gd name="T14" fmla="*/ 14 w 70"/>
                    <a:gd name="T15" fmla="*/ 106 h 128"/>
                    <a:gd name="T16" fmla="*/ 20 w 70"/>
                    <a:gd name="T17" fmla="*/ 115 h 128"/>
                    <a:gd name="T18" fmla="*/ 28 w 70"/>
                    <a:gd name="T19" fmla="*/ 120 h 128"/>
                    <a:gd name="T20" fmla="*/ 36 w 70"/>
                    <a:gd name="T21" fmla="*/ 123 h 128"/>
                    <a:gd name="T22" fmla="*/ 45 w 70"/>
                    <a:gd name="T23" fmla="*/ 125 h 128"/>
                    <a:gd name="T24" fmla="*/ 53 w 70"/>
                    <a:gd name="T25" fmla="*/ 127 h 128"/>
                    <a:gd name="T26" fmla="*/ 62 w 70"/>
                    <a:gd name="T27" fmla="*/ 127 h 128"/>
                    <a:gd name="T28" fmla="*/ 66 w 70"/>
                    <a:gd name="T29" fmla="*/ 125 h 128"/>
                    <a:gd name="T30" fmla="*/ 69 w 70"/>
                    <a:gd name="T31" fmla="*/ 120 h 128"/>
                    <a:gd name="T32" fmla="*/ 68 w 70"/>
                    <a:gd name="T33" fmla="*/ 113 h 128"/>
                    <a:gd name="T34" fmla="*/ 62 w 70"/>
                    <a:gd name="T35" fmla="*/ 96 h 128"/>
                    <a:gd name="T36" fmla="*/ 52 w 70"/>
                    <a:gd name="T37" fmla="*/ 38 h 128"/>
                    <a:gd name="T38" fmla="*/ 50 w 70"/>
                    <a:gd name="T39" fmla="*/ 29 h 128"/>
                    <a:gd name="T40" fmla="*/ 45 w 70"/>
                    <a:gd name="T41" fmla="*/ 25 h 1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0"/>
                    <a:gd name="T64" fmla="*/ 0 h 128"/>
                    <a:gd name="T65" fmla="*/ 70 w 70"/>
                    <a:gd name="T66" fmla="*/ 128 h 12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0" h="128">
                      <a:moveTo>
                        <a:pt x="45" y="25"/>
                      </a:moveTo>
                      <a:lnTo>
                        <a:pt x="32" y="24"/>
                      </a:lnTo>
                      <a:lnTo>
                        <a:pt x="18" y="21"/>
                      </a:lnTo>
                      <a:lnTo>
                        <a:pt x="10" y="15"/>
                      </a:lnTo>
                      <a:lnTo>
                        <a:pt x="5" y="11"/>
                      </a:lnTo>
                      <a:lnTo>
                        <a:pt x="0" y="0"/>
                      </a:lnTo>
                      <a:lnTo>
                        <a:pt x="8" y="97"/>
                      </a:lnTo>
                      <a:lnTo>
                        <a:pt x="14" y="106"/>
                      </a:lnTo>
                      <a:lnTo>
                        <a:pt x="20" y="115"/>
                      </a:lnTo>
                      <a:lnTo>
                        <a:pt x="28" y="120"/>
                      </a:lnTo>
                      <a:lnTo>
                        <a:pt x="36" y="123"/>
                      </a:lnTo>
                      <a:lnTo>
                        <a:pt x="45" y="125"/>
                      </a:lnTo>
                      <a:lnTo>
                        <a:pt x="53" y="127"/>
                      </a:lnTo>
                      <a:lnTo>
                        <a:pt x="62" y="127"/>
                      </a:lnTo>
                      <a:lnTo>
                        <a:pt x="66" y="125"/>
                      </a:lnTo>
                      <a:lnTo>
                        <a:pt x="69" y="120"/>
                      </a:lnTo>
                      <a:lnTo>
                        <a:pt x="68" y="113"/>
                      </a:lnTo>
                      <a:lnTo>
                        <a:pt x="62" y="96"/>
                      </a:lnTo>
                      <a:lnTo>
                        <a:pt x="52" y="38"/>
                      </a:lnTo>
                      <a:lnTo>
                        <a:pt x="50" y="29"/>
                      </a:lnTo>
                      <a:lnTo>
                        <a:pt x="45" y="25"/>
                      </a:lnTo>
                    </a:path>
                  </a:pathLst>
                </a:custGeom>
                <a:solidFill>
                  <a:srgbClr val="606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grpSp>
          <p:sp>
            <p:nvSpPr>
              <p:cNvPr id="10317" name="Freeform 91"/>
              <p:cNvSpPr>
                <a:spLocks/>
              </p:cNvSpPr>
              <p:nvPr/>
            </p:nvSpPr>
            <p:spPr bwMode="auto">
              <a:xfrm>
                <a:off x="5383" y="1400"/>
                <a:ext cx="17" cy="117"/>
              </a:xfrm>
              <a:custGeom>
                <a:avLst/>
                <a:gdLst>
                  <a:gd name="T0" fmla="*/ 10 w 17"/>
                  <a:gd name="T1" fmla="*/ 0 h 117"/>
                  <a:gd name="T2" fmla="*/ 16 w 17"/>
                  <a:gd name="T3" fmla="*/ 5 h 117"/>
                  <a:gd name="T4" fmla="*/ 10 w 17"/>
                  <a:gd name="T5" fmla="*/ 10 h 117"/>
                  <a:gd name="T6" fmla="*/ 5 w 17"/>
                  <a:gd name="T7" fmla="*/ 19 h 117"/>
                  <a:gd name="T8" fmla="*/ 10 w 17"/>
                  <a:gd name="T9" fmla="*/ 28 h 117"/>
                  <a:gd name="T10" fmla="*/ 7 w 17"/>
                  <a:gd name="T11" fmla="*/ 81 h 117"/>
                  <a:gd name="T12" fmla="*/ 7 w 17"/>
                  <a:gd name="T13" fmla="*/ 114 h 117"/>
                  <a:gd name="T14" fmla="*/ 0 w 17"/>
                  <a:gd name="T15" fmla="*/ 116 h 117"/>
                  <a:gd name="T16" fmla="*/ 1 w 17"/>
                  <a:gd name="T17" fmla="*/ 46 h 117"/>
                  <a:gd name="T18" fmla="*/ 7 w 17"/>
                  <a:gd name="T19" fmla="*/ 30 h 117"/>
                  <a:gd name="T20" fmla="*/ 3 w 17"/>
                  <a:gd name="T21" fmla="*/ 22 h 117"/>
                  <a:gd name="T22" fmla="*/ 1 w 17"/>
                  <a:gd name="T23" fmla="*/ 19 h 117"/>
                  <a:gd name="T24" fmla="*/ 5 w 17"/>
                  <a:gd name="T25" fmla="*/ 11 h 117"/>
                  <a:gd name="T26" fmla="*/ 10 w 17"/>
                  <a:gd name="T27" fmla="*/ 6 h 117"/>
                  <a:gd name="T28" fmla="*/ 10 w 17"/>
                  <a:gd name="T29" fmla="*/ 0 h 11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7"/>
                  <a:gd name="T46" fmla="*/ 0 h 117"/>
                  <a:gd name="T47" fmla="*/ 17 w 17"/>
                  <a:gd name="T48" fmla="*/ 117 h 11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7" h="117">
                    <a:moveTo>
                      <a:pt x="10" y="0"/>
                    </a:moveTo>
                    <a:lnTo>
                      <a:pt x="16" y="5"/>
                    </a:lnTo>
                    <a:lnTo>
                      <a:pt x="10" y="10"/>
                    </a:lnTo>
                    <a:lnTo>
                      <a:pt x="5" y="19"/>
                    </a:lnTo>
                    <a:lnTo>
                      <a:pt x="10" y="28"/>
                    </a:lnTo>
                    <a:lnTo>
                      <a:pt x="7" y="81"/>
                    </a:lnTo>
                    <a:lnTo>
                      <a:pt x="7" y="114"/>
                    </a:lnTo>
                    <a:lnTo>
                      <a:pt x="0" y="116"/>
                    </a:lnTo>
                    <a:lnTo>
                      <a:pt x="1" y="46"/>
                    </a:lnTo>
                    <a:lnTo>
                      <a:pt x="7" y="30"/>
                    </a:lnTo>
                    <a:lnTo>
                      <a:pt x="3" y="22"/>
                    </a:lnTo>
                    <a:lnTo>
                      <a:pt x="1" y="19"/>
                    </a:lnTo>
                    <a:lnTo>
                      <a:pt x="5" y="11"/>
                    </a:lnTo>
                    <a:lnTo>
                      <a:pt x="10" y="6"/>
                    </a:lnTo>
                    <a:lnTo>
                      <a:pt x="10" y="0"/>
                    </a:lnTo>
                  </a:path>
                </a:pathLst>
              </a:custGeom>
              <a:solidFill>
                <a:srgbClr val="606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18" name="Freeform 92"/>
              <p:cNvSpPr>
                <a:spLocks/>
              </p:cNvSpPr>
              <p:nvPr/>
            </p:nvSpPr>
            <p:spPr bwMode="auto">
              <a:xfrm>
                <a:off x="5360" y="1401"/>
                <a:ext cx="17" cy="17"/>
              </a:xfrm>
              <a:custGeom>
                <a:avLst/>
                <a:gdLst>
                  <a:gd name="T0" fmla="*/ 16 w 17"/>
                  <a:gd name="T1" fmla="*/ 0 h 17"/>
                  <a:gd name="T2" fmla="*/ 8 w 17"/>
                  <a:gd name="T3" fmla="*/ 12 h 17"/>
                  <a:gd name="T4" fmla="*/ 1 w 17"/>
                  <a:gd name="T5" fmla="*/ 16 h 17"/>
                  <a:gd name="T6" fmla="*/ 0 w 17"/>
                  <a:gd name="T7" fmla="*/ 16 h 17"/>
                  <a:gd name="T8" fmla="*/ 3 w 17"/>
                  <a:gd name="T9" fmla="*/ 4 h 17"/>
                  <a:gd name="T10" fmla="*/ 16 w 17"/>
                  <a:gd name="T11" fmla="*/ 0 h 17"/>
                  <a:gd name="T12" fmla="*/ 0 60000 65536"/>
                  <a:gd name="T13" fmla="*/ 0 60000 65536"/>
                  <a:gd name="T14" fmla="*/ 0 60000 65536"/>
                  <a:gd name="T15" fmla="*/ 0 60000 65536"/>
                  <a:gd name="T16" fmla="*/ 0 60000 65536"/>
                  <a:gd name="T17" fmla="*/ 0 60000 65536"/>
                  <a:gd name="T18" fmla="*/ 0 w 17"/>
                  <a:gd name="T19" fmla="*/ 0 h 17"/>
                  <a:gd name="T20" fmla="*/ 17 w 17"/>
                  <a:gd name="T21" fmla="*/ 17 h 17"/>
                </a:gdLst>
                <a:ahLst/>
                <a:cxnLst>
                  <a:cxn ang="T12">
                    <a:pos x="T0" y="T1"/>
                  </a:cxn>
                  <a:cxn ang="T13">
                    <a:pos x="T2" y="T3"/>
                  </a:cxn>
                  <a:cxn ang="T14">
                    <a:pos x="T4" y="T5"/>
                  </a:cxn>
                  <a:cxn ang="T15">
                    <a:pos x="T6" y="T7"/>
                  </a:cxn>
                  <a:cxn ang="T16">
                    <a:pos x="T8" y="T9"/>
                  </a:cxn>
                  <a:cxn ang="T17">
                    <a:pos x="T10" y="T11"/>
                  </a:cxn>
                </a:cxnLst>
                <a:rect l="T18" t="T19" r="T20" b="T21"/>
                <a:pathLst>
                  <a:path w="17" h="17">
                    <a:moveTo>
                      <a:pt x="16" y="0"/>
                    </a:moveTo>
                    <a:lnTo>
                      <a:pt x="8" y="12"/>
                    </a:lnTo>
                    <a:lnTo>
                      <a:pt x="1" y="16"/>
                    </a:lnTo>
                    <a:lnTo>
                      <a:pt x="0" y="16"/>
                    </a:lnTo>
                    <a:lnTo>
                      <a:pt x="3" y="4"/>
                    </a:lnTo>
                    <a:lnTo>
                      <a:pt x="16" y="0"/>
                    </a:lnTo>
                  </a:path>
                </a:pathLst>
              </a:custGeom>
              <a:solidFill>
                <a:srgbClr val="606060"/>
              </a:solidFill>
              <a:ln>
                <a:noFill/>
              </a:ln>
              <a:extLst>
                <a:ext uri="{91240B29-F687-4F45-9708-019B960494DF}">
                  <a14:hiddenLine xmlns:a14="http://schemas.microsoft.com/office/drawing/2010/main" w="9525" cap="rnd">
                    <a:solidFill>
                      <a:srgbClr val="000000"/>
                    </a:solidFill>
                    <a:round/>
                    <a:headEnd/>
                    <a:tailEnd/>
                  </a14:hiddenLine>
                </a:ext>
              </a:extLst>
            </p:spPr>
            <p:txBody>
              <a:bodyPr/>
              <a:lstStyle/>
              <a:p>
                <a:endParaRPr lang="en-IN"/>
              </a:p>
            </p:txBody>
          </p:sp>
          <p:sp>
            <p:nvSpPr>
              <p:cNvPr id="10319" name="Freeform 93"/>
              <p:cNvSpPr>
                <a:spLocks/>
              </p:cNvSpPr>
              <p:nvPr/>
            </p:nvSpPr>
            <p:spPr bwMode="auto">
              <a:xfrm>
                <a:off x="5299" y="1098"/>
                <a:ext cx="20" cy="68"/>
              </a:xfrm>
              <a:custGeom>
                <a:avLst/>
                <a:gdLst>
                  <a:gd name="T0" fmla="*/ 0 w 20"/>
                  <a:gd name="T1" fmla="*/ 0 h 68"/>
                  <a:gd name="T2" fmla="*/ 2 w 20"/>
                  <a:gd name="T3" fmla="*/ 1 h 68"/>
                  <a:gd name="T4" fmla="*/ 2 w 20"/>
                  <a:gd name="T5" fmla="*/ 5 h 68"/>
                  <a:gd name="T6" fmla="*/ 4 w 20"/>
                  <a:gd name="T7" fmla="*/ 3 h 68"/>
                  <a:gd name="T8" fmla="*/ 4 w 20"/>
                  <a:gd name="T9" fmla="*/ 7 h 68"/>
                  <a:gd name="T10" fmla="*/ 7 w 20"/>
                  <a:gd name="T11" fmla="*/ 7 h 68"/>
                  <a:gd name="T12" fmla="*/ 4 w 20"/>
                  <a:gd name="T13" fmla="*/ 11 h 68"/>
                  <a:gd name="T14" fmla="*/ 11 w 20"/>
                  <a:gd name="T15" fmla="*/ 11 h 68"/>
                  <a:gd name="T16" fmla="*/ 8 w 20"/>
                  <a:gd name="T17" fmla="*/ 16 h 68"/>
                  <a:gd name="T18" fmla="*/ 13 w 20"/>
                  <a:gd name="T19" fmla="*/ 16 h 68"/>
                  <a:gd name="T20" fmla="*/ 9 w 20"/>
                  <a:gd name="T21" fmla="*/ 21 h 68"/>
                  <a:gd name="T22" fmla="*/ 15 w 20"/>
                  <a:gd name="T23" fmla="*/ 20 h 68"/>
                  <a:gd name="T24" fmla="*/ 11 w 20"/>
                  <a:gd name="T25" fmla="*/ 27 h 68"/>
                  <a:gd name="T26" fmla="*/ 16 w 20"/>
                  <a:gd name="T27" fmla="*/ 26 h 68"/>
                  <a:gd name="T28" fmla="*/ 12 w 20"/>
                  <a:gd name="T29" fmla="*/ 32 h 68"/>
                  <a:gd name="T30" fmla="*/ 19 w 20"/>
                  <a:gd name="T31" fmla="*/ 33 h 68"/>
                  <a:gd name="T32" fmla="*/ 13 w 20"/>
                  <a:gd name="T33" fmla="*/ 38 h 68"/>
                  <a:gd name="T34" fmla="*/ 19 w 20"/>
                  <a:gd name="T35" fmla="*/ 40 h 68"/>
                  <a:gd name="T36" fmla="*/ 12 w 20"/>
                  <a:gd name="T37" fmla="*/ 44 h 68"/>
                  <a:gd name="T38" fmla="*/ 19 w 20"/>
                  <a:gd name="T39" fmla="*/ 48 h 68"/>
                  <a:gd name="T40" fmla="*/ 12 w 20"/>
                  <a:gd name="T41" fmla="*/ 51 h 68"/>
                  <a:gd name="T42" fmla="*/ 17 w 20"/>
                  <a:gd name="T43" fmla="*/ 55 h 68"/>
                  <a:gd name="T44" fmla="*/ 12 w 20"/>
                  <a:gd name="T45" fmla="*/ 58 h 68"/>
                  <a:gd name="T46" fmla="*/ 15 w 20"/>
                  <a:gd name="T47" fmla="*/ 63 h 68"/>
                  <a:gd name="T48" fmla="*/ 11 w 20"/>
                  <a:gd name="T49" fmla="*/ 67 h 6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0"/>
                  <a:gd name="T76" fmla="*/ 0 h 68"/>
                  <a:gd name="T77" fmla="*/ 20 w 20"/>
                  <a:gd name="T78" fmla="*/ 68 h 6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0" h="68">
                    <a:moveTo>
                      <a:pt x="0" y="0"/>
                    </a:moveTo>
                    <a:lnTo>
                      <a:pt x="2" y="1"/>
                    </a:lnTo>
                    <a:lnTo>
                      <a:pt x="2" y="5"/>
                    </a:lnTo>
                    <a:lnTo>
                      <a:pt x="4" y="3"/>
                    </a:lnTo>
                    <a:lnTo>
                      <a:pt x="4" y="7"/>
                    </a:lnTo>
                    <a:lnTo>
                      <a:pt x="7" y="7"/>
                    </a:lnTo>
                    <a:lnTo>
                      <a:pt x="4" y="11"/>
                    </a:lnTo>
                    <a:lnTo>
                      <a:pt x="11" y="11"/>
                    </a:lnTo>
                    <a:lnTo>
                      <a:pt x="8" y="16"/>
                    </a:lnTo>
                    <a:lnTo>
                      <a:pt x="13" y="16"/>
                    </a:lnTo>
                    <a:lnTo>
                      <a:pt x="9" y="21"/>
                    </a:lnTo>
                    <a:lnTo>
                      <a:pt x="15" y="20"/>
                    </a:lnTo>
                    <a:lnTo>
                      <a:pt x="11" y="27"/>
                    </a:lnTo>
                    <a:lnTo>
                      <a:pt x="16" y="26"/>
                    </a:lnTo>
                    <a:lnTo>
                      <a:pt x="12" y="32"/>
                    </a:lnTo>
                    <a:lnTo>
                      <a:pt x="19" y="33"/>
                    </a:lnTo>
                    <a:lnTo>
                      <a:pt x="13" y="38"/>
                    </a:lnTo>
                    <a:lnTo>
                      <a:pt x="19" y="40"/>
                    </a:lnTo>
                    <a:lnTo>
                      <a:pt x="12" y="44"/>
                    </a:lnTo>
                    <a:lnTo>
                      <a:pt x="19" y="48"/>
                    </a:lnTo>
                    <a:lnTo>
                      <a:pt x="12" y="51"/>
                    </a:lnTo>
                    <a:lnTo>
                      <a:pt x="17" y="55"/>
                    </a:lnTo>
                    <a:lnTo>
                      <a:pt x="12" y="58"/>
                    </a:lnTo>
                    <a:lnTo>
                      <a:pt x="15" y="63"/>
                    </a:lnTo>
                    <a:lnTo>
                      <a:pt x="11" y="67"/>
                    </a:lnTo>
                  </a:path>
                </a:pathLst>
              </a:custGeom>
              <a:noFill/>
              <a:ln w="12700" cap="rnd" cmpd="sng">
                <a:solidFill>
                  <a:srgbClr val="000000"/>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en-IN"/>
              </a:p>
            </p:txBody>
          </p:sp>
        </p:grpSp>
      </p:grpSp>
      <p:sp>
        <p:nvSpPr>
          <p:cNvPr id="10245" name="AutoShape 94"/>
          <p:cNvSpPr>
            <a:spLocks noChangeArrowheads="1"/>
          </p:cNvSpPr>
          <p:nvPr/>
        </p:nvSpPr>
        <p:spPr bwMode="auto">
          <a:xfrm>
            <a:off x="2971800" y="2209800"/>
            <a:ext cx="2133600" cy="533400"/>
          </a:xfrm>
          <a:prstGeom prst="wedgeRoundRectCallout">
            <a:avLst>
              <a:gd name="adj1" fmla="val -44866"/>
              <a:gd name="adj2" fmla="val 89880"/>
              <a:gd name="adj3" fmla="val 16667"/>
            </a:avLst>
          </a:prstGeom>
          <a:solidFill>
            <a:schemeClr val="accent1"/>
          </a:solidFill>
          <a:ln w="9525">
            <a:solidFill>
              <a:schemeClr val="tx1"/>
            </a:solidFill>
            <a:miter lim="800000"/>
            <a:headEnd type="none" w="sm" len="sm"/>
            <a:tailEnd type="none" w="sm" len="sm"/>
          </a:ln>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buClrTx/>
              <a:buSzTx/>
              <a:buFontTx/>
              <a:buNone/>
            </a:pPr>
            <a:r>
              <a:rPr lang="en-US" altLang="en-US" sz="2000" dirty="0">
                <a:latin typeface="Times New Roman" panose="02020603050405020304" pitchFamily="18" charset="0"/>
                <a:cs typeface="Angsana New" pitchFamily="18" charset="-34"/>
              </a:rPr>
              <a:t>Hi, how are you?</a:t>
            </a:r>
          </a:p>
        </p:txBody>
      </p:sp>
      <p:cxnSp>
        <p:nvCxnSpPr>
          <p:cNvPr id="10246" name="AutoShape 98"/>
          <p:cNvCxnSpPr>
            <a:cxnSpLocks noChangeShapeType="1"/>
          </p:cNvCxnSpPr>
          <p:nvPr/>
        </p:nvCxnSpPr>
        <p:spPr bwMode="auto">
          <a:xfrm rot="16200000" flipH="1">
            <a:off x="6638925" y="2514600"/>
            <a:ext cx="165100" cy="5016500"/>
          </a:xfrm>
          <a:prstGeom prst="bentConnector3">
            <a:avLst>
              <a:gd name="adj1" fmla="val 238463"/>
            </a:avLst>
          </a:prstGeom>
          <a:noFill/>
          <a:ln w="76200">
            <a:solidFill>
              <a:schemeClr val="tx1"/>
            </a:solidFill>
            <a:miter lim="800000"/>
            <a:headEnd type="none" w="sm" len="sm"/>
            <a:tailEnd type="none" w="sm" len="sm"/>
          </a:ln>
          <a:extLst>
            <a:ext uri="{909E8E84-426E-40DD-AFC4-6F175D3DCCD1}">
              <a14:hiddenFill xmlns:a14="http://schemas.microsoft.com/office/drawing/2010/main">
                <a:noFill/>
              </a14:hiddenFill>
            </a:ext>
          </a:extLst>
        </p:spPr>
      </p:cxnSp>
      <p:grpSp>
        <p:nvGrpSpPr>
          <p:cNvPr id="13" name="Group 145"/>
          <p:cNvGrpSpPr>
            <a:grpSpLocks/>
          </p:cNvGrpSpPr>
          <p:nvPr/>
        </p:nvGrpSpPr>
        <p:grpSpPr bwMode="auto">
          <a:xfrm>
            <a:off x="5334000" y="2743200"/>
            <a:ext cx="1752600" cy="457200"/>
            <a:chOff x="3840" y="1344"/>
            <a:chExt cx="1104" cy="288"/>
          </a:xfrm>
        </p:grpSpPr>
        <p:sp>
          <p:nvSpPr>
            <p:cNvPr id="10285" name="Oval 135"/>
            <p:cNvSpPr>
              <a:spLocks noChangeArrowheads="1"/>
            </p:cNvSpPr>
            <p:nvPr/>
          </p:nvSpPr>
          <p:spPr bwMode="auto">
            <a:xfrm>
              <a:off x="3840" y="1344"/>
              <a:ext cx="288" cy="288"/>
            </a:xfrm>
            <a:prstGeom prst="ellipse">
              <a:avLst/>
            </a:prstGeom>
            <a:solidFill>
              <a:srgbClr val="000099"/>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buClrTx/>
                <a:buSzTx/>
                <a:buFontTx/>
                <a:buNone/>
              </a:pPr>
              <a:r>
                <a:rPr lang="en-US" altLang="en-US" sz="2400" b="1">
                  <a:latin typeface="Times New Roman" panose="02020603050405020304" pitchFamily="18" charset="0"/>
                  <a:cs typeface="Angsana New" pitchFamily="18" charset="-34"/>
                </a:rPr>
                <a:t>5</a:t>
              </a:r>
            </a:p>
          </p:txBody>
        </p:sp>
        <p:sp>
          <p:nvSpPr>
            <p:cNvPr id="10286" name="AutoShape 136"/>
            <p:cNvSpPr>
              <a:spLocks noChangeArrowheads="1"/>
            </p:cNvSpPr>
            <p:nvPr/>
          </p:nvSpPr>
          <p:spPr bwMode="auto">
            <a:xfrm>
              <a:off x="4176" y="1344"/>
              <a:ext cx="768" cy="288"/>
            </a:xfrm>
            <a:prstGeom prst="flowChartAlternateProcess">
              <a:avLst/>
            </a:prstGeom>
            <a:solidFill>
              <a:srgbClr val="000099"/>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buClrTx/>
                <a:buSzTx/>
                <a:buFontTx/>
                <a:buNone/>
              </a:pPr>
              <a:r>
                <a:rPr lang="en-US" altLang="en-US" sz="2400" b="1">
                  <a:latin typeface="Times New Roman" panose="02020603050405020304" pitchFamily="18" charset="0"/>
                  <a:cs typeface="Angsana New" pitchFamily="18" charset="-34"/>
                </a:rPr>
                <a:t>Protocol</a:t>
              </a:r>
            </a:p>
          </p:txBody>
        </p:sp>
      </p:grpSp>
      <p:grpSp>
        <p:nvGrpSpPr>
          <p:cNvPr id="14" name="Group 144"/>
          <p:cNvGrpSpPr>
            <a:grpSpLocks/>
          </p:cNvGrpSpPr>
          <p:nvPr/>
        </p:nvGrpSpPr>
        <p:grpSpPr bwMode="auto">
          <a:xfrm>
            <a:off x="5334000" y="5334000"/>
            <a:ext cx="1752600" cy="457200"/>
            <a:chOff x="2448" y="3600"/>
            <a:chExt cx="1104" cy="288"/>
          </a:xfrm>
        </p:grpSpPr>
        <p:sp>
          <p:nvSpPr>
            <p:cNvPr id="10283" name="Oval 133"/>
            <p:cNvSpPr>
              <a:spLocks noChangeArrowheads="1"/>
            </p:cNvSpPr>
            <p:nvPr/>
          </p:nvSpPr>
          <p:spPr bwMode="auto">
            <a:xfrm>
              <a:off x="2448" y="3600"/>
              <a:ext cx="288" cy="288"/>
            </a:xfrm>
            <a:prstGeom prst="ellipse">
              <a:avLst/>
            </a:prstGeom>
            <a:solidFill>
              <a:srgbClr val="006600"/>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buClrTx/>
                <a:buSzTx/>
                <a:buFontTx/>
                <a:buNone/>
              </a:pPr>
              <a:r>
                <a:rPr lang="en-US" altLang="en-US" sz="2400" b="1">
                  <a:latin typeface="Times New Roman" panose="02020603050405020304" pitchFamily="18" charset="0"/>
                  <a:cs typeface="Angsana New" pitchFamily="18" charset="-34"/>
                </a:rPr>
                <a:t>4</a:t>
              </a:r>
            </a:p>
          </p:txBody>
        </p:sp>
        <p:sp>
          <p:nvSpPr>
            <p:cNvPr id="10284" name="AutoShape 137"/>
            <p:cNvSpPr>
              <a:spLocks noChangeArrowheads="1"/>
            </p:cNvSpPr>
            <p:nvPr/>
          </p:nvSpPr>
          <p:spPr bwMode="auto">
            <a:xfrm>
              <a:off x="2784" y="3600"/>
              <a:ext cx="768" cy="288"/>
            </a:xfrm>
            <a:prstGeom prst="flowChartAlternateProcess">
              <a:avLst/>
            </a:prstGeom>
            <a:solidFill>
              <a:srgbClr val="006600"/>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buClrTx/>
                <a:buSzTx/>
                <a:buFontTx/>
                <a:buNone/>
              </a:pPr>
              <a:r>
                <a:rPr lang="en-US" altLang="en-US" sz="2400" b="1">
                  <a:latin typeface="Times New Roman" panose="02020603050405020304" pitchFamily="18" charset="0"/>
                  <a:cs typeface="Angsana New" pitchFamily="18" charset="-34"/>
                </a:rPr>
                <a:t>Medium</a:t>
              </a:r>
            </a:p>
          </p:txBody>
        </p:sp>
      </p:grpSp>
      <p:grpSp>
        <p:nvGrpSpPr>
          <p:cNvPr id="15" name="Group 143"/>
          <p:cNvGrpSpPr>
            <a:grpSpLocks/>
          </p:cNvGrpSpPr>
          <p:nvPr/>
        </p:nvGrpSpPr>
        <p:grpSpPr bwMode="auto">
          <a:xfrm>
            <a:off x="8153400" y="3429000"/>
            <a:ext cx="1752600" cy="457200"/>
            <a:chOff x="4176" y="2448"/>
            <a:chExt cx="1104" cy="288"/>
          </a:xfrm>
        </p:grpSpPr>
        <p:sp>
          <p:nvSpPr>
            <p:cNvPr id="10281" name="Oval 134"/>
            <p:cNvSpPr>
              <a:spLocks noChangeArrowheads="1"/>
            </p:cNvSpPr>
            <p:nvPr/>
          </p:nvSpPr>
          <p:spPr bwMode="auto">
            <a:xfrm>
              <a:off x="4176" y="2448"/>
              <a:ext cx="288" cy="288"/>
            </a:xfrm>
            <a:prstGeom prst="ellipse">
              <a:avLst/>
            </a:prstGeom>
            <a:solidFill>
              <a:srgbClr val="006600"/>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buClrTx/>
                <a:buSzTx/>
                <a:buFontTx/>
                <a:buNone/>
              </a:pPr>
              <a:r>
                <a:rPr lang="en-US" altLang="en-US" sz="2400" b="1">
                  <a:latin typeface="Times New Roman" panose="02020603050405020304" pitchFamily="18" charset="0"/>
                  <a:cs typeface="Angsana New" pitchFamily="18" charset="-34"/>
                </a:rPr>
                <a:t>3</a:t>
              </a:r>
            </a:p>
          </p:txBody>
        </p:sp>
        <p:sp>
          <p:nvSpPr>
            <p:cNvPr id="10282" name="AutoShape 138"/>
            <p:cNvSpPr>
              <a:spLocks noChangeArrowheads="1"/>
            </p:cNvSpPr>
            <p:nvPr/>
          </p:nvSpPr>
          <p:spPr bwMode="auto">
            <a:xfrm>
              <a:off x="4512" y="2448"/>
              <a:ext cx="768" cy="288"/>
            </a:xfrm>
            <a:prstGeom prst="flowChartAlternateProcess">
              <a:avLst/>
            </a:prstGeom>
            <a:solidFill>
              <a:srgbClr val="006600"/>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buClrTx/>
                <a:buSzTx/>
                <a:buFontTx/>
                <a:buNone/>
              </a:pPr>
              <a:r>
                <a:rPr lang="en-US" altLang="en-US" sz="2400" b="1">
                  <a:latin typeface="Times New Roman" panose="02020603050405020304" pitchFamily="18" charset="0"/>
                  <a:cs typeface="Angsana New" pitchFamily="18" charset="-34"/>
                </a:rPr>
                <a:t>Receiver</a:t>
              </a:r>
            </a:p>
          </p:txBody>
        </p:sp>
      </p:grpSp>
      <p:grpSp>
        <p:nvGrpSpPr>
          <p:cNvPr id="16" name="Group 142"/>
          <p:cNvGrpSpPr>
            <a:grpSpLocks/>
          </p:cNvGrpSpPr>
          <p:nvPr/>
        </p:nvGrpSpPr>
        <p:grpSpPr bwMode="auto">
          <a:xfrm>
            <a:off x="3200400" y="3352800"/>
            <a:ext cx="1752600" cy="457200"/>
            <a:chOff x="1632" y="2256"/>
            <a:chExt cx="1104" cy="288"/>
          </a:xfrm>
        </p:grpSpPr>
        <p:sp>
          <p:nvSpPr>
            <p:cNvPr id="10279" name="Oval 132"/>
            <p:cNvSpPr>
              <a:spLocks noChangeArrowheads="1"/>
            </p:cNvSpPr>
            <p:nvPr/>
          </p:nvSpPr>
          <p:spPr bwMode="auto">
            <a:xfrm>
              <a:off x="1632" y="2256"/>
              <a:ext cx="288" cy="288"/>
            </a:xfrm>
            <a:prstGeom prst="ellipse">
              <a:avLst/>
            </a:prstGeom>
            <a:solidFill>
              <a:srgbClr val="006600"/>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buClrTx/>
                <a:buSzTx/>
                <a:buFontTx/>
                <a:buNone/>
              </a:pPr>
              <a:r>
                <a:rPr lang="en-US" altLang="en-US" sz="2400" b="1">
                  <a:latin typeface="Times New Roman" panose="02020603050405020304" pitchFamily="18" charset="0"/>
                  <a:cs typeface="Angsana New" pitchFamily="18" charset="-34"/>
                </a:rPr>
                <a:t>2</a:t>
              </a:r>
            </a:p>
          </p:txBody>
        </p:sp>
        <p:sp>
          <p:nvSpPr>
            <p:cNvPr id="10280" name="AutoShape 139"/>
            <p:cNvSpPr>
              <a:spLocks noChangeArrowheads="1"/>
            </p:cNvSpPr>
            <p:nvPr/>
          </p:nvSpPr>
          <p:spPr bwMode="auto">
            <a:xfrm>
              <a:off x="1968" y="2256"/>
              <a:ext cx="768" cy="288"/>
            </a:xfrm>
            <a:prstGeom prst="flowChartAlternateProcess">
              <a:avLst/>
            </a:prstGeom>
            <a:solidFill>
              <a:srgbClr val="006600"/>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buClrTx/>
                <a:buSzTx/>
                <a:buFontTx/>
                <a:buNone/>
              </a:pPr>
              <a:r>
                <a:rPr lang="en-US" altLang="en-US" sz="2400" b="1">
                  <a:latin typeface="Times New Roman" panose="02020603050405020304" pitchFamily="18" charset="0"/>
                  <a:cs typeface="Angsana New" pitchFamily="18" charset="-34"/>
                </a:rPr>
                <a:t>Sender</a:t>
              </a:r>
            </a:p>
          </p:txBody>
        </p:sp>
      </p:grpSp>
      <p:grpSp>
        <p:nvGrpSpPr>
          <p:cNvPr id="17" name="Group 141"/>
          <p:cNvGrpSpPr>
            <a:grpSpLocks/>
          </p:cNvGrpSpPr>
          <p:nvPr/>
        </p:nvGrpSpPr>
        <p:grpSpPr bwMode="auto">
          <a:xfrm>
            <a:off x="2971800" y="1828800"/>
            <a:ext cx="1752600" cy="457200"/>
            <a:chOff x="2304" y="1872"/>
            <a:chExt cx="1104" cy="288"/>
          </a:xfrm>
        </p:grpSpPr>
        <p:sp>
          <p:nvSpPr>
            <p:cNvPr id="10277" name="Oval 131"/>
            <p:cNvSpPr>
              <a:spLocks noChangeArrowheads="1"/>
            </p:cNvSpPr>
            <p:nvPr/>
          </p:nvSpPr>
          <p:spPr bwMode="auto">
            <a:xfrm>
              <a:off x="2304" y="1872"/>
              <a:ext cx="288" cy="288"/>
            </a:xfrm>
            <a:prstGeom prst="ellipse">
              <a:avLst/>
            </a:prstGeom>
            <a:solidFill>
              <a:srgbClr val="006600"/>
            </a:solidFill>
            <a:ln>
              <a:noFill/>
            </a:ln>
            <a:extLst>
              <a:ext uri="{91240B29-F687-4F45-9708-019B960494DF}">
                <a14:hiddenLine xmlns:a14="http://schemas.microsoft.com/office/drawing/2010/main" w="9525">
                  <a:solidFill>
                    <a:srgbClr val="000000"/>
                  </a:solidFill>
                  <a:round/>
                  <a:headEnd type="none" w="sm" len="sm"/>
                  <a:tailEnd type="none" w="sm" len="sm"/>
                </a14:hiddenLine>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buClrTx/>
                <a:buSzTx/>
                <a:buFontTx/>
                <a:buNone/>
              </a:pPr>
              <a:r>
                <a:rPr lang="en-US" altLang="en-US" sz="2400" b="1">
                  <a:latin typeface="Times New Roman" panose="02020603050405020304" pitchFamily="18" charset="0"/>
                  <a:cs typeface="Angsana New" pitchFamily="18" charset="-34"/>
                </a:rPr>
                <a:t>1</a:t>
              </a:r>
            </a:p>
          </p:txBody>
        </p:sp>
        <p:sp>
          <p:nvSpPr>
            <p:cNvPr id="10278" name="AutoShape 140"/>
            <p:cNvSpPr>
              <a:spLocks noChangeArrowheads="1"/>
            </p:cNvSpPr>
            <p:nvPr/>
          </p:nvSpPr>
          <p:spPr bwMode="auto">
            <a:xfrm>
              <a:off x="2640" y="1872"/>
              <a:ext cx="768" cy="288"/>
            </a:xfrm>
            <a:prstGeom prst="flowChartAlternateProcess">
              <a:avLst/>
            </a:prstGeom>
            <a:solidFill>
              <a:srgbClr val="006600"/>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buClrTx/>
                <a:buSzTx/>
                <a:buFontTx/>
                <a:buNone/>
              </a:pPr>
              <a:r>
                <a:rPr lang="en-US" altLang="en-US" sz="2400" b="1">
                  <a:latin typeface="Times New Roman" panose="02020603050405020304" pitchFamily="18" charset="0"/>
                  <a:cs typeface="Angsana New" pitchFamily="18" charset="-34"/>
                </a:rPr>
                <a:t>Message</a:t>
              </a:r>
            </a:p>
          </p:txBody>
        </p:sp>
      </p:grpSp>
      <p:grpSp>
        <p:nvGrpSpPr>
          <p:cNvPr id="10252" name="Group 191"/>
          <p:cNvGrpSpPr>
            <a:grpSpLocks/>
          </p:cNvGrpSpPr>
          <p:nvPr/>
        </p:nvGrpSpPr>
        <p:grpSpPr bwMode="auto">
          <a:xfrm>
            <a:off x="7896225" y="3962400"/>
            <a:ext cx="1943100" cy="1104900"/>
            <a:chOff x="4560" y="1200"/>
            <a:chExt cx="1327" cy="696"/>
          </a:xfrm>
        </p:grpSpPr>
        <p:grpSp>
          <p:nvGrpSpPr>
            <p:cNvPr id="10253" name="Group 189"/>
            <p:cNvGrpSpPr>
              <a:grpSpLocks/>
            </p:cNvGrpSpPr>
            <p:nvPr/>
          </p:nvGrpSpPr>
          <p:grpSpPr bwMode="auto">
            <a:xfrm>
              <a:off x="5317" y="1336"/>
              <a:ext cx="570" cy="560"/>
              <a:chOff x="5317" y="1336"/>
              <a:chExt cx="570" cy="560"/>
            </a:xfrm>
          </p:grpSpPr>
          <p:sp>
            <p:nvSpPr>
              <p:cNvPr id="10269" name="Freeform 180"/>
              <p:cNvSpPr>
                <a:spLocks/>
              </p:cNvSpPr>
              <p:nvPr/>
            </p:nvSpPr>
            <p:spPr bwMode="auto">
              <a:xfrm>
                <a:off x="5343" y="1608"/>
                <a:ext cx="544" cy="288"/>
              </a:xfrm>
              <a:custGeom>
                <a:avLst/>
                <a:gdLst>
                  <a:gd name="T0" fmla="*/ 0 w 1631"/>
                  <a:gd name="T1" fmla="*/ 0 h 864"/>
                  <a:gd name="T2" fmla="*/ 0 w 1631"/>
                  <a:gd name="T3" fmla="*/ 0 h 864"/>
                  <a:gd name="T4" fmla="*/ 0 w 1631"/>
                  <a:gd name="T5" fmla="*/ 0 h 864"/>
                  <a:gd name="T6" fmla="*/ 0 w 1631"/>
                  <a:gd name="T7" fmla="*/ 0 h 864"/>
                  <a:gd name="T8" fmla="*/ 0 w 1631"/>
                  <a:gd name="T9" fmla="*/ 0 h 864"/>
                  <a:gd name="T10" fmla="*/ 0 w 1631"/>
                  <a:gd name="T11" fmla="*/ 0 h 864"/>
                  <a:gd name="T12" fmla="*/ 0 w 1631"/>
                  <a:gd name="T13" fmla="*/ 0 h 864"/>
                  <a:gd name="T14" fmla="*/ 0 w 1631"/>
                  <a:gd name="T15" fmla="*/ 0 h 864"/>
                  <a:gd name="T16" fmla="*/ 0 w 1631"/>
                  <a:gd name="T17" fmla="*/ 0 h 864"/>
                  <a:gd name="T18" fmla="*/ 0 w 1631"/>
                  <a:gd name="T19" fmla="*/ 0 h 864"/>
                  <a:gd name="T20" fmla="*/ 0 w 1631"/>
                  <a:gd name="T21" fmla="*/ 0 h 864"/>
                  <a:gd name="T22" fmla="*/ 0 w 1631"/>
                  <a:gd name="T23" fmla="*/ 0 h 864"/>
                  <a:gd name="T24" fmla="*/ 0 w 1631"/>
                  <a:gd name="T25" fmla="*/ 0 h 864"/>
                  <a:gd name="T26" fmla="*/ 0 w 1631"/>
                  <a:gd name="T27" fmla="*/ 0 h 864"/>
                  <a:gd name="T28" fmla="*/ 0 w 1631"/>
                  <a:gd name="T29" fmla="*/ 0 h 864"/>
                  <a:gd name="T30" fmla="*/ 0 w 1631"/>
                  <a:gd name="T31" fmla="*/ 0 h 864"/>
                  <a:gd name="T32" fmla="*/ 0 w 1631"/>
                  <a:gd name="T33" fmla="*/ 0 h 864"/>
                  <a:gd name="T34" fmla="*/ 0 w 1631"/>
                  <a:gd name="T35" fmla="*/ 0 h 864"/>
                  <a:gd name="T36" fmla="*/ 0 w 1631"/>
                  <a:gd name="T37" fmla="*/ 0 h 864"/>
                  <a:gd name="T38" fmla="*/ 0 w 1631"/>
                  <a:gd name="T39" fmla="*/ 0 h 864"/>
                  <a:gd name="T40" fmla="*/ 0 w 1631"/>
                  <a:gd name="T41" fmla="*/ 0 h 864"/>
                  <a:gd name="T42" fmla="*/ 0 w 1631"/>
                  <a:gd name="T43" fmla="*/ 0 h 864"/>
                  <a:gd name="T44" fmla="*/ 0 w 1631"/>
                  <a:gd name="T45" fmla="*/ 0 h 864"/>
                  <a:gd name="T46" fmla="*/ 0 w 1631"/>
                  <a:gd name="T47" fmla="*/ 0 h 864"/>
                  <a:gd name="T48" fmla="*/ 0 w 1631"/>
                  <a:gd name="T49" fmla="*/ 0 h 864"/>
                  <a:gd name="T50" fmla="*/ 0 w 1631"/>
                  <a:gd name="T51" fmla="*/ 0 h 864"/>
                  <a:gd name="T52" fmla="*/ 0 w 1631"/>
                  <a:gd name="T53" fmla="*/ 0 h 864"/>
                  <a:gd name="T54" fmla="*/ 0 w 1631"/>
                  <a:gd name="T55" fmla="*/ 0 h 864"/>
                  <a:gd name="T56" fmla="*/ 0 w 1631"/>
                  <a:gd name="T57" fmla="*/ 0 h 864"/>
                  <a:gd name="T58" fmla="*/ 0 w 1631"/>
                  <a:gd name="T59" fmla="*/ 0 h 864"/>
                  <a:gd name="T60" fmla="*/ 0 w 1631"/>
                  <a:gd name="T61" fmla="*/ 0 h 864"/>
                  <a:gd name="T62" fmla="*/ 0 w 1631"/>
                  <a:gd name="T63" fmla="*/ 0 h 864"/>
                  <a:gd name="T64" fmla="*/ 0 w 1631"/>
                  <a:gd name="T65" fmla="*/ 0 h 864"/>
                  <a:gd name="T66" fmla="*/ 0 w 1631"/>
                  <a:gd name="T67" fmla="*/ 0 h 864"/>
                  <a:gd name="T68" fmla="*/ 0 w 1631"/>
                  <a:gd name="T69" fmla="*/ 0 h 864"/>
                  <a:gd name="T70" fmla="*/ 0 w 1631"/>
                  <a:gd name="T71" fmla="*/ 0 h 864"/>
                  <a:gd name="T72" fmla="*/ 0 w 1631"/>
                  <a:gd name="T73" fmla="*/ 0 h 864"/>
                  <a:gd name="T74" fmla="*/ 0 w 1631"/>
                  <a:gd name="T75" fmla="*/ 0 h 864"/>
                  <a:gd name="T76" fmla="*/ 0 w 1631"/>
                  <a:gd name="T77" fmla="*/ 0 h 864"/>
                  <a:gd name="T78" fmla="*/ 0 w 1631"/>
                  <a:gd name="T79" fmla="*/ 0 h 864"/>
                  <a:gd name="T80" fmla="*/ 0 w 1631"/>
                  <a:gd name="T81" fmla="*/ 0 h 864"/>
                  <a:gd name="T82" fmla="*/ 0 w 1631"/>
                  <a:gd name="T83" fmla="*/ 0 h 864"/>
                  <a:gd name="T84" fmla="*/ 0 w 1631"/>
                  <a:gd name="T85" fmla="*/ 0 h 864"/>
                  <a:gd name="T86" fmla="*/ 0 w 1631"/>
                  <a:gd name="T87" fmla="*/ 0 h 864"/>
                  <a:gd name="T88" fmla="*/ 0 w 1631"/>
                  <a:gd name="T89" fmla="*/ 0 h 864"/>
                  <a:gd name="T90" fmla="*/ 0 w 1631"/>
                  <a:gd name="T91" fmla="*/ 0 h 864"/>
                  <a:gd name="T92" fmla="*/ 0 w 1631"/>
                  <a:gd name="T93" fmla="*/ 0 h 864"/>
                  <a:gd name="T94" fmla="*/ 0 w 1631"/>
                  <a:gd name="T95" fmla="*/ 0 h 864"/>
                  <a:gd name="T96" fmla="*/ 0 w 1631"/>
                  <a:gd name="T97" fmla="*/ 0 h 86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631"/>
                  <a:gd name="T148" fmla="*/ 0 h 864"/>
                  <a:gd name="T149" fmla="*/ 1631 w 1631"/>
                  <a:gd name="T150" fmla="*/ 864 h 86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631" h="864">
                    <a:moveTo>
                      <a:pt x="326" y="864"/>
                    </a:moveTo>
                    <a:lnTo>
                      <a:pt x="1631" y="864"/>
                    </a:lnTo>
                    <a:lnTo>
                      <a:pt x="1631" y="289"/>
                    </a:lnTo>
                    <a:lnTo>
                      <a:pt x="1598" y="245"/>
                    </a:lnTo>
                    <a:lnTo>
                      <a:pt x="1562" y="206"/>
                    </a:lnTo>
                    <a:lnTo>
                      <a:pt x="1524" y="168"/>
                    </a:lnTo>
                    <a:lnTo>
                      <a:pt x="1482" y="133"/>
                    </a:lnTo>
                    <a:lnTo>
                      <a:pt x="1437" y="104"/>
                    </a:lnTo>
                    <a:lnTo>
                      <a:pt x="1392" y="76"/>
                    </a:lnTo>
                    <a:lnTo>
                      <a:pt x="1344" y="54"/>
                    </a:lnTo>
                    <a:lnTo>
                      <a:pt x="1294" y="35"/>
                    </a:lnTo>
                    <a:lnTo>
                      <a:pt x="1244" y="20"/>
                    </a:lnTo>
                    <a:lnTo>
                      <a:pt x="1192" y="9"/>
                    </a:lnTo>
                    <a:lnTo>
                      <a:pt x="1140" y="3"/>
                    </a:lnTo>
                    <a:lnTo>
                      <a:pt x="1088" y="0"/>
                    </a:lnTo>
                    <a:lnTo>
                      <a:pt x="1075" y="36"/>
                    </a:lnTo>
                    <a:lnTo>
                      <a:pt x="1059" y="71"/>
                    </a:lnTo>
                    <a:lnTo>
                      <a:pt x="1037" y="102"/>
                    </a:lnTo>
                    <a:lnTo>
                      <a:pt x="1013" y="131"/>
                    </a:lnTo>
                    <a:lnTo>
                      <a:pt x="985" y="157"/>
                    </a:lnTo>
                    <a:lnTo>
                      <a:pt x="955" y="178"/>
                    </a:lnTo>
                    <a:lnTo>
                      <a:pt x="922" y="194"/>
                    </a:lnTo>
                    <a:lnTo>
                      <a:pt x="888" y="207"/>
                    </a:lnTo>
                    <a:lnTo>
                      <a:pt x="852" y="214"/>
                    </a:lnTo>
                    <a:lnTo>
                      <a:pt x="815" y="217"/>
                    </a:lnTo>
                    <a:lnTo>
                      <a:pt x="779" y="214"/>
                    </a:lnTo>
                    <a:lnTo>
                      <a:pt x="743" y="207"/>
                    </a:lnTo>
                    <a:lnTo>
                      <a:pt x="709" y="194"/>
                    </a:lnTo>
                    <a:lnTo>
                      <a:pt x="676" y="178"/>
                    </a:lnTo>
                    <a:lnTo>
                      <a:pt x="646" y="157"/>
                    </a:lnTo>
                    <a:lnTo>
                      <a:pt x="618" y="131"/>
                    </a:lnTo>
                    <a:lnTo>
                      <a:pt x="594" y="102"/>
                    </a:lnTo>
                    <a:lnTo>
                      <a:pt x="572" y="71"/>
                    </a:lnTo>
                    <a:lnTo>
                      <a:pt x="556" y="36"/>
                    </a:lnTo>
                    <a:lnTo>
                      <a:pt x="543" y="0"/>
                    </a:lnTo>
                    <a:lnTo>
                      <a:pt x="491" y="3"/>
                    </a:lnTo>
                    <a:lnTo>
                      <a:pt x="439" y="9"/>
                    </a:lnTo>
                    <a:lnTo>
                      <a:pt x="387" y="20"/>
                    </a:lnTo>
                    <a:lnTo>
                      <a:pt x="337" y="35"/>
                    </a:lnTo>
                    <a:lnTo>
                      <a:pt x="287" y="54"/>
                    </a:lnTo>
                    <a:lnTo>
                      <a:pt x="239" y="76"/>
                    </a:lnTo>
                    <a:lnTo>
                      <a:pt x="193" y="104"/>
                    </a:lnTo>
                    <a:lnTo>
                      <a:pt x="149" y="133"/>
                    </a:lnTo>
                    <a:lnTo>
                      <a:pt x="107" y="168"/>
                    </a:lnTo>
                    <a:lnTo>
                      <a:pt x="69" y="206"/>
                    </a:lnTo>
                    <a:lnTo>
                      <a:pt x="33" y="245"/>
                    </a:lnTo>
                    <a:lnTo>
                      <a:pt x="0" y="289"/>
                    </a:lnTo>
                    <a:lnTo>
                      <a:pt x="0" y="864"/>
                    </a:lnTo>
                    <a:lnTo>
                      <a:pt x="326" y="864"/>
                    </a:lnTo>
                    <a:close/>
                  </a:path>
                </a:pathLst>
              </a:custGeom>
              <a:solidFill>
                <a:srgbClr val="8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270" name="Freeform 181"/>
              <p:cNvSpPr>
                <a:spLocks/>
              </p:cNvSpPr>
              <p:nvPr/>
            </p:nvSpPr>
            <p:spPr bwMode="auto">
              <a:xfrm>
                <a:off x="5501" y="1351"/>
                <a:ext cx="238" cy="324"/>
              </a:xfrm>
              <a:custGeom>
                <a:avLst/>
                <a:gdLst>
                  <a:gd name="T0" fmla="*/ 0 w 714"/>
                  <a:gd name="T1" fmla="*/ 0 h 971"/>
                  <a:gd name="T2" fmla="*/ 0 w 714"/>
                  <a:gd name="T3" fmla="*/ 0 h 971"/>
                  <a:gd name="T4" fmla="*/ 0 w 714"/>
                  <a:gd name="T5" fmla="*/ 0 h 971"/>
                  <a:gd name="T6" fmla="*/ 0 w 714"/>
                  <a:gd name="T7" fmla="*/ 0 h 971"/>
                  <a:gd name="T8" fmla="*/ 0 w 714"/>
                  <a:gd name="T9" fmla="*/ 0 h 971"/>
                  <a:gd name="T10" fmla="*/ 0 w 714"/>
                  <a:gd name="T11" fmla="*/ 0 h 971"/>
                  <a:gd name="T12" fmla="*/ 0 w 714"/>
                  <a:gd name="T13" fmla="*/ 0 h 971"/>
                  <a:gd name="T14" fmla="*/ 0 w 714"/>
                  <a:gd name="T15" fmla="*/ 0 h 971"/>
                  <a:gd name="T16" fmla="*/ 0 w 714"/>
                  <a:gd name="T17" fmla="*/ 0 h 971"/>
                  <a:gd name="T18" fmla="*/ 0 w 714"/>
                  <a:gd name="T19" fmla="*/ 0 h 971"/>
                  <a:gd name="T20" fmla="*/ 0 w 714"/>
                  <a:gd name="T21" fmla="*/ 0 h 971"/>
                  <a:gd name="T22" fmla="*/ 0 w 714"/>
                  <a:gd name="T23" fmla="*/ 0 h 971"/>
                  <a:gd name="T24" fmla="*/ 0 w 714"/>
                  <a:gd name="T25" fmla="*/ 0 h 971"/>
                  <a:gd name="T26" fmla="*/ 0 w 714"/>
                  <a:gd name="T27" fmla="*/ 0 h 971"/>
                  <a:gd name="T28" fmla="*/ 0 w 714"/>
                  <a:gd name="T29" fmla="*/ 0 h 971"/>
                  <a:gd name="T30" fmla="*/ 0 w 714"/>
                  <a:gd name="T31" fmla="*/ 0 h 971"/>
                  <a:gd name="T32" fmla="*/ 0 w 714"/>
                  <a:gd name="T33" fmla="*/ 0 h 971"/>
                  <a:gd name="T34" fmla="*/ 0 w 714"/>
                  <a:gd name="T35" fmla="*/ 0 h 971"/>
                  <a:gd name="T36" fmla="*/ 0 w 714"/>
                  <a:gd name="T37" fmla="*/ 0 h 971"/>
                  <a:gd name="T38" fmla="*/ 0 w 714"/>
                  <a:gd name="T39" fmla="*/ 0 h 971"/>
                  <a:gd name="T40" fmla="*/ 0 w 714"/>
                  <a:gd name="T41" fmla="*/ 0 h 971"/>
                  <a:gd name="T42" fmla="*/ 0 w 714"/>
                  <a:gd name="T43" fmla="*/ 0 h 971"/>
                  <a:gd name="T44" fmla="*/ 0 w 714"/>
                  <a:gd name="T45" fmla="*/ 0 h 971"/>
                  <a:gd name="T46" fmla="*/ 0 w 714"/>
                  <a:gd name="T47" fmla="*/ 0 h 971"/>
                  <a:gd name="T48" fmla="*/ 0 w 714"/>
                  <a:gd name="T49" fmla="*/ 0 h 971"/>
                  <a:gd name="T50" fmla="*/ 0 w 714"/>
                  <a:gd name="T51" fmla="*/ 0 h 971"/>
                  <a:gd name="T52" fmla="*/ 0 w 714"/>
                  <a:gd name="T53" fmla="*/ 0 h 971"/>
                  <a:gd name="T54" fmla="*/ 0 w 714"/>
                  <a:gd name="T55" fmla="*/ 0 h 971"/>
                  <a:gd name="T56" fmla="*/ 0 w 714"/>
                  <a:gd name="T57" fmla="*/ 0 h 971"/>
                  <a:gd name="T58" fmla="*/ 0 w 714"/>
                  <a:gd name="T59" fmla="*/ 0 h 971"/>
                  <a:gd name="T60" fmla="*/ 0 w 714"/>
                  <a:gd name="T61" fmla="*/ 0 h 971"/>
                  <a:gd name="T62" fmla="*/ 0 w 714"/>
                  <a:gd name="T63" fmla="*/ 0 h 971"/>
                  <a:gd name="T64" fmla="*/ 0 w 714"/>
                  <a:gd name="T65" fmla="*/ 0 h 971"/>
                  <a:gd name="T66" fmla="*/ 0 w 714"/>
                  <a:gd name="T67" fmla="*/ 0 h 971"/>
                  <a:gd name="T68" fmla="*/ 0 w 714"/>
                  <a:gd name="T69" fmla="*/ 0 h 971"/>
                  <a:gd name="T70" fmla="*/ 0 w 714"/>
                  <a:gd name="T71" fmla="*/ 0 h 971"/>
                  <a:gd name="T72" fmla="*/ 0 w 714"/>
                  <a:gd name="T73" fmla="*/ 0 h 971"/>
                  <a:gd name="T74" fmla="*/ 0 w 714"/>
                  <a:gd name="T75" fmla="*/ 0 h 971"/>
                  <a:gd name="T76" fmla="*/ 0 w 714"/>
                  <a:gd name="T77" fmla="*/ 0 h 971"/>
                  <a:gd name="T78" fmla="*/ 0 w 714"/>
                  <a:gd name="T79" fmla="*/ 0 h 971"/>
                  <a:gd name="T80" fmla="*/ 0 w 714"/>
                  <a:gd name="T81" fmla="*/ 0 h 971"/>
                  <a:gd name="T82" fmla="*/ 0 w 714"/>
                  <a:gd name="T83" fmla="*/ 0 h 971"/>
                  <a:gd name="T84" fmla="*/ 0 w 714"/>
                  <a:gd name="T85" fmla="*/ 0 h 971"/>
                  <a:gd name="T86" fmla="*/ 0 w 714"/>
                  <a:gd name="T87" fmla="*/ 0 h 971"/>
                  <a:gd name="T88" fmla="*/ 0 w 714"/>
                  <a:gd name="T89" fmla="*/ 0 h 971"/>
                  <a:gd name="T90" fmla="*/ 0 w 714"/>
                  <a:gd name="T91" fmla="*/ 0 h 971"/>
                  <a:gd name="T92" fmla="*/ 0 w 714"/>
                  <a:gd name="T93" fmla="*/ 0 h 971"/>
                  <a:gd name="T94" fmla="*/ 0 w 714"/>
                  <a:gd name="T95" fmla="*/ 0 h 971"/>
                  <a:gd name="T96" fmla="*/ 0 w 714"/>
                  <a:gd name="T97" fmla="*/ 0 h 971"/>
                  <a:gd name="T98" fmla="*/ 0 w 714"/>
                  <a:gd name="T99" fmla="*/ 0 h 9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714"/>
                  <a:gd name="T151" fmla="*/ 0 h 971"/>
                  <a:gd name="T152" fmla="*/ 714 w 714"/>
                  <a:gd name="T153" fmla="*/ 971 h 9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714" h="971">
                    <a:moveTo>
                      <a:pt x="581" y="665"/>
                    </a:moveTo>
                    <a:lnTo>
                      <a:pt x="610" y="637"/>
                    </a:lnTo>
                    <a:lnTo>
                      <a:pt x="636" y="606"/>
                    </a:lnTo>
                    <a:lnTo>
                      <a:pt x="659" y="571"/>
                    </a:lnTo>
                    <a:lnTo>
                      <a:pt x="678" y="535"/>
                    </a:lnTo>
                    <a:lnTo>
                      <a:pt x="693" y="497"/>
                    </a:lnTo>
                    <a:lnTo>
                      <a:pt x="705" y="457"/>
                    </a:lnTo>
                    <a:lnTo>
                      <a:pt x="711" y="416"/>
                    </a:lnTo>
                    <a:lnTo>
                      <a:pt x="714" y="374"/>
                    </a:lnTo>
                    <a:lnTo>
                      <a:pt x="711" y="332"/>
                    </a:lnTo>
                    <a:lnTo>
                      <a:pt x="705" y="290"/>
                    </a:lnTo>
                    <a:lnTo>
                      <a:pt x="693" y="250"/>
                    </a:lnTo>
                    <a:lnTo>
                      <a:pt x="678" y="212"/>
                    </a:lnTo>
                    <a:lnTo>
                      <a:pt x="659" y="175"/>
                    </a:lnTo>
                    <a:lnTo>
                      <a:pt x="635" y="141"/>
                    </a:lnTo>
                    <a:lnTo>
                      <a:pt x="608" y="110"/>
                    </a:lnTo>
                    <a:lnTo>
                      <a:pt x="579" y="81"/>
                    </a:lnTo>
                    <a:lnTo>
                      <a:pt x="546" y="58"/>
                    </a:lnTo>
                    <a:lnTo>
                      <a:pt x="511" y="36"/>
                    </a:lnTo>
                    <a:lnTo>
                      <a:pt x="474" y="22"/>
                    </a:lnTo>
                    <a:lnTo>
                      <a:pt x="436" y="9"/>
                    </a:lnTo>
                    <a:lnTo>
                      <a:pt x="397" y="3"/>
                    </a:lnTo>
                    <a:lnTo>
                      <a:pt x="356" y="0"/>
                    </a:lnTo>
                    <a:lnTo>
                      <a:pt x="317" y="3"/>
                    </a:lnTo>
                    <a:lnTo>
                      <a:pt x="278" y="9"/>
                    </a:lnTo>
                    <a:lnTo>
                      <a:pt x="240" y="22"/>
                    </a:lnTo>
                    <a:lnTo>
                      <a:pt x="203" y="36"/>
                    </a:lnTo>
                    <a:lnTo>
                      <a:pt x="168" y="58"/>
                    </a:lnTo>
                    <a:lnTo>
                      <a:pt x="135" y="81"/>
                    </a:lnTo>
                    <a:lnTo>
                      <a:pt x="106" y="110"/>
                    </a:lnTo>
                    <a:lnTo>
                      <a:pt x="79" y="141"/>
                    </a:lnTo>
                    <a:lnTo>
                      <a:pt x="55" y="175"/>
                    </a:lnTo>
                    <a:lnTo>
                      <a:pt x="36" y="212"/>
                    </a:lnTo>
                    <a:lnTo>
                      <a:pt x="21" y="250"/>
                    </a:lnTo>
                    <a:lnTo>
                      <a:pt x="9" y="290"/>
                    </a:lnTo>
                    <a:lnTo>
                      <a:pt x="3" y="332"/>
                    </a:lnTo>
                    <a:lnTo>
                      <a:pt x="0" y="374"/>
                    </a:lnTo>
                    <a:lnTo>
                      <a:pt x="3" y="416"/>
                    </a:lnTo>
                    <a:lnTo>
                      <a:pt x="9" y="457"/>
                    </a:lnTo>
                    <a:lnTo>
                      <a:pt x="21" y="497"/>
                    </a:lnTo>
                    <a:lnTo>
                      <a:pt x="36" y="535"/>
                    </a:lnTo>
                    <a:lnTo>
                      <a:pt x="55" y="571"/>
                    </a:lnTo>
                    <a:lnTo>
                      <a:pt x="78" y="606"/>
                    </a:lnTo>
                    <a:lnTo>
                      <a:pt x="104" y="637"/>
                    </a:lnTo>
                    <a:lnTo>
                      <a:pt x="133" y="665"/>
                    </a:lnTo>
                    <a:lnTo>
                      <a:pt x="80" y="726"/>
                    </a:lnTo>
                    <a:lnTo>
                      <a:pt x="80" y="971"/>
                    </a:lnTo>
                    <a:lnTo>
                      <a:pt x="634" y="971"/>
                    </a:lnTo>
                    <a:lnTo>
                      <a:pt x="634" y="726"/>
                    </a:lnTo>
                    <a:lnTo>
                      <a:pt x="581" y="665"/>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271" name="Freeform 182"/>
              <p:cNvSpPr>
                <a:spLocks/>
              </p:cNvSpPr>
              <p:nvPr/>
            </p:nvSpPr>
            <p:spPr bwMode="auto">
              <a:xfrm>
                <a:off x="5474" y="1336"/>
                <a:ext cx="238" cy="324"/>
              </a:xfrm>
              <a:custGeom>
                <a:avLst/>
                <a:gdLst>
                  <a:gd name="T0" fmla="*/ 0 w 713"/>
                  <a:gd name="T1" fmla="*/ 0 h 971"/>
                  <a:gd name="T2" fmla="*/ 0 w 713"/>
                  <a:gd name="T3" fmla="*/ 0 h 971"/>
                  <a:gd name="T4" fmla="*/ 0 w 713"/>
                  <a:gd name="T5" fmla="*/ 0 h 971"/>
                  <a:gd name="T6" fmla="*/ 0 w 713"/>
                  <a:gd name="T7" fmla="*/ 0 h 971"/>
                  <a:gd name="T8" fmla="*/ 0 w 713"/>
                  <a:gd name="T9" fmla="*/ 0 h 971"/>
                  <a:gd name="T10" fmla="*/ 0 w 713"/>
                  <a:gd name="T11" fmla="*/ 0 h 971"/>
                  <a:gd name="T12" fmla="*/ 0 w 713"/>
                  <a:gd name="T13" fmla="*/ 0 h 971"/>
                  <a:gd name="T14" fmla="*/ 0 w 713"/>
                  <a:gd name="T15" fmla="*/ 0 h 971"/>
                  <a:gd name="T16" fmla="*/ 0 w 713"/>
                  <a:gd name="T17" fmla="*/ 0 h 971"/>
                  <a:gd name="T18" fmla="*/ 0 w 713"/>
                  <a:gd name="T19" fmla="*/ 0 h 971"/>
                  <a:gd name="T20" fmla="*/ 0 w 713"/>
                  <a:gd name="T21" fmla="*/ 0 h 971"/>
                  <a:gd name="T22" fmla="*/ 0 w 713"/>
                  <a:gd name="T23" fmla="*/ 0 h 971"/>
                  <a:gd name="T24" fmla="*/ 0 w 713"/>
                  <a:gd name="T25" fmla="*/ 0 h 971"/>
                  <a:gd name="T26" fmla="*/ 0 w 713"/>
                  <a:gd name="T27" fmla="*/ 0 h 971"/>
                  <a:gd name="T28" fmla="*/ 0 w 713"/>
                  <a:gd name="T29" fmla="*/ 0 h 971"/>
                  <a:gd name="T30" fmla="*/ 0 w 713"/>
                  <a:gd name="T31" fmla="*/ 0 h 971"/>
                  <a:gd name="T32" fmla="*/ 0 w 713"/>
                  <a:gd name="T33" fmla="*/ 0 h 971"/>
                  <a:gd name="T34" fmla="*/ 0 w 713"/>
                  <a:gd name="T35" fmla="*/ 0 h 971"/>
                  <a:gd name="T36" fmla="*/ 0 w 713"/>
                  <a:gd name="T37" fmla="*/ 0 h 971"/>
                  <a:gd name="T38" fmla="*/ 0 w 713"/>
                  <a:gd name="T39" fmla="*/ 0 h 971"/>
                  <a:gd name="T40" fmla="*/ 0 w 713"/>
                  <a:gd name="T41" fmla="*/ 0 h 971"/>
                  <a:gd name="T42" fmla="*/ 0 w 713"/>
                  <a:gd name="T43" fmla="*/ 0 h 971"/>
                  <a:gd name="T44" fmla="*/ 0 w 713"/>
                  <a:gd name="T45" fmla="*/ 0 h 971"/>
                  <a:gd name="T46" fmla="*/ 0 w 713"/>
                  <a:gd name="T47" fmla="*/ 0 h 971"/>
                  <a:gd name="T48" fmla="*/ 0 w 713"/>
                  <a:gd name="T49" fmla="*/ 0 h 971"/>
                  <a:gd name="T50" fmla="*/ 0 w 713"/>
                  <a:gd name="T51" fmla="*/ 0 h 971"/>
                  <a:gd name="T52" fmla="*/ 0 w 713"/>
                  <a:gd name="T53" fmla="*/ 0 h 971"/>
                  <a:gd name="T54" fmla="*/ 0 w 713"/>
                  <a:gd name="T55" fmla="*/ 0 h 971"/>
                  <a:gd name="T56" fmla="*/ 0 w 713"/>
                  <a:gd name="T57" fmla="*/ 0 h 971"/>
                  <a:gd name="T58" fmla="*/ 0 w 713"/>
                  <a:gd name="T59" fmla="*/ 0 h 971"/>
                  <a:gd name="T60" fmla="*/ 0 w 713"/>
                  <a:gd name="T61" fmla="*/ 0 h 971"/>
                  <a:gd name="T62" fmla="*/ 0 w 713"/>
                  <a:gd name="T63" fmla="*/ 0 h 971"/>
                  <a:gd name="T64" fmla="*/ 0 w 713"/>
                  <a:gd name="T65" fmla="*/ 0 h 971"/>
                  <a:gd name="T66" fmla="*/ 0 w 713"/>
                  <a:gd name="T67" fmla="*/ 0 h 971"/>
                  <a:gd name="T68" fmla="*/ 0 w 713"/>
                  <a:gd name="T69" fmla="*/ 0 h 971"/>
                  <a:gd name="T70" fmla="*/ 0 w 713"/>
                  <a:gd name="T71" fmla="*/ 0 h 971"/>
                  <a:gd name="T72" fmla="*/ 0 w 713"/>
                  <a:gd name="T73" fmla="*/ 0 h 971"/>
                  <a:gd name="T74" fmla="*/ 0 w 713"/>
                  <a:gd name="T75" fmla="*/ 0 h 971"/>
                  <a:gd name="T76" fmla="*/ 0 w 713"/>
                  <a:gd name="T77" fmla="*/ 0 h 971"/>
                  <a:gd name="T78" fmla="*/ 0 w 713"/>
                  <a:gd name="T79" fmla="*/ 0 h 971"/>
                  <a:gd name="T80" fmla="*/ 0 w 713"/>
                  <a:gd name="T81" fmla="*/ 0 h 971"/>
                  <a:gd name="T82" fmla="*/ 0 w 713"/>
                  <a:gd name="T83" fmla="*/ 0 h 971"/>
                  <a:gd name="T84" fmla="*/ 0 w 713"/>
                  <a:gd name="T85" fmla="*/ 0 h 971"/>
                  <a:gd name="T86" fmla="*/ 0 w 713"/>
                  <a:gd name="T87" fmla="*/ 0 h 971"/>
                  <a:gd name="T88" fmla="*/ 0 w 713"/>
                  <a:gd name="T89" fmla="*/ 0 h 971"/>
                  <a:gd name="T90" fmla="*/ 0 w 713"/>
                  <a:gd name="T91" fmla="*/ 0 h 971"/>
                  <a:gd name="T92" fmla="*/ 0 w 713"/>
                  <a:gd name="T93" fmla="*/ 0 h 971"/>
                  <a:gd name="T94" fmla="*/ 0 w 713"/>
                  <a:gd name="T95" fmla="*/ 0 h 971"/>
                  <a:gd name="T96" fmla="*/ 0 w 713"/>
                  <a:gd name="T97" fmla="*/ 0 h 971"/>
                  <a:gd name="T98" fmla="*/ 0 w 713"/>
                  <a:gd name="T99" fmla="*/ 0 h 9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713"/>
                  <a:gd name="T151" fmla="*/ 0 h 971"/>
                  <a:gd name="T152" fmla="*/ 713 w 713"/>
                  <a:gd name="T153" fmla="*/ 971 h 9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713" h="971">
                    <a:moveTo>
                      <a:pt x="580" y="666"/>
                    </a:moveTo>
                    <a:lnTo>
                      <a:pt x="609" y="637"/>
                    </a:lnTo>
                    <a:lnTo>
                      <a:pt x="636" y="606"/>
                    </a:lnTo>
                    <a:lnTo>
                      <a:pt x="658" y="573"/>
                    </a:lnTo>
                    <a:lnTo>
                      <a:pt x="677" y="536"/>
                    </a:lnTo>
                    <a:lnTo>
                      <a:pt x="693" y="498"/>
                    </a:lnTo>
                    <a:lnTo>
                      <a:pt x="704" y="457"/>
                    </a:lnTo>
                    <a:lnTo>
                      <a:pt x="710" y="416"/>
                    </a:lnTo>
                    <a:lnTo>
                      <a:pt x="713" y="375"/>
                    </a:lnTo>
                    <a:lnTo>
                      <a:pt x="710" y="332"/>
                    </a:lnTo>
                    <a:lnTo>
                      <a:pt x="704" y="291"/>
                    </a:lnTo>
                    <a:lnTo>
                      <a:pt x="693" y="252"/>
                    </a:lnTo>
                    <a:lnTo>
                      <a:pt x="677" y="212"/>
                    </a:lnTo>
                    <a:lnTo>
                      <a:pt x="658" y="176"/>
                    </a:lnTo>
                    <a:lnTo>
                      <a:pt x="634" y="141"/>
                    </a:lnTo>
                    <a:lnTo>
                      <a:pt x="608" y="110"/>
                    </a:lnTo>
                    <a:lnTo>
                      <a:pt x="579" y="82"/>
                    </a:lnTo>
                    <a:lnTo>
                      <a:pt x="546" y="58"/>
                    </a:lnTo>
                    <a:lnTo>
                      <a:pt x="511" y="38"/>
                    </a:lnTo>
                    <a:lnTo>
                      <a:pt x="473" y="22"/>
                    </a:lnTo>
                    <a:lnTo>
                      <a:pt x="435" y="10"/>
                    </a:lnTo>
                    <a:lnTo>
                      <a:pt x="396" y="3"/>
                    </a:lnTo>
                    <a:lnTo>
                      <a:pt x="357" y="0"/>
                    </a:lnTo>
                    <a:lnTo>
                      <a:pt x="316" y="3"/>
                    </a:lnTo>
                    <a:lnTo>
                      <a:pt x="277" y="10"/>
                    </a:lnTo>
                    <a:lnTo>
                      <a:pt x="239" y="22"/>
                    </a:lnTo>
                    <a:lnTo>
                      <a:pt x="202" y="38"/>
                    </a:lnTo>
                    <a:lnTo>
                      <a:pt x="167" y="58"/>
                    </a:lnTo>
                    <a:lnTo>
                      <a:pt x="134" y="82"/>
                    </a:lnTo>
                    <a:lnTo>
                      <a:pt x="105" y="110"/>
                    </a:lnTo>
                    <a:lnTo>
                      <a:pt x="78" y="141"/>
                    </a:lnTo>
                    <a:lnTo>
                      <a:pt x="54" y="176"/>
                    </a:lnTo>
                    <a:lnTo>
                      <a:pt x="35" y="212"/>
                    </a:lnTo>
                    <a:lnTo>
                      <a:pt x="20" y="252"/>
                    </a:lnTo>
                    <a:lnTo>
                      <a:pt x="9" y="291"/>
                    </a:lnTo>
                    <a:lnTo>
                      <a:pt x="2" y="332"/>
                    </a:lnTo>
                    <a:lnTo>
                      <a:pt x="0" y="375"/>
                    </a:lnTo>
                    <a:lnTo>
                      <a:pt x="2" y="416"/>
                    </a:lnTo>
                    <a:lnTo>
                      <a:pt x="9" y="457"/>
                    </a:lnTo>
                    <a:lnTo>
                      <a:pt x="20" y="498"/>
                    </a:lnTo>
                    <a:lnTo>
                      <a:pt x="35" y="536"/>
                    </a:lnTo>
                    <a:lnTo>
                      <a:pt x="54" y="573"/>
                    </a:lnTo>
                    <a:lnTo>
                      <a:pt x="77" y="606"/>
                    </a:lnTo>
                    <a:lnTo>
                      <a:pt x="104" y="637"/>
                    </a:lnTo>
                    <a:lnTo>
                      <a:pt x="133" y="666"/>
                    </a:lnTo>
                    <a:lnTo>
                      <a:pt x="79" y="726"/>
                    </a:lnTo>
                    <a:lnTo>
                      <a:pt x="79" y="971"/>
                    </a:lnTo>
                    <a:lnTo>
                      <a:pt x="633" y="971"/>
                    </a:lnTo>
                    <a:lnTo>
                      <a:pt x="633" y="726"/>
                    </a:lnTo>
                    <a:lnTo>
                      <a:pt x="580" y="666"/>
                    </a:lnTo>
                    <a:close/>
                  </a:path>
                </a:pathLst>
              </a:custGeom>
              <a:blipFill dpi="0" rotWithShape="0">
                <a:blip r:embed="rId4"/>
                <a:srcRect/>
                <a:tile tx="0" ty="0" sx="100000" sy="100000" flip="none" algn="tl"/>
              </a:blipFill>
              <a:ln w="3175">
                <a:solidFill>
                  <a:srgbClr val="000000"/>
                </a:solidFill>
                <a:prstDash val="solid"/>
                <a:round/>
                <a:headEnd/>
                <a:tailEnd/>
              </a:ln>
            </p:spPr>
            <p:txBody>
              <a:bodyPr/>
              <a:lstStyle/>
              <a:p>
                <a:endParaRPr lang="en-IN"/>
              </a:p>
            </p:txBody>
          </p:sp>
          <p:sp>
            <p:nvSpPr>
              <p:cNvPr id="10272" name="Freeform 183"/>
              <p:cNvSpPr>
                <a:spLocks/>
              </p:cNvSpPr>
              <p:nvPr/>
            </p:nvSpPr>
            <p:spPr bwMode="auto">
              <a:xfrm>
                <a:off x="5473" y="1337"/>
                <a:ext cx="240" cy="124"/>
              </a:xfrm>
              <a:custGeom>
                <a:avLst/>
                <a:gdLst>
                  <a:gd name="T0" fmla="*/ 0 w 718"/>
                  <a:gd name="T1" fmla="*/ 0 h 373"/>
                  <a:gd name="T2" fmla="*/ 0 w 718"/>
                  <a:gd name="T3" fmla="*/ 0 h 373"/>
                  <a:gd name="T4" fmla="*/ 0 w 718"/>
                  <a:gd name="T5" fmla="*/ 0 h 373"/>
                  <a:gd name="T6" fmla="*/ 0 w 718"/>
                  <a:gd name="T7" fmla="*/ 0 h 373"/>
                  <a:gd name="T8" fmla="*/ 0 w 718"/>
                  <a:gd name="T9" fmla="*/ 0 h 373"/>
                  <a:gd name="T10" fmla="*/ 0 w 718"/>
                  <a:gd name="T11" fmla="*/ 0 h 373"/>
                  <a:gd name="T12" fmla="*/ 0 w 718"/>
                  <a:gd name="T13" fmla="*/ 0 h 373"/>
                  <a:gd name="T14" fmla="*/ 0 w 718"/>
                  <a:gd name="T15" fmla="*/ 0 h 373"/>
                  <a:gd name="T16" fmla="*/ 0 w 718"/>
                  <a:gd name="T17" fmla="*/ 0 h 373"/>
                  <a:gd name="T18" fmla="*/ 0 w 718"/>
                  <a:gd name="T19" fmla="*/ 0 h 373"/>
                  <a:gd name="T20" fmla="*/ 0 w 718"/>
                  <a:gd name="T21" fmla="*/ 0 h 373"/>
                  <a:gd name="T22" fmla="*/ 0 w 718"/>
                  <a:gd name="T23" fmla="*/ 0 h 373"/>
                  <a:gd name="T24" fmla="*/ 0 w 718"/>
                  <a:gd name="T25" fmla="*/ 0 h 373"/>
                  <a:gd name="T26" fmla="*/ 0 w 718"/>
                  <a:gd name="T27" fmla="*/ 0 h 373"/>
                  <a:gd name="T28" fmla="*/ 0 w 718"/>
                  <a:gd name="T29" fmla="*/ 0 h 373"/>
                  <a:gd name="T30" fmla="*/ 0 w 718"/>
                  <a:gd name="T31" fmla="*/ 0 h 373"/>
                  <a:gd name="T32" fmla="*/ 0 w 718"/>
                  <a:gd name="T33" fmla="*/ 0 h 373"/>
                  <a:gd name="T34" fmla="*/ 0 w 718"/>
                  <a:gd name="T35" fmla="*/ 0 h 373"/>
                  <a:gd name="T36" fmla="*/ 0 w 718"/>
                  <a:gd name="T37" fmla="*/ 0 h 373"/>
                  <a:gd name="T38" fmla="*/ 0 w 718"/>
                  <a:gd name="T39" fmla="*/ 0 h 373"/>
                  <a:gd name="T40" fmla="*/ 0 w 718"/>
                  <a:gd name="T41" fmla="*/ 0 h 373"/>
                  <a:gd name="T42" fmla="*/ 0 w 718"/>
                  <a:gd name="T43" fmla="*/ 0 h 373"/>
                  <a:gd name="T44" fmla="*/ 0 w 718"/>
                  <a:gd name="T45" fmla="*/ 0 h 373"/>
                  <a:gd name="T46" fmla="*/ 0 w 718"/>
                  <a:gd name="T47" fmla="*/ 0 h 373"/>
                  <a:gd name="T48" fmla="*/ 0 w 718"/>
                  <a:gd name="T49" fmla="*/ 0 h 373"/>
                  <a:gd name="T50" fmla="*/ 0 w 718"/>
                  <a:gd name="T51" fmla="*/ 0 h 373"/>
                  <a:gd name="T52" fmla="*/ 0 w 718"/>
                  <a:gd name="T53" fmla="*/ 0 h 373"/>
                  <a:gd name="T54" fmla="*/ 0 w 718"/>
                  <a:gd name="T55" fmla="*/ 0 h 373"/>
                  <a:gd name="T56" fmla="*/ 0 w 718"/>
                  <a:gd name="T57" fmla="*/ 0 h 373"/>
                  <a:gd name="T58" fmla="*/ 0 w 718"/>
                  <a:gd name="T59" fmla="*/ 0 h 373"/>
                  <a:gd name="T60" fmla="*/ 0 w 718"/>
                  <a:gd name="T61" fmla="*/ 0 h 373"/>
                  <a:gd name="T62" fmla="*/ 0 w 718"/>
                  <a:gd name="T63" fmla="*/ 0 h 373"/>
                  <a:gd name="T64" fmla="*/ 0 w 718"/>
                  <a:gd name="T65" fmla="*/ 0 h 373"/>
                  <a:gd name="T66" fmla="*/ 0 w 718"/>
                  <a:gd name="T67" fmla="*/ 0 h 373"/>
                  <a:gd name="T68" fmla="*/ 0 w 718"/>
                  <a:gd name="T69" fmla="*/ 0 h 373"/>
                  <a:gd name="T70" fmla="*/ 0 w 718"/>
                  <a:gd name="T71" fmla="*/ 0 h 373"/>
                  <a:gd name="T72" fmla="*/ 0 w 718"/>
                  <a:gd name="T73" fmla="*/ 0 h 373"/>
                  <a:gd name="T74" fmla="*/ 0 w 718"/>
                  <a:gd name="T75" fmla="*/ 0 h 373"/>
                  <a:gd name="T76" fmla="*/ 0 w 718"/>
                  <a:gd name="T77" fmla="*/ 0 h 373"/>
                  <a:gd name="T78" fmla="*/ 0 w 718"/>
                  <a:gd name="T79" fmla="*/ 0 h 373"/>
                  <a:gd name="T80" fmla="*/ 0 w 718"/>
                  <a:gd name="T81" fmla="*/ 0 h 373"/>
                  <a:gd name="T82" fmla="*/ 0 w 718"/>
                  <a:gd name="T83" fmla="*/ 0 h 373"/>
                  <a:gd name="T84" fmla="*/ 0 w 718"/>
                  <a:gd name="T85" fmla="*/ 0 h 373"/>
                  <a:gd name="T86" fmla="*/ 0 w 718"/>
                  <a:gd name="T87" fmla="*/ 0 h 373"/>
                  <a:gd name="T88" fmla="*/ 0 w 718"/>
                  <a:gd name="T89" fmla="*/ 0 h 373"/>
                  <a:gd name="T90" fmla="*/ 0 w 718"/>
                  <a:gd name="T91" fmla="*/ 0 h 373"/>
                  <a:gd name="T92" fmla="*/ 0 w 718"/>
                  <a:gd name="T93" fmla="*/ 0 h 373"/>
                  <a:gd name="T94" fmla="*/ 0 w 718"/>
                  <a:gd name="T95" fmla="*/ 0 h 373"/>
                  <a:gd name="T96" fmla="*/ 0 w 718"/>
                  <a:gd name="T97" fmla="*/ 0 h 373"/>
                  <a:gd name="T98" fmla="*/ 0 w 718"/>
                  <a:gd name="T99" fmla="*/ 0 h 373"/>
                  <a:gd name="T100" fmla="*/ 0 w 718"/>
                  <a:gd name="T101" fmla="*/ 0 h 373"/>
                  <a:gd name="T102" fmla="*/ 0 w 718"/>
                  <a:gd name="T103" fmla="*/ 0 h 373"/>
                  <a:gd name="T104" fmla="*/ 0 w 718"/>
                  <a:gd name="T105" fmla="*/ 0 h 373"/>
                  <a:gd name="T106" fmla="*/ 0 w 718"/>
                  <a:gd name="T107" fmla="*/ 0 h 373"/>
                  <a:gd name="T108" fmla="*/ 0 w 718"/>
                  <a:gd name="T109" fmla="*/ 0 h 373"/>
                  <a:gd name="T110" fmla="*/ 0 w 718"/>
                  <a:gd name="T111" fmla="*/ 0 h 373"/>
                  <a:gd name="T112" fmla="*/ 0 w 718"/>
                  <a:gd name="T113" fmla="*/ 0 h 37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18"/>
                  <a:gd name="T172" fmla="*/ 0 h 373"/>
                  <a:gd name="T173" fmla="*/ 718 w 718"/>
                  <a:gd name="T174" fmla="*/ 373 h 37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18" h="373">
                    <a:moveTo>
                      <a:pt x="3" y="373"/>
                    </a:moveTo>
                    <a:lnTo>
                      <a:pt x="51" y="372"/>
                    </a:lnTo>
                    <a:lnTo>
                      <a:pt x="99" y="370"/>
                    </a:lnTo>
                    <a:lnTo>
                      <a:pt x="145" y="368"/>
                    </a:lnTo>
                    <a:lnTo>
                      <a:pt x="189" y="364"/>
                    </a:lnTo>
                    <a:lnTo>
                      <a:pt x="232" y="360"/>
                    </a:lnTo>
                    <a:lnTo>
                      <a:pt x="272" y="355"/>
                    </a:lnTo>
                    <a:lnTo>
                      <a:pt x="309" y="349"/>
                    </a:lnTo>
                    <a:lnTo>
                      <a:pt x="343" y="342"/>
                    </a:lnTo>
                    <a:lnTo>
                      <a:pt x="374" y="334"/>
                    </a:lnTo>
                    <a:lnTo>
                      <a:pt x="399" y="325"/>
                    </a:lnTo>
                    <a:lnTo>
                      <a:pt x="422" y="317"/>
                    </a:lnTo>
                    <a:lnTo>
                      <a:pt x="438" y="308"/>
                    </a:lnTo>
                    <a:lnTo>
                      <a:pt x="451" y="298"/>
                    </a:lnTo>
                    <a:lnTo>
                      <a:pt x="459" y="289"/>
                    </a:lnTo>
                    <a:lnTo>
                      <a:pt x="461" y="279"/>
                    </a:lnTo>
                    <a:lnTo>
                      <a:pt x="464" y="292"/>
                    </a:lnTo>
                    <a:lnTo>
                      <a:pt x="470" y="303"/>
                    </a:lnTo>
                    <a:lnTo>
                      <a:pt x="480" y="316"/>
                    </a:lnTo>
                    <a:lnTo>
                      <a:pt x="495" y="325"/>
                    </a:lnTo>
                    <a:lnTo>
                      <a:pt x="513" y="337"/>
                    </a:lnTo>
                    <a:lnTo>
                      <a:pt x="536" y="345"/>
                    </a:lnTo>
                    <a:lnTo>
                      <a:pt x="560" y="353"/>
                    </a:lnTo>
                    <a:lnTo>
                      <a:pt x="588" y="360"/>
                    </a:lnTo>
                    <a:lnTo>
                      <a:pt x="618" y="365"/>
                    </a:lnTo>
                    <a:lnTo>
                      <a:pt x="650" y="369"/>
                    </a:lnTo>
                    <a:lnTo>
                      <a:pt x="682" y="372"/>
                    </a:lnTo>
                    <a:lnTo>
                      <a:pt x="716" y="373"/>
                    </a:lnTo>
                    <a:lnTo>
                      <a:pt x="718" y="334"/>
                    </a:lnTo>
                    <a:lnTo>
                      <a:pt x="717" y="296"/>
                    </a:lnTo>
                    <a:lnTo>
                      <a:pt x="709" y="257"/>
                    </a:lnTo>
                    <a:lnTo>
                      <a:pt x="698" y="220"/>
                    </a:lnTo>
                    <a:lnTo>
                      <a:pt x="682" y="184"/>
                    </a:lnTo>
                    <a:lnTo>
                      <a:pt x="661" y="150"/>
                    </a:lnTo>
                    <a:lnTo>
                      <a:pt x="636" y="119"/>
                    </a:lnTo>
                    <a:lnTo>
                      <a:pt x="608" y="90"/>
                    </a:lnTo>
                    <a:lnTo>
                      <a:pt x="575" y="66"/>
                    </a:lnTo>
                    <a:lnTo>
                      <a:pt x="541" y="44"/>
                    </a:lnTo>
                    <a:lnTo>
                      <a:pt x="503" y="26"/>
                    </a:lnTo>
                    <a:lnTo>
                      <a:pt x="464" y="13"/>
                    </a:lnTo>
                    <a:lnTo>
                      <a:pt x="422" y="3"/>
                    </a:lnTo>
                    <a:lnTo>
                      <a:pt x="380" y="0"/>
                    </a:lnTo>
                    <a:lnTo>
                      <a:pt x="338" y="0"/>
                    </a:lnTo>
                    <a:lnTo>
                      <a:pt x="297" y="3"/>
                    </a:lnTo>
                    <a:lnTo>
                      <a:pt x="255" y="13"/>
                    </a:lnTo>
                    <a:lnTo>
                      <a:pt x="215" y="26"/>
                    </a:lnTo>
                    <a:lnTo>
                      <a:pt x="177" y="44"/>
                    </a:lnTo>
                    <a:lnTo>
                      <a:pt x="143" y="66"/>
                    </a:lnTo>
                    <a:lnTo>
                      <a:pt x="110" y="90"/>
                    </a:lnTo>
                    <a:lnTo>
                      <a:pt x="82" y="119"/>
                    </a:lnTo>
                    <a:lnTo>
                      <a:pt x="57" y="150"/>
                    </a:lnTo>
                    <a:lnTo>
                      <a:pt x="37" y="184"/>
                    </a:lnTo>
                    <a:lnTo>
                      <a:pt x="20" y="220"/>
                    </a:lnTo>
                    <a:lnTo>
                      <a:pt x="9" y="257"/>
                    </a:lnTo>
                    <a:lnTo>
                      <a:pt x="1" y="296"/>
                    </a:lnTo>
                    <a:lnTo>
                      <a:pt x="0" y="334"/>
                    </a:lnTo>
                    <a:lnTo>
                      <a:pt x="3" y="373"/>
                    </a:lnTo>
                    <a:close/>
                  </a:path>
                </a:pathLst>
              </a:custGeom>
              <a:solidFill>
                <a:srgbClr val="000000"/>
              </a:solidFill>
              <a:ln w="3175">
                <a:solidFill>
                  <a:srgbClr val="000000"/>
                </a:solidFill>
                <a:prstDash val="solid"/>
                <a:round/>
                <a:headEnd/>
                <a:tailEnd/>
              </a:ln>
            </p:spPr>
            <p:txBody>
              <a:bodyPr/>
              <a:lstStyle/>
              <a:p>
                <a:endParaRPr lang="en-IN"/>
              </a:p>
            </p:txBody>
          </p:sp>
          <p:sp>
            <p:nvSpPr>
              <p:cNvPr id="10273" name="Freeform 184"/>
              <p:cNvSpPr>
                <a:spLocks/>
              </p:cNvSpPr>
              <p:nvPr/>
            </p:nvSpPr>
            <p:spPr bwMode="auto">
              <a:xfrm>
                <a:off x="5317" y="1578"/>
                <a:ext cx="552" cy="302"/>
              </a:xfrm>
              <a:custGeom>
                <a:avLst/>
                <a:gdLst>
                  <a:gd name="T0" fmla="*/ 0 w 1658"/>
                  <a:gd name="T1" fmla="*/ 0 h 906"/>
                  <a:gd name="T2" fmla="*/ 0 w 1658"/>
                  <a:gd name="T3" fmla="*/ 0 h 906"/>
                  <a:gd name="T4" fmla="*/ 0 w 1658"/>
                  <a:gd name="T5" fmla="*/ 0 h 906"/>
                  <a:gd name="T6" fmla="*/ 0 w 1658"/>
                  <a:gd name="T7" fmla="*/ 0 h 906"/>
                  <a:gd name="T8" fmla="*/ 0 w 1658"/>
                  <a:gd name="T9" fmla="*/ 0 h 906"/>
                  <a:gd name="T10" fmla="*/ 0 w 1658"/>
                  <a:gd name="T11" fmla="*/ 0 h 906"/>
                  <a:gd name="T12" fmla="*/ 0 w 1658"/>
                  <a:gd name="T13" fmla="*/ 0 h 906"/>
                  <a:gd name="T14" fmla="*/ 0 w 1658"/>
                  <a:gd name="T15" fmla="*/ 0 h 906"/>
                  <a:gd name="T16" fmla="*/ 0 w 1658"/>
                  <a:gd name="T17" fmla="*/ 0 h 906"/>
                  <a:gd name="T18" fmla="*/ 0 w 1658"/>
                  <a:gd name="T19" fmla="*/ 0 h 906"/>
                  <a:gd name="T20" fmla="*/ 0 w 1658"/>
                  <a:gd name="T21" fmla="*/ 0 h 906"/>
                  <a:gd name="T22" fmla="*/ 0 w 1658"/>
                  <a:gd name="T23" fmla="*/ 0 h 906"/>
                  <a:gd name="T24" fmla="*/ 0 w 1658"/>
                  <a:gd name="T25" fmla="*/ 0 h 906"/>
                  <a:gd name="T26" fmla="*/ 0 w 1658"/>
                  <a:gd name="T27" fmla="*/ 0 h 906"/>
                  <a:gd name="T28" fmla="*/ 0 w 1658"/>
                  <a:gd name="T29" fmla="*/ 0 h 906"/>
                  <a:gd name="T30" fmla="*/ 0 w 1658"/>
                  <a:gd name="T31" fmla="*/ 0 h 906"/>
                  <a:gd name="T32" fmla="*/ 0 w 1658"/>
                  <a:gd name="T33" fmla="*/ 0 h 906"/>
                  <a:gd name="T34" fmla="*/ 0 w 1658"/>
                  <a:gd name="T35" fmla="*/ 0 h 906"/>
                  <a:gd name="T36" fmla="*/ 0 w 1658"/>
                  <a:gd name="T37" fmla="*/ 0 h 906"/>
                  <a:gd name="T38" fmla="*/ 0 w 1658"/>
                  <a:gd name="T39" fmla="*/ 0 h 906"/>
                  <a:gd name="T40" fmla="*/ 0 w 1658"/>
                  <a:gd name="T41" fmla="*/ 0 h 906"/>
                  <a:gd name="T42" fmla="*/ 0 w 1658"/>
                  <a:gd name="T43" fmla="*/ 0 h 906"/>
                  <a:gd name="T44" fmla="*/ 0 w 1658"/>
                  <a:gd name="T45" fmla="*/ 0 h 906"/>
                  <a:gd name="T46" fmla="*/ 0 w 1658"/>
                  <a:gd name="T47" fmla="*/ 0 h 906"/>
                  <a:gd name="T48" fmla="*/ 0 w 1658"/>
                  <a:gd name="T49" fmla="*/ 0 h 906"/>
                  <a:gd name="T50" fmla="*/ 0 w 1658"/>
                  <a:gd name="T51" fmla="*/ 0 h 906"/>
                  <a:gd name="T52" fmla="*/ 0 w 1658"/>
                  <a:gd name="T53" fmla="*/ 0 h 906"/>
                  <a:gd name="T54" fmla="*/ 0 w 1658"/>
                  <a:gd name="T55" fmla="*/ 0 h 906"/>
                  <a:gd name="T56" fmla="*/ 0 w 1658"/>
                  <a:gd name="T57" fmla="*/ 0 h 906"/>
                  <a:gd name="T58" fmla="*/ 0 w 1658"/>
                  <a:gd name="T59" fmla="*/ 0 h 906"/>
                  <a:gd name="T60" fmla="*/ 0 w 1658"/>
                  <a:gd name="T61" fmla="*/ 0 h 906"/>
                  <a:gd name="T62" fmla="*/ 0 w 1658"/>
                  <a:gd name="T63" fmla="*/ 0 h 906"/>
                  <a:gd name="T64" fmla="*/ 0 w 1658"/>
                  <a:gd name="T65" fmla="*/ 0 h 906"/>
                  <a:gd name="T66" fmla="*/ 0 w 1658"/>
                  <a:gd name="T67" fmla="*/ 0 h 906"/>
                  <a:gd name="T68" fmla="*/ 0 w 1658"/>
                  <a:gd name="T69" fmla="*/ 0 h 906"/>
                  <a:gd name="T70" fmla="*/ 0 w 1658"/>
                  <a:gd name="T71" fmla="*/ 0 h 906"/>
                  <a:gd name="T72" fmla="*/ 0 w 1658"/>
                  <a:gd name="T73" fmla="*/ 0 h 906"/>
                  <a:gd name="T74" fmla="*/ 0 w 1658"/>
                  <a:gd name="T75" fmla="*/ 0 h 906"/>
                  <a:gd name="T76" fmla="*/ 0 w 1658"/>
                  <a:gd name="T77" fmla="*/ 0 h 906"/>
                  <a:gd name="T78" fmla="*/ 0 w 1658"/>
                  <a:gd name="T79" fmla="*/ 0 h 906"/>
                  <a:gd name="T80" fmla="*/ 0 w 1658"/>
                  <a:gd name="T81" fmla="*/ 0 h 906"/>
                  <a:gd name="T82" fmla="*/ 0 w 1658"/>
                  <a:gd name="T83" fmla="*/ 0 h 906"/>
                  <a:gd name="T84" fmla="*/ 0 w 1658"/>
                  <a:gd name="T85" fmla="*/ 0 h 906"/>
                  <a:gd name="T86" fmla="*/ 0 w 1658"/>
                  <a:gd name="T87" fmla="*/ 0 h 906"/>
                  <a:gd name="T88" fmla="*/ 0 w 1658"/>
                  <a:gd name="T89" fmla="*/ 0 h 906"/>
                  <a:gd name="T90" fmla="*/ 0 w 1658"/>
                  <a:gd name="T91" fmla="*/ 0 h 906"/>
                  <a:gd name="T92" fmla="*/ 0 w 1658"/>
                  <a:gd name="T93" fmla="*/ 0 h 906"/>
                  <a:gd name="T94" fmla="*/ 0 w 1658"/>
                  <a:gd name="T95" fmla="*/ 0 h 906"/>
                  <a:gd name="T96" fmla="*/ 0 w 1658"/>
                  <a:gd name="T97" fmla="*/ 0 h 906"/>
                  <a:gd name="T98" fmla="*/ 0 w 1658"/>
                  <a:gd name="T99" fmla="*/ 0 h 90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658"/>
                  <a:gd name="T151" fmla="*/ 0 h 906"/>
                  <a:gd name="T152" fmla="*/ 1658 w 1658"/>
                  <a:gd name="T153" fmla="*/ 906 h 90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658" h="906">
                    <a:moveTo>
                      <a:pt x="276" y="906"/>
                    </a:moveTo>
                    <a:lnTo>
                      <a:pt x="1658" y="906"/>
                    </a:lnTo>
                    <a:lnTo>
                      <a:pt x="1658" y="302"/>
                    </a:lnTo>
                    <a:lnTo>
                      <a:pt x="1625" y="257"/>
                    </a:lnTo>
                    <a:lnTo>
                      <a:pt x="1589" y="215"/>
                    </a:lnTo>
                    <a:lnTo>
                      <a:pt x="1548" y="175"/>
                    </a:lnTo>
                    <a:lnTo>
                      <a:pt x="1506" y="140"/>
                    </a:lnTo>
                    <a:lnTo>
                      <a:pt x="1462" y="108"/>
                    </a:lnTo>
                    <a:lnTo>
                      <a:pt x="1415" y="79"/>
                    </a:lnTo>
                    <a:lnTo>
                      <a:pt x="1366" y="56"/>
                    </a:lnTo>
                    <a:lnTo>
                      <a:pt x="1316" y="36"/>
                    </a:lnTo>
                    <a:lnTo>
                      <a:pt x="1264" y="21"/>
                    </a:lnTo>
                    <a:lnTo>
                      <a:pt x="1212" y="9"/>
                    </a:lnTo>
                    <a:lnTo>
                      <a:pt x="1159" y="2"/>
                    </a:lnTo>
                    <a:lnTo>
                      <a:pt x="1106" y="0"/>
                    </a:lnTo>
                    <a:lnTo>
                      <a:pt x="1093" y="37"/>
                    </a:lnTo>
                    <a:lnTo>
                      <a:pt x="1078" y="70"/>
                    </a:lnTo>
                    <a:lnTo>
                      <a:pt x="1058" y="103"/>
                    </a:lnTo>
                    <a:lnTo>
                      <a:pt x="1035" y="131"/>
                    </a:lnTo>
                    <a:lnTo>
                      <a:pt x="1008" y="158"/>
                    </a:lnTo>
                    <a:lnTo>
                      <a:pt x="981" y="180"/>
                    </a:lnTo>
                    <a:lnTo>
                      <a:pt x="949" y="199"/>
                    </a:lnTo>
                    <a:lnTo>
                      <a:pt x="916" y="212"/>
                    </a:lnTo>
                    <a:lnTo>
                      <a:pt x="882" y="221"/>
                    </a:lnTo>
                    <a:lnTo>
                      <a:pt x="846" y="226"/>
                    </a:lnTo>
                    <a:lnTo>
                      <a:pt x="812" y="226"/>
                    </a:lnTo>
                    <a:lnTo>
                      <a:pt x="777" y="221"/>
                    </a:lnTo>
                    <a:lnTo>
                      <a:pt x="742" y="212"/>
                    </a:lnTo>
                    <a:lnTo>
                      <a:pt x="710" y="199"/>
                    </a:lnTo>
                    <a:lnTo>
                      <a:pt x="678" y="180"/>
                    </a:lnTo>
                    <a:lnTo>
                      <a:pt x="650" y="158"/>
                    </a:lnTo>
                    <a:lnTo>
                      <a:pt x="623" y="131"/>
                    </a:lnTo>
                    <a:lnTo>
                      <a:pt x="601" y="103"/>
                    </a:lnTo>
                    <a:lnTo>
                      <a:pt x="580" y="70"/>
                    </a:lnTo>
                    <a:lnTo>
                      <a:pt x="565" y="37"/>
                    </a:lnTo>
                    <a:lnTo>
                      <a:pt x="552" y="0"/>
                    </a:lnTo>
                    <a:lnTo>
                      <a:pt x="499" y="2"/>
                    </a:lnTo>
                    <a:lnTo>
                      <a:pt x="446" y="9"/>
                    </a:lnTo>
                    <a:lnTo>
                      <a:pt x="394" y="21"/>
                    </a:lnTo>
                    <a:lnTo>
                      <a:pt x="342" y="36"/>
                    </a:lnTo>
                    <a:lnTo>
                      <a:pt x="293" y="56"/>
                    </a:lnTo>
                    <a:lnTo>
                      <a:pt x="243" y="79"/>
                    </a:lnTo>
                    <a:lnTo>
                      <a:pt x="196" y="108"/>
                    </a:lnTo>
                    <a:lnTo>
                      <a:pt x="152" y="140"/>
                    </a:lnTo>
                    <a:lnTo>
                      <a:pt x="110" y="175"/>
                    </a:lnTo>
                    <a:lnTo>
                      <a:pt x="71" y="215"/>
                    </a:lnTo>
                    <a:lnTo>
                      <a:pt x="33" y="257"/>
                    </a:lnTo>
                    <a:lnTo>
                      <a:pt x="0" y="302"/>
                    </a:lnTo>
                    <a:lnTo>
                      <a:pt x="0" y="906"/>
                    </a:lnTo>
                    <a:lnTo>
                      <a:pt x="276" y="90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274" name="Line 185"/>
              <p:cNvSpPr>
                <a:spLocks noChangeShapeType="1"/>
              </p:cNvSpPr>
              <p:nvPr/>
            </p:nvSpPr>
            <p:spPr bwMode="auto">
              <a:xfrm>
                <a:off x="5427" y="1779"/>
                <a:ext cx="1" cy="10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75" name="Line 186"/>
              <p:cNvSpPr>
                <a:spLocks noChangeShapeType="1"/>
              </p:cNvSpPr>
              <p:nvPr/>
            </p:nvSpPr>
            <p:spPr bwMode="auto">
              <a:xfrm flipV="1">
                <a:off x="5759" y="1779"/>
                <a:ext cx="1" cy="10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76" name="Freeform 187"/>
              <p:cNvSpPr>
                <a:spLocks/>
              </p:cNvSpPr>
              <p:nvPr/>
            </p:nvSpPr>
            <p:spPr bwMode="auto">
              <a:xfrm>
                <a:off x="5317" y="1578"/>
                <a:ext cx="552" cy="302"/>
              </a:xfrm>
              <a:custGeom>
                <a:avLst/>
                <a:gdLst>
                  <a:gd name="T0" fmla="*/ 0 w 1658"/>
                  <a:gd name="T1" fmla="*/ 0 h 906"/>
                  <a:gd name="T2" fmla="*/ 0 w 1658"/>
                  <a:gd name="T3" fmla="*/ 0 h 906"/>
                  <a:gd name="T4" fmla="*/ 0 w 1658"/>
                  <a:gd name="T5" fmla="*/ 0 h 906"/>
                  <a:gd name="T6" fmla="*/ 0 w 1658"/>
                  <a:gd name="T7" fmla="*/ 0 h 906"/>
                  <a:gd name="T8" fmla="*/ 0 w 1658"/>
                  <a:gd name="T9" fmla="*/ 0 h 906"/>
                  <a:gd name="T10" fmla="*/ 0 w 1658"/>
                  <a:gd name="T11" fmla="*/ 0 h 906"/>
                  <a:gd name="T12" fmla="*/ 0 w 1658"/>
                  <a:gd name="T13" fmla="*/ 0 h 906"/>
                  <a:gd name="T14" fmla="*/ 0 w 1658"/>
                  <a:gd name="T15" fmla="*/ 0 h 906"/>
                  <a:gd name="T16" fmla="*/ 0 w 1658"/>
                  <a:gd name="T17" fmla="*/ 0 h 906"/>
                  <a:gd name="T18" fmla="*/ 0 w 1658"/>
                  <a:gd name="T19" fmla="*/ 0 h 906"/>
                  <a:gd name="T20" fmla="*/ 0 w 1658"/>
                  <a:gd name="T21" fmla="*/ 0 h 906"/>
                  <a:gd name="T22" fmla="*/ 0 w 1658"/>
                  <a:gd name="T23" fmla="*/ 0 h 906"/>
                  <a:gd name="T24" fmla="*/ 0 w 1658"/>
                  <a:gd name="T25" fmla="*/ 0 h 906"/>
                  <a:gd name="T26" fmla="*/ 0 w 1658"/>
                  <a:gd name="T27" fmla="*/ 0 h 906"/>
                  <a:gd name="T28" fmla="*/ 0 w 1658"/>
                  <a:gd name="T29" fmla="*/ 0 h 906"/>
                  <a:gd name="T30" fmla="*/ 0 w 1658"/>
                  <a:gd name="T31" fmla="*/ 0 h 906"/>
                  <a:gd name="T32" fmla="*/ 0 w 1658"/>
                  <a:gd name="T33" fmla="*/ 0 h 906"/>
                  <a:gd name="T34" fmla="*/ 0 w 1658"/>
                  <a:gd name="T35" fmla="*/ 0 h 906"/>
                  <a:gd name="T36" fmla="*/ 0 w 1658"/>
                  <a:gd name="T37" fmla="*/ 0 h 906"/>
                  <a:gd name="T38" fmla="*/ 0 w 1658"/>
                  <a:gd name="T39" fmla="*/ 0 h 906"/>
                  <a:gd name="T40" fmla="*/ 0 w 1658"/>
                  <a:gd name="T41" fmla="*/ 0 h 906"/>
                  <a:gd name="T42" fmla="*/ 0 w 1658"/>
                  <a:gd name="T43" fmla="*/ 0 h 906"/>
                  <a:gd name="T44" fmla="*/ 0 w 1658"/>
                  <a:gd name="T45" fmla="*/ 0 h 906"/>
                  <a:gd name="T46" fmla="*/ 0 w 1658"/>
                  <a:gd name="T47" fmla="*/ 0 h 906"/>
                  <a:gd name="T48" fmla="*/ 0 w 1658"/>
                  <a:gd name="T49" fmla="*/ 0 h 906"/>
                  <a:gd name="T50" fmla="*/ 0 w 1658"/>
                  <a:gd name="T51" fmla="*/ 0 h 906"/>
                  <a:gd name="T52" fmla="*/ 0 w 1658"/>
                  <a:gd name="T53" fmla="*/ 0 h 906"/>
                  <a:gd name="T54" fmla="*/ 0 w 1658"/>
                  <a:gd name="T55" fmla="*/ 0 h 906"/>
                  <a:gd name="T56" fmla="*/ 0 w 1658"/>
                  <a:gd name="T57" fmla="*/ 0 h 906"/>
                  <a:gd name="T58" fmla="*/ 0 w 1658"/>
                  <a:gd name="T59" fmla="*/ 0 h 906"/>
                  <a:gd name="T60" fmla="*/ 0 w 1658"/>
                  <a:gd name="T61" fmla="*/ 0 h 906"/>
                  <a:gd name="T62" fmla="*/ 0 w 1658"/>
                  <a:gd name="T63" fmla="*/ 0 h 906"/>
                  <a:gd name="T64" fmla="*/ 0 w 1658"/>
                  <a:gd name="T65" fmla="*/ 0 h 906"/>
                  <a:gd name="T66" fmla="*/ 0 w 1658"/>
                  <a:gd name="T67" fmla="*/ 0 h 906"/>
                  <a:gd name="T68" fmla="*/ 0 w 1658"/>
                  <a:gd name="T69" fmla="*/ 0 h 906"/>
                  <a:gd name="T70" fmla="*/ 0 w 1658"/>
                  <a:gd name="T71" fmla="*/ 0 h 906"/>
                  <a:gd name="T72" fmla="*/ 0 w 1658"/>
                  <a:gd name="T73" fmla="*/ 0 h 906"/>
                  <a:gd name="T74" fmla="*/ 0 w 1658"/>
                  <a:gd name="T75" fmla="*/ 0 h 906"/>
                  <a:gd name="T76" fmla="*/ 0 w 1658"/>
                  <a:gd name="T77" fmla="*/ 0 h 906"/>
                  <a:gd name="T78" fmla="*/ 0 w 1658"/>
                  <a:gd name="T79" fmla="*/ 0 h 906"/>
                  <a:gd name="T80" fmla="*/ 0 w 1658"/>
                  <a:gd name="T81" fmla="*/ 0 h 906"/>
                  <a:gd name="T82" fmla="*/ 0 w 1658"/>
                  <a:gd name="T83" fmla="*/ 0 h 906"/>
                  <a:gd name="T84" fmla="*/ 0 w 1658"/>
                  <a:gd name="T85" fmla="*/ 0 h 906"/>
                  <a:gd name="T86" fmla="*/ 0 w 1658"/>
                  <a:gd name="T87" fmla="*/ 0 h 906"/>
                  <a:gd name="T88" fmla="*/ 0 w 1658"/>
                  <a:gd name="T89" fmla="*/ 0 h 906"/>
                  <a:gd name="T90" fmla="*/ 0 w 1658"/>
                  <a:gd name="T91" fmla="*/ 0 h 906"/>
                  <a:gd name="T92" fmla="*/ 0 w 1658"/>
                  <a:gd name="T93" fmla="*/ 0 h 906"/>
                  <a:gd name="T94" fmla="*/ 0 w 1658"/>
                  <a:gd name="T95" fmla="*/ 0 h 906"/>
                  <a:gd name="T96" fmla="*/ 0 w 1658"/>
                  <a:gd name="T97" fmla="*/ 0 h 906"/>
                  <a:gd name="T98" fmla="*/ 0 w 1658"/>
                  <a:gd name="T99" fmla="*/ 0 h 90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658"/>
                  <a:gd name="T151" fmla="*/ 0 h 906"/>
                  <a:gd name="T152" fmla="*/ 1658 w 1658"/>
                  <a:gd name="T153" fmla="*/ 906 h 90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658" h="906">
                    <a:moveTo>
                      <a:pt x="276" y="906"/>
                    </a:moveTo>
                    <a:lnTo>
                      <a:pt x="1658" y="906"/>
                    </a:lnTo>
                    <a:lnTo>
                      <a:pt x="1658" y="302"/>
                    </a:lnTo>
                    <a:lnTo>
                      <a:pt x="1625" y="257"/>
                    </a:lnTo>
                    <a:lnTo>
                      <a:pt x="1589" y="215"/>
                    </a:lnTo>
                    <a:lnTo>
                      <a:pt x="1548" y="175"/>
                    </a:lnTo>
                    <a:lnTo>
                      <a:pt x="1506" y="140"/>
                    </a:lnTo>
                    <a:lnTo>
                      <a:pt x="1462" y="108"/>
                    </a:lnTo>
                    <a:lnTo>
                      <a:pt x="1415" y="79"/>
                    </a:lnTo>
                    <a:lnTo>
                      <a:pt x="1366" y="56"/>
                    </a:lnTo>
                    <a:lnTo>
                      <a:pt x="1316" y="36"/>
                    </a:lnTo>
                    <a:lnTo>
                      <a:pt x="1264" y="21"/>
                    </a:lnTo>
                    <a:lnTo>
                      <a:pt x="1212" y="9"/>
                    </a:lnTo>
                    <a:lnTo>
                      <a:pt x="1159" y="2"/>
                    </a:lnTo>
                    <a:lnTo>
                      <a:pt x="1106" y="0"/>
                    </a:lnTo>
                    <a:lnTo>
                      <a:pt x="1093" y="37"/>
                    </a:lnTo>
                    <a:lnTo>
                      <a:pt x="1078" y="70"/>
                    </a:lnTo>
                    <a:lnTo>
                      <a:pt x="1058" y="103"/>
                    </a:lnTo>
                    <a:lnTo>
                      <a:pt x="1035" y="131"/>
                    </a:lnTo>
                    <a:lnTo>
                      <a:pt x="1008" y="158"/>
                    </a:lnTo>
                    <a:lnTo>
                      <a:pt x="981" y="180"/>
                    </a:lnTo>
                    <a:lnTo>
                      <a:pt x="949" y="199"/>
                    </a:lnTo>
                    <a:lnTo>
                      <a:pt x="916" y="212"/>
                    </a:lnTo>
                    <a:lnTo>
                      <a:pt x="882" y="221"/>
                    </a:lnTo>
                    <a:lnTo>
                      <a:pt x="846" y="226"/>
                    </a:lnTo>
                    <a:lnTo>
                      <a:pt x="812" y="226"/>
                    </a:lnTo>
                    <a:lnTo>
                      <a:pt x="777" y="221"/>
                    </a:lnTo>
                    <a:lnTo>
                      <a:pt x="742" y="212"/>
                    </a:lnTo>
                    <a:lnTo>
                      <a:pt x="710" y="199"/>
                    </a:lnTo>
                    <a:lnTo>
                      <a:pt x="678" y="180"/>
                    </a:lnTo>
                    <a:lnTo>
                      <a:pt x="650" y="158"/>
                    </a:lnTo>
                    <a:lnTo>
                      <a:pt x="623" y="131"/>
                    </a:lnTo>
                    <a:lnTo>
                      <a:pt x="601" y="103"/>
                    </a:lnTo>
                    <a:lnTo>
                      <a:pt x="580" y="70"/>
                    </a:lnTo>
                    <a:lnTo>
                      <a:pt x="565" y="37"/>
                    </a:lnTo>
                    <a:lnTo>
                      <a:pt x="552" y="0"/>
                    </a:lnTo>
                    <a:lnTo>
                      <a:pt x="499" y="2"/>
                    </a:lnTo>
                    <a:lnTo>
                      <a:pt x="446" y="9"/>
                    </a:lnTo>
                    <a:lnTo>
                      <a:pt x="394" y="21"/>
                    </a:lnTo>
                    <a:lnTo>
                      <a:pt x="342" y="36"/>
                    </a:lnTo>
                    <a:lnTo>
                      <a:pt x="293" y="56"/>
                    </a:lnTo>
                    <a:lnTo>
                      <a:pt x="243" y="79"/>
                    </a:lnTo>
                    <a:lnTo>
                      <a:pt x="196" y="108"/>
                    </a:lnTo>
                    <a:lnTo>
                      <a:pt x="152" y="140"/>
                    </a:lnTo>
                    <a:lnTo>
                      <a:pt x="110" y="175"/>
                    </a:lnTo>
                    <a:lnTo>
                      <a:pt x="71" y="215"/>
                    </a:lnTo>
                    <a:lnTo>
                      <a:pt x="33" y="257"/>
                    </a:lnTo>
                    <a:lnTo>
                      <a:pt x="0" y="302"/>
                    </a:lnTo>
                    <a:lnTo>
                      <a:pt x="0" y="906"/>
                    </a:lnTo>
                    <a:lnTo>
                      <a:pt x="276" y="906"/>
                    </a:lnTo>
                  </a:path>
                </a:pathLst>
              </a:custGeom>
              <a:noFill/>
              <a:ln w="317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grpSp>
          <p:nvGrpSpPr>
            <p:cNvPr id="10254" name="Group 190"/>
            <p:cNvGrpSpPr>
              <a:grpSpLocks/>
            </p:cNvGrpSpPr>
            <p:nvPr/>
          </p:nvGrpSpPr>
          <p:grpSpPr bwMode="auto">
            <a:xfrm>
              <a:off x="4560" y="1200"/>
              <a:ext cx="698" cy="696"/>
              <a:chOff x="4560" y="1200"/>
              <a:chExt cx="698" cy="696"/>
            </a:xfrm>
          </p:grpSpPr>
          <p:grpSp>
            <p:nvGrpSpPr>
              <p:cNvPr id="10255" name="Group 165"/>
              <p:cNvGrpSpPr>
                <a:grpSpLocks/>
              </p:cNvGrpSpPr>
              <p:nvPr/>
            </p:nvGrpSpPr>
            <p:grpSpPr bwMode="auto">
              <a:xfrm>
                <a:off x="4560" y="1703"/>
                <a:ext cx="698" cy="193"/>
                <a:chOff x="4745" y="3239"/>
                <a:chExt cx="698" cy="193"/>
              </a:xfrm>
            </p:grpSpPr>
            <p:sp>
              <p:nvSpPr>
                <p:cNvPr id="10264" name="Rectangle 166"/>
                <p:cNvSpPr>
                  <a:spLocks noChangeArrowheads="1"/>
                </p:cNvSpPr>
                <p:nvPr/>
              </p:nvSpPr>
              <p:spPr bwMode="auto">
                <a:xfrm>
                  <a:off x="4745" y="3239"/>
                  <a:ext cx="698" cy="193"/>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sp>
              <p:nvSpPr>
                <p:cNvPr id="10265" name="Rectangle 167"/>
                <p:cNvSpPr>
                  <a:spLocks noChangeArrowheads="1"/>
                </p:cNvSpPr>
                <p:nvPr/>
              </p:nvSpPr>
              <p:spPr bwMode="auto">
                <a:xfrm>
                  <a:off x="4767" y="3261"/>
                  <a:ext cx="655" cy="149"/>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sp>
              <p:nvSpPr>
                <p:cNvPr id="10266" name="Freeform 168"/>
                <p:cNvSpPr>
                  <a:spLocks/>
                </p:cNvSpPr>
                <p:nvPr/>
              </p:nvSpPr>
              <p:spPr bwMode="auto">
                <a:xfrm>
                  <a:off x="4745" y="3239"/>
                  <a:ext cx="698" cy="193"/>
                </a:xfrm>
                <a:custGeom>
                  <a:avLst/>
                  <a:gdLst>
                    <a:gd name="T0" fmla="*/ 0 w 2094"/>
                    <a:gd name="T1" fmla="*/ 0 h 577"/>
                    <a:gd name="T2" fmla="*/ 0 w 2094"/>
                    <a:gd name="T3" fmla="*/ 0 h 577"/>
                    <a:gd name="T4" fmla="*/ 0 w 2094"/>
                    <a:gd name="T5" fmla="*/ 0 h 577"/>
                    <a:gd name="T6" fmla="*/ 0 w 2094"/>
                    <a:gd name="T7" fmla="*/ 0 h 577"/>
                    <a:gd name="T8" fmla="*/ 0 w 2094"/>
                    <a:gd name="T9" fmla="*/ 0 h 577"/>
                    <a:gd name="T10" fmla="*/ 0 w 2094"/>
                    <a:gd name="T11" fmla="*/ 0 h 577"/>
                    <a:gd name="T12" fmla="*/ 0 w 2094"/>
                    <a:gd name="T13" fmla="*/ 0 h 577"/>
                    <a:gd name="T14" fmla="*/ 0 60000 65536"/>
                    <a:gd name="T15" fmla="*/ 0 60000 65536"/>
                    <a:gd name="T16" fmla="*/ 0 60000 65536"/>
                    <a:gd name="T17" fmla="*/ 0 60000 65536"/>
                    <a:gd name="T18" fmla="*/ 0 60000 65536"/>
                    <a:gd name="T19" fmla="*/ 0 60000 65536"/>
                    <a:gd name="T20" fmla="*/ 0 60000 65536"/>
                    <a:gd name="T21" fmla="*/ 0 w 2094"/>
                    <a:gd name="T22" fmla="*/ 0 h 577"/>
                    <a:gd name="T23" fmla="*/ 2094 w 2094"/>
                    <a:gd name="T24" fmla="*/ 577 h 5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94" h="577">
                      <a:moveTo>
                        <a:pt x="0" y="577"/>
                      </a:moveTo>
                      <a:lnTo>
                        <a:pt x="65" y="513"/>
                      </a:lnTo>
                      <a:lnTo>
                        <a:pt x="2030" y="513"/>
                      </a:lnTo>
                      <a:lnTo>
                        <a:pt x="2030" y="65"/>
                      </a:lnTo>
                      <a:lnTo>
                        <a:pt x="2094" y="0"/>
                      </a:lnTo>
                      <a:lnTo>
                        <a:pt x="2094" y="577"/>
                      </a:lnTo>
                      <a:lnTo>
                        <a:pt x="0" y="577"/>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267" name="Freeform 169"/>
                <p:cNvSpPr>
                  <a:spLocks/>
                </p:cNvSpPr>
                <p:nvPr/>
              </p:nvSpPr>
              <p:spPr bwMode="auto">
                <a:xfrm>
                  <a:off x="4745" y="3239"/>
                  <a:ext cx="698" cy="193"/>
                </a:xfrm>
                <a:custGeom>
                  <a:avLst/>
                  <a:gdLst>
                    <a:gd name="T0" fmla="*/ 0 w 2094"/>
                    <a:gd name="T1" fmla="*/ 0 h 577"/>
                    <a:gd name="T2" fmla="*/ 0 w 2094"/>
                    <a:gd name="T3" fmla="*/ 0 h 577"/>
                    <a:gd name="T4" fmla="*/ 0 w 2094"/>
                    <a:gd name="T5" fmla="*/ 0 h 577"/>
                    <a:gd name="T6" fmla="*/ 0 w 2094"/>
                    <a:gd name="T7" fmla="*/ 0 h 577"/>
                    <a:gd name="T8" fmla="*/ 0 w 2094"/>
                    <a:gd name="T9" fmla="*/ 0 h 577"/>
                    <a:gd name="T10" fmla="*/ 0 w 2094"/>
                    <a:gd name="T11" fmla="*/ 0 h 577"/>
                    <a:gd name="T12" fmla="*/ 0 w 2094"/>
                    <a:gd name="T13" fmla="*/ 0 h 577"/>
                    <a:gd name="T14" fmla="*/ 0 60000 65536"/>
                    <a:gd name="T15" fmla="*/ 0 60000 65536"/>
                    <a:gd name="T16" fmla="*/ 0 60000 65536"/>
                    <a:gd name="T17" fmla="*/ 0 60000 65536"/>
                    <a:gd name="T18" fmla="*/ 0 60000 65536"/>
                    <a:gd name="T19" fmla="*/ 0 60000 65536"/>
                    <a:gd name="T20" fmla="*/ 0 60000 65536"/>
                    <a:gd name="T21" fmla="*/ 0 w 2094"/>
                    <a:gd name="T22" fmla="*/ 0 h 577"/>
                    <a:gd name="T23" fmla="*/ 2094 w 2094"/>
                    <a:gd name="T24" fmla="*/ 577 h 57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94" h="577">
                      <a:moveTo>
                        <a:pt x="0" y="577"/>
                      </a:moveTo>
                      <a:lnTo>
                        <a:pt x="65" y="513"/>
                      </a:lnTo>
                      <a:lnTo>
                        <a:pt x="65" y="65"/>
                      </a:lnTo>
                      <a:lnTo>
                        <a:pt x="2030" y="65"/>
                      </a:lnTo>
                      <a:lnTo>
                        <a:pt x="2094" y="0"/>
                      </a:lnTo>
                      <a:lnTo>
                        <a:pt x="0" y="0"/>
                      </a:lnTo>
                      <a:lnTo>
                        <a:pt x="0" y="57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268" name="Freeform 170"/>
                <p:cNvSpPr>
                  <a:spLocks/>
                </p:cNvSpPr>
                <p:nvPr/>
              </p:nvSpPr>
              <p:spPr bwMode="auto">
                <a:xfrm>
                  <a:off x="5181" y="3293"/>
                  <a:ext cx="219" cy="42"/>
                </a:xfrm>
                <a:custGeom>
                  <a:avLst/>
                  <a:gdLst>
                    <a:gd name="T0" fmla="*/ 0 w 655"/>
                    <a:gd name="T1" fmla="*/ 0 h 127"/>
                    <a:gd name="T2" fmla="*/ 0 w 655"/>
                    <a:gd name="T3" fmla="*/ 0 h 127"/>
                    <a:gd name="T4" fmla="*/ 0 w 655"/>
                    <a:gd name="T5" fmla="*/ 0 h 127"/>
                    <a:gd name="T6" fmla="*/ 0 w 655"/>
                    <a:gd name="T7" fmla="*/ 0 h 127"/>
                    <a:gd name="T8" fmla="*/ 0 w 655"/>
                    <a:gd name="T9" fmla="*/ 0 h 127"/>
                    <a:gd name="T10" fmla="*/ 0 w 655"/>
                    <a:gd name="T11" fmla="*/ 0 h 127"/>
                    <a:gd name="T12" fmla="*/ 0 w 655"/>
                    <a:gd name="T13" fmla="*/ 0 h 127"/>
                    <a:gd name="T14" fmla="*/ 0 w 655"/>
                    <a:gd name="T15" fmla="*/ 0 h 127"/>
                    <a:gd name="T16" fmla="*/ 0 w 655"/>
                    <a:gd name="T17" fmla="*/ 0 h 127"/>
                    <a:gd name="T18" fmla="*/ 0 w 655"/>
                    <a:gd name="T19" fmla="*/ 0 h 127"/>
                    <a:gd name="T20" fmla="*/ 0 w 655"/>
                    <a:gd name="T21" fmla="*/ 0 h 127"/>
                    <a:gd name="T22" fmla="*/ 0 w 655"/>
                    <a:gd name="T23" fmla="*/ 0 h 127"/>
                    <a:gd name="T24" fmla="*/ 0 w 655"/>
                    <a:gd name="T25" fmla="*/ 0 h 1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55"/>
                    <a:gd name="T40" fmla="*/ 0 h 127"/>
                    <a:gd name="T41" fmla="*/ 655 w 655"/>
                    <a:gd name="T42" fmla="*/ 127 h 1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55" h="127">
                      <a:moveTo>
                        <a:pt x="131" y="96"/>
                      </a:moveTo>
                      <a:lnTo>
                        <a:pt x="131" y="127"/>
                      </a:lnTo>
                      <a:lnTo>
                        <a:pt x="524" y="127"/>
                      </a:lnTo>
                      <a:lnTo>
                        <a:pt x="524" y="96"/>
                      </a:lnTo>
                      <a:lnTo>
                        <a:pt x="655" y="96"/>
                      </a:lnTo>
                      <a:lnTo>
                        <a:pt x="655" y="32"/>
                      </a:lnTo>
                      <a:lnTo>
                        <a:pt x="524" y="32"/>
                      </a:lnTo>
                      <a:lnTo>
                        <a:pt x="524" y="0"/>
                      </a:lnTo>
                      <a:lnTo>
                        <a:pt x="131" y="0"/>
                      </a:lnTo>
                      <a:lnTo>
                        <a:pt x="131" y="32"/>
                      </a:lnTo>
                      <a:lnTo>
                        <a:pt x="0" y="32"/>
                      </a:lnTo>
                      <a:lnTo>
                        <a:pt x="0" y="96"/>
                      </a:lnTo>
                      <a:lnTo>
                        <a:pt x="131"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10256" name="Rectangle 171"/>
              <p:cNvSpPr>
                <a:spLocks noChangeArrowheads="1"/>
              </p:cNvSpPr>
              <p:nvPr/>
            </p:nvSpPr>
            <p:spPr bwMode="auto">
              <a:xfrm>
                <a:off x="4778" y="1640"/>
                <a:ext cx="262" cy="44"/>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sp>
            <p:nvSpPr>
              <p:cNvPr id="10257" name="Rectangle 172"/>
              <p:cNvSpPr>
                <a:spLocks noChangeArrowheads="1"/>
              </p:cNvSpPr>
              <p:nvPr/>
            </p:nvSpPr>
            <p:spPr bwMode="auto">
              <a:xfrm>
                <a:off x="4604" y="1746"/>
                <a:ext cx="43" cy="32"/>
              </a:xfrm>
              <a:prstGeom prst="rect">
                <a:avLst/>
              </a:prstGeom>
              <a:solidFill>
                <a:srgbClr val="008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sp>
            <p:nvSpPr>
              <p:cNvPr id="10258" name="Rectangle 173"/>
              <p:cNvSpPr>
                <a:spLocks noChangeArrowheads="1"/>
              </p:cNvSpPr>
              <p:nvPr/>
            </p:nvSpPr>
            <p:spPr bwMode="auto">
              <a:xfrm>
                <a:off x="4604" y="1746"/>
                <a:ext cx="22" cy="16"/>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grpSp>
            <p:nvGrpSpPr>
              <p:cNvPr id="10259" name="Group 175"/>
              <p:cNvGrpSpPr>
                <a:grpSpLocks/>
              </p:cNvGrpSpPr>
              <p:nvPr/>
            </p:nvGrpSpPr>
            <p:grpSpPr bwMode="auto">
              <a:xfrm>
                <a:off x="4615" y="1200"/>
                <a:ext cx="611" cy="428"/>
                <a:chOff x="3744" y="2592"/>
                <a:chExt cx="611" cy="428"/>
              </a:xfrm>
            </p:grpSpPr>
            <p:sp>
              <p:nvSpPr>
                <p:cNvPr id="10260" name="Rectangle 176"/>
                <p:cNvSpPr>
                  <a:spLocks noChangeArrowheads="1"/>
                </p:cNvSpPr>
                <p:nvPr/>
              </p:nvSpPr>
              <p:spPr bwMode="auto">
                <a:xfrm>
                  <a:off x="3744" y="2592"/>
                  <a:ext cx="611" cy="428"/>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sp>
              <p:nvSpPr>
                <p:cNvPr id="10261" name="Freeform 177"/>
                <p:cNvSpPr>
                  <a:spLocks noEditPoints="1"/>
                </p:cNvSpPr>
                <p:nvPr/>
              </p:nvSpPr>
              <p:spPr bwMode="auto">
                <a:xfrm>
                  <a:off x="3744" y="2592"/>
                  <a:ext cx="611" cy="428"/>
                </a:xfrm>
                <a:custGeom>
                  <a:avLst/>
                  <a:gdLst>
                    <a:gd name="T0" fmla="*/ 0 w 1833"/>
                    <a:gd name="T1" fmla="*/ 0 h 1282"/>
                    <a:gd name="T2" fmla="*/ 0 w 1833"/>
                    <a:gd name="T3" fmla="*/ 0 h 1282"/>
                    <a:gd name="T4" fmla="*/ 0 w 1833"/>
                    <a:gd name="T5" fmla="*/ 0 h 1282"/>
                    <a:gd name="T6" fmla="*/ 0 w 1833"/>
                    <a:gd name="T7" fmla="*/ 0 h 1282"/>
                    <a:gd name="T8" fmla="*/ 0 w 1833"/>
                    <a:gd name="T9" fmla="*/ 0 h 1282"/>
                    <a:gd name="T10" fmla="*/ 0 w 1833"/>
                    <a:gd name="T11" fmla="*/ 0 h 1282"/>
                    <a:gd name="T12" fmla="*/ 0 w 1833"/>
                    <a:gd name="T13" fmla="*/ 0 h 1282"/>
                    <a:gd name="T14" fmla="*/ 0 w 1833"/>
                    <a:gd name="T15" fmla="*/ 0 h 1282"/>
                    <a:gd name="T16" fmla="*/ 0 w 1833"/>
                    <a:gd name="T17" fmla="*/ 0 h 1282"/>
                    <a:gd name="T18" fmla="*/ 0 w 1833"/>
                    <a:gd name="T19" fmla="*/ 0 h 12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833"/>
                    <a:gd name="T31" fmla="*/ 0 h 1282"/>
                    <a:gd name="T32" fmla="*/ 1833 w 1833"/>
                    <a:gd name="T33" fmla="*/ 1282 h 128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833" h="1282">
                      <a:moveTo>
                        <a:pt x="0" y="1282"/>
                      </a:moveTo>
                      <a:lnTo>
                        <a:pt x="1833" y="1282"/>
                      </a:lnTo>
                      <a:lnTo>
                        <a:pt x="1833" y="0"/>
                      </a:lnTo>
                      <a:lnTo>
                        <a:pt x="0" y="0"/>
                      </a:lnTo>
                      <a:lnTo>
                        <a:pt x="0" y="1282"/>
                      </a:lnTo>
                      <a:close/>
                      <a:moveTo>
                        <a:pt x="66" y="1217"/>
                      </a:moveTo>
                      <a:lnTo>
                        <a:pt x="1767" y="1217"/>
                      </a:lnTo>
                      <a:lnTo>
                        <a:pt x="1767" y="65"/>
                      </a:lnTo>
                      <a:lnTo>
                        <a:pt x="66" y="65"/>
                      </a:lnTo>
                      <a:lnTo>
                        <a:pt x="66" y="121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262" name="Freeform 178"/>
                <p:cNvSpPr>
                  <a:spLocks/>
                </p:cNvSpPr>
                <p:nvPr/>
              </p:nvSpPr>
              <p:spPr bwMode="auto">
                <a:xfrm>
                  <a:off x="3744" y="2592"/>
                  <a:ext cx="567" cy="384"/>
                </a:xfrm>
                <a:custGeom>
                  <a:avLst/>
                  <a:gdLst>
                    <a:gd name="T0" fmla="*/ 0 w 1701"/>
                    <a:gd name="T1" fmla="*/ 0 h 1152"/>
                    <a:gd name="T2" fmla="*/ 0 w 1701"/>
                    <a:gd name="T3" fmla="*/ 0 h 1152"/>
                    <a:gd name="T4" fmla="*/ 0 w 1701"/>
                    <a:gd name="T5" fmla="*/ 0 h 1152"/>
                    <a:gd name="T6" fmla="*/ 0 w 1701"/>
                    <a:gd name="T7" fmla="*/ 0 h 1152"/>
                    <a:gd name="T8" fmla="*/ 0 w 1701"/>
                    <a:gd name="T9" fmla="*/ 0 h 1152"/>
                    <a:gd name="T10" fmla="*/ 0 w 1701"/>
                    <a:gd name="T11" fmla="*/ 0 h 1152"/>
                    <a:gd name="T12" fmla="*/ 0 w 1701"/>
                    <a:gd name="T13" fmla="*/ 0 h 1152"/>
                    <a:gd name="T14" fmla="*/ 0 60000 65536"/>
                    <a:gd name="T15" fmla="*/ 0 60000 65536"/>
                    <a:gd name="T16" fmla="*/ 0 60000 65536"/>
                    <a:gd name="T17" fmla="*/ 0 60000 65536"/>
                    <a:gd name="T18" fmla="*/ 0 60000 65536"/>
                    <a:gd name="T19" fmla="*/ 0 60000 65536"/>
                    <a:gd name="T20" fmla="*/ 0 60000 65536"/>
                    <a:gd name="T21" fmla="*/ 0 w 1701"/>
                    <a:gd name="T22" fmla="*/ 0 h 1152"/>
                    <a:gd name="T23" fmla="*/ 1701 w 1701"/>
                    <a:gd name="T24" fmla="*/ 1152 h 11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01" h="1152">
                      <a:moveTo>
                        <a:pt x="65" y="1088"/>
                      </a:moveTo>
                      <a:lnTo>
                        <a:pt x="0" y="1152"/>
                      </a:lnTo>
                      <a:lnTo>
                        <a:pt x="0" y="0"/>
                      </a:lnTo>
                      <a:lnTo>
                        <a:pt x="1701" y="0"/>
                      </a:lnTo>
                      <a:lnTo>
                        <a:pt x="1636" y="63"/>
                      </a:lnTo>
                      <a:lnTo>
                        <a:pt x="65" y="63"/>
                      </a:lnTo>
                      <a:lnTo>
                        <a:pt x="65" y="1088"/>
                      </a:lnTo>
                      <a:close/>
                    </a:path>
                  </a:pathLst>
                </a:custGeom>
                <a:solidFill>
                  <a:srgbClr val="9A9A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0263" name="Rectangle 179"/>
                <p:cNvSpPr>
                  <a:spLocks noChangeArrowheads="1"/>
                </p:cNvSpPr>
                <p:nvPr/>
              </p:nvSpPr>
              <p:spPr bwMode="auto">
                <a:xfrm>
                  <a:off x="3792" y="2640"/>
                  <a:ext cx="528" cy="336"/>
                </a:xfrm>
                <a:prstGeom prst="rect">
                  <a:avLst/>
                </a:prstGeom>
                <a:solidFill>
                  <a:srgbClr val="3366FF"/>
                </a:solidFill>
                <a:ln w="9525">
                  <a:solidFill>
                    <a:schemeClr val="tx1"/>
                  </a:solidFill>
                  <a:miter lim="800000"/>
                  <a:headEnd type="none" w="sm" len="sm"/>
                  <a:tailEnd type="none" w="sm" len="sm"/>
                </a:ln>
              </p:spPr>
              <p:txBody>
                <a:bodyPr wrap="none" anchor="ct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2400">
                    <a:cs typeface="Angsana New" pitchFamily="18" charset="-34"/>
                  </a:endParaRPr>
                </a:p>
              </p:txBody>
            </p:sp>
          </p:grpSp>
        </p:grpSp>
      </p:grpSp>
    </p:spTree>
    <p:extLst>
      <p:ext uri="{BB962C8B-B14F-4D97-AF65-F5344CB8AC3E}">
        <p14:creationId xmlns:p14="http://schemas.microsoft.com/office/powerpoint/2010/main" val="14345573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dissolve">
                                      <p:cBhvr>
                                        <p:cTn id="22" dur="500"/>
                                        <p:tgtEl>
                                          <p:spTgt spid="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dissolv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Components</a:t>
            </a:r>
            <a:endParaRPr lang="en-IN" dirty="0"/>
          </a:p>
        </p:txBody>
      </p:sp>
      <p:sp>
        <p:nvSpPr>
          <p:cNvPr id="3" name="Content Placeholder 2"/>
          <p:cNvSpPr>
            <a:spLocks noGrp="1"/>
          </p:cNvSpPr>
          <p:nvPr>
            <p:ph idx="1"/>
          </p:nvPr>
        </p:nvSpPr>
        <p:spPr/>
        <p:txBody>
          <a:bodyPr>
            <a:normAutofit/>
          </a:bodyPr>
          <a:lstStyle/>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Message</a:t>
            </a:r>
          </a:p>
          <a:p>
            <a:pPr marL="0" indent="0" algn="just">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message is the information (data) to be communicated. </a:t>
            </a:r>
            <a:r>
              <a:rPr lang="en-US" sz="2400" dirty="0" smtClean="0">
                <a:latin typeface="Times New Roman" panose="02020603050405020304" pitchFamily="18" charset="0"/>
                <a:cs typeface="Times New Roman" panose="02020603050405020304" pitchFamily="18" charset="0"/>
              </a:rPr>
              <a:t>Popular forms </a:t>
            </a:r>
            <a:r>
              <a:rPr lang="en-US" sz="2400" dirty="0">
                <a:latin typeface="Times New Roman" panose="02020603050405020304" pitchFamily="18" charset="0"/>
                <a:cs typeface="Times New Roman" panose="02020603050405020304" pitchFamily="18" charset="0"/>
              </a:rPr>
              <a:t>of information include text, numbers, pictures, audio, and video</a:t>
            </a:r>
            <a:r>
              <a:rPr lang="en-US" sz="2400" dirty="0" smtClean="0">
                <a:latin typeface="Times New Roman" panose="02020603050405020304" pitchFamily="18" charset="0"/>
                <a:cs typeface="Times New Roman" panose="02020603050405020304" pitchFamily="18" charset="0"/>
              </a:rPr>
              <a:t>.</a:t>
            </a: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Sender</a:t>
            </a:r>
          </a:p>
          <a:p>
            <a:pPr marL="0" indent="0" algn="just">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sender is the device that sends the data message. It can be a </a:t>
            </a:r>
            <a:r>
              <a:rPr lang="en-US" sz="2400" dirty="0" smtClean="0">
                <a:latin typeface="Times New Roman" panose="02020603050405020304" pitchFamily="18" charset="0"/>
                <a:cs typeface="Times New Roman" panose="02020603050405020304" pitchFamily="18" charset="0"/>
              </a:rPr>
              <a:t>computer, workstation</a:t>
            </a:r>
            <a:r>
              <a:rPr lang="en-US" sz="2400" dirty="0">
                <a:latin typeface="Times New Roman" panose="02020603050405020304" pitchFamily="18" charset="0"/>
                <a:cs typeface="Times New Roman" panose="02020603050405020304" pitchFamily="18" charset="0"/>
              </a:rPr>
              <a:t>, telephone handset, video camera, and so on</a:t>
            </a:r>
            <a:r>
              <a:rPr lang="en-US" sz="2400" dirty="0" smtClean="0">
                <a:latin typeface="Times New Roman" panose="02020603050405020304" pitchFamily="18" charset="0"/>
                <a:cs typeface="Times New Roman" panose="02020603050405020304" pitchFamily="18" charset="0"/>
              </a:rPr>
              <a:t>.</a:t>
            </a: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Receiver</a:t>
            </a:r>
          </a:p>
          <a:p>
            <a:pPr marL="0" indent="0" algn="just">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receiver is the device that receives the message. It can be a </a:t>
            </a:r>
            <a:r>
              <a:rPr lang="en-US" sz="2400" dirty="0" smtClean="0">
                <a:latin typeface="Times New Roman" panose="02020603050405020304" pitchFamily="18" charset="0"/>
                <a:cs typeface="Times New Roman" panose="02020603050405020304" pitchFamily="18" charset="0"/>
              </a:rPr>
              <a:t>computer, workstation</a:t>
            </a:r>
            <a:r>
              <a:rPr lang="en-US" sz="2400" dirty="0">
                <a:latin typeface="Times New Roman" panose="02020603050405020304" pitchFamily="18" charset="0"/>
                <a:cs typeface="Times New Roman" panose="02020603050405020304" pitchFamily="18" charset="0"/>
              </a:rPr>
              <a:t>, telephone handset, television, and so 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13492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Transmission </a:t>
            </a:r>
            <a:r>
              <a:rPr lang="en-US" sz="2400" dirty="0" smtClean="0">
                <a:solidFill>
                  <a:srgbClr val="FF0000"/>
                </a:solidFill>
                <a:latin typeface="Times New Roman" panose="02020603050405020304" pitchFamily="18" charset="0"/>
                <a:cs typeface="Times New Roman" panose="02020603050405020304" pitchFamily="18" charset="0"/>
              </a:rPr>
              <a:t>medium</a:t>
            </a:r>
          </a:p>
          <a:p>
            <a:pPr marL="0" indent="0" algn="just">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transmission medium is the physical path by </a:t>
            </a:r>
            <a:r>
              <a:rPr lang="en-US" sz="2400" dirty="0" smtClean="0">
                <a:latin typeface="Times New Roman" panose="02020603050405020304" pitchFamily="18" charset="0"/>
                <a:cs typeface="Times New Roman" panose="02020603050405020304" pitchFamily="18" charset="0"/>
              </a:rPr>
              <a:t>which a </a:t>
            </a:r>
            <a:r>
              <a:rPr lang="en-US" sz="2400" dirty="0">
                <a:latin typeface="Times New Roman" panose="02020603050405020304" pitchFamily="18" charset="0"/>
                <a:cs typeface="Times New Roman" panose="02020603050405020304" pitchFamily="18" charset="0"/>
              </a:rPr>
              <a:t>message travels from sender to receiver. </a:t>
            </a:r>
            <a:endParaRPr lang="en-US" sz="2400" dirty="0" smtClean="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Some </a:t>
            </a:r>
            <a:r>
              <a:rPr lang="en-US" sz="2400" dirty="0">
                <a:latin typeface="Times New Roman" panose="02020603050405020304" pitchFamily="18" charset="0"/>
                <a:cs typeface="Times New Roman" panose="02020603050405020304" pitchFamily="18" charset="0"/>
              </a:rPr>
              <a:t>examples of transmission </a:t>
            </a:r>
            <a:r>
              <a:rPr lang="en-US" sz="2400" dirty="0" smtClean="0">
                <a:latin typeface="Times New Roman" panose="02020603050405020304" pitchFamily="18" charset="0"/>
                <a:cs typeface="Times New Roman" panose="02020603050405020304" pitchFamily="18" charset="0"/>
              </a:rPr>
              <a:t>media include </a:t>
            </a:r>
            <a:r>
              <a:rPr lang="en-US" sz="2400" dirty="0">
                <a:latin typeface="Times New Roman" panose="02020603050405020304" pitchFamily="18" charset="0"/>
                <a:cs typeface="Times New Roman" panose="02020603050405020304" pitchFamily="18" charset="0"/>
              </a:rPr>
              <a:t>twisted-pair wire, coaxial cable, fiber-optic cable, and radio waves</a:t>
            </a:r>
            <a:r>
              <a:rPr lang="en-US" sz="2400" dirty="0" smtClean="0">
                <a:latin typeface="Times New Roman" panose="02020603050405020304" pitchFamily="18" charset="0"/>
                <a:cs typeface="Times New Roman" panose="02020603050405020304" pitchFamily="18" charset="0"/>
              </a:rPr>
              <a:t>.</a:t>
            </a:r>
          </a:p>
          <a:p>
            <a:pPr marL="0" indent="0" algn="just">
              <a:buNone/>
            </a:pPr>
            <a:r>
              <a:rPr lang="en-US" sz="2400" dirty="0">
                <a:solidFill>
                  <a:srgbClr val="FF0000"/>
                </a:solidFill>
                <a:latin typeface="Times New Roman" panose="02020603050405020304" pitchFamily="18" charset="0"/>
                <a:cs typeface="Times New Roman" panose="02020603050405020304" pitchFamily="18" charset="0"/>
              </a:rPr>
              <a:t>Protocol</a:t>
            </a:r>
          </a:p>
          <a:p>
            <a:pPr marL="0" indent="0" algn="just">
              <a:buNone/>
            </a:pPr>
            <a:r>
              <a:rPr lang="en-US" sz="2400" dirty="0">
                <a:latin typeface="Times New Roman" panose="02020603050405020304" pitchFamily="18" charset="0"/>
                <a:cs typeface="Times New Roman" panose="02020603050405020304" pitchFamily="18" charset="0"/>
              </a:rPr>
              <a:t>	A protocol is a set of rules that govern data communications. It represents an agreement between the communicating devices.</a:t>
            </a:r>
            <a:endParaRPr lang="en-IN" sz="2400" dirty="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07339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 Representation</a:t>
            </a:r>
            <a:endParaRPr lang="en-IN" dirty="0"/>
          </a:p>
        </p:txBody>
      </p:sp>
      <p:sp>
        <p:nvSpPr>
          <p:cNvPr id="3" name="Content Placeholder 2"/>
          <p:cNvSpPr>
            <a:spLocks noGrp="1"/>
          </p:cNvSpPr>
          <p:nvPr>
            <p:ph idx="1"/>
          </p:nvPr>
        </p:nvSpPr>
        <p:spPr/>
        <p:txBody>
          <a:bodyPr>
            <a:normAutofit/>
          </a:bodyPr>
          <a:lstStyle/>
          <a:p>
            <a:pPr marL="0" indent="0" algn="just">
              <a:buNone/>
            </a:pPr>
            <a:r>
              <a:rPr lang="en-IN" sz="2400" dirty="0" smtClean="0">
                <a:solidFill>
                  <a:srgbClr val="FF0000"/>
                </a:solidFill>
                <a:latin typeface="Times New Roman" panose="02020603050405020304" pitchFamily="18" charset="0"/>
                <a:cs typeface="Times New Roman" panose="02020603050405020304" pitchFamily="18" charset="0"/>
              </a:rPr>
              <a:t>Text</a:t>
            </a:r>
          </a:p>
          <a:p>
            <a:pPr algn="just"/>
            <a:r>
              <a:rPr lang="en-US" sz="2400" dirty="0">
                <a:latin typeface="Times New Roman" panose="02020603050405020304" pitchFamily="18" charset="0"/>
                <a:cs typeface="Times New Roman" panose="02020603050405020304" pitchFamily="18" charset="0"/>
              </a:rPr>
              <a:t>In data communications, text is represented as a bit pattern, a sequence of bits (Os </a:t>
            </a:r>
            <a:r>
              <a:rPr lang="en-US" sz="2400" dirty="0" smtClean="0">
                <a:latin typeface="Times New Roman" panose="02020603050405020304" pitchFamily="18" charset="0"/>
                <a:cs typeface="Times New Roman" panose="02020603050405020304" pitchFamily="18" charset="0"/>
              </a:rPr>
              <a:t>or Is</a:t>
            </a:r>
            <a:r>
              <a:rPr lang="en-US" sz="2400" dirty="0">
                <a:latin typeface="Times New Roman" panose="02020603050405020304" pitchFamily="18" charset="0"/>
                <a:cs typeface="Times New Roman" panose="02020603050405020304" pitchFamily="18" charset="0"/>
              </a:rPr>
              <a:t>).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Different </a:t>
            </a:r>
            <a:r>
              <a:rPr lang="en-US" sz="2400" dirty="0">
                <a:latin typeface="Times New Roman" panose="02020603050405020304" pitchFamily="18" charset="0"/>
                <a:cs typeface="Times New Roman" panose="02020603050405020304" pitchFamily="18" charset="0"/>
              </a:rPr>
              <a:t>sets of bit patterns have been designed to represent text symbols</a:t>
            </a:r>
            <a:r>
              <a:rPr lang="en-US" sz="2400" dirty="0" smtClean="0">
                <a:latin typeface="Times New Roman" panose="02020603050405020304" pitchFamily="18" charset="0"/>
                <a:cs typeface="Times New Roman" panose="02020603050405020304" pitchFamily="18" charset="0"/>
              </a:rPr>
              <a:t>.</a:t>
            </a:r>
          </a:p>
          <a:p>
            <a:pPr algn="just"/>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Each </a:t>
            </a:r>
            <a:r>
              <a:rPr lang="en-US" sz="2400" dirty="0" smtClean="0">
                <a:latin typeface="Times New Roman" panose="02020603050405020304" pitchFamily="18" charset="0"/>
                <a:cs typeface="Times New Roman" panose="02020603050405020304" pitchFamily="18" charset="0"/>
              </a:rPr>
              <a:t>set is </a:t>
            </a:r>
            <a:r>
              <a:rPr lang="en-US" sz="2400" dirty="0">
                <a:latin typeface="Times New Roman" panose="02020603050405020304" pitchFamily="18" charset="0"/>
                <a:cs typeface="Times New Roman" panose="02020603050405020304" pitchFamily="18" charset="0"/>
              </a:rPr>
              <a:t>called a code, and the process of representing symbols is called coding.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ASCII - </a:t>
            </a:r>
            <a:r>
              <a:rPr lang="en-US" sz="2400" dirty="0">
                <a:latin typeface="Times New Roman" panose="02020603050405020304" pitchFamily="18" charset="0"/>
                <a:cs typeface="Times New Roman" panose="02020603050405020304" pitchFamily="18" charset="0"/>
              </a:rPr>
              <a:t>8</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bits to represent a symbol </a:t>
            </a:r>
            <a:r>
              <a:rPr lang="en-US" sz="2400" dirty="0" smtClean="0">
                <a:latin typeface="Times New Roman" panose="02020603050405020304" pitchFamily="18" charset="0"/>
                <a:cs typeface="Times New Roman" panose="02020603050405020304" pitchFamily="18" charset="0"/>
              </a:rPr>
              <a:t>or character </a:t>
            </a:r>
            <a:r>
              <a:rPr lang="en-US" sz="2400" dirty="0">
                <a:latin typeface="Times New Roman" panose="02020603050405020304" pitchFamily="18" charset="0"/>
                <a:cs typeface="Times New Roman" panose="02020603050405020304" pitchFamily="18" charset="0"/>
              </a:rPr>
              <a:t>used in any language in the world. </a:t>
            </a:r>
            <a:endParaRPr lang="en-IN" sz="2400" dirty="0" smtClean="0">
              <a:latin typeface="Times New Roman" panose="02020603050405020304" pitchFamily="18" charset="0"/>
              <a:cs typeface="Times New Roman" panose="02020603050405020304" pitchFamily="18" charset="0"/>
            </a:endParaRPr>
          </a:p>
          <a:p>
            <a:pPr marL="0" indent="0" algn="just">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31996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t>
            </a:r>
            <a:endParaRPr lang="en-IN" dirty="0"/>
          </a:p>
        </p:txBody>
      </p:sp>
      <p:sp>
        <p:nvSpPr>
          <p:cNvPr id="3" name="Content Placeholder 2"/>
          <p:cNvSpPr>
            <a:spLocks noGrp="1"/>
          </p:cNvSpPr>
          <p:nvPr>
            <p:ph idx="1"/>
          </p:nvPr>
        </p:nvSpPr>
        <p:spPr>
          <a:xfrm>
            <a:off x="838200" y="365125"/>
            <a:ext cx="10515600" cy="5811838"/>
          </a:xfrm>
        </p:spPr>
        <p:txBody>
          <a:bodyPr>
            <a:normAutofit/>
          </a:bodyPr>
          <a:lstStyle/>
          <a:p>
            <a:pPr marL="0" indent="0" algn="just">
              <a:buNone/>
            </a:pPr>
            <a:endParaRPr lang="en-IN" sz="2400" dirty="0" smtClean="0">
              <a:solidFill>
                <a:srgbClr val="FF0000"/>
              </a:solidFill>
              <a:latin typeface="Times New Roman" panose="02020603050405020304" pitchFamily="18" charset="0"/>
              <a:cs typeface="Times New Roman" panose="02020603050405020304" pitchFamily="18" charset="0"/>
            </a:endParaRPr>
          </a:p>
          <a:p>
            <a:pPr marL="0" indent="0" algn="just">
              <a:buNone/>
            </a:pPr>
            <a:r>
              <a:rPr lang="en-IN" sz="2400" dirty="0" smtClean="0">
                <a:solidFill>
                  <a:srgbClr val="FF0000"/>
                </a:solidFill>
                <a:latin typeface="Times New Roman" panose="02020603050405020304" pitchFamily="18" charset="0"/>
                <a:cs typeface="Times New Roman" panose="02020603050405020304" pitchFamily="18" charset="0"/>
              </a:rPr>
              <a:t>Numbers</a:t>
            </a:r>
            <a:endParaRPr lang="en-US" sz="2400" dirty="0" smtClean="0">
              <a:solidFill>
                <a:srgbClr val="FF0000"/>
              </a:solidFill>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Numbers </a:t>
            </a:r>
            <a:r>
              <a:rPr lang="en-US" sz="2400" dirty="0">
                <a:latin typeface="Times New Roman" panose="02020603050405020304" pitchFamily="18" charset="0"/>
                <a:cs typeface="Times New Roman" panose="02020603050405020304" pitchFamily="18" charset="0"/>
              </a:rPr>
              <a:t>are also represented by bit patterns. However, a code such as ASCII is not </a:t>
            </a:r>
            <a:r>
              <a:rPr lang="en-US" sz="2400" dirty="0" smtClean="0">
                <a:latin typeface="Times New Roman" panose="02020603050405020304" pitchFamily="18" charset="0"/>
                <a:cs typeface="Times New Roman" panose="02020603050405020304" pitchFamily="18" charset="0"/>
              </a:rPr>
              <a:t>used to </a:t>
            </a:r>
            <a:r>
              <a:rPr lang="en-US" sz="2400" dirty="0">
                <a:latin typeface="Times New Roman" panose="02020603050405020304" pitchFamily="18" charset="0"/>
                <a:cs typeface="Times New Roman" panose="02020603050405020304" pitchFamily="18" charset="0"/>
              </a:rPr>
              <a:t>represent numbers</a:t>
            </a:r>
            <a:r>
              <a:rPr lang="en-US" sz="2400" dirty="0" smtClean="0">
                <a:latin typeface="Times New Roman" panose="02020603050405020304" pitchFamily="18" charset="0"/>
                <a:cs typeface="Times New Roman" panose="02020603050405020304" pitchFamily="18" charset="0"/>
              </a:rPr>
              <a:t>;</a:t>
            </a:r>
          </a:p>
          <a:p>
            <a:pPr algn="just"/>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a:t>
            </a:r>
            <a:r>
              <a:rPr lang="en-US" sz="2400" dirty="0" smtClean="0">
                <a:latin typeface="Times New Roman" panose="02020603050405020304" pitchFamily="18" charset="0"/>
                <a:cs typeface="Times New Roman" panose="02020603050405020304" pitchFamily="18" charset="0"/>
              </a:rPr>
              <a:t>he </a:t>
            </a:r>
            <a:r>
              <a:rPr lang="en-US" sz="2400" dirty="0">
                <a:latin typeface="Times New Roman" panose="02020603050405020304" pitchFamily="18" charset="0"/>
                <a:cs typeface="Times New Roman" panose="02020603050405020304" pitchFamily="18" charset="0"/>
              </a:rPr>
              <a:t>number is directly converted to a binary number to </a:t>
            </a:r>
            <a:r>
              <a:rPr lang="en-US" sz="2400" dirty="0" smtClean="0">
                <a:latin typeface="Times New Roman" panose="02020603050405020304" pitchFamily="18" charset="0"/>
                <a:cs typeface="Times New Roman" panose="02020603050405020304" pitchFamily="18" charset="0"/>
              </a:rPr>
              <a:t>simplify </a:t>
            </a:r>
            <a:r>
              <a:rPr lang="en-IN" sz="2400" dirty="0" smtClean="0">
                <a:latin typeface="Times New Roman" panose="02020603050405020304" pitchFamily="18" charset="0"/>
                <a:cs typeface="Times New Roman" panose="02020603050405020304" pitchFamily="18" charset="0"/>
              </a:rPr>
              <a:t>mathematical operations</a:t>
            </a:r>
          </a:p>
          <a:p>
            <a:pPr marL="0" indent="0" algn="just">
              <a:buNone/>
            </a:pPr>
            <a:r>
              <a:rPr lang="en-US" sz="2400" dirty="0" smtClean="0">
                <a:solidFill>
                  <a:srgbClr val="FF0000"/>
                </a:solidFill>
                <a:latin typeface="Times New Roman" panose="02020603050405020304" pitchFamily="18" charset="0"/>
                <a:cs typeface="Times New Roman" panose="02020603050405020304" pitchFamily="18" charset="0"/>
              </a:rPr>
              <a:t>Images</a:t>
            </a:r>
          </a:p>
          <a:p>
            <a:pPr algn="just"/>
            <a:r>
              <a:rPr lang="en-US" sz="2400" dirty="0" smtClean="0">
                <a:latin typeface="Times New Roman" panose="02020603050405020304" pitchFamily="18" charset="0"/>
                <a:cs typeface="Times New Roman" panose="02020603050405020304" pitchFamily="18" charset="0"/>
              </a:rPr>
              <a:t>Images </a:t>
            </a:r>
            <a:r>
              <a:rPr lang="en-US" sz="2400" dirty="0">
                <a:latin typeface="Times New Roman" panose="02020603050405020304" pitchFamily="18" charset="0"/>
                <a:cs typeface="Times New Roman" panose="02020603050405020304" pitchFamily="18" charset="0"/>
              </a:rPr>
              <a:t>are also represented by bit patterns</a:t>
            </a:r>
            <a:r>
              <a:rPr lang="en-US" sz="2400" dirty="0" smtClean="0">
                <a:latin typeface="Times New Roman" panose="02020603050405020304" pitchFamily="18" charset="0"/>
                <a:cs typeface="Times New Roman" panose="02020603050405020304" pitchFamily="18" charset="0"/>
              </a:rPr>
              <a:t>.</a:t>
            </a:r>
          </a:p>
          <a:p>
            <a:pPr algn="just"/>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In its simplest form, an image is </a:t>
            </a:r>
            <a:r>
              <a:rPr lang="en-US" sz="2400" dirty="0" smtClean="0">
                <a:latin typeface="Times New Roman" panose="02020603050405020304" pitchFamily="18" charset="0"/>
                <a:cs typeface="Times New Roman" panose="02020603050405020304" pitchFamily="18" charset="0"/>
              </a:rPr>
              <a:t>composed of </a:t>
            </a:r>
            <a:r>
              <a:rPr lang="en-US" sz="2400" dirty="0">
                <a:latin typeface="Times New Roman" panose="02020603050405020304" pitchFamily="18" charset="0"/>
                <a:cs typeface="Times New Roman" panose="02020603050405020304" pitchFamily="18" charset="0"/>
              </a:rPr>
              <a:t>a matrix of pixels (picture elements), where each pixel is a small dot.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size of </a:t>
            </a:r>
            <a:r>
              <a:rPr lang="en-US" sz="2400" dirty="0" smtClean="0">
                <a:latin typeface="Times New Roman" panose="02020603050405020304" pitchFamily="18" charset="0"/>
                <a:cs typeface="Times New Roman" panose="02020603050405020304" pitchFamily="18" charset="0"/>
              </a:rPr>
              <a:t>the pixel </a:t>
            </a:r>
            <a:r>
              <a:rPr lang="en-US" sz="2400" dirty="0">
                <a:latin typeface="Times New Roman" panose="02020603050405020304" pitchFamily="18" charset="0"/>
                <a:cs typeface="Times New Roman" panose="02020603050405020304" pitchFamily="18" charset="0"/>
              </a:rPr>
              <a:t>depends on the </a:t>
            </a:r>
            <a:r>
              <a:rPr lang="en-US" sz="2400" i="1" dirty="0">
                <a:latin typeface="Times New Roman" panose="02020603050405020304" pitchFamily="18" charset="0"/>
                <a:cs typeface="Times New Roman" panose="02020603050405020304" pitchFamily="18" charset="0"/>
              </a:rPr>
              <a:t>resolution. </a:t>
            </a:r>
            <a:r>
              <a:rPr lang="en-US" sz="2400" dirty="0">
                <a:latin typeface="Times New Roman" panose="02020603050405020304" pitchFamily="18" charset="0"/>
                <a:cs typeface="Times New Roman" panose="02020603050405020304" pitchFamily="18" charset="0"/>
              </a:rPr>
              <a:t>For example, an image can be divided into 1000 </a:t>
            </a:r>
            <a:r>
              <a:rPr lang="en-US" sz="2400" dirty="0" smtClean="0">
                <a:latin typeface="Times New Roman" panose="02020603050405020304" pitchFamily="18" charset="0"/>
                <a:cs typeface="Times New Roman" panose="02020603050405020304" pitchFamily="18" charset="0"/>
              </a:rPr>
              <a:t>pixels </a:t>
            </a:r>
            <a:r>
              <a:rPr lang="en-IN" sz="2400" dirty="0" smtClean="0">
                <a:latin typeface="Times New Roman" panose="02020603050405020304" pitchFamily="18" charset="0"/>
                <a:cs typeface="Times New Roman" panose="02020603050405020304" pitchFamily="18" charset="0"/>
              </a:rPr>
              <a:t>or </a:t>
            </a:r>
            <a:r>
              <a:rPr lang="en-IN" sz="2400" dirty="0">
                <a:latin typeface="Times New Roman" panose="02020603050405020304" pitchFamily="18" charset="0"/>
                <a:cs typeface="Times New Roman" panose="02020603050405020304" pitchFamily="18" charset="0"/>
              </a:rPr>
              <a:t>10,000 pixels.</a:t>
            </a:r>
          </a:p>
        </p:txBody>
      </p:sp>
    </p:spTree>
    <p:extLst>
      <p:ext uri="{BB962C8B-B14F-4D97-AF65-F5344CB8AC3E}">
        <p14:creationId xmlns:p14="http://schemas.microsoft.com/office/powerpoint/2010/main" val="38951056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43189"/>
            <a:ext cx="10515600" cy="5133774"/>
          </a:xfrm>
        </p:spPr>
        <p:txBody>
          <a:bodyPr>
            <a:normAutofit/>
          </a:bodyPr>
          <a:lstStyle/>
          <a:p>
            <a:pPr marL="0" indent="0">
              <a:buNone/>
            </a:pPr>
            <a:r>
              <a:rPr lang="en-IN" sz="2400" dirty="0" smtClean="0">
                <a:solidFill>
                  <a:srgbClr val="FF0000"/>
                </a:solidFill>
                <a:latin typeface="Times New Roman" panose="02020603050405020304" pitchFamily="18" charset="0"/>
                <a:cs typeface="Times New Roman" panose="02020603050405020304" pitchFamily="18" charset="0"/>
              </a:rPr>
              <a:t>Audio</a:t>
            </a:r>
          </a:p>
          <a:p>
            <a:r>
              <a:rPr lang="en-US" sz="2400" dirty="0">
                <a:latin typeface="Times New Roman" panose="02020603050405020304" pitchFamily="18" charset="0"/>
                <a:cs typeface="Times New Roman" panose="02020603050405020304" pitchFamily="18" charset="0"/>
              </a:rPr>
              <a:t>Audio refers to the recording or broadcasting of sound or </a:t>
            </a:r>
            <a:r>
              <a:rPr lang="en-US" sz="2400" dirty="0" smtClean="0">
                <a:latin typeface="Times New Roman" panose="02020603050405020304" pitchFamily="18" charset="0"/>
                <a:cs typeface="Times New Roman" panose="02020603050405020304" pitchFamily="18" charset="0"/>
              </a:rPr>
              <a:t>music.</a:t>
            </a:r>
          </a:p>
          <a:p>
            <a:r>
              <a:rPr lang="en-US" sz="2400" dirty="0" smtClean="0">
                <a:latin typeface="Times New Roman" panose="02020603050405020304" pitchFamily="18" charset="0"/>
                <a:cs typeface="Times New Roman" panose="02020603050405020304" pitchFamily="18" charset="0"/>
              </a:rPr>
              <a:t>Audio </a:t>
            </a:r>
            <a:r>
              <a:rPr lang="en-US" sz="2400" dirty="0">
                <a:latin typeface="Times New Roman" panose="02020603050405020304" pitchFamily="18" charset="0"/>
                <a:cs typeface="Times New Roman" panose="02020603050405020304" pitchFamily="18" charset="0"/>
              </a:rPr>
              <a:t>is by </a:t>
            </a:r>
            <a:r>
              <a:rPr lang="en-US" sz="2400" dirty="0" smtClean="0">
                <a:latin typeface="Times New Roman" panose="02020603050405020304" pitchFamily="18" charset="0"/>
                <a:cs typeface="Times New Roman" panose="02020603050405020304" pitchFamily="18" charset="0"/>
              </a:rPr>
              <a:t>nature different </a:t>
            </a:r>
            <a:r>
              <a:rPr lang="en-US" sz="2400" dirty="0">
                <a:latin typeface="Times New Roman" panose="02020603050405020304" pitchFamily="18" charset="0"/>
                <a:cs typeface="Times New Roman" panose="02020603050405020304" pitchFamily="18" charset="0"/>
              </a:rPr>
              <a:t>from text, numbers, or images. It is continuous, not discrete</a:t>
            </a:r>
            <a:r>
              <a:rPr lang="en-US" sz="2400" dirty="0" smtClean="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pPr marL="0" indent="0">
              <a:buNone/>
            </a:pPr>
            <a:r>
              <a:rPr lang="en-US" sz="2400" dirty="0" smtClean="0">
                <a:solidFill>
                  <a:srgbClr val="FF0000"/>
                </a:solidFill>
                <a:latin typeface="Times New Roman" panose="02020603050405020304" pitchFamily="18" charset="0"/>
                <a:cs typeface="Times New Roman" panose="02020603050405020304" pitchFamily="18" charset="0"/>
              </a:rPr>
              <a:t>Video</a:t>
            </a:r>
          </a:p>
          <a:p>
            <a:r>
              <a:rPr lang="en-US" sz="2400" dirty="0">
                <a:latin typeface="Times New Roman" panose="02020603050405020304" pitchFamily="18" charset="0"/>
                <a:cs typeface="Times New Roman" panose="02020603050405020304" pitchFamily="18" charset="0"/>
              </a:rPr>
              <a:t>Video refers to the recording or broadcasting of a picture or </a:t>
            </a:r>
            <a:r>
              <a:rPr lang="en-US" sz="2400" dirty="0" smtClean="0">
                <a:latin typeface="Times New Roman" panose="02020603050405020304" pitchFamily="18" charset="0"/>
                <a:cs typeface="Times New Roman" panose="02020603050405020304" pitchFamily="18" charset="0"/>
              </a:rPr>
              <a:t>movie.</a:t>
            </a:r>
          </a:p>
          <a:p>
            <a:r>
              <a:rPr lang="en-US" sz="2400" dirty="0" smtClean="0">
                <a:latin typeface="Times New Roman" panose="02020603050405020304" pitchFamily="18" charset="0"/>
                <a:cs typeface="Times New Roman" panose="02020603050405020304" pitchFamily="18" charset="0"/>
              </a:rPr>
              <a:t>Video </a:t>
            </a:r>
            <a:r>
              <a:rPr lang="en-US" sz="2400" dirty="0">
                <a:latin typeface="Times New Roman" panose="02020603050405020304" pitchFamily="18" charset="0"/>
                <a:cs typeface="Times New Roman" panose="02020603050405020304" pitchFamily="18" charset="0"/>
              </a:rPr>
              <a:t>can either </a:t>
            </a:r>
            <a:r>
              <a:rPr lang="en-US" sz="2400" dirty="0" smtClean="0">
                <a:latin typeface="Times New Roman" panose="02020603050405020304" pitchFamily="18" charset="0"/>
                <a:cs typeface="Times New Roman" panose="02020603050405020304" pitchFamily="18" charset="0"/>
              </a:rPr>
              <a:t>be produced </a:t>
            </a:r>
            <a:r>
              <a:rPr lang="en-US" sz="2400" dirty="0">
                <a:latin typeface="Times New Roman" panose="02020603050405020304" pitchFamily="18" charset="0"/>
                <a:cs typeface="Times New Roman" panose="02020603050405020304" pitchFamily="18" charset="0"/>
              </a:rPr>
              <a:t>as a continuous entity (e.g., by a TV camera</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it can be a combination </a:t>
            </a:r>
            <a:r>
              <a:rPr lang="en-US" sz="2400" dirty="0" smtClean="0">
                <a:latin typeface="Times New Roman" panose="02020603050405020304" pitchFamily="18" charset="0"/>
                <a:cs typeface="Times New Roman" panose="02020603050405020304" pitchFamily="18" charset="0"/>
              </a:rPr>
              <a:t>of images</a:t>
            </a:r>
            <a:r>
              <a:rPr lang="en-US" sz="2400" dirty="0">
                <a:latin typeface="Times New Roman" panose="02020603050405020304" pitchFamily="18" charset="0"/>
                <a:cs typeface="Times New Roman" panose="02020603050405020304" pitchFamily="18" charset="0"/>
              </a:rPr>
              <a:t>, each a discrete entity, arranged to convey the idea of motion.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81817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eaLnBrk="1" hangingPunct="1">
              <a:defRPr/>
            </a:pPr>
            <a:fld id="{C4B83BD0-5851-4530-84F3-1063C91806FE}" type="slidenum">
              <a:rPr lang="en-US" altLang="en-US" smtClean="0">
                <a:latin typeface="Arial" panose="020B0604020202020204" pitchFamily="34" charset="0"/>
              </a:rPr>
              <a:pPr eaLnBrk="1" hangingPunct="1">
                <a:defRPr/>
              </a:pPr>
              <a:t>13</a:t>
            </a:fld>
            <a:endParaRPr lang="en-US" altLang="en-US" smtClean="0">
              <a:latin typeface="Arial" panose="020B0604020202020204" pitchFamily="34" charset="0"/>
            </a:endParaRPr>
          </a:p>
        </p:txBody>
      </p:sp>
      <p:sp>
        <p:nvSpPr>
          <p:cNvPr id="18434" name="Rectangle 2"/>
          <p:cNvSpPr>
            <a:spLocks noGrp="1" noChangeArrowheads="1"/>
          </p:cNvSpPr>
          <p:nvPr>
            <p:ph type="title"/>
          </p:nvPr>
        </p:nvSpPr>
        <p:spPr/>
        <p:txBody>
          <a:bodyPr/>
          <a:lstStyle/>
          <a:p>
            <a:pPr eaLnBrk="1" hangingPunct="1">
              <a:defRPr/>
            </a:pPr>
            <a:r>
              <a:rPr lang="en-US" smtClean="0"/>
              <a:t>Protocols and Standards</a:t>
            </a:r>
          </a:p>
        </p:txBody>
      </p:sp>
      <p:sp>
        <p:nvSpPr>
          <p:cNvPr id="18435" name="Rectangle 3"/>
          <p:cNvSpPr>
            <a:spLocks noGrp="1" noChangeArrowheads="1"/>
          </p:cNvSpPr>
          <p:nvPr>
            <p:ph type="body" idx="1"/>
          </p:nvPr>
        </p:nvSpPr>
        <p:spPr/>
        <p:txBody>
          <a:bodyPr>
            <a:normAutofit/>
          </a:bodyPr>
          <a:lstStyle/>
          <a:p>
            <a:pPr eaLnBrk="1" hangingPunct="1">
              <a:lnSpc>
                <a:spcPct val="90000"/>
              </a:lnSpc>
              <a:defRPr/>
            </a:pPr>
            <a:r>
              <a:rPr lang="en-US" sz="2400" b="1" dirty="0" smtClean="0">
                <a:latin typeface="Times New Roman" panose="02020603050405020304" pitchFamily="18" charset="0"/>
                <a:cs typeface="Times New Roman" panose="02020603050405020304" pitchFamily="18" charset="0"/>
              </a:rPr>
              <a:t>Protocol</a:t>
            </a:r>
          </a:p>
          <a:p>
            <a:pPr lvl="1" eaLnBrk="1" hangingPunct="1">
              <a:lnSpc>
                <a:spcPct val="90000"/>
              </a:lnSpc>
              <a:defRPr/>
            </a:pPr>
            <a:r>
              <a:rPr lang="en-US" dirty="0" smtClean="0">
                <a:latin typeface="Times New Roman" panose="02020603050405020304" pitchFamily="18" charset="0"/>
                <a:cs typeface="Times New Roman" panose="02020603050405020304" pitchFamily="18" charset="0"/>
              </a:rPr>
              <a:t>A set of rules governing data communications</a:t>
            </a:r>
          </a:p>
          <a:p>
            <a:pPr lvl="2" eaLnBrk="1" hangingPunct="1">
              <a:lnSpc>
                <a:spcPct val="90000"/>
              </a:lnSpc>
              <a:defRPr/>
            </a:pPr>
            <a:r>
              <a:rPr lang="en-US" sz="2400" b="1" dirty="0" smtClean="0">
                <a:solidFill>
                  <a:schemeClr val="folHlink"/>
                </a:solidFill>
                <a:latin typeface="Times New Roman" panose="02020603050405020304" pitchFamily="18" charset="0"/>
                <a:cs typeface="Times New Roman" panose="02020603050405020304" pitchFamily="18" charset="0"/>
              </a:rPr>
              <a:t>Syntax:</a:t>
            </a:r>
            <a:r>
              <a:rPr lang="en-US" sz="2400" dirty="0" smtClean="0">
                <a:latin typeface="Times New Roman" panose="02020603050405020304" pitchFamily="18" charset="0"/>
                <a:cs typeface="Times New Roman" panose="02020603050405020304" pitchFamily="18" charset="0"/>
              </a:rPr>
              <a:t> format of data block</a:t>
            </a:r>
          </a:p>
          <a:p>
            <a:pPr lvl="2" eaLnBrk="1" hangingPunct="1">
              <a:lnSpc>
                <a:spcPct val="90000"/>
              </a:lnSpc>
              <a:defRPr/>
            </a:pPr>
            <a:r>
              <a:rPr lang="en-US" sz="2400" b="1" dirty="0" smtClean="0">
                <a:solidFill>
                  <a:schemeClr val="folHlink"/>
                </a:solidFill>
                <a:latin typeface="Times New Roman" panose="02020603050405020304" pitchFamily="18" charset="0"/>
                <a:cs typeface="Times New Roman" panose="02020603050405020304" pitchFamily="18" charset="0"/>
              </a:rPr>
              <a:t>Semantics:</a:t>
            </a:r>
            <a:r>
              <a:rPr lang="en-US" sz="2400" dirty="0" smtClean="0">
                <a:latin typeface="Times New Roman" panose="02020603050405020304" pitchFamily="18" charset="0"/>
                <a:cs typeface="Times New Roman" panose="02020603050405020304" pitchFamily="18" charset="0"/>
              </a:rPr>
              <a:t> meaning of each section</a:t>
            </a:r>
          </a:p>
          <a:p>
            <a:pPr lvl="2" eaLnBrk="1" hangingPunct="1">
              <a:lnSpc>
                <a:spcPct val="90000"/>
              </a:lnSpc>
              <a:defRPr/>
            </a:pPr>
            <a:r>
              <a:rPr lang="en-US" sz="2400" b="1" dirty="0" smtClean="0">
                <a:solidFill>
                  <a:schemeClr val="folHlink"/>
                </a:solidFill>
                <a:latin typeface="Times New Roman" panose="02020603050405020304" pitchFamily="18" charset="0"/>
                <a:cs typeface="Times New Roman" panose="02020603050405020304" pitchFamily="18" charset="0"/>
              </a:rPr>
              <a:t>Timing:</a:t>
            </a:r>
            <a:r>
              <a:rPr lang="en-US" sz="2400" dirty="0" smtClean="0">
                <a:latin typeface="Times New Roman" panose="02020603050405020304" pitchFamily="18" charset="0"/>
                <a:cs typeface="Times New Roman" panose="02020603050405020304" pitchFamily="18" charset="0"/>
              </a:rPr>
              <a:t> speed and sequencing</a:t>
            </a:r>
          </a:p>
          <a:p>
            <a:pPr eaLnBrk="1" hangingPunct="1">
              <a:lnSpc>
                <a:spcPct val="90000"/>
              </a:lnSpc>
              <a:defRPr/>
            </a:pPr>
            <a:r>
              <a:rPr lang="en-US" sz="2400" b="1" dirty="0" smtClean="0">
                <a:latin typeface="Times New Roman" panose="02020603050405020304" pitchFamily="18" charset="0"/>
                <a:cs typeface="Times New Roman" panose="02020603050405020304" pitchFamily="18" charset="0"/>
              </a:rPr>
              <a:t>Standards</a:t>
            </a:r>
          </a:p>
          <a:p>
            <a:pPr lvl="1" eaLnBrk="1" hangingPunct="1">
              <a:lnSpc>
                <a:spcPct val="90000"/>
              </a:lnSpc>
              <a:defRPr/>
            </a:pPr>
            <a:r>
              <a:rPr lang="en-US" i="1" dirty="0" smtClean="0">
                <a:latin typeface="Times New Roman" panose="02020603050405020304" pitchFamily="18" charset="0"/>
                <a:cs typeface="Times New Roman" panose="02020603050405020304" pitchFamily="18" charset="0"/>
              </a:rPr>
              <a:t>De facto</a:t>
            </a:r>
            <a:r>
              <a:rPr lang="en-US" dirty="0" smtClean="0">
                <a:latin typeface="Times New Roman" panose="02020603050405020304" pitchFamily="18" charset="0"/>
                <a:cs typeface="Times New Roman" panose="02020603050405020304" pitchFamily="18" charset="0"/>
              </a:rPr>
              <a:t> (in practice) standards </a:t>
            </a:r>
          </a:p>
          <a:p>
            <a:pPr lvl="2" eaLnBrk="1" hangingPunct="1">
              <a:lnSpc>
                <a:spcPct val="90000"/>
              </a:lnSpc>
              <a:buFont typeface="Wingdings" panose="05000000000000000000" pitchFamily="2" charset="2"/>
              <a:buNone/>
              <a:defRPr/>
            </a:pPr>
            <a:r>
              <a:rPr lang="en-US" sz="2400" dirty="0" smtClean="0">
                <a:latin typeface="Times New Roman" panose="02020603050405020304" pitchFamily="18" charset="0"/>
                <a:cs typeface="Times New Roman" panose="02020603050405020304" pitchFamily="18" charset="0"/>
                <a:sym typeface="Symbol" pitchFamily="18" charset="2"/>
              </a:rPr>
              <a:t> </a:t>
            </a:r>
            <a:r>
              <a:rPr lang="en-US" sz="2400" dirty="0" smtClean="0">
                <a:latin typeface="Times New Roman" panose="02020603050405020304" pitchFamily="18" charset="0"/>
                <a:cs typeface="Times New Roman" panose="02020603050405020304" pitchFamily="18" charset="0"/>
              </a:rPr>
              <a:t>not approved but widely adopted</a:t>
            </a:r>
          </a:p>
          <a:p>
            <a:pPr lvl="1" eaLnBrk="1" hangingPunct="1">
              <a:lnSpc>
                <a:spcPct val="90000"/>
              </a:lnSpc>
              <a:defRPr/>
            </a:pPr>
            <a:r>
              <a:rPr lang="en-US" i="1" dirty="0" smtClean="0">
                <a:latin typeface="Times New Roman" panose="02020603050405020304" pitchFamily="18" charset="0"/>
                <a:cs typeface="Times New Roman" panose="02020603050405020304" pitchFamily="18" charset="0"/>
              </a:rPr>
              <a:t>De jure</a:t>
            </a:r>
            <a:r>
              <a:rPr lang="en-US" dirty="0" smtClean="0">
                <a:latin typeface="Times New Roman" panose="02020603050405020304" pitchFamily="18" charset="0"/>
                <a:cs typeface="Times New Roman" panose="02020603050405020304" pitchFamily="18" charset="0"/>
              </a:rPr>
              <a:t> (in law) standards</a:t>
            </a:r>
          </a:p>
          <a:p>
            <a:pPr lvl="2" eaLnBrk="1" hangingPunct="1">
              <a:lnSpc>
                <a:spcPct val="90000"/>
              </a:lnSpc>
              <a:buFont typeface="Wingdings" panose="05000000000000000000" pitchFamily="2" charset="2"/>
              <a:buNone/>
              <a:defRPr/>
            </a:pPr>
            <a:r>
              <a:rPr lang="en-US" sz="2400" dirty="0" smtClean="0">
                <a:latin typeface="Times New Roman" panose="02020603050405020304" pitchFamily="18" charset="0"/>
                <a:cs typeface="Times New Roman" panose="02020603050405020304" pitchFamily="18" charset="0"/>
                <a:sym typeface="Symbol" pitchFamily="18" charset="2"/>
              </a:rPr>
              <a:t> </a:t>
            </a:r>
            <a:r>
              <a:rPr lang="en-US" sz="2400" dirty="0" smtClean="0">
                <a:latin typeface="Times New Roman" panose="02020603050405020304" pitchFamily="18" charset="0"/>
                <a:cs typeface="Times New Roman" panose="02020603050405020304" pitchFamily="18" charset="0"/>
              </a:rPr>
              <a:t>approved by an organization</a:t>
            </a:r>
          </a:p>
        </p:txBody>
      </p:sp>
    </p:spTree>
    <p:extLst>
      <p:ext uri="{BB962C8B-B14F-4D97-AF65-F5344CB8AC3E}">
        <p14:creationId xmlns:p14="http://schemas.microsoft.com/office/powerpoint/2010/main" val="12485784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dissolve">
                                      <p:cBhvr>
                                        <p:cTn id="7" dur="500"/>
                                        <p:tgtEl>
                                          <p:spTgt spid="184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dissolve">
                                      <p:cBhvr>
                                        <p:cTn id="12" dur="500"/>
                                        <p:tgtEl>
                                          <p:spTgt spid="184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8435">
                                            <p:txEl>
                                              <p:pRg st="2" end="2"/>
                                            </p:txEl>
                                          </p:spTgt>
                                        </p:tgtEl>
                                        <p:attrNameLst>
                                          <p:attrName>style.visibility</p:attrName>
                                        </p:attrNameLst>
                                      </p:cBhvr>
                                      <p:to>
                                        <p:strVal val="visible"/>
                                      </p:to>
                                    </p:set>
                                    <p:animEffect transition="in" filter="dissolve">
                                      <p:cBhvr>
                                        <p:cTn id="17" dur="500"/>
                                        <p:tgtEl>
                                          <p:spTgt spid="184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8435">
                                            <p:txEl>
                                              <p:pRg st="3" end="3"/>
                                            </p:txEl>
                                          </p:spTgt>
                                        </p:tgtEl>
                                        <p:attrNameLst>
                                          <p:attrName>style.visibility</p:attrName>
                                        </p:attrNameLst>
                                      </p:cBhvr>
                                      <p:to>
                                        <p:strVal val="visible"/>
                                      </p:to>
                                    </p:set>
                                    <p:animEffect transition="in" filter="dissolve">
                                      <p:cBhvr>
                                        <p:cTn id="22" dur="500"/>
                                        <p:tgtEl>
                                          <p:spTgt spid="1843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8435">
                                            <p:txEl>
                                              <p:pRg st="4" end="4"/>
                                            </p:txEl>
                                          </p:spTgt>
                                        </p:tgtEl>
                                        <p:attrNameLst>
                                          <p:attrName>style.visibility</p:attrName>
                                        </p:attrNameLst>
                                      </p:cBhvr>
                                      <p:to>
                                        <p:strVal val="visible"/>
                                      </p:to>
                                    </p:set>
                                    <p:animEffect transition="in" filter="dissolve">
                                      <p:cBhvr>
                                        <p:cTn id="27" dur="500"/>
                                        <p:tgtEl>
                                          <p:spTgt spid="1843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8435">
                                            <p:txEl>
                                              <p:pRg st="5" end="5"/>
                                            </p:txEl>
                                          </p:spTgt>
                                        </p:tgtEl>
                                        <p:attrNameLst>
                                          <p:attrName>style.visibility</p:attrName>
                                        </p:attrNameLst>
                                      </p:cBhvr>
                                      <p:to>
                                        <p:strVal val="visible"/>
                                      </p:to>
                                    </p:set>
                                    <p:animEffect transition="in" filter="dissolve">
                                      <p:cBhvr>
                                        <p:cTn id="32" dur="500"/>
                                        <p:tgtEl>
                                          <p:spTgt spid="18435">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8435">
                                            <p:txEl>
                                              <p:pRg st="6" end="6"/>
                                            </p:txEl>
                                          </p:spTgt>
                                        </p:tgtEl>
                                        <p:attrNameLst>
                                          <p:attrName>style.visibility</p:attrName>
                                        </p:attrNameLst>
                                      </p:cBhvr>
                                      <p:to>
                                        <p:strVal val="visible"/>
                                      </p:to>
                                    </p:set>
                                    <p:animEffect transition="in" filter="dissolve">
                                      <p:cBhvr>
                                        <p:cTn id="37" dur="500"/>
                                        <p:tgtEl>
                                          <p:spTgt spid="18435">
                                            <p:txEl>
                                              <p:pRg st="6" end="6"/>
                                            </p:txEl>
                                          </p:spTgt>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8435">
                                            <p:txEl>
                                              <p:pRg st="7" end="7"/>
                                            </p:txEl>
                                          </p:spTgt>
                                        </p:tgtEl>
                                        <p:attrNameLst>
                                          <p:attrName>style.visibility</p:attrName>
                                        </p:attrNameLst>
                                      </p:cBhvr>
                                      <p:to>
                                        <p:strVal val="visible"/>
                                      </p:to>
                                    </p:set>
                                    <p:animEffect transition="in" filter="dissolve">
                                      <p:cBhvr>
                                        <p:cTn id="40" dur="500"/>
                                        <p:tgtEl>
                                          <p:spTgt spid="18435">
                                            <p:txEl>
                                              <p:pRg st="7" end="7"/>
                                            </p:txEl>
                                          </p:spTgt>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18435">
                                            <p:txEl>
                                              <p:pRg st="8" end="8"/>
                                            </p:txEl>
                                          </p:spTgt>
                                        </p:tgtEl>
                                        <p:attrNameLst>
                                          <p:attrName>style.visibility</p:attrName>
                                        </p:attrNameLst>
                                      </p:cBhvr>
                                      <p:to>
                                        <p:strVal val="visible"/>
                                      </p:to>
                                    </p:set>
                                    <p:animEffect transition="in" filter="dissolve">
                                      <p:cBhvr>
                                        <p:cTn id="45" dur="500"/>
                                        <p:tgtEl>
                                          <p:spTgt spid="18435">
                                            <p:txEl>
                                              <p:pRg st="8" end="8"/>
                                            </p:txEl>
                                          </p:spTgt>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8435">
                                            <p:txEl>
                                              <p:pRg st="9" end="9"/>
                                            </p:txEl>
                                          </p:spTgt>
                                        </p:tgtEl>
                                        <p:attrNameLst>
                                          <p:attrName>style.visibility</p:attrName>
                                        </p:attrNameLst>
                                      </p:cBhvr>
                                      <p:to>
                                        <p:strVal val="visible"/>
                                      </p:to>
                                    </p:set>
                                    <p:animEffect transition="in" filter="dissolve">
                                      <p:cBhvr>
                                        <p:cTn id="48" dur="500"/>
                                        <p:tgtEl>
                                          <p:spTgt spid="1843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 Flow </a:t>
            </a:r>
            <a:endParaRPr lang="en-IN" dirty="0"/>
          </a:p>
        </p:txBody>
      </p:sp>
      <p:sp>
        <p:nvSpPr>
          <p:cNvPr id="3" name="Content Placeholder 2"/>
          <p:cNvSpPr>
            <a:spLocks noGrp="1"/>
          </p:cNvSpPr>
          <p:nvPr>
            <p:ph idx="1"/>
          </p:nvPr>
        </p:nvSpPr>
        <p:spPr/>
        <p:txBody>
          <a:bodyPr/>
          <a:lstStyle/>
          <a:p>
            <a:pPr marL="0" indent="0">
              <a:buNone/>
            </a:pPr>
            <a:r>
              <a:rPr lang="en-IN" dirty="0" smtClean="0"/>
              <a:t>Communication between two devices can be</a:t>
            </a:r>
          </a:p>
          <a:p>
            <a:pPr marL="0" indent="0">
              <a:buNone/>
            </a:pPr>
            <a:endParaRPr lang="en-IN" dirty="0"/>
          </a:p>
          <a:p>
            <a:pPr marL="514350" indent="-514350">
              <a:buFont typeface="+mj-lt"/>
              <a:buAutoNum type="arabicPeriod"/>
            </a:pPr>
            <a:r>
              <a:rPr lang="en-IN" dirty="0" smtClean="0"/>
              <a:t>Simplex</a:t>
            </a:r>
          </a:p>
          <a:p>
            <a:pPr marL="514350" indent="-514350">
              <a:buFont typeface="+mj-lt"/>
              <a:buAutoNum type="arabicPeriod"/>
            </a:pPr>
            <a:r>
              <a:rPr lang="en-IN" dirty="0" smtClean="0"/>
              <a:t>Half-Duplex</a:t>
            </a:r>
          </a:p>
          <a:p>
            <a:pPr marL="514350" indent="-514350">
              <a:buFont typeface="+mj-lt"/>
              <a:buAutoNum type="arabicPeriod"/>
            </a:pPr>
            <a:r>
              <a:rPr lang="en-IN" dirty="0" smtClean="0"/>
              <a:t>Full- Duplex</a:t>
            </a:r>
            <a:endParaRPr lang="en-IN" dirty="0"/>
          </a:p>
        </p:txBody>
      </p:sp>
    </p:spTree>
    <p:extLst>
      <p:ext uri="{BB962C8B-B14F-4D97-AF65-F5344CB8AC3E}">
        <p14:creationId xmlns:p14="http://schemas.microsoft.com/office/powerpoint/2010/main" val="38284273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68216"/>
          </a:xfrm>
        </p:spPr>
        <p:txBody>
          <a:bodyPr/>
          <a:lstStyle/>
          <a:p>
            <a:r>
              <a:rPr lang="en-IN" dirty="0" smtClean="0"/>
              <a:t>Simplex</a:t>
            </a:r>
            <a:endParaRPr lang="en-IN" dirty="0"/>
          </a:p>
        </p:txBody>
      </p:sp>
      <p:sp>
        <p:nvSpPr>
          <p:cNvPr id="3" name="Content Placeholder 2"/>
          <p:cNvSpPr>
            <a:spLocks noGrp="1"/>
          </p:cNvSpPr>
          <p:nvPr>
            <p:ph idx="1"/>
          </p:nvPr>
        </p:nvSpPr>
        <p:spPr>
          <a:xfrm>
            <a:off x="838200" y="1262130"/>
            <a:ext cx="10515600" cy="4914833"/>
          </a:xfrm>
        </p:spPr>
        <p:txBody>
          <a:bodyPr>
            <a:normAutofit/>
          </a:bodyPr>
          <a:lstStyle/>
          <a:p>
            <a:r>
              <a:rPr lang="en-US" sz="2400" dirty="0">
                <a:latin typeface="Times New Roman" panose="02020603050405020304" pitchFamily="18" charset="0"/>
                <a:cs typeface="Times New Roman" panose="02020603050405020304" pitchFamily="18" charset="0"/>
              </a:rPr>
              <a:t>In simplex mode, the communication is unidirectional, as on a one-way street</a:t>
            </a:r>
            <a:r>
              <a:rPr lang="en-US" sz="2400" dirty="0" smtClean="0">
                <a:latin typeface="Times New Roman" panose="02020603050405020304" pitchFamily="18" charset="0"/>
                <a:cs typeface="Times New Roman" panose="02020603050405020304" pitchFamily="18" charset="0"/>
              </a:rPr>
              <a:t>.</a:t>
            </a:r>
          </a:p>
          <a:p>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Only </a:t>
            </a:r>
            <a:r>
              <a:rPr lang="en-US" sz="2400" dirty="0" smtClean="0">
                <a:latin typeface="Times New Roman" panose="02020603050405020304" pitchFamily="18" charset="0"/>
                <a:cs typeface="Times New Roman" panose="02020603050405020304" pitchFamily="18" charset="0"/>
              </a:rPr>
              <a:t>one of </a:t>
            </a:r>
            <a:r>
              <a:rPr lang="en-US" sz="2400" dirty="0">
                <a:latin typeface="Times New Roman" panose="02020603050405020304" pitchFamily="18" charset="0"/>
                <a:cs typeface="Times New Roman" panose="02020603050405020304" pitchFamily="18" charset="0"/>
              </a:rPr>
              <a:t>the two devices on a link can transmit; the other can only </a:t>
            </a:r>
            <a:r>
              <a:rPr lang="en-US" sz="2400" dirty="0" smtClean="0">
                <a:latin typeface="Times New Roman" panose="02020603050405020304" pitchFamily="18" charset="0"/>
                <a:cs typeface="Times New Roman" panose="02020603050405020304" pitchFamily="18" charset="0"/>
              </a:rPr>
              <a:t>receive.</a:t>
            </a:r>
          </a:p>
          <a:p>
            <a:r>
              <a:rPr lang="en-US" sz="2400" dirty="0" smtClean="0">
                <a:latin typeface="Times New Roman" panose="02020603050405020304" pitchFamily="18" charset="0"/>
                <a:cs typeface="Times New Roman" panose="02020603050405020304" pitchFamily="18" charset="0"/>
              </a:rPr>
              <a:t>Example - Keyboards </a:t>
            </a:r>
            <a:r>
              <a:rPr lang="en-US" sz="2400" dirty="0">
                <a:latin typeface="Times New Roman" panose="02020603050405020304" pitchFamily="18" charset="0"/>
                <a:cs typeface="Times New Roman" panose="02020603050405020304" pitchFamily="18" charset="0"/>
              </a:rPr>
              <a:t>and traditional monitors are examples of simplex devices. </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The keyboard can </a:t>
            </a:r>
            <a:r>
              <a:rPr lang="en-US" sz="2400" dirty="0">
                <a:latin typeface="Times New Roman" panose="02020603050405020304" pitchFamily="18" charset="0"/>
                <a:cs typeface="Times New Roman" panose="02020603050405020304" pitchFamily="18" charset="0"/>
              </a:rPr>
              <a:t>only introduce input; the monitor can only accept output. </a:t>
            </a: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532586" y="3956762"/>
            <a:ext cx="9079606" cy="1658427"/>
          </a:xfrm>
          <a:prstGeom prst="rect">
            <a:avLst/>
          </a:prstGeom>
        </p:spPr>
      </p:pic>
    </p:spTree>
    <p:extLst>
      <p:ext uri="{BB962C8B-B14F-4D97-AF65-F5344CB8AC3E}">
        <p14:creationId xmlns:p14="http://schemas.microsoft.com/office/powerpoint/2010/main" val="14024901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6700"/>
          </a:xfrm>
        </p:spPr>
        <p:txBody>
          <a:bodyPr>
            <a:normAutofit/>
          </a:bodyPr>
          <a:lstStyle/>
          <a:p>
            <a:r>
              <a:rPr lang="en-IN" sz="2800" dirty="0" smtClean="0">
                <a:latin typeface="Times New Roman" panose="02020603050405020304" pitchFamily="18" charset="0"/>
                <a:cs typeface="Times New Roman" panose="02020603050405020304" pitchFamily="18" charset="0"/>
              </a:rPr>
              <a:t>Half-duplex</a:t>
            </a:r>
            <a:endParaRPr lang="en-IN"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36372"/>
            <a:ext cx="10515600" cy="4940591"/>
          </a:xfrm>
        </p:spPr>
        <p:txBody>
          <a:bodyPr>
            <a:normAutofit/>
          </a:bodyPr>
          <a:lstStyle/>
          <a:p>
            <a:r>
              <a:rPr lang="en-US" sz="2400" dirty="0">
                <a:latin typeface="Times New Roman" panose="02020603050405020304" pitchFamily="18" charset="0"/>
                <a:cs typeface="Times New Roman" panose="02020603050405020304" pitchFamily="18" charset="0"/>
              </a:rPr>
              <a:t>In half-duplex mode, each station can both transmit and receive, but not at the same time</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When one device is sending, the other can only receive, and vice </a:t>
            </a:r>
            <a:r>
              <a:rPr lang="en-US" sz="2400" dirty="0" smtClean="0">
                <a:latin typeface="Times New Roman" panose="02020603050405020304" pitchFamily="18" charset="0"/>
                <a:cs typeface="Times New Roman" panose="02020603050405020304" pitchFamily="18" charset="0"/>
              </a:rPr>
              <a:t>versa</a:t>
            </a:r>
          </a:p>
          <a:p>
            <a:r>
              <a:rPr lang="en-US" sz="2400" dirty="0">
                <a:latin typeface="Times New Roman" panose="02020603050405020304" pitchFamily="18" charset="0"/>
                <a:cs typeface="Times New Roman" panose="02020603050405020304" pitchFamily="18" charset="0"/>
              </a:rPr>
              <a:t>The half-duplex mode is used in cases where there is no need for </a:t>
            </a:r>
            <a:r>
              <a:rPr lang="en-US" sz="2400" dirty="0" smtClean="0">
                <a:latin typeface="Times New Roman" panose="02020603050405020304" pitchFamily="18" charset="0"/>
                <a:cs typeface="Times New Roman" panose="02020603050405020304" pitchFamily="18" charset="0"/>
              </a:rPr>
              <a:t>communication in </a:t>
            </a:r>
            <a:r>
              <a:rPr lang="en-US" sz="2400" dirty="0">
                <a:latin typeface="Times New Roman" panose="02020603050405020304" pitchFamily="18" charset="0"/>
                <a:cs typeface="Times New Roman" panose="02020603050405020304" pitchFamily="18" charset="0"/>
              </a:rPr>
              <a:t>both directions at the same </a:t>
            </a:r>
            <a:r>
              <a:rPr lang="en-US" sz="2400" dirty="0" smtClean="0">
                <a:latin typeface="Times New Roman" panose="02020603050405020304" pitchFamily="18" charset="0"/>
                <a:cs typeface="Times New Roman" panose="02020603050405020304" pitchFamily="18" charset="0"/>
              </a:rPr>
              <a:t>time</a:t>
            </a:r>
            <a:r>
              <a:rPr lang="en-US" sz="2400" dirty="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One-way lane</a:t>
            </a:r>
            <a:endParaRPr lang="en-IN" sz="2400" dirty="0">
              <a:latin typeface="Times New Roman" panose="02020603050405020304" pitchFamily="18" charset="0"/>
              <a:cs typeface="Times New Roman" panose="02020603050405020304" pitchFamily="18" charset="0"/>
            </a:endParaRPr>
          </a:p>
          <a:p>
            <a:pPr marL="0" indent="0">
              <a:buNone/>
            </a:pPr>
            <a:r>
              <a:rPr lang="en-IN"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073499" y="4156390"/>
            <a:ext cx="7688687" cy="1677739"/>
          </a:xfrm>
          <a:prstGeom prst="rect">
            <a:avLst/>
          </a:prstGeom>
        </p:spPr>
      </p:pic>
    </p:spTree>
    <p:extLst>
      <p:ext uri="{BB962C8B-B14F-4D97-AF65-F5344CB8AC3E}">
        <p14:creationId xmlns:p14="http://schemas.microsoft.com/office/powerpoint/2010/main" val="10817486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6548"/>
          </a:xfrm>
        </p:spPr>
        <p:txBody>
          <a:bodyPr>
            <a:normAutofit fontScale="90000"/>
          </a:bodyPr>
          <a:lstStyle/>
          <a:p>
            <a:r>
              <a:rPr lang="en-IN" dirty="0" smtClean="0"/>
              <a:t>Full-Duplex</a:t>
            </a:r>
            <a:endParaRPr lang="en-IN" dirty="0"/>
          </a:p>
        </p:txBody>
      </p:sp>
      <p:sp>
        <p:nvSpPr>
          <p:cNvPr id="3" name="Content Placeholder 2"/>
          <p:cNvSpPr>
            <a:spLocks noGrp="1"/>
          </p:cNvSpPr>
          <p:nvPr>
            <p:ph idx="1"/>
          </p:nvPr>
        </p:nvSpPr>
        <p:spPr>
          <a:xfrm>
            <a:off x="838200" y="1210614"/>
            <a:ext cx="10515600" cy="4966349"/>
          </a:xfrm>
        </p:spPr>
        <p:txBody>
          <a:bodyPr/>
          <a:lstStyle/>
          <a:p>
            <a:r>
              <a:rPr lang="en-US" sz="2400" dirty="0">
                <a:latin typeface="Times New Roman" panose="02020603050405020304" pitchFamily="18" charset="0"/>
                <a:cs typeface="Times New Roman" panose="02020603050405020304" pitchFamily="18" charset="0"/>
              </a:rPr>
              <a:t>In </a:t>
            </a:r>
            <a:r>
              <a:rPr lang="en-US" sz="2400" dirty="0" smtClean="0">
                <a:latin typeface="Times New Roman" panose="02020603050405020304" pitchFamily="18" charset="0"/>
                <a:cs typeface="Times New Roman" panose="02020603050405020304" pitchFamily="18" charset="0"/>
              </a:rPr>
              <a:t>full-duplex </a:t>
            </a:r>
            <a:r>
              <a:rPr lang="en-US" sz="2400" dirty="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als</a:t>
            </a:r>
            <a:r>
              <a:rPr lang="en-US" sz="2400" dirty="0">
                <a:latin typeface="Times New Roman" panose="02020603050405020304" pitchFamily="18" charset="0"/>
                <a:cs typeface="Times New Roman" panose="02020603050405020304" pitchFamily="18" charset="0"/>
              </a:rPr>
              <a:t>o</a:t>
            </a:r>
            <a:r>
              <a:rPr lang="en-US" sz="2400" dirty="0" smtClean="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called duplex), both stations can transmit and receive </a:t>
            </a:r>
            <a:r>
              <a:rPr lang="en-US" sz="2400" dirty="0" smtClean="0">
                <a:latin typeface="Times New Roman" panose="02020603050405020304" pitchFamily="18" charset="0"/>
                <a:cs typeface="Times New Roman" panose="02020603050405020304" pitchFamily="18" charset="0"/>
              </a:rPr>
              <a:t>simultaneously.</a:t>
            </a:r>
          </a:p>
          <a:p>
            <a:r>
              <a:rPr lang="en-US" sz="2400" dirty="0">
                <a:latin typeface="Times New Roman" panose="02020603050405020304" pitchFamily="18" charset="0"/>
                <a:cs typeface="Times New Roman" panose="02020603050405020304" pitchFamily="18" charset="0"/>
              </a:rPr>
              <a:t>One common example of full-duplex communication is the telephone network.</a:t>
            </a:r>
          </a:p>
          <a:p>
            <a:r>
              <a:rPr lang="en-US" sz="2400" dirty="0">
                <a:latin typeface="Times New Roman" panose="02020603050405020304" pitchFamily="18" charset="0"/>
                <a:cs typeface="Times New Roman" panose="02020603050405020304" pitchFamily="18" charset="0"/>
              </a:rPr>
              <a:t>When two people are communicating by a telephone line, both can talk and listen at </a:t>
            </a:r>
            <a:r>
              <a:rPr lang="en-US" sz="2400" dirty="0" smtClean="0">
                <a:latin typeface="Times New Roman" panose="02020603050405020304" pitchFamily="18" charset="0"/>
                <a:cs typeface="Times New Roman" panose="02020603050405020304" pitchFamily="18" charset="0"/>
              </a:rPr>
              <a:t>the </a:t>
            </a:r>
            <a:r>
              <a:rPr lang="en-IN" sz="2400" dirty="0" smtClean="0">
                <a:latin typeface="Times New Roman" panose="02020603050405020304" pitchFamily="18" charset="0"/>
                <a:cs typeface="Times New Roman" panose="02020603050405020304" pitchFamily="18" charset="0"/>
              </a:rPr>
              <a:t>same </a:t>
            </a:r>
            <a:r>
              <a:rPr lang="en-IN" sz="2400" dirty="0">
                <a:latin typeface="Times New Roman" panose="02020603050405020304" pitchFamily="18" charset="0"/>
                <a:cs typeface="Times New Roman" panose="02020603050405020304" pitchFamily="18" charset="0"/>
              </a:rPr>
              <a:t>time</a:t>
            </a:r>
            <a:r>
              <a:rPr lang="en-IN" sz="2400" dirty="0" smtClean="0">
                <a:latin typeface="Times New Roman" panose="02020603050405020304" pitchFamily="18" charset="0"/>
                <a:cs typeface="Times New Roman" panose="02020603050405020304" pitchFamily="18" charset="0"/>
              </a:rPr>
              <a:t>.</a:t>
            </a:r>
          </a:p>
          <a:p>
            <a:pPr marL="0" indent="0">
              <a:buNone/>
            </a:pP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2266681" y="3837904"/>
            <a:ext cx="7366716" cy="1725769"/>
          </a:xfrm>
          <a:prstGeom prst="rect">
            <a:avLst/>
          </a:prstGeom>
        </p:spPr>
      </p:pic>
    </p:spTree>
    <p:extLst>
      <p:ext uri="{BB962C8B-B14F-4D97-AF65-F5344CB8AC3E}">
        <p14:creationId xmlns:p14="http://schemas.microsoft.com/office/powerpoint/2010/main" val="10106867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492</TotalTime>
  <Words>640</Words>
  <Application>Microsoft Office PowerPoint</Application>
  <PresentationFormat>Widescreen</PresentationFormat>
  <Paragraphs>133</Paragraphs>
  <Slides>17</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8" baseType="lpstr">
      <vt:lpstr>Angsana New</vt:lpstr>
      <vt:lpstr>Arial</vt:lpstr>
      <vt:lpstr>Calibri</vt:lpstr>
      <vt:lpstr>Calibri Light</vt:lpstr>
      <vt:lpstr>Courier</vt:lpstr>
      <vt:lpstr>Symbol</vt:lpstr>
      <vt:lpstr>Tahoma</vt:lpstr>
      <vt:lpstr>Times New Roman</vt:lpstr>
      <vt:lpstr>Wingdings</vt:lpstr>
      <vt:lpstr>Office Theme</vt:lpstr>
      <vt:lpstr>VISIO</vt:lpstr>
      <vt:lpstr>COMPUTER NETWORKS</vt:lpstr>
      <vt:lpstr>Data Communication - Introduction</vt:lpstr>
      <vt:lpstr>Motivation</vt:lpstr>
      <vt:lpstr>Definition</vt:lpstr>
      <vt:lpstr>Characteristics </vt:lpstr>
      <vt:lpstr>Data Communication</vt:lpstr>
      <vt:lpstr>Components in Communication</vt:lpstr>
      <vt:lpstr>Components</vt:lpstr>
      <vt:lpstr>PowerPoint Presentation</vt:lpstr>
      <vt:lpstr>Data Representation</vt:lpstr>
      <vt:lpstr> </vt:lpstr>
      <vt:lpstr>PowerPoint Presentation</vt:lpstr>
      <vt:lpstr>Protocols and Standards</vt:lpstr>
      <vt:lpstr>Data Flow </vt:lpstr>
      <vt:lpstr>Simplex</vt:lpstr>
      <vt:lpstr>Half-duplex</vt:lpstr>
      <vt:lpstr>Full-Duplex</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Communication</dc:title>
  <dc:creator>Arivoli Vijay</dc:creator>
  <cp:lastModifiedBy>Arivoli Vijay</cp:lastModifiedBy>
  <cp:revision>52</cp:revision>
  <dcterms:created xsi:type="dcterms:W3CDTF">2021-02-01T16:23:08Z</dcterms:created>
  <dcterms:modified xsi:type="dcterms:W3CDTF">2024-07-15T07:23:21Z</dcterms:modified>
</cp:coreProperties>
</file>