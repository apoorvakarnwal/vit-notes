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9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08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C1C1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66712" y="108013"/>
            <a:ext cx="382905" cy="474980"/>
          </a:xfrm>
          <a:custGeom>
            <a:avLst/>
            <a:gdLst/>
            <a:ahLst/>
            <a:cxnLst/>
            <a:rect l="l" t="t" r="r" b="b"/>
            <a:pathLst>
              <a:path w="382905" h="474980">
                <a:moveTo>
                  <a:pt x="382587" y="0"/>
                </a:moveTo>
                <a:lnTo>
                  <a:pt x="0" y="0"/>
                </a:lnTo>
                <a:lnTo>
                  <a:pt x="0" y="349186"/>
                </a:lnTo>
                <a:lnTo>
                  <a:pt x="0" y="474662"/>
                </a:lnTo>
                <a:lnTo>
                  <a:pt x="382587" y="474662"/>
                </a:lnTo>
                <a:lnTo>
                  <a:pt x="382587" y="349186"/>
                </a:lnTo>
                <a:lnTo>
                  <a:pt x="382587" y="0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300" y="108013"/>
            <a:ext cx="328612" cy="474662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90537" y="530288"/>
            <a:ext cx="370205" cy="474980"/>
          </a:xfrm>
          <a:custGeom>
            <a:avLst/>
            <a:gdLst/>
            <a:ahLst/>
            <a:cxnLst/>
            <a:rect l="l" t="t" r="r" b="b"/>
            <a:pathLst>
              <a:path w="370205" h="474980">
                <a:moveTo>
                  <a:pt x="369887" y="0"/>
                </a:moveTo>
                <a:lnTo>
                  <a:pt x="0" y="0"/>
                </a:lnTo>
                <a:lnTo>
                  <a:pt x="0" y="349186"/>
                </a:lnTo>
                <a:lnTo>
                  <a:pt x="0" y="474662"/>
                </a:lnTo>
                <a:lnTo>
                  <a:pt x="369887" y="474662"/>
                </a:lnTo>
                <a:lnTo>
                  <a:pt x="369887" y="349186"/>
                </a:lnTo>
                <a:lnTo>
                  <a:pt x="369887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425" y="530288"/>
            <a:ext cx="368300" cy="47466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200" y="457199"/>
            <a:ext cx="560387" cy="4222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C1C1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C1C1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C1C1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66712" y="108013"/>
            <a:ext cx="382905" cy="474980"/>
          </a:xfrm>
          <a:custGeom>
            <a:avLst/>
            <a:gdLst/>
            <a:ahLst/>
            <a:cxnLst/>
            <a:rect l="l" t="t" r="r" b="b"/>
            <a:pathLst>
              <a:path w="382905" h="474980">
                <a:moveTo>
                  <a:pt x="382587" y="0"/>
                </a:moveTo>
                <a:lnTo>
                  <a:pt x="0" y="0"/>
                </a:lnTo>
                <a:lnTo>
                  <a:pt x="0" y="349186"/>
                </a:lnTo>
                <a:lnTo>
                  <a:pt x="0" y="474662"/>
                </a:lnTo>
                <a:lnTo>
                  <a:pt x="382587" y="474662"/>
                </a:lnTo>
                <a:lnTo>
                  <a:pt x="382587" y="349186"/>
                </a:lnTo>
                <a:lnTo>
                  <a:pt x="382587" y="0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300" y="108013"/>
            <a:ext cx="328612" cy="474662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90537" y="530288"/>
            <a:ext cx="370205" cy="474980"/>
          </a:xfrm>
          <a:custGeom>
            <a:avLst/>
            <a:gdLst/>
            <a:ahLst/>
            <a:cxnLst/>
            <a:rect l="l" t="t" r="r" b="b"/>
            <a:pathLst>
              <a:path w="370205" h="474980">
                <a:moveTo>
                  <a:pt x="369887" y="0"/>
                </a:moveTo>
                <a:lnTo>
                  <a:pt x="0" y="0"/>
                </a:lnTo>
                <a:lnTo>
                  <a:pt x="0" y="349186"/>
                </a:lnTo>
                <a:lnTo>
                  <a:pt x="0" y="474662"/>
                </a:lnTo>
                <a:lnTo>
                  <a:pt x="369887" y="474662"/>
                </a:lnTo>
                <a:lnTo>
                  <a:pt x="369887" y="349186"/>
                </a:lnTo>
                <a:lnTo>
                  <a:pt x="369887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425" y="530288"/>
            <a:ext cx="368300" cy="47466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200" y="457199"/>
            <a:ext cx="560387" cy="42227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11200" y="63"/>
            <a:ext cx="31750" cy="1052830"/>
          </a:xfrm>
          <a:custGeom>
            <a:avLst/>
            <a:gdLst/>
            <a:ahLst/>
            <a:cxnLst/>
            <a:rect l="l" t="t" r="r" b="b"/>
            <a:pathLst>
              <a:path w="31750" h="1052830">
                <a:moveTo>
                  <a:pt x="31750" y="565086"/>
                </a:moveTo>
                <a:lnTo>
                  <a:pt x="0" y="565086"/>
                </a:lnTo>
                <a:lnTo>
                  <a:pt x="0" y="1052512"/>
                </a:lnTo>
                <a:lnTo>
                  <a:pt x="31750" y="1052512"/>
                </a:lnTo>
                <a:lnTo>
                  <a:pt x="31750" y="565086"/>
                </a:lnTo>
                <a:close/>
              </a:path>
              <a:path w="31750" h="1052830">
                <a:moveTo>
                  <a:pt x="31750" y="0"/>
                </a:moveTo>
                <a:lnTo>
                  <a:pt x="0" y="0"/>
                </a:lnTo>
                <a:lnTo>
                  <a:pt x="0" y="533336"/>
                </a:lnTo>
                <a:lnTo>
                  <a:pt x="31750" y="533336"/>
                </a:lnTo>
                <a:lnTo>
                  <a:pt x="31750" y="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2912" y="533399"/>
            <a:ext cx="8226425" cy="31750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457200" y="26670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C1C1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2400" y="152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990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55545" y="2229040"/>
            <a:ext cx="4232909" cy="1976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6539" y="1164081"/>
            <a:ext cx="8630920" cy="4293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8739" y="6512516"/>
            <a:ext cx="688340" cy="310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C1C1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9" Type="http://schemas.openxmlformats.org/officeDocument/2006/relationships/image" Target="../media/image45.png"/><Relationship Id="rId21" Type="http://schemas.openxmlformats.org/officeDocument/2006/relationships/image" Target="../media/image27.png"/><Relationship Id="rId34" Type="http://schemas.openxmlformats.org/officeDocument/2006/relationships/image" Target="../media/image40.png"/><Relationship Id="rId42" Type="http://schemas.openxmlformats.org/officeDocument/2006/relationships/image" Target="../media/image48.png"/><Relationship Id="rId47" Type="http://schemas.openxmlformats.org/officeDocument/2006/relationships/image" Target="../media/image53.png"/><Relationship Id="rId50" Type="http://schemas.openxmlformats.org/officeDocument/2006/relationships/image" Target="../media/image56.png"/><Relationship Id="rId55" Type="http://schemas.openxmlformats.org/officeDocument/2006/relationships/image" Target="../media/image61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33" Type="http://schemas.openxmlformats.org/officeDocument/2006/relationships/image" Target="../media/image39.png"/><Relationship Id="rId38" Type="http://schemas.openxmlformats.org/officeDocument/2006/relationships/image" Target="../media/image44.png"/><Relationship Id="rId46" Type="http://schemas.openxmlformats.org/officeDocument/2006/relationships/image" Target="../media/image52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5.png"/><Relationship Id="rId41" Type="http://schemas.openxmlformats.org/officeDocument/2006/relationships/image" Target="../media/image47.png"/><Relationship Id="rId54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32" Type="http://schemas.openxmlformats.org/officeDocument/2006/relationships/image" Target="../media/image38.png"/><Relationship Id="rId37" Type="http://schemas.openxmlformats.org/officeDocument/2006/relationships/image" Target="../media/image43.png"/><Relationship Id="rId40" Type="http://schemas.openxmlformats.org/officeDocument/2006/relationships/image" Target="../media/image46.png"/><Relationship Id="rId45" Type="http://schemas.openxmlformats.org/officeDocument/2006/relationships/image" Target="../media/image51.png"/><Relationship Id="rId53" Type="http://schemas.openxmlformats.org/officeDocument/2006/relationships/image" Target="../media/image59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36" Type="http://schemas.openxmlformats.org/officeDocument/2006/relationships/image" Target="../media/image42.png"/><Relationship Id="rId49" Type="http://schemas.openxmlformats.org/officeDocument/2006/relationships/image" Target="../media/image55.png"/><Relationship Id="rId57" Type="http://schemas.openxmlformats.org/officeDocument/2006/relationships/image" Target="../media/image63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31" Type="http://schemas.openxmlformats.org/officeDocument/2006/relationships/image" Target="../media/image37.png"/><Relationship Id="rId44" Type="http://schemas.openxmlformats.org/officeDocument/2006/relationships/image" Target="../media/image50.png"/><Relationship Id="rId52" Type="http://schemas.openxmlformats.org/officeDocument/2006/relationships/image" Target="../media/image58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Relationship Id="rId30" Type="http://schemas.openxmlformats.org/officeDocument/2006/relationships/image" Target="../media/image36.png"/><Relationship Id="rId35" Type="http://schemas.openxmlformats.org/officeDocument/2006/relationships/image" Target="../media/image41.png"/><Relationship Id="rId43" Type="http://schemas.openxmlformats.org/officeDocument/2006/relationships/image" Target="../media/image49.png"/><Relationship Id="rId48" Type="http://schemas.openxmlformats.org/officeDocument/2006/relationships/image" Target="../media/image54.png"/><Relationship Id="rId56" Type="http://schemas.openxmlformats.org/officeDocument/2006/relationships/image" Target="../media/image62.png"/><Relationship Id="rId8" Type="http://schemas.openxmlformats.org/officeDocument/2006/relationships/image" Target="../media/image14.png"/><Relationship Id="rId51" Type="http://schemas.openxmlformats.org/officeDocument/2006/relationships/image" Target="../media/image57.png"/><Relationship Id="rId3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18" Type="http://schemas.openxmlformats.org/officeDocument/2006/relationships/image" Target="../media/image96.png"/><Relationship Id="rId26" Type="http://schemas.openxmlformats.org/officeDocument/2006/relationships/image" Target="../media/image104.png"/><Relationship Id="rId39" Type="http://schemas.openxmlformats.org/officeDocument/2006/relationships/image" Target="../media/image62.png"/><Relationship Id="rId3" Type="http://schemas.openxmlformats.org/officeDocument/2006/relationships/image" Target="../media/image81.png"/><Relationship Id="rId21" Type="http://schemas.openxmlformats.org/officeDocument/2006/relationships/image" Target="../media/image99.png"/><Relationship Id="rId34" Type="http://schemas.openxmlformats.org/officeDocument/2006/relationships/image" Target="../media/image112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17" Type="http://schemas.openxmlformats.org/officeDocument/2006/relationships/image" Target="../media/image95.png"/><Relationship Id="rId25" Type="http://schemas.openxmlformats.org/officeDocument/2006/relationships/image" Target="../media/image103.png"/><Relationship Id="rId33" Type="http://schemas.openxmlformats.org/officeDocument/2006/relationships/image" Target="../media/image111.png"/><Relationship Id="rId38" Type="http://schemas.openxmlformats.org/officeDocument/2006/relationships/image" Target="../media/image116.png"/><Relationship Id="rId2" Type="http://schemas.openxmlformats.org/officeDocument/2006/relationships/image" Target="../media/image80.png"/><Relationship Id="rId16" Type="http://schemas.openxmlformats.org/officeDocument/2006/relationships/image" Target="../media/image94.png"/><Relationship Id="rId20" Type="http://schemas.openxmlformats.org/officeDocument/2006/relationships/image" Target="../media/image98.png"/><Relationship Id="rId29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24" Type="http://schemas.openxmlformats.org/officeDocument/2006/relationships/image" Target="../media/image102.png"/><Relationship Id="rId32" Type="http://schemas.openxmlformats.org/officeDocument/2006/relationships/image" Target="../media/image110.png"/><Relationship Id="rId37" Type="http://schemas.openxmlformats.org/officeDocument/2006/relationships/image" Target="../media/image115.png"/><Relationship Id="rId40" Type="http://schemas.openxmlformats.org/officeDocument/2006/relationships/image" Target="../media/image63.png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23" Type="http://schemas.openxmlformats.org/officeDocument/2006/relationships/image" Target="../media/image101.png"/><Relationship Id="rId28" Type="http://schemas.openxmlformats.org/officeDocument/2006/relationships/image" Target="../media/image106.png"/><Relationship Id="rId36" Type="http://schemas.openxmlformats.org/officeDocument/2006/relationships/image" Target="../media/image114.png"/><Relationship Id="rId10" Type="http://schemas.openxmlformats.org/officeDocument/2006/relationships/image" Target="../media/image88.png"/><Relationship Id="rId19" Type="http://schemas.openxmlformats.org/officeDocument/2006/relationships/image" Target="../media/image97.png"/><Relationship Id="rId31" Type="http://schemas.openxmlformats.org/officeDocument/2006/relationships/image" Target="../media/image109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Relationship Id="rId22" Type="http://schemas.openxmlformats.org/officeDocument/2006/relationships/image" Target="../media/image100.png"/><Relationship Id="rId27" Type="http://schemas.openxmlformats.org/officeDocument/2006/relationships/image" Target="../media/image105.png"/><Relationship Id="rId30" Type="http://schemas.openxmlformats.org/officeDocument/2006/relationships/image" Target="../media/image108.png"/><Relationship Id="rId35" Type="http://schemas.openxmlformats.org/officeDocument/2006/relationships/image" Target="../media/image11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28.png"/><Relationship Id="rId18" Type="http://schemas.openxmlformats.org/officeDocument/2006/relationships/image" Target="../media/image132.png"/><Relationship Id="rId26" Type="http://schemas.openxmlformats.org/officeDocument/2006/relationships/image" Target="../media/image140.png"/><Relationship Id="rId39" Type="http://schemas.openxmlformats.org/officeDocument/2006/relationships/image" Target="../media/image99.png"/><Relationship Id="rId3" Type="http://schemas.openxmlformats.org/officeDocument/2006/relationships/image" Target="../media/image81.png"/><Relationship Id="rId21" Type="http://schemas.openxmlformats.org/officeDocument/2006/relationships/image" Target="../media/image135.png"/><Relationship Id="rId34" Type="http://schemas.openxmlformats.org/officeDocument/2006/relationships/image" Target="../media/image148.png"/><Relationship Id="rId7" Type="http://schemas.openxmlformats.org/officeDocument/2006/relationships/image" Target="../media/image123.png"/><Relationship Id="rId12" Type="http://schemas.openxmlformats.org/officeDocument/2006/relationships/image" Target="../media/image127.png"/><Relationship Id="rId17" Type="http://schemas.openxmlformats.org/officeDocument/2006/relationships/image" Target="../media/image131.png"/><Relationship Id="rId25" Type="http://schemas.openxmlformats.org/officeDocument/2006/relationships/image" Target="../media/image139.png"/><Relationship Id="rId33" Type="http://schemas.openxmlformats.org/officeDocument/2006/relationships/image" Target="../media/image147.png"/><Relationship Id="rId38" Type="http://schemas.openxmlformats.org/officeDocument/2006/relationships/image" Target="../media/image151.png"/><Relationship Id="rId2" Type="http://schemas.openxmlformats.org/officeDocument/2006/relationships/image" Target="../media/image80.png"/><Relationship Id="rId16" Type="http://schemas.openxmlformats.org/officeDocument/2006/relationships/image" Target="../media/image130.png"/><Relationship Id="rId20" Type="http://schemas.openxmlformats.org/officeDocument/2006/relationships/image" Target="../media/image134.png"/><Relationship Id="rId29" Type="http://schemas.openxmlformats.org/officeDocument/2006/relationships/image" Target="../media/image143.png"/><Relationship Id="rId41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11" Type="http://schemas.openxmlformats.org/officeDocument/2006/relationships/image" Target="../media/image126.png"/><Relationship Id="rId24" Type="http://schemas.openxmlformats.org/officeDocument/2006/relationships/image" Target="../media/image138.png"/><Relationship Id="rId32" Type="http://schemas.openxmlformats.org/officeDocument/2006/relationships/image" Target="../media/image146.png"/><Relationship Id="rId37" Type="http://schemas.openxmlformats.org/officeDocument/2006/relationships/image" Target="../media/image150.png"/><Relationship Id="rId40" Type="http://schemas.openxmlformats.org/officeDocument/2006/relationships/image" Target="../media/image62.png"/><Relationship Id="rId5" Type="http://schemas.openxmlformats.org/officeDocument/2006/relationships/image" Target="../media/image121.png"/><Relationship Id="rId15" Type="http://schemas.openxmlformats.org/officeDocument/2006/relationships/image" Target="../media/image129.png"/><Relationship Id="rId23" Type="http://schemas.openxmlformats.org/officeDocument/2006/relationships/image" Target="../media/image137.png"/><Relationship Id="rId28" Type="http://schemas.openxmlformats.org/officeDocument/2006/relationships/image" Target="../media/image142.png"/><Relationship Id="rId36" Type="http://schemas.openxmlformats.org/officeDocument/2006/relationships/image" Target="../media/image111.png"/><Relationship Id="rId10" Type="http://schemas.openxmlformats.org/officeDocument/2006/relationships/image" Target="../media/image125.png"/><Relationship Id="rId19" Type="http://schemas.openxmlformats.org/officeDocument/2006/relationships/image" Target="../media/image133.png"/><Relationship Id="rId31" Type="http://schemas.openxmlformats.org/officeDocument/2006/relationships/image" Target="../media/image145.png"/><Relationship Id="rId4" Type="http://schemas.openxmlformats.org/officeDocument/2006/relationships/image" Target="../media/image120.png"/><Relationship Id="rId9" Type="http://schemas.openxmlformats.org/officeDocument/2006/relationships/image" Target="../media/image114.png"/><Relationship Id="rId14" Type="http://schemas.openxmlformats.org/officeDocument/2006/relationships/image" Target="../media/image87.png"/><Relationship Id="rId22" Type="http://schemas.openxmlformats.org/officeDocument/2006/relationships/image" Target="../media/image136.png"/><Relationship Id="rId27" Type="http://schemas.openxmlformats.org/officeDocument/2006/relationships/image" Target="../media/image141.png"/><Relationship Id="rId30" Type="http://schemas.openxmlformats.org/officeDocument/2006/relationships/image" Target="../media/image144.png"/><Relationship Id="rId35" Type="http://schemas.openxmlformats.org/officeDocument/2006/relationships/image" Target="../media/image14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6488379"/>
            <a:ext cx="5207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1C1C1C"/>
                </a:solidFill>
                <a:latin typeface="Arial"/>
                <a:cs typeface="Arial"/>
              </a:rPr>
              <a:t>12</a:t>
            </a:r>
            <a:r>
              <a:rPr sz="2000" b="1" spc="-10" dirty="0">
                <a:solidFill>
                  <a:srgbClr val="1C1C1C"/>
                </a:solidFill>
                <a:latin typeface="Arial"/>
                <a:cs typeface="Arial"/>
              </a:rPr>
              <a:t>.</a:t>
            </a:r>
            <a:r>
              <a:rPr sz="2000" b="1" dirty="0">
                <a:solidFill>
                  <a:srgbClr val="1C1C1C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"/>
            <a:ext cx="8503920" cy="109696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 marR="5080" indent="656590">
              <a:lnSpc>
                <a:spcPct val="145500"/>
              </a:lnSpc>
              <a:spcBef>
                <a:spcPts val="95"/>
              </a:spcBef>
            </a:pPr>
            <a:r>
              <a:rPr dirty="0">
                <a:solidFill>
                  <a:srgbClr val="333399"/>
                </a:solidFill>
              </a:rPr>
              <a:t>Chapter 12 </a:t>
            </a:r>
            <a:r>
              <a:rPr spc="5" dirty="0">
                <a:solidFill>
                  <a:srgbClr val="333399"/>
                </a:solidFill>
              </a:rPr>
              <a:t> </a:t>
            </a:r>
            <a:r>
              <a:rPr dirty="0"/>
              <a:t>Multiple</a:t>
            </a:r>
            <a:r>
              <a:rPr spc="-245" dirty="0"/>
              <a:t> </a:t>
            </a:r>
            <a:r>
              <a:rPr dirty="0"/>
              <a:t>Access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00580" y="6536842"/>
            <a:ext cx="59397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Copyright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©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McGraw-Hill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Companies,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Inc.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Permission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required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reproduction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display.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403301"/>
            <a:ext cx="83178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1314" algn="l"/>
              </a:tabLst>
            </a:pP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Figure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12.1	</a:t>
            </a:r>
            <a:r>
              <a:rPr sz="2000" i="1" dirty="0">
                <a:latin typeface="Times New Roman"/>
                <a:cs typeface="Times New Roman"/>
              </a:rPr>
              <a:t>Data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link </a:t>
            </a:r>
            <a:r>
              <a:rPr sz="2000" i="1" dirty="0">
                <a:latin typeface="Times New Roman"/>
                <a:cs typeface="Times New Roman"/>
              </a:rPr>
              <a:t>layer</a:t>
            </a:r>
            <a:r>
              <a:rPr sz="2000" i="1" spc="-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divided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into two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functionality-oriented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sublayers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2320" y="2067141"/>
            <a:ext cx="5368079" cy="25048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739" y="6512516"/>
            <a:ext cx="54610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b="1" dirty="0">
                <a:solidFill>
                  <a:srgbClr val="1C1C1C"/>
                </a:solidFill>
                <a:latin typeface="Arial"/>
                <a:cs typeface="Arial"/>
              </a:rPr>
              <a:t>12.</a:t>
            </a:r>
            <a:fld id="{81D60167-4931-47E6-BA6A-407CBD079E47}" type="slidenum">
              <a:rPr sz="2000" b="1" dirty="0">
                <a:solidFill>
                  <a:srgbClr val="1C1C1C"/>
                </a:solidFill>
                <a:latin typeface="Arial"/>
                <a:cs typeface="Arial"/>
              </a:rPr>
              <a:t>2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667000"/>
            <a:ext cx="8458200" cy="2215991"/>
          </a:xfrm>
        </p:spPr>
        <p:txBody>
          <a:bodyPr/>
          <a:lstStyle/>
          <a:p>
            <a:pPr algn="just"/>
            <a:r>
              <a:rPr lang="en-US" sz="1800" b="0" dirty="0" smtClean="0">
                <a:latin typeface="+mj-lt"/>
                <a:cs typeface="Times New Roman" panose="02020603050405020304" pitchFamily="18" charset="0"/>
              </a:rPr>
              <a:t>The </a:t>
            </a:r>
            <a:r>
              <a:rPr lang="en-US" sz="1800" b="0" dirty="0">
                <a:latin typeface="+mj-lt"/>
                <a:cs typeface="Times New Roman" panose="02020603050405020304" pitchFamily="18" charset="0"/>
              </a:rPr>
              <a:t>upper sublayer that is responsible for flow and error control is called the logical</a:t>
            </a:r>
            <a:br>
              <a:rPr lang="en-US" sz="1800" b="0" dirty="0">
                <a:latin typeface="+mj-lt"/>
                <a:cs typeface="Times New Roman" panose="02020603050405020304" pitchFamily="18" charset="0"/>
              </a:rPr>
            </a:br>
            <a:r>
              <a:rPr lang="en-US" sz="1800" b="0" dirty="0">
                <a:latin typeface="+mj-lt"/>
                <a:cs typeface="Times New Roman" panose="02020603050405020304" pitchFamily="18" charset="0"/>
              </a:rPr>
              <a:t>link control (LLC) layer; the lower sublayer that is mostly responsible for </a:t>
            </a:r>
            <a:r>
              <a:rPr lang="en-US" sz="1800" b="0" dirty="0" smtClean="0">
                <a:latin typeface="+mj-lt"/>
                <a:cs typeface="Times New Roman" panose="02020603050405020304" pitchFamily="18" charset="0"/>
              </a:rPr>
              <a:t>multiple access</a:t>
            </a:r>
            <a:r>
              <a:rPr lang="en-US" sz="1800" b="0" dirty="0">
                <a:latin typeface="+mj-lt"/>
                <a:cs typeface="Times New Roman" panose="02020603050405020304" pitchFamily="18" charset="0"/>
              </a:rPr>
              <a:t/>
            </a:r>
            <a:br>
              <a:rPr lang="en-US" sz="1800" b="0" dirty="0">
                <a:latin typeface="+mj-lt"/>
                <a:cs typeface="Times New Roman" panose="02020603050405020304" pitchFamily="18" charset="0"/>
              </a:rPr>
            </a:br>
            <a:r>
              <a:rPr lang="en-US" sz="1800" b="0" dirty="0">
                <a:latin typeface="+mj-lt"/>
                <a:cs typeface="Times New Roman" panose="02020603050405020304" pitchFamily="18" charset="0"/>
              </a:rPr>
              <a:t>resolution is called the media access control (MAC) </a:t>
            </a:r>
            <a:r>
              <a:rPr lang="en-US" sz="1800" b="0" dirty="0" smtClean="0">
                <a:latin typeface="+mj-lt"/>
                <a:cs typeface="Times New Roman" panose="02020603050405020304" pitchFamily="18" charset="0"/>
              </a:rPr>
              <a:t>layer.</a:t>
            </a:r>
            <a:r>
              <a:rPr lang="en-US" sz="1800" b="0" dirty="0">
                <a:latin typeface="+mj-lt"/>
                <a:cs typeface="Times New Roman" panose="02020603050405020304" pitchFamily="18" charset="0"/>
              </a:rPr>
              <a:t/>
            </a:r>
            <a:br>
              <a:rPr lang="en-US" sz="1800" b="0" dirty="0">
                <a:latin typeface="+mj-lt"/>
                <a:cs typeface="Times New Roman" panose="02020603050405020304" pitchFamily="18" charset="0"/>
              </a:rPr>
            </a:br>
            <a:r>
              <a:rPr lang="en-US" sz="1800" b="0" dirty="0" smtClean="0">
                <a:latin typeface="+mj-lt"/>
                <a:cs typeface="Times New Roman" panose="02020603050405020304" pitchFamily="18" charset="0"/>
              </a:rPr>
              <a:t/>
            </a:r>
            <a:br>
              <a:rPr lang="en-US" sz="1800" b="0" dirty="0" smtClean="0">
                <a:latin typeface="+mj-lt"/>
                <a:cs typeface="Times New Roman" panose="02020603050405020304" pitchFamily="18" charset="0"/>
              </a:rPr>
            </a:br>
            <a:r>
              <a:rPr lang="en-US" sz="1800" b="0" dirty="0" smtClean="0">
                <a:latin typeface="+mj-lt"/>
              </a:rPr>
              <a:t>When </a:t>
            </a:r>
            <a:r>
              <a:rPr lang="en-US" sz="1800" b="0" dirty="0">
                <a:latin typeface="+mj-lt"/>
              </a:rPr>
              <a:t>nodes or stations are connected and use a common link, called a multipoint</a:t>
            </a:r>
            <a:br>
              <a:rPr lang="en-US" sz="1800" b="0" dirty="0">
                <a:latin typeface="+mj-lt"/>
              </a:rPr>
            </a:br>
            <a:r>
              <a:rPr lang="en-US" sz="1800" b="0" dirty="0">
                <a:latin typeface="+mj-lt"/>
              </a:rPr>
              <a:t>or broadcast link, we need a multiple-access protocol to coordinate access to the link</a:t>
            </a:r>
            <a:r>
              <a:rPr lang="en-US" sz="1800" b="0" dirty="0" smtClean="0">
                <a:latin typeface="+mj-lt"/>
              </a:rPr>
              <a:t>.</a:t>
            </a:r>
            <a:br>
              <a:rPr lang="en-US" sz="1800" b="0" dirty="0" smtClean="0">
                <a:latin typeface="+mj-lt"/>
              </a:rPr>
            </a:br>
            <a:r>
              <a:rPr lang="en-US" sz="1800" b="0" dirty="0">
                <a:latin typeface="+mj-lt"/>
              </a:rPr>
              <a:t/>
            </a:r>
            <a:br>
              <a:rPr lang="en-US" sz="1800" b="0" dirty="0">
                <a:latin typeface="+mj-lt"/>
              </a:rPr>
            </a:br>
            <a:endParaRPr lang="en-IN" sz="18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357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403301"/>
            <a:ext cx="83204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1314" algn="l"/>
              </a:tabLst>
            </a:pP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Figure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12.2	</a:t>
            </a:r>
            <a:r>
              <a:rPr sz="2000" i="1" spc="-20" dirty="0">
                <a:latin typeface="Times New Roman"/>
                <a:cs typeface="Times New Roman"/>
              </a:rPr>
              <a:t>Taxonomy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of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multiple-access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protocols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discussed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this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chapter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1897126"/>
            <a:ext cx="6548548" cy="32403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739" y="6512516"/>
            <a:ext cx="54610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b="1" dirty="0">
                <a:solidFill>
                  <a:srgbClr val="1C1C1C"/>
                </a:solidFill>
                <a:latin typeface="Arial"/>
                <a:cs typeface="Arial"/>
              </a:rPr>
              <a:t>12.</a:t>
            </a:r>
            <a:fld id="{81D60167-4931-47E6-BA6A-407CBD079E47}" type="slidenum">
              <a:rPr sz="2000" b="1" dirty="0">
                <a:solidFill>
                  <a:srgbClr val="1C1C1C"/>
                </a:solidFill>
                <a:latin typeface="Arial"/>
                <a:cs typeface="Arial"/>
              </a:rPr>
              <a:t>4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0"/>
            <a:ext cx="9153525" cy="1050290"/>
            <a:chOff x="-4762" y="0"/>
            <a:chExt cx="9153525" cy="105029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990600"/>
            </a:xfrm>
            <a:custGeom>
              <a:avLst/>
              <a:gdLst/>
              <a:ahLst/>
              <a:cxnLst/>
              <a:rect l="l" t="t" r="r" b="b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990600"/>
            </a:xfrm>
            <a:custGeom>
              <a:avLst/>
              <a:gdLst/>
              <a:ahLst/>
              <a:cxnLst/>
              <a:rect l="l" t="t" r="r" b="b"/>
              <a:pathLst>
                <a:path w="9144000" h="990600">
                  <a:moveTo>
                    <a:pt x="0" y="990600"/>
                  </a:moveTo>
                  <a:lnTo>
                    <a:pt x="9144000" y="9906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990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" y="146304"/>
              <a:ext cx="941832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7012" y="146304"/>
              <a:ext cx="669036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2648" y="146304"/>
              <a:ext cx="4597908" cy="89916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07340" y="247903"/>
            <a:ext cx="46342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2355" algn="l"/>
              </a:tabLst>
            </a:pPr>
            <a:r>
              <a:rPr sz="3200" spc="5" dirty="0">
                <a:latin typeface="Times New Roman"/>
                <a:cs typeface="Times New Roman"/>
              </a:rPr>
              <a:t>12</a:t>
            </a:r>
            <a:r>
              <a:rPr sz="3200" dirty="0">
                <a:latin typeface="Times New Roman"/>
                <a:cs typeface="Times New Roman"/>
              </a:rPr>
              <a:t>-1	</a:t>
            </a:r>
            <a:r>
              <a:rPr sz="3200" spc="-5" dirty="0">
                <a:latin typeface="Times New Roman"/>
                <a:cs typeface="Times New Roman"/>
              </a:rPr>
              <a:t>R</a:t>
            </a:r>
            <a:r>
              <a:rPr sz="3200" spc="5" dirty="0">
                <a:latin typeface="Times New Roman"/>
                <a:cs typeface="Times New Roman"/>
              </a:rPr>
              <a:t>A</a:t>
            </a:r>
            <a:r>
              <a:rPr sz="3200" spc="-5" dirty="0">
                <a:latin typeface="Times New Roman"/>
                <a:cs typeface="Times New Roman"/>
              </a:rPr>
              <a:t>NDO</a:t>
            </a:r>
            <a:r>
              <a:rPr sz="3200" dirty="0">
                <a:latin typeface="Times New Roman"/>
                <a:cs typeface="Times New Roman"/>
              </a:rPr>
              <a:t>M</a:t>
            </a:r>
            <a:r>
              <a:rPr sz="3200" spc="-19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ACCESS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5260" y="1074419"/>
            <a:ext cx="8514715" cy="3912235"/>
            <a:chOff x="175260" y="1074419"/>
            <a:chExt cx="8514715" cy="391223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1389" y="1293453"/>
              <a:ext cx="361872" cy="2737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7219" y="1074419"/>
              <a:ext cx="1615440" cy="7894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68424" y="1074419"/>
              <a:ext cx="1395984" cy="7894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01695" y="1074419"/>
              <a:ext cx="786383" cy="78943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23843" y="1074419"/>
              <a:ext cx="2029968" cy="78943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89575" y="1074419"/>
              <a:ext cx="1783079" cy="78943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08419" y="1074419"/>
              <a:ext cx="845820" cy="78943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90003" y="1074419"/>
              <a:ext cx="1458468" cy="78943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984236" y="1074419"/>
              <a:ext cx="705612" cy="78943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5260" y="1501139"/>
              <a:ext cx="1694688" cy="7894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6860" y="1501139"/>
              <a:ext cx="745235" cy="78943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969008" y="1501139"/>
              <a:ext cx="1615440" cy="78943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61360" y="1501139"/>
              <a:ext cx="1458467" cy="78943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96739" y="1501139"/>
              <a:ext cx="1022603" cy="78943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096256" y="1501139"/>
              <a:ext cx="1200912" cy="78943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974080" y="1501139"/>
              <a:ext cx="707135" cy="78943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358127" y="1501139"/>
              <a:ext cx="1732787" cy="78943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767828" y="1501139"/>
              <a:ext cx="922020" cy="78943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5260" y="1927859"/>
              <a:ext cx="1516380" cy="78943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60932" y="1927859"/>
              <a:ext cx="1100328" cy="78943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130552" y="1927859"/>
              <a:ext cx="1597152" cy="78943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258311" y="1927859"/>
              <a:ext cx="557784" cy="78943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485388" y="1927859"/>
              <a:ext cx="905256" cy="78943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059936" y="1927859"/>
              <a:ext cx="1458467" cy="78943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187695" y="1927859"/>
              <a:ext cx="1642872" cy="78943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99860" y="1927859"/>
              <a:ext cx="786384" cy="78943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955536" y="1927859"/>
              <a:ext cx="1120140" cy="78943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744967" y="1927859"/>
              <a:ext cx="944879" cy="78943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75260" y="2354580"/>
              <a:ext cx="1505712" cy="78943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376171" y="2354580"/>
              <a:ext cx="1615440" cy="78943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686811" y="2354580"/>
              <a:ext cx="1458467" cy="78943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840480" y="2354580"/>
              <a:ext cx="746760" cy="78943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282439" y="2354580"/>
              <a:ext cx="1139952" cy="78943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953000" y="2354580"/>
              <a:ext cx="557784" cy="78943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205983" y="2354580"/>
              <a:ext cx="804672" cy="78943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705856" y="2354580"/>
              <a:ext cx="1161288" cy="78943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562344" y="2354580"/>
              <a:ext cx="1783079" cy="78943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040624" y="2354580"/>
              <a:ext cx="649224" cy="78943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75260" y="2781299"/>
              <a:ext cx="1458468" cy="78943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277112" y="2781299"/>
              <a:ext cx="1042415" cy="78943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962911" y="2781299"/>
              <a:ext cx="984503" cy="78943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590799" y="2781299"/>
              <a:ext cx="1100327" cy="78943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334511" y="2781299"/>
              <a:ext cx="746760" cy="789432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724656" y="2781299"/>
              <a:ext cx="1141476" cy="789432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507992" y="2781299"/>
              <a:ext cx="1101852" cy="78943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253227" y="2781299"/>
              <a:ext cx="647700" cy="78943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544312" y="2781299"/>
              <a:ext cx="1947672" cy="78943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7135367" y="2781299"/>
              <a:ext cx="1554479" cy="789432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75260" y="3208019"/>
              <a:ext cx="804672" cy="789431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98932" y="3208019"/>
              <a:ext cx="923544" cy="789431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141476" y="3208019"/>
              <a:ext cx="1674876" cy="789431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435352" y="3208019"/>
              <a:ext cx="746760" cy="789431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2801111" y="3208019"/>
              <a:ext cx="1257300" cy="789431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677412" y="3208019"/>
              <a:ext cx="647700" cy="789431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944112" y="3208019"/>
              <a:ext cx="1673352" cy="789431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236463" y="3208019"/>
              <a:ext cx="845819" cy="789431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701283" y="3208019"/>
              <a:ext cx="1655064" cy="789431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75348" y="3208019"/>
              <a:ext cx="786383" cy="789431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380731" y="3208019"/>
              <a:ext cx="944879" cy="789431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944612" y="3208019"/>
              <a:ext cx="745235" cy="789431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75260" y="3634740"/>
              <a:ext cx="1141476" cy="789432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47343" y="3634740"/>
              <a:ext cx="557784" cy="789432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04216" y="4197096"/>
              <a:ext cx="5116068" cy="789432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417576" y="4686299"/>
              <a:ext cx="4689348" cy="76200"/>
            </a:xfrm>
            <a:prstGeom prst="rect">
              <a:avLst/>
            </a:prstGeom>
          </p:spPr>
        </p:pic>
      </p:grpSp>
      <p:sp>
        <p:nvSpPr>
          <p:cNvPr id="74" name="object 74"/>
          <p:cNvSpPr txBox="1"/>
          <p:nvPr/>
        </p:nvSpPr>
        <p:spPr>
          <a:xfrm>
            <a:off x="383540" y="1165605"/>
            <a:ext cx="8074025" cy="5090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latin typeface="Times New Roman"/>
                <a:cs typeface="Times New Roman"/>
              </a:rPr>
              <a:t>In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random access </a:t>
            </a:r>
            <a:r>
              <a:rPr sz="2800" b="1" i="1" dirty="0">
                <a:latin typeface="Times New Roman"/>
                <a:cs typeface="Times New Roman"/>
              </a:rPr>
              <a:t>or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contention </a:t>
            </a:r>
            <a:r>
              <a:rPr sz="2800" b="1" i="1" spc="-5" dirty="0">
                <a:latin typeface="Times New Roman"/>
                <a:cs typeface="Times New Roman"/>
              </a:rPr>
              <a:t>methods, </a:t>
            </a:r>
            <a:r>
              <a:rPr sz="2800" b="1" i="1" dirty="0">
                <a:latin typeface="Times New Roman"/>
                <a:cs typeface="Times New Roman"/>
              </a:rPr>
              <a:t>no </a:t>
            </a:r>
            <a:r>
              <a:rPr sz="2800" b="1" i="1" spc="-5" dirty="0">
                <a:latin typeface="Times New Roman"/>
                <a:cs typeface="Times New Roman"/>
              </a:rPr>
              <a:t>station is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superior </a:t>
            </a:r>
            <a:r>
              <a:rPr sz="2800" b="1" i="1" spc="-10" dirty="0">
                <a:latin typeface="Times New Roman"/>
                <a:cs typeface="Times New Roman"/>
              </a:rPr>
              <a:t>to </a:t>
            </a:r>
            <a:r>
              <a:rPr sz="2800" b="1" i="1" spc="-5" dirty="0">
                <a:latin typeface="Times New Roman"/>
                <a:cs typeface="Times New Roman"/>
              </a:rPr>
              <a:t>another station and </a:t>
            </a:r>
            <a:r>
              <a:rPr sz="2800" b="1" i="1" dirty="0">
                <a:latin typeface="Times New Roman"/>
                <a:cs typeface="Times New Roman"/>
              </a:rPr>
              <a:t>none </a:t>
            </a:r>
            <a:r>
              <a:rPr sz="2800" b="1" i="1" spc="-5" dirty="0">
                <a:latin typeface="Times New Roman"/>
                <a:cs typeface="Times New Roman"/>
              </a:rPr>
              <a:t>is assigned 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control over </a:t>
            </a:r>
            <a:r>
              <a:rPr sz="2800" b="1" i="1" spc="-20" dirty="0">
                <a:latin typeface="Times New Roman"/>
                <a:cs typeface="Times New Roman"/>
              </a:rPr>
              <a:t>another. </a:t>
            </a:r>
            <a:r>
              <a:rPr sz="2800" b="1" i="1" spc="-10" dirty="0">
                <a:latin typeface="Times New Roman"/>
                <a:cs typeface="Times New Roman"/>
              </a:rPr>
              <a:t>No </a:t>
            </a:r>
            <a:r>
              <a:rPr sz="2800" b="1" i="1" spc="-5" dirty="0">
                <a:latin typeface="Times New Roman"/>
                <a:cs typeface="Times New Roman"/>
              </a:rPr>
              <a:t>station permits, </a:t>
            </a:r>
            <a:r>
              <a:rPr sz="2800" b="1" i="1" dirty="0">
                <a:latin typeface="Times New Roman"/>
                <a:cs typeface="Times New Roman"/>
              </a:rPr>
              <a:t>or </a:t>
            </a:r>
            <a:r>
              <a:rPr sz="2800" b="1" i="1" spc="-5" dirty="0">
                <a:latin typeface="Times New Roman"/>
                <a:cs typeface="Times New Roman"/>
              </a:rPr>
              <a:t>does </a:t>
            </a:r>
            <a:r>
              <a:rPr sz="2800" b="1" i="1" dirty="0">
                <a:latin typeface="Times New Roman"/>
                <a:cs typeface="Times New Roman"/>
              </a:rPr>
              <a:t>not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permit, another station to send. </a:t>
            </a:r>
            <a:r>
              <a:rPr sz="2800" b="1" i="1" spc="-10" dirty="0">
                <a:latin typeface="Times New Roman"/>
                <a:cs typeface="Times New Roman"/>
              </a:rPr>
              <a:t>At </a:t>
            </a:r>
            <a:r>
              <a:rPr sz="2800" b="1" i="1" dirty="0">
                <a:latin typeface="Times New Roman"/>
                <a:cs typeface="Times New Roman"/>
              </a:rPr>
              <a:t>each </a:t>
            </a:r>
            <a:r>
              <a:rPr sz="2800" b="1" i="1" spc="-5" dirty="0">
                <a:latin typeface="Times New Roman"/>
                <a:cs typeface="Times New Roman"/>
              </a:rPr>
              <a:t>instance, a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station that </a:t>
            </a:r>
            <a:r>
              <a:rPr sz="2800" b="1" i="1" dirty="0">
                <a:latin typeface="Times New Roman"/>
                <a:cs typeface="Times New Roman"/>
              </a:rPr>
              <a:t>has </a:t>
            </a:r>
            <a:r>
              <a:rPr sz="2800" b="1" i="1" spc="-5" dirty="0">
                <a:latin typeface="Times New Roman"/>
                <a:cs typeface="Times New Roman"/>
              </a:rPr>
              <a:t>data to send uses a procedure defined </a:t>
            </a:r>
            <a:r>
              <a:rPr sz="2800" b="1" i="1" dirty="0">
                <a:latin typeface="Times New Roman"/>
                <a:cs typeface="Times New Roman"/>
              </a:rPr>
              <a:t> by </a:t>
            </a:r>
            <a:r>
              <a:rPr sz="2800" b="1" i="1" spc="-5" dirty="0">
                <a:latin typeface="Times New Roman"/>
                <a:cs typeface="Times New Roman"/>
              </a:rPr>
              <a:t>the protocol to make a decision </a:t>
            </a:r>
            <a:r>
              <a:rPr sz="2800" b="1" i="1" dirty="0">
                <a:latin typeface="Times New Roman"/>
                <a:cs typeface="Times New Roman"/>
              </a:rPr>
              <a:t>on </a:t>
            </a:r>
            <a:r>
              <a:rPr sz="2800" b="1" i="1" spc="-5" dirty="0">
                <a:latin typeface="Times New Roman"/>
                <a:cs typeface="Times New Roman"/>
              </a:rPr>
              <a:t>whether </a:t>
            </a:r>
            <a:r>
              <a:rPr sz="2800" b="1" i="1" dirty="0">
                <a:latin typeface="Times New Roman"/>
                <a:cs typeface="Times New Roman"/>
              </a:rPr>
              <a:t>or not </a:t>
            </a:r>
            <a:r>
              <a:rPr sz="2800" b="1" i="1" spc="-5" dirty="0">
                <a:latin typeface="Times New Roman"/>
                <a:cs typeface="Times New Roman"/>
              </a:rPr>
              <a:t>to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send.</a:t>
            </a:r>
            <a:endParaRPr sz="2800">
              <a:latin typeface="Times New Roman"/>
              <a:cs typeface="Times New Roman"/>
            </a:endParaRPr>
          </a:p>
          <a:p>
            <a:pPr marL="41275" algn="just">
              <a:lnSpc>
                <a:spcPct val="100000"/>
              </a:lnSpc>
              <a:spcBef>
                <a:spcPts val="1075"/>
              </a:spcBef>
            </a:pPr>
            <a:r>
              <a:rPr sz="28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ALOHA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Carrier</a:t>
            </a:r>
            <a:r>
              <a:rPr sz="2400" b="1" spc="-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Sense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 Mu</a:t>
            </a:r>
            <a:r>
              <a:rPr sz="2400" b="1" spc="5" dirty="0">
                <a:solidFill>
                  <a:srgbClr val="0033CC"/>
                </a:solidFill>
                <a:latin typeface="Times New Roman"/>
                <a:cs typeface="Times New Roman"/>
              </a:rPr>
              <a:t>l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t</a:t>
            </a:r>
            <a:r>
              <a:rPr sz="2400" b="1" spc="5" dirty="0">
                <a:solidFill>
                  <a:srgbClr val="0033CC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ple</a:t>
            </a:r>
            <a:r>
              <a:rPr sz="2400" b="1" spc="-16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Access</a:t>
            </a:r>
            <a:endParaRPr sz="2400">
              <a:latin typeface="Times New Roman"/>
              <a:cs typeface="Times New Roman"/>
            </a:endParaRPr>
          </a:p>
          <a:p>
            <a:pPr marL="12700" marR="857250">
              <a:lnSpc>
                <a:spcPct val="100000"/>
              </a:lnSpc>
            </a:pP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Carrier Sense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Multiple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Access with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Collision Detection </a:t>
            </a:r>
            <a:r>
              <a:rPr sz="2400" b="1" spc="-5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Carrier</a:t>
            </a:r>
            <a:r>
              <a:rPr sz="2400" b="1" spc="-5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Sense</a:t>
            </a:r>
            <a:r>
              <a:rPr sz="2400" b="1" spc="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Multiple</a:t>
            </a:r>
            <a:r>
              <a:rPr sz="2400" b="1" spc="-1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Access</a:t>
            </a:r>
            <a:r>
              <a:rPr sz="2400" b="1" spc="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with</a:t>
            </a:r>
            <a:r>
              <a:rPr sz="2400" b="1" spc="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Collision</a:t>
            </a:r>
            <a:r>
              <a:rPr sz="2400" b="1" spc="-15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33CC"/>
                </a:solidFill>
                <a:latin typeface="Times New Roman"/>
                <a:cs typeface="Times New Roman"/>
              </a:rPr>
              <a:t>Avoidance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8739" y="6512516"/>
            <a:ext cx="54610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b="1" dirty="0">
                <a:solidFill>
                  <a:srgbClr val="1C1C1C"/>
                </a:solidFill>
                <a:latin typeface="Arial"/>
                <a:cs typeface="Arial"/>
              </a:rPr>
              <a:t>12.</a:t>
            </a:r>
            <a:fld id="{81D60167-4931-47E6-BA6A-407CBD079E47}" type="slidenum">
              <a:rPr sz="2000" b="1" dirty="0">
                <a:solidFill>
                  <a:srgbClr val="1C1C1C"/>
                </a:solidFill>
                <a:latin typeface="Arial"/>
                <a:cs typeface="Arial"/>
              </a:rPr>
              <a:t>5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403301"/>
            <a:ext cx="52838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1314" algn="l"/>
              </a:tabLst>
            </a:pP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Figure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12.3	</a:t>
            </a:r>
            <a:r>
              <a:rPr sz="2000" i="1" dirty="0">
                <a:latin typeface="Times New Roman"/>
                <a:cs typeface="Times New Roman"/>
              </a:rPr>
              <a:t>Frames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pure</a:t>
            </a:r>
            <a:r>
              <a:rPr sz="2000" i="1" spc="-10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ALOHA</a:t>
            </a:r>
            <a:r>
              <a:rPr sz="2000" i="1" spc="-1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476" y="1600200"/>
            <a:ext cx="8603921" cy="40122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739" y="6512516"/>
            <a:ext cx="54610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b="1" dirty="0">
                <a:solidFill>
                  <a:srgbClr val="1C1C1C"/>
                </a:solidFill>
                <a:latin typeface="Arial"/>
                <a:cs typeface="Arial"/>
              </a:rPr>
              <a:t>12.</a:t>
            </a:r>
            <a:fld id="{81D60167-4931-47E6-BA6A-407CBD079E47}" type="slidenum">
              <a:rPr sz="2000" b="1" dirty="0">
                <a:solidFill>
                  <a:srgbClr val="1C1C1C"/>
                </a:solidFill>
                <a:latin typeface="Arial"/>
                <a:cs typeface="Arial"/>
              </a:rPr>
              <a:t>6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403301"/>
            <a:ext cx="54883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1314" algn="l"/>
              </a:tabLst>
            </a:pP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Figure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12.4	</a:t>
            </a:r>
            <a:r>
              <a:rPr sz="2000" i="1" dirty="0">
                <a:latin typeface="Times New Roman"/>
                <a:cs typeface="Times New Roman"/>
              </a:rPr>
              <a:t>Procedure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for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pure</a:t>
            </a:r>
            <a:r>
              <a:rPr sz="2000" i="1" spc="-10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ALOHA</a:t>
            </a:r>
            <a:r>
              <a:rPr sz="2000" i="1" spc="-1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protocol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436" y="1224494"/>
            <a:ext cx="6061001" cy="471910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739" y="6512516"/>
            <a:ext cx="54610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b="1" dirty="0">
                <a:solidFill>
                  <a:srgbClr val="1C1C1C"/>
                </a:solidFill>
                <a:latin typeface="Arial"/>
                <a:cs typeface="Arial"/>
              </a:rPr>
              <a:t>12.</a:t>
            </a:r>
            <a:fld id="{81D60167-4931-47E6-BA6A-407CBD079E47}" type="slidenum">
              <a:rPr sz="2000" b="1" dirty="0">
                <a:solidFill>
                  <a:srgbClr val="1C1C1C"/>
                </a:solidFill>
                <a:latin typeface="Arial"/>
                <a:cs typeface="Arial"/>
              </a:rPr>
              <a:t>7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63"/>
            <a:ext cx="8593455" cy="1052830"/>
            <a:chOff x="76200" y="63"/>
            <a:chExt cx="8593455" cy="1052830"/>
          </a:xfrm>
        </p:grpSpPr>
        <p:sp>
          <p:nvSpPr>
            <p:cNvPr id="3" name="object 3"/>
            <p:cNvSpPr/>
            <p:nvPr/>
          </p:nvSpPr>
          <p:spPr>
            <a:xfrm>
              <a:off x="711200" y="63"/>
              <a:ext cx="31750" cy="1052830"/>
            </a:xfrm>
            <a:custGeom>
              <a:avLst/>
              <a:gdLst/>
              <a:ahLst/>
              <a:cxnLst/>
              <a:rect l="l" t="t" r="r" b="b"/>
              <a:pathLst>
                <a:path w="31750" h="1052830">
                  <a:moveTo>
                    <a:pt x="31750" y="565086"/>
                  </a:moveTo>
                  <a:lnTo>
                    <a:pt x="0" y="565086"/>
                  </a:lnTo>
                  <a:lnTo>
                    <a:pt x="0" y="1052512"/>
                  </a:lnTo>
                  <a:lnTo>
                    <a:pt x="31750" y="1052512"/>
                  </a:lnTo>
                  <a:lnTo>
                    <a:pt x="31750" y="565086"/>
                  </a:lnTo>
                  <a:close/>
                </a:path>
                <a:path w="31750" h="1052830">
                  <a:moveTo>
                    <a:pt x="31750" y="0"/>
                  </a:moveTo>
                  <a:lnTo>
                    <a:pt x="0" y="0"/>
                  </a:lnTo>
                  <a:lnTo>
                    <a:pt x="0" y="533336"/>
                  </a:lnTo>
                  <a:lnTo>
                    <a:pt x="31750" y="533336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912" y="533399"/>
              <a:ext cx="8226425" cy="3175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56540" y="1164081"/>
            <a:ext cx="8631555" cy="4719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 marR="55244" algn="just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stations</a:t>
            </a:r>
            <a:r>
              <a:rPr sz="2800" b="1" i="1" dirty="0">
                <a:latin typeface="Times New Roman"/>
                <a:cs typeface="Times New Roman"/>
              </a:rPr>
              <a:t> on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wireless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ALOHA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network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are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maximum</a:t>
            </a:r>
            <a:r>
              <a:rPr sz="2800" b="1" i="1" dirty="0">
                <a:latin typeface="Times New Roman"/>
                <a:cs typeface="Times New Roman"/>
              </a:rPr>
              <a:t> of 600 </a:t>
            </a:r>
            <a:r>
              <a:rPr sz="2800" b="1" i="1" spc="-5" dirty="0">
                <a:latin typeface="Times New Roman"/>
                <a:cs typeface="Times New Roman"/>
              </a:rPr>
              <a:t>km </a:t>
            </a:r>
            <a:r>
              <a:rPr sz="2800" b="1" i="1" dirty="0">
                <a:latin typeface="Times New Roman"/>
                <a:cs typeface="Times New Roman"/>
              </a:rPr>
              <a:t>apart. </a:t>
            </a:r>
            <a:r>
              <a:rPr sz="2800" b="1" i="1" spc="-5" dirty="0">
                <a:latin typeface="Times New Roman"/>
                <a:cs typeface="Times New Roman"/>
              </a:rPr>
              <a:t>If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 assume </a:t>
            </a:r>
            <a:r>
              <a:rPr sz="2800" b="1" i="1" dirty="0">
                <a:latin typeface="Times New Roman"/>
                <a:cs typeface="Times New Roman"/>
              </a:rPr>
              <a:t>that </a:t>
            </a:r>
            <a:r>
              <a:rPr sz="2800" b="1" i="1" spc="-5" dirty="0">
                <a:latin typeface="Times New Roman"/>
                <a:cs typeface="Times New Roman"/>
              </a:rPr>
              <a:t>signals </a:t>
            </a:r>
            <a:r>
              <a:rPr sz="2800" b="1" i="1" dirty="0">
                <a:latin typeface="Times New Roman"/>
                <a:cs typeface="Times New Roman"/>
              </a:rPr>
              <a:t> propagate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3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×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10</a:t>
            </a:r>
            <a:r>
              <a:rPr sz="2775" b="1" i="1" baseline="16516" dirty="0">
                <a:latin typeface="Times New Roman"/>
                <a:cs typeface="Times New Roman"/>
              </a:rPr>
              <a:t>8</a:t>
            </a:r>
            <a:r>
              <a:rPr sz="2775" b="1" i="1" spc="337" baseline="16516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m/s,  </a:t>
            </a:r>
            <a:r>
              <a:rPr sz="2800" b="1" i="1" spc="-10" dirty="0">
                <a:latin typeface="Times New Roman"/>
                <a:cs typeface="Times New Roman"/>
              </a:rPr>
              <a:t>we</a:t>
            </a:r>
            <a:r>
              <a:rPr sz="2800" b="1" i="1" dirty="0">
                <a:latin typeface="Times New Roman"/>
                <a:cs typeface="Times New Roman"/>
              </a:rPr>
              <a:t> find</a:t>
            </a:r>
            <a:endParaRPr sz="2800">
              <a:latin typeface="Times New Roman"/>
              <a:cs typeface="Times New Roman"/>
            </a:endParaRPr>
          </a:p>
          <a:p>
            <a:pPr marL="2286000" algn="just">
              <a:lnSpc>
                <a:spcPct val="100000"/>
              </a:lnSpc>
              <a:spcBef>
                <a:spcPts val="5"/>
              </a:spcBef>
            </a:pPr>
            <a:r>
              <a:rPr sz="2800" b="1" i="1" dirty="0">
                <a:solidFill>
                  <a:srgbClr val="3333CC"/>
                </a:solidFill>
                <a:latin typeface="Times New Roman"/>
                <a:cs typeface="Times New Roman"/>
              </a:rPr>
              <a:t>T</a:t>
            </a:r>
            <a:r>
              <a:rPr sz="2775" b="1" i="1" baseline="-7507" dirty="0">
                <a:solidFill>
                  <a:srgbClr val="3333CC"/>
                </a:solidFill>
                <a:latin typeface="Times New Roman"/>
                <a:cs typeface="Times New Roman"/>
              </a:rPr>
              <a:t>p</a:t>
            </a:r>
            <a:r>
              <a:rPr sz="2775" b="1" i="1" spc="15" baseline="-7507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=</a:t>
            </a:r>
            <a:r>
              <a:rPr sz="2800" b="1" i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3333CC"/>
                </a:solidFill>
                <a:latin typeface="Times New Roman"/>
                <a:cs typeface="Times New Roman"/>
              </a:rPr>
              <a:t>(600 </a:t>
            </a:r>
            <a:r>
              <a:rPr sz="2800" b="1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×</a:t>
            </a:r>
            <a:r>
              <a:rPr sz="2800" b="1" i="1" spc="5" dirty="0">
                <a:solidFill>
                  <a:srgbClr val="3333CC"/>
                </a:solidFill>
                <a:latin typeface="Times New Roman"/>
                <a:cs typeface="Times New Roman"/>
              </a:rPr>
              <a:t> 10</a:t>
            </a:r>
            <a:r>
              <a:rPr sz="2775" b="1" i="1" spc="7" baseline="25525" dirty="0">
                <a:solidFill>
                  <a:srgbClr val="3333CC"/>
                </a:solidFill>
                <a:latin typeface="Times New Roman"/>
                <a:cs typeface="Times New Roman"/>
              </a:rPr>
              <a:t>5</a:t>
            </a:r>
            <a:r>
              <a:rPr sz="2775" b="1" i="1" spc="322" baseline="255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)</a:t>
            </a:r>
            <a:r>
              <a:rPr sz="2800" b="1" i="1" spc="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/</a:t>
            </a:r>
            <a:r>
              <a:rPr sz="2800" b="1" i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(3 × </a:t>
            </a:r>
            <a:r>
              <a:rPr sz="2800" b="1" i="1" spc="5" dirty="0">
                <a:solidFill>
                  <a:srgbClr val="3333CC"/>
                </a:solidFill>
                <a:latin typeface="Times New Roman"/>
                <a:cs typeface="Times New Roman"/>
              </a:rPr>
              <a:t>10</a:t>
            </a:r>
            <a:r>
              <a:rPr sz="2775" b="1" i="1" spc="7" baseline="25525" dirty="0">
                <a:solidFill>
                  <a:srgbClr val="3333CC"/>
                </a:solidFill>
                <a:latin typeface="Times New Roman"/>
                <a:cs typeface="Times New Roman"/>
              </a:rPr>
              <a:t>8</a:t>
            </a:r>
            <a:r>
              <a:rPr sz="2775" b="1" i="1" spc="345" baseline="255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)</a:t>
            </a:r>
            <a:r>
              <a:rPr sz="2800" b="1" i="1" spc="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= 2 ms.</a:t>
            </a:r>
            <a:endParaRPr sz="2800">
              <a:latin typeface="Times New Roman"/>
              <a:cs typeface="Times New Roman"/>
            </a:endParaRPr>
          </a:p>
          <a:p>
            <a:pPr marL="63500" marR="5588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Now</a:t>
            </a:r>
            <a:r>
              <a:rPr sz="2800" b="1" i="1" spc="3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spc="35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can</a:t>
            </a:r>
            <a:r>
              <a:rPr sz="2800" b="1" i="1" spc="36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find</a:t>
            </a:r>
            <a:r>
              <a:rPr sz="2800" b="1" i="1" spc="3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3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value</a:t>
            </a:r>
            <a:r>
              <a:rPr sz="2800" b="1" i="1" spc="35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36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</a:t>
            </a:r>
            <a:r>
              <a:rPr sz="2775" b="1" i="1" baseline="-9009" dirty="0">
                <a:latin typeface="Times New Roman"/>
                <a:cs typeface="Times New Roman"/>
              </a:rPr>
              <a:t>B</a:t>
            </a:r>
            <a:r>
              <a:rPr sz="2775" b="1" i="1" spc="202" baseline="-900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for</a:t>
            </a:r>
            <a:r>
              <a:rPr sz="2800" b="1" i="1" spc="365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different</a:t>
            </a:r>
            <a:r>
              <a:rPr sz="2800" b="1" i="1" spc="3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values</a:t>
            </a:r>
            <a:r>
              <a:rPr sz="2800" b="1" i="1" spc="36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K 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506730" marR="55880" indent="-443865" algn="just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b="1" i="1" dirty="0">
                <a:latin typeface="Times New Roman"/>
                <a:cs typeface="Times New Roman"/>
              </a:rPr>
              <a:t>. </a:t>
            </a:r>
            <a:r>
              <a:rPr sz="2800" b="1" i="1" spc="-5" dirty="0">
                <a:latin typeface="Times New Roman"/>
                <a:cs typeface="Times New Roman"/>
              </a:rPr>
              <a:t>For K = </a:t>
            </a:r>
            <a:r>
              <a:rPr sz="2800" b="1" i="1" dirty="0">
                <a:latin typeface="Times New Roman"/>
                <a:cs typeface="Times New Roman"/>
              </a:rPr>
              <a:t>1, </a:t>
            </a:r>
            <a:r>
              <a:rPr sz="2800" b="1" i="1" spc="-5" dirty="0">
                <a:latin typeface="Times New Roman"/>
                <a:cs typeface="Times New Roman"/>
              </a:rPr>
              <a:t>the range is {0, 1}.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station needs </a:t>
            </a:r>
            <a:r>
              <a:rPr sz="2800" b="1" i="1" dirty="0">
                <a:latin typeface="Times New Roman"/>
                <a:cs typeface="Times New Roman"/>
              </a:rPr>
              <a:t>to|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generate a random </a:t>
            </a:r>
            <a:r>
              <a:rPr sz="2800" b="1" i="1" dirty="0">
                <a:latin typeface="Times New Roman"/>
                <a:cs typeface="Times New Roman"/>
              </a:rPr>
              <a:t>number </a:t>
            </a:r>
            <a:r>
              <a:rPr sz="2800" b="1" i="1" spc="-5" dirty="0">
                <a:latin typeface="Times New Roman"/>
                <a:cs typeface="Times New Roman"/>
              </a:rPr>
              <a:t>with a </a:t>
            </a:r>
            <a:r>
              <a:rPr sz="2800" b="1" i="1" dirty="0">
                <a:latin typeface="Times New Roman"/>
                <a:cs typeface="Times New Roman"/>
              </a:rPr>
              <a:t>value of </a:t>
            </a:r>
            <a:r>
              <a:rPr sz="2800" b="1" i="1" spc="-5" dirty="0">
                <a:latin typeface="Times New Roman"/>
                <a:cs typeface="Times New Roman"/>
              </a:rPr>
              <a:t>0 </a:t>
            </a:r>
            <a:r>
              <a:rPr sz="2800" b="1" i="1" dirty="0">
                <a:latin typeface="Times New Roman"/>
                <a:cs typeface="Times New Roman"/>
              </a:rPr>
              <a:t>or 1. This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means </a:t>
            </a:r>
            <a:r>
              <a:rPr sz="2800" b="1" i="1" dirty="0">
                <a:latin typeface="Times New Roman"/>
                <a:cs typeface="Times New Roman"/>
              </a:rPr>
              <a:t>that T</a:t>
            </a:r>
            <a:r>
              <a:rPr sz="2775" b="1" i="1" baseline="-9009" dirty="0">
                <a:latin typeface="Times New Roman"/>
                <a:cs typeface="Times New Roman"/>
              </a:rPr>
              <a:t>B</a:t>
            </a:r>
            <a:r>
              <a:rPr sz="2775" b="1" i="1" spc="7" baseline="-900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 either 0 ms (0 × </a:t>
            </a:r>
            <a:r>
              <a:rPr sz="2800" b="1" i="1" spc="5" dirty="0">
                <a:latin typeface="Times New Roman"/>
                <a:cs typeface="Times New Roman"/>
              </a:rPr>
              <a:t>2) </a:t>
            </a:r>
            <a:r>
              <a:rPr sz="2800" b="1" i="1" spc="-5" dirty="0">
                <a:latin typeface="Times New Roman"/>
                <a:cs typeface="Times New Roman"/>
              </a:rPr>
              <a:t>or 2 ms (1 × 2),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based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on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outcome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random </a:t>
            </a:r>
            <a:r>
              <a:rPr sz="2800" b="1" i="1" dirty="0">
                <a:latin typeface="Times New Roman"/>
                <a:cs typeface="Times New Roman"/>
              </a:rPr>
              <a:t>variable.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6512516"/>
            <a:ext cx="54610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b="1" dirty="0">
                <a:solidFill>
                  <a:srgbClr val="1C1C1C"/>
                </a:solidFill>
                <a:latin typeface="Arial"/>
                <a:cs typeface="Arial"/>
              </a:rPr>
              <a:t>12.</a:t>
            </a:r>
            <a:fld id="{81D60167-4931-47E6-BA6A-407CBD079E47}" type="slidenum">
              <a:rPr sz="2000" b="1" dirty="0">
                <a:solidFill>
                  <a:srgbClr val="1C1C1C"/>
                </a:solidFill>
                <a:latin typeface="Arial"/>
                <a:cs typeface="Arial"/>
              </a:rPr>
              <a:t>8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2044" y="19303"/>
            <a:ext cx="23310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sz="3200" i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12.1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63"/>
            <a:ext cx="8593455" cy="1052830"/>
            <a:chOff x="76200" y="63"/>
            <a:chExt cx="8593455" cy="1052830"/>
          </a:xfrm>
        </p:grpSpPr>
        <p:sp>
          <p:nvSpPr>
            <p:cNvPr id="3" name="object 3"/>
            <p:cNvSpPr/>
            <p:nvPr/>
          </p:nvSpPr>
          <p:spPr>
            <a:xfrm>
              <a:off x="711200" y="63"/>
              <a:ext cx="31750" cy="1052830"/>
            </a:xfrm>
            <a:custGeom>
              <a:avLst/>
              <a:gdLst/>
              <a:ahLst/>
              <a:cxnLst/>
              <a:rect l="l" t="t" r="r" b="b"/>
              <a:pathLst>
                <a:path w="31750" h="1052830">
                  <a:moveTo>
                    <a:pt x="31750" y="565086"/>
                  </a:moveTo>
                  <a:lnTo>
                    <a:pt x="0" y="565086"/>
                  </a:lnTo>
                  <a:lnTo>
                    <a:pt x="0" y="1052512"/>
                  </a:lnTo>
                  <a:lnTo>
                    <a:pt x="31750" y="1052512"/>
                  </a:lnTo>
                  <a:lnTo>
                    <a:pt x="31750" y="565086"/>
                  </a:lnTo>
                  <a:close/>
                </a:path>
                <a:path w="31750" h="1052830">
                  <a:moveTo>
                    <a:pt x="31750" y="0"/>
                  </a:moveTo>
                  <a:lnTo>
                    <a:pt x="0" y="0"/>
                  </a:lnTo>
                  <a:lnTo>
                    <a:pt x="0" y="533336"/>
                  </a:lnTo>
                  <a:lnTo>
                    <a:pt x="31750" y="533336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912" y="533399"/>
              <a:ext cx="8226425" cy="3175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6559" marR="55880" indent="-353695" algn="just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F0000"/>
                </a:solidFill>
              </a:rPr>
              <a:t>b. </a:t>
            </a:r>
            <a:r>
              <a:rPr spc="-5" dirty="0"/>
              <a:t>For K = </a:t>
            </a:r>
            <a:r>
              <a:rPr dirty="0"/>
              <a:t>2, </a:t>
            </a:r>
            <a:r>
              <a:rPr spc="-5" dirty="0"/>
              <a:t>the range is {0, </a:t>
            </a:r>
            <a:r>
              <a:rPr dirty="0"/>
              <a:t>1, 2, 3}. This </a:t>
            </a:r>
            <a:r>
              <a:rPr spc="-5" dirty="0"/>
              <a:t>means </a:t>
            </a:r>
            <a:r>
              <a:rPr dirty="0"/>
              <a:t>that </a:t>
            </a:r>
            <a:r>
              <a:rPr spc="5" dirty="0"/>
              <a:t>T</a:t>
            </a:r>
            <a:r>
              <a:rPr sz="2775" spc="7" baseline="-9009" dirty="0"/>
              <a:t>B </a:t>
            </a:r>
            <a:r>
              <a:rPr sz="2775" spc="15" baseline="-9009" dirty="0"/>
              <a:t> </a:t>
            </a:r>
            <a:r>
              <a:rPr sz="2800" spc="-5" dirty="0"/>
              <a:t>can </a:t>
            </a:r>
            <a:r>
              <a:rPr sz="2800" dirty="0"/>
              <a:t>be 0, 2, 4, or </a:t>
            </a:r>
            <a:r>
              <a:rPr sz="2800" spc="-5" dirty="0"/>
              <a:t>6 ms, </a:t>
            </a:r>
            <a:r>
              <a:rPr sz="2800" dirty="0"/>
              <a:t>based on </a:t>
            </a:r>
            <a:r>
              <a:rPr sz="2800" spc="-5" dirty="0"/>
              <a:t>the outcome </a:t>
            </a:r>
            <a:r>
              <a:rPr sz="2800" dirty="0"/>
              <a:t>of </a:t>
            </a:r>
            <a:r>
              <a:rPr sz="2800" spc="-5" dirty="0"/>
              <a:t>the </a:t>
            </a:r>
            <a:r>
              <a:rPr sz="2800" dirty="0"/>
              <a:t> random</a:t>
            </a:r>
            <a:r>
              <a:rPr sz="2800" spc="-20" dirty="0"/>
              <a:t> </a:t>
            </a:r>
            <a:r>
              <a:rPr sz="2800" dirty="0"/>
              <a:t>variable.</a:t>
            </a:r>
            <a:endParaRPr sz="280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/>
          </a:p>
          <a:p>
            <a:pPr marL="506730" marR="55880" indent="-443865" algn="just">
              <a:lnSpc>
                <a:spcPct val="100000"/>
              </a:lnSpc>
              <a:spcBef>
                <a:spcPts val="5"/>
              </a:spcBef>
            </a:pPr>
            <a:r>
              <a:rPr spc="-5" dirty="0">
                <a:solidFill>
                  <a:srgbClr val="FF0000"/>
                </a:solidFill>
              </a:rPr>
              <a:t>c.</a:t>
            </a:r>
            <a:r>
              <a:rPr spc="480" dirty="0">
                <a:solidFill>
                  <a:srgbClr val="FF0000"/>
                </a:solidFill>
              </a:rPr>
              <a:t> </a:t>
            </a:r>
            <a:r>
              <a:rPr spc="-5" dirty="0"/>
              <a:t>For</a:t>
            </a:r>
            <a:r>
              <a:rPr spc="495" dirty="0"/>
              <a:t> </a:t>
            </a:r>
            <a:r>
              <a:rPr spc="-5" dirty="0"/>
              <a:t>K</a:t>
            </a:r>
            <a:r>
              <a:rPr spc="490" dirty="0"/>
              <a:t> </a:t>
            </a:r>
            <a:r>
              <a:rPr spc="-5" dirty="0"/>
              <a:t>=</a:t>
            </a:r>
            <a:r>
              <a:rPr spc="490" dirty="0"/>
              <a:t> </a:t>
            </a:r>
            <a:r>
              <a:rPr dirty="0"/>
              <a:t>3,</a:t>
            </a:r>
            <a:r>
              <a:rPr spc="484" dirty="0"/>
              <a:t> </a:t>
            </a:r>
            <a:r>
              <a:rPr spc="-5" dirty="0"/>
              <a:t>the</a:t>
            </a:r>
            <a:r>
              <a:rPr spc="484" dirty="0"/>
              <a:t> </a:t>
            </a:r>
            <a:r>
              <a:rPr dirty="0"/>
              <a:t>range</a:t>
            </a:r>
            <a:r>
              <a:rPr spc="495" dirty="0"/>
              <a:t> </a:t>
            </a:r>
            <a:r>
              <a:rPr spc="-5" dirty="0"/>
              <a:t>is</a:t>
            </a:r>
            <a:r>
              <a:rPr spc="490" dirty="0"/>
              <a:t> </a:t>
            </a:r>
            <a:r>
              <a:rPr spc="-5" dirty="0"/>
              <a:t>{0,</a:t>
            </a:r>
            <a:r>
              <a:rPr spc="480" dirty="0"/>
              <a:t> </a:t>
            </a:r>
            <a:r>
              <a:rPr dirty="0"/>
              <a:t>1,</a:t>
            </a:r>
            <a:r>
              <a:rPr spc="484" dirty="0"/>
              <a:t> </a:t>
            </a:r>
            <a:r>
              <a:rPr dirty="0"/>
              <a:t>2,</a:t>
            </a:r>
            <a:r>
              <a:rPr spc="500" dirty="0"/>
              <a:t> </a:t>
            </a:r>
            <a:r>
              <a:rPr dirty="0"/>
              <a:t>3,</a:t>
            </a:r>
            <a:r>
              <a:rPr spc="490" dirty="0"/>
              <a:t> </a:t>
            </a:r>
            <a:r>
              <a:rPr dirty="0"/>
              <a:t>4,</a:t>
            </a:r>
            <a:r>
              <a:rPr spc="484" dirty="0"/>
              <a:t> </a:t>
            </a:r>
            <a:r>
              <a:rPr dirty="0"/>
              <a:t>5,</a:t>
            </a:r>
            <a:r>
              <a:rPr spc="484" dirty="0"/>
              <a:t> </a:t>
            </a:r>
            <a:r>
              <a:rPr dirty="0"/>
              <a:t>6,</a:t>
            </a:r>
            <a:r>
              <a:rPr spc="480" dirty="0"/>
              <a:t> </a:t>
            </a:r>
            <a:r>
              <a:rPr dirty="0"/>
              <a:t>7}.</a:t>
            </a:r>
            <a:r>
              <a:rPr spc="484" dirty="0"/>
              <a:t> </a:t>
            </a:r>
            <a:r>
              <a:rPr dirty="0"/>
              <a:t>This </a:t>
            </a:r>
            <a:r>
              <a:rPr spc="-690" dirty="0"/>
              <a:t> </a:t>
            </a:r>
            <a:r>
              <a:rPr spc="-5" dirty="0"/>
              <a:t>means </a:t>
            </a:r>
            <a:r>
              <a:rPr dirty="0"/>
              <a:t>that T</a:t>
            </a:r>
            <a:r>
              <a:rPr sz="2775" baseline="-10510" dirty="0"/>
              <a:t>B </a:t>
            </a:r>
            <a:r>
              <a:rPr sz="2800" spc="-5" dirty="0"/>
              <a:t>can </a:t>
            </a:r>
            <a:r>
              <a:rPr sz="2800" dirty="0"/>
              <a:t>be 0, 2, 4, </a:t>
            </a:r>
            <a:r>
              <a:rPr sz="2800" spc="-5" dirty="0"/>
              <a:t>. . . , </a:t>
            </a:r>
            <a:r>
              <a:rPr sz="2800" dirty="0"/>
              <a:t>14 </a:t>
            </a:r>
            <a:r>
              <a:rPr sz="2800" spc="-5" dirty="0"/>
              <a:t>ms, based </a:t>
            </a:r>
            <a:r>
              <a:rPr sz="2800" dirty="0"/>
              <a:t>on </a:t>
            </a:r>
            <a:r>
              <a:rPr sz="2800" spc="-5" dirty="0"/>
              <a:t>the </a:t>
            </a:r>
            <a:r>
              <a:rPr sz="2800" dirty="0"/>
              <a:t> </a:t>
            </a:r>
            <a:r>
              <a:rPr sz="2800" spc="-5" dirty="0"/>
              <a:t>outcome</a:t>
            </a:r>
            <a:r>
              <a:rPr sz="2800" spc="-10" dirty="0"/>
              <a:t> </a:t>
            </a:r>
            <a:r>
              <a:rPr sz="2800" dirty="0"/>
              <a:t>of </a:t>
            </a:r>
            <a:r>
              <a:rPr sz="2800" spc="-5" dirty="0"/>
              <a:t>the random</a:t>
            </a:r>
            <a:r>
              <a:rPr sz="2800" spc="-10" dirty="0"/>
              <a:t> </a:t>
            </a:r>
            <a:r>
              <a:rPr sz="2800" dirty="0"/>
              <a:t>variable.</a:t>
            </a:r>
            <a:endParaRPr sz="280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/>
          </a:p>
          <a:p>
            <a:pPr marL="508000" marR="55880" indent="-445134" algn="just">
              <a:lnSpc>
                <a:spcPct val="100000"/>
              </a:lnSpc>
            </a:pPr>
            <a:r>
              <a:rPr dirty="0">
                <a:solidFill>
                  <a:srgbClr val="FF0000"/>
                </a:solidFill>
              </a:rPr>
              <a:t>d. </a:t>
            </a:r>
            <a:r>
              <a:rPr spc="-110" dirty="0"/>
              <a:t>We </a:t>
            </a:r>
            <a:r>
              <a:rPr spc="-5" dirty="0"/>
              <a:t>need to mention </a:t>
            </a:r>
            <a:r>
              <a:rPr dirty="0"/>
              <a:t>that </a:t>
            </a:r>
            <a:r>
              <a:rPr spc="-5" dirty="0"/>
              <a:t>if K &gt; </a:t>
            </a:r>
            <a:r>
              <a:rPr dirty="0"/>
              <a:t>10, </a:t>
            </a:r>
            <a:r>
              <a:rPr spc="-5" dirty="0"/>
              <a:t>it is normally set </a:t>
            </a:r>
            <a:r>
              <a:rPr spc="-15" dirty="0"/>
              <a:t>to </a:t>
            </a:r>
            <a:r>
              <a:rPr spc="-10" dirty="0"/>
              <a:t> </a:t>
            </a:r>
            <a:r>
              <a:rPr dirty="0"/>
              <a:t>10.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739" y="6512516"/>
            <a:ext cx="54610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b="1" dirty="0">
                <a:solidFill>
                  <a:srgbClr val="1C1C1C"/>
                </a:solidFill>
                <a:latin typeface="Arial"/>
                <a:cs typeface="Arial"/>
              </a:rPr>
              <a:t>12.</a:t>
            </a:r>
            <a:fld id="{81D60167-4931-47E6-BA6A-407CBD079E47}" type="slidenum">
              <a:rPr sz="2000" b="1" dirty="0">
                <a:solidFill>
                  <a:srgbClr val="1C1C1C"/>
                </a:solidFill>
                <a:latin typeface="Arial"/>
                <a:cs typeface="Arial"/>
              </a:rPr>
              <a:t>9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2044" y="19303"/>
            <a:ext cx="43738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sz="3200"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12.1</a:t>
            </a:r>
            <a:r>
              <a:rPr sz="3200"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403301"/>
            <a:ext cx="60718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1314" algn="l"/>
              </a:tabLst>
            </a:pP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Figure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12.5	</a:t>
            </a:r>
            <a:r>
              <a:rPr sz="2000" i="1" spc="-10" dirty="0">
                <a:latin typeface="Times New Roman"/>
                <a:cs typeface="Times New Roman"/>
              </a:rPr>
              <a:t>Vulnerable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time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for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pure</a:t>
            </a:r>
            <a:r>
              <a:rPr sz="2000" i="1" spc="-9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ALOHA</a:t>
            </a:r>
            <a:r>
              <a:rPr sz="2000" i="1" spc="-1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protocol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8062" y="1398017"/>
            <a:ext cx="6982082" cy="446938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739" y="6512516"/>
            <a:ext cx="546100" cy="310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b="1" dirty="0">
                <a:solidFill>
                  <a:srgbClr val="1C1C1C"/>
                </a:solidFill>
                <a:latin typeface="Arial"/>
                <a:cs typeface="Arial"/>
              </a:rPr>
              <a:t>12.</a:t>
            </a:r>
            <a:fld id="{81D60167-4931-47E6-BA6A-407CBD079E47}" type="slidenum">
              <a:rPr sz="2000" b="1" dirty="0">
                <a:solidFill>
                  <a:srgbClr val="1C1C1C"/>
                </a:solidFill>
                <a:latin typeface="Arial"/>
                <a:cs typeface="Arial"/>
              </a:rPr>
              <a:t>10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63"/>
            <a:ext cx="8593455" cy="1052830"/>
            <a:chOff x="76200" y="63"/>
            <a:chExt cx="8593455" cy="1052830"/>
          </a:xfrm>
        </p:grpSpPr>
        <p:sp>
          <p:nvSpPr>
            <p:cNvPr id="3" name="object 3"/>
            <p:cNvSpPr/>
            <p:nvPr/>
          </p:nvSpPr>
          <p:spPr>
            <a:xfrm>
              <a:off x="711200" y="63"/>
              <a:ext cx="31750" cy="1052830"/>
            </a:xfrm>
            <a:custGeom>
              <a:avLst/>
              <a:gdLst/>
              <a:ahLst/>
              <a:cxnLst/>
              <a:rect l="l" t="t" r="r" b="b"/>
              <a:pathLst>
                <a:path w="31750" h="1052830">
                  <a:moveTo>
                    <a:pt x="31750" y="565086"/>
                  </a:moveTo>
                  <a:lnTo>
                    <a:pt x="0" y="565086"/>
                  </a:lnTo>
                  <a:lnTo>
                    <a:pt x="0" y="1052512"/>
                  </a:lnTo>
                  <a:lnTo>
                    <a:pt x="31750" y="1052512"/>
                  </a:lnTo>
                  <a:lnTo>
                    <a:pt x="31750" y="565086"/>
                  </a:lnTo>
                  <a:close/>
                </a:path>
                <a:path w="31750" h="1052830">
                  <a:moveTo>
                    <a:pt x="31750" y="0"/>
                  </a:moveTo>
                  <a:lnTo>
                    <a:pt x="0" y="0"/>
                  </a:lnTo>
                  <a:lnTo>
                    <a:pt x="0" y="533336"/>
                  </a:lnTo>
                  <a:lnTo>
                    <a:pt x="31750" y="533336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912" y="533399"/>
              <a:ext cx="8226425" cy="3175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93039" y="1164081"/>
            <a:ext cx="8758555" cy="4262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0" marR="120014" algn="just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latin typeface="Times New Roman"/>
                <a:cs typeface="Times New Roman"/>
              </a:rPr>
              <a:t>A pure ALOHA network transmits 200-bit frames </a:t>
            </a:r>
            <a:r>
              <a:rPr sz="2800" b="1" i="1" dirty="0">
                <a:latin typeface="Times New Roman"/>
                <a:cs typeface="Times New Roman"/>
              </a:rPr>
              <a:t>on </a:t>
            </a:r>
            <a:r>
              <a:rPr sz="2800" b="1" i="1" spc="-5" dirty="0">
                <a:latin typeface="Times New Roman"/>
                <a:cs typeface="Times New Roman"/>
              </a:rPr>
              <a:t>a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shared channel </a:t>
            </a:r>
            <a:r>
              <a:rPr sz="2800" b="1" i="1" dirty="0">
                <a:latin typeface="Times New Roman"/>
                <a:cs typeface="Times New Roman"/>
              </a:rPr>
              <a:t>of 200 kbps. </a:t>
            </a:r>
            <a:r>
              <a:rPr sz="2800" b="1" i="1" spc="-5" dirty="0">
                <a:latin typeface="Times New Roman"/>
                <a:cs typeface="Times New Roman"/>
              </a:rPr>
              <a:t>What is </a:t>
            </a:r>
            <a:r>
              <a:rPr sz="2800" b="1" i="1" spc="-10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requirement to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make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 </a:t>
            </a:r>
            <a:r>
              <a:rPr sz="2800" b="1" i="1" dirty="0">
                <a:latin typeface="Times New Roman"/>
                <a:cs typeface="Times New Roman"/>
              </a:rPr>
              <a:t>frame collision-free?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50800" marR="43180" algn="just">
              <a:lnSpc>
                <a:spcPct val="100000"/>
              </a:lnSpc>
            </a:pPr>
            <a:r>
              <a:rPr sz="2800" b="1" i="1" spc="-35" dirty="0">
                <a:latin typeface="Times New Roman"/>
                <a:cs typeface="Times New Roman"/>
              </a:rPr>
              <a:t>Average </a:t>
            </a:r>
            <a:r>
              <a:rPr sz="2800" b="1" i="1" spc="-5" dirty="0">
                <a:latin typeface="Times New Roman"/>
                <a:cs typeface="Times New Roman"/>
              </a:rPr>
              <a:t>frame transmission </a:t>
            </a:r>
            <a:r>
              <a:rPr sz="2800" b="1" i="1" spc="-10" dirty="0">
                <a:latin typeface="Times New Roman"/>
                <a:cs typeface="Times New Roman"/>
              </a:rPr>
              <a:t>time </a:t>
            </a:r>
            <a:r>
              <a:rPr sz="2800" b="1" i="1" dirty="0">
                <a:latin typeface="Times New Roman"/>
                <a:cs typeface="Times New Roman"/>
              </a:rPr>
              <a:t>T</a:t>
            </a:r>
            <a:r>
              <a:rPr sz="2775" b="1" i="1" baseline="-10510" dirty="0">
                <a:latin typeface="Times New Roman"/>
                <a:cs typeface="Times New Roman"/>
              </a:rPr>
              <a:t>fr </a:t>
            </a:r>
            <a:r>
              <a:rPr sz="2800" b="1" i="1" spc="-5" dirty="0">
                <a:latin typeface="Times New Roman"/>
                <a:cs typeface="Times New Roman"/>
              </a:rPr>
              <a:t>is </a:t>
            </a:r>
            <a:r>
              <a:rPr sz="2800" b="1" i="1" dirty="0">
                <a:latin typeface="Times New Roman"/>
                <a:cs typeface="Times New Roman"/>
              </a:rPr>
              <a:t>200 </a:t>
            </a:r>
            <a:r>
              <a:rPr sz="2800" b="1" i="1" spc="-5" dirty="0">
                <a:latin typeface="Times New Roman"/>
                <a:cs typeface="Times New Roman"/>
              </a:rPr>
              <a:t>bits/200 </a:t>
            </a:r>
            <a:r>
              <a:rPr sz="2800" b="1" i="1" dirty="0">
                <a:latin typeface="Times New Roman"/>
                <a:cs typeface="Times New Roman"/>
              </a:rPr>
              <a:t>kbps </a:t>
            </a:r>
            <a:r>
              <a:rPr sz="2800" b="1" i="1" spc="-15" dirty="0">
                <a:latin typeface="Times New Roman"/>
                <a:cs typeface="Times New Roman"/>
              </a:rPr>
              <a:t>or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 ms.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vulnerable time 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2 × 1 </a:t>
            </a:r>
            <a:r>
              <a:rPr sz="2800" b="1" i="1" spc="-10" dirty="0">
                <a:latin typeface="Times New Roman"/>
                <a:cs typeface="Times New Roman"/>
              </a:rPr>
              <a:t>ms </a:t>
            </a:r>
            <a:r>
              <a:rPr sz="2800" b="1" i="1" spc="-5" dirty="0">
                <a:latin typeface="Times New Roman"/>
                <a:cs typeface="Times New Roman"/>
              </a:rPr>
              <a:t>= 2 ms. </a:t>
            </a:r>
            <a:r>
              <a:rPr sz="2800" b="1" i="1" dirty="0">
                <a:latin typeface="Times New Roman"/>
                <a:cs typeface="Times New Roman"/>
              </a:rPr>
              <a:t>This </a:t>
            </a:r>
            <a:r>
              <a:rPr sz="2800" b="1" i="1" spc="-5" dirty="0">
                <a:latin typeface="Times New Roman"/>
                <a:cs typeface="Times New Roman"/>
              </a:rPr>
              <a:t>means </a:t>
            </a:r>
            <a:r>
              <a:rPr sz="2800" b="1" i="1" dirty="0">
                <a:latin typeface="Times New Roman"/>
                <a:cs typeface="Times New Roman"/>
              </a:rPr>
              <a:t> no </a:t>
            </a:r>
            <a:r>
              <a:rPr sz="2800" b="1" i="1" spc="-5" dirty="0">
                <a:latin typeface="Times New Roman"/>
                <a:cs typeface="Times New Roman"/>
              </a:rPr>
              <a:t>station should </a:t>
            </a:r>
            <a:r>
              <a:rPr sz="2800" b="1" i="1" spc="-10" dirty="0">
                <a:latin typeface="Times New Roman"/>
                <a:cs typeface="Times New Roman"/>
              </a:rPr>
              <a:t>send </a:t>
            </a:r>
            <a:r>
              <a:rPr sz="2800" b="1" i="1" spc="-5" dirty="0">
                <a:latin typeface="Times New Roman"/>
                <a:cs typeface="Times New Roman"/>
              </a:rPr>
              <a:t>later than 1 </a:t>
            </a:r>
            <a:r>
              <a:rPr sz="2800" b="1" i="1" spc="-10" dirty="0">
                <a:latin typeface="Times New Roman"/>
                <a:cs typeface="Times New Roman"/>
              </a:rPr>
              <a:t>ms </a:t>
            </a:r>
            <a:r>
              <a:rPr sz="2800" b="1" i="1" spc="-5" dirty="0">
                <a:latin typeface="Times New Roman"/>
                <a:cs typeface="Times New Roman"/>
              </a:rPr>
              <a:t>before this station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starts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transmission</a:t>
            </a:r>
            <a:r>
              <a:rPr sz="2800" b="1" i="1" dirty="0">
                <a:latin typeface="Times New Roman"/>
                <a:cs typeface="Times New Roman"/>
              </a:rPr>
              <a:t> and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no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station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should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start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sending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during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one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1-ms </a:t>
            </a:r>
            <a:r>
              <a:rPr sz="2800" b="1" i="1" dirty="0">
                <a:latin typeface="Times New Roman"/>
                <a:cs typeface="Times New Roman"/>
              </a:rPr>
              <a:t>period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that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 </a:t>
            </a:r>
            <a:r>
              <a:rPr sz="2800" b="1" i="1" dirty="0">
                <a:latin typeface="Times New Roman"/>
                <a:cs typeface="Times New Roman"/>
              </a:rPr>
              <a:t>station</a:t>
            </a:r>
            <a:r>
              <a:rPr sz="2800" b="1" i="1" spc="-5" dirty="0">
                <a:latin typeface="Times New Roman"/>
                <a:cs typeface="Times New Roman"/>
              </a:rPr>
              <a:t> 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sending.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2044" y="19303"/>
            <a:ext cx="23310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sz="3200" i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12.2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787" y="4953000"/>
            <a:ext cx="8154034" cy="0"/>
          </a:xfrm>
          <a:custGeom>
            <a:avLst/>
            <a:gdLst/>
            <a:ahLst/>
            <a:cxnLst/>
            <a:rect l="l" t="t" r="r" b="b"/>
            <a:pathLst>
              <a:path w="8154034">
                <a:moveTo>
                  <a:pt x="0" y="0"/>
                </a:moveTo>
                <a:lnTo>
                  <a:pt x="8153463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95300" y="2759075"/>
            <a:ext cx="8077200" cy="204152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290" rIns="0" bIns="0" rtlCol="0">
            <a:spAutoFit/>
          </a:bodyPr>
          <a:lstStyle/>
          <a:p>
            <a:pPr marL="727710" marR="720725" algn="ctr">
              <a:lnSpc>
                <a:spcPct val="100000"/>
              </a:lnSpc>
              <a:spcBef>
                <a:spcPts val="270"/>
              </a:spcBef>
              <a:tabLst>
                <a:tab pos="3249930" algn="l"/>
              </a:tabLst>
            </a:pP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throughput</a:t>
            </a:r>
            <a:r>
              <a:rPr sz="3200" b="1" spc="-5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for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pure</a:t>
            </a:r>
            <a:r>
              <a:rPr sz="3200" b="1" spc="-15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ALOHA</a:t>
            </a:r>
            <a:r>
              <a:rPr sz="3200" b="1" spc="-14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is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S =</a:t>
            </a:r>
            <a:r>
              <a:rPr sz="32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5" dirty="0">
                <a:solidFill>
                  <a:srgbClr val="FF0000"/>
                </a:solidFill>
                <a:latin typeface="Arial"/>
                <a:cs typeface="Arial"/>
              </a:rPr>
              <a:t>G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× e</a:t>
            </a:r>
            <a:r>
              <a:rPr sz="32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150" b="1" spc="30" baseline="25132" dirty="0">
                <a:solidFill>
                  <a:srgbClr val="FF0000"/>
                </a:solidFill>
                <a:latin typeface="Arial"/>
                <a:cs typeface="Arial"/>
              </a:rPr>
              <a:t>−2G	</a:t>
            </a:r>
            <a:r>
              <a:rPr sz="3200" b="1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 marL="1452880" marR="1445260" indent="1270" algn="ctr">
              <a:lnSpc>
                <a:spcPct val="100000"/>
              </a:lnSpc>
              <a:spcBef>
                <a:spcPts val="5"/>
              </a:spcBef>
            </a:pPr>
            <a:r>
              <a:rPr sz="3200" b="1" dirty="0">
                <a:latin typeface="Arial"/>
                <a:cs typeface="Arial"/>
              </a:rPr>
              <a:t>The </a:t>
            </a:r>
            <a:r>
              <a:rPr sz="3200" b="1" spc="-5" dirty="0">
                <a:latin typeface="Arial"/>
                <a:cs typeface="Arial"/>
              </a:rPr>
              <a:t>maximum </a:t>
            </a:r>
            <a:r>
              <a:rPr sz="3200" b="1" dirty="0">
                <a:latin typeface="Arial"/>
                <a:cs typeface="Arial"/>
              </a:rPr>
              <a:t>throughput 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b="1" spc="1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3150" b="1" spc="22" baseline="-14550" dirty="0">
                <a:solidFill>
                  <a:srgbClr val="FF0000"/>
                </a:solidFill>
                <a:latin typeface="Arial"/>
                <a:cs typeface="Arial"/>
              </a:rPr>
              <a:t>max</a:t>
            </a:r>
            <a:r>
              <a:rPr sz="3150" b="1" spc="434" baseline="-145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= </a:t>
            </a:r>
            <a:r>
              <a:rPr sz="3200" b="1" spc="-5" dirty="0">
                <a:solidFill>
                  <a:srgbClr val="FF0000"/>
                </a:solidFill>
                <a:latin typeface="Arial"/>
                <a:cs typeface="Arial"/>
              </a:rPr>
              <a:t>0.184</a:t>
            </a:r>
            <a:r>
              <a:rPr sz="32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when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G=</a:t>
            </a:r>
            <a:r>
              <a:rPr sz="3200" b="1" spc="-5" dirty="0">
                <a:latin typeface="Arial"/>
                <a:cs typeface="Arial"/>
              </a:rPr>
              <a:t> (1/2).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981136"/>
            <a:ext cx="1143000" cy="56673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69442" y="2002358"/>
            <a:ext cx="7162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63"/>
            <a:ext cx="8839200" cy="3065780"/>
            <a:chOff x="76200" y="63"/>
            <a:chExt cx="8839200" cy="3065780"/>
          </a:xfrm>
        </p:grpSpPr>
        <p:sp>
          <p:nvSpPr>
            <p:cNvPr id="3" name="object 3"/>
            <p:cNvSpPr/>
            <p:nvPr/>
          </p:nvSpPr>
          <p:spPr>
            <a:xfrm>
              <a:off x="711200" y="63"/>
              <a:ext cx="31750" cy="838200"/>
            </a:xfrm>
            <a:custGeom>
              <a:avLst/>
              <a:gdLst/>
              <a:ahLst/>
              <a:cxnLst/>
              <a:rect l="l" t="t" r="r" b="b"/>
              <a:pathLst>
                <a:path w="31750" h="838200">
                  <a:moveTo>
                    <a:pt x="31750" y="565086"/>
                  </a:moveTo>
                  <a:lnTo>
                    <a:pt x="0" y="565086"/>
                  </a:lnTo>
                  <a:lnTo>
                    <a:pt x="0" y="838136"/>
                  </a:lnTo>
                  <a:lnTo>
                    <a:pt x="31750" y="838136"/>
                  </a:lnTo>
                  <a:lnTo>
                    <a:pt x="31750" y="565086"/>
                  </a:lnTo>
                  <a:close/>
                </a:path>
                <a:path w="31750" h="838200">
                  <a:moveTo>
                    <a:pt x="31750" y="0"/>
                  </a:moveTo>
                  <a:lnTo>
                    <a:pt x="0" y="0"/>
                  </a:lnTo>
                  <a:lnTo>
                    <a:pt x="0" y="533336"/>
                  </a:lnTo>
                  <a:lnTo>
                    <a:pt x="31750" y="533336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912" y="533399"/>
              <a:ext cx="8226425" cy="317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8600" y="838200"/>
              <a:ext cx="8686800" cy="2227580"/>
            </a:xfrm>
            <a:custGeom>
              <a:avLst/>
              <a:gdLst/>
              <a:ahLst/>
              <a:cxnLst/>
              <a:rect l="l" t="t" r="r" b="b"/>
              <a:pathLst>
                <a:path w="8686800" h="2227580">
                  <a:moveTo>
                    <a:pt x="8686800" y="0"/>
                  </a:moveTo>
                  <a:lnTo>
                    <a:pt x="0" y="0"/>
                  </a:lnTo>
                  <a:lnTo>
                    <a:pt x="0" y="2227326"/>
                  </a:lnTo>
                  <a:lnTo>
                    <a:pt x="8686800" y="2227326"/>
                  </a:lnTo>
                  <a:lnTo>
                    <a:pt x="8686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2044" y="19303"/>
            <a:ext cx="23310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sz="3200" i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12.3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269240" y="859281"/>
            <a:ext cx="8607425" cy="5375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45085" algn="just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latin typeface="Times New Roman"/>
                <a:cs typeface="Times New Roman"/>
              </a:rPr>
              <a:t>A pure ALOHA network transmits 200-bit frames </a:t>
            </a:r>
            <a:r>
              <a:rPr sz="2800" b="1" i="1" dirty="0">
                <a:latin typeface="Times New Roman"/>
                <a:cs typeface="Times New Roman"/>
              </a:rPr>
              <a:t>on </a:t>
            </a:r>
            <a:r>
              <a:rPr sz="2800" b="1" i="1" spc="-5" dirty="0">
                <a:latin typeface="Times New Roman"/>
                <a:cs typeface="Times New Roman"/>
              </a:rPr>
              <a:t>a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shared channel </a:t>
            </a:r>
            <a:r>
              <a:rPr sz="2800" b="1" i="1" dirty="0">
                <a:latin typeface="Times New Roman"/>
                <a:cs typeface="Times New Roman"/>
              </a:rPr>
              <a:t>of 200 kbps. </a:t>
            </a:r>
            <a:r>
              <a:rPr sz="2800" b="1" i="1" spc="-5" dirty="0">
                <a:latin typeface="Times New Roman"/>
                <a:cs typeface="Times New Roman"/>
              </a:rPr>
              <a:t>What is the throughput if the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system (all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stations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together) produces</a:t>
            </a:r>
            <a:endParaRPr sz="2800">
              <a:latin typeface="Times New Roman"/>
              <a:cs typeface="Times New Roman"/>
            </a:endParaRPr>
          </a:p>
          <a:p>
            <a:pPr marL="50800" algn="just">
              <a:lnSpc>
                <a:spcPct val="100000"/>
              </a:lnSpc>
              <a:spcBef>
                <a:spcPts val="5"/>
              </a:spcBef>
            </a:pP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a.</a:t>
            </a:r>
            <a:r>
              <a:rPr sz="28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1000 frames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per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second</a:t>
            </a:r>
            <a:r>
              <a:rPr sz="2800" b="1" i="1" spc="14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b. </a:t>
            </a:r>
            <a:r>
              <a:rPr sz="2800" b="1" i="1" spc="-5" dirty="0">
                <a:latin typeface="Times New Roman"/>
                <a:cs typeface="Times New Roman"/>
              </a:rPr>
              <a:t>500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frames</a:t>
            </a:r>
            <a:r>
              <a:rPr sz="2800" b="1" i="1" spc="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per second</a:t>
            </a:r>
            <a:endParaRPr sz="2800">
              <a:latin typeface="Times New Roman"/>
              <a:cs typeface="Times New Roman"/>
            </a:endParaRPr>
          </a:p>
          <a:p>
            <a:pPr marL="50800" algn="just">
              <a:lnSpc>
                <a:spcPct val="100000"/>
              </a:lnSpc>
            </a:pP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c. </a:t>
            </a:r>
            <a:r>
              <a:rPr sz="2800" b="1" i="1" dirty="0">
                <a:latin typeface="Times New Roman"/>
                <a:cs typeface="Times New Roman"/>
              </a:rPr>
              <a:t>250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frames per second.</a:t>
            </a:r>
            <a:endParaRPr sz="2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795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</a:t>
            </a:r>
            <a:r>
              <a:rPr sz="2800" b="1" i="1" spc="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transmission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time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200/200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kbps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 </a:t>
            </a:r>
            <a:r>
              <a:rPr sz="2800" b="1" i="1" spc="-5" dirty="0">
                <a:latin typeface="Times New Roman"/>
                <a:cs typeface="Times New Roman"/>
              </a:rPr>
              <a:t>1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ms.</a:t>
            </a:r>
            <a:endParaRPr sz="2800">
              <a:latin typeface="Times New Roman"/>
              <a:cs typeface="Times New Roman"/>
            </a:endParaRPr>
          </a:p>
          <a:p>
            <a:pPr marL="403860" marR="43180" indent="-353695" algn="just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a. </a:t>
            </a:r>
            <a:r>
              <a:rPr sz="2800" b="1" i="1" spc="-5" dirty="0">
                <a:latin typeface="Times New Roman"/>
                <a:cs typeface="Times New Roman"/>
              </a:rPr>
              <a:t>If the system creates 1000 frames per second, this is 1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</a:t>
            </a:r>
            <a:r>
              <a:rPr sz="2800" b="1" i="1" spc="22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per</a:t>
            </a:r>
            <a:r>
              <a:rPr sz="2800" b="1" i="1" spc="2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millisecond.</a:t>
            </a:r>
            <a:r>
              <a:rPr sz="2800" b="1" i="1" spc="894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8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load</a:t>
            </a:r>
            <a:r>
              <a:rPr sz="2800" b="1" i="1" spc="9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90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1.</a:t>
            </a:r>
            <a:r>
              <a:rPr sz="2800" b="1" i="1" spc="8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spc="90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9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case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 = G× </a:t>
            </a:r>
            <a:r>
              <a:rPr sz="2800" b="1" i="1" spc="5" dirty="0">
                <a:latin typeface="Times New Roman"/>
                <a:cs typeface="Times New Roman"/>
              </a:rPr>
              <a:t>e</a:t>
            </a:r>
            <a:r>
              <a:rPr sz="2775" b="1" i="1" spc="7" baseline="25525" dirty="0">
                <a:latin typeface="Times New Roman"/>
                <a:cs typeface="Times New Roman"/>
              </a:rPr>
              <a:t>−2 </a:t>
            </a:r>
            <a:r>
              <a:rPr sz="2775" b="1" i="1" spc="22" baseline="25525" dirty="0">
                <a:latin typeface="Times New Roman"/>
                <a:cs typeface="Times New Roman"/>
              </a:rPr>
              <a:t>G</a:t>
            </a:r>
            <a:r>
              <a:rPr sz="2775" b="1" i="1" spc="30" baseline="255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or S = 0.135 (13.5 percent). </a:t>
            </a:r>
            <a:r>
              <a:rPr sz="2800" b="1" i="1" dirty="0">
                <a:latin typeface="Times New Roman"/>
                <a:cs typeface="Times New Roman"/>
              </a:rPr>
              <a:t>This </a:t>
            </a:r>
            <a:r>
              <a:rPr sz="2800" b="1" i="1" spc="-5" dirty="0">
                <a:latin typeface="Times New Roman"/>
                <a:cs typeface="Times New Roman"/>
              </a:rPr>
              <a:t>means </a:t>
            </a:r>
            <a:r>
              <a:rPr sz="2800" b="1" i="1" dirty="0">
                <a:latin typeface="Times New Roman"/>
                <a:cs typeface="Times New Roman"/>
              </a:rPr>
              <a:t> that </a:t>
            </a:r>
            <a:r>
              <a:rPr sz="2800" b="1" i="1" spc="-5" dirty="0">
                <a:latin typeface="Times New Roman"/>
                <a:cs typeface="Times New Roman"/>
              </a:rPr>
              <a:t>the throughput is 1000 × </a:t>
            </a:r>
            <a:r>
              <a:rPr sz="2800" b="1" i="1" dirty="0">
                <a:latin typeface="Times New Roman"/>
                <a:cs typeface="Times New Roman"/>
              </a:rPr>
              <a:t>0.135 </a:t>
            </a:r>
            <a:r>
              <a:rPr sz="2800" b="1" i="1" spc="-5" dirty="0">
                <a:latin typeface="Times New Roman"/>
                <a:cs typeface="Times New Roman"/>
              </a:rPr>
              <a:t>= </a:t>
            </a:r>
            <a:r>
              <a:rPr sz="2800" b="1" i="1" dirty="0">
                <a:latin typeface="Times New Roman"/>
                <a:cs typeface="Times New Roman"/>
              </a:rPr>
              <a:t>135 </a:t>
            </a:r>
            <a:r>
              <a:rPr sz="2800" b="1" i="1" spc="-5" dirty="0">
                <a:latin typeface="Times New Roman"/>
                <a:cs typeface="Times New Roman"/>
              </a:rPr>
              <a:t>frames. Only </a:t>
            </a:r>
            <a:r>
              <a:rPr sz="2800" b="1" i="1" dirty="0">
                <a:latin typeface="Times New Roman"/>
                <a:cs typeface="Times New Roman"/>
              </a:rPr>
              <a:t> 135</a:t>
            </a:r>
            <a:r>
              <a:rPr sz="2800" b="1" i="1" spc="-5" dirty="0">
                <a:latin typeface="Times New Roman"/>
                <a:cs typeface="Times New Roman"/>
              </a:rPr>
              <a:t> frames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out of 1000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will</a:t>
            </a:r>
            <a:r>
              <a:rPr sz="2800" b="1" i="1" dirty="0">
                <a:latin typeface="Times New Roman"/>
                <a:cs typeface="Times New Roman"/>
              </a:rPr>
              <a:t> probably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survive.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63"/>
            <a:ext cx="8593455" cy="1005205"/>
            <a:chOff x="76200" y="63"/>
            <a:chExt cx="8593455" cy="1005205"/>
          </a:xfrm>
        </p:grpSpPr>
        <p:sp>
          <p:nvSpPr>
            <p:cNvPr id="3" name="object 3"/>
            <p:cNvSpPr/>
            <p:nvPr/>
          </p:nvSpPr>
          <p:spPr>
            <a:xfrm>
              <a:off x="711200" y="63"/>
              <a:ext cx="31750" cy="838200"/>
            </a:xfrm>
            <a:custGeom>
              <a:avLst/>
              <a:gdLst/>
              <a:ahLst/>
              <a:cxnLst/>
              <a:rect l="l" t="t" r="r" b="b"/>
              <a:pathLst>
                <a:path w="31750" h="838200">
                  <a:moveTo>
                    <a:pt x="31750" y="565086"/>
                  </a:moveTo>
                  <a:lnTo>
                    <a:pt x="0" y="565086"/>
                  </a:lnTo>
                  <a:lnTo>
                    <a:pt x="0" y="838073"/>
                  </a:lnTo>
                  <a:lnTo>
                    <a:pt x="31750" y="838073"/>
                  </a:lnTo>
                  <a:lnTo>
                    <a:pt x="31750" y="565086"/>
                  </a:lnTo>
                  <a:close/>
                </a:path>
                <a:path w="31750" h="838200">
                  <a:moveTo>
                    <a:pt x="31750" y="0"/>
                  </a:moveTo>
                  <a:lnTo>
                    <a:pt x="0" y="0"/>
                  </a:lnTo>
                  <a:lnTo>
                    <a:pt x="0" y="533336"/>
                  </a:lnTo>
                  <a:lnTo>
                    <a:pt x="31750" y="533336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912" y="533399"/>
              <a:ext cx="8226425" cy="3175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22044" y="19303"/>
            <a:ext cx="43738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sz="3200"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12.3</a:t>
            </a:r>
            <a:r>
              <a:rPr sz="3200"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8600" y="838136"/>
            <a:ext cx="8686800" cy="5643880"/>
          </a:xfrm>
          <a:custGeom>
            <a:avLst/>
            <a:gdLst/>
            <a:ahLst/>
            <a:cxnLst/>
            <a:rect l="l" t="t" r="r" b="b"/>
            <a:pathLst>
              <a:path w="8686800" h="5643880">
                <a:moveTo>
                  <a:pt x="8686800" y="0"/>
                </a:moveTo>
                <a:lnTo>
                  <a:pt x="0" y="0"/>
                </a:lnTo>
                <a:lnTo>
                  <a:pt x="0" y="5643626"/>
                </a:lnTo>
                <a:lnTo>
                  <a:pt x="8686800" y="5643626"/>
                </a:lnTo>
                <a:lnTo>
                  <a:pt x="8686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69240" y="859281"/>
            <a:ext cx="8630920" cy="5573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3860" marR="65405" indent="-353695" algn="just">
              <a:lnSpc>
                <a:spcPct val="100000"/>
              </a:lnSpc>
              <a:spcBef>
                <a:spcPts val="95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b. </a:t>
            </a:r>
            <a:r>
              <a:rPr sz="2800" b="1" i="1" spc="-5" dirty="0">
                <a:latin typeface="Times New Roman"/>
                <a:cs typeface="Times New Roman"/>
              </a:rPr>
              <a:t>If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system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creates</a:t>
            </a:r>
            <a:r>
              <a:rPr sz="2800" b="1" i="1" dirty="0">
                <a:latin typeface="Times New Roman"/>
                <a:cs typeface="Times New Roman"/>
              </a:rPr>
              <a:t> 500 </a:t>
            </a:r>
            <a:r>
              <a:rPr sz="2800" b="1" i="1" spc="-5" dirty="0">
                <a:latin typeface="Times New Roman"/>
                <a:cs typeface="Times New Roman"/>
              </a:rPr>
              <a:t>frames</a:t>
            </a:r>
            <a:r>
              <a:rPr sz="2800" b="1" i="1" dirty="0">
                <a:latin typeface="Times New Roman"/>
                <a:cs typeface="Times New Roman"/>
              </a:rPr>
              <a:t> per </a:t>
            </a:r>
            <a:r>
              <a:rPr sz="2800" b="1" i="1" spc="-5" dirty="0">
                <a:latin typeface="Times New Roman"/>
                <a:cs typeface="Times New Roman"/>
              </a:rPr>
              <a:t>second,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 </a:t>
            </a:r>
            <a:r>
              <a:rPr sz="2800" b="1" i="1" dirty="0">
                <a:latin typeface="Times New Roman"/>
                <a:cs typeface="Times New Roman"/>
              </a:rPr>
              <a:t> (1/2) frame </a:t>
            </a:r>
            <a:r>
              <a:rPr sz="2800" b="1" i="1" spc="-5" dirty="0">
                <a:latin typeface="Times New Roman"/>
                <a:cs typeface="Times New Roman"/>
              </a:rPr>
              <a:t>per millisecond.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load is (1/2). In this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case S = G × e </a:t>
            </a:r>
            <a:r>
              <a:rPr sz="2775" b="1" i="1" spc="22" baseline="25525" dirty="0">
                <a:latin typeface="Times New Roman"/>
                <a:cs typeface="Times New Roman"/>
              </a:rPr>
              <a:t>−2G</a:t>
            </a:r>
            <a:r>
              <a:rPr sz="2775" b="1" i="1" spc="30" baseline="255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 </a:t>
            </a:r>
            <a:r>
              <a:rPr sz="2800" b="1" i="1" spc="-5" dirty="0">
                <a:latin typeface="Times New Roman"/>
                <a:cs typeface="Times New Roman"/>
              </a:rPr>
              <a:t>S = </a:t>
            </a:r>
            <a:r>
              <a:rPr sz="2800" b="1" i="1" dirty="0">
                <a:latin typeface="Times New Roman"/>
                <a:cs typeface="Times New Roman"/>
              </a:rPr>
              <a:t>0.184 </a:t>
            </a:r>
            <a:r>
              <a:rPr sz="2800" b="1" i="1" spc="-5" dirty="0">
                <a:latin typeface="Times New Roman"/>
                <a:cs typeface="Times New Roman"/>
              </a:rPr>
              <a:t>(18.4 percent). This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means </a:t>
            </a:r>
            <a:r>
              <a:rPr sz="2800" b="1" i="1" dirty="0">
                <a:latin typeface="Times New Roman"/>
                <a:cs typeface="Times New Roman"/>
              </a:rPr>
              <a:t>that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throughput </a:t>
            </a:r>
            <a:r>
              <a:rPr sz="2800" b="1" i="1" spc="-5" dirty="0">
                <a:latin typeface="Times New Roman"/>
                <a:cs typeface="Times New Roman"/>
              </a:rPr>
              <a:t>is 500 × </a:t>
            </a:r>
            <a:r>
              <a:rPr sz="2800" b="1" i="1" dirty="0">
                <a:latin typeface="Times New Roman"/>
                <a:cs typeface="Times New Roman"/>
              </a:rPr>
              <a:t>0.184 </a:t>
            </a:r>
            <a:r>
              <a:rPr sz="2800" b="1" i="1" spc="-5" dirty="0">
                <a:latin typeface="Times New Roman"/>
                <a:cs typeface="Times New Roman"/>
              </a:rPr>
              <a:t>= 92 </a:t>
            </a:r>
            <a:r>
              <a:rPr sz="2800" b="1" i="1" dirty="0">
                <a:latin typeface="Times New Roman"/>
                <a:cs typeface="Times New Roman"/>
              </a:rPr>
              <a:t>and that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only </a:t>
            </a:r>
            <a:r>
              <a:rPr sz="2800" b="1" i="1" dirty="0">
                <a:latin typeface="Times New Roman"/>
                <a:cs typeface="Times New Roman"/>
              </a:rPr>
              <a:t>92 </a:t>
            </a:r>
            <a:r>
              <a:rPr sz="2800" b="1" i="1" spc="-5" dirty="0">
                <a:latin typeface="Times New Roman"/>
                <a:cs typeface="Times New Roman"/>
              </a:rPr>
              <a:t>frames out </a:t>
            </a:r>
            <a:r>
              <a:rPr sz="2800" b="1" i="1" dirty="0">
                <a:latin typeface="Times New Roman"/>
                <a:cs typeface="Times New Roman"/>
              </a:rPr>
              <a:t>of 500 </a:t>
            </a:r>
            <a:r>
              <a:rPr sz="2800" b="1" i="1" spc="-5" dirty="0">
                <a:latin typeface="Times New Roman"/>
                <a:cs typeface="Times New Roman"/>
              </a:rPr>
              <a:t>will probably survive. Note </a:t>
            </a:r>
            <a:r>
              <a:rPr sz="2800" b="1" i="1" dirty="0">
                <a:latin typeface="Times New Roman"/>
                <a:cs typeface="Times New Roman"/>
              </a:rPr>
              <a:t> that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maximum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throughput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case,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percentagewise.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00">
              <a:latin typeface="Times New Roman"/>
              <a:cs typeface="Times New Roman"/>
            </a:endParaRPr>
          </a:p>
          <a:p>
            <a:pPr marL="403860" marR="66040" indent="-353695" algn="just">
              <a:lnSpc>
                <a:spcPct val="100000"/>
              </a:lnSpc>
            </a:pP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c. </a:t>
            </a:r>
            <a:r>
              <a:rPr sz="2800" b="1" i="1" spc="-5" dirty="0">
                <a:latin typeface="Times New Roman"/>
                <a:cs typeface="Times New Roman"/>
              </a:rPr>
              <a:t>If the system creates </a:t>
            </a:r>
            <a:r>
              <a:rPr sz="2800" b="1" i="1" dirty="0">
                <a:latin typeface="Times New Roman"/>
                <a:cs typeface="Times New Roman"/>
              </a:rPr>
              <a:t>250 </a:t>
            </a:r>
            <a:r>
              <a:rPr sz="2800" b="1" i="1" spc="-5" dirty="0">
                <a:latin typeface="Times New Roman"/>
                <a:cs typeface="Times New Roman"/>
              </a:rPr>
              <a:t>frames per second, this is </a:t>
            </a:r>
            <a:r>
              <a:rPr sz="2800" b="1" i="1" dirty="0">
                <a:latin typeface="Times New Roman"/>
                <a:cs typeface="Times New Roman"/>
              </a:rPr>
              <a:t>(1/4)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</a:t>
            </a:r>
            <a:r>
              <a:rPr sz="2800" b="1" i="1" spc="45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per</a:t>
            </a:r>
            <a:r>
              <a:rPr sz="2800" b="1" i="1" spc="45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millisecond.</a:t>
            </a:r>
            <a:r>
              <a:rPr sz="2800" b="1" i="1" spc="4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45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load</a:t>
            </a:r>
            <a:r>
              <a:rPr sz="2800" b="1" i="1" spc="45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45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(1/4).</a:t>
            </a:r>
            <a:r>
              <a:rPr sz="2800" b="1" i="1" spc="4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spc="4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spc="4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case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 = G × e </a:t>
            </a:r>
            <a:r>
              <a:rPr sz="2800" b="1" i="1" spc="5" dirty="0">
                <a:latin typeface="Times New Roman"/>
                <a:cs typeface="Times New Roman"/>
              </a:rPr>
              <a:t>−</a:t>
            </a:r>
            <a:r>
              <a:rPr sz="2775" b="1" i="1" spc="7" baseline="25525" dirty="0">
                <a:latin typeface="Times New Roman"/>
                <a:cs typeface="Times New Roman"/>
              </a:rPr>
              <a:t>2G </a:t>
            </a:r>
            <a:r>
              <a:rPr sz="2800" b="1" i="1" dirty="0">
                <a:latin typeface="Times New Roman"/>
                <a:cs typeface="Times New Roman"/>
              </a:rPr>
              <a:t>or </a:t>
            </a:r>
            <a:r>
              <a:rPr sz="2800" b="1" i="1" spc="-5" dirty="0">
                <a:latin typeface="Times New Roman"/>
                <a:cs typeface="Times New Roman"/>
              </a:rPr>
              <a:t>S = </a:t>
            </a:r>
            <a:r>
              <a:rPr sz="2800" b="1" i="1" dirty="0">
                <a:latin typeface="Times New Roman"/>
                <a:cs typeface="Times New Roman"/>
              </a:rPr>
              <a:t>0.152 </a:t>
            </a:r>
            <a:r>
              <a:rPr sz="2800" b="1" i="1" spc="-5" dirty="0">
                <a:latin typeface="Times New Roman"/>
                <a:cs typeface="Times New Roman"/>
              </a:rPr>
              <a:t>(15.2 percent). This means </a:t>
            </a:r>
            <a:r>
              <a:rPr sz="2800" b="1" i="1" dirty="0">
                <a:latin typeface="Times New Roman"/>
                <a:cs typeface="Times New Roman"/>
              </a:rPr>
              <a:t> that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throughput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250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×</a:t>
            </a:r>
            <a:r>
              <a:rPr sz="2800" b="1" i="1" dirty="0">
                <a:latin typeface="Times New Roman"/>
                <a:cs typeface="Times New Roman"/>
              </a:rPr>
              <a:t> 0.152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=</a:t>
            </a:r>
            <a:r>
              <a:rPr sz="2800" b="1" i="1" dirty="0">
                <a:latin typeface="Times New Roman"/>
                <a:cs typeface="Times New Roman"/>
              </a:rPr>
              <a:t> 38.</a:t>
            </a:r>
            <a:r>
              <a:rPr sz="2800" b="1" i="1" spc="7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Only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38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frames </a:t>
            </a:r>
            <a:r>
              <a:rPr sz="2800" b="1" i="1" dirty="0">
                <a:latin typeface="Times New Roman"/>
                <a:cs typeface="Times New Roman"/>
              </a:rPr>
              <a:t>out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 250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will</a:t>
            </a:r>
            <a:r>
              <a:rPr sz="2800" b="1" i="1" dirty="0">
                <a:latin typeface="Times New Roman"/>
                <a:cs typeface="Times New Roman"/>
              </a:rPr>
              <a:t> probably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survive.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403301"/>
            <a:ext cx="54787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1314" algn="l"/>
              </a:tabLst>
            </a:pP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Figu</a:t>
            </a:r>
            <a:r>
              <a:rPr sz="2400" spc="-55" dirty="0">
                <a:solidFill>
                  <a:srgbClr val="3333CC"/>
                </a:solidFill>
                <a:latin typeface="Times New Roman"/>
                <a:cs typeface="Times New Roman"/>
              </a:rPr>
              <a:t>r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sz="2400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12.6	</a:t>
            </a:r>
            <a:r>
              <a:rPr sz="2000" i="1" dirty="0">
                <a:latin typeface="Times New Roman"/>
                <a:cs typeface="Times New Roman"/>
              </a:rPr>
              <a:t>Frames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 s</a:t>
            </a:r>
            <a:r>
              <a:rPr sz="2000" i="1" spc="-10" dirty="0">
                <a:latin typeface="Times New Roman"/>
                <a:cs typeface="Times New Roman"/>
              </a:rPr>
              <a:t>l</a:t>
            </a:r>
            <a:r>
              <a:rPr sz="2000" i="1" dirty="0">
                <a:latin typeface="Times New Roman"/>
                <a:cs typeface="Times New Roman"/>
              </a:rPr>
              <a:t>otted</a:t>
            </a:r>
            <a:r>
              <a:rPr sz="2000" i="1" spc="-10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ALOHA</a:t>
            </a:r>
            <a:r>
              <a:rPr sz="2000" i="1" spc="-114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net</a:t>
            </a:r>
            <a:r>
              <a:rPr sz="2000" i="1" spc="-10" dirty="0">
                <a:latin typeface="Times New Roman"/>
                <a:cs typeface="Times New Roman"/>
              </a:rPr>
              <a:t>w</a:t>
            </a:r>
            <a:r>
              <a:rPr sz="2000" i="1" dirty="0">
                <a:latin typeface="Times New Roman"/>
                <a:cs typeface="Times New Roman"/>
              </a:rPr>
              <a:t>ork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334" y="1455158"/>
            <a:ext cx="8484806" cy="390648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787" y="4876800"/>
            <a:ext cx="8154034" cy="0"/>
          </a:xfrm>
          <a:custGeom>
            <a:avLst/>
            <a:gdLst/>
            <a:ahLst/>
            <a:cxnLst/>
            <a:rect l="l" t="t" r="r" b="b"/>
            <a:pathLst>
              <a:path w="8154034">
                <a:moveTo>
                  <a:pt x="0" y="0"/>
                </a:moveTo>
                <a:lnTo>
                  <a:pt x="8153463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95300" y="2759075"/>
            <a:ext cx="8077200" cy="204152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290" rIns="0" bIns="0" rtlCol="0">
            <a:spAutoFit/>
          </a:bodyPr>
          <a:lstStyle/>
          <a:p>
            <a:pPr marL="503555" marR="485775" algn="ctr">
              <a:lnSpc>
                <a:spcPct val="100000"/>
              </a:lnSpc>
              <a:spcBef>
                <a:spcPts val="270"/>
              </a:spcBef>
            </a:pP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throughput</a:t>
            </a:r>
            <a:r>
              <a:rPr sz="3200" b="1" spc="-4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for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slotted</a:t>
            </a:r>
            <a:r>
              <a:rPr sz="3200" b="1" spc="-15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ALOHA</a:t>
            </a:r>
            <a:r>
              <a:rPr sz="3200" b="1" spc="-14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is </a:t>
            </a:r>
            <a:r>
              <a:rPr sz="3200" b="1" spc="-869" dirty="0"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32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= </a:t>
            </a:r>
            <a:r>
              <a:rPr sz="3200" b="1" spc="5" dirty="0">
                <a:solidFill>
                  <a:srgbClr val="FF0000"/>
                </a:solidFill>
                <a:latin typeface="Arial"/>
                <a:cs typeface="Arial"/>
              </a:rPr>
              <a:t>G</a:t>
            </a:r>
            <a:r>
              <a:rPr sz="32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×</a:t>
            </a:r>
            <a:r>
              <a:rPr sz="32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1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3150" b="1" spc="15" baseline="25132" dirty="0">
                <a:solidFill>
                  <a:srgbClr val="FF0000"/>
                </a:solidFill>
                <a:latin typeface="Arial"/>
                <a:cs typeface="Arial"/>
              </a:rPr>
              <a:t>−G</a:t>
            </a:r>
            <a:r>
              <a:rPr sz="3150" b="1" spc="442" baseline="25132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 marL="1533525" marR="1518920" algn="ctr">
              <a:lnSpc>
                <a:spcPct val="100000"/>
              </a:lnSpc>
              <a:spcBef>
                <a:spcPts val="5"/>
              </a:spcBef>
            </a:pP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5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maximum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throughput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1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3150" b="1" spc="22" baseline="-14550" dirty="0">
                <a:solidFill>
                  <a:srgbClr val="FF0000"/>
                </a:solidFill>
                <a:latin typeface="Arial"/>
                <a:cs typeface="Arial"/>
              </a:rPr>
              <a:t>max</a:t>
            </a:r>
            <a:r>
              <a:rPr sz="3150" b="1" spc="434" baseline="-145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32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0.368</a:t>
            </a:r>
            <a:r>
              <a:rPr sz="32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when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G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=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1.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981136"/>
            <a:ext cx="1143000" cy="56673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69442" y="2002358"/>
            <a:ext cx="7162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403301"/>
            <a:ext cx="62674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1314" algn="l"/>
              </a:tabLst>
            </a:pP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Figu</a:t>
            </a:r>
            <a:r>
              <a:rPr sz="2400" spc="-55" dirty="0">
                <a:solidFill>
                  <a:srgbClr val="3333CC"/>
                </a:solidFill>
                <a:latin typeface="Times New Roman"/>
                <a:cs typeface="Times New Roman"/>
              </a:rPr>
              <a:t>r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e</a:t>
            </a:r>
            <a:r>
              <a:rPr sz="2400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12.7	</a:t>
            </a:r>
            <a:r>
              <a:rPr sz="2000" i="1" spc="-114" dirty="0">
                <a:latin typeface="Times New Roman"/>
                <a:cs typeface="Times New Roman"/>
              </a:rPr>
              <a:t>V</a:t>
            </a:r>
            <a:r>
              <a:rPr sz="2000" i="1" dirty="0">
                <a:latin typeface="Times New Roman"/>
                <a:cs typeface="Times New Roman"/>
              </a:rPr>
              <a:t>ulnera</a:t>
            </a:r>
            <a:r>
              <a:rPr sz="2000" i="1" spc="5" dirty="0">
                <a:latin typeface="Times New Roman"/>
                <a:cs typeface="Times New Roman"/>
              </a:rPr>
              <a:t>b</a:t>
            </a:r>
            <a:r>
              <a:rPr sz="2000" i="1" dirty="0">
                <a:latin typeface="Times New Roman"/>
                <a:cs typeface="Times New Roman"/>
              </a:rPr>
              <a:t>le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t</a:t>
            </a:r>
            <a:r>
              <a:rPr sz="2000" i="1" spc="-10" dirty="0">
                <a:latin typeface="Times New Roman"/>
                <a:cs typeface="Times New Roman"/>
              </a:rPr>
              <a:t>i</a:t>
            </a:r>
            <a:r>
              <a:rPr sz="2000" i="1" dirty="0">
                <a:latin typeface="Times New Roman"/>
                <a:cs typeface="Times New Roman"/>
              </a:rPr>
              <a:t>me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f</a:t>
            </a:r>
            <a:r>
              <a:rPr sz="2000" i="1" spc="5" dirty="0">
                <a:latin typeface="Times New Roman"/>
                <a:cs typeface="Times New Roman"/>
              </a:rPr>
              <a:t>o</a:t>
            </a:r>
            <a:r>
              <a:rPr sz="2000" i="1" dirty="0">
                <a:latin typeface="Times New Roman"/>
                <a:cs typeface="Times New Roman"/>
              </a:rPr>
              <a:t>r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slot</a:t>
            </a:r>
            <a:r>
              <a:rPr sz="2000" i="1" spc="-10" dirty="0">
                <a:latin typeface="Times New Roman"/>
                <a:cs typeface="Times New Roman"/>
              </a:rPr>
              <a:t>t</a:t>
            </a:r>
            <a:r>
              <a:rPr sz="2000" i="1" dirty="0">
                <a:latin typeface="Times New Roman"/>
                <a:cs typeface="Times New Roman"/>
              </a:rPr>
              <a:t>ed</a:t>
            </a:r>
            <a:r>
              <a:rPr sz="2000" i="1" spc="-9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ALOHA</a:t>
            </a:r>
            <a:r>
              <a:rPr sz="2000" i="1" spc="-1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protocol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0700" y="1453814"/>
            <a:ext cx="7620993" cy="433738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63"/>
            <a:ext cx="8839200" cy="3065780"/>
            <a:chOff x="76200" y="63"/>
            <a:chExt cx="8839200" cy="3065780"/>
          </a:xfrm>
        </p:grpSpPr>
        <p:sp>
          <p:nvSpPr>
            <p:cNvPr id="3" name="object 3"/>
            <p:cNvSpPr/>
            <p:nvPr/>
          </p:nvSpPr>
          <p:spPr>
            <a:xfrm>
              <a:off x="711200" y="63"/>
              <a:ext cx="31750" cy="838200"/>
            </a:xfrm>
            <a:custGeom>
              <a:avLst/>
              <a:gdLst/>
              <a:ahLst/>
              <a:cxnLst/>
              <a:rect l="l" t="t" r="r" b="b"/>
              <a:pathLst>
                <a:path w="31750" h="838200">
                  <a:moveTo>
                    <a:pt x="31750" y="565086"/>
                  </a:moveTo>
                  <a:lnTo>
                    <a:pt x="0" y="565086"/>
                  </a:lnTo>
                  <a:lnTo>
                    <a:pt x="0" y="838136"/>
                  </a:lnTo>
                  <a:lnTo>
                    <a:pt x="31750" y="838136"/>
                  </a:lnTo>
                  <a:lnTo>
                    <a:pt x="31750" y="565086"/>
                  </a:lnTo>
                  <a:close/>
                </a:path>
                <a:path w="31750" h="838200">
                  <a:moveTo>
                    <a:pt x="31750" y="0"/>
                  </a:moveTo>
                  <a:lnTo>
                    <a:pt x="0" y="0"/>
                  </a:lnTo>
                  <a:lnTo>
                    <a:pt x="0" y="533336"/>
                  </a:lnTo>
                  <a:lnTo>
                    <a:pt x="31750" y="533336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912" y="533399"/>
              <a:ext cx="8226425" cy="317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8600" y="838200"/>
              <a:ext cx="8686800" cy="2227580"/>
            </a:xfrm>
            <a:custGeom>
              <a:avLst/>
              <a:gdLst/>
              <a:ahLst/>
              <a:cxnLst/>
              <a:rect l="l" t="t" r="r" b="b"/>
              <a:pathLst>
                <a:path w="8686800" h="2227580">
                  <a:moveTo>
                    <a:pt x="8686800" y="0"/>
                  </a:moveTo>
                  <a:lnTo>
                    <a:pt x="0" y="0"/>
                  </a:lnTo>
                  <a:lnTo>
                    <a:pt x="0" y="2227326"/>
                  </a:lnTo>
                  <a:lnTo>
                    <a:pt x="8686800" y="2227326"/>
                  </a:lnTo>
                  <a:lnTo>
                    <a:pt x="8686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2044" y="19303"/>
            <a:ext cx="23310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sz="3200" i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12.4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269240" y="859281"/>
            <a:ext cx="8607425" cy="5375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45085" algn="just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latin typeface="Times New Roman"/>
                <a:cs typeface="Times New Roman"/>
              </a:rPr>
              <a:t>A slotted ALOHA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network transmits 200-bit frames </a:t>
            </a:r>
            <a:r>
              <a:rPr sz="2800" b="1" i="1" dirty="0">
                <a:latin typeface="Times New Roman"/>
                <a:cs typeface="Times New Roman"/>
              </a:rPr>
              <a:t>on </a:t>
            </a:r>
            <a:r>
              <a:rPr sz="2800" b="1" i="1" spc="-5" dirty="0">
                <a:latin typeface="Times New Roman"/>
                <a:cs typeface="Times New Roman"/>
              </a:rPr>
              <a:t>a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shared channel </a:t>
            </a:r>
            <a:r>
              <a:rPr sz="2800" b="1" i="1" dirty="0">
                <a:latin typeface="Times New Roman"/>
                <a:cs typeface="Times New Roman"/>
              </a:rPr>
              <a:t>of 200 kbps. </a:t>
            </a:r>
            <a:r>
              <a:rPr sz="2800" b="1" i="1" spc="-5" dirty="0">
                <a:latin typeface="Times New Roman"/>
                <a:cs typeface="Times New Roman"/>
              </a:rPr>
              <a:t>What is the throughput if the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system (all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stations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together) produces</a:t>
            </a:r>
            <a:endParaRPr sz="2800">
              <a:latin typeface="Times New Roman"/>
              <a:cs typeface="Times New Roman"/>
            </a:endParaRPr>
          </a:p>
          <a:p>
            <a:pPr marL="50800" algn="just">
              <a:lnSpc>
                <a:spcPct val="100000"/>
              </a:lnSpc>
              <a:spcBef>
                <a:spcPts val="5"/>
              </a:spcBef>
            </a:pP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a.</a:t>
            </a:r>
            <a:r>
              <a:rPr sz="28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1000 frames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per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second</a:t>
            </a:r>
            <a:r>
              <a:rPr sz="2800" b="1" i="1" spc="14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b. </a:t>
            </a:r>
            <a:r>
              <a:rPr sz="2800" b="1" i="1" spc="-5" dirty="0">
                <a:latin typeface="Times New Roman"/>
                <a:cs typeface="Times New Roman"/>
              </a:rPr>
              <a:t>500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frames</a:t>
            </a:r>
            <a:r>
              <a:rPr sz="2800" b="1" i="1" spc="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per second</a:t>
            </a:r>
            <a:endParaRPr sz="2800">
              <a:latin typeface="Times New Roman"/>
              <a:cs typeface="Times New Roman"/>
            </a:endParaRPr>
          </a:p>
          <a:p>
            <a:pPr marL="50800" algn="just">
              <a:lnSpc>
                <a:spcPct val="100000"/>
              </a:lnSpc>
            </a:pP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c. </a:t>
            </a:r>
            <a:r>
              <a:rPr sz="2800" b="1" i="1" dirty="0">
                <a:latin typeface="Times New Roman"/>
                <a:cs typeface="Times New Roman"/>
              </a:rPr>
              <a:t>250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frames per second.</a:t>
            </a:r>
            <a:endParaRPr sz="2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795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</a:t>
            </a:r>
            <a:r>
              <a:rPr sz="2800" b="1" i="1" spc="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transmission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time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200/200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kbps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 </a:t>
            </a:r>
            <a:r>
              <a:rPr sz="2800" b="1" i="1" spc="-5" dirty="0">
                <a:latin typeface="Times New Roman"/>
                <a:cs typeface="Times New Roman"/>
              </a:rPr>
              <a:t>1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ms.</a:t>
            </a:r>
            <a:endParaRPr sz="2800">
              <a:latin typeface="Times New Roman"/>
              <a:cs typeface="Times New Roman"/>
            </a:endParaRPr>
          </a:p>
          <a:p>
            <a:pPr marL="403860" marR="43180" indent="-353695" algn="just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a. </a:t>
            </a:r>
            <a:r>
              <a:rPr sz="2800" b="1" i="1" spc="-5" dirty="0">
                <a:latin typeface="Times New Roman"/>
                <a:cs typeface="Times New Roman"/>
              </a:rPr>
              <a:t>If the system creates 1000 frames per second, this is 1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</a:t>
            </a:r>
            <a:r>
              <a:rPr sz="2800" b="1" i="1" spc="22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per</a:t>
            </a:r>
            <a:r>
              <a:rPr sz="2800" b="1" i="1" spc="2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millisecond.</a:t>
            </a:r>
            <a:r>
              <a:rPr sz="2800" b="1" i="1" spc="894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8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load</a:t>
            </a:r>
            <a:r>
              <a:rPr sz="2800" b="1" i="1" spc="9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90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1.</a:t>
            </a:r>
            <a:r>
              <a:rPr sz="2800" b="1" i="1" spc="8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spc="90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9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case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 =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G×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</a:t>
            </a:r>
            <a:r>
              <a:rPr sz="2775" b="1" i="1" baseline="25525" dirty="0">
                <a:latin typeface="Times New Roman"/>
                <a:cs typeface="Times New Roman"/>
              </a:rPr>
              <a:t>−G</a:t>
            </a:r>
            <a:r>
              <a:rPr sz="2775" b="1" i="1" spc="690" baseline="255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or S = 0.368 (36.8 percent). This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means </a:t>
            </a:r>
            <a:r>
              <a:rPr sz="2800" b="1" i="1" dirty="0">
                <a:latin typeface="Times New Roman"/>
                <a:cs typeface="Times New Roman"/>
              </a:rPr>
              <a:t> that</a:t>
            </a:r>
            <a:r>
              <a:rPr sz="2800" b="1" i="1" spc="6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6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throughput</a:t>
            </a:r>
            <a:r>
              <a:rPr sz="2800" b="1" i="1" spc="6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6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1000</a:t>
            </a:r>
            <a:r>
              <a:rPr sz="2800" b="1" i="1" spc="6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×</a:t>
            </a:r>
            <a:r>
              <a:rPr sz="2800" b="1" i="1" spc="6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0.0368</a:t>
            </a:r>
            <a:r>
              <a:rPr sz="2800" b="1" i="1" spc="6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=</a:t>
            </a:r>
            <a:r>
              <a:rPr sz="2800" b="1" i="1" spc="6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368</a:t>
            </a:r>
            <a:r>
              <a:rPr sz="2800" b="1" i="1" spc="6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frames.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Only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386 </a:t>
            </a:r>
            <a:r>
              <a:rPr sz="2800" b="1" i="1" spc="-5" dirty="0">
                <a:latin typeface="Times New Roman"/>
                <a:cs typeface="Times New Roman"/>
              </a:rPr>
              <a:t>frames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out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 1000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will</a:t>
            </a:r>
            <a:r>
              <a:rPr sz="2800" b="1" i="1" dirty="0">
                <a:latin typeface="Times New Roman"/>
                <a:cs typeface="Times New Roman"/>
              </a:rPr>
              <a:t> probably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survive.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63"/>
            <a:ext cx="8593455" cy="1005205"/>
            <a:chOff x="76200" y="63"/>
            <a:chExt cx="8593455" cy="1005205"/>
          </a:xfrm>
        </p:grpSpPr>
        <p:sp>
          <p:nvSpPr>
            <p:cNvPr id="3" name="object 3"/>
            <p:cNvSpPr/>
            <p:nvPr/>
          </p:nvSpPr>
          <p:spPr>
            <a:xfrm>
              <a:off x="711200" y="63"/>
              <a:ext cx="31750" cy="838200"/>
            </a:xfrm>
            <a:custGeom>
              <a:avLst/>
              <a:gdLst/>
              <a:ahLst/>
              <a:cxnLst/>
              <a:rect l="l" t="t" r="r" b="b"/>
              <a:pathLst>
                <a:path w="31750" h="838200">
                  <a:moveTo>
                    <a:pt x="31750" y="565086"/>
                  </a:moveTo>
                  <a:lnTo>
                    <a:pt x="0" y="565086"/>
                  </a:lnTo>
                  <a:lnTo>
                    <a:pt x="0" y="838073"/>
                  </a:lnTo>
                  <a:lnTo>
                    <a:pt x="31750" y="838073"/>
                  </a:lnTo>
                  <a:lnTo>
                    <a:pt x="31750" y="565086"/>
                  </a:lnTo>
                  <a:close/>
                </a:path>
                <a:path w="31750" h="838200">
                  <a:moveTo>
                    <a:pt x="31750" y="0"/>
                  </a:moveTo>
                  <a:lnTo>
                    <a:pt x="0" y="0"/>
                  </a:lnTo>
                  <a:lnTo>
                    <a:pt x="0" y="533336"/>
                  </a:lnTo>
                  <a:lnTo>
                    <a:pt x="31750" y="533336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912" y="533399"/>
              <a:ext cx="8226425" cy="3175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22044" y="19303"/>
            <a:ext cx="43738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sz="3200"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12.4</a:t>
            </a:r>
            <a:r>
              <a:rPr sz="3200"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8600" y="838136"/>
            <a:ext cx="8686800" cy="4789805"/>
          </a:xfrm>
          <a:custGeom>
            <a:avLst/>
            <a:gdLst/>
            <a:ahLst/>
            <a:cxnLst/>
            <a:rect l="l" t="t" r="r" b="b"/>
            <a:pathLst>
              <a:path w="8686800" h="4789805">
                <a:moveTo>
                  <a:pt x="8686800" y="0"/>
                </a:moveTo>
                <a:lnTo>
                  <a:pt x="0" y="0"/>
                </a:lnTo>
                <a:lnTo>
                  <a:pt x="0" y="4789551"/>
                </a:lnTo>
                <a:lnTo>
                  <a:pt x="8686800" y="4789551"/>
                </a:lnTo>
                <a:lnTo>
                  <a:pt x="8686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69240" y="859281"/>
            <a:ext cx="8641080" cy="4719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3860" marR="76835" indent="-353695" algn="just">
              <a:lnSpc>
                <a:spcPct val="100000"/>
              </a:lnSpc>
              <a:spcBef>
                <a:spcPts val="95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b. </a:t>
            </a:r>
            <a:r>
              <a:rPr sz="2800" b="1" i="1" spc="-5" dirty="0">
                <a:latin typeface="Times New Roman"/>
                <a:cs typeface="Times New Roman"/>
              </a:rPr>
              <a:t>If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system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creates</a:t>
            </a:r>
            <a:r>
              <a:rPr sz="2800" b="1" i="1" dirty="0">
                <a:latin typeface="Times New Roman"/>
                <a:cs typeface="Times New Roman"/>
              </a:rPr>
              <a:t> 500 </a:t>
            </a:r>
            <a:r>
              <a:rPr sz="2800" b="1" i="1" spc="-5" dirty="0">
                <a:latin typeface="Times New Roman"/>
                <a:cs typeface="Times New Roman"/>
              </a:rPr>
              <a:t>frames</a:t>
            </a:r>
            <a:r>
              <a:rPr sz="2800" b="1" i="1" dirty="0">
                <a:latin typeface="Times New Roman"/>
                <a:cs typeface="Times New Roman"/>
              </a:rPr>
              <a:t> per </a:t>
            </a:r>
            <a:r>
              <a:rPr sz="2800" b="1" i="1" spc="-5" dirty="0">
                <a:latin typeface="Times New Roman"/>
                <a:cs typeface="Times New Roman"/>
              </a:rPr>
              <a:t>second,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 </a:t>
            </a:r>
            <a:r>
              <a:rPr sz="2800" b="1" i="1" dirty="0">
                <a:latin typeface="Times New Roman"/>
                <a:cs typeface="Times New Roman"/>
              </a:rPr>
              <a:t> (1/2) frame </a:t>
            </a:r>
            <a:r>
              <a:rPr sz="2800" b="1" i="1" spc="-5" dirty="0">
                <a:latin typeface="Times New Roman"/>
                <a:cs typeface="Times New Roman"/>
              </a:rPr>
              <a:t>per millisecond.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load is (1/2). In this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case S = G × </a:t>
            </a:r>
            <a:r>
              <a:rPr sz="2800" b="1" i="1" spc="5" dirty="0">
                <a:latin typeface="Times New Roman"/>
                <a:cs typeface="Times New Roman"/>
              </a:rPr>
              <a:t>e</a:t>
            </a:r>
            <a:r>
              <a:rPr sz="2775" b="1" i="1" spc="7" baseline="25525" dirty="0">
                <a:latin typeface="Times New Roman"/>
                <a:cs typeface="Times New Roman"/>
              </a:rPr>
              <a:t>−G  </a:t>
            </a:r>
            <a:r>
              <a:rPr sz="2800" b="1" i="1" dirty="0">
                <a:latin typeface="Times New Roman"/>
                <a:cs typeface="Times New Roman"/>
              </a:rPr>
              <a:t>or </a:t>
            </a:r>
            <a:r>
              <a:rPr sz="2800" b="1" i="1" spc="-5" dirty="0">
                <a:latin typeface="Times New Roman"/>
                <a:cs typeface="Times New Roman"/>
              </a:rPr>
              <a:t>S = </a:t>
            </a:r>
            <a:r>
              <a:rPr sz="2800" b="1" i="1" dirty="0">
                <a:latin typeface="Times New Roman"/>
                <a:cs typeface="Times New Roman"/>
              </a:rPr>
              <a:t>0.303 </a:t>
            </a:r>
            <a:r>
              <a:rPr sz="2800" b="1" i="1" spc="-5" dirty="0">
                <a:latin typeface="Times New Roman"/>
                <a:cs typeface="Times New Roman"/>
              </a:rPr>
              <a:t>(30.3 percent). This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means</a:t>
            </a:r>
            <a:r>
              <a:rPr sz="2800" b="1" i="1" dirty="0">
                <a:latin typeface="Times New Roman"/>
                <a:cs typeface="Times New Roman"/>
              </a:rPr>
              <a:t> that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throughput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500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×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0.0303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=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151.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Only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151 </a:t>
            </a:r>
            <a:r>
              <a:rPr sz="2800" b="1" i="1" spc="-5" dirty="0">
                <a:latin typeface="Times New Roman"/>
                <a:cs typeface="Times New Roman"/>
              </a:rPr>
              <a:t>frames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out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 500 </a:t>
            </a:r>
            <a:r>
              <a:rPr sz="2800" b="1" i="1" spc="-5" dirty="0">
                <a:latin typeface="Times New Roman"/>
                <a:cs typeface="Times New Roman"/>
              </a:rPr>
              <a:t>will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probably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survive.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00">
              <a:latin typeface="Times New Roman"/>
              <a:cs typeface="Times New Roman"/>
            </a:endParaRPr>
          </a:p>
          <a:p>
            <a:pPr marL="403860" marR="76835" indent="-353695" algn="just">
              <a:lnSpc>
                <a:spcPct val="100000"/>
              </a:lnSpc>
            </a:pPr>
            <a:r>
              <a:rPr sz="28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c. </a:t>
            </a:r>
            <a:r>
              <a:rPr sz="2800" b="1" i="1" spc="-5" dirty="0">
                <a:latin typeface="Times New Roman"/>
                <a:cs typeface="Times New Roman"/>
              </a:rPr>
              <a:t>If the </a:t>
            </a:r>
            <a:r>
              <a:rPr sz="2800" b="1" i="1" dirty="0">
                <a:latin typeface="Times New Roman"/>
                <a:cs typeface="Times New Roman"/>
              </a:rPr>
              <a:t>system </a:t>
            </a:r>
            <a:r>
              <a:rPr sz="2800" b="1" i="1" spc="-5" dirty="0">
                <a:latin typeface="Times New Roman"/>
                <a:cs typeface="Times New Roman"/>
              </a:rPr>
              <a:t>creates 250 frames per second, this is (1/4)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</a:t>
            </a:r>
            <a:r>
              <a:rPr sz="2800" b="1" i="1" spc="45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per</a:t>
            </a:r>
            <a:r>
              <a:rPr sz="2800" b="1" i="1" spc="45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millisecond.</a:t>
            </a:r>
            <a:r>
              <a:rPr sz="2800" b="1" i="1" spc="4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45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load</a:t>
            </a:r>
            <a:r>
              <a:rPr sz="2800" b="1" i="1" spc="45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45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(1/4).</a:t>
            </a:r>
            <a:r>
              <a:rPr sz="2800" b="1" i="1" spc="4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spc="4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spc="4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case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 = G × e </a:t>
            </a:r>
            <a:r>
              <a:rPr sz="2775" b="1" i="1" spc="7" baseline="25525" dirty="0">
                <a:latin typeface="Times New Roman"/>
                <a:cs typeface="Times New Roman"/>
              </a:rPr>
              <a:t>−G</a:t>
            </a:r>
            <a:r>
              <a:rPr sz="2775" b="1" i="1" spc="15" baseline="255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 </a:t>
            </a:r>
            <a:r>
              <a:rPr sz="2800" b="1" i="1" spc="-5" dirty="0">
                <a:latin typeface="Times New Roman"/>
                <a:cs typeface="Times New Roman"/>
              </a:rPr>
              <a:t>S = </a:t>
            </a:r>
            <a:r>
              <a:rPr sz="2800" b="1" i="1" dirty="0">
                <a:latin typeface="Times New Roman"/>
                <a:cs typeface="Times New Roman"/>
              </a:rPr>
              <a:t>0.195 </a:t>
            </a:r>
            <a:r>
              <a:rPr sz="2800" b="1" i="1" spc="-5" dirty="0">
                <a:latin typeface="Times New Roman"/>
                <a:cs typeface="Times New Roman"/>
              </a:rPr>
              <a:t>(19.5 percent). </a:t>
            </a:r>
            <a:r>
              <a:rPr sz="2800" b="1" i="1" dirty="0">
                <a:latin typeface="Times New Roman"/>
                <a:cs typeface="Times New Roman"/>
              </a:rPr>
              <a:t>This </a:t>
            </a:r>
            <a:r>
              <a:rPr sz="2800" b="1" i="1" spc="-5" dirty="0">
                <a:latin typeface="Times New Roman"/>
                <a:cs typeface="Times New Roman"/>
              </a:rPr>
              <a:t>means </a:t>
            </a:r>
            <a:r>
              <a:rPr sz="2800" b="1" i="1" dirty="0">
                <a:latin typeface="Times New Roman"/>
                <a:cs typeface="Times New Roman"/>
              </a:rPr>
              <a:t> that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throughput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250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×</a:t>
            </a:r>
            <a:r>
              <a:rPr sz="2800" b="1" i="1" dirty="0">
                <a:latin typeface="Times New Roman"/>
                <a:cs typeface="Times New Roman"/>
              </a:rPr>
              <a:t> 0.195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=</a:t>
            </a:r>
            <a:r>
              <a:rPr sz="2800" b="1" i="1" dirty="0">
                <a:latin typeface="Times New Roman"/>
                <a:cs typeface="Times New Roman"/>
              </a:rPr>
              <a:t> 49.</a:t>
            </a:r>
            <a:r>
              <a:rPr sz="2800" b="1" i="1" spc="7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Only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49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frames </a:t>
            </a:r>
            <a:r>
              <a:rPr sz="2800" b="1" i="1" dirty="0">
                <a:latin typeface="Times New Roman"/>
                <a:cs typeface="Times New Roman"/>
              </a:rPr>
              <a:t>out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 250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will</a:t>
            </a:r>
            <a:r>
              <a:rPr sz="2800" b="1" i="1" dirty="0">
                <a:latin typeface="Times New Roman"/>
                <a:cs typeface="Times New Roman"/>
              </a:rPr>
              <a:t> probably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survive.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403301"/>
            <a:ext cx="61353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1314" algn="l"/>
              </a:tabLst>
            </a:pP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Figure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12.8	</a:t>
            </a:r>
            <a:r>
              <a:rPr sz="2000" i="1" dirty="0">
                <a:latin typeface="Times New Roman"/>
                <a:cs typeface="Times New Roman"/>
              </a:rPr>
              <a:t>Space/time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model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of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the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collision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CSMA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400" y="1096116"/>
            <a:ext cx="7862799" cy="49964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403301"/>
            <a:ext cx="43580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1314" algn="l"/>
              </a:tabLst>
            </a:pP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Figure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12.9	</a:t>
            </a:r>
            <a:r>
              <a:rPr sz="2000" i="1" spc="-10" dirty="0">
                <a:latin typeface="Times New Roman"/>
                <a:cs typeface="Times New Roman"/>
              </a:rPr>
              <a:t>Vulnerable</a:t>
            </a:r>
            <a:r>
              <a:rPr sz="2000" i="1" spc="-6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time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CSMA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035175"/>
            <a:ext cx="8827500" cy="324618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52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400" y="8382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3540" y="250952"/>
            <a:ext cx="5787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3714" algn="l"/>
              </a:tabLst>
            </a:pP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Times New Roman"/>
                <a:cs typeface="Times New Roman"/>
              </a:rPr>
              <a:t>12.10	</a:t>
            </a:r>
            <a:r>
              <a:rPr sz="2000" i="1" spc="-5" dirty="0">
                <a:latin typeface="Times New Roman"/>
                <a:cs typeface="Times New Roman"/>
              </a:rPr>
              <a:t>Behavior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of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three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persistence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methods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2400" y="914463"/>
            <a:ext cx="8763000" cy="5524500"/>
            <a:chOff x="152400" y="914463"/>
            <a:chExt cx="8763000" cy="5524500"/>
          </a:xfrm>
        </p:grpSpPr>
        <p:sp>
          <p:nvSpPr>
            <p:cNvPr id="6" name="object 6"/>
            <p:cNvSpPr/>
            <p:nvPr/>
          </p:nvSpPr>
          <p:spPr>
            <a:xfrm>
              <a:off x="152400" y="6400799"/>
              <a:ext cx="8763000" cy="0"/>
            </a:xfrm>
            <a:custGeom>
              <a:avLst/>
              <a:gdLst/>
              <a:ahLst/>
              <a:cxnLst/>
              <a:rect l="l" t="t" r="r" b="b"/>
              <a:pathLst>
                <a:path w="8763000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7350" y="914463"/>
              <a:ext cx="5100574" cy="5412791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403301"/>
            <a:ext cx="63830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6570" algn="l"/>
              </a:tabLst>
            </a:pP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Figure </a:t>
            </a:r>
            <a:r>
              <a:rPr sz="2400" spc="-30" dirty="0">
                <a:solidFill>
                  <a:srgbClr val="3333CC"/>
                </a:solidFill>
                <a:latin typeface="Times New Roman"/>
                <a:cs typeface="Times New Roman"/>
              </a:rPr>
              <a:t>12.11	</a:t>
            </a:r>
            <a:r>
              <a:rPr sz="2000" i="1" spc="-5" dirty="0">
                <a:latin typeface="Times New Roman"/>
                <a:cs typeface="Times New Roman"/>
              </a:rPr>
              <a:t>Flow </a:t>
            </a:r>
            <a:r>
              <a:rPr sz="2000" i="1" dirty="0">
                <a:latin typeface="Times New Roman"/>
                <a:cs typeface="Times New Roman"/>
              </a:rPr>
              <a:t>diagram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for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three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persistence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methods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0075" y="1173225"/>
            <a:ext cx="5064125" cy="491467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403301"/>
            <a:ext cx="56826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3714" algn="l"/>
              </a:tabLst>
            </a:pP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Figure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12.12	</a:t>
            </a:r>
            <a:r>
              <a:rPr sz="2000" i="1" spc="-5" dirty="0">
                <a:latin typeface="Times New Roman"/>
                <a:cs typeface="Times New Roman"/>
              </a:rPr>
              <a:t>Collision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of the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first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bit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CSMA/CD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" y="2033651"/>
            <a:ext cx="9042070" cy="25659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24</a:t>
            </a:fld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403301"/>
            <a:ext cx="55403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12.13 </a:t>
            </a:r>
            <a:r>
              <a:rPr sz="2000" i="1" spc="-5" dirty="0">
                <a:latin typeface="Times New Roman"/>
                <a:cs typeface="Times New Roman"/>
              </a:rPr>
              <a:t>Collision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and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abortion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 </a:t>
            </a:r>
            <a:r>
              <a:rPr sz="2000" i="1" spc="-5" dirty="0">
                <a:latin typeface="Times New Roman"/>
                <a:cs typeface="Times New Roman"/>
              </a:rPr>
              <a:t>CSMA/CD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25" y="2081276"/>
            <a:ext cx="8978577" cy="28993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63"/>
            <a:ext cx="8839200" cy="3200400"/>
            <a:chOff x="76200" y="63"/>
            <a:chExt cx="8839200" cy="3200400"/>
          </a:xfrm>
        </p:grpSpPr>
        <p:sp>
          <p:nvSpPr>
            <p:cNvPr id="3" name="object 3"/>
            <p:cNvSpPr/>
            <p:nvPr/>
          </p:nvSpPr>
          <p:spPr>
            <a:xfrm>
              <a:off x="711200" y="63"/>
              <a:ext cx="31750" cy="973455"/>
            </a:xfrm>
            <a:custGeom>
              <a:avLst/>
              <a:gdLst/>
              <a:ahLst/>
              <a:cxnLst/>
              <a:rect l="l" t="t" r="r" b="b"/>
              <a:pathLst>
                <a:path w="31750" h="973455">
                  <a:moveTo>
                    <a:pt x="31750" y="565086"/>
                  </a:moveTo>
                  <a:lnTo>
                    <a:pt x="0" y="565086"/>
                  </a:lnTo>
                  <a:lnTo>
                    <a:pt x="0" y="973137"/>
                  </a:lnTo>
                  <a:lnTo>
                    <a:pt x="31750" y="973137"/>
                  </a:lnTo>
                  <a:lnTo>
                    <a:pt x="31750" y="565086"/>
                  </a:lnTo>
                  <a:close/>
                </a:path>
                <a:path w="31750" h="973455">
                  <a:moveTo>
                    <a:pt x="31750" y="0"/>
                  </a:moveTo>
                  <a:lnTo>
                    <a:pt x="0" y="0"/>
                  </a:lnTo>
                  <a:lnTo>
                    <a:pt x="0" y="533336"/>
                  </a:lnTo>
                  <a:lnTo>
                    <a:pt x="31750" y="533336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912" y="533399"/>
              <a:ext cx="8226425" cy="317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8600" y="973200"/>
              <a:ext cx="8686800" cy="2227580"/>
            </a:xfrm>
            <a:custGeom>
              <a:avLst/>
              <a:gdLst/>
              <a:ahLst/>
              <a:cxnLst/>
              <a:rect l="l" t="t" r="r" b="b"/>
              <a:pathLst>
                <a:path w="8686800" h="2227580">
                  <a:moveTo>
                    <a:pt x="8686800" y="0"/>
                  </a:moveTo>
                  <a:lnTo>
                    <a:pt x="0" y="0"/>
                  </a:lnTo>
                  <a:lnTo>
                    <a:pt x="0" y="2227199"/>
                  </a:lnTo>
                  <a:lnTo>
                    <a:pt x="8686800" y="2227199"/>
                  </a:lnTo>
                  <a:lnTo>
                    <a:pt x="8686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2044" y="19303"/>
            <a:ext cx="23310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sz="3200" i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FF0000"/>
                </a:solidFill>
                <a:latin typeface="Times New Roman"/>
                <a:cs typeface="Times New Roman"/>
              </a:rPr>
              <a:t>12.5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93039" y="994105"/>
            <a:ext cx="8658860" cy="5316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0" marR="17780" algn="just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latin typeface="Times New Roman"/>
                <a:cs typeface="Times New Roman"/>
              </a:rPr>
              <a:t>A network </a:t>
            </a:r>
            <a:r>
              <a:rPr sz="2800" b="1" i="1" dirty="0">
                <a:latin typeface="Times New Roman"/>
                <a:cs typeface="Times New Roman"/>
              </a:rPr>
              <a:t>using </a:t>
            </a:r>
            <a:r>
              <a:rPr sz="2800" b="1" i="1" spc="-5" dirty="0">
                <a:latin typeface="Times New Roman"/>
                <a:cs typeface="Times New Roman"/>
              </a:rPr>
              <a:t>CSMA/CD </a:t>
            </a:r>
            <a:r>
              <a:rPr sz="2800" b="1" i="1" dirty="0">
                <a:latin typeface="Times New Roman"/>
                <a:cs typeface="Times New Roman"/>
              </a:rPr>
              <a:t>has </a:t>
            </a:r>
            <a:r>
              <a:rPr sz="2800" b="1" i="1" spc="-5" dirty="0">
                <a:latin typeface="Times New Roman"/>
                <a:cs typeface="Times New Roman"/>
              </a:rPr>
              <a:t>a bandwidth of 10 </a:t>
            </a:r>
            <a:r>
              <a:rPr sz="2800" b="1" i="1" dirty="0">
                <a:latin typeface="Times New Roman"/>
                <a:cs typeface="Times New Roman"/>
              </a:rPr>
              <a:t>Mbps.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If the maximum propagation time (including the delays in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devices</a:t>
            </a:r>
            <a:r>
              <a:rPr sz="2800" b="1" i="1" dirty="0">
                <a:latin typeface="Times New Roman"/>
                <a:cs typeface="Times New Roman"/>
              </a:rPr>
              <a:t> and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ignoring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time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needed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send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jamming signal, </a:t>
            </a:r>
            <a:r>
              <a:rPr sz="2800" b="1" i="1" dirty="0">
                <a:latin typeface="Times New Roman"/>
                <a:cs typeface="Times New Roman"/>
              </a:rPr>
              <a:t>as </a:t>
            </a:r>
            <a:r>
              <a:rPr sz="2800" b="1" i="1" spc="-5" dirty="0">
                <a:latin typeface="Times New Roman"/>
                <a:cs typeface="Times New Roman"/>
              </a:rPr>
              <a:t>we see later) is 25.6 μs, </a:t>
            </a:r>
            <a:r>
              <a:rPr sz="2800" b="1" i="1" dirty="0">
                <a:latin typeface="Times New Roman"/>
                <a:cs typeface="Times New Roman"/>
              </a:rPr>
              <a:t>what </a:t>
            </a:r>
            <a:r>
              <a:rPr sz="2800" b="1" i="1" spc="-5" dirty="0">
                <a:latin typeface="Times New Roman"/>
                <a:cs typeface="Times New Roman"/>
              </a:rPr>
              <a:t>is 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minimum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size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the frame?</a:t>
            </a:r>
            <a:endParaRPr sz="2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34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50800" marR="93980" algn="just">
              <a:lnSpc>
                <a:spcPct val="100000"/>
              </a:lnSpc>
              <a:spcBef>
                <a:spcPts val="5"/>
              </a:spcBef>
            </a:pP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45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frame</a:t>
            </a:r>
            <a:r>
              <a:rPr sz="2800" b="1" i="1" spc="4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transmission</a:t>
            </a:r>
            <a:r>
              <a:rPr sz="2800" b="1" i="1" spc="4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time</a:t>
            </a:r>
            <a:r>
              <a:rPr sz="2800" b="1" i="1" spc="434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45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</a:t>
            </a:r>
            <a:r>
              <a:rPr sz="2775" b="1" i="1" baseline="-13513" dirty="0">
                <a:latin typeface="Times New Roman"/>
                <a:cs typeface="Times New Roman"/>
              </a:rPr>
              <a:t>fr</a:t>
            </a:r>
            <a:r>
              <a:rPr sz="2775" b="1" i="1" spc="352" baseline="-13513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=</a:t>
            </a:r>
            <a:r>
              <a:rPr sz="2800" b="1" i="1" spc="4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2</a:t>
            </a:r>
            <a:r>
              <a:rPr sz="2800" b="1" i="1" spc="4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×</a:t>
            </a:r>
            <a:r>
              <a:rPr sz="2800" b="1" i="1" spc="45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</a:t>
            </a:r>
            <a:r>
              <a:rPr sz="2775" b="1" i="1" baseline="-12012" dirty="0">
                <a:latin typeface="Times New Roman"/>
                <a:cs typeface="Times New Roman"/>
              </a:rPr>
              <a:t>p</a:t>
            </a:r>
            <a:r>
              <a:rPr sz="2775" b="1" i="1" spc="345" baseline="-12012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=</a:t>
            </a:r>
            <a:r>
              <a:rPr sz="2800" b="1" i="1" spc="48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51.2</a:t>
            </a:r>
            <a:r>
              <a:rPr sz="2800" b="1" i="1" spc="45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μs.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 means, in the worst case, a </a:t>
            </a:r>
            <a:r>
              <a:rPr sz="2800" b="1" i="1" dirty="0">
                <a:latin typeface="Times New Roman"/>
                <a:cs typeface="Times New Roman"/>
              </a:rPr>
              <a:t>station </a:t>
            </a:r>
            <a:r>
              <a:rPr sz="2800" b="1" i="1" spc="-5" dirty="0">
                <a:latin typeface="Times New Roman"/>
                <a:cs typeface="Times New Roman"/>
              </a:rPr>
              <a:t>needs to transmit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period</a:t>
            </a:r>
            <a:r>
              <a:rPr sz="2800" b="1" i="1" dirty="0">
                <a:latin typeface="Times New Roman"/>
                <a:cs typeface="Times New Roman"/>
              </a:rPr>
              <a:t> of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51.2</a:t>
            </a:r>
            <a:r>
              <a:rPr sz="2800" b="1" i="1" dirty="0">
                <a:latin typeface="Times New Roman"/>
                <a:cs typeface="Times New Roman"/>
              </a:rPr>
              <a:t> μs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detect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collision.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minimum</a:t>
            </a:r>
            <a:r>
              <a:rPr sz="2800" b="1" i="1" spc="36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size</a:t>
            </a:r>
            <a:r>
              <a:rPr sz="2800" b="1" i="1" spc="3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spc="3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36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frame</a:t>
            </a:r>
            <a:r>
              <a:rPr sz="2800" b="1" i="1" spc="3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3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</a:t>
            </a:r>
            <a:r>
              <a:rPr sz="2800" b="1" i="1" spc="3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Mbps</a:t>
            </a:r>
            <a:r>
              <a:rPr sz="2800" b="1" i="1" spc="3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×</a:t>
            </a:r>
            <a:r>
              <a:rPr sz="2800" b="1" i="1" spc="3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51.2</a:t>
            </a:r>
            <a:r>
              <a:rPr sz="2800" b="1" i="1" spc="37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μs</a:t>
            </a:r>
            <a:r>
              <a:rPr sz="2800" b="1" i="1" spc="3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=</a:t>
            </a:r>
            <a:r>
              <a:rPr sz="2800" b="1" i="1" spc="3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512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bits </a:t>
            </a:r>
            <a:r>
              <a:rPr sz="2800" b="1" i="1" dirty="0">
                <a:latin typeface="Times New Roman"/>
                <a:cs typeface="Times New Roman"/>
              </a:rPr>
              <a:t>or 64 </a:t>
            </a:r>
            <a:r>
              <a:rPr sz="2800" b="1" i="1" spc="-5" dirty="0">
                <a:latin typeface="Times New Roman"/>
                <a:cs typeface="Times New Roman"/>
              </a:rPr>
              <a:t>bytes. This is actually the minimum size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 for</a:t>
            </a:r>
            <a:r>
              <a:rPr sz="2800" b="1" i="1" dirty="0">
                <a:latin typeface="Times New Roman"/>
                <a:cs typeface="Times New Roman"/>
              </a:rPr>
              <a:t> Standard </a:t>
            </a:r>
            <a:r>
              <a:rPr sz="2800" b="1" i="1" spc="-5" dirty="0">
                <a:latin typeface="Times New Roman"/>
                <a:cs typeface="Times New Roman"/>
              </a:rPr>
              <a:t>Ethernet.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8152" y="1027942"/>
            <a:ext cx="6286208" cy="506805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403301"/>
            <a:ext cx="52216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3714" algn="l"/>
              </a:tabLst>
            </a:pP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Figure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12.14	</a:t>
            </a:r>
            <a:r>
              <a:rPr sz="2000" i="1" spc="-5" dirty="0">
                <a:latin typeface="Times New Roman"/>
                <a:cs typeface="Times New Roman"/>
              </a:rPr>
              <a:t>Flow </a:t>
            </a:r>
            <a:r>
              <a:rPr sz="2000" i="1" dirty="0">
                <a:latin typeface="Times New Roman"/>
                <a:cs typeface="Times New Roman"/>
              </a:rPr>
              <a:t>diagram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for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the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CSMA/CD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403301"/>
            <a:ext cx="75311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3714" algn="l"/>
              </a:tabLst>
            </a:pP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Figure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12.15	</a:t>
            </a:r>
            <a:r>
              <a:rPr sz="2000" i="1" dirty="0">
                <a:latin typeface="Times New Roman"/>
                <a:cs typeface="Times New Roman"/>
              </a:rPr>
              <a:t>Energy </a:t>
            </a:r>
            <a:r>
              <a:rPr sz="2000" i="1" spc="-5" dirty="0">
                <a:latin typeface="Times New Roman"/>
                <a:cs typeface="Times New Roman"/>
              </a:rPr>
              <a:t>level </a:t>
            </a:r>
            <a:r>
              <a:rPr sz="2000" i="1" dirty="0">
                <a:latin typeface="Times New Roman"/>
                <a:cs typeface="Times New Roman"/>
              </a:rPr>
              <a:t>during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transmission,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idleness,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or</a:t>
            </a:r>
            <a:r>
              <a:rPr sz="2000" i="1" spc="-5" dirty="0">
                <a:latin typeface="Times New Roman"/>
                <a:cs typeface="Times New Roman"/>
              </a:rPr>
              <a:t> collision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387" y="2409604"/>
            <a:ext cx="7199340" cy="218184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403301"/>
            <a:ext cx="40017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3714" algn="l"/>
              </a:tabLst>
            </a:pP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Figure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12.16	</a:t>
            </a:r>
            <a:r>
              <a:rPr sz="2000" i="1" spc="-15" dirty="0">
                <a:latin typeface="Times New Roman"/>
                <a:cs typeface="Times New Roman"/>
              </a:rPr>
              <a:t>Timing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CSMA/CA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412" y="2468471"/>
            <a:ext cx="8498452" cy="18964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63"/>
            <a:ext cx="8593455" cy="1052830"/>
            <a:chOff x="76200" y="63"/>
            <a:chExt cx="8593455" cy="1052830"/>
          </a:xfrm>
        </p:grpSpPr>
        <p:sp>
          <p:nvSpPr>
            <p:cNvPr id="3" name="object 3"/>
            <p:cNvSpPr/>
            <p:nvPr/>
          </p:nvSpPr>
          <p:spPr>
            <a:xfrm>
              <a:off x="711200" y="63"/>
              <a:ext cx="31750" cy="1052830"/>
            </a:xfrm>
            <a:custGeom>
              <a:avLst/>
              <a:gdLst/>
              <a:ahLst/>
              <a:cxnLst/>
              <a:rect l="l" t="t" r="r" b="b"/>
              <a:pathLst>
                <a:path w="31750" h="1052830">
                  <a:moveTo>
                    <a:pt x="31750" y="565086"/>
                  </a:moveTo>
                  <a:lnTo>
                    <a:pt x="0" y="565086"/>
                  </a:lnTo>
                  <a:lnTo>
                    <a:pt x="0" y="1052512"/>
                  </a:lnTo>
                  <a:lnTo>
                    <a:pt x="31750" y="1052512"/>
                  </a:lnTo>
                  <a:lnTo>
                    <a:pt x="31750" y="565086"/>
                  </a:lnTo>
                  <a:close/>
                </a:path>
                <a:path w="31750" h="1052830">
                  <a:moveTo>
                    <a:pt x="31750" y="0"/>
                  </a:moveTo>
                  <a:lnTo>
                    <a:pt x="0" y="0"/>
                  </a:lnTo>
                  <a:lnTo>
                    <a:pt x="0" y="533336"/>
                  </a:lnTo>
                  <a:lnTo>
                    <a:pt x="31750" y="533336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912" y="533399"/>
              <a:ext cx="8226425" cy="31750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457200" y="26670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8787" y="3886200"/>
            <a:ext cx="8154034" cy="0"/>
          </a:xfrm>
          <a:custGeom>
            <a:avLst/>
            <a:gdLst/>
            <a:ahLst/>
            <a:cxnLst/>
            <a:rect l="l" t="t" r="r" b="b"/>
            <a:pathLst>
              <a:path w="8154034">
                <a:moveTo>
                  <a:pt x="0" y="0"/>
                </a:moveTo>
                <a:lnTo>
                  <a:pt x="8153463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290" rIns="0" bIns="0" rtlCol="0">
            <a:spAutoFit/>
          </a:bodyPr>
          <a:lstStyle/>
          <a:p>
            <a:pPr marL="93345" marR="71755" indent="31750">
              <a:lnSpc>
                <a:spcPct val="100000"/>
              </a:lnSpc>
              <a:spcBef>
                <a:spcPts val="270"/>
              </a:spcBef>
            </a:pPr>
            <a:r>
              <a:rPr sz="3200" b="1" dirty="0">
                <a:latin typeface="Arial"/>
                <a:cs typeface="Arial"/>
              </a:rPr>
              <a:t>In CSMA/CA, the IFS can also be used to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define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priority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of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 station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or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frame.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1981136"/>
            <a:ext cx="1143000" cy="56673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69442" y="2002358"/>
            <a:ext cx="7162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63"/>
            <a:ext cx="8593455" cy="1052830"/>
            <a:chOff x="76200" y="63"/>
            <a:chExt cx="8593455" cy="1052830"/>
          </a:xfrm>
        </p:grpSpPr>
        <p:sp>
          <p:nvSpPr>
            <p:cNvPr id="3" name="object 3"/>
            <p:cNvSpPr/>
            <p:nvPr/>
          </p:nvSpPr>
          <p:spPr>
            <a:xfrm>
              <a:off x="711200" y="63"/>
              <a:ext cx="31750" cy="1052830"/>
            </a:xfrm>
            <a:custGeom>
              <a:avLst/>
              <a:gdLst/>
              <a:ahLst/>
              <a:cxnLst/>
              <a:rect l="l" t="t" r="r" b="b"/>
              <a:pathLst>
                <a:path w="31750" h="1052830">
                  <a:moveTo>
                    <a:pt x="31750" y="565086"/>
                  </a:moveTo>
                  <a:lnTo>
                    <a:pt x="0" y="565086"/>
                  </a:lnTo>
                  <a:lnTo>
                    <a:pt x="0" y="1052512"/>
                  </a:lnTo>
                  <a:lnTo>
                    <a:pt x="31750" y="1052512"/>
                  </a:lnTo>
                  <a:lnTo>
                    <a:pt x="31750" y="565086"/>
                  </a:lnTo>
                  <a:close/>
                </a:path>
                <a:path w="31750" h="1052830">
                  <a:moveTo>
                    <a:pt x="31750" y="0"/>
                  </a:moveTo>
                  <a:lnTo>
                    <a:pt x="0" y="0"/>
                  </a:lnTo>
                  <a:lnTo>
                    <a:pt x="0" y="533336"/>
                  </a:lnTo>
                  <a:lnTo>
                    <a:pt x="31750" y="533336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912" y="533399"/>
              <a:ext cx="8226425" cy="31750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457200" y="26670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8787" y="5410200"/>
            <a:ext cx="8154034" cy="0"/>
          </a:xfrm>
          <a:custGeom>
            <a:avLst/>
            <a:gdLst/>
            <a:ahLst/>
            <a:cxnLst/>
            <a:rect l="l" t="t" r="r" b="b"/>
            <a:pathLst>
              <a:path w="8154034">
                <a:moveTo>
                  <a:pt x="0" y="0"/>
                </a:moveTo>
                <a:lnTo>
                  <a:pt x="8153463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5300" y="2759075"/>
            <a:ext cx="8077200" cy="2529205"/>
          </a:xfrm>
          <a:custGeom>
            <a:avLst/>
            <a:gdLst/>
            <a:ahLst/>
            <a:cxnLst/>
            <a:rect l="l" t="t" r="r" b="b"/>
            <a:pathLst>
              <a:path w="8077200" h="2529204">
                <a:moveTo>
                  <a:pt x="8077200" y="0"/>
                </a:moveTo>
                <a:lnTo>
                  <a:pt x="0" y="0"/>
                </a:lnTo>
                <a:lnTo>
                  <a:pt x="0" y="2528951"/>
                </a:lnTo>
                <a:lnTo>
                  <a:pt x="8077200" y="2528951"/>
                </a:lnTo>
                <a:lnTo>
                  <a:pt x="8077200" y="0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3282" y="2780538"/>
            <a:ext cx="7254240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0" marR="147320" indent="-1905" algn="ctr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Arial"/>
                <a:cs typeface="Arial"/>
              </a:rPr>
              <a:t>In CSMA/CA, if the station finds the 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channel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50" dirty="0">
                <a:latin typeface="Arial"/>
                <a:cs typeface="Arial"/>
              </a:rPr>
              <a:t>busy,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it does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not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restart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timer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of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contention</a:t>
            </a:r>
            <a:r>
              <a:rPr sz="3200" b="1" spc="-4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window;</a:t>
            </a:r>
            <a:endParaRPr sz="3200">
              <a:latin typeface="Arial"/>
              <a:cs typeface="Arial"/>
            </a:endParaRPr>
          </a:p>
          <a:p>
            <a:pPr marL="12700" marR="5080" algn="ctr">
              <a:lnSpc>
                <a:spcPct val="100000"/>
              </a:lnSpc>
            </a:pPr>
            <a:r>
              <a:rPr sz="3200" b="1" dirty="0">
                <a:latin typeface="Arial"/>
                <a:cs typeface="Arial"/>
              </a:rPr>
              <a:t>it</a:t>
            </a:r>
            <a:r>
              <a:rPr sz="3200" b="1" spc="-5" dirty="0">
                <a:latin typeface="Arial"/>
                <a:cs typeface="Arial"/>
              </a:rPr>
              <a:t> stops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timer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and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restarts</a:t>
            </a:r>
            <a:r>
              <a:rPr sz="3200" b="1" spc="-5" dirty="0">
                <a:latin typeface="Arial"/>
                <a:cs typeface="Arial"/>
              </a:rPr>
              <a:t> it </a:t>
            </a:r>
            <a:r>
              <a:rPr sz="3200" b="1" dirty="0">
                <a:latin typeface="Arial"/>
                <a:cs typeface="Arial"/>
              </a:rPr>
              <a:t>when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channel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becomes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idle.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1981136"/>
            <a:ext cx="1143000" cy="56673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69442" y="2002358"/>
            <a:ext cx="7162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403301"/>
            <a:ext cx="48202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3714" algn="l"/>
              </a:tabLst>
            </a:pP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Figure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12.17	</a:t>
            </a:r>
            <a:r>
              <a:rPr sz="2000" i="1" spc="-5" dirty="0">
                <a:latin typeface="Times New Roman"/>
                <a:cs typeface="Times New Roman"/>
              </a:rPr>
              <a:t>Flow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diagram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for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CSMA/CA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1092200"/>
            <a:ext cx="3025775" cy="48514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32</a:t>
            </a:fld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0"/>
            <a:ext cx="9153525" cy="1381125"/>
            <a:chOff x="-4762" y="0"/>
            <a:chExt cx="9153525" cy="138112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1371600"/>
            </a:xfrm>
            <a:custGeom>
              <a:avLst/>
              <a:gdLst/>
              <a:ahLst/>
              <a:cxnLst/>
              <a:rect l="l" t="t" r="r" b="b"/>
              <a:pathLst>
                <a:path w="9144000" h="1371600">
                  <a:moveTo>
                    <a:pt x="9144000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9144000" y="1371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1371600"/>
            </a:xfrm>
            <a:custGeom>
              <a:avLst/>
              <a:gdLst/>
              <a:ahLst/>
              <a:cxnLst/>
              <a:rect l="l" t="t" r="r" b="b"/>
              <a:pathLst>
                <a:path w="9144000" h="1371600">
                  <a:moveTo>
                    <a:pt x="0" y="1371600"/>
                  </a:moveTo>
                  <a:lnTo>
                    <a:pt x="9144000" y="13716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" y="324611"/>
              <a:ext cx="941832" cy="8991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7012" y="324611"/>
              <a:ext cx="669036" cy="89915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2648" y="324611"/>
              <a:ext cx="5614416" cy="89915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07340" y="425957"/>
            <a:ext cx="56502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62355" algn="l"/>
              </a:tabLst>
            </a:pPr>
            <a:r>
              <a:rPr sz="3200" spc="5" dirty="0">
                <a:latin typeface="Times New Roman"/>
                <a:cs typeface="Times New Roman"/>
              </a:rPr>
              <a:t>12</a:t>
            </a:r>
            <a:r>
              <a:rPr sz="3200" dirty="0">
                <a:latin typeface="Times New Roman"/>
                <a:cs typeface="Times New Roman"/>
              </a:rPr>
              <a:t>-2	</a:t>
            </a:r>
            <a:r>
              <a:rPr sz="3200" spc="-5" dirty="0">
                <a:latin typeface="Times New Roman"/>
                <a:cs typeface="Times New Roman"/>
              </a:rPr>
              <a:t>C</a:t>
            </a:r>
            <a:r>
              <a:rPr sz="3200" spc="5" dirty="0">
                <a:latin typeface="Times New Roman"/>
                <a:cs typeface="Times New Roman"/>
              </a:rPr>
              <a:t>O</a:t>
            </a:r>
            <a:r>
              <a:rPr sz="3200" spc="-5" dirty="0">
                <a:latin typeface="Times New Roman"/>
                <a:cs typeface="Times New Roman"/>
              </a:rPr>
              <a:t>NTROLLE</a:t>
            </a:r>
            <a:r>
              <a:rPr sz="3200" dirty="0">
                <a:latin typeface="Times New Roman"/>
                <a:cs typeface="Times New Roman"/>
              </a:rPr>
              <a:t>D</a:t>
            </a:r>
            <a:r>
              <a:rPr sz="3200" spc="-2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ACCESS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5260" y="1455419"/>
            <a:ext cx="8514715" cy="2496820"/>
            <a:chOff x="175260" y="1455419"/>
            <a:chExt cx="8514715" cy="249682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1389" y="1674453"/>
              <a:ext cx="361872" cy="2737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8555" y="1455419"/>
              <a:ext cx="1950720" cy="7894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46376" y="1455419"/>
              <a:ext cx="1394460" cy="7894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71443" y="1455419"/>
              <a:ext cx="557783" cy="78943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86327" y="1455419"/>
              <a:ext cx="923544" cy="78943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66971" y="1455419"/>
              <a:ext cx="1597152" cy="78943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1224" y="1455419"/>
              <a:ext cx="1537716" cy="78943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16039" y="1455419"/>
              <a:ext cx="1002791" cy="78943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075931" y="1455419"/>
              <a:ext cx="1613916" cy="78943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5260" y="1882139"/>
              <a:ext cx="746760" cy="7894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9787" y="1882139"/>
              <a:ext cx="1063752" cy="78943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21307" y="1882139"/>
              <a:ext cx="1357884" cy="78943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346960" y="1882139"/>
              <a:ext cx="1458467" cy="78943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73195" y="1882139"/>
              <a:ext cx="984503" cy="78943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25468" y="1882139"/>
              <a:ext cx="923543" cy="78943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716780" y="1882139"/>
              <a:ext cx="1182624" cy="78943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67171" y="1882139"/>
              <a:ext cx="746760" cy="78943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980175" y="1882139"/>
              <a:ext cx="1141476" cy="78943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652260" y="1882139"/>
              <a:ext cx="557783" cy="78943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877812" y="1882139"/>
              <a:ext cx="685800" cy="78943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231379" y="1882139"/>
              <a:ext cx="1458468" cy="78943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75260" y="2308859"/>
              <a:ext cx="1478280" cy="78943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354835" y="2308859"/>
              <a:ext cx="1141476" cy="78943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197608" y="2308859"/>
              <a:ext cx="1399032" cy="78943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297936" y="2308859"/>
              <a:ext cx="667512" cy="78943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666744" y="2308859"/>
              <a:ext cx="984503" cy="78943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352544" y="2308859"/>
              <a:ext cx="1158239" cy="78943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212080" y="2308859"/>
              <a:ext cx="2033016" cy="78943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946391" y="2308859"/>
              <a:ext cx="804672" cy="78943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450836" y="2308859"/>
              <a:ext cx="1239012" cy="78943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75260" y="2735580"/>
              <a:ext cx="1597152" cy="78943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03020" y="2735580"/>
              <a:ext cx="557783" cy="78943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572768" y="2735580"/>
              <a:ext cx="915924" cy="78943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202180" y="2735580"/>
              <a:ext cx="1516380" cy="78943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432048" y="2735580"/>
              <a:ext cx="1219200" cy="78943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364736" y="2735580"/>
              <a:ext cx="1616964" cy="78943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695188" y="2735580"/>
              <a:ext cx="1950719" cy="78943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176516" y="2735580"/>
              <a:ext cx="588264" cy="78943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295388" y="2735580"/>
              <a:ext cx="1394459" cy="78943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75260" y="3162299"/>
              <a:ext cx="1694688" cy="78943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00556" y="3162299"/>
              <a:ext cx="557783" cy="789432"/>
            </a:xfrm>
            <a:prstGeom prst="rect">
              <a:avLst/>
            </a:prstGeom>
          </p:spPr>
        </p:pic>
      </p:grpSp>
      <p:grpSp>
        <p:nvGrpSpPr>
          <p:cNvPr id="51" name="object 51"/>
          <p:cNvGrpSpPr/>
          <p:nvPr/>
        </p:nvGrpSpPr>
        <p:grpSpPr>
          <a:xfrm>
            <a:off x="204215" y="4501896"/>
            <a:ext cx="5116195" cy="789940"/>
            <a:chOff x="204215" y="4501896"/>
            <a:chExt cx="5116195" cy="789940"/>
          </a:xfrm>
        </p:grpSpPr>
        <p:pic>
          <p:nvPicPr>
            <p:cNvPr id="52" name="object 5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04215" y="4501896"/>
              <a:ext cx="5116068" cy="789431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17575" y="4991100"/>
              <a:ext cx="4689348" cy="76200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383540" y="1546352"/>
            <a:ext cx="8072755" cy="4648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spc="3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controlled</a:t>
            </a:r>
            <a:r>
              <a:rPr sz="2800" b="1" i="1" spc="3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access</a:t>
            </a:r>
            <a:r>
              <a:rPr sz="2800" b="1" i="1" spc="-5" dirty="0">
                <a:latin typeface="Times New Roman"/>
                <a:cs typeface="Times New Roman"/>
              </a:rPr>
              <a:t>,</a:t>
            </a:r>
            <a:r>
              <a:rPr sz="2800" b="1" i="1" spc="2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3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stations</a:t>
            </a:r>
            <a:r>
              <a:rPr sz="2800" b="1" i="1" spc="3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consult</a:t>
            </a:r>
            <a:r>
              <a:rPr sz="2800" b="1" i="1" spc="3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one</a:t>
            </a:r>
            <a:r>
              <a:rPr sz="2800" b="1" i="1" spc="2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another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 </a:t>
            </a:r>
            <a:r>
              <a:rPr sz="2800" b="1" i="1" dirty="0">
                <a:latin typeface="Times New Roman"/>
                <a:cs typeface="Times New Roman"/>
              </a:rPr>
              <a:t>find </a:t>
            </a:r>
            <a:r>
              <a:rPr sz="2800" b="1" i="1" spc="-5" dirty="0">
                <a:latin typeface="Times New Roman"/>
                <a:cs typeface="Times New Roman"/>
              </a:rPr>
              <a:t>which station </a:t>
            </a:r>
            <a:r>
              <a:rPr sz="2800" b="1" i="1" dirty="0">
                <a:latin typeface="Times New Roman"/>
                <a:cs typeface="Times New Roman"/>
              </a:rPr>
              <a:t>has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right </a:t>
            </a:r>
            <a:r>
              <a:rPr sz="2800" b="1" i="1" spc="-5" dirty="0">
                <a:latin typeface="Times New Roman"/>
                <a:cs typeface="Times New Roman"/>
              </a:rPr>
              <a:t>to </a:t>
            </a:r>
            <a:r>
              <a:rPr sz="2800" b="1" i="1" dirty="0">
                <a:latin typeface="Times New Roman"/>
                <a:cs typeface="Times New Roman"/>
              </a:rPr>
              <a:t>send. </a:t>
            </a:r>
            <a:r>
              <a:rPr sz="2800" b="1" i="1" spc="-5" dirty="0">
                <a:latin typeface="Times New Roman"/>
                <a:cs typeface="Times New Roman"/>
              </a:rPr>
              <a:t>A station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cannot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send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unless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it</a:t>
            </a:r>
            <a:r>
              <a:rPr sz="2800" b="1" i="1" dirty="0">
                <a:latin typeface="Times New Roman"/>
                <a:cs typeface="Times New Roman"/>
              </a:rPr>
              <a:t> has </a:t>
            </a:r>
            <a:r>
              <a:rPr sz="2800" b="1" i="1" spc="-10" dirty="0">
                <a:latin typeface="Times New Roman"/>
                <a:cs typeface="Times New Roman"/>
              </a:rPr>
              <a:t>been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authorized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by </a:t>
            </a:r>
            <a:r>
              <a:rPr sz="2800" b="1" i="1" spc="-5" dirty="0">
                <a:latin typeface="Times New Roman"/>
                <a:cs typeface="Times New Roman"/>
              </a:rPr>
              <a:t>other </a:t>
            </a:r>
            <a:r>
              <a:rPr sz="2800" b="1" i="1" dirty="0">
                <a:latin typeface="Times New Roman"/>
                <a:cs typeface="Times New Roman"/>
              </a:rPr>
              <a:t> stations.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-1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discuss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three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popular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controlled-access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methods.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15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5"/>
              </a:spcBef>
            </a:pPr>
            <a:r>
              <a:rPr sz="28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12700" marR="6493510">
              <a:lnSpc>
                <a:spcPct val="100000"/>
              </a:lnSpc>
              <a:spcBef>
                <a:spcPts val="405"/>
              </a:spcBef>
            </a:pP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Reserva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t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ion 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Polling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45" dirty="0">
                <a:solidFill>
                  <a:srgbClr val="0033CC"/>
                </a:solidFill>
                <a:latin typeface="Times New Roman"/>
                <a:cs typeface="Times New Roman"/>
              </a:rPr>
              <a:t>Token</a:t>
            </a:r>
            <a:r>
              <a:rPr sz="2400" b="1" spc="-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Passing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403301"/>
            <a:ext cx="46024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3714" algn="l"/>
              </a:tabLst>
            </a:pP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Figure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12.18	</a:t>
            </a:r>
            <a:r>
              <a:rPr sz="2000" i="1" spc="-5" dirty="0">
                <a:latin typeface="Times New Roman"/>
                <a:cs typeface="Times New Roman"/>
              </a:rPr>
              <a:t>Reservation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access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method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412" y="2514600"/>
            <a:ext cx="7842387" cy="1828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34</a:t>
            </a:fld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403301"/>
            <a:ext cx="70180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3714" algn="l"/>
              </a:tabLst>
            </a:pP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Figure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12.19	</a:t>
            </a:r>
            <a:r>
              <a:rPr sz="2000" i="1" spc="-5" dirty="0">
                <a:latin typeface="Times New Roman"/>
                <a:cs typeface="Times New Roman"/>
              </a:rPr>
              <a:t>Select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and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poll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functions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polling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access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method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000" y="1978101"/>
            <a:ext cx="8478199" cy="305109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35</a:t>
            </a:fld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939" y="403301"/>
            <a:ext cx="87750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3714" algn="l"/>
              </a:tabLst>
            </a:pP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Figure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12.20	</a:t>
            </a:r>
            <a:r>
              <a:rPr sz="2000" i="1" dirty="0">
                <a:latin typeface="Times New Roman"/>
                <a:cs typeface="Times New Roman"/>
              </a:rPr>
              <a:t>Logical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ring and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physical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topology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in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token-passing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access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method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1136650"/>
            <a:ext cx="7102475" cy="502296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36</a:t>
            </a:fld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0"/>
            <a:ext cx="9153525" cy="1381125"/>
            <a:chOff x="-4762" y="0"/>
            <a:chExt cx="9153525" cy="138112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1371600"/>
            </a:xfrm>
            <a:custGeom>
              <a:avLst/>
              <a:gdLst/>
              <a:ahLst/>
              <a:cxnLst/>
              <a:rect l="l" t="t" r="r" b="b"/>
              <a:pathLst>
                <a:path w="9144000" h="1371600">
                  <a:moveTo>
                    <a:pt x="9144000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9144000" y="1371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1371600"/>
            </a:xfrm>
            <a:custGeom>
              <a:avLst/>
              <a:gdLst/>
              <a:ahLst/>
              <a:cxnLst/>
              <a:rect l="l" t="t" r="r" b="b"/>
              <a:pathLst>
                <a:path w="9144000" h="1371600">
                  <a:moveTo>
                    <a:pt x="0" y="1371600"/>
                  </a:moveTo>
                  <a:lnTo>
                    <a:pt x="9144000" y="13716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" y="324611"/>
              <a:ext cx="941832" cy="8991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7012" y="324611"/>
              <a:ext cx="669036" cy="89915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2648" y="324611"/>
              <a:ext cx="4809744" cy="89915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07340" y="425957"/>
            <a:ext cx="48450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62355" algn="l"/>
              </a:tabLst>
            </a:pPr>
            <a:r>
              <a:rPr sz="3200" dirty="0">
                <a:latin typeface="Times New Roman"/>
                <a:cs typeface="Times New Roman"/>
              </a:rPr>
              <a:t>12-3	</a:t>
            </a:r>
            <a:r>
              <a:rPr sz="3200" spc="-20" dirty="0">
                <a:latin typeface="Times New Roman"/>
                <a:cs typeface="Times New Roman"/>
              </a:rPr>
              <a:t>CHANNELIZATION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5260" y="1455419"/>
            <a:ext cx="8514715" cy="2496820"/>
            <a:chOff x="175260" y="1455419"/>
            <a:chExt cx="8514715" cy="249682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3137" y="1669889"/>
              <a:ext cx="2246109" cy="30573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0987" y="1455419"/>
              <a:ext cx="707136" cy="7894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50464" y="1455419"/>
              <a:ext cx="646176" cy="7894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70504" y="1455419"/>
              <a:ext cx="1673352" cy="78943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74463" y="1455419"/>
              <a:ext cx="588263" cy="78943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93336" y="1455419"/>
              <a:ext cx="1395984" cy="78943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63183" y="1455419"/>
              <a:ext cx="1556004" cy="78943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93052" y="1455419"/>
              <a:ext cx="766572" cy="78943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33488" y="1455419"/>
              <a:ext cx="1356359" cy="78943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5260" y="1882139"/>
              <a:ext cx="923544" cy="7894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9432" y="1882139"/>
              <a:ext cx="1790700" cy="78943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70760" y="1882139"/>
              <a:ext cx="2011680" cy="78943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973068" y="1882139"/>
              <a:ext cx="766572" cy="78943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428744" y="1882139"/>
              <a:ext cx="647700" cy="78943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767071" y="1882139"/>
              <a:ext cx="1043939" cy="78943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00115" y="1882139"/>
              <a:ext cx="707136" cy="78943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896356" y="1882139"/>
              <a:ext cx="1458468" cy="78943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045452" y="1882139"/>
              <a:ext cx="765048" cy="78943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501128" y="1882139"/>
              <a:ext cx="1188720" cy="78943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75260" y="2308859"/>
              <a:ext cx="2005583" cy="78943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808987" y="2308859"/>
              <a:ext cx="786384" cy="78943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223515" y="2308859"/>
              <a:ext cx="1658111" cy="78943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509771" y="2308859"/>
              <a:ext cx="1229868" cy="78943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367783" y="2308859"/>
              <a:ext cx="1653539" cy="78943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649468" y="2308859"/>
              <a:ext cx="1728215" cy="78943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005828" y="2308859"/>
              <a:ext cx="1597152" cy="78943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133588" y="2308859"/>
              <a:ext cx="556259" cy="78943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75260" y="2735580"/>
              <a:ext cx="806196" cy="78943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94004" y="2735580"/>
              <a:ext cx="1004315" cy="78943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610868" y="2735580"/>
              <a:ext cx="1584959" cy="78943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008376" y="2735580"/>
              <a:ext cx="862584" cy="78943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683507" y="2735580"/>
              <a:ext cx="1517903" cy="78943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013960" y="2735580"/>
              <a:ext cx="1219200" cy="78943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045707" y="2735580"/>
              <a:ext cx="2644140" cy="78943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75260" y="3162299"/>
              <a:ext cx="1815083" cy="78943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520951" y="3162299"/>
              <a:ext cx="557784" cy="789432"/>
            </a:xfrm>
            <a:prstGeom prst="rect">
              <a:avLst/>
            </a:prstGeom>
          </p:spPr>
        </p:pic>
      </p:grpSp>
      <p:grpSp>
        <p:nvGrpSpPr>
          <p:cNvPr id="46" name="object 46"/>
          <p:cNvGrpSpPr/>
          <p:nvPr/>
        </p:nvGrpSpPr>
        <p:grpSpPr>
          <a:xfrm>
            <a:off x="204215" y="4197096"/>
            <a:ext cx="5116195" cy="789940"/>
            <a:chOff x="204215" y="4197096"/>
            <a:chExt cx="5116195" cy="789940"/>
          </a:xfrm>
        </p:grpSpPr>
        <p:pic>
          <p:nvPicPr>
            <p:cNvPr id="47" name="object 4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04215" y="4197096"/>
              <a:ext cx="5116068" cy="78943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17575" y="4686300"/>
              <a:ext cx="4689348" cy="76200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383540" y="1546352"/>
            <a:ext cx="8074025" cy="4343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Channelization </a:t>
            </a:r>
            <a:r>
              <a:rPr sz="2800" b="1" i="1" spc="-5" dirty="0">
                <a:latin typeface="Times New Roman"/>
                <a:cs typeface="Times New Roman"/>
              </a:rPr>
              <a:t>is a multiple-access method in </a:t>
            </a:r>
            <a:r>
              <a:rPr sz="2800" b="1" i="1" spc="-10" dirty="0">
                <a:latin typeface="Times New Roman"/>
                <a:cs typeface="Times New Roman"/>
              </a:rPr>
              <a:t>which </a:t>
            </a:r>
            <a:r>
              <a:rPr sz="2800" b="1" i="1" spc="-5" dirty="0">
                <a:latin typeface="Times New Roman"/>
                <a:cs typeface="Times New Roman"/>
              </a:rPr>
              <a:t> the available bandwidth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a link is shared in time,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5" dirty="0">
                <a:latin typeface="Times New Roman"/>
                <a:cs typeface="Times New Roman"/>
              </a:rPr>
              <a:t>frequency, </a:t>
            </a:r>
            <a:r>
              <a:rPr sz="2800" b="1" i="1" dirty="0">
                <a:latin typeface="Times New Roman"/>
                <a:cs typeface="Times New Roman"/>
              </a:rPr>
              <a:t>or </a:t>
            </a:r>
            <a:r>
              <a:rPr sz="2800" b="1" i="1" spc="-5" dirty="0">
                <a:latin typeface="Times New Roman"/>
                <a:cs typeface="Times New Roman"/>
              </a:rPr>
              <a:t>through code, between </a:t>
            </a:r>
            <a:r>
              <a:rPr sz="2800" b="1" i="1" spc="-10" dirty="0">
                <a:latin typeface="Times New Roman"/>
                <a:cs typeface="Times New Roman"/>
              </a:rPr>
              <a:t>different </a:t>
            </a:r>
            <a:r>
              <a:rPr sz="2800" b="1" i="1" dirty="0">
                <a:latin typeface="Times New Roman"/>
                <a:cs typeface="Times New Roman"/>
              </a:rPr>
              <a:t>stations.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section,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discuss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three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channelization </a:t>
            </a:r>
            <a:r>
              <a:rPr sz="2800" b="1" i="1" dirty="0">
                <a:latin typeface="Times New Roman"/>
                <a:cs typeface="Times New Roman"/>
              </a:rPr>
              <a:t> protocols.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50">
              <a:latin typeface="Times New Roman"/>
              <a:cs typeface="Times New Roman"/>
            </a:endParaRPr>
          </a:p>
          <a:p>
            <a:pPr marL="12700" marR="2196465" indent="28575">
              <a:lnSpc>
                <a:spcPct val="104000"/>
              </a:lnSpc>
              <a:spcBef>
                <a:spcPts val="5"/>
              </a:spcBef>
            </a:pPr>
            <a:r>
              <a:rPr sz="28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F</a:t>
            </a:r>
            <a:r>
              <a:rPr sz="2400" b="1" spc="-50" dirty="0">
                <a:solidFill>
                  <a:srgbClr val="0033CC"/>
                </a:solidFill>
                <a:latin typeface="Times New Roman"/>
                <a:cs typeface="Times New Roman"/>
              </a:rPr>
              <a:t>r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equency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-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Division</a:t>
            </a:r>
            <a:r>
              <a:rPr sz="2400" b="1" spc="-2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Mul</a:t>
            </a:r>
            <a:r>
              <a:rPr sz="2400" b="1" spc="5" dirty="0">
                <a:solidFill>
                  <a:srgbClr val="0033CC"/>
                </a:solidFill>
                <a:latin typeface="Times New Roman"/>
                <a:cs typeface="Times New Roman"/>
              </a:rPr>
              <a:t>t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ip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le</a:t>
            </a:r>
            <a:r>
              <a:rPr sz="2400" b="1" spc="-15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Access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(FDMA)  </a:t>
            </a:r>
            <a:r>
              <a:rPr sz="2400" b="1" spc="-55" dirty="0">
                <a:solidFill>
                  <a:srgbClr val="0033CC"/>
                </a:solidFill>
                <a:latin typeface="Times New Roman"/>
                <a:cs typeface="Times New Roman"/>
              </a:rPr>
              <a:t>T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i</a:t>
            </a:r>
            <a:r>
              <a:rPr sz="2400" b="1" spc="5" dirty="0">
                <a:solidFill>
                  <a:srgbClr val="0033CC"/>
                </a:solidFill>
                <a:latin typeface="Times New Roman"/>
                <a:cs typeface="Times New Roman"/>
              </a:rPr>
              <a:t>me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-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Division</a:t>
            </a:r>
            <a:r>
              <a:rPr sz="2400" b="1" spc="-2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Mul</a:t>
            </a:r>
            <a:r>
              <a:rPr sz="2400" b="1" spc="5" dirty="0">
                <a:solidFill>
                  <a:srgbClr val="0033CC"/>
                </a:solidFill>
                <a:latin typeface="Times New Roman"/>
                <a:cs typeface="Times New Roman"/>
              </a:rPr>
              <a:t>t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ip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le</a:t>
            </a:r>
            <a:r>
              <a:rPr sz="2400" b="1" spc="-17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Access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(TDM</a:t>
            </a:r>
            <a:r>
              <a:rPr sz="2400" b="1" spc="-15" dirty="0">
                <a:solidFill>
                  <a:srgbClr val="0033CC"/>
                </a:solidFill>
                <a:latin typeface="Times New Roman"/>
                <a:cs typeface="Times New Roman"/>
              </a:rPr>
              <a:t>A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)  Code-Division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Multiple</a:t>
            </a:r>
            <a:r>
              <a:rPr sz="2400" b="1" spc="-15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Access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(CDMA)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37</a:t>
            </a:fld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787" y="4419600"/>
            <a:ext cx="8154034" cy="0"/>
          </a:xfrm>
          <a:custGeom>
            <a:avLst/>
            <a:gdLst/>
            <a:ahLst/>
            <a:cxnLst/>
            <a:rect l="l" t="t" r="r" b="b"/>
            <a:pathLst>
              <a:path w="8154034">
                <a:moveTo>
                  <a:pt x="0" y="0"/>
                </a:moveTo>
                <a:lnTo>
                  <a:pt x="8153463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95300" y="2759075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290" rIns="0" bIns="0" rtlCol="0">
            <a:spAutoFit/>
          </a:bodyPr>
          <a:lstStyle/>
          <a:p>
            <a:pPr marL="1274445" marR="731520" indent="-535305">
              <a:lnSpc>
                <a:spcPct val="100000"/>
              </a:lnSpc>
              <a:spcBef>
                <a:spcPts val="270"/>
              </a:spcBef>
            </a:pPr>
            <a:r>
              <a:rPr sz="3200" b="1" spc="-30" dirty="0">
                <a:latin typeface="Arial"/>
                <a:cs typeface="Arial"/>
              </a:rPr>
              <a:t>We</a:t>
            </a:r>
            <a:r>
              <a:rPr sz="3200" b="1" spc="-5" dirty="0">
                <a:latin typeface="Arial"/>
                <a:cs typeface="Arial"/>
              </a:rPr>
              <a:t> see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application</a:t>
            </a:r>
            <a:r>
              <a:rPr sz="3200" b="1" spc="-5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of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all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these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methods</a:t>
            </a:r>
            <a:r>
              <a:rPr sz="3200" b="1" spc="-5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in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Chapter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16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when</a:t>
            </a:r>
            <a:endParaRPr sz="3200">
              <a:latin typeface="Arial"/>
              <a:cs typeface="Arial"/>
            </a:endParaRPr>
          </a:p>
          <a:p>
            <a:pPr marL="599440">
              <a:lnSpc>
                <a:spcPct val="100000"/>
              </a:lnSpc>
              <a:spcBef>
                <a:spcPts val="5"/>
              </a:spcBef>
            </a:pPr>
            <a:r>
              <a:rPr sz="3200" b="1" dirty="0">
                <a:latin typeface="Arial"/>
                <a:cs typeface="Arial"/>
              </a:rPr>
              <a:t>we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discuss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cellular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phone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systems.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981136"/>
            <a:ext cx="1143000" cy="56673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69442" y="2002358"/>
            <a:ext cx="7162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403301"/>
            <a:ext cx="64541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3714" algn="l"/>
              </a:tabLst>
            </a:pP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Figure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12.21	</a:t>
            </a:r>
            <a:r>
              <a:rPr sz="2000" i="1" dirty="0">
                <a:latin typeface="Times New Roman"/>
                <a:cs typeface="Times New Roman"/>
              </a:rPr>
              <a:t>Frequency-division</a:t>
            </a:r>
            <a:r>
              <a:rPr sz="2000" i="1" spc="-6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multiple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access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(FDMA)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787" y="1258889"/>
            <a:ext cx="7211949" cy="471232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787" y="4876800"/>
            <a:ext cx="8154034" cy="0"/>
          </a:xfrm>
          <a:custGeom>
            <a:avLst/>
            <a:gdLst/>
            <a:ahLst/>
            <a:cxnLst/>
            <a:rect l="l" t="t" r="r" b="b"/>
            <a:pathLst>
              <a:path w="8154034">
                <a:moveTo>
                  <a:pt x="0" y="0"/>
                </a:moveTo>
                <a:lnTo>
                  <a:pt x="8153463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95300" y="2759075"/>
            <a:ext cx="8077200" cy="204152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290" rIns="0" bIns="0" rtlCol="0">
            <a:spAutoFit/>
          </a:bodyPr>
          <a:lstStyle/>
          <a:p>
            <a:pPr marL="340360" marR="322580" indent="471805">
              <a:lnSpc>
                <a:spcPct val="100000"/>
              </a:lnSpc>
              <a:spcBef>
                <a:spcPts val="270"/>
              </a:spcBef>
            </a:pPr>
            <a:r>
              <a:rPr sz="3200" b="1" dirty="0">
                <a:latin typeface="Arial"/>
                <a:cs typeface="Arial"/>
              </a:rPr>
              <a:t>In</a:t>
            </a:r>
            <a:r>
              <a:rPr sz="3200" b="1" spc="18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FDMA,</a:t>
            </a:r>
            <a:r>
              <a:rPr sz="3200" b="1" spc="20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18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available</a:t>
            </a:r>
            <a:r>
              <a:rPr sz="3200" b="1" spc="18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bandwidth 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of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common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channel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is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divided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into</a:t>
            </a:r>
            <a:endParaRPr sz="3200">
              <a:latin typeface="Arial"/>
              <a:cs typeface="Arial"/>
            </a:endParaRPr>
          </a:p>
          <a:p>
            <a:pPr marL="3384550" marR="706755" indent="-2660015">
              <a:lnSpc>
                <a:spcPct val="100000"/>
              </a:lnSpc>
              <a:spcBef>
                <a:spcPts val="5"/>
              </a:spcBef>
            </a:pPr>
            <a:r>
              <a:rPr sz="3200" b="1" dirty="0">
                <a:latin typeface="Arial"/>
                <a:cs typeface="Arial"/>
              </a:rPr>
              <a:t>bands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that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are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separated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by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guard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bands.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981136"/>
            <a:ext cx="1143000" cy="56673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69442" y="2002358"/>
            <a:ext cx="7162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40</a:t>
            </a:fld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403301"/>
            <a:ext cx="58362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3714" algn="l"/>
              </a:tabLst>
            </a:pP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Figure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12.22	</a:t>
            </a:r>
            <a:r>
              <a:rPr sz="2000" i="1" spc="-10" dirty="0">
                <a:latin typeface="Times New Roman"/>
                <a:cs typeface="Times New Roman"/>
              </a:rPr>
              <a:t>Time-division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multiple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access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(TDMA)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270063"/>
            <a:ext cx="7212076" cy="470116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41</a:t>
            </a:fld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63"/>
            <a:ext cx="8593455" cy="1052830"/>
            <a:chOff x="76200" y="63"/>
            <a:chExt cx="8593455" cy="1052830"/>
          </a:xfrm>
        </p:grpSpPr>
        <p:sp>
          <p:nvSpPr>
            <p:cNvPr id="3" name="object 3"/>
            <p:cNvSpPr/>
            <p:nvPr/>
          </p:nvSpPr>
          <p:spPr>
            <a:xfrm>
              <a:off x="711200" y="63"/>
              <a:ext cx="31750" cy="1052830"/>
            </a:xfrm>
            <a:custGeom>
              <a:avLst/>
              <a:gdLst/>
              <a:ahLst/>
              <a:cxnLst/>
              <a:rect l="l" t="t" r="r" b="b"/>
              <a:pathLst>
                <a:path w="31750" h="1052830">
                  <a:moveTo>
                    <a:pt x="31750" y="565086"/>
                  </a:moveTo>
                  <a:lnTo>
                    <a:pt x="0" y="565086"/>
                  </a:lnTo>
                  <a:lnTo>
                    <a:pt x="0" y="1052512"/>
                  </a:lnTo>
                  <a:lnTo>
                    <a:pt x="31750" y="1052512"/>
                  </a:lnTo>
                  <a:lnTo>
                    <a:pt x="31750" y="565086"/>
                  </a:lnTo>
                  <a:close/>
                </a:path>
                <a:path w="31750" h="1052830">
                  <a:moveTo>
                    <a:pt x="31750" y="0"/>
                  </a:moveTo>
                  <a:lnTo>
                    <a:pt x="0" y="0"/>
                  </a:lnTo>
                  <a:lnTo>
                    <a:pt x="0" y="533336"/>
                  </a:lnTo>
                  <a:lnTo>
                    <a:pt x="31750" y="533336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912" y="533399"/>
              <a:ext cx="8226425" cy="31750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457200" y="26670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8787" y="4419600"/>
            <a:ext cx="8154034" cy="0"/>
          </a:xfrm>
          <a:custGeom>
            <a:avLst/>
            <a:gdLst/>
            <a:ahLst/>
            <a:cxnLst/>
            <a:rect l="l" t="t" r="r" b="b"/>
            <a:pathLst>
              <a:path w="8154034">
                <a:moveTo>
                  <a:pt x="0" y="0"/>
                </a:moveTo>
                <a:lnTo>
                  <a:pt x="8153463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5300" y="2759075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290" rIns="0" bIns="0" rtlCol="0">
            <a:spAutoFit/>
          </a:bodyPr>
          <a:lstStyle/>
          <a:p>
            <a:pPr marL="610235" marR="591820" indent="-1270" algn="ctr">
              <a:lnSpc>
                <a:spcPct val="100000"/>
              </a:lnSpc>
              <a:spcBef>
                <a:spcPts val="270"/>
              </a:spcBef>
            </a:pPr>
            <a:r>
              <a:rPr sz="3200" b="1" dirty="0">
                <a:latin typeface="Arial"/>
                <a:cs typeface="Arial"/>
              </a:rPr>
              <a:t>In TDMA, the bandwidth is just one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channel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that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is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timeshared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between </a:t>
            </a:r>
            <a:r>
              <a:rPr sz="3200" b="1" spc="-869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different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stations.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1981136"/>
            <a:ext cx="1143000" cy="56673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69442" y="2002358"/>
            <a:ext cx="7162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42</a:t>
            </a:fld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63"/>
            <a:ext cx="8593455" cy="1052830"/>
            <a:chOff x="76200" y="63"/>
            <a:chExt cx="8593455" cy="1052830"/>
          </a:xfrm>
        </p:grpSpPr>
        <p:sp>
          <p:nvSpPr>
            <p:cNvPr id="3" name="object 3"/>
            <p:cNvSpPr/>
            <p:nvPr/>
          </p:nvSpPr>
          <p:spPr>
            <a:xfrm>
              <a:off x="711200" y="63"/>
              <a:ext cx="31750" cy="1052830"/>
            </a:xfrm>
            <a:custGeom>
              <a:avLst/>
              <a:gdLst/>
              <a:ahLst/>
              <a:cxnLst/>
              <a:rect l="l" t="t" r="r" b="b"/>
              <a:pathLst>
                <a:path w="31750" h="1052830">
                  <a:moveTo>
                    <a:pt x="31750" y="565086"/>
                  </a:moveTo>
                  <a:lnTo>
                    <a:pt x="0" y="565086"/>
                  </a:lnTo>
                  <a:lnTo>
                    <a:pt x="0" y="1052512"/>
                  </a:lnTo>
                  <a:lnTo>
                    <a:pt x="31750" y="1052512"/>
                  </a:lnTo>
                  <a:lnTo>
                    <a:pt x="31750" y="565086"/>
                  </a:lnTo>
                  <a:close/>
                </a:path>
                <a:path w="31750" h="1052830">
                  <a:moveTo>
                    <a:pt x="31750" y="0"/>
                  </a:moveTo>
                  <a:lnTo>
                    <a:pt x="0" y="0"/>
                  </a:lnTo>
                  <a:lnTo>
                    <a:pt x="0" y="533336"/>
                  </a:lnTo>
                  <a:lnTo>
                    <a:pt x="31750" y="533336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912" y="533399"/>
              <a:ext cx="8226425" cy="31750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457200" y="26670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8787" y="3962400"/>
            <a:ext cx="8154034" cy="0"/>
          </a:xfrm>
          <a:custGeom>
            <a:avLst/>
            <a:gdLst/>
            <a:ahLst/>
            <a:cxnLst/>
            <a:rect l="l" t="t" r="r" b="b"/>
            <a:pathLst>
              <a:path w="8154034">
                <a:moveTo>
                  <a:pt x="0" y="0"/>
                </a:moveTo>
                <a:lnTo>
                  <a:pt x="8153463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290" rIns="0" bIns="0" rtlCol="0">
            <a:spAutoFit/>
          </a:bodyPr>
          <a:lstStyle/>
          <a:p>
            <a:pPr marL="1087120" marR="885190" indent="-195580">
              <a:lnSpc>
                <a:spcPct val="100000"/>
              </a:lnSpc>
              <a:spcBef>
                <a:spcPts val="270"/>
              </a:spcBef>
            </a:pPr>
            <a:r>
              <a:rPr sz="3200" b="1" dirty="0">
                <a:latin typeface="Arial"/>
                <a:cs typeface="Arial"/>
              </a:rPr>
              <a:t>In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CDMA,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one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channel</a:t>
            </a:r>
            <a:r>
              <a:rPr sz="3200" b="1" spc="-4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carries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all </a:t>
            </a:r>
            <a:r>
              <a:rPr sz="3200" b="1" spc="-869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transmissions</a:t>
            </a:r>
            <a:r>
              <a:rPr sz="3200" b="1" spc="-50" dirty="0">
                <a:latin typeface="Arial"/>
                <a:cs typeface="Arial"/>
              </a:rPr>
              <a:t> </a:t>
            </a:r>
            <a:r>
              <a:rPr sz="3200" b="1" spc="-20" dirty="0">
                <a:latin typeface="Arial"/>
                <a:cs typeface="Arial"/>
              </a:rPr>
              <a:t>simultaneously.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1981136"/>
            <a:ext cx="1143000" cy="56673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69442" y="2002358"/>
            <a:ext cx="7162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/>
              <a:t>12.</a:t>
            </a:r>
            <a:fld id="{81D60167-4931-47E6-BA6A-407CBD079E47}" type="slidenum">
              <a:rPr dirty="0"/>
              <a:t>43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1490</Words>
  <Application>Microsoft Office PowerPoint</Application>
  <PresentationFormat>On-screen Show (4:3)</PresentationFormat>
  <Paragraphs>148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Times New Roman</vt:lpstr>
      <vt:lpstr>Office Theme</vt:lpstr>
      <vt:lpstr>Chapter 12  Multiple Access</vt:lpstr>
      <vt:lpstr>Figure 12.1 Data link layer divided into two functionality-oriented sublayers</vt:lpstr>
      <vt:lpstr>The upper sublayer that is responsible for flow and error control is called the logical link control (LLC) layer; the lower sublayer that is mostly responsible for multiple access resolution is called the media access control (MAC) layer.  When nodes or stations are connected and use a common link, called a multipoint or broadcast link, we need a multiple-access protocol to coordinate access to the link.  </vt:lpstr>
      <vt:lpstr>Figure 12.2 Taxonomy of multiple-access protocols discussed in this chapter</vt:lpstr>
      <vt:lpstr>12-1 RANDOM ACCESS</vt:lpstr>
      <vt:lpstr>Figure 12.3 Frames in a pure ALOHA network</vt:lpstr>
      <vt:lpstr>Figure 12.4 Procedure for pure ALOHA protocol</vt:lpstr>
      <vt:lpstr>Example 12.1</vt:lpstr>
      <vt:lpstr>Example 12.1 (continued)</vt:lpstr>
      <vt:lpstr>Figure 12.5 Vulnerable time for pure ALOHA protocol</vt:lpstr>
      <vt:lpstr>Example 12.2</vt:lpstr>
      <vt:lpstr>PowerPoint Presentation</vt:lpstr>
      <vt:lpstr>Example 12.3</vt:lpstr>
      <vt:lpstr>Example 12.3 (continued)</vt:lpstr>
      <vt:lpstr>Figure 12.6 Frames in a slotted ALOHA network</vt:lpstr>
      <vt:lpstr>PowerPoint Presentation</vt:lpstr>
      <vt:lpstr>Figure 12.7 Vulnerable time for slotted ALOHA protocol</vt:lpstr>
      <vt:lpstr>Example 12.4</vt:lpstr>
      <vt:lpstr>Example 12.4 (continued)</vt:lpstr>
      <vt:lpstr>Figure 12.8 Space/time model of the collision in CSMA</vt:lpstr>
      <vt:lpstr>Figure 12.9 Vulnerable time in CSMA</vt:lpstr>
      <vt:lpstr>Figure 12.10 Behavior of three persistence methods</vt:lpstr>
      <vt:lpstr>Figure 12.11 Flow diagram for three persistence methods</vt:lpstr>
      <vt:lpstr>Figure 12.12 Collision of the first bit in CSMA/CD</vt:lpstr>
      <vt:lpstr>Figure 12.13 Collision and abortion in CSMA/CD</vt:lpstr>
      <vt:lpstr>Example 12.5</vt:lpstr>
      <vt:lpstr>Figure 12.14 Flow diagram for the CSMA/CD</vt:lpstr>
      <vt:lpstr>Figure 12.15 Energy level during transmission, idleness, or collision</vt:lpstr>
      <vt:lpstr>Figure 12.16 Timing in CSMA/CA</vt:lpstr>
      <vt:lpstr>Note</vt:lpstr>
      <vt:lpstr>Note</vt:lpstr>
      <vt:lpstr>Figure 12.17 Flow diagram for CSMA/CA</vt:lpstr>
      <vt:lpstr>12-2 CONTROLLED ACCESS</vt:lpstr>
      <vt:lpstr>Figure 12.18 Reservation access method</vt:lpstr>
      <vt:lpstr>Figure 12.19 Select and poll functions in polling access method</vt:lpstr>
      <vt:lpstr>Figure 12.20 Logical ring and physical topology in token-passing access method</vt:lpstr>
      <vt:lpstr>12-3 CHANNELIZATION</vt:lpstr>
      <vt:lpstr>PowerPoint Presentation</vt:lpstr>
      <vt:lpstr>Figure 12.21 Frequency-division multiple access (FDMA)</vt:lpstr>
      <vt:lpstr>PowerPoint Presentation</vt:lpstr>
      <vt:lpstr>Figure 12.22 Time-division multiple access (TDMA)</vt:lpstr>
      <vt:lpstr>Note</vt:lpstr>
      <vt:lpstr>Note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Arivoli Vijay</cp:lastModifiedBy>
  <cp:revision>4</cp:revision>
  <dcterms:created xsi:type="dcterms:W3CDTF">2024-09-11T11:02:45Z</dcterms:created>
  <dcterms:modified xsi:type="dcterms:W3CDTF">2024-09-11T11:06:34Z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2018-02-22T00:00:00Z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2024-09-11T00:00:00Z</vt:filetime>
  </property>
</Properties>
</file>