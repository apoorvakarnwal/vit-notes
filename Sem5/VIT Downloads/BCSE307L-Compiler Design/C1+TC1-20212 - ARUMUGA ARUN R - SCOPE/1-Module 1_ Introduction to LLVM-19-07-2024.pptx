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84" r:id="rId2"/>
    <p:sldId id="708" r:id="rId3"/>
    <p:sldId id="497" r:id="rId4"/>
    <p:sldId id="498" r:id="rId5"/>
    <p:sldId id="499" r:id="rId6"/>
    <p:sldId id="285" r:id="rId7"/>
    <p:sldId id="868" r:id="rId8"/>
    <p:sldId id="841" r:id="rId9"/>
    <p:sldId id="709" r:id="rId10"/>
    <p:sldId id="710" r:id="rId11"/>
    <p:sldId id="711" r:id="rId12"/>
    <p:sldId id="712" r:id="rId13"/>
    <p:sldId id="713" r:id="rId14"/>
    <p:sldId id="720" r:id="rId15"/>
    <p:sldId id="714" r:id="rId16"/>
    <p:sldId id="729" r:id="rId17"/>
    <p:sldId id="717" r:id="rId18"/>
    <p:sldId id="728" r:id="rId19"/>
    <p:sldId id="731" r:id="rId20"/>
    <p:sldId id="732" r:id="rId21"/>
    <p:sldId id="733" r:id="rId22"/>
    <p:sldId id="730" r:id="rId23"/>
    <p:sldId id="734" r:id="rId24"/>
    <p:sldId id="735" r:id="rId25"/>
    <p:sldId id="736" r:id="rId26"/>
    <p:sldId id="737" r:id="rId27"/>
    <p:sldId id="837" r:id="rId28"/>
    <p:sldId id="838" r:id="rId29"/>
    <p:sldId id="738" r:id="rId30"/>
    <p:sldId id="740" r:id="rId31"/>
    <p:sldId id="741" r:id="rId32"/>
    <p:sldId id="739" r:id="rId33"/>
    <p:sldId id="742" r:id="rId34"/>
    <p:sldId id="744" r:id="rId35"/>
    <p:sldId id="743" r:id="rId36"/>
    <p:sldId id="745" r:id="rId37"/>
    <p:sldId id="746" r:id="rId38"/>
    <p:sldId id="747" r:id="rId39"/>
    <p:sldId id="748" r:id="rId40"/>
    <p:sldId id="750" r:id="rId41"/>
    <p:sldId id="749" r:id="rId42"/>
    <p:sldId id="751" r:id="rId43"/>
    <p:sldId id="752" r:id="rId44"/>
    <p:sldId id="754" r:id="rId45"/>
    <p:sldId id="753" r:id="rId46"/>
    <p:sldId id="843"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72" autoAdjust="0"/>
    <p:restoredTop sz="93810" autoAdjust="0"/>
  </p:normalViewPr>
  <p:slideViewPr>
    <p:cSldViewPr snapToGrid="0">
      <p:cViewPr varScale="1">
        <p:scale>
          <a:sx n="73" d="100"/>
          <a:sy n="73" d="100"/>
        </p:scale>
        <p:origin x="200" y="1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565BBB-9053-4FB2-B204-6D5C221D5451}" type="datetimeFigureOut">
              <a:rPr lang="en-IN" smtClean="0"/>
              <a:t>27/11/24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B192C4-1362-4BBE-9949-F6525E953936}" type="slidenum">
              <a:rPr lang="en-IN" smtClean="0"/>
              <a:t>‹#›</a:t>
            </a:fld>
            <a:endParaRPr lang="en-IN"/>
          </a:p>
        </p:txBody>
      </p:sp>
    </p:spTree>
    <p:extLst>
      <p:ext uri="{BB962C8B-B14F-4D97-AF65-F5344CB8AC3E}">
        <p14:creationId xmlns:p14="http://schemas.microsoft.com/office/powerpoint/2010/main" val="124035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1B192C4-1362-4BBE-9949-F6525E953936}" type="slidenum">
              <a:rPr lang="en-IN" smtClean="0"/>
              <a:t>3</a:t>
            </a:fld>
            <a:endParaRPr lang="en-IN"/>
          </a:p>
        </p:txBody>
      </p:sp>
    </p:spTree>
    <p:extLst>
      <p:ext uri="{BB962C8B-B14F-4D97-AF65-F5344CB8AC3E}">
        <p14:creationId xmlns:p14="http://schemas.microsoft.com/office/powerpoint/2010/main" val="23342504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0" i="0" dirty="0">
                <a:solidFill>
                  <a:srgbClr val="202122"/>
                </a:solidFill>
                <a:effectLst/>
                <a:latin typeface="Arial" panose="020B0604020202020204" pitchFamily="34" charset="0"/>
              </a:rPr>
              <a:t>The basic problem is of forward references. The correct interpretation of a symbol at some point in the source file may be dependent on the presence or absence of other symbols further on in the source file and until they are encountered, correct code for the current symbol cannot be produced. </a:t>
            </a:r>
            <a:endParaRPr lang="en-IN" dirty="0"/>
          </a:p>
        </p:txBody>
      </p:sp>
      <p:sp>
        <p:nvSpPr>
          <p:cNvPr id="4" name="Slide Number Placeholder 3"/>
          <p:cNvSpPr>
            <a:spLocks noGrp="1"/>
          </p:cNvSpPr>
          <p:nvPr>
            <p:ph type="sldNum" sz="quarter" idx="5"/>
          </p:nvPr>
        </p:nvSpPr>
        <p:spPr/>
        <p:txBody>
          <a:bodyPr/>
          <a:lstStyle/>
          <a:p>
            <a:fld id="{81B192C4-1362-4BBE-9949-F6525E953936}" type="slidenum">
              <a:rPr lang="en-IN" smtClean="0"/>
              <a:t>41</a:t>
            </a:fld>
            <a:endParaRPr lang="en-IN"/>
          </a:p>
        </p:txBody>
      </p:sp>
    </p:spTree>
    <p:extLst>
      <p:ext uri="{BB962C8B-B14F-4D97-AF65-F5344CB8AC3E}">
        <p14:creationId xmlns:p14="http://schemas.microsoft.com/office/powerpoint/2010/main" val="803312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r>
              <a:rPr lang="en-US"/>
              <a:t>Fall 2006</a:t>
            </a:r>
            <a:endParaRPr lang="en-IN"/>
          </a:p>
        </p:txBody>
      </p:sp>
      <p:sp>
        <p:nvSpPr>
          <p:cNvPr id="5" name="Footer Placeholder 4"/>
          <p:cNvSpPr>
            <a:spLocks noGrp="1"/>
          </p:cNvSpPr>
          <p:nvPr>
            <p:ph type="ftr" sz="quarter" idx="11"/>
          </p:nvPr>
        </p:nvSpPr>
        <p:spPr/>
        <p:txBody>
          <a:bodyPr/>
          <a:lstStyle/>
          <a:p>
            <a:r>
              <a:rPr lang="en-IN"/>
              <a:t>Costas Busch - RPI</a:t>
            </a:r>
          </a:p>
        </p:txBody>
      </p:sp>
      <p:sp>
        <p:nvSpPr>
          <p:cNvPr id="6" name="Slide Number Placeholder 5"/>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394254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Fall 2006</a:t>
            </a:r>
            <a:endParaRPr lang="en-IN"/>
          </a:p>
        </p:txBody>
      </p:sp>
      <p:sp>
        <p:nvSpPr>
          <p:cNvPr id="5" name="Footer Placeholder 4"/>
          <p:cNvSpPr>
            <a:spLocks noGrp="1"/>
          </p:cNvSpPr>
          <p:nvPr>
            <p:ph type="ftr" sz="quarter" idx="11"/>
          </p:nvPr>
        </p:nvSpPr>
        <p:spPr/>
        <p:txBody>
          <a:bodyPr/>
          <a:lstStyle/>
          <a:p>
            <a:r>
              <a:rPr lang="en-IN"/>
              <a:t>Costas Busch - RPI</a:t>
            </a:r>
          </a:p>
        </p:txBody>
      </p:sp>
      <p:sp>
        <p:nvSpPr>
          <p:cNvPr id="6" name="Slide Number Placeholder 5"/>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385113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Fall 2006</a:t>
            </a:r>
            <a:endParaRPr lang="en-IN"/>
          </a:p>
        </p:txBody>
      </p:sp>
      <p:sp>
        <p:nvSpPr>
          <p:cNvPr id="5" name="Footer Placeholder 4"/>
          <p:cNvSpPr>
            <a:spLocks noGrp="1"/>
          </p:cNvSpPr>
          <p:nvPr>
            <p:ph type="ftr" sz="quarter" idx="11"/>
          </p:nvPr>
        </p:nvSpPr>
        <p:spPr/>
        <p:txBody>
          <a:bodyPr/>
          <a:lstStyle/>
          <a:p>
            <a:r>
              <a:rPr lang="en-IN"/>
              <a:t>Costas Busch - RPI</a:t>
            </a:r>
          </a:p>
        </p:txBody>
      </p:sp>
      <p:sp>
        <p:nvSpPr>
          <p:cNvPr id="6" name="Slide Number Placeholder 5"/>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882023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a:t>Fall 2006</a:t>
            </a:r>
            <a:endParaRPr lang="en-IN"/>
          </a:p>
        </p:txBody>
      </p:sp>
      <p:sp>
        <p:nvSpPr>
          <p:cNvPr id="6" name="Footer Placeholder 5"/>
          <p:cNvSpPr>
            <a:spLocks noGrp="1"/>
          </p:cNvSpPr>
          <p:nvPr>
            <p:ph type="ftr" sz="quarter" idx="11"/>
          </p:nvPr>
        </p:nvSpPr>
        <p:spPr/>
        <p:txBody>
          <a:bodyPr/>
          <a:lstStyle/>
          <a:p>
            <a:r>
              <a:rPr lang="en-IN"/>
              <a:t>Costas Busch - RPI</a:t>
            </a:r>
          </a:p>
        </p:txBody>
      </p:sp>
      <p:sp>
        <p:nvSpPr>
          <p:cNvPr id="7" name="Slide Number Placeholder 6"/>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67017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US"/>
              <a:t>Fall 2006</a:t>
            </a:r>
            <a:endParaRPr lang="en-IN"/>
          </a:p>
        </p:txBody>
      </p:sp>
      <p:sp>
        <p:nvSpPr>
          <p:cNvPr id="8" name="Footer Placeholder 7"/>
          <p:cNvSpPr>
            <a:spLocks noGrp="1"/>
          </p:cNvSpPr>
          <p:nvPr>
            <p:ph type="ftr" sz="quarter" idx="11"/>
          </p:nvPr>
        </p:nvSpPr>
        <p:spPr/>
        <p:txBody>
          <a:bodyPr/>
          <a:lstStyle/>
          <a:p>
            <a:r>
              <a:rPr lang="en-IN"/>
              <a:t>Costas Busch - RPI</a:t>
            </a:r>
          </a:p>
        </p:txBody>
      </p:sp>
      <p:sp>
        <p:nvSpPr>
          <p:cNvPr id="9" name="Slide Number Placeholder 8"/>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2323688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a:t>Fall 2006</a:t>
            </a:r>
            <a:endParaRPr lang="en-IN"/>
          </a:p>
        </p:txBody>
      </p:sp>
      <p:sp>
        <p:nvSpPr>
          <p:cNvPr id="4" name="Footer Placeholder 3"/>
          <p:cNvSpPr>
            <a:spLocks noGrp="1"/>
          </p:cNvSpPr>
          <p:nvPr>
            <p:ph type="ftr" sz="quarter" idx="11"/>
          </p:nvPr>
        </p:nvSpPr>
        <p:spPr/>
        <p:txBody>
          <a:bodyPr/>
          <a:lstStyle/>
          <a:p>
            <a:r>
              <a:rPr lang="en-IN"/>
              <a:t>Costas Busch - RPI</a:t>
            </a:r>
          </a:p>
        </p:txBody>
      </p:sp>
      <p:sp>
        <p:nvSpPr>
          <p:cNvPr id="5" name="Slide Number Placeholder 4"/>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4127818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Fall 2006</a:t>
            </a:r>
            <a:endParaRPr lang="en-IN"/>
          </a:p>
        </p:txBody>
      </p:sp>
      <p:sp>
        <p:nvSpPr>
          <p:cNvPr id="3" name="Footer Placeholder 2"/>
          <p:cNvSpPr>
            <a:spLocks noGrp="1"/>
          </p:cNvSpPr>
          <p:nvPr>
            <p:ph type="ftr" sz="quarter" idx="11"/>
          </p:nvPr>
        </p:nvSpPr>
        <p:spPr/>
        <p:txBody>
          <a:bodyPr/>
          <a:lstStyle/>
          <a:p>
            <a:r>
              <a:rPr lang="en-IN"/>
              <a:t>Costas Busch - RPI</a:t>
            </a:r>
          </a:p>
        </p:txBody>
      </p:sp>
      <p:sp>
        <p:nvSpPr>
          <p:cNvPr id="4" name="Slide Number Placeholder 3"/>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276018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Fall 2006</a:t>
            </a:r>
            <a:endParaRPr lang="en-IN"/>
          </a:p>
        </p:txBody>
      </p:sp>
      <p:sp>
        <p:nvSpPr>
          <p:cNvPr id="6" name="Footer Placeholder 5"/>
          <p:cNvSpPr>
            <a:spLocks noGrp="1"/>
          </p:cNvSpPr>
          <p:nvPr>
            <p:ph type="ftr" sz="quarter" idx="11"/>
          </p:nvPr>
        </p:nvSpPr>
        <p:spPr/>
        <p:txBody>
          <a:bodyPr/>
          <a:lstStyle/>
          <a:p>
            <a:r>
              <a:rPr lang="en-IN"/>
              <a:t>Costas Busch - RPI</a:t>
            </a:r>
          </a:p>
        </p:txBody>
      </p:sp>
      <p:sp>
        <p:nvSpPr>
          <p:cNvPr id="7" name="Slide Number Placeholder 6"/>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2573458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Fall 2006</a:t>
            </a:r>
            <a:endParaRPr lang="en-IN"/>
          </a:p>
        </p:txBody>
      </p:sp>
      <p:sp>
        <p:nvSpPr>
          <p:cNvPr id="6" name="Footer Placeholder 5"/>
          <p:cNvSpPr>
            <a:spLocks noGrp="1"/>
          </p:cNvSpPr>
          <p:nvPr>
            <p:ph type="ftr" sz="quarter" idx="11"/>
          </p:nvPr>
        </p:nvSpPr>
        <p:spPr/>
        <p:txBody>
          <a:bodyPr/>
          <a:lstStyle/>
          <a:p>
            <a:r>
              <a:rPr lang="en-IN"/>
              <a:t>Costas Busch - RPI</a:t>
            </a:r>
          </a:p>
        </p:txBody>
      </p:sp>
      <p:sp>
        <p:nvSpPr>
          <p:cNvPr id="7" name="Slide Number Placeholder 6"/>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4265866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Fall 2006</a:t>
            </a:r>
            <a:endParaRPr lang="en-IN"/>
          </a:p>
        </p:txBody>
      </p:sp>
      <p:sp>
        <p:nvSpPr>
          <p:cNvPr id="5" name="Footer Placeholder 4"/>
          <p:cNvSpPr>
            <a:spLocks noGrp="1"/>
          </p:cNvSpPr>
          <p:nvPr>
            <p:ph type="ftr" sz="quarter" idx="11"/>
          </p:nvPr>
        </p:nvSpPr>
        <p:spPr/>
        <p:txBody>
          <a:bodyPr/>
          <a:lstStyle/>
          <a:p>
            <a:r>
              <a:rPr lang="en-IN"/>
              <a:t>Costas Busch - RPI</a:t>
            </a:r>
          </a:p>
        </p:txBody>
      </p:sp>
      <p:sp>
        <p:nvSpPr>
          <p:cNvPr id="6" name="Slide Number Placeholder 5"/>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005572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Fall 2006</a:t>
            </a:r>
            <a:endParaRPr lang="en-IN"/>
          </a:p>
        </p:txBody>
      </p:sp>
      <p:sp>
        <p:nvSpPr>
          <p:cNvPr id="5" name="Footer Placeholder 4"/>
          <p:cNvSpPr>
            <a:spLocks noGrp="1"/>
          </p:cNvSpPr>
          <p:nvPr>
            <p:ph type="ftr" sz="quarter" idx="11"/>
          </p:nvPr>
        </p:nvSpPr>
        <p:spPr/>
        <p:txBody>
          <a:bodyPr/>
          <a:lstStyle/>
          <a:p>
            <a:r>
              <a:rPr lang="en-IN"/>
              <a:t>Costas Busch - RPI</a:t>
            </a:r>
          </a:p>
        </p:txBody>
      </p:sp>
      <p:sp>
        <p:nvSpPr>
          <p:cNvPr id="6" name="Slide Number Placeholder 5"/>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579860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Palatino Linotype" panose="02040502050505030304" pitchFamily="18" charset="0"/>
              </a:defRPr>
            </a:lvl1pPr>
          </a:lstStyle>
          <a:p>
            <a:r>
              <a:rPr lang="en-US"/>
              <a:t>Fall 2006</a:t>
            </a:r>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Palatino Linotype" panose="02040502050505030304" pitchFamily="18" charset="0"/>
              </a:defRPr>
            </a:lvl1pPr>
          </a:lstStyle>
          <a:p>
            <a:r>
              <a:rPr lang="en-IN"/>
              <a:t>Costas Busch - RPI</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Palatino Linotype" panose="02040502050505030304" pitchFamily="18" charset="0"/>
              </a:defRPr>
            </a:lvl1pPr>
          </a:lstStyle>
          <a:p>
            <a:fld id="{9C8CFCD6-D300-4021-B6CE-498726932892}" type="slidenum">
              <a:rPr lang="en-IN" smtClean="0"/>
              <a:pPr/>
              <a:t>‹#›</a:t>
            </a:fld>
            <a:endParaRPr lang="en-IN"/>
          </a:p>
        </p:txBody>
      </p:sp>
    </p:spTree>
    <p:extLst>
      <p:ext uri="{BB962C8B-B14F-4D97-AF65-F5344CB8AC3E}">
        <p14:creationId xmlns:p14="http://schemas.microsoft.com/office/powerpoint/2010/main" val="42865786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p:titleStyle>
    <p:body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2719842"/>
            <a:ext cx="9144000" cy="844240"/>
          </a:xfrm>
        </p:spPr>
        <p:txBody>
          <a:bodyPr>
            <a:normAutofit/>
          </a:bodyPr>
          <a:lstStyle/>
          <a:p>
            <a:r>
              <a:rPr lang="en-IN" sz="4400" dirty="0">
                <a:solidFill>
                  <a:srgbClr val="C00000"/>
                </a:solidFill>
              </a:rPr>
              <a:t>BCSE307L – COMPILER DESIGN</a:t>
            </a:r>
          </a:p>
        </p:txBody>
      </p:sp>
    </p:spTree>
    <p:extLst>
      <p:ext uri="{BB962C8B-B14F-4D97-AF65-F5344CB8AC3E}">
        <p14:creationId xmlns:p14="http://schemas.microsoft.com/office/powerpoint/2010/main" val="4262036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15808-A4D0-1DCE-4975-C31A5D20E821}"/>
              </a:ext>
            </a:extLst>
          </p:cNvPr>
          <p:cNvSpPr>
            <a:spLocks noGrp="1"/>
          </p:cNvSpPr>
          <p:nvPr>
            <p:ph type="title"/>
          </p:nvPr>
        </p:nvSpPr>
        <p:spPr>
          <a:xfrm>
            <a:off x="838200" y="234335"/>
            <a:ext cx="10515600" cy="893404"/>
          </a:xfrm>
        </p:spPr>
        <p:txBody>
          <a:bodyPr/>
          <a:lstStyle/>
          <a:p>
            <a:r>
              <a:rPr lang="en-US" dirty="0"/>
              <a:t>Course Outcomes</a:t>
            </a:r>
            <a:endParaRPr lang="en-IN" dirty="0"/>
          </a:p>
        </p:txBody>
      </p:sp>
      <p:sp>
        <p:nvSpPr>
          <p:cNvPr id="3" name="Content Placeholder 2">
            <a:extLst>
              <a:ext uri="{FF2B5EF4-FFF2-40B4-BE49-F238E27FC236}">
                <a16:creationId xmlns:a16="http://schemas.microsoft.com/office/drawing/2014/main" id="{F5CC7AFF-9422-C088-BBE7-58F38C518F0C}"/>
              </a:ext>
            </a:extLst>
          </p:cNvPr>
          <p:cNvSpPr>
            <a:spLocks noGrp="1"/>
          </p:cNvSpPr>
          <p:nvPr>
            <p:ph idx="1"/>
          </p:nvPr>
        </p:nvSpPr>
        <p:spPr>
          <a:xfrm>
            <a:off x="838200" y="1258528"/>
            <a:ext cx="10515600" cy="4518817"/>
          </a:xfrm>
        </p:spPr>
        <p:txBody>
          <a:bodyPr>
            <a:normAutofit/>
          </a:bodyPr>
          <a:lstStyle/>
          <a:p>
            <a:pPr marL="514350" lvl="0" indent="-514350">
              <a:buFont typeface="+mj-lt"/>
              <a:buAutoNum type="arabicPeriod"/>
            </a:pPr>
            <a:r>
              <a:rPr lang="en-US" dirty="0"/>
              <a:t>Apply the skills on devising, selecting, and using tools and techniques towards compiler design </a:t>
            </a:r>
          </a:p>
          <a:p>
            <a:pPr marL="514350" lvl="0" indent="-514350">
              <a:buFont typeface="+mj-lt"/>
              <a:buAutoNum type="arabicPeriod"/>
            </a:pPr>
            <a:r>
              <a:rPr lang="en-US" dirty="0"/>
              <a:t>Develop language specifications using context free grammars (CFG). </a:t>
            </a:r>
          </a:p>
          <a:p>
            <a:pPr marL="514350" lvl="0" indent="-514350">
              <a:buFont typeface="+mj-lt"/>
              <a:buAutoNum type="arabicPeriod"/>
            </a:pPr>
            <a:r>
              <a:rPr lang="en-US" dirty="0"/>
              <a:t>Apply the ideas, the techniques, and the knowledge acquired for the purpose of developing software systems. </a:t>
            </a:r>
          </a:p>
          <a:p>
            <a:pPr marL="514350" lvl="0" indent="-514350">
              <a:buFont typeface="+mj-lt"/>
              <a:buAutoNum type="arabicPeriod"/>
            </a:pPr>
            <a:r>
              <a:rPr lang="en-US" dirty="0"/>
              <a:t>Constructing symbol tables and generating intermediate code. </a:t>
            </a:r>
          </a:p>
          <a:p>
            <a:pPr marL="514350" lvl="0" indent="-514350">
              <a:buFont typeface="+mj-lt"/>
              <a:buAutoNum type="arabicPeriod"/>
            </a:pPr>
            <a:r>
              <a:rPr lang="en-US" dirty="0"/>
              <a:t>Obtain insights on compiler optimization and code generation</a:t>
            </a:r>
            <a:endParaRPr lang="en-IN" dirty="0"/>
          </a:p>
        </p:txBody>
      </p:sp>
    </p:spTree>
    <p:extLst>
      <p:ext uri="{BB962C8B-B14F-4D97-AF65-F5344CB8AC3E}">
        <p14:creationId xmlns:p14="http://schemas.microsoft.com/office/powerpoint/2010/main" val="793662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24CFE-7D5D-803D-11F0-E00E70B86703}"/>
              </a:ext>
            </a:extLst>
          </p:cNvPr>
          <p:cNvSpPr>
            <a:spLocks noGrp="1"/>
          </p:cNvSpPr>
          <p:nvPr>
            <p:ph type="title"/>
          </p:nvPr>
        </p:nvSpPr>
        <p:spPr>
          <a:xfrm>
            <a:off x="838200" y="138984"/>
            <a:ext cx="10515600" cy="736088"/>
          </a:xfrm>
        </p:spPr>
        <p:txBody>
          <a:bodyPr/>
          <a:lstStyle/>
          <a:p>
            <a:r>
              <a:rPr lang="en-IN" dirty="0"/>
              <a:t>Syllabus</a:t>
            </a:r>
          </a:p>
        </p:txBody>
      </p:sp>
      <p:sp>
        <p:nvSpPr>
          <p:cNvPr id="3" name="Content Placeholder 2">
            <a:extLst>
              <a:ext uri="{FF2B5EF4-FFF2-40B4-BE49-F238E27FC236}">
                <a16:creationId xmlns:a16="http://schemas.microsoft.com/office/drawing/2014/main" id="{B95FEACA-8421-C39E-AFD4-95A3CEED514E}"/>
              </a:ext>
            </a:extLst>
          </p:cNvPr>
          <p:cNvSpPr>
            <a:spLocks noGrp="1"/>
          </p:cNvSpPr>
          <p:nvPr>
            <p:ph idx="1"/>
          </p:nvPr>
        </p:nvSpPr>
        <p:spPr>
          <a:xfrm>
            <a:off x="838200" y="875072"/>
            <a:ext cx="10515600" cy="5982928"/>
          </a:xfrm>
        </p:spPr>
        <p:txBody>
          <a:bodyPr>
            <a:normAutofit/>
          </a:bodyPr>
          <a:lstStyle/>
          <a:p>
            <a:r>
              <a:rPr lang="en-US" sz="2000" b="1" i="0" u="none" strike="noStrike" baseline="0" dirty="0">
                <a:solidFill>
                  <a:srgbClr val="0070C0"/>
                </a:solidFill>
              </a:rPr>
              <a:t>Module: 1 Introduction to Compilation and Lexical Analysis </a:t>
            </a:r>
            <a:r>
              <a:rPr lang="en-IN" sz="2000" b="1" i="0" u="none" strike="noStrike" baseline="0" dirty="0">
                <a:solidFill>
                  <a:srgbClr val="0070C0"/>
                </a:solidFill>
              </a:rPr>
              <a:t>7 hours </a:t>
            </a:r>
            <a:endParaRPr lang="en-US" sz="2000" b="1" i="0" u="none" strike="noStrike" baseline="0" dirty="0">
              <a:solidFill>
                <a:srgbClr val="0070C0"/>
              </a:solidFill>
            </a:endParaRPr>
          </a:p>
          <a:p>
            <a:pPr lvl="1"/>
            <a:r>
              <a:rPr lang="en-US" sz="2000" b="0" i="0" u="none" strike="noStrike" baseline="0" dirty="0">
                <a:solidFill>
                  <a:srgbClr val="000000"/>
                </a:solidFill>
              </a:rPr>
              <a:t>Introduction to LLVM - Structure and Phases of a Compiler-Design Issues-Patterns Lexemes-Tokens-Attributes-Specification of Tokens-Extended Regular Expression- Regular expression to Deterministic Finite Automata (Direct method) - Lex - A Lexical Analyzer Generator</a:t>
            </a:r>
          </a:p>
          <a:p>
            <a:r>
              <a:rPr lang="en-IN" sz="2000" b="1" i="0" u="none" strike="noStrike" baseline="0" dirty="0">
                <a:solidFill>
                  <a:srgbClr val="0070C0"/>
                </a:solidFill>
              </a:rPr>
              <a:t>Module: 2 Syntax Analysis 8 hours </a:t>
            </a:r>
            <a:endParaRPr lang="en-IN" sz="2000" dirty="0">
              <a:solidFill>
                <a:srgbClr val="0070C0"/>
              </a:solidFill>
            </a:endParaRPr>
          </a:p>
          <a:p>
            <a:pPr lvl="1"/>
            <a:r>
              <a:rPr lang="it-IT" sz="2000" b="0" i="0" u="none" strike="noStrike" baseline="0" dirty="0">
                <a:solidFill>
                  <a:srgbClr val="000000"/>
                </a:solidFill>
              </a:rPr>
              <a:t>Role of Parser- Parse Tree - Elimination of Ambiguity – Top Down Parsing – Recursive Descent Parsing - LL (1) Grammars – Shift Reduce Parsers- Operator Precedence Parsing - LR Parsers, Construction of SLR Parser Tables and Parsing- CLR Parsing- LALR Parsing</a:t>
            </a:r>
          </a:p>
          <a:p>
            <a:r>
              <a:rPr lang="en-US" sz="2000" b="1" i="0" u="none" strike="noStrike" baseline="0" dirty="0">
                <a:solidFill>
                  <a:srgbClr val="0070C0"/>
                </a:solidFill>
              </a:rPr>
              <a:t>Module: 3 Semantic Analysis 5 hours </a:t>
            </a:r>
            <a:endParaRPr lang="en-US" sz="2000" dirty="0">
              <a:solidFill>
                <a:srgbClr val="0070C0"/>
              </a:solidFill>
            </a:endParaRPr>
          </a:p>
          <a:p>
            <a:pPr lvl="1"/>
            <a:r>
              <a:rPr lang="en-US" sz="2000" b="0" i="0" u="none" strike="noStrike" baseline="0" dirty="0">
                <a:solidFill>
                  <a:srgbClr val="000000"/>
                </a:solidFill>
              </a:rPr>
              <a:t>Syntax Directed Definition – Evaluation Order - Applications of Syntax Directed Translation - Syntax Directed Translation Schemes - Implementation of L-attributed Syntax Directed Definition</a:t>
            </a:r>
          </a:p>
          <a:p>
            <a:r>
              <a:rPr lang="en-US" sz="2000" b="1" i="0" u="none" strike="noStrike" baseline="0" dirty="0">
                <a:solidFill>
                  <a:srgbClr val="0070C0"/>
                </a:solidFill>
              </a:rPr>
              <a:t>Module: 4 Intermediate Code Generation 5 hours </a:t>
            </a:r>
          </a:p>
          <a:p>
            <a:pPr lvl="1"/>
            <a:r>
              <a:rPr lang="en-US" sz="2000" b="0" i="0" u="none" strike="noStrike" baseline="0" dirty="0">
                <a:solidFill>
                  <a:srgbClr val="000000"/>
                </a:solidFill>
              </a:rPr>
              <a:t>Variants of Syntax trees - Three Address Code- Types – Declarations - Procedures - Assignment Statements - Translation of Expressions - Control Flow - Back Patching- Switch Case Statements.</a:t>
            </a:r>
            <a:endParaRPr lang="en-IN" sz="2000" dirty="0"/>
          </a:p>
        </p:txBody>
      </p:sp>
    </p:spTree>
    <p:extLst>
      <p:ext uri="{BB962C8B-B14F-4D97-AF65-F5344CB8AC3E}">
        <p14:creationId xmlns:p14="http://schemas.microsoft.com/office/powerpoint/2010/main" val="1317727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24CFE-7D5D-803D-11F0-E00E70B86703}"/>
              </a:ext>
            </a:extLst>
          </p:cNvPr>
          <p:cNvSpPr>
            <a:spLocks noGrp="1"/>
          </p:cNvSpPr>
          <p:nvPr>
            <p:ph type="title"/>
          </p:nvPr>
        </p:nvSpPr>
        <p:spPr>
          <a:xfrm>
            <a:off x="838200" y="138984"/>
            <a:ext cx="10515600" cy="736088"/>
          </a:xfrm>
        </p:spPr>
        <p:txBody>
          <a:bodyPr/>
          <a:lstStyle/>
          <a:p>
            <a:r>
              <a:rPr lang="en-IN" dirty="0"/>
              <a:t>Cont..</a:t>
            </a:r>
          </a:p>
        </p:txBody>
      </p:sp>
      <p:sp>
        <p:nvSpPr>
          <p:cNvPr id="3" name="Content Placeholder 2">
            <a:extLst>
              <a:ext uri="{FF2B5EF4-FFF2-40B4-BE49-F238E27FC236}">
                <a16:creationId xmlns:a16="http://schemas.microsoft.com/office/drawing/2014/main" id="{B95FEACA-8421-C39E-AFD4-95A3CEED514E}"/>
              </a:ext>
            </a:extLst>
          </p:cNvPr>
          <p:cNvSpPr>
            <a:spLocks noGrp="1"/>
          </p:cNvSpPr>
          <p:nvPr>
            <p:ph idx="1"/>
          </p:nvPr>
        </p:nvSpPr>
        <p:spPr>
          <a:xfrm>
            <a:off x="838200" y="875072"/>
            <a:ext cx="10515600" cy="5982928"/>
          </a:xfrm>
        </p:spPr>
        <p:txBody>
          <a:bodyPr>
            <a:normAutofit/>
          </a:bodyPr>
          <a:lstStyle/>
          <a:p>
            <a:r>
              <a:rPr lang="en-US" sz="2000" b="0" i="0" u="none" strike="noStrike" baseline="0" dirty="0">
                <a:solidFill>
                  <a:srgbClr val="0070C0"/>
                </a:solidFill>
              </a:rPr>
              <a:t> </a:t>
            </a:r>
            <a:r>
              <a:rPr lang="en-US" sz="2000" b="1" i="0" u="none" strike="noStrike" baseline="0" dirty="0">
                <a:solidFill>
                  <a:srgbClr val="0070C0"/>
                </a:solidFill>
              </a:rPr>
              <a:t>Module: 5 Code Optimization 6 hours </a:t>
            </a:r>
            <a:endParaRPr lang="en-US" sz="2000" dirty="0">
              <a:solidFill>
                <a:srgbClr val="0070C0"/>
              </a:solidFill>
            </a:endParaRPr>
          </a:p>
          <a:p>
            <a:pPr lvl="1"/>
            <a:r>
              <a:rPr lang="en-US" sz="2000" b="0" i="0" u="none" strike="noStrike" baseline="0" dirty="0">
                <a:solidFill>
                  <a:srgbClr val="000000"/>
                </a:solidFill>
              </a:rPr>
              <a:t>Loop optimizations- Principal Sources of Optimization -Introduction to Data Flow Analysis - Basic Blocks - Optimization of Basic Blocks - Peephole Optimization- The DAG Representation of Basic Blocks -Loops in Flow Graphs - Machine Independent Optimization Implementation of a naïve code generator for a virtual Machine- Security checking of virtual machine code</a:t>
            </a:r>
          </a:p>
          <a:p>
            <a:r>
              <a:rPr lang="en-US" sz="2000" b="1" i="0" u="none" strike="noStrike" baseline="0" dirty="0">
                <a:solidFill>
                  <a:srgbClr val="0070C0"/>
                </a:solidFill>
              </a:rPr>
              <a:t>Module: 6 Code Generation 5 hours </a:t>
            </a:r>
            <a:r>
              <a:rPr lang="en-US" sz="2000" dirty="0">
                <a:solidFill>
                  <a:srgbClr val="0070C0"/>
                </a:solidFill>
              </a:rPr>
              <a:t> </a:t>
            </a:r>
          </a:p>
          <a:p>
            <a:pPr lvl="1"/>
            <a:r>
              <a:rPr lang="en-US" sz="2000" b="0" i="0" u="none" strike="noStrike" baseline="0" dirty="0">
                <a:solidFill>
                  <a:srgbClr val="000000"/>
                </a:solidFill>
              </a:rPr>
              <a:t>Issues in the design of a code generator- Target Machine- Next-Use Information – Register Allocation and Assignment- Runtime Organization- Activation Records.</a:t>
            </a:r>
          </a:p>
          <a:p>
            <a:r>
              <a:rPr lang="en-US" sz="2000" b="1" i="0" u="none" strike="noStrike" baseline="0" dirty="0">
                <a:solidFill>
                  <a:srgbClr val="0070C0"/>
                </a:solidFill>
              </a:rPr>
              <a:t>Module: 7 </a:t>
            </a:r>
            <a:r>
              <a:rPr lang="en-IN" sz="2000" b="1" i="0" u="none" strike="noStrike" baseline="0" dirty="0">
                <a:solidFill>
                  <a:srgbClr val="0070C0"/>
                </a:solidFill>
              </a:rPr>
              <a:t>Parallelism 7 hours </a:t>
            </a:r>
            <a:endParaRPr lang="en-IN" sz="2000" dirty="0">
              <a:solidFill>
                <a:srgbClr val="0070C0"/>
              </a:solidFill>
            </a:endParaRPr>
          </a:p>
          <a:p>
            <a:pPr lvl="1"/>
            <a:r>
              <a:rPr lang="en-US" sz="2000" b="0" i="0" u="none" strike="noStrike" baseline="0" dirty="0">
                <a:solidFill>
                  <a:srgbClr val="000000"/>
                </a:solidFill>
              </a:rPr>
              <a:t>Parallelization- Automatic Parallelization- Optimizations for Cache Locality and Vectorization- Domain Specific Languages-Compilation- Instruction Scheduling and Software Pipelining- Impact of Language Design and Architecture Evolution on Compilers Static Single Assignment</a:t>
            </a:r>
          </a:p>
          <a:p>
            <a:r>
              <a:rPr lang="en-US" sz="2000" b="1" i="0" u="none" strike="noStrike" baseline="0" dirty="0">
                <a:solidFill>
                  <a:srgbClr val="0070C0"/>
                </a:solidFill>
              </a:rPr>
              <a:t>Module: 8 Contemporary Issues 2 hours </a:t>
            </a:r>
            <a:endParaRPr lang="en-IN" sz="2000" dirty="0">
              <a:solidFill>
                <a:srgbClr val="0070C0"/>
              </a:solidFill>
            </a:endParaRPr>
          </a:p>
        </p:txBody>
      </p:sp>
    </p:spTree>
    <p:extLst>
      <p:ext uri="{BB962C8B-B14F-4D97-AF65-F5344CB8AC3E}">
        <p14:creationId xmlns:p14="http://schemas.microsoft.com/office/powerpoint/2010/main" val="1200058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B2DBF-EBF6-2FC7-D3C2-D119900AC540}"/>
              </a:ext>
            </a:extLst>
          </p:cNvPr>
          <p:cNvSpPr>
            <a:spLocks noGrp="1"/>
          </p:cNvSpPr>
          <p:nvPr>
            <p:ph type="title"/>
          </p:nvPr>
        </p:nvSpPr>
        <p:spPr>
          <a:xfrm>
            <a:off x="838200" y="483111"/>
            <a:ext cx="10515600" cy="785249"/>
          </a:xfrm>
        </p:spPr>
        <p:txBody>
          <a:bodyPr/>
          <a:lstStyle/>
          <a:p>
            <a:r>
              <a:rPr lang="en-IN" dirty="0"/>
              <a:t>Text Books &amp; References</a:t>
            </a:r>
          </a:p>
        </p:txBody>
      </p:sp>
      <p:sp>
        <p:nvSpPr>
          <p:cNvPr id="3" name="Content Placeholder 2">
            <a:extLst>
              <a:ext uri="{FF2B5EF4-FFF2-40B4-BE49-F238E27FC236}">
                <a16:creationId xmlns:a16="http://schemas.microsoft.com/office/drawing/2014/main" id="{322E7A6A-D391-AE23-0B96-5B513E36A223}"/>
              </a:ext>
            </a:extLst>
          </p:cNvPr>
          <p:cNvSpPr>
            <a:spLocks noGrp="1"/>
          </p:cNvSpPr>
          <p:nvPr>
            <p:ph idx="1"/>
          </p:nvPr>
        </p:nvSpPr>
        <p:spPr>
          <a:xfrm>
            <a:off x="838200" y="1376516"/>
            <a:ext cx="10515600" cy="5352333"/>
          </a:xfrm>
        </p:spPr>
        <p:txBody>
          <a:bodyPr/>
          <a:lstStyle/>
          <a:p>
            <a:r>
              <a:rPr lang="en-IN" sz="1800" b="0" i="0" u="none" strike="noStrike" baseline="0" dirty="0">
                <a:solidFill>
                  <a:srgbClr val="0070C0"/>
                </a:solidFill>
                <a:latin typeface="Arial" panose="020B0604020202020204" pitchFamily="34" charset="0"/>
              </a:rPr>
              <a:t> </a:t>
            </a:r>
            <a:r>
              <a:rPr lang="en-IN" sz="2000" b="1" i="0" u="none" strike="noStrike" baseline="0" dirty="0">
                <a:solidFill>
                  <a:srgbClr val="0070C0"/>
                </a:solidFill>
              </a:rPr>
              <a:t>Text Book </a:t>
            </a:r>
            <a:endParaRPr lang="en-IN" sz="2000" b="0" i="0" u="none" strike="noStrike" baseline="0" dirty="0">
              <a:solidFill>
                <a:srgbClr val="0070C0"/>
              </a:solidFill>
            </a:endParaRPr>
          </a:p>
          <a:p>
            <a:r>
              <a:rPr lang="en-US" sz="2000" b="0" i="0" u="none" strike="noStrike" baseline="0" dirty="0">
                <a:solidFill>
                  <a:srgbClr val="000000"/>
                </a:solidFill>
              </a:rPr>
              <a:t>A. V. </a:t>
            </a:r>
            <a:r>
              <a:rPr lang="en-US" sz="2000" b="0" i="0" u="none" strike="noStrike" baseline="0" dirty="0" err="1">
                <a:solidFill>
                  <a:srgbClr val="000000"/>
                </a:solidFill>
              </a:rPr>
              <a:t>Aho</a:t>
            </a:r>
            <a:r>
              <a:rPr lang="en-US" sz="2000" b="0" i="0" u="none" strike="noStrike" baseline="0" dirty="0">
                <a:solidFill>
                  <a:srgbClr val="000000"/>
                </a:solidFill>
              </a:rPr>
              <a:t>, Monica S. Lam, Ravi Sethi and Jeffrey D. Ullman, Compilers: Principles, techniques, &amp; tools, 2007, Second Edition, Pearson Education, Boston.</a:t>
            </a:r>
          </a:p>
          <a:p>
            <a:endParaRPr lang="en-US" sz="2000" dirty="0">
              <a:solidFill>
                <a:srgbClr val="000000"/>
              </a:solidFill>
            </a:endParaRPr>
          </a:p>
          <a:p>
            <a:pPr marL="0" indent="0">
              <a:buNone/>
            </a:pPr>
            <a:endParaRPr lang="en-IN" sz="2000" b="0" i="0" u="none" strike="noStrike" baseline="0" dirty="0">
              <a:solidFill>
                <a:srgbClr val="000000"/>
              </a:solidFill>
            </a:endParaRPr>
          </a:p>
          <a:p>
            <a:r>
              <a:rPr lang="en-IN" sz="2000" b="1" i="0" u="none" strike="noStrike" baseline="0" dirty="0">
                <a:solidFill>
                  <a:srgbClr val="0070C0"/>
                </a:solidFill>
              </a:rPr>
              <a:t>Reference Books </a:t>
            </a:r>
            <a:endParaRPr lang="en-IN" sz="2000" b="0" i="0" u="none" strike="noStrike" baseline="0" dirty="0">
              <a:solidFill>
                <a:srgbClr val="0070C0"/>
              </a:solidFill>
            </a:endParaRPr>
          </a:p>
          <a:p>
            <a:r>
              <a:rPr lang="en-US" sz="2000" b="0" i="0" u="none" strike="noStrike" baseline="0" dirty="0">
                <a:solidFill>
                  <a:srgbClr val="000000"/>
                </a:solidFill>
              </a:rPr>
              <a:t>Watson, Des. A Practical Approach to Compiler Construction. Germany, Springer International Publishing, 2017</a:t>
            </a:r>
            <a:endParaRPr lang="en-IN" sz="2000" dirty="0"/>
          </a:p>
        </p:txBody>
      </p:sp>
    </p:spTree>
    <p:extLst>
      <p:ext uri="{BB962C8B-B14F-4D97-AF65-F5344CB8AC3E}">
        <p14:creationId xmlns:p14="http://schemas.microsoft.com/office/powerpoint/2010/main" val="531538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0282" y="-19664"/>
            <a:ext cx="10515600" cy="1325563"/>
          </a:xfrm>
        </p:spPr>
        <p:txBody>
          <a:bodyPr/>
          <a:lstStyle/>
          <a:p>
            <a:r>
              <a:rPr lang="en-IN" dirty="0"/>
              <a:t>Internal Components</a:t>
            </a:r>
          </a:p>
        </p:txBody>
      </p:sp>
      <p:sp>
        <p:nvSpPr>
          <p:cNvPr id="3" name="Content Placeholder 2"/>
          <p:cNvSpPr>
            <a:spLocks noGrp="1"/>
          </p:cNvSpPr>
          <p:nvPr>
            <p:ph idx="1"/>
          </p:nvPr>
        </p:nvSpPr>
        <p:spPr>
          <a:xfrm>
            <a:off x="690282" y="1125912"/>
            <a:ext cx="10515600" cy="5589520"/>
          </a:xfrm>
        </p:spPr>
        <p:txBody>
          <a:bodyPr>
            <a:noAutofit/>
          </a:bodyPr>
          <a:lstStyle/>
          <a:p>
            <a:pPr marL="0" indent="0">
              <a:buNone/>
            </a:pPr>
            <a:endParaRPr lang="en-US" sz="3200" dirty="0">
              <a:solidFill>
                <a:srgbClr val="0000CC"/>
              </a:solidFill>
            </a:endParaRPr>
          </a:p>
          <a:p>
            <a:r>
              <a:rPr lang="en-US" sz="3200" dirty="0">
                <a:solidFill>
                  <a:srgbClr val="0000CC"/>
                </a:solidFill>
              </a:rPr>
              <a:t>Quiz 1 – 10 Marks</a:t>
            </a:r>
          </a:p>
          <a:p>
            <a:r>
              <a:rPr lang="en-US" sz="3200" dirty="0">
                <a:solidFill>
                  <a:srgbClr val="0000CC"/>
                </a:solidFill>
              </a:rPr>
              <a:t>Quiz 2 – 10 Marks</a:t>
            </a:r>
          </a:p>
          <a:p>
            <a:r>
              <a:rPr lang="en-US" sz="3200" dirty="0">
                <a:solidFill>
                  <a:srgbClr val="0000CC"/>
                </a:solidFill>
              </a:rPr>
              <a:t>DA – 10 Marks</a:t>
            </a:r>
          </a:p>
        </p:txBody>
      </p:sp>
    </p:spTree>
    <p:extLst>
      <p:ext uri="{BB962C8B-B14F-4D97-AF65-F5344CB8AC3E}">
        <p14:creationId xmlns:p14="http://schemas.microsoft.com/office/powerpoint/2010/main" val="2727589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0282" y="-19664"/>
            <a:ext cx="10515600" cy="1325563"/>
          </a:xfrm>
        </p:spPr>
        <p:txBody>
          <a:bodyPr/>
          <a:lstStyle/>
          <a:p>
            <a:r>
              <a:rPr lang="en-IN" dirty="0"/>
              <a:t>Content - </a:t>
            </a:r>
            <a:r>
              <a:rPr lang="en-US" dirty="0"/>
              <a:t>Module -1</a:t>
            </a:r>
            <a:endParaRPr lang="en-IN" dirty="0"/>
          </a:p>
        </p:txBody>
      </p:sp>
      <p:sp>
        <p:nvSpPr>
          <p:cNvPr id="3" name="Content Placeholder 2"/>
          <p:cNvSpPr>
            <a:spLocks noGrp="1"/>
          </p:cNvSpPr>
          <p:nvPr>
            <p:ph idx="1"/>
          </p:nvPr>
        </p:nvSpPr>
        <p:spPr>
          <a:xfrm>
            <a:off x="690282" y="1125912"/>
            <a:ext cx="10515600" cy="5589520"/>
          </a:xfrm>
        </p:spPr>
        <p:txBody>
          <a:bodyPr>
            <a:noAutofit/>
          </a:bodyPr>
          <a:lstStyle/>
          <a:p>
            <a:r>
              <a:rPr lang="en-US" sz="3200" dirty="0">
                <a:solidFill>
                  <a:srgbClr val="0000CC"/>
                </a:solidFill>
              </a:rPr>
              <a:t>Introduction to Compilation And Lexical Analysis</a:t>
            </a:r>
          </a:p>
          <a:p>
            <a:pPr lvl="1"/>
            <a:r>
              <a:rPr lang="en-IN" dirty="0"/>
              <a:t>Introduction to LLVM </a:t>
            </a:r>
          </a:p>
          <a:p>
            <a:pPr lvl="1"/>
            <a:r>
              <a:rPr lang="en-IN" dirty="0"/>
              <a:t> Structure and Phases of a Compiler</a:t>
            </a:r>
          </a:p>
          <a:p>
            <a:pPr lvl="1"/>
            <a:r>
              <a:rPr lang="en-IN" dirty="0"/>
              <a:t>Design Issues</a:t>
            </a:r>
          </a:p>
          <a:p>
            <a:pPr lvl="1"/>
            <a:r>
              <a:rPr lang="en-IN" dirty="0"/>
              <a:t>Patterns Lexemes</a:t>
            </a:r>
          </a:p>
          <a:p>
            <a:pPr lvl="1"/>
            <a:r>
              <a:rPr lang="en-IN" dirty="0"/>
              <a:t>Tokens-Attributes</a:t>
            </a:r>
          </a:p>
          <a:p>
            <a:pPr lvl="1"/>
            <a:r>
              <a:rPr lang="en-IN" dirty="0"/>
              <a:t>Specification of Tokens</a:t>
            </a:r>
          </a:p>
          <a:p>
            <a:pPr lvl="1"/>
            <a:r>
              <a:rPr lang="en-IN" dirty="0"/>
              <a:t>Extended Regular Expression</a:t>
            </a:r>
          </a:p>
          <a:p>
            <a:pPr lvl="1"/>
            <a:r>
              <a:rPr lang="en-IN" dirty="0"/>
              <a:t>Regular expression to Deterministic Finite Automata (Direct method) </a:t>
            </a:r>
          </a:p>
          <a:p>
            <a:pPr lvl="1"/>
            <a:r>
              <a:rPr lang="en-IN" dirty="0"/>
              <a:t>Lex - A Lexical Analyzer Generator</a:t>
            </a:r>
            <a:endParaRPr lang="en-IN" dirty="0">
              <a:cs typeface="Times New Roman" panose="02020603050405020304" pitchFamily="18" charset="0"/>
            </a:endParaRPr>
          </a:p>
        </p:txBody>
      </p:sp>
    </p:spTree>
    <p:extLst>
      <p:ext uri="{BB962C8B-B14F-4D97-AF65-F5344CB8AC3E}">
        <p14:creationId xmlns:p14="http://schemas.microsoft.com/office/powerpoint/2010/main" val="1175861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6E1F02E-3FF5-AD01-5C4A-D548CC45B5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873" y="794179"/>
            <a:ext cx="11252880" cy="52696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9949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A1F0A-F89F-C4A4-4FEF-72B6AB11BFE4}"/>
              </a:ext>
            </a:extLst>
          </p:cNvPr>
          <p:cNvSpPr>
            <a:spLocks noGrp="1"/>
          </p:cNvSpPr>
          <p:nvPr>
            <p:ph type="title"/>
          </p:nvPr>
        </p:nvSpPr>
        <p:spPr/>
        <p:txBody>
          <a:bodyPr/>
          <a:lstStyle/>
          <a:p>
            <a:r>
              <a:rPr lang="en-US" dirty="0"/>
              <a:t>Translator</a:t>
            </a:r>
            <a:endParaRPr lang="en-IN" dirty="0"/>
          </a:p>
        </p:txBody>
      </p:sp>
      <p:sp>
        <p:nvSpPr>
          <p:cNvPr id="3" name="Content Placeholder 2">
            <a:extLst>
              <a:ext uri="{FF2B5EF4-FFF2-40B4-BE49-F238E27FC236}">
                <a16:creationId xmlns:a16="http://schemas.microsoft.com/office/drawing/2014/main" id="{E767F006-52F8-5FD4-F0E9-8A090EED2CA1}"/>
              </a:ext>
            </a:extLst>
          </p:cNvPr>
          <p:cNvSpPr>
            <a:spLocks noGrp="1"/>
          </p:cNvSpPr>
          <p:nvPr>
            <p:ph idx="1"/>
          </p:nvPr>
        </p:nvSpPr>
        <p:spPr/>
        <p:txBody>
          <a:bodyPr/>
          <a:lstStyle/>
          <a:p>
            <a:pPr lvl="0" algn="just">
              <a:lnSpc>
                <a:spcPct val="100000"/>
              </a:lnSpc>
            </a:pPr>
            <a:r>
              <a:rPr lang="en-US" dirty="0"/>
              <a:t>A translator is a program that </a:t>
            </a:r>
            <a:r>
              <a:rPr lang="en-US" b="1" dirty="0">
                <a:solidFill>
                  <a:srgbClr val="0E47A1"/>
                </a:solidFill>
              </a:rPr>
              <a:t>takes one form of program as input </a:t>
            </a:r>
            <a:r>
              <a:rPr lang="en-US" dirty="0"/>
              <a:t>and </a:t>
            </a:r>
            <a:r>
              <a:rPr lang="en-US" b="1" dirty="0">
                <a:solidFill>
                  <a:srgbClr val="0E47A1"/>
                </a:solidFill>
              </a:rPr>
              <a:t>converts</a:t>
            </a:r>
            <a:r>
              <a:rPr lang="en-US" dirty="0"/>
              <a:t> </a:t>
            </a:r>
            <a:r>
              <a:rPr lang="en-US" b="1" dirty="0">
                <a:solidFill>
                  <a:srgbClr val="0E47A1"/>
                </a:solidFill>
              </a:rPr>
              <a:t>it into another form. </a:t>
            </a:r>
          </a:p>
          <a:p>
            <a:pPr algn="just">
              <a:lnSpc>
                <a:spcPct val="100000"/>
              </a:lnSpc>
            </a:pPr>
            <a:r>
              <a:rPr lang="en-US" dirty="0"/>
              <a:t>Types of translators are:</a:t>
            </a:r>
          </a:p>
          <a:p>
            <a:pPr marL="1028700" indent="-457200" algn="just">
              <a:lnSpc>
                <a:spcPct val="100000"/>
              </a:lnSpc>
              <a:buFont typeface="+mj-lt"/>
              <a:buAutoNum type="arabicPeriod"/>
            </a:pPr>
            <a:r>
              <a:rPr lang="en-US" dirty="0">
                <a:solidFill>
                  <a:srgbClr val="0E47A1"/>
                </a:solidFill>
              </a:rPr>
              <a:t>Compiler</a:t>
            </a:r>
          </a:p>
          <a:p>
            <a:pPr marL="1028700" indent="-457200" algn="just">
              <a:lnSpc>
                <a:spcPct val="100000"/>
              </a:lnSpc>
              <a:buFont typeface="+mj-lt"/>
              <a:buAutoNum type="arabicPeriod"/>
            </a:pPr>
            <a:r>
              <a:rPr lang="en-US" dirty="0">
                <a:solidFill>
                  <a:srgbClr val="0E47A1"/>
                </a:solidFill>
              </a:rPr>
              <a:t>Interpreter</a:t>
            </a:r>
          </a:p>
          <a:p>
            <a:pPr marL="1028700" indent="-457200" algn="just">
              <a:lnSpc>
                <a:spcPct val="100000"/>
              </a:lnSpc>
              <a:buFont typeface="+mj-lt"/>
              <a:buAutoNum type="arabicPeriod"/>
            </a:pPr>
            <a:r>
              <a:rPr lang="en-US" dirty="0">
                <a:solidFill>
                  <a:srgbClr val="0E47A1"/>
                </a:solidFill>
              </a:rPr>
              <a:t>Assembler</a:t>
            </a:r>
          </a:p>
          <a:p>
            <a:endParaRPr lang="en-IN" dirty="0"/>
          </a:p>
        </p:txBody>
      </p:sp>
      <p:grpSp>
        <p:nvGrpSpPr>
          <p:cNvPr id="11" name="Group 10">
            <a:extLst>
              <a:ext uri="{FF2B5EF4-FFF2-40B4-BE49-F238E27FC236}">
                <a16:creationId xmlns:a16="http://schemas.microsoft.com/office/drawing/2014/main" id="{AA984A1F-51C9-2C88-62C9-5CBBE547AAF5}"/>
              </a:ext>
            </a:extLst>
          </p:cNvPr>
          <p:cNvGrpSpPr/>
          <p:nvPr/>
        </p:nvGrpSpPr>
        <p:grpSpPr>
          <a:xfrm>
            <a:off x="4665863" y="3684976"/>
            <a:ext cx="6796091" cy="2626924"/>
            <a:chOff x="4557709" y="3865951"/>
            <a:chExt cx="6796091" cy="2626924"/>
          </a:xfrm>
        </p:grpSpPr>
        <p:cxnSp>
          <p:nvCxnSpPr>
            <p:cNvPr id="4" name="Straight Arrow Connector 3">
              <a:extLst>
                <a:ext uri="{FF2B5EF4-FFF2-40B4-BE49-F238E27FC236}">
                  <a16:creationId xmlns:a16="http://schemas.microsoft.com/office/drawing/2014/main" id="{F6A5F5E0-B665-0740-B347-C0FF3DF8AA0D}"/>
                </a:ext>
              </a:extLst>
            </p:cNvPr>
            <p:cNvCxnSpPr/>
            <p:nvPr/>
          </p:nvCxnSpPr>
          <p:spPr>
            <a:xfrm flipH="1">
              <a:off x="8029572" y="4854579"/>
              <a:ext cx="0" cy="7620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D9A76FE0-7FC4-445D-2524-BE70B963508D}"/>
                </a:ext>
              </a:extLst>
            </p:cNvPr>
            <p:cNvSpPr/>
            <p:nvPr/>
          </p:nvSpPr>
          <p:spPr>
            <a:xfrm>
              <a:off x="7153272" y="5502275"/>
              <a:ext cx="1752600" cy="990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rgbClr val="C00000"/>
                  </a:solidFill>
                </a:rPr>
                <a:t>Error</a:t>
              </a:r>
            </a:p>
            <a:p>
              <a:pPr algn="ctr"/>
              <a:r>
                <a:rPr lang="en-US" sz="2200">
                  <a:solidFill>
                    <a:srgbClr val="C00000"/>
                  </a:solidFill>
                </a:rPr>
                <a:t>Messages </a:t>
              </a:r>
            </a:p>
          </p:txBody>
        </p:sp>
        <p:sp>
          <p:nvSpPr>
            <p:cNvPr id="6" name="Rectangle 5">
              <a:extLst>
                <a:ext uri="{FF2B5EF4-FFF2-40B4-BE49-F238E27FC236}">
                  <a16:creationId xmlns:a16="http://schemas.microsoft.com/office/drawing/2014/main" id="{B3ECC3F1-C819-2BD4-5F2A-A3AFF468A47A}"/>
                </a:ext>
              </a:extLst>
            </p:cNvPr>
            <p:cNvSpPr/>
            <p:nvPr/>
          </p:nvSpPr>
          <p:spPr>
            <a:xfrm>
              <a:off x="7153272" y="3865951"/>
              <a:ext cx="1752600" cy="990600"/>
            </a:xfrm>
            <a:prstGeom prst="rect">
              <a:avLst/>
            </a:prstGeom>
            <a:solidFill>
              <a:srgbClr val="0E47A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t>Translator</a:t>
              </a:r>
            </a:p>
          </p:txBody>
        </p:sp>
        <p:cxnSp>
          <p:nvCxnSpPr>
            <p:cNvPr id="7" name="Straight Arrow Connector 6">
              <a:extLst>
                <a:ext uri="{FF2B5EF4-FFF2-40B4-BE49-F238E27FC236}">
                  <a16:creationId xmlns:a16="http://schemas.microsoft.com/office/drawing/2014/main" id="{3B2270BF-120F-032B-D483-C21D2D3598AF}"/>
                </a:ext>
              </a:extLst>
            </p:cNvPr>
            <p:cNvCxnSpPr/>
            <p:nvPr/>
          </p:nvCxnSpPr>
          <p:spPr>
            <a:xfrm>
              <a:off x="6086472" y="4397382"/>
              <a:ext cx="10668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6166749-3AA6-C73C-2708-A32BFE54CA71}"/>
                </a:ext>
              </a:extLst>
            </p:cNvPr>
            <p:cNvCxnSpPr/>
            <p:nvPr/>
          </p:nvCxnSpPr>
          <p:spPr>
            <a:xfrm>
              <a:off x="8905872" y="4397382"/>
              <a:ext cx="10668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10FD22CD-495A-2A4C-9D84-E8B5520E0E20}"/>
                </a:ext>
              </a:extLst>
            </p:cNvPr>
            <p:cNvSpPr/>
            <p:nvPr/>
          </p:nvSpPr>
          <p:spPr>
            <a:xfrm>
              <a:off x="4557709" y="3902082"/>
              <a:ext cx="1752600" cy="990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rPr>
                <a:t>Source Program</a:t>
              </a:r>
            </a:p>
          </p:txBody>
        </p:sp>
        <p:sp>
          <p:nvSpPr>
            <p:cNvPr id="10" name="Rectangle 9">
              <a:extLst>
                <a:ext uri="{FF2B5EF4-FFF2-40B4-BE49-F238E27FC236}">
                  <a16:creationId xmlns:a16="http://schemas.microsoft.com/office/drawing/2014/main" id="{BD825F6D-308F-4690-1EAC-CE077A741DE9}"/>
                </a:ext>
              </a:extLst>
            </p:cNvPr>
            <p:cNvSpPr/>
            <p:nvPr/>
          </p:nvSpPr>
          <p:spPr>
            <a:xfrm>
              <a:off x="9601200" y="3997323"/>
              <a:ext cx="1752600" cy="990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rPr>
                <a:t>Target Program</a:t>
              </a:r>
            </a:p>
          </p:txBody>
        </p:sp>
      </p:grpSp>
    </p:spTree>
    <p:extLst>
      <p:ext uri="{BB962C8B-B14F-4D97-AF65-F5344CB8AC3E}">
        <p14:creationId xmlns:p14="http://schemas.microsoft.com/office/powerpoint/2010/main" val="2502465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571DA-3C02-4E0E-BDD0-BFCEA584DC53}"/>
              </a:ext>
            </a:extLst>
          </p:cNvPr>
          <p:cNvSpPr>
            <a:spLocks noGrp="1"/>
          </p:cNvSpPr>
          <p:nvPr>
            <p:ph type="title"/>
          </p:nvPr>
        </p:nvSpPr>
        <p:spPr/>
        <p:txBody>
          <a:bodyPr/>
          <a:lstStyle/>
          <a:p>
            <a:r>
              <a:rPr lang="en-US" dirty="0"/>
              <a:t>Compiler</a:t>
            </a:r>
            <a:endParaRPr lang="en-IN" dirty="0"/>
          </a:p>
        </p:txBody>
      </p:sp>
      <p:sp>
        <p:nvSpPr>
          <p:cNvPr id="3" name="Content Placeholder 2">
            <a:extLst>
              <a:ext uri="{FF2B5EF4-FFF2-40B4-BE49-F238E27FC236}">
                <a16:creationId xmlns:a16="http://schemas.microsoft.com/office/drawing/2014/main" id="{C967C31B-9B19-0849-8D30-6B751C511503}"/>
              </a:ext>
            </a:extLst>
          </p:cNvPr>
          <p:cNvSpPr>
            <a:spLocks noGrp="1"/>
          </p:cNvSpPr>
          <p:nvPr>
            <p:ph idx="1"/>
          </p:nvPr>
        </p:nvSpPr>
        <p:spPr/>
        <p:txBody>
          <a:bodyPr/>
          <a:lstStyle/>
          <a:p>
            <a:r>
              <a:rPr lang="en-US" dirty="0"/>
              <a:t>A compiler is a program that reads a program written in source language and translates it into an equivalent program in target language.</a:t>
            </a:r>
          </a:p>
          <a:p>
            <a:endParaRPr lang="en-IN" dirty="0"/>
          </a:p>
        </p:txBody>
      </p:sp>
      <p:grpSp>
        <p:nvGrpSpPr>
          <p:cNvPr id="16" name="Group 15">
            <a:extLst>
              <a:ext uri="{FF2B5EF4-FFF2-40B4-BE49-F238E27FC236}">
                <a16:creationId xmlns:a16="http://schemas.microsoft.com/office/drawing/2014/main" id="{749B54C2-4E7F-1C72-01E8-791EFCB25176}"/>
              </a:ext>
            </a:extLst>
          </p:cNvPr>
          <p:cNvGrpSpPr/>
          <p:nvPr/>
        </p:nvGrpSpPr>
        <p:grpSpPr>
          <a:xfrm>
            <a:off x="1980305" y="3269857"/>
            <a:ext cx="8549119" cy="3500440"/>
            <a:chOff x="1980305" y="3269857"/>
            <a:chExt cx="8549119" cy="3500440"/>
          </a:xfrm>
        </p:grpSpPr>
        <p:grpSp>
          <p:nvGrpSpPr>
            <p:cNvPr id="4" name="Group 3">
              <a:extLst>
                <a:ext uri="{FF2B5EF4-FFF2-40B4-BE49-F238E27FC236}">
                  <a16:creationId xmlns:a16="http://schemas.microsoft.com/office/drawing/2014/main" id="{A5522D6E-C0C7-2404-5A71-09041F01280B}"/>
                </a:ext>
              </a:extLst>
            </p:cNvPr>
            <p:cNvGrpSpPr/>
            <p:nvPr/>
          </p:nvGrpSpPr>
          <p:grpSpPr>
            <a:xfrm>
              <a:off x="1980305" y="3269857"/>
              <a:ext cx="8549119" cy="3484904"/>
              <a:chOff x="1842653" y="2915896"/>
              <a:chExt cx="8549119" cy="3484904"/>
            </a:xfrm>
          </p:grpSpPr>
          <p:sp>
            <p:nvSpPr>
              <p:cNvPr id="5" name="Rectangle 4">
                <a:extLst>
                  <a:ext uri="{FF2B5EF4-FFF2-40B4-BE49-F238E27FC236}">
                    <a16:creationId xmlns:a16="http://schemas.microsoft.com/office/drawing/2014/main" id="{999BAE89-0CF2-CA19-F026-92914333420C}"/>
                  </a:ext>
                </a:extLst>
              </p:cNvPr>
              <p:cNvSpPr/>
              <p:nvPr/>
            </p:nvSpPr>
            <p:spPr>
              <a:xfrm>
                <a:off x="5248272" y="3773876"/>
                <a:ext cx="1752600" cy="990600"/>
              </a:xfrm>
              <a:prstGeom prst="rect">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t>Compiler</a:t>
                </a:r>
              </a:p>
            </p:txBody>
          </p:sp>
          <p:cxnSp>
            <p:nvCxnSpPr>
              <p:cNvPr id="6" name="Straight Arrow Connector 5">
                <a:extLst>
                  <a:ext uri="{FF2B5EF4-FFF2-40B4-BE49-F238E27FC236}">
                    <a16:creationId xmlns:a16="http://schemas.microsoft.com/office/drawing/2014/main" id="{74928A34-61D5-DDEB-6766-D4B6AD17BBCE}"/>
                  </a:ext>
                </a:extLst>
              </p:cNvPr>
              <p:cNvCxnSpPr/>
              <p:nvPr/>
            </p:nvCxnSpPr>
            <p:spPr>
              <a:xfrm>
                <a:off x="4181472" y="4305307"/>
                <a:ext cx="10668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E061AA1-7343-8DAE-9143-BB6AADB1A2EF}"/>
                  </a:ext>
                </a:extLst>
              </p:cNvPr>
              <p:cNvCxnSpPr/>
              <p:nvPr/>
            </p:nvCxnSpPr>
            <p:spPr>
              <a:xfrm>
                <a:off x="7000872" y="4305307"/>
                <a:ext cx="10668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0F200BE-78D8-D028-486B-3685D6494255}"/>
                  </a:ext>
                </a:extLst>
              </p:cNvPr>
              <p:cNvGrpSpPr/>
              <p:nvPr/>
            </p:nvGrpSpPr>
            <p:grpSpPr>
              <a:xfrm>
                <a:off x="1842653" y="2921784"/>
                <a:ext cx="2662236" cy="3479016"/>
                <a:chOff x="333372" y="2955135"/>
                <a:chExt cx="2662236" cy="3479016"/>
              </a:xfrm>
            </p:grpSpPr>
            <p:sp>
              <p:nvSpPr>
                <p:cNvPr id="12" name="Vertical Scroll 16">
                  <a:extLst>
                    <a:ext uri="{FF2B5EF4-FFF2-40B4-BE49-F238E27FC236}">
                      <a16:creationId xmlns:a16="http://schemas.microsoft.com/office/drawing/2014/main" id="{EF845ED4-166B-D89D-F7CA-A8B2889E4BAF}"/>
                    </a:ext>
                  </a:extLst>
                </p:cNvPr>
                <p:cNvSpPr/>
                <p:nvPr/>
              </p:nvSpPr>
              <p:spPr>
                <a:xfrm>
                  <a:off x="333372" y="2955135"/>
                  <a:ext cx="2662236" cy="2624144"/>
                </a:xfrm>
                <a:prstGeom prst="verticalScroll">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void main()</a:t>
                  </a:r>
                </a:p>
                <a:p>
                  <a:r>
                    <a:rPr lang="en-US" sz="2000" dirty="0">
                      <a:solidFill>
                        <a:schemeClr val="tx1"/>
                      </a:solidFill>
                    </a:rPr>
                    <a:t>{</a:t>
                  </a:r>
                </a:p>
                <a:p>
                  <a:r>
                    <a:rPr lang="en-US" sz="2000" dirty="0">
                      <a:solidFill>
                        <a:schemeClr val="tx1"/>
                      </a:solidFill>
                    </a:rPr>
                    <a:t>int a=1,b=2,c;</a:t>
                  </a:r>
                </a:p>
                <a:p>
                  <a:r>
                    <a:rPr lang="en-US" sz="2000" dirty="0">
                      <a:solidFill>
                        <a:schemeClr val="tx1"/>
                      </a:solidFill>
                    </a:rPr>
                    <a:t>c=</a:t>
                  </a:r>
                  <a:r>
                    <a:rPr lang="en-US" sz="2000" dirty="0" err="1">
                      <a:solidFill>
                        <a:schemeClr val="tx1"/>
                      </a:solidFill>
                    </a:rPr>
                    <a:t>a+b</a:t>
                  </a:r>
                  <a:r>
                    <a:rPr lang="en-US" sz="2000" dirty="0">
                      <a:solidFill>
                        <a:schemeClr val="tx1"/>
                      </a:solidFill>
                    </a:rPr>
                    <a:t>;</a:t>
                  </a:r>
                </a:p>
                <a:p>
                  <a:r>
                    <a:rPr lang="en-US" sz="2000" dirty="0" err="1">
                      <a:solidFill>
                        <a:schemeClr val="tx1"/>
                      </a:solidFill>
                    </a:rPr>
                    <a:t>printf</a:t>
                  </a:r>
                  <a:r>
                    <a:rPr lang="en-US" sz="2000" dirty="0">
                      <a:solidFill>
                        <a:schemeClr val="tx1"/>
                      </a:solidFill>
                    </a:rPr>
                    <a:t>(“%</a:t>
                  </a:r>
                  <a:r>
                    <a:rPr lang="en-US" sz="2000" dirty="0" err="1">
                      <a:solidFill>
                        <a:schemeClr val="tx1"/>
                      </a:solidFill>
                    </a:rPr>
                    <a:t>d”,c</a:t>
                  </a:r>
                  <a:r>
                    <a:rPr lang="en-US" sz="2000" dirty="0">
                      <a:solidFill>
                        <a:schemeClr val="tx1"/>
                      </a:solidFill>
                    </a:rPr>
                    <a:t>);</a:t>
                  </a:r>
                </a:p>
                <a:p>
                  <a:r>
                    <a:rPr lang="en-US" sz="2000" dirty="0">
                      <a:solidFill>
                        <a:schemeClr val="tx1"/>
                      </a:solidFill>
                    </a:rPr>
                    <a:t>}</a:t>
                  </a:r>
                </a:p>
              </p:txBody>
            </p:sp>
            <p:sp>
              <p:nvSpPr>
                <p:cNvPr id="13" name="Rectangle 12">
                  <a:extLst>
                    <a:ext uri="{FF2B5EF4-FFF2-40B4-BE49-F238E27FC236}">
                      <a16:creationId xmlns:a16="http://schemas.microsoft.com/office/drawing/2014/main" id="{551E41F5-2040-2D81-AF9F-078E661AAB58}"/>
                    </a:ext>
                  </a:extLst>
                </p:cNvPr>
                <p:cNvSpPr/>
                <p:nvPr/>
              </p:nvSpPr>
              <p:spPr>
                <a:xfrm>
                  <a:off x="788190" y="5443551"/>
                  <a:ext cx="1752600" cy="990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tx1"/>
                      </a:solidFill>
                    </a:rPr>
                    <a:t>Source Program</a:t>
                  </a:r>
                </a:p>
              </p:txBody>
            </p:sp>
          </p:grpSp>
          <p:grpSp>
            <p:nvGrpSpPr>
              <p:cNvPr id="9" name="Group 8">
                <a:extLst>
                  <a:ext uri="{FF2B5EF4-FFF2-40B4-BE49-F238E27FC236}">
                    <a16:creationId xmlns:a16="http://schemas.microsoft.com/office/drawing/2014/main" id="{41480999-6D93-89BB-DE2A-303BCE832A69}"/>
                  </a:ext>
                </a:extLst>
              </p:cNvPr>
              <p:cNvGrpSpPr/>
              <p:nvPr/>
            </p:nvGrpSpPr>
            <p:grpSpPr>
              <a:xfrm>
                <a:off x="7729536" y="2915896"/>
                <a:ext cx="2662236" cy="3441955"/>
                <a:chOff x="6205536" y="3031331"/>
                <a:chExt cx="2662236" cy="3441955"/>
              </a:xfrm>
            </p:grpSpPr>
            <p:sp>
              <p:nvSpPr>
                <p:cNvPr id="10" name="Vertical Scroll 17">
                  <a:extLst>
                    <a:ext uri="{FF2B5EF4-FFF2-40B4-BE49-F238E27FC236}">
                      <a16:creationId xmlns:a16="http://schemas.microsoft.com/office/drawing/2014/main" id="{BE2FAF4E-1135-90F8-03DD-54783CA4D129}"/>
                    </a:ext>
                  </a:extLst>
                </p:cNvPr>
                <p:cNvSpPr/>
                <p:nvPr/>
              </p:nvSpPr>
              <p:spPr>
                <a:xfrm>
                  <a:off x="6205536" y="3031331"/>
                  <a:ext cx="2662236" cy="2624144"/>
                </a:xfrm>
                <a:prstGeom prst="verticalScroll">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a:solidFill>
                        <a:schemeClr val="tx1"/>
                      </a:solidFill>
                    </a:rPr>
                    <a:t>0000 1100 0010</a:t>
                  </a:r>
                </a:p>
                <a:p>
                  <a:r>
                    <a:rPr lang="en-US" sz="2000">
                      <a:solidFill>
                        <a:schemeClr val="tx1"/>
                      </a:solidFill>
                    </a:rPr>
                    <a:t>0100</a:t>
                  </a:r>
                </a:p>
                <a:p>
                  <a:r>
                    <a:rPr lang="en-US" sz="2000">
                      <a:solidFill>
                        <a:schemeClr val="tx1"/>
                      </a:solidFill>
                    </a:rPr>
                    <a:t>0111 1000 0001</a:t>
                  </a:r>
                </a:p>
                <a:p>
                  <a:r>
                    <a:rPr lang="en-US" sz="2000">
                      <a:solidFill>
                        <a:schemeClr val="tx1"/>
                      </a:solidFill>
                    </a:rPr>
                    <a:t>1111 0101 1110</a:t>
                  </a:r>
                </a:p>
                <a:p>
                  <a:r>
                    <a:rPr lang="en-US" sz="2000">
                      <a:solidFill>
                        <a:schemeClr val="tx1"/>
                      </a:solidFill>
                    </a:rPr>
                    <a:t>1100 0000 1000</a:t>
                  </a:r>
                </a:p>
                <a:p>
                  <a:r>
                    <a:rPr lang="en-US" sz="2000">
                      <a:solidFill>
                        <a:schemeClr val="tx1"/>
                      </a:solidFill>
                    </a:rPr>
                    <a:t>1011</a:t>
                  </a:r>
                </a:p>
              </p:txBody>
            </p:sp>
            <p:sp>
              <p:nvSpPr>
                <p:cNvPr id="11" name="Rectangle 10">
                  <a:extLst>
                    <a:ext uri="{FF2B5EF4-FFF2-40B4-BE49-F238E27FC236}">
                      <a16:creationId xmlns:a16="http://schemas.microsoft.com/office/drawing/2014/main" id="{55BAB4EB-FCF3-C076-0F77-D048D203E5C9}"/>
                    </a:ext>
                  </a:extLst>
                </p:cNvPr>
                <p:cNvSpPr/>
                <p:nvPr/>
              </p:nvSpPr>
              <p:spPr>
                <a:xfrm>
                  <a:off x="6677022" y="5482686"/>
                  <a:ext cx="1752600" cy="990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tx1"/>
                      </a:solidFill>
                    </a:rPr>
                    <a:t>Target Program</a:t>
                  </a:r>
                </a:p>
              </p:txBody>
            </p:sp>
          </p:grpSp>
        </p:grpSp>
        <p:cxnSp>
          <p:nvCxnSpPr>
            <p:cNvPr id="14" name="Straight Arrow Connector 13">
              <a:extLst>
                <a:ext uri="{FF2B5EF4-FFF2-40B4-BE49-F238E27FC236}">
                  <a16:creationId xmlns:a16="http://schemas.microsoft.com/office/drawing/2014/main" id="{37F9D60F-6A2D-6DE2-E730-94CE6409E90E}"/>
                </a:ext>
              </a:extLst>
            </p:cNvPr>
            <p:cNvCxnSpPr/>
            <p:nvPr/>
          </p:nvCxnSpPr>
          <p:spPr>
            <a:xfrm flipH="1">
              <a:off x="6180183" y="5132001"/>
              <a:ext cx="0" cy="7620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58DC8B25-8F39-E8C4-1D55-67DBF5483702}"/>
                </a:ext>
              </a:extLst>
            </p:cNvPr>
            <p:cNvSpPr/>
            <p:nvPr/>
          </p:nvSpPr>
          <p:spPr>
            <a:xfrm>
              <a:off x="5303883" y="5779697"/>
              <a:ext cx="1752600" cy="990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rgbClr val="C00000"/>
                  </a:solidFill>
                </a:rPr>
                <a:t>Error</a:t>
              </a:r>
            </a:p>
            <a:p>
              <a:pPr algn="ctr"/>
              <a:r>
                <a:rPr lang="en-US" sz="2200">
                  <a:solidFill>
                    <a:srgbClr val="C00000"/>
                  </a:solidFill>
                </a:rPr>
                <a:t>Messages </a:t>
              </a:r>
            </a:p>
          </p:txBody>
        </p:sp>
      </p:grpSp>
    </p:spTree>
    <p:extLst>
      <p:ext uri="{BB962C8B-B14F-4D97-AF65-F5344CB8AC3E}">
        <p14:creationId xmlns:p14="http://schemas.microsoft.com/office/powerpoint/2010/main" val="449651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579EA-1EC8-6EF0-F7B9-E76086CE8EA6}"/>
              </a:ext>
            </a:extLst>
          </p:cNvPr>
          <p:cNvSpPr>
            <a:spLocks noGrp="1"/>
          </p:cNvSpPr>
          <p:nvPr>
            <p:ph type="title"/>
          </p:nvPr>
        </p:nvSpPr>
        <p:spPr/>
        <p:txBody>
          <a:bodyPr/>
          <a:lstStyle/>
          <a:p>
            <a:r>
              <a:rPr lang="en-US" dirty="0"/>
              <a:t>Interpreter</a:t>
            </a:r>
            <a:endParaRPr lang="en-IN" dirty="0"/>
          </a:p>
        </p:txBody>
      </p:sp>
      <p:sp>
        <p:nvSpPr>
          <p:cNvPr id="3" name="Content Placeholder 2">
            <a:extLst>
              <a:ext uri="{FF2B5EF4-FFF2-40B4-BE49-F238E27FC236}">
                <a16:creationId xmlns:a16="http://schemas.microsoft.com/office/drawing/2014/main" id="{3B8362A7-5157-02C7-CB7F-3836A72638B6}"/>
              </a:ext>
            </a:extLst>
          </p:cNvPr>
          <p:cNvSpPr>
            <a:spLocks noGrp="1"/>
          </p:cNvSpPr>
          <p:nvPr>
            <p:ph idx="1"/>
          </p:nvPr>
        </p:nvSpPr>
        <p:spPr/>
        <p:txBody>
          <a:bodyPr/>
          <a:lstStyle/>
          <a:p>
            <a:r>
              <a:rPr lang="en-US" dirty="0"/>
              <a:t>Interpreter is also program that reads a program written in source language and translates it into an equivalent program in target language line by line</a:t>
            </a:r>
          </a:p>
          <a:p>
            <a:endParaRPr lang="en-IN" dirty="0"/>
          </a:p>
        </p:txBody>
      </p:sp>
      <p:grpSp>
        <p:nvGrpSpPr>
          <p:cNvPr id="14" name="Group 13">
            <a:extLst>
              <a:ext uri="{FF2B5EF4-FFF2-40B4-BE49-F238E27FC236}">
                <a16:creationId xmlns:a16="http://schemas.microsoft.com/office/drawing/2014/main" id="{ECAFBC8B-B868-08D8-E7EF-9391F7C6A45A}"/>
              </a:ext>
            </a:extLst>
          </p:cNvPr>
          <p:cNvGrpSpPr/>
          <p:nvPr/>
        </p:nvGrpSpPr>
        <p:grpSpPr>
          <a:xfrm>
            <a:off x="1980305" y="3269857"/>
            <a:ext cx="8549119" cy="3500440"/>
            <a:chOff x="1980305" y="3269857"/>
            <a:chExt cx="8549119" cy="3500440"/>
          </a:xfrm>
        </p:grpSpPr>
        <p:grpSp>
          <p:nvGrpSpPr>
            <p:cNvPr id="15" name="Group 14">
              <a:extLst>
                <a:ext uri="{FF2B5EF4-FFF2-40B4-BE49-F238E27FC236}">
                  <a16:creationId xmlns:a16="http://schemas.microsoft.com/office/drawing/2014/main" id="{0702B44C-6745-BB93-DF49-1DF4AC503A8B}"/>
                </a:ext>
              </a:extLst>
            </p:cNvPr>
            <p:cNvGrpSpPr/>
            <p:nvPr/>
          </p:nvGrpSpPr>
          <p:grpSpPr>
            <a:xfrm>
              <a:off x="1980305" y="3269857"/>
              <a:ext cx="8549119" cy="3484904"/>
              <a:chOff x="1842653" y="2915896"/>
              <a:chExt cx="8549119" cy="3484904"/>
            </a:xfrm>
          </p:grpSpPr>
          <p:sp>
            <p:nvSpPr>
              <p:cNvPr id="18" name="Rectangle 17">
                <a:extLst>
                  <a:ext uri="{FF2B5EF4-FFF2-40B4-BE49-F238E27FC236}">
                    <a16:creationId xmlns:a16="http://schemas.microsoft.com/office/drawing/2014/main" id="{FD066F74-B57A-E2E4-A5B0-CD0248904C11}"/>
                  </a:ext>
                </a:extLst>
              </p:cNvPr>
              <p:cNvSpPr/>
              <p:nvPr/>
            </p:nvSpPr>
            <p:spPr>
              <a:xfrm>
                <a:off x="5248272" y="3773876"/>
                <a:ext cx="1752600" cy="990600"/>
              </a:xfrm>
              <a:prstGeom prst="rect">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t>Interpreter</a:t>
                </a:r>
              </a:p>
            </p:txBody>
          </p:sp>
          <p:cxnSp>
            <p:nvCxnSpPr>
              <p:cNvPr id="19" name="Straight Arrow Connector 18">
                <a:extLst>
                  <a:ext uri="{FF2B5EF4-FFF2-40B4-BE49-F238E27FC236}">
                    <a16:creationId xmlns:a16="http://schemas.microsoft.com/office/drawing/2014/main" id="{C39FC2F4-9EBB-DCCA-3821-53652B69C1EE}"/>
                  </a:ext>
                </a:extLst>
              </p:cNvPr>
              <p:cNvCxnSpPr/>
              <p:nvPr/>
            </p:nvCxnSpPr>
            <p:spPr>
              <a:xfrm>
                <a:off x="4181472" y="4305307"/>
                <a:ext cx="10668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1C87C27-97EB-480B-2AB9-D148FB032FCD}"/>
                  </a:ext>
                </a:extLst>
              </p:cNvPr>
              <p:cNvCxnSpPr/>
              <p:nvPr/>
            </p:nvCxnSpPr>
            <p:spPr>
              <a:xfrm>
                <a:off x="7000872" y="4305307"/>
                <a:ext cx="10668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22655014-1E3D-5CDF-EE95-801726F9ACC7}"/>
                  </a:ext>
                </a:extLst>
              </p:cNvPr>
              <p:cNvGrpSpPr/>
              <p:nvPr/>
            </p:nvGrpSpPr>
            <p:grpSpPr>
              <a:xfrm>
                <a:off x="1842653" y="2921784"/>
                <a:ext cx="2662236" cy="3479016"/>
                <a:chOff x="333372" y="2955135"/>
                <a:chExt cx="2662236" cy="3479016"/>
              </a:xfrm>
            </p:grpSpPr>
            <p:sp>
              <p:nvSpPr>
                <p:cNvPr id="25" name="Vertical Scroll 16">
                  <a:extLst>
                    <a:ext uri="{FF2B5EF4-FFF2-40B4-BE49-F238E27FC236}">
                      <a16:creationId xmlns:a16="http://schemas.microsoft.com/office/drawing/2014/main" id="{961D0383-3396-D434-BB90-EBFC05F4A2EC}"/>
                    </a:ext>
                  </a:extLst>
                </p:cNvPr>
                <p:cNvSpPr/>
                <p:nvPr/>
              </p:nvSpPr>
              <p:spPr>
                <a:xfrm>
                  <a:off x="333372" y="2955135"/>
                  <a:ext cx="2662236" cy="2624144"/>
                </a:xfrm>
                <a:prstGeom prst="verticalScroll">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void main()</a:t>
                  </a:r>
                </a:p>
                <a:p>
                  <a:r>
                    <a:rPr lang="en-US" sz="2000" dirty="0">
                      <a:solidFill>
                        <a:schemeClr val="tx1"/>
                      </a:solidFill>
                    </a:rPr>
                    <a:t>{</a:t>
                  </a:r>
                </a:p>
                <a:p>
                  <a:r>
                    <a:rPr lang="en-US" sz="2000" dirty="0">
                      <a:solidFill>
                        <a:schemeClr val="tx1"/>
                      </a:solidFill>
                    </a:rPr>
                    <a:t>int a=1,b=2,c;</a:t>
                  </a:r>
                </a:p>
                <a:p>
                  <a:r>
                    <a:rPr lang="en-US" sz="2000" dirty="0">
                      <a:solidFill>
                        <a:schemeClr val="tx1"/>
                      </a:solidFill>
                    </a:rPr>
                    <a:t>c=</a:t>
                  </a:r>
                  <a:r>
                    <a:rPr lang="en-US" sz="2000" dirty="0" err="1">
                      <a:solidFill>
                        <a:schemeClr val="tx1"/>
                      </a:solidFill>
                    </a:rPr>
                    <a:t>a+b</a:t>
                  </a:r>
                  <a:r>
                    <a:rPr lang="en-US" sz="2000" dirty="0">
                      <a:solidFill>
                        <a:schemeClr val="tx1"/>
                      </a:solidFill>
                    </a:rPr>
                    <a:t>;</a:t>
                  </a:r>
                </a:p>
                <a:p>
                  <a:r>
                    <a:rPr lang="en-US" sz="2000" dirty="0" err="1">
                      <a:solidFill>
                        <a:schemeClr val="tx1"/>
                      </a:solidFill>
                    </a:rPr>
                    <a:t>printf</a:t>
                  </a:r>
                  <a:r>
                    <a:rPr lang="en-US" sz="2000" dirty="0">
                      <a:solidFill>
                        <a:schemeClr val="tx1"/>
                      </a:solidFill>
                    </a:rPr>
                    <a:t>(“%</a:t>
                  </a:r>
                  <a:r>
                    <a:rPr lang="en-US" sz="2000" dirty="0" err="1">
                      <a:solidFill>
                        <a:schemeClr val="tx1"/>
                      </a:solidFill>
                    </a:rPr>
                    <a:t>d”,c</a:t>
                  </a:r>
                  <a:r>
                    <a:rPr lang="en-US" sz="2000" dirty="0">
                      <a:solidFill>
                        <a:schemeClr val="tx1"/>
                      </a:solidFill>
                    </a:rPr>
                    <a:t>);</a:t>
                  </a:r>
                </a:p>
                <a:p>
                  <a:r>
                    <a:rPr lang="en-US" sz="2000" dirty="0">
                      <a:solidFill>
                        <a:schemeClr val="tx1"/>
                      </a:solidFill>
                    </a:rPr>
                    <a:t>}</a:t>
                  </a:r>
                </a:p>
              </p:txBody>
            </p:sp>
            <p:sp>
              <p:nvSpPr>
                <p:cNvPr id="26" name="Rectangle 25">
                  <a:extLst>
                    <a:ext uri="{FF2B5EF4-FFF2-40B4-BE49-F238E27FC236}">
                      <a16:creationId xmlns:a16="http://schemas.microsoft.com/office/drawing/2014/main" id="{A1C1383F-9141-C44C-FE83-5CAAAA328E2E}"/>
                    </a:ext>
                  </a:extLst>
                </p:cNvPr>
                <p:cNvSpPr/>
                <p:nvPr/>
              </p:nvSpPr>
              <p:spPr>
                <a:xfrm>
                  <a:off x="788190" y="5443551"/>
                  <a:ext cx="1752600" cy="990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tx1"/>
                      </a:solidFill>
                    </a:rPr>
                    <a:t>Source Program</a:t>
                  </a:r>
                </a:p>
              </p:txBody>
            </p:sp>
          </p:grpSp>
          <p:grpSp>
            <p:nvGrpSpPr>
              <p:cNvPr id="22" name="Group 21">
                <a:extLst>
                  <a:ext uri="{FF2B5EF4-FFF2-40B4-BE49-F238E27FC236}">
                    <a16:creationId xmlns:a16="http://schemas.microsoft.com/office/drawing/2014/main" id="{E4D4A151-4851-CF5F-197C-77712942DCB0}"/>
                  </a:ext>
                </a:extLst>
              </p:cNvPr>
              <p:cNvGrpSpPr/>
              <p:nvPr/>
            </p:nvGrpSpPr>
            <p:grpSpPr>
              <a:xfrm>
                <a:off x="7729536" y="2915896"/>
                <a:ext cx="2662236" cy="3441955"/>
                <a:chOff x="6205536" y="3031331"/>
                <a:chExt cx="2662236" cy="3441955"/>
              </a:xfrm>
            </p:grpSpPr>
            <p:sp>
              <p:nvSpPr>
                <p:cNvPr id="23" name="Vertical Scroll 17">
                  <a:extLst>
                    <a:ext uri="{FF2B5EF4-FFF2-40B4-BE49-F238E27FC236}">
                      <a16:creationId xmlns:a16="http://schemas.microsoft.com/office/drawing/2014/main" id="{068AFF03-2421-E3C5-50A7-A7E76AC2163B}"/>
                    </a:ext>
                  </a:extLst>
                </p:cNvPr>
                <p:cNvSpPr/>
                <p:nvPr/>
              </p:nvSpPr>
              <p:spPr>
                <a:xfrm>
                  <a:off x="6205536" y="3031331"/>
                  <a:ext cx="2662236" cy="2624144"/>
                </a:xfrm>
                <a:prstGeom prst="verticalScroll">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0000 1100 0010</a:t>
                  </a:r>
                </a:p>
                <a:p>
                  <a:r>
                    <a:rPr lang="en-US" sz="2000" dirty="0">
                      <a:solidFill>
                        <a:schemeClr val="tx1"/>
                      </a:solidFill>
                    </a:rPr>
                    <a:t>0000</a:t>
                  </a:r>
                </a:p>
                <a:p>
                  <a:r>
                    <a:rPr lang="en-US" sz="2000" dirty="0">
                      <a:solidFill>
                        <a:schemeClr val="tx1"/>
                      </a:solidFill>
                    </a:rPr>
                    <a:t>1111 1100 0010</a:t>
                  </a:r>
                </a:p>
                <a:p>
                  <a:r>
                    <a:rPr lang="en-US" sz="2000" dirty="0">
                      <a:solidFill>
                        <a:schemeClr val="tx1"/>
                      </a:solidFill>
                    </a:rPr>
                    <a:t>1010 1100 0010</a:t>
                  </a:r>
                </a:p>
                <a:p>
                  <a:r>
                    <a:rPr lang="en-US" sz="2000" dirty="0">
                      <a:solidFill>
                        <a:schemeClr val="tx1"/>
                      </a:solidFill>
                    </a:rPr>
                    <a:t>0011 1100 0010</a:t>
                  </a:r>
                </a:p>
                <a:p>
                  <a:r>
                    <a:rPr lang="en-US" sz="2000" dirty="0">
                      <a:solidFill>
                        <a:schemeClr val="tx1"/>
                      </a:solidFill>
                    </a:rPr>
                    <a:t>1111</a:t>
                  </a:r>
                </a:p>
              </p:txBody>
            </p:sp>
            <p:sp>
              <p:nvSpPr>
                <p:cNvPr id="24" name="Rectangle 23">
                  <a:extLst>
                    <a:ext uri="{FF2B5EF4-FFF2-40B4-BE49-F238E27FC236}">
                      <a16:creationId xmlns:a16="http://schemas.microsoft.com/office/drawing/2014/main" id="{652B9C3E-A21A-4E89-B66E-BC65FAA0BDD9}"/>
                    </a:ext>
                  </a:extLst>
                </p:cNvPr>
                <p:cNvSpPr/>
                <p:nvPr/>
              </p:nvSpPr>
              <p:spPr>
                <a:xfrm>
                  <a:off x="6677022" y="5482686"/>
                  <a:ext cx="1752600" cy="990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tx1"/>
                      </a:solidFill>
                    </a:rPr>
                    <a:t>Target Program</a:t>
                  </a:r>
                </a:p>
              </p:txBody>
            </p:sp>
          </p:grpSp>
        </p:grpSp>
        <p:cxnSp>
          <p:nvCxnSpPr>
            <p:cNvPr id="16" name="Straight Arrow Connector 15">
              <a:extLst>
                <a:ext uri="{FF2B5EF4-FFF2-40B4-BE49-F238E27FC236}">
                  <a16:creationId xmlns:a16="http://schemas.microsoft.com/office/drawing/2014/main" id="{62368F1A-9643-4FEE-C470-98564F750555}"/>
                </a:ext>
              </a:extLst>
            </p:cNvPr>
            <p:cNvCxnSpPr/>
            <p:nvPr/>
          </p:nvCxnSpPr>
          <p:spPr>
            <a:xfrm flipH="1">
              <a:off x="6180183" y="5132001"/>
              <a:ext cx="0" cy="7620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D585A9AC-A583-0FEB-ADD2-9240FF16A20D}"/>
                </a:ext>
              </a:extLst>
            </p:cNvPr>
            <p:cNvSpPr/>
            <p:nvPr/>
          </p:nvSpPr>
          <p:spPr>
            <a:xfrm>
              <a:off x="5303883" y="5779697"/>
              <a:ext cx="1752600" cy="990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rgbClr val="C00000"/>
                  </a:solidFill>
                </a:rPr>
                <a:t>Error</a:t>
              </a:r>
            </a:p>
            <a:p>
              <a:pPr algn="ctr"/>
              <a:r>
                <a:rPr lang="en-US" sz="2200">
                  <a:solidFill>
                    <a:srgbClr val="C00000"/>
                  </a:solidFill>
                </a:rPr>
                <a:t>Messages </a:t>
              </a:r>
            </a:p>
          </p:txBody>
        </p:sp>
      </p:grpSp>
    </p:spTree>
    <p:extLst>
      <p:ext uri="{BB962C8B-B14F-4D97-AF65-F5344CB8AC3E}">
        <p14:creationId xmlns:p14="http://schemas.microsoft.com/office/powerpoint/2010/main" val="2520455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08EDA-88B4-4B5E-DC12-BE7A29963B3E}"/>
              </a:ext>
            </a:extLst>
          </p:cNvPr>
          <p:cNvSpPr>
            <a:spLocks noGrp="1"/>
          </p:cNvSpPr>
          <p:nvPr>
            <p:ph type="title"/>
          </p:nvPr>
        </p:nvSpPr>
        <p:spPr/>
        <p:txBody>
          <a:bodyPr/>
          <a:lstStyle/>
          <a:p>
            <a:r>
              <a:rPr lang="en-US" dirty="0"/>
              <a:t>Assembler</a:t>
            </a:r>
            <a:endParaRPr lang="en-IN" dirty="0"/>
          </a:p>
        </p:txBody>
      </p:sp>
      <p:sp>
        <p:nvSpPr>
          <p:cNvPr id="3" name="Content Placeholder 2">
            <a:extLst>
              <a:ext uri="{FF2B5EF4-FFF2-40B4-BE49-F238E27FC236}">
                <a16:creationId xmlns:a16="http://schemas.microsoft.com/office/drawing/2014/main" id="{92034A66-0F86-4D6D-666A-9F3F9EDDA646}"/>
              </a:ext>
            </a:extLst>
          </p:cNvPr>
          <p:cNvSpPr>
            <a:spLocks noGrp="1"/>
          </p:cNvSpPr>
          <p:nvPr>
            <p:ph idx="1"/>
          </p:nvPr>
        </p:nvSpPr>
        <p:spPr/>
        <p:txBody>
          <a:bodyPr/>
          <a:lstStyle/>
          <a:p>
            <a:r>
              <a:rPr lang="en-US" dirty="0"/>
              <a:t>Assembler is a translator which takes the assembly code as an input and</a:t>
            </a:r>
            <a:r>
              <a:rPr lang="en-US" b="1" dirty="0"/>
              <a:t> </a:t>
            </a:r>
            <a:r>
              <a:rPr lang="en-US" dirty="0"/>
              <a:t>generates the machine code as an output. </a:t>
            </a:r>
          </a:p>
          <a:p>
            <a:endParaRPr lang="en-IN" dirty="0"/>
          </a:p>
        </p:txBody>
      </p:sp>
      <p:grpSp>
        <p:nvGrpSpPr>
          <p:cNvPr id="4" name="Group 3">
            <a:extLst>
              <a:ext uri="{FF2B5EF4-FFF2-40B4-BE49-F238E27FC236}">
                <a16:creationId xmlns:a16="http://schemas.microsoft.com/office/drawing/2014/main" id="{5C7418D5-EFC2-68C9-385D-F5D96C2DCFF1}"/>
              </a:ext>
            </a:extLst>
          </p:cNvPr>
          <p:cNvGrpSpPr/>
          <p:nvPr/>
        </p:nvGrpSpPr>
        <p:grpSpPr>
          <a:xfrm>
            <a:off x="1560563" y="2831919"/>
            <a:ext cx="8534400" cy="3588553"/>
            <a:chOff x="1914524" y="2507454"/>
            <a:chExt cx="8534400" cy="3588553"/>
          </a:xfrm>
        </p:grpSpPr>
        <p:sp>
          <p:nvSpPr>
            <p:cNvPr id="5" name="Rectangle 4">
              <a:extLst>
                <a:ext uri="{FF2B5EF4-FFF2-40B4-BE49-F238E27FC236}">
                  <a16:creationId xmlns:a16="http://schemas.microsoft.com/office/drawing/2014/main" id="{0F18A44F-51D3-B437-A7D1-9D3BE7238AE4}"/>
                </a:ext>
              </a:extLst>
            </p:cNvPr>
            <p:cNvSpPr/>
            <p:nvPr/>
          </p:nvSpPr>
          <p:spPr>
            <a:xfrm>
              <a:off x="5305424" y="3352800"/>
              <a:ext cx="1752600" cy="990600"/>
            </a:xfrm>
            <a:prstGeom prst="rect">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t>Assembler</a:t>
              </a:r>
            </a:p>
          </p:txBody>
        </p:sp>
        <p:cxnSp>
          <p:nvCxnSpPr>
            <p:cNvPr id="6" name="Straight Arrow Connector 5">
              <a:extLst>
                <a:ext uri="{FF2B5EF4-FFF2-40B4-BE49-F238E27FC236}">
                  <a16:creationId xmlns:a16="http://schemas.microsoft.com/office/drawing/2014/main" id="{A27E17C0-69F7-54B8-F017-F2C264E4137B}"/>
                </a:ext>
              </a:extLst>
            </p:cNvPr>
            <p:cNvCxnSpPr/>
            <p:nvPr/>
          </p:nvCxnSpPr>
          <p:spPr>
            <a:xfrm>
              <a:off x="4238624" y="3848100"/>
              <a:ext cx="10668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11619DE-3F44-F5E6-3E15-C77639B6BE65}"/>
                </a:ext>
              </a:extLst>
            </p:cNvPr>
            <p:cNvCxnSpPr/>
            <p:nvPr/>
          </p:nvCxnSpPr>
          <p:spPr>
            <a:xfrm>
              <a:off x="7058024" y="3848100"/>
              <a:ext cx="10668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9C0E624-571F-8F7C-F803-CF212E9E28EC}"/>
                </a:ext>
              </a:extLst>
            </p:cNvPr>
            <p:cNvGrpSpPr/>
            <p:nvPr/>
          </p:nvGrpSpPr>
          <p:grpSpPr>
            <a:xfrm>
              <a:off x="1914524" y="2507454"/>
              <a:ext cx="2662236" cy="3588553"/>
              <a:chOff x="390524" y="2507453"/>
              <a:chExt cx="2662236" cy="3588553"/>
            </a:xfrm>
          </p:grpSpPr>
          <p:sp>
            <p:nvSpPr>
              <p:cNvPr id="14" name="Vertical Scroll 16">
                <a:extLst>
                  <a:ext uri="{FF2B5EF4-FFF2-40B4-BE49-F238E27FC236}">
                    <a16:creationId xmlns:a16="http://schemas.microsoft.com/office/drawing/2014/main" id="{CEAAA0E8-9CAE-2D42-17D9-2F825C8E7622}"/>
                  </a:ext>
                </a:extLst>
              </p:cNvPr>
              <p:cNvSpPr/>
              <p:nvPr/>
            </p:nvSpPr>
            <p:spPr>
              <a:xfrm>
                <a:off x="390524" y="2507453"/>
                <a:ext cx="2662236" cy="2624144"/>
              </a:xfrm>
              <a:prstGeom prst="verticalScroll">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MOV id3, R1</a:t>
                </a:r>
              </a:p>
              <a:p>
                <a:r>
                  <a:rPr lang="en-US" sz="2000" dirty="0">
                    <a:solidFill>
                      <a:schemeClr val="tx1"/>
                    </a:solidFill>
                  </a:rPr>
                  <a:t>MUL #2.0, R1</a:t>
                </a:r>
              </a:p>
              <a:p>
                <a:r>
                  <a:rPr lang="en-US" sz="2000" dirty="0">
                    <a:solidFill>
                      <a:schemeClr val="tx1"/>
                    </a:solidFill>
                  </a:rPr>
                  <a:t>MOV id2, R2</a:t>
                </a:r>
              </a:p>
              <a:p>
                <a:r>
                  <a:rPr lang="en-US" sz="2000" dirty="0">
                    <a:solidFill>
                      <a:schemeClr val="tx1"/>
                    </a:solidFill>
                  </a:rPr>
                  <a:t>MUL R2, R1</a:t>
                </a:r>
              </a:p>
              <a:p>
                <a:r>
                  <a:rPr lang="en-US" sz="2000" dirty="0">
                    <a:solidFill>
                      <a:schemeClr val="tx1"/>
                    </a:solidFill>
                  </a:rPr>
                  <a:t>MOV id1, R2</a:t>
                </a:r>
              </a:p>
              <a:p>
                <a:r>
                  <a:rPr lang="en-US" sz="2000" dirty="0">
                    <a:solidFill>
                      <a:schemeClr val="tx1"/>
                    </a:solidFill>
                  </a:rPr>
                  <a:t>ADD R2, R1</a:t>
                </a:r>
              </a:p>
              <a:p>
                <a:r>
                  <a:rPr lang="en-US" sz="2000" dirty="0">
                    <a:solidFill>
                      <a:schemeClr val="tx1"/>
                    </a:solidFill>
                  </a:rPr>
                  <a:t>MOV R1, id1</a:t>
                </a:r>
              </a:p>
            </p:txBody>
          </p:sp>
          <p:sp>
            <p:nvSpPr>
              <p:cNvPr id="15" name="Rectangle 14">
                <a:extLst>
                  <a:ext uri="{FF2B5EF4-FFF2-40B4-BE49-F238E27FC236}">
                    <a16:creationId xmlns:a16="http://schemas.microsoft.com/office/drawing/2014/main" id="{A8596057-C6D1-84F0-5A57-97EDB5E82622}"/>
                  </a:ext>
                </a:extLst>
              </p:cNvPr>
              <p:cNvSpPr/>
              <p:nvPr/>
            </p:nvSpPr>
            <p:spPr>
              <a:xfrm>
                <a:off x="764378" y="5105406"/>
                <a:ext cx="1914528" cy="990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tx1"/>
                    </a:solidFill>
                  </a:rPr>
                  <a:t>Assembly Code</a:t>
                </a:r>
              </a:p>
            </p:txBody>
          </p:sp>
        </p:grpSp>
        <p:grpSp>
          <p:nvGrpSpPr>
            <p:cNvPr id="9" name="Group 8">
              <a:extLst>
                <a:ext uri="{FF2B5EF4-FFF2-40B4-BE49-F238E27FC236}">
                  <a16:creationId xmlns:a16="http://schemas.microsoft.com/office/drawing/2014/main" id="{A1AC44F2-BFC3-0E28-D99D-2CC7F42F8029}"/>
                </a:ext>
              </a:extLst>
            </p:cNvPr>
            <p:cNvGrpSpPr/>
            <p:nvPr/>
          </p:nvGrpSpPr>
          <p:grpSpPr>
            <a:xfrm>
              <a:off x="7786688" y="2536028"/>
              <a:ext cx="2662236" cy="3559978"/>
              <a:chOff x="6262688" y="2536028"/>
              <a:chExt cx="2662236" cy="3559978"/>
            </a:xfrm>
          </p:grpSpPr>
          <p:sp>
            <p:nvSpPr>
              <p:cNvPr id="12" name="Vertical Scroll 17">
                <a:extLst>
                  <a:ext uri="{FF2B5EF4-FFF2-40B4-BE49-F238E27FC236}">
                    <a16:creationId xmlns:a16="http://schemas.microsoft.com/office/drawing/2014/main" id="{D1121A13-F31C-23E9-D744-CCAABC47BEA5}"/>
                  </a:ext>
                </a:extLst>
              </p:cNvPr>
              <p:cNvSpPr/>
              <p:nvPr/>
            </p:nvSpPr>
            <p:spPr>
              <a:xfrm>
                <a:off x="6262688" y="2536028"/>
                <a:ext cx="2662236" cy="2624144"/>
              </a:xfrm>
              <a:prstGeom prst="verticalScroll">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000">
                  <a:solidFill>
                    <a:schemeClr val="tx1"/>
                  </a:solidFill>
                </a:endParaRPr>
              </a:p>
              <a:p>
                <a:r>
                  <a:rPr lang="en-US" sz="2000">
                    <a:solidFill>
                      <a:schemeClr val="tx1"/>
                    </a:solidFill>
                  </a:rPr>
                  <a:t>0000 1100 0010</a:t>
                </a:r>
              </a:p>
              <a:p>
                <a:r>
                  <a:rPr lang="en-US" sz="2000">
                    <a:solidFill>
                      <a:schemeClr val="tx1"/>
                    </a:solidFill>
                  </a:rPr>
                  <a:t>0100</a:t>
                </a:r>
              </a:p>
              <a:p>
                <a:r>
                  <a:rPr lang="en-US" sz="2000">
                    <a:solidFill>
                      <a:schemeClr val="tx1"/>
                    </a:solidFill>
                  </a:rPr>
                  <a:t>0111 1000 0001</a:t>
                </a:r>
              </a:p>
              <a:p>
                <a:r>
                  <a:rPr lang="en-US" sz="2000">
                    <a:solidFill>
                      <a:schemeClr val="tx1"/>
                    </a:solidFill>
                  </a:rPr>
                  <a:t>1111 0101 1110</a:t>
                </a:r>
              </a:p>
              <a:p>
                <a:r>
                  <a:rPr lang="en-US" sz="2000">
                    <a:solidFill>
                      <a:schemeClr val="tx1"/>
                    </a:solidFill>
                  </a:rPr>
                  <a:t>1100 0000 1000</a:t>
                </a:r>
              </a:p>
              <a:p>
                <a:r>
                  <a:rPr lang="en-US" sz="2000">
                    <a:solidFill>
                      <a:schemeClr val="tx1"/>
                    </a:solidFill>
                  </a:rPr>
                  <a:t>1011</a:t>
                </a:r>
              </a:p>
              <a:p>
                <a:r>
                  <a:rPr lang="en-US" sz="2000">
                    <a:solidFill>
                      <a:schemeClr val="tx1"/>
                    </a:solidFill>
                  </a:rPr>
                  <a:t>1100 0000 1000</a:t>
                </a:r>
              </a:p>
              <a:p>
                <a:endParaRPr lang="en-US" sz="2000">
                  <a:solidFill>
                    <a:schemeClr val="tx1"/>
                  </a:solidFill>
                </a:endParaRPr>
              </a:p>
            </p:txBody>
          </p:sp>
          <p:sp>
            <p:nvSpPr>
              <p:cNvPr id="13" name="Rectangle 12">
                <a:extLst>
                  <a:ext uri="{FF2B5EF4-FFF2-40B4-BE49-F238E27FC236}">
                    <a16:creationId xmlns:a16="http://schemas.microsoft.com/office/drawing/2014/main" id="{74CB3588-D7C4-3914-D2CE-228C59091A0A}"/>
                  </a:ext>
                </a:extLst>
              </p:cNvPr>
              <p:cNvSpPr/>
              <p:nvPr/>
            </p:nvSpPr>
            <p:spPr>
              <a:xfrm>
                <a:off x="6600824" y="5105406"/>
                <a:ext cx="1993106" cy="990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tx1"/>
                    </a:solidFill>
                  </a:rPr>
                  <a:t>Machine Code</a:t>
                </a:r>
              </a:p>
            </p:txBody>
          </p:sp>
        </p:grpSp>
        <p:cxnSp>
          <p:nvCxnSpPr>
            <p:cNvPr id="10" name="Straight Arrow Connector 9">
              <a:extLst>
                <a:ext uri="{FF2B5EF4-FFF2-40B4-BE49-F238E27FC236}">
                  <a16:creationId xmlns:a16="http://schemas.microsoft.com/office/drawing/2014/main" id="{FE88FC3C-89F7-6340-2C19-C511B3E43F40}"/>
                </a:ext>
              </a:extLst>
            </p:cNvPr>
            <p:cNvCxnSpPr/>
            <p:nvPr/>
          </p:nvCxnSpPr>
          <p:spPr>
            <a:xfrm flipH="1">
              <a:off x="6191422" y="4348929"/>
              <a:ext cx="0" cy="7620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F3C22649-EEEF-4850-B8E8-B6D3F65B92AC}"/>
                </a:ext>
              </a:extLst>
            </p:cNvPr>
            <p:cNvSpPr/>
            <p:nvPr/>
          </p:nvSpPr>
          <p:spPr>
            <a:xfrm>
              <a:off x="5315122" y="5009504"/>
              <a:ext cx="1752600" cy="990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rgbClr val="C00000"/>
                  </a:solidFill>
                </a:rPr>
                <a:t>Error</a:t>
              </a:r>
            </a:p>
            <a:p>
              <a:pPr algn="ctr"/>
              <a:r>
                <a:rPr lang="en-US" sz="2200">
                  <a:solidFill>
                    <a:srgbClr val="C00000"/>
                  </a:solidFill>
                </a:rPr>
                <a:t>Messages </a:t>
              </a:r>
            </a:p>
          </p:txBody>
        </p:sp>
      </p:grpSp>
    </p:spTree>
    <p:extLst>
      <p:ext uri="{BB962C8B-B14F-4D97-AF65-F5344CB8AC3E}">
        <p14:creationId xmlns:p14="http://schemas.microsoft.com/office/powerpoint/2010/main" val="3043547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201FF-7EE8-EFE7-183D-8490298C6626}"/>
              </a:ext>
            </a:extLst>
          </p:cNvPr>
          <p:cNvSpPr>
            <a:spLocks noGrp="1"/>
          </p:cNvSpPr>
          <p:nvPr>
            <p:ph type="title"/>
          </p:nvPr>
        </p:nvSpPr>
        <p:spPr/>
        <p:txBody>
          <a:bodyPr/>
          <a:lstStyle/>
          <a:p>
            <a:r>
              <a:rPr lang="en-US" dirty="0"/>
              <a:t>Analysis Synthesis model of compilation </a:t>
            </a:r>
            <a:endParaRPr lang="en-IN" dirty="0"/>
          </a:p>
        </p:txBody>
      </p:sp>
      <p:sp>
        <p:nvSpPr>
          <p:cNvPr id="3" name="Content Placeholder 2">
            <a:extLst>
              <a:ext uri="{FF2B5EF4-FFF2-40B4-BE49-F238E27FC236}">
                <a16:creationId xmlns:a16="http://schemas.microsoft.com/office/drawing/2014/main" id="{6B967908-2DE0-82F1-E668-316875A94662}"/>
              </a:ext>
            </a:extLst>
          </p:cNvPr>
          <p:cNvSpPr>
            <a:spLocks noGrp="1"/>
          </p:cNvSpPr>
          <p:nvPr>
            <p:ph idx="1"/>
          </p:nvPr>
        </p:nvSpPr>
        <p:spPr/>
        <p:txBody>
          <a:bodyPr/>
          <a:lstStyle/>
          <a:p>
            <a:r>
              <a:rPr lang="en-US" b="1" dirty="0"/>
              <a:t>There are two parts of compilation.</a:t>
            </a:r>
          </a:p>
          <a:p>
            <a:pPr marL="914400" indent="-457200" algn="just">
              <a:buFont typeface="+mj-lt"/>
              <a:buAutoNum type="arabicPeriod"/>
            </a:pPr>
            <a:r>
              <a:rPr lang="en-US" dirty="0">
                <a:solidFill>
                  <a:srgbClr val="0E47A1"/>
                </a:solidFill>
              </a:rPr>
              <a:t>Analysis Phase</a:t>
            </a:r>
          </a:p>
          <a:p>
            <a:pPr marL="914400" indent="-457200" algn="just">
              <a:buFont typeface="+mj-lt"/>
              <a:buAutoNum type="arabicPeriod"/>
            </a:pPr>
            <a:r>
              <a:rPr lang="en-US" dirty="0">
                <a:solidFill>
                  <a:srgbClr val="0E47A1"/>
                </a:solidFill>
              </a:rPr>
              <a:t>Synthesis Phase</a:t>
            </a:r>
          </a:p>
          <a:p>
            <a:pPr lvl="1"/>
            <a:endParaRPr lang="en-US" b="1" dirty="0"/>
          </a:p>
          <a:p>
            <a:endParaRPr lang="en-IN" dirty="0"/>
          </a:p>
        </p:txBody>
      </p:sp>
      <p:grpSp>
        <p:nvGrpSpPr>
          <p:cNvPr id="4" name="Group 3">
            <a:extLst>
              <a:ext uri="{FF2B5EF4-FFF2-40B4-BE49-F238E27FC236}">
                <a16:creationId xmlns:a16="http://schemas.microsoft.com/office/drawing/2014/main" id="{DBD2DC04-E38F-FC5D-DF18-543E9EAB67AA}"/>
              </a:ext>
            </a:extLst>
          </p:cNvPr>
          <p:cNvGrpSpPr/>
          <p:nvPr/>
        </p:nvGrpSpPr>
        <p:grpSpPr>
          <a:xfrm>
            <a:off x="1657424" y="3546988"/>
            <a:ext cx="8877152" cy="2847974"/>
            <a:chOff x="1714500" y="3124200"/>
            <a:chExt cx="8877152" cy="2847974"/>
          </a:xfrm>
        </p:grpSpPr>
        <p:sp>
          <p:nvSpPr>
            <p:cNvPr id="5" name="Rectangle 4">
              <a:extLst>
                <a:ext uri="{FF2B5EF4-FFF2-40B4-BE49-F238E27FC236}">
                  <a16:creationId xmlns:a16="http://schemas.microsoft.com/office/drawing/2014/main" id="{0722A401-FB6A-DFD1-5896-B78B5B0908B9}"/>
                </a:ext>
              </a:extLst>
            </p:cNvPr>
            <p:cNvSpPr/>
            <p:nvPr/>
          </p:nvSpPr>
          <p:spPr>
            <a:xfrm>
              <a:off x="4402632" y="3124200"/>
              <a:ext cx="1191814" cy="990600"/>
            </a:xfrm>
            <a:prstGeom prst="rect">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Analysis Phase</a:t>
              </a:r>
            </a:p>
          </p:txBody>
        </p:sp>
        <p:cxnSp>
          <p:nvCxnSpPr>
            <p:cNvPr id="6" name="Straight Arrow Connector 5">
              <a:extLst>
                <a:ext uri="{FF2B5EF4-FFF2-40B4-BE49-F238E27FC236}">
                  <a16:creationId xmlns:a16="http://schemas.microsoft.com/office/drawing/2014/main" id="{C28C4708-505C-B3E6-799F-770F2FE659AE}"/>
                </a:ext>
              </a:extLst>
            </p:cNvPr>
            <p:cNvCxnSpPr/>
            <p:nvPr/>
          </p:nvCxnSpPr>
          <p:spPr>
            <a:xfrm flipV="1">
              <a:off x="3684690" y="3657600"/>
              <a:ext cx="730743" cy="507212"/>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070F4A1-1794-411A-E320-9B163B261BD1}"/>
                </a:ext>
              </a:extLst>
            </p:cNvPr>
            <p:cNvCxnSpPr>
              <a:stCxn id="5" idx="3"/>
            </p:cNvCxnSpPr>
            <p:nvPr/>
          </p:nvCxnSpPr>
          <p:spPr>
            <a:xfrm>
              <a:off x="5594446" y="3619500"/>
              <a:ext cx="647406" cy="71914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6F172814-9D17-B428-B886-5C0F1D1AE87D}"/>
                </a:ext>
              </a:extLst>
            </p:cNvPr>
            <p:cNvSpPr/>
            <p:nvPr/>
          </p:nvSpPr>
          <p:spPr>
            <a:xfrm>
              <a:off x="6804718" y="3124200"/>
              <a:ext cx="1182142" cy="990600"/>
            </a:xfrm>
            <a:prstGeom prst="rect">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Synthesis Phase</a:t>
              </a:r>
            </a:p>
          </p:txBody>
        </p:sp>
        <p:sp>
          <p:nvSpPr>
            <p:cNvPr id="9" name="Rectangle 8">
              <a:extLst>
                <a:ext uri="{FF2B5EF4-FFF2-40B4-BE49-F238E27FC236}">
                  <a16:creationId xmlns:a16="http://schemas.microsoft.com/office/drawing/2014/main" id="{99A9B603-F61B-A290-B014-6597DCE2C54E}"/>
                </a:ext>
              </a:extLst>
            </p:cNvPr>
            <p:cNvSpPr/>
            <p:nvPr/>
          </p:nvSpPr>
          <p:spPr>
            <a:xfrm>
              <a:off x="5308696" y="4313635"/>
              <a:ext cx="1858864" cy="990600"/>
            </a:xfrm>
            <a:prstGeom prst="rect">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Intermediate Representation</a:t>
              </a:r>
            </a:p>
          </p:txBody>
        </p:sp>
        <p:cxnSp>
          <p:nvCxnSpPr>
            <p:cNvPr id="10" name="Straight Arrow Connector 9">
              <a:extLst>
                <a:ext uri="{FF2B5EF4-FFF2-40B4-BE49-F238E27FC236}">
                  <a16:creationId xmlns:a16="http://schemas.microsoft.com/office/drawing/2014/main" id="{4461450F-8B0E-B38D-6B6A-17E76E426B52}"/>
                </a:ext>
              </a:extLst>
            </p:cNvPr>
            <p:cNvCxnSpPr>
              <a:stCxn id="9" idx="0"/>
              <a:endCxn id="8" idx="1"/>
            </p:cNvCxnSpPr>
            <p:nvPr/>
          </p:nvCxnSpPr>
          <p:spPr>
            <a:xfrm flipV="1">
              <a:off x="6238128" y="3619501"/>
              <a:ext cx="566590" cy="694135"/>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C433B64-A5C2-02D1-501F-862FF38C3091}"/>
                </a:ext>
              </a:extLst>
            </p:cNvPr>
            <p:cNvCxnSpPr/>
            <p:nvPr/>
          </p:nvCxnSpPr>
          <p:spPr>
            <a:xfrm>
              <a:off x="7986860" y="3551636"/>
              <a:ext cx="625076" cy="71914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523E1E62-5A77-82F5-5C53-13EF1C153105}"/>
                </a:ext>
              </a:extLst>
            </p:cNvPr>
            <p:cNvGrpSpPr/>
            <p:nvPr/>
          </p:nvGrpSpPr>
          <p:grpSpPr>
            <a:xfrm>
              <a:off x="1714500" y="3124200"/>
              <a:ext cx="2247900" cy="2819400"/>
              <a:chOff x="190500" y="3124200"/>
              <a:chExt cx="2247900" cy="2819400"/>
            </a:xfrm>
          </p:grpSpPr>
          <p:sp>
            <p:nvSpPr>
              <p:cNvPr id="16" name="Vertical Scroll 14">
                <a:extLst>
                  <a:ext uri="{FF2B5EF4-FFF2-40B4-BE49-F238E27FC236}">
                    <a16:creationId xmlns:a16="http://schemas.microsoft.com/office/drawing/2014/main" id="{7D3CD080-8F5F-0C8C-1444-FC34EF227F9B}"/>
                  </a:ext>
                </a:extLst>
              </p:cNvPr>
              <p:cNvSpPr/>
              <p:nvPr/>
            </p:nvSpPr>
            <p:spPr>
              <a:xfrm>
                <a:off x="190500" y="3124200"/>
                <a:ext cx="2247900" cy="2207420"/>
              </a:xfrm>
              <a:prstGeom prst="verticalScroll">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a:solidFill>
                      <a:schemeClr val="tx1"/>
                    </a:solidFill>
                  </a:rPr>
                  <a:t>void main()</a:t>
                </a:r>
              </a:p>
              <a:p>
                <a:r>
                  <a:rPr lang="en-US" sz="2000">
                    <a:solidFill>
                      <a:schemeClr val="tx1"/>
                    </a:solidFill>
                  </a:rPr>
                  <a:t>{</a:t>
                </a:r>
              </a:p>
              <a:p>
                <a:r>
                  <a:rPr lang="en-US" sz="2000" err="1">
                    <a:solidFill>
                      <a:schemeClr val="tx1"/>
                    </a:solidFill>
                  </a:rPr>
                  <a:t>int a=1,b=2,c;</a:t>
                </a:r>
              </a:p>
              <a:p>
                <a:r>
                  <a:rPr lang="en-US" sz="2000">
                    <a:solidFill>
                      <a:schemeClr val="tx1"/>
                    </a:solidFill>
                  </a:rPr>
                  <a:t>c=a+b;</a:t>
                </a:r>
              </a:p>
              <a:p>
                <a:r>
                  <a:rPr lang="en-US" sz="2000" err="1">
                    <a:solidFill>
                      <a:schemeClr val="tx1"/>
                    </a:solidFill>
                  </a:rPr>
                  <a:t>printf(“%d”,c);</a:t>
                </a:r>
              </a:p>
              <a:p>
                <a:r>
                  <a:rPr lang="en-US" sz="2000">
                    <a:solidFill>
                      <a:schemeClr val="tx1"/>
                    </a:solidFill>
                  </a:rPr>
                  <a:t>}</a:t>
                </a:r>
              </a:p>
            </p:txBody>
          </p:sp>
          <p:sp>
            <p:nvSpPr>
              <p:cNvPr id="17" name="Rectangle 16">
                <a:extLst>
                  <a:ext uri="{FF2B5EF4-FFF2-40B4-BE49-F238E27FC236}">
                    <a16:creationId xmlns:a16="http://schemas.microsoft.com/office/drawing/2014/main" id="{61D5C0B6-F0D3-679A-B40A-99A950E6AABB}"/>
                  </a:ext>
                </a:extLst>
              </p:cNvPr>
              <p:cNvSpPr/>
              <p:nvPr/>
            </p:nvSpPr>
            <p:spPr>
              <a:xfrm>
                <a:off x="609600" y="5486400"/>
                <a:ext cx="14478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Source Code</a:t>
                </a:r>
              </a:p>
            </p:txBody>
          </p:sp>
        </p:grpSp>
        <p:grpSp>
          <p:nvGrpSpPr>
            <p:cNvPr id="13" name="Group 12">
              <a:extLst>
                <a:ext uri="{FF2B5EF4-FFF2-40B4-BE49-F238E27FC236}">
                  <a16:creationId xmlns:a16="http://schemas.microsoft.com/office/drawing/2014/main" id="{78DAF00E-F7B4-4B52-B250-83EA2BB5730D}"/>
                </a:ext>
              </a:extLst>
            </p:cNvPr>
            <p:cNvGrpSpPr/>
            <p:nvPr/>
          </p:nvGrpSpPr>
          <p:grpSpPr>
            <a:xfrm>
              <a:off x="8338988" y="3146251"/>
              <a:ext cx="2252664" cy="2825923"/>
              <a:chOff x="6814988" y="3146251"/>
              <a:chExt cx="2252664" cy="2825923"/>
            </a:xfrm>
          </p:grpSpPr>
          <p:sp>
            <p:nvSpPr>
              <p:cNvPr id="14" name="Vertical Scroll 18">
                <a:extLst>
                  <a:ext uri="{FF2B5EF4-FFF2-40B4-BE49-F238E27FC236}">
                    <a16:creationId xmlns:a16="http://schemas.microsoft.com/office/drawing/2014/main" id="{94CA3A26-B3AE-20A6-6907-5F11C8E59F42}"/>
                  </a:ext>
                </a:extLst>
              </p:cNvPr>
              <p:cNvSpPr/>
              <p:nvPr/>
            </p:nvSpPr>
            <p:spPr>
              <a:xfrm>
                <a:off x="6814988" y="3146251"/>
                <a:ext cx="2252664" cy="2216479"/>
              </a:xfrm>
              <a:prstGeom prst="verticalScroll">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000">
                  <a:solidFill>
                    <a:schemeClr val="tx1"/>
                  </a:solidFill>
                </a:endParaRPr>
              </a:p>
              <a:p>
                <a:r>
                  <a:rPr lang="en-US" sz="2000">
                    <a:solidFill>
                      <a:schemeClr val="tx1"/>
                    </a:solidFill>
                  </a:rPr>
                  <a:t>0000 1100 </a:t>
                </a:r>
              </a:p>
              <a:p>
                <a:r>
                  <a:rPr lang="en-US" sz="2000">
                    <a:solidFill>
                      <a:schemeClr val="tx1"/>
                    </a:solidFill>
                  </a:rPr>
                  <a:t>0111 1000 0001</a:t>
                </a:r>
              </a:p>
              <a:p>
                <a:r>
                  <a:rPr lang="en-US" sz="2000">
                    <a:solidFill>
                      <a:schemeClr val="tx1"/>
                    </a:solidFill>
                  </a:rPr>
                  <a:t>1111 0101 1000</a:t>
                </a:r>
              </a:p>
              <a:p>
                <a:r>
                  <a:rPr lang="en-US" sz="2000">
                    <a:solidFill>
                      <a:schemeClr val="tx1"/>
                    </a:solidFill>
                  </a:rPr>
                  <a:t>1011</a:t>
                </a:r>
              </a:p>
            </p:txBody>
          </p:sp>
          <p:sp>
            <p:nvSpPr>
              <p:cNvPr id="15" name="Rectangle 14">
                <a:extLst>
                  <a:ext uri="{FF2B5EF4-FFF2-40B4-BE49-F238E27FC236}">
                    <a16:creationId xmlns:a16="http://schemas.microsoft.com/office/drawing/2014/main" id="{62BD3718-F9BB-7945-B9F3-B0A53CC7622E}"/>
                  </a:ext>
                </a:extLst>
              </p:cNvPr>
              <p:cNvSpPr/>
              <p:nvPr/>
            </p:nvSpPr>
            <p:spPr>
              <a:xfrm>
                <a:off x="7217420" y="5514974"/>
                <a:ext cx="14478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Target Code</a:t>
                </a:r>
              </a:p>
            </p:txBody>
          </p:sp>
        </p:grpSp>
      </p:grpSp>
    </p:spTree>
    <p:extLst>
      <p:ext uri="{BB962C8B-B14F-4D97-AF65-F5344CB8AC3E}">
        <p14:creationId xmlns:p14="http://schemas.microsoft.com/office/powerpoint/2010/main" val="2710045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BBE4C-570C-B765-214F-2936B88DF4BC}"/>
              </a:ext>
            </a:extLst>
          </p:cNvPr>
          <p:cNvSpPr>
            <a:spLocks noGrp="1"/>
          </p:cNvSpPr>
          <p:nvPr>
            <p:ph type="title"/>
          </p:nvPr>
        </p:nvSpPr>
        <p:spPr>
          <a:xfrm>
            <a:off x="838200" y="209754"/>
            <a:ext cx="10515600" cy="942565"/>
          </a:xfrm>
        </p:spPr>
        <p:txBody>
          <a:bodyPr/>
          <a:lstStyle/>
          <a:p>
            <a:r>
              <a:rPr lang="en-US" dirty="0"/>
              <a:t>Analysis phase &amp; Synthesis phase</a:t>
            </a:r>
            <a:endParaRPr lang="en-IN" dirty="0"/>
          </a:p>
        </p:txBody>
      </p:sp>
      <p:sp>
        <p:nvSpPr>
          <p:cNvPr id="3" name="Content Placeholder 2">
            <a:extLst>
              <a:ext uri="{FF2B5EF4-FFF2-40B4-BE49-F238E27FC236}">
                <a16:creationId xmlns:a16="http://schemas.microsoft.com/office/drawing/2014/main" id="{C6ABCE10-1A10-B237-181A-0044CB309C6E}"/>
              </a:ext>
            </a:extLst>
          </p:cNvPr>
          <p:cNvSpPr>
            <a:spLocks noGrp="1"/>
          </p:cNvSpPr>
          <p:nvPr>
            <p:ph sz="half" idx="1"/>
          </p:nvPr>
        </p:nvSpPr>
        <p:spPr>
          <a:xfrm>
            <a:off x="838200" y="1258529"/>
            <a:ext cx="5181600" cy="4918434"/>
          </a:xfrm>
        </p:spPr>
        <p:txBody>
          <a:bodyPr>
            <a:normAutofit fontScale="92500" lnSpcReduction="10000"/>
          </a:bodyPr>
          <a:lstStyle/>
          <a:p>
            <a:pPr marL="0" indent="0" algn="ctr">
              <a:lnSpc>
                <a:spcPct val="100000"/>
              </a:lnSpc>
              <a:buNone/>
            </a:pPr>
            <a:r>
              <a:rPr lang="en-US" b="1" dirty="0">
                <a:solidFill>
                  <a:srgbClr val="0E47A1"/>
                </a:solidFill>
              </a:rPr>
              <a:t>Analysis Phase</a:t>
            </a:r>
          </a:p>
          <a:p>
            <a:pPr algn="just">
              <a:lnSpc>
                <a:spcPct val="100000"/>
              </a:lnSpc>
            </a:pPr>
            <a:r>
              <a:rPr lang="en-US" dirty="0"/>
              <a:t>Analysis part </a:t>
            </a:r>
            <a:r>
              <a:rPr lang="en-US" dirty="0">
                <a:solidFill>
                  <a:srgbClr val="C00000"/>
                </a:solidFill>
              </a:rPr>
              <a:t>breaks up the source program into constituent pieces </a:t>
            </a:r>
            <a:r>
              <a:rPr lang="en-US" dirty="0"/>
              <a:t>and creates an intermediate representation of the source program.</a:t>
            </a:r>
          </a:p>
          <a:p>
            <a:pPr algn="just">
              <a:lnSpc>
                <a:spcPct val="100000"/>
              </a:lnSpc>
            </a:pPr>
            <a:r>
              <a:rPr lang="en-US" dirty="0"/>
              <a:t>Analysis phase consists of three sub phases:</a:t>
            </a:r>
          </a:p>
          <a:p>
            <a:pPr marL="914400" indent="-457200" algn="just" defTabSz="1200150">
              <a:lnSpc>
                <a:spcPct val="100000"/>
              </a:lnSpc>
              <a:buFont typeface="+mj-lt"/>
              <a:buAutoNum type="arabicPeriod"/>
            </a:pPr>
            <a:r>
              <a:rPr lang="en-US" dirty="0">
                <a:solidFill>
                  <a:srgbClr val="0E47A1"/>
                </a:solidFill>
              </a:rPr>
              <a:t> Lexical analysis</a:t>
            </a:r>
          </a:p>
          <a:p>
            <a:pPr marL="914400" indent="-457200" algn="just" defTabSz="1200150">
              <a:lnSpc>
                <a:spcPct val="100000"/>
              </a:lnSpc>
              <a:buFont typeface="+mj-lt"/>
              <a:buAutoNum type="arabicPeriod"/>
            </a:pPr>
            <a:r>
              <a:rPr lang="en-US" dirty="0">
                <a:solidFill>
                  <a:srgbClr val="0E47A1"/>
                </a:solidFill>
              </a:rPr>
              <a:t> Syntax analysis</a:t>
            </a:r>
          </a:p>
          <a:p>
            <a:pPr marL="914400" indent="-457200" algn="just" defTabSz="1200150">
              <a:lnSpc>
                <a:spcPct val="100000"/>
              </a:lnSpc>
              <a:buFont typeface="+mj-lt"/>
              <a:buAutoNum type="arabicPeriod"/>
            </a:pPr>
            <a:r>
              <a:rPr lang="en-US" dirty="0">
                <a:solidFill>
                  <a:srgbClr val="0E47A1"/>
                </a:solidFill>
              </a:rPr>
              <a:t> Semantic analysis</a:t>
            </a:r>
          </a:p>
          <a:p>
            <a:endParaRPr lang="en-IN" dirty="0"/>
          </a:p>
        </p:txBody>
      </p:sp>
      <p:sp>
        <p:nvSpPr>
          <p:cNvPr id="4" name="Content Placeholder 3">
            <a:extLst>
              <a:ext uri="{FF2B5EF4-FFF2-40B4-BE49-F238E27FC236}">
                <a16:creationId xmlns:a16="http://schemas.microsoft.com/office/drawing/2014/main" id="{9EC0D18E-802C-90A9-4BBC-1B9C4410D479}"/>
              </a:ext>
            </a:extLst>
          </p:cNvPr>
          <p:cNvSpPr>
            <a:spLocks noGrp="1"/>
          </p:cNvSpPr>
          <p:nvPr>
            <p:ph sz="half" idx="2"/>
          </p:nvPr>
        </p:nvSpPr>
        <p:spPr>
          <a:xfrm>
            <a:off x="6172200" y="1258529"/>
            <a:ext cx="5181600" cy="4918434"/>
          </a:xfrm>
        </p:spPr>
        <p:txBody>
          <a:bodyPr>
            <a:normAutofit fontScale="92500" lnSpcReduction="10000"/>
          </a:bodyPr>
          <a:lstStyle/>
          <a:p>
            <a:pPr marL="0" indent="0" algn="ctr">
              <a:lnSpc>
                <a:spcPct val="100000"/>
              </a:lnSpc>
              <a:buFont typeface="Wingdings 3" panose="05040102010807070707" pitchFamily="18" charset="2"/>
              <a:buNone/>
            </a:pPr>
            <a:r>
              <a:rPr lang="en-US" b="1" dirty="0">
                <a:solidFill>
                  <a:srgbClr val="0E47A1"/>
                </a:solidFill>
              </a:rPr>
              <a:t>Synthesis Phase</a:t>
            </a:r>
          </a:p>
          <a:p>
            <a:pPr>
              <a:lnSpc>
                <a:spcPct val="100000"/>
              </a:lnSpc>
            </a:pPr>
            <a:r>
              <a:rPr lang="en-US" dirty="0"/>
              <a:t>The synthesis part constructs the desired target program from the intermediate representation.</a:t>
            </a:r>
          </a:p>
          <a:p>
            <a:pPr>
              <a:lnSpc>
                <a:spcPct val="100000"/>
              </a:lnSpc>
            </a:pPr>
            <a:r>
              <a:rPr lang="en-US" dirty="0"/>
              <a:t>Synthesis phase consist of the following sub phases:</a:t>
            </a:r>
          </a:p>
          <a:p>
            <a:pPr marL="914400" indent="-457200" defTabSz="1200150">
              <a:lnSpc>
                <a:spcPct val="100000"/>
              </a:lnSpc>
              <a:buFont typeface="+mj-lt"/>
              <a:buAutoNum type="arabicPeriod"/>
            </a:pPr>
            <a:r>
              <a:rPr lang="en-US" dirty="0">
                <a:solidFill>
                  <a:srgbClr val="0E47A1"/>
                </a:solidFill>
              </a:rPr>
              <a:t> Code optimization</a:t>
            </a:r>
          </a:p>
          <a:p>
            <a:pPr marL="914400" indent="-457200" defTabSz="1200150">
              <a:lnSpc>
                <a:spcPct val="100000"/>
              </a:lnSpc>
              <a:buFont typeface="+mj-lt"/>
              <a:buAutoNum type="arabicPeriod"/>
            </a:pPr>
            <a:r>
              <a:rPr lang="en-US" dirty="0">
                <a:solidFill>
                  <a:srgbClr val="0E47A1"/>
                </a:solidFill>
              </a:rPr>
              <a:t>Code generation</a:t>
            </a:r>
          </a:p>
          <a:p>
            <a:endParaRPr lang="en-IN" dirty="0"/>
          </a:p>
        </p:txBody>
      </p:sp>
    </p:spTree>
    <p:extLst>
      <p:ext uri="{BB962C8B-B14F-4D97-AF65-F5344CB8AC3E}">
        <p14:creationId xmlns:p14="http://schemas.microsoft.com/office/powerpoint/2010/main" val="399360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76C84-F460-B7FE-8CDE-86CFCAB204B2}"/>
              </a:ext>
            </a:extLst>
          </p:cNvPr>
          <p:cNvSpPr>
            <a:spLocks noGrp="1"/>
          </p:cNvSpPr>
          <p:nvPr>
            <p:ph type="title"/>
          </p:nvPr>
        </p:nvSpPr>
        <p:spPr>
          <a:xfrm>
            <a:off x="838200" y="365125"/>
            <a:ext cx="10515600" cy="888307"/>
          </a:xfrm>
        </p:spPr>
        <p:txBody>
          <a:bodyPr/>
          <a:lstStyle/>
          <a:p>
            <a:r>
              <a:rPr lang="en-US" dirty="0"/>
              <a:t>Phases of compiler</a:t>
            </a:r>
            <a:endParaRPr lang="en-IN" dirty="0"/>
          </a:p>
        </p:txBody>
      </p:sp>
      <p:grpSp>
        <p:nvGrpSpPr>
          <p:cNvPr id="4" name="Group 3">
            <a:extLst>
              <a:ext uri="{FF2B5EF4-FFF2-40B4-BE49-F238E27FC236}">
                <a16:creationId xmlns:a16="http://schemas.microsoft.com/office/drawing/2014/main" id="{9733D4A2-5FD5-4D20-F355-5C0BC9410994}"/>
              </a:ext>
            </a:extLst>
          </p:cNvPr>
          <p:cNvGrpSpPr/>
          <p:nvPr/>
        </p:nvGrpSpPr>
        <p:grpSpPr>
          <a:xfrm>
            <a:off x="1856761" y="1440374"/>
            <a:ext cx="8634326" cy="5121839"/>
            <a:chOff x="1876425" y="1075299"/>
            <a:chExt cx="8634326" cy="5121839"/>
          </a:xfrm>
        </p:grpSpPr>
        <p:sp>
          <p:nvSpPr>
            <p:cNvPr id="5" name="Rectangle 4">
              <a:extLst>
                <a:ext uri="{FF2B5EF4-FFF2-40B4-BE49-F238E27FC236}">
                  <a16:creationId xmlns:a16="http://schemas.microsoft.com/office/drawing/2014/main" id="{809EB875-2641-E958-0150-A501BAA6CADC}"/>
                </a:ext>
              </a:extLst>
            </p:cNvPr>
            <p:cNvSpPr/>
            <p:nvPr/>
          </p:nvSpPr>
          <p:spPr>
            <a:xfrm>
              <a:off x="1900832" y="1075299"/>
              <a:ext cx="2876043"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bg1"/>
                  </a:solidFill>
                </a:rPr>
                <a:t>Compiler</a:t>
              </a:r>
            </a:p>
          </p:txBody>
        </p:sp>
        <p:sp>
          <p:nvSpPr>
            <p:cNvPr id="6" name="Rectangle 5">
              <a:extLst>
                <a:ext uri="{FF2B5EF4-FFF2-40B4-BE49-F238E27FC236}">
                  <a16:creationId xmlns:a16="http://schemas.microsoft.com/office/drawing/2014/main" id="{131AEF17-8E08-5DE2-E793-99423F95B50F}"/>
                </a:ext>
              </a:extLst>
            </p:cNvPr>
            <p:cNvSpPr/>
            <p:nvPr/>
          </p:nvSpPr>
          <p:spPr>
            <a:xfrm>
              <a:off x="1934081" y="2475807"/>
              <a:ext cx="2057400"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Analysis phase</a:t>
              </a:r>
            </a:p>
          </p:txBody>
        </p:sp>
        <p:sp>
          <p:nvSpPr>
            <p:cNvPr id="7" name="Rectangle 6">
              <a:extLst>
                <a:ext uri="{FF2B5EF4-FFF2-40B4-BE49-F238E27FC236}">
                  <a16:creationId xmlns:a16="http://schemas.microsoft.com/office/drawing/2014/main" id="{8201D365-BEAF-C4F2-9B28-4FFE0B63CE53}"/>
                </a:ext>
              </a:extLst>
            </p:cNvPr>
            <p:cNvSpPr/>
            <p:nvPr/>
          </p:nvSpPr>
          <p:spPr>
            <a:xfrm>
              <a:off x="7663992" y="2425932"/>
              <a:ext cx="2057400"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Synthesis phase</a:t>
              </a:r>
            </a:p>
          </p:txBody>
        </p:sp>
        <p:cxnSp>
          <p:nvCxnSpPr>
            <p:cNvPr id="8" name="Straight Connector 7">
              <a:extLst>
                <a:ext uri="{FF2B5EF4-FFF2-40B4-BE49-F238E27FC236}">
                  <a16:creationId xmlns:a16="http://schemas.microsoft.com/office/drawing/2014/main" id="{C60C7B3B-103C-6965-66D3-F2F155340BD1}"/>
                </a:ext>
              </a:extLst>
            </p:cNvPr>
            <p:cNvCxnSpPr/>
            <p:nvPr/>
          </p:nvCxnSpPr>
          <p:spPr>
            <a:xfrm flipH="1">
              <a:off x="2238881" y="3085408"/>
              <a:ext cx="0" cy="2324793"/>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50396BE-879A-AE9D-C47B-ECF989310F1F}"/>
                </a:ext>
              </a:extLst>
            </p:cNvPr>
            <p:cNvCxnSpPr/>
            <p:nvPr/>
          </p:nvCxnSpPr>
          <p:spPr>
            <a:xfrm flipH="1">
              <a:off x="7963068" y="3034674"/>
              <a:ext cx="0" cy="2324793"/>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483A564-C544-CC40-3807-9EBD49975E0A}"/>
                </a:ext>
              </a:extLst>
            </p:cNvPr>
            <p:cNvCxnSpPr/>
            <p:nvPr/>
          </p:nvCxnSpPr>
          <p:spPr>
            <a:xfrm>
              <a:off x="2238881" y="3657600"/>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EEABC2EE-85E2-E9E5-047C-DEE821BC978B}"/>
                </a:ext>
              </a:extLst>
            </p:cNvPr>
            <p:cNvSpPr/>
            <p:nvPr/>
          </p:nvSpPr>
          <p:spPr>
            <a:xfrm>
              <a:off x="2654517" y="3333403"/>
              <a:ext cx="2022764"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Lexical analysis </a:t>
              </a:r>
            </a:p>
          </p:txBody>
        </p:sp>
        <p:cxnSp>
          <p:nvCxnSpPr>
            <p:cNvPr id="12" name="Straight Arrow Connector 11">
              <a:extLst>
                <a:ext uri="{FF2B5EF4-FFF2-40B4-BE49-F238E27FC236}">
                  <a16:creationId xmlns:a16="http://schemas.microsoft.com/office/drawing/2014/main" id="{116CC8A3-9356-0607-A618-1A3BD30E3B2F}"/>
                </a:ext>
              </a:extLst>
            </p:cNvPr>
            <p:cNvCxnSpPr/>
            <p:nvPr/>
          </p:nvCxnSpPr>
          <p:spPr>
            <a:xfrm>
              <a:off x="2227798" y="4564377"/>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8EFD789-96BC-EB89-020E-86D7D8F0724E}"/>
                </a:ext>
              </a:extLst>
            </p:cNvPr>
            <p:cNvSpPr/>
            <p:nvPr/>
          </p:nvSpPr>
          <p:spPr>
            <a:xfrm>
              <a:off x="2643434" y="4240180"/>
              <a:ext cx="2022764"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Syntax analysis </a:t>
              </a:r>
            </a:p>
          </p:txBody>
        </p:sp>
        <p:cxnSp>
          <p:nvCxnSpPr>
            <p:cNvPr id="14" name="Straight Arrow Connector 13">
              <a:extLst>
                <a:ext uri="{FF2B5EF4-FFF2-40B4-BE49-F238E27FC236}">
                  <a16:creationId xmlns:a16="http://schemas.microsoft.com/office/drawing/2014/main" id="{BFEA94F7-52AC-0272-2215-FF25AE58B607}"/>
                </a:ext>
              </a:extLst>
            </p:cNvPr>
            <p:cNvCxnSpPr/>
            <p:nvPr/>
          </p:nvCxnSpPr>
          <p:spPr>
            <a:xfrm>
              <a:off x="2227798" y="5401021"/>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3C1DD25F-263E-0F63-4F3D-058E6C311776}"/>
                </a:ext>
              </a:extLst>
            </p:cNvPr>
            <p:cNvSpPr/>
            <p:nvPr/>
          </p:nvSpPr>
          <p:spPr>
            <a:xfrm>
              <a:off x="2643434" y="5105400"/>
              <a:ext cx="2022764"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chemeClr val="bg1"/>
                  </a:solidFill>
                </a:rPr>
                <a:t>Semantic analysis </a:t>
              </a:r>
            </a:p>
          </p:txBody>
        </p:sp>
        <p:sp>
          <p:nvSpPr>
            <p:cNvPr id="16" name="Rectangle 15">
              <a:extLst>
                <a:ext uri="{FF2B5EF4-FFF2-40B4-BE49-F238E27FC236}">
                  <a16:creationId xmlns:a16="http://schemas.microsoft.com/office/drawing/2014/main" id="{0918E313-E684-2F00-3444-125F3FE06D4F}"/>
                </a:ext>
              </a:extLst>
            </p:cNvPr>
            <p:cNvSpPr/>
            <p:nvPr/>
          </p:nvSpPr>
          <p:spPr>
            <a:xfrm>
              <a:off x="7577051" y="2342803"/>
              <a:ext cx="2933700" cy="3854335"/>
            </a:xfrm>
            <a:prstGeom prst="rect">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1EEDD40-F4BF-C862-E717-8C3F7C48E59F}"/>
                </a:ext>
              </a:extLst>
            </p:cNvPr>
            <p:cNvSpPr/>
            <p:nvPr/>
          </p:nvSpPr>
          <p:spPr>
            <a:xfrm>
              <a:off x="1876425" y="2387138"/>
              <a:ext cx="2933700" cy="3810000"/>
            </a:xfrm>
            <a:prstGeom prst="rect">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1007B6B-FCB3-1825-3DA3-B2D8D2A63082}"/>
                </a:ext>
              </a:extLst>
            </p:cNvPr>
            <p:cNvSpPr/>
            <p:nvPr/>
          </p:nvSpPr>
          <p:spPr>
            <a:xfrm>
              <a:off x="5364122" y="3643742"/>
              <a:ext cx="1742928" cy="1230974"/>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Intermediate code generation</a:t>
              </a:r>
            </a:p>
          </p:txBody>
        </p:sp>
        <p:cxnSp>
          <p:nvCxnSpPr>
            <p:cNvPr id="19" name="Straight Arrow Connector 18">
              <a:extLst>
                <a:ext uri="{FF2B5EF4-FFF2-40B4-BE49-F238E27FC236}">
                  <a16:creationId xmlns:a16="http://schemas.microsoft.com/office/drawing/2014/main" id="{0E71680B-A2FF-ED4F-437C-F81270E6D671}"/>
                </a:ext>
              </a:extLst>
            </p:cNvPr>
            <p:cNvCxnSpPr>
              <a:stCxn id="17" idx="3"/>
            </p:cNvCxnSpPr>
            <p:nvPr/>
          </p:nvCxnSpPr>
          <p:spPr>
            <a:xfrm>
              <a:off x="4810125" y="4292138"/>
              <a:ext cx="536504"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A900CEC-6664-C1C0-330E-59E64A4EBF46}"/>
                </a:ext>
              </a:extLst>
            </p:cNvPr>
            <p:cNvCxnSpPr/>
            <p:nvPr/>
          </p:nvCxnSpPr>
          <p:spPr>
            <a:xfrm>
              <a:off x="7107381" y="4308763"/>
              <a:ext cx="484632"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9C8DEA5-E457-475D-B407-39D71E15D702}"/>
                </a:ext>
              </a:extLst>
            </p:cNvPr>
            <p:cNvCxnSpPr/>
            <p:nvPr/>
          </p:nvCxnSpPr>
          <p:spPr>
            <a:xfrm>
              <a:off x="7948780" y="4114800"/>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D2E6E970-00DB-763C-9192-3401468E9136}"/>
                </a:ext>
              </a:extLst>
            </p:cNvPr>
            <p:cNvSpPr/>
            <p:nvPr/>
          </p:nvSpPr>
          <p:spPr>
            <a:xfrm>
              <a:off x="8331289" y="3564778"/>
              <a:ext cx="2022764" cy="899157"/>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Code optimization </a:t>
              </a:r>
            </a:p>
          </p:txBody>
        </p:sp>
        <p:cxnSp>
          <p:nvCxnSpPr>
            <p:cNvPr id="23" name="Straight Arrow Connector 22">
              <a:extLst>
                <a:ext uri="{FF2B5EF4-FFF2-40B4-BE49-F238E27FC236}">
                  <a16:creationId xmlns:a16="http://schemas.microsoft.com/office/drawing/2014/main" id="{31CD67C8-26EC-33E3-6D62-FB9BF3D4AF01}"/>
                </a:ext>
              </a:extLst>
            </p:cNvPr>
            <p:cNvCxnSpPr/>
            <p:nvPr/>
          </p:nvCxnSpPr>
          <p:spPr>
            <a:xfrm>
              <a:off x="7950289" y="5351847"/>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DB155FF-6F65-8DF7-A45D-E0FB6B3DE72A}"/>
                </a:ext>
              </a:extLst>
            </p:cNvPr>
            <p:cNvSpPr/>
            <p:nvPr/>
          </p:nvSpPr>
          <p:spPr>
            <a:xfrm>
              <a:off x="8315851" y="4849780"/>
              <a:ext cx="2022764" cy="824348"/>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Code generation </a:t>
              </a:r>
            </a:p>
          </p:txBody>
        </p:sp>
        <p:cxnSp>
          <p:nvCxnSpPr>
            <p:cNvPr id="25" name="Straight Arrow Connector 24">
              <a:extLst>
                <a:ext uri="{FF2B5EF4-FFF2-40B4-BE49-F238E27FC236}">
                  <a16:creationId xmlns:a16="http://schemas.microsoft.com/office/drawing/2014/main" id="{09501878-1431-821B-55D7-DFAA7E52323D}"/>
                </a:ext>
              </a:extLst>
            </p:cNvPr>
            <p:cNvCxnSpPr>
              <a:stCxn id="5" idx="2"/>
              <a:endCxn id="17" idx="0"/>
            </p:cNvCxnSpPr>
            <p:nvPr/>
          </p:nvCxnSpPr>
          <p:spPr>
            <a:xfrm>
              <a:off x="3338853" y="1684900"/>
              <a:ext cx="4422" cy="702239"/>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37964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B373D328-C16D-FB90-5368-9E565A9AC111}"/>
              </a:ext>
            </a:extLst>
          </p:cNvPr>
          <p:cNvSpPr>
            <a:spLocks noGrp="1"/>
          </p:cNvSpPr>
          <p:nvPr>
            <p:ph type="title"/>
          </p:nvPr>
        </p:nvSpPr>
        <p:spPr>
          <a:xfrm>
            <a:off x="0" y="1"/>
            <a:ext cx="12192000" cy="711200"/>
          </a:xfrm>
        </p:spPr>
        <p:txBody>
          <a:bodyPr/>
          <a:lstStyle/>
          <a:p>
            <a:r>
              <a:rPr lang="en-US" dirty="0"/>
              <a:t>Lexical analysis</a:t>
            </a:r>
          </a:p>
        </p:txBody>
      </p:sp>
      <p:sp>
        <p:nvSpPr>
          <p:cNvPr id="34" name="Content Placeholder 2">
            <a:extLst>
              <a:ext uri="{FF2B5EF4-FFF2-40B4-BE49-F238E27FC236}">
                <a16:creationId xmlns:a16="http://schemas.microsoft.com/office/drawing/2014/main" id="{10B15626-780D-AA83-C878-7DDC4066A6A4}"/>
              </a:ext>
            </a:extLst>
          </p:cNvPr>
          <p:cNvSpPr>
            <a:spLocks noGrp="1"/>
          </p:cNvSpPr>
          <p:nvPr>
            <p:ph idx="1"/>
          </p:nvPr>
        </p:nvSpPr>
        <p:spPr>
          <a:xfrm>
            <a:off x="131180" y="863444"/>
            <a:ext cx="7681583" cy="5590565"/>
          </a:xfrm>
        </p:spPr>
        <p:txBody>
          <a:bodyPr>
            <a:normAutofit fontScale="92500" lnSpcReduction="10000"/>
          </a:bodyPr>
          <a:lstStyle/>
          <a:p>
            <a:r>
              <a:rPr lang="en-US" dirty="0"/>
              <a:t>Lexical Analysis is also called </a:t>
            </a:r>
            <a:r>
              <a:rPr lang="en-US" b="1" dirty="0">
                <a:solidFill>
                  <a:srgbClr val="0E47A1"/>
                </a:solidFill>
              </a:rPr>
              <a:t>linear analysis </a:t>
            </a:r>
            <a:r>
              <a:rPr lang="en-US" dirty="0"/>
              <a:t>or </a:t>
            </a:r>
            <a:r>
              <a:rPr lang="en-US" b="1" dirty="0">
                <a:solidFill>
                  <a:srgbClr val="0E47A1"/>
                </a:solidFill>
              </a:rPr>
              <a:t>scanning</a:t>
            </a:r>
            <a:r>
              <a:rPr lang="en-US" dirty="0">
                <a:solidFill>
                  <a:srgbClr val="0E47A1"/>
                </a:solidFill>
              </a:rPr>
              <a:t>.</a:t>
            </a:r>
          </a:p>
          <a:p>
            <a:r>
              <a:rPr lang="en-US" dirty="0"/>
              <a:t>Lexical Analyzer divides the given source statement into the </a:t>
            </a:r>
            <a:r>
              <a:rPr lang="en-US" b="1" dirty="0">
                <a:solidFill>
                  <a:srgbClr val="0E47A1"/>
                </a:solidFill>
              </a:rPr>
              <a:t>tokens</a:t>
            </a:r>
            <a:r>
              <a:rPr lang="en-US" dirty="0"/>
              <a:t>.</a:t>
            </a:r>
          </a:p>
          <a:p>
            <a:r>
              <a:rPr lang="en-US" dirty="0"/>
              <a:t>Ex: </a:t>
            </a:r>
            <a:r>
              <a:rPr lang="en-US" b="1" dirty="0">
                <a:solidFill>
                  <a:srgbClr val="0E47A1"/>
                </a:solidFill>
              </a:rPr>
              <a:t>Position = initial + rate * 60 </a:t>
            </a:r>
            <a:r>
              <a:rPr lang="en-US" dirty="0"/>
              <a:t>would be grouped into the following tokens:</a:t>
            </a:r>
          </a:p>
          <a:p>
            <a:pPr marL="0" indent="0">
              <a:buNone/>
            </a:pPr>
            <a:r>
              <a:rPr lang="en-US" dirty="0"/>
              <a:t>	</a:t>
            </a:r>
            <a:r>
              <a:rPr lang="en-US" dirty="0">
                <a:solidFill>
                  <a:srgbClr val="0E47A1"/>
                </a:solidFill>
              </a:rPr>
              <a:t>Position</a:t>
            </a:r>
            <a:r>
              <a:rPr lang="en-US" dirty="0"/>
              <a:t> (identifier)</a:t>
            </a:r>
          </a:p>
          <a:p>
            <a:pPr marL="0" indent="0">
              <a:buNone/>
            </a:pPr>
            <a:r>
              <a:rPr lang="en-US" dirty="0"/>
              <a:t>	</a:t>
            </a:r>
            <a:r>
              <a:rPr lang="en-US" dirty="0">
                <a:solidFill>
                  <a:srgbClr val="0E47A1"/>
                </a:solidFill>
              </a:rPr>
              <a:t>=</a:t>
            </a:r>
            <a:r>
              <a:rPr lang="en-US" dirty="0"/>
              <a:t> (Assignment symbol)</a:t>
            </a:r>
          </a:p>
          <a:p>
            <a:pPr marL="0" indent="0">
              <a:buNone/>
            </a:pPr>
            <a:r>
              <a:rPr lang="en-US" dirty="0"/>
              <a:t>	</a:t>
            </a:r>
            <a:r>
              <a:rPr lang="en-US" dirty="0">
                <a:solidFill>
                  <a:srgbClr val="0E47A1"/>
                </a:solidFill>
              </a:rPr>
              <a:t>initial</a:t>
            </a:r>
            <a:r>
              <a:rPr lang="en-US" dirty="0">
                <a:solidFill>
                  <a:schemeClr val="tx2">
                    <a:lumMod val="60000"/>
                    <a:lumOff val="40000"/>
                  </a:schemeClr>
                </a:solidFill>
              </a:rPr>
              <a:t> </a:t>
            </a:r>
            <a:r>
              <a:rPr lang="en-US" dirty="0"/>
              <a:t>(identifier)</a:t>
            </a:r>
          </a:p>
          <a:p>
            <a:pPr marL="0" indent="0">
              <a:buNone/>
            </a:pPr>
            <a:r>
              <a:rPr lang="en-US" dirty="0"/>
              <a:t>	</a:t>
            </a:r>
            <a:r>
              <a:rPr lang="en-US" dirty="0">
                <a:solidFill>
                  <a:srgbClr val="0E47A1"/>
                </a:solidFill>
              </a:rPr>
              <a:t>+</a:t>
            </a:r>
            <a:r>
              <a:rPr lang="en-US" dirty="0"/>
              <a:t> (Plus symbol)</a:t>
            </a:r>
          </a:p>
          <a:p>
            <a:pPr marL="0" indent="0">
              <a:buNone/>
            </a:pPr>
            <a:r>
              <a:rPr lang="en-US" dirty="0"/>
              <a:t>	</a:t>
            </a:r>
            <a:r>
              <a:rPr lang="en-US" dirty="0">
                <a:solidFill>
                  <a:srgbClr val="0E47A1"/>
                </a:solidFill>
              </a:rPr>
              <a:t>rate</a:t>
            </a:r>
            <a:r>
              <a:rPr lang="en-US" dirty="0"/>
              <a:t> (identifier)</a:t>
            </a:r>
          </a:p>
          <a:p>
            <a:pPr marL="0" indent="0">
              <a:buNone/>
            </a:pPr>
            <a:r>
              <a:rPr lang="en-US" dirty="0"/>
              <a:t>	</a:t>
            </a:r>
            <a:r>
              <a:rPr lang="en-US" dirty="0">
                <a:solidFill>
                  <a:srgbClr val="0E47A1"/>
                </a:solidFill>
              </a:rPr>
              <a:t>*</a:t>
            </a:r>
            <a:r>
              <a:rPr lang="en-US" dirty="0"/>
              <a:t> (Multiplication symbol)</a:t>
            </a:r>
          </a:p>
          <a:p>
            <a:pPr marL="0" indent="0">
              <a:buNone/>
            </a:pPr>
            <a:r>
              <a:rPr lang="en-US" dirty="0"/>
              <a:t>	</a:t>
            </a:r>
            <a:r>
              <a:rPr lang="en-US" dirty="0">
                <a:solidFill>
                  <a:srgbClr val="0E47A1"/>
                </a:solidFill>
              </a:rPr>
              <a:t>60</a:t>
            </a:r>
            <a:r>
              <a:rPr lang="en-US" dirty="0">
                <a:solidFill>
                  <a:schemeClr val="accent1">
                    <a:lumMod val="75000"/>
                  </a:schemeClr>
                </a:solidFill>
              </a:rPr>
              <a:t> </a:t>
            </a:r>
            <a:r>
              <a:rPr lang="en-US" dirty="0"/>
              <a:t>(Number)</a:t>
            </a:r>
          </a:p>
          <a:p>
            <a:endParaRPr lang="en-US" dirty="0"/>
          </a:p>
        </p:txBody>
      </p:sp>
      <p:grpSp>
        <p:nvGrpSpPr>
          <p:cNvPr id="35" name="Group 34">
            <a:extLst>
              <a:ext uri="{FF2B5EF4-FFF2-40B4-BE49-F238E27FC236}">
                <a16:creationId xmlns:a16="http://schemas.microsoft.com/office/drawing/2014/main" id="{3BB9BE26-159C-DFDC-7931-AAF563CB4357}"/>
              </a:ext>
            </a:extLst>
          </p:cNvPr>
          <p:cNvGrpSpPr/>
          <p:nvPr/>
        </p:nvGrpSpPr>
        <p:grpSpPr>
          <a:xfrm>
            <a:off x="8813444" y="1724109"/>
            <a:ext cx="2438400" cy="1033464"/>
            <a:chOff x="6134100" y="1100136"/>
            <a:chExt cx="2438400" cy="1033464"/>
          </a:xfrm>
        </p:grpSpPr>
        <p:sp>
          <p:nvSpPr>
            <p:cNvPr id="36" name="Rectangle 35">
              <a:extLst>
                <a:ext uri="{FF2B5EF4-FFF2-40B4-BE49-F238E27FC236}">
                  <a16:creationId xmlns:a16="http://schemas.microsoft.com/office/drawing/2014/main" id="{6CCE4C08-CAB6-9733-2FFE-862E99202E56}"/>
                </a:ext>
              </a:extLst>
            </p:cNvPr>
            <p:cNvSpPr/>
            <p:nvPr/>
          </p:nvSpPr>
          <p:spPr>
            <a:xfrm>
              <a:off x="6134100" y="1600200"/>
              <a:ext cx="2438400" cy="533400"/>
            </a:xfrm>
            <a:prstGeom prst="rect">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Lexical analysis</a:t>
              </a:r>
            </a:p>
          </p:txBody>
        </p:sp>
        <p:cxnSp>
          <p:nvCxnSpPr>
            <p:cNvPr id="37" name="Straight Arrow Connector 36">
              <a:extLst>
                <a:ext uri="{FF2B5EF4-FFF2-40B4-BE49-F238E27FC236}">
                  <a16:creationId xmlns:a16="http://schemas.microsoft.com/office/drawing/2014/main" id="{9C4C567F-F328-A638-6DB8-1F1BD71A65E0}"/>
                </a:ext>
              </a:extLst>
            </p:cNvPr>
            <p:cNvCxnSpPr/>
            <p:nvPr/>
          </p:nvCxnSpPr>
          <p:spPr>
            <a:xfrm flipH="1">
              <a:off x="7353299" y="1100136"/>
              <a:ext cx="4763" cy="45720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grpSp>
      <p:cxnSp>
        <p:nvCxnSpPr>
          <p:cNvPr id="38" name="Straight Arrow Connector 37">
            <a:extLst>
              <a:ext uri="{FF2B5EF4-FFF2-40B4-BE49-F238E27FC236}">
                <a16:creationId xmlns:a16="http://schemas.microsoft.com/office/drawing/2014/main" id="{F3B7ECEA-A53C-95C7-76AA-CEC95E5F09EC}"/>
              </a:ext>
            </a:extLst>
          </p:cNvPr>
          <p:cNvCxnSpPr/>
          <p:nvPr/>
        </p:nvCxnSpPr>
        <p:spPr>
          <a:xfrm flipH="1">
            <a:off x="10037407" y="2757573"/>
            <a:ext cx="0" cy="226219"/>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39" name="Content Placeholder 5">
            <a:extLst>
              <a:ext uri="{FF2B5EF4-FFF2-40B4-BE49-F238E27FC236}">
                <a16:creationId xmlns:a16="http://schemas.microsoft.com/office/drawing/2014/main" id="{2A22A3E4-97F3-C85F-A2FD-84D5830DE583}"/>
              </a:ext>
            </a:extLst>
          </p:cNvPr>
          <p:cNvSpPr txBox="1"/>
          <p:nvPr/>
        </p:nvSpPr>
        <p:spPr>
          <a:xfrm>
            <a:off x="8708670" y="2979028"/>
            <a:ext cx="676275" cy="433388"/>
          </a:xfrm>
          <a:prstGeom prst="rect">
            <a:avLst/>
          </a:prstGeom>
          <a:no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lt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lt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anose="020B0604020202020204" pitchFamily="34" charset="0"/>
              <a:buChar char="•"/>
              <a:defRPr sz="1800" kern="1200">
                <a:solidFill>
                  <a:schemeClr val="lt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anose="020B0604020202020204" pitchFamily="34" charset="0"/>
              <a:buChar char="–"/>
              <a:defRPr sz="1600" kern="1200">
                <a:solidFill>
                  <a:schemeClr val="lt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anose="020B0604020202020204" pitchFamily="34" charset="0"/>
              <a:buChar char="»"/>
              <a:defRPr sz="1600" kern="1200">
                <a:solidFill>
                  <a:schemeClr val="lt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None/>
            </a:pPr>
            <a:r>
              <a:rPr lang="en-US" sz="1800">
                <a:solidFill>
                  <a:schemeClr val="tx1"/>
                </a:solidFill>
              </a:rPr>
              <a:t>id1</a:t>
            </a:r>
          </a:p>
        </p:txBody>
      </p:sp>
      <p:sp>
        <p:nvSpPr>
          <p:cNvPr id="40" name="Content Placeholder 5">
            <a:extLst>
              <a:ext uri="{FF2B5EF4-FFF2-40B4-BE49-F238E27FC236}">
                <a16:creationId xmlns:a16="http://schemas.microsoft.com/office/drawing/2014/main" id="{804779AF-4B08-0DFA-4D98-9DEDB6081546}"/>
              </a:ext>
            </a:extLst>
          </p:cNvPr>
          <p:cNvSpPr txBox="1"/>
          <p:nvPr/>
        </p:nvSpPr>
        <p:spPr>
          <a:xfrm>
            <a:off x="8977750" y="2979028"/>
            <a:ext cx="676275" cy="433388"/>
          </a:xfrm>
          <a:prstGeom prst="rect">
            <a:avLst/>
          </a:prstGeom>
          <a:no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lt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lt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anose="020B0604020202020204" pitchFamily="34" charset="0"/>
              <a:buChar char="•"/>
              <a:defRPr sz="1800" kern="1200">
                <a:solidFill>
                  <a:schemeClr val="lt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anose="020B0604020202020204" pitchFamily="34" charset="0"/>
              <a:buChar char="–"/>
              <a:defRPr sz="1600" kern="1200">
                <a:solidFill>
                  <a:schemeClr val="lt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anose="020B0604020202020204" pitchFamily="34" charset="0"/>
              <a:buChar char="»"/>
              <a:defRPr sz="1600" kern="1200">
                <a:solidFill>
                  <a:schemeClr val="lt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None/>
            </a:pPr>
            <a:r>
              <a:rPr lang="en-US" sz="1800">
                <a:solidFill>
                  <a:schemeClr val="tx1"/>
                </a:solidFill>
              </a:rPr>
              <a:t>=</a:t>
            </a:r>
          </a:p>
        </p:txBody>
      </p:sp>
      <p:sp>
        <p:nvSpPr>
          <p:cNvPr id="41" name="Content Placeholder 5">
            <a:extLst>
              <a:ext uri="{FF2B5EF4-FFF2-40B4-BE49-F238E27FC236}">
                <a16:creationId xmlns:a16="http://schemas.microsoft.com/office/drawing/2014/main" id="{D26CA9A3-9B6B-8F5B-7989-BD1FE221C7FE}"/>
              </a:ext>
            </a:extLst>
          </p:cNvPr>
          <p:cNvSpPr txBox="1"/>
          <p:nvPr/>
        </p:nvSpPr>
        <p:spPr>
          <a:xfrm>
            <a:off x="9246830" y="2979028"/>
            <a:ext cx="676275" cy="433388"/>
          </a:xfrm>
          <a:prstGeom prst="rect">
            <a:avLst/>
          </a:prstGeom>
          <a:no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lt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lt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anose="020B0604020202020204" pitchFamily="34" charset="0"/>
              <a:buChar char="•"/>
              <a:defRPr sz="1800" kern="1200">
                <a:solidFill>
                  <a:schemeClr val="lt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anose="020B0604020202020204" pitchFamily="34" charset="0"/>
              <a:buChar char="–"/>
              <a:defRPr sz="1600" kern="1200">
                <a:solidFill>
                  <a:schemeClr val="lt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anose="020B0604020202020204" pitchFamily="34" charset="0"/>
              <a:buChar char="»"/>
              <a:defRPr sz="1600" kern="1200">
                <a:solidFill>
                  <a:schemeClr val="lt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None/>
            </a:pPr>
            <a:r>
              <a:rPr lang="en-US" sz="1800">
                <a:solidFill>
                  <a:schemeClr val="tx1"/>
                </a:solidFill>
              </a:rPr>
              <a:t>id2</a:t>
            </a:r>
          </a:p>
        </p:txBody>
      </p:sp>
      <p:sp>
        <p:nvSpPr>
          <p:cNvPr id="42" name="Content Placeholder 5">
            <a:extLst>
              <a:ext uri="{FF2B5EF4-FFF2-40B4-BE49-F238E27FC236}">
                <a16:creationId xmlns:a16="http://schemas.microsoft.com/office/drawing/2014/main" id="{A93A47E9-912A-76FB-E7C0-ECFD042B94E7}"/>
              </a:ext>
            </a:extLst>
          </p:cNvPr>
          <p:cNvSpPr txBox="1"/>
          <p:nvPr/>
        </p:nvSpPr>
        <p:spPr>
          <a:xfrm>
            <a:off x="9515910" y="2979028"/>
            <a:ext cx="676275" cy="433388"/>
          </a:xfrm>
          <a:prstGeom prst="rect">
            <a:avLst/>
          </a:prstGeom>
          <a:no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lt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lt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anose="020B0604020202020204" pitchFamily="34" charset="0"/>
              <a:buChar char="•"/>
              <a:defRPr sz="1800" kern="1200">
                <a:solidFill>
                  <a:schemeClr val="lt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anose="020B0604020202020204" pitchFamily="34" charset="0"/>
              <a:buChar char="–"/>
              <a:defRPr sz="1600" kern="1200">
                <a:solidFill>
                  <a:schemeClr val="lt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anose="020B0604020202020204" pitchFamily="34" charset="0"/>
              <a:buChar char="»"/>
              <a:defRPr sz="1600" kern="1200">
                <a:solidFill>
                  <a:schemeClr val="lt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None/>
            </a:pPr>
            <a:r>
              <a:rPr lang="en-US" sz="1800">
                <a:solidFill>
                  <a:schemeClr val="tx1"/>
                </a:solidFill>
              </a:rPr>
              <a:t>+</a:t>
            </a:r>
          </a:p>
        </p:txBody>
      </p:sp>
      <p:sp>
        <p:nvSpPr>
          <p:cNvPr id="43" name="Content Placeholder 5">
            <a:extLst>
              <a:ext uri="{FF2B5EF4-FFF2-40B4-BE49-F238E27FC236}">
                <a16:creationId xmlns:a16="http://schemas.microsoft.com/office/drawing/2014/main" id="{F9E73F7B-4FEB-C212-4541-FE8308DA6445}"/>
              </a:ext>
            </a:extLst>
          </p:cNvPr>
          <p:cNvSpPr txBox="1"/>
          <p:nvPr/>
        </p:nvSpPr>
        <p:spPr>
          <a:xfrm>
            <a:off x="9813562" y="2979028"/>
            <a:ext cx="676275" cy="433388"/>
          </a:xfrm>
          <a:prstGeom prst="rect">
            <a:avLst/>
          </a:prstGeom>
          <a:no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lt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lt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anose="020B0604020202020204" pitchFamily="34" charset="0"/>
              <a:buChar char="•"/>
              <a:defRPr sz="1800" kern="1200">
                <a:solidFill>
                  <a:schemeClr val="lt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anose="020B0604020202020204" pitchFamily="34" charset="0"/>
              <a:buChar char="–"/>
              <a:defRPr sz="1600" kern="1200">
                <a:solidFill>
                  <a:schemeClr val="lt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anose="020B0604020202020204" pitchFamily="34" charset="0"/>
              <a:buChar char="»"/>
              <a:defRPr sz="1600" kern="1200">
                <a:solidFill>
                  <a:schemeClr val="lt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None/>
            </a:pPr>
            <a:r>
              <a:rPr lang="en-US" sz="1800">
                <a:solidFill>
                  <a:schemeClr val="tx1"/>
                </a:solidFill>
              </a:rPr>
              <a:t>id3</a:t>
            </a:r>
          </a:p>
        </p:txBody>
      </p:sp>
      <p:sp>
        <p:nvSpPr>
          <p:cNvPr id="44" name="Content Placeholder 5">
            <a:extLst>
              <a:ext uri="{FF2B5EF4-FFF2-40B4-BE49-F238E27FC236}">
                <a16:creationId xmlns:a16="http://schemas.microsoft.com/office/drawing/2014/main" id="{60335955-6BA9-429F-FDF7-7272AEF10FEA}"/>
              </a:ext>
            </a:extLst>
          </p:cNvPr>
          <p:cNvSpPr txBox="1"/>
          <p:nvPr/>
        </p:nvSpPr>
        <p:spPr>
          <a:xfrm>
            <a:off x="10094551" y="3021892"/>
            <a:ext cx="676275" cy="433388"/>
          </a:xfrm>
          <a:prstGeom prst="rect">
            <a:avLst/>
          </a:prstGeom>
          <a:no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lt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lt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anose="020B0604020202020204" pitchFamily="34" charset="0"/>
              <a:buChar char="•"/>
              <a:defRPr sz="1800" kern="1200">
                <a:solidFill>
                  <a:schemeClr val="lt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anose="020B0604020202020204" pitchFamily="34" charset="0"/>
              <a:buChar char="–"/>
              <a:defRPr sz="1600" kern="1200">
                <a:solidFill>
                  <a:schemeClr val="lt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anose="020B0604020202020204" pitchFamily="34" charset="0"/>
              <a:buChar char="»"/>
              <a:defRPr sz="1600" kern="1200">
                <a:solidFill>
                  <a:schemeClr val="lt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None/>
            </a:pPr>
            <a:r>
              <a:rPr lang="en-US" sz="1800">
                <a:solidFill>
                  <a:schemeClr val="tx1"/>
                </a:solidFill>
              </a:rPr>
              <a:t>*</a:t>
            </a:r>
          </a:p>
        </p:txBody>
      </p:sp>
      <p:sp>
        <p:nvSpPr>
          <p:cNvPr id="45" name="Content Placeholder 5">
            <a:extLst>
              <a:ext uri="{FF2B5EF4-FFF2-40B4-BE49-F238E27FC236}">
                <a16:creationId xmlns:a16="http://schemas.microsoft.com/office/drawing/2014/main" id="{DB23EF5A-0945-8D1D-77C1-A679B22E2635}"/>
              </a:ext>
            </a:extLst>
          </p:cNvPr>
          <p:cNvSpPr txBox="1"/>
          <p:nvPr/>
        </p:nvSpPr>
        <p:spPr>
          <a:xfrm>
            <a:off x="10327906" y="2971884"/>
            <a:ext cx="676275" cy="433388"/>
          </a:xfrm>
          <a:prstGeom prst="rect">
            <a:avLst/>
          </a:prstGeom>
          <a:no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lt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lt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anose="020B0604020202020204" pitchFamily="34" charset="0"/>
              <a:buChar char="•"/>
              <a:defRPr sz="1800" kern="1200">
                <a:solidFill>
                  <a:schemeClr val="lt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anose="020B0604020202020204" pitchFamily="34" charset="0"/>
              <a:buChar char="–"/>
              <a:defRPr sz="1600" kern="1200">
                <a:solidFill>
                  <a:schemeClr val="lt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anose="020B0604020202020204" pitchFamily="34" charset="0"/>
              <a:buChar char="»"/>
              <a:defRPr sz="1600" kern="1200">
                <a:solidFill>
                  <a:schemeClr val="lt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None/>
            </a:pPr>
            <a:r>
              <a:rPr lang="en-US" sz="1800" dirty="0">
                <a:solidFill>
                  <a:schemeClr val="tx1"/>
                </a:solidFill>
              </a:rPr>
              <a:t>60</a:t>
            </a:r>
          </a:p>
        </p:txBody>
      </p:sp>
      <p:sp>
        <p:nvSpPr>
          <p:cNvPr id="46" name="Rectangle 45">
            <a:extLst>
              <a:ext uri="{FF2B5EF4-FFF2-40B4-BE49-F238E27FC236}">
                <a16:creationId xmlns:a16="http://schemas.microsoft.com/office/drawing/2014/main" id="{11FCE396-4D61-8D0D-C70D-F2AC616501FF}"/>
              </a:ext>
            </a:extLst>
          </p:cNvPr>
          <p:cNvSpPr/>
          <p:nvPr/>
        </p:nvSpPr>
        <p:spPr>
          <a:xfrm>
            <a:off x="1167422" y="2335313"/>
            <a:ext cx="1350558" cy="344094"/>
          </a:xfrm>
          <a:prstGeom prst="rect">
            <a:avLst/>
          </a:prstGeom>
          <a:solidFill>
            <a:srgbClr val="0972C6">
              <a:alpha val="50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cxnSp>
        <p:nvCxnSpPr>
          <p:cNvPr id="47" name="Straight Connector 46">
            <a:extLst>
              <a:ext uri="{FF2B5EF4-FFF2-40B4-BE49-F238E27FC236}">
                <a16:creationId xmlns:a16="http://schemas.microsoft.com/office/drawing/2014/main" id="{9534D387-9BA6-F044-F425-55AF9D861B63}"/>
              </a:ext>
            </a:extLst>
          </p:cNvPr>
          <p:cNvCxnSpPr>
            <a:cxnSpLocks/>
          </p:cNvCxnSpPr>
          <p:nvPr/>
        </p:nvCxnSpPr>
        <p:spPr>
          <a:xfrm>
            <a:off x="1153901" y="2679407"/>
            <a:ext cx="4824112" cy="0"/>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394834FD-59DD-F577-100E-8BCBE79F2497}"/>
              </a:ext>
            </a:extLst>
          </p:cNvPr>
          <p:cNvSpPr/>
          <p:nvPr/>
        </p:nvSpPr>
        <p:spPr>
          <a:xfrm>
            <a:off x="2517981" y="2344240"/>
            <a:ext cx="316715" cy="326240"/>
          </a:xfrm>
          <a:prstGeom prst="rect">
            <a:avLst/>
          </a:prstGeom>
          <a:solidFill>
            <a:srgbClr val="0972C6">
              <a:alpha val="50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49" name="Rectangle 48">
            <a:extLst>
              <a:ext uri="{FF2B5EF4-FFF2-40B4-BE49-F238E27FC236}">
                <a16:creationId xmlns:a16="http://schemas.microsoft.com/office/drawing/2014/main" id="{824241C3-BAEB-AAF4-128A-3722C870E463}"/>
              </a:ext>
            </a:extLst>
          </p:cNvPr>
          <p:cNvSpPr/>
          <p:nvPr/>
        </p:nvSpPr>
        <p:spPr>
          <a:xfrm>
            <a:off x="2834696" y="2337223"/>
            <a:ext cx="1206134" cy="327170"/>
          </a:xfrm>
          <a:prstGeom prst="rect">
            <a:avLst/>
          </a:prstGeom>
          <a:solidFill>
            <a:srgbClr val="0972C6">
              <a:alpha val="50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50" name="Rectangle 49">
            <a:extLst>
              <a:ext uri="{FF2B5EF4-FFF2-40B4-BE49-F238E27FC236}">
                <a16:creationId xmlns:a16="http://schemas.microsoft.com/office/drawing/2014/main" id="{E14B4C16-EEF0-E55F-AA40-17B32611BC63}"/>
              </a:ext>
            </a:extLst>
          </p:cNvPr>
          <p:cNvSpPr/>
          <p:nvPr/>
        </p:nvSpPr>
        <p:spPr>
          <a:xfrm>
            <a:off x="4048589" y="2346090"/>
            <a:ext cx="358102" cy="322538"/>
          </a:xfrm>
          <a:prstGeom prst="rect">
            <a:avLst/>
          </a:prstGeom>
          <a:solidFill>
            <a:srgbClr val="0972C6">
              <a:alpha val="50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51" name="Rectangle 50">
            <a:extLst>
              <a:ext uri="{FF2B5EF4-FFF2-40B4-BE49-F238E27FC236}">
                <a16:creationId xmlns:a16="http://schemas.microsoft.com/office/drawing/2014/main" id="{126BDA98-B112-1BDD-02BE-F69F852EC17D}"/>
              </a:ext>
            </a:extLst>
          </p:cNvPr>
          <p:cNvSpPr/>
          <p:nvPr/>
        </p:nvSpPr>
        <p:spPr>
          <a:xfrm>
            <a:off x="4406692" y="2339479"/>
            <a:ext cx="819090" cy="335761"/>
          </a:xfrm>
          <a:prstGeom prst="rect">
            <a:avLst/>
          </a:prstGeom>
          <a:solidFill>
            <a:srgbClr val="0972C6">
              <a:alpha val="50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52" name="Rectangle 51">
            <a:extLst>
              <a:ext uri="{FF2B5EF4-FFF2-40B4-BE49-F238E27FC236}">
                <a16:creationId xmlns:a16="http://schemas.microsoft.com/office/drawing/2014/main" id="{D4C460D2-A0CA-3FD8-B907-FD5A906A7BB7}"/>
              </a:ext>
            </a:extLst>
          </p:cNvPr>
          <p:cNvSpPr/>
          <p:nvPr/>
        </p:nvSpPr>
        <p:spPr>
          <a:xfrm>
            <a:off x="5233541" y="2344240"/>
            <a:ext cx="257811" cy="336956"/>
          </a:xfrm>
          <a:prstGeom prst="rect">
            <a:avLst/>
          </a:prstGeom>
          <a:solidFill>
            <a:srgbClr val="0972C6">
              <a:alpha val="50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53" name="Rectangle 52">
            <a:extLst>
              <a:ext uri="{FF2B5EF4-FFF2-40B4-BE49-F238E27FC236}">
                <a16:creationId xmlns:a16="http://schemas.microsoft.com/office/drawing/2014/main" id="{2F245D8B-8FBB-1E7C-446A-AADFCD0E1D8D}"/>
              </a:ext>
            </a:extLst>
          </p:cNvPr>
          <p:cNvSpPr/>
          <p:nvPr/>
        </p:nvSpPr>
        <p:spPr>
          <a:xfrm>
            <a:off x="5491353" y="2339478"/>
            <a:ext cx="487088" cy="335764"/>
          </a:xfrm>
          <a:prstGeom prst="rect">
            <a:avLst/>
          </a:prstGeom>
          <a:solidFill>
            <a:srgbClr val="0972C6">
              <a:alpha val="50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54" name="Content Placeholder 5">
            <a:extLst>
              <a:ext uri="{FF2B5EF4-FFF2-40B4-BE49-F238E27FC236}">
                <a16:creationId xmlns:a16="http://schemas.microsoft.com/office/drawing/2014/main" id="{8102A697-EACC-5196-C000-5DA3F554BC7A}"/>
              </a:ext>
            </a:extLst>
          </p:cNvPr>
          <p:cNvSpPr txBox="1"/>
          <p:nvPr/>
        </p:nvSpPr>
        <p:spPr>
          <a:xfrm>
            <a:off x="8142682" y="1379031"/>
            <a:ext cx="3779921" cy="123623"/>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Font typeface="Wingdings 3" panose="05040102010807070707" pitchFamily="18" charset="2"/>
              <a:buNone/>
            </a:pPr>
            <a:r>
              <a:rPr lang="en-US" dirty="0"/>
              <a:t>Position = initial + rate*60</a:t>
            </a:r>
          </a:p>
        </p:txBody>
      </p:sp>
      <p:cxnSp>
        <p:nvCxnSpPr>
          <p:cNvPr id="55" name="Straight Connector 54">
            <a:extLst>
              <a:ext uri="{FF2B5EF4-FFF2-40B4-BE49-F238E27FC236}">
                <a16:creationId xmlns:a16="http://schemas.microsoft.com/office/drawing/2014/main" id="{80F89C33-6D85-6536-F7F8-56951D7A5806}"/>
              </a:ext>
            </a:extLst>
          </p:cNvPr>
          <p:cNvCxnSpPr/>
          <p:nvPr/>
        </p:nvCxnSpPr>
        <p:spPr>
          <a:xfrm flipH="1">
            <a:off x="8046118" y="863444"/>
            <a:ext cx="0" cy="5100637"/>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2867E73-E8FA-BE86-27AF-DE58F79C947E}"/>
              </a:ext>
            </a:extLst>
          </p:cNvPr>
          <p:cNvSpPr txBox="1"/>
          <p:nvPr/>
        </p:nvSpPr>
        <p:spPr>
          <a:xfrm>
            <a:off x="8288594" y="3991897"/>
            <a:ext cx="3634008" cy="2031325"/>
          </a:xfrm>
          <a:prstGeom prst="rect">
            <a:avLst/>
          </a:prstGeom>
          <a:noFill/>
        </p:spPr>
        <p:txBody>
          <a:bodyPr wrap="square" rtlCol="0">
            <a:spAutoFit/>
          </a:bodyPr>
          <a:lstStyle/>
          <a:p>
            <a:pPr algn="just"/>
            <a:r>
              <a:rPr lang="en-IN" dirty="0">
                <a:latin typeface="Palatino Linotype" panose="02040502050505030304" pitchFamily="18" charset="0"/>
              </a:rPr>
              <a:t>Reads the stream of char making up the source program &amp; group the char into meaningful sequences called lexeme.</a:t>
            </a:r>
          </a:p>
          <a:p>
            <a:pPr algn="just"/>
            <a:endParaRPr lang="en-IN" dirty="0">
              <a:latin typeface="Palatino Linotype" panose="02040502050505030304" pitchFamily="18" charset="0"/>
            </a:endParaRPr>
          </a:p>
          <a:p>
            <a:pPr algn="just"/>
            <a:r>
              <a:rPr lang="en-IN" dirty="0">
                <a:latin typeface="Palatino Linotype" panose="02040502050505030304" pitchFamily="18" charset="0"/>
              </a:rPr>
              <a:t>Lexical </a:t>
            </a:r>
            <a:r>
              <a:rPr lang="en-IN" dirty="0" err="1">
                <a:latin typeface="Palatino Linotype" panose="02040502050505030304" pitchFamily="18" charset="0"/>
              </a:rPr>
              <a:t>analyzer</a:t>
            </a:r>
            <a:r>
              <a:rPr lang="en-IN" dirty="0">
                <a:latin typeface="Palatino Linotype" panose="02040502050505030304" pitchFamily="18" charset="0"/>
              </a:rPr>
              <a:t> represents the lexeme in the form of tokens.</a:t>
            </a:r>
          </a:p>
        </p:txBody>
      </p:sp>
    </p:spTree>
    <p:extLst>
      <p:ext uri="{BB962C8B-B14F-4D97-AF65-F5344CB8AC3E}">
        <p14:creationId xmlns:p14="http://schemas.microsoft.com/office/powerpoint/2010/main" val="2644313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inVertical)">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dur="1" fill="hold" nodeType="clickEffect">
                                  <p:stCondLst>
                                    <p:cond delay="0"/>
                                  </p:stCondLst>
                                  <p:childTnLst>
                                    <p:set>
                                      <p:cBhvr>
                                        <p:cTn id="19" dur="1" fill="hold">
                                          <p:stCondLst>
                                            <p:cond delay="0"/>
                                          </p:stCondLst>
                                        </p:cTn>
                                        <p:tgtEl>
                                          <p:spTgt spid="34">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dur="500" fill="hold" nodeType="clickEffect">
                                  <p:stCondLst>
                                    <p:cond delay="0"/>
                                  </p:stCondLst>
                                  <p:childTnLst>
                                    <p:set>
                                      <p:cBhvr>
                                        <p:cTn id="23" dur="1" fill="hold">
                                          <p:stCondLst>
                                            <p:cond delay="0"/>
                                          </p:stCondLst>
                                        </p:cTn>
                                        <p:tgtEl>
                                          <p:spTgt spid="47"/>
                                        </p:tgtEl>
                                        <p:attrNameLst>
                                          <p:attrName>style.visibility</p:attrName>
                                        </p:attrNameLst>
                                      </p:cBhvr>
                                      <p:to>
                                        <p:strVal val="visible"/>
                                      </p:to>
                                    </p:set>
                                    <p:animEffect transition="in" filter="wipe(left)">
                                      <p:cBhvr>
                                        <p:cTn id="24" dur="500"/>
                                        <p:tgtEl>
                                          <p:spTgt spid="47"/>
                                        </p:tgtEl>
                                      </p:cBhvr>
                                    </p:animEffect>
                                  </p:childTnLst>
                                </p:cTn>
                              </p:par>
                              <p:par>
                                <p:cTn id="25" presetID="22" presetClass="entr" presetSubtype="8" dur="500" fill="hold" grpId="0" nodeType="with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wipe(left)">
                                      <p:cBhvr>
                                        <p:cTn id="27" dur="500"/>
                                        <p:tgtEl>
                                          <p:spTgt spid="5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dur="50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wipe(up)">
                                      <p:cBhvr>
                                        <p:cTn id="32" dur="500"/>
                                        <p:tgtEl>
                                          <p:spTgt spid="35"/>
                                        </p:tgtEl>
                                      </p:cBhvr>
                                    </p:animEffect>
                                  </p:childTnLst>
                                </p:cTn>
                              </p:par>
                              <p:par>
                                <p:cTn id="33" presetID="22" presetClass="entr" presetSubtype="1" dur="500" fill="hold" nodeType="with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wipe(up)">
                                      <p:cBhvr>
                                        <p:cTn id="35" dur="500"/>
                                        <p:tgtEl>
                                          <p:spTgt spid="3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dur="500" fill="hold" grpId="0" nodeType="click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wipe(left)">
                                      <p:cBhvr>
                                        <p:cTn id="40" dur="500"/>
                                        <p:tgtEl>
                                          <p:spTgt spid="39"/>
                                        </p:tgtEl>
                                      </p:cBhvr>
                                    </p:animEffect>
                                  </p:childTnLst>
                                </p:cTn>
                              </p:par>
                              <p:par>
                                <p:cTn id="41" presetID="22" presetClass="entr" presetSubtype="8" dur="500" fill="hold" grpId="0" nodeType="withEffect">
                                  <p:stCondLst>
                                    <p:cond delay="0"/>
                                  </p:stCondLst>
                                  <p:childTnLst>
                                    <p:set>
                                      <p:cBhvr>
                                        <p:cTn id="42" dur="1" fill="hold">
                                          <p:stCondLst>
                                            <p:cond delay="0"/>
                                          </p:stCondLst>
                                        </p:cTn>
                                        <p:tgtEl>
                                          <p:spTgt spid="46"/>
                                        </p:tgtEl>
                                        <p:attrNameLst>
                                          <p:attrName>style.visibility</p:attrName>
                                        </p:attrNameLst>
                                      </p:cBhvr>
                                      <p:to>
                                        <p:strVal val="visible"/>
                                      </p:to>
                                    </p:set>
                                    <p:animEffect transition="in" filter="wipe(left)">
                                      <p:cBhvr>
                                        <p:cTn id="43" dur="500"/>
                                        <p:tgtEl>
                                          <p:spTgt spid="46"/>
                                        </p:tgtEl>
                                      </p:cBhvr>
                                    </p:animEffect>
                                  </p:childTnLst>
                                </p:cTn>
                              </p:par>
                              <p:par>
                                <p:cTn id="44" presetID="1" presetClass="entr" presetSubtype="0" dur="1" fill="hold" nodeType="withEffect">
                                  <p:stCondLst>
                                    <p:cond delay="0"/>
                                  </p:stCondLst>
                                  <p:childTnLst>
                                    <p:set>
                                      <p:cBhvr>
                                        <p:cTn id="45" dur="1" fill="hold">
                                          <p:stCondLst>
                                            <p:cond delay="0"/>
                                          </p:stCondLst>
                                        </p:cTn>
                                        <p:tgtEl>
                                          <p:spTgt spid="34">
                                            <p:txEl>
                                              <p:pRg st="3" end="3"/>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8" dur="500" fill="hold" grpId="0" nodeType="click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wipe(left)">
                                      <p:cBhvr>
                                        <p:cTn id="50" dur="500"/>
                                        <p:tgtEl>
                                          <p:spTgt spid="40"/>
                                        </p:tgtEl>
                                      </p:cBhvr>
                                    </p:animEffect>
                                  </p:childTnLst>
                                </p:cTn>
                              </p:par>
                              <p:par>
                                <p:cTn id="51" presetID="22" presetClass="entr" presetSubtype="8" dur="500" fill="hold" grpId="0" nodeType="withEffect">
                                  <p:stCondLst>
                                    <p:cond delay="0"/>
                                  </p:stCondLst>
                                  <p:childTnLst>
                                    <p:set>
                                      <p:cBhvr>
                                        <p:cTn id="52" dur="1" fill="hold">
                                          <p:stCondLst>
                                            <p:cond delay="0"/>
                                          </p:stCondLst>
                                        </p:cTn>
                                        <p:tgtEl>
                                          <p:spTgt spid="48"/>
                                        </p:tgtEl>
                                        <p:attrNameLst>
                                          <p:attrName>style.visibility</p:attrName>
                                        </p:attrNameLst>
                                      </p:cBhvr>
                                      <p:to>
                                        <p:strVal val="visible"/>
                                      </p:to>
                                    </p:set>
                                    <p:animEffect transition="in" filter="wipe(left)">
                                      <p:cBhvr>
                                        <p:cTn id="53" dur="500"/>
                                        <p:tgtEl>
                                          <p:spTgt spid="48"/>
                                        </p:tgtEl>
                                      </p:cBhvr>
                                    </p:animEffect>
                                  </p:childTnLst>
                                </p:cTn>
                              </p:par>
                              <p:par>
                                <p:cTn id="54" presetID="1" presetClass="exit" presetSubtype="0" dur="1" fill="hold" grpId="1" nodeType="withEffect">
                                  <p:stCondLst>
                                    <p:cond delay="0"/>
                                  </p:stCondLst>
                                  <p:childTnLst>
                                    <p:set>
                                      <p:cBhvr>
                                        <p:cTn id="55" dur="1" fill="hold">
                                          <p:stCondLst>
                                            <p:cond delay="0"/>
                                          </p:stCondLst>
                                        </p:cTn>
                                        <p:tgtEl>
                                          <p:spTgt spid="46"/>
                                        </p:tgtEl>
                                        <p:attrNameLst>
                                          <p:attrName>style.visibility</p:attrName>
                                        </p:attrNameLst>
                                      </p:cBhvr>
                                      <p:to>
                                        <p:strVal val="hidden"/>
                                      </p:to>
                                    </p:set>
                                  </p:childTnLst>
                                </p:cTn>
                              </p:par>
                              <p:par>
                                <p:cTn id="56" presetID="1" presetClass="entr" presetSubtype="0" dur="1" fill="hold" nodeType="withEffect">
                                  <p:stCondLst>
                                    <p:cond delay="0"/>
                                  </p:stCondLst>
                                  <p:childTnLst>
                                    <p:set>
                                      <p:cBhvr>
                                        <p:cTn id="57" dur="1" fill="hold">
                                          <p:stCondLst>
                                            <p:cond delay="0"/>
                                          </p:stCondLst>
                                        </p:cTn>
                                        <p:tgtEl>
                                          <p:spTgt spid="34">
                                            <p:txEl>
                                              <p:pRg st="4" end="4"/>
                                            </p:txEl>
                                          </p:spTgt>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8" dur="500" fill="hold" grpId="0" nodeType="click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wipe(left)">
                                      <p:cBhvr>
                                        <p:cTn id="62" dur="500"/>
                                        <p:tgtEl>
                                          <p:spTgt spid="41"/>
                                        </p:tgtEl>
                                      </p:cBhvr>
                                    </p:animEffect>
                                  </p:childTnLst>
                                </p:cTn>
                              </p:par>
                              <p:par>
                                <p:cTn id="63" presetID="22" presetClass="entr" presetSubtype="8" dur="500" fill="hold" grpId="0" nodeType="withEffect">
                                  <p:stCondLst>
                                    <p:cond delay="0"/>
                                  </p:stCondLst>
                                  <p:childTnLst>
                                    <p:set>
                                      <p:cBhvr>
                                        <p:cTn id="64" dur="1" fill="hold">
                                          <p:stCondLst>
                                            <p:cond delay="0"/>
                                          </p:stCondLst>
                                        </p:cTn>
                                        <p:tgtEl>
                                          <p:spTgt spid="49"/>
                                        </p:tgtEl>
                                        <p:attrNameLst>
                                          <p:attrName>style.visibility</p:attrName>
                                        </p:attrNameLst>
                                      </p:cBhvr>
                                      <p:to>
                                        <p:strVal val="visible"/>
                                      </p:to>
                                    </p:set>
                                    <p:animEffect transition="in" filter="wipe(left)">
                                      <p:cBhvr>
                                        <p:cTn id="65" dur="500"/>
                                        <p:tgtEl>
                                          <p:spTgt spid="49"/>
                                        </p:tgtEl>
                                      </p:cBhvr>
                                    </p:animEffect>
                                  </p:childTnLst>
                                </p:cTn>
                              </p:par>
                              <p:par>
                                <p:cTn id="66" presetID="1" presetClass="exit" presetSubtype="0" dur="1" fill="hold" grpId="1" nodeType="withEffect">
                                  <p:stCondLst>
                                    <p:cond delay="0"/>
                                  </p:stCondLst>
                                  <p:childTnLst>
                                    <p:set>
                                      <p:cBhvr>
                                        <p:cTn id="67" dur="1" fill="hold">
                                          <p:stCondLst>
                                            <p:cond delay="0"/>
                                          </p:stCondLst>
                                        </p:cTn>
                                        <p:tgtEl>
                                          <p:spTgt spid="48"/>
                                        </p:tgtEl>
                                        <p:attrNameLst>
                                          <p:attrName>style.visibility</p:attrName>
                                        </p:attrNameLst>
                                      </p:cBhvr>
                                      <p:to>
                                        <p:strVal val="hidden"/>
                                      </p:to>
                                    </p:set>
                                  </p:childTnLst>
                                </p:cTn>
                              </p:par>
                              <p:par>
                                <p:cTn id="68" presetID="1" presetClass="entr" presetSubtype="0" dur="1" fill="hold" nodeType="withEffect">
                                  <p:stCondLst>
                                    <p:cond delay="0"/>
                                  </p:stCondLst>
                                  <p:childTnLst>
                                    <p:set>
                                      <p:cBhvr>
                                        <p:cTn id="69" dur="1" fill="hold">
                                          <p:stCondLst>
                                            <p:cond delay="0"/>
                                          </p:stCondLst>
                                        </p:cTn>
                                        <p:tgtEl>
                                          <p:spTgt spid="34">
                                            <p:txEl>
                                              <p:pRg st="5" end="5"/>
                                            </p:txEl>
                                          </p:spTgt>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8" dur="500" fill="hold" grpId="0" nodeType="clickEffect">
                                  <p:stCondLst>
                                    <p:cond delay="0"/>
                                  </p:stCondLst>
                                  <p:childTnLst>
                                    <p:set>
                                      <p:cBhvr>
                                        <p:cTn id="73" dur="1" fill="hold">
                                          <p:stCondLst>
                                            <p:cond delay="0"/>
                                          </p:stCondLst>
                                        </p:cTn>
                                        <p:tgtEl>
                                          <p:spTgt spid="42"/>
                                        </p:tgtEl>
                                        <p:attrNameLst>
                                          <p:attrName>style.visibility</p:attrName>
                                        </p:attrNameLst>
                                      </p:cBhvr>
                                      <p:to>
                                        <p:strVal val="visible"/>
                                      </p:to>
                                    </p:set>
                                    <p:animEffect transition="in" filter="wipe(left)">
                                      <p:cBhvr>
                                        <p:cTn id="74" dur="500"/>
                                        <p:tgtEl>
                                          <p:spTgt spid="42"/>
                                        </p:tgtEl>
                                      </p:cBhvr>
                                    </p:animEffect>
                                  </p:childTnLst>
                                </p:cTn>
                              </p:par>
                              <p:par>
                                <p:cTn id="75" presetID="22" presetClass="entr" presetSubtype="8" dur="500" fill="hold" grpId="0" nodeType="withEffect">
                                  <p:stCondLst>
                                    <p:cond delay="0"/>
                                  </p:stCondLst>
                                  <p:childTnLst>
                                    <p:set>
                                      <p:cBhvr>
                                        <p:cTn id="76" dur="1" fill="hold">
                                          <p:stCondLst>
                                            <p:cond delay="0"/>
                                          </p:stCondLst>
                                        </p:cTn>
                                        <p:tgtEl>
                                          <p:spTgt spid="50"/>
                                        </p:tgtEl>
                                        <p:attrNameLst>
                                          <p:attrName>style.visibility</p:attrName>
                                        </p:attrNameLst>
                                      </p:cBhvr>
                                      <p:to>
                                        <p:strVal val="visible"/>
                                      </p:to>
                                    </p:set>
                                    <p:animEffect transition="in" filter="wipe(left)">
                                      <p:cBhvr>
                                        <p:cTn id="77" dur="500"/>
                                        <p:tgtEl>
                                          <p:spTgt spid="50"/>
                                        </p:tgtEl>
                                      </p:cBhvr>
                                    </p:animEffect>
                                  </p:childTnLst>
                                </p:cTn>
                              </p:par>
                              <p:par>
                                <p:cTn id="78" presetID="1" presetClass="exit" presetSubtype="0" dur="1" fill="hold" grpId="1" nodeType="withEffect">
                                  <p:stCondLst>
                                    <p:cond delay="0"/>
                                  </p:stCondLst>
                                  <p:childTnLst>
                                    <p:set>
                                      <p:cBhvr>
                                        <p:cTn id="79" dur="1" fill="hold">
                                          <p:stCondLst>
                                            <p:cond delay="0"/>
                                          </p:stCondLst>
                                        </p:cTn>
                                        <p:tgtEl>
                                          <p:spTgt spid="49"/>
                                        </p:tgtEl>
                                        <p:attrNameLst>
                                          <p:attrName>style.visibility</p:attrName>
                                        </p:attrNameLst>
                                      </p:cBhvr>
                                      <p:to>
                                        <p:strVal val="hidden"/>
                                      </p:to>
                                    </p:set>
                                  </p:childTnLst>
                                </p:cTn>
                              </p:par>
                              <p:par>
                                <p:cTn id="80" presetID="1" presetClass="entr" presetSubtype="0" dur="1" fill="hold" nodeType="withEffect">
                                  <p:stCondLst>
                                    <p:cond delay="0"/>
                                  </p:stCondLst>
                                  <p:childTnLst>
                                    <p:set>
                                      <p:cBhvr>
                                        <p:cTn id="81" dur="1" fill="hold">
                                          <p:stCondLst>
                                            <p:cond delay="0"/>
                                          </p:stCondLst>
                                        </p:cTn>
                                        <p:tgtEl>
                                          <p:spTgt spid="34">
                                            <p:txEl>
                                              <p:pRg st="6" end="6"/>
                                            </p:txEl>
                                          </p:spTgt>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22" presetClass="entr" presetSubtype="8" dur="500" fill="hold" grpId="0" nodeType="clickEffect">
                                  <p:stCondLst>
                                    <p:cond delay="0"/>
                                  </p:stCondLst>
                                  <p:childTnLst>
                                    <p:set>
                                      <p:cBhvr>
                                        <p:cTn id="85" dur="1" fill="hold">
                                          <p:stCondLst>
                                            <p:cond delay="0"/>
                                          </p:stCondLst>
                                        </p:cTn>
                                        <p:tgtEl>
                                          <p:spTgt spid="51"/>
                                        </p:tgtEl>
                                        <p:attrNameLst>
                                          <p:attrName>style.visibility</p:attrName>
                                        </p:attrNameLst>
                                      </p:cBhvr>
                                      <p:to>
                                        <p:strVal val="visible"/>
                                      </p:to>
                                    </p:set>
                                    <p:animEffect transition="in" filter="wipe(left)">
                                      <p:cBhvr>
                                        <p:cTn id="86" dur="500"/>
                                        <p:tgtEl>
                                          <p:spTgt spid="51"/>
                                        </p:tgtEl>
                                      </p:cBhvr>
                                    </p:animEffect>
                                  </p:childTnLst>
                                </p:cTn>
                              </p:par>
                              <p:par>
                                <p:cTn id="87" presetID="1" presetClass="exit" presetSubtype="0" dur="1" fill="hold" grpId="1" nodeType="withEffect">
                                  <p:stCondLst>
                                    <p:cond delay="0"/>
                                  </p:stCondLst>
                                  <p:childTnLst>
                                    <p:set>
                                      <p:cBhvr>
                                        <p:cTn id="88" dur="1" fill="hold">
                                          <p:stCondLst>
                                            <p:cond delay="0"/>
                                          </p:stCondLst>
                                        </p:cTn>
                                        <p:tgtEl>
                                          <p:spTgt spid="50"/>
                                        </p:tgtEl>
                                        <p:attrNameLst>
                                          <p:attrName>style.visibility</p:attrName>
                                        </p:attrNameLst>
                                      </p:cBhvr>
                                      <p:to>
                                        <p:strVal val="hidden"/>
                                      </p:to>
                                    </p:set>
                                  </p:childTnLst>
                                </p:cTn>
                              </p:par>
                              <p:par>
                                <p:cTn id="89" presetID="1" presetClass="entr" presetSubtype="0" dur="1" fill="hold" nodeType="withEffect">
                                  <p:stCondLst>
                                    <p:cond delay="0"/>
                                  </p:stCondLst>
                                  <p:childTnLst>
                                    <p:set>
                                      <p:cBhvr>
                                        <p:cTn id="90" dur="1" fill="hold">
                                          <p:stCondLst>
                                            <p:cond delay="0"/>
                                          </p:stCondLst>
                                        </p:cTn>
                                        <p:tgtEl>
                                          <p:spTgt spid="34">
                                            <p:txEl>
                                              <p:pRg st="7" end="7"/>
                                            </p:txEl>
                                          </p:spTgt>
                                        </p:tgtEl>
                                        <p:attrNameLst>
                                          <p:attrName>style.visibility</p:attrName>
                                        </p:attrNameLst>
                                      </p:cBhvr>
                                      <p:to>
                                        <p:strVal val="visible"/>
                                      </p:to>
                                    </p:set>
                                  </p:childTnLst>
                                </p:cTn>
                              </p:par>
                              <p:par>
                                <p:cTn id="91" presetID="1" presetClass="entr" presetSubtype="0" dur="1" fill="hold" grpId="0" nodeType="withEffect">
                                  <p:stCondLst>
                                    <p:cond delay="0"/>
                                  </p:stCondLst>
                                  <p:childTnLst>
                                    <p:set>
                                      <p:cBhvr>
                                        <p:cTn id="92" dur="1" fill="hold">
                                          <p:stCondLst>
                                            <p:cond delay="0"/>
                                          </p:stCondLst>
                                        </p:cTn>
                                        <p:tgtEl>
                                          <p:spTgt spid="4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22" presetClass="entr" presetSubtype="8" dur="500" fill="hold" grpId="0" nodeType="clickEffect">
                                  <p:stCondLst>
                                    <p:cond delay="0"/>
                                  </p:stCondLst>
                                  <p:childTnLst>
                                    <p:set>
                                      <p:cBhvr>
                                        <p:cTn id="96" dur="1" fill="hold">
                                          <p:stCondLst>
                                            <p:cond delay="0"/>
                                          </p:stCondLst>
                                        </p:cTn>
                                        <p:tgtEl>
                                          <p:spTgt spid="52"/>
                                        </p:tgtEl>
                                        <p:attrNameLst>
                                          <p:attrName>style.visibility</p:attrName>
                                        </p:attrNameLst>
                                      </p:cBhvr>
                                      <p:to>
                                        <p:strVal val="visible"/>
                                      </p:to>
                                    </p:set>
                                    <p:animEffect transition="in" filter="wipe(left)">
                                      <p:cBhvr>
                                        <p:cTn id="97" dur="500"/>
                                        <p:tgtEl>
                                          <p:spTgt spid="52"/>
                                        </p:tgtEl>
                                      </p:cBhvr>
                                    </p:animEffect>
                                  </p:childTnLst>
                                </p:cTn>
                              </p:par>
                              <p:par>
                                <p:cTn id="98" presetID="1" presetClass="exit" presetSubtype="0" dur="1" fill="hold" grpId="1" nodeType="withEffect">
                                  <p:stCondLst>
                                    <p:cond delay="0"/>
                                  </p:stCondLst>
                                  <p:childTnLst>
                                    <p:set>
                                      <p:cBhvr>
                                        <p:cTn id="99" dur="1" fill="hold">
                                          <p:stCondLst>
                                            <p:cond delay="0"/>
                                          </p:stCondLst>
                                        </p:cTn>
                                        <p:tgtEl>
                                          <p:spTgt spid="51"/>
                                        </p:tgtEl>
                                        <p:attrNameLst>
                                          <p:attrName>style.visibility</p:attrName>
                                        </p:attrNameLst>
                                      </p:cBhvr>
                                      <p:to>
                                        <p:strVal val="hidden"/>
                                      </p:to>
                                    </p:set>
                                  </p:childTnLst>
                                </p:cTn>
                              </p:par>
                              <p:par>
                                <p:cTn id="100" presetID="1" presetClass="entr" presetSubtype="0" dur="1" fill="hold" nodeType="withEffect">
                                  <p:stCondLst>
                                    <p:cond delay="0"/>
                                  </p:stCondLst>
                                  <p:childTnLst>
                                    <p:set>
                                      <p:cBhvr>
                                        <p:cTn id="101" dur="1" fill="hold">
                                          <p:stCondLst>
                                            <p:cond delay="0"/>
                                          </p:stCondLst>
                                        </p:cTn>
                                        <p:tgtEl>
                                          <p:spTgt spid="34">
                                            <p:txEl>
                                              <p:pRg st="8" end="8"/>
                                            </p:txEl>
                                          </p:spTgt>
                                        </p:tgtEl>
                                        <p:attrNameLst>
                                          <p:attrName>style.visibility</p:attrName>
                                        </p:attrNameLst>
                                      </p:cBhvr>
                                      <p:to>
                                        <p:strVal val="visible"/>
                                      </p:to>
                                    </p:set>
                                  </p:childTnLst>
                                </p:cTn>
                              </p:par>
                              <p:par>
                                <p:cTn id="102" presetID="1" presetClass="entr" presetSubtype="0" dur="1" fill="hold" grpId="0" nodeType="withEffect">
                                  <p:stCondLst>
                                    <p:cond delay="0"/>
                                  </p:stCondLst>
                                  <p:childTnLst>
                                    <p:set>
                                      <p:cBhvr>
                                        <p:cTn id="103" dur="1" fill="hold">
                                          <p:stCondLst>
                                            <p:cond delay="0"/>
                                          </p:stCondLst>
                                        </p:cTn>
                                        <p:tgtEl>
                                          <p:spTgt spid="44"/>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22" presetClass="entr" presetSubtype="8" dur="500" fill="hold" grpId="0" nodeType="clickEffect">
                                  <p:stCondLst>
                                    <p:cond delay="0"/>
                                  </p:stCondLst>
                                  <p:childTnLst>
                                    <p:set>
                                      <p:cBhvr>
                                        <p:cTn id="107" dur="1" fill="hold">
                                          <p:stCondLst>
                                            <p:cond delay="0"/>
                                          </p:stCondLst>
                                        </p:cTn>
                                        <p:tgtEl>
                                          <p:spTgt spid="53"/>
                                        </p:tgtEl>
                                        <p:attrNameLst>
                                          <p:attrName>style.visibility</p:attrName>
                                        </p:attrNameLst>
                                      </p:cBhvr>
                                      <p:to>
                                        <p:strVal val="visible"/>
                                      </p:to>
                                    </p:set>
                                    <p:animEffect transition="in" filter="wipe(left)">
                                      <p:cBhvr>
                                        <p:cTn id="108" dur="500"/>
                                        <p:tgtEl>
                                          <p:spTgt spid="53"/>
                                        </p:tgtEl>
                                      </p:cBhvr>
                                    </p:animEffect>
                                  </p:childTnLst>
                                </p:cTn>
                              </p:par>
                              <p:par>
                                <p:cTn id="109" presetID="1" presetClass="exit" presetSubtype="0" dur="1" fill="hold" grpId="1" nodeType="withEffect">
                                  <p:stCondLst>
                                    <p:cond delay="0"/>
                                  </p:stCondLst>
                                  <p:childTnLst>
                                    <p:set>
                                      <p:cBhvr>
                                        <p:cTn id="110" dur="1" fill="hold">
                                          <p:stCondLst>
                                            <p:cond delay="0"/>
                                          </p:stCondLst>
                                        </p:cTn>
                                        <p:tgtEl>
                                          <p:spTgt spid="52"/>
                                        </p:tgtEl>
                                        <p:attrNameLst>
                                          <p:attrName>style.visibility</p:attrName>
                                        </p:attrNameLst>
                                      </p:cBhvr>
                                      <p:to>
                                        <p:strVal val="hidden"/>
                                      </p:to>
                                    </p:set>
                                  </p:childTnLst>
                                </p:cTn>
                              </p:par>
                              <p:par>
                                <p:cTn id="111" presetID="1" presetClass="entr" presetSubtype="0" dur="1" fill="hold" nodeType="withEffect">
                                  <p:stCondLst>
                                    <p:cond delay="0"/>
                                  </p:stCondLst>
                                  <p:childTnLst>
                                    <p:set>
                                      <p:cBhvr>
                                        <p:cTn id="112" dur="1" fill="hold">
                                          <p:stCondLst>
                                            <p:cond delay="0"/>
                                          </p:stCondLst>
                                        </p:cTn>
                                        <p:tgtEl>
                                          <p:spTgt spid="34">
                                            <p:txEl>
                                              <p:pRg st="9" end="9"/>
                                            </p:txEl>
                                          </p:spTgt>
                                        </p:tgtEl>
                                        <p:attrNameLst>
                                          <p:attrName>style.visibility</p:attrName>
                                        </p:attrNameLst>
                                      </p:cBhvr>
                                      <p:to>
                                        <p:strVal val="visible"/>
                                      </p:to>
                                    </p:set>
                                  </p:childTnLst>
                                </p:cTn>
                              </p:par>
                              <p:par>
                                <p:cTn id="113" presetID="1" presetClass="entr" presetSubtype="0" dur="1" fill="hold" grpId="0" nodeType="withEffect">
                                  <p:stCondLst>
                                    <p:cond delay="0"/>
                                  </p:stCondLst>
                                  <p:childTnLst>
                                    <p:set>
                                      <p:cBhvr>
                                        <p:cTn id="11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P spid="42" grpId="0"/>
      <p:bldP spid="43" grpId="0"/>
      <p:bldP spid="44" grpId="0"/>
      <p:bldP spid="45" grpId="0"/>
      <p:bldP spid="46" grpId="0" animBg="1"/>
      <p:bldP spid="46" grpId="1" animBg="1"/>
      <p:bldP spid="48" grpId="0" animBg="1"/>
      <p:bldP spid="48" grpId="1" animBg="1"/>
      <p:bldP spid="49" grpId="0" animBg="1"/>
      <p:bldP spid="49" grpId="1" animBg="1"/>
      <p:bldP spid="50" grpId="0" animBg="1"/>
      <p:bldP spid="50" grpId="1" animBg="1"/>
      <p:bldP spid="51" grpId="0" animBg="1"/>
      <p:bldP spid="51" grpId="1" animBg="1"/>
      <p:bldP spid="52" grpId="0" animBg="1"/>
      <p:bldP spid="52" grpId="1" animBg="1"/>
      <p:bldP spid="53" grpId="0" animBg="1"/>
      <p:bldP spid="54" grpId="0"/>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35BFF-9D22-245E-BF06-8EB66E7F9A8D}"/>
              </a:ext>
            </a:extLst>
          </p:cNvPr>
          <p:cNvSpPr>
            <a:spLocks noGrp="1"/>
          </p:cNvSpPr>
          <p:nvPr>
            <p:ph type="title"/>
          </p:nvPr>
        </p:nvSpPr>
        <p:spPr>
          <a:xfrm>
            <a:off x="838200" y="365125"/>
            <a:ext cx="10515600" cy="888307"/>
          </a:xfrm>
        </p:spPr>
        <p:txBody>
          <a:bodyPr/>
          <a:lstStyle/>
          <a:p>
            <a:r>
              <a:rPr lang="en-US" dirty="0"/>
              <a:t>Phases of Compiler</a:t>
            </a:r>
            <a:endParaRPr lang="en-IN" dirty="0"/>
          </a:p>
        </p:txBody>
      </p:sp>
      <p:sp>
        <p:nvSpPr>
          <p:cNvPr id="3" name="Content Placeholder 2">
            <a:extLst>
              <a:ext uri="{FF2B5EF4-FFF2-40B4-BE49-F238E27FC236}">
                <a16:creationId xmlns:a16="http://schemas.microsoft.com/office/drawing/2014/main" id="{39069AF9-D5E8-00EE-73CC-2BED72D7162B}"/>
              </a:ext>
            </a:extLst>
          </p:cNvPr>
          <p:cNvSpPr>
            <a:spLocks noGrp="1"/>
          </p:cNvSpPr>
          <p:nvPr>
            <p:ph idx="1"/>
          </p:nvPr>
        </p:nvSpPr>
        <p:spPr/>
        <p:txBody>
          <a:bodyPr/>
          <a:lstStyle/>
          <a:p>
            <a:endParaRPr lang="en-IN"/>
          </a:p>
        </p:txBody>
      </p:sp>
      <p:sp>
        <p:nvSpPr>
          <p:cNvPr id="47" name="Rectangle 46">
            <a:extLst>
              <a:ext uri="{FF2B5EF4-FFF2-40B4-BE49-F238E27FC236}">
                <a16:creationId xmlns:a16="http://schemas.microsoft.com/office/drawing/2014/main" id="{2041851F-FC91-8466-DBF7-CB85DEFA8924}"/>
              </a:ext>
            </a:extLst>
          </p:cNvPr>
          <p:cNvSpPr/>
          <p:nvPr/>
        </p:nvSpPr>
        <p:spPr>
          <a:xfrm>
            <a:off x="1959825" y="1520825"/>
            <a:ext cx="2876043"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Compiler</a:t>
            </a:r>
          </a:p>
        </p:txBody>
      </p:sp>
      <p:sp>
        <p:nvSpPr>
          <p:cNvPr id="48" name="Rectangle 47">
            <a:extLst>
              <a:ext uri="{FF2B5EF4-FFF2-40B4-BE49-F238E27FC236}">
                <a16:creationId xmlns:a16="http://schemas.microsoft.com/office/drawing/2014/main" id="{54AAC764-6BFE-8123-7521-F1DA6CB4F3C3}"/>
              </a:ext>
            </a:extLst>
          </p:cNvPr>
          <p:cNvSpPr/>
          <p:nvPr/>
        </p:nvSpPr>
        <p:spPr>
          <a:xfrm>
            <a:off x="1993074" y="2921333"/>
            <a:ext cx="2057400"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Analysis phase</a:t>
            </a:r>
          </a:p>
        </p:txBody>
      </p:sp>
      <p:sp>
        <p:nvSpPr>
          <p:cNvPr id="49" name="Rectangle 48">
            <a:extLst>
              <a:ext uri="{FF2B5EF4-FFF2-40B4-BE49-F238E27FC236}">
                <a16:creationId xmlns:a16="http://schemas.microsoft.com/office/drawing/2014/main" id="{85A06193-A5FD-E682-DF60-186DCFC08E9D}"/>
              </a:ext>
            </a:extLst>
          </p:cNvPr>
          <p:cNvSpPr/>
          <p:nvPr/>
        </p:nvSpPr>
        <p:spPr>
          <a:xfrm>
            <a:off x="7722985" y="2871458"/>
            <a:ext cx="2057400"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Synthesis phase</a:t>
            </a:r>
          </a:p>
        </p:txBody>
      </p:sp>
      <p:cxnSp>
        <p:nvCxnSpPr>
          <p:cNvPr id="50" name="Straight Connector 49">
            <a:extLst>
              <a:ext uri="{FF2B5EF4-FFF2-40B4-BE49-F238E27FC236}">
                <a16:creationId xmlns:a16="http://schemas.microsoft.com/office/drawing/2014/main" id="{C5663AD3-8F74-99A7-9257-BDF38ABAB89B}"/>
              </a:ext>
            </a:extLst>
          </p:cNvPr>
          <p:cNvCxnSpPr/>
          <p:nvPr/>
        </p:nvCxnSpPr>
        <p:spPr>
          <a:xfrm flipH="1">
            <a:off x="2297874" y="3530934"/>
            <a:ext cx="0" cy="2324793"/>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ED2590B-927D-B6BF-587A-81B3CAA74E9D}"/>
              </a:ext>
            </a:extLst>
          </p:cNvPr>
          <p:cNvCxnSpPr/>
          <p:nvPr/>
        </p:nvCxnSpPr>
        <p:spPr>
          <a:xfrm flipH="1">
            <a:off x="8022061" y="3480200"/>
            <a:ext cx="0" cy="2324793"/>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E6055034-D21B-B685-7408-DDD3EE6BCBC7}"/>
              </a:ext>
            </a:extLst>
          </p:cNvPr>
          <p:cNvCxnSpPr/>
          <p:nvPr/>
        </p:nvCxnSpPr>
        <p:spPr>
          <a:xfrm>
            <a:off x="2297874" y="4103126"/>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F1A90200-8812-D4A7-4598-7CEA4246E348}"/>
              </a:ext>
            </a:extLst>
          </p:cNvPr>
          <p:cNvSpPr/>
          <p:nvPr/>
        </p:nvSpPr>
        <p:spPr>
          <a:xfrm>
            <a:off x="2713510" y="3778929"/>
            <a:ext cx="2022764"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Lexical analysis </a:t>
            </a:r>
          </a:p>
        </p:txBody>
      </p:sp>
      <p:cxnSp>
        <p:nvCxnSpPr>
          <p:cNvPr id="54" name="Straight Arrow Connector 53">
            <a:extLst>
              <a:ext uri="{FF2B5EF4-FFF2-40B4-BE49-F238E27FC236}">
                <a16:creationId xmlns:a16="http://schemas.microsoft.com/office/drawing/2014/main" id="{0828F612-88D9-D41A-778C-D1383A8711C8}"/>
              </a:ext>
            </a:extLst>
          </p:cNvPr>
          <p:cNvCxnSpPr/>
          <p:nvPr/>
        </p:nvCxnSpPr>
        <p:spPr>
          <a:xfrm>
            <a:off x="2286791" y="5009903"/>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C578CE73-AE81-9A9C-E72C-32F099F0EFCC}"/>
              </a:ext>
            </a:extLst>
          </p:cNvPr>
          <p:cNvSpPr/>
          <p:nvPr/>
        </p:nvSpPr>
        <p:spPr>
          <a:xfrm>
            <a:off x="2702427" y="4685706"/>
            <a:ext cx="2022764"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Syntax analysis </a:t>
            </a:r>
          </a:p>
        </p:txBody>
      </p:sp>
      <p:cxnSp>
        <p:nvCxnSpPr>
          <p:cNvPr id="56" name="Straight Arrow Connector 55">
            <a:extLst>
              <a:ext uri="{FF2B5EF4-FFF2-40B4-BE49-F238E27FC236}">
                <a16:creationId xmlns:a16="http://schemas.microsoft.com/office/drawing/2014/main" id="{C0778734-4029-6677-53E6-AE5372992AF2}"/>
              </a:ext>
            </a:extLst>
          </p:cNvPr>
          <p:cNvCxnSpPr/>
          <p:nvPr/>
        </p:nvCxnSpPr>
        <p:spPr>
          <a:xfrm>
            <a:off x="2286791" y="5846547"/>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0AB1E360-A604-2673-C393-69AEFB2D0BDC}"/>
              </a:ext>
            </a:extLst>
          </p:cNvPr>
          <p:cNvSpPr/>
          <p:nvPr/>
        </p:nvSpPr>
        <p:spPr>
          <a:xfrm>
            <a:off x="2702427" y="5550926"/>
            <a:ext cx="2022764"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chemeClr val="bg1"/>
                </a:solidFill>
              </a:rPr>
              <a:t>Semantic analysis </a:t>
            </a:r>
          </a:p>
        </p:txBody>
      </p:sp>
      <p:sp>
        <p:nvSpPr>
          <p:cNvPr id="58" name="Rectangle 57">
            <a:extLst>
              <a:ext uri="{FF2B5EF4-FFF2-40B4-BE49-F238E27FC236}">
                <a16:creationId xmlns:a16="http://schemas.microsoft.com/office/drawing/2014/main" id="{8367B394-A008-9AEA-F175-40166FB6DE78}"/>
              </a:ext>
            </a:extLst>
          </p:cNvPr>
          <p:cNvSpPr/>
          <p:nvPr/>
        </p:nvSpPr>
        <p:spPr>
          <a:xfrm>
            <a:off x="7636044" y="2788329"/>
            <a:ext cx="2933700" cy="3854335"/>
          </a:xfrm>
          <a:prstGeom prst="rect">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005348BB-9449-0573-B9EA-6DA0CBE2F108}"/>
              </a:ext>
            </a:extLst>
          </p:cNvPr>
          <p:cNvSpPr/>
          <p:nvPr/>
        </p:nvSpPr>
        <p:spPr>
          <a:xfrm>
            <a:off x="1935418" y="2832664"/>
            <a:ext cx="2933700" cy="3810000"/>
          </a:xfrm>
          <a:prstGeom prst="rect">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1B636BBB-7185-3D9D-FDA1-7264F355AAC3}"/>
              </a:ext>
            </a:extLst>
          </p:cNvPr>
          <p:cNvSpPr/>
          <p:nvPr/>
        </p:nvSpPr>
        <p:spPr>
          <a:xfrm>
            <a:off x="5423115" y="4089268"/>
            <a:ext cx="1742928" cy="1230974"/>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Intermediate code generation</a:t>
            </a:r>
          </a:p>
        </p:txBody>
      </p:sp>
      <p:cxnSp>
        <p:nvCxnSpPr>
          <p:cNvPr id="61" name="Straight Arrow Connector 60">
            <a:extLst>
              <a:ext uri="{FF2B5EF4-FFF2-40B4-BE49-F238E27FC236}">
                <a16:creationId xmlns:a16="http://schemas.microsoft.com/office/drawing/2014/main" id="{56A08176-3541-5A21-14EF-1EBE85435598}"/>
              </a:ext>
            </a:extLst>
          </p:cNvPr>
          <p:cNvCxnSpPr>
            <a:stCxn id="59" idx="3"/>
          </p:cNvCxnSpPr>
          <p:nvPr/>
        </p:nvCxnSpPr>
        <p:spPr>
          <a:xfrm>
            <a:off x="4869118" y="4737664"/>
            <a:ext cx="536504"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2A4D18AC-8911-0C7B-4C6B-53FD9B38AF06}"/>
              </a:ext>
            </a:extLst>
          </p:cNvPr>
          <p:cNvCxnSpPr/>
          <p:nvPr/>
        </p:nvCxnSpPr>
        <p:spPr>
          <a:xfrm>
            <a:off x="7166374" y="4754289"/>
            <a:ext cx="484632"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4AB44FA6-3590-7673-BE06-C5E5A1A0C62B}"/>
              </a:ext>
            </a:extLst>
          </p:cNvPr>
          <p:cNvCxnSpPr/>
          <p:nvPr/>
        </p:nvCxnSpPr>
        <p:spPr>
          <a:xfrm>
            <a:off x="8007773" y="4560326"/>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98E5A49F-1FC1-7074-B2D5-61AB5444616E}"/>
              </a:ext>
            </a:extLst>
          </p:cNvPr>
          <p:cNvSpPr/>
          <p:nvPr/>
        </p:nvSpPr>
        <p:spPr>
          <a:xfrm>
            <a:off x="8390282" y="4010304"/>
            <a:ext cx="2022764" cy="899157"/>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Code optimization </a:t>
            </a:r>
          </a:p>
        </p:txBody>
      </p:sp>
      <p:cxnSp>
        <p:nvCxnSpPr>
          <p:cNvPr id="65" name="Straight Arrow Connector 64">
            <a:extLst>
              <a:ext uri="{FF2B5EF4-FFF2-40B4-BE49-F238E27FC236}">
                <a16:creationId xmlns:a16="http://schemas.microsoft.com/office/drawing/2014/main" id="{5F977234-597D-0E9A-86EC-003A8E3B358A}"/>
              </a:ext>
            </a:extLst>
          </p:cNvPr>
          <p:cNvCxnSpPr/>
          <p:nvPr/>
        </p:nvCxnSpPr>
        <p:spPr>
          <a:xfrm>
            <a:off x="8009282" y="5797373"/>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5ECB8FA6-8EA0-F718-DF1F-27B159E01302}"/>
              </a:ext>
            </a:extLst>
          </p:cNvPr>
          <p:cNvSpPr/>
          <p:nvPr/>
        </p:nvSpPr>
        <p:spPr>
          <a:xfrm>
            <a:off x="8374844" y="5295306"/>
            <a:ext cx="2022764" cy="824348"/>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Code generation </a:t>
            </a:r>
          </a:p>
        </p:txBody>
      </p:sp>
      <p:cxnSp>
        <p:nvCxnSpPr>
          <p:cNvPr id="67" name="Straight Arrow Connector 66">
            <a:extLst>
              <a:ext uri="{FF2B5EF4-FFF2-40B4-BE49-F238E27FC236}">
                <a16:creationId xmlns:a16="http://schemas.microsoft.com/office/drawing/2014/main" id="{8E00F4B3-7C51-FDD7-B92F-86087543315B}"/>
              </a:ext>
            </a:extLst>
          </p:cNvPr>
          <p:cNvCxnSpPr>
            <a:stCxn id="47" idx="2"/>
            <a:endCxn id="59" idx="0"/>
          </p:cNvCxnSpPr>
          <p:nvPr/>
        </p:nvCxnSpPr>
        <p:spPr>
          <a:xfrm>
            <a:off x="3397846" y="2130426"/>
            <a:ext cx="4422" cy="702239"/>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0977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dur="2000" fill="hold" nodeType="clickEffect">
                                  <p:stCondLst>
                                    <p:cond delay="0"/>
                                  </p:stCondLst>
                                  <p:childTnLst>
                                    <p:animClr clrSpc="rgb" dir="cw">
                                      <p:cBhvr>
                                        <p:cTn id="6" dur="2000" fill="hold"/>
                                        <p:tgtEl>
                                          <p:spTgt spid="55"/>
                                        </p:tgtEl>
                                        <p:attrNameLst>
                                          <p:attrName>fillcolor</p:attrName>
                                        </p:attrNameLst>
                                      </p:cBhvr>
                                      <p:to>
                                        <a:schemeClr val="accent2"/>
                                      </p:to>
                                    </p:animClr>
                                    <p:set>
                                      <p:cBhvr>
                                        <p:cTn id="7" dur="2000" fill="hold"/>
                                        <p:tgtEl>
                                          <p:spTgt spid="55"/>
                                        </p:tgtEl>
                                        <p:attrNameLst>
                                          <p:attrName>fill.type</p:attrName>
                                        </p:attrNameLst>
                                      </p:cBhvr>
                                      <p:to>
                                        <p:strVal val="solid"/>
                                      </p:to>
                                    </p:set>
                                    <p:set>
                                      <p:cBhvr>
                                        <p:cTn id="8" dur="2000" fill="hold"/>
                                        <p:tgtEl>
                                          <p:spTgt spid="5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3D0362B-3B4F-6268-75EC-0CA2C011817A}"/>
              </a:ext>
            </a:extLst>
          </p:cNvPr>
          <p:cNvSpPr txBox="1">
            <a:spLocks/>
          </p:cNvSpPr>
          <p:nvPr/>
        </p:nvSpPr>
        <p:spPr>
          <a:xfrm>
            <a:off x="0" y="1"/>
            <a:ext cx="12192000" cy="711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dirty="0"/>
              <a:t>Syntax analysis</a:t>
            </a:r>
          </a:p>
        </p:txBody>
      </p:sp>
      <p:sp>
        <p:nvSpPr>
          <p:cNvPr id="5" name="Content Placeholder 5">
            <a:extLst>
              <a:ext uri="{FF2B5EF4-FFF2-40B4-BE49-F238E27FC236}">
                <a16:creationId xmlns:a16="http://schemas.microsoft.com/office/drawing/2014/main" id="{D7626184-A179-D6E4-6F9E-2F8F72A0CCB7}"/>
              </a:ext>
            </a:extLst>
          </p:cNvPr>
          <p:cNvSpPr txBox="1">
            <a:spLocks/>
          </p:cNvSpPr>
          <p:nvPr/>
        </p:nvSpPr>
        <p:spPr>
          <a:xfrm>
            <a:off x="212549" y="1209473"/>
            <a:ext cx="7070313" cy="4886527"/>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dirty="0">
                <a:solidFill>
                  <a:schemeClr val="tx1"/>
                </a:solidFill>
              </a:rPr>
              <a:t>Syntax Analysis is also called </a:t>
            </a:r>
            <a:r>
              <a:rPr lang="en-US" b="1" dirty="0">
                <a:solidFill>
                  <a:schemeClr val="tx1"/>
                </a:solidFill>
              </a:rPr>
              <a:t>Parsing </a:t>
            </a:r>
            <a:r>
              <a:rPr lang="en-US" dirty="0">
                <a:solidFill>
                  <a:schemeClr val="tx1"/>
                </a:solidFill>
              </a:rPr>
              <a:t>or </a:t>
            </a:r>
            <a:r>
              <a:rPr lang="en-US" b="1" dirty="0">
                <a:solidFill>
                  <a:schemeClr val="tx1"/>
                </a:solidFill>
              </a:rPr>
              <a:t>Hierarchical Analysis</a:t>
            </a:r>
            <a:r>
              <a:rPr lang="en-US" dirty="0">
                <a:solidFill>
                  <a:schemeClr val="tx1"/>
                </a:solidFill>
              </a:rPr>
              <a:t>.</a:t>
            </a:r>
          </a:p>
          <a:p>
            <a:r>
              <a:rPr lang="en-US" dirty="0">
                <a:solidFill>
                  <a:schemeClr val="tx1"/>
                </a:solidFill>
              </a:rPr>
              <a:t>It takes token produced by lexical analyzer as Input &amp; generates the parse tree.</a:t>
            </a:r>
          </a:p>
          <a:p>
            <a:r>
              <a:rPr lang="en-US" dirty="0">
                <a:solidFill>
                  <a:schemeClr val="tx1"/>
                </a:solidFill>
              </a:rPr>
              <a:t>The syntax analyzer checks each line of the code and spots every tiny mistake.  </a:t>
            </a:r>
          </a:p>
          <a:p>
            <a:r>
              <a:rPr lang="en-US" dirty="0">
                <a:solidFill>
                  <a:schemeClr val="tx1"/>
                </a:solidFill>
              </a:rPr>
              <a:t>If code is error free then syntax analyzer generates the tree.</a:t>
            </a:r>
          </a:p>
          <a:p>
            <a:pPr marL="0" indent="0" algn="l">
              <a:buFont typeface="Arial" panose="020B0604020202020204" pitchFamily="34" charset="0"/>
              <a:buNone/>
            </a:pPr>
            <a:endParaRPr lang="en-US" sz="2200" dirty="0">
              <a:solidFill>
                <a:schemeClr val="tx1"/>
              </a:solidFill>
            </a:endParaRPr>
          </a:p>
        </p:txBody>
      </p:sp>
      <p:sp>
        <p:nvSpPr>
          <p:cNvPr id="6" name="Rectangle 5">
            <a:extLst>
              <a:ext uri="{FF2B5EF4-FFF2-40B4-BE49-F238E27FC236}">
                <a16:creationId xmlns:a16="http://schemas.microsoft.com/office/drawing/2014/main" id="{4EBCA61F-5571-2388-D613-0F1168C1E045}"/>
              </a:ext>
            </a:extLst>
          </p:cNvPr>
          <p:cNvSpPr/>
          <p:nvPr/>
        </p:nvSpPr>
        <p:spPr>
          <a:xfrm>
            <a:off x="8414084" y="2970609"/>
            <a:ext cx="2438400" cy="533400"/>
          </a:xfrm>
          <a:prstGeom prst="rect">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Syntax analysis</a:t>
            </a:r>
          </a:p>
        </p:txBody>
      </p:sp>
      <p:cxnSp>
        <p:nvCxnSpPr>
          <p:cNvPr id="7" name="Straight Arrow Connector 6">
            <a:extLst>
              <a:ext uri="{FF2B5EF4-FFF2-40B4-BE49-F238E27FC236}">
                <a16:creationId xmlns:a16="http://schemas.microsoft.com/office/drawing/2014/main" id="{BB473079-9A45-3580-B139-2E4D319266DB}"/>
              </a:ext>
            </a:extLst>
          </p:cNvPr>
          <p:cNvCxnSpPr/>
          <p:nvPr/>
        </p:nvCxnSpPr>
        <p:spPr>
          <a:xfrm flipH="1">
            <a:off x="9629893" y="2707918"/>
            <a:ext cx="1781" cy="288607"/>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8B7DE76-DC6F-8910-0D7B-ACB7A2F78036}"/>
              </a:ext>
            </a:extLst>
          </p:cNvPr>
          <p:cNvCxnSpPr/>
          <p:nvPr/>
        </p:nvCxnSpPr>
        <p:spPr>
          <a:xfrm flipH="1">
            <a:off x="9614234" y="2133601"/>
            <a:ext cx="0" cy="226219"/>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9" name="Content Placeholder 5">
            <a:extLst>
              <a:ext uri="{FF2B5EF4-FFF2-40B4-BE49-F238E27FC236}">
                <a16:creationId xmlns:a16="http://schemas.microsoft.com/office/drawing/2014/main" id="{28DF3F7A-60FF-1C10-A156-7572263BBFA4}"/>
              </a:ext>
            </a:extLst>
          </p:cNvPr>
          <p:cNvSpPr txBox="1"/>
          <p:nvPr/>
        </p:nvSpPr>
        <p:spPr>
          <a:xfrm>
            <a:off x="8234202" y="2251158"/>
            <a:ext cx="2667000" cy="433388"/>
          </a:xfrm>
          <a:prstGeom prst="rect">
            <a:avLst/>
          </a:prstGeom>
          <a:no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lt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lt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anose="020B0604020202020204" pitchFamily="34" charset="0"/>
              <a:buChar char="•"/>
              <a:defRPr sz="1800" kern="1200">
                <a:solidFill>
                  <a:schemeClr val="lt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anose="020B0604020202020204" pitchFamily="34" charset="0"/>
              <a:buChar char="–"/>
              <a:defRPr sz="1600" kern="1200">
                <a:solidFill>
                  <a:schemeClr val="lt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anose="020B0604020202020204" pitchFamily="34" charset="0"/>
              <a:buChar char="»"/>
              <a:defRPr sz="1600" kern="1200">
                <a:solidFill>
                  <a:schemeClr val="lt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None/>
            </a:pPr>
            <a:r>
              <a:rPr lang="en-US" sz="2200">
                <a:solidFill>
                  <a:schemeClr val="tx1"/>
                </a:solidFill>
              </a:rPr>
              <a:t>id1 = id2 + id3 * 60</a:t>
            </a:r>
          </a:p>
        </p:txBody>
      </p:sp>
      <p:grpSp>
        <p:nvGrpSpPr>
          <p:cNvPr id="10" name="Group 9">
            <a:extLst>
              <a:ext uri="{FF2B5EF4-FFF2-40B4-BE49-F238E27FC236}">
                <a16:creationId xmlns:a16="http://schemas.microsoft.com/office/drawing/2014/main" id="{829AA413-AED1-2FEB-756D-44AE9CACF6E7}"/>
              </a:ext>
            </a:extLst>
          </p:cNvPr>
          <p:cNvGrpSpPr/>
          <p:nvPr/>
        </p:nvGrpSpPr>
        <p:grpSpPr>
          <a:xfrm>
            <a:off x="8395034" y="1373982"/>
            <a:ext cx="2438400" cy="759619"/>
            <a:chOff x="6134100" y="1373981"/>
            <a:chExt cx="2438400" cy="759619"/>
          </a:xfrm>
        </p:grpSpPr>
        <p:sp>
          <p:nvSpPr>
            <p:cNvPr id="11" name="Rectangle 10">
              <a:extLst>
                <a:ext uri="{FF2B5EF4-FFF2-40B4-BE49-F238E27FC236}">
                  <a16:creationId xmlns:a16="http://schemas.microsoft.com/office/drawing/2014/main" id="{8FA8E071-E864-D670-32DC-E1BAF8777A47}"/>
                </a:ext>
              </a:extLst>
            </p:cNvPr>
            <p:cNvSpPr/>
            <p:nvPr/>
          </p:nvSpPr>
          <p:spPr>
            <a:xfrm>
              <a:off x="6134100" y="1600200"/>
              <a:ext cx="2438400" cy="533400"/>
            </a:xfrm>
            <a:prstGeom prst="rect">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Lexical analysis</a:t>
              </a:r>
            </a:p>
          </p:txBody>
        </p:sp>
        <p:cxnSp>
          <p:nvCxnSpPr>
            <p:cNvPr id="12" name="Straight Arrow Connector 11">
              <a:extLst>
                <a:ext uri="{FF2B5EF4-FFF2-40B4-BE49-F238E27FC236}">
                  <a16:creationId xmlns:a16="http://schemas.microsoft.com/office/drawing/2014/main" id="{A6C4D783-3778-0108-DEE9-6E0F66FF35AD}"/>
                </a:ext>
              </a:extLst>
            </p:cNvPr>
            <p:cNvCxnSpPr>
              <a:endCxn id="11" idx="0"/>
            </p:cNvCxnSpPr>
            <p:nvPr/>
          </p:nvCxnSpPr>
          <p:spPr>
            <a:xfrm flipH="1">
              <a:off x="7353300" y="1373981"/>
              <a:ext cx="0" cy="226219"/>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grpSp>
      <p:cxnSp>
        <p:nvCxnSpPr>
          <p:cNvPr id="13" name="Straight Arrow Connector 12">
            <a:extLst>
              <a:ext uri="{FF2B5EF4-FFF2-40B4-BE49-F238E27FC236}">
                <a16:creationId xmlns:a16="http://schemas.microsoft.com/office/drawing/2014/main" id="{6E6F658B-EF36-5B99-98BD-2EC48F56168D}"/>
              </a:ext>
            </a:extLst>
          </p:cNvPr>
          <p:cNvCxnSpPr/>
          <p:nvPr/>
        </p:nvCxnSpPr>
        <p:spPr>
          <a:xfrm flipH="1">
            <a:off x="9633284" y="3504010"/>
            <a:ext cx="0" cy="226219"/>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AAA6E12C-3839-0142-56FC-7C1585099786}"/>
              </a:ext>
            </a:extLst>
          </p:cNvPr>
          <p:cNvSpPr/>
          <p:nvPr/>
        </p:nvSpPr>
        <p:spPr>
          <a:xfrm>
            <a:off x="9198704" y="3730228"/>
            <a:ext cx="4572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t>
            </a:r>
          </a:p>
        </p:txBody>
      </p:sp>
      <p:cxnSp>
        <p:nvCxnSpPr>
          <p:cNvPr id="15" name="Straight Arrow Connector 14">
            <a:extLst>
              <a:ext uri="{FF2B5EF4-FFF2-40B4-BE49-F238E27FC236}">
                <a16:creationId xmlns:a16="http://schemas.microsoft.com/office/drawing/2014/main" id="{528F8BFD-81BC-7F65-0665-BD369A85F5A9}"/>
              </a:ext>
            </a:extLst>
          </p:cNvPr>
          <p:cNvCxnSpPr/>
          <p:nvPr/>
        </p:nvCxnSpPr>
        <p:spPr>
          <a:xfrm flipH="1">
            <a:off x="9128456" y="4073128"/>
            <a:ext cx="332185"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D4CFACE-4B1E-080C-25D4-26B401FD8B84}"/>
              </a:ext>
            </a:extLst>
          </p:cNvPr>
          <p:cNvCxnSpPr/>
          <p:nvPr/>
        </p:nvCxnSpPr>
        <p:spPr>
          <a:xfrm>
            <a:off x="9432066" y="4073128"/>
            <a:ext cx="342898"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2BF55C64-39B6-A6B2-5A1F-0A19491EAF30}"/>
              </a:ext>
            </a:extLst>
          </p:cNvPr>
          <p:cNvSpPr/>
          <p:nvPr/>
        </p:nvSpPr>
        <p:spPr>
          <a:xfrm>
            <a:off x="8699829" y="4385072"/>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id1</a:t>
            </a:r>
          </a:p>
        </p:txBody>
      </p:sp>
      <p:sp>
        <p:nvSpPr>
          <p:cNvPr id="18" name="Rectangle 17">
            <a:extLst>
              <a:ext uri="{FF2B5EF4-FFF2-40B4-BE49-F238E27FC236}">
                <a16:creationId xmlns:a16="http://schemas.microsoft.com/office/drawing/2014/main" id="{3C054C5C-F47C-A4DF-5D46-EE4239EAF2DC}"/>
              </a:ext>
            </a:extLst>
          </p:cNvPr>
          <p:cNvSpPr/>
          <p:nvPr/>
        </p:nvSpPr>
        <p:spPr>
          <a:xfrm>
            <a:off x="9496358" y="4348161"/>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t>
            </a:r>
          </a:p>
        </p:txBody>
      </p:sp>
      <p:cxnSp>
        <p:nvCxnSpPr>
          <p:cNvPr id="19" name="Straight Arrow Connector 18">
            <a:extLst>
              <a:ext uri="{FF2B5EF4-FFF2-40B4-BE49-F238E27FC236}">
                <a16:creationId xmlns:a16="http://schemas.microsoft.com/office/drawing/2014/main" id="{BBADFA9A-F91E-36B4-776C-F461CA69D2C6}"/>
              </a:ext>
            </a:extLst>
          </p:cNvPr>
          <p:cNvCxnSpPr/>
          <p:nvPr/>
        </p:nvCxnSpPr>
        <p:spPr>
          <a:xfrm flipH="1">
            <a:off x="9624353" y="4680347"/>
            <a:ext cx="332185"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3195543-58A7-1032-A903-64F2ACB4C3DC}"/>
              </a:ext>
            </a:extLst>
          </p:cNvPr>
          <p:cNvCxnSpPr/>
          <p:nvPr/>
        </p:nvCxnSpPr>
        <p:spPr>
          <a:xfrm>
            <a:off x="9927963" y="4680347"/>
            <a:ext cx="342898"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3E9D73FE-BA87-1067-F356-C93219864025}"/>
              </a:ext>
            </a:extLst>
          </p:cNvPr>
          <p:cNvSpPr/>
          <p:nvPr/>
        </p:nvSpPr>
        <p:spPr>
          <a:xfrm>
            <a:off x="9195726" y="4992291"/>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id2</a:t>
            </a:r>
          </a:p>
        </p:txBody>
      </p:sp>
      <p:sp>
        <p:nvSpPr>
          <p:cNvPr id="22" name="Rectangle 21">
            <a:extLst>
              <a:ext uri="{FF2B5EF4-FFF2-40B4-BE49-F238E27FC236}">
                <a16:creationId xmlns:a16="http://schemas.microsoft.com/office/drawing/2014/main" id="{B034B6E3-FB99-18D3-9D42-FEDDB661F58E}"/>
              </a:ext>
            </a:extLst>
          </p:cNvPr>
          <p:cNvSpPr/>
          <p:nvPr/>
        </p:nvSpPr>
        <p:spPr>
          <a:xfrm>
            <a:off x="9992255" y="4955380"/>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t>
            </a:r>
          </a:p>
        </p:txBody>
      </p:sp>
      <p:grpSp>
        <p:nvGrpSpPr>
          <p:cNvPr id="23" name="Group 22">
            <a:extLst>
              <a:ext uri="{FF2B5EF4-FFF2-40B4-BE49-F238E27FC236}">
                <a16:creationId xmlns:a16="http://schemas.microsoft.com/office/drawing/2014/main" id="{54BD204F-A14F-DED9-1A34-A00BE68BB3FE}"/>
              </a:ext>
            </a:extLst>
          </p:cNvPr>
          <p:cNvGrpSpPr/>
          <p:nvPr/>
        </p:nvGrpSpPr>
        <p:grpSpPr>
          <a:xfrm>
            <a:off x="9655905" y="5270896"/>
            <a:ext cx="1491855" cy="692944"/>
            <a:chOff x="6206725" y="4073128"/>
            <a:chExt cx="1491855" cy="692944"/>
          </a:xfrm>
        </p:grpSpPr>
        <p:cxnSp>
          <p:nvCxnSpPr>
            <p:cNvPr id="24" name="Straight Arrow Connector 23">
              <a:extLst>
                <a:ext uri="{FF2B5EF4-FFF2-40B4-BE49-F238E27FC236}">
                  <a16:creationId xmlns:a16="http://schemas.microsoft.com/office/drawing/2014/main" id="{3358561F-CCB9-BFAC-4F05-CA868F20B383}"/>
                </a:ext>
              </a:extLst>
            </p:cNvPr>
            <p:cNvCxnSpPr/>
            <p:nvPr/>
          </p:nvCxnSpPr>
          <p:spPr>
            <a:xfrm flipH="1">
              <a:off x="6635351" y="4073128"/>
              <a:ext cx="332185"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491D8ED-7677-4A8A-2A3B-A9EC80AB8BB9}"/>
                </a:ext>
              </a:extLst>
            </p:cNvPr>
            <p:cNvCxnSpPr/>
            <p:nvPr/>
          </p:nvCxnSpPr>
          <p:spPr>
            <a:xfrm>
              <a:off x="6938962" y="4073128"/>
              <a:ext cx="342898"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35364FE1-871E-8CF3-BF2D-712DB9DEC74D}"/>
                </a:ext>
              </a:extLst>
            </p:cNvPr>
            <p:cNvSpPr/>
            <p:nvPr/>
          </p:nvSpPr>
          <p:spPr>
            <a:xfrm>
              <a:off x="6206725" y="4385072"/>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id3</a:t>
              </a:r>
            </a:p>
          </p:txBody>
        </p:sp>
        <p:sp>
          <p:nvSpPr>
            <p:cNvPr id="27" name="Rectangle 26">
              <a:extLst>
                <a:ext uri="{FF2B5EF4-FFF2-40B4-BE49-F238E27FC236}">
                  <a16:creationId xmlns:a16="http://schemas.microsoft.com/office/drawing/2014/main" id="{9E149630-F631-115D-5FFF-146F1D04560E}"/>
                </a:ext>
              </a:extLst>
            </p:cNvPr>
            <p:cNvSpPr/>
            <p:nvPr/>
          </p:nvSpPr>
          <p:spPr>
            <a:xfrm>
              <a:off x="7003254" y="4348161"/>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60</a:t>
              </a:r>
            </a:p>
          </p:txBody>
        </p:sp>
      </p:grpSp>
      <p:cxnSp>
        <p:nvCxnSpPr>
          <p:cNvPr id="28" name="Straight Connector 27">
            <a:extLst>
              <a:ext uri="{FF2B5EF4-FFF2-40B4-BE49-F238E27FC236}">
                <a16:creationId xmlns:a16="http://schemas.microsoft.com/office/drawing/2014/main" id="{30C54B3F-3D06-38E8-304E-A5C432092A55}"/>
              </a:ext>
            </a:extLst>
          </p:cNvPr>
          <p:cNvCxnSpPr/>
          <p:nvPr/>
        </p:nvCxnSpPr>
        <p:spPr>
          <a:xfrm>
            <a:off x="9699145" y="2641358"/>
            <a:ext cx="796529"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A3B129C-A842-8390-8B67-36AF567665D0}"/>
              </a:ext>
            </a:extLst>
          </p:cNvPr>
          <p:cNvCxnSpPr/>
          <p:nvPr/>
        </p:nvCxnSpPr>
        <p:spPr>
          <a:xfrm>
            <a:off x="9123381" y="2641358"/>
            <a:ext cx="457200"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087620A-E68C-717D-4D75-6EB131BE8FD5}"/>
              </a:ext>
            </a:extLst>
          </p:cNvPr>
          <p:cNvCxnSpPr/>
          <p:nvPr/>
        </p:nvCxnSpPr>
        <p:spPr>
          <a:xfrm>
            <a:off x="8470699" y="2641358"/>
            <a:ext cx="593529"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31" name="Content Placeholder 5">
            <a:extLst>
              <a:ext uri="{FF2B5EF4-FFF2-40B4-BE49-F238E27FC236}">
                <a16:creationId xmlns:a16="http://schemas.microsoft.com/office/drawing/2014/main" id="{5C140070-32B8-6DBD-9F5E-4EDEBBD8D0A3}"/>
              </a:ext>
            </a:extLst>
          </p:cNvPr>
          <p:cNvSpPr txBox="1"/>
          <p:nvPr/>
        </p:nvSpPr>
        <p:spPr>
          <a:xfrm>
            <a:off x="8113607" y="1085850"/>
            <a:ext cx="3779921" cy="123623"/>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Font typeface="Wingdings 3" panose="05040102010807070707" pitchFamily="18" charset="2"/>
              <a:buNone/>
            </a:pPr>
            <a:r>
              <a:rPr lang="en-US"/>
              <a:t>Position = initial + rate*60</a:t>
            </a:r>
          </a:p>
        </p:txBody>
      </p:sp>
      <p:cxnSp>
        <p:nvCxnSpPr>
          <p:cNvPr id="32" name="Straight Connector 31">
            <a:extLst>
              <a:ext uri="{FF2B5EF4-FFF2-40B4-BE49-F238E27FC236}">
                <a16:creationId xmlns:a16="http://schemas.microsoft.com/office/drawing/2014/main" id="{28655696-EFF5-32C6-9A37-AB5560A3399A}"/>
              </a:ext>
            </a:extLst>
          </p:cNvPr>
          <p:cNvCxnSpPr/>
          <p:nvPr/>
        </p:nvCxnSpPr>
        <p:spPr>
          <a:xfrm flipH="1">
            <a:off x="7471923" y="863203"/>
            <a:ext cx="0" cy="510063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5492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dur="1"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dur="1"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dur="50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dur="500" fill="hold" nodeType="click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wipe(left)">
                                      <p:cBhvr>
                                        <p:cTn id="28" dur="500"/>
                                        <p:tgtEl>
                                          <p:spTgt spid="2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dur="50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wipe(down)">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dur="500"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down)">
                                      <p:cBhvr>
                                        <p:cTn id="38" dur="500"/>
                                        <p:tgtEl>
                                          <p:spTgt spid="2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xit" presetSubtype="8" dur="500" fill="hold" nodeType="clickEffect">
                                  <p:stCondLst>
                                    <p:cond delay="0"/>
                                  </p:stCondLst>
                                  <p:childTnLst>
                                    <p:animEffect transition="out" filter="wipe(left)">
                                      <p:cBhvr>
                                        <p:cTn id="42" dur="500"/>
                                        <p:tgtEl>
                                          <p:spTgt spid="28"/>
                                        </p:tgtEl>
                                      </p:cBhvr>
                                    </p:animEffect>
                                    <p:set>
                                      <p:cBhvr>
                                        <p:cTn id="43" dur="1" fill="hold">
                                          <p:stCondLst>
                                            <p:cond delay="499"/>
                                          </p:stCondLst>
                                        </p:cTn>
                                        <p:tgtEl>
                                          <p:spTgt spid="28"/>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dur="500" fill="hold" nodeType="click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wipe(left)">
                                      <p:cBhvr>
                                        <p:cTn id="48" dur="500"/>
                                        <p:tgtEl>
                                          <p:spTgt spid="2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dur="500" fill="hold" nodeType="click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wipe(down)">
                                      <p:cBhvr>
                                        <p:cTn id="53" dur="500"/>
                                        <p:tgtEl>
                                          <p:spTgt spid="19"/>
                                        </p:tgtEl>
                                      </p:cBhvr>
                                    </p:animEffect>
                                  </p:childTnLst>
                                </p:cTn>
                              </p:par>
                              <p:par>
                                <p:cTn id="54" presetID="22" presetClass="entr" presetSubtype="4" dur="50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wipe(down)">
                                      <p:cBhvr>
                                        <p:cTn id="56" dur="500"/>
                                        <p:tgtEl>
                                          <p:spTgt spid="20"/>
                                        </p:tgtEl>
                                      </p:cBhvr>
                                    </p:animEffect>
                                  </p:childTnLst>
                                </p:cTn>
                              </p:par>
                              <p:par>
                                <p:cTn id="57" presetID="22" presetClass="entr" presetSubtype="4" dur="50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wipe(down)">
                                      <p:cBhvr>
                                        <p:cTn id="59" dur="5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dur="500" fill="hold" grpId="0"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wipe(down)">
                                      <p:cBhvr>
                                        <p:cTn id="64" dur="500"/>
                                        <p:tgtEl>
                                          <p:spTgt spid="1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xit" presetSubtype="8" dur="500" fill="hold" nodeType="clickEffect">
                                  <p:stCondLst>
                                    <p:cond delay="0"/>
                                  </p:stCondLst>
                                  <p:childTnLst>
                                    <p:animEffect transition="out" filter="wipe(left)">
                                      <p:cBhvr>
                                        <p:cTn id="68" dur="500"/>
                                        <p:tgtEl>
                                          <p:spTgt spid="29"/>
                                        </p:tgtEl>
                                      </p:cBhvr>
                                    </p:animEffect>
                                    <p:set>
                                      <p:cBhvr>
                                        <p:cTn id="69" dur="1" fill="hold">
                                          <p:stCondLst>
                                            <p:cond delay="499"/>
                                          </p:stCondLst>
                                        </p:cTn>
                                        <p:tgtEl>
                                          <p:spTgt spid="29"/>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8" dur="500" fill="hold" nodeType="click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wipe(left)">
                                      <p:cBhvr>
                                        <p:cTn id="74" dur="500"/>
                                        <p:tgtEl>
                                          <p:spTgt spid="30"/>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dur="500" fill="hold" nodeType="clickEffect">
                                  <p:stCondLst>
                                    <p:cond delay="0"/>
                                  </p:stCondLst>
                                  <p:childTnLst>
                                    <p:set>
                                      <p:cBhvr>
                                        <p:cTn id="78" dur="1" fill="hold">
                                          <p:stCondLst>
                                            <p:cond delay="0"/>
                                          </p:stCondLst>
                                        </p:cTn>
                                        <p:tgtEl>
                                          <p:spTgt spid="15"/>
                                        </p:tgtEl>
                                        <p:attrNameLst>
                                          <p:attrName>style.visibility</p:attrName>
                                        </p:attrNameLst>
                                      </p:cBhvr>
                                      <p:to>
                                        <p:strVal val="visible"/>
                                      </p:to>
                                    </p:set>
                                    <p:animEffect transition="in" filter="wipe(down)">
                                      <p:cBhvr>
                                        <p:cTn id="79" dur="500"/>
                                        <p:tgtEl>
                                          <p:spTgt spid="15"/>
                                        </p:tgtEl>
                                      </p:cBhvr>
                                    </p:animEffect>
                                  </p:childTnLst>
                                </p:cTn>
                              </p:par>
                              <p:par>
                                <p:cTn id="80" presetID="22" presetClass="entr" presetSubtype="4" dur="500" fill="hold" nodeType="withEffect">
                                  <p:stCondLst>
                                    <p:cond delay="0"/>
                                  </p:stCondLst>
                                  <p:childTnLst>
                                    <p:set>
                                      <p:cBhvr>
                                        <p:cTn id="81" dur="1" fill="hold">
                                          <p:stCondLst>
                                            <p:cond delay="0"/>
                                          </p:stCondLst>
                                        </p:cTn>
                                        <p:tgtEl>
                                          <p:spTgt spid="16"/>
                                        </p:tgtEl>
                                        <p:attrNameLst>
                                          <p:attrName>style.visibility</p:attrName>
                                        </p:attrNameLst>
                                      </p:cBhvr>
                                      <p:to>
                                        <p:strVal val="visible"/>
                                      </p:to>
                                    </p:set>
                                    <p:animEffect transition="in" filter="wipe(down)">
                                      <p:cBhvr>
                                        <p:cTn id="82" dur="500"/>
                                        <p:tgtEl>
                                          <p:spTgt spid="16"/>
                                        </p:tgtEl>
                                      </p:cBhvr>
                                    </p:animEffect>
                                  </p:childTnLst>
                                </p:cTn>
                              </p:par>
                              <p:par>
                                <p:cTn id="83" presetID="22" presetClass="entr" presetSubtype="4" dur="500" fill="hold" grpId="0" nodeType="withEffect">
                                  <p:stCondLst>
                                    <p:cond delay="0"/>
                                  </p:stCondLst>
                                  <p:childTnLst>
                                    <p:set>
                                      <p:cBhvr>
                                        <p:cTn id="84" dur="1" fill="hold">
                                          <p:stCondLst>
                                            <p:cond delay="0"/>
                                          </p:stCondLst>
                                        </p:cTn>
                                        <p:tgtEl>
                                          <p:spTgt spid="17"/>
                                        </p:tgtEl>
                                        <p:attrNameLst>
                                          <p:attrName>style.visibility</p:attrName>
                                        </p:attrNameLst>
                                      </p:cBhvr>
                                      <p:to>
                                        <p:strVal val="visible"/>
                                      </p:to>
                                    </p:set>
                                    <p:animEffect transition="in" filter="wipe(down)">
                                      <p:cBhvr>
                                        <p:cTn id="85" dur="500"/>
                                        <p:tgtEl>
                                          <p:spTgt spid="17"/>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4" dur="500" fill="hold" grpId="0" nodeType="clickEffect">
                                  <p:stCondLst>
                                    <p:cond delay="0"/>
                                  </p:stCondLst>
                                  <p:childTnLst>
                                    <p:set>
                                      <p:cBhvr>
                                        <p:cTn id="89" dur="1" fill="hold">
                                          <p:stCondLst>
                                            <p:cond delay="0"/>
                                          </p:stCondLst>
                                        </p:cTn>
                                        <p:tgtEl>
                                          <p:spTgt spid="14"/>
                                        </p:tgtEl>
                                        <p:attrNameLst>
                                          <p:attrName>style.visibility</p:attrName>
                                        </p:attrNameLst>
                                      </p:cBhvr>
                                      <p:to>
                                        <p:strVal val="visible"/>
                                      </p:to>
                                    </p:set>
                                    <p:animEffect transition="in" filter="wipe(down)">
                                      <p:cBhvr>
                                        <p:cTn id="90" dur="500"/>
                                        <p:tgtEl>
                                          <p:spTgt spid="14"/>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xit" presetSubtype="8" dur="500" fill="hold" nodeType="clickEffect">
                                  <p:stCondLst>
                                    <p:cond delay="0"/>
                                  </p:stCondLst>
                                  <p:childTnLst>
                                    <p:animEffect transition="out" filter="wipe(left)">
                                      <p:cBhvr>
                                        <p:cTn id="94" dur="500"/>
                                        <p:tgtEl>
                                          <p:spTgt spid="30"/>
                                        </p:tgtEl>
                                      </p:cBhvr>
                                    </p:animEffect>
                                    <p:set>
                                      <p:cBhvr>
                                        <p:cTn id="95"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P spid="21" grpId="0"/>
      <p:bldP spid="2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64D19-237A-09DA-D6A2-5ADC0824874E}"/>
              </a:ext>
            </a:extLst>
          </p:cNvPr>
          <p:cNvSpPr>
            <a:spLocks noGrp="1"/>
          </p:cNvSpPr>
          <p:nvPr>
            <p:ph type="title"/>
          </p:nvPr>
        </p:nvSpPr>
        <p:spPr>
          <a:xfrm>
            <a:off x="838200" y="365126"/>
            <a:ext cx="10515600" cy="833420"/>
          </a:xfrm>
        </p:spPr>
        <p:txBody>
          <a:bodyPr/>
          <a:lstStyle/>
          <a:p>
            <a:r>
              <a:rPr lang="en-US" dirty="0"/>
              <a:t>Phases of compiler</a:t>
            </a:r>
            <a:endParaRPr lang="en-IN" dirty="0"/>
          </a:p>
        </p:txBody>
      </p:sp>
      <p:sp>
        <p:nvSpPr>
          <p:cNvPr id="3" name="Content Placeholder 2">
            <a:extLst>
              <a:ext uri="{FF2B5EF4-FFF2-40B4-BE49-F238E27FC236}">
                <a16:creationId xmlns:a16="http://schemas.microsoft.com/office/drawing/2014/main" id="{CD5FEFD1-D90C-E10F-6BE9-50FDEF3D55B0}"/>
              </a:ext>
            </a:extLst>
          </p:cNvPr>
          <p:cNvSpPr>
            <a:spLocks noGrp="1"/>
          </p:cNvSpPr>
          <p:nvPr>
            <p:ph idx="1"/>
          </p:nvPr>
        </p:nvSpPr>
        <p:spPr/>
        <p:txBody>
          <a:bodyPr/>
          <a:lstStyle/>
          <a:p>
            <a:endParaRPr lang="en-IN"/>
          </a:p>
        </p:txBody>
      </p:sp>
      <p:sp>
        <p:nvSpPr>
          <p:cNvPr id="4" name="Rectangle 3">
            <a:extLst>
              <a:ext uri="{FF2B5EF4-FFF2-40B4-BE49-F238E27FC236}">
                <a16:creationId xmlns:a16="http://schemas.microsoft.com/office/drawing/2014/main" id="{B5792533-98D2-E9F8-E78B-76DD58927F48}"/>
              </a:ext>
            </a:extLst>
          </p:cNvPr>
          <p:cNvSpPr/>
          <p:nvPr/>
        </p:nvSpPr>
        <p:spPr>
          <a:xfrm>
            <a:off x="1900832" y="1520825"/>
            <a:ext cx="2876043"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bg1"/>
                </a:solidFill>
              </a:rPr>
              <a:t>Compiler</a:t>
            </a:r>
          </a:p>
        </p:txBody>
      </p:sp>
      <p:sp>
        <p:nvSpPr>
          <p:cNvPr id="5" name="Rectangle 4">
            <a:extLst>
              <a:ext uri="{FF2B5EF4-FFF2-40B4-BE49-F238E27FC236}">
                <a16:creationId xmlns:a16="http://schemas.microsoft.com/office/drawing/2014/main" id="{9C44DD72-3A05-D5C1-7BC4-21630FE2F6DB}"/>
              </a:ext>
            </a:extLst>
          </p:cNvPr>
          <p:cNvSpPr/>
          <p:nvPr/>
        </p:nvSpPr>
        <p:spPr>
          <a:xfrm>
            <a:off x="1934081" y="2921333"/>
            <a:ext cx="2057400"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Analysis phase</a:t>
            </a:r>
          </a:p>
        </p:txBody>
      </p:sp>
      <p:sp>
        <p:nvSpPr>
          <p:cNvPr id="6" name="Rectangle 5">
            <a:extLst>
              <a:ext uri="{FF2B5EF4-FFF2-40B4-BE49-F238E27FC236}">
                <a16:creationId xmlns:a16="http://schemas.microsoft.com/office/drawing/2014/main" id="{83474AAA-2A76-B7AF-E9B4-E3EADB15E18D}"/>
              </a:ext>
            </a:extLst>
          </p:cNvPr>
          <p:cNvSpPr/>
          <p:nvPr/>
        </p:nvSpPr>
        <p:spPr>
          <a:xfrm>
            <a:off x="7663992" y="2871458"/>
            <a:ext cx="2057400"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Synthesis phase</a:t>
            </a:r>
          </a:p>
        </p:txBody>
      </p:sp>
      <p:cxnSp>
        <p:nvCxnSpPr>
          <p:cNvPr id="7" name="Straight Connector 6">
            <a:extLst>
              <a:ext uri="{FF2B5EF4-FFF2-40B4-BE49-F238E27FC236}">
                <a16:creationId xmlns:a16="http://schemas.microsoft.com/office/drawing/2014/main" id="{944E1D65-7FA1-7DDB-5D1E-794CA6DD4782}"/>
              </a:ext>
            </a:extLst>
          </p:cNvPr>
          <p:cNvCxnSpPr/>
          <p:nvPr/>
        </p:nvCxnSpPr>
        <p:spPr>
          <a:xfrm flipH="1">
            <a:off x="2238881" y="3530934"/>
            <a:ext cx="0" cy="2324793"/>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F8617EC-B2DB-D716-2FF7-695ABE174EAE}"/>
              </a:ext>
            </a:extLst>
          </p:cNvPr>
          <p:cNvCxnSpPr/>
          <p:nvPr/>
        </p:nvCxnSpPr>
        <p:spPr>
          <a:xfrm flipH="1">
            <a:off x="7963068" y="3480200"/>
            <a:ext cx="0" cy="2324793"/>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AB851C1-52C4-5B16-3987-1345EB4A5BBB}"/>
              </a:ext>
            </a:extLst>
          </p:cNvPr>
          <p:cNvCxnSpPr/>
          <p:nvPr/>
        </p:nvCxnSpPr>
        <p:spPr>
          <a:xfrm>
            <a:off x="2238881" y="4103126"/>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4EBEF770-D3E3-E43C-8E1E-974E804A0689}"/>
              </a:ext>
            </a:extLst>
          </p:cNvPr>
          <p:cNvSpPr/>
          <p:nvPr/>
        </p:nvSpPr>
        <p:spPr>
          <a:xfrm>
            <a:off x="2654517" y="3778929"/>
            <a:ext cx="2022764"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Lexical analysis </a:t>
            </a:r>
          </a:p>
        </p:txBody>
      </p:sp>
      <p:cxnSp>
        <p:nvCxnSpPr>
          <p:cNvPr id="11" name="Straight Arrow Connector 10">
            <a:extLst>
              <a:ext uri="{FF2B5EF4-FFF2-40B4-BE49-F238E27FC236}">
                <a16:creationId xmlns:a16="http://schemas.microsoft.com/office/drawing/2014/main" id="{3F42D0AA-AE54-08AF-8A3C-B6C6FB7B7427}"/>
              </a:ext>
            </a:extLst>
          </p:cNvPr>
          <p:cNvCxnSpPr/>
          <p:nvPr/>
        </p:nvCxnSpPr>
        <p:spPr>
          <a:xfrm>
            <a:off x="2227798" y="5009903"/>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2BC40AD-478E-2705-F86C-E51A787C34E5}"/>
              </a:ext>
            </a:extLst>
          </p:cNvPr>
          <p:cNvSpPr/>
          <p:nvPr/>
        </p:nvSpPr>
        <p:spPr>
          <a:xfrm>
            <a:off x="2643434" y="4685706"/>
            <a:ext cx="2022764"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bg1"/>
                </a:solidFill>
              </a:rPr>
              <a:t>Syntax analysis </a:t>
            </a:r>
          </a:p>
        </p:txBody>
      </p:sp>
      <p:cxnSp>
        <p:nvCxnSpPr>
          <p:cNvPr id="13" name="Straight Arrow Connector 12">
            <a:extLst>
              <a:ext uri="{FF2B5EF4-FFF2-40B4-BE49-F238E27FC236}">
                <a16:creationId xmlns:a16="http://schemas.microsoft.com/office/drawing/2014/main" id="{E431438D-3F3F-5951-7A6E-D9C69F6914F4}"/>
              </a:ext>
            </a:extLst>
          </p:cNvPr>
          <p:cNvCxnSpPr/>
          <p:nvPr/>
        </p:nvCxnSpPr>
        <p:spPr>
          <a:xfrm>
            <a:off x="2227798" y="5846547"/>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1045C0FF-5A7E-21E1-D513-31E6E7D7BDF6}"/>
              </a:ext>
            </a:extLst>
          </p:cNvPr>
          <p:cNvSpPr/>
          <p:nvPr/>
        </p:nvSpPr>
        <p:spPr>
          <a:xfrm>
            <a:off x="2643434" y="5550926"/>
            <a:ext cx="2022764"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chemeClr val="bg1"/>
                </a:solidFill>
              </a:rPr>
              <a:t>Semantic analysis </a:t>
            </a:r>
          </a:p>
        </p:txBody>
      </p:sp>
      <p:sp>
        <p:nvSpPr>
          <p:cNvPr id="15" name="Rectangle 14">
            <a:extLst>
              <a:ext uri="{FF2B5EF4-FFF2-40B4-BE49-F238E27FC236}">
                <a16:creationId xmlns:a16="http://schemas.microsoft.com/office/drawing/2014/main" id="{2DA29FB7-58E1-ACD3-8D51-987EC1B1F3F4}"/>
              </a:ext>
            </a:extLst>
          </p:cNvPr>
          <p:cNvSpPr/>
          <p:nvPr/>
        </p:nvSpPr>
        <p:spPr>
          <a:xfrm>
            <a:off x="7577051" y="2788329"/>
            <a:ext cx="2933700" cy="3854335"/>
          </a:xfrm>
          <a:prstGeom prst="rect">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590B7C8-4CA3-BB51-10A4-83B71C77942C}"/>
              </a:ext>
            </a:extLst>
          </p:cNvPr>
          <p:cNvSpPr/>
          <p:nvPr/>
        </p:nvSpPr>
        <p:spPr>
          <a:xfrm>
            <a:off x="1876425" y="2832664"/>
            <a:ext cx="2933700" cy="3810000"/>
          </a:xfrm>
          <a:prstGeom prst="rect">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CDA20D5-E611-2050-0794-1D459214B168}"/>
              </a:ext>
            </a:extLst>
          </p:cNvPr>
          <p:cNvSpPr/>
          <p:nvPr/>
        </p:nvSpPr>
        <p:spPr>
          <a:xfrm>
            <a:off x="5364122" y="4089268"/>
            <a:ext cx="1742928" cy="1230974"/>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Intermediate code generation</a:t>
            </a:r>
          </a:p>
        </p:txBody>
      </p:sp>
      <p:cxnSp>
        <p:nvCxnSpPr>
          <p:cNvPr id="18" name="Straight Arrow Connector 17">
            <a:extLst>
              <a:ext uri="{FF2B5EF4-FFF2-40B4-BE49-F238E27FC236}">
                <a16:creationId xmlns:a16="http://schemas.microsoft.com/office/drawing/2014/main" id="{652221C0-CBE6-4054-39DC-35F0FE6EF20B}"/>
              </a:ext>
            </a:extLst>
          </p:cNvPr>
          <p:cNvCxnSpPr>
            <a:stCxn id="16" idx="3"/>
          </p:cNvCxnSpPr>
          <p:nvPr/>
        </p:nvCxnSpPr>
        <p:spPr>
          <a:xfrm>
            <a:off x="4810125" y="4737664"/>
            <a:ext cx="536504"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CD85F0-75D9-14E5-EDE3-F2C67DB04258}"/>
              </a:ext>
            </a:extLst>
          </p:cNvPr>
          <p:cNvCxnSpPr/>
          <p:nvPr/>
        </p:nvCxnSpPr>
        <p:spPr>
          <a:xfrm>
            <a:off x="7107381" y="4754289"/>
            <a:ext cx="484632"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9D9A66A-8A8B-1060-DB1E-B5FF6CB32802}"/>
              </a:ext>
            </a:extLst>
          </p:cNvPr>
          <p:cNvCxnSpPr/>
          <p:nvPr/>
        </p:nvCxnSpPr>
        <p:spPr>
          <a:xfrm>
            <a:off x="7948780" y="4560326"/>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B3C3EDA7-A9FB-4F04-080D-5646063C4463}"/>
              </a:ext>
            </a:extLst>
          </p:cNvPr>
          <p:cNvSpPr/>
          <p:nvPr/>
        </p:nvSpPr>
        <p:spPr>
          <a:xfrm>
            <a:off x="8331289" y="4010304"/>
            <a:ext cx="2022764" cy="899157"/>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Code optimization </a:t>
            </a:r>
          </a:p>
        </p:txBody>
      </p:sp>
      <p:cxnSp>
        <p:nvCxnSpPr>
          <p:cNvPr id="22" name="Straight Arrow Connector 21">
            <a:extLst>
              <a:ext uri="{FF2B5EF4-FFF2-40B4-BE49-F238E27FC236}">
                <a16:creationId xmlns:a16="http://schemas.microsoft.com/office/drawing/2014/main" id="{3E2A4B48-6D5B-635D-326B-0B5D2077B6AD}"/>
              </a:ext>
            </a:extLst>
          </p:cNvPr>
          <p:cNvCxnSpPr/>
          <p:nvPr/>
        </p:nvCxnSpPr>
        <p:spPr>
          <a:xfrm>
            <a:off x="7950289" y="5797373"/>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DD7BB518-5542-29CF-EE55-BE184A601782}"/>
              </a:ext>
            </a:extLst>
          </p:cNvPr>
          <p:cNvSpPr/>
          <p:nvPr/>
        </p:nvSpPr>
        <p:spPr>
          <a:xfrm>
            <a:off x="8315851" y="5295306"/>
            <a:ext cx="2022764" cy="824348"/>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Code generation </a:t>
            </a:r>
          </a:p>
        </p:txBody>
      </p:sp>
      <p:cxnSp>
        <p:nvCxnSpPr>
          <p:cNvPr id="24" name="Straight Arrow Connector 23">
            <a:extLst>
              <a:ext uri="{FF2B5EF4-FFF2-40B4-BE49-F238E27FC236}">
                <a16:creationId xmlns:a16="http://schemas.microsoft.com/office/drawing/2014/main" id="{EBD2FB0F-95BD-C58C-E73C-DCB77BABBABC}"/>
              </a:ext>
            </a:extLst>
          </p:cNvPr>
          <p:cNvCxnSpPr>
            <a:stCxn id="4" idx="2"/>
            <a:endCxn id="16" idx="0"/>
          </p:cNvCxnSpPr>
          <p:nvPr/>
        </p:nvCxnSpPr>
        <p:spPr>
          <a:xfrm>
            <a:off x="3338853" y="2130426"/>
            <a:ext cx="4422" cy="702239"/>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2454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dur="2000" fill="hold" nodeType="clickEffect">
                                  <p:stCondLst>
                                    <p:cond delay="0"/>
                                  </p:stCondLst>
                                  <p:childTnLst>
                                    <p:animClr clrSpc="rgb" dir="cw">
                                      <p:cBhvr>
                                        <p:cTn id="6" dur="2000" fill="hold"/>
                                        <p:tgtEl>
                                          <p:spTgt spid="14"/>
                                        </p:tgtEl>
                                        <p:attrNameLst>
                                          <p:attrName>fillcolor</p:attrName>
                                        </p:attrNameLst>
                                      </p:cBhvr>
                                      <p:to>
                                        <a:schemeClr val="accent2"/>
                                      </p:to>
                                    </p:animClr>
                                    <p:set>
                                      <p:cBhvr>
                                        <p:cTn id="7" dur="2000" fill="hold"/>
                                        <p:tgtEl>
                                          <p:spTgt spid="14"/>
                                        </p:tgtEl>
                                        <p:attrNameLst>
                                          <p:attrName>fill.type</p:attrName>
                                        </p:attrNameLst>
                                      </p:cBhvr>
                                      <p:to>
                                        <p:strVal val="solid"/>
                                      </p:to>
                                    </p:set>
                                    <p:set>
                                      <p:cBhvr>
                                        <p:cTn id="8" dur="2000" fill="hold"/>
                                        <p:tgtEl>
                                          <p:spTgt spid="1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FB668-D278-7BF5-40FF-F0ACE8570F28}"/>
              </a:ext>
            </a:extLst>
          </p:cNvPr>
          <p:cNvSpPr txBox="1">
            <a:spLocks/>
          </p:cNvSpPr>
          <p:nvPr/>
        </p:nvSpPr>
        <p:spPr>
          <a:xfrm>
            <a:off x="0" y="1"/>
            <a:ext cx="12192000" cy="711200"/>
          </a:xfrm>
          <a:prstGeom prst="rect">
            <a:avLst/>
          </a:prstGeom>
          <a:noFill/>
          <a:ln>
            <a:solidFill>
              <a:schemeClr val="bg1"/>
            </a:solidFill>
          </a:ln>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dirty="0"/>
              <a:t>Semantic analysis</a:t>
            </a:r>
          </a:p>
        </p:txBody>
      </p:sp>
      <p:sp>
        <p:nvSpPr>
          <p:cNvPr id="3" name="Content Placeholder 5">
            <a:extLst>
              <a:ext uri="{FF2B5EF4-FFF2-40B4-BE49-F238E27FC236}">
                <a16:creationId xmlns:a16="http://schemas.microsoft.com/office/drawing/2014/main" id="{D9F536DF-8BCB-FA9C-41E7-35950C5AD74B}"/>
              </a:ext>
            </a:extLst>
          </p:cNvPr>
          <p:cNvSpPr txBox="1">
            <a:spLocks/>
          </p:cNvSpPr>
          <p:nvPr/>
        </p:nvSpPr>
        <p:spPr>
          <a:xfrm>
            <a:off x="131181" y="863444"/>
            <a:ext cx="7231640"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dirty="0"/>
              <a:t>Semantic analyzer determines the </a:t>
            </a:r>
            <a:r>
              <a:rPr lang="en-US" b="1" dirty="0">
                <a:solidFill>
                  <a:srgbClr val="0E47A1"/>
                </a:solidFill>
              </a:rPr>
              <a:t>meaning of a source string</a:t>
            </a:r>
            <a:r>
              <a:rPr lang="en-US" dirty="0"/>
              <a:t>.</a:t>
            </a:r>
          </a:p>
          <a:p>
            <a:pPr>
              <a:lnSpc>
                <a:spcPct val="100000"/>
              </a:lnSpc>
            </a:pPr>
            <a:r>
              <a:rPr lang="en-US" dirty="0"/>
              <a:t>It performs following operations: </a:t>
            </a:r>
          </a:p>
          <a:p>
            <a:pPr marL="857250" lvl="1" indent="-457200">
              <a:lnSpc>
                <a:spcPct val="100000"/>
              </a:lnSpc>
              <a:buFont typeface="+mj-lt"/>
              <a:buAutoNum type="arabicPeriod"/>
            </a:pPr>
            <a:r>
              <a:rPr lang="en-US" dirty="0"/>
              <a:t>matching of parenthesis in the expression. </a:t>
            </a:r>
          </a:p>
          <a:p>
            <a:pPr marL="857250" lvl="1" indent="-457200">
              <a:lnSpc>
                <a:spcPct val="100000"/>
              </a:lnSpc>
              <a:buFont typeface="+mj-lt"/>
              <a:buAutoNum type="arabicPeriod"/>
            </a:pPr>
            <a:r>
              <a:rPr lang="en-US" dirty="0"/>
              <a:t>Matching of </a:t>
            </a:r>
            <a:r>
              <a:rPr lang="en-US" dirty="0" err="1"/>
              <a:t>if..else</a:t>
            </a:r>
            <a:r>
              <a:rPr lang="en-US" dirty="0"/>
              <a:t> statement.</a:t>
            </a:r>
          </a:p>
          <a:p>
            <a:pPr marL="857250" lvl="1" indent="-457200">
              <a:lnSpc>
                <a:spcPct val="100000"/>
              </a:lnSpc>
              <a:buFont typeface="+mj-lt"/>
              <a:buAutoNum type="arabicPeriod"/>
            </a:pPr>
            <a:r>
              <a:rPr lang="en-US" dirty="0"/>
              <a:t>Performing arithmetic operation that are type compatible. </a:t>
            </a:r>
          </a:p>
          <a:p>
            <a:pPr marL="857250" lvl="1" indent="-457200">
              <a:lnSpc>
                <a:spcPct val="100000"/>
              </a:lnSpc>
              <a:buFont typeface="+mj-lt"/>
              <a:buAutoNum type="arabicPeriod"/>
            </a:pPr>
            <a:r>
              <a:rPr lang="en-US" dirty="0"/>
              <a:t>Checking the scope of operation.</a:t>
            </a:r>
          </a:p>
          <a:p>
            <a:pPr marL="0" indent="0">
              <a:lnSpc>
                <a:spcPct val="100000"/>
              </a:lnSpc>
              <a:buFont typeface="Arial" panose="020B0604020202020204" pitchFamily="34" charset="0"/>
              <a:buNone/>
            </a:pPr>
            <a:endParaRPr lang="en-US" dirty="0"/>
          </a:p>
          <a:p>
            <a:endParaRPr lang="en-US" dirty="0"/>
          </a:p>
          <a:p>
            <a:endParaRPr lang="en-US" dirty="0"/>
          </a:p>
        </p:txBody>
      </p:sp>
      <p:grpSp>
        <p:nvGrpSpPr>
          <p:cNvPr id="4" name="Group 3">
            <a:extLst>
              <a:ext uri="{FF2B5EF4-FFF2-40B4-BE49-F238E27FC236}">
                <a16:creationId xmlns:a16="http://schemas.microsoft.com/office/drawing/2014/main" id="{9B237D61-CB8E-B0DC-2AE1-0C5C67C2EAF7}"/>
              </a:ext>
            </a:extLst>
          </p:cNvPr>
          <p:cNvGrpSpPr/>
          <p:nvPr/>
        </p:nvGrpSpPr>
        <p:grpSpPr>
          <a:xfrm>
            <a:off x="7994631" y="846050"/>
            <a:ext cx="2468169" cy="2267944"/>
            <a:chOff x="6206725" y="3730228"/>
            <a:chExt cx="2468169" cy="2267944"/>
          </a:xfrm>
        </p:grpSpPr>
        <p:sp>
          <p:nvSpPr>
            <p:cNvPr id="5" name="Rectangle 4">
              <a:extLst>
                <a:ext uri="{FF2B5EF4-FFF2-40B4-BE49-F238E27FC236}">
                  <a16:creationId xmlns:a16="http://schemas.microsoft.com/office/drawing/2014/main" id="{6DEE3E01-D522-BE0C-F023-4965E363BE45}"/>
                </a:ext>
              </a:extLst>
            </p:cNvPr>
            <p:cNvSpPr/>
            <p:nvPr/>
          </p:nvSpPr>
          <p:spPr>
            <a:xfrm>
              <a:off x="6705600" y="3730228"/>
              <a:ext cx="4572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t>
              </a:r>
            </a:p>
          </p:txBody>
        </p:sp>
        <p:grpSp>
          <p:nvGrpSpPr>
            <p:cNvPr id="6" name="Group 5">
              <a:extLst>
                <a:ext uri="{FF2B5EF4-FFF2-40B4-BE49-F238E27FC236}">
                  <a16:creationId xmlns:a16="http://schemas.microsoft.com/office/drawing/2014/main" id="{22D62CA7-DBAF-B24E-66B2-59A7A2CF55F6}"/>
                </a:ext>
              </a:extLst>
            </p:cNvPr>
            <p:cNvGrpSpPr/>
            <p:nvPr/>
          </p:nvGrpSpPr>
          <p:grpSpPr>
            <a:xfrm>
              <a:off x="6206725" y="4073128"/>
              <a:ext cx="1491855" cy="692944"/>
              <a:chOff x="6206725" y="4073128"/>
              <a:chExt cx="1491855" cy="692944"/>
            </a:xfrm>
          </p:grpSpPr>
          <p:cxnSp>
            <p:nvCxnSpPr>
              <p:cNvPr id="17" name="Straight Arrow Connector 16">
                <a:extLst>
                  <a:ext uri="{FF2B5EF4-FFF2-40B4-BE49-F238E27FC236}">
                    <a16:creationId xmlns:a16="http://schemas.microsoft.com/office/drawing/2014/main" id="{6A15CD5D-7DD0-6CA3-C7F4-851AE3C9DFBD}"/>
                  </a:ext>
                </a:extLst>
              </p:cNvPr>
              <p:cNvCxnSpPr/>
              <p:nvPr/>
            </p:nvCxnSpPr>
            <p:spPr>
              <a:xfrm flipH="1">
                <a:off x="6635351" y="4073128"/>
                <a:ext cx="332185"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33E3D3F-F6F7-0E6E-FFB4-D393D54231D1}"/>
                  </a:ext>
                </a:extLst>
              </p:cNvPr>
              <p:cNvCxnSpPr/>
              <p:nvPr/>
            </p:nvCxnSpPr>
            <p:spPr>
              <a:xfrm>
                <a:off x="6938962" y="4073128"/>
                <a:ext cx="342898"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337ADE9E-BCDA-3F39-7D9D-5B06591A003A}"/>
                  </a:ext>
                </a:extLst>
              </p:cNvPr>
              <p:cNvSpPr/>
              <p:nvPr/>
            </p:nvSpPr>
            <p:spPr>
              <a:xfrm>
                <a:off x="6206725" y="4385072"/>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id1</a:t>
                </a:r>
              </a:p>
            </p:txBody>
          </p:sp>
          <p:sp>
            <p:nvSpPr>
              <p:cNvPr id="20" name="Rectangle 19">
                <a:extLst>
                  <a:ext uri="{FF2B5EF4-FFF2-40B4-BE49-F238E27FC236}">
                    <a16:creationId xmlns:a16="http://schemas.microsoft.com/office/drawing/2014/main" id="{48510C13-D9BB-6EAA-0A1E-C538873E0F1E}"/>
                  </a:ext>
                </a:extLst>
              </p:cNvPr>
              <p:cNvSpPr/>
              <p:nvPr/>
            </p:nvSpPr>
            <p:spPr>
              <a:xfrm>
                <a:off x="7003254" y="4348161"/>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t>
                </a:r>
              </a:p>
            </p:txBody>
          </p:sp>
        </p:grpSp>
        <p:grpSp>
          <p:nvGrpSpPr>
            <p:cNvPr id="7" name="Group 6">
              <a:extLst>
                <a:ext uri="{FF2B5EF4-FFF2-40B4-BE49-F238E27FC236}">
                  <a16:creationId xmlns:a16="http://schemas.microsoft.com/office/drawing/2014/main" id="{7AA62DD7-A938-BAEA-56EA-477C75210A9C}"/>
                </a:ext>
              </a:extLst>
            </p:cNvPr>
            <p:cNvGrpSpPr/>
            <p:nvPr/>
          </p:nvGrpSpPr>
          <p:grpSpPr>
            <a:xfrm>
              <a:off x="6702622" y="4680347"/>
              <a:ext cx="1491855" cy="692944"/>
              <a:chOff x="6206725" y="4073128"/>
              <a:chExt cx="1491855" cy="692944"/>
            </a:xfrm>
          </p:grpSpPr>
          <p:cxnSp>
            <p:nvCxnSpPr>
              <p:cNvPr id="13" name="Straight Arrow Connector 12">
                <a:extLst>
                  <a:ext uri="{FF2B5EF4-FFF2-40B4-BE49-F238E27FC236}">
                    <a16:creationId xmlns:a16="http://schemas.microsoft.com/office/drawing/2014/main" id="{00472A57-64F3-EA87-377C-EE781C4F910D}"/>
                  </a:ext>
                </a:extLst>
              </p:cNvPr>
              <p:cNvCxnSpPr/>
              <p:nvPr/>
            </p:nvCxnSpPr>
            <p:spPr>
              <a:xfrm flipH="1">
                <a:off x="6635351" y="4073128"/>
                <a:ext cx="332185"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7AE8C93-47C7-2BC5-E0A1-9018633BC82F}"/>
                  </a:ext>
                </a:extLst>
              </p:cNvPr>
              <p:cNvCxnSpPr/>
              <p:nvPr/>
            </p:nvCxnSpPr>
            <p:spPr>
              <a:xfrm>
                <a:off x="6938962" y="4073128"/>
                <a:ext cx="342898"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5CC2A212-40FE-59FE-642A-9401226000B3}"/>
                  </a:ext>
                </a:extLst>
              </p:cNvPr>
              <p:cNvSpPr/>
              <p:nvPr/>
            </p:nvSpPr>
            <p:spPr>
              <a:xfrm>
                <a:off x="6206725" y="4385072"/>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id2</a:t>
                </a:r>
              </a:p>
            </p:txBody>
          </p:sp>
          <p:sp>
            <p:nvSpPr>
              <p:cNvPr id="16" name="Rectangle 15">
                <a:extLst>
                  <a:ext uri="{FF2B5EF4-FFF2-40B4-BE49-F238E27FC236}">
                    <a16:creationId xmlns:a16="http://schemas.microsoft.com/office/drawing/2014/main" id="{1ECDDF87-27A0-318B-D5A5-BD8217A485F1}"/>
                  </a:ext>
                </a:extLst>
              </p:cNvPr>
              <p:cNvSpPr/>
              <p:nvPr/>
            </p:nvSpPr>
            <p:spPr>
              <a:xfrm>
                <a:off x="7003254" y="4348161"/>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t>
                </a:r>
              </a:p>
            </p:txBody>
          </p:sp>
        </p:grpSp>
        <p:grpSp>
          <p:nvGrpSpPr>
            <p:cNvPr id="8" name="Group 7">
              <a:extLst>
                <a:ext uri="{FF2B5EF4-FFF2-40B4-BE49-F238E27FC236}">
                  <a16:creationId xmlns:a16="http://schemas.microsoft.com/office/drawing/2014/main" id="{D3624D35-CC26-9D1E-5D85-03143AAA2D15}"/>
                </a:ext>
              </a:extLst>
            </p:cNvPr>
            <p:cNvGrpSpPr/>
            <p:nvPr/>
          </p:nvGrpSpPr>
          <p:grpSpPr>
            <a:xfrm>
              <a:off x="7162800" y="5270896"/>
              <a:ext cx="1512094" cy="727276"/>
              <a:chOff x="6206725" y="4073128"/>
              <a:chExt cx="1512094" cy="727276"/>
            </a:xfrm>
          </p:grpSpPr>
          <p:cxnSp>
            <p:nvCxnSpPr>
              <p:cNvPr id="9" name="Straight Arrow Connector 8">
                <a:extLst>
                  <a:ext uri="{FF2B5EF4-FFF2-40B4-BE49-F238E27FC236}">
                    <a16:creationId xmlns:a16="http://schemas.microsoft.com/office/drawing/2014/main" id="{FC9B1FAE-B8F2-8799-E947-764C84454779}"/>
                  </a:ext>
                </a:extLst>
              </p:cNvPr>
              <p:cNvCxnSpPr/>
              <p:nvPr/>
            </p:nvCxnSpPr>
            <p:spPr>
              <a:xfrm flipH="1">
                <a:off x="6635351" y="4073128"/>
                <a:ext cx="332185"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C938909-0FCD-45B5-3BDE-7BA143098291}"/>
                  </a:ext>
                </a:extLst>
              </p:cNvPr>
              <p:cNvCxnSpPr/>
              <p:nvPr/>
            </p:nvCxnSpPr>
            <p:spPr>
              <a:xfrm>
                <a:off x="6938962" y="4073128"/>
                <a:ext cx="342898"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CD1CFA5C-0472-4CAA-E8C3-5E50F8AF9D41}"/>
                  </a:ext>
                </a:extLst>
              </p:cNvPr>
              <p:cNvSpPr/>
              <p:nvPr/>
            </p:nvSpPr>
            <p:spPr>
              <a:xfrm>
                <a:off x="6206725" y="4385072"/>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id3</a:t>
                </a:r>
              </a:p>
            </p:txBody>
          </p:sp>
          <p:sp>
            <p:nvSpPr>
              <p:cNvPr id="12" name="Rectangle 11">
                <a:extLst>
                  <a:ext uri="{FF2B5EF4-FFF2-40B4-BE49-F238E27FC236}">
                    <a16:creationId xmlns:a16="http://schemas.microsoft.com/office/drawing/2014/main" id="{8AEC5753-AAD7-4D3F-0385-40770442B47A}"/>
                  </a:ext>
                </a:extLst>
              </p:cNvPr>
              <p:cNvSpPr/>
              <p:nvPr/>
            </p:nvSpPr>
            <p:spPr>
              <a:xfrm>
                <a:off x="7023493" y="4419404"/>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60</a:t>
                </a:r>
              </a:p>
            </p:txBody>
          </p:sp>
        </p:grpSp>
      </p:grpSp>
      <p:sp>
        <p:nvSpPr>
          <p:cNvPr id="21" name="Rectangle 20">
            <a:extLst>
              <a:ext uri="{FF2B5EF4-FFF2-40B4-BE49-F238E27FC236}">
                <a16:creationId xmlns:a16="http://schemas.microsoft.com/office/drawing/2014/main" id="{29046E5F-B132-8624-131F-5CAA98015E42}"/>
              </a:ext>
            </a:extLst>
          </p:cNvPr>
          <p:cNvSpPr/>
          <p:nvPr/>
        </p:nvSpPr>
        <p:spPr>
          <a:xfrm>
            <a:off x="8261334" y="3390815"/>
            <a:ext cx="2438400" cy="512871"/>
          </a:xfrm>
          <a:prstGeom prst="rect">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Semantic analysis</a:t>
            </a:r>
          </a:p>
        </p:txBody>
      </p:sp>
      <p:cxnSp>
        <p:nvCxnSpPr>
          <p:cNvPr id="22" name="Straight Arrow Connector 21">
            <a:extLst>
              <a:ext uri="{FF2B5EF4-FFF2-40B4-BE49-F238E27FC236}">
                <a16:creationId xmlns:a16="http://schemas.microsoft.com/office/drawing/2014/main" id="{DB35B9BF-9897-29EB-734D-2ECA72A7652C}"/>
              </a:ext>
            </a:extLst>
          </p:cNvPr>
          <p:cNvCxnSpPr>
            <a:cxnSpLocks/>
          </p:cNvCxnSpPr>
          <p:nvPr/>
        </p:nvCxnSpPr>
        <p:spPr>
          <a:xfrm flipH="1">
            <a:off x="9457315" y="3071677"/>
            <a:ext cx="0" cy="316698"/>
          </a:xfrm>
          <a:prstGeom prst="straightConnector1">
            <a:avLst/>
          </a:prstGeom>
          <a:ln w="22225">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BFA917D-309F-6175-5DE2-7F3C0525D48F}"/>
              </a:ext>
            </a:extLst>
          </p:cNvPr>
          <p:cNvCxnSpPr>
            <a:cxnSpLocks/>
          </p:cNvCxnSpPr>
          <p:nvPr/>
        </p:nvCxnSpPr>
        <p:spPr>
          <a:xfrm flipH="1">
            <a:off x="9457315" y="3894708"/>
            <a:ext cx="0" cy="226219"/>
          </a:xfrm>
          <a:prstGeom prst="straightConnector1">
            <a:avLst/>
          </a:prstGeom>
          <a:ln w="22225">
            <a:solidFill>
              <a:srgbClr val="0E47A1"/>
            </a:solidFill>
            <a:tailEnd type="arrow"/>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37D5580D-60B7-89E2-D0CC-54E030A900B5}"/>
              </a:ext>
            </a:extLst>
          </p:cNvPr>
          <p:cNvGrpSpPr/>
          <p:nvPr/>
        </p:nvGrpSpPr>
        <p:grpSpPr>
          <a:xfrm>
            <a:off x="8155366" y="3922647"/>
            <a:ext cx="2762254" cy="2233612"/>
            <a:chOff x="6206725" y="3730228"/>
            <a:chExt cx="2762254" cy="2233612"/>
          </a:xfrm>
        </p:grpSpPr>
        <p:sp>
          <p:nvSpPr>
            <p:cNvPr id="25" name="Rectangle 24">
              <a:extLst>
                <a:ext uri="{FF2B5EF4-FFF2-40B4-BE49-F238E27FC236}">
                  <a16:creationId xmlns:a16="http://schemas.microsoft.com/office/drawing/2014/main" id="{49B6BD9E-D4AE-E62A-B51D-35A1C6BA292E}"/>
                </a:ext>
              </a:extLst>
            </p:cNvPr>
            <p:cNvSpPr/>
            <p:nvPr/>
          </p:nvSpPr>
          <p:spPr>
            <a:xfrm>
              <a:off x="6705600" y="3730228"/>
              <a:ext cx="4572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t>
              </a:r>
            </a:p>
          </p:txBody>
        </p:sp>
        <p:grpSp>
          <p:nvGrpSpPr>
            <p:cNvPr id="26" name="Group 25">
              <a:extLst>
                <a:ext uri="{FF2B5EF4-FFF2-40B4-BE49-F238E27FC236}">
                  <a16:creationId xmlns:a16="http://schemas.microsoft.com/office/drawing/2014/main" id="{393E96ED-A8A1-8EB2-0973-1BC39A7FAA91}"/>
                </a:ext>
              </a:extLst>
            </p:cNvPr>
            <p:cNvGrpSpPr/>
            <p:nvPr/>
          </p:nvGrpSpPr>
          <p:grpSpPr>
            <a:xfrm>
              <a:off x="6206725" y="4073128"/>
              <a:ext cx="1491855" cy="692944"/>
              <a:chOff x="6206725" y="4073128"/>
              <a:chExt cx="1491855" cy="692944"/>
            </a:xfrm>
          </p:grpSpPr>
          <p:cxnSp>
            <p:nvCxnSpPr>
              <p:cNvPr id="37" name="Straight Arrow Connector 36">
                <a:extLst>
                  <a:ext uri="{FF2B5EF4-FFF2-40B4-BE49-F238E27FC236}">
                    <a16:creationId xmlns:a16="http://schemas.microsoft.com/office/drawing/2014/main" id="{24F02807-7E9E-5BC5-4E80-A02A89345757}"/>
                  </a:ext>
                </a:extLst>
              </p:cNvPr>
              <p:cNvCxnSpPr/>
              <p:nvPr/>
            </p:nvCxnSpPr>
            <p:spPr>
              <a:xfrm flipH="1">
                <a:off x="6635351" y="4073128"/>
                <a:ext cx="332185"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5C35673-5073-63D5-CB4D-A2A29D4336DF}"/>
                  </a:ext>
                </a:extLst>
              </p:cNvPr>
              <p:cNvCxnSpPr/>
              <p:nvPr/>
            </p:nvCxnSpPr>
            <p:spPr>
              <a:xfrm>
                <a:off x="6938962" y="4073128"/>
                <a:ext cx="342898"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EBD32560-EF03-8D8A-2770-E8DBF3919EDF}"/>
                  </a:ext>
                </a:extLst>
              </p:cNvPr>
              <p:cNvSpPr/>
              <p:nvPr/>
            </p:nvSpPr>
            <p:spPr>
              <a:xfrm>
                <a:off x="6206725" y="4385072"/>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id1</a:t>
                </a:r>
              </a:p>
            </p:txBody>
          </p:sp>
          <p:sp>
            <p:nvSpPr>
              <p:cNvPr id="40" name="Rectangle 39">
                <a:extLst>
                  <a:ext uri="{FF2B5EF4-FFF2-40B4-BE49-F238E27FC236}">
                    <a16:creationId xmlns:a16="http://schemas.microsoft.com/office/drawing/2014/main" id="{670A8166-F3EE-6939-5CF3-258E2F3E8A67}"/>
                  </a:ext>
                </a:extLst>
              </p:cNvPr>
              <p:cNvSpPr/>
              <p:nvPr/>
            </p:nvSpPr>
            <p:spPr>
              <a:xfrm>
                <a:off x="7003254" y="4348161"/>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t>
                </a:r>
              </a:p>
            </p:txBody>
          </p:sp>
        </p:grpSp>
        <p:grpSp>
          <p:nvGrpSpPr>
            <p:cNvPr id="27" name="Group 26">
              <a:extLst>
                <a:ext uri="{FF2B5EF4-FFF2-40B4-BE49-F238E27FC236}">
                  <a16:creationId xmlns:a16="http://schemas.microsoft.com/office/drawing/2014/main" id="{B8F5A3F5-0D73-FFAD-62ED-F767E29A110E}"/>
                </a:ext>
              </a:extLst>
            </p:cNvPr>
            <p:cNvGrpSpPr/>
            <p:nvPr/>
          </p:nvGrpSpPr>
          <p:grpSpPr>
            <a:xfrm>
              <a:off x="6702622" y="4680347"/>
              <a:ext cx="1491855" cy="692944"/>
              <a:chOff x="6206725" y="4073128"/>
              <a:chExt cx="1491855" cy="692944"/>
            </a:xfrm>
          </p:grpSpPr>
          <p:cxnSp>
            <p:nvCxnSpPr>
              <p:cNvPr id="33" name="Straight Arrow Connector 32">
                <a:extLst>
                  <a:ext uri="{FF2B5EF4-FFF2-40B4-BE49-F238E27FC236}">
                    <a16:creationId xmlns:a16="http://schemas.microsoft.com/office/drawing/2014/main" id="{7E091CB6-3840-8BF3-C844-EA51BE476064}"/>
                  </a:ext>
                </a:extLst>
              </p:cNvPr>
              <p:cNvCxnSpPr/>
              <p:nvPr/>
            </p:nvCxnSpPr>
            <p:spPr>
              <a:xfrm flipH="1">
                <a:off x="6635351" y="4073128"/>
                <a:ext cx="332185"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3A73432-3EFA-F23D-184C-7620E79A861D}"/>
                  </a:ext>
                </a:extLst>
              </p:cNvPr>
              <p:cNvCxnSpPr/>
              <p:nvPr/>
            </p:nvCxnSpPr>
            <p:spPr>
              <a:xfrm>
                <a:off x="6938962" y="4073128"/>
                <a:ext cx="342898"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A6E54D1B-0440-55DA-7753-D618E53FAE23}"/>
                  </a:ext>
                </a:extLst>
              </p:cNvPr>
              <p:cNvSpPr/>
              <p:nvPr/>
            </p:nvSpPr>
            <p:spPr>
              <a:xfrm>
                <a:off x="6206725" y="4385072"/>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id2</a:t>
                </a:r>
              </a:p>
            </p:txBody>
          </p:sp>
          <p:sp>
            <p:nvSpPr>
              <p:cNvPr id="36" name="Rectangle 35">
                <a:extLst>
                  <a:ext uri="{FF2B5EF4-FFF2-40B4-BE49-F238E27FC236}">
                    <a16:creationId xmlns:a16="http://schemas.microsoft.com/office/drawing/2014/main" id="{0DDFCFFF-8068-FAAD-1DCB-E98379B13A17}"/>
                  </a:ext>
                </a:extLst>
              </p:cNvPr>
              <p:cNvSpPr/>
              <p:nvPr/>
            </p:nvSpPr>
            <p:spPr>
              <a:xfrm>
                <a:off x="7003254" y="4348161"/>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t>
                </a:r>
              </a:p>
            </p:txBody>
          </p:sp>
        </p:grpSp>
        <p:grpSp>
          <p:nvGrpSpPr>
            <p:cNvPr id="28" name="Group 27">
              <a:extLst>
                <a:ext uri="{FF2B5EF4-FFF2-40B4-BE49-F238E27FC236}">
                  <a16:creationId xmlns:a16="http://schemas.microsoft.com/office/drawing/2014/main" id="{60A2820B-9644-6F0C-F566-FDF1F6CAFC2D}"/>
                </a:ext>
              </a:extLst>
            </p:cNvPr>
            <p:cNvGrpSpPr/>
            <p:nvPr/>
          </p:nvGrpSpPr>
          <p:grpSpPr>
            <a:xfrm>
              <a:off x="7162800" y="5270896"/>
              <a:ext cx="1806179" cy="692944"/>
              <a:chOff x="6206725" y="4073128"/>
              <a:chExt cx="1806179" cy="692944"/>
            </a:xfrm>
          </p:grpSpPr>
          <p:cxnSp>
            <p:nvCxnSpPr>
              <p:cNvPr id="29" name="Straight Arrow Connector 28">
                <a:extLst>
                  <a:ext uri="{FF2B5EF4-FFF2-40B4-BE49-F238E27FC236}">
                    <a16:creationId xmlns:a16="http://schemas.microsoft.com/office/drawing/2014/main" id="{361EFF19-FD92-C3E2-BEC1-7C36A00E0483}"/>
                  </a:ext>
                </a:extLst>
              </p:cNvPr>
              <p:cNvCxnSpPr/>
              <p:nvPr/>
            </p:nvCxnSpPr>
            <p:spPr>
              <a:xfrm flipH="1">
                <a:off x="6635351" y="4073128"/>
                <a:ext cx="332185"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9796ADD-2115-E8CD-36DA-899D2146225F}"/>
                  </a:ext>
                </a:extLst>
              </p:cNvPr>
              <p:cNvCxnSpPr/>
              <p:nvPr/>
            </p:nvCxnSpPr>
            <p:spPr>
              <a:xfrm>
                <a:off x="6938962" y="4073128"/>
                <a:ext cx="342898"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33BEC26E-7FB7-C14B-B735-9004F1FB793F}"/>
                  </a:ext>
                </a:extLst>
              </p:cNvPr>
              <p:cNvSpPr/>
              <p:nvPr/>
            </p:nvSpPr>
            <p:spPr>
              <a:xfrm>
                <a:off x="6206725" y="4385072"/>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id3</a:t>
                </a:r>
              </a:p>
            </p:txBody>
          </p:sp>
          <p:sp>
            <p:nvSpPr>
              <p:cNvPr id="32" name="Rectangle 31">
                <a:extLst>
                  <a:ext uri="{FF2B5EF4-FFF2-40B4-BE49-F238E27FC236}">
                    <a16:creationId xmlns:a16="http://schemas.microsoft.com/office/drawing/2014/main" id="{8DEE920E-56FC-886D-241B-F085C0B99EF7}"/>
                  </a:ext>
                </a:extLst>
              </p:cNvPr>
              <p:cNvSpPr/>
              <p:nvPr/>
            </p:nvSpPr>
            <p:spPr>
              <a:xfrm>
                <a:off x="6821682" y="4345694"/>
                <a:ext cx="1191222"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solidFill>
                      <a:srgbClr val="C00000"/>
                    </a:solidFill>
                  </a:rPr>
                  <a:t>inttoreal</a:t>
                </a:r>
                <a:endParaRPr lang="en-US">
                  <a:solidFill>
                    <a:srgbClr val="C00000"/>
                  </a:solidFill>
                </a:endParaRPr>
              </a:p>
            </p:txBody>
          </p:sp>
        </p:grpSp>
      </p:grpSp>
      <p:cxnSp>
        <p:nvCxnSpPr>
          <p:cNvPr id="41" name="Straight Connector 40">
            <a:extLst>
              <a:ext uri="{FF2B5EF4-FFF2-40B4-BE49-F238E27FC236}">
                <a16:creationId xmlns:a16="http://schemas.microsoft.com/office/drawing/2014/main" id="{C9D67587-816F-2B7E-0F40-07D8D2048D51}"/>
              </a:ext>
            </a:extLst>
          </p:cNvPr>
          <p:cNvCxnSpPr>
            <a:stCxn id="32" idx="2"/>
          </p:cNvCxnSpPr>
          <p:nvPr/>
        </p:nvCxnSpPr>
        <p:spPr>
          <a:xfrm flipH="1">
            <a:off x="10322009" y="6116881"/>
            <a:ext cx="0" cy="272566"/>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5D7389F0-9BA6-7C2F-D49F-BE69D9A5C430}"/>
              </a:ext>
            </a:extLst>
          </p:cNvPr>
          <p:cNvSpPr/>
          <p:nvPr/>
        </p:nvSpPr>
        <p:spPr>
          <a:xfrm>
            <a:off x="9787084" y="6328975"/>
            <a:ext cx="1126929"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60</a:t>
            </a:r>
          </a:p>
        </p:txBody>
      </p:sp>
      <p:sp>
        <p:nvSpPr>
          <p:cNvPr id="43" name="Rectangle 42">
            <a:extLst>
              <a:ext uri="{FF2B5EF4-FFF2-40B4-BE49-F238E27FC236}">
                <a16:creationId xmlns:a16="http://schemas.microsoft.com/office/drawing/2014/main" id="{9A9D7383-1F21-652A-7F94-398B1CB4F7BF}"/>
              </a:ext>
            </a:extLst>
          </p:cNvPr>
          <p:cNvSpPr/>
          <p:nvPr/>
        </p:nvSpPr>
        <p:spPr>
          <a:xfrm>
            <a:off x="993605" y="3230026"/>
            <a:ext cx="6305381" cy="737643"/>
          </a:xfrm>
          <a:prstGeom prst="rect">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44" name="Rectangle 43">
            <a:extLst>
              <a:ext uri="{FF2B5EF4-FFF2-40B4-BE49-F238E27FC236}">
                <a16:creationId xmlns:a16="http://schemas.microsoft.com/office/drawing/2014/main" id="{DF48728D-5881-65EA-7053-B448180E187A}"/>
              </a:ext>
            </a:extLst>
          </p:cNvPr>
          <p:cNvSpPr/>
          <p:nvPr/>
        </p:nvSpPr>
        <p:spPr>
          <a:xfrm>
            <a:off x="10127039" y="2161751"/>
            <a:ext cx="840582" cy="67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err="1">
                <a:solidFill>
                  <a:srgbClr val="C00000"/>
                </a:solidFill>
              </a:rPr>
              <a:t>int to real</a:t>
            </a:r>
          </a:p>
        </p:txBody>
      </p:sp>
      <p:cxnSp>
        <p:nvCxnSpPr>
          <p:cNvPr id="45" name="Curved Connector 6">
            <a:extLst>
              <a:ext uri="{FF2B5EF4-FFF2-40B4-BE49-F238E27FC236}">
                <a16:creationId xmlns:a16="http://schemas.microsoft.com/office/drawing/2014/main" id="{6D9BA6E4-014A-70E6-6EFA-4C8F55ED1114}"/>
              </a:ext>
            </a:extLst>
          </p:cNvPr>
          <p:cNvCxnSpPr>
            <a:cxnSpLocks/>
          </p:cNvCxnSpPr>
          <p:nvPr/>
        </p:nvCxnSpPr>
        <p:spPr>
          <a:xfrm rot="10800000" flipV="1">
            <a:off x="10115136" y="2767558"/>
            <a:ext cx="403620" cy="298310"/>
          </a:xfrm>
          <a:prstGeom prst="curvedConnector4">
            <a:avLst>
              <a:gd name="adj1" fmla="val 6932"/>
              <a:gd name="adj2" fmla="val 176632"/>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937B52C7-7C42-1C94-A8AA-DD829FFF3BA5}"/>
              </a:ext>
            </a:extLst>
          </p:cNvPr>
          <p:cNvSpPr/>
          <p:nvPr/>
        </p:nvSpPr>
        <p:spPr>
          <a:xfrm>
            <a:off x="670190" y="4367052"/>
            <a:ext cx="4433285" cy="4370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*Note: Consider id1, id2 and id3 are real</a:t>
            </a:r>
          </a:p>
        </p:txBody>
      </p:sp>
      <p:cxnSp>
        <p:nvCxnSpPr>
          <p:cNvPr id="47" name="Straight Connector 46">
            <a:extLst>
              <a:ext uri="{FF2B5EF4-FFF2-40B4-BE49-F238E27FC236}">
                <a16:creationId xmlns:a16="http://schemas.microsoft.com/office/drawing/2014/main" id="{424C6459-3C5D-3FC2-6A31-27C3AF0CBEFA}"/>
              </a:ext>
            </a:extLst>
          </p:cNvPr>
          <p:cNvCxnSpPr>
            <a:cxnSpLocks/>
          </p:cNvCxnSpPr>
          <p:nvPr/>
        </p:nvCxnSpPr>
        <p:spPr>
          <a:xfrm flipH="1">
            <a:off x="7471923" y="863203"/>
            <a:ext cx="0" cy="510063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0905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dur="1"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dur="1"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dur="1"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dur="1"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dur="50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dur="50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dur="500"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dur="1" fill="hold" grpId="0" nodeType="clickEffect">
                                  <p:stCondLst>
                                    <p:cond delay="0"/>
                                  </p:stCondLst>
                                  <p:childTnLst>
                                    <p:set>
                                      <p:cBhvr>
                                        <p:cTn id="43" dur="1" fill="hold">
                                          <p:stCondLst>
                                            <p:cond delay="0"/>
                                          </p:stCondLst>
                                        </p:cTn>
                                        <p:tgtEl>
                                          <p:spTgt spid="4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0" presetClass="entr" presetSubtype="0" dur="500" fill="hold" grpId="0" nodeType="clickEffect">
                                  <p:stCondLst>
                                    <p:cond delay="0"/>
                                  </p:stCondLst>
                                  <p:childTnLst>
                                    <p:set>
                                      <p:cBhvr>
                                        <p:cTn id="47" dur="1" fill="hold">
                                          <p:stCondLst>
                                            <p:cond delay="0"/>
                                          </p:stCondLst>
                                        </p:cTn>
                                        <p:tgtEl>
                                          <p:spTgt spid="43"/>
                                        </p:tgtEl>
                                        <p:attrNameLst>
                                          <p:attrName>style.visibility</p:attrName>
                                        </p:attrNameLst>
                                      </p:cBhvr>
                                      <p:to>
                                        <p:strVal val="visible"/>
                                      </p:to>
                                    </p:set>
                                    <p:animEffect transition="in" filter="fade">
                                      <p:cBhvr>
                                        <p:cTn id="48" dur="500"/>
                                        <p:tgtEl>
                                          <p:spTgt spid="4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dur="500" fill="hold" grpId="0" nodeType="clickEffect">
                                  <p:stCondLst>
                                    <p:cond delay="0"/>
                                  </p:stCondLst>
                                  <p:childTnLst>
                                    <p:set>
                                      <p:cBhvr>
                                        <p:cTn id="52" dur="1" fill="hold">
                                          <p:stCondLst>
                                            <p:cond delay="0"/>
                                          </p:stCondLst>
                                        </p:cTn>
                                        <p:tgtEl>
                                          <p:spTgt spid="44"/>
                                        </p:tgtEl>
                                        <p:attrNameLst>
                                          <p:attrName>style.visibility</p:attrName>
                                        </p:attrNameLst>
                                      </p:cBhvr>
                                      <p:to>
                                        <p:strVal val="visible"/>
                                      </p:to>
                                    </p:set>
                                    <p:animEffect transition="in" filter="wipe(down)">
                                      <p:cBhvr>
                                        <p:cTn id="53" dur="500"/>
                                        <p:tgtEl>
                                          <p:spTgt spid="4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dur="500" fill="hold" nodeType="click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wipe(up)">
                                      <p:cBhvr>
                                        <p:cTn id="58" dur="500"/>
                                        <p:tgtEl>
                                          <p:spTgt spid="4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dur="500" fill="hold"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10" presetClass="entr" presetSubtype="0" dur="500" fill="hold" grpId="0" nodeType="withEffect">
                                  <p:stCondLst>
                                    <p:cond delay="0"/>
                                  </p:stCondLst>
                                  <p:childTnLst>
                                    <p:set>
                                      <p:cBhvr>
                                        <p:cTn id="65" dur="1" fill="hold">
                                          <p:stCondLst>
                                            <p:cond delay="0"/>
                                          </p:stCondLst>
                                        </p:cTn>
                                        <p:tgtEl>
                                          <p:spTgt spid="42"/>
                                        </p:tgtEl>
                                        <p:attrNameLst>
                                          <p:attrName>style.visibility</p:attrName>
                                        </p:attrNameLst>
                                      </p:cBhvr>
                                      <p:to>
                                        <p:strVal val="visible"/>
                                      </p:to>
                                    </p:set>
                                    <p:animEffect transition="in" filter="fade">
                                      <p:cBhvr>
                                        <p:cTn id="66" dur="500"/>
                                        <p:tgtEl>
                                          <p:spTgt spid="42"/>
                                        </p:tgtEl>
                                      </p:cBhvr>
                                    </p:animEffect>
                                  </p:childTnLst>
                                </p:cTn>
                              </p:par>
                              <p:par>
                                <p:cTn id="67" presetID="10" presetClass="entr" presetSubtype="0" dur="500" fill="hold"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42" grpId="0"/>
      <p:bldP spid="43" grpId="0" animBg="1"/>
      <p:bldP spid="44" grpId="0"/>
      <p:bldP spid="4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15B84-12AE-1935-F239-8F52AAC4957C}"/>
              </a:ext>
            </a:extLst>
          </p:cNvPr>
          <p:cNvSpPr txBox="1">
            <a:spLocks/>
          </p:cNvSpPr>
          <p:nvPr/>
        </p:nvSpPr>
        <p:spPr>
          <a:xfrm>
            <a:off x="139586" y="206800"/>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dirty="0"/>
              <a:t>Phases of compiler</a:t>
            </a:r>
          </a:p>
        </p:txBody>
      </p:sp>
      <p:sp>
        <p:nvSpPr>
          <p:cNvPr id="3" name="Rectangle 2">
            <a:extLst>
              <a:ext uri="{FF2B5EF4-FFF2-40B4-BE49-F238E27FC236}">
                <a16:creationId xmlns:a16="http://schemas.microsoft.com/office/drawing/2014/main" id="{A6A5EFF8-9856-F6A9-B971-B5CB7C3358E0}"/>
              </a:ext>
            </a:extLst>
          </p:cNvPr>
          <p:cNvSpPr/>
          <p:nvPr/>
        </p:nvSpPr>
        <p:spPr>
          <a:xfrm>
            <a:off x="1900832" y="1075299"/>
            <a:ext cx="2876043"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bg1"/>
                </a:solidFill>
              </a:rPr>
              <a:t>Compiler</a:t>
            </a:r>
          </a:p>
        </p:txBody>
      </p:sp>
      <p:sp>
        <p:nvSpPr>
          <p:cNvPr id="4" name="Rectangle 3">
            <a:extLst>
              <a:ext uri="{FF2B5EF4-FFF2-40B4-BE49-F238E27FC236}">
                <a16:creationId xmlns:a16="http://schemas.microsoft.com/office/drawing/2014/main" id="{364FE5E3-8C3C-E886-D5A8-3E1F11125E7A}"/>
              </a:ext>
            </a:extLst>
          </p:cNvPr>
          <p:cNvSpPr/>
          <p:nvPr/>
        </p:nvSpPr>
        <p:spPr>
          <a:xfrm>
            <a:off x="1934081" y="2475807"/>
            <a:ext cx="2057400"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Analysis phase</a:t>
            </a:r>
          </a:p>
        </p:txBody>
      </p:sp>
      <p:sp>
        <p:nvSpPr>
          <p:cNvPr id="5" name="Rectangle 4">
            <a:extLst>
              <a:ext uri="{FF2B5EF4-FFF2-40B4-BE49-F238E27FC236}">
                <a16:creationId xmlns:a16="http://schemas.microsoft.com/office/drawing/2014/main" id="{468AB756-2C51-62B4-1B88-86DF3FBAD8FA}"/>
              </a:ext>
            </a:extLst>
          </p:cNvPr>
          <p:cNvSpPr/>
          <p:nvPr/>
        </p:nvSpPr>
        <p:spPr>
          <a:xfrm>
            <a:off x="7663992" y="2425932"/>
            <a:ext cx="2057400"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Synthesis phase</a:t>
            </a:r>
          </a:p>
        </p:txBody>
      </p:sp>
      <p:cxnSp>
        <p:nvCxnSpPr>
          <p:cNvPr id="6" name="Straight Connector 5">
            <a:extLst>
              <a:ext uri="{FF2B5EF4-FFF2-40B4-BE49-F238E27FC236}">
                <a16:creationId xmlns:a16="http://schemas.microsoft.com/office/drawing/2014/main" id="{8AB30818-5BAF-19FB-0DE7-4E78B68445DD}"/>
              </a:ext>
            </a:extLst>
          </p:cNvPr>
          <p:cNvCxnSpPr/>
          <p:nvPr/>
        </p:nvCxnSpPr>
        <p:spPr>
          <a:xfrm flipH="1">
            <a:off x="2238881" y="3085408"/>
            <a:ext cx="0" cy="2324793"/>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ABD5E9B-00E1-7454-FDE4-935BC62823D8}"/>
              </a:ext>
            </a:extLst>
          </p:cNvPr>
          <p:cNvCxnSpPr/>
          <p:nvPr/>
        </p:nvCxnSpPr>
        <p:spPr>
          <a:xfrm flipH="1">
            <a:off x="7963068" y="3034674"/>
            <a:ext cx="0" cy="2324793"/>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EF15FEC-AC61-D60B-1EFE-304787DC2E3C}"/>
              </a:ext>
            </a:extLst>
          </p:cNvPr>
          <p:cNvCxnSpPr/>
          <p:nvPr/>
        </p:nvCxnSpPr>
        <p:spPr>
          <a:xfrm>
            <a:off x="2238881" y="3657600"/>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3BEF52B6-AB48-B2F1-8AEE-569226D1F0E6}"/>
              </a:ext>
            </a:extLst>
          </p:cNvPr>
          <p:cNvSpPr/>
          <p:nvPr/>
        </p:nvSpPr>
        <p:spPr>
          <a:xfrm>
            <a:off x="2654517" y="3333403"/>
            <a:ext cx="2022764"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Lexical analysis </a:t>
            </a:r>
          </a:p>
        </p:txBody>
      </p:sp>
      <p:cxnSp>
        <p:nvCxnSpPr>
          <p:cNvPr id="10" name="Straight Arrow Connector 9">
            <a:extLst>
              <a:ext uri="{FF2B5EF4-FFF2-40B4-BE49-F238E27FC236}">
                <a16:creationId xmlns:a16="http://schemas.microsoft.com/office/drawing/2014/main" id="{082424DE-4A95-7CB5-BA2F-AC4D1AD9B2F7}"/>
              </a:ext>
            </a:extLst>
          </p:cNvPr>
          <p:cNvCxnSpPr/>
          <p:nvPr/>
        </p:nvCxnSpPr>
        <p:spPr>
          <a:xfrm>
            <a:off x="2227798" y="4564377"/>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8ED0A58-09A6-BF5F-E8E4-57F9DF56F7C1}"/>
              </a:ext>
            </a:extLst>
          </p:cNvPr>
          <p:cNvSpPr/>
          <p:nvPr/>
        </p:nvSpPr>
        <p:spPr>
          <a:xfrm>
            <a:off x="2643434" y="4240180"/>
            <a:ext cx="2022764"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Syntax analysis </a:t>
            </a:r>
          </a:p>
        </p:txBody>
      </p:sp>
      <p:cxnSp>
        <p:nvCxnSpPr>
          <p:cNvPr id="12" name="Straight Arrow Connector 11">
            <a:extLst>
              <a:ext uri="{FF2B5EF4-FFF2-40B4-BE49-F238E27FC236}">
                <a16:creationId xmlns:a16="http://schemas.microsoft.com/office/drawing/2014/main" id="{0C7BEF3E-0899-9116-F94F-611194464877}"/>
              </a:ext>
            </a:extLst>
          </p:cNvPr>
          <p:cNvCxnSpPr/>
          <p:nvPr/>
        </p:nvCxnSpPr>
        <p:spPr>
          <a:xfrm>
            <a:off x="2227798" y="5401021"/>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AD1C1570-AE4D-3D80-A0DE-7D83D66C7E28}"/>
              </a:ext>
            </a:extLst>
          </p:cNvPr>
          <p:cNvSpPr/>
          <p:nvPr/>
        </p:nvSpPr>
        <p:spPr>
          <a:xfrm>
            <a:off x="2643434" y="5105400"/>
            <a:ext cx="2022764"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chemeClr val="bg1"/>
                </a:solidFill>
              </a:rPr>
              <a:t>Semantic analysis </a:t>
            </a:r>
          </a:p>
        </p:txBody>
      </p:sp>
      <p:sp>
        <p:nvSpPr>
          <p:cNvPr id="14" name="Rectangle 13">
            <a:extLst>
              <a:ext uri="{FF2B5EF4-FFF2-40B4-BE49-F238E27FC236}">
                <a16:creationId xmlns:a16="http://schemas.microsoft.com/office/drawing/2014/main" id="{488DC509-BB5D-7256-460E-C62ED37E6EE0}"/>
              </a:ext>
            </a:extLst>
          </p:cNvPr>
          <p:cNvSpPr/>
          <p:nvPr/>
        </p:nvSpPr>
        <p:spPr>
          <a:xfrm>
            <a:off x="7577051" y="2342803"/>
            <a:ext cx="2933700" cy="3854335"/>
          </a:xfrm>
          <a:prstGeom prst="rect">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F67ECE2-2D33-B67F-0547-C676E9768AB3}"/>
              </a:ext>
            </a:extLst>
          </p:cNvPr>
          <p:cNvSpPr/>
          <p:nvPr/>
        </p:nvSpPr>
        <p:spPr>
          <a:xfrm>
            <a:off x="1876425" y="2387138"/>
            <a:ext cx="2933700" cy="3810000"/>
          </a:xfrm>
          <a:prstGeom prst="rect">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C329BE0-8E77-8B97-24B4-3474E8AA2F3F}"/>
              </a:ext>
            </a:extLst>
          </p:cNvPr>
          <p:cNvSpPr/>
          <p:nvPr/>
        </p:nvSpPr>
        <p:spPr>
          <a:xfrm>
            <a:off x="5364122" y="3643742"/>
            <a:ext cx="1742928" cy="1230974"/>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Intermediate code generation</a:t>
            </a:r>
          </a:p>
        </p:txBody>
      </p:sp>
      <p:cxnSp>
        <p:nvCxnSpPr>
          <p:cNvPr id="17" name="Straight Arrow Connector 16">
            <a:extLst>
              <a:ext uri="{FF2B5EF4-FFF2-40B4-BE49-F238E27FC236}">
                <a16:creationId xmlns:a16="http://schemas.microsoft.com/office/drawing/2014/main" id="{98D4D720-E407-010F-6462-AC997DF5DEB4}"/>
              </a:ext>
            </a:extLst>
          </p:cNvPr>
          <p:cNvCxnSpPr>
            <a:stCxn id="15" idx="3"/>
          </p:cNvCxnSpPr>
          <p:nvPr/>
        </p:nvCxnSpPr>
        <p:spPr>
          <a:xfrm>
            <a:off x="4810125" y="4292138"/>
            <a:ext cx="536504"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830B48A-6F07-C155-0183-DD635848E67B}"/>
              </a:ext>
            </a:extLst>
          </p:cNvPr>
          <p:cNvCxnSpPr/>
          <p:nvPr/>
        </p:nvCxnSpPr>
        <p:spPr>
          <a:xfrm>
            <a:off x="7107381" y="4308763"/>
            <a:ext cx="484632"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8043CE9-279D-3C91-9C72-4579F1AC1992}"/>
              </a:ext>
            </a:extLst>
          </p:cNvPr>
          <p:cNvCxnSpPr/>
          <p:nvPr/>
        </p:nvCxnSpPr>
        <p:spPr>
          <a:xfrm>
            <a:off x="7948780" y="4114800"/>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3223097-B9EE-CF7F-D293-6EAA0C7CC8DB}"/>
              </a:ext>
            </a:extLst>
          </p:cNvPr>
          <p:cNvSpPr/>
          <p:nvPr/>
        </p:nvSpPr>
        <p:spPr>
          <a:xfrm>
            <a:off x="8331289" y="3564778"/>
            <a:ext cx="2022764" cy="899157"/>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Code optimization </a:t>
            </a:r>
          </a:p>
        </p:txBody>
      </p:sp>
      <p:cxnSp>
        <p:nvCxnSpPr>
          <p:cNvPr id="21" name="Straight Arrow Connector 20">
            <a:extLst>
              <a:ext uri="{FF2B5EF4-FFF2-40B4-BE49-F238E27FC236}">
                <a16:creationId xmlns:a16="http://schemas.microsoft.com/office/drawing/2014/main" id="{8F18A463-3503-F639-3D26-A45550176763}"/>
              </a:ext>
            </a:extLst>
          </p:cNvPr>
          <p:cNvCxnSpPr/>
          <p:nvPr/>
        </p:nvCxnSpPr>
        <p:spPr>
          <a:xfrm>
            <a:off x="7950289" y="5351847"/>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9463CE25-01B0-A987-90A8-5A4969BEC741}"/>
              </a:ext>
            </a:extLst>
          </p:cNvPr>
          <p:cNvSpPr/>
          <p:nvPr/>
        </p:nvSpPr>
        <p:spPr>
          <a:xfrm>
            <a:off x="8315851" y="4849780"/>
            <a:ext cx="2022764" cy="824348"/>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Code generation </a:t>
            </a:r>
          </a:p>
        </p:txBody>
      </p:sp>
      <p:cxnSp>
        <p:nvCxnSpPr>
          <p:cNvPr id="23" name="Straight Arrow Connector 22">
            <a:extLst>
              <a:ext uri="{FF2B5EF4-FFF2-40B4-BE49-F238E27FC236}">
                <a16:creationId xmlns:a16="http://schemas.microsoft.com/office/drawing/2014/main" id="{91EC0D7D-059C-AF2F-AAE0-8EF56B0A8807}"/>
              </a:ext>
            </a:extLst>
          </p:cNvPr>
          <p:cNvCxnSpPr>
            <a:stCxn id="3" idx="2"/>
            <a:endCxn id="15" idx="0"/>
          </p:cNvCxnSpPr>
          <p:nvPr/>
        </p:nvCxnSpPr>
        <p:spPr>
          <a:xfrm>
            <a:off x="3338853" y="1684900"/>
            <a:ext cx="4422" cy="702239"/>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7070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dur="2000" fill="hold" nodeType="clickEffect">
                                  <p:stCondLst>
                                    <p:cond delay="0"/>
                                  </p:stCondLst>
                                  <p:childTnLst>
                                    <p:animClr clrSpc="rgb" dir="cw">
                                      <p:cBhvr>
                                        <p:cTn id="6" dur="2000" fill="hold"/>
                                        <p:tgtEl>
                                          <p:spTgt spid="16"/>
                                        </p:tgtEl>
                                        <p:attrNameLst>
                                          <p:attrName>fillcolor</p:attrName>
                                        </p:attrNameLst>
                                      </p:cBhvr>
                                      <p:to>
                                        <a:schemeClr val="accent2"/>
                                      </p:to>
                                    </p:animClr>
                                    <p:set>
                                      <p:cBhvr>
                                        <p:cTn id="7" dur="2000" fill="hold"/>
                                        <p:tgtEl>
                                          <p:spTgt spid="16"/>
                                        </p:tgtEl>
                                        <p:attrNameLst>
                                          <p:attrName>fill.type</p:attrName>
                                        </p:attrNameLst>
                                      </p:cBhvr>
                                      <p:to>
                                        <p:strVal val="solid"/>
                                      </p:to>
                                    </p:set>
                                    <p:set>
                                      <p:cBhvr>
                                        <p:cTn id="8" dur="2000" fill="hold"/>
                                        <p:tgtEl>
                                          <p:spTgt spid="1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57E3C-5DE4-2094-228A-7482B0B1222A}"/>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Intermediate code generator</a:t>
            </a:r>
          </a:p>
        </p:txBody>
      </p:sp>
      <p:sp>
        <p:nvSpPr>
          <p:cNvPr id="3" name="Content Placeholder 5">
            <a:extLst>
              <a:ext uri="{FF2B5EF4-FFF2-40B4-BE49-F238E27FC236}">
                <a16:creationId xmlns:a16="http://schemas.microsoft.com/office/drawing/2014/main" id="{FE96A47C-7297-BBA8-5DF5-9AA035714ADD}"/>
              </a:ext>
            </a:extLst>
          </p:cNvPr>
          <p:cNvSpPr txBox="1">
            <a:spLocks/>
          </p:cNvSpPr>
          <p:nvPr/>
        </p:nvSpPr>
        <p:spPr>
          <a:xfrm>
            <a:off x="131180" y="863444"/>
            <a:ext cx="7334633"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t>Two important properties of intermediate code : </a:t>
            </a:r>
          </a:p>
          <a:p>
            <a:pPr marL="857250" indent="-457200">
              <a:lnSpc>
                <a:spcPct val="100000"/>
              </a:lnSpc>
              <a:buFont typeface="+mj-lt"/>
              <a:buAutoNum type="arabicPeriod"/>
            </a:pPr>
            <a:r>
              <a:rPr lang="en-US"/>
              <a:t>It should be </a:t>
            </a:r>
            <a:r>
              <a:rPr lang="en-US" b="1">
                <a:solidFill>
                  <a:srgbClr val="0E47A1"/>
                </a:solidFill>
              </a:rPr>
              <a:t>easy to produce</a:t>
            </a:r>
            <a:r>
              <a:rPr lang="en-US"/>
              <a:t>.</a:t>
            </a:r>
          </a:p>
          <a:p>
            <a:pPr marL="857250" indent="-457200">
              <a:lnSpc>
                <a:spcPct val="100000"/>
              </a:lnSpc>
              <a:buFont typeface="+mj-lt"/>
              <a:buAutoNum type="arabicPeriod"/>
            </a:pPr>
            <a:r>
              <a:rPr lang="en-US" b="1">
                <a:solidFill>
                  <a:srgbClr val="0E47A1"/>
                </a:solidFill>
              </a:rPr>
              <a:t>Easy to translate </a:t>
            </a:r>
            <a:r>
              <a:rPr lang="en-US"/>
              <a:t>into target program.</a:t>
            </a:r>
          </a:p>
          <a:p>
            <a:pPr>
              <a:lnSpc>
                <a:spcPct val="100000"/>
              </a:lnSpc>
            </a:pPr>
            <a:r>
              <a:rPr lang="en-US"/>
              <a:t>Intermediate form can be represented using </a:t>
            </a:r>
            <a:r>
              <a:rPr lang="en-US" b="1">
                <a:solidFill>
                  <a:srgbClr val="0E47A1"/>
                </a:solidFill>
              </a:rPr>
              <a:t>“three address code”.</a:t>
            </a:r>
          </a:p>
          <a:p>
            <a:pPr>
              <a:lnSpc>
                <a:spcPct val="100000"/>
              </a:lnSpc>
            </a:pPr>
            <a:r>
              <a:rPr lang="en-US"/>
              <a:t>Three address code consist of a sequence of instruction, each of which has</a:t>
            </a:r>
            <a:r>
              <a:rPr lang="en-US" b="1"/>
              <a:t> </a:t>
            </a:r>
            <a:r>
              <a:rPr lang="en-US" b="1" u="sng">
                <a:solidFill>
                  <a:srgbClr val="0E47A1"/>
                </a:solidFill>
              </a:rPr>
              <a:t>at most three </a:t>
            </a:r>
            <a:r>
              <a:rPr lang="en-US"/>
              <a:t>operands.</a:t>
            </a:r>
          </a:p>
          <a:p>
            <a:pPr marL="0" indent="0">
              <a:buFont typeface="Arial" panose="020B0604020202020204" pitchFamily="34" charset="0"/>
              <a:buNone/>
            </a:pPr>
            <a:endParaRPr lang="en-US"/>
          </a:p>
          <a:p>
            <a:endParaRPr lang="en-US" dirty="0"/>
          </a:p>
        </p:txBody>
      </p:sp>
      <p:grpSp>
        <p:nvGrpSpPr>
          <p:cNvPr id="4" name="Group 3">
            <a:extLst>
              <a:ext uri="{FF2B5EF4-FFF2-40B4-BE49-F238E27FC236}">
                <a16:creationId xmlns:a16="http://schemas.microsoft.com/office/drawing/2014/main" id="{5F44DEE2-B130-50A4-EE9D-8FA82DD1F9F2}"/>
              </a:ext>
            </a:extLst>
          </p:cNvPr>
          <p:cNvGrpSpPr/>
          <p:nvPr/>
        </p:nvGrpSpPr>
        <p:grpSpPr>
          <a:xfrm>
            <a:off x="7743821" y="928689"/>
            <a:ext cx="2762254" cy="2745578"/>
            <a:chOff x="6270421" y="3730143"/>
            <a:chExt cx="2762254" cy="2745578"/>
          </a:xfrm>
        </p:grpSpPr>
        <p:grpSp>
          <p:nvGrpSpPr>
            <p:cNvPr id="5" name="Group 4">
              <a:extLst>
                <a:ext uri="{FF2B5EF4-FFF2-40B4-BE49-F238E27FC236}">
                  <a16:creationId xmlns:a16="http://schemas.microsoft.com/office/drawing/2014/main" id="{9DB1A971-91C1-3507-11F0-C442EF37CC58}"/>
                </a:ext>
              </a:extLst>
            </p:cNvPr>
            <p:cNvGrpSpPr/>
            <p:nvPr/>
          </p:nvGrpSpPr>
          <p:grpSpPr>
            <a:xfrm>
              <a:off x="6270421" y="3730143"/>
              <a:ext cx="2762254" cy="2233612"/>
              <a:chOff x="6206725" y="3730228"/>
              <a:chExt cx="2762254" cy="2233612"/>
            </a:xfrm>
          </p:grpSpPr>
          <p:sp>
            <p:nvSpPr>
              <p:cNvPr id="8" name="Rectangle 7">
                <a:extLst>
                  <a:ext uri="{FF2B5EF4-FFF2-40B4-BE49-F238E27FC236}">
                    <a16:creationId xmlns:a16="http://schemas.microsoft.com/office/drawing/2014/main" id="{B4BC764E-93BE-B9D3-DF40-E7627053A543}"/>
                  </a:ext>
                </a:extLst>
              </p:cNvPr>
              <p:cNvSpPr/>
              <p:nvPr/>
            </p:nvSpPr>
            <p:spPr>
              <a:xfrm>
                <a:off x="6705600" y="3730228"/>
                <a:ext cx="4572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t>
                </a:r>
              </a:p>
            </p:txBody>
          </p:sp>
          <p:grpSp>
            <p:nvGrpSpPr>
              <p:cNvPr id="9" name="Group 8">
                <a:extLst>
                  <a:ext uri="{FF2B5EF4-FFF2-40B4-BE49-F238E27FC236}">
                    <a16:creationId xmlns:a16="http://schemas.microsoft.com/office/drawing/2014/main" id="{5834DBD7-A49D-54D0-6A00-6BDFE60FE2BD}"/>
                  </a:ext>
                </a:extLst>
              </p:cNvPr>
              <p:cNvGrpSpPr/>
              <p:nvPr/>
            </p:nvGrpSpPr>
            <p:grpSpPr>
              <a:xfrm>
                <a:off x="6206725" y="4073128"/>
                <a:ext cx="1491855" cy="692944"/>
                <a:chOff x="6206725" y="4073128"/>
                <a:chExt cx="1491855" cy="692944"/>
              </a:xfrm>
            </p:grpSpPr>
            <p:cxnSp>
              <p:nvCxnSpPr>
                <p:cNvPr id="20" name="Straight Arrow Connector 19">
                  <a:extLst>
                    <a:ext uri="{FF2B5EF4-FFF2-40B4-BE49-F238E27FC236}">
                      <a16:creationId xmlns:a16="http://schemas.microsoft.com/office/drawing/2014/main" id="{47215C7F-50C9-38DE-CD34-8A42551DC084}"/>
                    </a:ext>
                  </a:extLst>
                </p:cNvPr>
                <p:cNvCxnSpPr/>
                <p:nvPr/>
              </p:nvCxnSpPr>
              <p:spPr>
                <a:xfrm flipH="1">
                  <a:off x="6635351" y="4073128"/>
                  <a:ext cx="332185"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5D29A79-60A0-9F30-E906-620844B361AB}"/>
                    </a:ext>
                  </a:extLst>
                </p:cNvPr>
                <p:cNvCxnSpPr/>
                <p:nvPr/>
              </p:nvCxnSpPr>
              <p:spPr>
                <a:xfrm>
                  <a:off x="6938962" y="4073128"/>
                  <a:ext cx="342898"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D126C6CB-0D10-A143-11D6-184AE975732A}"/>
                    </a:ext>
                  </a:extLst>
                </p:cNvPr>
                <p:cNvSpPr/>
                <p:nvPr/>
              </p:nvSpPr>
              <p:spPr>
                <a:xfrm>
                  <a:off x="6206725" y="4385072"/>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id1</a:t>
                  </a:r>
                </a:p>
              </p:txBody>
            </p:sp>
            <p:sp>
              <p:nvSpPr>
                <p:cNvPr id="23" name="Rectangle 22">
                  <a:extLst>
                    <a:ext uri="{FF2B5EF4-FFF2-40B4-BE49-F238E27FC236}">
                      <a16:creationId xmlns:a16="http://schemas.microsoft.com/office/drawing/2014/main" id="{A8A5FF60-DE96-BDBB-0757-7277A002E28A}"/>
                    </a:ext>
                  </a:extLst>
                </p:cNvPr>
                <p:cNvSpPr/>
                <p:nvPr/>
              </p:nvSpPr>
              <p:spPr>
                <a:xfrm>
                  <a:off x="7003254" y="4348161"/>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t>
                  </a:r>
                </a:p>
              </p:txBody>
            </p:sp>
          </p:grpSp>
          <p:grpSp>
            <p:nvGrpSpPr>
              <p:cNvPr id="10" name="Group 9">
                <a:extLst>
                  <a:ext uri="{FF2B5EF4-FFF2-40B4-BE49-F238E27FC236}">
                    <a16:creationId xmlns:a16="http://schemas.microsoft.com/office/drawing/2014/main" id="{F3426433-92C9-1058-BD03-12975D12048F}"/>
                  </a:ext>
                </a:extLst>
              </p:cNvPr>
              <p:cNvGrpSpPr/>
              <p:nvPr/>
            </p:nvGrpSpPr>
            <p:grpSpPr>
              <a:xfrm>
                <a:off x="6702622" y="4680347"/>
                <a:ext cx="1491855" cy="692944"/>
                <a:chOff x="6206725" y="4073128"/>
                <a:chExt cx="1491855" cy="692944"/>
              </a:xfrm>
            </p:grpSpPr>
            <p:cxnSp>
              <p:nvCxnSpPr>
                <p:cNvPr id="16" name="Straight Arrow Connector 15">
                  <a:extLst>
                    <a:ext uri="{FF2B5EF4-FFF2-40B4-BE49-F238E27FC236}">
                      <a16:creationId xmlns:a16="http://schemas.microsoft.com/office/drawing/2014/main" id="{C923881F-DD58-13B6-C954-4E9503FCFEF5}"/>
                    </a:ext>
                  </a:extLst>
                </p:cNvPr>
                <p:cNvCxnSpPr/>
                <p:nvPr/>
              </p:nvCxnSpPr>
              <p:spPr>
                <a:xfrm flipH="1">
                  <a:off x="6635351" y="4073128"/>
                  <a:ext cx="332185"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40A7580-DD17-8745-0CDE-CC3A1C9DF4BD}"/>
                    </a:ext>
                  </a:extLst>
                </p:cNvPr>
                <p:cNvCxnSpPr/>
                <p:nvPr/>
              </p:nvCxnSpPr>
              <p:spPr>
                <a:xfrm>
                  <a:off x="6938962" y="4073128"/>
                  <a:ext cx="342898"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F835ED2F-3C4D-1D4D-0E04-965F3F934A72}"/>
                    </a:ext>
                  </a:extLst>
                </p:cNvPr>
                <p:cNvSpPr/>
                <p:nvPr/>
              </p:nvSpPr>
              <p:spPr>
                <a:xfrm>
                  <a:off x="6206725" y="4385072"/>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id2</a:t>
                  </a:r>
                </a:p>
              </p:txBody>
            </p:sp>
            <p:sp>
              <p:nvSpPr>
                <p:cNvPr id="19" name="Rectangle 18">
                  <a:extLst>
                    <a:ext uri="{FF2B5EF4-FFF2-40B4-BE49-F238E27FC236}">
                      <a16:creationId xmlns:a16="http://schemas.microsoft.com/office/drawing/2014/main" id="{141C904F-9956-A766-6859-630DE9876667}"/>
                    </a:ext>
                  </a:extLst>
                </p:cNvPr>
                <p:cNvSpPr/>
                <p:nvPr/>
              </p:nvSpPr>
              <p:spPr>
                <a:xfrm>
                  <a:off x="7003254" y="4348161"/>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t>
                  </a:r>
                </a:p>
              </p:txBody>
            </p:sp>
          </p:grpSp>
          <p:grpSp>
            <p:nvGrpSpPr>
              <p:cNvPr id="11" name="Group 10">
                <a:extLst>
                  <a:ext uri="{FF2B5EF4-FFF2-40B4-BE49-F238E27FC236}">
                    <a16:creationId xmlns:a16="http://schemas.microsoft.com/office/drawing/2014/main" id="{766C21DD-8C21-5F55-4959-D11AF5E65DF0}"/>
                  </a:ext>
                </a:extLst>
              </p:cNvPr>
              <p:cNvGrpSpPr/>
              <p:nvPr/>
            </p:nvGrpSpPr>
            <p:grpSpPr>
              <a:xfrm>
                <a:off x="7162800" y="5270896"/>
                <a:ext cx="1806179" cy="692944"/>
                <a:chOff x="6206725" y="4073128"/>
                <a:chExt cx="1806179" cy="692944"/>
              </a:xfrm>
            </p:grpSpPr>
            <p:cxnSp>
              <p:nvCxnSpPr>
                <p:cNvPr id="12" name="Straight Arrow Connector 11">
                  <a:extLst>
                    <a:ext uri="{FF2B5EF4-FFF2-40B4-BE49-F238E27FC236}">
                      <a16:creationId xmlns:a16="http://schemas.microsoft.com/office/drawing/2014/main" id="{1499F36B-43A5-CBA9-4B13-40B28B515D59}"/>
                    </a:ext>
                  </a:extLst>
                </p:cNvPr>
                <p:cNvCxnSpPr/>
                <p:nvPr/>
              </p:nvCxnSpPr>
              <p:spPr>
                <a:xfrm flipH="1">
                  <a:off x="6635351" y="4073128"/>
                  <a:ext cx="332185"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25DFFEC-785E-BBE7-B55B-7D4030C53BA5}"/>
                    </a:ext>
                  </a:extLst>
                </p:cNvPr>
                <p:cNvCxnSpPr/>
                <p:nvPr/>
              </p:nvCxnSpPr>
              <p:spPr>
                <a:xfrm>
                  <a:off x="6938962" y="4073128"/>
                  <a:ext cx="342898" cy="353616"/>
                </a:xfrm>
                <a:prstGeom prst="straightConnector1">
                  <a:avLst/>
                </a:prstGeom>
                <a:ln w="25400">
                  <a:solidFill>
                    <a:srgbClr val="0E47A1"/>
                  </a:solidFill>
                  <a:tailEnd type="non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9B8EE6CD-E016-AE61-E91D-808E0B768D12}"/>
                    </a:ext>
                  </a:extLst>
                </p:cNvPr>
                <p:cNvSpPr/>
                <p:nvPr/>
              </p:nvSpPr>
              <p:spPr>
                <a:xfrm>
                  <a:off x="6206725" y="4385072"/>
                  <a:ext cx="69532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id3</a:t>
                  </a:r>
                </a:p>
              </p:txBody>
            </p:sp>
            <p:sp>
              <p:nvSpPr>
                <p:cNvPr id="15" name="Rectangle 14">
                  <a:extLst>
                    <a:ext uri="{FF2B5EF4-FFF2-40B4-BE49-F238E27FC236}">
                      <a16:creationId xmlns:a16="http://schemas.microsoft.com/office/drawing/2014/main" id="{0505FEDA-EB4D-32C9-F3FD-663A050121DA}"/>
                    </a:ext>
                  </a:extLst>
                </p:cNvPr>
                <p:cNvSpPr/>
                <p:nvPr/>
              </p:nvSpPr>
              <p:spPr>
                <a:xfrm>
                  <a:off x="6821682" y="4345694"/>
                  <a:ext cx="1191222"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solidFill>
                        <a:srgbClr val="C00000"/>
                      </a:solidFill>
                    </a:rPr>
                    <a:t>inttoreal</a:t>
                  </a:r>
                  <a:endParaRPr lang="en-US">
                    <a:solidFill>
                      <a:srgbClr val="C00000"/>
                    </a:solidFill>
                  </a:endParaRPr>
                </a:p>
              </p:txBody>
            </p:sp>
          </p:grpSp>
        </p:grpSp>
        <p:cxnSp>
          <p:nvCxnSpPr>
            <p:cNvPr id="6" name="Straight Connector 5">
              <a:extLst>
                <a:ext uri="{FF2B5EF4-FFF2-40B4-BE49-F238E27FC236}">
                  <a16:creationId xmlns:a16="http://schemas.microsoft.com/office/drawing/2014/main" id="{77F06FF7-6954-B4F8-D29B-044A95D66AB2}"/>
                </a:ext>
              </a:extLst>
            </p:cNvPr>
            <p:cNvCxnSpPr>
              <a:stCxn id="15" idx="2"/>
            </p:cNvCxnSpPr>
            <p:nvPr/>
          </p:nvCxnSpPr>
          <p:spPr>
            <a:xfrm flipH="1">
              <a:off x="8437064" y="5924377"/>
              <a:ext cx="0" cy="272566"/>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A63FB33-9492-FB45-6419-30C73922D5E1}"/>
                </a:ext>
              </a:extLst>
            </p:cNvPr>
            <p:cNvSpPr/>
            <p:nvPr/>
          </p:nvSpPr>
          <p:spPr>
            <a:xfrm>
              <a:off x="7854548" y="6094721"/>
              <a:ext cx="1126929"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60</a:t>
              </a:r>
            </a:p>
          </p:txBody>
        </p:sp>
      </p:grpSp>
      <p:sp>
        <p:nvSpPr>
          <p:cNvPr id="24" name="Rectangle 23">
            <a:extLst>
              <a:ext uri="{FF2B5EF4-FFF2-40B4-BE49-F238E27FC236}">
                <a16:creationId xmlns:a16="http://schemas.microsoft.com/office/drawing/2014/main" id="{2B418FDA-B4D8-7053-39C3-B27BD67AF373}"/>
              </a:ext>
            </a:extLst>
          </p:cNvPr>
          <p:cNvSpPr/>
          <p:nvPr/>
        </p:nvSpPr>
        <p:spPr>
          <a:xfrm>
            <a:off x="7914677" y="3733718"/>
            <a:ext cx="2438400" cy="463148"/>
          </a:xfrm>
          <a:prstGeom prst="rect">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Intermediate code </a:t>
            </a:r>
          </a:p>
        </p:txBody>
      </p:sp>
      <p:cxnSp>
        <p:nvCxnSpPr>
          <p:cNvPr id="25" name="Straight Arrow Connector 24">
            <a:extLst>
              <a:ext uri="{FF2B5EF4-FFF2-40B4-BE49-F238E27FC236}">
                <a16:creationId xmlns:a16="http://schemas.microsoft.com/office/drawing/2014/main" id="{FFE1B6DA-9B18-EC4A-D848-161A49BD47A1}"/>
              </a:ext>
            </a:extLst>
          </p:cNvPr>
          <p:cNvCxnSpPr/>
          <p:nvPr/>
        </p:nvCxnSpPr>
        <p:spPr>
          <a:xfrm flipH="1">
            <a:off x="9110658" y="3415332"/>
            <a:ext cx="0" cy="316698"/>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A05B64B-7E4E-12AF-F2FE-D68D3F9AD9A3}"/>
              </a:ext>
            </a:extLst>
          </p:cNvPr>
          <p:cNvCxnSpPr/>
          <p:nvPr/>
        </p:nvCxnSpPr>
        <p:spPr>
          <a:xfrm flipH="1">
            <a:off x="9110658" y="4198258"/>
            <a:ext cx="0" cy="226219"/>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3B581951-1414-F395-13EF-490A44D76365}"/>
              </a:ext>
            </a:extLst>
          </p:cNvPr>
          <p:cNvSpPr/>
          <p:nvPr/>
        </p:nvSpPr>
        <p:spPr>
          <a:xfrm>
            <a:off x="6393949" y="4432498"/>
            <a:ext cx="4072536" cy="2001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solidFill>
                  <a:schemeClr val="tx1"/>
                </a:solidFill>
              </a:rPr>
              <a:t>		</a:t>
            </a:r>
            <a:r>
              <a:rPr lang="en-US" sz="2200">
                <a:solidFill>
                  <a:schemeClr val="tx1"/>
                </a:solidFill>
              </a:rPr>
              <a:t>t1= int to real(60)</a:t>
            </a:r>
          </a:p>
          <a:p>
            <a:r>
              <a:rPr lang="en-US" sz="2200">
                <a:solidFill>
                  <a:schemeClr val="tx1"/>
                </a:solidFill>
              </a:rPr>
              <a:t>		t2= id3 * t1</a:t>
            </a:r>
          </a:p>
          <a:p>
            <a:r>
              <a:rPr lang="en-US" sz="2200">
                <a:solidFill>
                  <a:schemeClr val="tx1"/>
                </a:solidFill>
              </a:rPr>
              <a:t>		t3= t2 + id2</a:t>
            </a:r>
          </a:p>
          <a:p>
            <a:r>
              <a:rPr lang="en-US" sz="2200">
                <a:solidFill>
                  <a:schemeClr val="tx1"/>
                </a:solidFill>
              </a:rPr>
              <a:t>		id1= t3</a:t>
            </a:r>
          </a:p>
        </p:txBody>
      </p:sp>
      <p:sp>
        <p:nvSpPr>
          <p:cNvPr id="28" name="Rectangle 27">
            <a:extLst>
              <a:ext uri="{FF2B5EF4-FFF2-40B4-BE49-F238E27FC236}">
                <a16:creationId xmlns:a16="http://schemas.microsoft.com/office/drawing/2014/main" id="{7868606C-AF77-930B-8DF6-947888C2FE8B}"/>
              </a:ext>
            </a:extLst>
          </p:cNvPr>
          <p:cNvSpPr/>
          <p:nvPr/>
        </p:nvSpPr>
        <p:spPr>
          <a:xfrm>
            <a:off x="9460707" y="2809877"/>
            <a:ext cx="892370" cy="892966"/>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solidFill>
                  <a:srgbClr val="0E47A1"/>
                </a:solidFill>
              </a:rPr>
              <a:t>t1</a:t>
            </a:r>
          </a:p>
        </p:txBody>
      </p:sp>
      <p:sp>
        <p:nvSpPr>
          <p:cNvPr id="29" name="Rectangle 28">
            <a:extLst>
              <a:ext uri="{FF2B5EF4-FFF2-40B4-BE49-F238E27FC236}">
                <a16:creationId xmlns:a16="http://schemas.microsoft.com/office/drawing/2014/main" id="{38BCF873-9DC1-8255-61E0-709C18C6E2EE}"/>
              </a:ext>
            </a:extLst>
          </p:cNvPr>
          <p:cNvSpPr/>
          <p:nvPr/>
        </p:nvSpPr>
        <p:spPr>
          <a:xfrm>
            <a:off x="8839797" y="2219324"/>
            <a:ext cx="1470416" cy="1512706"/>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rgbClr val="00B050"/>
              </a:solidFill>
            </a:endParaRPr>
          </a:p>
          <a:p>
            <a:endParaRPr lang="en-US">
              <a:solidFill>
                <a:srgbClr val="00B050"/>
              </a:solidFill>
            </a:endParaRPr>
          </a:p>
          <a:p>
            <a:r>
              <a:rPr lang="en-US" b="1">
                <a:solidFill>
                  <a:srgbClr val="0E47A1"/>
                </a:solidFill>
              </a:rPr>
              <a:t>t2</a:t>
            </a:r>
          </a:p>
        </p:txBody>
      </p:sp>
      <p:sp>
        <p:nvSpPr>
          <p:cNvPr id="30" name="Rectangle 29">
            <a:extLst>
              <a:ext uri="{FF2B5EF4-FFF2-40B4-BE49-F238E27FC236}">
                <a16:creationId xmlns:a16="http://schemas.microsoft.com/office/drawing/2014/main" id="{6B61F1FD-5B0D-6C8E-63CA-3F6A356AEB59}"/>
              </a:ext>
            </a:extLst>
          </p:cNvPr>
          <p:cNvSpPr/>
          <p:nvPr/>
        </p:nvSpPr>
        <p:spPr>
          <a:xfrm>
            <a:off x="8235851" y="1654046"/>
            <a:ext cx="2074362" cy="2020221"/>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rgbClr val="00B050"/>
              </a:solidFill>
            </a:endParaRPr>
          </a:p>
          <a:p>
            <a:endParaRPr lang="en-US">
              <a:solidFill>
                <a:srgbClr val="00B050"/>
              </a:solidFill>
            </a:endParaRPr>
          </a:p>
          <a:p>
            <a:r>
              <a:rPr lang="en-US" b="1">
                <a:solidFill>
                  <a:srgbClr val="0E47A1"/>
                </a:solidFill>
              </a:rPr>
              <a:t>t3</a:t>
            </a:r>
          </a:p>
        </p:txBody>
      </p:sp>
      <p:sp>
        <p:nvSpPr>
          <p:cNvPr id="31" name="Rectangle 30">
            <a:extLst>
              <a:ext uri="{FF2B5EF4-FFF2-40B4-BE49-F238E27FC236}">
                <a16:creationId xmlns:a16="http://schemas.microsoft.com/office/drawing/2014/main" id="{6E8995C4-2C94-76AA-4B74-4D8C3FFDF277}"/>
              </a:ext>
            </a:extLst>
          </p:cNvPr>
          <p:cNvSpPr/>
          <p:nvPr/>
        </p:nvSpPr>
        <p:spPr>
          <a:xfrm>
            <a:off x="7868842" y="990915"/>
            <a:ext cx="1122750" cy="908131"/>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rgbClr val="00B050"/>
              </a:solidFill>
            </a:endParaRPr>
          </a:p>
        </p:txBody>
      </p:sp>
      <p:cxnSp>
        <p:nvCxnSpPr>
          <p:cNvPr id="32" name="Straight Connector 31">
            <a:extLst>
              <a:ext uri="{FF2B5EF4-FFF2-40B4-BE49-F238E27FC236}">
                <a16:creationId xmlns:a16="http://schemas.microsoft.com/office/drawing/2014/main" id="{8FF7D933-EF76-79BE-0E42-2D8142BF3116}"/>
              </a:ext>
            </a:extLst>
          </p:cNvPr>
          <p:cNvCxnSpPr/>
          <p:nvPr/>
        </p:nvCxnSpPr>
        <p:spPr>
          <a:xfrm flipH="1">
            <a:off x="7529981" y="845170"/>
            <a:ext cx="0" cy="510063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2700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dur="1"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dur="1"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dur="1"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dur="50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par>
                                <p:cTn id="28" presetID="10" presetClass="entr" presetSubtype="0" dur="500" fill="hold" grpId="0"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500"/>
                                        <p:tgtEl>
                                          <p:spTgt spid="2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dur="500"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dur="500" fill="hold" grpId="0" nodeType="click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wipe(down)">
                                      <p:cBhvr>
                                        <p:cTn id="40" dur="500"/>
                                        <p:tgtEl>
                                          <p:spTgt spid="28"/>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dur="1" fill="hold" nodeType="clickEffect">
                                  <p:stCondLst>
                                    <p:cond delay="0"/>
                                  </p:stCondLst>
                                  <p:childTnLst>
                                    <p:set>
                                      <p:cBhvr>
                                        <p:cTn id="44"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dur="1" fill="hold" grpId="1" nodeType="clickEffect">
                                  <p:stCondLst>
                                    <p:cond delay="0"/>
                                  </p:stCondLst>
                                  <p:childTnLst>
                                    <p:set>
                                      <p:cBhvr>
                                        <p:cTn id="48" dur="1" fill="hold">
                                          <p:stCondLst>
                                            <p:cond delay="0"/>
                                          </p:stCondLst>
                                        </p:cTn>
                                        <p:tgtEl>
                                          <p:spTgt spid="28"/>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4" dur="500"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wipe(down)">
                                      <p:cBhvr>
                                        <p:cTn id="53" dur="500"/>
                                        <p:tgtEl>
                                          <p:spTgt spid="29"/>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dur="1" fill="hold" nodeType="clickEffect">
                                  <p:stCondLst>
                                    <p:cond delay="0"/>
                                  </p:stCondLst>
                                  <p:childTnLst>
                                    <p:set>
                                      <p:cBhvr>
                                        <p:cTn id="57" dur="1" fill="hold">
                                          <p:stCondLst>
                                            <p:cond delay="0"/>
                                          </p:stCondLst>
                                        </p:cTn>
                                        <p:tgtEl>
                                          <p:spTgt spid="27">
                                            <p:txEl>
                                              <p:pRg st="1" end="1"/>
                                            </p:txEl>
                                          </p:spTgt>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xit" presetSubtype="0" dur="1" fill="hold" grpId="1" nodeType="clickEffect">
                                  <p:stCondLst>
                                    <p:cond delay="0"/>
                                  </p:stCondLst>
                                  <p:childTnLst>
                                    <p:set>
                                      <p:cBhvr>
                                        <p:cTn id="61" dur="1" fill="hold">
                                          <p:stCondLst>
                                            <p:cond delay="0"/>
                                          </p:stCondLst>
                                        </p:cTn>
                                        <p:tgtEl>
                                          <p:spTgt spid="29"/>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4" dur="500" fill="hold" grpId="0" nodeType="clickEffect">
                                  <p:stCondLst>
                                    <p:cond delay="0"/>
                                  </p:stCondLst>
                                  <p:childTnLst>
                                    <p:set>
                                      <p:cBhvr>
                                        <p:cTn id="65" dur="1" fill="hold">
                                          <p:stCondLst>
                                            <p:cond delay="0"/>
                                          </p:stCondLst>
                                        </p:cTn>
                                        <p:tgtEl>
                                          <p:spTgt spid="30"/>
                                        </p:tgtEl>
                                        <p:attrNameLst>
                                          <p:attrName>style.visibility</p:attrName>
                                        </p:attrNameLst>
                                      </p:cBhvr>
                                      <p:to>
                                        <p:strVal val="visible"/>
                                      </p:to>
                                    </p:set>
                                    <p:animEffect transition="in" filter="wipe(down)">
                                      <p:cBhvr>
                                        <p:cTn id="66" dur="500"/>
                                        <p:tgtEl>
                                          <p:spTgt spid="30"/>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dur="1" fill="hold" nodeType="clickEffect">
                                  <p:stCondLst>
                                    <p:cond delay="0"/>
                                  </p:stCondLst>
                                  <p:childTnLst>
                                    <p:set>
                                      <p:cBhvr>
                                        <p:cTn id="70" dur="1" fill="hold">
                                          <p:stCondLst>
                                            <p:cond delay="0"/>
                                          </p:stCondLst>
                                        </p:cTn>
                                        <p:tgtEl>
                                          <p:spTgt spid="27">
                                            <p:txEl>
                                              <p:pRg st="2" end="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dur="1" fill="hold" grpId="1" nodeType="clickEffect">
                                  <p:stCondLst>
                                    <p:cond delay="0"/>
                                  </p:stCondLst>
                                  <p:childTnLst>
                                    <p:set>
                                      <p:cBhvr>
                                        <p:cTn id="74" dur="1" fill="hold">
                                          <p:stCondLst>
                                            <p:cond delay="0"/>
                                          </p:stCondLst>
                                        </p:cTn>
                                        <p:tgtEl>
                                          <p:spTgt spid="30"/>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2" presetClass="entr" presetSubtype="4" dur="500" fill="hold" grpId="0" nodeType="click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wipe(down)">
                                      <p:cBhvr>
                                        <p:cTn id="79" dur="500"/>
                                        <p:tgtEl>
                                          <p:spTgt spid="31"/>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dur="1" fill="hold" nodeType="clickEffect">
                                  <p:stCondLst>
                                    <p:cond delay="0"/>
                                  </p:stCondLst>
                                  <p:childTnLst>
                                    <p:set>
                                      <p:cBhvr>
                                        <p:cTn id="83" dur="1" fill="hold">
                                          <p:stCondLst>
                                            <p:cond delay="0"/>
                                          </p:stCondLst>
                                        </p:cTn>
                                        <p:tgtEl>
                                          <p:spTgt spid="27">
                                            <p:txEl>
                                              <p:pRg st="3" end="3"/>
                                            </p:txEl>
                                          </p:spTgt>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xit" presetSubtype="0" dur="1" fill="hold" grpId="1" nodeType="clickEffect">
                                  <p:stCondLst>
                                    <p:cond delay="0"/>
                                  </p:stCondLst>
                                  <p:childTnLst>
                                    <p:set>
                                      <p:cBhvr>
                                        <p:cTn id="87" dur="1" fill="hold">
                                          <p:stCondLst>
                                            <p:cond delay="0"/>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8" grpId="0" animBg="1"/>
      <p:bldP spid="28" grpId="1" animBg="1"/>
      <p:bldP spid="29" grpId="0" animBg="1"/>
      <p:bldP spid="29" grpId="1" animBg="1"/>
      <p:bldP spid="30" grpId="0" animBg="1"/>
      <p:bldP spid="30" grpId="1" animBg="1"/>
      <p:bldP spid="31" grpId="0" animBg="1"/>
      <p:bldP spid="31"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F14E1-7985-57F6-3BD6-531D4F43349D}"/>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Phases of compiler</a:t>
            </a:r>
          </a:p>
        </p:txBody>
      </p:sp>
      <p:sp>
        <p:nvSpPr>
          <p:cNvPr id="3" name="Rectangle 2">
            <a:extLst>
              <a:ext uri="{FF2B5EF4-FFF2-40B4-BE49-F238E27FC236}">
                <a16:creationId xmlns:a16="http://schemas.microsoft.com/office/drawing/2014/main" id="{B492C603-330B-4745-E242-EDC9A1ADA687}"/>
              </a:ext>
            </a:extLst>
          </p:cNvPr>
          <p:cNvSpPr/>
          <p:nvPr/>
        </p:nvSpPr>
        <p:spPr>
          <a:xfrm>
            <a:off x="1900832" y="1075299"/>
            <a:ext cx="2876043"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Compiler</a:t>
            </a:r>
          </a:p>
        </p:txBody>
      </p:sp>
      <p:sp>
        <p:nvSpPr>
          <p:cNvPr id="4" name="Rectangle 3">
            <a:extLst>
              <a:ext uri="{FF2B5EF4-FFF2-40B4-BE49-F238E27FC236}">
                <a16:creationId xmlns:a16="http://schemas.microsoft.com/office/drawing/2014/main" id="{6E9164A5-0E35-D945-BCE4-10C5FBE7C17D}"/>
              </a:ext>
            </a:extLst>
          </p:cNvPr>
          <p:cNvSpPr/>
          <p:nvPr/>
        </p:nvSpPr>
        <p:spPr>
          <a:xfrm>
            <a:off x="1934081" y="2475807"/>
            <a:ext cx="2057400"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Analysis phase</a:t>
            </a:r>
          </a:p>
        </p:txBody>
      </p:sp>
      <p:sp>
        <p:nvSpPr>
          <p:cNvPr id="5" name="Rectangle 4">
            <a:extLst>
              <a:ext uri="{FF2B5EF4-FFF2-40B4-BE49-F238E27FC236}">
                <a16:creationId xmlns:a16="http://schemas.microsoft.com/office/drawing/2014/main" id="{5C566F3D-8B14-B9B8-DFC5-CF4C1B5D42DE}"/>
              </a:ext>
            </a:extLst>
          </p:cNvPr>
          <p:cNvSpPr/>
          <p:nvPr/>
        </p:nvSpPr>
        <p:spPr>
          <a:xfrm>
            <a:off x="7663992" y="2425932"/>
            <a:ext cx="2057400"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Synthesis phase</a:t>
            </a:r>
          </a:p>
        </p:txBody>
      </p:sp>
      <p:cxnSp>
        <p:nvCxnSpPr>
          <p:cNvPr id="6" name="Straight Connector 5">
            <a:extLst>
              <a:ext uri="{FF2B5EF4-FFF2-40B4-BE49-F238E27FC236}">
                <a16:creationId xmlns:a16="http://schemas.microsoft.com/office/drawing/2014/main" id="{0C3A2E4A-EDA3-1BEA-4DC4-34BC5DF4FFD9}"/>
              </a:ext>
            </a:extLst>
          </p:cNvPr>
          <p:cNvCxnSpPr/>
          <p:nvPr/>
        </p:nvCxnSpPr>
        <p:spPr>
          <a:xfrm flipH="1">
            <a:off x="2238881" y="3085408"/>
            <a:ext cx="0" cy="2324793"/>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2D29B07-E091-5B7E-6390-6D8547CCC492}"/>
              </a:ext>
            </a:extLst>
          </p:cNvPr>
          <p:cNvCxnSpPr/>
          <p:nvPr/>
        </p:nvCxnSpPr>
        <p:spPr>
          <a:xfrm flipH="1">
            <a:off x="7963068" y="3034674"/>
            <a:ext cx="0" cy="2324793"/>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E072AD7-CC8B-B486-7E67-2EF6823FE990}"/>
              </a:ext>
            </a:extLst>
          </p:cNvPr>
          <p:cNvCxnSpPr/>
          <p:nvPr/>
        </p:nvCxnSpPr>
        <p:spPr>
          <a:xfrm>
            <a:off x="2238881" y="3657600"/>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095D588B-FB33-B388-FD78-2F2C60336C16}"/>
              </a:ext>
            </a:extLst>
          </p:cNvPr>
          <p:cNvSpPr/>
          <p:nvPr/>
        </p:nvSpPr>
        <p:spPr>
          <a:xfrm>
            <a:off x="2654517" y="3333403"/>
            <a:ext cx="2022764"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Lexical analysis </a:t>
            </a:r>
          </a:p>
        </p:txBody>
      </p:sp>
      <p:cxnSp>
        <p:nvCxnSpPr>
          <p:cNvPr id="10" name="Straight Arrow Connector 9">
            <a:extLst>
              <a:ext uri="{FF2B5EF4-FFF2-40B4-BE49-F238E27FC236}">
                <a16:creationId xmlns:a16="http://schemas.microsoft.com/office/drawing/2014/main" id="{91D341BF-71F0-2585-4D01-5C40B4641F14}"/>
              </a:ext>
            </a:extLst>
          </p:cNvPr>
          <p:cNvCxnSpPr/>
          <p:nvPr/>
        </p:nvCxnSpPr>
        <p:spPr>
          <a:xfrm>
            <a:off x="2227798" y="4564377"/>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1339BCF-2780-3F2A-0219-30B8D4CC3925}"/>
              </a:ext>
            </a:extLst>
          </p:cNvPr>
          <p:cNvSpPr/>
          <p:nvPr/>
        </p:nvSpPr>
        <p:spPr>
          <a:xfrm>
            <a:off x="2643434" y="4240180"/>
            <a:ext cx="2022764"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Syntax analysis </a:t>
            </a:r>
          </a:p>
        </p:txBody>
      </p:sp>
      <p:cxnSp>
        <p:nvCxnSpPr>
          <p:cNvPr id="12" name="Straight Arrow Connector 11">
            <a:extLst>
              <a:ext uri="{FF2B5EF4-FFF2-40B4-BE49-F238E27FC236}">
                <a16:creationId xmlns:a16="http://schemas.microsoft.com/office/drawing/2014/main" id="{9833A252-5AAB-78BC-38E4-22CD93DFB609}"/>
              </a:ext>
            </a:extLst>
          </p:cNvPr>
          <p:cNvCxnSpPr/>
          <p:nvPr/>
        </p:nvCxnSpPr>
        <p:spPr>
          <a:xfrm>
            <a:off x="2227798" y="5401021"/>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D5433EF8-7026-4202-6730-A3AB559C4300}"/>
              </a:ext>
            </a:extLst>
          </p:cNvPr>
          <p:cNvSpPr/>
          <p:nvPr/>
        </p:nvSpPr>
        <p:spPr>
          <a:xfrm>
            <a:off x="2643434" y="5105400"/>
            <a:ext cx="2022764"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chemeClr val="bg1"/>
                </a:solidFill>
              </a:rPr>
              <a:t>Semantic analysis </a:t>
            </a:r>
          </a:p>
        </p:txBody>
      </p:sp>
      <p:sp>
        <p:nvSpPr>
          <p:cNvPr id="14" name="Rectangle 13">
            <a:extLst>
              <a:ext uri="{FF2B5EF4-FFF2-40B4-BE49-F238E27FC236}">
                <a16:creationId xmlns:a16="http://schemas.microsoft.com/office/drawing/2014/main" id="{06F347AA-B6CC-EC0D-F710-5A2EAFA55ADE}"/>
              </a:ext>
            </a:extLst>
          </p:cNvPr>
          <p:cNvSpPr/>
          <p:nvPr/>
        </p:nvSpPr>
        <p:spPr>
          <a:xfrm>
            <a:off x="7577051" y="2342803"/>
            <a:ext cx="2933700" cy="3854335"/>
          </a:xfrm>
          <a:prstGeom prst="rect">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BE71E3D-322C-9123-4B63-D37243009889}"/>
              </a:ext>
            </a:extLst>
          </p:cNvPr>
          <p:cNvSpPr/>
          <p:nvPr/>
        </p:nvSpPr>
        <p:spPr>
          <a:xfrm>
            <a:off x="1876425" y="2387138"/>
            <a:ext cx="2933700" cy="3810000"/>
          </a:xfrm>
          <a:prstGeom prst="rect">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C9C8FC4-1B9B-1232-F866-78D9B304A246}"/>
              </a:ext>
            </a:extLst>
          </p:cNvPr>
          <p:cNvSpPr/>
          <p:nvPr/>
        </p:nvSpPr>
        <p:spPr>
          <a:xfrm>
            <a:off x="5364122" y="3643742"/>
            <a:ext cx="1742928" cy="1230974"/>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Intermediate code generation</a:t>
            </a:r>
          </a:p>
        </p:txBody>
      </p:sp>
      <p:cxnSp>
        <p:nvCxnSpPr>
          <p:cNvPr id="17" name="Straight Arrow Connector 16">
            <a:extLst>
              <a:ext uri="{FF2B5EF4-FFF2-40B4-BE49-F238E27FC236}">
                <a16:creationId xmlns:a16="http://schemas.microsoft.com/office/drawing/2014/main" id="{AD0092FA-F91A-54BE-8245-C2A044BEC1FF}"/>
              </a:ext>
            </a:extLst>
          </p:cNvPr>
          <p:cNvCxnSpPr>
            <a:stCxn id="15" idx="3"/>
          </p:cNvCxnSpPr>
          <p:nvPr/>
        </p:nvCxnSpPr>
        <p:spPr>
          <a:xfrm>
            <a:off x="4810125" y="4292138"/>
            <a:ext cx="536504"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847C742-1E84-A6FE-9B61-E8335070387C}"/>
              </a:ext>
            </a:extLst>
          </p:cNvPr>
          <p:cNvCxnSpPr/>
          <p:nvPr/>
        </p:nvCxnSpPr>
        <p:spPr>
          <a:xfrm>
            <a:off x="7107381" y="4308763"/>
            <a:ext cx="484632"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F5A626C-EF3C-6F94-41E6-143B2FFD57E3}"/>
              </a:ext>
            </a:extLst>
          </p:cNvPr>
          <p:cNvCxnSpPr/>
          <p:nvPr/>
        </p:nvCxnSpPr>
        <p:spPr>
          <a:xfrm>
            <a:off x="7948780" y="4114800"/>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AFE946C9-3476-87D7-0289-0417AF324C0A}"/>
              </a:ext>
            </a:extLst>
          </p:cNvPr>
          <p:cNvSpPr/>
          <p:nvPr/>
        </p:nvSpPr>
        <p:spPr>
          <a:xfrm>
            <a:off x="8331289" y="3564778"/>
            <a:ext cx="2022764" cy="899157"/>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Code optimization </a:t>
            </a:r>
          </a:p>
        </p:txBody>
      </p:sp>
      <p:cxnSp>
        <p:nvCxnSpPr>
          <p:cNvPr id="21" name="Straight Arrow Connector 20">
            <a:extLst>
              <a:ext uri="{FF2B5EF4-FFF2-40B4-BE49-F238E27FC236}">
                <a16:creationId xmlns:a16="http://schemas.microsoft.com/office/drawing/2014/main" id="{0F3794A9-8B04-9B09-59B7-914DFBAEFEC1}"/>
              </a:ext>
            </a:extLst>
          </p:cNvPr>
          <p:cNvCxnSpPr/>
          <p:nvPr/>
        </p:nvCxnSpPr>
        <p:spPr>
          <a:xfrm>
            <a:off x="7950289" y="5351847"/>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9EC692F8-C3A3-1D15-E00A-C90A0594460C}"/>
              </a:ext>
            </a:extLst>
          </p:cNvPr>
          <p:cNvSpPr/>
          <p:nvPr/>
        </p:nvSpPr>
        <p:spPr>
          <a:xfrm>
            <a:off x="8315851" y="4849780"/>
            <a:ext cx="2022764" cy="824348"/>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Code generation </a:t>
            </a:r>
          </a:p>
        </p:txBody>
      </p:sp>
      <p:cxnSp>
        <p:nvCxnSpPr>
          <p:cNvPr id="23" name="Straight Arrow Connector 22">
            <a:extLst>
              <a:ext uri="{FF2B5EF4-FFF2-40B4-BE49-F238E27FC236}">
                <a16:creationId xmlns:a16="http://schemas.microsoft.com/office/drawing/2014/main" id="{A1CC970E-578B-2DD9-27AE-8F450DF7C8B4}"/>
              </a:ext>
            </a:extLst>
          </p:cNvPr>
          <p:cNvCxnSpPr>
            <a:stCxn id="3" idx="2"/>
            <a:endCxn id="15" idx="0"/>
          </p:cNvCxnSpPr>
          <p:nvPr/>
        </p:nvCxnSpPr>
        <p:spPr>
          <a:xfrm>
            <a:off x="3338853" y="1684900"/>
            <a:ext cx="4422" cy="702239"/>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5481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dur="2000" fill="hold" nodeType="clickEffect">
                                  <p:stCondLst>
                                    <p:cond delay="0"/>
                                  </p:stCondLst>
                                  <p:childTnLst>
                                    <p:animClr clrSpc="rgb" dir="cw">
                                      <p:cBhvr>
                                        <p:cTn id="6" dur="2000" fill="hold"/>
                                        <p:tgtEl>
                                          <p:spTgt spid="20"/>
                                        </p:tgtEl>
                                        <p:attrNameLst>
                                          <p:attrName>fillcolor</p:attrName>
                                        </p:attrNameLst>
                                      </p:cBhvr>
                                      <p:to>
                                        <a:schemeClr val="accent2"/>
                                      </p:to>
                                    </p:animClr>
                                    <p:set>
                                      <p:cBhvr>
                                        <p:cTn id="7" dur="2000" fill="hold"/>
                                        <p:tgtEl>
                                          <p:spTgt spid="20"/>
                                        </p:tgtEl>
                                        <p:attrNameLst>
                                          <p:attrName>fill.type</p:attrName>
                                        </p:attrNameLst>
                                      </p:cBhvr>
                                      <p:to>
                                        <p:strVal val="solid"/>
                                      </p:to>
                                    </p:set>
                                    <p:set>
                                      <p:cBhvr>
                                        <p:cTn id="8" dur="2000" fill="hold"/>
                                        <p:tgtEl>
                                          <p:spTgt spid="20"/>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D868B-1677-FE68-C93E-D6F708833715}"/>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Code optimization</a:t>
            </a:r>
          </a:p>
        </p:txBody>
      </p:sp>
      <p:sp>
        <p:nvSpPr>
          <p:cNvPr id="3" name="Content Placeholder 3">
            <a:extLst>
              <a:ext uri="{FF2B5EF4-FFF2-40B4-BE49-F238E27FC236}">
                <a16:creationId xmlns:a16="http://schemas.microsoft.com/office/drawing/2014/main" id="{FA584E1A-1480-FE70-5BB4-242518D892CD}"/>
              </a:ext>
            </a:extLst>
          </p:cNvPr>
          <p:cNvSpPr txBox="1">
            <a:spLocks/>
          </p:cNvSpPr>
          <p:nvPr/>
        </p:nvSpPr>
        <p:spPr>
          <a:xfrm>
            <a:off x="131181" y="863444"/>
            <a:ext cx="6927346"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t>It </a:t>
            </a:r>
            <a:r>
              <a:rPr lang="en-US" b="1">
                <a:solidFill>
                  <a:srgbClr val="0E47A1"/>
                </a:solidFill>
              </a:rPr>
              <a:t>improves</a:t>
            </a:r>
            <a:r>
              <a:rPr lang="en-US"/>
              <a:t> the intermediate code.</a:t>
            </a:r>
          </a:p>
          <a:p>
            <a:pPr>
              <a:lnSpc>
                <a:spcPct val="100000"/>
              </a:lnSpc>
            </a:pPr>
            <a:r>
              <a:rPr lang="en-US"/>
              <a:t>This is necessary to have a </a:t>
            </a:r>
            <a:r>
              <a:rPr lang="en-US" b="1">
                <a:solidFill>
                  <a:srgbClr val="0E47A1"/>
                </a:solidFill>
              </a:rPr>
              <a:t>faster execution </a:t>
            </a:r>
            <a:r>
              <a:rPr lang="en-US"/>
              <a:t>of code or </a:t>
            </a:r>
            <a:r>
              <a:rPr lang="en-US" b="1">
                <a:solidFill>
                  <a:srgbClr val="0E47A1"/>
                </a:solidFill>
              </a:rPr>
              <a:t>less consumption of memory</a:t>
            </a:r>
            <a:r>
              <a:rPr lang="en-US"/>
              <a:t>.</a:t>
            </a:r>
          </a:p>
          <a:p>
            <a:endParaRPr lang="en-US"/>
          </a:p>
          <a:p>
            <a:endParaRPr lang="en-US"/>
          </a:p>
          <a:p>
            <a:endParaRPr lang="en-US"/>
          </a:p>
        </p:txBody>
      </p:sp>
      <p:sp>
        <p:nvSpPr>
          <p:cNvPr id="4" name="Rectangle 3">
            <a:extLst>
              <a:ext uri="{FF2B5EF4-FFF2-40B4-BE49-F238E27FC236}">
                <a16:creationId xmlns:a16="http://schemas.microsoft.com/office/drawing/2014/main" id="{797D2271-6180-B7B9-7113-79F91C3572A7}"/>
              </a:ext>
            </a:extLst>
          </p:cNvPr>
          <p:cNvSpPr/>
          <p:nvPr/>
        </p:nvSpPr>
        <p:spPr>
          <a:xfrm>
            <a:off x="8478906" y="1449374"/>
            <a:ext cx="2438400" cy="506949"/>
          </a:xfrm>
          <a:prstGeom prst="rect">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Intermediate code </a:t>
            </a:r>
          </a:p>
        </p:txBody>
      </p:sp>
      <p:cxnSp>
        <p:nvCxnSpPr>
          <p:cNvPr id="5" name="Straight Arrow Connector 4">
            <a:extLst>
              <a:ext uri="{FF2B5EF4-FFF2-40B4-BE49-F238E27FC236}">
                <a16:creationId xmlns:a16="http://schemas.microsoft.com/office/drawing/2014/main" id="{1CE6464F-8D26-D9A9-7271-77A9293B9BF4}"/>
              </a:ext>
            </a:extLst>
          </p:cNvPr>
          <p:cNvCxnSpPr/>
          <p:nvPr/>
        </p:nvCxnSpPr>
        <p:spPr>
          <a:xfrm>
            <a:off x="9646320" y="1133989"/>
            <a:ext cx="8651" cy="334312"/>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860E45B4-1045-4F9E-DC1F-297380AB56D9}"/>
              </a:ext>
            </a:extLst>
          </p:cNvPr>
          <p:cNvCxnSpPr/>
          <p:nvPr/>
        </p:nvCxnSpPr>
        <p:spPr>
          <a:xfrm flipH="1">
            <a:off x="9646320" y="1956324"/>
            <a:ext cx="0" cy="226219"/>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244EF77F-B375-F9A3-33BB-9642682A4614}"/>
              </a:ext>
            </a:extLst>
          </p:cNvPr>
          <p:cNvSpPr/>
          <p:nvPr/>
        </p:nvSpPr>
        <p:spPr>
          <a:xfrm>
            <a:off x="6845969" y="2180154"/>
            <a:ext cx="4071338" cy="2001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	</a:t>
            </a:r>
            <a:r>
              <a:rPr lang="en-US" sz="2200">
                <a:solidFill>
                  <a:schemeClr val="tx1"/>
                </a:solidFill>
              </a:rPr>
              <a:t>           t1= int to real(60)</a:t>
            </a:r>
          </a:p>
          <a:p>
            <a:pPr algn="ctr"/>
            <a:r>
              <a:rPr lang="en-US" sz="2200">
                <a:solidFill>
                  <a:schemeClr val="tx1"/>
                </a:solidFill>
              </a:rPr>
              <a:t>	t2= id3 * t1</a:t>
            </a:r>
          </a:p>
          <a:p>
            <a:pPr algn="ctr"/>
            <a:r>
              <a:rPr lang="en-US" sz="2200">
                <a:solidFill>
                  <a:schemeClr val="tx1"/>
                </a:solidFill>
              </a:rPr>
              <a:t>	t3= t2 + id2</a:t>
            </a:r>
          </a:p>
          <a:p>
            <a:pPr defTabSz="885825"/>
            <a:r>
              <a:rPr lang="en-US" sz="2200">
                <a:solidFill>
                  <a:schemeClr val="tx1"/>
                </a:solidFill>
              </a:rPr>
              <a:t>		id1= t3</a:t>
            </a:r>
          </a:p>
        </p:txBody>
      </p:sp>
      <p:sp>
        <p:nvSpPr>
          <p:cNvPr id="8" name="Rectangle 7">
            <a:extLst>
              <a:ext uri="{FF2B5EF4-FFF2-40B4-BE49-F238E27FC236}">
                <a16:creationId xmlns:a16="http://schemas.microsoft.com/office/drawing/2014/main" id="{E3A3027E-5BD4-D488-0342-280F4890B3A6}"/>
              </a:ext>
            </a:extLst>
          </p:cNvPr>
          <p:cNvSpPr/>
          <p:nvPr/>
        </p:nvSpPr>
        <p:spPr>
          <a:xfrm>
            <a:off x="8511492" y="3884648"/>
            <a:ext cx="2438400" cy="553037"/>
          </a:xfrm>
          <a:prstGeom prst="rect">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 Code optimization </a:t>
            </a:r>
          </a:p>
        </p:txBody>
      </p:sp>
      <p:cxnSp>
        <p:nvCxnSpPr>
          <p:cNvPr id="9" name="Straight Arrow Connector 8">
            <a:extLst>
              <a:ext uri="{FF2B5EF4-FFF2-40B4-BE49-F238E27FC236}">
                <a16:creationId xmlns:a16="http://schemas.microsoft.com/office/drawing/2014/main" id="{E04D3254-1567-622F-28E9-1052AA535285}"/>
              </a:ext>
            </a:extLst>
          </p:cNvPr>
          <p:cNvCxnSpPr/>
          <p:nvPr/>
        </p:nvCxnSpPr>
        <p:spPr>
          <a:xfrm flipH="1">
            <a:off x="9692573" y="3567950"/>
            <a:ext cx="0" cy="316698"/>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2904AEF-586D-5DAE-4656-812379995C90}"/>
              </a:ext>
            </a:extLst>
          </p:cNvPr>
          <p:cNvCxnSpPr/>
          <p:nvPr/>
        </p:nvCxnSpPr>
        <p:spPr>
          <a:xfrm flipH="1">
            <a:off x="9654971" y="4428514"/>
            <a:ext cx="0" cy="226219"/>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E92EF474-4CD6-9BC6-E65C-15B97D27BE04}"/>
              </a:ext>
            </a:extLst>
          </p:cNvPr>
          <p:cNvSpPr/>
          <p:nvPr/>
        </p:nvSpPr>
        <p:spPr>
          <a:xfrm>
            <a:off x="7091767" y="4671019"/>
            <a:ext cx="3809999" cy="8501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solidFill>
                  <a:schemeClr val="tx1"/>
                </a:solidFill>
              </a:rPr>
              <a:t>		</a:t>
            </a:r>
            <a:r>
              <a:rPr lang="en-US" sz="2200">
                <a:solidFill>
                  <a:schemeClr val="tx1"/>
                </a:solidFill>
              </a:rPr>
              <a:t>t1= id3 * 60.0</a:t>
            </a:r>
          </a:p>
          <a:p>
            <a:r>
              <a:rPr lang="en-US" sz="2200">
                <a:solidFill>
                  <a:schemeClr val="tx1"/>
                </a:solidFill>
              </a:rPr>
              <a:t>		id1 = id2 + t1</a:t>
            </a:r>
          </a:p>
        </p:txBody>
      </p:sp>
      <p:sp>
        <p:nvSpPr>
          <p:cNvPr id="12" name="Rectangle 11">
            <a:extLst>
              <a:ext uri="{FF2B5EF4-FFF2-40B4-BE49-F238E27FC236}">
                <a16:creationId xmlns:a16="http://schemas.microsoft.com/office/drawing/2014/main" id="{A89EBCFA-4B78-E51C-8B32-5A3A412CF835}"/>
              </a:ext>
            </a:extLst>
          </p:cNvPr>
          <p:cNvSpPr/>
          <p:nvPr/>
        </p:nvSpPr>
        <p:spPr>
          <a:xfrm>
            <a:off x="8518735" y="2181178"/>
            <a:ext cx="2390776" cy="720952"/>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rgbClr val="00B050"/>
              </a:solidFill>
            </a:endParaRPr>
          </a:p>
        </p:txBody>
      </p:sp>
      <p:sp>
        <p:nvSpPr>
          <p:cNvPr id="13" name="Rectangle 12">
            <a:extLst>
              <a:ext uri="{FF2B5EF4-FFF2-40B4-BE49-F238E27FC236}">
                <a16:creationId xmlns:a16="http://schemas.microsoft.com/office/drawing/2014/main" id="{3970358D-8303-3BF6-AA3C-985A0FAD0384}"/>
              </a:ext>
            </a:extLst>
          </p:cNvPr>
          <p:cNvSpPr/>
          <p:nvPr/>
        </p:nvSpPr>
        <p:spPr>
          <a:xfrm>
            <a:off x="8506834" y="2888631"/>
            <a:ext cx="2394932" cy="680632"/>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rgbClr val="00B050"/>
              </a:solidFill>
            </a:endParaRPr>
          </a:p>
        </p:txBody>
      </p:sp>
      <p:cxnSp>
        <p:nvCxnSpPr>
          <p:cNvPr id="14" name="Straight Connector 13">
            <a:extLst>
              <a:ext uri="{FF2B5EF4-FFF2-40B4-BE49-F238E27FC236}">
                <a16:creationId xmlns:a16="http://schemas.microsoft.com/office/drawing/2014/main" id="{8FBE5DA6-AAAB-3194-F358-E54A5BDC5D49}"/>
              </a:ext>
            </a:extLst>
          </p:cNvPr>
          <p:cNvCxnSpPr/>
          <p:nvPr/>
        </p:nvCxnSpPr>
        <p:spPr>
          <a:xfrm flipH="1">
            <a:off x="7529981" y="845170"/>
            <a:ext cx="0" cy="510063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1626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dur="50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dur="50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dur="50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dur="50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down)">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dur="1" fill="hold" nodeType="clickEffect">
                                  <p:stCondLst>
                                    <p:cond delay="0"/>
                                  </p:stCondLst>
                                  <p:childTnLst>
                                    <p:set>
                                      <p:cBhvr>
                                        <p:cTn id="3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dur="1" fill="hold" grpId="1" nodeType="clickEffect">
                                  <p:stCondLst>
                                    <p:cond delay="0"/>
                                  </p:stCondLst>
                                  <p:childTnLst>
                                    <p:set>
                                      <p:cBhvr>
                                        <p:cTn id="36" dur="1" fill="hold">
                                          <p:stCondLst>
                                            <p:cond delay="0"/>
                                          </p:stCondLst>
                                        </p:cTn>
                                        <p:tgtEl>
                                          <p:spTgt spid="12"/>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4" dur="50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down)">
                                      <p:cBhvr>
                                        <p:cTn id="41" dur="5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dur="1" fill="hold" nodeType="clickEffect">
                                  <p:stCondLst>
                                    <p:cond delay="0"/>
                                  </p:stCondLst>
                                  <p:childTnLst>
                                    <p:set>
                                      <p:cBhvr>
                                        <p:cTn id="45"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xit" presetSubtype="0" dur="1" fill="hold" grpId="1" nodeType="clickEffect">
                                  <p:stCondLst>
                                    <p:cond delay="0"/>
                                  </p:stCondLst>
                                  <p:childTnLst>
                                    <p:set>
                                      <p:cBhvr>
                                        <p:cTn id="49"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2" grpId="1" animBg="1"/>
      <p:bldP spid="13" grpId="0" animBg="1"/>
      <p:bldP spid="13"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58B1F-A72D-93BF-F471-E267B100E77D}"/>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Phases of compiler</a:t>
            </a:r>
          </a:p>
        </p:txBody>
      </p:sp>
      <p:sp>
        <p:nvSpPr>
          <p:cNvPr id="3" name="Rectangle 2">
            <a:extLst>
              <a:ext uri="{FF2B5EF4-FFF2-40B4-BE49-F238E27FC236}">
                <a16:creationId xmlns:a16="http://schemas.microsoft.com/office/drawing/2014/main" id="{8DF179EE-A5FE-4776-39A9-5270C9BC3678}"/>
              </a:ext>
            </a:extLst>
          </p:cNvPr>
          <p:cNvSpPr/>
          <p:nvPr/>
        </p:nvSpPr>
        <p:spPr>
          <a:xfrm>
            <a:off x="1900832" y="1075299"/>
            <a:ext cx="2876043"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Compiler</a:t>
            </a:r>
          </a:p>
        </p:txBody>
      </p:sp>
      <p:sp>
        <p:nvSpPr>
          <p:cNvPr id="4" name="Rectangle 3">
            <a:extLst>
              <a:ext uri="{FF2B5EF4-FFF2-40B4-BE49-F238E27FC236}">
                <a16:creationId xmlns:a16="http://schemas.microsoft.com/office/drawing/2014/main" id="{857821EF-5AAE-03D3-93FD-D2252D512AC5}"/>
              </a:ext>
            </a:extLst>
          </p:cNvPr>
          <p:cNvSpPr/>
          <p:nvPr/>
        </p:nvSpPr>
        <p:spPr>
          <a:xfrm>
            <a:off x="1934081" y="2475807"/>
            <a:ext cx="2057400"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Analysis phase</a:t>
            </a:r>
          </a:p>
        </p:txBody>
      </p:sp>
      <p:sp>
        <p:nvSpPr>
          <p:cNvPr id="5" name="Rectangle 4">
            <a:extLst>
              <a:ext uri="{FF2B5EF4-FFF2-40B4-BE49-F238E27FC236}">
                <a16:creationId xmlns:a16="http://schemas.microsoft.com/office/drawing/2014/main" id="{CCBE7070-8954-50D3-DD62-0092B9AA2873}"/>
              </a:ext>
            </a:extLst>
          </p:cNvPr>
          <p:cNvSpPr/>
          <p:nvPr/>
        </p:nvSpPr>
        <p:spPr>
          <a:xfrm>
            <a:off x="7663992" y="2425932"/>
            <a:ext cx="2057400"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Synthesis phase</a:t>
            </a:r>
          </a:p>
        </p:txBody>
      </p:sp>
      <p:cxnSp>
        <p:nvCxnSpPr>
          <p:cNvPr id="6" name="Straight Connector 5">
            <a:extLst>
              <a:ext uri="{FF2B5EF4-FFF2-40B4-BE49-F238E27FC236}">
                <a16:creationId xmlns:a16="http://schemas.microsoft.com/office/drawing/2014/main" id="{48B73EE2-EB3E-95F0-DF0B-A9DAE67005A6}"/>
              </a:ext>
            </a:extLst>
          </p:cNvPr>
          <p:cNvCxnSpPr/>
          <p:nvPr/>
        </p:nvCxnSpPr>
        <p:spPr>
          <a:xfrm flipH="1">
            <a:off x="2238881" y="3085408"/>
            <a:ext cx="0" cy="2324793"/>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3EA3766-2B86-27DB-8A58-A3E48B87256E}"/>
              </a:ext>
            </a:extLst>
          </p:cNvPr>
          <p:cNvCxnSpPr/>
          <p:nvPr/>
        </p:nvCxnSpPr>
        <p:spPr>
          <a:xfrm flipH="1">
            <a:off x="7963068" y="3034674"/>
            <a:ext cx="0" cy="2324793"/>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DB79C4E-8497-0EA4-5830-1377D13F1E65}"/>
              </a:ext>
            </a:extLst>
          </p:cNvPr>
          <p:cNvCxnSpPr/>
          <p:nvPr/>
        </p:nvCxnSpPr>
        <p:spPr>
          <a:xfrm>
            <a:off x="2238881" y="3657600"/>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27994081-0F45-C05E-0048-CB1A9DF3835F}"/>
              </a:ext>
            </a:extLst>
          </p:cNvPr>
          <p:cNvSpPr/>
          <p:nvPr/>
        </p:nvSpPr>
        <p:spPr>
          <a:xfrm>
            <a:off x="2654517" y="3333403"/>
            <a:ext cx="2022764"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Lexical analysis </a:t>
            </a:r>
          </a:p>
        </p:txBody>
      </p:sp>
      <p:cxnSp>
        <p:nvCxnSpPr>
          <p:cNvPr id="10" name="Straight Arrow Connector 9">
            <a:extLst>
              <a:ext uri="{FF2B5EF4-FFF2-40B4-BE49-F238E27FC236}">
                <a16:creationId xmlns:a16="http://schemas.microsoft.com/office/drawing/2014/main" id="{CA085C21-8C9C-6BC0-97E7-F89B148206F5}"/>
              </a:ext>
            </a:extLst>
          </p:cNvPr>
          <p:cNvCxnSpPr/>
          <p:nvPr/>
        </p:nvCxnSpPr>
        <p:spPr>
          <a:xfrm>
            <a:off x="2227798" y="4564377"/>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AA781910-C3B3-26EC-22C5-9D068C1C6DCB}"/>
              </a:ext>
            </a:extLst>
          </p:cNvPr>
          <p:cNvSpPr/>
          <p:nvPr/>
        </p:nvSpPr>
        <p:spPr>
          <a:xfrm>
            <a:off x="2643434" y="4240180"/>
            <a:ext cx="2022764"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Syntax analysis </a:t>
            </a:r>
          </a:p>
        </p:txBody>
      </p:sp>
      <p:cxnSp>
        <p:nvCxnSpPr>
          <p:cNvPr id="12" name="Straight Arrow Connector 11">
            <a:extLst>
              <a:ext uri="{FF2B5EF4-FFF2-40B4-BE49-F238E27FC236}">
                <a16:creationId xmlns:a16="http://schemas.microsoft.com/office/drawing/2014/main" id="{81B85A7D-873D-98EF-83DF-66EB216C9E1F}"/>
              </a:ext>
            </a:extLst>
          </p:cNvPr>
          <p:cNvCxnSpPr/>
          <p:nvPr/>
        </p:nvCxnSpPr>
        <p:spPr>
          <a:xfrm>
            <a:off x="2227798" y="5401021"/>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256D8AF-DB1E-A9A8-B38B-E30DB009641E}"/>
              </a:ext>
            </a:extLst>
          </p:cNvPr>
          <p:cNvSpPr/>
          <p:nvPr/>
        </p:nvSpPr>
        <p:spPr>
          <a:xfrm>
            <a:off x="2643434" y="5105400"/>
            <a:ext cx="2022764" cy="609600"/>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chemeClr val="bg1"/>
                </a:solidFill>
              </a:rPr>
              <a:t>Semantic analysis </a:t>
            </a:r>
          </a:p>
        </p:txBody>
      </p:sp>
      <p:sp>
        <p:nvSpPr>
          <p:cNvPr id="14" name="Rectangle 13">
            <a:extLst>
              <a:ext uri="{FF2B5EF4-FFF2-40B4-BE49-F238E27FC236}">
                <a16:creationId xmlns:a16="http://schemas.microsoft.com/office/drawing/2014/main" id="{8D3E6D13-563E-E4ED-5356-D941B25B7B7A}"/>
              </a:ext>
            </a:extLst>
          </p:cNvPr>
          <p:cNvSpPr/>
          <p:nvPr/>
        </p:nvSpPr>
        <p:spPr>
          <a:xfrm>
            <a:off x="7577051" y="2342803"/>
            <a:ext cx="2933700" cy="3854335"/>
          </a:xfrm>
          <a:prstGeom prst="rect">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265AF00-4652-8ACE-1F11-47142F27AD70}"/>
              </a:ext>
            </a:extLst>
          </p:cNvPr>
          <p:cNvSpPr/>
          <p:nvPr/>
        </p:nvSpPr>
        <p:spPr>
          <a:xfrm>
            <a:off x="1876425" y="2387138"/>
            <a:ext cx="2933700" cy="3810000"/>
          </a:xfrm>
          <a:prstGeom prst="rect">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78127D7-ADBF-2666-D2F9-63ED88722BCD}"/>
              </a:ext>
            </a:extLst>
          </p:cNvPr>
          <p:cNvSpPr/>
          <p:nvPr/>
        </p:nvSpPr>
        <p:spPr>
          <a:xfrm>
            <a:off x="5364122" y="3643742"/>
            <a:ext cx="1742928" cy="1230974"/>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Intermediate code generation</a:t>
            </a:r>
          </a:p>
        </p:txBody>
      </p:sp>
      <p:cxnSp>
        <p:nvCxnSpPr>
          <p:cNvPr id="17" name="Straight Arrow Connector 16">
            <a:extLst>
              <a:ext uri="{FF2B5EF4-FFF2-40B4-BE49-F238E27FC236}">
                <a16:creationId xmlns:a16="http://schemas.microsoft.com/office/drawing/2014/main" id="{E85B487B-FFF3-EDD1-BD41-5CA9330197B8}"/>
              </a:ext>
            </a:extLst>
          </p:cNvPr>
          <p:cNvCxnSpPr>
            <a:stCxn id="15" idx="3"/>
          </p:cNvCxnSpPr>
          <p:nvPr/>
        </p:nvCxnSpPr>
        <p:spPr>
          <a:xfrm>
            <a:off x="4810125" y="4292138"/>
            <a:ext cx="536504"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611A49D-9E13-FBE0-ABCF-F97607D272FE}"/>
              </a:ext>
            </a:extLst>
          </p:cNvPr>
          <p:cNvCxnSpPr/>
          <p:nvPr/>
        </p:nvCxnSpPr>
        <p:spPr>
          <a:xfrm>
            <a:off x="7107381" y="4308763"/>
            <a:ext cx="484632"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0D91D05-7781-3E85-CF02-819453608972}"/>
              </a:ext>
            </a:extLst>
          </p:cNvPr>
          <p:cNvCxnSpPr/>
          <p:nvPr/>
        </p:nvCxnSpPr>
        <p:spPr>
          <a:xfrm>
            <a:off x="7948780" y="4114800"/>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7C1884F7-AC2F-AFBE-9C36-B736BBB9EAAC}"/>
              </a:ext>
            </a:extLst>
          </p:cNvPr>
          <p:cNvSpPr/>
          <p:nvPr/>
        </p:nvSpPr>
        <p:spPr>
          <a:xfrm>
            <a:off x="8331289" y="3564778"/>
            <a:ext cx="2022764" cy="899157"/>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Code optimization </a:t>
            </a:r>
          </a:p>
        </p:txBody>
      </p:sp>
      <p:cxnSp>
        <p:nvCxnSpPr>
          <p:cNvPr id="21" name="Straight Arrow Connector 20">
            <a:extLst>
              <a:ext uri="{FF2B5EF4-FFF2-40B4-BE49-F238E27FC236}">
                <a16:creationId xmlns:a16="http://schemas.microsoft.com/office/drawing/2014/main" id="{1FB62D72-C32B-D14E-875C-0806BE4B594F}"/>
              </a:ext>
            </a:extLst>
          </p:cNvPr>
          <p:cNvCxnSpPr/>
          <p:nvPr/>
        </p:nvCxnSpPr>
        <p:spPr>
          <a:xfrm>
            <a:off x="7950289" y="5351847"/>
            <a:ext cx="3810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D9D6006D-AB92-4B49-3CC3-A6109B458E7F}"/>
              </a:ext>
            </a:extLst>
          </p:cNvPr>
          <p:cNvSpPr/>
          <p:nvPr/>
        </p:nvSpPr>
        <p:spPr>
          <a:xfrm>
            <a:off x="8315851" y="4849780"/>
            <a:ext cx="2022764" cy="824348"/>
          </a:xfrm>
          <a:prstGeom prst="rect">
            <a:avLst/>
          </a:prstGeom>
          <a:solidFill>
            <a:srgbClr val="0E47A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solidFill>
                  <a:schemeClr val="bg1"/>
                </a:solidFill>
              </a:rPr>
              <a:t>Code generation </a:t>
            </a:r>
          </a:p>
        </p:txBody>
      </p:sp>
      <p:cxnSp>
        <p:nvCxnSpPr>
          <p:cNvPr id="23" name="Straight Arrow Connector 22">
            <a:extLst>
              <a:ext uri="{FF2B5EF4-FFF2-40B4-BE49-F238E27FC236}">
                <a16:creationId xmlns:a16="http://schemas.microsoft.com/office/drawing/2014/main" id="{636B82B5-2982-FEC1-391C-6E89803A3CDB}"/>
              </a:ext>
            </a:extLst>
          </p:cNvPr>
          <p:cNvCxnSpPr>
            <a:stCxn id="3" idx="2"/>
            <a:endCxn id="15" idx="0"/>
          </p:cNvCxnSpPr>
          <p:nvPr/>
        </p:nvCxnSpPr>
        <p:spPr>
          <a:xfrm>
            <a:off x="3338853" y="1684900"/>
            <a:ext cx="4422" cy="702239"/>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160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dur="2000" fill="hold" nodeType="clickEffect">
                                  <p:stCondLst>
                                    <p:cond delay="0"/>
                                  </p:stCondLst>
                                  <p:childTnLst>
                                    <p:animClr clrSpc="rgb" dir="cw">
                                      <p:cBhvr>
                                        <p:cTn id="6" dur="2000" fill="hold"/>
                                        <p:tgtEl>
                                          <p:spTgt spid="22"/>
                                        </p:tgtEl>
                                        <p:attrNameLst>
                                          <p:attrName>fillcolor</p:attrName>
                                        </p:attrNameLst>
                                      </p:cBhvr>
                                      <p:to>
                                        <a:schemeClr val="accent2"/>
                                      </p:to>
                                    </p:animClr>
                                    <p:set>
                                      <p:cBhvr>
                                        <p:cTn id="7" dur="2000" fill="hold"/>
                                        <p:tgtEl>
                                          <p:spTgt spid="22"/>
                                        </p:tgtEl>
                                        <p:attrNameLst>
                                          <p:attrName>fill.type</p:attrName>
                                        </p:attrNameLst>
                                      </p:cBhvr>
                                      <p:to>
                                        <p:strVal val="solid"/>
                                      </p:to>
                                    </p:set>
                                    <p:set>
                                      <p:cBhvr>
                                        <p:cTn id="8" dur="2000" fill="hold"/>
                                        <p:tgtEl>
                                          <p:spTgt spid="2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83D7A-0E7A-792F-3741-8E3D3446C03E}"/>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Code generation</a:t>
            </a:r>
          </a:p>
        </p:txBody>
      </p:sp>
      <p:sp>
        <p:nvSpPr>
          <p:cNvPr id="3" name="Content Placeholder 3">
            <a:extLst>
              <a:ext uri="{FF2B5EF4-FFF2-40B4-BE49-F238E27FC236}">
                <a16:creationId xmlns:a16="http://schemas.microsoft.com/office/drawing/2014/main" id="{992399C8-3647-C7D8-49CE-B7F5314318AD}"/>
              </a:ext>
            </a:extLst>
          </p:cNvPr>
          <p:cNvSpPr txBox="1">
            <a:spLocks/>
          </p:cNvSpPr>
          <p:nvPr/>
        </p:nvSpPr>
        <p:spPr>
          <a:xfrm>
            <a:off x="131180" y="863444"/>
            <a:ext cx="7184019"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The intermediate code instructions are </a:t>
            </a:r>
            <a:r>
              <a:rPr lang="en-US" b="1">
                <a:solidFill>
                  <a:srgbClr val="0E47A1"/>
                </a:solidFill>
              </a:rPr>
              <a:t>translated into sequence of machine instruction</a:t>
            </a:r>
            <a:r>
              <a:rPr lang="en-US"/>
              <a:t>.</a:t>
            </a:r>
          </a:p>
        </p:txBody>
      </p:sp>
      <p:sp>
        <p:nvSpPr>
          <p:cNvPr id="4" name="Rectangle 3">
            <a:extLst>
              <a:ext uri="{FF2B5EF4-FFF2-40B4-BE49-F238E27FC236}">
                <a16:creationId xmlns:a16="http://schemas.microsoft.com/office/drawing/2014/main" id="{0489F1E7-A53C-5511-BADC-4B03E833CB60}"/>
              </a:ext>
            </a:extLst>
          </p:cNvPr>
          <p:cNvSpPr/>
          <p:nvPr/>
        </p:nvSpPr>
        <p:spPr>
          <a:xfrm>
            <a:off x="8318988" y="2978946"/>
            <a:ext cx="2438400" cy="534356"/>
          </a:xfrm>
          <a:prstGeom prst="rect">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 Code generation </a:t>
            </a:r>
          </a:p>
        </p:txBody>
      </p:sp>
      <p:cxnSp>
        <p:nvCxnSpPr>
          <p:cNvPr id="5" name="Straight Arrow Connector 4">
            <a:extLst>
              <a:ext uri="{FF2B5EF4-FFF2-40B4-BE49-F238E27FC236}">
                <a16:creationId xmlns:a16="http://schemas.microsoft.com/office/drawing/2014/main" id="{9F039204-B48A-45B6-E840-F9EF2DC3733C}"/>
              </a:ext>
            </a:extLst>
          </p:cNvPr>
          <p:cNvCxnSpPr/>
          <p:nvPr/>
        </p:nvCxnSpPr>
        <p:spPr>
          <a:xfrm flipH="1">
            <a:off x="9538188" y="2662248"/>
            <a:ext cx="0" cy="316698"/>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01604699-BDB2-A7A7-9E45-272FB6EC6A64}"/>
              </a:ext>
            </a:extLst>
          </p:cNvPr>
          <p:cNvCxnSpPr>
            <a:stCxn id="4" idx="2"/>
          </p:cNvCxnSpPr>
          <p:nvPr/>
        </p:nvCxnSpPr>
        <p:spPr>
          <a:xfrm>
            <a:off x="9538188" y="3513302"/>
            <a:ext cx="598" cy="368672"/>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A81CF27-3006-F724-41D7-445BD86663D4}"/>
              </a:ext>
            </a:extLst>
          </p:cNvPr>
          <p:cNvSpPr/>
          <p:nvPr/>
        </p:nvSpPr>
        <p:spPr>
          <a:xfrm>
            <a:off x="6947389" y="3837836"/>
            <a:ext cx="3809999" cy="1390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solidFill>
                  <a:schemeClr val="tx1"/>
                </a:solidFill>
              </a:rPr>
              <a:t>		</a:t>
            </a:r>
            <a:r>
              <a:rPr lang="en-US" sz="2200">
                <a:solidFill>
                  <a:schemeClr val="tx1"/>
                </a:solidFill>
              </a:rPr>
              <a:t>MOV id3, R2</a:t>
            </a:r>
          </a:p>
          <a:p>
            <a:r>
              <a:rPr lang="en-US" sz="2200">
                <a:solidFill>
                  <a:schemeClr val="tx1"/>
                </a:solidFill>
              </a:rPr>
              <a:t>		MUL #60.0, R2</a:t>
            </a:r>
          </a:p>
          <a:p>
            <a:r>
              <a:rPr lang="en-US" sz="2200">
                <a:solidFill>
                  <a:schemeClr val="tx1"/>
                </a:solidFill>
              </a:rPr>
              <a:t>		MOV id2, R1</a:t>
            </a:r>
          </a:p>
          <a:p>
            <a:r>
              <a:rPr lang="en-US" sz="2200">
                <a:solidFill>
                  <a:schemeClr val="tx1"/>
                </a:solidFill>
              </a:rPr>
              <a:t>		ADD R2,R1</a:t>
            </a:r>
          </a:p>
          <a:p>
            <a:r>
              <a:rPr lang="en-US" sz="2200">
                <a:solidFill>
                  <a:schemeClr val="tx1"/>
                </a:solidFill>
              </a:rPr>
              <a:t>		MOV R1, id1</a:t>
            </a:r>
          </a:p>
          <a:p>
            <a:endParaRPr lang="en-US">
              <a:solidFill>
                <a:schemeClr val="tx1"/>
              </a:solidFill>
            </a:endParaRPr>
          </a:p>
          <a:p>
            <a:endParaRPr lang="en-US">
              <a:solidFill>
                <a:schemeClr val="tx1"/>
              </a:solidFill>
            </a:endParaRPr>
          </a:p>
        </p:txBody>
      </p:sp>
      <p:sp>
        <p:nvSpPr>
          <p:cNvPr id="8" name="Rectangle 7">
            <a:extLst>
              <a:ext uri="{FF2B5EF4-FFF2-40B4-BE49-F238E27FC236}">
                <a16:creationId xmlns:a16="http://schemas.microsoft.com/office/drawing/2014/main" id="{2F98D48F-4414-AAC3-E020-1B30C4622644}"/>
              </a:ext>
            </a:extLst>
          </p:cNvPr>
          <p:cNvSpPr/>
          <p:nvPr/>
        </p:nvSpPr>
        <p:spPr>
          <a:xfrm>
            <a:off x="8371372" y="1274181"/>
            <a:ext cx="2438400" cy="530371"/>
          </a:xfrm>
          <a:prstGeom prst="rect">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 Code optimization </a:t>
            </a:r>
          </a:p>
        </p:txBody>
      </p:sp>
      <p:cxnSp>
        <p:nvCxnSpPr>
          <p:cNvPr id="9" name="Straight Arrow Connector 8">
            <a:extLst>
              <a:ext uri="{FF2B5EF4-FFF2-40B4-BE49-F238E27FC236}">
                <a16:creationId xmlns:a16="http://schemas.microsoft.com/office/drawing/2014/main" id="{F1380089-6E34-5E5D-A612-CBCE72D04135}"/>
              </a:ext>
            </a:extLst>
          </p:cNvPr>
          <p:cNvCxnSpPr/>
          <p:nvPr/>
        </p:nvCxnSpPr>
        <p:spPr>
          <a:xfrm flipH="1">
            <a:off x="9538786" y="989600"/>
            <a:ext cx="0" cy="316698"/>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C00CCFC-0B07-A50D-D571-01E00DD8F535}"/>
              </a:ext>
            </a:extLst>
          </p:cNvPr>
          <p:cNvCxnSpPr/>
          <p:nvPr/>
        </p:nvCxnSpPr>
        <p:spPr>
          <a:xfrm flipH="1">
            <a:off x="9524498" y="1784307"/>
            <a:ext cx="0" cy="22383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D199CE20-8F5F-6271-5855-127656628445}"/>
              </a:ext>
            </a:extLst>
          </p:cNvPr>
          <p:cNvSpPr/>
          <p:nvPr/>
        </p:nvSpPr>
        <p:spPr>
          <a:xfrm>
            <a:off x="6999774" y="1938521"/>
            <a:ext cx="3809999" cy="8501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solidFill>
                  <a:schemeClr val="tx1"/>
                </a:solidFill>
              </a:rPr>
              <a:t>		</a:t>
            </a:r>
            <a:r>
              <a:rPr lang="en-US" sz="2200">
                <a:solidFill>
                  <a:schemeClr val="tx1"/>
                </a:solidFill>
              </a:rPr>
              <a:t>t1= id3 * 60.0</a:t>
            </a:r>
          </a:p>
          <a:p>
            <a:r>
              <a:rPr lang="en-US" sz="2200">
                <a:solidFill>
                  <a:schemeClr val="tx1"/>
                </a:solidFill>
              </a:rPr>
              <a:t>		id1 = id2 + t1</a:t>
            </a:r>
          </a:p>
        </p:txBody>
      </p:sp>
      <p:cxnSp>
        <p:nvCxnSpPr>
          <p:cNvPr id="12" name="Straight Connector 11">
            <a:extLst>
              <a:ext uri="{FF2B5EF4-FFF2-40B4-BE49-F238E27FC236}">
                <a16:creationId xmlns:a16="http://schemas.microsoft.com/office/drawing/2014/main" id="{040AB5DB-159C-0FD9-896D-82A8840DCD87}"/>
              </a:ext>
            </a:extLst>
          </p:cNvPr>
          <p:cNvCxnSpPr/>
          <p:nvPr/>
        </p:nvCxnSpPr>
        <p:spPr>
          <a:xfrm>
            <a:off x="8947405" y="2310063"/>
            <a:ext cx="1394816"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4E7D0AB-8336-61B3-A60D-574ABB6AE324}"/>
              </a:ext>
            </a:extLst>
          </p:cNvPr>
          <p:cNvCxnSpPr/>
          <p:nvPr/>
        </p:nvCxnSpPr>
        <p:spPr>
          <a:xfrm>
            <a:off x="8920258" y="2643198"/>
            <a:ext cx="1394816"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7188A4E-3219-45B0-13DA-C0A4AB52FE6F}"/>
              </a:ext>
            </a:extLst>
          </p:cNvPr>
          <p:cNvCxnSpPr/>
          <p:nvPr/>
        </p:nvCxnSpPr>
        <p:spPr>
          <a:xfrm flipH="1">
            <a:off x="7529981" y="845170"/>
            <a:ext cx="0" cy="5100637"/>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376006A5-561A-4ADF-5260-5FBB9569B1AE}"/>
              </a:ext>
            </a:extLst>
          </p:cNvPr>
          <p:cNvSpPr/>
          <p:nvPr/>
        </p:nvSpPr>
        <p:spPr>
          <a:xfrm>
            <a:off x="10342221" y="5824882"/>
            <a:ext cx="1623848" cy="601498"/>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C00000"/>
                </a:solidFill>
              </a:rPr>
              <a:t>Id3</a:t>
            </a:r>
            <a:r>
              <a:rPr lang="en-US" b="1">
                <a:solidFill>
                  <a:srgbClr val="C00000"/>
                </a:solidFill>
                <a:sym typeface="Wingdings" panose="05000000000000000000" pitchFamily="2" charset="2"/>
              </a:rPr>
              <a:t>R2</a:t>
            </a:r>
          </a:p>
          <a:p>
            <a:pPr algn="ctr"/>
            <a:r>
              <a:rPr lang="en-US" b="1">
                <a:solidFill>
                  <a:srgbClr val="C00000"/>
                </a:solidFill>
                <a:sym typeface="Wingdings" panose="05000000000000000000" pitchFamily="2" charset="2"/>
              </a:rPr>
              <a:t>Id2R1</a:t>
            </a:r>
            <a:endParaRPr lang="en-US" b="1">
              <a:solidFill>
                <a:srgbClr val="C00000"/>
              </a:solidFill>
            </a:endParaRPr>
          </a:p>
        </p:txBody>
      </p:sp>
    </p:spTree>
    <p:extLst>
      <p:ext uri="{BB962C8B-B14F-4D97-AF65-F5344CB8AC3E}">
        <p14:creationId xmlns:p14="http://schemas.microsoft.com/office/powerpoint/2010/main" val="248573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dur="50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dur="50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dur="50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left)">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dur="1"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dur="1" fill="hold" nodeType="click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dur="1" fill="hold" nodeType="clickEffect">
                                  <p:stCondLst>
                                    <p:cond delay="0"/>
                                  </p:stCondLst>
                                  <p:childTnLst>
                                    <p:set>
                                      <p:cBhvr>
                                        <p:cTn id="3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8" dur="500" fill="hold" nodeType="clickEffect">
                                  <p:stCondLst>
                                    <p:cond delay="0"/>
                                  </p:stCondLst>
                                  <p:childTnLst>
                                    <p:animEffect transition="out" filter="wipe(left)">
                                      <p:cBhvr>
                                        <p:cTn id="36" dur="500"/>
                                        <p:tgtEl>
                                          <p:spTgt spid="12"/>
                                        </p:tgtEl>
                                      </p:cBhvr>
                                    </p:animEffect>
                                    <p:set>
                                      <p:cBhvr>
                                        <p:cTn id="37" dur="1" fill="hold">
                                          <p:stCondLst>
                                            <p:cond delay="499"/>
                                          </p:stCondLst>
                                        </p:cTn>
                                        <p:tgtEl>
                                          <p:spTgt spid="12"/>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dur="500"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dur="1" fill="hold" nodeType="clickEffect">
                                  <p:stCondLst>
                                    <p:cond delay="0"/>
                                  </p:stCondLst>
                                  <p:childTnLst>
                                    <p:set>
                                      <p:cBhvr>
                                        <p:cTn id="4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dur="1" fill="hold" nodeType="clickEffect">
                                  <p:stCondLst>
                                    <p:cond delay="0"/>
                                  </p:stCondLst>
                                  <p:childTnLst>
                                    <p:set>
                                      <p:cBhvr>
                                        <p:cTn id="5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dur="1" fill="hold" nodeType="clickEffect">
                                  <p:stCondLst>
                                    <p:cond delay="0"/>
                                  </p:stCondLst>
                                  <p:childTnLst>
                                    <p:set>
                                      <p:cBhvr>
                                        <p:cTn id="5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2" presetClass="exit" presetSubtype="8" dur="500" fill="hold" nodeType="clickEffect">
                                  <p:stCondLst>
                                    <p:cond delay="0"/>
                                  </p:stCondLst>
                                  <p:childTnLst>
                                    <p:animEffect transition="out" filter="wipe(left)">
                                      <p:cBhvr>
                                        <p:cTn id="58" dur="500"/>
                                        <p:tgtEl>
                                          <p:spTgt spid="13"/>
                                        </p:tgtEl>
                                      </p:cBhvr>
                                    </p:animEffect>
                                    <p:set>
                                      <p:cBhvr>
                                        <p:cTn id="59"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1ECA1-5D54-7D44-C36F-31CE4D1B0656}"/>
              </a:ext>
            </a:extLst>
          </p:cNvPr>
          <p:cNvSpPr>
            <a:spLocks noGrp="1"/>
          </p:cNvSpPr>
          <p:nvPr>
            <p:ph type="title"/>
          </p:nvPr>
        </p:nvSpPr>
        <p:spPr>
          <a:xfrm>
            <a:off x="530943" y="335626"/>
            <a:ext cx="10515600" cy="608269"/>
          </a:xfrm>
        </p:spPr>
        <p:txBody>
          <a:bodyPr>
            <a:normAutofit fontScale="90000"/>
          </a:bodyPr>
          <a:lstStyle/>
          <a:p>
            <a:r>
              <a:rPr lang="en-IN" dirty="0"/>
              <a:t>Symbol table</a:t>
            </a:r>
          </a:p>
        </p:txBody>
      </p:sp>
      <p:sp>
        <p:nvSpPr>
          <p:cNvPr id="3" name="Content Placeholder 2">
            <a:extLst>
              <a:ext uri="{FF2B5EF4-FFF2-40B4-BE49-F238E27FC236}">
                <a16:creationId xmlns:a16="http://schemas.microsoft.com/office/drawing/2014/main" id="{ED740BC3-A610-27AA-6A90-EE58B1DD97AA}"/>
              </a:ext>
            </a:extLst>
          </p:cNvPr>
          <p:cNvSpPr>
            <a:spLocks noGrp="1"/>
          </p:cNvSpPr>
          <p:nvPr>
            <p:ph idx="1"/>
          </p:nvPr>
        </p:nvSpPr>
        <p:spPr>
          <a:xfrm>
            <a:off x="530943" y="1002889"/>
            <a:ext cx="11474244" cy="5174073"/>
          </a:xfrm>
        </p:spPr>
        <p:txBody>
          <a:bodyPr/>
          <a:lstStyle/>
          <a:p>
            <a:r>
              <a:rPr lang="en-IN" dirty="0"/>
              <a:t>Symbol table are data structures that are used by compilers to </a:t>
            </a:r>
            <a:r>
              <a:rPr lang="en-IN" b="1" dirty="0">
                <a:solidFill>
                  <a:srgbClr val="0070C0"/>
                </a:solidFill>
              </a:rPr>
              <a:t>hold information about source-program constructs.</a:t>
            </a:r>
          </a:p>
          <a:p>
            <a:r>
              <a:rPr lang="en-IN" dirty="0"/>
              <a:t>It is used to store information about the occurrences of various entities such as, </a:t>
            </a:r>
            <a:r>
              <a:rPr lang="en-IN" b="1" dirty="0">
                <a:solidFill>
                  <a:srgbClr val="0070C0"/>
                </a:solidFill>
              </a:rPr>
              <a:t>objects, classes, variable names, functions, etc.,</a:t>
            </a:r>
          </a:p>
          <a:p>
            <a:r>
              <a:rPr lang="en-IN" dirty="0"/>
              <a:t>It is used by both </a:t>
            </a:r>
            <a:r>
              <a:rPr lang="en-IN" b="1" dirty="0">
                <a:solidFill>
                  <a:srgbClr val="0070C0"/>
                </a:solidFill>
              </a:rPr>
              <a:t>analysis phase and synthesis phase</a:t>
            </a:r>
            <a:r>
              <a:rPr lang="en-IN" dirty="0"/>
              <a:t>.</a:t>
            </a:r>
          </a:p>
          <a:p>
            <a:r>
              <a:rPr lang="en-IN" dirty="0"/>
              <a:t>Symbol table is used for the following purposes</a:t>
            </a:r>
          </a:p>
          <a:p>
            <a:pPr lvl="1"/>
            <a:r>
              <a:rPr lang="en-IN" dirty="0"/>
              <a:t>It is used to store the name of all the entities in a structured form at one place </a:t>
            </a:r>
          </a:p>
          <a:p>
            <a:pPr lvl="1"/>
            <a:r>
              <a:rPr lang="en-IN" dirty="0"/>
              <a:t>It is used to verify  if a variable has been declared </a:t>
            </a:r>
          </a:p>
          <a:p>
            <a:pPr lvl="1"/>
            <a:r>
              <a:rPr lang="en-IN" dirty="0"/>
              <a:t>It is used to determine the scope of a name</a:t>
            </a:r>
          </a:p>
          <a:p>
            <a:pPr lvl="1"/>
            <a:r>
              <a:rPr lang="en-IN" dirty="0"/>
              <a:t>It is used to implement type checking by verifying assignments  and expression in the source code are semantically correct.</a:t>
            </a:r>
          </a:p>
        </p:txBody>
      </p:sp>
    </p:spTree>
    <p:extLst>
      <p:ext uri="{BB962C8B-B14F-4D97-AF65-F5344CB8AC3E}">
        <p14:creationId xmlns:p14="http://schemas.microsoft.com/office/powerpoint/2010/main" val="3757618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1000"/>
                                        <p:tgtEl>
                                          <p:spTgt spid="3">
                                            <p:txEl>
                                              <p:pRg st="1" end="1"/>
                                            </p:txEl>
                                          </p:spTgt>
                                        </p:tgtEl>
                                      </p:cBhvr>
                                    </p:animEffect>
                                    <p:anim calcmode="lin" valueType="num">
                                      <p:cBhvr>
                                        <p:cTn id="1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1000"/>
                                        <p:tgtEl>
                                          <p:spTgt spid="3">
                                            <p:txEl>
                                              <p:pRg st="2" end="2"/>
                                            </p:txEl>
                                          </p:spTgt>
                                        </p:tgtEl>
                                      </p:cBhvr>
                                    </p:animEffect>
                                    <p:anim calcmode="lin" valueType="num">
                                      <p:cBhvr>
                                        <p:cTn id="1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wipe(down)">
                                      <p:cBhvr>
                                        <p:cTn id="25" dur="500"/>
                                        <p:tgtEl>
                                          <p:spTgt spid="3">
                                            <p:txEl>
                                              <p:pRg st="3" end="3"/>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wipe(down)">
                                      <p:cBhvr>
                                        <p:cTn id="28" dur="500"/>
                                        <p:tgtEl>
                                          <p:spTgt spid="3">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wipe(down)">
                                      <p:cBhvr>
                                        <p:cTn id="33" dur="500"/>
                                        <p:tgtEl>
                                          <p:spTgt spid="3">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wipe(down)">
                                      <p:cBhvr>
                                        <p:cTn id="38" dur="500"/>
                                        <p:tgtEl>
                                          <p:spTgt spid="3">
                                            <p:txEl>
                                              <p:pRg st="6" end="6"/>
                                            </p:txEl>
                                          </p:spTgt>
                                        </p:tgtEl>
                                      </p:cBhvr>
                                    </p:animEffect>
                                  </p:childTnLst>
                                </p:cTn>
                              </p:par>
                              <p:par>
                                <p:cTn id="39" presetID="22" presetClass="entr" presetSubtype="4" fill="hold"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wipe(down)">
                                      <p:cBhvr>
                                        <p:cTn id="4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1C84A-6133-A364-4ABF-52A97AECB25F}"/>
              </a:ext>
            </a:extLst>
          </p:cNvPr>
          <p:cNvSpPr>
            <a:spLocks noGrp="1"/>
          </p:cNvSpPr>
          <p:nvPr>
            <p:ph type="title"/>
          </p:nvPr>
        </p:nvSpPr>
        <p:spPr>
          <a:xfrm>
            <a:off x="838200" y="365125"/>
            <a:ext cx="10515600" cy="696759"/>
          </a:xfrm>
        </p:spPr>
        <p:txBody>
          <a:bodyPr/>
          <a:lstStyle/>
          <a:p>
            <a:r>
              <a:rPr lang="en-IN" dirty="0"/>
              <a:t>Cont.,</a:t>
            </a:r>
          </a:p>
        </p:txBody>
      </p:sp>
      <p:sp>
        <p:nvSpPr>
          <p:cNvPr id="3" name="Content Placeholder 2">
            <a:extLst>
              <a:ext uri="{FF2B5EF4-FFF2-40B4-BE49-F238E27FC236}">
                <a16:creationId xmlns:a16="http://schemas.microsoft.com/office/drawing/2014/main" id="{D64FB1E6-7FDD-50AD-52D6-09C78F52F8B0}"/>
              </a:ext>
            </a:extLst>
          </p:cNvPr>
          <p:cNvSpPr>
            <a:spLocks noGrp="1"/>
          </p:cNvSpPr>
          <p:nvPr>
            <p:ph idx="1"/>
          </p:nvPr>
        </p:nvSpPr>
        <p:spPr>
          <a:xfrm>
            <a:off x="838200" y="1061884"/>
            <a:ext cx="10515600" cy="5115079"/>
          </a:xfrm>
        </p:spPr>
        <p:txBody>
          <a:bodyPr/>
          <a:lstStyle/>
          <a:p>
            <a:r>
              <a:rPr lang="en-IN" dirty="0"/>
              <a:t>Symbol table can be a linear (Linked list) or hash table</a:t>
            </a:r>
          </a:p>
          <a:p>
            <a:r>
              <a:rPr lang="en-IN" dirty="0"/>
              <a:t>It maintain a entry for each name as,</a:t>
            </a:r>
          </a:p>
          <a:p>
            <a:pPr lvl="1"/>
            <a:r>
              <a:rPr lang="en-IN" dirty="0"/>
              <a:t>&lt;symbol name, type, attribute&gt;</a:t>
            </a:r>
          </a:p>
          <a:p>
            <a:pPr marL="0" indent="0">
              <a:buNone/>
            </a:pPr>
            <a:r>
              <a:rPr lang="en-IN" b="1" dirty="0" err="1">
                <a:solidFill>
                  <a:srgbClr val="0070C0"/>
                </a:solidFill>
              </a:rPr>
              <a:t>Eg.</a:t>
            </a:r>
            <a:r>
              <a:rPr lang="en-IN" b="1" dirty="0">
                <a:solidFill>
                  <a:srgbClr val="0070C0"/>
                </a:solidFill>
              </a:rPr>
              <a:t> </a:t>
            </a:r>
          </a:p>
          <a:p>
            <a:pPr lvl="1"/>
            <a:r>
              <a:rPr lang="en-IN" b="1" dirty="0">
                <a:solidFill>
                  <a:srgbClr val="0070C0"/>
                </a:solidFill>
              </a:rPr>
              <a:t>static int age;</a:t>
            </a:r>
          </a:p>
          <a:p>
            <a:pPr lvl="1"/>
            <a:r>
              <a:rPr lang="en-IN" b="1" dirty="0">
                <a:solidFill>
                  <a:srgbClr val="0070C0"/>
                </a:solidFill>
              </a:rPr>
              <a:t>&lt;age, int, static&gt;</a:t>
            </a:r>
          </a:p>
        </p:txBody>
      </p:sp>
    </p:spTree>
    <p:extLst>
      <p:ext uri="{BB962C8B-B14F-4D97-AF65-F5344CB8AC3E}">
        <p14:creationId xmlns:p14="http://schemas.microsoft.com/office/powerpoint/2010/main" val="27291540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68572-06F2-42F6-5D9E-877BB3453D20}"/>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Phases of compiler</a:t>
            </a:r>
          </a:p>
        </p:txBody>
      </p:sp>
      <p:sp>
        <p:nvSpPr>
          <p:cNvPr id="3" name="Rectangle 5">
            <a:extLst>
              <a:ext uri="{FF2B5EF4-FFF2-40B4-BE49-F238E27FC236}">
                <a16:creationId xmlns:a16="http://schemas.microsoft.com/office/drawing/2014/main" id="{C629401F-D697-1428-FF3F-A0681C47C567}"/>
              </a:ext>
            </a:extLst>
          </p:cNvPr>
          <p:cNvSpPr>
            <a:spLocks noChangeArrowheads="1"/>
          </p:cNvSpPr>
          <p:nvPr/>
        </p:nvSpPr>
        <p:spPr bwMode="auto">
          <a:xfrm>
            <a:off x="2174124" y="3537032"/>
            <a:ext cx="1495866" cy="387906"/>
          </a:xfrm>
          <a:prstGeom prst="rect">
            <a:avLst/>
          </a:prstGeom>
          <a:solidFill>
            <a:srgbClr val="0E47A1"/>
          </a:solidFill>
          <a:ln w="12700">
            <a:solidFill>
              <a:schemeClr val="tx1"/>
            </a:solidFill>
            <a:miter lim="800000"/>
          </a:ln>
        </p:spPr>
        <p:txBody>
          <a:bodyPr vert="horz" wrap="square" lIns="91440" tIns="45720" rIns="91440" bIns="45720" numCol="1" anchor="t" anchorCtr="0" compatLnSpc="1">
            <a:prstTxWarp prst="textNoShape">
              <a:avLst/>
            </a:prstTxWarp>
          </a:bodyPr>
          <a:lstStyle/>
          <a:p>
            <a:pPr algn="ctr" eaLnBrk="0" fontAlgn="base" hangingPunct="0">
              <a:spcBef>
                <a:spcPct val="0"/>
              </a:spcBef>
              <a:spcAft>
                <a:spcPct val="0"/>
              </a:spcAft>
            </a:pPr>
            <a:r>
              <a:rPr lang="en-US" altLang="en-US">
                <a:solidFill>
                  <a:schemeClr val="bg1"/>
                </a:solidFill>
                <a:latin typeface="+mj-lt"/>
                <a:ea typeface="Calibri" panose="020F0502020204030204" pitchFamily="34" charset="0"/>
                <a:cs typeface="Times New Roman" panose="02020603050405020304" pitchFamily="18" charset="0"/>
              </a:rPr>
              <a:t>Symbol table</a:t>
            </a:r>
            <a:endParaRPr lang="en-US" altLang="en-US">
              <a:solidFill>
                <a:schemeClr val="bg1"/>
              </a:solidFill>
              <a:latin typeface="+mj-lt"/>
            </a:endParaRPr>
          </a:p>
        </p:txBody>
      </p:sp>
      <p:cxnSp>
        <p:nvCxnSpPr>
          <p:cNvPr id="4" name="AutoShape 12">
            <a:extLst>
              <a:ext uri="{FF2B5EF4-FFF2-40B4-BE49-F238E27FC236}">
                <a16:creationId xmlns:a16="http://schemas.microsoft.com/office/drawing/2014/main" id="{6C2DB6D1-ED89-7143-83C5-6415F67583FE}"/>
              </a:ext>
            </a:extLst>
          </p:cNvPr>
          <p:cNvCxnSpPr>
            <a:cxnSpLocks noChangeShapeType="1"/>
          </p:cNvCxnSpPr>
          <p:nvPr/>
        </p:nvCxnSpPr>
        <p:spPr bwMode="auto">
          <a:xfrm>
            <a:off x="5545297" y="3756352"/>
            <a:ext cx="591185" cy="1555750"/>
          </a:xfrm>
          <a:prstGeom prst="straightConnector1">
            <a:avLst/>
          </a:prstGeom>
          <a:noFill/>
          <a:ln w="9525">
            <a:solidFill>
              <a:schemeClr val="bg1">
                <a:lumMod val="100000"/>
                <a:lumOff val="0"/>
              </a:schemeClr>
            </a:solidFill>
            <a:round/>
            <a:tailEnd type="triangle" w="med" len="med"/>
          </a:ln>
          <a:extLst>
            <a:ext uri="{909E8E84-426E-40DD-AFC4-6F175D3DCCD1}">
              <a14:hiddenFill xmlns:a14="http://schemas.microsoft.com/office/drawing/2010/main">
                <a:noFill/>
              </a14:hiddenFill>
            </a:ext>
          </a:extLst>
        </p:spPr>
      </p:cxnSp>
      <p:sp>
        <p:nvSpPr>
          <p:cNvPr id="5" name="Rectangle 14">
            <a:extLst>
              <a:ext uri="{FF2B5EF4-FFF2-40B4-BE49-F238E27FC236}">
                <a16:creationId xmlns:a16="http://schemas.microsoft.com/office/drawing/2014/main" id="{D049127D-0062-CACA-60C2-F8FDA1B4CD73}"/>
              </a:ext>
            </a:extLst>
          </p:cNvPr>
          <p:cNvSpPr>
            <a:spLocks noChangeArrowheads="1"/>
          </p:cNvSpPr>
          <p:nvPr/>
        </p:nvSpPr>
        <p:spPr bwMode="auto">
          <a:xfrm>
            <a:off x="8403443" y="3436043"/>
            <a:ext cx="1693703" cy="640619"/>
          </a:xfrm>
          <a:prstGeom prst="rect">
            <a:avLst/>
          </a:prstGeom>
          <a:solidFill>
            <a:srgbClr val="0E47A1"/>
          </a:solidFill>
          <a:ln w="12700">
            <a:solidFill>
              <a:schemeClr val="tx1"/>
            </a:solidFill>
            <a:miter lim="800000"/>
          </a:ln>
        </p:spPr>
        <p:txBody>
          <a:bodyPr vert="horz" wrap="square" lIns="91440" tIns="45720" rIns="91440" bIns="45720" numCol="1" anchor="t" anchorCtr="0" compatLnSpc="1">
            <a:prstTxWarp prst="textNoShape">
              <a:avLst/>
            </a:prstTxWarp>
          </a:bodyPr>
          <a:lstStyle/>
          <a:p>
            <a:pPr algn="ctr" eaLnBrk="0" fontAlgn="base" hangingPunct="0">
              <a:spcBef>
                <a:spcPct val="0"/>
              </a:spcBef>
              <a:spcAft>
                <a:spcPct val="0"/>
              </a:spcAft>
            </a:pPr>
            <a:r>
              <a:rPr lang="en-US" altLang="en-US">
                <a:solidFill>
                  <a:schemeClr val="bg1"/>
                </a:solidFill>
                <a:latin typeface="+mj-lt"/>
                <a:ea typeface="Calibri" panose="020F0502020204030204" pitchFamily="34" charset="0"/>
                <a:cs typeface="Times New Roman" panose="02020603050405020304" pitchFamily="18" charset="0"/>
              </a:rPr>
              <a:t>Error detection and recovery</a:t>
            </a:r>
            <a:endParaRPr lang="en-US" altLang="en-US">
              <a:solidFill>
                <a:schemeClr val="bg1"/>
              </a:solidFill>
              <a:latin typeface="+mj-lt"/>
            </a:endParaRPr>
          </a:p>
        </p:txBody>
      </p:sp>
      <p:cxnSp>
        <p:nvCxnSpPr>
          <p:cNvPr id="6" name="AutoShape 21">
            <a:extLst>
              <a:ext uri="{FF2B5EF4-FFF2-40B4-BE49-F238E27FC236}">
                <a16:creationId xmlns:a16="http://schemas.microsoft.com/office/drawing/2014/main" id="{C27E6A21-831E-2475-9C40-541073BAEADF}"/>
              </a:ext>
            </a:extLst>
          </p:cNvPr>
          <p:cNvCxnSpPr>
            <a:cxnSpLocks noChangeShapeType="1"/>
          </p:cNvCxnSpPr>
          <p:nvPr/>
        </p:nvCxnSpPr>
        <p:spPr bwMode="auto">
          <a:xfrm flipH="1">
            <a:off x="7509352" y="3692217"/>
            <a:ext cx="633095" cy="1546860"/>
          </a:xfrm>
          <a:prstGeom prst="straightConnector1">
            <a:avLst/>
          </a:prstGeom>
          <a:noFill/>
          <a:ln w="9525">
            <a:solidFill>
              <a:schemeClr val="bg1">
                <a:lumMod val="100000"/>
                <a:lumOff val="0"/>
              </a:schemeClr>
            </a:solidFill>
            <a:round/>
            <a:tailEnd type="triangle" w="med" len="med"/>
          </a:ln>
          <a:extLst>
            <a:ext uri="{909E8E84-426E-40DD-AFC4-6F175D3DCCD1}">
              <a14:hiddenFill xmlns:a14="http://schemas.microsoft.com/office/drawing/2010/main">
                <a:noFill/>
              </a14:hiddenFill>
            </a:ext>
          </a:extLst>
        </p:spPr>
      </p:cxnSp>
      <p:sp>
        <p:nvSpPr>
          <p:cNvPr id="7" name="Rectangle 24">
            <a:extLst>
              <a:ext uri="{FF2B5EF4-FFF2-40B4-BE49-F238E27FC236}">
                <a16:creationId xmlns:a16="http://schemas.microsoft.com/office/drawing/2014/main" id="{9E16277E-BFF9-D871-8FC6-DF81A61A1C9F}"/>
              </a:ext>
            </a:extLst>
          </p:cNvPr>
          <p:cNvSpPr>
            <a:spLocks noChangeArrowheads="1"/>
          </p:cNvSpPr>
          <p:nvPr/>
        </p:nvSpPr>
        <p:spPr bwMode="auto">
          <a:xfrm>
            <a:off x="5017297" y="1691174"/>
            <a:ext cx="1981199" cy="347663"/>
          </a:xfrm>
          <a:prstGeom prst="rect">
            <a:avLst/>
          </a:prstGeom>
          <a:solidFill>
            <a:srgbClr val="0E47A1"/>
          </a:solidFill>
          <a:ln w="12700">
            <a:solidFill>
              <a:schemeClr val="tx1"/>
            </a:solidFill>
            <a:miter lim="800000"/>
          </a:ln>
        </p:spPr>
        <p:txBody>
          <a:bodyPr vert="horz" wrap="square" lIns="91440" tIns="45720" rIns="91440" bIns="45720" numCol="1" anchor="t" anchorCtr="0" compatLnSpc="1">
            <a:prstTxWarp prst="textNoShape">
              <a:avLst/>
            </a:prstTxWarp>
          </a:bodyPr>
          <a:lstStyle/>
          <a:p>
            <a:pPr algn="ctr" eaLnBrk="0" fontAlgn="base" hangingPunct="0">
              <a:spcBef>
                <a:spcPct val="0"/>
              </a:spcBef>
              <a:spcAft>
                <a:spcPct val="0"/>
              </a:spcAft>
            </a:pPr>
            <a:r>
              <a:rPr lang="en-US" altLang="en-US">
                <a:solidFill>
                  <a:schemeClr val="bg1"/>
                </a:solidFill>
                <a:latin typeface="+mj-lt"/>
                <a:ea typeface="Calibri" panose="020F0502020204030204" pitchFamily="34" charset="0"/>
                <a:cs typeface="Times New Roman" panose="02020603050405020304" pitchFamily="18" charset="0"/>
              </a:rPr>
              <a:t>Lexical analysis</a:t>
            </a:r>
            <a:endParaRPr lang="en-US" altLang="en-US">
              <a:solidFill>
                <a:schemeClr val="bg1"/>
              </a:solidFill>
              <a:latin typeface="+mj-lt"/>
            </a:endParaRPr>
          </a:p>
        </p:txBody>
      </p:sp>
      <p:sp>
        <p:nvSpPr>
          <p:cNvPr id="8" name="Rectangle 25">
            <a:extLst>
              <a:ext uri="{FF2B5EF4-FFF2-40B4-BE49-F238E27FC236}">
                <a16:creationId xmlns:a16="http://schemas.microsoft.com/office/drawing/2014/main" id="{CCED3188-6873-534C-244E-AB506DBCF24E}"/>
              </a:ext>
            </a:extLst>
          </p:cNvPr>
          <p:cNvSpPr>
            <a:spLocks noChangeArrowheads="1"/>
          </p:cNvSpPr>
          <p:nvPr/>
        </p:nvSpPr>
        <p:spPr bwMode="auto">
          <a:xfrm>
            <a:off x="5017296" y="4612168"/>
            <a:ext cx="1981198" cy="395414"/>
          </a:xfrm>
          <a:prstGeom prst="rect">
            <a:avLst/>
          </a:prstGeom>
          <a:solidFill>
            <a:srgbClr val="0E47A1"/>
          </a:solidFill>
          <a:ln w="12700">
            <a:solidFill>
              <a:schemeClr val="tx1"/>
            </a:solidFill>
            <a:miter lim="800000"/>
          </a:ln>
        </p:spPr>
        <p:txBody>
          <a:bodyPr vert="horz" wrap="square" lIns="91440" tIns="45720" rIns="91440" bIns="45720" numCol="1" anchor="t" anchorCtr="0" compatLnSpc="1">
            <a:prstTxWarp prst="textNoShape">
              <a:avLst/>
            </a:prstTxWarp>
          </a:bodyPr>
          <a:lstStyle/>
          <a:p>
            <a:pPr algn="ctr" eaLnBrk="0" fontAlgn="base" hangingPunct="0">
              <a:spcBef>
                <a:spcPct val="0"/>
              </a:spcBef>
              <a:spcAft>
                <a:spcPct val="0"/>
              </a:spcAft>
            </a:pPr>
            <a:r>
              <a:rPr lang="en-US" altLang="en-US">
                <a:solidFill>
                  <a:schemeClr val="bg1"/>
                </a:solidFill>
                <a:latin typeface="+mj-lt"/>
                <a:ea typeface="Calibri" panose="020F0502020204030204" pitchFamily="34" charset="0"/>
                <a:cs typeface="Times New Roman" panose="02020603050405020304" pitchFamily="18" charset="0"/>
              </a:rPr>
              <a:t>Code optimization</a:t>
            </a:r>
            <a:endParaRPr lang="en-US" altLang="en-US">
              <a:solidFill>
                <a:schemeClr val="bg1"/>
              </a:solidFill>
              <a:latin typeface="+mj-lt"/>
            </a:endParaRPr>
          </a:p>
        </p:txBody>
      </p:sp>
      <p:sp>
        <p:nvSpPr>
          <p:cNvPr id="9" name="Rectangle 26">
            <a:extLst>
              <a:ext uri="{FF2B5EF4-FFF2-40B4-BE49-F238E27FC236}">
                <a16:creationId xmlns:a16="http://schemas.microsoft.com/office/drawing/2014/main" id="{DFA2D3CC-F375-DFB1-2401-690CA483CBEC}"/>
              </a:ext>
            </a:extLst>
          </p:cNvPr>
          <p:cNvSpPr>
            <a:spLocks noChangeArrowheads="1"/>
          </p:cNvSpPr>
          <p:nvPr/>
        </p:nvSpPr>
        <p:spPr bwMode="auto">
          <a:xfrm>
            <a:off x="4999377" y="2402311"/>
            <a:ext cx="1981198" cy="347662"/>
          </a:xfrm>
          <a:prstGeom prst="rect">
            <a:avLst/>
          </a:prstGeom>
          <a:solidFill>
            <a:srgbClr val="0E47A1"/>
          </a:solidFill>
          <a:ln w="12700">
            <a:solidFill>
              <a:schemeClr val="tx1"/>
            </a:solidFill>
            <a:miter lim="800000"/>
          </a:ln>
        </p:spPr>
        <p:txBody>
          <a:bodyPr vert="horz" wrap="square" lIns="91440" tIns="45720" rIns="91440" bIns="45720" numCol="1" anchor="t" anchorCtr="0" compatLnSpc="1">
            <a:prstTxWarp prst="textNoShape">
              <a:avLst/>
            </a:prstTxWarp>
          </a:bodyPr>
          <a:lstStyle/>
          <a:p>
            <a:pPr algn="ctr" eaLnBrk="0" fontAlgn="base" hangingPunct="0">
              <a:spcBef>
                <a:spcPct val="0"/>
              </a:spcBef>
              <a:spcAft>
                <a:spcPct val="0"/>
              </a:spcAft>
            </a:pPr>
            <a:r>
              <a:rPr lang="en-US" altLang="en-US">
                <a:solidFill>
                  <a:schemeClr val="bg1"/>
                </a:solidFill>
                <a:latin typeface="+mj-lt"/>
                <a:ea typeface="Calibri" panose="020F0502020204030204" pitchFamily="34" charset="0"/>
                <a:cs typeface="Times New Roman" panose="02020603050405020304" pitchFamily="18" charset="0"/>
              </a:rPr>
              <a:t>Syntax analysis</a:t>
            </a:r>
            <a:endParaRPr lang="en-US" altLang="en-US">
              <a:solidFill>
                <a:schemeClr val="bg1"/>
              </a:solidFill>
              <a:latin typeface="+mj-lt"/>
            </a:endParaRPr>
          </a:p>
        </p:txBody>
      </p:sp>
      <p:sp>
        <p:nvSpPr>
          <p:cNvPr id="10" name="Rectangle 27">
            <a:extLst>
              <a:ext uri="{FF2B5EF4-FFF2-40B4-BE49-F238E27FC236}">
                <a16:creationId xmlns:a16="http://schemas.microsoft.com/office/drawing/2014/main" id="{D739EF9E-FBAF-CB56-2BF3-3104B62E7FBC}"/>
              </a:ext>
            </a:extLst>
          </p:cNvPr>
          <p:cNvSpPr>
            <a:spLocks noChangeArrowheads="1"/>
          </p:cNvSpPr>
          <p:nvPr/>
        </p:nvSpPr>
        <p:spPr bwMode="auto">
          <a:xfrm>
            <a:off x="4999377" y="3118565"/>
            <a:ext cx="1981198" cy="347663"/>
          </a:xfrm>
          <a:prstGeom prst="rect">
            <a:avLst/>
          </a:prstGeom>
          <a:solidFill>
            <a:srgbClr val="0E47A1"/>
          </a:solidFill>
          <a:ln w="12700">
            <a:solidFill>
              <a:schemeClr val="tx1"/>
            </a:solidFill>
            <a:miter lim="800000"/>
          </a:ln>
        </p:spPr>
        <p:txBody>
          <a:bodyPr vert="horz" wrap="square" lIns="91440" tIns="45720" rIns="91440" bIns="45720" numCol="1" anchor="t" anchorCtr="0" compatLnSpc="1">
            <a:prstTxWarp prst="textNoShape">
              <a:avLst/>
            </a:prstTxWarp>
          </a:bodyPr>
          <a:lstStyle/>
          <a:p>
            <a:pPr algn="ctr" eaLnBrk="0" fontAlgn="base" hangingPunct="0">
              <a:spcBef>
                <a:spcPct val="0"/>
              </a:spcBef>
              <a:spcAft>
                <a:spcPct val="0"/>
              </a:spcAft>
            </a:pPr>
            <a:r>
              <a:rPr lang="en-US" altLang="en-US">
                <a:solidFill>
                  <a:schemeClr val="bg1"/>
                </a:solidFill>
                <a:latin typeface="+mj-lt"/>
                <a:ea typeface="Calibri" panose="020F0502020204030204" pitchFamily="34" charset="0"/>
                <a:cs typeface="Times New Roman" panose="02020603050405020304" pitchFamily="18" charset="0"/>
              </a:rPr>
              <a:t>Semantic analysis</a:t>
            </a:r>
            <a:endParaRPr lang="en-US" altLang="en-US">
              <a:solidFill>
                <a:schemeClr val="bg1"/>
              </a:solidFill>
              <a:latin typeface="+mj-lt"/>
            </a:endParaRPr>
          </a:p>
        </p:txBody>
      </p:sp>
      <p:sp>
        <p:nvSpPr>
          <p:cNvPr id="11" name="Rectangle 28">
            <a:extLst>
              <a:ext uri="{FF2B5EF4-FFF2-40B4-BE49-F238E27FC236}">
                <a16:creationId xmlns:a16="http://schemas.microsoft.com/office/drawing/2014/main" id="{C29E708E-09F6-CE06-AF1E-BB8A3BDE2356}"/>
              </a:ext>
            </a:extLst>
          </p:cNvPr>
          <p:cNvSpPr>
            <a:spLocks noChangeArrowheads="1"/>
          </p:cNvSpPr>
          <p:nvPr/>
        </p:nvSpPr>
        <p:spPr bwMode="auto">
          <a:xfrm>
            <a:off x="4999377" y="3834818"/>
            <a:ext cx="1999118" cy="403066"/>
          </a:xfrm>
          <a:prstGeom prst="rect">
            <a:avLst/>
          </a:prstGeom>
          <a:solidFill>
            <a:srgbClr val="0E47A1"/>
          </a:solidFill>
          <a:ln w="12700">
            <a:solidFill>
              <a:schemeClr val="tx1"/>
            </a:solidFill>
            <a:miter lim="800000"/>
          </a:ln>
        </p:spPr>
        <p:txBody>
          <a:bodyPr vert="horz" wrap="square" lIns="91440" tIns="45720" rIns="91440" bIns="45720" numCol="1" anchor="t" anchorCtr="0" compatLnSpc="1">
            <a:prstTxWarp prst="textNoShape">
              <a:avLst/>
            </a:prstTxWarp>
          </a:bodyPr>
          <a:lstStyle/>
          <a:p>
            <a:pPr algn="ctr" eaLnBrk="0" fontAlgn="base" hangingPunct="0">
              <a:spcBef>
                <a:spcPct val="0"/>
              </a:spcBef>
              <a:spcAft>
                <a:spcPct val="0"/>
              </a:spcAft>
            </a:pPr>
            <a:r>
              <a:rPr lang="en-US" altLang="en-US">
                <a:solidFill>
                  <a:schemeClr val="bg1"/>
                </a:solidFill>
                <a:latin typeface="+mj-lt"/>
                <a:ea typeface="Calibri" panose="020F0502020204030204" pitchFamily="34" charset="0"/>
                <a:cs typeface="Times New Roman" panose="02020603050405020304" pitchFamily="18" charset="0"/>
              </a:rPr>
              <a:t>Intermediate code </a:t>
            </a:r>
            <a:endParaRPr lang="en-US" altLang="en-US">
              <a:solidFill>
                <a:schemeClr val="bg1"/>
              </a:solidFill>
              <a:latin typeface="+mj-lt"/>
            </a:endParaRPr>
          </a:p>
        </p:txBody>
      </p:sp>
      <p:sp>
        <p:nvSpPr>
          <p:cNvPr id="12" name="Rectangle 29">
            <a:extLst>
              <a:ext uri="{FF2B5EF4-FFF2-40B4-BE49-F238E27FC236}">
                <a16:creationId xmlns:a16="http://schemas.microsoft.com/office/drawing/2014/main" id="{3CFC38F1-D842-3162-A22A-96C563379169}"/>
              </a:ext>
            </a:extLst>
          </p:cNvPr>
          <p:cNvSpPr>
            <a:spLocks noChangeArrowheads="1"/>
          </p:cNvSpPr>
          <p:nvPr/>
        </p:nvSpPr>
        <p:spPr bwMode="auto">
          <a:xfrm>
            <a:off x="5017296" y="5360902"/>
            <a:ext cx="1981198" cy="346614"/>
          </a:xfrm>
          <a:prstGeom prst="rect">
            <a:avLst/>
          </a:prstGeom>
          <a:solidFill>
            <a:srgbClr val="0E47A1"/>
          </a:solidFill>
          <a:ln w="12700">
            <a:solidFill>
              <a:schemeClr val="tx1"/>
            </a:solidFill>
            <a:miter lim="800000"/>
          </a:ln>
        </p:spPr>
        <p:txBody>
          <a:bodyPr vert="horz" wrap="square" lIns="91440" tIns="45720" rIns="91440" bIns="45720" numCol="1" anchor="t" anchorCtr="0" compatLnSpc="1">
            <a:prstTxWarp prst="textNoShape">
              <a:avLst/>
            </a:prstTxWarp>
          </a:bodyPr>
          <a:lstStyle/>
          <a:p>
            <a:pPr algn="ctr" eaLnBrk="0" fontAlgn="base" hangingPunct="0">
              <a:spcBef>
                <a:spcPct val="0"/>
              </a:spcBef>
              <a:spcAft>
                <a:spcPct val="0"/>
              </a:spcAft>
            </a:pPr>
            <a:r>
              <a:rPr lang="en-US" altLang="en-US">
                <a:solidFill>
                  <a:schemeClr val="bg1"/>
                </a:solidFill>
                <a:latin typeface="+mj-lt"/>
                <a:ea typeface="Calibri" panose="020F0502020204030204" pitchFamily="34" charset="0"/>
                <a:cs typeface="Times New Roman" panose="02020603050405020304" pitchFamily="18" charset="0"/>
              </a:rPr>
              <a:t>Code generation</a:t>
            </a:r>
            <a:endParaRPr lang="en-US" altLang="en-US">
              <a:solidFill>
                <a:schemeClr val="bg1"/>
              </a:solidFill>
              <a:latin typeface="+mj-lt"/>
            </a:endParaRPr>
          </a:p>
        </p:txBody>
      </p:sp>
      <p:sp>
        <p:nvSpPr>
          <p:cNvPr id="13" name="Rectangle 30">
            <a:extLst>
              <a:ext uri="{FF2B5EF4-FFF2-40B4-BE49-F238E27FC236}">
                <a16:creationId xmlns:a16="http://schemas.microsoft.com/office/drawing/2014/main" id="{6330B31D-FB3A-093D-FA91-A024308F5F4D}"/>
              </a:ext>
            </a:extLst>
          </p:cNvPr>
          <p:cNvSpPr>
            <a:spLocks noChangeArrowheads="1"/>
          </p:cNvSpPr>
          <p:nvPr/>
        </p:nvSpPr>
        <p:spPr bwMode="auto">
          <a:xfrm>
            <a:off x="5111776" y="6059788"/>
            <a:ext cx="1792239" cy="347662"/>
          </a:xfrm>
          <a:prstGeom prst="rect">
            <a:avLst/>
          </a:prstGeom>
          <a:solidFill>
            <a:srgbClr val="FFFFFF"/>
          </a:solidFill>
          <a:ln w="9525">
            <a:solidFill>
              <a:srgbClr val="FFFFFF"/>
            </a:solidFill>
            <a:miter lim="800000"/>
          </a:ln>
        </p:spPr>
        <p:txBody>
          <a:bodyPr vert="horz" wrap="square" lIns="91440" tIns="45720" rIns="91440" bIns="45720" numCol="1" anchor="t" anchorCtr="0" compatLnSpc="1">
            <a:prstTxWarp prst="textNoShape">
              <a:avLst/>
            </a:prstTxWarp>
          </a:bodyPr>
          <a:lstStyle/>
          <a:p>
            <a:pPr algn="ctr" eaLnBrk="0" fontAlgn="base" hangingPunct="0">
              <a:spcBef>
                <a:spcPct val="0"/>
              </a:spcBef>
              <a:spcAft>
                <a:spcPct val="0"/>
              </a:spcAft>
            </a:pPr>
            <a:r>
              <a:rPr lang="en-US" altLang="en-US">
                <a:latin typeface="+mj-lt"/>
                <a:ea typeface="Calibri" panose="020F0502020204030204" pitchFamily="34" charset="0"/>
                <a:cs typeface="Times New Roman" panose="02020603050405020304" pitchFamily="18" charset="0"/>
              </a:rPr>
              <a:t>Target Program</a:t>
            </a:r>
            <a:endParaRPr lang="en-US" altLang="en-US">
              <a:latin typeface="+mj-lt"/>
            </a:endParaRPr>
          </a:p>
        </p:txBody>
      </p:sp>
      <p:cxnSp>
        <p:nvCxnSpPr>
          <p:cNvPr id="14" name="AutoShape 33">
            <a:extLst>
              <a:ext uri="{FF2B5EF4-FFF2-40B4-BE49-F238E27FC236}">
                <a16:creationId xmlns:a16="http://schemas.microsoft.com/office/drawing/2014/main" id="{FA88023F-29C2-5D24-2361-CFB88B4DDD0A}"/>
              </a:ext>
            </a:extLst>
          </p:cNvPr>
          <p:cNvCxnSpPr>
            <a:cxnSpLocks noChangeShapeType="1"/>
          </p:cNvCxnSpPr>
          <p:nvPr/>
        </p:nvCxnSpPr>
        <p:spPr bwMode="auto">
          <a:xfrm flipH="1">
            <a:off x="6007895" y="2038836"/>
            <a:ext cx="0" cy="365760"/>
          </a:xfrm>
          <a:prstGeom prst="straightConnector1">
            <a:avLst/>
          </a:prstGeom>
          <a:noFill/>
          <a:ln w="25400">
            <a:solidFill>
              <a:srgbClr val="0E47A1"/>
            </a:solidFill>
            <a:round/>
            <a:tailEnd type="arrow" w="med" len="med"/>
          </a:ln>
          <a:extLst>
            <a:ext uri="{909E8E84-426E-40DD-AFC4-6F175D3DCCD1}">
              <a14:hiddenFill xmlns:a14="http://schemas.microsoft.com/office/drawing/2010/main">
                <a:noFill/>
              </a14:hiddenFill>
            </a:ext>
          </a:extLst>
        </p:spPr>
      </p:cxnSp>
      <p:sp>
        <p:nvSpPr>
          <p:cNvPr id="15" name="Rectangle 38">
            <a:extLst>
              <a:ext uri="{FF2B5EF4-FFF2-40B4-BE49-F238E27FC236}">
                <a16:creationId xmlns:a16="http://schemas.microsoft.com/office/drawing/2014/main" id="{363959EB-5A94-2AEB-B2BB-665F9E2AA7AE}"/>
              </a:ext>
            </a:extLst>
          </p:cNvPr>
          <p:cNvSpPr>
            <a:spLocks noChangeArrowheads="1"/>
          </p:cNvSpPr>
          <p:nvPr/>
        </p:nvSpPr>
        <p:spPr bwMode="auto">
          <a:xfrm>
            <a:off x="5093494" y="925421"/>
            <a:ext cx="1828800" cy="391468"/>
          </a:xfrm>
          <a:prstGeom prst="rect">
            <a:avLst/>
          </a:prstGeom>
          <a:solidFill>
            <a:srgbClr val="FFFFFF"/>
          </a:solidFill>
          <a:ln w="9525">
            <a:solidFill>
              <a:srgbClr val="FFFFFF"/>
            </a:solidFill>
            <a:miter lim="800000"/>
          </a:ln>
        </p:spPr>
        <p:txBody>
          <a:bodyPr vert="horz" wrap="square" lIns="91440" tIns="45720" rIns="91440" bIns="45720" numCol="1" anchor="t" anchorCtr="0" compatLnSpc="1">
            <a:prstTxWarp prst="textNoShape">
              <a:avLst/>
            </a:prstTxWarp>
          </a:bodyPr>
          <a:lstStyle/>
          <a:p>
            <a:pPr algn="ctr" eaLnBrk="0" fontAlgn="base" hangingPunct="0">
              <a:spcBef>
                <a:spcPct val="0"/>
              </a:spcBef>
              <a:spcAft>
                <a:spcPct val="0"/>
              </a:spcAft>
            </a:pPr>
            <a:r>
              <a:rPr lang="en-US" altLang="en-US">
                <a:latin typeface="+mj-lt"/>
                <a:ea typeface="Calibri" panose="020F0502020204030204" pitchFamily="34" charset="0"/>
                <a:cs typeface="Times New Roman" panose="02020603050405020304" pitchFamily="18" charset="0"/>
              </a:rPr>
              <a:t>Source program</a:t>
            </a:r>
            <a:endParaRPr lang="en-US" altLang="en-US">
              <a:latin typeface="+mj-lt"/>
            </a:endParaRPr>
          </a:p>
        </p:txBody>
      </p:sp>
      <p:sp>
        <p:nvSpPr>
          <p:cNvPr id="16" name="Rectangle 33">
            <a:extLst>
              <a:ext uri="{FF2B5EF4-FFF2-40B4-BE49-F238E27FC236}">
                <a16:creationId xmlns:a16="http://schemas.microsoft.com/office/drawing/2014/main" id="{79DE3D22-0B1E-A700-7F8F-E5AA1DC6517A}"/>
              </a:ext>
            </a:extLst>
          </p:cNvPr>
          <p:cNvSpPr>
            <a:spLocks noChangeArrowheads="1"/>
          </p:cNvSpPr>
          <p:nvPr/>
        </p:nvSpPr>
        <p:spPr bwMode="auto">
          <a:xfrm>
            <a:off x="3242650" y="31540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mj-lt"/>
            </a:endParaRPr>
          </a:p>
        </p:txBody>
      </p:sp>
      <p:cxnSp>
        <p:nvCxnSpPr>
          <p:cNvPr id="17" name="AutoShape 33">
            <a:extLst>
              <a:ext uri="{FF2B5EF4-FFF2-40B4-BE49-F238E27FC236}">
                <a16:creationId xmlns:a16="http://schemas.microsoft.com/office/drawing/2014/main" id="{B1D46563-7BC0-3ADC-0C09-B13982C0A2F1}"/>
              </a:ext>
            </a:extLst>
          </p:cNvPr>
          <p:cNvCxnSpPr>
            <a:cxnSpLocks noChangeShapeType="1"/>
          </p:cNvCxnSpPr>
          <p:nvPr/>
        </p:nvCxnSpPr>
        <p:spPr bwMode="auto">
          <a:xfrm flipH="1">
            <a:off x="6007895" y="2749973"/>
            <a:ext cx="0" cy="365760"/>
          </a:xfrm>
          <a:prstGeom prst="straightConnector1">
            <a:avLst/>
          </a:prstGeom>
          <a:noFill/>
          <a:ln w="25400">
            <a:solidFill>
              <a:srgbClr val="0E47A1"/>
            </a:solidFill>
            <a:round/>
            <a:tailEnd type="arrow" w="med" len="med"/>
          </a:ln>
          <a:extLst>
            <a:ext uri="{909E8E84-426E-40DD-AFC4-6F175D3DCCD1}">
              <a14:hiddenFill xmlns:a14="http://schemas.microsoft.com/office/drawing/2010/main">
                <a:noFill/>
              </a14:hiddenFill>
            </a:ext>
          </a:extLst>
        </p:spPr>
      </p:cxnSp>
      <p:cxnSp>
        <p:nvCxnSpPr>
          <p:cNvPr id="18" name="AutoShape 33">
            <a:extLst>
              <a:ext uri="{FF2B5EF4-FFF2-40B4-BE49-F238E27FC236}">
                <a16:creationId xmlns:a16="http://schemas.microsoft.com/office/drawing/2014/main" id="{9ECE929F-55BF-FBB7-F46C-03CEEDA06585}"/>
              </a:ext>
            </a:extLst>
          </p:cNvPr>
          <p:cNvCxnSpPr>
            <a:cxnSpLocks noChangeShapeType="1"/>
          </p:cNvCxnSpPr>
          <p:nvPr/>
        </p:nvCxnSpPr>
        <p:spPr bwMode="auto">
          <a:xfrm flipH="1">
            <a:off x="6007895" y="3481126"/>
            <a:ext cx="0" cy="365760"/>
          </a:xfrm>
          <a:prstGeom prst="straightConnector1">
            <a:avLst/>
          </a:prstGeom>
          <a:noFill/>
          <a:ln w="25400">
            <a:solidFill>
              <a:srgbClr val="0E47A1"/>
            </a:solidFill>
            <a:round/>
            <a:tailEnd type="arrow" w="med" len="med"/>
          </a:ln>
          <a:extLst>
            <a:ext uri="{909E8E84-426E-40DD-AFC4-6F175D3DCCD1}">
              <a14:hiddenFill xmlns:a14="http://schemas.microsoft.com/office/drawing/2010/main">
                <a:noFill/>
              </a14:hiddenFill>
            </a:ext>
          </a:extLst>
        </p:spPr>
      </p:cxnSp>
      <p:cxnSp>
        <p:nvCxnSpPr>
          <p:cNvPr id="19" name="AutoShape 33">
            <a:extLst>
              <a:ext uri="{FF2B5EF4-FFF2-40B4-BE49-F238E27FC236}">
                <a16:creationId xmlns:a16="http://schemas.microsoft.com/office/drawing/2014/main" id="{CE945A65-1182-B92F-F280-8A69ED2AC67F}"/>
              </a:ext>
            </a:extLst>
          </p:cNvPr>
          <p:cNvCxnSpPr>
            <a:cxnSpLocks noChangeShapeType="1"/>
          </p:cNvCxnSpPr>
          <p:nvPr/>
        </p:nvCxnSpPr>
        <p:spPr bwMode="auto">
          <a:xfrm flipH="1">
            <a:off x="6007895" y="4243326"/>
            <a:ext cx="0" cy="365760"/>
          </a:xfrm>
          <a:prstGeom prst="straightConnector1">
            <a:avLst/>
          </a:prstGeom>
          <a:noFill/>
          <a:ln w="25400">
            <a:solidFill>
              <a:srgbClr val="0E47A1"/>
            </a:solidFill>
            <a:round/>
            <a:tailEnd type="arrow" w="med" len="med"/>
          </a:ln>
          <a:extLst>
            <a:ext uri="{909E8E84-426E-40DD-AFC4-6F175D3DCCD1}">
              <a14:hiddenFill xmlns:a14="http://schemas.microsoft.com/office/drawing/2010/main">
                <a:noFill/>
              </a14:hiddenFill>
            </a:ext>
          </a:extLst>
        </p:spPr>
      </p:cxnSp>
      <p:cxnSp>
        <p:nvCxnSpPr>
          <p:cNvPr id="20" name="AutoShape 33">
            <a:extLst>
              <a:ext uri="{FF2B5EF4-FFF2-40B4-BE49-F238E27FC236}">
                <a16:creationId xmlns:a16="http://schemas.microsoft.com/office/drawing/2014/main" id="{2EEE868F-DB0A-CCB3-8631-76DB62A81F50}"/>
              </a:ext>
            </a:extLst>
          </p:cNvPr>
          <p:cNvCxnSpPr>
            <a:cxnSpLocks noChangeShapeType="1"/>
          </p:cNvCxnSpPr>
          <p:nvPr/>
        </p:nvCxnSpPr>
        <p:spPr bwMode="auto">
          <a:xfrm flipH="1">
            <a:off x="6007895" y="5007582"/>
            <a:ext cx="0" cy="365760"/>
          </a:xfrm>
          <a:prstGeom prst="straightConnector1">
            <a:avLst/>
          </a:prstGeom>
          <a:noFill/>
          <a:ln w="25400">
            <a:solidFill>
              <a:srgbClr val="0E47A1"/>
            </a:solidFill>
            <a:round/>
            <a:tailEnd type="arrow" w="med" len="med"/>
          </a:ln>
          <a:extLst>
            <a:ext uri="{909E8E84-426E-40DD-AFC4-6F175D3DCCD1}">
              <a14:hiddenFill xmlns:a14="http://schemas.microsoft.com/office/drawing/2010/main">
                <a:noFill/>
              </a14:hiddenFill>
            </a:ext>
          </a:extLst>
        </p:spPr>
      </p:cxnSp>
      <p:cxnSp>
        <p:nvCxnSpPr>
          <p:cNvPr id="21" name="AutoShape 33">
            <a:extLst>
              <a:ext uri="{FF2B5EF4-FFF2-40B4-BE49-F238E27FC236}">
                <a16:creationId xmlns:a16="http://schemas.microsoft.com/office/drawing/2014/main" id="{7EE238B9-FD41-6F41-6921-577B520AF9F0}"/>
              </a:ext>
            </a:extLst>
          </p:cNvPr>
          <p:cNvCxnSpPr>
            <a:cxnSpLocks noChangeShapeType="1"/>
          </p:cNvCxnSpPr>
          <p:nvPr/>
        </p:nvCxnSpPr>
        <p:spPr bwMode="auto">
          <a:xfrm flipH="1">
            <a:off x="6007895" y="5707516"/>
            <a:ext cx="0" cy="365760"/>
          </a:xfrm>
          <a:prstGeom prst="straightConnector1">
            <a:avLst/>
          </a:prstGeom>
          <a:noFill/>
          <a:ln w="25400">
            <a:solidFill>
              <a:srgbClr val="0E47A1"/>
            </a:solidFill>
            <a:round/>
            <a:tailEnd type="arrow" w="med" len="med"/>
          </a:ln>
          <a:extLst>
            <a:ext uri="{909E8E84-426E-40DD-AFC4-6F175D3DCCD1}">
              <a14:hiddenFill xmlns:a14="http://schemas.microsoft.com/office/drawing/2010/main">
                <a:noFill/>
              </a14:hiddenFill>
            </a:ext>
          </a:extLst>
        </p:spPr>
      </p:cxnSp>
      <p:cxnSp>
        <p:nvCxnSpPr>
          <p:cNvPr id="22" name="AutoShape 33">
            <a:extLst>
              <a:ext uri="{FF2B5EF4-FFF2-40B4-BE49-F238E27FC236}">
                <a16:creationId xmlns:a16="http://schemas.microsoft.com/office/drawing/2014/main" id="{723A3721-C07A-329E-BA39-71508F35D055}"/>
              </a:ext>
            </a:extLst>
          </p:cNvPr>
          <p:cNvCxnSpPr>
            <a:cxnSpLocks noChangeShapeType="1"/>
          </p:cNvCxnSpPr>
          <p:nvPr/>
        </p:nvCxnSpPr>
        <p:spPr bwMode="auto">
          <a:xfrm flipH="1">
            <a:off x="5982068" y="1325413"/>
            <a:ext cx="0" cy="365760"/>
          </a:xfrm>
          <a:prstGeom prst="straightConnector1">
            <a:avLst/>
          </a:prstGeom>
          <a:noFill/>
          <a:ln w="25400">
            <a:solidFill>
              <a:srgbClr val="0E47A1"/>
            </a:solidFill>
            <a:round/>
            <a:tailEnd type="arrow" w="med" len="med"/>
          </a:ln>
          <a:extLst>
            <a:ext uri="{909E8E84-426E-40DD-AFC4-6F175D3DCCD1}">
              <a14:hiddenFill xmlns:a14="http://schemas.microsoft.com/office/drawing/2010/main">
                <a:noFill/>
              </a14:hiddenFill>
            </a:ext>
          </a:extLst>
        </p:spPr>
      </p:cxnSp>
      <p:cxnSp>
        <p:nvCxnSpPr>
          <p:cNvPr id="23" name="Straight Connector 22">
            <a:extLst>
              <a:ext uri="{FF2B5EF4-FFF2-40B4-BE49-F238E27FC236}">
                <a16:creationId xmlns:a16="http://schemas.microsoft.com/office/drawing/2014/main" id="{F1EAF652-1EEE-E79E-7CEF-0CB465B4B31B}"/>
              </a:ext>
            </a:extLst>
          </p:cNvPr>
          <p:cNvCxnSpPr>
            <a:stCxn id="3" idx="3"/>
            <a:endCxn id="7" idx="1"/>
          </p:cNvCxnSpPr>
          <p:nvPr/>
        </p:nvCxnSpPr>
        <p:spPr>
          <a:xfrm flipV="1">
            <a:off x="3669990" y="1865005"/>
            <a:ext cx="1347306" cy="1865980"/>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701ACF8-A85B-2857-66BC-77662840E5CA}"/>
              </a:ext>
            </a:extLst>
          </p:cNvPr>
          <p:cNvCxnSpPr>
            <a:endCxn id="9" idx="1"/>
          </p:cNvCxnSpPr>
          <p:nvPr/>
        </p:nvCxnSpPr>
        <p:spPr>
          <a:xfrm flipV="1">
            <a:off x="3639849" y="2576142"/>
            <a:ext cx="1359529" cy="1174768"/>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6225AFA-4043-0A37-D124-A681D1ABEB63}"/>
              </a:ext>
            </a:extLst>
          </p:cNvPr>
          <p:cNvCxnSpPr>
            <a:stCxn id="3" idx="3"/>
            <a:endCxn id="10" idx="1"/>
          </p:cNvCxnSpPr>
          <p:nvPr/>
        </p:nvCxnSpPr>
        <p:spPr>
          <a:xfrm flipV="1">
            <a:off x="3669991" y="3292397"/>
            <a:ext cx="1329387" cy="438589"/>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E080BC-B12B-FE38-458F-1D33EDB646D3}"/>
              </a:ext>
            </a:extLst>
          </p:cNvPr>
          <p:cNvCxnSpPr>
            <a:stCxn id="12" idx="1"/>
            <a:endCxn id="3" idx="3"/>
          </p:cNvCxnSpPr>
          <p:nvPr/>
        </p:nvCxnSpPr>
        <p:spPr>
          <a:xfrm flipH="1" flipV="1">
            <a:off x="3669990" y="3730985"/>
            <a:ext cx="1347306" cy="1803224"/>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084BC14-C65C-350B-DB7C-A1A58E82E7DD}"/>
              </a:ext>
            </a:extLst>
          </p:cNvPr>
          <p:cNvCxnSpPr>
            <a:stCxn id="3" idx="3"/>
            <a:endCxn id="8" idx="1"/>
          </p:cNvCxnSpPr>
          <p:nvPr/>
        </p:nvCxnSpPr>
        <p:spPr>
          <a:xfrm>
            <a:off x="3669990" y="3730985"/>
            <a:ext cx="1347306" cy="1078890"/>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CDE41A8-78E2-D337-EA99-174781EE8F66}"/>
              </a:ext>
            </a:extLst>
          </p:cNvPr>
          <p:cNvCxnSpPr>
            <a:stCxn id="3" idx="3"/>
            <a:endCxn id="11" idx="1"/>
          </p:cNvCxnSpPr>
          <p:nvPr/>
        </p:nvCxnSpPr>
        <p:spPr>
          <a:xfrm>
            <a:off x="3669991" y="3730985"/>
            <a:ext cx="1329387" cy="305366"/>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B7E04E8-66EA-A844-3E55-C80ED7F3AB47}"/>
              </a:ext>
            </a:extLst>
          </p:cNvPr>
          <p:cNvCxnSpPr>
            <a:stCxn id="7" idx="3"/>
            <a:endCxn id="5" idx="1"/>
          </p:cNvCxnSpPr>
          <p:nvPr/>
        </p:nvCxnSpPr>
        <p:spPr>
          <a:xfrm>
            <a:off x="6998496" y="1865006"/>
            <a:ext cx="1404947" cy="1891347"/>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F1A1561-282F-4AD1-101E-BD3BEDA11721}"/>
              </a:ext>
            </a:extLst>
          </p:cNvPr>
          <p:cNvCxnSpPr>
            <a:stCxn id="9" idx="3"/>
            <a:endCxn id="5" idx="1"/>
          </p:cNvCxnSpPr>
          <p:nvPr/>
        </p:nvCxnSpPr>
        <p:spPr>
          <a:xfrm>
            <a:off x="6980576" y="2576142"/>
            <a:ext cx="1422867" cy="1180210"/>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DBFF7A5-B09C-124B-E76B-A9F7D4DFE681}"/>
              </a:ext>
            </a:extLst>
          </p:cNvPr>
          <p:cNvCxnSpPr>
            <a:stCxn id="10" idx="3"/>
            <a:endCxn id="5" idx="1"/>
          </p:cNvCxnSpPr>
          <p:nvPr/>
        </p:nvCxnSpPr>
        <p:spPr>
          <a:xfrm>
            <a:off x="6980576" y="3292396"/>
            <a:ext cx="1422867" cy="463956"/>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D5C2E72-4D55-58F1-7FB1-3563C97AAA3E}"/>
              </a:ext>
            </a:extLst>
          </p:cNvPr>
          <p:cNvCxnSpPr>
            <a:stCxn id="11" idx="3"/>
            <a:endCxn id="5" idx="1"/>
          </p:cNvCxnSpPr>
          <p:nvPr/>
        </p:nvCxnSpPr>
        <p:spPr>
          <a:xfrm flipV="1">
            <a:off x="6998496" y="3756353"/>
            <a:ext cx="1404947" cy="279999"/>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608A063-B5AC-B1F7-9C6E-B9D4B2E748B9}"/>
              </a:ext>
            </a:extLst>
          </p:cNvPr>
          <p:cNvCxnSpPr>
            <a:stCxn id="5" idx="1"/>
            <a:endCxn id="8" idx="3"/>
          </p:cNvCxnSpPr>
          <p:nvPr/>
        </p:nvCxnSpPr>
        <p:spPr>
          <a:xfrm flipH="1">
            <a:off x="6998494" y="3756353"/>
            <a:ext cx="1404948" cy="1053523"/>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2016A8D-467A-2886-111E-78E23754C987}"/>
              </a:ext>
            </a:extLst>
          </p:cNvPr>
          <p:cNvCxnSpPr>
            <a:stCxn id="5" idx="1"/>
            <a:endCxn id="12" idx="3"/>
          </p:cNvCxnSpPr>
          <p:nvPr/>
        </p:nvCxnSpPr>
        <p:spPr>
          <a:xfrm flipH="1">
            <a:off x="6998494" y="3756353"/>
            <a:ext cx="1404948" cy="1777857"/>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CEEF4532-8C94-E42A-CAD9-D03D51F33C83}"/>
              </a:ext>
            </a:extLst>
          </p:cNvPr>
          <p:cNvSpPr/>
          <p:nvPr/>
        </p:nvSpPr>
        <p:spPr>
          <a:xfrm>
            <a:off x="4756629" y="1395409"/>
            <a:ext cx="2514600" cy="2168217"/>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14">
            <a:extLst>
              <a:ext uri="{FF2B5EF4-FFF2-40B4-BE49-F238E27FC236}">
                <a16:creationId xmlns:a16="http://schemas.microsoft.com/office/drawing/2014/main" id="{D109D09B-CD06-2EA5-0C6D-2EE423C8BFEE}"/>
              </a:ext>
            </a:extLst>
          </p:cNvPr>
          <p:cNvSpPr>
            <a:spLocks noChangeArrowheads="1"/>
          </p:cNvSpPr>
          <p:nvPr/>
        </p:nvSpPr>
        <p:spPr bwMode="auto">
          <a:xfrm>
            <a:off x="7389150" y="1514539"/>
            <a:ext cx="1693703" cy="463956"/>
          </a:xfrm>
          <a:prstGeom prst="rect">
            <a:avLst/>
          </a:prstGeom>
          <a:solidFill>
            <a:srgbClr val="FFFFFF"/>
          </a:solidFill>
          <a:ln w="9525">
            <a:noFill/>
            <a:miter lim="800000"/>
          </a:ln>
        </p:spPr>
        <p:txBody>
          <a:bodyPr vert="horz" wrap="square" lIns="91440" tIns="45720" rIns="91440" bIns="45720" numCol="1" anchor="t" anchorCtr="0" compatLnSpc="1">
            <a:prstTxWarp prst="textNoShape">
              <a:avLst/>
            </a:prstTxWarp>
          </a:bodyPr>
          <a:lstStyle/>
          <a:p>
            <a:pPr algn="ctr" eaLnBrk="0" fontAlgn="base" hangingPunct="0">
              <a:spcBef>
                <a:spcPct val="0"/>
              </a:spcBef>
              <a:spcAft>
                <a:spcPct val="0"/>
              </a:spcAft>
            </a:pPr>
            <a:r>
              <a:rPr lang="en-US" altLang="en-US">
                <a:latin typeface="+mj-lt"/>
                <a:ea typeface="Calibri" panose="020F0502020204030204" pitchFamily="34" charset="0"/>
                <a:cs typeface="Times New Roman" panose="02020603050405020304" pitchFamily="18" charset="0"/>
              </a:rPr>
              <a:t>Analysis Phase</a:t>
            </a:r>
            <a:endParaRPr lang="en-US" altLang="en-US">
              <a:latin typeface="+mj-lt"/>
            </a:endParaRPr>
          </a:p>
        </p:txBody>
      </p:sp>
      <p:sp>
        <p:nvSpPr>
          <p:cNvPr id="37" name="Rectangle 14">
            <a:extLst>
              <a:ext uri="{FF2B5EF4-FFF2-40B4-BE49-F238E27FC236}">
                <a16:creationId xmlns:a16="http://schemas.microsoft.com/office/drawing/2014/main" id="{E1030994-F7FA-D01D-51C1-DF6ECB9EF1C2}"/>
              </a:ext>
            </a:extLst>
          </p:cNvPr>
          <p:cNvSpPr>
            <a:spLocks noChangeArrowheads="1"/>
          </p:cNvSpPr>
          <p:nvPr/>
        </p:nvSpPr>
        <p:spPr bwMode="auto">
          <a:xfrm>
            <a:off x="7425181" y="5390562"/>
            <a:ext cx="1693703" cy="463956"/>
          </a:xfrm>
          <a:prstGeom prst="rect">
            <a:avLst/>
          </a:prstGeom>
          <a:solidFill>
            <a:srgbClr val="FFFFFF"/>
          </a:solidFill>
          <a:ln w="9525">
            <a:noFill/>
            <a:miter lim="800000"/>
          </a:ln>
        </p:spPr>
        <p:txBody>
          <a:bodyPr vert="horz" wrap="square" lIns="91440" tIns="45720" rIns="91440" bIns="45720" numCol="1" anchor="t" anchorCtr="0" compatLnSpc="1">
            <a:prstTxWarp prst="textNoShape">
              <a:avLst/>
            </a:prstTxWarp>
          </a:bodyPr>
          <a:lstStyle/>
          <a:p>
            <a:pPr algn="ctr" eaLnBrk="0" fontAlgn="base" hangingPunct="0">
              <a:spcBef>
                <a:spcPct val="0"/>
              </a:spcBef>
              <a:spcAft>
                <a:spcPct val="0"/>
              </a:spcAft>
            </a:pPr>
            <a:r>
              <a:rPr lang="en-US" altLang="en-US">
                <a:latin typeface="+mj-lt"/>
                <a:ea typeface="Calibri" panose="020F0502020204030204" pitchFamily="34" charset="0"/>
                <a:cs typeface="Times New Roman" panose="02020603050405020304" pitchFamily="18" charset="0"/>
              </a:rPr>
              <a:t>Synthesis Phase</a:t>
            </a:r>
            <a:endParaRPr lang="en-US" altLang="en-US">
              <a:latin typeface="+mj-lt"/>
            </a:endParaRPr>
          </a:p>
        </p:txBody>
      </p:sp>
      <p:sp>
        <p:nvSpPr>
          <p:cNvPr id="38" name="Rectangle 37">
            <a:extLst>
              <a:ext uri="{FF2B5EF4-FFF2-40B4-BE49-F238E27FC236}">
                <a16:creationId xmlns:a16="http://schemas.microsoft.com/office/drawing/2014/main" id="{19CA6999-4E17-6F16-E081-D476DBD93B82}"/>
              </a:ext>
            </a:extLst>
          </p:cNvPr>
          <p:cNvSpPr/>
          <p:nvPr/>
        </p:nvSpPr>
        <p:spPr>
          <a:xfrm>
            <a:off x="4750594" y="4370525"/>
            <a:ext cx="2514600" cy="1515957"/>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AutoShape 33">
            <a:extLst>
              <a:ext uri="{FF2B5EF4-FFF2-40B4-BE49-F238E27FC236}">
                <a16:creationId xmlns:a16="http://schemas.microsoft.com/office/drawing/2014/main" id="{68FFF427-1A73-6F90-657A-D8AF18F7953A}"/>
              </a:ext>
            </a:extLst>
          </p:cNvPr>
          <p:cNvCxnSpPr>
            <a:cxnSpLocks noChangeShapeType="1"/>
          </p:cNvCxnSpPr>
          <p:nvPr/>
        </p:nvCxnSpPr>
        <p:spPr bwMode="auto">
          <a:xfrm flipH="1">
            <a:off x="2922057" y="3920712"/>
            <a:ext cx="0" cy="704416"/>
          </a:xfrm>
          <a:prstGeom prst="straightConnector1">
            <a:avLst/>
          </a:prstGeom>
          <a:noFill/>
          <a:ln w="25400">
            <a:solidFill>
              <a:srgbClr val="0E47A1"/>
            </a:solidFill>
            <a:round/>
            <a:tailEnd type="arrow" w="med" len="med"/>
          </a:ln>
          <a:extLst>
            <a:ext uri="{909E8E84-426E-40DD-AFC4-6F175D3DCCD1}">
              <a14:hiddenFill xmlns:a14="http://schemas.microsoft.com/office/drawing/2010/main">
                <a:noFill/>
              </a14:hiddenFill>
            </a:ext>
          </a:extLst>
        </p:spPr>
      </p:cxnSp>
      <p:graphicFrame>
        <p:nvGraphicFramePr>
          <p:cNvPr id="40" name="Content Placeholder 4">
            <a:extLst>
              <a:ext uri="{FF2B5EF4-FFF2-40B4-BE49-F238E27FC236}">
                <a16:creationId xmlns:a16="http://schemas.microsoft.com/office/drawing/2014/main" id="{35D5D97E-ABD7-508F-06D1-67ADB0951451}"/>
              </a:ext>
            </a:extLst>
          </p:cNvPr>
          <p:cNvGraphicFramePr/>
          <p:nvPr>
            <p:extLst>
              <p:ext uri="{D42A27DB-BD31-4B8C-83A1-F6EECF244321}">
                <p14:modId xmlns:p14="http://schemas.microsoft.com/office/powerpoint/2010/main" val="3735884586"/>
              </p:ext>
            </p:extLst>
          </p:nvPr>
        </p:nvGraphicFramePr>
        <p:xfrm>
          <a:off x="1139200" y="4606067"/>
          <a:ext cx="3108960" cy="1905000"/>
        </p:xfrm>
        <a:graphic>
          <a:graphicData uri="http://schemas.openxmlformats.org/drawingml/2006/table">
            <a:tbl>
              <a:tblPr firstRow="1" bandRow="1">
                <a:tableStyleId>{8EC20E35-A176-4012-BC5E-935CFFF8708E}</a:tableStyleId>
              </a:tblPr>
              <a:tblGrid>
                <a:gridCol w="11887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411480">
                <a:tc>
                  <a:txBody>
                    <a:bodyPr/>
                    <a:lstStyle/>
                    <a:p>
                      <a:r>
                        <a:rPr lang="en-US" sz="1900">
                          <a:solidFill>
                            <a:schemeClr val="tx1"/>
                          </a:solidFill>
                        </a:rPr>
                        <a:t>Variable </a:t>
                      </a:r>
                    </a:p>
                    <a:p>
                      <a:r>
                        <a:rPr lang="en-US" sz="1900">
                          <a:solidFill>
                            <a:schemeClr val="tx1"/>
                          </a:solidFill>
                        </a:rPr>
                        <a:t>Name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r>
                        <a:rPr lang="en-US" sz="1900">
                          <a:solidFill>
                            <a:schemeClr val="tx1"/>
                          </a:solidFill>
                        </a:rPr>
                        <a:t>Type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r>
                        <a:rPr lang="en-US" sz="1900">
                          <a:solidFill>
                            <a:schemeClr val="tx1"/>
                          </a:solidFill>
                        </a:rPr>
                        <a:t>Address</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sz="1900"/>
                        <a:t>Position</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900"/>
                        <a:t>Float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900"/>
                        <a:t>0001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sz="1900"/>
                        <a:t>Initial </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900"/>
                        <a:t>Float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900"/>
                        <a:t>0005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sz="1900"/>
                        <a:t>Rate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900"/>
                        <a:t>Float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900"/>
                        <a:t>0009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92397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dur="50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dur="50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dur="50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dur="50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dur="50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dur="50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dur="50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dur="50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dur="50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par>
                                <p:cTn id="35" presetID="10" presetClass="entr" presetSubtype="0" dur="50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par>
                                <p:cTn id="38" presetID="10" presetClass="entr" presetSubtype="0" dur="500" fill="hold"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dur="50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00"/>
                                        <p:tgtEl>
                                          <p:spTgt spid="12"/>
                                        </p:tgtEl>
                                      </p:cBhvr>
                                    </p:animEffect>
                                  </p:childTnLst>
                                </p:cTn>
                              </p:par>
                              <p:par>
                                <p:cTn id="44" presetID="10" presetClass="entr" presetSubtype="0" dur="500" fill="hold"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par>
                                <p:cTn id="47" presetID="10" presetClass="entr" presetSubtype="0" dur="50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00"/>
                                        <p:tgtEl>
                                          <p:spTgt spid="13"/>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dur="500" fill="hold" grpId="0" nodeType="click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fade">
                                      <p:cBhvr>
                                        <p:cTn id="54" dur="500"/>
                                        <p:tgtEl>
                                          <p:spTgt spid="35"/>
                                        </p:tgtEl>
                                      </p:cBhvr>
                                    </p:animEffect>
                                  </p:childTnLst>
                                </p:cTn>
                              </p:par>
                              <p:par>
                                <p:cTn id="55" presetID="10" presetClass="entr" presetSubtype="0" dur="500"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fade">
                                      <p:cBhvr>
                                        <p:cTn id="57" dur="500"/>
                                        <p:tgtEl>
                                          <p:spTgt spid="3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dur="500" fill="hold" grpId="0" nodeType="clickEffect">
                                  <p:stCondLst>
                                    <p:cond delay="0"/>
                                  </p:stCondLst>
                                  <p:childTnLst>
                                    <p:set>
                                      <p:cBhvr>
                                        <p:cTn id="61" dur="1" fill="hold">
                                          <p:stCondLst>
                                            <p:cond delay="0"/>
                                          </p:stCondLst>
                                        </p:cTn>
                                        <p:tgtEl>
                                          <p:spTgt spid="38"/>
                                        </p:tgtEl>
                                        <p:attrNameLst>
                                          <p:attrName>style.visibility</p:attrName>
                                        </p:attrNameLst>
                                      </p:cBhvr>
                                      <p:to>
                                        <p:strVal val="visible"/>
                                      </p:to>
                                    </p:set>
                                    <p:animEffect transition="in" filter="fade">
                                      <p:cBhvr>
                                        <p:cTn id="62" dur="500"/>
                                        <p:tgtEl>
                                          <p:spTgt spid="38"/>
                                        </p:tgtEl>
                                      </p:cBhvr>
                                    </p:animEffect>
                                  </p:childTnLst>
                                </p:cTn>
                              </p:par>
                              <p:par>
                                <p:cTn id="63" presetID="10" presetClass="entr" presetSubtype="0" dur="500"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fade">
                                      <p:cBhvr>
                                        <p:cTn id="65" dur="500"/>
                                        <p:tgtEl>
                                          <p:spTgt spid="37"/>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dur="500" fill="hold" grpId="0" nodeType="clickEffect">
                                  <p:stCondLst>
                                    <p:cond delay="0"/>
                                  </p:stCondLst>
                                  <p:childTnLst>
                                    <p:set>
                                      <p:cBhvr>
                                        <p:cTn id="69" dur="1" fill="hold">
                                          <p:stCondLst>
                                            <p:cond delay="0"/>
                                          </p:stCondLst>
                                        </p:cTn>
                                        <p:tgtEl>
                                          <p:spTgt spid="3"/>
                                        </p:tgtEl>
                                        <p:attrNameLst>
                                          <p:attrName>style.visibility</p:attrName>
                                        </p:attrNameLst>
                                      </p:cBhvr>
                                      <p:to>
                                        <p:strVal val="visible"/>
                                      </p:to>
                                    </p:set>
                                    <p:animEffect transition="in" filter="fade">
                                      <p:cBhvr>
                                        <p:cTn id="70" dur="500"/>
                                        <p:tgtEl>
                                          <p:spTgt spid="3"/>
                                        </p:tgtEl>
                                      </p:cBhvr>
                                    </p:animEffect>
                                  </p:childTnLst>
                                </p:cTn>
                              </p:par>
                              <p:par>
                                <p:cTn id="71" presetID="10" presetClass="entr" presetSubtype="0" dur="500" fill="hold" grpId="0" nodeType="withEffect">
                                  <p:stCondLst>
                                    <p:cond delay="0"/>
                                  </p:stCondLst>
                                  <p:childTnLst>
                                    <p:set>
                                      <p:cBhvr>
                                        <p:cTn id="72" dur="1" fill="hold">
                                          <p:stCondLst>
                                            <p:cond delay="0"/>
                                          </p:stCondLst>
                                        </p:cTn>
                                        <p:tgtEl>
                                          <p:spTgt spid="5"/>
                                        </p:tgtEl>
                                        <p:attrNameLst>
                                          <p:attrName>style.visibility</p:attrName>
                                        </p:attrNameLst>
                                      </p:cBhvr>
                                      <p:to>
                                        <p:strVal val="visible"/>
                                      </p:to>
                                    </p:set>
                                    <p:animEffect transition="in" filter="fade">
                                      <p:cBhvr>
                                        <p:cTn id="73" dur="500"/>
                                        <p:tgtEl>
                                          <p:spTgt spid="5"/>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4" dur="500" fill="hold" nodeType="click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wipe(down)">
                                      <p:cBhvr>
                                        <p:cTn id="78" dur="500"/>
                                        <p:tgtEl>
                                          <p:spTgt spid="23"/>
                                        </p:tgtEl>
                                      </p:cBhvr>
                                    </p:animEffect>
                                  </p:childTnLst>
                                </p:cTn>
                              </p:par>
                              <p:par>
                                <p:cTn id="79" presetID="22" presetClass="entr" presetSubtype="4" dur="500" fill="hold" nodeType="withEffect">
                                  <p:stCondLst>
                                    <p:cond delay="0"/>
                                  </p:stCondLst>
                                  <p:childTnLst>
                                    <p:set>
                                      <p:cBhvr>
                                        <p:cTn id="80" dur="1" fill="hold">
                                          <p:stCondLst>
                                            <p:cond delay="0"/>
                                          </p:stCondLst>
                                        </p:cTn>
                                        <p:tgtEl>
                                          <p:spTgt spid="24"/>
                                        </p:tgtEl>
                                        <p:attrNameLst>
                                          <p:attrName>style.visibility</p:attrName>
                                        </p:attrNameLst>
                                      </p:cBhvr>
                                      <p:to>
                                        <p:strVal val="visible"/>
                                      </p:to>
                                    </p:set>
                                    <p:animEffect transition="in" filter="wipe(down)">
                                      <p:cBhvr>
                                        <p:cTn id="81" dur="500"/>
                                        <p:tgtEl>
                                          <p:spTgt spid="24"/>
                                        </p:tgtEl>
                                      </p:cBhvr>
                                    </p:animEffect>
                                  </p:childTnLst>
                                </p:cTn>
                              </p:par>
                              <p:par>
                                <p:cTn id="82" presetID="22" presetClass="entr" presetSubtype="4" dur="500" fill="hold" nodeType="withEffect">
                                  <p:stCondLst>
                                    <p:cond delay="0"/>
                                  </p:stCondLst>
                                  <p:childTnLst>
                                    <p:set>
                                      <p:cBhvr>
                                        <p:cTn id="83" dur="1" fill="hold">
                                          <p:stCondLst>
                                            <p:cond delay="0"/>
                                          </p:stCondLst>
                                        </p:cTn>
                                        <p:tgtEl>
                                          <p:spTgt spid="25"/>
                                        </p:tgtEl>
                                        <p:attrNameLst>
                                          <p:attrName>style.visibility</p:attrName>
                                        </p:attrNameLst>
                                      </p:cBhvr>
                                      <p:to>
                                        <p:strVal val="visible"/>
                                      </p:to>
                                    </p:set>
                                    <p:animEffect transition="in" filter="wipe(down)">
                                      <p:cBhvr>
                                        <p:cTn id="84" dur="500"/>
                                        <p:tgtEl>
                                          <p:spTgt spid="25"/>
                                        </p:tgtEl>
                                      </p:cBhvr>
                                    </p:animEffect>
                                  </p:childTnLst>
                                </p:cTn>
                              </p:par>
                              <p:par>
                                <p:cTn id="85" presetID="22" presetClass="entr" presetSubtype="1" dur="500" fill="hold"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wipe(up)">
                                      <p:cBhvr>
                                        <p:cTn id="87" dur="500"/>
                                        <p:tgtEl>
                                          <p:spTgt spid="28"/>
                                        </p:tgtEl>
                                      </p:cBhvr>
                                    </p:animEffect>
                                  </p:childTnLst>
                                </p:cTn>
                              </p:par>
                              <p:par>
                                <p:cTn id="88" presetID="22" presetClass="entr" presetSubtype="1" dur="500" fill="hold" nodeType="withEffect">
                                  <p:stCondLst>
                                    <p:cond delay="0"/>
                                  </p:stCondLst>
                                  <p:childTnLst>
                                    <p:set>
                                      <p:cBhvr>
                                        <p:cTn id="89" dur="1" fill="hold">
                                          <p:stCondLst>
                                            <p:cond delay="0"/>
                                          </p:stCondLst>
                                        </p:cTn>
                                        <p:tgtEl>
                                          <p:spTgt spid="27"/>
                                        </p:tgtEl>
                                        <p:attrNameLst>
                                          <p:attrName>style.visibility</p:attrName>
                                        </p:attrNameLst>
                                      </p:cBhvr>
                                      <p:to>
                                        <p:strVal val="visible"/>
                                      </p:to>
                                    </p:set>
                                    <p:animEffect transition="in" filter="wipe(up)">
                                      <p:cBhvr>
                                        <p:cTn id="90" dur="500"/>
                                        <p:tgtEl>
                                          <p:spTgt spid="27"/>
                                        </p:tgtEl>
                                      </p:cBhvr>
                                    </p:animEffect>
                                  </p:childTnLst>
                                </p:cTn>
                              </p:par>
                              <p:par>
                                <p:cTn id="91" presetID="22" presetClass="entr" presetSubtype="1" dur="500" fill="hold" nodeType="withEffect">
                                  <p:stCondLst>
                                    <p:cond delay="0"/>
                                  </p:stCondLst>
                                  <p:childTnLst>
                                    <p:set>
                                      <p:cBhvr>
                                        <p:cTn id="92" dur="1" fill="hold">
                                          <p:stCondLst>
                                            <p:cond delay="0"/>
                                          </p:stCondLst>
                                        </p:cTn>
                                        <p:tgtEl>
                                          <p:spTgt spid="26"/>
                                        </p:tgtEl>
                                        <p:attrNameLst>
                                          <p:attrName>style.visibility</p:attrName>
                                        </p:attrNameLst>
                                      </p:cBhvr>
                                      <p:to>
                                        <p:strVal val="visible"/>
                                      </p:to>
                                    </p:set>
                                    <p:animEffect transition="in" filter="wipe(up)">
                                      <p:cBhvr>
                                        <p:cTn id="93" dur="500"/>
                                        <p:tgtEl>
                                          <p:spTgt spid="26"/>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4" dur="500" fill="hold" nodeType="clickEffect">
                                  <p:stCondLst>
                                    <p:cond delay="0"/>
                                  </p:stCondLst>
                                  <p:childTnLst>
                                    <p:set>
                                      <p:cBhvr>
                                        <p:cTn id="97" dur="1" fill="hold">
                                          <p:stCondLst>
                                            <p:cond delay="0"/>
                                          </p:stCondLst>
                                        </p:cTn>
                                        <p:tgtEl>
                                          <p:spTgt spid="29"/>
                                        </p:tgtEl>
                                        <p:attrNameLst>
                                          <p:attrName>style.visibility</p:attrName>
                                        </p:attrNameLst>
                                      </p:cBhvr>
                                      <p:to>
                                        <p:strVal val="visible"/>
                                      </p:to>
                                    </p:set>
                                    <p:animEffect transition="in" filter="wipe(down)">
                                      <p:cBhvr>
                                        <p:cTn id="98" dur="500"/>
                                        <p:tgtEl>
                                          <p:spTgt spid="29"/>
                                        </p:tgtEl>
                                      </p:cBhvr>
                                    </p:animEffect>
                                  </p:childTnLst>
                                </p:cTn>
                              </p:par>
                              <p:par>
                                <p:cTn id="99" presetID="22" presetClass="entr" presetSubtype="4" dur="500" fill="hold" nodeType="withEffect">
                                  <p:stCondLst>
                                    <p:cond delay="0"/>
                                  </p:stCondLst>
                                  <p:childTnLst>
                                    <p:set>
                                      <p:cBhvr>
                                        <p:cTn id="100" dur="1" fill="hold">
                                          <p:stCondLst>
                                            <p:cond delay="0"/>
                                          </p:stCondLst>
                                        </p:cTn>
                                        <p:tgtEl>
                                          <p:spTgt spid="30"/>
                                        </p:tgtEl>
                                        <p:attrNameLst>
                                          <p:attrName>style.visibility</p:attrName>
                                        </p:attrNameLst>
                                      </p:cBhvr>
                                      <p:to>
                                        <p:strVal val="visible"/>
                                      </p:to>
                                    </p:set>
                                    <p:animEffect transition="in" filter="wipe(down)">
                                      <p:cBhvr>
                                        <p:cTn id="101" dur="500"/>
                                        <p:tgtEl>
                                          <p:spTgt spid="30"/>
                                        </p:tgtEl>
                                      </p:cBhvr>
                                    </p:animEffect>
                                  </p:childTnLst>
                                </p:cTn>
                              </p:par>
                              <p:par>
                                <p:cTn id="102" presetID="22" presetClass="entr" presetSubtype="4" dur="500" fill="hold" nodeType="withEffect">
                                  <p:stCondLst>
                                    <p:cond delay="0"/>
                                  </p:stCondLst>
                                  <p:childTnLst>
                                    <p:set>
                                      <p:cBhvr>
                                        <p:cTn id="103" dur="1" fill="hold">
                                          <p:stCondLst>
                                            <p:cond delay="0"/>
                                          </p:stCondLst>
                                        </p:cTn>
                                        <p:tgtEl>
                                          <p:spTgt spid="31"/>
                                        </p:tgtEl>
                                        <p:attrNameLst>
                                          <p:attrName>style.visibility</p:attrName>
                                        </p:attrNameLst>
                                      </p:cBhvr>
                                      <p:to>
                                        <p:strVal val="visible"/>
                                      </p:to>
                                    </p:set>
                                    <p:animEffect transition="in" filter="wipe(down)">
                                      <p:cBhvr>
                                        <p:cTn id="104" dur="500"/>
                                        <p:tgtEl>
                                          <p:spTgt spid="31"/>
                                        </p:tgtEl>
                                      </p:cBhvr>
                                    </p:animEffect>
                                  </p:childTnLst>
                                </p:cTn>
                              </p:par>
                              <p:par>
                                <p:cTn id="105" presetID="22" presetClass="entr" presetSubtype="1" dur="500" fill="hold" nodeType="withEffect">
                                  <p:stCondLst>
                                    <p:cond delay="0"/>
                                  </p:stCondLst>
                                  <p:childTnLst>
                                    <p:set>
                                      <p:cBhvr>
                                        <p:cTn id="106" dur="1" fill="hold">
                                          <p:stCondLst>
                                            <p:cond delay="0"/>
                                          </p:stCondLst>
                                        </p:cTn>
                                        <p:tgtEl>
                                          <p:spTgt spid="32"/>
                                        </p:tgtEl>
                                        <p:attrNameLst>
                                          <p:attrName>style.visibility</p:attrName>
                                        </p:attrNameLst>
                                      </p:cBhvr>
                                      <p:to>
                                        <p:strVal val="visible"/>
                                      </p:to>
                                    </p:set>
                                    <p:animEffect transition="in" filter="wipe(up)">
                                      <p:cBhvr>
                                        <p:cTn id="107" dur="500"/>
                                        <p:tgtEl>
                                          <p:spTgt spid="32"/>
                                        </p:tgtEl>
                                      </p:cBhvr>
                                    </p:animEffect>
                                  </p:childTnLst>
                                </p:cTn>
                              </p:par>
                              <p:par>
                                <p:cTn id="108" presetID="22" presetClass="entr" presetSubtype="1" dur="500" fill="hold" nodeType="withEffect">
                                  <p:stCondLst>
                                    <p:cond delay="0"/>
                                  </p:stCondLst>
                                  <p:childTnLst>
                                    <p:set>
                                      <p:cBhvr>
                                        <p:cTn id="109" dur="1" fill="hold">
                                          <p:stCondLst>
                                            <p:cond delay="0"/>
                                          </p:stCondLst>
                                        </p:cTn>
                                        <p:tgtEl>
                                          <p:spTgt spid="33"/>
                                        </p:tgtEl>
                                        <p:attrNameLst>
                                          <p:attrName>style.visibility</p:attrName>
                                        </p:attrNameLst>
                                      </p:cBhvr>
                                      <p:to>
                                        <p:strVal val="visible"/>
                                      </p:to>
                                    </p:set>
                                    <p:animEffect transition="in" filter="wipe(up)">
                                      <p:cBhvr>
                                        <p:cTn id="110" dur="500"/>
                                        <p:tgtEl>
                                          <p:spTgt spid="33"/>
                                        </p:tgtEl>
                                      </p:cBhvr>
                                    </p:animEffect>
                                  </p:childTnLst>
                                </p:cTn>
                              </p:par>
                              <p:par>
                                <p:cTn id="111" presetID="22" presetClass="entr" presetSubtype="1" dur="500" fill="hold" nodeType="withEffect">
                                  <p:stCondLst>
                                    <p:cond delay="0"/>
                                  </p:stCondLst>
                                  <p:childTnLst>
                                    <p:set>
                                      <p:cBhvr>
                                        <p:cTn id="112" dur="1" fill="hold">
                                          <p:stCondLst>
                                            <p:cond delay="0"/>
                                          </p:stCondLst>
                                        </p:cTn>
                                        <p:tgtEl>
                                          <p:spTgt spid="34"/>
                                        </p:tgtEl>
                                        <p:attrNameLst>
                                          <p:attrName>style.visibility</p:attrName>
                                        </p:attrNameLst>
                                      </p:cBhvr>
                                      <p:to>
                                        <p:strVal val="visible"/>
                                      </p:to>
                                    </p:set>
                                    <p:animEffect transition="in" filter="wipe(up)">
                                      <p:cBhvr>
                                        <p:cTn id="113" dur="500"/>
                                        <p:tgtEl>
                                          <p:spTgt spid="34"/>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dur="500" fill="hold" nodeType="clickEffect">
                                  <p:stCondLst>
                                    <p:cond delay="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500"/>
                                        <p:tgtEl>
                                          <p:spTgt spid="39"/>
                                        </p:tgtEl>
                                      </p:cBhvr>
                                    </p:animEffect>
                                  </p:childTnLst>
                                </p:cTn>
                              </p:par>
                              <p:par>
                                <p:cTn id="119" presetID="22" presetClass="entr" presetSubtype="1" dur="500" fill="hold" nodeType="withEffect">
                                  <p:stCondLst>
                                    <p:cond delay="0"/>
                                  </p:stCondLst>
                                  <p:childTnLst>
                                    <p:set>
                                      <p:cBhvr>
                                        <p:cTn id="120" dur="1" fill="hold">
                                          <p:stCondLst>
                                            <p:cond delay="0"/>
                                          </p:stCondLst>
                                        </p:cTn>
                                        <p:tgtEl>
                                          <p:spTgt spid="40"/>
                                        </p:tgtEl>
                                        <p:attrNameLst>
                                          <p:attrName>style.visibility</p:attrName>
                                        </p:attrNameLst>
                                      </p:cBhvr>
                                      <p:to>
                                        <p:strVal val="visible"/>
                                      </p:to>
                                    </p:set>
                                    <p:animEffect transition="in" filter="wipe(up)">
                                      <p:cBhvr>
                                        <p:cTn id="12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8" grpId="0" animBg="1"/>
      <p:bldP spid="9" grpId="0" animBg="1"/>
      <p:bldP spid="10" grpId="0" animBg="1"/>
      <p:bldP spid="11" grpId="0" animBg="1"/>
      <p:bldP spid="12" grpId="0" animBg="1"/>
      <p:bldP spid="13" grpId="0" animBg="1"/>
      <p:bldP spid="15" grpId="0" animBg="1"/>
      <p:bldP spid="35" grpId="0" animBg="1"/>
      <p:bldP spid="36" grpId="0" animBg="1"/>
      <p:bldP spid="37" grpId="0" animBg="1"/>
      <p:bldP spid="3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92381-8811-D366-0F5F-1E32336334D0}"/>
              </a:ext>
            </a:extLst>
          </p:cNvPr>
          <p:cNvSpPr>
            <a:spLocks noGrp="1"/>
          </p:cNvSpPr>
          <p:nvPr>
            <p:ph type="title"/>
          </p:nvPr>
        </p:nvSpPr>
        <p:spPr/>
        <p:txBody>
          <a:bodyPr/>
          <a:lstStyle/>
          <a:p>
            <a:r>
              <a:rPr lang="en-US" dirty="0"/>
              <a:t>Exercise 1</a:t>
            </a:r>
            <a:endParaRPr lang="en-IN" dirty="0"/>
          </a:p>
        </p:txBody>
      </p:sp>
      <p:sp>
        <p:nvSpPr>
          <p:cNvPr id="3" name="Content Placeholder 2">
            <a:extLst>
              <a:ext uri="{FF2B5EF4-FFF2-40B4-BE49-F238E27FC236}">
                <a16:creationId xmlns:a16="http://schemas.microsoft.com/office/drawing/2014/main" id="{45A86049-F988-6D04-91D0-A2B4F1D50154}"/>
              </a:ext>
            </a:extLst>
          </p:cNvPr>
          <p:cNvSpPr>
            <a:spLocks noGrp="1"/>
          </p:cNvSpPr>
          <p:nvPr>
            <p:ph idx="1"/>
          </p:nvPr>
        </p:nvSpPr>
        <p:spPr/>
        <p:txBody>
          <a:bodyPr/>
          <a:lstStyle/>
          <a:p>
            <a:pPr algn="just">
              <a:lnSpc>
                <a:spcPct val="100000"/>
              </a:lnSpc>
            </a:pPr>
            <a:r>
              <a:rPr lang="en-US" dirty="0"/>
              <a:t>Write output of all the phases of compiler for following statements:</a:t>
            </a:r>
          </a:p>
          <a:p>
            <a:pPr marL="914400" lvl="1" indent="-514350" algn="just">
              <a:lnSpc>
                <a:spcPct val="100000"/>
              </a:lnSpc>
              <a:buFont typeface="+mj-lt"/>
              <a:buAutoNum type="arabicPeriod"/>
            </a:pPr>
            <a:r>
              <a:rPr lang="en-US" sz="2400" dirty="0"/>
              <a:t>x = b-c*2</a:t>
            </a:r>
          </a:p>
          <a:p>
            <a:pPr marL="914400" lvl="1" indent="-514350" algn="just">
              <a:lnSpc>
                <a:spcPct val="100000"/>
              </a:lnSpc>
              <a:buFont typeface="+mj-lt"/>
              <a:buAutoNum type="arabicPeriod"/>
            </a:pPr>
            <a:r>
              <a:rPr lang="en-US" sz="2400" dirty="0"/>
              <a:t>I=p*n*r/100 </a:t>
            </a:r>
          </a:p>
          <a:p>
            <a:endParaRPr lang="en-IN" dirty="0"/>
          </a:p>
        </p:txBody>
      </p:sp>
    </p:spTree>
    <p:extLst>
      <p:ext uri="{BB962C8B-B14F-4D97-AF65-F5344CB8AC3E}">
        <p14:creationId xmlns:p14="http://schemas.microsoft.com/office/powerpoint/2010/main" val="24048013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D25E6-0A6E-6115-05AD-CCD5A8662924}"/>
              </a:ext>
            </a:extLst>
          </p:cNvPr>
          <p:cNvSpPr>
            <a:spLocks noGrp="1"/>
          </p:cNvSpPr>
          <p:nvPr>
            <p:ph type="ctrTitle"/>
          </p:nvPr>
        </p:nvSpPr>
        <p:spPr/>
        <p:txBody>
          <a:bodyPr/>
          <a:lstStyle/>
          <a:p>
            <a:r>
              <a:rPr lang="en-US" dirty="0"/>
              <a:t>Grouping of Phases</a:t>
            </a:r>
            <a:endParaRPr lang="en-IN" dirty="0"/>
          </a:p>
        </p:txBody>
      </p:sp>
      <p:sp>
        <p:nvSpPr>
          <p:cNvPr id="3" name="Subtitle 2">
            <a:extLst>
              <a:ext uri="{FF2B5EF4-FFF2-40B4-BE49-F238E27FC236}">
                <a16:creationId xmlns:a16="http://schemas.microsoft.com/office/drawing/2014/main" id="{1EFB232F-BC5D-F928-EBAE-8E3FBAC70DA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3140763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E9EE6-96F5-84DD-8EDB-E843C109FE08}"/>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Front end &amp; back end (Grouping of phases)</a:t>
            </a:r>
            <a:endParaRPr lang="en-US" dirty="0"/>
          </a:p>
        </p:txBody>
      </p:sp>
      <p:sp>
        <p:nvSpPr>
          <p:cNvPr id="3" name="Content Placeholder 2">
            <a:extLst>
              <a:ext uri="{FF2B5EF4-FFF2-40B4-BE49-F238E27FC236}">
                <a16:creationId xmlns:a16="http://schemas.microsoft.com/office/drawing/2014/main" id="{2430CC61-C601-8B26-D0FD-1EFE1A2F0D6F}"/>
              </a:ext>
            </a:extLst>
          </p:cNvPr>
          <p:cNvSpPr txBox="1">
            <a:spLocks/>
          </p:cNvSpPr>
          <p:nvPr/>
        </p:nvSpPr>
        <p:spPr>
          <a:xfrm>
            <a:off x="222079" y="1293507"/>
            <a:ext cx="11929641" cy="2741722"/>
          </a:xfrm>
          <a:prstGeom prst="rect">
            <a:avLst/>
          </a:prstGeom>
        </p:spPr>
        <p:txBody>
          <a:bodyPr>
            <a:normAutofit fontScale="77500" lnSpcReduction="20000"/>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Depends primarily on source language and largely independent of the target machine.</a:t>
            </a:r>
          </a:p>
          <a:p>
            <a:r>
              <a:rPr lang="en-US"/>
              <a:t>It includes following phases: </a:t>
            </a:r>
          </a:p>
          <a:p>
            <a:pPr marL="1200150" indent="-457200">
              <a:buFont typeface="+mj-lt"/>
              <a:buAutoNum type="arabicPeriod"/>
            </a:pPr>
            <a:r>
              <a:rPr lang="en-US">
                <a:solidFill>
                  <a:srgbClr val="0E47A1"/>
                </a:solidFill>
              </a:rPr>
              <a:t>Lexical analysis</a:t>
            </a:r>
          </a:p>
          <a:p>
            <a:pPr marL="1200150" indent="-457200">
              <a:buFont typeface="+mj-lt"/>
              <a:buAutoNum type="arabicPeriod"/>
            </a:pPr>
            <a:r>
              <a:rPr lang="en-US">
                <a:solidFill>
                  <a:srgbClr val="0E47A1"/>
                </a:solidFill>
              </a:rPr>
              <a:t>Syntax analysis </a:t>
            </a:r>
          </a:p>
          <a:p>
            <a:pPr marL="1200150" indent="-457200">
              <a:buFont typeface="+mj-lt"/>
              <a:buAutoNum type="arabicPeriod"/>
            </a:pPr>
            <a:r>
              <a:rPr lang="en-US">
                <a:solidFill>
                  <a:srgbClr val="0E47A1"/>
                </a:solidFill>
              </a:rPr>
              <a:t>Semantic analysis</a:t>
            </a:r>
          </a:p>
          <a:p>
            <a:pPr marL="1200150" indent="-457200">
              <a:buFont typeface="+mj-lt"/>
              <a:buAutoNum type="arabicPeriod"/>
            </a:pPr>
            <a:r>
              <a:rPr lang="en-US">
                <a:solidFill>
                  <a:srgbClr val="0E47A1"/>
                </a:solidFill>
              </a:rPr>
              <a:t>Intermediate code generation </a:t>
            </a:r>
          </a:p>
          <a:p>
            <a:pPr marL="1200150" indent="-457200">
              <a:buFont typeface="+mj-lt"/>
              <a:buAutoNum type="arabicPeriod"/>
            </a:pPr>
            <a:r>
              <a:rPr lang="en-US">
                <a:solidFill>
                  <a:srgbClr val="0E47A1"/>
                </a:solidFill>
              </a:rPr>
              <a:t>Creation of symbol table</a:t>
            </a:r>
          </a:p>
          <a:p>
            <a:pPr marL="0" indent="0">
              <a:buFont typeface="Arial" panose="020B0604020202020204" pitchFamily="34" charset="0"/>
              <a:buNone/>
            </a:pPr>
            <a:endParaRPr lang="en-US"/>
          </a:p>
        </p:txBody>
      </p:sp>
      <p:sp>
        <p:nvSpPr>
          <p:cNvPr id="4" name="Rectangle 3">
            <a:extLst>
              <a:ext uri="{FF2B5EF4-FFF2-40B4-BE49-F238E27FC236}">
                <a16:creationId xmlns:a16="http://schemas.microsoft.com/office/drawing/2014/main" id="{6F69A492-BD3D-C12E-8A17-C69DFED21EC6}"/>
              </a:ext>
            </a:extLst>
          </p:cNvPr>
          <p:cNvSpPr/>
          <p:nvPr/>
        </p:nvSpPr>
        <p:spPr>
          <a:xfrm>
            <a:off x="222079" y="783234"/>
            <a:ext cx="1542327"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dirty="0"/>
              <a:t>Front end</a:t>
            </a:r>
            <a:endParaRPr lang="en-US" sz="2400" b="1" dirty="0">
              <a:solidFill>
                <a:schemeClr val="bg1"/>
              </a:solidFill>
            </a:endParaRPr>
          </a:p>
        </p:txBody>
      </p:sp>
      <p:cxnSp>
        <p:nvCxnSpPr>
          <p:cNvPr id="5" name="Straight Connector 4">
            <a:extLst>
              <a:ext uri="{FF2B5EF4-FFF2-40B4-BE49-F238E27FC236}">
                <a16:creationId xmlns:a16="http://schemas.microsoft.com/office/drawing/2014/main" id="{8F30D58C-1282-D3FE-83A4-20867903C261}"/>
              </a:ext>
            </a:extLst>
          </p:cNvPr>
          <p:cNvCxnSpPr/>
          <p:nvPr/>
        </p:nvCxnSpPr>
        <p:spPr>
          <a:xfrm>
            <a:off x="1764405" y="1244899"/>
            <a:ext cx="9144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6" name="Content Placeholder 2">
            <a:extLst>
              <a:ext uri="{FF2B5EF4-FFF2-40B4-BE49-F238E27FC236}">
                <a16:creationId xmlns:a16="http://schemas.microsoft.com/office/drawing/2014/main" id="{E17398D1-5BE1-B93D-4F88-E7900E2FB6BC}"/>
              </a:ext>
            </a:extLst>
          </p:cNvPr>
          <p:cNvSpPr txBox="1"/>
          <p:nvPr/>
        </p:nvSpPr>
        <p:spPr>
          <a:xfrm>
            <a:off x="262359" y="4527503"/>
            <a:ext cx="11929641" cy="2359719"/>
          </a:xfrm>
          <a:prstGeom prst="rect">
            <a:avLst/>
          </a:prstGeom>
        </p:spPr>
        <p:txBody>
          <a:bodyPr vert="horz" lIns="91440" tIns="45720" rIns="91440" bIns="45720" rtlCol="0">
            <a:norm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a:t>Depends on target machine and do not depends on source program.</a:t>
            </a:r>
          </a:p>
          <a:p>
            <a:r>
              <a:rPr lang="en-US" sz="2200"/>
              <a:t>It includes following phases: </a:t>
            </a:r>
          </a:p>
          <a:p>
            <a:pPr marL="1200150" indent="-457200">
              <a:buFont typeface="+mj-lt"/>
              <a:buAutoNum type="arabicPeriod"/>
            </a:pPr>
            <a:r>
              <a:rPr lang="en-US" sz="2200">
                <a:solidFill>
                  <a:srgbClr val="0E47A1"/>
                </a:solidFill>
              </a:rPr>
              <a:t>Code optimization </a:t>
            </a:r>
          </a:p>
          <a:p>
            <a:pPr marL="1200150" indent="-457200">
              <a:buFont typeface="+mj-lt"/>
              <a:buAutoNum type="arabicPeriod"/>
            </a:pPr>
            <a:r>
              <a:rPr lang="en-US" sz="2200">
                <a:solidFill>
                  <a:srgbClr val="0E47A1"/>
                </a:solidFill>
              </a:rPr>
              <a:t>Code generation phase </a:t>
            </a:r>
          </a:p>
          <a:p>
            <a:pPr marL="1200150" indent="-457200">
              <a:buFont typeface="+mj-lt"/>
              <a:buAutoNum type="arabicPeriod"/>
            </a:pPr>
            <a:r>
              <a:rPr lang="en-US" sz="2200">
                <a:solidFill>
                  <a:srgbClr val="0E47A1"/>
                </a:solidFill>
              </a:rPr>
              <a:t>Error handling and symbol table operation</a:t>
            </a:r>
          </a:p>
          <a:p>
            <a:pPr marL="1200150" indent="-457200">
              <a:buFont typeface="+mj-lt"/>
              <a:buAutoNum type="arabicPeriod"/>
            </a:pPr>
            <a:endParaRPr lang="en-US" sz="2200"/>
          </a:p>
          <a:p>
            <a:pPr marL="1200150" indent="-457200">
              <a:buFont typeface="+mj-lt"/>
              <a:buAutoNum type="arabicPeriod"/>
            </a:pPr>
            <a:endParaRPr lang="en-US" sz="2200"/>
          </a:p>
          <a:p>
            <a:endParaRPr lang="en-US" sz="2200"/>
          </a:p>
        </p:txBody>
      </p:sp>
      <p:sp>
        <p:nvSpPr>
          <p:cNvPr id="7" name="Rectangle 6">
            <a:extLst>
              <a:ext uri="{FF2B5EF4-FFF2-40B4-BE49-F238E27FC236}">
                <a16:creationId xmlns:a16="http://schemas.microsoft.com/office/drawing/2014/main" id="{6EC3DB2F-D207-9E82-FC16-2212CFBDABF0}"/>
              </a:ext>
            </a:extLst>
          </p:cNvPr>
          <p:cNvSpPr/>
          <p:nvPr/>
        </p:nvSpPr>
        <p:spPr>
          <a:xfrm>
            <a:off x="222079" y="4033754"/>
            <a:ext cx="1542327"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b="1"/>
              <a:t>Back end</a:t>
            </a:r>
            <a:endParaRPr lang="en-US" sz="2400" b="1">
              <a:solidFill>
                <a:schemeClr val="bg1"/>
              </a:solidFill>
            </a:endParaRPr>
          </a:p>
        </p:txBody>
      </p:sp>
      <p:cxnSp>
        <p:nvCxnSpPr>
          <p:cNvPr id="8" name="Straight Connector 7">
            <a:extLst>
              <a:ext uri="{FF2B5EF4-FFF2-40B4-BE49-F238E27FC236}">
                <a16:creationId xmlns:a16="http://schemas.microsoft.com/office/drawing/2014/main" id="{C3651809-5514-0A2B-8411-03D01AD2CBD2}"/>
              </a:ext>
            </a:extLst>
          </p:cNvPr>
          <p:cNvCxnSpPr/>
          <p:nvPr/>
        </p:nvCxnSpPr>
        <p:spPr>
          <a:xfrm>
            <a:off x="1764405" y="4495419"/>
            <a:ext cx="9144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3037276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22" presetClass="entr" presetSubtype="8" dur="500"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wipe(left)">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dur="1"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dur="1"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dur="1"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dur="1"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dur="1"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dur="1"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dur="1" fill="hold"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dur="1"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childTnLst>
                                </p:cTn>
                              </p:par>
                              <p:par>
                                <p:cTn id="42" presetID="22" presetClass="entr" presetSubtype="8" dur="500" fill="hold"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wipe(left)">
                                      <p:cBhvr>
                                        <p:cTn id="44" dur="500"/>
                                        <p:tgtEl>
                                          <p:spTgt spid="8"/>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dur="1" fill="hold" nodeType="clickEffect">
                                  <p:stCondLst>
                                    <p:cond delay="0"/>
                                  </p:stCondLst>
                                  <p:childTnLst>
                                    <p:set>
                                      <p:cBhvr>
                                        <p:cTn id="4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dur="1" fill="hold" nodeType="clickEffect">
                                  <p:stCondLst>
                                    <p:cond delay="0"/>
                                  </p:stCondLst>
                                  <p:childTnLst>
                                    <p:set>
                                      <p:cBhvr>
                                        <p:cTn id="5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dur="1" fill="hold" nodeType="clickEffect">
                                  <p:stCondLst>
                                    <p:cond delay="0"/>
                                  </p:stCondLst>
                                  <p:childTnLst>
                                    <p:set>
                                      <p:cBhvr>
                                        <p:cTn id="5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dur="1" fill="hold" nodeType="clickEffect">
                                  <p:stCondLst>
                                    <p:cond delay="0"/>
                                  </p:stCondLst>
                                  <p:childTnLst>
                                    <p:set>
                                      <p:cBhvr>
                                        <p:cTn id="6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dur="1" fill="hold" nodeType="clickEffect">
                                  <p:stCondLst>
                                    <p:cond delay="0"/>
                                  </p:stCondLst>
                                  <p:childTnLst>
                                    <p:set>
                                      <p:cBhvr>
                                        <p:cTn id="6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14735-35EE-2601-F506-2D8E6AE792FB}"/>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Difference between compiler &amp; interpreter</a:t>
            </a:r>
          </a:p>
        </p:txBody>
      </p:sp>
      <p:graphicFrame>
        <p:nvGraphicFramePr>
          <p:cNvPr id="3" name="Content Placeholder 8">
            <a:extLst>
              <a:ext uri="{FF2B5EF4-FFF2-40B4-BE49-F238E27FC236}">
                <a16:creationId xmlns:a16="http://schemas.microsoft.com/office/drawing/2014/main" id="{DE30A358-F04A-4CDA-B11D-1FB2BA3E4E3E}"/>
              </a:ext>
            </a:extLst>
          </p:cNvPr>
          <p:cNvGraphicFramePr/>
          <p:nvPr>
            <p:extLst>
              <p:ext uri="{D42A27DB-BD31-4B8C-83A1-F6EECF244321}">
                <p14:modId xmlns:p14="http://schemas.microsoft.com/office/powerpoint/2010/main" val="47547186"/>
              </p:ext>
            </p:extLst>
          </p:nvPr>
        </p:nvGraphicFramePr>
        <p:xfrm>
          <a:off x="872291" y="1046747"/>
          <a:ext cx="10058400" cy="426720"/>
        </p:xfrm>
        <a:graphic>
          <a:graphicData uri="http://schemas.openxmlformats.org/drawingml/2006/table">
            <a:tbl>
              <a:tblPr firstRow="1" bandRow="1">
                <a:tableStyleId>{D7AC3CCA-C797-4891-BE02-D94E43425B78}</a:tableStyleId>
              </a:tblPr>
              <a:tblGrid>
                <a:gridCol w="5029199">
                  <a:extLst>
                    <a:ext uri="{9D8B030D-6E8A-4147-A177-3AD203B41FA5}">
                      <a16:colId xmlns:a16="http://schemas.microsoft.com/office/drawing/2014/main" val="20000"/>
                    </a:ext>
                  </a:extLst>
                </a:gridCol>
                <a:gridCol w="5029201">
                  <a:extLst>
                    <a:ext uri="{9D8B030D-6E8A-4147-A177-3AD203B41FA5}">
                      <a16:colId xmlns:a16="http://schemas.microsoft.com/office/drawing/2014/main" val="20001"/>
                    </a:ext>
                  </a:extLst>
                </a:gridCol>
              </a:tblGrid>
              <a:tr h="370840">
                <a:tc>
                  <a:txBody>
                    <a:bodyPr/>
                    <a:lstStyle/>
                    <a:p>
                      <a:pPr algn="ctr"/>
                      <a:r>
                        <a:rPr lang="en-US" sz="2200">
                          <a:solidFill>
                            <a:srgbClr val="0E47A1"/>
                          </a:solidFill>
                        </a:rPr>
                        <a:t>Compiler </a:t>
                      </a:r>
                    </a:p>
                  </a:txBody>
                  <a:tcPr>
                    <a:noFill/>
                  </a:tcPr>
                </a:tc>
                <a:tc>
                  <a:txBody>
                    <a:bodyPr/>
                    <a:lstStyle/>
                    <a:p>
                      <a:pPr algn="ctr"/>
                      <a:r>
                        <a:rPr lang="en-US" sz="2200">
                          <a:solidFill>
                            <a:srgbClr val="0E47A1"/>
                          </a:solidFill>
                        </a:rPr>
                        <a:t>Interpreter</a:t>
                      </a:r>
                    </a:p>
                  </a:txBody>
                  <a:tcPr>
                    <a:noFill/>
                  </a:tcPr>
                </a:tc>
                <a:extLst>
                  <a:ext uri="{0D108BD9-81ED-4DB2-BD59-A6C34878D82A}">
                    <a16:rowId xmlns:a16="http://schemas.microsoft.com/office/drawing/2014/main" val="10000"/>
                  </a:ext>
                </a:extLst>
              </a:tr>
            </a:tbl>
          </a:graphicData>
        </a:graphic>
      </p:graphicFrame>
      <p:graphicFrame>
        <p:nvGraphicFramePr>
          <p:cNvPr id="4" name="Content Placeholder 8">
            <a:extLst>
              <a:ext uri="{FF2B5EF4-FFF2-40B4-BE49-F238E27FC236}">
                <a16:creationId xmlns:a16="http://schemas.microsoft.com/office/drawing/2014/main" id="{F8838F88-6B89-F2BE-4F3D-024D5A99F404}"/>
              </a:ext>
            </a:extLst>
          </p:cNvPr>
          <p:cNvGraphicFramePr/>
          <p:nvPr>
            <p:extLst>
              <p:ext uri="{D42A27DB-BD31-4B8C-83A1-F6EECF244321}">
                <p14:modId xmlns:p14="http://schemas.microsoft.com/office/powerpoint/2010/main" val="4264222789"/>
              </p:ext>
            </p:extLst>
          </p:nvPr>
        </p:nvGraphicFramePr>
        <p:xfrm>
          <a:off x="872268" y="1473467"/>
          <a:ext cx="10058400" cy="782320"/>
        </p:xfrm>
        <a:graphic>
          <a:graphicData uri="http://schemas.openxmlformats.org/drawingml/2006/table">
            <a:tbl>
              <a:tblPr firstRow="1" bandRow="1">
                <a:tableStyleId>{D7AC3CCA-C797-4891-BE02-D94E43425B78}</a:tableStyleId>
              </a:tblPr>
              <a:tblGrid>
                <a:gridCol w="5029199">
                  <a:extLst>
                    <a:ext uri="{9D8B030D-6E8A-4147-A177-3AD203B41FA5}">
                      <a16:colId xmlns:a16="http://schemas.microsoft.com/office/drawing/2014/main" val="20000"/>
                    </a:ext>
                  </a:extLst>
                </a:gridCol>
                <a:gridCol w="5029201">
                  <a:extLst>
                    <a:ext uri="{9D8B030D-6E8A-4147-A177-3AD203B41FA5}">
                      <a16:colId xmlns:a16="http://schemas.microsoft.com/office/drawing/2014/main" val="20001"/>
                    </a:ext>
                  </a:extLst>
                </a:gridCol>
              </a:tblGrid>
              <a:tr h="782320">
                <a:tc>
                  <a:txBody>
                    <a:bodyPr/>
                    <a:lstStyle/>
                    <a:p>
                      <a:pPr algn="just"/>
                      <a:r>
                        <a:rPr lang="en-US" sz="2200" b="0" i="0" kern="1200">
                          <a:solidFill>
                            <a:schemeClr val="dk1"/>
                          </a:solidFill>
                          <a:effectLst/>
                          <a:latin typeface="+mn-lt"/>
                          <a:ea typeface="+mn-ea"/>
                          <a:cs typeface="+mn-cs"/>
                        </a:rPr>
                        <a:t>Scans the </a:t>
                      </a:r>
                      <a:r>
                        <a:rPr lang="en-US" sz="2200" b="0" i="0" kern="1200">
                          <a:solidFill>
                            <a:srgbClr val="0E47A1"/>
                          </a:solidFill>
                          <a:effectLst/>
                          <a:latin typeface="+mn-lt"/>
                          <a:ea typeface="+mn-ea"/>
                          <a:cs typeface="+mn-cs"/>
                        </a:rPr>
                        <a:t>entire program and translates</a:t>
                      </a:r>
                      <a:r>
                        <a:rPr lang="en-US" sz="2200" b="0" i="0" kern="1200">
                          <a:solidFill>
                            <a:schemeClr val="dk1"/>
                          </a:solidFill>
                          <a:effectLst/>
                          <a:latin typeface="+mn-lt"/>
                          <a:ea typeface="+mn-ea"/>
                          <a:cs typeface="+mn-cs"/>
                        </a:rPr>
                        <a:t> it as a whole into machine code.</a:t>
                      </a:r>
                      <a:endParaRPr lang="en-US" sz="2200" b="0"/>
                    </a:p>
                  </a:txBody>
                  <a:tcPr>
                    <a:noFill/>
                  </a:tcPr>
                </a:tc>
                <a:tc>
                  <a:txBody>
                    <a:bodyPr/>
                    <a:lstStyle/>
                    <a:p>
                      <a:pPr algn="just"/>
                      <a:r>
                        <a:rPr lang="en-US" sz="2200" b="0" i="0" kern="1200">
                          <a:solidFill>
                            <a:schemeClr val="dk1"/>
                          </a:solidFill>
                          <a:effectLst/>
                          <a:latin typeface="+mn-lt"/>
                          <a:ea typeface="+mn-ea"/>
                          <a:cs typeface="+mn-cs"/>
                        </a:rPr>
                        <a:t>It</a:t>
                      </a:r>
                      <a:r>
                        <a:rPr lang="en-US" sz="2200" b="0" i="0" kern="1200" baseline="0">
                          <a:solidFill>
                            <a:schemeClr val="dk1"/>
                          </a:solidFill>
                          <a:effectLst/>
                          <a:latin typeface="+mn-lt"/>
                          <a:ea typeface="+mn-ea"/>
                          <a:cs typeface="+mn-cs"/>
                        </a:rPr>
                        <a:t> t</a:t>
                      </a:r>
                      <a:r>
                        <a:rPr lang="en-US" sz="2200" b="0" i="0" kern="1200">
                          <a:solidFill>
                            <a:schemeClr val="dk1"/>
                          </a:solidFill>
                          <a:effectLst/>
                          <a:latin typeface="+mn-lt"/>
                          <a:ea typeface="+mn-ea"/>
                          <a:cs typeface="+mn-cs"/>
                        </a:rPr>
                        <a:t>ranslates program’s </a:t>
                      </a:r>
                      <a:r>
                        <a:rPr lang="en-US" sz="2200" b="0" i="0" kern="1200">
                          <a:solidFill>
                            <a:srgbClr val="0E47A1"/>
                          </a:solidFill>
                          <a:effectLst/>
                          <a:latin typeface="+mn-lt"/>
                          <a:ea typeface="+mn-ea"/>
                          <a:cs typeface="+mn-cs"/>
                        </a:rPr>
                        <a:t>one statement at a time.</a:t>
                      </a:r>
                      <a:endParaRPr lang="en-US" sz="2200" b="0">
                        <a:solidFill>
                          <a:srgbClr val="0E47A1"/>
                        </a:solidFill>
                      </a:endParaRPr>
                    </a:p>
                  </a:txBody>
                  <a:tcPr>
                    <a:noFill/>
                  </a:tcPr>
                </a:tc>
                <a:extLst>
                  <a:ext uri="{0D108BD9-81ED-4DB2-BD59-A6C34878D82A}">
                    <a16:rowId xmlns:a16="http://schemas.microsoft.com/office/drawing/2014/main" val="10000"/>
                  </a:ext>
                </a:extLst>
              </a:tr>
            </a:tbl>
          </a:graphicData>
        </a:graphic>
      </p:graphicFrame>
      <p:graphicFrame>
        <p:nvGraphicFramePr>
          <p:cNvPr id="5" name="Table 4">
            <a:extLst>
              <a:ext uri="{FF2B5EF4-FFF2-40B4-BE49-F238E27FC236}">
                <a16:creationId xmlns:a16="http://schemas.microsoft.com/office/drawing/2014/main" id="{EFC0FEE2-CDE2-2B2A-FAC9-7C7B029CD934}"/>
              </a:ext>
            </a:extLst>
          </p:cNvPr>
          <p:cNvGraphicFramePr>
            <a:graphicFrameLocks noGrp="1"/>
          </p:cNvGraphicFramePr>
          <p:nvPr>
            <p:extLst>
              <p:ext uri="{D42A27DB-BD31-4B8C-83A1-F6EECF244321}">
                <p14:modId xmlns:p14="http://schemas.microsoft.com/office/powerpoint/2010/main" val="540630620"/>
              </p:ext>
            </p:extLst>
          </p:nvPr>
        </p:nvGraphicFramePr>
        <p:xfrm>
          <a:off x="872264" y="2252542"/>
          <a:ext cx="10058400" cy="426720"/>
        </p:xfrm>
        <a:graphic>
          <a:graphicData uri="http://schemas.openxmlformats.org/drawingml/2006/table">
            <a:tbl>
              <a:tblPr firstRow="1" bandRow="1">
                <a:tableStyleId>{D7AC3CCA-C797-4891-BE02-D94E43425B78}</a:tableStyleId>
              </a:tblPr>
              <a:tblGrid>
                <a:gridCol w="5029199">
                  <a:extLst>
                    <a:ext uri="{9D8B030D-6E8A-4147-A177-3AD203B41FA5}">
                      <a16:colId xmlns:a16="http://schemas.microsoft.com/office/drawing/2014/main" val="20000"/>
                    </a:ext>
                  </a:extLst>
                </a:gridCol>
                <a:gridCol w="5029201">
                  <a:extLst>
                    <a:ext uri="{9D8B030D-6E8A-4147-A177-3AD203B41FA5}">
                      <a16:colId xmlns:a16="http://schemas.microsoft.com/office/drawing/2014/main" val="20001"/>
                    </a:ext>
                  </a:extLst>
                </a:gridCol>
              </a:tblGrid>
              <a:tr h="370840">
                <a:tc>
                  <a:txBody>
                    <a:bodyPr/>
                    <a:lstStyle/>
                    <a:p>
                      <a:pPr algn="just"/>
                      <a:r>
                        <a:rPr lang="en-US" sz="2200" b="0" kern="1200">
                          <a:solidFill>
                            <a:schemeClr val="dk1"/>
                          </a:solidFill>
                          <a:effectLst/>
                          <a:latin typeface="+mn-lt"/>
                          <a:ea typeface="+mn-ea"/>
                          <a:cs typeface="+mn-cs"/>
                        </a:rPr>
                        <a:t>It </a:t>
                      </a:r>
                      <a:r>
                        <a:rPr lang="en-US" sz="2200" b="0" kern="1200">
                          <a:solidFill>
                            <a:srgbClr val="0E47A1"/>
                          </a:solidFill>
                          <a:effectLst/>
                          <a:latin typeface="+mn-lt"/>
                          <a:ea typeface="+mn-ea"/>
                          <a:cs typeface="+mn-cs"/>
                        </a:rPr>
                        <a:t>generates</a:t>
                      </a:r>
                      <a:r>
                        <a:rPr lang="en-US" sz="2200" b="0" kern="1200" baseline="0">
                          <a:solidFill>
                            <a:schemeClr val="dk1"/>
                          </a:solidFill>
                          <a:effectLst/>
                          <a:latin typeface="+mn-lt"/>
                          <a:ea typeface="+mn-ea"/>
                          <a:cs typeface="+mn-cs"/>
                        </a:rPr>
                        <a:t> i</a:t>
                      </a:r>
                      <a:r>
                        <a:rPr lang="en-US" sz="2200" b="0" kern="1200">
                          <a:solidFill>
                            <a:schemeClr val="dk1"/>
                          </a:solidFill>
                          <a:effectLst/>
                          <a:latin typeface="+mn-lt"/>
                          <a:ea typeface="+mn-ea"/>
                          <a:cs typeface="+mn-cs"/>
                        </a:rPr>
                        <a:t>ntermediate code.</a:t>
                      </a:r>
                      <a:endParaRPr lang="en-US" sz="2200" b="0"/>
                    </a:p>
                  </a:txBody>
                  <a:tcPr>
                    <a:noFill/>
                  </a:tcPr>
                </a:tc>
                <a:tc>
                  <a:txBody>
                    <a:bodyPr/>
                    <a:lstStyle/>
                    <a:p>
                      <a:pPr marL="0" marR="0" indent="0" algn="just" defTabSz="914400" rtl="0" eaLnBrk="1" fontAlgn="auto" latinLnBrk="0" hangingPunct="1">
                        <a:lnSpc>
                          <a:spcPct val="100000"/>
                        </a:lnSpc>
                        <a:spcBef>
                          <a:spcPct val="0"/>
                        </a:spcBef>
                        <a:spcAft>
                          <a:spcPct val="0"/>
                        </a:spcAft>
                        <a:buClrTx/>
                        <a:buSzTx/>
                        <a:buFontTx/>
                        <a:buNone/>
                        <a:defRPr/>
                      </a:pPr>
                      <a:r>
                        <a:rPr lang="en-US" sz="2200" b="0" kern="1200">
                          <a:solidFill>
                            <a:schemeClr val="dk1"/>
                          </a:solidFill>
                          <a:effectLst/>
                          <a:latin typeface="+mn-lt"/>
                          <a:ea typeface="+mn-ea"/>
                          <a:cs typeface="+mn-cs"/>
                        </a:rPr>
                        <a:t>It </a:t>
                      </a:r>
                      <a:r>
                        <a:rPr lang="en-US" sz="2200" b="0" kern="1200">
                          <a:solidFill>
                            <a:srgbClr val="0E47A1"/>
                          </a:solidFill>
                          <a:effectLst/>
                          <a:latin typeface="+mn-lt"/>
                          <a:ea typeface="+mn-ea"/>
                          <a:cs typeface="+mn-cs"/>
                        </a:rPr>
                        <a:t>does not </a:t>
                      </a:r>
                      <a:r>
                        <a:rPr lang="en-US" sz="2200" b="0" kern="1200">
                          <a:solidFill>
                            <a:schemeClr val="dk1"/>
                          </a:solidFill>
                          <a:effectLst/>
                          <a:latin typeface="+mn-lt"/>
                          <a:ea typeface="+mn-ea"/>
                          <a:cs typeface="+mn-cs"/>
                        </a:rPr>
                        <a:t>generate</a:t>
                      </a:r>
                      <a:r>
                        <a:rPr lang="en-US" sz="2200" b="0" kern="1200" baseline="0">
                          <a:solidFill>
                            <a:schemeClr val="dk1"/>
                          </a:solidFill>
                          <a:effectLst/>
                          <a:latin typeface="+mn-lt"/>
                          <a:ea typeface="+mn-ea"/>
                          <a:cs typeface="+mn-cs"/>
                        </a:rPr>
                        <a:t> i</a:t>
                      </a:r>
                      <a:r>
                        <a:rPr lang="en-US" sz="2200" b="0" kern="1200">
                          <a:solidFill>
                            <a:schemeClr val="dk1"/>
                          </a:solidFill>
                          <a:effectLst/>
                          <a:latin typeface="+mn-lt"/>
                          <a:ea typeface="+mn-ea"/>
                          <a:cs typeface="+mn-cs"/>
                        </a:rPr>
                        <a:t>ntermediate code.</a:t>
                      </a:r>
                      <a:endParaRPr lang="en-US" sz="2200" b="0"/>
                    </a:p>
                  </a:txBody>
                  <a:tcPr>
                    <a:noFill/>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D48D2746-34DE-679E-EA2B-55E4E971E289}"/>
              </a:ext>
            </a:extLst>
          </p:cNvPr>
          <p:cNvGraphicFramePr>
            <a:graphicFrameLocks noGrp="1"/>
          </p:cNvGraphicFramePr>
          <p:nvPr>
            <p:extLst>
              <p:ext uri="{D42A27DB-BD31-4B8C-83A1-F6EECF244321}">
                <p14:modId xmlns:p14="http://schemas.microsoft.com/office/powerpoint/2010/main" val="3213588441"/>
              </p:ext>
            </p:extLst>
          </p:nvPr>
        </p:nvGraphicFramePr>
        <p:xfrm>
          <a:off x="872264" y="3452132"/>
          <a:ext cx="10058400" cy="426720"/>
        </p:xfrm>
        <a:graphic>
          <a:graphicData uri="http://schemas.openxmlformats.org/drawingml/2006/table">
            <a:tbl>
              <a:tblPr firstRow="1" bandRow="1">
                <a:tableStyleId>{D7AC3CCA-C797-4891-BE02-D94E43425B78}</a:tableStyleId>
              </a:tblPr>
              <a:tblGrid>
                <a:gridCol w="5029199">
                  <a:extLst>
                    <a:ext uri="{9D8B030D-6E8A-4147-A177-3AD203B41FA5}">
                      <a16:colId xmlns:a16="http://schemas.microsoft.com/office/drawing/2014/main" val="20000"/>
                    </a:ext>
                  </a:extLst>
                </a:gridCol>
                <a:gridCol w="5029201">
                  <a:extLst>
                    <a:ext uri="{9D8B030D-6E8A-4147-A177-3AD203B41FA5}">
                      <a16:colId xmlns:a16="http://schemas.microsoft.com/office/drawing/2014/main" val="20001"/>
                    </a:ext>
                  </a:extLst>
                </a:gridCol>
              </a:tblGrid>
              <a:tr h="370840">
                <a:tc>
                  <a:txBody>
                    <a:bodyPr/>
                    <a:lstStyle/>
                    <a:p>
                      <a:pPr algn="just"/>
                      <a:r>
                        <a:rPr lang="en-US" sz="2200" b="0" kern="1200">
                          <a:solidFill>
                            <a:schemeClr val="dk1"/>
                          </a:solidFill>
                          <a:effectLst/>
                          <a:latin typeface="+mn-lt"/>
                          <a:ea typeface="+mn-ea"/>
                          <a:cs typeface="+mn-cs"/>
                        </a:rPr>
                        <a:t>Memory requirement is </a:t>
                      </a:r>
                      <a:r>
                        <a:rPr lang="en-US" sz="2200" b="0" kern="1200">
                          <a:solidFill>
                            <a:srgbClr val="0E47A1"/>
                          </a:solidFill>
                          <a:effectLst/>
                          <a:latin typeface="+mn-lt"/>
                          <a:ea typeface="+mn-ea"/>
                          <a:cs typeface="+mn-cs"/>
                        </a:rPr>
                        <a:t>more</a:t>
                      </a:r>
                      <a:r>
                        <a:rPr lang="en-US" sz="2200" b="0" kern="1200">
                          <a:solidFill>
                            <a:schemeClr val="dk1"/>
                          </a:solidFill>
                          <a:effectLst/>
                          <a:latin typeface="+mn-lt"/>
                          <a:ea typeface="+mn-ea"/>
                          <a:cs typeface="+mn-cs"/>
                        </a:rPr>
                        <a:t>.</a:t>
                      </a:r>
                      <a:endParaRPr lang="en-US" sz="2200" b="0"/>
                    </a:p>
                  </a:txBody>
                  <a:tcPr>
                    <a:noFill/>
                  </a:tcPr>
                </a:tc>
                <a:tc>
                  <a:txBody>
                    <a:bodyPr/>
                    <a:lstStyle/>
                    <a:p>
                      <a:pPr algn="just"/>
                      <a:r>
                        <a:rPr lang="en-US" sz="2200" b="0" kern="1200">
                          <a:solidFill>
                            <a:schemeClr val="dk1"/>
                          </a:solidFill>
                          <a:effectLst/>
                          <a:latin typeface="+mn-lt"/>
                          <a:ea typeface="+mn-ea"/>
                          <a:cs typeface="+mn-cs"/>
                        </a:rPr>
                        <a:t>Memory requirement is </a:t>
                      </a:r>
                      <a:r>
                        <a:rPr lang="en-US" sz="2200" b="0" kern="1200">
                          <a:solidFill>
                            <a:srgbClr val="0E47A1"/>
                          </a:solidFill>
                          <a:effectLst/>
                          <a:latin typeface="+mn-lt"/>
                          <a:ea typeface="+mn-ea"/>
                          <a:cs typeface="+mn-cs"/>
                        </a:rPr>
                        <a:t>less</a:t>
                      </a:r>
                      <a:r>
                        <a:rPr lang="en-US" sz="2200" b="0" kern="1200">
                          <a:solidFill>
                            <a:schemeClr val="dk1"/>
                          </a:solidFill>
                          <a:effectLst/>
                          <a:latin typeface="+mn-lt"/>
                          <a:ea typeface="+mn-ea"/>
                          <a:cs typeface="+mn-cs"/>
                        </a:rPr>
                        <a:t>.</a:t>
                      </a:r>
                      <a:endParaRPr lang="en-US" sz="2200" b="0"/>
                    </a:p>
                  </a:txBody>
                  <a:tcPr>
                    <a:noFill/>
                  </a:tcPr>
                </a:tc>
                <a:extLst>
                  <a:ext uri="{0D108BD9-81ED-4DB2-BD59-A6C34878D82A}">
                    <a16:rowId xmlns:a16="http://schemas.microsoft.com/office/drawing/2014/main" val="10000"/>
                  </a:ext>
                </a:extLst>
              </a:tr>
            </a:tbl>
          </a:graphicData>
        </a:graphic>
      </p:graphicFrame>
      <p:graphicFrame>
        <p:nvGraphicFramePr>
          <p:cNvPr id="7" name="Table 6">
            <a:extLst>
              <a:ext uri="{FF2B5EF4-FFF2-40B4-BE49-F238E27FC236}">
                <a16:creationId xmlns:a16="http://schemas.microsoft.com/office/drawing/2014/main" id="{69058194-6815-CBBE-70A9-310E8857D527}"/>
              </a:ext>
            </a:extLst>
          </p:cNvPr>
          <p:cNvGraphicFramePr>
            <a:graphicFrameLocks noGrp="1"/>
          </p:cNvGraphicFramePr>
          <p:nvPr>
            <p:extLst>
              <p:ext uri="{D42A27DB-BD31-4B8C-83A1-F6EECF244321}">
                <p14:modId xmlns:p14="http://schemas.microsoft.com/office/powerpoint/2010/main" val="3337389111"/>
              </p:ext>
            </p:extLst>
          </p:nvPr>
        </p:nvGraphicFramePr>
        <p:xfrm>
          <a:off x="872264" y="2679262"/>
          <a:ext cx="10058400" cy="762000"/>
        </p:xfrm>
        <a:graphic>
          <a:graphicData uri="http://schemas.openxmlformats.org/drawingml/2006/table">
            <a:tbl>
              <a:tblPr firstRow="1" bandRow="1">
                <a:tableStyleId>{D7AC3CCA-C797-4891-BE02-D94E43425B78}</a:tableStyleId>
              </a:tblPr>
              <a:tblGrid>
                <a:gridCol w="5029199">
                  <a:extLst>
                    <a:ext uri="{9D8B030D-6E8A-4147-A177-3AD203B41FA5}">
                      <a16:colId xmlns:a16="http://schemas.microsoft.com/office/drawing/2014/main" val="20000"/>
                    </a:ext>
                  </a:extLst>
                </a:gridCol>
                <a:gridCol w="5029201">
                  <a:extLst>
                    <a:ext uri="{9D8B030D-6E8A-4147-A177-3AD203B41FA5}">
                      <a16:colId xmlns:a16="http://schemas.microsoft.com/office/drawing/2014/main" val="20001"/>
                    </a:ext>
                  </a:extLst>
                </a:gridCol>
              </a:tblGrid>
              <a:tr h="370840">
                <a:tc>
                  <a:txBody>
                    <a:bodyPr/>
                    <a:lstStyle/>
                    <a:p>
                      <a:pPr algn="just"/>
                      <a:r>
                        <a:rPr lang="en-US" sz="2200" b="0" kern="1200">
                          <a:solidFill>
                            <a:schemeClr val="dk1"/>
                          </a:solidFill>
                          <a:effectLst/>
                          <a:latin typeface="+mn-lt"/>
                          <a:ea typeface="+mn-ea"/>
                          <a:cs typeface="+mn-cs"/>
                        </a:rPr>
                        <a:t>An error is displayed </a:t>
                      </a:r>
                      <a:r>
                        <a:rPr lang="en-US" sz="2200" b="0" kern="1200">
                          <a:solidFill>
                            <a:srgbClr val="0E47A1"/>
                          </a:solidFill>
                          <a:effectLst/>
                          <a:latin typeface="+mn-lt"/>
                          <a:ea typeface="+mn-ea"/>
                          <a:cs typeface="+mn-cs"/>
                        </a:rPr>
                        <a:t>after entire program</a:t>
                      </a:r>
                      <a:r>
                        <a:rPr lang="en-US" sz="2200" b="0" kern="1200">
                          <a:solidFill>
                            <a:schemeClr val="dk1"/>
                          </a:solidFill>
                          <a:effectLst/>
                          <a:latin typeface="+mn-lt"/>
                          <a:ea typeface="+mn-ea"/>
                          <a:cs typeface="+mn-cs"/>
                        </a:rPr>
                        <a:t> is checked.</a:t>
                      </a:r>
                      <a:endParaRPr lang="en-US" sz="2200" b="0"/>
                    </a:p>
                  </a:txBody>
                  <a:tcPr>
                    <a:noFill/>
                  </a:tcPr>
                </a:tc>
                <a:tc>
                  <a:txBody>
                    <a:bodyPr/>
                    <a:lstStyle/>
                    <a:p>
                      <a:pPr algn="just"/>
                      <a:r>
                        <a:rPr lang="en-US" sz="2200" b="0" kern="1200">
                          <a:solidFill>
                            <a:schemeClr val="dk1"/>
                          </a:solidFill>
                          <a:effectLst/>
                          <a:latin typeface="+mn-lt"/>
                          <a:ea typeface="+mn-ea"/>
                          <a:cs typeface="+mn-cs"/>
                        </a:rPr>
                        <a:t>An error is displayed for </a:t>
                      </a:r>
                      <a:r>
                        <a:rPr lang="en-US" sz="2200" b="0" kern="1200">
                          <a:solidFill>
                            <a:srgbClr val="0E47A1"/>
                          </a:solidFill>
                          <a:effectLst/>
                          <a:latin typeface="+mn-lt"/>
                          <a:ea typeface="+mn-ea"/>
                          <a:cs typeface="+mn-cs"/>
                        </a:rPr>
                        <a:t>every instruction</a:t>
                      </a:r>
                      <a:r>
                        <a:rPr lang="en-US" sz="2200" b="0" kern="1200">
                          <a:solidFill>
                            <a:srgbClr val="C00000"/>
                          </a:solidFill>
                          <a:effectLst/>
                          <a:latin typeface="+mn-lt"/>
                          <a:ea typeface="+mn-ea"/>
                          <a:cs typeface="+mn-cs"/>
                        </a:rPr>
                        <a:t> </a:t>
                      </a:r>
                      <a:r>
                        <a:rPr lang="en-US" sz="2200" b="0" kern="1200">
                          <a:solidFill>
                            <a:schemeClr val="dk1"/>
                          </a:solidFill>
                          <a:effectLst/>
                          <a:latin typeface="+mn-lt"/>
                          <a:ea typeface="+mn-ea"/>
                          <a:cs typeface="+mn-cs"/>
                        </a:rPr>
                        <a:t>interpreted if any.</a:t>
                      </a:r>
                      <a:endParaRPr lang="en-US" sz="2200" b="0"/>
                    </a:p>
                  </a:txBody>
                  <a:tcPr>
                    <a:noFill/>
                  </a:tcPr>
                </a:tc>
                <a:extLst>
                  <a:ext uri="{0D108BD9-81ED-4DB2-BD59-A6C34878D82A}">
                    <a16:rowId xmlns:a16="http://schemas.microsoft.com/office/drawing/2014/main" val="10000"/>
                  </a:ext>
                </a:extLst>
              </a:tr>
            </a:tbl>
          </a:graphicData>
        </a:graphic>
      </p:graphicFrame>
      <p:graphicFrame>
        <p:nvGraphicFramePr>
          <p:cNvPr id="8" name="Table 7">
            <a:extLst>
              <a:ext uri="{FF2B5EF4-FFF2-40B4-BE49-F238E27FC236}">
                <a16:creationId xmlns:a16="http://schemas.microsoft.com/office/drawing/2014/main" id="{F607226D-A0F3-545F-5A8F-AE8858B75C06}"/>
              </a:ext>
            </a:extLst>
          </p:cNvPr>
          <p:cNvGraphicFramePr>
            <a:graphicFrameLocks noGrp="1"/>
          </p:cNvGraphicFramePr>
          <p:nvPr>
            <p:extLst>
              <p:ext uri="{D42A27DB-BD31-4B8C-83A1-F6EECF244321}">
                <p14:modId xmlns:p14="http://schemas.microsoft.com/office/powerpoint/2010/main" val="1542127279"/>
              </p:ext>
            </p:extLst>
          </p:nvPr>
        </p:nvGraphicFramePr>
        <p:xfrm>
          <a:off x="872263" y="3878852"/>
          <a:ext cx="10058400" cy="426720"/>
        </p:xfrm>
        <a:graphic>
          <a:graphicData uri="http://schemas.openxmlformats.org/drawingml/2006/table">
            <a:tbl>
              <a:tblPr firstRow="1" bandRow="1">
                <a:tableStyleId>{D7AC3CCA-C797-4891-BE02-D94E43425B78}</a:tableStyleId>
              </a:tblPr>
              <a:tblGrid>
                <a:gridCol w="5029199">
                  <a:extLst>
                    <a:ext uri="{9D8B030D-6E8A-4147-A177-3AD203B41FA5}">
                      <a16:colId xmlns:a16="http://schemas.microsoft.com/office/drawing/2014/main" val="20000"/>
                    </a:ext>
                  </a:extLst>
                </a:gridCol>
                <a:gridCol w="5029201">
                  <a:extLst>
                    <a:ext uri="{9D8B030D-6E8A-4147-A177-3AD203B41FA5}">
                      <a16:colId xmlns:a16="http://schemas.microsoft.com/office/drawing/2014/main" val="20001"/>
                    </a:ext>
                  </a:extLst>
                </a:gridCol>
              </a:tblGrid>
              <a:tr h="370840">
                <a:tc>
                  <a:txBody>
                    <a:bodyPr/>
                    <a:lstStyle/>
                    <a:p>
                      <a:pPr algn="l"/>
                      <a:r>
                        <a:rPr lang="en-US" sz="2200" b="0" kern="1200">
                          <a:solidFill>
                            <a:schemeClr val="dk1"/>
                          </a:solidFill>
                          <a:effectLst/>
                          <a:latin typeface="+mn-lt"/>
                          <a:ea typeface="+mn-ea"/>
                          <a:cs typeface="+mn-cs"/>
                        </a:rPr>
                        <a:t>Example: C compiler</a:t>
                      </a:r>
                      <a:r>
                        <a:rPr lang="en-US" sz="1800" b="0" i="0" kern="1200">
                          <a:solidFill>
                            <a:schemeClr val="dk1"/>
                          </a:solidFill>
                          <a:effectLst/>
                          <a:latin typeface="+mn-lt"/>
                          <a:ea typeface="+mn-ea"/>
                          <a:cs typeface="+mn-cs"/>
                        </a:rPr>
                        <a:t> </a:t>
                      </a:r>
                      <a:endParaRPr lang="en-US" sz="2200" b="0"/>
                    </a:p>
                  </a:txBody>
                  <a:tcPr>
                    <a:noFill/>
                  </a:tcPr>
                </a:tc>
                <a:tc>
                  <a:txBody>
                    <a:bodyPr/>
                    <a:lstStyle/>
                    <a:p>
                      <a:pPr marL="0" marR="0" indent="0" algn="l" defTabSz="914400" rtl="0" eaLnBrk="1" fontAlgn="auto" latinLnBrk="0" hangingPunct="1">
                        <a:lnSpc>
                          <a:spcPct val="100000"/>
                        </a:lnSpc>
                        <a:spcBef>
                          <a:spcPct val="0"/>
                        </a:spcBef>
                        <a:spcAft>
                          <a:spcPct val="0"/>
                        </a:spcAft>
                        <a:buClrTx/>
                        <a:buSzTx/>
                        <a:buFontTx/>
                        <a:buNone/>
                        <a:defRPr/>
                      </a:pPr>
                      <a:r>
                        <a:rPr lang="en-US" sz="2200" b="0" kern="1200">
                          <a:solidFill>
                            <a:schemeClr val="dk1"/>
                          </a:solidFill>
                          <a:effectLst/>
                          <a:latin typeface="+mn-lt"/>
                          <a:ea typeface="+mn-ea"/>
                          <a:cs typeface="+mn-cs"/>
                        </a:rPr>
                        <a:t>Example: Basic, Python, Ruby</a:t>
                      </a:r>
                      <a:r>
                        <a:rPr lang="en-US" sz="1800" b="0" i="0" kern="1200">
                          <a:solidFill>
                            <a:schemeClr val="dk1"/>
                          </a:solidFill>
                          <a:effectLst/>
                          <a:latin typeface="+mn-lt"/>
                          <a:ea typeface="+mn-ea"/>
                          <a:cs typeface="+mn-cs"/>
                        </a:rPr>
                        <a:t> </a:t>
                      </a:r>
                      <a:endParaRPr lang="en-US" sz="2200" b="0"/>
                    </a:p>
                  </a:txBody>
                  <a:tcP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51592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dur="50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dur="50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dur="50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dur="50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dur="50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312E6-5763-4067-B8E3-055C05E78BA7}"/>
              </a:ext>
            </a:extLst>
          </p:cNvPr>
          <p:cNvSpPr>
            <a:spLocks noGrp="1"/>
          </p:cNvSpPr>
          <p:nvPr>
            <p:ph type="ctrTitle"/>
          </p:nvPr>
        </p:nvSpPr>
        <p:spPr/>
        <p:txBody>
          <a:bodyPr/>
          <a:lstStyle/>
          <a:p>
            <a:r>
              <a:rPr lang="en-US" dirty="0"/>
              <a:t>Context of Compiler</a:t>
            </a:r>
            <a:br>
              <a:rPr lang="en-US" dirty="0"/>
            </a:br>
            <a:r>
              <a:rPr lang="en-US" dirty="0"/>
              <a:t>(Cousins of compiler)</a:t>
            </a:r>
            <a:endParaRPr lang="en-IN" dirty="0"/>
          </a:p>
        </p:txBody>
      </p:sp>
      <p:sp>
        <p:nvSpPr>
          <p:cNvPr id="3" name="Subtitle 2">
            <a:extLst>
              <a:ext uri="{FF2B5EF4-FFF2-40B4-BE49-F238E27FC236}">
                <a16:creationId xmlns:a16="http://schemas.microsoft.com/office/drawing/2014/main" id="{47F28B1D-75F8-D507-A427-5FE4D33A59AB}"/>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1509347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3E295-7527-2F88-091F-79E375ED43F2}"/>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Context of compiler (Cousins of compiler)</a:t>
            </a:r>
          </a:p>
        </p:txBody>
      </p:sp>
      <p:sp>
        <p:nvSpPr>
          <p:cNvPr id="3" name="Content Placeholder 2">
            <a:extLst>
              <a:ext uri="{FF2B5EF4-FFF2-40B4-BE49-F238E27FC236}">
                <a16:creationId xmlns:a16="http://schemas.microsoft.com/office/drawing/2014/main" id="{B9563FB0-5AFF-70F0-6B96-BC5696EEFD13}"/>
              </a:ext>
            </a:extLst>
          </p:cNvPr>
          <p:cNvSpPr txBox="1">
            <a:spLocks/>
          </p:cNvSpPr>
          <p:nvPr/>
        </p:nvSpPr>
        <p:spPr>
          <a:xfrm>
            <a:off x="131180" y="863444"/>
            <a:ext cx="6788785"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t>In addition to compiler, many other system programs are required to generate absolute machine code.</a:t>
            </a:r>
          </a:p>
          <a:p>
            <a:pPr>
              <a:lnSpc>
                <a:spcPct val="100000"/>
              </a:lnSpc>
            </a:pPr>
            <a:r>
              <a:rPr lang="en-US"/>
              <a:t>These system programs are:</a:t>
            </a:r>
          </a:p>
          <a:p>
            <a:pPr lvl="1">
              <a:lnSpc>
                <a:spcPct val="100000"/>
              </a:lnSpc>
            </a:pPr>
            <a:endParaRPr lang="en-US">
              <a:solidFill>
                <a:srgbClr val="0E47A1"/>
              </a:solidFill>
            </a:endParaRPr>
          </a:p>
          <a:p>
            <a:pPr lvl="1">
              <a:lnSpc>
                <a:spcPct val="100000"/>
              </a:lnSpc>
            </a:pPr>
            <a:r>
              <a:rPr lang="en-US">
                <a:solidFill>
                  <a:srgbClr val="0E47A1"/>
                </a:solidFill>
              </a:rPr>
              <a:t>Preprocessor</a:t>
            </a:r>
          </a:p>
          <a:p>
            <a:pPr lvl="1">
              <a:lnSpc>
                <a:spcPct val="100000"/>
              </a:lnSpc>
            </a:pPr>
            <a:r>
              <a:rPr lang="en-US">
                <a:solidFill>
                  <a:srgbClr val="0E47A1"/>
                </a:solidFill>
              </a:rPr>
              <a:t>Assembler</a:t>
            </a:r>
          </a:p>
          <a:p>
            <a:pPr lvl="1">
              <a:lnSpc>
                <a:spcPct val="100000"/>
              </a:lnSpc>
            </a:pPr>
            <a:r>
              <a:rPr lang="en-US">
                <a:solidFill>
                  <a:srgbClr val="0E47A1"/>
                </a:solidFill>
              </a:rPr>
              <a:t>Linker</a:t>
            </a:r>
          </a:p>
          <a:p>
            <a:pPr lvl="1">
              <a:lnSpc>
                <a:spcPct val="100000"/>
              </a:lnSpc>
            </a:pPr>
            <a:r>
              <a:rPr lang="en-US">
                <a:solidFill>
                  <a:srgbClr val="0E47A1"/>
                </a:solidFill>
              </a:rPr>
              <a:t>Loader </a:t>
            </a:r>
          </a:p>
          <a:p>
            <a:pPr>
              <a:lnSpc>
                <a:spcPct val="100000"/>
              </a:lnSpc>
            </a:pPr>
            <a:endParaRPr lang="en-US" sz="2200"/>
          </a:p>
          <a:p>
            <a:pPr marL="457200" indent="-457200">
              <a:lnSpc>
                <a:spcPct val="100000"/>
              </a:lnSpc>
              <a:buFont typeface="+mj-lt"/>
              <a:buAutoNum type="arabicPeriod"/>
            </a:pPr>
            <a:endParaRPr lang="en-US" dirty="0"/>
          </a:p>
        </p:txBody>
      </p:sp>
      <p:cxnSp>
        <p:nvCxnSpPr>
          <p:cNvPr id="4" name="Straight Connector 3">
            <a:extLst>
              <a:ext uri="{FF2B5EF4-FFF2-40B4-BE49-F238E27FC236}">
                <a16:creationId xmlns:a16="http://schemas.microsoft.com/office/drawing/2014/main" id="{D96341DE-412C-3877-F10D-0DB7B553AD3F}"/>
              </a:ext>
            </a:extLst>
          </p:cNvPr>
          <p:cNvCxnSpPr/>
          <p:nvPr/>
        </p:nvCxnSpPr>
        <p:spPr>
          <a:xfrm flipH="1">
            <a:off x="7070579" y="863443"/>
            <a:ext cx="0" cy="566928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 Box 10">
            <a:extLst>
              <a:ext uri="{FF2B5EF4-FFF2-40B4-BE49-F238E27FC236}">
                <a16:creationId xmlns:a16="http://schemas.microsoft.com/office/drawing/2014/main" id="{F958D300-3B4A-F78C-0612-1294212D9BED}"/>
              </a:ext>
            </a:extLst>
          </p:cNvPr>
          <p:cNvSpPr txBox="1">
            <a:spLocks noChangeArrowheads="1"/>
          </p:cNvSpPr>
          <p:nvPr/>
        </p:nvSpPr>
        <p:spPr bwMode="auto">
          <a:xfrm>
            <a:off x="7940843" y="716549"/>
            <a:ext cx="35372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Skeletal Source Program</a:t>
            </a:r>
          </a:p>
        </p:txBody>
      </p:sp>
      <p:sp>
        <p:nvSpPr>
          <p:cNvPr id="6" name="Rectangle 7">
            <a:extLst>
              <a:ext uri="{FF2B5EF4-FFF2-40B4-BE49-F238E27FC236}">
                <a16:creationId xmlns:a16="http://schemas.microsoft.com/office/drawing/2014/main" id="{8842D69E-9CDE-AE2B-9C14-45F7D08A8654}"/>
              </a:ext>
            </a:extLst>
          </p:cNvPr>
          <p:cNvSpPr>
            <a:spLocks noChangeArrowheads="1"/>
          </p:cNvSpPr>
          <p:nvPr/>
        </p:nvSpPr>
        <p:spPr bwMode="auto">
          <a:xfrm>
            <a:off x="8655209" y="2496486"/>
            <a:ext cx="2039112" cy="457200"/>
          </a:xfrm>
          <a:prstGeom prst="rect">
            <a:avLst/>
          </a:prstGeom>
          <a:solidFill>
            <a:srgbClr val="0E47A1"/>
          </a:solidFill>
          <a:ln w="9525">
            <a:solidFill>
              <a:schemeClr val="tx1"/>
            </a:solidFill>
            <a:miter lim="800000"/>
          </a:ln>
          <a:effectLst/>
        </p:spPr>
        <p:txBody>
          <a:bodyPr wrap="none" anchor="ctr"/>
          <a:lstStyle/>
          <a:p>
            <a:pPr algn="ctr"/>
            <a:r>
              <a:rPr lang="en-US" altLang="en-US">
                <a:solidFill>
                  <a:schemeClr val="bg1"/>
                </a:solidFill>
              </a:rPr>
              <a:t>Compiler</a:t>
            </a:r>
          </a:p>
        </p:txBody>
      </p:sp>
      <p:sp>
        <p:nvSpPr>
          <p:cNvPr id="7" name="Rectangle 8">
            <a:extLst>
              <a:ext uri="{FF2B5EF4-FFF2-40B4-BE49-F238E27FC236}">
                <a16:creationId xmlns:a16="http://schemas.microsoft.com/office/drawing/2014/main" id="{3A5D6EB6-27AF-02E7-8E8F-21963AC583E0}"/>
              </a:ext>
            </a:extLst>
          </p:cNvPr>
          <p:cNvSpPr>
            <a:spLocks noChangeArrowheads="1"/>
          </p:cNvSpPr>
          <p:nvPr/>
        </p:nvSpPr>
        <p:spPr bwMode="auto">
          <a:xfrm>
            <a:off x="8662436" y="3745782"/>
            <a:ext cx="2039112" cy="457200"/>
          </a:xfrm>
          <a:prstGeom prst="rect">
            <a:avLst/>
          </a:prstGeom>
          <a:solidFill>
            <a:srgbClr val="0E47A1"/>
          </a:solidFill>
          <a:ln w="9525">
            <a:solidFill>
              <a:schemeClr val="tx1"/>
            </a:solidFill>
            <a:miter lim="800000"/>
          </a:ln>
          <a:effectLst/>
        </p:spPr>
        <p:txBody>
          <a:bodyPr wrap="none" anchor="ctr"/>
          <a:lstStyle/>
          <a:p>
            <a:pPr algn="ctr"/>
            <a:r>
              <a:rPr lang="en-US" altLang="en-US">
                <a:solidFill>
                  <a:schemeClr val="bg1"/>
                </a:solidFill>
              </a:rPr>
              <a:t>Assembler</a:t>
            </a:r>
          </a:p>
        </p:txBody>
      </p:sp>
      <p:sp>
        <p:nvSpPr>
          <p:cNvPr id="8" name="Text Box 11">
            <a:extLst>
              <a:ext uri="{FF2B5EF4-FFF2-40B4-BE49-F238E27FC236}">
                <a16:creationId xmlns:a16="http://schemas.microsoft.com/office/drawing/2014/main" id="{5A8CABD5-D601-9401-188C-740C2C0198B4}"/>
              </a:ext>
            </a:extLst>
          </p:cNvPr>
          <p:cNvSpPr txBox="1">
            <a:spLocks noChangeArrowheads="1"/>
          </p:cNvSpPr>
          <p:nvPr/>
        </p:nvSpPr>
        <p:spPr bwMode="auto">
          <a:xfrm>
            <a:off x="9763651" y="1788679"/>
            <a:ext cx="16480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dirty="0"/>
              <a:t>Source Program</a:t>
            </a:r>
          </a:p>
        </p:txBody>
      </p:sp>
      <p:sp>
        <p:nvSpPr>
          <p:cNvPr id="9" name="Text Box 12">
            <a:extLst>
              <a:ext uri="{FF2B5EF4-FFF2-40B4-BE49-F238E27FC236}">
                <a16:creationId xmlns:a16="http://schemas.microsoft.com/office/drawing/2014/main" id="{7F67DAC0-B62B-CDFA-D5FF-1B0CD09737CE}"/>
              </a:ext>
            </a:extLst>
          </p:cNvPr>
          <p:cNvSpPr txBox="1">
            <a:spLocks noChangeArrowheads="1"/>
          </p:cNvSpPr>
          <p:nvPr/>
        </p:nvSpPr>
        <p:spPr bwMode="auto">
          <a:xfrm>
            <a:off x="9726602" y="3063364"/>
            <a:ext cx="179598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Target Assembly </a:t>
            </a:r>
          </a:p>
          <a:p>
            <a:pPr algn="ctr"/>
            <a:r>
              <a:rPr lang="en-US" altLang="en-US"/>
              <a:t>Program</a:t>
            </a:r>
          </a:p>
        </p:txBody>
      </p:sp>
      <p:sp>
        <p:nvSpPr>
          <p:cNvPr id="10" name="Text Box 13">
            <a:extLst>
              <a:ext uri="{FF2B5EF4-FFF2-40B4-BE49-F238E27FC236}">
                <a16:creationId xmlns:a16="http://schemas.microsoft.com/office/drawing/2014/main" id="{DFDAB748-5C17-17BA-B688-11D8B16748E9}"/>
              </a:ext>
            </a:extLst>
          </p:cNvPr>
          <p:cNvSpPr txBox="1">
            <a:spLocks noChangeArrowheads="1"/>
          </p:cNvSpPr>
          <p:nvPr/>
        </p:nvSpPr>
        <p:spPr bwMode="auto">
          <a:xfrm>
            <a:off x="9726601" y="4256076"/>
            <a:ext cx="203226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err="1"/>
              <a:t>Relocatable Object </a:t>
            </a:r>
            <a:r>
              <a:rPr lang="en-US" altLang="en-US"/>
              <a:t>Code</a:t>
            </a:r>
          </a:p>
        </p:txBody>
      </p:sp>
      <p:sp>
        <p:nvSpPr>
          <p:cNvPr id="11" name="Text Box 14">
            <a:extLst>
              <a:ext uri="{FF2B5EF4-FFF2-40B4-BE49-F238E27FC236}">
                <a16:creationId xmlns:a16="http://schemas.microsoft.com/office/drawing/2014/main" id="{3F16BF31-6EB7-0827-5E64-862AEE96C631}"/>
              </a:ext>
            </a:extLst>
          </p:cNvPr>
          <p:cNvSpPr txBox="1">
            <a:spLocks noChangeArrowheads="1"/>
          </p:cNvSpPr>
          <p:nvPr/>
        </p:nvSpPr>
        <p:spPr bwMode="auto">
          <a:xfrm>
            <a:off x="8440952" y="5886392"/>
            <a:ext cx="249024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Absolute Machine </a:t>
            </a:r>
          </a:p>
          <a:p>
            <a:pPr algn="ctr"/>
            <a:r>
              <a:rPr lang="en-US" altLang="en-US"/>
              <a:t>Code</a:t>
            </a:r>
          </a:p>
        </p:txBody>
      </p:sp>
      <p:sp>
        <p:nvSpPr>
          <p:cNvPr id="12" name="Text Box 15">
            <a:extLst>
              <a:ext uri="{FF2B5EF4-FFF2-40B4-BE49-F238E27FC236}">
                <a16:creationId xmlns:a16="http://schemas.microsoft.com/office/drawing/2014/main" id="{8CD4DFCF-9A80-1DB9-D919-CD21095592DA}"/>
              </a:ext>
            </a:extLst>
          </p:cNvPr>
          <p:cNvSpPr txBox="1">
            <a:spLocks noChangeArrowheads="1"/>
          </p:cNvSpPr>
          <p:nvPr/>
        </p:nvSpPr>
        <p:spPr bwMode="auto">
          <a:xfrm>
            <a:off x="7144556" y="4902407"/>
            <a:ext cx="137134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Libraries &amp; </a:t>
            </a:r>
          </a:p>
          <a:p>
            <a:pPr algn="ctr"/>
            <a:r>
              <a:rPr lang="en-US" altLang="en-US"/>
              <a:t>Object Files</a:t>
            </a:r>
          </a:p>
        </p:txBody>
      </p:sp>
      <p:sp>
        <p:nvSpPr>
          <p:cNvPr id="13" name="Rectangle 9">
            <a:extLst>
              <a:ext uri="{FF2B5EF4-FFF2-40B4-BE49-F238E27FC236}">
                <a16:creationId xmlns:a16="http://schemas.microsoft.com/office/drawing/2014/main" id="{4E90BC0A-385A-B2AD-DD78-5887E5B7ECA6}"/>
              </a:ext>
            </a:extLst>
          </p:cNvPr>
          <p:cNvSpPr>
            <a:spLocks noChangeArrowheads="1"/>
          </p:cNvSpPr>
          <p:nvPr/>
        </p:nvSpPr>
        <p:spPr bwMode="auto">
          <a:xfrm>
            <a:off x="8666516" y="4964693"/>
            <a:ext cx="2039112" cy="457200"/>
          </a:xfrm>
          <a:prstGeom prst="rect">
            <a:avLst/>
          </a:prstGeom>
          <a:solidFill>
            <a:srgbClr val="0E47A1"/>
          </a:solidFill>
          <a:ln w="9525">
            <a:solidFill>
              <a:schemeClr val="tx1"/>
            </a:solidFill>
            <a:miter lim="800000"/>
          </a:ln>
          <a:effectLst/>
        </p:spPr>
        <p:txBody>
          <a:bodyPr wrap="none" anchor="ctr"/>
          <a:lstStyle/>
          <a:p>
            <a:pPr algn="ctr"/>
            <a:r>
              <a:rPr lang="en-US" altLang="en-US">
                <a:solidFill>
                  <a:schemeClr val="bg1"/>
                </a:solidFill>
              </a:rPr>
              <a:t>Linker / Loader</a:t>
            </a:r>
          </a:p>
        </p:txBody>
      </p:sp>
      <p:sp>
        <p:nvSpPr>
          <p:cNvPr id="14" name="Rectangle 4">
            <a:extLst>
              <a:ext uri="{FF2B5EF4-FFF2-40B4-BE49-F238E27FC236}">
                <a16:creationId xmlns:a16="http://schemas.microsoft.com/office/drawing/2014/main" id="{9E4E955B-D211-B02F-324A-05B34464F57E}"/>
              </a:ext>
            </a:extLst>
          </p:cNvPr>
          <p:cNvSpPr>
            <a:spLocks noChangeArrowheads="1"/>
          </p:cNvSpPr>
          <p:nvPr/>
        </p:nvSpPr>
        <p:spPr bwMode="auto">
          <a:xfrm>
            <a:off x="8651507" y="1370258"/>
            <a:ext cx="2038079" cy="457200"/>
          </a:xfrm>
          <a:prstGeom prst="rect">
            <a:avLst/>
          </a:prstGeom>
          <a:solidFill>
            <a:srgbClr val="0E47A1"/>
          </a:solidFill>
          <a:ln w="9525">
            <a:solidFill>
              <a:schemeClr val="tx1"/>
            </a:solidFill>
            <a:miter lim="800000"/>
          </a:ln>
          <a:effectLst/>
        </p:spPr>
        <p:txBody>
          <a:bodyPr wrap="none" anchor="ctr"/>
          <a:lstStyle/>
          <a:p>
            <a:pPr algn="ctr"/>
            <a:r>
              <a:rPr lang="en-US" altLang="en-US">
                <a:solidFill>
                  <a:schemeClr val="bg1"/>
                </a:solidFill>
              </a:rPr>
              <a:t>Preprocessor</a:t>
            </a:r>
          </a:p>
        </p:txBody>
      </p:sp>
      <p:cxnSp>
        <p:nvCxnSpPr>
          <p:cNvPr id="15" name="Straight Arrow Connector 14">
            <a:extLst>
              <a:ext uri="{FF2B5EF4-FFF2-40B4-BE49-F238E27FC236}">
                <a16:creationId xmlns:a16="http://schemas.microsoft.com/office/drawing/2014/main" id="{086F74CA-BC2B-1373-DCC8-5F1BD1FAF864}"/>
              </a:ext>
            </a:extLst>
          </p:cNvPr>
          <p:cNvCxnSpPr>
            <a:endCxn id="14" idx="0"/>
          </p:cNvCxnSpPr>
          <p:nvPr/>
        </p:nvCxnSpPr>
        <p:spPr>
          <a:xfrm>
            <a:off x="9670546" y="1085881"/>
            <a:ext cx="1" cy="284377"/>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BD49D4D-6406-84AE-AB8A-773C29FC70E5}"/>
              </a:ext>
            </a:extLst>
          </p:cNvPr>
          <p:cNvCxnSpPr>
            <a:stCxn id="14" idx="2"/>
            <a:endCxn id="6" idx="0"/>
          </p:cNvCxnSpPr>
          <p:nvPr/>
        </p:nvCxnSpPr>
        <p:spPr>
          <a:xfrm>
            <a:off x="9670547" y="1827458"/>
            <a:ext cx="4218" cy="669028"/>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FA02C12-1B4F-5B01-174E-DC9ECA25898E}"/>
              </a:ext>
            </a:extLst>
          </p:cNvPr>
          <p:cNvCxnSpPr>
            <a:stCxn id="6" idx="2"/>
            <a:endCxn id="7" idx="0"/>
          </p:cNvCxnSpPr>
          <p:nvPr/>
        </p:nvCxnSpPr>
        <p:spPr>
          <a:xfrm>
            <a:off x="9674765" y="2953686"/>
            <a:ext cx="7227" cy="792096"/>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2C36AF5-329E-C5BE-1CDF-CA7FEF59E837}"/>
              </a:ext>
            </a:extLst>
          </p:cNvPr>
          <p:cNvCxnSpPr>
            <a:stCxn id="7" idx="2"/>
            <a:endCxn id="13" idx="0"/>
          </p:cNvCxnSpPr>
          <p:nvPr/>
        </p:nvCxnSpPr>
        <p:spPr>
          <a:xfrm>
            <a:off x="9681992" y="4202982"/>
            <a:ext cx="4080" cy="761711"/>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82726A6-1C46-7FBF-1F8B-47A6F27F801D}"/>
              </a:ext>
            </a:extLst>
          </p:cNvPr>
          <p:cNvCxnSpPr>
            <a:endCxn id="11" idx="0"/>
          </p:cNvCxnSpPr>
          <p:nvPr/>
        </p:nvCxnSpPr>
        <p:spPr>
          <a:xfrm flipH="1">
            <a:off x="9686072" y="5422501"/>
            <a:ext cx="0" cy="463891"/>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0B752E5-A987-9F54-753A-87EEEB476ECB}"/>
              </a:ext>
            </a:extLst>
          </p:cNvPr>
          <p:cNvCxnSpPr/>
          <p:nvPr/>
        </p:nvCxnSpPr>
        <p:spPr>
          <a:xfrm>
            <a:off x="384393" y="2383610"/>
            <a:ext cx="6080575"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3049658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22" presetClass="entr" presetSubtype="8" dur="50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ipe(left)">
                                      <p:cBhvr>
                                        <p:cTn id="13" dur="500"/>
                                        <p:tgtEl>
                                          <p:spTgt spid="20"/>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dur="1"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dur="1"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dur="1"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dur="1"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14BD8-F7CD-E2E7-3F53-310574DDB800}"/>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Context of compiler (Cousins of compiler)</a:t>
            </a:r>
          </a:p>
        </p:txBody>
      </p:sp>
      <p:sp>
        <p:nvSpPr>
          <p:cNvPr id="3" name="Content Placeholder 2">
            <a:extLst>
              <a:ext uri="{FF2B5EF4-FFF2-40B4-BE49-F238E27FC236}">
                <a16:creationId xmlns:a16="http://schemas.microsoft.com/office/drawing/2014/main" id="{A5B20EFB-8E13-0322-A74C-6E4EB840BDB2}"/>
              </a:ext>
            </a:extLst>
          </p:cNvPr>
          <p:cNvSpPr txBox="1">
            <a:spLocks/>
          </p:cNvSpPr>
          <p:nvPr/>
        </p:nvSpPr>
        <p:spPr>
          <a:xfrm>
            <a:off x="131180" y="863444"/>
            <a:ext cx="6788785"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00000"/>
              </a:lnSpc>
            </a:pPr>
            <a:endParaRPr lang="en-US">
              <a:solidFill>
                <a:srgbClr val="0E47A1"/>
              </a:solidFill>
            </a:endParaRPr>
          </a:p>
          <a:p>
            <a:pPr>
              <a:lnSpc>
                <a:spcPct val="100000"/>
              </a:lnSpc>
            </a:pPr>
            <a:endParaRPr lang="en-US" sz="2200"/>
          </a:p>
          <a:p>
            <a:pPr marL="457200" indent="-457200">
              <a:lnSpc>
                <a:spcPct val="100000"/>
              </a:lnSpc>
              <a:buFont typeface="+mj-lt"/>
              <a:buAutoNum type="arabicPeriod"/>
            </a:pPr>
            <a:endParaRPr lang="en-US"/>
          </a:p>
        </p:txBody>
      </p:sp>
      <p:cxnSp>
        <p:nvCxnSpPr>
          <p:cNvPr id="4" name="Straight Connector 3">
            <a:extLst>
              <a:ext uri="{FF2B5EF4-FFF2-40B4-BE49-F238E27FC236}">
                <a16:creationId xmlns:a16="http://schemas.microsoft.com/office/drawing/2014/main" id="{96676E4A-E46B-726A-4C4A-6831B0F41D79}"/>
              </a:ext>
            </a:extLst>
          </p:cNvPr>
          <p:cNvCxnSpPr/>
          <p:nvPr/>
        </p:nvCxnSpPr>
        <p:spPr>
          <a:xfrm flipH="1">
            <a:off x="7070579" y="863443"/>
            <a:ext cx="0" cy="566928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 Box 10">
            <a:extLst>
              <a:ext uri="{FF2B5EF4-FFF2-40B4-BE49-F238E27FC236}">
                <a16:creationId xmlns:a16="http://schemas.microsoft.com/office/drawing/2014/main" id="{EEDDFC74-0653-AF93-0EF4-1E0544F5914C}"/>
              </a:ext>
            </a:extLst>
          </p:cNvPr>
          <p:cNvSpPr txBox="1">
            <a:spLocks noChangeArrowheads="1"/>
          </p:cNvSpPr>
          <p:nvPr/>
        </p:nvSpPr>
        <p:spPr bwMode="auto">
          <a:xfrm>
            <a:off x="7940843" y="716549"/>
            <a:ext cx="35372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Skeletal Source Program</a:t>
            </a:r>
          </a:p>
        </p:txBody>
      </p:sp>
      <p:sp>
        <p:nvSpPr>
          <p:cNvPr id="6" name="Rectangle 7">
            <a:extLst>
              <a:ext uri="{FF2B5EF4-FFF2-40B4-BE49-F238E27FC236}">
                <a16:creationId xmlns:a16="http://schemas.microsoft.com/office/drawing/2014/main" id="{9829BD8D-2F91-D74E-53D6-E052EBBDD776}"/>
              </a:ext>
            </a:extLst>
          </p:cNvPr>
          <p:cNvSpPr>
            <a:spLocks noChangeArrowheads="1"/>
          </p:cNvSpPr>
          <p:nvPr/>
        </p:nvSpPr>
        <p:spPr bwMode="auto">
          <a:xfrm>
            <a:off x="8655209" y="2496486"/>
            <a:ext cx="2039112" cy="457200"/>
          </a:xfrm>
          <a:prstGeom prst="rect">
            <a:avLst/>
          </a:prstGeom>
          <a:solidFill>
            <a:srgbClr val="0E47A1"/>
          </a:solidFill>
          <a:ln w="9525">
            <a:solidFill>
              <a:schemeClr val="tx1"/>
            </a:solidFill>
            <a:miter lim="800000"/>
          </a:ln>
          <a:effectLst/>
        </p:spPr>
        <p:txBody>
          <a:bodyPr wrap="none" anchor="ctr"/>
          <a:lstStyle/>
          <a:p>
            <a:pPr algn="ctr"/>
            <a:r>
              <a:rPr lang="en-US" altLang="en-US">
                <a:solidFill>
                  <a:schemeClr val="bg1"/>
                </a:solidFill>
              </a:rPr>
              <a:t>Compiler</a:t>
            </a:r>
          </a:p>
        </p:txBody>
      </p:sp>
      <p:sp>
        <p:nvSpPr>
          <p:cNvPr id="7" name="Rectangle 8">
            <a:extLst>
              <a:ext uri="{FF2B5EF4-FFF2-40B4-BE49-F238E27FC236}">
                <a16:creationId xmlns:a16="http://schemas.microsoft.com/office/drawing/2014/main" id="{C7B5CA26-4F09-869F-5779-FAD9E9718479}"/>
              </a:ext>
            </a:extLst>
          </p:cNvPr>
          <p:cNvSpPr>
            <a:spLocks noChangeArrowheads="1"/>
          </p:cNvSpPr>
          <p:nvPr/>
        </p:nvSpPr>
        <p:spPr bwMode="auto">
          <a:xfrm>
            <a:off x="8662436" y="3745782"/>
            <a:ext cx="2039112" cy="457200"/>
          </a:xfrm>
          <a:prstGeom prst="rect">
            <a:avLst/>
          </a:prstGeom>
          <a:solidFill>
            <a:srgbClr val="0E47A1"/>
          </a:solidFill>
          <a:ln w="9525">
            <a:solidFill>
              <a:schemeClr val="tx1"/>
            </a:solidFill>
            <a:miter lim="800000"/>
          </a:ln>
          <a:effectLst/>
        </p:spPr>
        <p:txBody>
          <a:bodyPr wrap="none" anchor="ctr"/>
          <a:lstStyle/>
          <a:p>
            <a:pPr algn="ctr"/>
            <a:r>
              <a:rPr lang="en-US" altLang="en-US">
                <a:solidFill>
                  <a:schemeClr val="bg1"/>
                </a:solidFill>
              </a:rPr>
              <a:t>Assembler</a:t>
            </a:r>
          </a:p>
        </p:txBody>
      </p:sp>
      <p:sp>
        <p:nvSpPr>
          <p:cNvPr id="8" name="Text Box 11">
            <a:extLst>
              <a:ext uri="{FF2B5EF4-FFF2-40B4-BE49-F238E27FC236}">
                <a16:creationId xmlns:a16="http://schemas.microsoft.com/office/drawing/2014/main" id="{FC1502CF-DAB5-774F-16AB-4B645FE67B8A}"/>
              </a:ext>
            </a:extLst>
          </p:cNvPr>
          <p:cNvSpPr txBox="1">
            <a:spLocks noChangeArrowheads="1"/>
          </p:cNvSpPr>
          <p:nvPr/>
        </p:nvSpPr>
        <p:spPr bwMode="auto">
          <a:xfrm>
            <a:off x="9800557" y="1998236"/>
            <a:ext cx="16480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Source Program</a:t>
            </a:r>
          </a:p>
        </p:txBody>
      </p:sp>
      <p:sp>
        <p:nvSpPr>
          <p:cNvPr id="9" name="Text Box 12">
            <a:extLst>
              <a:ext uri="{FF2B5EF4-FFF2-40B4-BE49-F238E27FC236}">
                <a16:creationId xmlns:a16="http://schemas.microsoft.com/office/drawing/2014/main" id="{F8B2A102-83C7-CE81-62E2-52B62F0F9390}"/>
              </a:ext>
            </a:extLst>
          </p:cNvPr>
          <p:cNvSpPr txBox="1">
            <a:spLocks noChangeArrowheads="1"/>
          </p:cNvSpPr>
          <p:nvPr/>
        </p:nvSpPr>
        <p:spPr bwMode="auto">
          <a:xfrm>
            <a:off x="9726602" y="3063364"/>
            <a:ext cx="179598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Target Assembly </a:t>
            </a:r>
          </a:p>
          <a:p>
            <a:pPr algn="ctr"/>
            <a:r>
              <a:rPr lang="en-US" altLang="en-US"/>
              <a:t>Program</a:t>
            </a:r>
          </a:p>
        </p:txBody>
      </p:sp>
      <p:sp>
        <p:nvSpPr>
          <p:cNvPr id="10" name="Text Box 13">
            <a:extLst>
              <a:ext uri="{FF2B5EF4-FFF2-40B4-BE49-F238E27FC236}">
                <a16:creationId xmlns:a16="http://schemas.microsoft.com/office/drawing/2014/main" id="{7B6E6CF8-AFBF-7B4E-81CF-6F5B79C80C65}"/>
              </a:ext>
            </a:extLst>
          </p:cNvPr>
          <p:cNvSpPr txBox="1">
            <a:spLocks noChangeArrowheads="1"/>
          </p:cNvSpPr>
          <p:nvPr/>
        </p:nvSpPr>
        <p:spPr bwMode="auto">
          <a:xfrm>
            <a:off x="9726601" y="4256076"/>
            <a:ext cx="203226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err="1"/>
              <a:t>Relocatable Object </a:t>
            </a:r>
            <a:r>
              <a:rPr lang="en-US" altLang="en-US"/>
              <a:t>Code</a:t>
            </a:r>
          </a:p>
        </p:txBody>
      </p:sp>
      <p:sp>
        <p:nvSpPr>
          <p:cNvPr id="11" name="Text Box 14">
            <a:extLst>
              <a:ext uri="{FF2B5EF4-FFF2-40B4-BE49-F238E27FC236}">
                <a16:creationId xmlns:a16="http://schemas.microsoft.com/office/drawing/2014/main" id="{C6A3CF59-1D75-81B5-65CA-ECAD51DAE4A0}"/>
              </a:ext>
            </a:extLst>
          </p:cNvPr>
          <p:cNvSpPr txBox="1">
            <a:spLocks noChangeArrowheads="1"/>
          </p:cNvSpPr>
          <p:nvPr/>
        </p:nvSpPr>
        <p:spPr bwMode="auto">
          <a:xfrm>
            <a:off x="8440952" y="5886392"/>
            <a:ext cx="249024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Absolute Machine </a:t>
            </a:r>
          </a:p>
          <a:p>
            <a:pPr algn="ctr"/>
            <a:r>
              <a:rPr lang="en-US" altLang="en-US"/>
              <a:t>Code</a:t>
            </a:r>
          </a:p>
        </p:txBody>
      </p:sp>
      <p:sp>
        <p:nvSpPr>
          <p:cNvPr id="12" name="Text Box 15">
            <a:extLst>
              <a:ext uri="{FF2B5EF4-FFF2-40B4-BE49-F238E27FC236}">
                <a16:creationId xmlns:a16="http://schemas.microsoft.com/office/drawing/2014/main" id="{1D3B9F38-255C-D1A5-4CFE-B030FC6E0FFA}"/>
              </a:ext>
            </a:extLst>
          </p:cNvPr>
          <p:cNvSpPr txBox="1">
            <a:spLocks noChangeArrowheads="1"/>
          </p:cNvSpPr>
          <p:nvPr/>
        </p:nvSpPr>
        <p:spPr bwMode="auto">
          <a:xfrm>
            <a:off x="7144556" y="4902407"/>
            <a:ext cx="137134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Libraries &amp; </a:t>
            </a:r>
          </a:p>
          <a:p>
            <a:pPr algn="ctr"/>
            <a:r>
              <a:rPr lang="en-US" altLang="en-US"/>
              <a:t>Object Files</a:t>
            </a:r>
          </a:p>
        </p:txBody>
      </p:sp>
      <p:sp>
        <p:nvSpPr>
          <p:cNvPr id="13" name="Rectangle 9">
            <a:extLst>
              <a:ext uri="{FF2B5EF4-FFF2-40B4-BE49-F238E27FC236}">
                <a16:creationId xmlns:a16="http://schemas.microsoft.com/office/drawing/2014/main" id="{4750F76A-25EB-C8E5-8BB6-2A52DEA13228}"/>
              </a:ext>
            </a:extLst>
          </p:cNvPr>
          <p:cNvSpPr>
            <a:spLocks noChangeArrowheads="1"/>
          </p:cNvSpPr>
          <p:nvPr/>
        </p:nvSpPr>
        <p:spPr bwMode="auto">
          <a:xfrm>
            <a:off x="8666516" y="4964693"/>
            <a:ext cx="2039112" cy="457200"/>
          </a:xfrm>
          <a:prstGeom prst="rect">
            <a:avLst/>
          </a:prstGeom>
          <a:solidFill>
            <a:srgbClr val="0E47A1"/>
          </a:solidFill>
          <a:ln w="9525">
            <a:solidFill>
              <a:schemeClr val="tx1"/>
            </a:solidFill>
            <a:miter lim="800000"/>
          </a:ln>
          <a:effectLst/>
        </p:spPr>
        <p:txBody>
          <a:bodyPr wrap="none" anchor="ctr"/>
          <a:lstStyle/>
          <a:p>
            <a:pPr algn="ctr"/>
            <a:r>
              <a:rPr lang="en-US" altLang="en-US">
                <a:solidFill>
                  <a:schemeClr val="bg1"/>
                </a:solidFill>
              </a:rPr>
              <a:t>Linker / Loader</a:t>
            </a:r>
          </a:p>
        </p:txBody>
      </p:sp>
      <p:sp>
        <p:nvSpPr>
          <p:cNvPr id="14" name="Rectangle 4">
            <a:extLst>
              <a:ext uri="{FF2B5EF4-FFF2-40B4-BE49-F238E27FC236}">
                <a16:creationId xmlns:a16="http://schemas.microsoft.com/office/drawing/2014/main" id="{CE86591E-2406-61D5-6BBD-03C095D79CDB}"/>
              </a:ext>
            </a:extLst>
          </p:cNvPr>
          <p:cNvSpPr>
            <a:spLocks noChangeArrowheads="1"/>
          </p:cNvSpPr>
          <p:nvPr/>
        </p:nvSpPr>
        <p:spPr bwMode="auto">
          <a:xfrm>
            <a:off x="8651507" y="1370258"/>
            <a:ext cx="2038079" cy="457200"/>
          </a:xfrm>
          <a:prstGeom prst="rect">
            <a:avLst/>
          </a:prstGeom>
          <a:solidFill>
            <a:srgbClr val="03A9F5"/>
          </a:solidFill>
          <a:ln w="9525">
            <a:solidFill>
              <a:schemeClr val="tx1"/>
            </a:solidFill>
            <a:miter lim="800000"/>
          </a:ln>
          <a:effectLst/>
        </p:spPr>
        <p:txBody>
          <a:bodyPr wrap="none" anchor="ctr"/>
          <a:lstStyle/>
          <a:p>
            <a:pPr algn="ctr"/>
            <a:r>
              <a:rPr lang="en-US" altLang="en-US">
                <a:solidFill>
                  <a:schemeClr val="bg1"/>
                </a:solidFill>
              </a:rPr>
              <a:t>Preprocessor</a:t>
            </a:r>
          </a:p>
        </p:txBody>
      </p:sp>
      <p:cxnSp>
        <p:nvCxnSpPr>
          <p:cNvPr id="15" name="Straight Arrow Connector 14">
            <a:extLst>
              <a:ext uri="{FF2B5EF4-FFF2-40B4-BE49-F238E27FC236}">
                <a16:creationId xmlns:a16="http://schemas.microsoft.com/office/drawing/2014/main" id="{C970F3BD-D18D-5638-54EC-DFAA96413F55}"/>
              </a:ext>
            </a:extLst>
          </p:cNvPr>
          <p:cNvCxnSpPr>
            <a:endCxn id="14" idx="0"/>
          </p:cNvCxnSpPr>
          <p:nvPr/>
        </p:nvCxnSpPr>
        <p:spPr>
          <a:xfrm>
            <a:off x="9670546" y="1085881"/>
            <a:ext cx="1" cy="284377"/>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5572E4E-EDF3-FF96-96F7-D7EBD372432C}"/>
              </a:ext>
            </a:extLst>
          </p:cNvPr>
          <p:cNvCxnSpPr>
            <a:stCxn id="14" idx="2"/>
            <a:endCxn id="6" idx="0"/>
          </p:cNvCxnSpPr>
          <p:nvPr/>
        </p:nvCxnSpPr>
        <p:spPr>
          <a:xfrm>
            <a:off x="9670547" y="1827458"/>
            <a:ext cx="4218" cy="669028"/>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1372778-80B7-7271-6D2F-E8F9D4790EF5}"/>
              </a:ext>
            </a:extLst>
          </p:cNvPr>
          <p:cNvCxnSpPr>
            <a:stCxn id="6" idx="2"/>
            <a:endCxn id="7" idx="0"/>
          </p:cNvCxnSpPr>
          <p:nvPr/>
        </p:nvCxnSpPr>
        <p:spPr>
          <a:xfrm>
            <a:off x="9674765" y="2953686"/>
            <a:ext cx="7227" cy="792096"/>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F466F9D-93B2-C51C-4422-5410C633E31A}"/>
              </a:ext>
            </a:extLst>
          </p:cNvPr>
          <p:cNvCxnSpPr>
            <a:stCxn id="7" idx="2"/>
            <a:endCxn id="13" idx="0"/>
          </p:cNvCxnSpPr>
          <p:nvPr/>
        </p:nvCxnSpPr>
        <p:spPr>
          <a:xfrm>
            <a:off x="9681992" y="4202982"/>
            <a:ext cx="4080" cy="761711"/>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CF2B7BC-23C0-6B33-9435-C322CB906970}"/>
              </a:ext>
            </a:extLst>
          </p:cNvPr>
          <p:cNvCxnSpPr>
            <a:endCxn id="11" idx="0"/>
          </p:cNvCxnSpPr>
          <p:nvPr/>
        </p:nvCxnSpPr>
        <p:spPr>
          <a:xfrm flipH="1">
            <a:off x="9686072" y="5422501"/>
            <a:ext cx="0" cy="463891"/>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B5D7CCE-6B72-3D90-73DA-59F3B8AA0931}"/>
              </a:ext>
            </a:extLst>
          </p:cNvPr>
          <p:cNvCxnSpPr/>
          <p:nvPr/>
        </p:nvCxnSpPr>
        <p:spPr>
          <a:xfrm>
            <a:off x="240014" y="1355574"/>
            <a:ext cx="658368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21" name="Rectangle 20">
            <a:extLst>
              <a:ext uri="{FF2B5EF4-FFF2-40B4-BE49-F238E27FC236}">
                <a16:creationId xmlns:a16="http://schemas.microsoft.com/office/drawing/2014/main" id="{C100EB33-7F72-05C3-ABA2-C0F31C413BF7}"/>
              </a:ext>
            </a:extLst>
          </p:cNvPr>
          <p:cNvSpPr/>
          <p:nvPr/>
        </p:nvSpPr>
        <p:spPr>
          <a:xfrm>
            <a:off x="215951" y="908593"/>
            <a:ext cx="1901607"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a:t>Preprocessor</a:t>
            </a:r>
            <a:endParaRPr lang="en-US" sz="2400" b="1">
              <a:solidFill>
                <a:schemeClr val="bg1"/>
              </a:solidFill>
            </a:endParaRPr>
          </a:p>
        </p:txBody>
      </p:sp>
      <p:sp>
        <p:nvSpPr>
          <p:cNvPr id="22" name="Content Placeholder 2">
            <a:extLst>
              <a:ext uri="{FF2B5EF4-FFF2-40B4-BE49-F238E27FC236}">
                <a16:creationId xmlns:a16="http://schemas.microsoft.com/office/drawing/2014/main" id="{64157517-4E7D-7EC0-C7ED-93D3C6A6D429}"/>
              </a:ext>
            </a:extLst>
          </p:cNvPr>
          <p:cNvSpPr txBox="1"/>
          <p:nvPr/>
        </p:nvSpPr>
        <p:spPr>
          <a:xfrm>
            <a:off x="131180" y="1482398"/>
            <a:ext cx="6788785" cy="505032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US" b="1"/>
              <a:t>Some of the task performed by preprocessor:</a:t>
            </a:r>
          </a:p>
          <a:p>
            <a:pPr marL="457200" indent="-457200">
              <a:spcBef>
                <a:spcPts val="600"/>
              </a:spcBef>
              <a:buFont typeface="+mj-lt"/>
              <a:buAutoNum type="arabicPeriod"/>
            </a:pPr>
            <a:r>
              <a:rPr lang="en-US" sz="2200" b="1">
                <a:solidFill>
                  <a:srgbClr val="0E47A1"/>
                </a:solidFill>
              </a:rPr>
              <a:t>Macro processing</a:t>
            </a:r>
            <a:r>
              <a:rPr lang="en-US" sz="2200">
                <a:solidFill>
                  <a:srgbClr val="0E47A1"/>
                </a:solidFill>
              </a:rPr>
              <a:t>: </a:t>
            </a:r>
            <a:r>
              <a:rPr lang="en-US" sz="2200"/>
              <a:t>Allows user to define macros. Ex: </a:t>
            </a:r>
            <a:r>
              <a:rPr lang="en-US" sz="2200">
                <a:solidFill>
                  <a:srgbClr val="C00000"/>
                </a:solidFill>
              </a:rPr>
              <a:t>#define PI 3.14159265358979323846</a:t>
            </a:r>
          </a:p>
          <a:p>
            <a:pPr marL="457200" indent="-457200">
              <a:spcBef>
                <a:spcPts val="600"/>
              </a:spcBef>
              <a:buFont typeface="+mj-lt"/>
              <a:buAutoNum type="arabicPeriod"/>
            </a:pPr>
            <a:r>
              <a:rPr lang="en-US" sz="2200" b="1">
                <a:solidFill>
                  <a:srgbClr val="0E47A1"/>
                </a:solidFill>
              </a:rPr>
              <a:t>File inclusion</a:t>
            </a:r>
            <a:r>
              <a:rPr lang="en-US" sz="2200">
                <a:solidFill>
                  <a:srgbClr val="0E47A1"/>
                </a:solidFill>
              </a:rPr>
              <a:t>: </a:t>
            </a:r>
            <a:r>
              <a:rPr lang="en-US" sz="2200"/>
              <a:t>A preprocessor may include the header file</a:t>
            </a:r>
            <a:r>
              <a:rPr lang="en-US" sz="2200">
                <a:solidFill>
                  <a:srgbClr val="C00000"/>
                </a:solidFill>
              </a:rPr>
              <a:t> </a:t>
            </a:r>
            <a:r>
              <a:rPr lang="en-US" sz="2200"/>
              <a:t>into the program. Ex: </a:t>
            </a:r>
            <a:r>
              <a:rPr lang="en-US" sz="2200">
                <a:solidFill>
                  <a:srgbClr val="C00000"/>
                </a:solidFill>
              </a:rPr>
              <a:t>#include&lt;stdio.h&gt;</a:t>
            </a:r>
          </a:p>
          <a:p>
            <a:pPr marL="457200" indent="-457200">
              <a:spcBef>
                <a:spcPts val="600"/>
              </a:spcBef>
              <a:buFont typeface="+mj-lt"/>
              <a:buAutoNum type="arabicPeriod"/>
            </a:pPr>
            <a:r>
              <a:rPr lang="en-US" sz="2200" b="1">
                <a:solidFill>
                  <a:srgbClr val="0E47A1"/>
                </a:solidFill>
              </a:rPr>
              <a:t>Rational preprocessor</a:t>
            </a:r>
            <a:r>
              <a:rPr lang="en-US" sz="2200">
                <a:solidFill>
                  <a:srgbClr val="0E47A1"/>
                </a:solidFill>
              </a:rPr>
              <a:t>:</a:t>
            </a:r>
            <a:r>
              <a:rPr lang="en-US" sz="2200"/>
              <a:t> It provides built in macro for construct like </a:t>
            </a:r>
            <a:r>
              <a:rPr lang="en-US" sz="2200">
                <a:solidFill>
                  <a:srgbClr val="C00000"/>
                </a:solidFill>
              </a:rPr>
              <a:t>while</a:t>
            </a:r>
            <a:r>
              <a:rPr lang="en-US" sz="2200">
                <a:solidFill>
                  <a:srgbClr val="FF0000"/>
                </a:solidFill>
              </a:rPr>
              <a:t> </a:t>
            </a:r>
            <a:r>
              <a:rPr lang="en-US" sz="2200"/>
              <a:t>statement or </a:t>
            </a:r>
            <a:r>
              <a:rPr lang="en-US" sz="2200">
                <a:solidFill>
                  <a:srgbClr val="C00000"/>
                </a:solidFill>
              </a:rPr>
              <a:t>if</a:t>
            </a:r>
            <a:r>
              <a:rPr lang="en-US" sz="2200"/>
              <a:t> statement.</a:t>
            </a:r>
          </a:p>
          <a:p>
            <a:pPr marL="457200" indent="-457200">
              <a:buFont typeface="+mj-lt"/>
              <a:buAutoNum type="arabicPeriod"/>
            </a:pPr>
            <a:r>
              <a:rPr lang="en-US" sz="2200" b="1">
                <a:solidFill>
                  <a:srgbClr val="0E47A1"/>
                </a:solidFill>
              </a:rPr>
              <a:t>Language extensions</a:t>
            </a:r>
            <a:r>
              <a:rPr lang="en-US" sz="2200">
                <a:solidFill>
                  <a:srgbClr val="0E47A1"/>
                </a:solidFill>
              </a:rPr>
              <a:t>: </a:t>
            </a:r>
            <a:r>
              <a:rPr lang="en-US" sz="2200"/>
              <a:t>Add capabilities to the language by using built-in macros. </a:t>
            </a:r>
          </a:p>
          <a:p>
            <a:pPr marL="808038" indent="-342900"/>
            <a:r>
              <a:rPr lang="en-US" sz="2200"/>
              <a:t>Ex: the language equal is a database query language embedded in C. Statement beginning with ## are taken by preprocessor to be database access statement unrelated to C and translated into procedure call on routines that perform the database access.</a:t>
            </a:r>
          </a:p>
          <a:p>
            <a:pPr>
              <a:lnSpc>
                <a:spcPct val="100000"/>
              </a:lnSpc>
            </a:pPr>
            <a:endParaRPr lang="en-US" sz="2000"/>
          </a:p>
          <a:p>
            <a:pPr marL="457200" indent="-457200">
              <a:lnSpc>
                <a:spcPct val="100000"/>
              </a:lnSpc>
              <a:buFont typeface="+mj-lt"/>
              <a:buAutoNum type="arabicPeriod"/>
            </a:pPr>
            <a:endParaRPr lang="en-US" sz="2000"/>
          </a:p>
        </p:txBody>
      </p:sp>
    </p:spTree>
    <p:extLst>
      <p:ext uri="{BB962C8B-B14F-4D97-AF65-F5344CB8AC3E}">
        <p14:creationId xmlns:p14="http://schemas.microsoft.com/office/powerpoint/2010/main" val="4144203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dur="1" fill="hold" nodeType="clickEffect">
                                  <p:stCondLst>
                                    <p:cond delay="0"/>
                                  </p:stCondLst>
                                  <p:childTnLst>
                                    <p:set>
                                      <p:cBhvr>
                                        <p:cTn id="14"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dur="1" fill="hold" nodeType="clickEffect">
                                  <p:stCondLst>
                                    <p:cond delay="0"/>
                                  </p:stCondLst>
                                  <p:childTnLst>
                                    <p:set>
                                      <p:cBhvr>
                                        <p:cTn id="18" dur="1" fill="hold">
                                          <p:stCondLst>
                                            <p:cond delay="0"/>
                                          </p:stCondLst>
                                        </p:cTn>
                                        <p:tgtEl>
                                          <p:spTgt spid="2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dur="1" fill="hold" nodeType="clickEffect">
                                  <p:stCondLst>
                                    <p:cond delay="0"/>
                                  </p:stCondLst>
                                  <p:childTnLst>
                                    <p:set>
                                      <p:cBhvr>
                                        <p:cTn id="22" dur="1" fill="hold">
                                          <p:stCondLst>
                                            <p:cond delay="0"/>
                                          </p:stCondLst>
                                        </p:cTn>
                                        <p:tgtEl>
                                          <p:spTgt spid="2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dur="1" fill="hold" nodeType="clickEffect">
                                  <p:stCondLst>
                                    <p:cond delay="0"/>
                                  </p:stCondLst>
                                  <p:childTnLst>
                                    <p:set>
                                      <p:cBhvr>
                                        <p:cTn id="26" dur="1" fill="hold">
                                          <p:stCondLst>
                                            <p:cond delay="0"/>
                                          </p:stCondLst>
                                        </p:cTn>
                                        <p:tgtEl>
                                          <p:spTgt spid="2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E48E3-1125-70F6-A944-18403B2BE8F0}"/>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Context of compiler (Cousins of compiler)</a:t>
            </a:r>
          </a:p>
        </p:txBody>
      </p:sp>
      <p:sp>
        <p:nvSpPr>
          <p:cNvPr id="3" name="Content Placeholder 2">
            <a:extLst>
              <a:ext uri="{FF2B5EF4-FFF2-40B4-BE49-F238E27FC236}">
                <a16:creationId xmlns:a16="http://schemas.microsoft.com/office/drawing/2014/main" id="{6EC99BC4-9978-3ED6-5FE6-F7E9E3788D41}"/>
              </a:ext>
            </a:extLst>
          </p:cNvPr>
          <p:cNvSpPr txBox="1">
            <a:spLocks/>
          </p:cNvSpPr>
          <p:nvPr/>
        </p:nvSpPr>
        <p:spPr>
          <a:xfrm>
            <a:off x="131180" y="863444"/>
            <a:ext cx="6788785"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00000"/>
              </a:lnSpc>
            </a:pPr>
            <a:endParaRPr lang="en-US">
              <a:solidFill>
                <a:srgbClr val="0E47A1"/>
              </a:solidFill>
            </a:endParaRPr>
          </a:p>
          <a:p>
            <a:pPr>
              <a:lnSpc>
                <a:spcPct val="100000"/>
              </a:lnSpc>
            </a:pPr>
            <a:endParaRPr lang="en-US" sz="2200"/>
          </a:p>
          <a:p>
            <a:pPr marL="457200" indent="-457200">
              <a:lnSpc>
                <a:spcPct val="100000"/>
              </a:lnSpc>
              <a:buFont typeface="+mj-lt"/>
              <a:buAutoNum type="arabicPeriod"/>
            </a:pPr>
            <a:endParaRPr lang="en-US"/>
          </a:p>
        </p:txBody>
      </p:sp>
      <p:cxnSp>
        <p:nvCxnSpPr>
          <p:cNvPr id="4" name="Straight Connector 3">
            <a:extLst>
              <a:ext uri="{FF2B5EF4-FFF2-40B4-BE49-F238E27FC236}">
                <a16:creationId xmlns:a16="http://schemas.microsoft.com/office/drawing/2014/main" id="{6C8E4248-8B91-2A39-F6B6-D6AFA9A7A188}"/>
              </a:ext>
            </a:extLst>
          </p:cNvPr>
          <p:cNvCxnSpPr/>
          <p:nvPr/>
        </p:nvCxnSpPr>
        <p:spPr>
          <a:xfrm flipH="1">
            <a:off x="7070579" y="863443"/>
            <a:ext cx="0" cy="566928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 Box 10">
            <a:extLst>
              <a:ext uri="{FF2B5EF4-FFF2-40B4-BE49-F238E27FC236}">
                <a16:creationId xmlns:a16="http://schemas.microsoft.com/office/drawing/2014/main" id="{B37974F4-5E23-F108-C887-6F832F7B4FC0}"/>
              </a:ext>
            </a:extLst>
          </p:cNvPr>
          <p:cNvSpPr txBox="1">
            <a:spLocks noChangeArrowheads="1"/>
          </p:cNvSpPr>
          <p:nvPr/>
        </p:nvSpPr>
        <p:spPr bwMode="auto">
          <a:xfrm>
            <a:off x="7940843" y="716549"/>
            <a:ext cx="35372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Skeletal Source Program</a:t>
            </a:r>
          </a:p>
        </p:txBody>
      </p:sp>
      <p:sp>
        <p:nvSpPr>
          <p:cNvPr id="6" name="Rectangle 7">
            <a:extLst>
              <a:ext uri="{FF2B5EF4-FFF2-40B4-BE49-F238E27FC236}">
                <a16:creationId xmlns:a16="http://schemas.microsoft.com/office/drawing/2014/main" id="{2D40CEF2-8115-E6F5-AF54-74B974C45D63}"/>
              </a:ext>
            </a:extLst>
          </p:cNvPr>
          <p:cNvSpPr>
            <a:spLocks noChangeArrowheads="1"/>
          </p:cNvSpPr>
          <p:nvPr/>
        </p:nvSpPr>
        <p:spPr bwMode="auto">
          <a:xfrm>
            <a:off x="8655209" y="2496486"/>
            <a:ext cx="2039112" cy="457200"/>
          </a:xfrm>
          <a:prstGeom prst="rect">
            <a:avLst/>
          </a:prstGeom>
          <a:solidFill>
            <a:srgbClr val="03A9F5"/>
          </a:solidFill>
          <a:ln w="9525">
            <a:solidFill>
              <a:schemeClr val="tx1"/>
            </a:solidFill>
            <a:miter lim="800000"/>
          </a:ln>
          <a:effectLst/>
        </p:spPr>
        <p:txBody>
          <a:bodyPr wrap="none" anchor="ctr"/>
          <a:lstStyle/>
          <a:p>
            <a:pPr algn="ctr"/>
            <a:r>
              <a:rPr lang="en-US" altLang="en-US">
                <a:solidFill>
                  <a:schemeClr val="bg1"/>
                </a:solidFill>
              </a:rPr>
              <a:t>Compiler</a:t>
            </a:r>
          </a:p>
        </p:txBody>
      </p:sp>
      <p:sp>
        <p:nvSpPr>
          <p:cNvPr id="7" name="Rectangle 8">
            <a:extLst>
              <a:ext uri="{FF2B5EF4-FFF2-40B4-BE49-F238E27FC236}">
                <a16:creationId xmlns:a16="http://schemas.microsoft.com/office/drawing/2014/main" id="{D938FC98-094C-A9BF-6EAD-6B7DDFCEDAD5}"/>
              </a:ext>
            </a:extLst>
          </p:cNvPr>
          <p:cNvSpPr>
            <a:spLocks noChangeArrowheads="1"/>
          </p:cNvSpPr>
          <p:nvPr/>
        </p:nvSpPr>
        <p:spPr bwMode="auto">
          <a:xfrm>
            <a:off x="8662436" y="3745782"/>
            <a:ext cx="2039112" cy="457200"/>
          </a:xfrm>
          <a:prstGeom prst="rect">
            <a:avLst/>
          </a:prstGeom>
          <a:solidFill>
            <a:srgbClr val="0E47A1"/>
          </a:solidFill>
          <a:ln w="9525">
            <a:solidFill>
              <a:schemeClr val="tx1"/>
            </a:solidFill>
            <a:miter lim="800000"/>
          </a:ln>
          <a:effectLst/>
        </p:spPr>
        <p:txBody>
          <a:bodyPr wrap="none" anchor="ctr"/>
          <a:lstStyle/>
          <a:p>
            <a:pPr algn="ctr"/>
            <a:r>
              <a:rPr lang="en-US" altLang="en-US">
                <a:solidFill>
                  <a:schemeClr val="bg1"/>
                </a:solidFill>
              </a:rPr>
              <a:t>Assembler</a:t>
            </a:r>
          </a:p>
        </p:txBody>
      </p:sp>
      <p:sp>
        <p:nvSpPr>
          <p:cNvPr id="8" name="Text Box 11">
            <a:extLst>
              <a:ext uri="{FF2B5EF4-FFF2-40B4-BE49-F238E27FC236}">
                <a16:creationId xmlns:a16="http://schemas.microsoft.com/office/drawing/2014/main" id="{F0712698-3DA7-4A78-84D3-131C23D562A0}"/>
              </a:ext>
            </a:extLst>
          </p:cNvPr>
          <p:cNvSpPr txBox="1">
            <a:spLocks noChangeArrowheads="1"/>
          </p:cNvSpPr>
          <p:nvPr/>
        </p:nvSpPr>
        <p:spPr bwMode="auto">
          <a:xfrm>
            <a:off x="9800557" y="1827458"/>
            <a:ext cx="16480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dirty="0"/>
              <a:t>Source Program</a:t>
            </a:r>
          </a:p>
        </p:txBody>
      </p:sp>
      <p:sp>
        <p:nvSpPr>
          <p:cNvPr id="9" name="Text Box 12">
            <a:extLst>
              <a:ext uri="{FF2B5EF4-FFF2-40B4-BE49-F238E27FC236}">
                <a16:creationId xmlns:a16="http://schemas.microsoft.com/office/drawing/2014/main" id="{0BB8B018-A2AA-55E7-6D57-65997AF43681}"/>
              </a:ext>
            </a:extLst>
          </p:cNvPr>
          <p:cNvSpPr txBox="1">
            <a:spLocks noChangeArrowheads="1"/>
          </p:cNvSpPr>
          <p:nvPr/>
        </p:nvSpPr>
        <p:spPr bwMode="auto">
          <a:xfrm>
            <a:off x="9726602" y="3063364"/>
            <a:ext cx="179598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Target Assembly </a:t>
            </a:r>
          </a:p>
          <a:p>
            <a:pPr algn="ctr"/>
            <a:r>
              <a:rPr lang="en-US" altLang="en-US"/>
              <a:t>Program</a:t>
            </a:r>
          </a:p>
        </p:txBody>
      </p:sp>
      <p:sp>
        <p:nvSpPr>
          <p:cNvPr id="10" name="Text Box 13">
            <a:extLst>
              <a:ext uri="{FF2B5EF4-FFF2-40B4-BE49-F238E27FC236}">
                <a16:creationId xmlns:a16="http://schemas.microsoft.com/office/drawing/2014/main" id="{6162B87B-72EA-1236-FF72-2AC21242C26C}"/>
              </a:ext>
            </a:extLst>
          </p:cNvPr>
          <p:cNvSpPr txBox="1">
            <a:spLocks noChangeArrowheads="1"/>
          </p:cNvSpPr>
          <p:nvPr/>
        </p:nvSpPr>
        <p:spPr bwMode="auto">
          <a:xfrm>
            <a:off x="9726601" y="4256076"/>
            <a:ext cx="203226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err="1"/>
              <a:t>Relocatable Object </a:t>
            </a:r>
            <a:r>
              <a:rPr lang="en-US" altLang="en-US"/>
              <a:t>Code</a:t>
            </a:r>
          </a:p>
        </p:txBody>
      </p:sp>
      <p:sp>
        <p:nvSpPr>
          <p:cNvPr id="11" name="Text Box 14">
            <a:extLst>
              <a:ext uri="{FF2B5EF4-FFF2-40B4-BE49-F238E27FC236}">
                <a16:creationId xmlns:a16="http://schemas.microsoft.com/office/drawing/2014/main" id="{9DA1D0F6-F8B1-C81E-81A2-E761F9E45A0D}"/>
              </a:ext>
            </a:extLst>
          </p:cNvPr>
          <p:cNvSpPr txBox="1">
            <a:spLocks noChangeArrowheads="1"/>
          </p:cNvSpPr>
          <p:nvPr/>
        </p:nvSpPr>
        <p:spPr bwMode="auto">
          <a:xfrm>
            <a:off x="8440952" y="5886392"/>
            <a:ext cx="249024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Absolute Machine </a:t>
            </a:r>
          </a:p>
          <a:p>
            <a:pPr algn="ctr"/>
            <a:r>
              <a:rPr lang="en-US" altLang="en-US"/>
              <a:t>Code</a:t>
            </a:r>
          </a:p>
        </p:txBody>
      </p:sp>
      <p:sp>
        <p:nvSpPr>
          <p:cNvPr id="12" name="Text Box 15">
            <a:extLst>
              <a:ext uri="{FF2B5EF4-FFF2-40B4-BE49-F238E27FC236}">
                <a16:creationId xmlns:a16="http://schemas.microsoft.com/office/drawing/2014/main" id="{0CF44053-0A2F-8854-5732-F02D0F4D1565}"/>
              </a:ext>
            </a:extLst>
          </p:cNvPr>
          <p:cNvSpPr txBox="1">
            <a:spLocks noChangeArrowheads="1"/>
          </p:cNvSpPr>
          <p:nvPr/>
        </p:nvSpPr>
        <p:spPr bwMode="auto">
          <a:xfrm>
            <a:off x="7144556" y="4902407"/>
            <a:ext cx="137134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Libraries &amp; </a:t>
            </a:r>
          </a:p>
          <a:p>
            <a:pPr algn="ctr"/>
            <a:r>
              <a:rPr lang="en-US" altLang="en-US"/>
              <a:t>Object Files</a:t>
            </a:r>
          </a:p>
        </p:txBody>
      </p:sp>
      <p:sp>
        <p:nvSpPr>
          <p:cNvPr id="13" name="Rectangle 9">
            <a:extLst>
              <a:ext uri="{FF2B5EF4-FFF2-40B4-BE49-F238E27FC236}">
                <a16:creationId xmlns:a16="http://schemas.microsoft.com/office/drawing/2014/main" id="{EA77D797-2299-41B8-7B69-A998A6A02D96}"/>
              </a:ext>
            </a:extLst>
          </p:cNvPr>
          <p:cNvSpPr>
            <a:spLocks noChangeArrowheads="1"/>
          </p:cNvSpPr>
          <p:nvPr/>
        </p:nvSpPr>
        <p:spPr bwMode="auto">
          <a:xfrm>
            <a:off x="8666516" y="4964693"/>
            <a:ext cx="2039112" cy="457200"/>
          </a:xfrm>
          <a:prstGeom prst="rect">
            <a:avLst/>
          </a:prstGeom>
          <a:solidFill>
            <a:srgbClr val="0E47A1"/>
          </a:solidFill>
          <a:ln w="9525">
            <a:solidFill>
              <a:schemeClr val="tx1"/>
            </a:solidFill>
            <a:miter lim="800000"/>
          </a:ln>
          <a:effectLst/>
        </p:spPr>
        <p:txBody>
          <a:bodyPr wrap="none" anchor="ctr"/>
          <a:lstStyle/>
          <a:p>
            <a:pPr algn="ctr"/>
            <a:r>
              <a:rPr lang="en-US" altLang="en-US">
                <a:solidFill>
                  <a:schemeClr val="bg1"/>
                </a:solidFill>
              </a:rPr>
              <a:t>Linker / Loader</a:t>
            </a:r>
          </a:p>
        </p:txBody>
      </p:sp>
      <p:sp>
        <p:nvSpPr>
          <p:cNvPr id="14" name="Rectangle 4">
            <a:extLst>
              <a:ext uri="{FF2B5EF4-FFF2-40B4-BE49-F238E27FC236}">
                <a16:creationId xmlns:a16="http://schemas.microsoft.com/office/drawing/2014/main" id="{B000BC31-687E-9672-16E5-C45154146169}"/>
              </a:ext>
            </a:extLst>
          </p:cNvPr>
          <p:cNvSpPr>
            <a:spLocks noChangeArrowheads="1"/>
          </p:cNvSpPr>
          <p:nvPr/>
        </p:nvSpPr>
        <p:spPr bwMode="auto">
          <a:xfrm>
            <a:off x="8651507" y="1370258"/>
            <a:ext cx="2038079" cy="457200"/>
          </a:xfrm>
          <a:prstGeom prst="rect">
            <a:avLst/>
          </a:prstGeom>
          <a:solidFill>
            <a:srgbClr val="0E47A1"/>
          </a:solidFill>
          <a:ln w="9525">
            <a:solidFill>
              <a:schemeClr val="tx1"/>
            </a:solidFill>
            <a:miter lim="800000"/>
          </a:ln>
          <a:effectLst/>
        </p:spPr>
        <p:txBody>
          <a:bodyPr wrap="none" anchor="ctr"/>
          <a:lstStyle/>
          <a:p>
            <a:pPr algn="ctr"/>
            <a:r>
              <a:rPr lang="en-US" altLang="en-US">
                <a:solidFill>
                  <a:schemeClr val="bg1"/>
                </a:solidFill>
              </a:rPr>
              <a:t>Preprocessor</a:t>
            </a:r>
          </a:p>
        </p:txBody>
      </p:sp>
      <p:cxnSp>
        <p:nvCxnSpPr>
          <p:cNvPr id="15" name="Straight Arrow Connector 14">
            <a:extLst>
              <a:ext uri="{FF2B5EF4-FFF2-40B4-BE49-F238E27FC236}">
                <a16:creationId xmlns:a16="http://schemas.microsoft.com/office/drawing/2014/main" id="{6AD2C1B1-F3D3-3E58-1F71-DB74068C2E0D}"/>
              </a:ext>
            </a:extLst>
          </p:cNvPr>
          <p:cNvCxnSpPr>
            <a:endCxn id="14" idx="0"/>
          </p:cNvCxnSpPr>
          <p:nvPr/>
        </p:nvCxnSpPr>
        <p:spPr>
          <a:xfrm>
            <a:off x="9670546" y="1085881"/>
            <a:ext cx="1" cy="284377"/>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E42C43B-70BC-976B-1A74-682A73D4AEBA}"/>
              </a:ext>
            </a:extLst>
          </p:cNvPr>
          <p:cNvCxnSpPr>
            <a:stCxn id="14" idx="2"/>
            <a:endCxn id="6" idx="0"/>
          </p:cNvCxnSpPr>
          <p:nvPr/>
        </p:nvCxnSpPr>
        <p:spPr>
          <a:xfrm>
            <a:off x="9670547" y="1827458"/>
            <a:ext cx="4218" cy="669028"/>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F8EF0E5-88D7-A894-38C3-2673CA17CB99}"/>
              </a:ext>
            </a:extLst>
          </p:cNvPr>
          <p:cNvCxnSpPr>
            <a:stCxn id="6" idx="2"/>
            <a:endCxn id="7" idx="0"/>
          </p:cNvCxnSpPr>
          <p:nvPr/>
        </p:nvCxnSpPr>
        <p:spPr>
          <a:xfrm>
            <a:off x="9674765" y="2953686"/>
            <a:ext cx="7227" cy="792096"/>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2C9E4BC-D6AF-B4DC-AE9A-04144D2A26BB}"/>
              </a:ext>
            </a:extLst>
          </p:cNvPr>
          <p:cNvCxnSpPr>
            <a:stCxn id="7" idx="2"/>
            <a:endCxn id="13" idx="0"/>
          </p:cNvCxnSpPr>
          <p:nvPr/>
        </p:nvCxnSpPr>
        <p:spPr>
          <a:xfrm>
            <a:off x="9681992" y="4202982"/>
            <a:ext cx="4080" cy="761711"/>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58D9925-67B3-EC47-F98B-01A051C7480A}"/>
              </a:ext>
            </a:extLst>
          </p:cNvPr>
          <p:cNvCxnSpPr>
            <a:endCxn id="11" idx="0"/>
          </p:cNvCxnSpPr>
          <p:nvPr/>
        </p:nvCxnSpPr>
        <p:spPr>
          <a:xfrm flipH="1">
            <a:off x="9686072" y="5422501"/>
            <a:ext cx="0" cy="463891"/>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338DF0C-7DD5-2A96-6294-4F5337F30631}"/>
              </a:ext>
            </a:extLst>
          </p:cNvPr>
          <p:cNvCxnSpPr/>
          <p:nvPr/>
        </p:nvCxnSpPr>
        <p:spPr>
          <a:xfrm>
            <a:off x="240014" y="1371616"/>
            <a:ext cx="658368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21" name="Rectangle 20">
            <a:extLst>
              <a:ext uri="{FF2B5EF4-FFF2-40B4-BE49-F238E27FC236}">
                <a16:creationId xmlns:a16="http://schemas.microsoft.com/office/drawing/2014/main" id="{3AB7E201-EF5D-A9F0-F495-291968201BEF}"/>
              </a:ext>
            </a:extLst>
          </p:cNvPr>
          <p:cNvSpPr/>
          <p:nvPr/>
        </p:nvSpPr>
        <p:spPr>
          <a:xfrm>
            <a:off x="215951" y="908593"/>
            <a:ext cx="1901607"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a:t>Compiler</a:t>
            </a:r>
            <a:endParaRPr lang="en-US" sz="2400" b="1">
              <a:solidFill>
                <a:schemeClr val="bg1"/>
              </a:solidFill>
            </a:endParaRPr>
          </a:p>
        </p:txBody>
      </p:sp>
      <p:sp>
        <p:nvSpPr>
          <p:cNvPr id="22" name="Content Placeholder 2">
            <a:extLst>
              <a:ext uri="{FF2B5EF4-FFF2-40B4-BE49-F238E27FC236}">
                <a16:creationId xmlns:a16="http://schemas.microsoft.com/office/drawing/2014/main" id="{CFC894E9-1071-E6C0-4668-6E97839C6526}"/>
              </a:ext>
            </a:extLst>
          </p:cNvPr>
          <p:cNvSpPr txBox="1"/>
          <p:nvPr/>
        </p:nvSpPr>
        <p:spPr>
          <a:xfrm>
            <a:off x="131180" y="1482398"/>
            <a:ext cx="6788785" cy="505032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dirty="0"/>
              <a:t>A compiler is a program that reads a program written in source language and translates it into an equivalent program in target language.</a:t>
            </a:r>
          </a:p>
          <a:p>
            <a:pPr>
              <a:lnSpc>
                <a:spcPct val="100000"/>
              </a:lnSpc>
            </a:pPr>
            <a:endParaRPr lang="en-US" dirty="0"/>
          </a:p>
          <a:p>
            <a:pPr lvl="1">
              <a:lnSpc>
                <a:spcPct val="100000"/>
              </a:lnSpc>
            </a:pPr>
            <a:endParaRPr lang="en-US" sz="2400" dirty="0">
              <a:solidFill>
                <a:srgbClr val="0E47A1"/>
              </a:solidFill>
            </a:endParaRPr>
          </a:p>
          <a:p>
            <a:pPr>
              <a:lnSpc>
                <a:spcPct val="100000"/>
              </a:lnSpc>
            </a:pPr>
            <a:endParaRPr lang="en-US" sz="2200" dirty="0"/>
          </a:p>
          <a:p>
            <a:pPr marL="457200" indent="-457200">
              <a:lnSpc>
                <a:spcPct val="100000"/>
              </a:lnSpc>
              <a:buFont typeface="+mj-lt"/>
              <a:buAutoNum type="arabicPeriod"/>
            </a:pPr>
            <a:endParaRPr lang="en-US" dirty="0"/>
          </a:p>
        </p:txBody>
      </p:sp>
    </p:spTree>
    <p:extLst>
      <p:ext uri="{BB962C8B-B14F-4D97-AF65-F5344CB8AC3E}">
        <p14:creationId xmlns:p14="http://schemas.microsoft.com/office/powerpoint/2010/main" val="39082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D2226-1E51-8600-ADBA-4E4BD662C7EF}"/>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Context of compiler (Cousins of compiler)</a:t>
            </a:r>
          </a:p>
        </p:txBody>
      </p:sp>
      <p:sp>
        <p:nvSpPr>
          <p:cNvPr id="3" name="Content Placeholder 2">
            <a:extLst>
              <a:ext uri="{FF2B5EF4-FFF2-40B4-BE49-F238E27FC236}">
                <a16:creationId xmlns:a16="http://schemas.microsoft.com/office/drawing/2014/main" id="{D3BDCF56-6ABF-621B-3D3B-E8AA1ADCD019}"/>
              </a:ext>
            </a:extLst>
          </p:cNvPr>
          <p:cNvSpPr txBox="1">
            <a:spLocks/>
          </p:cNvSpPr>
          <p:nvPr/>
        </p:nvSpPr>
        <p:spPr>
          <a:xfrm>
            <a:off x="131180" y="863444"/>
            <a:ext cx="6788785"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00000"/>
              </a:lnSpc>
            </a:pPr>
            <a:endParaRPr lang="en-US">
              <a:solidFill>
                <a:srgbClr val="0E47A1"/>
              </a:solidFill>
            </a:endParaRPr>
          </a:p>
          <a:p>
            <a:pPr>
              <a:lnSpc>
                <a:spcPct val="100000"/>
              </a:lnSpc>
            </a:pPr>
            <a:endParaRPr lang="en-US" sz="2200"/>
          </a:p>
          <a:p>
            <a:pPr marL="457200" indent="-457200">
              <a:lnSpc>
                <a:spcPct val="100000"/>
              </a:lnSpc>
              <a:buFont typeface="+mj-lt"/>
              <a:buAutoNum type="arabicPeriod"/>
            </a:pPr>
            <a:endParaRPr lang="en-US"/>
          </a:p>
        </p:txBody>
      </p:sp>
      <p:cxnSp>
        <p:nvCxnSpPr>
          <p:cNvPr id="4" name="Straight Connector 3">
            <a:extLst>
              <a:ext uri="{FF2B5EF4-FFF2-40B4-BE49-F238E27FC236}">
                <a16:creationId xmlns:a16="http://schemas.microsoft.com/office/drawing/2014/main" id="{29C9FC25-9EF7-0C0B-0F80-C95037DDBCDF}"/>
              </a:ext>
            </a:extLst>
          </p:cNvPr>
          <p:cNvCxnSpPr/>
          <p:nvPr/>
        </p:nvCxnSpPr>
        <p:spPr>
          <a:xfrm flipH="1">
            <a:off x="7070579" y="863443"/>
            <a:ext cx="0" cy="566928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 Box 10">
            <a:extLst>
              <a:ext uri="{FF2B5EF4-FFF2-40B4-BE49-F238E27FC236}">
                <a16:creationId xmlns:a16="http://schemas.microsoft.com/office/drawing/2014/main" id="{55EC50E0-31BD-40C7-D4BD-3F557E6E1EF3}"/>
              </a:ext>
            </a:extLst>
          </p:cNvPr>
          <p:cNvSpPr txBox="1">
            <a:spLocks noChangeArrowheads="1"/>
          </p:cNvSpPr>
          <p:nvPr/>
        </p:nvSpPr>
        <p:spPr bwMode="auto">
          <a:xfrm>
            <a:off x="7940843" y="716549"/>
            <a:ext cx="35372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Skeletal Source Program</a:t>
            </a:r>
          </a:p>
        </p:txBody>
      </p:sp>
      <p:sp>
        <p:nvSpPr>
          <p:cNvPr id="6" name="Rectangle 7">
            <a:extLst>
              <a:ext uri="{FF2B5EF4-FFF2-40B4-BE49-F238E27FC236}">
                <a16:creationId xmlns:a16="http://schemas.microsoft.com/office/drawing/2014/main" id="{368BFA7F-1950-1668-4A2C-3CB3A4668F46}"/>
              </a:ext>
            </a:extLst>
          </p:cNvPr>
          <p:cNvSpPr>
            <a:spLocks noChangeArrowheads="1"/>
          </p:cNvSpPr>
          <p:nvPr/>
        </p:nvSpPr>
        <p:spPr bwMode="auto">
          <a:xfrm>
            <a:off x="8655209" y="2496486"/>
            <a:ext cx="2039112" cy="457200"/>
          </a:xfrm>
          <a:prstGeom prst="rect">
            <a:avLst/>
          </a:prstGeom>
          <a:solidFill>
            <a:srgbClr val="0E47A1"/>
          </a:solidFill>
          <a:ln w="9525">
            <a:solidFill>
              <a:schemeClr val="tx1"/>
            </a:solidFill>
            <a:miter lim="800000"/>
          </a:ln>
          <a:effectLst/>
        </p:spPr>
        <p:txBody>
          <a:bodyPr wrap="none" anchor="ctr"/>
          <a:lstStyle/>
          <a:p>
            <a:pPr algn="ctr"/>
            <a:r>
              <a:rPr lang="en-US" altLang="en-US">
                <a:solidFill>
                  <a:schemeClr val="bg1"/>
                </a:solidFill>
              </a:rPr>
              <a:t>Compiler</a:t>
            </a:r>
          </a:p>
        </p:txBody>
      </p:sp>
      <p:sp>
        <p:nvSpPr>
          <p:cNvPr id="7" name="Rectangle 8">
            <a:extLst>
              <a:ext uri="{FF2B5EF4-FFF2-40B4-BE49-F238E27FC236}">
                <a16:creationId xmlns:a16="http://schemas.microsoft.com/office/drawing/2014/main" id="{7337F128-0982-ABFE-748A-4ED14BB36B85}"/>
              </a:ext>
            </a:extLst>
          </p:cNvPr>
          <p:cNvSpPr>
            <a:spLocks noChangeArrowheads="1"/>
          </p:cNvSpPr>
          <p:nvPr/>
        </p:nvSpPr>
        <p:spPr bwMode="auto">
          <a:xfrm>
            <a:off x="8662436" y="3745782"/>
            <a:ext cx="2039112" cy="457200"/>
          </a:xfrm>
          <a:prstGeom prst="rect">
            <a:avLst/>
          </a:prstGeom>
          <a:solidFill>
            <a:srgbClr val="03A9F5"/>
          </a:solidFill>
          <a:ln w="9525">
            <a:solidFill>
              <a:schemeClr val="tx1"/>
            </a:solidFill>
            <a:miter lim="800000"/>
          </a:ln>
          <a:effectLst/>
        </p:spPr>
        <p:txBody>
          <a:bodyPr wrap="none" anchor="ctr"/>
          <a:lstStyle/>
          <a:p>
            <a:pPr algn="ctr"/>
            <a:r>
              <a:rPr lang="en-US" altLang="en-US">
                <a:solidFill>
                  <a:schemeClr val="bg1"/>
                </a:solidFill>
              </a:rPr>
              <a:t>Assembler</a:t>
            </a:r>
          </a:p>
        </p:txBody>
      </p:sp>
      <p:sp>
        <p:nvSpPr>
          <p:cNvPr id="8" name="Text Box 11">
            <a:extLst>
              <a:ext uri="{FF2B5EF4-FFF2-40B4-BE49-F238E27FC236}">
                <a16:creationId xmlns:a16="http://schemas.microsoft.com/office/drawing/2014/main" id="{0515CC97-2F16-8828-73F4-D1195B1FF105}"/>
              </a:ext>
            </a:extLst>
          </p:cNvPr>
          <p:cNvSpPr txBox="1">
            <a:spLocks noChangeArrowheads="1"/>
          </p:cNvSpPr>
          <p:nvPr/>
        </p:nvSpPr>
        <p:spPr bwMode="auto">
          <a:xfrm>
            <a:off x="9800557" y="1819828"/>
            <a:ext cx="16480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dirty="0"/>
              <a:t>Source Program</a:t>
            </a:r>
          </a:p>
        </p:txBody>
      </p:sp>
      <p:sp>
        <p:nvSpPr>
          <p:cNvPr id="9" name="Text Box 12">
            <a:extLst>
              <a:ext uri="{FF2B5EF4-FFF2-40B4-BE49-F238E27FC236}">
                <a16:creationId xmlns:a16="http://schemas.microsoft.com/office/drawing/2014/main" id="{30A64E66-5502-2C5C-73DC-A0FE14EA7D10}"/>
              </a:ext>
            </a:extLst>
          </p:cNvPr>
          <p:cNvSpPr txBox="1">
            <a:spLocks noChangeArrowheads="1"/>
          </p:cNvSpPr>
          <p:nvPr/>
        </p:nvSpPr>
        <p:spPr bwMode="auto">
          <a:xfrm>
            <a:off x="9726602" y="3063364"/>
            <a:ext cx="179598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Target Assembly </a:t>
            </a:r>
          </a:p>
          <a:p>
            <a:pPr algn="ctr"/>
            <a:r>
              <a:rPr lang="en-US" altLang="en-US"/>
              <a:t>Program</a:t>
            </a:r>
          </a:p>
        </p:txBody>
      </p:sp>
      <p:sp>
        <p:nvSpPr>
          <p:cNvPr id="10" name="Text Box 13">
            <a:extLst>
              <a:ext uri="{FF2B5EF4-FFF2-40B4-BE49-F238E27FC236}">
                <a16:creationId xmlns:a16="http://schemas.microsoft.com/office/drawing/2014/main" id="{3E528366-B607-9F69-3C4C-145380BC20A9}"/>
              </a:ext>
            </a:extLst>
          </p:cNvPr>
          <p:cNvSpPr txBox="1">
            <a:spLocks noChangeArrowheads="1"/>
          </p:cNvSpPr>
          <p:nvPr/>
        </p:nvSpPr>
        <p:spPr bwMode="auto">
          <a:xfrm>
            <a:off x="9726601" y="4256076"/>
            <a:ext cx="203226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err="1"/>
              <a:t>Relocatable Object </a:t>
            </a:r>
            <a:r>
              <a:rPr lang="en-US" altLang="en-US"/>
              <a:t>Code</a:t>
            </a:r>
          </a:p>
        </p:txBody>
      </p:sp>
      <p:sp>
        <p:nvSpPr>
          <p:cNvPr id="11" name="Text Box 14">
            <a:extLst>
              <a:ext uri="{FF2B5EF4-FFF2-40B4-BE49-F238E27FC236}">
                <a16:creationId xmlns:a16="http://schemas.microsoft.com/office/drawing/2014/main" id="{1AF056BB-AC4F-AADF-9BC7-07972F3E0302}"/>
              </a:ext>
            </a:extLst>
          </p:cNvPr>
          <p:cNvSpPr txBox="1">
            <a:spLocks noChangeArrowheads="1"/>
          </p:cNvSpPr>
          <p:nvPr/>
        </p:nvSpPr>
        <p:spPr bwMode="auto">
          <a:xfrm>
            <a:off x="8440952" y="5886392"/>
            <a:ext cx="249024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Absolute Machine </a:t>
            </a:r>
          </a:p>
          <a:p>
            <a:pPr algn="ctr"/>
            <a:r>
              <a:rPr lang="en-US" altLang="en-US"/>
              <a:t>Code</a:t>
            </a:r>
          </a:p>
        </p:txBody>
      </p:sp>
      <p:sp>
        <p:nvSpPr>
          <p:cNvPr id="12" name="Text Box 15">
            <a:extLst>
              <a:ext uri="{FF2B5EF4-FFF2-40B4-BE49-F238E27FC236}">
                <a16:creationId xmlns:a16="http://schemas.microsoft.com/office/drawing/2014/main" id="{797516F3-B122-EC94-09A3-48ED795C5A22}"/>
              </a:ext>
            </a:extLst>
          </p:cNvPr>
          <p:cNvSpPr txBox="1">
            <a:spLocks noChangeArrowheads="1"/>
          </p:cNvSpPr>
          <p:nvPr/>
        </p:nvSpPr>
        <p:spPr bwMode="auto">
          <a:xfrm>
            <a:off x="7144556" y="4902407"/>
            <a:ext cx="137134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Libraries &amp; </a:t>
            </a:r>
          </a:p>
          <a:p>
            <a:pPr algn="ctr"/>
            <a:r>
              <a:rPr lang="en-US" altLang="en-US"/>
              <a:t>Object Files</a:t>
            </a:r>
          </a:p>
        </p:txBody>
      </p:sp>
      <p:sp>
        <p:nvSpPr>
          <p:cNvPr id="13" name="Rectangle 9">
            <a:extLst>
              <a:ext uri="{FF2B5EF4-FFF2-40B4-BE49-F238E27FC236}">
                <a16:creationId xmlns:a16="http://schemas.microsoft.com/office/drawing/2014/main" id="{6B9B5D30-55AD-0EFC-C926-C87C77B115DB}"/>
              </a:ext>
            </a:extLst>
          </p:cNvPr>
          <p:cNvSpPr>
            <a:spLocks noChangeArrowheads="1"/>
          </p:cNvSpPr>
          <p:nvPr/>
        </p:nvSpPr>
        <p:spPr bwMode="auto">
          <a:xfrm>
            <a:off x="8666516" y="4964693"/>
            <a:ext cx="2039112" cy="457200"/>
          </a:xfrm>
          <a:prstGeom prst="rect">
            <a:avLst/>
          </a:prstGeom>
          <a:solidFill>
            <a:srgbClr val="0E47A1"/>
          </a:solidFill>
          <a:ln w="9525">
            <a:solidFill>
              <a:schemeClr val="tx1"/>
            </a:solidFill>
            <a:miter lim="800000"/>
          </a:ln>
          <a:effectLst/>
        </p:spPr>
        <p:txBody>
          <a:bodyPr wrap="none" anchor="ctr"/>
          <a:lstStyle/>
          <a:p>
            <a:pPr algn="ctr"/>
            <a:r>
              <a:rPr lang="en-US" altLang="en-US">
                <a:solidFill>
                  <a:schemeClr val="bg1"/>
                </a:solidFill>
              </a:rPr>
              <a:t>Linker / Loader</a:t>
            </a:r>
          </a:p>
        </p:txBody>
      </p:sp>
      <p:sp>
        <p:nvSpPr>
          <p:cNvPr id="14" name="Rectangle 4">
            <a:extLst>
              <a:ext uri="{FF2B5EF4-FFF2-40B4-BE49-F238E27FC236}">
                <a16:creationId xmlns:a16="http://schemas.microsoft.com/office/drawing/2014/main" id="{EE96E985-4974-72A1-4FC4-96D405F0D852}"/>
              </a:ext>
            </a:extLst>
          </p:cNvPr>
          <p:cNvSpPr>
            <a:spLocks noChangeArrowheads="1"/>
          </p:cNvSpPr>
          <p:nvPr/>
        </p:nvSpPr>
        <p:spPr bwMode="auto">
          <a:xfrm>
            <a:off x="8651507" y="1370258"/>
            <a:ext cx="2038079" cy="457200"/>
          </a:xfrm>
          <a:prstGeom prst="rect">
            <a:avLst/>
          </a:prstGeom>
          <a:solidFill>
            <a:srgbClr val="0E47A1"/>
          </a:solidFill>
          <a:ln w="9525">
            <a:solidFill>
              <a:schemeClr val="tx1"/>
            </a:solidFill>
            <a:miter lim="800000"/>
          </a:ln>
          <a:effectLst/>
        </p:spPr>
        <p:txBody>
          <a:bodyPr wrap="none" anchor="ctr"/>
          <a:lstStyle/>
          <a:p>
            <a:pPr algn="ctr"/>
            <a:r>
              <a:rPr lang="en-US" altLang="en-US">
                <a:solidFill>
                  <a:schemeClr val="bg1"/>
                </a:solidFill>
              </a:rPr>
              <a:t>Preprocessor</a:t>
            </a:r>
          </a:p>
        </p:txBody>
      </p:sp>
      <p:cxnSp>
        <p:nvCxnSpPr>
          <p:cNvPr id="15" name="Straight Arrow Connector 14">
            <a:extLst>
              <a:ext uri="{FF2B5EF4-FFF2-40B4-BE49-F238E27FC236}">
                <a16:creationId xmlns:a16="http://schemas.microsoft.com/office/drawing/2014/main" id="{75FB18B0-839E-81D7-F659-70904B132716}"/>
              </a:ext>
            </a:extLst>
          </p:cNvPr>
          <p:cNvCxnSpPr>
            <a:endCxn id="14" idx="0"/>
          </p:cNvCxnSpPr>
          <p:nvPr/>
        </p:nvCxnSpPr>
        <p:spPr>
          <a:xfrm>
            <a:off x="9670546" y="1085881"/>
            <a:ext cx="1" cy="284377"/>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368C5D2-1202-A059-FA2D-CDF3AE6205D4}"/>
              </a:ext>
            </a:extLst>
          </p:cNvPr>
          <p:cNvCxnSpPr>
            <a:stCxn id="14" idx="2"/>
            <a:endCxn id="6" idx="0"/>
          </p:cNvCxnSpPr>
          <p:nvPr/>
        </p:nvCxnSpPr>
        <p:spPr>
          <a:xfrm>
            <a:off x="9670547" y="1827458"/>
            <a:ext cx="4218" cy="669028"/>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0314A1B-AE0E-BAF9-9216-56041EB4D892}"/>
              </a:ext>
            </a:extLst>
          </p:cNvPr>
          <p:cNvCxnSpPr>
            <a:stCxn id="6" idx="2"/>
            <a:endCxn id="7" idx="0"/>
          </p:cNvCxnSpPr>
          <p:nvPr/>
        </p:nvCxnSpPr>
        <p:spPr>
          <a:xfrm>
            <a:off x="9674765" y="2953686"/>
            <a:ext cx="7227" cy="792096"/>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5D67738-2F32-B36F-8BA3-A91396CB1EF0}"/>
              </a:ext>
            </a:extLst>
          </p:cNvPr>
          <p:cNvCxnSpPr>
            <a:stCxn id="7" idx="2"/>
            <a:endCxn id="13" idx="0"/>
          </p:cNvCxnSpPr>
          <p:nvPr/>
        </p:nvCxnSpPr>
        <p:spPr>
          <a:xfrm>
            <a:off x="9681992" y="4202982"/>
            <a:ext cx="4080" cy="761711"/>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A4CE16B-E0AB-AF8B-E340-81C2412CBEEC}"/>
              </a:ext>
            </a:extLst>
          </p:cNvPr>
          <p:cNvCxnSpPr>
            <a:endCxn id="11" idx="0"/>
          </p:cNvCxnSpPr>
          <p:nvPr/>
        </p:nvCxnSpPr>
        <p:spPr>
          <a:xfrm flipH="1">
            <a:off x="9686072" y="5422501"/>
            <a:ext cx="0" cy="463891"/>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E0776A6-280C-8662-696D-76DAC526BFCF}"/>
              </a:ext>
            </a:extLst>
          </p:cNvPr>
          <p:cNvCxnSpPr/>
          <p:nvPr/>
        </p:nvCxnSpPr>
        <p:spPr>
          <a:xfrm>
            <a:off x="240014" y="1371616"/>
            <a:ext cx="658368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21" name="Rectangle 20">
            <a:extLst>
              <a:ext uri="{FF2B5EF4-FFF2-40B4-BE49-F238E27FC236}">
                <a16:creationId xmlns:a16="http://schemas.microsoft.com/office/drawing/2014/main" id="{35895213-5915-1C64-024F-F41E88F8B0EC}"/>
              </a:ext>
            </a:extLst>
          </p:cNvPr>
          <p:cNvSpPr/>
          <p:nvPr/>
        </p:nvSpPr>
        <p:spPr>
          <a:xfrm>
            <a:off x="215951" y="908593"/>
            <a:ext cx="1901607"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a:t>Assembler</a:t>
            </a:r>
            <a:endParaRPr lang="en-US" sz="2400" b="1">
              <a:solidFill>
                <a:schemeClr val="bg1"/>
              </a:solidFill>
            </a:endParaRPr>
          </a:p>
        </p:txBody>
      </p:sp>
      <p:sp>
        <p:nvSpPr>
          <p:cNvPr id="22" name="Content Placeholder 2">
            <a:extLst>
              <a:ext uri="{FF2B5EF4-FFF2-40B4-BE49-F238E27FC236}">
                <a16:creationId xmlns:a16="http://schemas.microsoft.com/office/drawing/2014/main" id="{B4B39679-9CC9-04AE-7AED-5FC81B5A5C92}"/>
              </a:ext>
            </a:extLst>
          </p:cNvPr>
          <p:cNvSpPr txBox="1"/>
          <p:nvPr/>
        </p:nvSpPr>
        <p:spPr>
          <a:xfrm>
            <a:off x="131180" y="1482398"/>
            <a:ext cx="6788785" cy="505032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t>Assembler is a translator which takes the assembly program (mnemonic) as an input and</a:t>
            </a:r>
            <a:r>
              <a:rPr lang="en-US" b="1"/>
              <a:t> </a:t>
            </a:r>
            <a:r>
              <a:rPr lang="en-US"/>
              <a:t>generates the machine code as an output. </a:t>
            </a:r>
          </a:p>
          <a:p>
            <a:pPr marL="0" indent="0">
              <a:lnSpc>
                <a:spcPct val="100000"/>
              </a:lnSpc>
              <a:buNone/>
            </a:pPr>
            <a:endParaRPr lang="en-US" sz="2200"/>
          </a:p>
          <a:p>
            <a:pPr marL="457200" indent="-457200">
              <a:lnSpc>
                <a:spcPct val="100000"/>
              </a:lnSpc>
              <a:buFont typeface="+mj-lt"/>
              <a:buAutoNum type="arabicPeriod"/>
            </a:pPr>
            <a:endParaRPr lang="en-US"/>
          </a:p>
        </p:txBody>
      </p:sp>
    </p:spTree>
    <p:extLst>
      <p:ext uri="{BB962C8B-B14F-4D97-AF65-F5344CB8AC3E}">
        <p14:creationId xmlns:p14="http://schemas.microsoft.com/office/powerpoint/2010/main" val="2801651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E2756-C7B2-4EDC-1ED1-2DFE96314B72}"/>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Context of compiler (Cousins of compiler)</a:t>
            </a:r>
          </a:p>
        </p:txBody>
      </p:sp>
      <p:sp>
        <p:nvSpPr>
          <p:cNvPr id="3" name="Content Placeholder 2">
            <a:extLst>
              <a:ext uri="{FF2B5EF4-FFF2-40B4-BE49-F238E27FC236}">
                <a16:creationId xmlns:a16="http://schemas.microsoft.com/office/drawing/2014/main" id="{57C59E8A-DFE1-1DA6-75B3-85A3FB25223B}"/>
              </a:ext>
            </a:extLst>
          </p:cNvPr>
          <p:cNvSpPr txBox="1">
            <a:spLocks/>
          </p:cNvSpPr>
          <p:nvPr/>
        </p:nvSpPr>
        <p:spPr>
          <a:xfrm>
            <a:off x="131180" y="863444"/>
            <a:ext cx="6788785"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00000"/>
              </a:lnSpc>
            </a:pPr>
            <a:endParaRPr lang="en-US">
              <a:solidFill>
                <a:srgbClr val="0E47A1"/>
              </a:solidFill>
            </a:endParaRPr>
          </a:p>
          <a:p>
            <a:pPr>
              <a:lnSpc>
                <a:spcPct val="100000"/>
              </a:lnSpc>
            </a:pPr>
            <a:endParaRPr lang="en-US" sz="2200"/>
          </a:p>
          <a:p>
            <a:pPr marL="457200" indent="-457200">
              <a:lnSpc>
                <a:spcPct val="100000"/>
              </a:lnSpc>
              <a:buFont typeface="+mj-lt"/>
              <a:buAutoNum type="arabicPeriod"/>
            </a:pPr>
            <a:endParaRPr lang="en-US"/>
          </a:p>
        </p:txBody>
      </p:sp>
      <p:cxnSp>
        <p:nvCxnSpPr>
          <p:cNvPr id="4" name="Straight Connector 3">
            <a:extLst>
              <a:ext uri="{FF2B5EF4-FFF2-40B4-BE49-F238E27FC236}">
                <a16:creationId xmlns:a16="http://schemas.microsoft.com/office/drawing/2014/main" id="{B9CDA920-B4D7-7624-A605-2A7EB7AB3019}"/>
              </a:ext>
            </a:extLst>
          </p:cNvPr>
          <p:cNvCxnSpPr/>
          <p:nvPr/>
        </p:nvCxnSpPr>
        <p:spPr>
          <a:xfrm flipH="1">
            <a:off x="7070579" y="863443"/>
            <a:ext cx="0" cy="566928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 Box 10">
            <a:extLst>
              <a:ext uri="{FF2B5EF4-FFF2-40B4-BE49-F238E27FC236}">
                <a16:creationId xmlns:a16="http://schemas.microsoft.com/office/drawing/2014/main" id="{5564BB35-28A9-096E-D510-54C908D886FB}"/>
              </a:ext>
            </a:extLst>
          </p:cNvPr>
          <p:cNvSpPr txBox="1">
            <a:spLocks noChangeArrowheads="1"/>
          </p:cNvSpPr>
          <p:nvPr/>
        </p:nvSpPr>
        <p:spPr bwMode="auto">
          <a:xfrm>
            <a:off x="7940843" y="716549"/>
            <a:ext cx="35372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Skeletal Source Program</a:t>
            </a:r>
          </a:p>
        </p:txBody>
      </p:sp>
      <p:sp>
        <p:nvSpPr>
          <p:cNvPr id="6" name="Rectangle 7">
            <a:extLst>
              <a:ext uri="{FF2B5EF4-FFF2-40B4-BE49-F238E27FC236}">
                <a16:creationId xmlns:a16="http://schemas.microsoft.com/office/drawing/2014/main" id="{8625B17E-B668-FA6A-1CB4-4419D6EF5A11}"/>
              </a:ext>
            </a:extLst>
          </p:cNvPr>
          <p:cNvSpPr>
            <a:spLocks noChangeArrowheads="1"/>
          </p:cNvSpPr>
          <p:nvPr/>
        </p:nvSpPr>
        <p:spPr bwMode="auto">
          <a:xfrm>
            <a:off x="8655209" y="2496486"/>
            <a:ext cx="2039112" cy="457200"/>
          </a:xfrm>
          <a:prstGeom prst="rect">
            <a:avLst/>
          </a:prstGeom>
          <a:solidFill>
            <a:srgbClr val="0E47A1"/>
          </a:solidFill>
          <a:ln w="9525">
            <a:solidFill>
              <a:schemeClr val="tx1"/>
            </a:solidFill>
            <a:miter lim="800000"/>
          </a:ln>
          <a:effectLst/>
        </p:spPr>
        <p:txBody>
          <a:bodyPr wrap="none" anchor="ctr"/>
          <a:lstStyle/>
          <a:p>
            <a:pPr algn="ctr"/>
            <a:r>
              <a:rPr lang="en-US" altLang="en-US">
                <a:solidFill>
                  <a:schemeClr val="bg1"/>
                </a:solidFill>
              </a:rPr>
              <a:t>Compiler</a:t>
            </a:r>
          </a:p>
        </p:txBody>
      </p:sp>
      <p:sp>
        <p:nvSpPr>
          <p:cNvPr id="7" name="Rectangle 8">
            <a:extLst>
              <a:ext uri="{FF2B5EF4-FFF2-40B4-BE49-F238E27FC236}">
                <a16:creationId xmlns:a16="http://schemas.microsoft.com/office/drawing/2014/main" id="{9B538025-BB3F-619F-8E91-8DA5F8D8121B}"/>
              </a:ext>
            </a:extLst>
          </p:cNvPr>
          <p:cNvSpPr>
            <a:spLocks noChangeArrowheads="1"/>
          </p:cNvSpPr>
          <p:nvPr/>
        </p:nvSpPr>
        <p:spPr bwMode="auto">
          <a:xfrm>
            <a:off x="8662436" y="3745782"/>
            <a:ext cx="2039112" cy="457200"/>
          </a:xfrm>
          <a:prstGeom prst="rect">
            <a:avLst/>
          </a:prstGeom>
          <a:solidFill>
            <a:srgbClr val="0E47A1"/>
          </a:solidFill>
          <a:ln w="9525">
            <a:solidFill>
              <a:schemeClr val="tx1"/>
            </a:solidFill>
            <a:miter lim="800000"/>
          </a:ln>
          <a:effectLst/>
        </p:spPr>
        <p:txBody>
          <a:bodyPr wrap="none" anchor="ctr"/>
          <a:lstStyle/>
          <a:p>
            <a:pPr algn="ctr"/>
            <a:r>
              <a:rPr lang="en-US" altLang="en-US">
                <a:solidFill>
                  <a:schemeClr val="bg1"/>
                </a:solidFill>
              </a:rPr>
              <a:t>Assembler</a:t>
            </a:r>
          </a:p>
        </p:txBody>
      </p:sp>
      <p:sp>
        <p:nvSpPr>
          <p:cNvPr id="8" name="Text Box 11">
            <a:extLst>
              <a:ext uri="{FF2B5EF4-FFF2-40B4-BE49-F238E27FC236}">
                <a16:creationId xmlns:a16="http://schemas.microsoft.com/office/drawing/2014/main" id="{6BE74101-F74A-1EF9-BCC3-60EE0BE09F8C}"/>
              </a:ext>
            </a:extLst>
          </p:cNvPr>
          <p:cNvSpPr txBox="1">
            <a:spLocks noChangeArrowheads="1"/>
          </p:cNvSpPr>
          <p:nvPr/>
        </p:nvSpPr>
        <p:spPr bwMode="auto">
          <a:xfrm>
            <a:off x="9800557" y="1998236"/>
            <a:ext cx="16480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Source Program</a:t>
            </a:r>
          </a:p>
        </p:txBody>
      </p:sp>
      <p:sp>
        <p:nvSpPr>
          <p:cNvPr id="9" name="Text Box 12">
            <a:extLst>
              <a:ext uri="{FF2B5EF4-FFF2-40B4-BE49-F238E27FC236}">
                <a16:creationId xmlns:a16="http://schemas.microsoft.com/office/drawing/2014/main" id="{12DB3266-2C8C-3319-5CD3-FCF6D19A1DA9}"/>
              </a:ext>
            </a:extLst>
          </p:cNvPr>
          <p:cNvSpPr txBox="1">
            <a:spLocks noChangeArrowheads="1"/>
          </p:cNvSpPr>
          <p:nvPr/>
        </p:nvSpPr>
        <p:spPr bwMode="auto">
          <a:xfrm>
            <a:off x="9726602" y="3063364"/>
            <a:ext cx="179598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Target Assembly </a:t>
            </a:r>
          </a:p>
          <a:p>
            <a:pPr algn="ctr"/>
            <a:r>
              <a:rPr lang="en-US" altLang="en-US"/>
              <a:t>Program</a:t>
            </a:r>
          </a:p>
        </p:txBody>
      </p:sp>
      <p:sp>
        <p:nvSpPr>
          <p:cNvPr id="10" name="Text Box 13">
            <a:extLst>
              <a:ext uri="{FF2B5EF4-FFF2-40B4-BE49-F238E27FC236}">
                <a16:creationId xmlns:a16="http://schemas.microsoft.com/office/drawing/2014/main" id="{AA9C6EF0-D7D6-C949-50DD-50DC9BA51F83}"/>
              </a:ext>
            </a:extLst>
          </p:cNvPr>
          <p:cNvSpPr txBox="1">
            <a:spLocks noChangeArrowheads="1"/>
          </p:cNvSpPr>
          <p:nvPr/>
        </p:nvSpPr>
        <p:spPr bwMode="auto">
          <a:xfrm>
            <a:off x="9726601" y="4256076"/>
            <a:ext cx="203226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err="1"/>
              <a:t>Relocatable Object </a:t>
            </a:r>
            <a:r>
              <a:rPr lang="en-US" altLang="en-US"/>
              <a:t>Code</a:t>
            </a:r>
          </a:p>
        </p:txBody>
      </p:sp>
      <p:sp>
        <p:nvSpPr>
          <p:cNvPr id="11" name="Text Box 14">
            <a:extLst>
              <a:ext uri="{FF2B5EF4-FFF2-40B4-BE49-F238E27FC236}">
                <a16:creationId xmlns:a16="http://schemas.microsoft.com/office/drawing/2014/main" id="{287AEFD9-95F7-11C5-D9A1-63A229AB8EFD}"/>
              </a:ext>
            </a:extLst>
          </p:cNvPr>
          <p:cNvSpPr txBox="1">
            <a:spLocks noChangeArrowheads="1"/>
          </p:cNvSpPr>
          <p:nvPr/>
        </p:nvSpPr>
        <p:spPr bwMode="auto">
          <a:xfrm>
            <a:off x="8440952" y="5886392"/>
            <a:ext cx="249024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Absolute Machine </a:t>
            </a:r>
          </a:p>
          <a:p>
            <a:pPr algn="ctr"/>
            <a:r>
              <a:rPr lang="en-US" altLang="en-US"/>
              <a:t>Code</a:t>
            </a:r>
          </a:p>
        </p:txBody>
      </p:sp>
      <p:sp>
        <p:nvSpPr>
          <p:cNvPr id="12" name="Text Box 15">
            <a:extLst>
              <a:ext uri="{FF2B5EF4-FFF2-40B4-BE49-F238E27FC236}">
                <a16:creationId xmlns:a16="http://schemas.microsoft.com/office/drawing/2014/main" id="{6277EF4F-1982-45E8-E31C-EAAC57A0FDD7}"/>
              </a:ext>
            </a:extLst>
          </p:cNvPr>
          <p:cNvSpPr txBox="1">
            <a:spLocks noChangeArrowheads="1"/>
          </p:cNvSpPr>
          <p:nvPr/>
        </p:nvSpPr>
        <p:spPr bwMode="auto">
          <a:xfrm>
            <a:off x="7144556" y="4902407"/>
            <a:ext cx="137134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a:t>Libraries &amp; </a:t>
            </a:r>
          </a:p>
          <a:p>
            <a:pPr algn="ctr"/>
            <a:r>
              <a:rPr lang="en-US" altLang="en-US"/>
              <a:t>Object Files</a:t>
            </a:r>
          </a:p>
        </p:txBody>
      </p:sp>
      <p:sp>
        <p:nvSpPr>
          <p:cNvPr id="13" name="Rectangle 9">
            <a:extLst>
              <a:ext uri="{FF2B5EF4-FFF2-40B4-BE49-F238E27FC236}">
                <a16:creationId xmlns:a16="http://schemas.microsoft.com/office/drawing/2014/main" id="{4A4B5B87-E35F-868A-8997-8FF1C494213C}"/>
              </a:ext>
            </a:extLst>
          </p:cNvPr>
          <p:cNvSpPr>
            <a:spLocks noChangeArrowheads="1"/>
          </p:cNvSpPr>
          <p:nvPr/>
        </p:nvSpPr>
        <p:spPr bwMode="auto">
          <a:xfrm>
            <a:off x="8666516" y="4964693"/>
            <a:ext cx="2039112" cy="457200"/>
          </a:xfrm>
          <a:prstGeom prst="rect">
            <a:avLst/>
          </a:prstGeom>
          <a:solidFill>
            <a:srgbClr val="03A9F5"/>
          </a:solidFill>
          <a:ln w="9525">
            <a:solidFill>
              <a:schemeClr val="tx1"/>
            </a:solidFill>
            <a:miter lim="800000"/>
          </a:ln>
          <a:effectLst/>
        </p:spPr>
        <p:txBody>
          <a:bodyPr wrap="none" anchor="ctr"/>
          <a:lstStyle/>
          <a:p>
            <a:pPr algn="ctr"/>
            <a:r>
              <a:rPr lang="en-US" altLang="en-US">
                <a:solidFill>
                  <a:schemeClr val="bg1"/>
                </a:solidFill>
              </a:rPr>
              <a:t>Linker / Loader</a:t>
            </a:r>
          </a:p>
        </p:txBody>
      </p:sp>
      <p:sp>
        <p:nvSpPr>
          <p:cNvPr id="14" name="Rectangle 4">
            <a:extLst>
              <a:ext uri="{FF2B5EF4-FFF2-40B4-BE49-F238E27FC236}">
                <a16:creationId xmlns:a16="http://schemas.microsoft.com/office/drawing/2014/main" id="{724860FB-DFDF-8E20-0C23-D04DADFC7846}"/>
              </a:ext>
            </a:extLst>
          </p:cNvPr>
          <p:cNvSpPr>
            <a:spLocks noChangeArrowheads="1"/>
          </p:cNvSpPr>
          <p:nvPr/>
        </p:nvSpPr>
        <p:spPr bwMode="auto">
          <a:xfrm>
            <a:off x="8651507" y="1370258"/>
            <a:ext cx="2038079" cy="457200"/>
          </a:xfrm>
          <a:prstGeom prst="rect">
            <a:avLst/>
          </a:prstGeom>
          <a:solidFill>
            <a:srgbClr val="0E47A1"/>
          </a:solidFill>
          <a:ln w="9525">
            <a:solidFill>
              <a:schemeClr val="tx1"/>
            </a:solidFill>
            <a:miter lim="800000"/>
          </a:ln>
          <a:effectLst/>
        </p:spPr>
        <p:txBody>
          <a:bodyPr wrap="none" anchor="ctr"/>
          <a:lstStyle/>
          <a:p>
            <a:pPr algn="ctr"/>
            <a:r>
              <a:rPr lang="en-US" altLang="en-US">
                <a:solidFill>
                  <a:schemeClr val="bg1"/>
                </a:solidFill>
              </a:rPr>
              <a:t>Preprocessor</a:t>
            </a:r>
          </a:p>
        </p:txBody>
      </p:sp>
      <p:cxnSp>
        <p:nvCxnSpPr>
          <p:cNvPr id="15" name="Straight Arrow Connector 14">
            <a:extLst>
              <a:ext uri="{FF2B5EF4-FFF2-40B4-BE49-F238E27FC236}">
                <a16:creationId xmlns:a16="http://schemas.microsoft.com/office/drawing/2014/main" id="{A729605E-7DA8-7E09-D3CA-B1BE2B5F0AA8}"/>
              </a:ext>
            </a:extLst>
          </p:cNvPr>
          <p:cNvCxnSpPr>
            <a:endCxn id="14" idx="0"/>
          </p:cNvCxnSpPr>
          <p:nvPr/>
        </p:nvCxnSpPr>
        <p:spPr>
          <a:xfrm>
            <a:off x="9670546" y="1085881"/>
            <a:ext cx="1" cy="284377"/>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9549A46-7F39-E3D5-B382-5C0466A58D1C}"/>
              </a:ext>
            </a:extLst>
          </p:cNvPr>
          <p:cNvCxnSpPr>
            <a:stCxn id="14" idx="2"/>
            <a:endCxn id="6" idx="0"/>
          </p:cNvCxnSpPr>
          <p:nvPr/>
        </p:nvCxnSpPr>
        <p:spPr>
          <a:xfrm>
            <a:off x="9670547" y="1827458"/>
            <a:ext cx="4218" cy="669028"/>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9BE70C8-852D-3686-2471-716816792CD4}"/>
              </a:ext>
            </a:extLst>
          </p:cNvPr>
          <p:cNvCxnSpPr>
            <a:stCxn id="6" idx="2"/>
            <a:endCxn id="7" idx="0"/>
          </p:cNvCxnSpPr>
          <p:nvPr/>
        </p:nvCxnSpPr>
        <p:spPr>
          <a:xfrm>
            <a:off x="9674765" y="2953686"/>
            <a:ext cx="7227" cy="792096"/>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1F69984-36BD-904E-8574-C41FFA40D053}"/>
              </a:ext>
            </a:extLst>
          </p:cNvPr>
          <p:cNvCxnSpPr>
            <a:stCxn id="7" idx="2"/>
            <a:endCxn id="13" idx="0"/>
          </p:cNvCxnSpPr>
          <p:nvPr/>
        </p:nvCxnSpPr>
        <p:spPr>
          <a:xfrm>
            <a:off x="9681992" y="4202982"/>
            <a:ext cx="4080" cy="761711"/>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65BA189-5DAE-8971-B2E6-A69D4514B39B}"/>
              </a:ext>
            </a:extLst>
          </p:cNvPr>
          <p:cNvCxnSpPr>
            <a:endCxn id="11" idx="0"/>
          </p:cNvCxnSpPr>
          <p:nvPr/>
        </p:nvCxnSpPr>
        <p:spPr>
          <a:xfrm flipH="1">
            <a:off x="9686072" y="5422501"/>
            <a:ext cx="0" cy="463891"/>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BDDC68F-9E07-1492-C710-C00E72B5AC1C}"/>
              </a:ext>
            </a:extLst>
          </p:cNvPr>
          <p:cNvCxnSpPr/>
          <p:nvPr/>
        </p:nvCxnSpPr>
        <p:spPr>
          <a:xfrm>
            <a:off x="240014" y="1371616"/>
            <a:ext cx="658368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21" name="Rectangle 20">
            <a:extLst>
              <a:ext uri="{FF2B5EF4-FFF2-40B4-BE49-F238E27FC236}">
                <a16:creationId xmlns:a16="http://schemas.microsoft.com/office/drawing/2014/main" id="{83679FC6-E9A8-1421-A2DE-45ACF24F4D2F}"/>
              </a:ext>
            </a:extLst>
          </p:cNvPr>
          <p:cNvSpPr/>
          <p:nvPr/>
        </p:nvSpPr>
        <p:spPr>
          <a:xfrm>
            <a:off x="215951" y="908593"/>
            <a:ext cx="1901607"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a:t>Linker</a:t>
            </a:r>
            <a:endParaRPr lang="en-US" sz="2400" b="1">
              <a:solidFill>
                <a:schemeClr val="bg1"/>
              </a:solidFill>
            </a:endParaRPr>
          </a:p>
        </p:txBody>
      </p:sp>
      <p:sp>
        <p:nvSpPr>
          <p:cNvPr id="22" name="Content Placeholder 2">
            <a:extLst>
              <a:ext uri="{FF2B5EF4-FFF2-40B4-BE49-F238E27FC236}">
                <a16:creationId xmlns:a16="http://schemas.microsoft.com/office/drawing/2014/main" id="{9EF8EE23-1F63-0BF9-6F34-DB1885EE59E0}"/>
              </a:ext>
            </a:extLst>
          </p:cNvPr>
          <p:cNvSpPr txBox="1"/>
          <p:nvPr/>
        </p:nvSpPr>
        <p:spPr>
          <a:xfrm>
            <a:off x="131180" y="1482398"/>
            <a:ext cx="6788785" cy="505032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t>Linker  makes a single program from a several files of relocatable machine code.</a:t>
            </a:r>
          </a:p>
          <a:p>
            <a:pPr>
              <a:lnSpc>
                <a:spcPct val="100000"/>
              </a:lnSpc>
            </a:pPr>
            <a:r>
              <a:rPr lang="en-US"/>
              <a:t>These files may have been the result of several different compilation, and one or more library files.</a:t>
            </a:r>
          </a:p>
          <a:p>
            <a:pPr>
              <a:lnSpc>
                <a:spcPct val="100000"/>
              </a:lnSpc>
            </a:pPr>
            <a:endParaRPr lang="en-US"/>
          </a:p>
          <a:p>
            <a:pPr>
              <a:lnSpc>
                <a:spcPct val="100000"/>
              </a:lnSpc>
            </a:pPr>
            <a:endParaRPr lang="en-US" sz="2200"/>
          </a:p>
          <a:p>
            <a:pPr marL="457200" indent="-457200">
              <a:lnSpc>
                <a:spcPct val="100000"/>
              </a:lnSpc>
              <a:buFont typeface="+mj-lt"/>
              <a:buAutoNum type="arabicPeriod"/>
            </a:pPr>
            <a:endParaRPr lang="en-US"/>
          </a:p>
        </p:txBody>
      </p:sp>
      <p:sp>
        <p:nvSpPr>
          <p:cNvPr id="23" name="Rectangle 22">
            <a:extLst>
              <a:ext uri="{FF2B5EF4-FFF2-40B4-BE49-F238E27FC236}">
                <a16:creationId xmlns:a16="http://schemas.microsoft.com/office/drawing/2014/main" id="{19E4DF95-5164-6BA4-33EE-CE86EEE5CDBC}"/>
              </a:ext>
            </a:extLst>
          </p:cNvPr>
          <p:cNvSpPr/>
          <p:nvPr/>
        </p:nvSpPr>
        <p:spPr>
          <a:xfrm>
            <a:off x="131180" y="3312668"/>
            <a:ext cx="1901607"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a:t>Loader</a:t>
            </a:r>
            <a:endParaRPr lang="en-US" sz="2400" b="1">
              <a:solidFill>
                <a:schemeClr val="bg1"/>
              </a:solidFill>
            </a:endParaRPr>
          </a:p>
        </p:txBody>
      </p:sp>
      <p:cxnSp>
        <p:nvCxnSpPr>
          <p:cNvPr id="24" name="Straight Connector 23">
            <a:extLst>
              <a:ext uri="{FF2B5EF4-FFF2-40B4-BE49-F238E27FC236}">
                <a16:creationId xmlns:a16="http://schemas.microsoft.com/office/drawing/2014/main" id="{90971C4C-44CA-2CDC-A219-07F431F963D7}"/>
              </a:ext>
            </a:extLst>
          </p:cNvPr>
          <p:cNvCxnSpPr/>
          <p:nvPr/>
        </p:nvCxnSpPr>
        <p:spPr>
          <a:xfrm>
            <a:off x="195348" y="3774349"/>
            <a:ext cx="658368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25" name="Content Placeholder 2">
            <a:extLst>
              <a:ext uri="{FF2B5EF4-FFF2-40B4-BE49-F238E27FC236}">
                <a16:creationId xmlns:a16="http://schemas.microsoft.com/office/drawing/2014/main" id="{D9900FAA-16C9-8D3C-43C5-774C2055463A}"/>
              </a:ext>
            </a:extLst>
          </p:cNvPr>
          <p:cNvSpPr txBox="1"/>
          <p:nvPr/>
        </p:nvSpPr>
        <p:spPr>
          <a:xfrm>
            <a:off x="171709" y="3885114"/>
            <a:ext cx="6788785" cy="248214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t>The process of loading consists of:</a:t>
            </a:r>
          </a:p>
          <a:p>
            <a:pPr lvl="1">
              <a:lnSpc>
                <a:spcPct val="100000"/>
              </a:lnSpc>
            </a:pPr>
            <a:r>
              <a:rPr lang="en-US" sz="2400"/>
              <a:t>Taking relocatable machine code</a:t>
            </a:r>
            <a:endParaRPr lang="en-US" sz="2400">
              <a:solidFill>
                <a:srgbClr val="0E47A1"/>
              </a:solidFill>
            </a:endParaRPr>
          </a:p>
          <a:p>
            <a:pPr lvl="1">
              <a:lnSpc>
                <a:spcPct val="100000"/>
              </a:lnSpc>
            </a:pPr>
            <a:r>
              <a:rPr lang="en-US" sz="2400"/>
              <a:t>Altering the relocatable address </a:t>
            </a:r>
          </a:p>
          <a:p>
            <a:pPr lvl="1">
              <a:lnSpc>
                <a:spcPct val="100000"/>
              </a:lnSpc>
            </a:pPr>
            <a:r>
              <a:rPr lang="en-US" sz="2400"/>
              <a:t>Placing the altered instructions and data in memory at the proper location.</a:t>
            </a:r>
            <a:endParaRPr lang="en-US"/>
          </a:p>
          <a:p>
            <a:pPr marL="457200" indent="-457200">
              <a:lnSpc>
                <a:spcPct val="100000"/>
              </a:lnSpc>
              <a:buFont typeface="+mj-lt"/>
              <a:buAutoNum type="arabicPeriod"/>
            </a:pPr>
            <a:endParaRPr lang="en-US"/>
          </a:p>
        </p:txBody>
      </p:sp>
    </p:spTree>
    <p:extLst>
      <p:ext uri="{BB962C8B-B14F-4D97-AF65-F5344CB8AC3E}">
        <p14:creationId xmlns:p14="http://schemas.microsoft.com/office/powerpoint/2010/main" val="685710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dur="50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5" dur="500"/>
                                        <p:tgtEl>
                                          <p:spTgt spid="23"/>
                                        </p:tgtEl>
                                      </p:cBhvr>
                                    </p:animEffect>
                                  </p:childTnLst>
                                </p:cTn>
                              </p:par>
                              <p:par>
                                <p:cTn id="16" presetID="22" presetClass="entr" presetSubtype="8" dur="50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ipe(left)">
                                      <p:cBhvr>
                                        <p:cTn id="18" dur="5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dur="1" fill="hold" nodeType="clickEffect">
                                  <p:stCondLst>
                                    <p:cond delay="0"/>
                                  </p:stCondLst>
                                  <p:childTnLst>
                                    <p:set>
                                      <p:cBhvr>
                                        <p:cTn id="22"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dur="1" fill="hold" nodeType="clickEffect">
                                  <p:stCondLst>
                                    <p:cond delay="0"/>
                                  </p:stCondLst>
                                  <p:childTnLst>
                                    <p:set>
                                      <p:cBhvr>
                                        <p:cTn id="26" dur="1" fill="hold">
                                          <p:stCondLst>
                                            <p:cond delay="0"/>
                                          </p:stCondLst>
                                        </p:cTn>
                                        <p:tgtEl>
                                          <p:spTgt spid="25">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dur="1" fill="hold" nodeType="clickEffect">
                                  <p:stCondLst>
                                    <p:cond delay="0"/>
                                  </p:stCondLst>
                                  <p:childTnLst>
                                    <p:set>
                                      <p:cBhvr>
                                        <p:cTn id="30" dur="1" fill="hold">
                                          <p:stCondLst>
                                            <p:cond delay="0"/>
                                          </p:stCondLst>
                                        </p:cTn>
                                        <p:tgtEl>
                                          <p:spTgt spid="25">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dur="1" fill="hold" nodeType="clickEffect">
                                  <p:stCondLst>
                                    <p:cond delay="0"/>
                                  </p:stCondLst>
                                  <p:childTnLst>
                                    <p:set>
                                      <p:cBhvr>
                                        <p:cTn id="34" dur="1" fill="hold">
                                          <p:stCondLst>
                                            <p:cond delay="0"/>
                                          </p:stCondLst>
                                        </p:cTn>
                                        <p:tgtEl>
                                          <p:spTgt spid="2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967FE-A93A-4DF5-ACA4-B2793144FE59}"/>
              </a:ext>
            </a:extLst>
          </p:cNvPr>
          <p:cNvSpPr>
            <a:spLocks noGrp="1"/>
          </p:cNvSpPr>
          <p:nvPr>
            <p:ph type="ctrTitle"/>
          </p:nvPr>
        </p:nvSpPr>
        <p:spPr/>
        <p:txBody>
          <a:bodyPr/>
          <a:lstStyle/>
          <a:p>
            <a:r>
              <a:rPr lang="en-US" dirty="0"/>
              <a:t>Pass structure</a:t>
            </a:r>
            <a:endParaRPr lang="en-IN" dirty="0"/>
          </a:p>
        </p:txBody>
      </p:sp>
      <p:sp>
        <p:nvSpPr>
          <p:cNvPr id="3" name="Subtitle 2">
            <a:extLst>
              <a:ext uri="{FF2B5EF4-FFF2-40B4-BE49-F238E27FC236}">
                <a16:creationId xmlns:a16="http://schemas.microsoft.com/office/drawing/2014/main" id="{8D0385BA-E163-C37E-62FE-258D9FC5B46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74539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6DAB7-2BA3-5675-A460-6502A40FEC80}"/>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Pass structure</a:t>
            </a:r>
          </a:p>
        </p:txBody>
      </p:sp>
      <p:sp>
        <p:nvSpPr>
          <p:cNvPr id="3" name="Content Placeholder 2">
            <a:extLst>
              <a:ext uri="{FF2B5EF4-FFF2-40B4-BE49-F238E27FC236}">
                <a16:creationId xmlns:a16="http://schemas.microsoft.com/office/drawing/2014/main" id="{905C69E1-F451-8D63-8FBD-374D66111990}"/>
              </a:ext>
            </a:extLst>
          </p:cNvPr>
          <p:cNvSpPr txBox="1">
            <a:spLocks/>
          </p:cNvSpPr>
          <p:nvPr/>
        </p:nvSpPr>
        <p:spPr>
          <a:xfrm>
            <a:off x="131180" y="863444"/>
            <a:ext cx="11929641" cy="5657423"/>
          </a:xfrm>
          <a:prstGeom prst="rect">
            <a:avLst/>
          </a:prstGeom>
        </p:spPr>
        <p:txBody>
          <a:bodyPr>
            <a:normAutofit/>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dirty="0"/>
              <a:t>One complete scan of a source program is called pass.</a:t>
            </a:r>
          </a:p>
          <a:p>
            <a:pPr>
              <a:lnSpc>
                <a:spcPct val="100000"/>
              </a:lnSpc>
            </a:pPr>
            <a:r>
              <a:rPr lang="en-US" dirty="0"/>
              <a:t>Pass includes </a:t>
            </a:r>
            <a:r>
              <a:rPr lang="en-US" b="1" dirty="0">
                <a:solidFill>
                  <a:srgbClr val="0E47A1"/>
                </a:solidFill>
              </a:rPr>
              <a:t>reading an input file </a:t>
            </a:r>
            <a:r>
              <a:rPr lang="en-US" dirty="0"/>
              <a:t>and </a:t>
            </a:r>
            <a:r>
              <a:rPr lang="en-US" b="1" dirty="0">
                <a:solidFill>
                  <a:srgbClr val="0E47A1"/>
                </a:solidFill>
              </a:rPr>
              <a:t>writing to the output </a:t>
            </a:r>
            <a:r>
              <a:rPr lang="en-US" dirty="0"/>
              <a:t>file.</a:t>
            </a:r>
          </a:p>
          <a:p>
            <a:pPr>
              <a:lnSpc>
                <a:spcPct val="100000"/>
              </a:lnSpc>
            </a:pPr>
            <a:r>
              <a:rPr lang="en-US" dirty="0"/>
              <a:t>In a single pass compiler analysis of source statement is immediately followed by synthesis of equivalent target statement.</a:t>
            </a:r>
          </a:p>
          <a:p>
            <a:pPr>
              <a:lnSpc>
                <a:spcPct val="100000"/>
              </a:lnSpc>
            </a:pPr>
            <a:r>
              <a:rPr lang="en-US" dirty="0"/>
              <a:t>While in a two pass compiler intermediate code is generated between analysis and synthesis phase.</a:t>
            </a:r>
          </a:p>
          <a:p>
            <a:pPr>
              <a:lnSpc>
                <a:spcPct val="100000"/>
              </a:lnSpc>
            </a:pPr>
            <a:r>
              <a:rPr lang="en-US" dirty="0"/>
              <a:t>It is difficult to compile the source program into single pass due to: </a:t>
            </a:r>
            <a:r>
              <a:rPr lang="en-US" b="1" dirty="0">
                <a:solidFill>
                  <a:srgbClr val="0E47A1"/>
                </a:solidFill>
              </a:rPr>
              <a:t>forward reference </a:t>
            </a:r>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3905078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dur="1"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dur="1"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dur="1"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07D20E8-8CAB-4413-6A6E-7D6577E2E815}"/>
              </a:ext>
            </a:extLst>
          </p:cNvPr>
          <p:cNvSpPr txBox="1">
            <a:spLocks/>
          </p:cNvSpPr>
          <p:nvPr/>
        </p:nvSpPr>
        <p:spPr>
          <a:xfrm>
            <a:off x="0" y="0"/>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Pass structure</a:t>
            </a:r>
          </a:p>
        </p:txBody>
      </p:sp>
      <p:sp>
        <p:nvSpPr>
          <p:cNvPr id="5" name="Content Placeholder 2">
            <a:extLst>
              <a:ext uri="{FF2B5EF4-FFF2-40B4-BE49-F238E27FC236}">
                <a16:creationId xmlns:a16="http://schemas.microsoft.com/office/drawing/2014/main" id="{3A76F41A-760E-F753-7DE3-EFEFEDCB40E1}"/>
              </a:ext>
            </a:extLst>
          </p:cNvPr>
          <p:cNvSpPr txBox="1">
            <a:spLocks/>
          </p:cNvSpPr>
          <p:nvPr/>
        </p:nvSpPr>
        <p:spPr>
          <a:xfrm>
            <a:off x="131180" y="863443"/>
            <a:ext cx="11929641" cy="5657423"/>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b="1" dirty="0"/>
              <a:t>Forward reference: </a:t>
            </a:r>
            <a:r>
              <a:rPr lang="en-US" dirty="0"/>
              <a:t>A forward reference of a program entity is a </a:t>
            </a:r>
            <a:r>
              <a:rPr lang="en-US" b="1" dirty="0">
                <a:solidFill>
                  <a:srgbClr val="0E47A1"/>
                </a:solidFill>
              </a:rPr>
              <a:t>reference to the entity which precedes its definition</a:t>
            </a:r>
            <a:r>
              <a:rPr lang="en-US" dirty="0">
                <a:solidFill>
                  <a:srgbClr val="C00000"/>
                </a:solidFill>
              </a:rPr>
              <a:t> </a:t>
            </a:r>
            <a:r>
              <a:rPr lang="en-US" dirty="0"/>
              <a:t>in the program.</a:t>
            </a:r>
          </a:p>
          <a:p>
            <a:pPr>
              <a:lnSpc>
                <a:spcPct val="100000"/>
              </a:lnSpc>
            </a:pPr>
            <a:r>
              <a:rPr lang="en-US" dirty="0"/>
              <a:t>This problem can be solved by postponing the generation of target code until more information concerning the entity becomes available.</a:t>
            </a:r>
          </a:p>
          <a:p>
            <a:pPr>
              <a:lnSpc>
                <a:spcPct val="100000"/>
              </a:lnSpc>
            </a:pPr>
            <a:r>
              <a:rPr lang="en-US" dirty="0"/>
              <a:t>It leads to multi pass model of compilation.</a:t>
            </a:r>
          </a:p>
          <a:p>
            <a:pPr>
              <a:lnSpc>
                <a:spcPct val="100000"/>
              </a:lnSpc>
            </a:pPr>
            <a:endParaRPr lang="en-US" dirty="0"/>
          </a:p>
          <a:p>
            <a:pPr>
              <a:lnSpc>
                <a:spcPct val="100000"/>
              </a:lnSpc>
            </a:pPr>
            <a:r>
              <a:rPr lang="en-US" dirty="0"/>
              <a:t>Perform analysis of the source program and note relevant information.</a:t>
            </a:r>
          </a:p>
          <a:p>
            <a:pPr>
              <a:lnSpc>
                <a:spcPct val="100000"/>
              </a:lnSpc>
            </a:pPr>
            <a:endParaRPr lang="en-US" dirty="0"/>
          </a:p>
          <a:p>
            <a:pPr>
              <a:lnSpc>
                <a:spcPct val="100000"/>
              </a:lnSpc>
            </a:pPr>
            <a:endParaRPr lang="en-US" dirty="0"/>
          </a:p>
          <a:p>
            <a:pPr>
              <a:lnSpc>
                <a:spcPct val="100000"/>
              </a:lnSpc>
            </a:pPr>
            <a:r>
              <a:rPr lang="en-US" dirty="0"/>
              <a:t>In Pass II: Generate target code using information noted in pass I.</a:t>
            </a:r>
          </a:p>
          <a:p>
            <a:pPr marL="0" indent="0">
              <a:lnSpc>
                <a:spcPct val="100000"/>
              </a:lnSpc>
              <a:buFont typeface="Arial" panose="020B0604020202020204" pitchFamily="34" charset="0"/>
              <a:buNone/>
            </a:pPr>
            <a:endParaRPr lang="en-US" dirty="0"/>
          </a:p>
        </p:txBody>
      </p:sp>
      <p:sp>
        <p:nvSpPr>
          <p:cNvPr id="6" name="Rectangle 5">
            <a:extLst>
              <a:ext uri="{FF2B5EF4-FFF2-40B4-BE49-F238E27FC236}">
                <a16:creationId xmlns:a16="http://schemas.microsoft.com/office/drawing/2014/main" id="{38804107-3D2A-4423-79FE-842642D669E2}"/>
              </a:ext>
            </a:extLst>
          </p:cNvPr>
          <p:cNvSpPr/>
          <p:nvPr/>
        </p:nvSpPr>
        <p:spPr>
          <a:xfrm>
            <a:off x="131180" y="3317886"/>
            <a:ext cx="1542327"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a:t>Pass I:</a:t>
            </a:r>
            <a:endParaRPr lang="en-US" sz="2400" b="1">
              <a:solidFill>
                <a:schemeClr val="bg1"/>
              </a:solidFill>
            </a:endParaRPr>
          </a:p>
        </p:txBody>
      </p:sp>
      <p:cxnSp>
        <p:nvCxnSpPr>
          <p:cNvPr id="7" name="Straight Connector 6">
            <a:extLst>
              <a:ext uri="{FF2B5EF4-FFF2-40B4-BE49-F238E27FC236}">
                <a16:creationId xmlns:a16="http://schemas.microsoft.com/office/drawing/2014/main" id="{8662517F-E06D-54E5-8246-BD198D6F86BC}"/>
              </a:ext>
            </a:extLst>
          </p:cNvPr>
          <p:cNvCxnSpPr/>
          <p:nvPr/>
        </p:nvCxnSpPr>
        <p:spPr>
          <a:xfrm>
            <a:off x="1673506" y="3779551"/>
            <a:ext cx="9144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8" name="Rectangle 7">
            <a:extLst>
              <a:ext uri="{FF2B5EF4-FFF2-40B4-BE49-F238E27FC236}">
                <a16:creationId xmlns:a16="http://schemas.microsoft.com/office/drawing/2014/main" id="{FFD1057B-1C37-7126-D3F4-CF75260633F6}"/>
              </a:ext>
            </a:extLst>
          </p:cNvPr>
          <p:cNvSpPr/>
          <p:nvPr/>
        </p:nvSpPr>
        <p:spPr>
          <a:xfrm>
            <a:off x="131179" y="5013144"/>
            <a:ext cx="1542327"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2400"/>
              <a:t>Pass II:</a:t>
            </a:r>
            <a:endParaRPr lang="en-US" sz="2400" b="1">
              <a:solidFill>
                <a:schemeClr val="bg1"/>
              </a:solidFill>
            </a:endParaRPr>
          </a:p>
        </p:txBody>
      </p:sp>
      <p:cxnSp>
        <p:nvCxnSpPr>
          <p:cNvPr id="9" name="Straight Connector 8">
            <a:extLst>
              <a:ext uri="{FF2B5EF4-FFF2-40B4-BE49-F238E27FC236}">
                <a16:creationId xmlns:a16="http://schemas.microsoft.com/office/drawing/2014/main" id="{62E047C1-733A-A35A-AF3C-C3482816E6AF}"/>
              </a:ext>
            </a:extLst>
          </p:cNvPr>
          <p:cNvCxnSpPr/>
          <p:nvPr/>
        </p:nvCxnSpPr>
        <p:spPr>
          <a:xfrm>
            <a:off x="1673506" y="5474810"/>
            <a:ext cx="9144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2630106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dur="1"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dur="1"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22" presetClass="entr" presetSubtype="8" dur="50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dur="1" fill="hold" nodeType="clickEffect">
                                  <p:stCondLst>
                                    <p:cond delay="0"/>
                                  </p:stCondLst>
                                  <p:childTnLst>
                                    <p:set>
                                      <p:cBhvr>
                                        <p:cTn id="25"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dur="1"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childTnLst>
                                </p:cTn>
                              </p:par>
                              <p:par>
                                <p:cTn id="30" presetID="22" presetClass="entr" presetSubtype="8" dur="500"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dur="1" fill="hold"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4E468-3797-3FE6-CD47-724EBB9DF9C8}"/>
              </a:ext>
            </a:extLst>
          </p:cNvPr>
          <p:cNvSpPr txBox="1">
            <a:spLocks/>
          </p:cNvSpPr>
          <p:nvPr/>
        </p:nvSpPr>
        <p:spPr>
          <a:xfrm>
            <a:off x="0" y="1"/>
            <a:ext cx="12192000" cy="711200"/>
          </a:xfrm>
          <a:prstGeom prst="rect">
            <a:avLst/>
          </a:prstGeom>
        </p:spPr>
        <p:txBody>
          <a:bodyPr>
            <a:normAutofit/>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Effect of reducing the number of passes</a:t>
            </a:r>
          </a:p>
        </p:txBody>
      </p:sp>
      <p:sp>
        <p:nvSpPr>
          <p:cNvPr id="3" name="Content Placeholder 2">
            <a:extLst>
              <a:ext uri="{FF2B5EF4-FFF2-40B4-BE49-F238E27FC236}">
                <a16:creationId xmlns:a16="http://schemas.microsoft.com/office/drawing/2014/main" id="{3E1B23CE-C8E4-49E1-B8A2-DEABAED15EF7}"/>
              </a:ext>
            </a:extLst>
          </p:cNvPr>
          <p:cNvSpPr txBox="1">
            <a:spLocks/>
          </p:cNvSpPr>
          <p:nvPr/>
        </p:nvSpPr>
        <p:spPr>
          <a:xfrm>
            <a:off x="131180" y="863444"/>
            <a:ext cx="11929641" cy="5657423"/>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t>It is desirable to have a few passes, because </a:t>
            </a:r>
            <a:r>
              <a:rPr lang="en-US" b="1">
                <a:solidFill>
                  <a:srgbClr val="0E47A1"/>
                </a:solidFill>
              </a:rPr>
              <a:t>it takes time to read and write</a:t>
            </a:r>
            <a:r>
              <a:rPr lang="en-US"/>
              <a:t> intermediate file.</a:t>
            </a:r>
          </a:p>
          <a:p>
            <a:pPr>
              <a:lnSpc>
                <a:spcPct val="100000"/>
              </a:lnSpc>
            </a:pPr>
            <a:r>
              <a:rPr lang="en-US"/>
              <a:t>If we group </a:t>
            </a:r>
            <a:r>
              <a:rPr lang="en-US" b="1">
                <a:solidFill>
                  <a:srgbClr val="0E47A1"/>
                </a:solidFill>
              </a:rPr>
              <a:t>several phases into one pass </a:t>
            </a:r>
            <a:r>
              <a:rPr lang="en-US"/>
              <a:t>then </a:t>
            </a:r>
            <a:r>
              <a:rPr lang="en-US" b="1">
                <a:solidFill>
                  <a:srgbClr val="0E47A1"/>
                </a:solidFill>
              </a:rPr>
              <a:t>memory requirement</a:t>
            </a:r>
            <a:r>
              <a:rPr lang="en-US" b="1"/>
              <a:t> </a:t>
            </a:r>
            <a:r>
              <a:rPr lang="en-US"/>
              <a:t>may be </a:t>
            </a:r>
            <a:r>
              <a:rPr lang="en-US" b="1">
                <a:solidFill>
                  <a:srgbClr val="0E47A1"/>
                </a:solidFill>
              </a:rPr>
              <a:t>large</a:t>
            </a:r>
            <a:r>
              <a:rPr lang="en-US"/>
              <a:t>.</a:t>
            </a:r>
          </a:p>
          <a:p>
            <a:pPr marL="0" indent="0">
              <a:lnSpc>
                <a:spcPct val="100000"/>
              </a:lnSpc>
              <a:buFont typeface="Arial" panose="020B0604020202020204" pitchFamily="34" charset="0"/>
              <a:buNone/>
            </a:pPr>
            <a:endParaRPr lang="en-US"/>
          </a:p>
        </p:txBody>
      </p:sp>
    </p:spTree>
    <p:extLst>
      <p:ext uri="{BB962C8B-B14F-4D97-AF65-F5344CB8AC3E}">
        <p14:creationId xmlns:p14="http://schemas.microsoft.com/office/powerpoint/2010/main" val="567645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C2D70-8E07-FF48-451E-D3F9F048B41A}"/>
              </a:ext>
            </a:extLst>
          </p:cNvPr>
          <p:cNvSpPr>
            <a:spLocks noGrp="1"/>
          </p:cNvSpPr>
          <p:nvPr>
            <p:ph type="ctrTitle"/>
          </p:nvPr>
        </p:nvSpPr>
        <p:spPr/>
        <p:txBody>
          <a:bodyPr/>
          <a:lstStyle/>
          <a:p>
            <a:r>
              <a:rPr lang="en-US" dirty="0"/>
              <a:t>Types of compiler</a:t>
            </a:r>
            <a:endParaRPr lang="en-IN" dirty="0"/>
          </a:p>
        </p:txBody>
      </p:sp>
      <p:sp>
        <p:nvSpPr>
          <p:cNvPr id="3" name="Subtitle 2">
            <a:extLst>
              <a:ext uri="{FF2B5EF4-FFF2-40B4-BE49-F238E27FC236}">
                <a16:creationId xmlns:a16="http://schemas.microsoft.com/office/drawing/2014/main" id="{AC16F4EB-CAE4-E1A4-4B6C-BDB32065ED8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9055050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C8FDF-4FB1-5796-7167-F2D75ABF7AD0}"/>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Types of compiler</a:t>
            </a:r>
          </a:p>
        </p:txBody>
      </p:sp>
      <p:sp>
        <p:nvSpPr>
          <p:cNvPr id="3" name="Content Placeholder 2">
            <a:extLst>
              <a:ext uri="{FF2B5EF4-FFF2-40B4-BE49-F238E27FC236}">
                <a16:creationId xmlns:a16="http://schemas.microsoft.com/office/drawing/2014/main" id="{A8857BD3-98EE-6D03-231F-AB9BD888308E}"/>
              </a:ext>
            </a:extLst>
          </p:cNvPr>
          <p:cNvSpPr txBox="1">
            <a:spLocks/>
          </p:cNvSpPr>
          <p:nvPr/>
        </p:nvSpPr>
        <p:spPr>
          <a:xfrm>
            <a:off x="131180" y="863444"/>
            <a:ext cx="11929641" cy="5590565"/>
          </a:xfrm>
          <a:prstGeom prst="rect">
            <a:avLst/>
          </a:prstGeom>
        </p:spPr>
        <p:txBody>
          <a:bodyPr>
            <a:normAutofit/>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buFont typeface="+mj-lt"/>
              <a:buAutoNum type="arabicPeriod"/>
            </a:pPr>
            <a:r>
              <a:rPr lang="en-US" dirty="0">
                <a:solidFill>
                  <a:srgbClr val="0E47A1"/>
                </a:solidFill>
              </a:rPr>
              <a:t>One pass compiler</a:t>
            </a:r>
          </a:p>
          <a:p>
            <a:pPr lvl="1">
              <a:lnSpc>
                <a:spcPct val="100000"/>
              </a:lnSpc>
            </a:pPr>
            <a:r>
              <a:rPr lang="en-US" sz="2200" dirty="0"/>
              <a:t>It is a type of compiler that compiles whole process in one-pass.</a:t>
            </a:r>
          </a:p>
          <a:p>
            <a:pPr marL="457200" indent="-457200">
              <a:lnSpc>
                <a:spcPct val="100000"/>
              </a:lnSpc>
              <a:buFont typeface="+mj-lt"/>
              <a:buAutoNum type="arabicPeriod"/>
            </a:pPr>
            <a:r>
              <a:rPr lang="en-US" dirty="0">
                <a:solidFill>
                  <a:srgbClr val="0E47A1"/>
                </a:solidFill>
              </a:rPr>
              <a:t>Two pass compiler</a:t>
            </a:r>
          </a:p>
          <a:p>
            <a:pPr lvl="1">
              <a:lnSpc>
                <a:spcPct val="100000"/>
              </a:lnSpc>
            </a:pPr>
            <a:r>
              <a:rPr lang="en-US" sz="2200" dirty="0"/>
              <a:t>It is a type of compiler that compiles whole process in two-pass. </a:t>
            </a:r>
          </a:p>
          <a:p>
            <a:pPr lvl="1">
              <a:lnSpc>
                <a:spcPct val="100000"/>
              </a:lnSpc>
            </a:pPr>
            <a:r>
              <a:rPr lang="en-US" sz="2200" dirty="0"/>
              <a:t>It generates intermediate code.</a:t>
            </a:r>
          </a:p>
          <a:p>
            <a:pPr marL="457200" indent="-457200">
              <a:lnSpc>
                <a:spcPct val="100000"/>
              </a:lnSpc>
              <a:buFont typeface="+mj-lt"/>
              <a:buAutoNum type="arabicPeriod"/>
            </a:pPr>
            <a:r>
              <a:rPr lang="en-US" dirty="0">
                <a:solidFill>
                  <a:srgbClr val="0E47A1"/>
                </a:solidFill>
              </a:rPr>
              <a:t>Incremental compiler</a:t>
            </a:r>
          </a:p>
          <a:p>
            <a:pPr lvl="1">
              <a:lnSpc>
                <a:spcPct val="100000"/>
              </a:lnSpc>
            </a:pPr>
            <a:r>
              <a:rPr lang="en-US" sz="2200" dirty="0"/>
              <a:t>The compiler which compiles only the changed line from the source code and update the object code.</a:t>
            </a:r>
          </a:p>
          <a:p>
            <a:pPr marL="457200" indent="-457200">
              <a:lnSpc>
                <a:spcPct val="100000"/>
              </a:lnSpc>
              <a:buFont typeface="+mj-lt"/>
              <a:buAutoNum type="arabicPeriod"/>
            </a:pPr>
            <a:r>
              <a:rPr lang="en-US" dirty="0">
                <a:solidFill>
                  <a:srgbClr val="0E47A1"/>
                </a:solidFill>
              </a:rPr>
              <a:t>Native code compiler</a:t>
            </a:r>
          </a:p>
          <a:p>
            <a:pPr lvl="1">
              <a:lnSpc>
                <a:spcPct val="100000"/>
              </a:lnSpc>
            </a:pPr>
            <a:r>
              <a:rPr lang="en-US" sz="2200" dirty="0"/>
              <a:t>The compiler used to compile a source code for a same type of platform only.</a:t>
            </a:r>
          </a:p>
          <a:p>
            <a:pPr marL="457200" indent="-457200">
              <a:lnSpc>
                <a:spcPct val="100000"/>
              </a:lnSpc>
              <a:buFont typeface="+mj-lt"/>
              <a:buAutoNum type="arabicPeriod"/>
            </a:pPr>
            <a:r>
              <a:rPr lang="en-US" dirty="0">
                <a:solidFill>
                  <a:srgbClr val="0E47A1"/>
                </a:solidFill>
              </a:rPr>
              <a:t>Cross compiler</a:t>
            </a:r>
          </a:p>
          <a:p>
            <a:pPr lvl="1">
              <a:lnSpc>
                <a:spcPct val="100000"/>
              </a:lnSpc>
            </a:pPr>
            <a:r>
              <a:rPr lang="en-US" dirty="0"/>
              <a:t>The compiler used to compile a source code for a different kinds platform.</a:t>
            </a:r>
          </a:p>
          <a:p>
            <a:endParaRPr lang="en-US" dirty="0"/>
          </a:p>
        </p:txBody>
      </p:sp>
      <p:pic>
        <p:nvPicPr>
          <p:cNvPr id="5" name="Picture 4">
            <a:extLst>
              <a:ext uri="{FF2B5EF4-FFF2-40B4-BE49-F238E27FC236}">
                <a16:creationId xmlns:a16="http://schemas.microsoft.com/office/drawing/2014/main" id="{8C600FA9-15DA-5E8C-F4A3-866799FEF7EA}"/>
              </a:ext>
            </a:extLst>
          </p:cNvPr>
          <p:cNvPicPr>
            <a:picLocks noChangeAspect="1"/>
          </p:cNvPicPr>
          <p:nvPr/>
        </p:nvPicPr>
        <p:blipFill>
          <a:blip r:embed="rId2"/>
          <a:stretch>
            <a:fillRect/>
          </a:stretch>
        </p:blipFill>
        <p:spPr>
          <a:xfrm>
            <a:off x="5809063" y="205965"/>
            <a:ext cx="5142955" cy="1010472"/>
          </a:xfrm>
          <a:prstGeom prst="rect">
            <a:avLst/>
          </a:prstGeom>
        </p:spPr>
      </p:pic>
      <p:pic>
        <p:nvPicPr>
          <p:cNvPr id="7" name="Picture 6">
            <a:extLst>
              <a:ext uri="{FF2B5EF4-FFF2-40B4-BE49-F238E27FC236}">
                <a16:creationId xmlns:a16="http://schemas.microsoft.com/office/drawing/2014/main" id="{4DEC3CCC-3B6B-A35B-E2E2-DE53096C0903}"/>
              </a:ext>
            </a:extLst>
          </p:cNvPr>
          <p:cNvPicPr>
            <a:picLocks noChangeAspect="1"/>
          </p:cNvPicPr>
          <p:nvPr/>
        </p:nvPicPr>
        <p:blipFill>
          <a:blip r:embed="rId3"/>
          <a:stretch>
            <a:fillRect/>
          </a:stretch>
        </p:blipFill>
        <p:spPr>
          <a:xfrm>
            <a:off x="6096000" y="2664969"/>
            <a:ext cx="6044565" cy="665018"/>
          </a:xfrm>
          <a:prstGeom prst="rect">
            <a:avLst/>
          </a:prstGeom>
        </p:spPr>
      </p:pic>
    </p:spTree>
    <p:extLst>
      <p:ext uri="{BB962C8B-B14F-4D97-AF65-F5344CB8AC3E}">
        <p14:creationId xmlns:p14="http://schemas.microsoft.com/office/powerpoint/2010/main" val="1825452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dur="1"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dur="1"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dur="1"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dur="1"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dur="1"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dur="1"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dur="1"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dur="1"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dur="1"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15D060D9-6A2A-246B-84F5-47E1ACD4E4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850" y="862013"/>
            <a:ext cx="8908597" cy="4595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95317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22818</TotalTime>
  <Words>2724</Words>
  <Application>Microsoft Macintosh PowerPoint</Application>
  <PresentationFormat>Widescreen</PresentationFormat>
  <Paragraphs>543</Paragraphs>
  <Slides>46</Slides>
  <Notes>2</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Calibri</vt:lpstr>
      <vt:lpstr>Palatino Linotype</vt:lpstr>
      <vt:lpstr>Times New Roman</vt:lpstr>
      <vt:lpstr>Wingdings</vt:lpstr>
      <vt:lpstr>Wingdings 3</vt:lpstr>
      <vt:lpstr>Office Theme</vt:lpstr>
      <vt:lpstr>PowerPoint Presentation</vt:lpstr>
      <vt:lpstr>Course Outcomes</vt:lpstr>
      <vt:lpstr>Syllabus</vt:lpstr>
      <vt:lpstr>Cont..</vt:lpstr>
      <vt:lpstr>Text Books &amp; References</vt:lpstr>
      <vt:lpstr>Internal Components</vt:lpstr>
      <vt:lpstr>Content - Module -1</vt:lpstr>
      <vt:lpstr>PowerPoint Presentation</vt:lpstr>
      <vt:lpstr>Translator</vt:lpstr>
      <vt:lpstr>Compiler</vt:lpstr>
      <vt:lpstr>Interpreter</vt:lpstr>
      <vt:lpstr>Assembler</vt:lpstr>
      <vt:lpstr>Analysis Synthesis model of compilation </vt:lpstr>
      <vt:lpstr>Analysis phase &amp; Synthesis phase</vt:lpstr>
      <vt:lpstr>Phases of compiler</vt:lpstr>
      <vt:lpstr>Lexical analysis</vt:lpstr>
      <vt:lpstr>Phases of Compiler</vt:lpstr>
      <vt:lpstr>PowerPoint Presentation</vt:lpstr>
      <vt:lpstr>Phases of compiler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Symbol table</vt:lpstr>
      <vt:lpstr>Cont.,</vt:lpstr>
      <vt:lpstr>PowerPoint Presentation</vt:lpstr>
      <vt:lpstr>Exercise 1</vt:lpstr>
      <vt:lpstr>Grouping of Phases</vt:lpstr>
      <vt:lpstr>PowerPoint Presentation</vt:lpstr>
      <vt:lpstr>PowerPoint Presentation</vt:lpstr>
      <vt:lpstr>Context of Compiler (Cousins of compiler)</vt:lpstr>
      <vt:lpstr>PowerPoint Presentation</vt:lpstr>
      <vt:lpstr>PowerPoint Presentation</vt:lpstr>
      <vt:lpstr>PowerPoint Presentation</vt:lpstr>
      <vt:lpstr>PowerPoint Presentation</vt:lpstr>
      <vt:lpstr>PowerPoint Presentation</vt:lpstr>
      <vt:lpstr>Pass structure</vt:lpstr>
      <vt:lpstr>PowerPoint Presentation</vt:lpstr>
      <vt:lpstr>PowerPoint Presentation</vt:lpstr>
      <vt:lpstr>PowerPoint Presentation</vt:lpstr>
      <vt:lpstr>Types of compiler</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Mathematical Logic And Algebraic Structures</dc:title>
  <dc:creator>HP</dc:creator>
  <cp:lastModifiedBy>Apoorva Karnwal</cp:lastModifiedBy>
  <cp:revision>696</cp:revision>
  <dcterms:created xsi:type="dcterms:W3CDTF">2020-07-30T09:53:05Z</dcterms:created>
  <dcterms:modified xsi:type="dcterms:W3CDTF">2024-11-27T12:40:05Z</dcterms:modified>
</cp:coreProperties>
</file>