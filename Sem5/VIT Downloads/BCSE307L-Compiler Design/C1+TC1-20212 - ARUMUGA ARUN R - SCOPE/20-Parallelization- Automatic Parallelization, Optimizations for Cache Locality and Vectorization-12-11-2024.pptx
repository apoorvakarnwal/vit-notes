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84" r:id="rId2"/>
    <p:sldId id="382" r:id="rId3"/>
    <p:sldId id="383" r:id="rId4"/>
    <p:sldId id="385" r:id="rId5"/>
    <p:sldId id="386" r:id="rId6"/>
    <p:sldId id="387" r:id="rId7"/>
    <p:sldId id="388" r:id="rId8"/>
    <p:sldId id="389" r:id="rId9"/>
    <p:sldId id="390" r:id="rId10"/>
    <p:sldId id="391" r:id="rId11"/>
    <p:sldId id="392" r:id="rId12"/>
    <p:sldId id="393" r:id="rId13"/>
    <p:sldId id="394" r:id="rId14"/>
    <p:sldId id="395" r:id="rId15"/>
    <p:sldId id="396" r:id="rId16"/>
    <p:sldId id="397" r:id="rId17"/>
    <p:sldId id="398" r:id="rId18"/>
    <p:sldId id="399" r:id="rId19"/>
    <p:sldId id="400" r:id="rId20"/>
    <p:sldId id="404" r:id="rId21"/>
    <p:sldId id="405" r:id="rId22"/>
    <p:sldId id="407" r:id="rId23"/>
    <p:sldId id="408" r:id="rId24"/>
    <p:sldId id="409" r:id="rId25"/>
    <p:sldId id="412" r:id="rId26"/>
    <p:sldId id="410" r:id="rId27"/>
    <p:sldId id="411" r:id="rId28"/>
    <p:sldId id="413" r:id="rId29"/>
    <p:sldId id="414" r:id="rId30"/>
    <p:sldId id="415" r:id="rId31"/>
    <p:sldId id="416" r:id="rId32"/>
    <p:sldId id="417" r:id="rId33"/>
    <p:sldId id="420" r:id="rId34"/>
    <p:sldId id="421" r:id="rId35"/>
    <p:sldId id="422" r:id="rId36"/>
    <p:sldId id="423" r:id="rId37"/>
    <p:sldId id="424" r:id="rId38"/>
    <p:sldId id="425" r:id="rId39"/>
    <p:sldId id="419" r:id="rId40"/>
    <p:sldId id="426" r:id="rId41"/>
    <p:sldId id="427" r:id="rId42"/>
    <p:sldId id="428" r:id="rId43"/>
    <p:sldId id="429" r:id="rId44"/>
    <p:sldId id="434" r:id="rId45"/>
    <p:sldId id="430" r:id="rId46"/>
    <p:sldId id="431" r:id="rId47"/>
    <p:sldId id="432" r:id="rId48"/>
    <p:sldId id="433" r:id="rId49"/>
    <p:sldId id="418" r:id="rId50"/>
    <p:sldId id="435" r:id="rId51"/>
    <p:sldId id="436"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353" autoAdjust="0"/>
  </p:normalViewPr>
  <p:slideViewPr>
    <p:cSldViewPr snapToGrid="0">
      <p:cViewPr varScale="1">
        <p:scale>
          <a:sx n="79" d="100"/>
          <a:sy n="79" d="100"/>
        </p:scale>
        <p:origin x="77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65BBB-9053-4FB2-B204-6D5C221D5451}" type="datetimeFigureOut">
              <a:rPr lang="en-IN" smtClean="0"/>
              <a:t>20-11-2024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B192C4-1362-4BBE-9949-F6525E953936}" type="slidenum">
              <a:rPr lang="en-IN" smtClean="0"/>
              <a:t>‹#›</a:t>
            </a:fld>
            <a:endParaRPr lang="en-IN"/>
          </a:p>
        </p:txBody>
      </p:sp>
    </p:spTree>
    <p:extLst>
      <p:ext uri="{BB962C8B-B14F-4D97-AF65-F5344CB8AC3E}">
        <p14:creationId xmlns:p14="http://schemas.microsoft.com/office/powerpoint/2010/main" val="124035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40C28"/>
                </a:solidFill>
                <a:effectLst/>
                <a:latin typeface="Google Sans"/>
              </a:rPr>
              <a:t>the number of clock cycles between the launch of successive loop iterations</a:t>
            </a:r>
            <a:r>
              <a:rPr lang="en-US" b="0" i="0" dirty="0">
                <a:solidFill>
                  <a:srgbClr val="4D5156"/>
                </a:solidFill>
                <a:effectLst/>
                <a:latin typeface="Google Sans"/>
              </a:rPr>
              <a:t>.</a:t>
            </a:r>
            <a:endParaRPr lang="en-IN" dirty="0"/>
          </a:p>
        </p:txBody>
      </p:sp>
      <p:sp>
        <p:nvSpPr>
          <p:cNvPr id="4" name="Slide Number Placeholder 3"/>
          <p:cNvSpPr>
            <a:spLocks noGrp="1"/>
          </p:cNvSpPr>
          <p:nvPr>
            <p:ph type="sldNum" sz="quarter" idx="5"/>
          </p:nvPr>
        </p:nvSpPr>
        <p:spPr/>
        <p:txBody>
          <a:bodyPr/>
          <a:lstStyle/>
          <a:p>
            <a:fld id="{81B192C4-1362-4BBE-9949-F6525E953936}" type="slidenum">
              <a:rPr lang="en-IN" smtClean="0"/>
              <a:t>45</a:t>
            </a:fld>
            <a:endParaRPr lang="en-IN"/>
          </a:p>
        </p:txBody>
      </p:sp>
    </p:spTree>
    <p:extLst>
      <p:ext uri="{BB962C8B-B14F-4D97-AF65-F5344CB8AC3E}">
        <p14:creationId xmlns:p14="http://schemas.microsoft.com/office/powerpoint/2010/main" val="309212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a:t>Fall 2006</a:t>
            </a:r>
            <a:endParaRPr lang="en-IN"/>
          </a:p>
        </p:txBody>
      </p:sp>
      <p:sp>
        <p:nvSpPr>
          <p:cNvPr id="5" name="Footer Placeholder 4"/>
          <p:cNvSpPr>
            <a:spLocks noGrp="1"/>
          </p:cNvSpPr>
          <p:nvPr>
            <p:ph type="ftr" sz="quarter" idx="11"/>
          </p:nvPr>
        </p:nvSpPr>
        <p:spPr/>
        <p:txBody>
          <a:bodyPr/>
          <a:lstStyle/>
          <a:p>
            <a:r>
              <a:rPr lang="en-IN"/>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394254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Fall 2006</a:t>
            </a:r>
            <a:endParaRPr lang="en-IN"/>
          </a:p>
        </p:txBody>
      </p:sp>
      <p:sp>
        <p:nvSpPr>
          <p:cNvPr id="5" name="Footer Placeholder 4"/>
          <p:cNvSpPr>
            <a:spLocks noGrp="1"/>
          </p:cNvSpPr>
          <p:nvPr>
            <p:ph type="ftr" sz="quarter" idx="11"/>
          </p:nvPr>
        </p:nvSpPr>
        <p:spPr/>
        <p:txBody>
          <a:bodyPr/>
          <a:lstStyle/>
          <a:p>
            <a:r>
              <a:rPr lang="en-IN"/>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385113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Fall 2006</a:t>
            </a:r>
            <a:endParaRPr lang="en-IN"/>
          </a:p>
        </p:txBody>
      </p:sp>
      <p:sp>
        <p:nvSpPr>
          <p:cNvPr id="5" name="Footer Placeholder 4"/>
          <p:cNvSpPr>
            <a:spLocks noGrp="1"/>
          </p:cNvSpPr>
          <p:nvPr>
            <p:ph type="ftr" sz="quarter" idx="11"/>
          </p:nvPr>
        </p:nvSpPr>
        <p:spPr/>
        <p:txBody>
          <a:bodyPr/>
          <a:lstStyle/>
          <a:p>
            <a:r>
              <a:rPr lang="en-IN"/>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882023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t>Fall 2006</a:t>
            </a:r>
            <a:endParaRPr lang="en-IN"/>
          </a:p>
        </p:txBody>
      </p:sp>
      <p:sp>
        <p:nvSpPr>
          <p:cNvPr id="6" name="Footer Placeholder 5"/>
          <p:cNvSpPr>
            <a:spLocks noGrp="1"/>
          </p:cNvSpPr>
          <p:nvPr>
            <p:ph type="ftr" sz="quarter" idx="11"/>
          </p:nvPr>
        </p:nvSpPr>
        <p:spPr/>
        <p:txBody>
          <a:bodyPr/>
          <a:lstStyle/>
          <a:p>
            <a:r>
              <a:rPr lang="en-IN"/>
              <a:t>Costas Busch - RPI</a:t>
            </a:r>
          </a:p>
        </p:txBody>
      </p:sp>
      <p:sp>
        <p:nvSpPr>
          <p:cNvPr id="7" name="Slide Number Placeholder 6"/>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67017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t>Fall 2006</a:t>
            </a:r>
            <a:endParaRPr lang="en-IN"/>
          </a:p>
        </p:txBody>
      </p:sp>
      <p:sp>
        <p:nvSpPr>
          <p:cNvPr id="8" name="Footer Placeholder 7"/>
          <p:cNvSpPr>
            <a:spLocks noGrp="1"/>
          </p:cNvSpPr>
          <p:nvPr>
            <p:ph type="ftr" sz="quarter" idx="11"/>
          </p:nvPr>
        </p:nvSpPr>
        <p:spPr/>
        <p:txBody>
          <a:bodyPr/>
          <a:lstStyle/>
          <a:p>
            <a:r>
              <a:rPr lang="en-IN"/>
              <a:t>Costas Busch - RPI</a:t>
            </a:r>
          </a:p>
        </p:txBody>
      </p:sp>
      <p:sp>
        <p:nvSpPr>
          <p:cNvPr id="9" name="Slide Number Placeholder 8"/>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2323688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t>Fall 2006</a:t>
            </a:r>
            <a:endParaRPr lang="en-IN"/>
          </a:p>
        </p:txBody>
      </p:sp>
      <p:sp>
        <p:nvSpPr>
          <p:cNvPr id="4" name="Footer Placeholder 3"/>
          <p:cNvSpPr>
            <a:spLocks noGrp="1"/>
          </p:cNvSpPr>
          <p:nvPr>
            <p:ph type="ftr" sz="quarter" idx="11"/>
          </p:nvPr>
        </p:nvSpPr>
        <p:spPr/>
        <p:txBody>
          <a:bodyPr/>
          <a:lstStyle/>
          <a:p>
            <a:r>
              <a:rPr lang="en-IN"/>
              <a:t>Costas Busch - RPI</a:t>
            </a:r>
          </a:p>
        </p:txBody>
      </p:sp>
      <p:sp>
        <p:nvSpPr>
          <p:cNvPr id="5" name="Slide Number Placeholder 4"/>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4127818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Fall 2006</a:t>
            </a:r>
            <a:endParaRPr lang="en-IN"/>
          </a:p>
        </p:txBody>
      </p:sp>
      <p:sp>
        <p:nvSpPr>
          <p:cNvPr id="3" name="Footer Placeholder 2"/>
          <p:cNvSpPr>
            <a:spLocks noGrp="1"/>
          </p:cNvSpPr>
          <p:nvPr>
            <p:ph type="ftr" sz="quarter" idx="11"/>
          </p:nvPr>
        </p:nvSpPr>
        <p:spPr/>
        <p:txBody>
          <a:bodyPr/>
          <a:lstStyle/>
          <a:p>
            <a:r>
              <a:rPr lang="en-IN"/>
              <a:t>Costas Busch - RPI</a:t>
            </a:r>
          </a:p>
        </p:txBody>
      </p:sp>
      <p:sp>
        <p:nvSpPr>
          <p:cNvPr id="4" name="Slide Number Placeholder 3"/>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276018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Fall 2006</a:t>
            </a:r>
            <a:endParaRPr lang="en-IN"/>
          </a:p>
        </p:txBody>
      </p:sp>
      <p:sp>
        <p:nvSpPr>
          <p:cNvPr id="6" name="Footer Placeholder 5"/>
          <p:cNvSpPr>
            <a:spLocks noGrp="1"/>
          </p:cNvSpPr>
          <p:nvPr>
            <p:ph type="ftr" sz="quarter" idx="11"/>
          </p:nvPr>
        </p:nvSpPr>
        <p:spPr/>
        <p:txBody>
          <a:bodyPr/>
          <a:lstStyle/>
          <a:p>
            <a:r>
              <a:rPr lang="en-IN"/>
              <a:t>Costas Busch - RPI</a:t>
            </a:r>
          </a:p>
        </p:txBody>
      </p:sp>
      <p:sp>
        <p:nvSpPr>
          <p:cNvPr id="7" name="Slide Number Placeholder 6"/>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2573458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Fall 2006</a:t>
            </a:r>
            <a:endParaRPr lang="en-IN"/>
          </a:p>
        </p:txBody>
      </p:sp>
      <p:sp>
        <p:nvSpPr>
          <p:cNvPr id="6" name="Footer Placeholder 5"/>
          <p:cNvSpPr>
            <a:spLocks noGrp="1"/>
          </p:cNvSpPr>
          <p:nvPr>
            <p:ph type="ftr" sz="quarter" idx="11"/>
          </p:nvPr>
        </p:nvSpPr>
        <p:spPr/>
        <p:txBody>
          <a:bodyPr/>
          <a:lstStyle/>
          <a:p>
            <a:r>
              <a:rPr lang="en-IN"/>
              <a:t>Costas Busch - RPI</a:t>
            </a:r>
          </a:p>
        </p:txBody>
      </p:sp>
      <p:sp>
        <p:nvSpPr>
          <p:cNvPr id="7" name="Slide Number Placeholder 6"/>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4265866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Fall 2006</a:t>
            </a:r>
            <a:endParaRPr lang="en-IN"/>
          </a:p>
        </p:txBody>
      </p:sp>
      <p:sp>
        <p:nvSpPr>
          <p:cNvPr id="5" name="Footer Placeholder 4"/>
          <p:cNvSpPr>
            <a:spLocks noGrp="1"/>
          </p:cNvSpPr>
          <p:nvPr>
            <p:ph type="ftr" sz="quarter" idx="11"/>
          </p:nvPr>
        </p:nvSpPr>
        <p:spPr/>
        <p:txBody>
          <a:bodyPr/>
          <a:lstStyle/>
          <a:p>
            <a:r>
              <a:rPr lang="en-IN"/>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005572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Fall 2006</a:t>
            </a:r>
            <a:endParaRPr lang="en-IN"/>
          </a:p>
        </p:txBody>
      </p:sp>
      <p:sp>
        <p:nvSpPr>
          <p:cNvPr id="5" name="Footer Placeholder 4"/>
          <p:cNvSpPr>
            <a:spLocks noGrp="1"/>
          </p:cNvSpPr>
          <p:nvPr>
            <p:ph type="ftr" sz="quarter" idx="11"/>
          </p:nvPr>
        </p:nvSpPr>
        <p:spPr/>
        <p:txBody>
          <a:bodyPr/>
          <a:lstStyle/>
          <a:p>
            <a:r>
              <a:rPr lang="en-IN"/>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579860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8255"/>
            <a:ext cx="121920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347868" y="1447938"/>
            <a:ext cx="11492949" cy="49084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Palatino Linotype" panose="02040502050505030304" pitchFamily="18" charset="0"/>
              </a:defRPr>
            </a:lvl1pPr>
          </a:lstStyle>
          <a:p>
            <a:r>
              <a:rPr lang="en-US"/>
              <a:t>Fall 2006</a:t>
            </a:r>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Palatino Linotype" panose="02040502050505030304" pitchFamily="18" charset="0"/>
              </a:defRPr>
            </a:lvl1pPr>
          </a:lstStyle>
          <a:p>
            <a:r>
              <a:rPr lang="en-IN"/>
              <a:t>Costas Busch - RPI</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Palatino Linotype" panose="02040502050505030304" pitchFamily="18" charset="0"/>
              </a:defRPr>
            </a:lvl1pPr>
          </a:lstStyle>
          <a:p>
            <a:fld id="{9C8CFCD6-D300-4021-B6CE-498726932892}" type="slidenum">
              <a:rPr lang="en-IN" smtClean="0"/>
              <a:pPr/>
              <a:t>‹#›</a:t>
            </a:fld>
            <a:endParaRPr lang="en-IN"/>
          </a:p>
        </p:txBody>
      </p:sp>
    </p:spTree>
    <p:extLst>
      <p:ext uri="{BB962C8B-B14F-4D97-AF65-F5344CB8AC3E}">
        <p14:creationId xmlns:p14="http://schemas.microsoft.com/office/powerpoint/2010/main" val="4286578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16077" y="2354485"/>
            <a:ext cx="9144000" cy="1655762"/>
          </a:xfrm>
        </p:spPr>
        <p:txBody>
          <a:bodyPr>
            <a:normAutofit/>
          </a:bodyPr>
          <a:lstStyle/>
          <a:p>
            <a:r>
              <a:rPr lang="en-IN" sz="4400" dirty="0">
                <a:solidFill>
                  <a:srgbClr val="C00000"/>
                </a:solidFill>
              </a:rPr>
              <a:t>Module 7 – Parallelism</a:t>
            </a:r>
          </a:p>
        </p:txBody>
      </p:sp>
      <p:pic>
        <p:nvPicPr>
          <p:cNvPr id="4" name="Picture 3">
            <a:extLst>
              <a:ext uri="{FF2B5EF4-FFF2-40B4-BE49-F238E27FC236}">
                <a16:creationId xmlns:a16="http://schemas.microsoft.com/office/drawing/2014/main" id="{3821C91A-7A9A-6574-3659-97E25CDC27AE}"/>
              </a:ext>
            </a:extLst>
          </p:cNvPr>
          <p:cNvPicPr>
            <a:picLocks noChangeAspect="1"/>
          </p:cNvPicPr>
          <p:nvPr/>
        </p:nvPicPr>
        <p:blipFill>
          <a:blip r:embed="rId2"/>
          <a:stretch>
            <a:fillRect/>
          </a:stretch>
        </p:blipFill>
        <p:spPr>
          <a:xfrm>
            <a:off x="5331362" y="5740399"/>
            <a:ext cx="963221" cy="1016000"/>
          </a:xfrm>
          <a:prstGeom prst="rect">
            <a:avLst/>
          </a:prstGeom>
        </p:spPr>
      </p:pic>
      <p:sp>
        <p:nvSpPr>
          <p:cNvPr id="5" name="Subtitle 2">
            <a:extLst>
              <a:ext uri="{FF2B5EF4-FFF2-40B4-BE49-F238E27FC236}">
                <a16:creationId xmlns:a16="http://schemas.microsoft.com/office/drawing/2014/main" id="{C8427222-FE34-6825-24D7-9A72172A5325}"/>
              </a:ext>
            </a:extLst>
          </p:cNvPr>
          <p:cNvSpPr txBox="1">
            <a:spLocks/>
          </p:cNvSpPr>
          <p:nvPr/>
        </p:nvSpPr>
        <p:spPr>
          <a:xfrm>
            <a:off x="1408946" y="665914"/>
            <a:ext cx="9144000" cy="7985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Palatino Linotype" panose="02040502050505030304" pitchFamily="18"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Palatino Linotype" panose="02040502050505030304" pitchFamily="18"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Palatino Linotype" panose="02040502050505030304" pitchFamily="18"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Palatino Linotype" panose="02040502050505030304" pitchFamily="18"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Palatino Linotype" panose="02040502050505030304" pitchFamily="18"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3600" dirty="0">
                <a:solidFill>
                  <a:srgbClr val="000099"/>
                </a:solidFill>
              </a:rPr>
              <a:t>BCSE307L – Compiler Design</a:t>
            </a:r>
          </a:p>
        </p:txBody>
      </p:sp>
      <p:pic>
        <p:nvPicPr>
          <p:cNvPr id="8" name="Picture 7">
            <a:extLst>
              <a:ext uri="{FF2B5EF4-FFF2-40B4-BE49-F238E27FC236}">
                <a16:creationId xmlns:a16="http://schemas.microsoft.com/office/drawing/2014/main" id="{3A71CB2C-BA6E-CF70-042F-309E82B1BEBE}"/>
              </a:ext>
            </a:extLst>
          </p:cNvPr>
          <p:cNvPicPr>
            <a:picLocks noChangeAspect="1"/>
          </p:cNvPicPr>
          <p:nvPr/>
        </p:nvPicPr>
        <p:blipFill>
          <a:blip r:embed="rId3"/>
          <a:stretch>
            <a:fillRect/>
          </a:stretch>
        </p:blipFill>
        <p:spPr>
          <a:xfrm>
            <a:off x="6911009" y="4829345"/>
            <a:ext cx="5033618" cy="1362741"/>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4262036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5481D-4AE7-6C1D-C5E2-D1912E482D1B}"/>
              </a:ext>
            </a:extLst>
          </p:cNvPr>
          <p:cNvSpPr>
            <a:spLocks noGrp="1"/>
          </p:cNvSpPr>
          <p:nvPr>
            <p:ph type="title"/>
          </p:nvPr>
        </p:nvSpPr>
        <p:spPr>
          <a:xfrm>
            <a:off x="0" y="0"/>
            <a:ext cx="11521005" cy="980661"/>
          </a:xfrm>
        </p:spPr>
        <p:txBody>
          <a:bodyPr/>
          <a:lstStyle/>
          <a:p>
            <a:r>
              <a:rPr lang="en-IN" dirty="0"/>
              <a:t>Parallelization</a:t>
            </a:r>
          </a:p>
        </p:txBody>
      </p:sp>
      <p:sp>
        <p:nvSpPr>
          <p:cNvPr id="3" name="Content Placeholder 2">
            <a:extLst>
              <a:ext uri="{FF2B5EF4-FFF2-40B4-BE49-F238E27FC236}">
                <a16:creationId xmlns:a16="http://schemas.microsoft.com/office/drawing/2014/main" id="{CC20F6EC-F9C5-BC90-673C-895EFC7A5A2E}"/>
              </a:ext>
            </a:extLst>
          </p:cNvPr>
          <p:cNvSpPr>
            <a:spLocks noGrp="1"/>
          </p:cNvSpPr>
          <p:nvPr>
            <p:ph idx="1"/>
          </p:nvPr>
        </p:nvSpPr>
        <p:spPr>
          <a:xfrm>
            <a:off x="366713" y="1143878"/>
            <a:ext cx="11320462" cy="5343062"/>
          </a:xfrm>
        </p:spPr>
        <p:txBody>
          <a:bodyPr>
            <a:normAutofit fontScale="92500" lnSpcReduction="10000"/>
          </a:bodyPr>
          <a:lstStyle/>
          <a:p>
            <a:pPr>
              <a:lnSpc>
                <a:spcPct val="100000"/>
              </a:lnSpc>
            </a:pPr>
            <a:r>
              <a:rPr lang="en-US" dirty="0"/>
              <a:t>Parallelizing (or multithreading) </a:t>
            </a:r>
            <a:r>
              <a:rPr lang="en-US" dirty="0">
                <a:solidFill>
                  <a:srgbClr val="000099"/>
                </a:solidFill>
              </a:rPr>
              <a:t>an application compiles the program to run on a multiprocessor system or in a multithreaded environment. </a:t>
            </a:r>
          </a:p>
          <a:p>
            <a:pPr>
              <a:lnSpc>
                <a:spcPct val="100000"/>
              </a:lnSpc>
            </a:pPr>
            <a:r>
              <a:rPr lang="en-US" dirty="0"/>
              <a:t>Parallelization </a:t>
            </a:r>
            <a:r>
              <a:rPr lang="en-US" dirty="0">
                <a:solidFill>
                  <a:srgbClr val="FF0000"/>
                </a:solidFill>
              </a:rPr>
              <a:t>enables a single task, such as a DO loop, to run over multiple processors (or threads) with a potentially significant execution speedup</a:t>
            </a:r>
            <a:r>
              <a:rPr lang="en-US" dirty="0"/>
              <a:t>.</a:t>
            </a:r>
          </a:p>
          <a:p>
            <a:pPr>
              <a:lnSpc>
                <a:spcPct val="100000"/>
              </a:lnSpc>
            </a:pPr>
            <a:r>
              <a:rPr lang="en-US" dirty="0"/>
              <a:t>Before an application program can be run efficiently on a multiprocessor system (like the </a:t>
            </a:r>
            <a:r>
              <a:rPr lang="en-US" dirty="0" err="1"/>
              <a:t>Ultratrademark</a:t>
            </a:r>
            <a:r>
              <a:rPr lang="en-US" dirty="0"/>
              <a:t> 60, Sun Enterprise trademark Server 6500, or Sun Enterprise Server 10000), </a:t>
            </a:r>
            <a:r>
              <a:rPr lang="en-US" dirty="0">
                <a:solidFill>
                  <a:srgbClr val="000099"/>
                </a:solidFill>
              </a:rPr>
              <a:t>it needs to be multithreaded</a:t>
            </a:r>
            <a:r>
              <a:rPr lang="en-US" dirty="0"/>
              <a:t>. </a:t>
            </a:r>
          </a:p>
          <a:p>
            <a:pPr lvl="1">
              <a:lnSpc>
                <a:spcPct val="100000"/>
              </a:lnSpc>
            </a:pPr>
            <a:r>
              <a:rPr lang="en-US" dirty="0"/>
              <a:t>(i.e.) tasks that can be performed in parallel need to be identified and reprogrammed to distribute their computations across multiple processors or threads.</a:t>
            </a:r>
          </a:p>
          <a:p>
            <a:pPr>
              <a:lnSpc>
                <a:spcPct val="100000"/>
              </a:lnSpc>
            </a:pPr>
            <a:r>
              <a:rPr lang="en-US" dirty="0"/>
              <a:t>In some compilers (</a:t>
            </a:r>
            <a:r>
              <a:rPr lang="en-US" dirty="0" err="1"/>
              <a:t>eg.</a:t>
            </a:r>
            <a:r>
              <a:rPr lang="en-US" dirty="0"/>
              <a:t> </a:t>
            </a:r>
            <a:r>
              <a:rPr lang="en-US" dirty="0" err="1"/>
              <a:t>Fortan</a:t>
            </a:r>
            <a:r>
              <a:rPr lang="en-US" dirty="0"/>
              <a:t> compiler), parallelization distributes the computational work of a loop over several processors </a:t>
            </a:r>
            <a:r>
              <a:rPr lang="en-US" dirty="0">
                <a:solidFill>
                  <a:srgbClr val="000099"/>
                </a:solidFill>
              </a:rPr>
              <a:t>without requiring modifications to the source program</a:t>
            </a:r>
            <a:r>
              <a:rPr lang="en-US" dirty="0"/>
              <a:t>.</a:t>
            </a:r>
            <a:endParaRPr lang="en-IN" dirty="0"/>
          </a:p>
        </p:txBody>
      </p:sp>
    </p:spTree>
    <p:extLst>
      <p:ext uri="{BB962C8B-B14F-4D97-AF65-F5344CB8AC3E}">
        <p14:creationId xmlns:p14="http://schemas.microsoft.com/office/powerpoint/2010/main" val="162328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73A2C-F5F2-34BB-F0E3-FDCE644F1EFF}"/>
              </a:ext>
            </a:extLst>
          </p:cNvPr>
          <p:cNvSpPr>
            <a:spLocks noGrp="1"/>
          </p:cNvSpPr>
          <p:nvPr>
            <p:ph type="title"/>
          </p:nvPr>
        </p:nvSpPr>
        <p:spPr/>
        <p:txBody>
          <a:bodyPr/>
          <a:lstStyle/>
          <a:p>
            <a:r>
              <a:rPr lang="en-IN" dirty="0" err="1"/>
              <a:t>Cont</a:t>
            </a:r>
            <a:r>
              <a:rPr lang="en-IN" dirty="0"/>
              <a:t>…</a:t>
            </a:r>
          </a:p>
        </p:txBody>
      </p:sp>
      <p:sp>
        <p:nvSpPr>
          <p:cNvPr id="3" name="Content Placeholder 2">
            <a:extLst>
              <a:ext uri="{FF2B5EF4-FFF2-40B4-BE49-F238E27FC236}">
                <a16:creationId xmlns:a16="http://schemas.microsoft.com/office/drawing/2014/main" id="{58E0753F-F11D-D778-0529-49201B75C2DE}"/>
              </a:ext>
            </a:extLst>
          </p:cNvPr>
          <p:cNvSpPr>
            <a:spLocks noGrp="1"/>
          </p:cNvSpPr>
          <p:nvPr>
            <p:ph idx="1"/>
          </p:nvPr>
        </p:nvSpPr>
        <p:spPr>
          <a:xfrm>
            <a:off x="347868" y="1099929"/>
            <a:ext cx="11492949" cy="5526157"/>
          </a:xfrm>
        </p:spPr>
        <p:txBody>
          <a:bodyPr>
            <a:normAutofit fontScale="85000" lnSpcReduction="20000"/>
          </a:bodyPr>
          <a:lstStyle/>
          <a:p>
            <a:pPr>
              <a:lnSpc>
                <a:spcPct val="120000"/>
              </a:lnSpc>
            </a:pPr>
            <a:r>
              <a:rPr lang="en-US" dirty="0">
                <a:solidFill>
                  <a:srgbClr val="000099"/>
                </a:solidFill>
              </a:rPr>
              <a:t>Not all loops in a program can be profitably parallelized. </a:t>
            </a:r>
          </a:p>
          <a:p>
            <a:pPr lvl="1">
              <a:lnSpc>
                <a:spcPct val="120000"/>
              </a:lnSpc>
            </a:pPr>
            <a:r>
              <a:rPr lang="en-US" dirty="0"/>
              <a:t>Loops containing only a small amount of computational work (compared to the overhead spent starting and synchronizing parallel tasks) may actually run more slowly when parallelized. </a:t>
            </a:r>
          </a:p>
          <a:p>
            <a:pPr lvl="1">
              <a:lnSpc>
                <a:spcPct val="120000"/>
              </a:lnSpc>
            </a:pPr>
            <a:r>
              <a:rPr lang="en-US" dirty="0"/>
              <a:t>Also, some loops cannot be safely parallelized at all; they would compute different results when run in parallel due to dependencies between statements or iterations.</a:t>
            </a:r>
          </a:p>
          <a:p>
            <a:pPr>
              <a:lnSpc>
                <a:spcPct val="120000"/>
              </a:lnSpc>
            </a:pPr>
            <a:r>
              <a:rPr lang="en-US" dirty="0">
                <a:solidFill>
                  <a:srgbClr val="FF0000"/>
                </a:solidFill>
              </a:rPr>
              <a:t>Implicit loops (</a:t>
            </a:r>
            <a:r>
              <a:rPr lang="en-US" dirty="0">
                <a:solidFill>
                  <a:srgbClr val="000099"/>
                </a:solidFill>
              </a:rPr>
              <a:t>E.g.: IF loops and arrays within loops</a:t>
            </a:r>
            <a:r>
              <a:rPr lang="en-US" dirty="0">
                <a:solidFill>
                  <a:srgbClr val="FF0000"/>
                </a:solidFill>
              </a:rPr>
              <a:t>) as well as explicit DO loops are candidates for automatic parallelization by the compilers.</a:t>
            </a:r>
          </a:p>
          <a:p>
            <a:pPr>
              <a:lnSpc>
                <a:spcPct val="120000"/>
              </a:lnSpc>
            </a:pPr>
            <a:r>
              <a:rPr lang="en-US" dirty="0">
                <a:solidFill>
                  <a:srgbClr val="000099"/>
                </a:solidFill>
              </a:rPr>
              <a:t>Compilers can detect loops that might be safely and profitably parallelized automatically. </a:t>
            </a:r>
          </a:p>
          <a:p>
            <a:pPr lvl="1">
              <a:lnSpc>
                <a:spcPct val="120000"/>
              </a:lnSpc>
            </a:pPr>
            <a:r>
              <a:rPr lang="en-US" dirty="0"/>
              <a:t>However, in most cases, the analysis is necessarily conservative, due to the concern for possible hidden side effects. </a:t>
            </a:r>
          </a:p>
          <a:p>
            <a:pPr lvl="1">
              <a:lnSpc>
                <a:spcPct val="120000"/>
              </a:lnSpc>
            </a:pPr>
            <a:r>
              <a:rPr lang="en-US" dirty="0"/>
              <a:t>By inserting source code directives before loops, you can explicitly influence the analysis, controlling how a specific loop is (or is not) to be parallelized. </a:t>
            </a:r>
            <a:endParaRPr lang="en-IN" dirty="0"/>
          </a:p>
        </p:txBody>
      </p:sp>
    </p:spTree>
    <p:extLst>
      <p:ext uri="{BB962C8B-B14F-4D97-AF65-F5344CB8AC3E}">
        <p14:creationId xmlns:p14="http://schemas.microsoft.com/office/powerpoint/2010/main" val="1710677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DF1BA-0033-FA88-5139-4B3B42DC00C7}"/>
              </a:ext>
            </a:extLst>
          </p:cNvPr>
          <p:cNvSpPr>
            <a:spLocks noGrp="1"/>
          </p:cNvSpPr>
          <p:nvPr>
            <p:ph type="title"/>
          </p:nvPr>
        </p:nvSpPr>
        <p:spPr/>
        <p:txBody>
          <a:bodyPr/>
          <a:lstStyle/>
          <a:p>
            <a:r>
              <a:rPr lang="en-IN" dirty="0"/>
              <a:t>Automatic Parallelization</a:t>
            </a:r>
          </a:p>
        </p:txBody>
      </p:sp>
      <p:sp>
        <p:nvSpPr>
          <p:cNvPr id="3" name="Content Placeholder 2">
            <a:extLst>
              <a:ext uri="{FF2B5EF4-FFF2-40B4-BE49-F238E27FC236}">
                <a16:creationId xmlns:a16="http://schemas.microsoft.com/office/drawing/2014/main" id="{768903F3-192B-A92D-30BF-79448079014C}"/>
              </a:ext>
            </a:extLst>
          </p:cNvPr>
          <p:cNvSpPr>
            <a:spLocks noGrp="1"/>
          </p:cNvSpPr>
          <p:nvPr>
            <p:ph idx="1"/>
          </p:nvPr>
        </p:nvSpPr>
        <p:spPr/>
        <p:txBody>
          <a:bodyPr>
            <a:normAutofit/>
          </a:bodyPr>
          <a:lstStyle/>
          <a:p>
            <a:r>
              <a:rPr lang="en-US" dirty="0">
                <a:solidFill>
                  <a:srgbClr val="FF0000"/>
                </a:solidFill>
              </a:rPr>
              <a:t>Automatic conversion of sequential programs to parallel programs by a compiler</a:t>
            </a:r>
          </a:p>
          <a:p>
            <a:r>
              <a:rPr lang="en-US" dirty="0">
                <a:solidFill>
                  <a:srgbClr val="FF0000"/>
                </a:solidFill>
              </a:rPr>
              <a:t>Target</a:t>
            </a:r>
            <a:r>
              <a:rPr lang="en-US" dirty="0"/>
              <a:t> may be a </a:t>
            </a:r>
            <a:r>
              <a:rPr lang="en-US" dirty="0">
                <a:solidFill>
                  <a:srgbClr val="000099"/>
                </a:solidFill>
              </a:rPr>
              <a:t>vector processor (vectorization), a multi-core processor (</a:t>
            </a:r>
            <a:r>
              <a:rPr lang="en-US" dirty="0" err="1">
                <a:solidFill>
                  <a:srgbClr val="000099"/>
                </a:solidFill>
              </a:rPr>
              <a:t>concurrentization</a:t>
            </a:r>
            <a:r>
              <a:rPr lang="en-US" dirty="0">
                <a:solidFill>
                  <a:srgbClr val="000099"/>
                </a:solidFill>
              </a:rPr>
              <a:t>), or a cluster of loosely coupled distributed memory processors (parallelization)</a:t>
            </a:r>
          </a:p>
          <a:p>
            <a:r>
              <a:rPr lang="en-US" dirty="0"/>
              <a:t>Parallelism extraction process is normally a </a:t>
            </a:r>
            <a:r>
              <a:rPr lang="en-US" dirty="0">
                <a:solidFill>
                  <a:srgbClr val="000099"/>
                </a:solidFill>
              </a:rPr>
              <a:t>source-to-source transformation</a:t>
            </a:r>
          </a:p>
          <a:p>
            <a:pPr lvl="1"/>
            <a:r>
              <a:rPr lang="en-US" dirty="0"/>
              <a:t>Requires </a:t>
            </a:r>
            <a:r>
              <a:rPr lang="en-US" dirty="0">
                <a:solidFill>
                  <a:srgbClr val="000099"/>
                </a:solidFill>
              </a:rPr>
              <a:t>dependence analysis </a:t>
            </a:r>
            <a:r>
              <a:rPr lang="en-US" dirty="0"/>
              <a:t>to determine the dependence between statements</a:t>
            </a:r>
          </a:p>
          <a:p>
            <a:r>
              <a:rPr lang="en-US" dirty="0"/>
              <a:t>Implementation of available parallelism is also a challenge</a:t>
            </a:r>
          </a:p>
          <a:p>
            <a:pPr lvl="1"/>
            <a:r>
              <a:rPr lang="en-US" dirty="0"/>
              <a:t>For example, can all the iterations of a 2-nested loop be run in parallel?</a:t>
            </a:r>
          </a:p>
        </p:txBody>
      </p:sp>
    </p:spTree>
    <p:extLst>
      <p:ext uri="{BB962C8B-B14F-4D97-AF65-F5344CB8AC3E}">
        <p14:creationId xmlns:p14="http://schemas.microsoft.com/office/powerpoint/2010/main" val="800984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0C656-4DA9-8213-727F-970B250A67E4}"/>
              </a:ext>
            </a:extLst>
          </p:cNvPr>
          <p:cNvSpPr>
            <a:spLocks noGrp="1"/>
          </p:cNvSpPr>
          <p:nvPr>
            <p:ph type="title"/>
          </p:nvPr>
        </p:nvSpPr>
        <p:spPr/>
        <p:txBody>
          <a:bodyPr/>
          <a:lstStyle/>
          <a:p>
            <a:r>
              <a:rPr lang="en-IN" dirty="0"/>
              <a:t>Example 1</a:t>
            </a:r>
          </a:p>
        </p:txBody>
      </p:sp>
      <p:sp>
        <p:nvSpPr>
          <p:cNvPr id="3" name="Content Placeholder 2">
            <a:extLst>
              <a:ext uri="{FF2B5EF4-FFF2-40B4-BE49-F238E27FC236}">
                <a16:creationId xmlns:a16="http://schemas.microsoft.com/office/drawing/2014/main" id="{4899B716-2EAF-D39B-8961-C21F8DBF6C08}"/>
              </a:ext>
            </a:extLst>
          </p:cNvPr>
          <p:cNvSpPr>
            <a:spLocks noGrp="1"/>
          </p:cNvSpPr>
          <p:nvPr>
            <p:ph idx="1"/>
          </p:nvPr>
        </p:nvSpPr>
        <p:spPr>
          <a:xfrm>
            <a:off x="347868" y="1146629"/>
            <a:ext cx="11492949" cy="5566227"/>
          </a:xfrm>
        </p:spPr>
        <p:txBody>
          <a:bodyPr>
            <a:normAutofit fontScale="85000" lnSpcReduction="20000"/>
          </a:bodyPr>
          <a:lstStyle/>
          <a:p>
            <a:pPr marL="0" indent="0">
              <a:lnSpc>
                <a:spcPct val="120000"/>
              </a:lnSpc>
              <a:spcBef>
                <a:spcPts val="0"/>
              </a:spcBef>
              <a:buNone/>
            </a:pPr>
            <a:r>
              <a:rPr lang="en-US" sz="2600" dirty="0">
                <a:solidFill>
                  <a:srgbClr val="000099"/>
                </a:solidFill>
              </a:rPr>
              <a:t>for I = 1 to 100 do </a:t>
            </a:r>
          </a:p>
          <a:p>
            <a:pPr marL="0" indent="0">
              <a:lnSpc>
                <a:spcPct val="120000"/>
              </a:lnSpc>
              <a:spcBef>
                <a:spcPts val="0"/>
              </a:spcBef>
              <a:buNone/>
            </a:pPr>
            <a:r>
              <a:rPr lang="en-US" sz="2600" dirty="0">
                <a:solidFill>
                  <a:srgbClr val="000099"/>
                </a:solidFill>
              </a:rPr>
              <a:t>{ </a:t>
            </a:r>
          </a:p>
          <a:p>
            <a:pPr marL="0" indent="0">
              <a:lnSpc>
                <a:spcPct val="120000"/>
              </a:lnSpc>
              <a:spcBef>
                <a:spcPts val="0"/>
              </a:spcBef>
              <a:buNone/>
            </a:pPr>
            <a:r>
              <a:rPr lang="en-US" sz="2600" dirty="0">
                <a:solidFill>
                  <a:srgbClr val="000099"/>
                </a:solidFill>
              </a:rPr>
              <a:t>X (I) = X (I) + Y (I)</a:t>
            </a:r>
          </a:p>
          <a:p>
            <a:pPr marL="0" indent="0">
              <a:lnSpc>
                <a:spcPct val="120000"/>
              </a:lnSpc>
              <a:spcBef>
                <a:spcPts val="0"/>
              </a:spcBef>
              <a:buNone/>
            </a:pPr>
            <a:r>
              <a:rPr lang="en-US" sz="2600" dirty="0">
                <a:solidFill>
                  <a:srgbClr val="000099"/>
                </a:solidFill>
              </a:rPr>
              <a:t>}</a:t>
            </a:r>
          </a:p>
          <a:p>
            <a:pPr marL="0" indent="0">
              <a:lnSpc>
                <a:spcPct val="120000"/>
              </a:lnSpc>
              <a:spcBef>
                <a:spcPts val="0"/>
              </a:spcBef>
              <a:buNone/>
            </a:pPr>
            <a:r>
              <a:rPr lang="en-US" sz="2600" dirty="0">
                <a:solidFill>
                  <a:srgbClr val="000099"/>
                </a:solidFill>
              </a:rPr>
              <a:t>can be converted to</a:t>
            </a:r>
          </a:p>
          <a:p>
            <a:pPr marL="0" indent="0">
              <a:lnSpc>
                <a:spcPct val="120000"/>
              </a:lnSpc>
              <a:spcBef>
                <a:spcPts val="0"/>
              </a:spcBef>
              <a:buNone/>
            </a:pPr>
            <a:r>
              <a:rPr lang="en-US" sz="2600" dirty="0">
                <a:solidFill>
                  <a:srgbClr val="000099"/>
                </a:solidFill>
              </a:rPr>
              <a:t>X(1:100) = X (1:100) + Y (1:100)</a:t>
            </a:r>
          </a:p>
          <a:p>
            <a:pPr marL="0" indent="0">
              <a:lnSpc>
                <a:spcPct val="120000"/>
              </a:lnSpc>
              <a:buNone/>
            </a:pPr>
            <a:endParaRPr lang="en-US" dirty="0"/>
          </a:p>
          <a:p>
            <a:pPr>
              <a:lnSpc>
                <a:spcPct val="120000"/>
              </a:lnSpc>
            </a:pPr>
            <a:r>
              <a:rPr lang="en-US" dirty="0"/>
              <a:t>The above code can be run on a vector processor in O(1) time. The vectors X and Y are fetched first and then written into the vector X</a:t>
            </a:r>
          </a:p>
          <a:p>
            <a:pPr>
              <a:lnSpc>
                <a:spcPct val="120000"/>
              </a:lnSpc>
            </a:pPr>
            <a:r>
              <a:rPr lang="en-US" dirty="0">
                <a:solidFill>
                  <a:srgbClr val="000099"/>
                </a:solidFill>
              </a:rPr>
              <a:t>The vectorization is possible because there is no dependence between these iterations</a:t>
            </a:r>
          </a:p>
          <a:p>
            <a:pPr lvl="1">
              <a:lnSpc>
                <a:spcPct val="120000"/>
              </a:lnSpc>
            </a:pPr>
            <a:r>
              <a:rPr lang="en-US" dirty="0"/>
              <a:t>For example, this writes X1 equal to X1 plus Y1, the second iterations writes X2 equal to X2 plus Y2. Each iteration writes and reads different X and Y items, so there is no dependence from one iteration to another.</a:t>
            </a:r>
            <a:endParaRPr lang="en-IN" dirty="0"/>
          </a:p>
        </p:txBody>
      </p:sp>
    </p:spTree>
    <p:extLst>
      <p:ext uri="{BB962C8B-B14F-4D97-AF65-F5344CB8AC3E}">
        <p14:creationId xmlns:p14="http://schemas.microsoft.com/office/powerpoint/2010/main" val="388749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35ACE-69E0-BA67-998A-40D56BFC79B5}"/>
              </a:ext>
            </a:extLst>
          </p:cNvPr>
          <p:cNvSpPr>
            <a:spLocks noGrp="1"/>
          </p:cNvSpPr>
          <p:nvPr>
            <p:ph type="title"/>
          </p:nvPr>
        </p:nvSpPr>
        <p:spPr/>
        <p:txBody>
          <a:bodyPr/>
          <a:lstStyle/>
          <a:p>
            <a:r>
              <a:rPr lang="en-IN" dirty="0"/>
              <a:t>Example 2</a:t>
            </a:r>
            <a:br>
              <a:rPr lang="en-IN" dirty="0"/>
            </a:br>
            <a:endParaRPr lang="en-IN" dirty="0"/>
          </a:p>
        </p:txBody>
      </p:sp>
      <p:sp>
        <p:nvSpPr>
          <p:cNvPr id="3" name="Content Placeholder 2">
            <a:extLst>
              <a:ext uri="{FF2B5EF4-FFF2-40B4-BE49-F238E27FC236}">
                <a16:creationId xmlns:a16="http://schemas.microsoft.com/office/drawing/2014/main" id="{A0DCD502-4EF0-E8BA-A509-C4D7FC30AF03}"/>
              </a:ext>
            </a:extLst>
          </p:cNvPr>
          <p:cNvSpPr>
            <a:spLocks noGrp="1"/>
          </p:cNvSpPr>
          <p:nvPr>
            <p:ph idx="1"/>
          </p:nvPr>
        </p:nvSpPr>
        <p:spPr>
          <a:xfrm>
            <a:off x="347868" y="943429"/>
            <a:ext cx="11492949" cy="5769428"/>
          </a:xfrm>
        </p:spPr>
        <p:txBody>
          <a:bodyPr>
            <a:normAutofit fontScale="77500" lnSpcReduction="20000"/>
          </a:bodyPr>
          <a:lstStyle/>
          <a:p>
            <a:pPr marL="457200" lvl="1" indent="0">
              <a:lnSpc>
                <a:spcPct val="120000"/>
              </a:lnSpc>
              <a:buNone/>
            </a:pPr>
            <a:r>
              <a:rPr lang="en-IN" sz="2800" dirty="0">
                <a:solidFill>
                  <a:srgbClr val="000099"/>
                </a:solidFill>
              </a:rPr>
              <a:t>for I = 1 to 100 do </a:t>
            </a:r>
          </a:p>
          <a:p>
            <a:pPr marL="457200" lvl="1" indent="0">
              <a:lnSpc>
                <a:spcPct val="120000"/>
              </a:lnSpc>
              <a:buNone/>
            </a:pPr>
            <a:r>
              <a:rPr lang="en-IN" sz="2800" dirty="0">
                <a:solidFill>
                  <a:srgbClr val="000099"/>
                </a:solidFill>
              </a:rPr>
              <a:t>{ </a:t>
            </a:r>
          </a:p>
          <a:p>
            <a:pPr marL="457200" lvl="1" indent="0">
              <a:lnSpc>
                <a:spcPct val="120000"/>
              </a:lnSpc>
              <a:buNone/>
            </a:pPr>
            <a:r>
              <a:rPr lang="en-IN" sz="2800" dirty="0">
                <a:solidFill>
                  <a:srgbClr val="000099"/>
                </a:solidFill>
              </a:rPr>
              <a:t>X (I) = X(I) + Y(I)</a:t>
            </a:r>
          </a:p>
          <a:p>
            <a:pPr marL="457200" lvl="1" indent="0">
              <a:lnSpc>
                <a:spcPct val="120000"/>
              </a:lnSpc>
              <a:buNone/>
            </a:pPr>
            <a:r>
              <a:rPr lang="en-IN" sz="2800" dirty="0">
                <a:solidFill>
                  <a:srgbClr val="000099"/>
                </a:solidFill>
              </a:rPr>
              <a:t>}</a:t>
            </a:r>
          </a:p>
          <a:p>
            <a:pPr marL="457200" lvl="1" indent="0">
              <a:lnSpc>
                <a:spcPct val="120000"/>
              </a:lnSpc>
              <a:buNone/>
            </a:pPr>
            <a:r>
              <a:rPr lang="en-IN" sz="2800" dirty="0">
                <a:solidFill>
                  <a:srgbClr val="000099"/>
                </a:solidFill>
              </a:rPr>
              <a:t>can be converted to</a:t>
            </a:r>
          </a:p>
          <a:p>
            <a:pPr marL="457200" lvl="1" indent="0">
              <a:lnSpc>
                <a:spcPct val="120000"/>
              </a:lnSpc>
              <a:buNone/>
            </a:pPr>
            <a:r>
              <a:rPr lang="en-IN" sz="2800" dirty="0" err="1">
                <a:solidFill>
                  <a:srgbClr val="000099"/>
                </a:solidFill>
              </a:rPr>
              <a:t>forall</a:t>
            </a:r>
            <a:r>
              <a:rPr lang="en-IN" sz="2800" dirty="0">
                <a:solidFill>
                  <a:srgbClr val="000099"/>
                </a:solidFill>
              </a:rPr>
              <a:t> I = 1 to 100 do { X (I) = X (I) + Y (I) }</a:t>
            </a:r>
          </a:p>
          <a:p>
            <a:pPr>
              <a:lnSpc>
                <a:spcPct val="120000"/>
              </a:lnSpc>
            </a:pPr>
            <a:r>
              <a:rPr lang="en-IN" dirty="0"/>
              <a:t>The above code can be run on a multi-core processor with all the 100 iterations running as separate threads. </a:t>
            </a:r>
            <a:r>
              <a:rPr lang="en-IN" dirty="0">
                <a:solidFill>
                  <a:srgbClr val="FF0000"/>
                </a:solidFill>
              </a:rPr>
              <a:t>Each thread "owns" a different I value</a:t>
            </a:r>
          </a:p>
          <a:p>
            <a:pPr lvl="1">
              <a:lnSpc>
                <a:spcPct val="120000"/>
              </a:lnSpc>
            </a:pPr>
            <a:r>
              <a:rPr lang="en-US" dirty="0"/>
              <a:t>What happens is there will be 100 iterations running as separate threads assuming that there are 100 cores possible. </a:t>
            </a:r>
          </a:p>
          <a:p>
            <a:pPr lvl="1">
              <a:lnSpc>
                <a:spcPct val="120000"/>
              </a:lnSpc>
            </a:pPr>
            <a:r>
              <a:rPr lang="en-US" dirty="0"/>
              <a:t>Each thread actually owns a different I value, so for I equal to 1 there is a thread, for I equal to 2 there is another thread and so on. Each thread is responsible for executing one of the iterations, so X I equal to X I plus Y I. </a:t>
            </a:r>
          </a:p>
          <a:p>
            <a:pPr lvl="1">
              <a:lnSpc>
                <a:spcPct val="120000"/>
              </a:lnSpc>
            </a:pPr>
            <a:r>
              <a:rPr lang="en-US" dirty="0"/>
              <a:t>Since, </a:t>
            </a:r>
            <a:r>
              <a:rPr lang="en-US" dirty="0">
                <a:solidFill>
                  <a:srgbClr val="FF0000"/>
                </a:solidFill>
              </a:rPr>
              <a:t>the I values are all different, again each thread writes and reads from a different X location and Y location</a:t>
            </a:r>
            <a:r>
              <a:rPr lang="en-US" dirty="0"/>
              <a:t>.</a:t>
            </a:r>
            <a:endParaRPr lang="en-IN" dirty="0"/>
          </a:p>
        </p:txBody>
      </p:sp>
    </p:spTree>
    <p:extLst>
      <p:ext uri="{BB962C8B-B14F-4D97-AF65-F5344CB8AC3E}">
        <p14:creationId xmlns:p14="http://schemas.microsoft.com/office/powerpoint/2010/main" val="2293672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6D423-F747-7680-F2FF-00278E256F9A}"/>
              </a:ext>
            </a:extLst>
          </p:cNvPr>
          <p:cNvSpPr>
            <a:spLocks noGrp="1"/>
          </p:cNvSpPr>
          <p:nvPr>
            <p:ph type="title"/>
          </p:nvPr>
        </p:nvSpPr>
        <p:spPr/>
        <p:txBody>
          <a:bodyPr/>
          <a:lstStyle/>
          <a:p>
            <a:r>
              <a:rPr lang="en-IN" dirty="0"/>
              <a:t>Example 3</a:t>
            </a:r>
          </a:p>
        </p:txBody>
      </p:sp>
      <p:sp>
        <p:nvSpPr>
          <p:cNvPr id="3" name="Content Placeholder 2">
            <a:extLst>
              <a:ext uri="{FF2B5EF4-FFF2-40B4-BE49-F238E27FC236}">
                <a16:creationId xmlns:a16="http://schemas.microsoft.com/office/drawing/2014/main" id="{C2ED7478-672C-B30C-E0A0-C25E058E0CE2}"/>
              </a:ext>
            </a:extLst>
          </p:cNvPr>
          <p:cNvSpPr>
            <a:spLocks noGrp="1"/>
          </p:cNvSpPr>
          <p:nvPr>
            <p:ph idx="1"/>
          </p:nvPr>
        </p:nvSpPr>
        <p:spPr>
          <a:xfrm>
            <a:off x="347868" y="1117599"/>
            <a:ext cx="11492949" cy="5631543"/>
          </a:xfrm>
        </p:spPr>
        <p:txBody>
          <a:bodyPr>
            <a:normAutofit fontScale="92500" lnSpcReduction="20000"/>
          </a:bodyPr>
          <a:lstStyle/>
          <a:p>
            <a:pPr marL="0" indent="0">
              <a:lnSpc>
                <a:spcPct val="120000"/>
              </a:lnSpc>
              <a:spcBef>
                <a:spcPts val="0"/>
              </a:spcBef>
              <a:buNone/>
            </a:pPr>
            <a:r>
              <a:rPr lang="en-US" dirty="0">
                <a:solidFill>
                  <a:srgbClr val="000099"/>
                </a:solidFill>
              </a:rPr>
              <a:t>for I = 1 to 100 do { X (I+1) = X(I) + Y (I) }</a:t>
            </a:r>
          </a:p>
          <a:p>
            <a:pPr marL="0" indent="0">
              <a:lnSpc>
                <a:spcPct val="120000"/>
              </a:lnSpc>
              <a:spcBef>
                <a:spcPts val="0"/>
              </a:spcBef>
              <a:buNone/>
            </a:pPr>
            <a:r>
              <a:rPr lang="en-US" dirty="0"/>
              <a:t>cannot be converted to</a:t>
            </a:r>
          </a:p>
          <a:p>
            <a:pPr marL="0" indent="0">
              <a:lnSpc>
                <a:spcPct val="120000"/>
              </a:lnSpc>
              <a:spcBef>
                <a:spcPts val="0"/>
              </a:spcBef>
              <a:buNone/>
            </a:pPr>
            <a:r>
              <a:rPr lang="en-US" dirty="0">
                <a:solidFill>
                  <a:srgbClr val="000099"/>
                </a:solidFill>
              </a:rPr>
              <a:t>X (2:101) = X(1:100) + Y (1:100)</a:t>
            </a:r>
          </a:p>
          <a:p>
            <a:pPr marL="0" indent="0">
              <a:lnSpc>
                <a:spcPct val="120000"/>
              </a:lnSpc>
              <a:spcBef>
                <a:spcPts val="0"/>
              </a:spcBef>
              <a:buNone/>
            </a:pPr>
            <a:r>
              <a:rPr lang="en-US" dirty="0"/>
              <a:t>because of dependence as shown below</a:t>
            </a:r>
          </a:p>
          <a:p>
            <a:pPr marL="0" indent="0">
              <a:lnSpc>
                <a:spcPct val="120000"/>
              </a:lnSpc>
              <a:spcBef>
                <a:spcPts val="0"/>
              </a:spcBef>
              <a:buNone/>
            </a:pPr>
            <a:r>
              <a:rPr lang="en-US" dirty="0">
                <a:solidFill>
                  <a:srgbClr val="000099"/>
                </a:solidFill>
              </a:rPr>
              <a:t>X (2) = X (1) + Y (1)</a:t>
            </a:r>
          </a:p>
          <a:p>
            <a:pPr marL="0" indent="0">
              <a:lnSpc>
                <a:spcPct val="120000"/>
              </a:lnSpc>
              <a:spcBef>
                <a:spcPts val="0"/>
              </a:spcBef>
              <a:buNone/>
            </a:pPr>
            <a:r>
              <a:rPr lang="en-US" dirty="0">
                <a:solidFill>
                  <a:srgbClr val="000099"/>
                </a:solidFill>
              </a:rPr>
              <a:t>X (3) = X(2) + Y (2)</a:t>
            </a:r>
          </a:p>
          <a:p>
            <a:pPr marL="0" indent="0">
              <a:lnSpc>
                <a:spcPct val="120000"/>
              </a:lnSpc>
              <a:spcBef>
                <a:spcPts val="0"/>
              </a:spcBef>
              <a:buNone/>
            </a:pPr>
            <a:r>
              <a:rPr lang="en-US" dirty="0">
                <a:solidFill>
                  <a:srgbClr val="000099"/>
                </a:solidFill>
              </a:rPr>
              <a:t>X (4) = X(3) + Y (3) </a:t>
            </a:r>
          </a:p>
          <a:p>
            <a:pPr marL="0" indent="0">
              <a:lnSpc>
                <a:spcPct val="120000"/>
              </a:lnSpc>
              <a:spcBef>
                <a:spcPts val="0"/>
              </a:spcBef>
              <a:buNone/>
            </a:pPr>
            <a:endParaRPr lang="en-US" dirty="0"/>
          </a:p>
          <a:p>
            <a:pPr>
              <a:lnSpc>
                <a:spcPct val="120000"/>
              </a:lnSpc>
              <a:spcBef>
                <a:spcPts val="0"/>
              </a:spcBef>
            </a:pPr>
            <a:r>
              <a:rPr lang="en-US" dirty="0"/>
              <a:t>What is written in the first iteration is read in the second iteration. Similarly, what is written into in the second iteration that is X of 3 is read in the third iteration X of 3 again.</a:t>
            </a:r>
          </a:p>
          <a:p>
            <a:pPr lvl="1">
              <a:lnSpc>
                <a:spcPct val="120000"/>
              </a:lnSpc>
              <a:spcBef>
                <a:spcPts val="0"/>
              </a:spcBef>
            </a:pPr>
            <a:r>
              <a:rPr lang="en-US" dirty="0"/>
              <a:t>There is a dependence from one iteration to the next iteration, what is written in this iteration is read in the next iteration</a:t>
            </a:r>
          </a:p>
          <a:p>
            <a:pPr>
              <a:lnSpc>
                <a:spcPct val="120000"/>
              </a:lnSpc>
              <a:spcBef>
                <a:spcPts val="0"/>
              </a:spcBef>
            </a:pPr>
            <a:r>
              <a:rPr lang="en-US" dirty="0"/>
              <a:t>Simple example of code that cannot be parallelized.</a:t>
            </a:r>
          </a:p>
          <a:p>
            <a:pPr marL="0" indent="0">
              <a:lnSpc>
                <a:spcPct val="120000"/>
              </a:lnSpc>
              <a:spcBef>
                <a:spcPts val="0"/>
              </a:spcBef>
              <a:buNone/>
            </a:pPr>
            <a:endParaRPr lang="en-IN" dirty="0"/>
          </a:p>
        </p:txBody>
      </p:sp>
    </p:spTree>
    <p:extLst>
      <p:ext uri="{BB962C8B-B14F-4D97-AF65-F5344CB8AC3E}">
        <p14:creationId xmlns:p14="http://schemas.microsoft.com/office/powerpoint/2010/main" val="4225292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195C4-83B9-196C-1175-B52FBCE10251}"/>
              </a:ext>
            </a:extLst>
          </p:cNvPr>
          <p:cNvSpPr>
            <a:spLocks noGrp="1"/>
          </p:cNvSpPr>
          <p:nvPr>
            <p:ph type="title"/>
          </p:nvPr>
        </p:nvSpPr>
        <p:spPr>
          <a:xfrm>
            <a:off x="0" y="0"/>
            <a:ext cx="12192000" cy="1240971"/>
          </a:xfrm>
        </p:spPr>
        <p:txBody>
          <a:bodyPr>
            <a:normAutofit/>
          </a:bodyPr>
          <a:lstStyle/>
          <a:p>
            <a:r>
              <a:rPr lang="en-IN" dirty="0"/>
              <a:t>Transformations before Dependence Analysis</a:t>
            </a:r>
          </a:p>
        </p:txBody>
      </p:sp>
      <p:sp>
        <p:nvSpPr>
          <p:cNvPr id="3" name="Content Placeholder 2">
            <a:extLst>
              <a:ext uri="{FF2B5EF4-FFF2-40B4-BE49-F238E27FC236}">
                <a16:creationId xmlns:a16="http://schemas.microsoft.com/office/drawing/2014/main" id="{3A548465-B6AA-3079-1F78-4839E8DD1CA6}"/>
              </a:ext>
            </a:extLst>
          </p:cNvPr>
          <p:cNvSpPr>
            <a:spLocks noGrp="1"/>
          </p:cNvSpPr>
          <p:nvPr>
            <p:ph idx="1"/>
          </p:nvPr>
        </p:nvSpPr>
        <p:spPr>
          <a:xfrm>
            <a:off x="349525" y="1302796"/>
            <a:ext cx="11492949" cy="4908412"/>
          </a:xfrm>
        </p:spPr>
        <p:txBody>
          <a:bodyPr/>
          <a:lstStyle/>
          <a:p>
            <a:pPr>
              <a:lnSpc>
                <a:spcPct val="150000"/>
              </a:lnSpc>
            </a:pPr>
            <a:r>
              <a:rPr lang="en-US" dirty="0">
                <a:solidFill>
                  <a:srgbClr val="000099"/>
                </a:solidFill>
              </a:rPr>
              <a:t>Array subscripts should be linear functions of loop variables</a:t>
            </a:r>
          </a:p>
          <a:p>
            <a:pPr>
              <a:lnSpc>
                <a:spcPct val="150000"/>
              </a:lnSpc>
            </a:pPr>
            <a:r>
              <a:rPr lang="en-US" dirty="0">
                <a:solidFill>
                  <a:srgbClr val="000099"/>
                </a:solidFill>
              </a:rPr>
              <a:t>Loop lower bound should be one </a:t>
            </a:r>
            <a:r>
              <a:rPr lang="en-US" dirty="0"/>
              <a:t>and </a:t>
            </a:r>
            <a:r>
              <a:rPr lang="en-US" dirty="0">
                <a:solidFill>
                  <a:srgbClr val="000099"/>
                </a:solidFill>
              </a:rPr>
              <a:t>the loop increment should be one</a:t>
            </a:r>
          </a:p>
          <a:p>
            <a:pPr>
              <a:lnSpc>
                <a:spcPct val="150000"/>
              </a:lnSpc>
            </a:pPr>
            <a:r>
              <a:rPr lang="en-US" dirty="0"/>
              <a:t>A few loop transformations are carried out to ensure the above</a:t>
            </a:r>
          </a:p>
          <a:p>
            <a:pPr marL="914400" lvl="1" indent="-457200">
              <a:lnSpc>
                <a:spcPct val="150000"/>
              </a:lnSpc>
              <a:buFont typeface="+mj-lt"/>
              <a:buAutoNum type="arabicPeriod"/>
            </a:pPr>
            <a:r>
              <a:rPr lang="en-US" dirty="0">
                <a:solidFill>
                  <a:srgbClr val="FF0000"/>
                </a:solidFill>
              </a:rPr>
              <a:t>Loop normalization</a:t>
            </a:r>
          </a:p>
          <a:p>
            <a:pPr marL="914400" lvl="1" indent="-457200">
              <a:lnSpc>
                <a:spcPct val="150000"/>
              </a:lnSpc>
              <a:buFont typeface="+mj-lt"/>
              <a:buAutoNum type="arabicPeriod"/>
            </a:pPr>
            <a:r>
              <a:rPr lang="en-US" dirty="0">
                <a:solidFill>
                  <a:srgbClr val="FF0000"/>
                </a:solidFill>
              </a:rPr>
              <a:t>Induction variable substitution</a:t>
            </a:r>
          </a:p>
          <a:p>
            <a:pPr marL="914400" lvl="1" indent="-457200">
              <a:lnSpc>
                <a:spcPct val="150000"/>
              </a:lnSpc>
              <a:buFont typeface="+mj-lt"/>
              <a:buAutoNum type="arabicPeriod"/>
            </a:pPr>
            <a:r>
              <a:rPr lang="en-US" dirty="0">
                <a:solidFill>
                  <a:srgbClr val="FF0000"/>
                </a:solidFill>
              </a:rPr>
              <a:t>Expression folding and forward substitution</a:t>
            </a:r>
            <a:endParaRPr lang="en-IN" dirty="0">
              <a:solidFill>
                <a:srgbClr val="FF0000"/>
              </a:solidFill>
            </a:endParaRPr>
          </a:p>
        </p:txBody>
      </p:sp>
    </p:spTree>
    <p:extLst>
      <p:ext uri="{BB962C8B-B14F-4D97-AF65-F5344CB8AC3E}">
        <p14:creationId xmlns:p14="http://schemas.microsoft.com/office/powerpoint/2010/main" val="776070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4A9C2-BC14-D8B3-4BD3-B8467D48A0B3}"/>
              </a:ext>
            </a:extLst>
          </p:cNvPr>
          <p:cNvSpPr>
            <a:spLocks noGrp="1"/>
          </p:cNvSpPr>
          <p:nvPr>
            <p:ph type="title"/>
          </p:nvPr>
        </p:nvSpPr>
        <p:spPr/>
        <p:txBody>
          <a:bodyPr/>
          <a:lstStyle/>
          <a:p>
            <a:r>
              <a:rPr lang="en-IN" dirty="0"/>
              <a:t>1. Loop Normalization </a:t>
            </a:r>
          </a:p>
        </p:txBody>
      </p:sp>
      <p:sp>
        <p:nvSpPr>
          <p:cNvPr id="3" name="Content Placeholder 2">
            <a:extLst>
              <a:ext uri="{FF2B5EF4-FFF2-40B4-BE49-F238E27FC236}">
                <a16:creationId xmlns:a16="http://schemas.microsoft.com/office/drawing/2014/main" id="{5A3DD4A3-C875-6675-5EAA-77C94E0FF806}"/>
              </a:ext>
            </a:extLst>
          </p:cNvPr>
          <p:cNvSpPr>
            <a:spLocks noGrp="1"/>
          </p:cNvSpPr>
          <p:nvPr>
            <p:ph idx="1"/>
          </p:nvPr>
        </p:nvSpPr>
        <p:spPr>
          <a:xfrm>
            <a:off x="347868" y="1182914"/>
            <a:ext cx="11492949" cy="5173436"/>
          </a:xfrm>
        </p:spPr>
        <p:txBody>
          <a:bodyPr/>
          <a:lstStyle/>
          <a:p>
            <a:r>
              <a:rPr lang="en-US" dirty="0">
                <a:solidFill>
                  <a:srgbClr val="000099"/>
                </a:solidFill>
              </a:rPr>
              <a:t>Loop lower bound→ 1, and loop increment → 1</a:t>
            </a:r>
            <a:endParaRPr lang="en-IN" dirty="0">
              <a:solidFill>
                <a:srgbClr val="000099"/>
              </a:solidFill>
            </a:endParaRPr>
          </a:p>
        </p:txBody>
      </p:sp>
      <p:graphicFrame>
        <p:nvGraphicFramePr>
          <p:cNvPr id="4" name="Table 4">
            <a:extLst>
              <a:ext uri="{FF2B5EF4-FFF2-40B4-BE49-F238E27FC236}">
                <a16:creationId xmlns:a16="http://schemas.microsoft.com/office/drawing/2014/main" id="{E66C466D-C73E-6742-0BF8-4787A8CB0615}"/>
              </a:ext>
            </a:extLst>
          </p:cNvPr>
          <p:cNvGraphicFramePr>
            <a:graphicFrameLocks noGrp="1"/>
          </p:cNvGraphicFramePr>
          <p:nvPr>
            <p:extLst>
              <p:ext uri="{D42A27DB-BD31-4B8C-83A1-F6EECF244321}">
                <p14:modId xmlns:p14="http://schemas.microsoft.com/office/powerpoint/2010/main" val="59016549"/>
              </p:ext>
            </p:extLst>
          </p:nvPr>
        </p:nvGraphicFramePr>
        <p:xfrm>
          <a:off x="863601" y="1904357"/>
          <a:ext cx="10203542" cy="4265564"/>
        </p:xfrm>
        <a:graphic>
          <a:graphicData uri="http://schemas.openxmlformats.org/drawingml/2006/table">
            <a:tbl>
              <a:tblPr firstRow="1" bandRow="1">
                <a:tableStyleId>{21E4AEA4-8DFA-4A89-87EB-49C32662AFE0}</a:tableStyleId>
              </a:tblPr>
              <a:tblGrid>
                <a:gridCol w="4063999">
                  <a:extLst>
                    <a:ext uri="{9D8B030D-6E8A-4147-A177-3AD203B41FA5}">
                      <a16:colId xmlns:a16="http://schemas.microsoft.com/office/drawing/2014/main" val="134957193"/>
                    </a:ext>
                  </a:extLst>
                </a:gridCol>
                <a:gridCol w="6139543">
                  <a:extLst>
                    <a:ext uri="{9D8B030D-6E8A-4147-A177-3AD203B41FA5}">
                      <a16:colId xmlns:a16="http://schemas.microsoft.com/office/drawing/2014/main" val="4001052838"/>
                    </a:ext>
                  </a:extLst>
                </a:gridCol>
              </a:tblGrid>
              <a:tr h="516524">
                <a:tc>
                  <a:txBody>
                    <a:bodyPr/>
                    <a:lstStyle/>
                    <a:p>
                      <a:pPr algn="ctr"/>
                      <a:r>
                        <a:rPr lang="en-IN" sz="2400" dirty="0">
                          <a:latin typeface="Palatino Linotype" panose="02040502050505030304" pitchFamily="18" charset="0"/>
                        </a:rPr>
                        <a:t>Original Loop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a:latin typeface="Palatino Linotype" panose="02040502050505030304" pitchFamily="18" charset="0"/>
                        </a:rPr>
                        <a:t>Normalized Loop</a:t>
                      </a:r>
                      <a:endParaRPr lang="en-IN" sz="2400" dirty="0">
                        <a:latin typeface="Palatino Linotype" panose="0204050205050503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9010030"/>
                  </a:ext>
                </a:extLst>
              </a:tr>
              <a:tr h="3566135">
                <a:tc>
                  <a:txBody>
                    <a:bodyPr/>
                    <a:lstStyle/>
                    <a:p>
                      <a:r>
                        <a:rPr lang="pl-PL" sz="2400" dirty="0">
                          <a:latin typeface="Palatino Linotype" panose="02040502050505030304" pitchFamily="18" charset="0"/>
                        </a:rPr>
                        <a:t>for I = 1 to 100 do {</a:t>
                      </a:r>
                    </a:p>
                    <a:p>
                      <a:r>
                        <a:rPr lang="en-US" sz="2400" dirty="0">
                          <a:latin typeface="Palatino Linotype" panose="02040502050505030304" pitchFamily="18" charset="0"/>
                        </a:rPr>
                        <a:t>  </a:t>
                      </a:r>
                      <a:r>
                        <a:rPr lang="pl-PL" sz="2400" dirty="0">
                          <a:latin typeface="Palatino Linotype" panose="02040502050505030304" pitchFamily="18" charset="0"/>
                        </a:rPr>
                        <a:t>KI = I</a:t>
                      </a:r>
                    </a:p>
                    <a:p>
                      <a:r>
                        <a:rPr lang="en-US" sz="2400" dirty="0">
                          <a:latin typeface="Palatino Linotype" panose="02040502050505030304" pitchFamily="18" charset="0"/>
                        </a:rPr>
                        <a:t>  </a:t>
                      </a:r>
                      <a:r>
                        <a:rPr lang="pl-PL" sz="2400" dirty="0">
                          <a:latin typeface="Palatino Linotype" panose="02040502050505030304" pitchFamily="18" charset="0"/>
                        </a:rPr>
                        <a:t>for J = 1 to 300 by 3 do</a:t>
                      </a:r>
                    </a:p>
                    <a:p>
                      <a:r>
                        <a:rPr lang="en-US" sz="2400" dirty="0">
                          <a:latin typeface="Palatino Linotype" panose="02040502050505030304" pitchFamily="18" charset="0"/>
                        </a:rPr>
                        <a:t>  </a:t>
                      </a:r>
                      <a:r>
                        <a:rPr lang="pl-PL" sz="2400" dirty="0">
                          <a:latin typeface="Palatino Linotype" panose="02040502050505030304" pitchFamily="18" charset="0"/>
                        </a:rPr>
                        <a:t>{</a:t>
                      </a:r>
                    </a:p>
                    <a:p>
                      <a:pPr marL="0" indent="357188"/>
                      <a:r>
                        <a:rPr lang="pl-PL" sz="2400" dirty="0">
                          <a:latin typeface="Palatino Linotype" panose="02040502050505030304" pitchFamily="18" charset="0"/>
                        </a:rPr>
                        <a:t>KI = KI + 2</a:t>
                      </a:r>
                    </a:p>
                    <a:p>
                      <a:pPr marL="0" indent="357188"/>
                      <a:r>
                        <a:rPr lang="pl-PL" sz="2400" dirty="0">
                          <a:latin typeface="Palatino Linotype" panose="02040502050505030304" pitchFamily="18" charset="0"/>
                        </a:rPr>
                        <a:t>U(J) = U(J)*W(KI)</a:t>
                      </a:r>
                    </a:p>
                    <a:p>
                      <a:pPr marL="0" indent="357188"/>
                      <a:r>
                        <a:rPr lang="pl-PL" sz="2400" dirty="0">
                          <a:latin typeface="Palatino Linotype" panose="02040502050505030304" pitchFamily="18" charset="0"/>
                        </a:rPr>
                        <a:t>V(J+4)= V(J)</a:t>
                      </a:r>
                      <a:r>
                        <a:rPr lang="en-US" sz="2400" dirty="0">
                          <a:latin typeface="Palatino Linotype" panose="02040502050505030304" pitchFamily="18" charset="0"/>
                        </a:rPr>
                        <a:t>*</a:t>
                      </a:r>
                      <a:r>
                        <a:rPr lang="pl-PL" sz="2400" dirty="0">
                          <a:latin typeface="Palatino Linotype" panose="02040502050505030304" pitchFamily="18" charset="0"/>
                        </a:rPr>
                        <a:t>W(KI)</a:t>
                      </a:r>
                    </a:p>
                    <a:p>
                      <a:pPr marL="0" indent="179388"/>
                      <a:r>
                        <a:rPr lang="pl-PL" sz="2400" dirty="0">
                          <a:latin typeface="Palatino Linotype" panose="02040502050505030304" pitchFamily="18" charset="0"/>
                        </a:rPr>
                        <a:t>}</a:t>
                      </a:r>
                    </a:p>
                    <a:p>
                      <a:r>
                        <a:rPr lang="pl-PL" sz="2400" dirty="0">
                          <a:latin typeface="Palatino Linotype" panose="02040502050505030304" pitchFamily="18" charset="0"/>
                        </a:rPr>
                        <a:t>}</a:t>
                      </a:r>
                      <a:endParaRPr lang="en-IN" sz="2400" dirty="0">
                        <a:latin typeface="Palatino Linotype" panose="0204050205050503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355600"/>
                      <a:r>
                        <a:rPr lang="pl-PL" sz="2400" dirty="0">
                          <a:latin typeface="Palatino Linotype" panose="02040502050505030304" pitchFamily="18" charset="0"/>
                        </a:rPr>
                        <a:t>for </a:t>
                      </a:r>
                      <a:r>
                        <a:rPr lang="en-US" sz="2400" dirty="0">
                          <a:latin typeface="Palatino Linotype" panose="02040502050505030304" pitchFamily="18" charset="0"/>
                        </a:rPr>
                        <a:t>I = </a:t>
                      </a:r>
                      <a:r>
                        <a:rPr lang="pl-PL" sz="2400" dirty="0">
                          <a:latin typeface="Palatino Linotype" panose="02040502050505030304" pitchFamily="18" charset="0"/>
                        </a:rPr>
                        <a:t>1 to 100 do { </a:t>
                      </a:r>
                      <a:endParaRPr lang="en-IN" sz="2400" dirty="0">
                        <a:latin typeface="Palatino Linotype" panose="02040502050505030304" pitchFamily="18" charset="0"/>
                      </a:endParaRPr>
                    </a:p>
                    <a:p>
                      <a:pPr marL="0" indent="630238"/>
                      <a:r>
                        <a:rPr lang="pl-PL" sz="2400" dirty="0">
                          <a:latin typeface="Palatino Linotype" panose="02040502050505030304" pitchFamily="18" charset="0"/>
                        </a:rPr>
                        <a:t>KI = I </a:t>
                      </a:r>
                      <a:endParaRPr lang="en-IN" sz="2400" dirty="0">
                        <a:latin typeface="Palatino Linotype" panose="02040502050505030304" pitchFamily="18" charset="0"/>
                      </a:endParaRPr>
                    </a:p>
                    <a:p>
                      <a:pPr marL="0" indent="630238"/>
                      <a:r>
                        <a:rPr lang="pl-PL" sz="2400" dirty="0">
                          <a:latin typeface="Palatino Linotype" panose="02040502050505030304" pitchFamily="18" charset="0"/>
                        </a:rPr>
                        <a:t>for J </a:t>
                      </a:r>
                      <a:r>
                        <a:rPr lang="en-US" sz="2400" dirty="0">
                          <a:latin typeface="Palatino Linotype" panose="02040502050505030304" pitchFamily="18" charset="0"/>
                        </a:rPr>
                        <a:t>= </a:t>
                      </a:r>
                      <a:r>
                        <a:rPr lang="pl-PL" sz="2400" dirty="0">
                          <a:latin typeface="Palatino Linotype" panose="02040502050505030304" pitchFamily="18" charset="0"/>
                        </a:rPr>
                        <a:t>1 to 100 do </a:t>
                      </a:r>
                      <a:endParaRPr lang="en-US" sz="2400" dirty="0">
                        <a:latin typeface="Palatino Linotype" panose="02040502050505030304" pitchFamily="18" charset="0"/>
                      </a:endParaRPr>
                    </a:p>
                    <a:p>
                      <a:pPr marL="0" indent="630238"/>
                      <a:r>
                        <a:rPr lang="pl-PL" sz="2400" dirty="0">
                          <a:latin typeface="Palatino Linotype" panose="02040502050505030304" pitchFamily="18" charset="0"/>
                        </a:rPr>
                        <a:t>{ </a:t>
                      </a:r>
                    </a:p>
                    <a:p>
                      <a:pPr marL="0" indent="808038"/>
                      <a:r>
                        <a:rPr lang="pl-PL" sz="2400" dirty="0">
                          <a:latin typeface="Palatino Linotype" panose="02040502050505030304" pitchFamily="18" charset="0"/>
                        </a:rPr>
                        <a:t>KI = KI + 2</a:t>
                      </a:r>
                    </a:p>
                    <a:p>
                      <a:pPr marL="0" indent="808038"/>
                      <a:r>
                        <a:rPr lang="pl-PL" sz="2400" dirty="0">
                          <a:latin typeface="Palatino Linotype" panose="02040502050505030304" pitchFamily="18" charset="0"/>
                        </a:rPr>
                        <a:t>U</a:t>
                      </a:r>
                      <a:r>
                        <a:rPr lang="en-US" sz="2400" dirty="0">
                          <a:latin typeface="Palatino Linotype" panose="02040502050505030304" pitchFamily="18" charset="0"/>
                        </a:rPr>
                        <a:t>(</a:t>
                      </a:r>
                      <a:r>
                        <a:rPr lang="pl-PL" sz="2400" dirty="0">
                          <a:latin typeface="Palatino Linotype" panose="02040502050505030304" pitchFamily="18" charset="0"/>
                        </a:rPr>
                        <a:t>3</a:t>
                      </a:r>
                      <a:r>
                        <a:rPr lang="en-IN" sz="2400" dirty="0">
                          <a:latin typeface="Palatino Linotype" panose="02040502050505030304" pitchFamily="18" charset="0"/>
                        </a:rPr>
                        <a:t>*</a:t>
                      </a:r>
                      <a:r>
                        <a:rPr lang="pl-PL" sz="2400" dirty="0">
                          <a:latin typeface="Palatino Linotype" panose="02040502050505030304" pitchFamily="18" charset="0"/>
                        </a:rPr>
                        <a:t>J-2) = U(3</a:t>
                      </a:r>
                      <a:r>
                        <a:rPr lang="en-IN" sz="2400" dirty="0">
                          <a:latin typeface="Palatino Linotype" panose="02040502050505030304" pitchFamily="18" charset="0"/>
                        </a:rPr>
                        <a:t>*</a:t>
                      </a:r>
                      <a:r>
                        <a:rPr lang="pl-PL" sz="2400" dirty="0">
                          <a:latin typeface="Palatino Linotype" panose="02040502050505030304" pitchFamily="18" charset="0"/>
                        </a:rPr>
                        <a:t>J-2)</a:t>
                      </a:r>
                      <a:r>
                        <a:rPr lang="en-US" sz="2400" dirty="0">
                          <a:latin typeface="Palatino Linotype" panose="02040502050505030304" pitchFamily="18" charset="0"/>
                        </a:rPr>
                        <a:t>*</a:t>
                      </a:r>
                      <a:r>
                        <a:rPr lang="pl-PL" sz="2400" dirty="0">
                          <a:latin typeface="Palatino Linotype" panose="02040502050505030304" pitchFamily="18" charset="0"/>
                        </a:rPr>
                        <a:t>W(KI)</a:t>
                      </a:r>
                    </a:p>
                    <a:p>
                      <a:pPr marL="0" indent="808038"/>
                      <a:r>
                        <a:rPr lang="pl-PL" sz="2400" dirty="0">
                          <a:solidFill>
                            <a:srgbClr val="FF0000"/>
                          </a:solidFill>
                          <a:latin typeface="Palatino Linotype" panose="02040502050505030304" pitchFamily="18" charset="0"/>
                        </a:rPr>
                        <a:t>V(3*J+1) = V(3*J-2)</a:t>
                      </a:r>
                      <a:r>
                        <a:rPr lang="en-US" sz="2400" dirty="0">
                          <a:solidFill>
                            <a:srgbClr val="FF0000"/>
                          </a:solidFill>
                          <a:latin typeface="Palatino Linotype" panose="02040502050505030304" pitchFamily="18" charset="0"/>
                        </a:rPr>
                        <a:t>*</a:t>
                      </a:r>
                      <a:r>
                        <a:rPr lang="pl-PL" sz="2400" dirty="0">
                          <a:solidFill>
                            <a:srgbClr val="FF0000"/>
                          </a:solidFill>
                          <a:latin typeface="Palatino Linotype" panose="02040502050505030304" pitchFamily="18" charset="0"/>
                        </a:rPr>
                        <a:t>W</a:t>
                      </a:r>
                      <a:r>
                        <a:rPr lang="en-IN" sz="2400" dirty="0">
                          <a:solidFill>
                            <a:srgbClr val="FF0000"/>
                          </a:solidFill>
                          <a:latin typeface="Palatino Linotype" panose="02040502050505030304" pitchFamily="18" charset="0"/>
                        </a:rPr>
                        <a:t>(KI)</a:t>
                      </a:r>
                      <a:endParaRPr lang="pl-PL" sz="2400" dirty="0">
                        <a:solidFill>
                          <a:srgbClr val="FF0000"/>
                        </a:solidFill>
                        <a:latin typeface="Palatino Linotype" panose="02040502050505030304" pitchFamily="18" charset="0"/>
                      </a:endParaRPr>
                    </a:p>
                    <a:p>
                      <a:pPr marL="0" indent="630238"/>
                      <a:r>
                        <a:rPr lang="pl-PL" sz="2400" dirty="0">
                          <a:latin typeface="Palatino Linotype" panose="02040502050505030304" pitchFamily="18" charset="0"/>
                        </a:rPr>
                        <a:t>}</a:t>
                      </a:r>
                    </a:p>
                    <a:p>
                      <a:pPr marL="0" indent="630238"/>
                      <a:r>
                        <a:rPr lang="pl-PL" sz="2400" dirty="0">
                          <a:latin typeface="Palatino Linotype" panose="02040502050505030304" pitchFamily="18" charset="0"/>
                        </a:rPr>
                        <a:t>J = 301</a:t>
                      </a:r>
                    </a:p>
                    <a:p>
                      <a:pPr marL="0" indent="355600"/>
                      <a:r>
                        <a:rPr lang="pl-PL" sz="2400" dirty="0">
                          <a:latin typeface="Palatino Linotype" panose="02040502050505030304" pitchFamily="18" charset="0"/>
                        </a:rPr>
                        <a:t>}</a:t>
                      </a:r>
                      <a:endParaRPr lang="en-IN" sz="2400" dirty="0">
                        <a:latin typeface="Palatino Linotype" panose="0204050205050503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4798519"/>
                  </a:ext>
                </a:extLst>
              </a:tr>
            </a:tbl>
          </a:graphicData>
        </a:graphic>
      </p:graphicFrame>
      <p:sp>
        <p:nvSpPr>
          <p:cNvPr id="6" name="TextBox 5">
            <a:extLst>
              <a:ext uri="{FF2B5EF4-FFF2-40B4-BE49-F238E27FC236}">
                <a16:creationId xmlns:a16="http://schemas.microsoft.com/office/drawing/2014/main" id="{54BF780E-BC32-A582-9BBF-327C7D836A29}"/>
              </a:ext>
            </a:extLst>
          </p:cNvPr>
          <p:cNvSpPr txBox="1"/>
          <p:nvPr/>
        </p:nvSpPr>
        <p:spPr>
          <a:xfrm>
            <a:off x="3785151" y="6169921"/>
            <a:ext cx="7281992" cy="646331"/>
          </a:xfrm>
          <a:prstGeom prst="rect">
            <a:avLst/>
          </a:prstGeom>
          <a:noFill/>
        </p:spPr>
        <p:txBody>
          <a:bodyPr wrap="square">
            <a:spAutoFit/>
          </a:bodyPr>
          <a:lstStyle/>
          <a:p>
            <a:pPr algn="just"/>
            <a:r>
              <a:rPr lang="en-US" dirty="0">
                <a:solidFill>
                  <a:srgbClr val="000099"/>
                </a:solidFill>
                <a:latin typeface="Palatino Linotype" panose="02040502050505030304" pitchFamily="18" charset="0"/>
              </a:rPr>
              <a:t>loop indices are changed and the subscripts have been changed in order to satisfy this loop increment equal to 1</a:t>
            </a:r>
            <a:endParaRPr lang="en-IN" dirty="0">
              <a:solidFill>
                <a:srgbClr val="000099"/>
              </a:solidFill>
              <a:latin typeface="Palatino Linotype" panose="02040502050505030304" pitchFamily="18" charset="0"/>
            </a:endParaRPr>
          </a:p>
        </p:txBody>
      </p:sp>
    </p:spTree>
    <p:extLst>
      <p:ext uri="{BB962C8B-B14F-4D97-AF65-F5344CB8AC3E}">
        <p14:creationId xmlns:p14="http://schemas.microsoft.com/office/powerpoint/2010/main" val="1909326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03813-EA32-5306-5EEE-8288A4283ED2}"/>
              </a:ext>
            </a:extLst>
          </p:cNvPr>
          <p:cNvSpPr>
            <a:spLocks noGrp="1"/>
          </p:cNvSpPr>
          <p:nvPr>
            <p:ph type="title"/>
          </p:nvPr>
        </p:nvSpPr>
        <p:spPr/>
        <p:txBody>
          <a:bodyPr/>
          <a:lstStyle/>
          <a:p>
            <a:r>
              <a:rPr lang="en-IN" dirty="0"/>
              <a:t>2. Induction Variable Substitution </a:t>
            </a:r>
          </a:p>
        </p:txBody>
      </p:sp>
      <p:sp>
        <p:nvSpPr>
          <p:cNvPr id="3" name="Content Placeholder 2">
            <a:extLst>
              <a:ext uri="{FF2B5EF4-FFF2-40B4-BE49-F238E27FC236}">
                <a16:creationId xmlns:a16="http://schemas.microsoft.com/office/drawing/2014/main" id="{9EFCB87F-4254-0887-DC8D-85DD8546CAB7}"/>
              </a:ext>
            </a:extLst>
          </p:cNvPr>
          <p:cNvSpPr>
            <a:spLocks noGrp="1"/>
          </p:cNvSpPr>
          <p:nvPr>
            <p:ph idx="1"/>
          </p:nvPr>
        </p:nvSpPr>
        <p:spPr/>
        <p:txBody>
          <a:bodyPr>
            <a:normAutofit fontScale="92500" lnSpcReduction="10000"/>
          </a:bodyPr>
          <a:lstStyle/>
          <a:p>
            <a:pPr marL="0" indent="0">
              <a:buNone/>
            </a:pPr>
            <a:r>
              <a:rPr lang="en-IN" dirty="0">
                <a:solidFill>
                  <a:srgbClr val="000099"/>
                </a:solidFill>
              </a:rPr>
              <a:t>for I = 1 to 100 do {</a:t>
            </a:r>
          </a:p>
          <a:p>
            <a:pPr marL="0" indent="0">
              <a:buNone/>
            </a:pPr>
            <a:r>
              <a:rPr lang="en-IN" dirty="0">
                <a:solidFill>
                  <a:srgbClr val="000099"/>
                </a:solidFill>
              </a:rPr>
              <a:t>	KI = I</a:t>
            </a:r>
          </a:p>
          <a:p>
            <a:pPr marL="0" indent="0">
              <a:buNone/>
            </a:pPr>
            <a:r>
              <a:rPr lang="en-IN" dirty="0">
                <a:solidFill>
                  <a:srgbClr val="000099"/>
                </a:solidFill>
              </a:rPr>
              <a:t>	for J = 1 to 100 do { 	</a:t>
            </a:r>
          </a:p>
          <a:p>
            <a:pPr marL="0" indent="0">
              <a:buNone/>
            </a:pPr>
            <a:r>
              <a:rPr lang="en-IN" dirty="0">
                <a:solidFill>
                  <a:srgbClr val="000099"/>
                </a:solidFill>
              </a:rPr>
              <a:t>		U (3*J-2) = U (3*J-2) * W (KI+2*J)</a:t>
            </a:r>
          </a:p>
          <a:p>
            <a:pPr marL="0" indent="0">
              <a:buNone/>
            </a:pPr>
            <a:r>
              <a:rPr lang="en-IN" dirty="0">
                <a:solidFill>
                  <a:srgbClr val="000099"/>
                </a:solidFill>
              </a:rPr>
              <a:t>		V (3*J+1) = V (3*J-2) * W (KI+2*J)</a:t>
            </a:r>
          </a:p>
          <a:p>
            <a:pPr marL="0" indent="0">
              <a:buNone/>
            </a:pPr>
            <a:r>
              <a:rPr lang="en-IN" dirty="0">
                <a:solidFill>
                  <a:srgbClr val="000099"/>
                </a:solidFill>
              </a:rPr>
              <a:t>	}</a:t>
            </a:r>
          </a:p>
          <a:p>
            <a:pPr marL="0" indent="0">
              <a:buNone/>
            </a:pPr>
            <a:r>
              <a:rPr lang="en-IN" dirty="0">
                <a:solidFill>
                  <a:srgbClr val="000099"/>
                </a:solidFill>
              </a:rPr>
              <a:t> 	KI = KI + 200</a:t>
            </a:r>
          </a:p>
          <a:p>
            <a:pPr marL="0" indent="0">
              <a:buNone/>
            </a:pPr>
            <a:r>
              <a:rPr lang="en-IN" dirty="0">
                <a:solidFill>
                  <a:srgbClr val="000099"/>
                </a:solidFill>
              </a:rPr>
              <a:t>	J = 301</a:t>
            </a:r>
          </a:p>
          <a:p>
            <a:pPr marL="0" indent="0">
              <a:buNone/>
            </a:pPr>
            <a:r>
              <a:rPr lang="en-IN" dirty="0">
                <a:solidFill>
                  <a:srgbClr val="000099"/>
                </a:solidFill>
              </a:rPr>
              <a:t>}</a:t>
            </a:r>
          </a:p>
          <a:p>
            <a:r>
              <a:rPr lang="en-IN" dirty="0"/>
              <a:t>Now KI is a constant in the J-loop. This is the inverse of operator strength reduction</a:t>
            </a:r>
          </a:p>
        </p:txBody>
      </p:sp>
    </p:spTree>
    <p:extLst>
      <p:ext uri="{BB962C8B-B14F-4D97-AF65-F5344CB8AC3E}">
        <p14:creationId xmlns:p14="http://schemas.microsoft.com/office/powerpoint/2010/main" val="3202922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ECA3C-7E67-D0AD-5A14-79F3F8ADB050}"/>
              </a:ext>
            </a:extLst>
          </p:cNvPr>
          <p:cNvSpPr>
            <a:spLocks noGrp="1"/>
          </p:cNvSpPr>
          <p:nvPr>
            <p:ph type="title"/>
          </p:nvPr>
        </p:nvSpPr>
        <p:spPr>
          <a:xfrm>
            <a:off x="0" y="0"/>
            <a:ext cx="12119429" cy="1139371"/>
          </a:xfrm>
        </p:spPr>
        <p:txBody>
          <a:bodyPr/>
          <a:lstStyle/>
          <a:p>
            <a:r>
              <a:rPr lang="en-IN" dirty="0"/>
              <a:t>3.</a:t>
            </a:r>
            <a:r>
              <a:rPr lang="en-US" dirty="0"/>
              <a:t> Expression Folding and Forward Substitution</a:t>
            </a:r>
            <a:r>
              <a:rPr lang="en-IN" dirty="0"/>
              <a:t> </a:t>
            </a:r>
          </a:p>
        </p:txBody>
      </p:sp>
      <p:sp>
        <p:nvSpPr>
          <p:cNvPr id="3" name="Content Placeholder 2">
            <a:extLst>
              <a:ext uri="{FF2B5EF4-FFF2-40B4-BE49-F238E27FC236}">
                <a16:creationId xmlns:a16="http://schemas.microsoft.com/office/drawing/2014/main" id="{BE9D830C-3AB6-18CC-1E06-A6E45504EA07}"/>
              </a:ext>
            </a:extLst>
          </p:cNvPr>
          <p:cNvSpPr>
            <a:spLocks noGrp="1"/>
          </p:cNvSpPr>
          <p:nvPr>
            <p:ph idx="1"/>
          </p:nvPr>
        </p:nvSpPr>
        <p:spPr>
          <a:xfrm>
            <a:off x="347868" y="1088571"/>
            <a:ext cx="11492949" cy="5609772"/>
          </a:xfrm>
        </p:spPr>
        <p:txBody>
          <a:bodyPr>
            <a:normAutofit fontScale="77500" lnSpcReduction="20000"/>
          </a:bodyPr>
          <a:lstStyle/>
          <a:p>
            <a:pPr marL="0" indent="0">
              <a:lnSpc>
                <a:spcPct val="110000"/>
              </a:lnSpc>
              <a:buNone/>
            </a:pPr>
            <a:r>
              <a:rPr lang="en-US" dirty="0">
                <a:solidFill>
                  <a:srgbClr val="000099"/>
                </a:solidFill>
              </a:rPr>
              <a:t>for I = 1 to 100 do {</a:t>
            </a:r>
          </a:p>
          <a:p>
            <a:pPr marL="0" indent="0">
              <a:lnSpc>
                <a:spcPct val="110000"/>
              </a:lnSpc>
              <a:buNone/>
            </a:pPr>
            <a:r>
              <a:rPr lang="en-US" dirty="0">
                <a:solidFill>
                  <a:srgbClr val="000099"/>
                </a:solidFill>
              </a:rPr>
              <a:t>	for J = 1 to 100 do {</a:t>
            </a:r>
          </a:p>
          <a:p>
            <a:pPr marL="0" indent="0">
              <a:lnSpc>
                <a:spcPct val="110000"/>
              </a:lnSpc>
              <a:buNone/>
            </a:pPr>
            <a:r>
              <a:rPr lang="en-US" dirty="0">
                <a:solidFill>
                  <a:srgbClr val="000099"/>
                </a:solidFill>
              </a:rPr>
              <a:t>		S1: U(3*J-2) = U(3*J-2) * W(I+2*J)</a:t>
            </a:r>
          </a:p>
          <a:p>
            <a:pPr marL="0" indent="0">
              <a:lnSpc>
                <a:spcPct val="110000"/>
              </a:lnSpc>
              <a:buNone/>
            </a:pPr>
            <a:r>
              <a:rPr lang="en-US" dirty="0">
                <a:solidFill>
                  <a:srgbClr val="000099"/>
                </a:solidFill>
              </a:rPr>
              <a:t>		S2: V(3*J+1) = V(3*J-2) *  W(I+2*J)</a:t>
            </a:r>
          </a:p>
          <a:p>
            <a:pPr marL="0" indent="0">
              <a:lnSpc>
                <a:spcPct val="110000"/>
              </a:lnSpc>
              <a:buNone/>
            </a:pPr>
            <a:r>
              <a:rPr lang="en-US" dirty="0">
                <a:solidFill>
                  <a:srgbClr val="000099"/>
                </a:solidFill>
              </a:rPr>
              <a:t>	} </a:t>
            </a:r>
          </a:p>
          <a:p>
            <a:pPr marL="0" indent="0">
              <a:lnSpc>
                <a:spcPct val="110000"/>
              </a:lnSpc>
              <a:buNone/>
            </a:pPr>
            <a:r>
              <a:rPr lang="en-US" dirty="0">
                <a:solidFill>
                  <a:srgbClr val="000099"/>
                </a:solidFill>
              </a:rPr>
              <a:t>	ΚΙ = I+200 // may be deleted if KI is not live </a:t>
            </a:r>
          </a:p>
          <a:p>
            <a:pPr marL="0" indent="0">
              <a:lnSpc>
                <a:spcPct val="110000"/>
              </a:lnSpc>
              <a:buNone/>
            </a:pPr>
            <a:r>
              <a:rPr lang="en-US" dirty="0">
                <a:solidFill>
                  <a:srgbClr val="000099"/>
                </a:solidFill>
              </a:rPr>
              <a:t>	J = 301 // may be deleted if J is not live </a:t>
            </a:r>
          </a:p>
          <a:p>
            <a:pPr marL="0" indent="0">
              <a:lnSpc>
                <a:spcPct val="110000"/>
              </a:lnSpc>
              <a:buNone/>
            </a:pPr>
            <a:r>
              <a:rPr lang="en-US" dirty="0">
                <a:solidFill>
                  <a:srgbClr val="000099"/>
                </a:solidFill>
              </a:rPr>
              <a:t>}</a:t>
            </a:r>
          </a:p>
          <a:p>
            <a:pPr>
              <a:lnSpc>
                <a:spcPct val="110000"/>
              </a:lnSpc>
            </a:pPr>
            <a:r>
              <a:rPr lang="en-US" dirty="0"/>
              <a:t>Replaced KI with I, since KI is a constant</a:t>
            </a:r>
          </a:p>
          <a:p>
            <a:pPr>
              <a:lnSpc>
                <a:spcPct val="110000"/>
              </a:lnSpc>
            </a:pPr>
            <a:r>
              <a:rPr lang="en-US" dirty="0"/>
              <a:t>Now, all subscripts are linear functions of loop variable needed for the dependence analysis</a:t>
            </a:r>
          </a:p>
          <a:p>
            <a:pPr>
              <a:lnSpc>
                <a:spcPct val="110000"/>
              </a:lnSpc>
            </a:pPr>
            <a:r>
              <a:rPr lang="en-US" dirty="0"/>
              <a:t>Suppose KI and J are actually not used, later on they do not live after this point, then in that case we can delete these two statements, they will not be needed, otherwise we need to retain them</a:t>
            </a:r>
            <a:endParaRPr lang="en-IN" dirty="0"/>
          </a:p>
        </p:txBody>
      </p:sp>
    </p:spTree>
    <p:extLst>
      <p:ext uri="{BB962C8B-B14F-4D97-AF65-F5344CB8AC3E}">
        <p14:creationId xmlns:p14="http://schemas.microsoft.com/office/powerpoint/2010/main" val="4043905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6366B-F675-53B3-091B-BFCF78DAC418}"/>
              </a:ext>
            </a:extLst>
          </p:cNvPr>
          <p:cNvSpPr>
            <a:spLocks noGrp="1"/>
          </p:cNvSpPr>
          <p:nvPr>
            <p:ph type="title"/>
          </p:nvPr>
        </p:nvSpPr>
        <p:spPr>
          <a:xfrm>
            <a:off x="0" y="1"/>
            <a:ext cx="12192000" cy="1023256"/>
          </a:xfrm>
        </p:spPr>
        <p:txBody>
          <a:bodyPr/>
          <a:lstStyle/>
          <a:p>
            <a:r>
              <a:rPr lang="en-IN" dirty="0"/>
              <a:t>Vector Code Generation</a:t>
            </a:r>
          </a:p>
        </p:txBody>
      </p:sp>
      <p:sp>
        <p:nvSpPr>
          <p:cNvPr id="3" name="Content Placeholder 2">
            <a:extLst>
              <a:ext uri="{FF2B5EF4-FFF2-40B4-BE49-F238E27FC236}">
                <a16:creationId xmlns:a16="http://schemas.microsoft.com/office/drawing/2014/main" id="{34384AAA-1A2E-3E10-24E3-153596B2BFFE}"/>
              </a:ext>
            </a:extLst>
          </p:cNvPr>
          <p:cNvSpPr>
            <a:spLocks noGrp="1"/>
          </p:cNvSpPr>
          <p:nvPr>
            <p:ph idx="1"/>
          </p:nvPr>
        </p:nvSpPr>
        <p:spPr>
          <a:xfrm>
            <a:off x="347868" y="1023256"/>
            <a:ext cx="11492949" cy="5834744"/>
          </a:xfrm>
        </p:spPr>
        <p:txBody>
          <a:bodyPr>
            <a:normAutofit fontScale="92500" lnSpcReduction="10000"/>
          </a:bodyPr>
          <a:lstStyle/>
          <a:p>
            <a:pPr marL="0" indent="0">
              <a:lnSpc>
                <a:spcPct val="120000"/>
              </a:lnSpc>
              <a:spcBef>
                <a:spcPts val="0"/>
              </a:spcBef>
              <a:buNone/>
            </a:pPr>
            <a:r>
              <a:rPr lang="en-US" dirty="0">
                <a:solidFill>
                  <a:srgbClr val="000099"/>
                </a:solidFill>
              </a:rPr>
              <a:t>I = 1, 	J = 1, 	S1: U(1) = U(1) + ……</a:t>
            </a:r>
          </a:p>
          <a:p>
            <a:pPr marL="0" indent="0">
              <a:lnSpc>
                <a:spcPct val="120000"/>
              </a:lnSpc>
              <a:spcBef>
                <a:spcPts val="0"/>
              </a:spcBef>
              <a:buNone/>
            </a:pPr>
            <a:r>
              <a:rPr lang="en-US" dirty="0">
                <a:solidFill>
                  <a:srgbClr val="000099"/>
                </a:solidFill>
              </a:rPr>
              <a:t>		S2: V(4) = V(1) + ……</a:t>
            </a:r>
          </a:p>
          <a:p>
            <a:pPr marL="0" indent="0">
              <a:lnSpc>
                <a:spcPct val="120000"/>
              </a:lnSpc>
              <a:spcBef>
                <a:spcPts val="0"/>
              </a:spcBef>
              <a:buNone/>
            </a:pPr>
            <a:r>
              <a:rPr lang="en-US" dirty="0">
                <a:solidFill>
                  <a:srgbClr val="000099"/>
                </a:solidFill>
              </a:rPr>
              <a:t>	J = 2, 	S1: U(4) = U(4) + ……</a:t>
            </a:r>
          </a:p>
          <a:p>
            <a:pPr marL="0" indent="0">
              <a:lnSpc>
                <a:spcPct val="120000"/>
              </a:lnSpc>
              <a:spcBef>
                <a:spcPts val="0"/>
              </a:spcBef>
              <a:buNone/>
            </a:pPr>
            <a:r>
              <a:rPr lang="en-US" dirty="0">
                <a:solidFill>
                  <a:srgbClr val="000099"/>
                </a:solidFill>
              </a:rPr>
              <a:t>		S2: V(7) = V(4) + ……</a:t>
            </a:r>
          </a:p>
          <a:p>
            <a:pPr>
              <a:lnSpc>
                <a:spcPct val="120000"/>
              </a:lnSpc>
              <a:spcBef>
                <a:spcPts val="0"/>
              </a:spcBef>
            </a:pPr>
            <a:r>
              <a:rPr lang="en-US" dirty="0"/>
              <a:t>The dependence S1 </a:t>
            </a:r>
            <a:r>
              <a:rPr lang="en-US" dirty="0">
                <a:latin typeface="Arial" panose="020B0604020202020204" pitchFamily="34" charset="0"/>
                <a:cs typeface="Arial" panose="020B0604020202020204" pitchFamily="34" charset="0"/>
              </a:rPr>
              <a:t>Ꟙ</a:t>
            </a:r>
            <a:r>
              <a:rPr lang="en-US" baseline="-25000" dirty="0"/>
              <a:t>(=,=)</a:t>
            </a:r>
            <a:r>
              <a:rPr lang="en-US" dirty="0"/>
              <a:t> S1 is harmless for vectorization of S1</a:t>
            </a:r>
          </a:p>
          <a:p>
            <a:pPr>
              <a:lnSpc>
                <a:spcPct val="120000"/>
              </a:lnSpc>
              <a:spcBef>
                <a:spcPts val="0"/>
              </a:spcBef>
            </a:pPr>
            <a:r>
              <a:rPr lang="en-US" dirty="0"/>
              <a:t>But, the dependence S2 </a:t>
            </a:r>
            <a:r>
              <a:rPr lang="en-US" dirty="0">
                <a:latin typeface="Arial" panose="020B0604020202020204" pitchFamily="34" charset="0"/>
                <a:cs typeface="Arial" panose="020B0604020202020204" pitchFamily="34" charset="0"/>
              </a:rPr>
              <a:t>Ꟙ</a:t>
            </a:r>
            <a:r>
              <a:rPr lang="en-US" baseline="-25000" dirty="0"/>
              <a:t>(=,&lt;)</a:t>
            </a:r>
            <a:r>
              <a:rPr lang="en-US" dirty="0"/>
              <a:t> S2 prevents vectorization of S2</a:t>
            </a:r>
          </a:p>
          <a:p>
            <a:pPr>
              <a:lnSpc>
                <a:spcPct val="120000"/>
              </a:lnSpc>
              <a:spcBef>
                <a:spcPts val="0"/>
              </a:spcBef>
            </a:pPr>
            <a:endParaRPr lang="en-US" dirty="0"/>
          </a:p>
          <a:p>
            <a:pPr marL="0" indent="0">
              <a:lnSpc>
                <a:spcPct val="120000"/>
              </a:lnSpc>
              <a:spcBef>
                <a:spcPts val="0"/>
              </a:spcBef>
              <a:buNone/>
            </a:pPr>
            <a:r>
              <a:rPr lang="en-US" dirty="0">
                <a:solidFill>
                  <a:srgbClr val="000099"/>
                </a:solidFill>
              </a:rPr>
              <a:t>for I = 1 to 100 do {</a:t>
            </a:r>
          </a:p>
          <a:p>
            <a:pPr marL="0" indent="0">
              <a:lnSpc>
                <a:spcPct val="120000"/>
              </a:lnSpc>
              <a:spcBef>
                <a:spcPts val="0"/>
              </a:spcBef>
              <a:buNone/>
            </a:pPr>
            <a:r>
              <a:rPr lang="en-US" dirty="0">
                <a:solidFill>
                  <a:srgbClr val="000099"/>
                </a:solidFill>
              </a:rPr>
              <a:t>		U (1:298:3) = U(1:298:3) * W (I−2:I+200:2) //S1 is Vectorized</a:t>
            </a:r>
          </a:p>
          <a:p>
            <a:pPr marL="0" indent="0">
              <a:lnSpc>
                <a:spcPct val="120000"/>
              </a:lnSpc>
              <a:spcBef>
                <a:spcPts val="0"/>
              </a:spcBef>
              <a:buNone/>
            </a:pPr>
            <a:r>
              <a:rPr lang="en-US" dirty="0">
                <a:solidFill>
                  <a:srgbClr val="000099"/>
                </a:solidFill>
              </a:rPr>
              <a:t>	for J = 1 to 100 do {</a:t>
            </a:r>
          </a:p>
          <a:p>
            <a:pPr marL="0" indent="0">
              <a:lnSpc>
                <a:spcPct val="120000"/>
              </a:lnSpc>
              <a:spcBef>
                <a:spcPts val="0"/>
              </a:spcBef>
              <a:buNone/>
            </a:pPr>
            <a:r>
              <a:rPr lang="en-US" dirty="0">
                <a:solidFill>
                  <a:srgbClr val="000099"/>
                </a:solidFill>
              </a:rPr>
              <a:t>		V(3*J+1) = V (3*J-2) + W (I+2*J)</a:t>
            </a:r>
          </a:p>
          <a:p>
            <a:pPr marL="0" indent="0">
              <a:lnSpc>
                <a:spcPct val="120000"/>
              </a:lnSpc>
              <a:spcBef>
                <a:spcPts val="0"/>
              </a:spcBef>
              <a:buNone/>
            </a:pPr>
            <a:r>
              <a:rPr lang="en-US" dirty="0">
                <a:solidFill>
                  <a:srgbClr val="000099"/>
                </a:solidFill>
              </a:rPr>
              <a:t>	}</a:t>
            </a:r>
          </a:p>
          <a:p>
            <a:pPr marL="0" indent="0">
              <a:lnSpc>
                <a:spcPct val="120000"/>
              </a:lnSpc>
              <a:spcBef>
                <a:spcPts val="0"/>
              </a:spcBef>
              <a:buNone/>
            </a:pPr>
            <a:r>
              <a:rPr lang="en-US" dirty="0">
                <a:solidFill>
                  <a:srgbClr val="000099"/>
                </a:solidFill>
              </a:rPr>
              <a:t>}</a:t>
            </a:r>
            <a:endParaRPr lang="en-IN" dirty="0">
              <a:solidFill>
                <a:srgbClr val="000099"/>
              </a:solidFill>
            </a:endParaRPr>
          </a:p>
        </p:txBody>
      </p:sp>
    </p:spTree>
    <p:extLst>
      <p:ext uri="{BB962C8B-B14F-4D97-AF65-F5344CB8AC3E}">
        <p14:creationId xmlns:p14="http://schemas.microsoft.com/office/powerpoint/2010/main" val="217137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657FF-FE59-EB9C-B0A5-4AB62CBEF275}"/>
              </a:ext>
            </a:extLst>
          </p:cNvPr>
          <p:cNvSpPr>
            <a:spLocks noGrp="1"/>
          </p:cNvSpPr>
          <p:nvPr>
            <p:ph type="title"/>
          </p:nvPr>
        </p:nvSpPr>
        <p:spPr/>
        <p:txBody>
          <a:bodyPr/>
          <a:lstStyle/>
          <a:p>
            <a:r>
              <a:rPr lang="en-IN" dirty="0"/>
              <a:t>Data Dependence relations</a:t>
            </a:r>
          </a:p>
        </p:txBody>
      </p:sp>
      <p:pic>
        <p:nvPicPr>
          <p:cNvPr id="5" name="Content Placeholder 4">
            <a:extLst>
              <a:ext uri="{FF2B5EF4-FFF2-40B4-BE49-F238E27FC236}">
                <a16:creationId xmlns:a16="http://schemas.microsoft.com/office/drawing/2014/main" id="{CD50FB57-90BF-82D0-EFFB-B94AB2B5A166}"/>
              </a:ext>
            </a:extLst>
          </p:cNvPr>
          <p:cNvPicPr>
            <a:picLocks noGrp="1" noChangeAspect="1"/>
          </p:cNvPicPr>
          <p:nvPr>
            <p:ph idx="1"/>
          </p:nvPr>
        </p:nvPicPr>
        <p:blipFill rotWithShape="1">
          <a:blip r:embed="rId2"/>
          <a:srcRect l="-395" t="8782" r="395"/>
          <a:stretch/>
        </p:blipFill>
        <p:spPr>
          <a:xfrm>
            <a:off x="361015" y="1325563"/>
            <a:ext cx="5110871" cy="5220678"/>
          </a:xfrm>
        </p:spPr>
      </p:pic>
      <p:sp>
        <p:nvSpPr>
          <p:cNvPr id="6" name="TextBox 5">
            <a:extLst>
              <a:ext uri="{FF2B5EF4-FFF2-40B4-BE49-F238E27FC236}">
                <a16:creationId xmlns:a16="http://schemas.microsoft.com/office/drawing/2014/main" id="{68426F13-9D74-B0FF-68AD-448FA601126C}"/>
              </a:ext>
            </a:extLst>
          </p:cNvPr>
          <p:cNvSpPr txBox="1"/>
          <p:nvPr/>
        </p:nvSpPr>
        <p:spPr>
          <a:xfrm>
            <a:off x="5936343" y="1483603"/>
            <a:ext cx="5994400" cy="4616648"/>
          </a:xfrm>
          <a:prstGeom prst="rect">
            <a:avLst/>
          </a:prstGeom>
          <a:noFill/>
        </p:spPr>
        <p:txBody>
          <a:bodyPr wrap="square" rtlCol="0">
            <a:spAutoFit/>
          </a:bodyPr>
          <a:lstStyle/>
          <a:p>
            <a:r>
              <a:rPr lang="en-US" sz="2000" dirty="0">
                <a:latin typeface="Palatino Linotype" panose="02040502050505030304" pitchFamily="18" charset="0"/>
              </a:rPr>
              <a:t>There are three types of dependence</a:t>
            </a:r>
          </a:p>
          <a:p>
            <a:pPr marL="285750" indent="-285750" algn="just">
              <a:buFont typeface="Arial" panose="020B0604020202020204" pitchFamily="34" charset="0"/>
              <a:buChar char="•"/>
            </a:pPr>
            <a:r>
              <a:rPr lang="en-US" sz="2000" dirty="0">
                <a:latin typeface="Palatino Linotype" panose="02040502050505030304" pitchFamily="18" charset="0"/>
              </a:rPr>
              <a:t>In </a:t>
            </a:r>
            <a:r>
              <a:rPr lang="en-US" sz="2000" dirty="0">
                <a:solidFill>
                  <a:srgbClr val="FF0000"/>
                </a:solidFill>
                <a:latin typeface="Palatino Linotype" panose="02040502050505030304" pitchFamily="18" charset="0"/>
              </a:rPr>
              <a:t>flow dependence </a:t>
            </a:r>
            <a:r>
              <a:rPr lang="en-US" sz="2000" dirty="0">
                <a:latin typeface="Palatino Linotype" panose="02040502050505030304" pitchFamily="18" charset="0"/>
              </a:rPr>
              <a:t>the two statements S1 and S2 share a variable X, </a:t>
            </a:r>
            <a:r>
              <a:rPr lang="en-US" sz="2000" dirty="0">
                <a:solidFill>
                  <a:srgbClr val="000099"/>
                </a:solidFill>
                <a:latin typeface="Palatino Linotype" panose="02040502050505030304" pitchFamily="18" charset="0"/>
              </a:rPr>
              <a:t>S1 writes into it</a:t>
            </a:r>
            <a:r>
              <a:rPr lang="en-US" sz="2000" dirty="0">
                <a:latin typeface="Palatino Linotype" panose="02040502050505030304" pitchFamily="18" charset="0"/>
              </a:rPr>
              <a:t> and then S2 in the same execution order </a:t>
            </a:r>
            <a:r>
              <a:rPr lang="en-US" sz="2000" dirty="0">
                <a:solidFill>
                  <a:srgbClr val="000099"/>
                </a:solidFill>
                <a:latin typeface="Palatino Linotype" panose="02040502050505030304" pitchFamily="18" charset="0"/>
              </a:rPr>
              <a:t>reads form it</a:t>
            </a:r>
            <a:r>
              <a:rPr lang="en-US" sz="2000" dirty="0">
                <a:latin typeface="Palatino Linotype" panose="02040502050505030304" pitchFamily="18" charset="0"/>
              </a:rPr>
              <a:t>.</a:t>
            </a:r>
          </a:p>
          <a:p>
            <a:pPr marL="285750" indent="-285750" algn="just">
              <a:buFont typeface="Arial" panose="020B0604020202020204" pitchFamily="34" charset="0"/>
              <a:buChar char="•"/>
            </a:pPr>
            <a:endParaRPr lang="en-US" sz="2000" dirty="0">
              <a:latin typeface="Palatino Linotype" panose="02040502050505030304" pitchFamily="18" charset="0"/>
            </a:endParaRPr>
          </a:p>
          <a:p>
            <a:pPr marL="285750" indent="-285750" algn="just">
              <a:buFont typeface="Arial" panose="020B0604020202020204" pitchFamily="34" charset="0"/>
              <a:buChar char="•"/>
            </a:pPr>
            <a:r>
              <a:rPr lang="en-US" sz="2000" dirty="0">
                <a:solidFill>
                  <a:srgbClr val="FF0000"/>
                </a:solidFill>
                <a:latin typeface="Palatino Linotype" panose="02040502050505030304" pitchFamily="18" charset="0"/>
              </a:rPr>
              <a:t>Anti-dependence</a:t>
            </a:r>
            <a:r>
              <a:rPr lang="en-US" sz="2000" dirty="0">
                <a:latin typeface="Palatino Linotype" panose="02040502050505030304" pitchFamily="18" charset="0"/>
              </a:rPr>
              <a:t> is the other way, </a:t>
            </a:r>
            <a:r>
              <a:rPr lang="en-US" sz="2000" dirty="0">
                <a:solidFill>
                  <a:srgbClr val="000099"/>
                </a:solidFill>
                <a:latin typeface="Palatino Linotype" panose="02040502050505030304" pitchFamily="18" charset="0"/>
              </a:rPr>
              <a:t>S1 reads from X and then S2 writes into X</a:t>
            </a:r>
            <a:r>
              <a:rPr lang="en-US" sz="2000" dirty="0">
                <a:latin typeface="Palatino Linotype" panose="02040502050505030304" pitchFamily="18" charset="0"/>
              </a:rPr>
              <a:t>, so you first read and then write. </a:t>
            </a:r>
          </a:p>
          <a:p>
            <a:pPr marL="285750" indent="-285750" algn="just">
              <a:buFont typeface="Arial" panose="020B0604020202020204" pitchFamily="34" charset="0"/>
              <a:buChar char="•"/>
            </a:pPr>
            <a:endParaRPr lang="en-US" sz="2000" dirty="0">
              <a:latin typeface="Palatino Linotype" panose="02040502050505030304" pitchFamily="18" charset="0"/>
            </a:endParaRPr>
          </a:p>
          <a:p>
            <a:pPr marL="285750" indent="-285750" algn="just">
              <a:buFont typeface="Arial" panose="020B0604020202020204" pitchFamily="34" charset="0"/>
              <a:buChar char="•"/>
            </a:pPr>
            <a:r>
              <a:rPr lang="en-US" sz="2000" dirty="0">
                <a:solidFill>
                  <a:srgbClr val="FF0000"/>
                </a:solidFill>
                <a:latin typeface="Palatino Linotype" panose="02040502050505030304" pitchFamily="18" charset="0"/>
              </a:rPr>
              <a:t>Output dependence </a:t>
            </a:r>
            <a:r>
              <a:rPr lang="en-US" sz="2000" dirty="0">
                <a:latin typeface="Palatino Linotype" panose="02040502050505030304" pitchFamily="18" charset="0"/>
              </a:rPr>
              <a:t>is </a:t>
            </a:r>
            <a:r>
              <a:rPr lang="en-US" sz="2000" dirty="0">
                <a:solidFill>
                  <a:srgbClr val="000099"/>
                </a:solidFill>
                <a:latin typeface="Palatino Linotype" panose="02040502050505030304" pitchFamily="18" charset="0"/>
              </a:rPr>
              <a:t>S1 writes into X </a:t>
            </a:r>
            <a:r>
              <a:rPr lang="en-US" sz="2000" dirty="0">
                <a:latin typeface="Palatino Linotype" panose="02040502050505030304" pitchFamily="18" charset="0"/>
              </a:rPr>
              <a:t>and then </a:t>
            </a:r>
            <a:r>
              <a:rPr lang="en-US" sz="2000" dirty="0">
                <a:solidFill>
                  <a:srgbClr val="000099"/>
                </a:solidFill>
                <a:latin typeface="Palatino Linotype" panose="02040502050505030304" pitchFamily="18" charset="0"/>
              </a:rPr>
              <a:t>S2 also writes into X</a:t>
            </a:r>
            <a:r>
              <a:rPr lang="en-US" sz="2000" dirty="0">
                <a:latin typeface="Palatino Linotype" panose="02040502050505030304" pitchFamily="18" charset="0"/>
              </a:rPr>
              <a:t>, but then </a:t>
            </a:r>
            <a:r>
              <a:rPr lang="en-US" sz="2000" dirty="0">
                <a:solidFill>
                  <a:srgbClr val="000099"/>
                </a:solidFill>
                <a:latin typeface="Palatino Linotype" panose="02040502050505030304" pitchFamily="18" charset="0"/>
              </a:rPr>
              <a:t>you cannot really change the order of S1 and S2. </a:t>
            </a:r>
          </a:p>
          <a:p>
            <a:pPr marL="742950" lvl="1" indent="-285750" algn="just">
              <a:buFont typeface="Arial" panose="020B0604020202020204" pitchFamily="34" charset="0"/>
              <a:buChar char="•"/>
            </a:pPr>
            <a:r>
              <a:rPr lang="en-US" dirty="0">
                <a:latin typeface="Palatino Linotype" panose="02040502050505030304" pitchFamily="18" charset="0"/>
              </a:rPr>
              <a:t>e.g. if output dependence is violated and the output device is a printer then the printed output may appear in jumbled form.</a:t>
            </a:r>
            <a:endParaRPr lang="en-IN" dirty="0">
              <a:latin typeface="Palatino Linotype" panose="02040502050505030304" pitchFamily="18" charset="0"/>
            </a:endParaRPr>
          </a:p>
        </p:txBody>
      </p:sp>
    </p:spTree>
    <p:extLst>
      <p:ext uri="{BB962C8B-B14F-4D97-AF65-F5344CB8AC3E}">
        <p14:creationId xmlns:p14="http://schemas.microsoft.com/office/powerpoint/2010/main" val="741929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3FDD9-5986-9DE8-4285-0525EEF72750}"/>
              </a:ext>
            </a:extLst>
          </p:cNvPr>
          <p:cNvSpPr>
            <a:spLocks noGrp="1"/>
          </p:cNvSpPr>
          <p:nvPr>
            <p:ph type="title"/>
          </p:nvPr>
        </p:nvSpPr>
        <p:spPr/>
        <p:txBody>
          <a:bodyPr/>
          <a:lstStyle/>
          <a:p>
            <a:r>
              <a:rPr lang="en-US" dirty="0"/>
              <a:t>Data Dependence Direction Vector</a:t>
            </a:r>
            <a:endParaRPr lang="en-IN" dirty="0"/>
          </a:p>
        </p:txBody>
      </p:sp>
      <p:sp>
        <p:nvSpPr>
          <p:cNvPr id="3" name="Content Placeholder 2">
            <a:extLst>
              <a:ext uri="{FF2B5EF4-FFF2-40B4-BE49-F238E27FC236}">
                <a16:creationId xmlns:a16="http://schemas.microsoft.com/office/drawing/2014/main" id="{52FD2FBE-0C3E-46C0-0CB4-66E5D5A578BA}"/>
              </a:ext>
            </a:extLst>
          </p:cNvPr>
          <p:cNvSpPr>
            <a:spLocks noGrp="1"/>
          </p:cNvSpPr>
          <p:nvPr>
            <p:ph idx="1"/>
          </p:nvPr>
        </p:nvSpPr>
        <p:spPr/>
        <p:txBody>
          <a:bodyPr>
            <a:normAutofit lnSpcReduction="10000"/>
          </a:bodyPr>
          <a:lstStyle/>
          <a:p>
            <a:pPr marL="0" indent="0">
              <a:buNone/>
            </a:pPr>
            <a:r>
              <a:rPr lang="en-US" dirty="0">
                <a:solidFill>
                  <a:srgbClr val="000099"/>
                </a:solidFill>
              </a:rPr>
              <a:t>Used to analyze and classify the dependencies between the iterations in the loop</a:t>
            </a:r>
          </a:p>
          <a:p>
            <a:pPr marL="514350" indent="-514350">
              <a:buFont typeface="+mj-lt"/>
              <a:buAutoNum type="arabicPeriod"/>
            </a:pPr>
            <a:r>
              <a:rPr lang="en-US" dirty="0">
                <a:solidFill>
                  <a:srgbClr val="000099"/>
                </a:solidFill>
              </a:rPr>
              <a:t>Forward or "&lt;" direction</a:t>
            </a:r>
            <a:r>
              <a:rPr lang="en-US" dirty="0"/>
              <a:t> means dependence from iteration </a:t>
            </a:r>
            <a:r>
              <a:rPr lang="en-US" dirty="0" err="1"/>
              <a:t>i</a:t>
            </a:r>
            <a:r>
              <a:rPr lang="en-US" dirty="0"/>
              <a:t> to </a:t>
            </a:r>
            <a:r>
              <a:rPr lang="en-US" dirty="0" err="1"/>
              <a:t>i+k</a:t>
            </a:r>
            <a:r>
              <a:rPr lang="en-US" dirty="0"/>
              <a:t> (i.e., computed in iteration </a:t>
            </a:r>
            <a:r>
              <a:rPr lang="en-US" dirty="0" err="1"/>
              <a:t>i</a:t>
            </a:r>
            <a:r>
              <a:rPr lang="en-US" dirty="0"/>
              <a:t> and used in iteration </a:t>
            </a:r>
            <a:r>
              <a:rPr lang="en-US" dirty="0" err="1"/>
              <a:t>i+k</a:t>
            </a:r>
            <a:r>
              <a:rPr lang="en-US" dirty="0"/>
              <a:t>)</a:t>
            </a:r>
          </a:p>
          <a:p>
            <a:pPr marL="514350" indent="-514350">
              <a:buFont typeface="+mj-lt"/>
              <a:buAutoNum type="arabicPeriod"/>
            </a:pPr>
            <a:endParaRPr lang="en-US" dirty="0"/>
          </a:p>
          <a:p>
            <a:pPr marL="514350" indent="-514350">
              <a:buFont typeface="+mj-lt"/>
              <a:buAutoNum type="arabicPeriod"/>
            </a:pPr>
            <a:r>
              <a:rPr lang="en-US" dirty="0">
                <a:solidFill>
                  <a:srgbClr val="000099"/>
                </a:solidFill>
              </a:rPr>
              <a:t>Backward or "&gt;" direction </a:t>
            </a:r>
            <a:r>
              <a:rPr lang="en-US" dirty="0"/>
              <a:t>means dependence from iteration </a:t>
            </a:r>
            <a:r>
              <a:rPr lang="en-US" dirty="0" err="1"/>
              <a:t>i</a:t>
            </a:r>
            <a:r>
              <a:rPr lang="en-US" dirty="0"/>
              <a:t> to </a:t>
            </a:r>
            <a:r>
              <a:rPr lang="en-US" dirty="0" err="1"/>
              <a:t>i</a:t>
            </a:r>
            <a:r>
              <a:rPr lang="en-US" dirty="0"/>
              <a:t>-k (i.e., computed in iteration </a:t>
            </a:r>
            <a:r>
              <a:rPr lang="en-US" dirty="0" err="1"/>
              <a:t>i</a:t>
            </a:r>
            <a:r>
              <a:rPr lang="en-US" dirty="0"/>
              <a:t> and used in iteration </a:t>
            </a:r>
            <a:r>
              <a:rPr lang="en-US" dirty="0" err="1"/>
              <a:t>i</a:t>
            </a:r>
            <a:r>
              <a:rPr lang="en-US" dirty="0"/>
              <a:t>-k). This is not possible in single loops and possible in doubly or higher levels of nesting</a:t>
            </a:r>
          </a:p>
          <a:p>
            <a:pPr marL="514350" indent="-514350">
              <a:buFont typeface="+mj-lt"/>
              <a:buAutoNum type="arabicPeriod"/>
            </a:pPr>
            <a:endParaRPr lang="en-US" dirty="0"/>
          </a:p>
          <a:p>
            <a:pPr marL="514350" indent="-514350">
              <a:buFont typeface="+mj-lt"/>
              <a:buAutoNum type="arabicPeriod"/>
            </a:pPr>
            <a:r>
              <a:rPr lang="en-US" dirty="0">
                <a:solidFill>
                  <a:srgbClr val="000099"/>
                </a:solidFill>
              </a:rPr>
              <a:t>Equal or "=" direction </a:t>
            </a:r>
            <a:r>
              <a:rPr lang="en-US" dirty="0"/>
              <a:t>means that dependence is in the same iteration (i.e., computed in iteration </a:t>
            </a:r>
            <a:r>
              <a:rPr lang="en-US" dirty="0" err="1"/>
              <a:t>i</a:t>
            </a:r>
            <a:r>
              <a:rPr lang="en-US" dirty="0"/>
              <a:t> and used in iteration </a:t>
            </a:r>
            <a:r>
              <a:rPr lang="en-US" dirty="0" err="1"/>
              <a:t>i</a:t>
            </a:r>
            <a:r>
              <a:rPr lang="en-US" dirty="0"/>
              <a:t>)</a:t>
            </a:r>
            <a:endParaRPr lang="en-IN" dirty="0"/>
          </a:p>
        </p:txBody>
      </p:sp>
    </p:spTree>
    <p:extLst>
      <p:ext uri="{BB962C8B-B14F-4D97-AF65-F5344CB8AC3E}">
        <p14:creationId xmlns:p14="http://schemas.microsoft.com/office/powerpoint/2010/main" val="2158307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BBB73-77F7-E758-4D5A-5168D60C55B4}"/>
              </a:ext>
            </a:extLst>
          </p:cNvPr>
          <p:cNvSpPr>
            <a:spLocks noGrp="1"/>
          </p:cNvSpPr>
          <p:nvPr>
            <p:ph type="title"/>
          </p:nvPr>
        </p:nvSpPr>
        <p:spPr>
          <a:xfrm>
            <a:off x="0" y="0"/>
            <a:ext cx="12192000" cy="1325563"/>
          </a:xfrm>
        </p:spPr>
        <p:txBody>
          <a:bodyPr>
            <a:normAutofit/>
          </a:bodyPr>
          <a:lstStyle/>
          <a:p>
            <a:r>
              <a:rPr lang="en-US" sz="4000" dirty="0"/>
              <a:t>Data Dependence Graph (DDG) and Vectorization</a:t>
            </a:r>
            <a:endParaRPr lang="en-IN" sz="4000" dirty="0"/>
          </a:p>
        </p:txBody>
      </p:sp>
      <p:sp>
        <p:nvSpPr>
          <p:cNvPr id="3" name="Content Placeholder 2">
            <a:extLst>
              <a:ext uri="{FF2B5EF4-FFF2-40B4-BE49-F238E27FC236}">
                <a16:creationId xmlns:a16="http://schemas.microsoft.com/office/drawing/2014/main" id="{FCB31622-E9A9-6D31-D8D4-F189E1D9D10E}"/>
              </a:ext>
            </a:extLst>
          </p:cNvPr>
          <p:cNvSpPr>
            <a:spLocks noGrp="1"/>
          </p:cNvSpPr>
          <p:nvPr>
            <p:ph idx="1"/>
          </p:nvPr>
        </p:nvSpPr>
        <p:spPr>
          <a:xfrm>
            <a:off x="347868" y="1325563"/>
            <a:ext cx="11492949" cy="5416323"/>
          </a:xfrm>
        </p:spPr>
        <p:txBody>
          <a:bodyPr>
            <a:normAutofit fontScale="92500"/>
          </a:bodyPr>
          <a:lstStyle/>
          <a:p>
            <a:pPr>
              <a:lnSpc>
                <a:spcPct val="100000"/>
              </a:lnSpc>
            </a:pPr>
            <a:r>
              <a:rPr lang="en-US" dirty="0"/>
              <a:t>Individual </a:t>
            </a:r>
            <a:r>
              <a:rPr lang="en-US" dirty="0">
                <a:solidFill>
                  <a:srgbClr val="FF0000"/>
                </a:solidFill>
              </a:rPr>
              <a:t>nodes are statements </a:t>
            </a:r>
            <a:r>
              <a:rPr lang="en-US" dirty="0"/>
              <a:t>of the program and </a:t>
            </a:r>
            <a:r>
              <a:rPr lang="en-US" dirty="0">
                <a:solidFill>
                  <a:srgbClr val="000099"/>
                </a:solidFill>
              </a:rPr>
              <a:t>edges</a:t>
            </a:r>
            <a:r>
              <a:rPr lang="en-US" dirty="0"/>
              <a:t> depict </a:t>
            </a:r>
            <a:r>
              <a:rPr lang="en-US" dirty="0">
                <a:solidFill>
                  <a:srgbClr val="000099"/>
                </a:solidFill>
              </a:rPr>
              <a:t>data</a:t>
            </a:r>
            <a:r>
              <a:rPr lang="en-US" dirty="0"/>
              <a:t> </a:t>
            </a:r>
            <a:r>
              <a:rPr lang="en-US" dirty="0">
                <a:solidFill>
                  <a:srgbClr val="000099"/>
                </a:solidFill>
              </a:rPr>
              <a:t>dependence among the statements</a:t>
            </a:r>
          </a:p>
          <a:p>
            <a:pPr>
              <a:lnSpc>
                <a:spcPct val="100000"/>
              </a:lnSpc>
            </a:pPr>
            <a:r>
              <a:rPr lang="en-US" dirty="0">
                <a:solidFill>
                  <a:srgbClr val="FF0000"/>
                </a:solidFill>
              </a:rPr>
              <a:t>Vectorization</a:t>
            </a:r>
          </a:p>
          <a:p>
            <a:pPr lvl="1">
              <a:lnSpc>
                <a:spcPct val="100000"/>
              </a:lnSpc>
            </a:pPr>
            <a:r>
              <a:rPr lang="en-US" dirty="0"/>
              <a:t>Operations that </a:t>
            </a:r>
            <a:r>
              <a:rPr lang="en-US" dirty="0">
                <a:solidFill>
                  <a:srgbClr val="000099"/>
                </a:solidFill>
              </a:rPr>
              <a:t>are performed on multiple components of a vector at the same time (in one statement)</a:t>
            </a:r>
          </a:p>
          <a:p>
            <a:pPr lvl="1">
              <a:lnSpc>
                <a:spcPct val="100000"/>
              </a:lnSpc>
            </a:pPr>
            <a:r>
              <a:rPr lang="en-US" dirty="0" err="1"/>
              <a:t>Eg.</a:t>
            </a:r>
            <a:r>
              <a:rPr lang="en-US" dirty="0"/>
              <a:t> A=rand(1,4); B=rand(</a:t>
            </a:r>
            <a:r>
              <a:rPr lang="en-IN" dirty="0"/>
              <a:t>1,4); c = </a:t>
            </a:r>
            <a:r>
              <a:rPr lang="en-IN" dirty="0" err="1"/>
              <a:t>a+b</a:t>
            </a:r>
            <a:r>
              <a:rPr lang="en-IN" dirty="0"/>
              <a:t>;</a:t>
            </a:r>
          </a:p>
          <a:p>
            <a:pPr lvl="1">
              <a:lnSpc>
                <a:spcPct val="100000"/>
              </a:lnSpc>
            </a:pPr>
            <a:endParaRPr lang="en-US" dirty="0"/>
          </a:p>
          <a:p>
            <a:pPr>
              <a:lnSpc>
                <a:spcPct val="100000"/>
              </a:lnSpc>
            </a:pPr>
            <a:r>
              <a:rPr lang="en-US" dirty="0"/>
              <a:t>If the </a:t>
            </a:r>
            <a:r>
              <a:rPr lang="en-US" dirty="0">
                <a:solidFill>
                  <a:srgbClr val="000099"/>
                </a:solidFill>
              </a:rPr>
              <a:t>DDG is acyclic</a:t>
            </a:r>
            <a:r>
              <a:rPr lang="en-US" dirty="0"/>
              <a:t>, then vectorization of the program is straightforward</a:t>
            </a:r>
          </a:p>
          <a:p>
            <a:pPr lvl="1">
              <a:lnSpc>
                <a:spcPct val="100000"/>
              </a:lnSpc>
            </a:pPr>
            <a:r>
              <a:rPr lang="en-US" dirty="0"/>
              <a:t>Vector code generation can be done using a topological sort order on the DDG</a:t>
            </a:r>
          </a:p>
          <a:p>
            <a:pPr>
              <a:lnSpc>
                <a:spcPct val="100000"/>
              </a:lnSpc>
            </a:pPr>
            <a:r>
              <a:rPr lang="en-US" dirty="0"/>
              <a:t>Otherwise, find all the strongly connected components of the DDG, and reduce the DDG to an acyclic graph by treating each SCC as a single node</a:t>
            </a:r>
          </a:p>
          <a:p>
            <a:pPr marL="0" indent="0">
              <a:lnSpc>
                <a:spcPct val="100000"/>
              </a:lnSpc>
              <a:buNone/>
            </a:pPr>
            <a:endParaRPr lang="en-IN" dirty="0"/>
          </a:p>
        </p:txBody>
      </p:sp>
    </p:spTree>
    <p:extLst>
      <p:ext uri="{BB962C8B-B14F-4D97-AF65-F5344CB8AC3E}">
        <p14:creationId xmlns:p14="http://schemas.microsoft.com/office/powerpoint/2010/main" val="1116097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684FB-079C-07DA-897F-A30ED11051C0}"/>
              </a:ext>
            </a:extLst>
          </p:cNvPr>
          <p:cNvSpPr>
            <a:spLocks noGrp="1"/>
          </p:cNvSpPr>
          <p:nvPr>
            <p:ph type="title"/>
          </p:nvPr>
        </p:nvSpPr>
        <p:spPr>
          <a:xfrm>
            <a:off x="0" y="0"/>
            <a:ext cx="12192000" cy="1240971"/>
          </a:xfrm>
        </p:spPr>
        <p:txBody>
          <a:bodyPr>
            <a:normAutofit/>
          </a:bodyPr>
          <a:lstStyle/>
          <a:p>
            <a:r>
              <a:rPr lang="en-US" dirty="0"/>
              <a:t>Data Dependence Graph and Vectorization</a:t>
            </a:r>
            <a:endParaRPr lang="en-IN" dirty="0"/>
          </a:p>
        </p:txBody>
      </p:sp>
      <p:sp>
        <p:nvSpPr>
          <p:cNvPr id="3" name="Content Placeholder 2">
            <a:extLst>
              <a:ext uri="{FF2B5EF4-FFF2-40B4-BE49-F238E27FC236}">
                <a16:creationId xmlns:a16="http://schemas.microsoft.com/office/drawing/2014/main" id="{97B792CE-ACA1-83C1-E4E1-7F75578E154E}"/>
              </a:ext>
            </a:extLst>
          </p:cNvPr>
          <p:cNvSpPr>
            <a:spLocks noGrp="1"/>
          </p:cNvSpPr>
          <p:nvPr>
            <p:ph idx="1"/>
          </p:nvPr>
        </p:nvSpPr>
        <p:spPr/>
        <p:txBody>
          <a:bodyPr/>
          <a:lstStyle/>
          <a:p>
            <a:r>
              <a:rPr lang="en-US" dirty="0">
                <a:solidFill>
                  <a:srgbClr val="FF0000"/>
                </a:solidFill>
              </a:rPr>
              <a:t>Any dependence with a forward (&lt;) direction in an outer loop will be satisfied by the serial execution of the outer loop</a:t>
            </a:r>
          </a:p>
          <a:p>
            <a:endParaRPr lang="en-US" dirty="0"/>
          </a:p>
          <a:p>
            <a:r>
              <a:rPr lang="en-US" dirty="0">
                <a:solidFill>
                  <a:srgbClr val="000099"/>
                </a:solidFill>
              </a:rPr>
              <a:t>If an outer loop L is run in sequential mode, then all the dependences with a forward (&lt;) direction at the outer level (of L) will be automatically satisfied (even those of the loops inner to L)</a:t>
            </a:r>
          </a:p>
          <a:p>
            <a:endParaRPr lang="en-US" dirty="0"/>
          </a:p>
          <a:p>
            <a:r>
              <a:rPr lang="en-US" dirty="0"/>
              <a:t>For those </a:t>
            </a:r>
            <a:r>
              <a:rPr lang="en-US" dirty="0">
                <a:solidFill>
                  <a:srgbClr val="FF0000"/>
                </a:solidFill>
              </a:rPr>
              <a:t>dependences with (=) direction at the outer level</a:t>
            </a:r>
            <a:r>
              <a:rPr lang="en-US" dirty="0"/>
              <a:t>; the </a:t>
            </a:r>
            <a:r>
              <a:rPr lang="en-US" dirty="0">
                <a:solidFill>
                  <a:srgbClr val="000099"/>
                </a:solidFill>
              </a:rPr>
              <a:t>dependences of the inner loops will have to be satisfied by appropriate statement ordering and loop execution order</a:t>
            </a:r>
            <a:endParaRPr lang="en-IN" dirty="0">
              <a:solidFill>
                <a:srgbClr val="000099"/>
              </a:solidFill>
            </a:endParaRPr>
          </a:p>
        </p:txBody>
      </p:sp>
    </p:spTree>
    <p:extLst>
      <p:ext uri="{BB962C8B-B14F-4D97-AF65-F5344CB8AC3E}">
        <p14:creationId xmlns:p14="http://schemas.microsoft.com/office/powerpoint/2010/main" val="3222533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92D5-A448-3D32-67B6-BCBA5DFF5049}"/>
              </a:ext>
            </a:extLst>
          </p:cNvPr>
          <p:cNvSpPr>
            <a:spLocks noGrp="1"/>
          </p:cNvSpPr>
          <p:nvPr>
            <p:ph type="title"/>
          </p:nvPr>
        </p:nvSpPr>
        <p:spPr/>
        <p:txBody>
          <a:bodyPr/>
          <a:lstStyle/>
          <a:p>
            <a:r>
              <a:rPr lang="en-IN" dirty="0"/>
              <a:t>Vectorization Example 1</a:t>
            </a:r>
          </a:p>
        </p:txBody>
      </p:sp>
      <p:pic>
        <p:nvPicPr>
          <p:cNvPr id="5" name="Content Placeholder 4">
            <a:extLst>
              <a:ext uri="{FF2B5EF4-FFF2-40B4-BE49-F238E27FC236}">
                <a16:creationId xmlns:a16="http://schemas.microsoft.com/office/drawing/2014/main" id="{3998416E-7FB0-BCA3-6B32-C6A4A5AE75D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878" t="13492" r="27779" b="14288"/>
          <a:stretch/>
        </p:blipFill>
        <p:spPr>
          <a:xfrm>
            <a:off x="927967" y="1226965"/>
            <a:ext cx="7103165" cy="5456897"/>
          </a:xfrm>
        </p:spPr>
      </p:pic>
      <p:sp>
        <p:nvSpPr>
          <p:cNvPr id="3" name="TextBox 2">
            <a:extLst>
              <a:ext uri="{FF2B5EF4-FFF2-40B4-BE49-F238E27FC236}">
                <a16:creationId xmlns:a16="http://schemas.microsoft.com/office/drawing/2014/main" id="{4806B67B-5B9A-20F9-CF39-0EBF3BD6373D}"/>
              </a:ext>
            </a:extLst>
          </p:cNvPr>
          <p:cNvSpPr txBox="1"/>
          <p:nvPr/>
        </p:nvSpPr>
        <p:spPr>
          <a:xfrm>
            <a:off x="7895772" y="1603829"/>
            <a:ext cx="3969657" cy="2251770"/>
          </a:xfrm>
          <a:prstGeom prst="rect">
            <a:avLst/>
          </a:prstGeom>
          <a:noFill/>
        </p:spPr>
        <p:txBody>
          <a:bodyPr wrap="square" rtlCol="0">
            <a:spAutoFit/>
          </a:bodyPr>
          <a:lstStyle/>
          <a:p>
            <a:pPr>
              <a:lnSpc>
                <a:spcPct val="150000"/>
              </a:lnSpc>
            </a:pPr>
            <a:r>
              <a:rPr lang="en-IN" sz="2400" dirty="0">
                <a:solidFill>
                  <a:srgbClr val="000099"/>
                </a:solidFill>
                <a:latin typeface="Palatino Linotype" panose="02040502050505030304" pitchFamily="18" charset="0"/>
              </a:rPr>
              <a:t>S1 to S3 flow dependence</a:t>
            </a:r>
          </a:p>
          <a:p>
            <a:pPr>
              <a:lnSpc>
                <a:spcPct val="150000"/>
              </a:lnSpc>
            </a:pPr>
            <a:r>
              <a:rPr lang="en-IN" sz="2400" dirty="0">
                <a:solidFill>
                  <a:srgbClr val="000099"/>
                </a:solidFill>
                <a:latin typeface="Palatino Linotype" panose="02040502050505030304" pitchFamily="18" charset="0"/>
              </a:rPr>
              <a:t>S1 to S4 output dependence</a:t>
            </a:r>
          </a:p>
          <a:p>
            <a:pPr>
              <a:lnSpc>
                <a:spcPct val="150000"/>
              </a:lnSpc>
            </a:pPr>
            <a:r>
              <a:rPr lang="en-IN" sz="2400" dirty="0">
                <a:solidFill>
                  <a:srgbClr val="000099"/>
                </a:solidFill>
                <a:latin typeface="Palatino Linotype" panose="02040502050505030304" pitchFamily="18" charset="0"/>
              </a:rPr>
              <a:t>S2 to S4 flow dependence</a:t>
            </a:r>
          </a:p>
          <a:p>
            <a:pPr>
              <a:lnSpc>
                <a:spcPct val="150000"/>
              </a:lnSpc>
            </a:pPr>
            <a:r>
              <a:rPr lang="en-IN" sz="2400" dirty="0">
                <a:solidFill>
                  <a:srgbClr val="000099"/>
                </a:solidFill>
                <a:latin typeface="Palatino Linotype" panose="02040502050505030304" pitchFamily="18" charset="0"/>
              </a:rPr>
              <a:t>S4 to S3 flow dependenc</a:t>
            </a:r>
            <a:r>
              <a:rPr lang="en-IN" sz="2400" dirty="0">
                <a:latin typeface="Palatino Linotype" panose="02040502050505030304" pitchFamily="18" charset="0"/>
              </a:rPr>
              <a:t>e</a:t>
            </a:r>
          </a:p>
        </p:txBody>
      </p:sp>
    </p:spTree>
    <p:extLst>
      <p:ext uri="{BB962C8B-B14F-4D97-AF65-F5344CB8AC3E}">
        <p14:creationId xmlns:p14="http://schemas.microsoft.com/office/powerpoint/2010/main" val="54141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DA69-1554-A739-C5F5-8D17DFE3D93F}"/>
              </a:ext>
            </a:extLst>
          </p:cNvPr>
          <p:cNvSpPr>
            <a:spLocks noGrp="1"/>
          </p:cNvSpPr>
          <p:nvPr>
            <p:ph type="title"/>
          </p:nvPr>
        </p:nvSpPr>
        <p:spPr/>
        <p:txBody>
          <a:bodyPr/>
          <a:lstStyle/>
          <a:p>
            <a:r>
              <a:rPr lang="en-IN" dirty="0"/>
              <a:t>Example 2</a:t>
            </a:r>
          </a:p>
        </p:txBody>
      </p:sp>
      <p:sp>
        <p:nvSpPr>
          <p:cNvPr id="3" name="Content Placeholder 2">
            <a:extLst>
              <a:ext uri="{FF2B5EF4-FFF2-40B4-BE49-F238E27FC236}">
                <a16:creationId xmlns:a16="http://schemas.microsoft.com/office/drawing/2014/main" id="{458CC384-F9BC-F4AF-6A92-76F11D12BECE}"/>
              </a:ext>
            </a:extLst>
          </p:cNvPr>
          <p:cNvSpPr>
            <a:spLocks noGrp="1"/>
          </p:cNvSpPr>
          <p:nvPr>
            <p:ph idx="1"/>
          </p:nvPr>
        </p:nvSpPr>
        <p:spPr>
          <a:xfrm>
            <a:off x="6175829" y="662781"/>
            <a:ext cx="5548874" cy="3930990"/>
          </a:xfrm>
        </p:spPr>
        <p:txBody>
          <a:bodyPr>
            <a:normAutofit/>
          </a:bodyPr>
          <a:lstStyle/>
          <a:p>
            <a:pPr marL="0" indent="0">
              <a:lnSpc>
                <a:spcPct val="100000"/>
              </a:lnSpc>
              <a:spcBef>
                <a:spcPts val="0"/>
              </a:spcBef>
              <a:buNone/>
            </a:pPr>
            <a:r>
              <a:rPr lang="pl-PL" sz="2400" dirty="0"/>
              <a:t>for </a:t>
            </a:r>
            <a:r>
              <a:rPr lang="en-US" sz="2400" dirty="0"/>
              <a:t>I = </a:t>
            </a:r>
            <a:r>
              <a:rPr lang="pl-PL" sz="2400" dirty="0"/>
              <a:t>1 to 100 do { </a:t>
            </a:r>
            <a:endParaRPr lang="en-IN" sz="2400" dirty="0"/>
          </a:p>
          <a:p>
            <a:pPr marL="0" indent="0">
              <a:lnSpc>
                <a:spcPct val="100000"/>
              </a:lnSpc>
              <a:spcBef>
                <a:spcPts val="0"/>
              </a:spcBef>
              <a:buNone/>
            </a:pPr>
            <a:r>
              <a:rPr lang="en-IN" sz="2400" dirty="0"/>
              <a:t>   </a:t>
            </a:r>
            <a:r>
              <a:rPr lang="pl-PL" sz="2400" dirty="0"/>
              <a:t>for J = 1 to 100 do { </a:t>
            </a:r>
            <a:endParaRPr lang="en-IN" sz="2400" dirty="0"/>
          </a:p>
          <a:p>
            <a:pPr marL="0" indent="0">
              <a:lnSpc>
                <a:spcPct val="100000"/>
              </a:lnSpc>
              <a:spcBef>
                <a:spcPts val="0"/>
              </a:spcBef>
              <a:buNone/>
            </a:pPr>
            <a:r>
              <a:rPr lang="en-IN" sz="2400" dirty="0"/>
              <a:t>      </a:t>
            </a:r>
            <a:r>
              <a:rPr lang="pl-PL" sz="2400" dirty="0"/>
              <a:t>for K</a:t>
            </a:r>
            <a:r>
              <a:rPr lang="en-US" sz="2400" dirty="0"/>
              <a:t> =</a:t>
            </a:r>
            <a:r>
              <a:rPr lang="pl-PL" sz="2400" dirty="0"/>
              <a:t> 1 to 100 do { </a:t>
            </a:r>
            <a:endParaRPr lang="en-IN" sz="2400" dirty="0"/>
          </a:p>
          <a:p>
            <a:pPr marL="0" indent="0">
              <a:lnSpc>
                <a:spcPct val="100000"/>
              </a:lnSpc>
              <a:spcBef>
                <a:spcPts val="0"/>
              </a:spcBef>
              <a:buNone/>
            </a:pPr>
            <a:r>
              <a:rPr lang="pl-PL" sz="2400" dirty="0"/>
              <a:t>S1: </a:t>
            </a:r>
            <a:r>
              <a:rPr lang="en-IN" sz="2400" dirty="0"/>
              <a:t>    </a:t>
            </a:r>
            <a:r>
              <a:rPr lang="pl-PL" sz="2400" dirty="0"/>
              <a:t>X(I, J+1, K) = A(I, J, K) + 10</a:t>
            </a:r>
            <a:endParaRPr lang="en-IN" sz="2400" dirty="0"/>
          </a:p>
          <a:p>
            <a:pPr marL="0" indent="0">
              <a:lnSpc>
                <a:spcPct val="100000"/>
              </a:lnSpc>
              <a:spcBef>
                <a:spcPts val="0"/>
              </a:spcBef>
              <a:buNone/>
            </a:pPr>
            <a:r>
              <a:rPr lang="en-IN" sz="2400" dirty="0"/>
              <a:t>      </a:t>
            </a:r>
            <a:r>
              <a:rPr lang="pl-PL" sz="2400" dirty="0"/>
              <a:t>} </a:t>
            </a:r>
            <a:endParaRPr lang="en-IN" sz="2400" dirty="0"/>
          </a:p>
          <a:p>
            <a:pPr marL="0" indent="0">
              <a:lnSpc>
                <a:spcPct val="100000"/>
              </a:lnSpc>
              <a:spcBef>
                <a:spcPts val="0"/>
              </a:spcBef>
              <a:buNone/>
            </a:pPr>
            <a:r>
              <a:rPr lang="en-IN" sz="2400" dirty="0"/>
              <a:t>      </a:t>
            </a:r>
            <a:r>
              <a:rPr lang="pl-PL" sz="2400" dirty="0"/>
              <a:t>for L</a:t>
            </a:r>
            <a:r>
              <a:rPr lang="en-US" sz="2400" dirty="0"/>
              <a:t> =</a:t>
            </a:r>
            <a:r>
              <a:rPr lang="pl-PL" sz="2400" dirty="0"/>
              <a:t> 1 to 50 do { </a:t>
            </a:r>
            <a:endParaRPr lang="en-IN" sz="2400" dirty="0"/>
          </a:p>
          <a:p>
            <a:pPr marL="0" indent="0">
              <a:lnSpc>
                <a:spcPct val="100000"/>
              </a:lnSpc>
              <a:spcBef>
                <a:spcPts val="0"/>
              </a:spcBef>
              <a:buNone/>
            </a:pPr>
            <a:r>
              <a:rPr lang="en-IN" sz="2400" dirty="0"/>
              <a:t>S2:     </a:t>
            </a:r>
            <a:r>
              <a:rPr lang="pl-PL" sz="2400" dirty="0"/>
              <a:t>A(I+1, J, L) = X(I, J, L) +5</a:t>
            </a:r>
            <a:endParaRPr lang="en-IN" sz="2400" dirty="0"/>
          </a:p>
          <a:p>
            <a:pPr marL="0" indent="0">
              <a:lnSpc>
                <a:spcPct val="100000"/>
              </a:lnSpc>
              <a:spcBef>
                <a:spcPts val="0"/>
              </a:spcBef>
              <a:buNone/>
            </a:pPr>
            <a:r>
              <a:rPr lang="en-IN" sz="2400" dirty="0"/>
              <a:t>      }</a:t>
            </a:r>
          </a:p>
          <a:p>
            <a:pPr marL="0" indent="0">
              <a:lnSpc>
                <a:spcPct val="100000"/>
              </a:lnSpc>
              <a:spcBef>
                <a:spcPts val="0"/>
              </a:spcBef>
              <a:buNone/>
            </a:pPr>
            <a:r>
              <a:rPr lang="en-IN" sz="2400" dirty="0"/>
              <a:t>  }</a:t>
            </a:r>
            <a:endParaRPr lang="en-IN" dirty="0"/>
          </a:p>
          <a:p>
            <a:pPr marL="0" indent="0">
              <a:buNone/>
            </a:pPr>
            <a:r>
              <a:rPr lang="en-IN" dirty="0"/>
              <a:t>}</a:t>
            </a:r>
          </a:p>
        </p:txBody>
      </p:sp>
      <p:sp>
        <p:nvSpPr>
          <p:cNvPr id="4" name="TextBox 3">
            <a:extLst>
              <a:ext uri="{FF2B5EF4-FFF2-40B4-BE49-F238E27FC236}">
                <a16:creationId xmlns:a16="http://schemas.microsoft.com/office/drawing/2014/main" id="{A84E053E-1686-3E30-E967-9F5672F3F7C6}"/>
              </a:ext>
            </a:extLst>
          </p:cNvPr>
          <p:cNvSpPr txBox="1"/>
          <p:nvPr/>
        </p:nvSpPr>
        <p:spPr>
          <a:xfrm>
            <a:off x="5638800" y="4905829"/>
            <a:ext cx="6103258" cy="1569660"/>
          </a:xfrm>
          <a:prstGeom prst="rect">
            <a:avLst/>
          </a:prstGeom>
          <a:noFill/>
        </p:spPr>
        <p:txBody>
          <a:bodyPr wrap="square" rtlCol="0">
            <a:spAutoFit/>
          </a:bodyPr>
          <a:lstStyle/>
          <a:p>
            <a:r>
              <a:rPr lang="en-IN" sz="2400" dirty="0">
                <a:solidFill>
                  <a:srgbClr val="FF0000"/>
                </a:solidFill>
                <a:latin typeface="Palatino Linotype" panose="02040502050505030304" pitchFamily="18" charset="0"/>
              </a:rPr>
              <a:t>for 1= 1 to 100 do { </a:t>
            </a:r>
          </a:p>
          <a:p>
            <a:r>
              <a:rPr lang="en-IN" sz="2400" dirty="0">
                <a:solidFill>
                  <a:srgbClr val="FF0000"/>
                </a:solidFill>
                <a:latin typeface="Palatino Linotype" panose="02040502050505030304" pitchFamily="18" charset="0"/>
              </a:rPr>
              <a:t>    X(I, 2:101, 1:100) = A(I, 1:100, 1:100) + 10 </a:t>
            </a:r>
          </a:p>
          <a:p>
            <a:r>
              <a:rPr lang="en-IN" sz="2400" dirty="0">
                <a:solidFill>
                  <a:srgbClr val="FF0000"/>
                </a:solidFill>
                <a:latin typeface="Palatino Linotype" panose="02040502050505030304" pitchFamily="18" charset="0"/>
              </a:rPr>
              <a:t>    A(I+1, 1:100, 1:50) = X(I, 1:100, 1:50) + 5</a:t>
            </a:r>
          </a:p>
          <a:p>
            <a:r>
              <a:rPr lang="en-IN" sz="2400" dirty="0">
                <a:solidFill>
                  <a:srgbClr val="FF0000"/>
                </a:solidFill>
                <a:latin typeface="Palatino Linotype" panose="02040502050505030304" pitchFamily="18" charset="0"/>
              </a:rPr>
              <a:t>}</a:t>
            </a:r>
          </a:p>
        </p:txBody>
      </p:sp>
      <p:pic>
        <p:nvPicPr>
          <p:cNvPr id="9" name="Picture 8">
            <a:extLst>
              <a:ext uri="{FF2B5EF4-FFF2-40B4-BE49-F238E27FC236}">
                <a16:creationId xmlns:a16="http://schemas.microsoft.com/office/drawing/2014/main" id="{FE47F6E0-E0D0-1778-65C2-066CE5F26821}"/>
              </a:ext>
            </a:extLst>
          </p:cNvPr>
          <p:cNvPicPr>
            <a:picLocks noChangeAspect="1"/>
          </p:cNvPicPr>
          <p:nvPr/>
        </p:nvPicPr>
        <p:blipFill>
          <a:blip r:embed="rId2"/>
          <a:stretch>
            <a:fillRect/>
          </a:stretch>
        </p:blipFill>
        <p:spPr>
          <a:xfrm>
            <a:off x="1676400" y="1140278"/>
            <a:ext cx="1970996" cy="2596522"/>
          </a:xfrm>
          <a:prstGeom prst="rect">
            <a:avLst/>
          </a:prstGeom>
        </p:spPr>
      </p:pic>
    </p:spTree>
    <p:extLst>
      <p:ext uri="{BB962C8B-B14F-4D97-AF65-F5344CB8AC3E}">
        <p14:creationId xmlns:p14="http://schemas.microsoft.com/office/powerpoint/2010/main" val="764322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91E36-E970-6A99-95A7-98C87CF00099}"/>
              </a:ext>
            </a:extLst>
          </p:cNvPr>
          <p:cNvSpPr>
            <a:spLocks noGrp="1"/>
          </p:cNvSpPr>
          <p:nvPr>
            <p:ph type="title"/>
          </p:nvPr>
        </p:nvSpPr>
        <p:spPr/>
        <p:txBody>
          <a:bodyPr/>
          <a:lstStyle/>
          <a:p>
            <a:r>
              <a:rPr lang="en-IN" dirty="0"/>
              <a:t>Cont..</a:t>
            </a:r>
          </a:p>
        </p:txBody>
      </p:sp>
      <p:pic>
        <p:nvPicPr>
          <p:cNvPr id="5" name="Content Placeholder 4">
            <a:extLst>
              <a:ext uri="{FF2B5EF4-FFF2-40B4-BE49-F238E27FC236}">
                <a16:creationId xmlns:a16="http://schemas.microsoft.com/office/drawing/2014/main" id="{221AB753-D462-6594-5ED6-CBE2D47B5B58}"/>
              </a:ext>
            </a:extLst>
          </p:cNvPr>
          <p:cNvPicPr>
            <a:picLocks noGrp="1" noChangeAspect="1"/>
          </p:cNvPicPr>
          <p:nvPr>
            <p:ph idx="1"/>
          </p:nvPr>
        </p:nvPicPr>
        <p:blipFill>
          <a:blip r:embed="rId2"/>
          <a:stretch>
            <a:fillRect/>
          </a:stretch>
        </p:blipFill>
        <p:spPr>
          <a:xfrm>
            <a:off x="2548437" y="3661229"/>
            <a:ext cx="6357438" cy="3143400"/>
          </a:xfrm>
        </p:spPr>
      </p:pic>
      <p:pic>
        <p:nvPicPr>
          <p:cNvPr id="6" name="Picture 5">
            <a:extLst>
              <a:ext uri="{FF2B5EF4-FFF2-40B4-BE49-F238E27FC236}">
                <a16:creationId xmlns:a16="http://schemas.microsoft.com/office/drawing/2014/main" id="{D8741403-0CEB-8D2F-3B5A-C2B0228558C5}"/>
              </a:ext>
            </a:extLst>
          </p:cNvPr>
          <p:cNvPicPr>
            <a:picLocks noChangeAspect="1"/>
          </p:cNvPicPr>
          <p:nvPr/>
        </p:nvPicPr>
        <p:blipFill>
          <a:blip r:embed="rId3"/>
          <a:stretch>
            <a:fillRect/>
          </a:stretch>
        </p:blipFill>
        <p:spPr>
          <a:xfrm>
            <a:off x="2298937" y="465678"/>
            <a:ext cx="2193550" cy="2889707"/>
          </a:xfrm>
          <a:prstGeom prst="rect">
            <a:avLst/>
          </a:prstGeom>
        </p:spPr>
      </p:pic>
      <p:pic>
        <p:nvPicPr>
          <p:cNvPr id="7" name="Picture 6">
            <a:extLst>
              <a:ext uri="{FF2B5EF4-FFF2-40B4-BE49-F238E27FC236}">
                <a16:creationId xmlns:a16="http://schemas.microsoft.com/office/drawing/2014/main" id="{6ADE6222-3802-CB38-C9F3-0B56DBAA0C58}"/>
              </a:ext>
            </a:extLst>
          </p:cNvPr>
          <p:cNvPicPr>
            <a:picLocks noChangeAspect="1"/>
          </p:cNvPicPr>
          <p:nvPr/>
        </p:nvPicPr>
        <p:blipFill>
          <a:blip r:embed="rId4"/>
          <a:stretch>
            <a:fillRect/>
          </a:stretch>
        </p:blipFill>
        <p:spPr>
          <a:xfrm>
            <a:off x="6260238" y="244897"/>
            <a:ext cx="4632733" cy="3357486"/>
          </a:xfrm>
          <a:prstGeom prst="rect">
            <a:avLst/>
          </a:prstGeom>
        </p:spPr>
      </p:pic>
    </p:spTree>
    <p:extLst>
      <p:ext uri="{BB962C8B-B14F-4D97-AF65-F5344CB8AC3E}">
        <p14:creationId xmlns:p14="http://schemas.microsoft.com/office/powerpoint/2010/main" val="143135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82C7C6-3590-1763-DC60-C6D31C9005A7}"/>
              </a:ext>
            </a:extLst>
          </p:cNvPr>
          <p:cNvSpPr>
            <a:spLocks noGrp="1"/>
          </p:cNvSpPr>
          <p:nvPr>
            <p:ph type="title"/>
          </p:nvPr>
        </p:nvSpPr>
        <p:spPr/>
        <p:txBody>
          <a:bodyPr/>
          <a:lstStyle/>
          <a:p>
            <a:r>
              <a:rPr lang="en-IN" dirty="0"/>
              <a:t>Instruction Scheduling</a:t>
            </a:r>
          </a:p>
        </p:txBody>
      </p:sp>
      <p:sp>
        <p:nvSpPr>
          <p:cNvPr id="5" name="Text Placeholder 4">
            <a:extLst>
              <a:ext uri="{FF2B5EF4-FFF2-40B4-BE49-F238E27FC236}">
                <a16:creationId xmlns:a16="http://schemas.microsoft.com/office/drawing/2014/main" id="{7A402D62-960E-CA33-8341-E94760A4A2F4}"/>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908244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6C652-09D6-7D56-4B86-0144A2D74E54}"/>
              </a:ext>
            </a:extLst>
          </p:cNvPr>
          <p:cNvSpPr>
            <a:spLocks noGrp="1"/>
          </p:cNvSpPr>
          <p:nvPr>
            <p:ph type="title"/>
          </p:nvPr>
        </p:nvSpPr>
        <p:spPr/>
        <p:txBody>
          <a:bodyPr/>
          <a:lstStyle/>
          <a:p>
            <a:r>
              <a:rPr lang="en-IN" dirty="0"/>
              <a:t>Sensitivity to Instruction Order</a:t>
            </a:r>
          </a:p>
        </p:txBody>
      </p:sp>
      <p:sp>
        <p:nvSpPr>
          <p:cNvPr id="3" name="Content Placeholder 2">
            <a:extLst>
              <a:ext uri="{FF2B5EF4-FFF2-40B4-BE49-F238E27FC236}">
                <a16:creationId xmlns:a16="http://schemas.microsoft.com/office/drawing/2014/main" id="{E07121B2-0797-B367-E5C9-7DD4AB29E554}"/>
              </a:ext>
            </a:extLst>
          </p:cNvPr>
          <p:cNvSpPr>
            <a:spLocks noGrp="1"/>
          </p:cNvSpPr>
          <p:nvPr>
            <p:ph idx="1"/>
          </p:nvPr>
        </p:nvSpPr>
        <p:spPr>
          <a:xfrm>
            <a:off x="347868" y="1484243"/>
            <a:ext cx="11492949" cy="5247861"/>
          </a:xfrm>
        </p:spPr>
        <p:txBody>
          <a:bodyPr>
            <a:normAutofit/>
          </a:bodyPr>
          <a:lstStyle/>
          <a:p>
            <a:r>
              <a:rPr lang="en-US" dirty="0">
                <a:solidFill>
                  <a:srgbClr val="FF0000"/>
                </a:solidFill>
              </a:rPr>
              <a:t>Order of instruction execution has a significant effect on program performance</a:t>
            </a:r>
          </a:p>
          <a:p>
            <a:pPr lvl="1"/>
            <a:r>
              <a:rPr lang="en-US" dirty="0">
                <a:solidFill>
                  <a:srgbClr val="000099"/>
                </a:solidFill>
              </a:rPr>
              <a:t>Different operations have different latencies</a:t>
            </a:r>
          </a:p>
          <a:p>
            <a:pPr lvl="1"/>
            <a:r>
              <a:rPr lang="en-US" dirty="0">
                <a:solidFill>
                  <a:srgbClr val="000099"/>
                </a:solidFill>
              </a:rPr>
              <a:t>Same operation may have different latencies</a:t>
            </a:r>
          </a:p>
          <a:p>
            <a:endParaRPr lang="en-US" dirty="0"/>
          </a:p>
          <a:p>
            <a:r>
              <a:rPr lang="en-US" dirty="0">
                <a:solidFill>
                  <a:srgbClr val="FF0000"/>
                </a:solidFill>
              </a:rPr>
              <a:t>Instruction scheduling </a:t>
            </a:r>
            <a:r>
              <a:rPr lang="en-US" dirty="0"/>
              <a:t>is the </a:t>
            </a:r>
            <a:r>
              <a:rPr lang="en-US" dirty="0">
                <a:solidFill>
                  <a:srgbClr val="000099"/>
                </a:solidFill>
              </a:rPr>
              <a:t>task of ordering the operations to make effective use of processor resources</a:t>
            </a:r>
          </a:p>
          <a:p>
            <a:pPr lvl="1"/>
            <a:r>
              <a:rPr lang="en-US" dirty="0"/>
              <a:t>Input to the instruction scheduler is an unordered or partially ordered list of operations in say the target machine’s assembly language</a:t>
            </a:r>
          </a:p>
          <a:p>
            <a:pPr lvl="1"/>
            <a:r>
              <a:rPr lang="en-US" dirty="0"/>
              <a:t>Output is an order on the list of operations</a:t>
            </a:r>
            <a:endParaRPr lang="en-IN" dirty="0"/>
          </a:p>
        </p:txBody>
      </p:sp>
    </p:spTree>
    <p:extLst>
      <p:ext uri="{BB962C8B-B14F-4D97-AF65-F5344CB8AC3E}">
        <p14:creationId xmlns:p14="http://schemas.microsoft.com/office/powerpoint/2010/main" val="1013777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54EBC-D975-9A97-3D4A-EF84EE6AB38D}"/>
              </a:ext>
            </a:extLst>
          </p:cNvPr>
          <p:cNvSpPr>
            <a:spLocks noGrp="1"/>
          </p:cNvSpPr>
          <p:nvPr>
            <p:ph type="title"/>
          </p:nvPr>
        </p:nvSpPr>
        <p:spPr/>
        <p:txBody>
          <a:bodyPr/>
          <a:lstStyle/>
          <a:p>
            <a:r>
              <a:rPr lang="en-IN" dirty="0"/>
              <a:t>Overlapping Instructions</a:t>
            </a:r>
          </a:p>
        </p:txBody>
      </p:sp>
      <p:sp>
        <p:nvSpPr>
          <p:cNvPr id="3" name="Content Placeholder 2">
            <a:extLst>
              <a:ext uri="{FF2B5EF4-FFF2-40B4-BE49-F238E27FC236}">
                <a16:creationId xmlns:a16="http://schemas.microsoft.com/office/drawing/2014/main" id="{9CDA1094-9537-C2FF-3142-F17FEB2CE848}"/>
              </a:ext>
            </a:extLst>
          </p:cNvPr>
          <p:cNvSpPr>
            <a:spLocks noGrp="1"/>
          </p:cNvSpPr>
          <p:nvPr>
            <p:ph idx="1"/>
          </p:nvPr>
        </p:nvSpPr>
        <p:spPr/>
        <p:txBody>
          <a:bodyPr>
            <a:normAutofit/>
          </a:bodyPr>
          <a:lstStyle/>
          <a:p>
            <a:r>
              <a:rPr lang="en-US" dirty="0">
                <a:solidFill>
                  <a:srgbClr val="000099"/>
                </a:solidFill>
              </a:rPr>
              <a:t>Processors overlap instruction execution to make use of a finite set of functional units</a:t>
            </a:r>
          </a:p>
          <a:p>
            <a:endParaRPr lang="en-US" dirty="0"/>
          </a:p>
          <a:p>
            <a:r>
              <a:rPr lang="en-US" dirty="0">
                <a:solidFill>
                  <a:srgbClr val="000099"/>
                </a:solidFill>
              </a:rPr>
              <a:t>Processor stalls an instruction until its operands are available</a:t>
            </a:r>
          </a:p>
          <a:p>
            <a:pPr lvl="1"/>
            <a:r>
              <a:rPr lang="en-US" dirty="0"/>
              <a:t>Scheduler can reorder instructions to minimize the number of stalls</a:t>
            </a:r>
          </a:p>
          <a:p>
            <a:pPr lvl="1"/>
            <a:endParaRPr lang="en-US" dirty="0">
              <a:solidFill>
                <a:srgbClr val="000099"/>
              </a:solidFill>
            </a:endParaRPr>
          </a:p>
          <a:p>
            <a:r>
              <a:rPr lang="en-US" dirty="0">
                <a:solidFill>
                  <a:srgbClr val="000099"/>
                </a:solidFill>
              </a:rPr>
              <a:t>Processor can also continue executing the instruction with wrong operands</a:t>
            </a:r>
          </a:p>
          <a:p>
            <a:pPr lvl="1"/>
            <a:r>
              <a:rPr lang="en-US" dirty="0"/>
              <a:t>Will need support for re-execution when correct operands are available</a:t>
            </a:r>
          </a:p>
          <a:p>
            <a:pPr lvl="1"/>
            <a:r>
              <a:rPr lang="en-US" dirty="0"/>
              <a:t>Need to maintain sufficient distance between the definition and the uses of the operand</a:t>
            </a:r>
            <a:endParaRPr lang="en-IN" dirty="0"/>
          </a:p>
        </p:txBody>
      </p:sp>
    </p:spTree>
    <p:extLst>
      <p:ext uri="{BB962C8B-B14F-4D97-AF65-F5344CB8AC3E}">
        <p14:creationId xmlns:p14="http://schemas.microsoft.com/office/powerpoint/2010/main" val="2109455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16BA1-E398-D278-49C5-635F26693E57}"/>
              </a:ext>
            </a:extLst>
          </p:cNvPr>
          <p:cNvSpPr>
            <a:spLocks noGrp="1"/>
          </p:cNvSpPr>
          <p:nvPr>
            <p:ph type="title"/>
          </p:nvPr>
        </p:nvSpPr>
        <p:spPr/>
        <p:txBody>
          <a:bodyPr/>
          <a:lstStyle/>
          <a:p>
            <a:r>
              <a:rPr lang="en-IN" dirty="0"/>
              <a:t>Instruction Scheduling</a:t>
            </a:r>
          </a:p>
        </p:txBody>
      </p:sp>
      <p:sp>
        <p:nvSpPr>
          <p:cNvPr id="3" name="Content Placeholder 2">
            <a:extLst>
              <a:ext uri="{FF2B5EF4-FFF2-40B4-BE49-F238E27FC236}">
                <a16:creationId xmlns:a16="http://schemas.microsoft.com/office/drawing/2014/main" id="{BB66C478-89B9-5510-07BF-39E0368EE8DD}"/>
              </a:ext>
            </a:extLst>
          </p:cNvPr>
          <p:cNvSpPr>
            <a:spLocks noGrp="1"/>
          </p:cNvSpPr>
          <p:nvPr>
            <p:ph idx="1"/>
          </p:nvPr>
        </p:nvSpPr>
        <p:spPr/>
        <p:txBody>
          <a:bodyPr/>
          <a:lstStyle/>
          <a:p>
            <a:pPr>
              <a:lnSpc>
                <a:spcPct val="100000"/>
              </a:lnSpc>
            </a:pPr>
            <a:r>
              <a:rPr lang="en-US" dirty="0"/>
              <a:t>A processor that relies on the compiler to insert NOPs for correctness is called a </a:t>
            </a:r>
            <a:r>
              <a:rPr lang="en-US" dirty="0">
                <a:solidFill>
                  <a:srgbClr val="FF0000"/>
                </a:solidFill>
              </a:rPr>
              <a:t>statically scheduled processor</a:t>
            </a:r>
          </a:p>
          <a:p>
            <a:pPr lvl="1">
              <a:lnSpc>
                <a:spcPct val="100000"/>
              </a:lnSpc>
            </a:pPr>
            <a:r>
              <a:rPr lang="en-US" dirty="0"/>
              <a:t>Scheduler checks the availability of functional units</a:t>
            </a:r>
          </a:p>
          <a:p>
            <a:pPr lvl="1">
              <a:lnSpc>
                <a:spcPct val="100000"/>
              </a:lnSpc>
            </a:pPr>
            <a:endParaRPr lang="en-US" dirty="0"/>
          </a:p>
          <a:p>
            <a:pPr>
              <a:lnSpc>
                <a:spcPct val="100000"/>
              </a:lnSpc>
            </a:pPr>
            <a:r>
              <a:rPr lang="en-US" dirty="0">
                <a:solidFill>
                  <a:srgbClr val="FF0000"/>
                </a:solidFill>
              </a:rPr>
              <a:t>A processor that </a:t>
            </a:r>
            <a:r>
              <a:rPr lang="en-US" b="1" dirty="0">
                <a:solidFill>
                  <a:srgbClr val="FF0000"/>
                </a:solidFill>
              </a:rPr>
              <a:t>uses interlocks </a:t>
            </a:r>
            <a:r>
              <a:rPr lang="en-US" dirty="0">
                <a:solidFill>
                  <a:srgbClr val="FF0000"/>
                </a:solidFill>
              </a:rPr>
              <a:t>to ensure correctness is a dynamically scheduled processor</a:t>
            </a:r>
          </a:p>
          <a:p>
            <a:pPr lvl="1">
              <a:lnSpc>
                <a:spcPct val="100000"/>
              </a:lnSpc>
            </a:pPr>
            <a:r>
              <a:rPr lang="en-US" dirty="0">
                <a:solidFill>
                  <a:srgbClr val="000099"/>
                </a:solidFill>
              </a:rPr>
              <a:t>An interlock is a hardware mechanism to detect premature issue and introduces a delay</a:t>
            </a:r>
          </a:p>
          <a:p>
            <a:pPr lvl="1">
              <a:lnSpc>
                <a:spcPct val="100000"/>
              </a:lnSpc>
            </a:pPr>
            <a:r>
              <a:rPr lang="en-US" dirty="0">
                <a:solidFill>
                  <a:srgbClr val="000099"/>
                </a:solidFill>
              </a:rPr>
              <a:t>Scheduler checks availability of operands</a:t>
            </a:r>
            <a:endParaRPr lang="en-IN" dirty="0">
              <a:solidFill>
                <a:srgbClr val="000099"/>
              </a:solidFill>
            </a:endParaRPr>
          </a:p>
        </p:txBody>
      </p:sp>
    </p:spTree>
    <p:extLst>
      <p:ext uri="{BB962C8B-B14F-4D97-AF65-F5344CB8AC3E}">
        <p14:creationId xmlns:p14="http://schemas.microsoft.com/office/powerpoint/2010/main" val="4190196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54393-F511-B789-46CD-3A82AE1B1145}"/>
              </a:ext>
            </a:extLst>
          </p:cNvPr>
          <p:cNvSpPr>
            <a:spLocks noGrp="1"/>
          </p:cNvSpPr>
          <p:nvPr>
            <p:ph type="title"/>
          </p:nvPr>
        </p:nvSpPr>
        <p:spPr>
          <a:xfrm>
            <a:off x="0" y="1"/>
            <a:ext cx="10515600" cy="1018030"/>
          </a:xfrm>
        </p:spPr>
        <p:txBody>
          <a:bodyPr/>
          <a:lstStyle/>
          <a:p>
            <a:r>
              <a:rPr lang="en-IN" dirty="0"/>
              <a:t>Instruction Scheduling Example</a:t>
            </a:r>
          </a:p>
        </p:txBody>
      </p:sp>
      <p:pic>
        <p:nvPicPr>
          <p:cNvPr id="5" name="Content Placeholder 4">
            <a:extLst>
              <a:ext uri="{FF2B5EF4-FFF2-40B4-BE49-F238E27FC236}">
                <a16:creationId xmlns:a16="http://schemas.microsoft.com/office/drawing/2014/main" id="{E8E485D6-E812-0CBE-A6AF-FA775E8CCE88}"/>
              </a:ext>
            </a:extLst>
          </p:cNvPr>
          <p:cNvPicPr>
            <a:picLocks noGrp="1" noChangeAspect="1"/>
          </p:cNvPicPr>
          <p:nvPr>
            <p:ph idx="1"/>
          </p:nvPr>
        </p:nvPicPr>
        <p:blipFill rotWithShape="1">
          <a:blip r:embed="rId2"/>
          <a:srcRect r="50000"/>
          <a:stretch/>
        </p:blipFill>
        <p:spPr>
          <a:xfrm>
            <a:off x="546853" y="1504258"/>
            <a:ext cx="5367719" cy="4424827"/>
          </a:xfrm>
        </p:spPr>
      </p:pic>
      <p:sp>
        <p:nvSpPr>
          <p:cNvPr id="7" name="TextBox 6">
            <a:extLst>
              <a:ext uri="{FF2B5EF4-FFF2-40B4-BE49-F238E27FC236}">
                <a16:creationId xmlns:a16="http://schemas.microsoft.com/office/drawing/2014/main" id="{357B8FD3-20E5-0709-705A-012CFDE73F9D}"/>
              </a:ext>
            </a:extLst>
          </p:cNvPr>
          <p:cNvSpPr txBox="1"/>
          <p:nvPr/>
        </p:nvSpPr>
        <p:spPr>
          <a:xfrm>
            <a:off x="6277430" y="1611086"/>
            <a:ext cx="5130801" cy="4524315"/>
          </a:xfrm>
          <a:prstGeom prst="rect">
            <a:avLst/>
          </a:prstGeom>
          <a:noFill/>
        </p:spPr>
        <p:txBody>
          <a:bodyPr wrap="square">
            <a:spAutoFit/>
          </a:bodyPr>
          <a:lstStyle/>
          <a:p>
            <a:pPr marL="342900" indent="-342900" algn="just">
              <a:buFont typeface="Arial" panose="020B0604020202020204" pitchFamily="34" charset="0"/>
              <a:buChar char="•"/>
            </a:pPr>
            <a:r>
              <a:rPr lang="en-US" sz="2400" dirty="0">
                <a:solidFill>
                  <a:srgbClr val="000099"/>
                </a:solidFill>
                <a:latin typeface="Palatino Linotype" panose="02040502050505030304" pitchFamily="18" charset="0"/>
              </a:rPr>
              <a:t>The column labelled “</a:t>
            </a:r>
            <a:r>
              <a:rPr lang="en-US" sz="2400" dirty="0">
                <a:solidFill>
                  <a:srgbClr val="FF0000"/>
                </a:solidFill>
                <a:latin typeface="Palatino Linotype" panose="02040502050505030304" pitchFamily="18" charset="0"/>
              </a:rPr>
              <a:t>Start</a:t>
            </a:r>
            <a:r>
              <a:rPr lang="en-US" sz="2400" dirty="0">
                <a:solidFill>
                  <a:srgbClr val="000099"/>
                </a:solidFill>
                <a:latin typeface="Palatino Linotype" panose="02040502050505030304" pitchFamily="18" charset="0"/>
              </a:rPr>
              <a:t>” shows the cycle in which each operation begins execution</a:t>
            </a:r>
          </a:p>
          <a:p>
            <a:pPr marL="342900" indent="-342900" algn="just">
              <a:buFont typeface="Arial" panose="020B0604020202020204" pitchFamily="34" charset="0"/>
              <a:buChar char="•"/>
            </a:pPr>
            <a:r>
              <a:rPr lang="en-US" sz="2400" dirty="0">
                <a:solidFill>
                  <a:srgbClr val="000099"/>
                </a:solidFill>
                <a:latin typeface="Palatino Linotype" panose="02040502050505030304" pitchFamily="18" charset="0"/>
              </a:rPr>
              <a:t>Assume that the processor has a single functional unit, loads and stores take three cycles, a multiply takes two cycles, and all other operations complete in a single cycle. </a:t>
            </a:r>
          </a:p>
          <a:p>
            <a:pPr marL="800100" lvl="1" indent="-342900" algn="just">
              <a:buFont typeface="Arial" panose="020B0604020202020204" pitchFamily="34" charset="0"/>
              <a:buChar char="•"/>
            </a:pPr>
            <a:r>
              <a:rPr lang="en-US" sz="2400" dirty="0">
                <a:solidFill>
                  <a:srgbClr val="000099"/>
                </a:solidFill>
                <a:latin typeface="Palatino Linotype" panose="02040502050505030304" pitchFamily="18" charset="0"/>
              </a:rPr>
              <a:t>With these assumptions, the original code, shown on the left, </a:t>
            </a:r>
            <a:r>
              <a:rPr lang="en-US" sz="2400" dirty="0">
                <a:solidFill>
                  <a:srgbClr val="FF0000"/>
                </a:solidFill>
                <a:latin typeface="Palatino Linotype" panose="02040502050505030304" pitchFamily="18" charset="0"/>
              </a:rPr>
              <a:t>takes 22 cycles</a:t>
            </a:r>
            <a:r>
              <a:rPr lang="en-US" sz="2400" dirty="0">
                <a:solidFill>
                  <a:srgbClr val="000099"/>
                </a:solidFill>
                <a:latin typeface="Palatino Linotype" panose="02040502050505030304" pitchFamily="18" charset="0"/>
              </a:rPr>
              <a:t>.</a:t>
            </a:r>
            <a:endParaRPr lang="en-IN" sz="2400" dirty="0">
              <a:solidFill>
                <a:srgbClr val="000099"/>
              </a:solidFill>
              <a:latin typeface="Palatino Linotype" panose="02040502050505030304" pitchFamily="18" charset="0"/>
            </a:endParaRPr>
          </a:p>
        </p:txBody>
      </p:sp>
    </p:spTree>
    <p:extLst>
      <p:ext uri="{BB962C8B-B14F-4D97-AF65-F5344CB8AC3E}">
        <p14:creationId xmlns:p14="http://schemas.microsoft.com/office/powerpoint/2010/main" val="268021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54393-F511-B789-46CD-3A82AE1B1145}"/>
              </a:ext>
            </a:extLst>
          </p:cNvPr>
          <p:cNvSpPr>
            <a:spLocks noGrp="1"/>
          </p:cNvSpPr>
          <p:nvPr>
            <p:ph type="title"/>
          </p:nvPr>
        </p:nvSpPr>
        <p:spPr>
          <a:xfrm>
            <a:off x="0" y="1"/>
            <a:ext cx="10515600" cy="1018030"/>
          </a:xfrm>
        </p:spPr>
        <p:txBody>
          <a:bodyPr/>
          <a:lstStyle/>
          <a:p>
            <a:r>
              <a:rPr lang="en-IN" dirty="0"/>
              <a:t>Instruction Scheduling Example</a:t>
            </a:r>
          </a:p>
        </p:txBody>
      </p:sp>
      <p:pic>
        <p:nvPicPr>
          <p:cNvPr id="5" name="Content Placeholder 4">
            <a:extLst>
              <a:ext uri="{FF2B5EF4-FFF2-40B4-BE49-F238E27FC236}">
                <a16:creationId xmlns:a16="http://schemas.microsoft.com/office/drawing/2014/main" id="{E8E485D6-E812-0CBE-A6AF-FA775E8CCE88}"/>
              </a:ext>
            </a:extLst>
          </p:cNvPr>
          <p:cNvPicPr>
            <a:picLocks noGrp="1" noChangeAspect="1"/>
          </p:cNvPicPr>
          <p:nvPr>
            <p:ph idx="1"/>
          </p:nvPr>
        </p:nvPicPr>
        <p:blipFill rotWithShape="1">
          <a:blip r:embed="rId2"/>
          <a:srcRect l="50000"/>
          <a:stretch/>
        </p:blipFill>
        <p:spPr>
          <a:xfrm>
            <a:off x="101601" y="1216586"/>
            <a:ext cx="5170870" cy="4262557"/>
          </a:xfrm>
        </p:spPr>
      </p:pic>
      <p:sp>
        <p:nvSpPr>
          <p:cNvPr id="7" name="TextBox 6">
            <a:extLst>
              <a:ext uri="{FF2B5EF4-FFF2-40B4-BE49-F238E27FC236}">
                <a16:creationId xmlns:a16="http://schemas.microsoft.com/office/drawing/2014/main" id="{357B8FD3-20E5-0709-705A-012CFDE73F9D}"/>
              </a:ext>
            </a:extLst>
          </p:cNvPr>
          <p:cNvSpPr txBox="1"/>
          <p:nvPr/>
        </p:nvSpPr>
        <p:spPr>
          <a:xfrm>
            <a:off x="5272471" y="1216586"/>
            <a:ext cx="6873418" cy="5632311"/>
          </a:xfrm>
          <a:prstGeom prst="rect">
            <a:avLst/>
          </a:prstGeom>
          <a:noFill/>
        </p:spPr>
        <p:txBody>
          <a:bodyPr wrap="square">
            <a:spAutoFit/>
          </a:bodyPr>
          <a:lstStyle/>
          <a:p>
            <a:pPr marL="342900" indent="-342900" algn="just">
              <a:lnSpc>
                <a:spcPct val="90000"/>
              </a:lnSpc>
              <a:buFont typeface="Arial" panose="020B0604020202020204" pitchFamily="34" charset="0"/>
              <a:buChar char="•"/>
            </a:pPr>
            <a:r>
              <a:rPr lang="en-US" sz="2000" dirty="0">
                <a:latin typeface="Palatino Linotype" panose="02040502050505030304" pitchFamily="18" charset="0"/>
              </a:rPr>
              <a:t>The scheduled code, executes in many fewer cycles. </a:t>
            </a:r>
          </a:p>
          <a:p>
            <a:pPr marL="342900" indent="-342900" algn="just">
              <a:lnSpc>
                <a:spcPct val="90000"/>
              </a:lnSpc>
              <a:buFont typeface="Arial" panose="020B0604020202020204" pitchFamily="34" charset="0"/>
              <a:buChar char="•"/>
            </a:pPr>
            <a:r>
              <a:rPr lang="en-US" sz="2000" dirty="0">
                <a:latin typeface="Palatino Linotype" panose="02040502050505030304" pitchFamily="18" charset="0"/>
              </a:rPr>
              <a:t>It separates long-latency operations from operations that reference their results. </a:t>
            </a:r>
          </a:p>
          <a:p>
            <a:pPr marL="800100" lvl="1" indent="-342900" algn="just">
              <a:lnSpc>
                <a:spcPct val="90000"/>
              </a:lnSpc>
              <a:buFont typeface="Arial" panose="020B0604020202020204" pitchFamily="34" charset="0"/>
              <a:buChar char="•"/>
            </a:pPr>
            <a:r>
              <a:rPr lang="en-US" sz="2000" dirty="0">
                <a:latin typeface="Palatino Linotype" panose="02040502050505030304" pitchFamily="18" charset="0"/>
              </a:rPr>
              <a:t>This separation allows operations that do not depend on these results to execute concurrently with the long-latency operations. </a:t>
            </a:r>
          </a:p>
          <a:p>
            <a:pPr marL="342900" indent="-342900" algn="just">
              <a:lnSpc>
                <a:spcPct val="90000"/>
              </a:lnSpc>
              <a:buFont typeface="Arial" panose="020B0604020202020204" pitchFamily="34" charset="0"/>
              <a:buChar char="•"/>
            </a:pPr>
            <a:r>
              <a:rPr lang="en-US" sz="2000" dirty="0">
                <a:solidFill>
                  <a:srgbClr val="000099"/>
                </a:solidFill>
                <a:latin typeface="Palatino Linotype" panose="02040502050505030304" pitchFamily="18" charset="0"/>
              </a:rPr>
              <a:t>The code issues load operations in the first three cycles; the results are available in cycles 4, 5, and 6, respectively. </a:t>
            </a:r>
          </a:p>
          <a:p>
            <a:pPr marL="800100" lvl="1" indent="-342900" algn="just">
              <a:lnSpc>
                <a:spcPct val="90000"/>
              </a:lnSpc>
              <a:buFont typeface="Arial" panose="020B0604020202020204" pitchFamily="34" charset="0"/>
              <a:buChar char="•"/>
            </a:pPr>
            <a:r>
              <a:rPr lang="en-US" sz="2000" dirty="0">
                <a:latin typeface="Palatino Linotype" panose="02040502050505030304" pitchFamily="18" charset="0"/>
              </a:rPr>
              <a:t>This schedule requires an extra register, r3, to hold the result of the third concurrently executing load operation, but it allows the processor to perform useful work while waiting for the first arithmetic operand to arrive. </a:t>
            </a:r>
          </a:p>
          <a:p>
            <a:pPr marL="342900" indent="-342900" algn="just">
              <a:lnSpc>
                <a:spcPct val="90000"/>
              </a:lnSpc>
              <a:buFont typeface="Arial" panose="020B0604020202020204" pitchFamily="34" charset="0"/>
              <a:buChar char="•"/>
            </a:pPr>
            <a:r>
              <a:rPr lang="en-US" sz="2000" dirty="0">
                <a:latin typeface="Palatino Linotype" panose="02040502050505030304" pitchFamily="18" charset="0"/>
              </a:rPr>
              <a:t>The overlap among operations effectively hides the latency of the memory operations. </a:t>
            </a:r>
          </a:p>
          <a:p>
            <a:pPr marL="342900" indent="-342900" algn="just">
              <a:lnSpc>
                <a:spcPct val="90000"/>
              </a:lnSpc>
              <a:buFont typeface="Arial" panose="020B0604020202020204" pitchFamily="34" charset="0"/>
              <a:buChar char="•"/>
            </a:pPr>
            <a:r>
              <a:rPr lang="en-US" sz="2000" dirty="0">
                <a:latin typeface="Palatino Linotype" panose="02040502050505030304" pitchFamily="18" charset="0"/>
              </a:rPr>
              <a:t>The same idea, applied throughout the block, hides the latency of the </a:t>
            </a:r>
            <a:r>
              <a:rPr lang="en-US" sz="2000" dirty="0" err="1">
                <a:latin typeface="Palatino Linotype" panose="02040502050505030304" pitchFamily="18" charset="0"/>
              </a:rPr>
              <a:t>mult</a:t>
            </a:r>
            <a:r>
              <a:rPr lang="en-US" sz="2000" dirty="0">
                <a:latin typeface="Palatino Linotype" panose="02040502050505030304" pitchFamily="18" charset="0"/>
              </a:rPr>
              <a:t> operation. </a:t>
            </a:r>
          </a:p>
          <a:p>
            <a:pPr marL="342900" indent="-342900" algn="just">
              <a:lnSpc>
                <a:spcPct val="90000"/>
              </a:lnSpc>
              <a:buFont typeface="Arial" panose="020B0604020202020204" pitchFamily="34" charset="0"/>
              <a:buChar char="•"/>
            </a:pPr>
            <a:r>
              <a:rPr lang="en-US" sz="2000" dirty="0">
                <a:solidFill>
                  <a:srgbClr val="FF0000"/>
                </a:solidFill>
                <a:latin typeface="Palatino Linotype" panose="02040502050505030304" pitchFamily="18" charset="0"/>
              </a:rPr>
              <a:t>The reordering reduces the running time to 13 cycles, a 41 percent improvement.</a:t>
            </a:r>
            <a:endParaRPr lang="en-IN" sz="2000" dirty="0">
              <a:solidFill>
                <a:srgbClr val="FF0000"/>
              </a:solidFill>
              <a:latin typeface="Palatino Linotype" panose="02040502050505030304" pitchFamily="18" charset="0"/>
            </a:endParaRPr>
          </a:p>
        </p:txBody>
      </p:sp>
    </p:spTree>
    <p:extLst>
      <p:ext uri="{BB962C8B-B14F-4D97-AF65-F5344CB8AC3E}">
        <p14:creationId xmlns:p14="http://schemas.microsoft.com/office/powerpoint/2010/main" val="4222573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D9BAA-9715-1167-F178-D78751D77EC4}"/>
              </a:ext>
            </a:extLst>
          </p:cNvPr>
          <p:cNvSpPr>
            <a:spLocks noGrp="1"/>
          </p:cNvSpPr>
          <p:nvPr>
            <p:ph type="title"/>
          </p:nvPr>
        </p:nvSpPr>
        <p:spPr/>
        <p:txBody>
          <a:bodyPr/>
          <a:lstStyle/>
          <a:p>
            <a:r>
              <a:rPr lang="en-IN" dirty="0"/>
              <a:t>Dependence Graph construction</a:t>
            </a:r>
          </a:p>
        </p:txBody>
      </p:sp>
      <p:sp>
        <p:nvSpPr>
          <p:cNvPr id="3" name="Content Placeholder 2">
            <a:extLst>
              <a:ext uri="{FF2B5EF4-FFF2-40B4-BE49-F238E27FC236}">
                <a16:creationId xmlns:a16="http://schemas.microsoft.com/office/drawing/2014/main" id="{FE543513-8529-23B7-BCFC-29C33CFFA425}"/>
              </a:ext>
            </a:extLst>
          </p:cNvPr>
          <p:cNvSpPr>
            <a:spLocks noGrp="1"/>
          </p:cNvSpPr>
          <p:nvPr>
            <p:ph idx="1"/>
          </p:nvPr>
        </p:nvSpPr>
        <p:spPr>
          <a:xfrm>
            <a:off x="347868" y="1255486"/>
            <a:ext cx="11492949" cy="5100864"/>
          </a:xfrm>
        </p:spPr>
        <p:txBody>
          <a:bodyPr>
            <a:normAutofit fontScale="92500" lnSpcReduction="10000"/>
          </a:bodyPr>
          <a:lstStyle/>
          <a:p>
            <a:pPr>
              <a:lnSpc>
                <a:spcPct val="150000"/>
              </a:lnSpc>
            </a:pPr>
            <a:r>
              <a:rPr lang="en-US" dirty="0">
                <a:solidFill>
                  <a:srgbClr val="FF0000"/>
                </a:solidFill>
              </a:rPr>
              <a:t>Given a basic block 𝐵, its dependence graph is 𝐷 = (𝑁, 𝐸)</a:t>
            </a:r>
          </a:p>
          <a:p>
            <a:pPr lvl="1">
              <a:lnSpc>
                <a:spcPct val="150000"/>
              </a:lnSpc>
            </a:pPr>
            <a:r>
              <a:rPr lang="en-US" dirty="0"/>
              <a:t>𝐷 has a node for each operation in 𝐵</a:t>
            </a:r>
          </a:p>
          <a:p>
            <a:pPr lvl="1">
              <a:lnSpc>
                <a:spcPct val="150000"/>
              </a:lnSpc>
            </a:pPr>
            <a:r>
              <a:rPr lang="en-US" dirty="0"/>
              <a:t>An edge in 𝐷 connects two nodes 𝑛1 and 𝑛2 if 𝑛2 uses the result of 𝑛1</a:t>
            </a:r>
          </a:p>
          <a:p>
            <a:pPr lvl="1">
              <a:lnSpc>
                <a:spcPct val="150000"/>
              </a:lnSpc>
            </a:pPr>
            <a:r>
              <a:rPr lang="en-US" dirty="0"/>
              <a:t>Edges represent flow of values</a:t>
            </a:r>
          </a:p>
          <a:p>
            <a:pPr lvl="1">
              <a:lnSpc>
                <a:spcPct val="150000"/>
              </a:lnSpc>
            </a:pPr>
            <a:r>
              <a:rPr lang="en-US" dirty="0"/>
              <a:t>𝐷 is also called a precedence graph</a:t>
            </a:r>
          </a:p>
          <a:p>
            <a:pPr lvl="1">
              <a:lnSpc>
                <a:spcPct val="150000"/>
              </a:lnSpc>
            </a:pPr>
            <a:endParaRPr lang="en-US" dirty="0"/>
          </a:p>
          <a:p>
            <a:pPr>
              <a:lnSpc>
                <a:spcPct val="150000"/>
              </a:lnSpc>
            </a:pPr>
            <a:r>
              <a:rPr lang="en-US" dirty="0">
                <a:solidFill>
                  <a:srgbClr val="FF0000"/>
                </a:solidFill>
              </a:rPr>
              <a:t>Each node 𝑛 has two attributes</a:t>
            </a:r>
          </a:p>
          <a:p>
            <a:pPr lvl="1">
              <a:lnSpc>
                <a:spcPct val="150000"/>
              </a:lnSpc>
            </a:pPr>
            <a:r>
              <a:rPr lang="en-US" dirty="0">
                <a:solidFill>
                  <a:srgbClr val="000099"/>
                </a:solidFill>
              </a:rPr>
              <a:t>Operation type </a:t>
            </a:r>
            <a:r>
              <a:rPr lang="en-US" dirty="0"/>
              <a:t>– functional unit on which the operation must execute</a:t>
            </a:r>
          </a:p>
          <a:p>
            <a:pPr lvl="1">
              <a:lnSpc>
                <a:spcPct val="150000"/>
              </a:lnSpc>
            </a:pPr>
            <a:r>
              <a:rPr lang="en-US" dirty="0">
                <a:solidFill>
                  <a:srgbClr val="000099"/>
                </a:solidFill>
              </a:rPr>
              <a:t>Delay</a:t>
            </a:r>
            <a:r>
              <a:rPr lang="en-US" dirty="0"/>
              <a:t> – number of cycles to complete</a:t>
            </a:r>
            <a:endParaRPr lang="en-IN" dirty="0"/>
          </a:p>
        </p:txBody>
      </p:sp>
    </p:spTree>
    <p:extLst>
      <p:ext uri="{BB962C8B-B14F-4D97-AF65-F5344CB8AC3E}">
        <p14:creationId xmlns:p14="http://schemas.microsoft.com/office/powerpoint/2010/main" val="3813284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15A3E-C40A-6144-4E46-58F648889672}"/>
              </a:ext>
            </a:extLst>
          </p:cNvPr>
          <p:cNvSpPr>
            <a:spLocks noGrp="1"/>
          </p:cNvSpPr>
          <p:nvPr>
            <p:ph type="title"/>
          </p:nvPr>
        </p:nvSpPr>
        <p:spPr/>
        <p:txBody>
          <a:bodyPr/>
          <a:lstStyle/>
          <a:p>
            <a:r>
              <a:rPr lang="en-US" dirty="0"/>
              <a:t>Example of a Dependence Graph</a:t>
            </a:r>
            <a:endParaRPr lang="en-IN" dirty="0"/>
          </a:p>
        </p:txBody>
      </p:sp>
      <p:pic>
        <p:nvPicPr>
          <p:cNvPr id="5" name="Content Placeholder 4">
            <a:extLst>
              <a:ext uri="{FF2B5EF4-FFF2-40B4-BE49-F238E27FC236}">
                <a16:creationId xmlns:a16="http://schemas.microsoft.com/office/drawing/2014/main" id="{FDB2268E-9B6A-F42D-54E3-BF85F6A97236}"/>
              </a:ext>
            </a:extLst>
          </p:cNvPr>
          <p:cNvPicPr>
            <a:picLocks noGrp="1" noChangeAspect="1"/>
          </p:cNvPicPr>
          <p:nvPr>
            <p:ph idx="1"/>
          </p:nvPr>
        </p:nvPicPr>
        <p:blipFill rotWithShape="1">
          <a:blip r:embed="rId2"/>
          <a:srcRect r="48722" b="3926"/>
          <a:stretch/>
        </p:blipFill>
        <p:spPr>
          <a:xfrm>
            <a:off x="313161" y="1325563"/>
            <a:ext cx="5848154" cy="4973637"/>
          </a:xfrm>
        </p:spPr>
      </p:pic>
      <p:pic>
        <p:nvPicPr>
          <p:cNvPr id="6" name="Content Placeholder 4">
            <a:extLst>
              <a:ext uri="{FF2B5EF4-FFF2-40B4-BE49-F238E27FC236}">
                <a16:creationId xmlns:a16="http://schemas.microsoft.com/office/drawing/2014/main" id="{34ED8909-F54D-FB0B-9FB3-7CB73D0C2CC9}"/>
              </a:ext>
            </a:extLst>
          </p:cNvPr>
          <p:cNvPicPr>
            <a:picLocks noChangeAspect="1"/>
          </p:cNvPicPr>
          <p:nvPr/>
        </p:nvPicPr>
        <p:blipFill rotWithShape="1">
          <a:blip r:embed="rId2"/>
          <a:srcRect l="52233" b="3926"/>
          <a:stretch/>
        </p:blipFill>
        <p:spPr>
          <a:xfrm>
            <a:off x="6270171" y="1325563"/>
            <a:ext cx="5447798" cy="4973637"/>
          </a:xfrm>
          <a:prstGeom prst="rect">
            <a:avLst/>
          </a:prstGeom>
        </p:spPr>
      </p:pic>
    </p:spTree>
    <p:extLst>
      <p:ext uri="{BB962C8B-B14F-4D97-AF65-F5344CB8AC3E}">
        <p14:creationId xmlns:p14="http://schemas.microsoft.com/office/powerpoint/2010/main" val="106102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A2F14-7A0D-2921-709D-C9A1033742B9}"/>
              </a:ext>
            </a:extLst>
          </p:cNvPr>
          <p:cNvSpPr>
            <a:spLocks noGrp="1"/>
          </p:cNvSpPr>
          <p:nvPr>
            <p:ph type="title"/>
          </p:nvPr>
        </p:nvSpPr>
        <p:spPr/>
        <p:txBody>
          <a:bodyPr/>
          <a:lstStyle/>
          <a:p>
            <a:r>
              <a:rPr lang="en-IN" dirty="0"/>
              <a:t>Instruction Scheduling</a:t>
            </a:r>
          </a:p>
        </p:txBody>
      </p:sp>
      <p:sp>
        <p:nvSpPr>
          <p:cNvPr id="3" name="Content Placeholder 2">
            <a:extLst>
              <a:ext uri="{FF2B5EF4-FFF2-40B4-BE49-F238E27FC236}">
                <a16:creationId xmlns:a16="http://schemas.microsoft.com/office/drawing/2014/main" id="{6DA00702-F391-5C18-9848-2ED867EDC510}"/>
              </a:ext>
            </a:extLst>
          </p:cNvPr>
          <p:cNvSpPr>
            <a:spLocks noGrp="1"/>
          </p:cNvSpPr>
          <p:nvPr>
            <p:ph idx="1"/>
          </p:nvPr>
        </p:nvSpPr>
        <p:spPr/>
        <p:txBody>
          <a:bodyPr>
            <a:normAutofit/>
          </a:bodyPr>
          <a:lstStyle/>
          <a:p>
            <a:r>
              <a:rPr lang="en-IN" dirty="0"/>
              <a:t>A schedule 𝑆 maps each node 𝑛 ∈ 𝑁 to a nonnegative integer that denotes the cycle in which it should be issued</a:t>
            </a:r>
          </a:p>
          <a:p>
            <a:endParaRPr lang="en-IN" dirty="0"/>
          </a:p>
          <a:p>
            <a:r>
              <a:rPr lang="en-IN" dirty="0"/>
              <a:t>An instruction 𝑖 can have multiple operations</a:t>
            </a:r>
          </a:p>
          <a:p>
            <a:pPr lvl="1"/>
            <a:r>
              <a:rPr lang="en-IN" dirty="0"/>
              <a:t>Operations are denoted by {𝑛 | 𝑆 (𝑛) == 𝑖 }</a:t>
            </a:r>
          </a:p>
          <a:p>
            <a:pPr lvl="1"/>
            <a:endParaRPr lang="en-IN" dirty="0"/>
          </a:p>
          <a:p>
            <a:r>
              <a:rPr lang="en-IN" dirty="0"/>
              <a:t>Constraints</a:t>
            </a:r>
          </a:p>
          <a:p>
            <a:pPr lvl="1"/>
            <a:r>
              <a:rPr lang="en-IN" dirty="0"/>
              <a:t>𝑆(𝑛) ≥ 1, with at least one operation 𝑛’ such that 𝑆(𝑛’) = 1</a:t>
            </a:r>
          </a:p>
          <a:p>
            <a:pPr lvl="1"/>
            <a:r>
              <a:rPr lang="en-IN" dirty="0"/>
              <a:t>If (𝑛1, 𝑛2) ∈ 𝐸, then 𝑆(𝑛1) + 𝑑𝑒𝑙𝑎𝑦(𝑛1) ≤ 𝑆(𝑛2)</a:t>
            </a:r>
          </a:p>
          <a:p>
            <a:pPr lvl="1"/>
            <a:r>
              <a:rPr lang="en-IN" dirty="0"/>
              <a:t>Each instruction contains no more operations of each type than the target machine can issue in a cycle</a:t>
            </a:r>
          </a:p>
        </p:txBody>
      </p:sp>
    </p:spTree>
    <p:extLst>
      <p:ext uri="{BB962C8B-B14F-4D97-AF65-F5344CB8AC3E}">
        <p14:creationId xmlns:p14="http://schemas.microsoft.com/office/powerpoint/2010/main" val="2296258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46BB0-C28E-5759-B482-04AB0CBE1722}"/>
              </a:ext>
            </a:extLst>
          </p:cNvPr>
          <p:cNvSpPr>
            <a:spLocks noGrp="1"/>
          </p:cNvSpPr>
          <p:nvPr>
            <p:ph type="title"/>
          </p:nvPr>
        </p:nvSpPr>
        <p:spPr/>
        <p:txBody>
          <a:bodyPr/>
          <a:lstStyle/>
          <a:p>
            <a:r>
              <a:rPr lang="en-IN" dirty="0" err="1"/>
              <a:t>Cont</a:t>
            </a:r>
            <a:r>
              <a:rPr lang="en-IN" dirty="0"/>
              <a:t>…</a:t>
            </a:r>
          </a:p>
        </p:txBody>
      </p:sp>
      <p:sp>
        <p:nvSpPr>
          <p:cNvPr id="3" name="Content Placeholder 2">
            <a:extLst>
              <a:ext uri="{FF2B5EF4-FFF2-40B4-BE49-F238E27FC236}">
                <a16:creationId xmlns:a16="http://schemas.microsoft.com/office/drawing/2014/main" id="{DD8EDABD-94B1-04C5-F2F2-D59ADAD839C2}"/>
              </a:ext>
            </a:extLst>
          </p:cNvPr>
          <p:cNvSpPr>
            <a:spLocks noGrp="1"/>
          </p:cNvSpPr>
          <p:nvPr>
            <p:ph idx="1"/>
          </p:nvPr>
        </p:nvSpPr>
        <p:spPr>
          <a:xfrm>
            <a:off x="347868" y="1447937"/>
            <a:ext cx="7620475" cy="5163319"/>
          </a:xfrm>
        </p:spPr>
        <p:txBody>
          <a:bodyPr>
            <a:normAutofit/>
          </a:bodyPr>
          <a:lstStyle/>
          <a:p>
            <a:pPr>
              <a:lnSpc>
                <a:spcPct val="110000"/>
              </a:lnSpc>
            </a:pPr>
            <a:r>
              <a:rPr lang="en-US" sz="2400" dirty="0"/>
              <a:t>Given a well-formed schedule, the length of the schedule is the cycle number in which the last operation completes</a:t>
            </a:r>
          </a:p>
          <a:p>
            <a:pPr>
              <a:lnSpc>
                <a:spcPct val="110000"/>
              </a:lnSpc>
            </a:pPr>
            <a:r>
              <a:rPr lang="en-US" sz="2400" dirty="0"/>
              <a:t>Assuming first instruction is issued at cycle 1, schedule length is </a:t>
            </a:r>
          </a:p>
          <a:p>
            <a:pPr marL="0" indent="0">
              <a:lnSpc>
                <a:spcPct val="110000"/>
              </a:lnSpc>
              <a:buNone/>
            </a:pPr>
            <a:r>
              <a:rPr lang="en-US" sz="2400" dirty="0"/>
              <a:t>		</a:t>
            </a:r>
            <a:r>
              <a:rPr lang="en-US" sz="2400" dirty="0">
                <a:solidFill>
                  <a:srgbClr val="000099"/>
                </a:solidFill>
              </a:rPr>
              <a:t>𝐿(𝑆) = max (𝑆(𝑛) + 𝑑𝑒𝑙𝑎𝑦(𝑛) )</a:t>
            </a:r>
          </a:p>
          <a:p>
            <a:pPr marL="0" indent="0">
              <a:lnSpc>
                <a:spcPct val="110000"/>
              </a:lnSpc>
              <a:buNone/>
            </a:pPr>
            <a:endParaRPr lang="en-US" sz="2400" dirty="0">
              <a:solidFill>
                <a:srgbClr val="000099"/>
              </a:solidFill>
            </a:endParaRPr>
          </a:p>
          <a:p>
            <a:pPr>
              <a:lnSpc>
                <a:spcPct val="110000"/>
              </a:lnSpc>
            </a:pPr>
            <a:r>
              <a:rPr lang="en-US" sz="2400" dirty="0"/>
              <a:t>A schedule 𝑆𝑖 is time optimal if 𝐿(𝑆𝑖) ≤ 𝐿(𝑆𝑗) ∀ 𝑆𝑗 ≠ 𝑆𝑖</a:t>
            </a:r>
          </a:p>
          <a:p>
            <a:pPr>
              <a:lnSpc>
                <a:spcPct val="110000"/>
              </a:lnSpc>
            </a:pPr>
            <a:r>
              <a:rPr lang="en-US" sz="2400" dirty="0"/>
              <a:t>Critical path is the longest latency path through D that determines overall execution time </a:t>
            </a:r>
            <a:endParaRPr lang="en-IN" sz="2400" dirty="0"/>
          </a:p>
        </p:txBody>
      </p:sp>
      <p:sp>
        <p:nvSpPr>
          <p:cNvPr id="5" name="TextBox 4">
            <a:extLst>
              <a:ext uri="{FF2B5EF4-FFF2-40B4-BE49-F238E27FC236}">
                <a16:creationId xmlns:a16="http://schemas.microsoft.com/office/drawing/2014/main" id="{25EA53EF-E670-6A95-3B42-FA9DA5F723CE}"/>
              </a:ext>
            </a:extLst>
          </p:cNvPr>
          <p:cNvSpPr txBox="1"/>
          <p:nvPr/>
        </p:nvSpPr>
        <p:spPr>
          <a:xfrm>
            <a:off x="3046185" y="4029596"/>
            <a:ext cx="700314" cy="369332"/>
          </a:xfrm>
          <a:prstGeom prst="rect">
            <a:avLst/>
          </a:prstGeom>
          <a:noFill/>
        </p:spPr>
        <p:txBody>
          <a:bodyPr wrap="square">
            <a:spAutoFit/>
          </a:bodyPr>
          <a:lstStyle/>
          <a:p>
            <a:r>
              <a:rPr lang="en-IN" dirty="0">
                <a:latin typeface="Palatino Linotype" panose="02040502050505030304" pitchFamily="18" charset="0"/>
              </a:rPr>
              <a:t>𝑛∈𝑁</a:t>
            </a:r>
          </a:p>
        </p:txBody>
      </p:sp>
      <p:pic>
        <p:nvPicPr>
          <p:cNvPr id="7" name="Picture 6">
            <a:extLst>
              <a:ext uri="{FF2B5EF4-FFF2-40B4-BE49-F238E27FC236}">
                <a16:creationId xmlns:a16="http://schemas.microsoft.com/office/drawing/2014/main" id="{3E006775-CCB1-62BF-5C7C-BA6466B708A5}"/>
              </a:ext>
            </a:extLst>
          </p:cNvPr>
          <p:cNvPicPr>
            <a:picLocks noChangeAspect="1"/>
          </p:cNvPicPr>
          <p:nvPr/>
        </p:nvPicPr>
        <p:blipFill>
          <a:blip r:embed="rId2"/>
          <a:stretch>
            <a:fillRect/>
          </a:stretch>
        </p:blipFill>
        <p:spPr>
          <a:xfrm>
            <a:off x="8347519" y="1770131"/>
            <a:ext cx="3641281" cy="5006763"/>
          </a:xfrm>
          <a:prstGeom prst="rect">
            <a:avLst/>
          </a:prstGeom>
        </p:spPr>
      </p:pic>
      <p:sp>
        <p:nvSpPr>
          <p:cNvPr id="8" name="TextBox 7">
            <a:extLst>
              <a:ext uri="{FF2B5EF4-FFF2-40B4-BE49-F238E27FC236}">
                <a16:creationId xmlns:a16="http://schemas.microsoft.com/office/drawing/2014/main" id="{5909C160-6DC8-702C-79E7-F55FA51AA2CF}"/>
              </a:ext>
            </a:extLst>
          </p:cNvPr>
          <p:cNvSpPr txBox="1"/>
          <p:nvPr/>
        </p:nvSpPr>
        <p:spPr>
          <a:xfrm>
            <a:off x="8701314" y="1325563"/>
            <a:ext cx="2453389" cy="369332"/>
          </a:xfrm>
          <a:prstGeom prst="rect">
            <a:avLst/>
          </a:prstGeom>
          <a:noFill/>
        </p:spPr>
        <p:txBody>
          <a:bodyPr wrap="square" rtlCol="0">
            <a:spAutoFit/>
          </a:bodyPr>
          <a:lstStyle/>
          <a:p>
            <a:pPr algn="ctr"/>
            <a:r>
              <a:rPr lang="en-IN" b="1" dirty="0">
                <a:solidFill>
                  <a:srgbClr val="000099"/>
                </a:solidFill>
                <a:latin typeface="Palatino Linotype" panose="02040502050505030304" pitchFamily="18" charset="0"/>
              </a:rPr>
              <a:t>Dependency Graph</a:t>
            </a:r>
          </a:p>
        </p:txBody>
      </p:sp>
    </p:spTree>
    <p:extLst>
      <p:ext uri="{BB962C8B-B14F-4D97-AF65-F5344CB8AC3E}">
        <p14:creationId xmlns:p14="http://schemas.microsoft.com/office/powerpoint/2010/main" val="3631369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EC4E5-7CC1-BB9D-9601-9805A9C45D20}"/>
              </a:ext>
            </a:extLst>
          </p:cNvPr>
          <p:cNvSpPr>
            <a:spLocks noGrp="1"/>
          </p:cNvSpPr>
          <p:nvPr>
            <p:ph type="title"/>
          </p:nvPr>
        </p:nvSpPr>
        <p:spPr/>
        <p:txBody>
          <a:bodyPr/>
          <a:lstStyle/>
          <a:p>
            <a:r>
              <a:rPr lang="en-IN" dirty="0" err="1"/>
              <a:t>Cont</a:t>
            </a:r>
            <a:r>
              <a:rPr lang="en-IN" dirty="0"/>
              <a:t>…</a:t>
            </a:r>
          </a:p>
        </p:txBody>
      </p:sp>
      <p:sp>
        <p:nvSpPr>
          <p:cNvPr id="3" name="Content Placeholder 2">
            <a:extLst>
              <a:ext uri="{FF2B5EF4-FFF2-40B4-BE49-F238E27FC236}">
                <a16:creationId xmlns:a16="http://schemas.microsoft.com/office/drawing/2014/main" id="{286F0AEA-9843-E7A0-46E9-A2CD73C9D51D}"/>
              </a:ext>
            </a:extLst>
          </p:cNvPr>
          <p:cNvSpPr>
            <a:spLocks noGrp="1"/>
          </p:cNvSpPr>
          <p:nvPr>
            <p:ph idx="1"/>
          </p:nvPr>
        </p:nvSpPr>
        <p:spPr>
          <a:xfrm>
            <a:off x="347868" y="1447938"/>
            <a:ext cx="6481103" cy="2666862"/>
          </a:xfrm>
        </p:spPr>
        <p:txBody>
          <a:bodyPr/>
          <a:lstStyle/>
          <a:p>
            <a:r>
              <a:rPr lang="en-US" dirty="0"/>
              <a:t>‘a’ is on the critical path, so we should schedule ‘a’ first</a:t>
            </a:r>
          </a:p>
          <a:p>
            <a:r>
              <a:rPr lang="en-US" dirty="0"/>
              <a:t>‘c’ can be the next, since it now lies on the longest path</a:t>
            </a:r>
          </a:p>
          <a:p>
            <a:r>
              <a:rPr lang="en-US" dirty="0"/>
              <a:t>Better to schedule ‘e’ before ‘b’</a:t>
            </a:r>
          </a:p>
          <a:p>
            <a:pPr marL="0" indent="0">
              <a:buNone/>
            </a:pPr>
            <a:endParaRPr lang="en-IN" dirty="0"/>
          </a:p>
        </p:txBody>
      </p:sp>
      <p:sp>
        <p:nvSpPr>
          <p:cNvPr id="4" name="Rectangle 3">
            <a:extLst>
              <a:ext uri="{FF2B5EF4-FFF2-40B4-BE49-F238E27FC236}">
                <a16:creationId xmlns:a16="http://schemas.microsoft.com/office/drawing/2014/main" id="{49508C3D-FB51-3625-51D3-BC88533589D4}"/>
              </a:ext>
            </a:extLst>
          </p:cNvPr>
          <p:cNvSpPr/>
          <p:nvPr/>
        </p:nvSpPr>
        <p:spPr>
          <a:xfrm>
            <a:off x="812800" y="4114800"/>
            <a:ext cx="5167086" cy="71845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sz="2800" dirty="0">
                <a:latin typeface="Palatino Linotype" panose="02040502050505030304" pitchFamily="18" charset="0"/>
              </a:rPr>
              <a:t>Possible schedule = </a:t>
            </a:r>
            <a:r>
              <a:rPr lang="en-IN" sz="2800" dirty="0" err="1">
                <a:latin typeface="Palatino Linotype" panose="02040502050505030304" pitchFamily="18" charset="0"/>
              </a:rPr>
              <a:t>acebdgfhi</a:t>
            </a:r>
            <a:endParaRPr lang="en-IN" sz="2800" dirty="0">
              <a:latin typeface="Palatino Linotype" panose="02040502050505030304" pitchFamily="18" charset="0"/>
            </a:endParaRPr>
          </a:p>
        </p:txBody>
      </p:sp>
      <p:pic>
        <p:nvPicPr>
          <p:cNvPr id="5" name="Picture 4">
            <a:extLst>
              <a:ext uri="{FF2B5EF4-FFF2-40B4-BE49-F238E27FC236}">
                <a16:creationId xmlns:a16="http://schemas.microsoft.com/office/drawing/2014/main" id="{C1C8F5A6-8F40-9023-CB4B-340756529D46}"/>
              </a:ext>
            </a:extLst>
          </p:cNvPr>
          <p:cNvPicPr>
            <a:picLocks noChangeAspect="1"/>
          </p:cNvPicPr>
          <p:nvPr/>
        </p:nvPicPr>
        <p:blipFill>
          <a:blip r:embed="rId2"/>
          <a:stretch>
            <a:fillRect/>
          </a:stretch>
        </p:blipFill>
        <p:spPr>
          <a:xfrm>
            <a:off x="7737919" y="1611418"/>
            <a:ext cx="3641281" cy="5006763"/>
          </a:xfrm>
          <a:prstGeom prst="rect">
            <a:avLst/>
          </a:prstGeom>
        </p:spPr>
      </p:pic>
      <p:sp>
        <p:nvSpPr>
          <p:cNvPr id="6" name="TextBox 5">
            <a:extLst>
              <a:ext uri="{FF2B5EF4-FFF2-40B4-BE49-F238E27FC236}">
                <a16:creationId xmlns:a16="http://schemas.microsoft.com/office/drawing/2014/main" id="{315B5F5A-79EE-E632-6FF7-A4F9316DB640}"/>
              </a:ext>
            </a:extLst>
          </p:cNvPr>
          <p:cNvSpPr txBox="1"/>
          <p:nvPr/>
        </p:nvSpPr>
        <p:spPr>
          <a:xfrm>
            <a:off x="8091714" y="1166850"/>
            <a:ext cx="2453389" cy="369332"/>
          </a:xfrm>
          <a:prstGeom prst="rect">
            <a:avLst/>
          </a:prstGeom>
          <a:noFill/>
        </p:spPr>
        <p:txBody>
          <a:bodyPr wrap="square" rtlCol="0">
            <a:spAutoFit/>
          </a:bodyPr>
          <a:lstStyle/>
          <a:p>
            <a:pPr algn="ctr"/>
            <a:r>
              <a:rPr lang="en-IN" b="1" dirty="0">
                <a:solidFill>
                  <a:srgbClr val="000099"/>
                </a:solidFill>
                <a:latin typeface="Palatino Linotype" panose="02040502050505030304" pitchFamily="18" charset="0"/>
              </a:rPr>
              <a:t>Dependency Graph</a:t>
            </a:r>
          </a:p>
        </p:txBody>
      </p:sp>
    </p:spTree>
    <p:extLst>
      <p:ext uri="{BB962C8B-B14F-4D97-AF65-F5344CB8AC3E}">
        <p14:creationId xmlns:p14="http://schemas.microsoft.com/office/powerpoint/2010/main" val="123042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8F5BA-4EBE-C151-E951-35AC71AB53D1}"/>
              </a:ext>
            </a:extLst>
          </p:cNvPr>
          <p:cNvSpPr>
            <a:spLocks noGrp="1"/>
          </p:cNvSpPr>
          <p:nvPr>
            <p:ph type="title"/>
          </p:nvPr>
        </p:nvSpPr>
        <p:spPr/>
        <p:txBody>
          <a:bodyPr/>
          <a:lstStyle/>
          <a:p>
            <a:r>
              <a:rPr lang="en-IN" dirty="0"/>
              <a:t>Limitations in Scheduling</a:t>
            </a:r>
          </a:p>
        </p:txBody>
      </p:sp>
      <p:sp>
        <p:nvSpPr>
          <p:cNvPr id="3" name="Content Placeholder 2">
            <a:extLst>
              <a:ext uri="{FF2B5EF4-FFF2-40B4-BE49-F238E27FC236}">
                <a16:creationId xmlns:a16="http://schemas.microsoft.com/office/drawing/2014/main" id="{FA8640FB-FC03-644E-514F-2C59B357E64A}"/>
              </a:ext>
            </a:extLst>
          </p:cNvPr>
          <p:cNvSpPr>
            <a:spLocks noGrp="1"/>
          </p:cNvSpPr>
          <p:nvPr>
            <p:ph idx="1"/>
          </p:nvPr>
        </p:nvSpPr>
        <p:spPr>
          <a:xfrm>
            <a:off x="347868" y="1447938"/>
            <a:ext cx="5515903" cy="4908412"/>
          </a:xfrm>
        </p:spPr>
        <p:txBody>
          <a:bodyPr>
            <a:normAutofit/>
          </a:bodyPr>
          <a:lstStyle/>
          <a:p>
            <a:r>
              <a:rPr lang="en-US" dirty="0"/>
              <a:t>Adjacent code has dependences that cannot be avoid during scheduling</a:t>
            </a:r>
          </a:p>
          <a:p>
            <a:endParaRPr lang="en-US" dirty="0"/>
          </a:p>
          <a:p>
            <a:r>
              <a:rPr lang="en-US" dirty="0"/>
              <a:t>Earlier passes may refactor the code to expose parallelism</a:t>
            </a:r>
          </a:p>
          <a:p>
            <a:pPr lvl="1"/>
            <a:r>
              <a:rPr lang="en-US" dirty="0"/>
              <a:t>(𝑎</a:t>
            </a:r>
            <a:r>
              <a:rPr lang="en-US" baseline="30000" dirty="0"/>
              <a:t>2</a:t>
            </a:r>
            <a:r>
              <a:rPr lang="en-US" dirty="0"/>
              <a:t>)</a:t>
            </a:r>
            <a:r>
              <a:rPr lang="en-US" baseline="30000" dirty="0"/>
              <a:t>2</a:t>
            </a:r>
            <a:r>
              <a:rPr lang="en-US" dirty="0"/>
              <a:t>× (𝑎</a:t>
            </a:r>
            <a:r>
              <a:rPr lang="en-US" baseline="30000" dirty="0"/>
              <a:t>2</a:t>
            </a:r>
            <a:r>
              <a:rPr lang="en-US" dirty="0"/>
              <a:t>)</a:t>
            </a:r>
            <a:r>
              <a:rPr lang="en-US" baseline="30000" dirty="0"/>
              <a:t>2</a:t>
            </a:r>
          </a:p>
          <a:p>
            <a:pPr lvl="1"/>
            <a:r>
              <a:rPr lang="en-US" dirty="0"/>
              <a:t>Can proceed in parallel if there are more than one multiplication unit</a:t>
            </a:r>
            <a:endParaRPr lang="en-IN" dirty="0"/>
          </a:p>
        </p:txBody>
      </p:sp>
      <p:pic>
        <p:nvPicPr>
          <p:cNvPr id="5" name="Picture 4">
            <a:extLst>
              <a:ext uri="{FF2B5EF4-FFF2-40B4-BE49-F238E27FC236}">
                <a16:creationId xmlns:a16="http://schemas.microsoft.com/office/drawing/2014/main" id="{A0DA37EB-764F-3896-6409-21E0F3776B7C}"/>
              </a:ext>
            </a:extLst>
          </p:cNvPr>
          <p:cNvPicPr>
            <a:picLocks noChangeAspect="1"/>
          </p:cNvPicPr>
          <p:nvPr/>
        </p:nvPicPr>
        <p:blipFill>
          <a:blip r:embed="rId2"/>
          <a:stretch>
            <a:fillRect/>
          </a:stretch>
        </p:blipFill>
        <p:spPr>
          <a:xfrm>
            <a:off x="6397366" y="1643620"/>
            <a:ext cx="5794634" cy="3080779"/>
          </a:xfrm>
          <a:prstGeom prst="rect">
            <a:avLst/>
          </a:prstGeom>
        </p:spPr>
      </p:pic>
    </p:spTree>
    <p:extLst>
      <p:ext uri="{BB962C8B-B14F-4D97-AF65-F5344CB8AC3E}">
        <p14:creationId xmlns:p14="http://schemas.microsoft.com/office/powerpoint/2010/main" val="365587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D8542-BDF5-D34C-4618-F71F43D1FBA5}"/>
              </a:ext>
            </a:extLst>
          </p:cNvPr>
          <p:cNvSpPr>
            <a:spLocks noGrp="1"/>
          </p:cNvSpPr>
          <p:nvPr>
            <p:ph type="title"/>
          </p:nvPr>
        </p:nvSpPr>
        <p:spPr/>
        <p:txBody>
          <a:bodyPr/>
          <a:lstStyle/>
          <a:p>
            <a:r>
              <a:rPr lang="en-IN" dirty="0"/>
              <a:t>Challenges in Scheduling </a:t>
            </a:r>
          </a:p>
        </p:txBody>
      </p:sp>
      <p:sp>
        <p:nvSpPr>
          <p:cNvPr id="3" name="Content Placeholder 2">
            <a:extLst>
              <a:ext uri="{FF2B5EF4-FFF2-40B4-BE49-F238E27FC236}">
                <a16:creationId xmlns:a16="http://schemas.microsoft.com/office/drawing/2014/main" id="{77019337-B006-68BE-C4CC-587B5F9C9CA9}"/>
              </a:ext>
            </a:extLst>
          </p:cNvPr>
          <p:cNvSpPr>
            <a:spLocks noGrp="1"/>
          </p:cNvSpPr>
          <p:nvPr>
            <p:ph idx="1"/>
          </p:nvPr>
        </p:nvSpPr>
        <p:spPr/>
        <p:txBody>
          <a:bodyPr/>
          <a:lstStyle/>
          <a:p>
            <a:r>
              <a:rPr lang="en-US" dirty="0"/>
              <a:t>Scheduler needs to find a mapping between one or more operations and the clock cycle when they can start</a:t>
            </a:r>
          </a:p>
          <a:p>
            <a:pPr lvl="1"/>
            <a:r>
              <a:rPr lang="en-US" dirty="0">
                <a:solidFill>
                  <a:srgbClr val="000099"/>
                </a:solidFill>
              </a:rPr>
              <a:t>A choice influences all reachable nodes</a:t>
            </a:r>
          </a:p>
          <a:p>
            <a:pPr lvl="1"/>
            <a:endParaRPr lang="en-US" dirty="0">
              <a:solidFill>
                <a:srgbClr val="000099"/>
              </a:solidFill>
            </a:endParaRPr>
          </a:p>
          <a:p>
            <a:r>
              <a:rPr lang="en-US" dirty="0"/>
              <a:t>Instruction scheduling is NP-complete </a:t>
            </a:r>
            <a:endParaRPr lang="en-IN" dirty="0"/>
          </a:p>
        </p:txBody>
      </p:sp>
    </p:spTree>
    <p:extLst>
      <p:ext uri="{BB962C8B-B14F-4D97-AF65-F5344CB8AC3E}">
        <p14:creationId xmlns:p14="http://schemas.microsoft.com/office/powerpoint/2010/main" val="16858368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8780D-BFAE-D52B-389B-1C5DDB264978}"/>
              </a:ext>
            </a:extLst>
          </p:cNvPr>
          <p:cNvSpPr>
            <a:spLocks noGrp="1"/>
          </p:cNvSpPr>
          <p:nvPr>
            <p:ph type="title"/>
          </p:nvPr>
        </p:nvSpPr>
        <p:spPr/>
        <p:txBody>
          <a:bodyPr/>
          <a:lstStyle/>
          <a:p>
            <a:r>
              <a:rPr lang="en-IN" dirty="0"/>
              <a:t>List Scheduling</a:t>
            </a:r>
          </a:p>
        </p:txBody>
      </p:sp>
      <p:sp>
        <p:nvSpPr>
          <p:cNvPr id="3" name="Content Placeholder 2">
            <a:extLst>
              <a:ext uri="{FF2B5EF4-FFF2-40B4-BE49-F238E27FC236}">
                <a16:creationId xmlns:a16="http://schemas.microsoft.com/office/drawing/2014/main" id="{B0FB37DE-941C-7EBB-5BE6-D780FE781465}"/>
              </a:ext>
            </a:extLst>
          </p:cNvPr>
          <p:cNvSpPr>
            <a:spLocks noGrp="1"/>
          </p:cNvSpPr>
          <p:nvPr>
            <p:ph idx="1"/>
          </p:nvPr>
        </p:nvSpPr>
        <p:spPr/>
        <p:txBody>
          <a:bodyPr>
            <a:normAutofit/>
          </a:bodyPr>
          <a:lstStyle/>
          <a:p>
            <a:r>
              <a:rPr lang="en-US" dirty="0"/>
              <a:t>Greedy, heuristic based approach to schedule operations in a basic block</a:t>
            </a:r>
          </a:p>
          <a:p>
            <a:endParaRPr lang="en-US" dirty="0"/>
          </a:p>
          <a:p>
            <a:r>
              <a:rPr lang="en-US" dirty="0"/>
              <a:t>Steps in applying list scheduling</a:t>
            </a:r>
          </a:p>
          <a:p>
            <a:pPr marL="1028700" lvl="1" indent="-571500">
              <a:buFont typeface="+mj-lt"/>
              <a:buAutoNum type="romanLcPeriod"/>
            </a:pPr>
            <a:r>
              <a:rPr lang="en-US" dirty="0">
                <a:solidFill>
                  <a:srgbClr val="000099"/>
                </a:solidFill>
              </a:rPr>
              <a:t>Rename values to avoid anti-dependences</a:t>
            </a:r>
          </a:p>
          <a:p>
            <a:pPr marL="1028700" lvl="1" indent="-571500">
              <a:buFont typeface="+mj-lt"/>
              <a:buAutoNum type="romanLcPeriod"/>
            </a:pPr>
            <a:r>
              <a:rPr lang="en-US" dirty="0">
                <a:solidFill>
                  <a:srgbClr val="000099"/>
                </a:solidFill>
              </a:rPr>
              <a:t>Build a dependence graph 𝐷</a:t>
            </a:r>
          </a:p>
          <a:p>
            <a:pPr marL="1028700" lvl="1" indent="-571500">
              <a:buFont typeface="+mj-lt"/>
              <a:buAutoNum type="romanLcPeriod"/>
            </a:pPr>
            <a:r>
              <a:rPr lang="en-US" dirty="0">
                <a:solidFill>
                  <a:srgbClr val="000099"/>
                </a:solidFill>
              </a:rPr>
              <a:t>Assign priorities to each operation</a:t>
            </a:r>
          </a:p>
          <a:p>
            <a:pPr marL="1028700" lvl="1" indent="-571500">
              <a:buFont typeface="+mj-lt"/>
              <a:buAutoNum type="romanLcPeriod"/>
            </a:pPr>
            <a:r>
              <a:rPr lang="en-US" dirty="0">
                <a:solidFill>
                  <a:srgbClr val="000099"/>
                </a:solidFill>
              </a:rPr>
              <a:t>Iteratively select an operation for scheduling</a:t>
            </a:r>
            <a:endParaRPr lang="en-IN" dirty="0">
              <a:solidFill>
                <a:srgbClr val="000099"/>
              </a:solidFill>
            </a:endParaRPr>
          </a:p>
        </p:txBody>
      </p:sp>
    </p:spTree>
    <p:extLst>
      <p:ext uri="{BB962C8B-B14F-4D97-AF65-F5344CB8AC3E}">
        <p14:creationId xmlns:p14="http://schemas.microsoft.com/office/powerpoint/2010/main" val="4309040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A94D1-0111-68BE-4EC3-7BC7F4F86F3B}"/>
              </a:ext>
            </a:extLst>
          </p:cNvPr>
          <p:cNvSpPr>
            <a:spLocks noGrp="1"/>
          </p:cNvSpPr>
          <p:nvPr>
            <p:ph type="title"/>
          </p:nvPr>
        </p:nvSpPr>
        <p:spPr/>
        <p:txBody>
          <a:bodyPr/>
          <a:lstStyle/>
          <a:p>
            <a:r>
              <a:rPr lang="en-IN" dirty="0"/>
              <a:t>Steps in List Scheduling</a:t>
            </a:r>
          </a:p>
        </p:txBody>
      </p:sp>
      <p:sp>
        <p:nvSpPr>
          <p:cNvPr id="3" name="Content Placeholder 2">
            <a:extLst>
              <a:ext uri="{FF2B5EF4-FFF2-40B4-BE49-F238E27FC236}">
                <a16:creationId xmlns:a16="http://schemas.microsoft.com/office/drawing/2014/main" id="{73F7BB91-B485-2481-BAF3-A98EB07ECA86}"/>
              </a:ext>
            </a:extLst>
          </p:cNvPr>
          <p:cNvSpPr>
            <a:spLocks noGrp="1"/>
          </p:cNvSpPr>
          <p:nvPr>
            <p:ph idx="1"/>
          </p:nvPr>
        </p:nvSpPr>
        <p:spPr>
          <a:xfrm>
            <a:off x="347868" y="1325563"/>
            <a:ext cx="11492949" cy="5387294"/>
          </a:xfrm>
        </p:spPr>
        <p:txBody>
          <a:bodyPr>
            <a:normAutofit/>
          </a:bodyPr>
          <a:lstStyle/>
          <a:p>
            <a:pPr marL="571500" indent="-571500">
              <a:lnSpc>
                <a:spcPct val="150000"/>
              </a:lnSpc>
              <a:buFont typeface="+mj-lt"/>
              <a:buAutoNum type="romanLcPeriod"/>
            </a:pPr>
            <a:r>
              <a:rPr lang="en-US" dirty="0">
                <a:solidFill>
                  <a:srgbClr val="000099"/>
                </a:solidFill>
              </a:rPr>
              <a:t>Rename values to avoid anti-dependences (optional step)</a:t>
            </a:r>
          </a:p>
          <a:p>
            <a:pPr lvl="1">
              <a:lnSpc>
                <a:spcPct val="150000"/>
              </a:lnSpc>
            </a:pPr>
            <a:r>
              <a:rPr lang="en-US" dirty="0"/>
              <a:t>Each definition receives a unique name</a:t>
            </a:r>
          </a:p>
          <a:p>
            <a:pPr lvl="1">
              <a:lnSpc>
                <a:spcPct val="150000"/>
              </a:lnSpc>
            </a:pPr>
            <a:r>
              <a:rPr lang="en-US" dirty="0"/>
              <a:t>Allows the scheduler more flexibility in identifying schedules</a:t>
            </a:r>
          </a:p>
          <a:p>
            <a:pPr lvl="1">
              <a:lnSpc>
                <a:spcPct val="150000"/>
              </a:lnSpc>
            </a:pPr>
            <a:endParaRPr lang="en-US" dirty="0"/>
          </a:p>
          <a:p>
            <a:pPr marL="571500" indent="-571500">
              <a:lnSpc>
                <a:spcPct val="150000"/>
              </a:lnSpc>
              <a:buFont typeface="+mj-lt"/>
              <a:buAutoNum type="romanLcPeriod"/>
            </a:pPr>
            <a:r>
              <a:rPr lang="en-US" dirty="0">
                <a:solidFill>
                  <a:srgbClr val="000099"/>
                </a:solidFill>
              </a:rPr>
              <a:t>Build a dependence graph 𝐷</a:t>
            </a:r>
          </a:p>
          <a:p>
            <a:pPr lvl="1">
              <a:lnSpc>
                <a:spcPct val="150000"/>
              </a:lnSpc>
            </a:pPr>
            <a:r>
              <a:rPr lang="en-US" dirty="0"/>
              <a:t>Scheduler traverses the block from bottom to top</a:t>
            </a:r>
          </a:p>
          <a:p>
            <a:pPr lvl="1">
              <a:lnSpc>
                <a:spcPct val="150000"/>
              </a:lnSpc>
            </a:pPr>
            <a:r>
              <a:rPr lang="en-US" dirty="0"/>
              <a:t>Each node represents a new value</a:t>
            </a:r>
          </a:p>
          <a:p>
            <a:pPr lvl="1">
              <a:lnSpc>
                <a:spcPct val="150000"/>
              </a:lnSpc>
            </a:pPr>
            <a:r>
              <a:rPr lang="en-US" dirty="0"/>
              <a:t>Each edge is annotated with the latency of the current operation</a:t>
            </a:r>
            <a:endParaRPr lang="en-IN" dirty="0"/>
          </a:p>
        </p:txBody>
      </p:sp>
    </p:spTree>
    <p:extLst>
      <p:ext uri="{BB962C8B-B14F-4D97-AF65-F5344CB8AC3E}">
        <p14:creationId xmlns:p14="http://schemas.microsoft.com/office/powerpoint/2010/main" val="1958954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7D890-D7B4-6CA7-5895-EACA9B8FA01A}"/>
              </a:ext>
            </a:extLst>
          </p:cNvPr>
          <p:cNvSpPr>
            <a:spLocks noGrp="1"/>
          </p:cNvSpPr>
          <p:nvPr>
            <p:ph type="title"/>
          </p:nvPr>
        </p:nvSpPr>
        <p:spPr/>
        <p:txBody>
          <a:bodyPr/>
          <a:lstStyle/>
          <a:p>
            <a:r>
              <a:rPr lang="en-IN" dirty="0"/>
              <a:t>Steps in List Scheduling – </a:t>
            </a:r>
            <a:r>
              <a:rPr lang="en-IN" dirty="0" err="1"/>
              <a:t>cont</a:t>
            </a:r>
            <a:r>
              <a:rPr lang="en-IN" dirty="0"/>
              <a:t>…</a:t>
            </a:r>
          </a:p>
        </p:txBody>
      </p:sp>
      <p:sp>
        <p:nvSpPr>
          <p:cNvPr id="3" name="Content Placeholder 2">
            <a:extLst>
              <a:ext uri="{FF2B5EF4-FFF2-40B4-BE49-F238E27FC236}">
                <a16:creationId xmlns:a16="http://schemas.microsoft.com/office/drawing/2014/main" id="{354BED4A-7AF9-F297-F7FE-4F2A966C2F09}"/>
              </a:ext>
            </a:extLst>
          </p:cNvPr>
          <p:cNvSpPr>
            <a:spLocks noGrp="1"/>
          </p:cNvSpPr>
          <p:nvPr>
            <p:ph idx="1"/>
          </p:nvPr>
        </p:nvSpPr>
        <p:spPr/>
        <p:txBody>
          <a:bodyPr>
            <a:normAutofit/>
          </a:bodyPr>
          <a:lstStyle/>
          <a:p>
            <a:pPr marL="571500" indent="-571500">
              <a:buFont typeface="+mj-lt"/>
              <a:buAutoNum type="romanLcPeriod" startAt="3"/>
            </a:pPr>
            <a:r>
              <a:rPr lang="en-US" dirty="0">
                <a:solidFill>
                  <a:srgbClr val="000099"/>
                </a:solidFill>
              </a:rPr>
              <a:t>Assign priorities to each operation</a:t>
            </a:r>
          </a:p>
          <a:p>
            <a:pPr lvl="1"/>
            <a:r>
              <a:rPr lang="en-US" dirty="0"/>
              <a:t>Scheduler computes several different scores for each node</a:t>
            </a:r>
          </a:p>
          <a:p>
            <a:pPr lvl="2"/>
            <a:r>
              <a:rPr lang="en-US" dirty="0"/>
              <a:t>Length of the longest latency weighted path from the node to a root in 𝐷</a:t>
            </a:r>
          </a:p>
          <a:p>
            <a:pPr lvl="1"/>
            <a:r>
              <a:rPr lang="en-US" dirty="0"/>
              <a:t>Priorities are used for ordering and breaking ties</a:t>
            </a:r>
          </a:p>
          <a:p>
            <a:pPr lvl="1"/>
            <a:endParaRPr lang="en-US" dirty="0"/>
          </a:p>
          <a:p>
            <a:pPr marL="571500" indent="-571500">
              <a:buFont typeface="+mj-lt"/>
              <a:buAutoNum type="romanLcPeriod" startAt="4"/>
            </a:pPr>
            <a:r>
              <a:rPr lang="en-US" dirty="0">
                <a:solidFill>
                  <a:srgbClr val="000099"/>
                </a:solidFill>
              </a:rPr>
              <a:t>Iteratively select an operation for scheduling</a:t>
            </a:r>
          </a:p>
          <a:p>
            <a:pPr lvl="1"/>
            <a:r>
              <a:rPr lang="en-US" dirty="0"/>
              <a:t>Start in the first cycle for the basic block</a:t>
            </a:r>
          </a:p>
          <a:p>
            <a:pPr lvl="1"/>
            <a:r>
              <a:rPr lang="en-US" dirty="0"/>
              <a:t>At each cycle, choose as many operations as possible to issue</a:t>
            </a:r>
            <a:endParaRPr lang="en-IN" dirty="0"/>
          </a:p>
        </p:txBody>
      </p:sp>
    </p:spTree>
    <p:extLst>
      <p:ext uri="{BB962C8B-B14F-4D97-AF65-F5344CB8AC3E}">
        <p14:creationId xmlns:p14="http://schemas.microsoft.com/office/powerpoint/2010/main" val="4460675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0907B-B3A3-03AD-E41F-3EA3E03F3971}"/>
              </a:ext>
            </a:extLst>
          </p:cNvPr>
          <p:cNvSpPr>
            <a:spLocks noGrp="1"/>
          </p:cNvSpPr>
          <p:nvPr>
            <p:ph type="title"/>
          </p:nvPr>
        </p:nvSpPr>
        <p:spPr/>
        <p:txBody>
          <a:bodyPr/>
          <a:lstStyle/>
          <a:p>
            <a:r>
              <a:rPr lang="en-IN" dirty="0"/>
              <a:t>Approach</a:t>
            </a:r>
          </a:p>
        </p:txBody>
      </p:sp>
      <p:sp>
        <p:nvSpPr>
          <p:cNvPr id="3" name="Content Placeholder 2">
            <a:extLst>
              <a:ext uri="{FF2B5EF4-FFF2-40B4-BE49-F238E27FC236}">
                <a16:creationId xmlns:a16="http://schemas.microsoft.com/office/drawing/2014/main" id="{3E5D9120-4F32-D607-3603-842BC0143A8C}"/>
              </a:ext>
            </a:extLst>
          </p:cNvPr>
          <p:cNvSpPr>
            <a:spLocks noGrp="1"/>
          </p:cNvSpPr>
          <p:nvPr>
            <p:ph idx="1"/>
          </p:nvPr>
        </p:nvSpPr>
        <p:spPr>
          <a:xfrm>
            <a:off x="347868" y="1447937"/>
            <a:ext cx="11492949" cy="5025433"/>
          </a:xfrm>
        </p:spPr>
        <p:txBody>
          <a:bodyPr>
            <a:normAutofit lnSpcReduction="10000"/>
          </a:bodyPr>
          <a:lstStyle/>
          <a:p>
            <a:r>
              <a:rPr lang="en-US" dirty="0"/>
              <a:t>Priority List based scheduling</a:t>
            </a:r>
          </a:p>
          <a:p>
            <a:endParaRPr lang="en-US" dirty="0"/>
          </a:p>
          <a:p>
            <a:r>
              <a:rPr lang="en-US" dirty="0"/>
              <a:t>Idea → Keep track of the ready List</a:t>
            </a:r>
          </a:p>
          <a:p>
            <a:endParaRPr lang="en-US" dirty="0"/>
          </a:p>
          <a:p>
            <a:r>
              <a:rPr lang="en-US" dirty="0"/>
              <a:t>Ready list</a:t>
            </a:r>
          </a:p>
          <a:p>
            <a:pPr lvl="1"/>
            <a:r>
              <a:rPr lang="en-US" dirty="0"/>
              <a:t>list of instruction that are ready to execute and takes any instruction from list</a:t>
            </a:r>
          </a:p>
          <a:p>
            <a:pPr lvl="1"/>
            <a:r>
              <a:rPr lang="en-US" dirty="0"/>
              <a:t> minimizes the no. of cycles.</a:t>
            </a:r>
          </a:p>
          <a:p>
            <a:pPr lvl="1"/>
            <a:endParaRPr lang="en-US" dirty="0"/>
          </a:p>
          <a:p>
            <a:r>
              <a:rPr lang="en-US" dirty="0"/>
              <a:t>Critical Path distance!</a:t>
            </a:r>
          </a:p>
          <a:p>
            <a:pPr lvl="1"/>
            <a:r>
              <a:rPr lang="en-US" dirty="0"/>
              <a:t>Length of the longest path from x to leaf Instruction</a:t>
            </a:r>
          </a:p>
          <a:p>
            <a:pPr lvl="1"/>
            <a:r>
              <a:rPr lang="en-US" dirty="0"/>
              <a:t>Any given point in time, track all that operation that are ready to execute and decide which of them are going to execute</a:t>
            </a:r>
          </a:p>
          <a:p>
            <a:pPr marL="0" indent="0">
              <a:buNone/>
            </a:pPr>
            <a:endParaRPr lang="en-IN" dirty="0"/>
          </a:p>
        </p:txBody>
      </p:sp>
    </p:spTree>
    <p:extLst>
      <p:ext uri="{BB962C8B-B14F-4D97-AF65-F5344CB8AC3E}">
        <p14:creationId xmlns:p14="http://schemas.microsoft.com/office/powerpoint/2010/main" val="6051158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0EAFF-CF5E-9AE0-F50B-C969A8E73EE2}"/>
              </a:ext>
            </a:extLst>
          </p:cNvPr>
          <p:cNvSpPr>
            <a:spLocks noGrp="1"/>
          </p:cNvSpPr>
          <p:nvPr>
            <p:ph type="title"/>
          </p:nvPr>
        </p:nvSpPr>
        <p:spPr/>
        <p:txBody>
          <a:bodyPr/>
          <a:lstStyle/>
          <a:p>
            <a:r>
              <a:rPr lang="en-IN" dirty="0"/>
              <a:t>Example</a:t>
            </a:r>
          </a:p>
        </p:txBody>
      </p:sp>
      <p:pic>
        <p:nvPicPr>
          <p:cNvPr id="15" name="Content Placeholder 14">
            <a:extLst>
              <a:ext uri="{FF2B5EF4-FFF2-40B4-BE49-F238E27FC236}">
                <a16:creationId xmlns:a16="http://schemas.microsoft.com/office/drawing/2014/main" id="{6FB6857B-8B2C-F304-E457-DEF49E799B2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4510" r="30769" b="52319"/>
          <a:stretch/>
        </p:blipFill>
        <p:spPr>
          <a:xfrm>
            <a:off x="882298" y="1182913"/>
            <a:ext cx="4842061" cy="3918857"/>
          </a:xfrm>
        </p:spPr>
      </p:pic>
      <p:pic>
        <p:nvPicPr>
          <p:cNvPr id="16" name="Content Placeholder 14">
            <a:extLst>
              <a:ext uri="{FF2B5EF4-FFF2-40B4-BE49-F238E27FC236}">
                <a16:creationId xmlns:a16="http://schemas.microsoft.com/office/drawing/2014/main" id="{6064202C-48C7-49AE-F20E-FBAB2C4ABCB5}"/>
              </a:ext>
            </a:extLst>
          </p:cNvPr>
          <p:cNvPicPr>
            <a:picLocks noChangeAspect="1"/>
          </p:cNvPicPr>
          <p:nvPr/>
        </p:nvPicPr>
        <p:blipFill rotWithShape="1">
          <a:blip r:embed="rId2">
            <a:extLst>
              <a:ext uri="{28A0092B-C50C-407E-A947-70E740481C1C}">
                <a14:useLocalDpi xmlns:a14="http://schemas.microsoft.com/office/drawing/2010/main" val="0"/>
              </a:ext>
            </a:extLst>
          </a:blip>
          <a:srcRect t="48988" r="54755"/>
          <a:stretch/>
        </p:blipFill>
        <p:spPr>
          <a:xfrm>
            <a:off x="6547471" y="952852"/>
            <a:ext cx="4047958" cy="4521630"/>
          </a:xfrm>
          <a:prstGeom prst="rect">
            <a:avLst/>
          </a:prstGeom>
        </p:spPr>
      </p:pic>
      <p:pic>
        <p:nvPicPr>
          <p:cNvPr id="17" name="Content Placeholder 14">
            <a:extLst>
              <a:ext uri="{FF2B5EF4-FFF2-40B4-BE49-F238E27FC236}">
                <a16:creationId xmlns:a16="http://schemas.microsoft.com/office/drawing/2014/main" id="{CA55DA6B-B65C-EB90-7427-815E58E72332}"/>
              </a:ext>
            </a:extLst>
          </p:cNvPr>
          <p:cNvPicPr>
            <a:picLocks noChangeAspect="1"/>
          </p:cNvPicPr>
          <p:nvPr/>
        </p:nvPicPr>
        <p:blipFill rotWithShape="1">
          <a:blip r:embed="rId2">
            <a:extLst>
              <a:ext uri="{28A0092B-C50C-407E-A947-70E740481C1C}">
                <a14:useLocalDpi xmlns:a14="http://schemas.microsoft.com/office/drawing/2010/main" val="0"/>
              </a:ext>
            </a:extLst>
          </a:blip>
          <a:srcRect l="55524" t="49898" b="42335"/>
          <a:stretch/>
        </p:blipFill>
        <p:spPr>
          <a:xfrm>
            <a:off x="5326743" y="5474482"/>
            <a:ext cx="5021942" cy="1138156"/>
          </a:xfrm>
          <a:prstGeom prst="rect">
            <a:avLst/>
          </a:prstGeom>
        </p:spPr>
      </p:pic>
    </p:spTree>
    <p:extLst>
      <p:ext uri="{BB962C8B-B14F-4D97-AF65-F5344CB8AC3E}">
        <p14:creationId xmlns:p14="http://schemas.microsoft.com/office/powerpoint/2010/main" val="2082809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EB68E-7E7B-B855-2B1A-E6A842434FA9}"/>
              </a:ext>
            </a:extLst>
          </p:cNvPr>
          <p:cNvSpPr>
            <a:spLocks noGrp="1"/>
          </p:cNvSpPr>
          <p:nvPr>
            <p:ph type="title"/>
          </p:nvPr>
        </p:nvSpPr>
        <p:spPr/>
        <p:txBody>
          <a:bodyPr/>
          <a:lstStyle/>
          <a:p>
            <a:r>
              <a:rPr lang="en-IN" dirty="0" err="1"/>
              <a:t>Cont</a:t>
            </a:r>
            <a:r>
              <a:rPr lang="en-IN" dirty="0"/>
              <a:t>…</a:t>
            </a:r>
          </a:p>
        </p:txBody>
      </p:sp>
      <p:pic>
        <p:nvPicPr>
          <p:cNvPr id="4" name="Content Placeholder 14">
            <a:extLst>
              <a:ext uri="{FF2B5EF4-FFF2-40B4-BE49-F238E27FC236}">
                <a16:creationId xmlns:a16="http://schemas.microsoft.com/office/drawing/2014/main" id="{08C273E3-3218-7DFB-427A-AE59436AB3B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46204" t="59101" b="10479"/>
          <a:stretch/>
        </p:blipFill>
        <p:spPr>
          <a:xfrm>
            <a:off x="5621813" y="1606608"/>
            <a:ext cx="6074230" cy="4457994"/>
          </a:xfrm>
        </p:spPr>
      </p:pic>
      <p:pic>
        <p:nvPicPr>
          <p:cNvPr id="3" name="Content Placeholder 14">
            <a:extLst>
              <a:ext uri="{FF2B5EF4-FFF2-40B4-BE49-F238E27FC236}">
                <a16:creationId xmlns:a16="http://schemas.microsoft.com/office/drawing/2014/main" id="{333DA705-B4A6-9EB6-7983-93303374CFAB}"/>
              </a:ext>
            </a:extLst>
          </p:cNvPr>
          <p:cNvPicPr>
            <a:picLocks noChangeAspect="1"/>
          </p:cNvPicPr>
          <p:nvPr/>
        </p:nvPicPr>
        <p:blipFill rotWithShape="1">
          <a:blip r:embed="rId2">
            <a:extLst>
              <a:ext uri="{28A0092B-C50C-407E-A947-70E740481C1C}">
                <a14:useLocalDpi xmlns:a14="http://schemas.microsoft.com/office/drawing/2010/main" val="0"/>
              </a:ext>
            </a:extLst>
          </a:blip>
          <a:srcRect t="4510" r="30769" b="52319"/>
          <a:stretch/>
        </p:blipFill>
        <p:spPr>
          <a:xfrm>
            <a:off x="415739" y="1776300"/>
            <a:ext cx="4842061" cy="3918857"/>
          </a:xfrm>
          <a:prstGeom prst="rect">
            <a:avLst/>
          </a:prstGeom>
        </p:spPr>
      </p:pic>
    </p:spTree>
    <p:extLst>
      <p:ext uri="{BB962C8B-B14F-4D97-AF65-F5344CB8AC3E}">
        <p14:creationId xmlns:p14="http://schemas.microsoft.com/office/powerpoint/2010/main" val="3424300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82C7C6-3590-1763-DC60-C6D31C9005A7}"/>
              </a:ext>
            </a:extLst>
          </p:cNvPr>
          <p:cNvSpPr>
            <a:spLocks noGrp="1"/>
          </p:cNvSpPr>
          <p:nvPr>
            <p:ph type="title"/>
          </p:nvPr>
        </p:nvSpPr>
        <p:spPr/>
        <p:txBody>
          <a:bodyPr/>
          <a:lstStyle/>
          <a:p>
            <a:r>
              <a:rPr lang="en-IN" dirty="0"/>
              <a:t>Software pipelining</a:t>
            </a:r>
          </a:p>
        </p:txBody>
      </p:sp>
      <p:sp>
        <p:nvSpPr>
          <p:cNvPr id="5" name="Text Placeholder 4">
            <a:extLst>
              <a:ext uri="{FF2B5EF4-FFF2-40B4-BE49-F238E27FC236}">
                <a16:creationId xmlns:a16="http://schemas.microsoft.com/office/drawing/2014/main" id="{7A402D62-960E-CA33-8341-E94760A4A2F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375003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35699-C804-2A58-8905-DF22960A1C26}"/>
              </a:ext>
            </a:extLst>
          </p:cNvPr>
          <p:cNvSpPr>
            <a:spLocks noGrp="1"/>
          </p:cNvSpPr>
          <p:nvPr>
            <p:ph type="title"/>
          </p:nvPr>
        </p:nvSpPr>
        <p:spPr/>
        <p:txBody>
          <a:bodyPr/>
          <a:lstStyle/>
          <a:p>
            <a:r>
              <a:rPr lang="en-IN" dirty="0"/>
              <a:t>Introduction to Software Pipelining</a:t>
            </a:r>
          </a:p>
        </p:txBody>
      </p:sp>
      <p:sp>
        <p:nvSpPr>
          <p:cNvPr id="3" name="Content Placeholder 2">
            <a:extLst>
              <a:ext uri="{FF2B5EF4-FFF2-40B4-BE49-F238E27FC236}">
                <a16:creationId xmlns:a16="http://schemas.microsoft.com/office/drawing/2014/main" id="{DC178C26-740A-B1BE-AB56-0AEFDB2251A6}"/>
              </a:ext>
            </a:extLst>
          </p:cNvPr>
          <p:cNvSpPr>
            <a:spLocks noGrp="1"/>
          </p:cNvSpPr>
          <p:nvPr>
            <p:ph idx="1"/>
          </p:nvPr>
        </p:nvSpPr>
        <p:spPr/>
        <p:txBody>
          <a:bodyPr/>
          <a:lstStyle/>
          <a:p>
            <a:r>
              <a:rPr lang="en-IN" dirty="0"/>
              <a:t>Overlaps </a:t>
            </a:r>
            <a:r>
              <a:rPr lang="en-IN" dirty="0">
                <a:solidFill>
                  <a:srgbClr val="FF0000"/>
                </a:solidFill>
              </a:rPr>
              <a:t>execution of instructions </a:t>
            </a:r>
            <a:r>
              <a:rPr lang="en-IN" dirty="0"/>
              <a:t>from </a:t>
            </a:r>
            <a:r>
              <a:rPr lang="en-IN" dirty="0">
                <a:solidFill>
                  <a:srgbClr val="FF0000"/>
                </a:solidFill>
              </a:rPr>
              <a:t>multiple iterations </a:t>
            </a:r>
            <a:r>
              <a:rPr lang="en-IN" dirty="0"/>
              <a:t>of a loop.</a:t>
            </a:r>
          </a:p>
          <a:p>
            <a:r>
              <a:rPr lang="en-IN" dirty="0"/>
              <a:t>Executes instruction from </a:t>
            </a:r>
            <a:r>
              <a:rPr lang="en-IN" dirty="0">
                <a:solidFill>
                  <a:srgbClr val="FF0000"/>
                </a:solidFill>
              </a:rPr>
              <a:t>different iterations </a:t>
            </a:r>
            <a:r>
              <a:rPr lang="en-IN" dirty="0"/>
              <a:t>in the same pipeline, so that pipelines are kept busy without stalls.</a:t>
            </a:r>
          </a:p>
          <a:p>
            <a:r>
              <a:rPr lang="en-IN" dirty="0"/>
              <a:t>Initiation of a subsequent iteration may start even before the previous iteration is complete.</a:t>
            </a:r>
          </a:p>
          <a:p>
            <a:r>
              <a:rPr lang="en-IN" dirty="0">
                <a:solidFill>
                  <a:srgbClr val="FF0000"/>
                </a:solidFill>
              </a:rPr>
              <a:t>Unrolling loops </a:t>
            </a:r>
            <a:r>
              <a:rPr lang="en-IN" dirty="0"/>
              <a:t>several times and </a:t>
            </a:r>
            <a:r>
              <a:rPr lang="en-IN" dirty="0">
                <a:solidFill>
                  <a:srgbClr val="FF0000"/>
                </a:solidFill>
              </a:rPr>
              <a:t>performing global scheduling </a:t>
            </a:r>
            <a:r>
              <a:rPr lang="en-IN" dirty="0"/>
              <a:t>on the unrolled loop</a:t>
            </a:r>
          </a:p>
          <a:p>
            <a:endParaRPr lang="en-IN" dirty="0"/>
          </a:p>
          <a:p>
            <a:endParaRPr lang="en-IN" dirty="0"/>
          </a:p>
        </p:txBody>
      </p:sp>
    </p:spTree>
    <p:extLst>
      <p:ext uri="{BB962C8B-B14F-4D97-AF65-F5344CB8AC3E}">
        <p14:creationId xmlns:p14="http://schemas.microsoft.com/office/powerpoint/2010/main" val="34329362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07938-5393-ECA6-B919-3390111099A8}"/>
              </a:ext>
            </a:extLst>
          </p:cNvPr>
          <p:cNvSpPr>
            <a:spLocks noGrp="1"/>
          </p:cNvSpPr>
          <p:nvPr>
            <p:ph type="title"/>
          </p:nvPr>
        </p:nvSpPr>
        <p:spPr/>
        <p:txBody>
          <a:bodyPr/>
          <a:lstStyle/>
          <a:p>
            <a:r>
              <a:rPr lang="en-IN" dirty="0">
                <a:solidFill>
                  <a:srgbClr val="FF0000"/>
                </a:solidFill>
              </a:rPr>
              <a:t>Unrolling loops</a:t>
            </a:r>
            <a:br>
              <a:rPr lang="en-IN" dirty="0"/>
            </a:br>
            <a:endParaRPr lang="en-IN" dirty="0"/>
          </a:p>
        </p:txBody>
      </p:sp>
      <p:sp>
        <p:nvSpPr>
          <p:cNvPr id="3" name="Content Placeholder 2">
            <a:extLst>
              <a:ext uri="{FF2B5EF4-FFF2-40B4-BE49-F238E27FC236}">
                <a16:creationId xmlns:a16="http://schemas.microsoft.com/office/drawing/2014/main" id="{87561361-74FC-9E79-C244-DF3C079901F7}"/>
              </a:ext>
            </a:extLst>
          </p:cNvPr>
          <p:cNvSpPr>
            <a:spLocks noGrp="1"/>
          </p:cNvSpPr>
          <p:nvPr>
            <p:ph idx="1"/>
          </p:nvPr>
        </p:nvSpPr>
        <p:spPr>
          <a:xfrm>
            <a:off x="347868" y="1043609"/>
            <a:ext cx="11492949" cy="5312741"/>
          </a:xfrm>
        </p:spPr>
        <p:txBody>
          <a:bodyPr/>
          <a:lstStyle/>
          <a:p>
            <a:r>
              <a:rPr lang="en-US" b="0" i="0" dirty="0">
                <a:solidFill>
                  <a:srgbClr val="273239"/>
                </a:solidFill>
                <a:effectLst/>
                <a:latin typeface="Times New Roman" panose="02020603050405020304" pitchFamily="18" charset="0"/>
                <a:cs typeface="Times New Roman" panose="02020603050405020304" pitchFamily="18" charset="0"/>
              </a:rPr>
              <a:t>Loop unrolling is a </a:t>
            </a:r>
            <a:r>
              <a:rPr lang="en-US" b="0" i="0" dirty="0">
                <a:solidFill>
                  <a:srgbClr val="FF0000"/>
                </a:solidFill>
                <a:effectLst/>
                <a:latin typeface="Times New Roman" panose="02020603050405020304" pitchFamily="18" charset="0"/>
                <a:cs typeface="Times New Roman" panose="02020603050405020304" pitchFamily="18" charset="0"/>
              </a:rPr>
              <a:t>loop transformation technique </a:t>
            </a:r>
            <a:r>
              <a:rPr lang="en-US" b="0" i="0" dirty="0">
                <a:solidFill>
                  <a:srgbClr val="273239"/>
                </a:solidFill>
                <a:effectLst/>
                <a:latin typeface="Times New Roman" panose="02020603050405020304" pitchFamily="18" charset="0"/>
                <a:cs typeface="Times New Roman" panose="02020603050405020304" pitchFamily="18" charset="0"/>
              </a:rPr>
              <a:t>that helps to optimize the execution time of a program.</a:t>
            </a:r>
          </a:p>
          <a:p>
            <a:r>
              <a:rPr lang="en-US" dirty="0">
                <a:solidFill>
                  <a:srgbClr val="273239"/>
                </a:solidFill>
                <a:latin typeface="Times New Roman" panose="02020603050405020304" pitchFamily="18" charset="0"/>
                <a:cs typeface="Times New Roman" panose="02020603050405020304" pitchFamily="18" charset="0"/>
              </a:rPr>
              <a:t>R</a:t>
            </a:r>
            <a:r>
              <a:rPr lang="en-US" b="0" i="0" dirty="0">
                <a:solidFill>
                  <a:srgbClr val="273239"/>
                </a:solidFill>
                <a:effectLst/>
                <a:latin typeface="Times New Roman" panose="02020603050405020304" pitchFamily="18" charset="0"/>
                <a:cs typeface="Times New Roman" panose="02020603050405020304" pitchFamily="18" charset="0"/>
              </a:rPr>
              <a:t>emove or reduce iterations. </a:t>
            </a:r>
          </a:p>
          <a:p>
            <a:r>
              <a:rPr lang="en-US" b="0" i="0" dirty="0">
                <a:solidFill>
                  <a:srgbClr val="273239"/>
                </a:solidFill>
                <a:effectLst/>
                <a:latin typeface="Times New Roman" panose="02020603050405020304" pitchFamily="18" charset="0"/>
                <a:cs typeface="Times New Roman" panose="02020603050405020304" pitchFamily="18" charset="0"/>
              </a:rPr>
              <a:t>Loop unrolling increases the program’s speed by eliminating loop control instruction and loop test instructions.</a:t>
            </a:r>
          </a:p>
          <a:p>
            <a:r>
              <a:rPr lang="en-US" dirty="0">
                <a:solidFill>
                  <a:srgbClr val="000000"/>
                </a:solidFill>
                <a:latin typeface="Times New Roman" panose="02020603050405020304" pitchFamily="18" charset="0"/>
              </a:rPr>
              <a:t>R</a:t>
            </a:r>
            <a:r>
              <a:rPr lang="en-US" b="0" i="0" dirty="0">
                <a:solidFill>
                  <a:srgbClr val="000000"/>
                </a:solidFill>
                <a:effectLst/>
                <a:latin typeface="Times New Roman" panose="02020603050405020304" pitchFamily="18" charset="0"/>
              </a:rPr>
              <a:t>educe the frequency of branches and loop maintenance instructions.</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862724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7124C7-BBEA-2E96-7837-8A4C6C5C1869}"/>
              </a:ext>
            </a:extLst>
          </p:cNvPr>
          <p:cNvSpPr>
            <a:spLocks noGrp="1"/>
          </p:cNvSpPr>
          <p:nvPr>
            <p:ph type="title"/>
          </p:nvPr>
        </p:nvSpPr>
        <p:spPr/>
        <p:txBody>
          <a:bodyPr/>
          <a:lstStyle/>
          <a:p>
            <a:r>
              <a:rPr lang="en-US" dirty="0"/>
              <a:t>Unrolling loops</a:t>
            </a:r>
            <a:endParaRPr lang="en-IN" dirty="0"/>
          </a:p>
        </p:txBody>
      </p:sp>
      <p:sp>
        <p:nvSpPr>
          <p:cNvPr id="5" name="Content Placeholder 4">
            <a:extLst>
              <a:ext uri="{FF2B5EF4-FFF2-40B4-BE49-F238E27FC236}">
                <a16:creationId xmlns:a16="http://schemas.microsoft.com/office/drawing/2014/main" id="{0438824C-F9FC-0B99-616A-52551118FF48}"/>
              </a:ext>
            </a:extLst>
          </p:cNvPr>
          <p:cNvSpPr>
            <a:spLocks noGrp="1"/>
          </p:cNvSpPr>
          <p:nvPr>
            <p:ph sz="half" idx="1"/>
          </p:nvPr>
        </p:nvSpPr>
        <p:spPr/>
        <p:txBody>
          <a:bodyPr>
            <a:normAutofit fontScale="92500" lnSpcReduction="20000"/>
          </a:bodyPr>
          <a:lstStyle/>
          <a:p>
            <a:pPr marL="0" indent="0">
              <a:buNone/>
            </a:pPr>
            <a:r>
              <a:rPr lang="en-IN" dirty="0"/>
              <a:t>#include &lt;</a:t>
            </a:r>
            <a:r>
              <a:rPr lang="en-IN" dirty="0" err="1"/>
              <a:t>stdio.h</a:t>
            </a:r>
            <a:r>
              <a:rPr lang="en-IN" dirty="0"/>
              <a:t>&gt;</a:t>
            </a:r>
          </a:p>
          <a:p>
            <a:pPr marL="0" indent="0">
              <a:buNone/>
            </a:pPr>
            <a:r>
              <a:rPr lang="en-IN" dirty="0"/>
              <a:t>void main() {</a:t>
            </a:r>
          </a:p>
          <a:p>
            <a:pPr marL="0" indent="0">
              <a:buNone/>
            </a:pPr>
            <a:r>
              <a:rPr lang="en-IN" dirty="0"/>
              <a:t>    int i = 1;</a:t>
            </a:r>
          </a:p>
          <a:p>
            <a:pPr marL="0" indent="0">
              <a:buNone/>
            </a:pPr>
            <a:r>
              <a:rPr lang="en-IN" dirty="0"/>
              <a:t>    int a[100], b[100];</a:t>
            </a:r>
          </a:p>
          <a:p>
            <a:pPr marL="0" indent="0">
              <a:buNone/>
            </a:pPr>
            <a:r>
              <a:rPr lang="en-IN" dirty="0"/>
              <a:t>    while(i&lt;100) {</a:t>
            </a:r>
          </a:p>
          <a:p>
            <a:pPr marL="0" indent="0">
              <a:buNone/>
            </a:pPr>
            <a:r>
              <a:rPr lang="en-IN" dirty="0"/>
              <a:t>    a[i] = b[i];</a:t>
            </a:r>
          </a:p>
          <a:p>
            <a:pPr marL="0" indent="0">
              <a:buNone/>
            </a:pPr>
            <a:r>
              <a:rPr lang="en-IN" dirty="0"/>
              <a:t>    i++;</a:t>
            </a:r>
          </a:p>
          <a:p>
            <a:pPr marL="0" indent="0">
              <a:buNone/>
            </a:pPr>
            <a:r>
              <a:rPr lang="en-IN" dirty="0"/>
              <a:t>    }</a:t>
            </a:r>
          </a:p>
          <a:p>
            <a:pPr marL="0" indent="0">
              <a:buNone/>
            </a:pPr>
            <a:r>
              <a:rPr lang="en-IN" dirty="0"/>
              <a:t>}</a:t>
            </a:r>
          </a:p>
        </p:txBody>
      </p:sp>
      <p:sp>
        <p:nvSpPr>
          <p:cNvPr id="6" name="Content Placeholder 5">
            <a:extLst>
              <a:ext uri="{FF2B5EF4-FFF2-40B4-BE49-F238E27FC236}">
                <a16:creationId xmlns:a16="http://schemas.microsoft.com/office/drawing/2014/main" id="{F2E79670-9C1D-0D68-B8E7-AB1E0667E9CB}"/>
              </a:ext>
            </a:extLst>
          </p:cNvPr>
          <p:cNvSpPr>
            <a:spLocks noGrp="1"/>
          </p:cNvSpPr>
          <p:nvPr>
            <p:ph sz="half" idx="2"/>
          </p:nvPr>
        </p:nvSpPr>
        <p:spPr/>
        <p:txBody>
          <a:bodyPr>
            <a:normAutofit fontScale="92500" lnSpcReduction="20000"/>
          </a:bodyPr>
          <a:lstStyle/>
          <a:p>
            <a:pPr marL="0" indent="0">
              <a:buNone/>
            </a:pPr>
            <a:r>
              <a:rPr lang="en-IN" dirty="0"/>
              <a:t>#include &lt;</a:t>
            </a:r>
            <a:r>
              <a:rPr lang="en-IN" dirty="0" err="1"/>
              <a:t>stdio.h</a:t>
            </a:r>
            <a:r>
              <a:rPr lang="en-IN" dirty="0"/>
              <a:t>&gt;</a:t>
            </a:r>
          </a:p>
          <a:p>
            <a:pPr marL="0" indent="0">
              <a:buNone/>
            </a:pPr>
            <a:r>
              <a:rPr lang="en-IN" dirty="0"/>
              <a:t> void main() {</a:t>
            </a:r>
          </a:p>
          <a:p>
            <a:pPr marL="0" indent="0">
              <a:buNone/>
            </a:pPr>
            <a:r>
              <a:rPr lang="en-IN" dirty="0"/>
              <a:t>    int i = 1;</a:t>
            </a:r>
          </a:p>
          <a:p>
            <a:pPr marL="0" indent="0">
              <a:buNone/>
            </a:pPr>
            <a:r>
              <a:rPr lang="en-IN" dirty="0"/>
              <a:t>    int a[100], b[100];</a:t>
            </a:r>
          </a:p>
          <a:p>
            <a:pPr marL="0" indent="0">
              <a:buNone/>
            </a:pPr>
            <a:r>
              <a:rPr lang="en-IN" dirty="0"/>
              <a:t>    while(i&lt;100) {</a:t>
            </a:r>
          </a:p>
          <a:p>
            <a:pPr marL="0" indent="0">
              <a:buNone/>
            </a:pPr>
            <a:r>
              <a:rPr lang="en-IN" dirty="0"/>
              <a:t>        a[i] = b[i];</a:t>
            </a:r>
          </a:p>
          <a:p>
            <a:pPr marL="0" indent="0">
              <a:buNone/>
            </a:pPr>
            <a:r>
              <a:rPr lang="en-IN" dirty="0"/>
              <a:t>        i++;</a:t>
            </a:r>
          </a:p>
          <a:p>
            <a:pPr marL="0" indent="0">
              <a:buNone/>
            </a:pPr>
            <a:r>
              <a:rPr lang="en-IN" dirty="0"/>
              <a:t>        a[i] = b[i];</a:t>
            </a:r>
          </a:p>
          <a:p>
            <a:pPr marL="0" indent="0">
              <a:buNone/>
            </a:pPr>
            <a:r>
              <a:rPr lang="en-IN" dirty="0"/>
              <a:t>        i++;</a:t>
            </a:r>
          </a:p>
          <a:p>
            <a:pPr marL="0" indent="0">
              <a:buNone/>
            </a:pPr>
            <a:r>
              <a:rPr lang="en-IN" dirty="0"/>
              <a:t>    }</a:t>
            </a:r>
          </a:p>
          <a:p>
            <a:endParaRPr lang="en-IN" dirty="0"/>
          </a:p>
        </p:txBody>
      </p:sp>
    </p:spTree>
    <p:extLst>
      <p:ext uri="{BB962C8B-B14F-4D97-AF65-F5344CB8AC3E}">
        <p14:creationId xmlns:p14="http://schemas.microsoft.com/office/powerpoint/2010/main" val="19978210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F5DE2B-937B-95F4-ADC7-91F3C8C8BE55}"/>
              </a:ext>
            </a:extLst>
          </p:cNvPr>
          <p:cNvSpPr>
            <a:spLocks noGrp="1"/>
          </p:cNvSpPr>
          <p:nvPr>
            <p:ph type="title"/>
          </p:nvPr>
        </p:nvSpPr>
        <p:spPr/>
        <p:txBody>
          <a:bodyPr/>
          <a:lstStyle/>
          <a:p>
            <a:r>
              <a:rPr lang="en-US" dirty="0"/>
              <a:t>Three Stages</a:t>
            </a:r>
            <a:br>
              <a:rPr lang="en-US" dirty="0"/>
            </a:br>
            <a:endParaRPr lang="en-IN" dirty="0"/>
          </a:p>
        </p:txBody>
      </p:sp>
      <p:sp>
        <p:nvSpPr>
          <p:cNvPr id="6" name="Content Placeholder 5">
            <a:extLst>
              <a:ext uri="{FF2B5EF4-FFF2-40B4-BE49-F238E27FC236}">
                <a16:creationId xmlns:a16="http://schemas.microsoft.com/office/drawing/2014/main" id="{9CEFA738-014D-7974-9304-A13033CC2FF2}"/>
              </a:ext>
            </a:extLst>
          </p:cNvPr>
          <p:cNvSpPr>
            <a:spLocks noGrp="1"/>
          </p:cNvSpPr>
          <p:nvPr>
            <p:ph idx="1"/>
          </p:nvPr>
        </p:nvSpPr>
        <p:spPr/>
        <p:txBody>
          <a:bodyPr>
            <a:normAutofit/>
          </a:bodyPr>
          <a:lstStyle/>
          <a:p>
            <a:pPr marL="0" indent="0">
              <a:buNone/>
            </a:pPr>
            <a:r>
              <a:rPr lang="en-US" dirty="0">
                <a:solidFill>
                  <a:srgbClr val="FF0000"/>
                </a:solidFill>
              </a:rPr>
              <a:t>Prolog  (Warm Up) </a:t>
            </a:r>
          </a:p>
          <a:p>
            <a:r>
              <a:rPr lang="en-US" dirty="0"/>
              <a:t>Stage contains instructions needed to build up the loop kernel cycle.</a:t>
            </a:r>
          </a:p>
          <a:p>
            <a:endParaRPr lang="en-US" dirty="0"/>
          </a:p>
          <a:p>
            <a:pPr marL="0" indent="0">
              <a:buNone/>
            </a:pPr>
            <a:r>
              <a:rPr lang="en-US" dirty="0">
                <a:solidFill>
                  <a:srgbClr val="FF0000"/>
                </a:solidFill>
              </a:rPr>
              <a:t>Loop Kernel (Cycle)</a:t>
            </a:r>
          </a:p>
          <a:p>
            <a:r>
              <a:rPr lang="en-US" dirty="0"/>
              <a:t>Within this loop , all instructions are executed in parallel.</a:t>
            </a:r>
          </a:p>
          <a:p>
            <a:r>
              <a:rPr lang="en-US" dirty="0"/>
              <a:t>Entire loop is executed in one cycle.</a:t>
            </a:r>
          </a:p>
          <a:p>
            <a:pPr marL="0" indent="0">
              <a:buNone/>
            </a:pPr>
            <a:endParaRPr lang="en-US" dirty="0"/>
          </a:p>
          <a:p>
            <a:pPr marL="0" indent="0">
              <a:buNone/>
            </a:pPr>
            <a:r>
              <a:rPr lang="en-US" dirty="0">
                <a:solidFill>
                  <a:srgbClr val="FF0000"/>
                </a:solidFill>
              </a:rPr>
              <a:t>Epilog (cool off) -</a:t>
            </a:r>
            <a:r>
              <a:rPr lang="en-US" dirty="0"/>
              <a:t>This stage contains the instructions necessary to complete all iterations</a:t>
            </a:r>
            <a:endParaRPr lang="en-IN" dirty="0"/>
          </a:p>
        </p:txBody>
      </p:sp>
    </p:spTree>
    <p:extLst>
      <p:ext uri="{BB962C8B-B14F-4D97-AF65-F5344CB8AC3E}">
        <p14:creationId xmlns:p14="http://schemas.microsoft.com/office/powerpoint/2010/main" val="34677328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6C542-20C8-A78F-6A17-D58C2D968D1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C4DF043-220F-E5A8-A234-AC8783464785}"/>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F1EF6E22-6D69-EA66-42D9-F9E1D2801A29}"/>
              </a:ext>
            </a:extLst>
          </p:cNvPr>
          <p:cNvPicPr>
            <a:picLocks noChangeAspect="1"/>
          </p:cNvPicPr>
          <p:nvPr/>
        </p:nvPicPr>
        <p:blipFill>
          <a:blip r:embed="rId2"/>
          <a:stretch>
            <a:fillRect/>
          </a:stretch>
        </p:blipFill>
        <p:spPr>
          <a:xfrm>
            <a:off x="2819400" y="466725"/>
            <a:ext cx="6553200" cy="5924550"/>
          </a:xfrm>
          <a:prstGeom prst="rect">
            <a:avLst/>
          </a:prstGeom>
        </p:spPr>
      </p:pic>
    </p:spTree>
    <p:extLst>
      <p:ext uri="{BB962C8B-B14F-4D97-AF65-F5344CB8AC3E}">
        <p14:creationId xmlns:p14="http://schemas.microsoft.com/office/powerpoint/2010/main" val="8312853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DD52B-6C9A-00F5-B63E-F2AE537C6B81}"/>
              </a:ext>
            </a:extLst>
          </p:cNvPr>
          <p:cNvSpPr>
            <a:spLocks noGrp="1"/>
          </p:cNvSpPr>
          <p:nvPr>
            <p:ph type="title"/>
          </p:nvPr>
        </p:nvSpPr>
        <p:spPr/>
        <p:txBody>
          <a:bodyPr/>
          <a:lstStyle/>
          <a:p>
            <a:r>
              <a:rPr lang="en-IN" dirty="0"/>
              <a:t>Approaches to Software Pipelining</a:t>
            </a:r>
          </a:p>
        </p:txBody>
      </p:sp>
      <p:sp>
        <p:nvSpPr>
          <p:cNvPr id="3" name="Content Placeholder 2">
            <a:extLst>
              <a:ext uri="{FF2B5EF4-FFF2-40B4-BE49-F238E27FC236}">
                <a16:creationId xmlns:a16="http://schemas.microsoft.com/office/drawing/2014/main" id="{A6C6CB15-5624-0F3D-B9AB-D5C0A8A679D7}"/>
              </a:ext>
            </a:extLst>
          </p:cNvPr>
          <p:cNvSpPr>
            <a:spLocks noGrp="1"/>
          </p:cNvSpPr>
          <p:nvPr>
            <p:ph idx="1"/>
          </p:nvPr>
        </p:nvSpPr>
        <p:spPr/>
        <p:txBody>
          <a:bodyPr>
            <a:normAutofit lnSpcReduction="10000"/>
          </a:bodyPr>
          <a:lstStyle/>
          <a:p>
            <a:pPr>
              <a:lnSpc>
                <a:spcPct val="120000"/>
              </a:lnSpc>
            </a:pPr>
            <a:r>
              <a:rPr lang="en-IN" dirty="0"/>
              <a:t>Involves finding initiation interval for successive iterations.</a:t>
            </a:r>
          </a:p>
          <a:p>
            <a:pPr algn="l">
              <a:lnSpc>
                <a:spcPct val="120000"/>
              </a:lnSpc>
            </a:pPr>
            <a:r>
              <a:rPr lang="en-IN" dirty="0"/>
              <a:t>Trial and error procedure</a:t>
            </a:r>
          </a:p>
          <a:p>
            <a:pPr algn="l">
              <a:lnSpc>
                <a:spcPct val="120000"/>
              </a:lnSpc>
            </a:pPr>
            <a:r>
              <a:rPr lang="en-US" dirty="0"/>
              <a:t>Start with minimum II, schedule the body of the loop using one of the approaches below and check if schedule length </a:t>
            </a:r>
            <a:r>
              <a:rPr lang="en-IN" dirty="0"/>
              <a:t>is within bounds</a:t>
            </a:r>
          </a:p>
          <a:p>
            <a:pPr indent="217488" algn="l">
              <a:lnSpc>
                <a:spcPct val="120000"/>
              </a:lnSpc>
              <a:buFont typeface="Wingdings" panose="05000000000000000000" pitchFamily="2" charset="2"/>
              <a:buChar char="ü"/>
            </a:pPr>
            <a:r>
              <a:rPr lang="en-IN" dirty="0"/>
              <a:t>Stop, if yes</a:t>
            </a:r>
          </a:p>
          <a:p>
            <a:pPr indent="217488" algn="l">
              <a:lnSpc>
                <a:spcPct val="120000"/>
              </a:lnSpc>
              <a:buFont typeface="Wingdings" panose="05000000000000000000" pitchFamily="2" charset="2"/>
              <a:buChar char="ü"/>
            </a:pPr>
            <a:r>
              <a:rPr lang="en-US" dirty="0"/>
              <a:t>Try next value of II, if no</a:t>
            </a:r>
            <a:endParaRPr lang="en-IN" dirty="0"/>
          </a:p>
          <a:p>
            <a:pPr>
              <a:lnSpc>
                <a:spcPct val="120000"/>
              </a:lnSpc>
            </a:pPr>
            <a:r>
              <a:rPr lang="en-IN" dirty="0"/>
              <a:t>Iterative modulo scheduling</a:t>
            </a:r>
          </a:p>
          <a:p>
            <a:pPr indent="219075">
              <a:lnSpc>
                <a:spcPct val="120000"/>
              </a:lnSpc>
            </a:pPr>
            <a:r>
              <a:rPr lang="en-IN" dirty="0"/>
              <a:t>Uses Modulo Reservation Tables(MRT)</a:t>
            </a:r>
          </a:p>
        </p:txBody>
      </p:sp>
    </p:spTree>
    <p:extLst>
      <p:ext uri="{BB962C8B-B14F-4D97-AF65-F5344CB8AC3E}">
        <p14:creationId xmlns:p14="http://schemas.microsoft.com/office/powerpoint/2010/main" val="12763249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9B0D4-CD20-0CAA-6853-EAD3024697D0}"/>
              </a:ext>
            </a:extLst>
          </p:cNvPr>
          <p:cNvSpPr>
            <a:spLocks noGrp="1"/>
          </p:cNvSpPr>
          <p:nvPr>
            <p:ph type="title"/>
          </p:nvPr>
        </p:nvSpPr>
        <p:spPr/>
        <p:txBody>
          <a:bodyPr/>
          <a:lstStyle/>
          <a:p>
            <a:r>
              <a:rPr lang="en-IN" dirty="0">
                <a:solidFill>
                  <a:srgbClr val="FF0000"/>
                </a:solidFill>
              </a:rPr>
              <a:t>Modulo Reservation Tables (MRT)</a:t>
            </a:r>
            <a:br>
              <a:rPr lang="en-IN" dirty="0">
                <a:solidFill>
                  <a:srgbClr val="FF0000"/>
                </a:solidFill>
              </a:rPr>
            </a:br>
            <a:endParaRPr lang="en-IN" dirty="0"/>
          </a:p>
        </p:txBody>
      </p:sp>
      <p:sp>
        <p:nvSpPr>
          <p:cNvPr id="3" name="Content Placeholder 2">
            <a:extLst>
              <a:ext uri="{FF2B5EF4-FFF2-40B4-BE49-F238E27FC236}">
                <a16:creationId xmlns:a16="http://schemas.microsoft.com/office/drawing/2014/main" id="{0CC802EA-35FC-BBF1-AC86-7B10C6E0BBEA}"/>
              </a:ext>
            </a:extLst>
          </p:cNvPr>
          <p:cNvSpPr>
            <a:spLocks noGrp="1"/>
          </p:cNvSpPr>
          <p:nvPr>
            <p:ph idx="1"/>
          </p:nvPr>
        </p:nvSpPr>
        <p:spPr/>
        <p:txBody>
          <a:bodyPr/>
          <a:lstStyle/>
          <a:p>
            <a:pPr>
              <a:lnSpc>
                <a:spcPct val="120000"/>
              </a:lnSpc>
              <a:buNone/>
            </a:pPr>
            <a:r>
              <a:rPr lang="en-IN" dirty="0">
                <a:solidFill>
                  <a:srgbClr val="FF0000"/>
                </a:solidFill>
              </a:rPr>
              <a:t>Modulo Reservation Tables (MRT)</a:t>
            </a:r>
          </a:p>
          <a:p>
            <a:pPr marL="0" indent="0">
              <a:buNone/>
            </a:pPr>
            <a:r>
              <a:rPr lang="en-IN" dirty="0"/>
              <a:t>A global resource reservation table with II columns and R rows</a:t>
            </a:r>
          </a:p>
          <a:p>
            <a:pPr marL="685800" indent="-457200"/>
            <a:r>
              <a:rPr lang="en-IN" dirty="0"/>
              <a:t>II columns- Initiation Interval (new iteration)</a:t>
            </a:r>
          </a:p>
          <a:p>
            <a:pPr marL="685800" indent="-457200"/>
            <a:r>
              <a:rPr lang="en-IN" dirty="0"/>
              <a:t>R Rows- number of resources in the system</a:t>
            </a:r>
          </a:p>
          <a:p>
            <a:pPr algn="l"/>
            <a:r>
              <a:rPr lang="en-US" dirty="0"/>
              <a:t>Schedule lengths are dependent on II, dependence</a:t>
            </a:r>
          </a:p>
          <a:p>
            <a:pPr algn="l"/>
            <a:r>
              <a:rPr lang="en-US" dirty="0"/>
              <a:t>D</a:t>
            </a:r>
            <a:r>
              <a:rPr lang="en-US"/>
              <a:t>istance </a:t>
            </a:r>
            <a:r>
              <a:rPr lang="en-US" dirty="0"/>
              <a:t>between instructions and resource contentions</a:t>
            </a:r>
            <a:endParaRPr lang="en-IN" dirty="0"/>
          </a:p>
          <a:p>
            <a:endParaRPr lang="en-IN" dirty="0"/>
          </a:p>
        </p:txBody>
      </p:sp>
    </p:spTree>
    <p:extLst>
      <p:ext uri="{BB962C8B-B14F-4D97-AF65-F5344CB8AC3E}">
        <p14:creationId xmlns:p14="http://schemas.microsoft.com/office/powerpoint/2010/main" val="3465230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38108-4C74-9DEC-98F4-AEC2BC0E12DC}"/>
              </a:ext>
            </a:extLst>
          </p:cNvPr>
          <p:cNvSpPr>
            <a:spLocks noGrp="1"/>
          </p:cNvSpPr>
          <p:nvPr>
            <p:ph type="title"/>
          </p:nvPr>
        </p:nvSpPr>
        <p:spPr/>
        <p:txBody>
          <a:bodyPr/>
          <a:lstStyle/>
          <a:p>
            <a:r>
              <a:rPr lang="en-US" dirty="0"/>
              <a:t>Example 1</a:t>
            </a:r>
            <a:endParaRPr lang="en-IN" dirty="0"/>
          </a:p>
        </p:txBody>
      </p:sp>
      <p:pic>
        <p:nvPicPr>
          <p:cNvPr id="4" name="Content Placeholder 3">
            <a:extLst>
              <a:ext uri="{FF2B5EF4-FFF2-40B4-BE49-F238E27FC236}">
                <a16:creationId xmlns:a16="http://schemas.microsoft.com/office/drawing/2014/main" id="{D5AF3B32-0CC9-4450-C6FA-D8E347B55E0A}"/>
              </a:ext>
            </a:extLst>
          </p:cNvPr>
          <p:cNvPicPr>
            <a:picLocks noGrp="1" noChangeAspect="1"/>
          </p:cNvPicPr>
          <p:nvPr>
            <p:ph idx="1"/>
          </p:nvPr>
        </p:nvPicPr>
        <p:blipFill>
          <a:blip r:embed="rId2"/>
          <a:stretch>
            <a:fillRect/>
          </a:stretch>
        </p:blipFill>
        <p:spPr>
          <a:xfrm>
            <a:off x="1311965" y="1325563"/>
            <a:ext cx="8762591" cy="5259387"/>
          </a:xfrm>
          <a:prstGeom prst="rect">
            <a:avLst/>
          </a:prstGeom>
        </p:spPr>
      </p:pic>
    </p:spTree>
    <p:extLst>
      <p:ext uri="{BB962C8B-B14F-4D97-AF65-F5344CB8AC3E}">
        <p14:creationId xmlns:p14="http://schemas.microsoft.com/office/powerpoint/2010/main" val="3591027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12B13-5B1F-BE31-96CC-9D0455DBA693}"/>
              </a:ext>
            </a:extLst>
          </p:cNvPr>
          <p:cNvSpPr>
            <a:spLocks noGrp="1"/>
          </p:cNvSpPr>
          <p:nvPr>
            <p:ph type="title"/>
          </p:nvPr>
        </p:nvSpPr>
        <p:spPr/>
        <p:txBody>
          <a:bodyPr/>
          <a:lstStyle/>
          <a:p>
            <a:r>
              <a:rPr lang="en-US" dirty="0"/>
              <a:t>Example 2</a:t>
            </a:r>
            <a:endParaRPr lang="en-IN" dirty="0"/>
          </a:p>
        </p:txBody>
      </p:sp>
      <p:pic>
        <p:nvPicPr>
          <p:cNvPr id="4" name="Content Placeholder 3">
            <a:extLst>
              <a:ext uri="{FF2B5EF4-FFF2-40B4-BE49-F238E27FC236}">
                <a16:creationId xmlns:a16="http://schemas.microsoft.com/office/drawing/2014/main" id="{E6A67795-F287-8001-A5C1-22CE8CA7A23B}"/>
              </a:ext>
            </a:extLst>
          </p:cNvPr>
          <p:cNvPicPr>
            <a:picLocks noGrp="1" noChangeAspect="1"/>
          </p:cNvPicPr>
          <p:nvPr>
            <p:ph idx="1"/>
          </p:nvPr>
        </p:nvPicPr>
        <p:blipFill>
          <a:blip r:embed="rId2"/>
          <a:stretch>
            <a:fillRect/>
          </a:stretch>
        </p:blipFill>
        <p:spPr>
          <a:xfrm>
            <a:off x="2082311" y="1447800"/>
            <a:ext cx="8024204" cy="4908550"/>
          </a:xfrm>
          <a:prstGeom prst="rect">
            <a:avLst/>
          </a:prstGeom>
        </p:spPr>
      </p:pic>
    </p:spTree>
    <p:extLst>
      <p:ext uri="{BB962C8B-B14F-4D97-AF65-F5344CB8AC3E}">
        <p14:creationId xmlns:p14="http://schemas.microsoft.com/office/powerpoint/2010/main" val="3968088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35699-C804-2A58-8905-DF22960A1C26}"/>
              </a:ext>
            </a:extLst>
          </p:cNvPr>
          <p:cNvSpPr>
            <a:spLocks noGrp="1"/>
          </p:cNvSpPr>
          <p:nvPr>
            <p:ph type="title"/>
          </p:nvPr>
        </p:nvSpPr>
        <p:spPr/>
        <p:txBody>
          <a:bodyPr/>
          <a:lstStyle/>
          <a:p>
            <a:r>
              <a:rPr lang="en-US" dirty="0"/>
              <a:t>Example 2</a:t>
            </a:r>
            <a:endParaRPr lang="en-IN" dirty="0"/>
          </a:p>
        </p:txBody>
      </p:sp>
      <p:sp>
        <p:nvSpPr>
          <p:cNvPr id="3" name="Content Placeholder 2">
            <a:extLst>
              <a:ext uri="{FF2B5EF4-FFF2-40B4-BE49-F238E27FC236}">
                <a16:creationId xmlns:a16="http://schemas.microsoft.com/office/drawing/2014/main" id="{DC178C26-740A-B1BE-AB56-0AEFDB2251A6}"/>
              </a:ext>
            </a:extLst>
          </p:cNvPr>
          <p:cNvSpPr>
            <a:spLocks noGrp="1"/>
          </p:cNvSpPr>
          <p:nvPr>
            <p:ph idx="1"/>
          </p:nvPr>
        </p:nvSpPr>
        <p:spPr/>
        <p:txBody>
          <a:bodyPr>
            <a:normAutofit lnSpcReduction="10000"/>
          </a:bodyPr>
          <a:lstStyle/>
          <a:p>
            <a:pPr algn="l"/>
            <a:r>
              <a:rPr lang="en-US" sz="4000" b="0" i="0" u="none" strike="noStrike" baseline="0" dirty="0">
                <a:latin typeface="Arabic Typesetting" panose="03020402040406030203" pitchFamily="66" charset="-78"/>
                <a:cs typeface="Arabic Typesetting" panose="03020402040406030203" pitchFamily="66" charset="-78"/>
              </a:rPr>
              <a:t>Number of tokens present on an arc indicates the </a:t>
            </a:r>
            <a:r>
              <a:rPr lang="en-IN" sz="4000" b="0" i="0" u="none" strike="noStrike" baseline="0" dirty="0">
                <a:latin typeface="Arabic Typesetting" panose="03020402040406030203" pitchFamily="66" charset="-78"/>
                <a:cs typeface="Arabic Typesetting" panose="03020402040406030203" pitchFamily="66" charset="-78"/>
              </a:rPr>
              <a:t>dependence distance</a:t>
            </a:r>
          </a:p>
          <a:p>
            <a:pPr algn="l"/>
            <a:r>
              <a:rPr lang="en-US" sz="4000" b="0" i="0" u="none" strike="noStrike" baseline="0" dirty="0">
                <a:latin typeface="Arabic Typesetting" panose="03020402040406030203" pitchFamily="66" charset="-78"/>
                <a:cs typeface="Arabic Typesetting" panose="03020402040406030203" pitchFamily="66" charset="-78"/>
              </a:rPr>
              <a:t>Assume that the possible dependence from i2 to i0 can be </a:t>
            </a:r>
            <a:r>
              <a:rPr lang="en-IN" sz="4000" b="0" i="0" u="none" strike="noStrike" baseline="0" dirty="0">
                <a:latin typeface="Arabic Typesetting" panose="03020402040406030203" pitchFamily="66" charset="-78"/>
                <a:cs typeface="Arabic Typesetting" panose="03020402040406030203" pitchFamily="66" charset="-78"/>
              </a:rPr>
              <a:t>disambiguated</a:t>
            </a:r>
          </a:p>
          <a:p>
            <a:pPr algn="l"/>
            <a:r>
              <a:rPr lang="en-IN" sz="4000" b="0" i="0" u="none" strike="noStrike" baseline="0" dirty="0">
                <a:latin typeface="Arabic Typesetting" panose="03020402040406030203" pitchFamily="66" charset="-78"/>
                <a:cs typeface="Arabic Typesetting" panose="03020402040406030203" pitchFamily="66" charset="-78"/>
              </a:rPr>
              <a:t>Assume 2 INT units (latency 1 cycle), 2 FP units (latency 2 </a:t>
            </a:r>
            <a:r>
              <a:rPr lang="en-US" sz="4000" b="0" i="0" u="none" strike="noStrike" baseline="0" dirty="0">
                <a:latin typeface="Arabic Typesetting" panose="03020402040406030203" pitchFamily="66" charset="-78"/>
                <a:cs typeface="Arabic Typesetting" panose="03020402040406030203" pitchFamily="66" charset="-78"/>
              </a:rPr>
              <a:t>cycles), and 1 LD/STR unit (latency 2 cycles/1 cycle)</a:t>
            </a:r>
          </a:p>
          <a:p>
            <a:pPr algn="l"/>
            <a:r>
              <a:rPr lang="en-US" sz="4000" b="0" i="0" u="none" strike="noStrike" baseline="0" dirty="0">
                <a:latin typeface="Arabic Typesetting" panose="03020402040406030203" pitchFamily="66" charset="-78"/>
                <a:cs typeface="Arabic Typesetting" panose="03020402040406030203" pitchFamily="66" charset="-78"/>
              </a:rPr>
              <a:t>Branch can be executed by INT units</a:t>
            </a:r>
          </a:p>
          <a:p>
            <a:pPr algn="l"/>
            <a:r>
              <a:rPr lang="en-US" sz="4000" b="0" i="0" u="none" strike="noStrike" baseline="0" dirty="0">
                <a:latin typeface="Arabic Typesetting" panose="03020402040406030203" pitchFamily="66" charset="-78"/>
                <a:cs typeface="Arabic Typesetting" panose="03020402040406030203" pitchFamily="66" charset="-78"/>
              </a:rPr>
              <a:t>Acyclic schedule takes 5 cycles </a:t>
            </a:r>
          </a:p>
          <a:p>
            <a:pPr algn="l"/>
            <a:r>
              <a:rPr lang="en-US" sz="4000" b="0" i="0" u="none" strike="noStrike" baseline="0" dirty="0">
                <a:latin typeface="Arabic Typesetting" panose="03020402040406030203" pitchFamily="66" charset="-78"/>
                <a:cs typeface="Arabic Typesetting" panose="03020402040406030203" pitchFamily="66" charset="-78"/>
              </a:rPr>
              <a:t>Corresponds to an initiation rate of 1/5 iteration per cycle</a:t>
            </a:r>
          </a:p>
          <a:p>
            <a:pPr algn="l"/>
            <a:r>
              <a:rPr lang="en-US" sz="4000" b="0" i="0" u="none" strike="noStrike" baseline="0" dirty="0">
                <a:latin typeface="Arabic Typesetting" panose="03020402040406030203" pitchFamily="66" charset="-78"/>
                <a:cs typeface="Arabic Typesetting" panose="03020402040406030203" pitchFamily="66" charset="-78"/>
              </a:rPr>
              <a:t>Cyclic schedule takes 2 cycles </a:t>
            </a:r>
            <a:endParaRPr lang="en-IN" sz="5400" dirty="0">
              <a:latin typeface="Arabic Typesetting" panose="03020402040406030203" pitchFamily="66" charset="-78"/>
              <a:cs typeface="Arabic Typesetting" panose="03020402040406030203" pitchFamily="66" charset="-78"/>
            </a:endParaRPr>
          </a:p>
        </p:txBody>
      </p:sp>
    </p:spTree>
    <p:extLst>
      <p:ext uri="{BB962C8B-B14F-4D97-AF65-F5344CB8AC3E}">
        <p14:creationId xmlns:p14="http://schemas.microsoft.com/office/powerpoint/2010/main" val="8866338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5537-2FCC-76BB-3A58-0846C3933CD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B6045EC-8095-DF42-F09E-4C10752BCA27}"/>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7239AADF-F8BC-B974-ECCD-9004BD5CF453}"/>
              </a:ext>
            </a:extLst>
          </p:cNvPr>
          <p:cNvPicPr>
            <a:picLocks noChangeAspect="1"/>
          </p:cNvPicPr>
          <p:nvPr/>
        </p:nvPicPr>
        <p:blipFill>
          <a:blip r:embed="rId2"/>
          <a:stretch>
            <a:fillRect/>
          </a:stretch>
        </p:blipFill>
        <p:spPr>
          <a:xfrm>
            <a:off x="1806352" y="0"/>
            <a:ext cx="8579295" cy="6858000"/>
          </a:xfrm>
          <a:prstGeom prst="rect">
            <a:avLst/>
          </a:prstGeom>
        </p:spPr>
      </p:pic>
    </p:spTree>
    <p:extLst>
      <p:ext uri="{BB962C8B-B14F-4D97-AF65-F5344CB8AC3E}">
        <p14:creationId xmlns:p14="http://schemas.microsoft.com/office/powerpoint/2010/main" val="7162600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6823D-1B21-8FBD-CDB0-138EFF562A45}"/>
              </a:ext>
            </a:extLst>
          </p:cNvPr>
          <p:cNvSpPr>
            <a:spLocks noGrp="1"/>
          </p:cNvSpPr>
          <p:nvPr>
            <p:ph type="title"/>
          </p:nvPr>
        </p:nvSpPr>
        <p:spPr/>
        <p:txBody>
          <a:bodyPr/>
          <a:lstStyle/>
          <a:p>
            <a:r>
              <a:rPr lang="en-US" dirty="0"/>
              <a:t>Module Wise Mark Split-up for FAT</a:t>
            </a:r>
            <a:endParaRPr lang="en-IN" dirty="0"/>
          </a:p>
        </p:txBody>
      </p:sp>
      <p:sp>
        <p:nvSpPr>
          <p:cNvPr id="3" name="Content Placeholder 2">
            <a:extLst>
              <a:ext uri="{FF2B5EF4-FFF2-40B4-BE49-F238E27FC236}">
                <a16:creationId xmlns:a16="http://schemas.microsoft.com/office/drawing/2014/main" id="{396ABD05-FA3C-EC3C-1B8B-0F47402AD824}"/>
              </a:ext>
            </a:extLst>
          </p:cNvPr>
          <p:cNvSpPr>
            <a:spLocks noGrp="1"/>
          </p:cNvSpPr>
          <p:nvPr>
            <p:ph idx="1"/>
          </p:nvPr>
        </p:nvSpPr>
        <p:spPr/>
        <p:txBody>
          <a:bodyPr/>
          <a:lstStyle/>
          <a:p>
            <a:r>
              <a:rPr lang="en-US" dirty="0"/>
              <a:t>Module </a:t>
            </a:r>
            <a:r>
              <a:rPr lang="en-US"/>
              <a:t>1 :Marks</a:t>
            </a:r>
            <a:endParaRPr lang="en-US" dirty="0"/>
          </a:p>
          <a:p>
            <a:r>
              <a:rPr lang="en-US" dirty="0"/>
              <a:t>Module 2: Marks</a:t>
            </a:r>
          </a:p>
          <a:p>
            <a:r>
              <a:rPr lang="en-US" dirty="0"/>
              <a:t>Module 3: Marks</a:t>
            </a:r>
          </a:p>
          <a:p>
            <a:r>
              <a:rPr lang="en-US" dirty="0"/>
              <a:t>Module 4: Marks</a:t>
            </a:r>
          </a:p>
          <a:p>
            <a:r>
              <a:rPr lang="en-US" dirty="0"/>
              <a:t>Module 5: Marks</a:t>
            </a:r>
          </a:p>
          <a:p>
            <a:r>
              <a:rPr lang="en-US" dirty="0"/>
              <a:t>Module 6: Marks</a:t>
            </a:r>
          </a:p>
          <a:p>
            <a:r>
              <a:rPr lang="en-US" dirty="0"/>
              <a:t>Module 7: Marks</a:t>
            </a:r>
            <a:endParaRPr lang="en-IN" dirty="0"/>
          </a:p>
        </p:txBody>
      </p:sp>
    </p:spTree>
    <p:extLst>
      <p:ext uri="{BB962C8B-B14F-4D97-AF65-F5344CB8AC3E}">
        <p14:creationId xmlns:p14="http://schemas.microsoft.com/office/powerpoint/2010/main" val="1815076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27132</TotalTime>
  <Words>3795</Words>
  <Application>Microsoft Office PowerPoint</Application>
  <PresentationFormat>Widescreen</PresentationFormat>
  <Paragraphs>376</Paragraphs>
  <Slides>51</Slides>
  <Notes>1</Notes>
  <HiddenSlides>6</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Arabic Typesetting</vt:lpstr>
      <vt:lpstr>Arial</vt:lpstr>
      <vt:lpstr>Calibri</vt:lpstr>
      <vt:lpstr>Google Sans</vt:lpstr>
      <vt:lpstr>Palatino Linotype</vt:lpstr>
      <vt:lpstr>Times New Roman</vt:lpstr>
      <vt:lpstr>Wingdings</vt:lpstr>
      <vt:lpstr>Office Theme</vt:lpstr>
      <vt:lpstr>PowerPoint Presentation</vt:lpstr>
      <vt:lpstr>Parallelization</vt:lpstr>
      <vt:lpstr>Cont…</vt:lpstr>
      <vt:lpstr>Automatic Parallelization</vt:lpstr>
      <vt:lpstr>Example 1</vt:lpstr>
      <vt:lpstr>Example 2 </vt:lpstr>
      <vt:lpstr>Example 3</vt:lpstr>
      <vt:lpstr>Transformations before Dependence Analysis</vt:lpstr>
      <vt:lpstr>1. Loop Normalization </vt:lpstr>
      <vt:lpstr>2. Induction Variable Substitution </vt:lpstr>
      <vt:lpstr>3. Expression Folding and Forward Substitution </vt:lpstr>
      <vt:lpstr>Vector Code Generation</vt:lpstr>
      <vt:lpstr>Data Dependence relations</vt:lpstr>
      <vt:lpstr>Data Dependence Direction Vector</vt:lpstr>
      <vt:lpstr>Data Dependence Graph (DDG) and Vectorization</vt:lpstr>
      <vt:lpstr>Data Dependence Graph and Vectorization</vt:lpstr>
      <vt:lpstr>Vectorization Example 1</vt:lpstr>
      <vt:lpstr>Example 2</vt:lpstr>
      <vt:lpstr>Cont..</vt:lpstr>
      <vt:lpstr>Instruction Scheduling</vt:lpstr>
      <vt:lpstr>Sensitivity to Instruction Order</vt:lpstr>
      <vt:lpstr>Overlapping Instructions</vt:lpstr>
      <vt:lpstr>Instruction Scheduling</vt:lpstr>
      <vt:lpstr>Instruction Scheduling Example</vt:lpstr>
      <vt:lpstr>Instruction Scheduling Example</vt:lpstr>
      <vt:lpstr>Dependence Graph construction</vt:lpstr>
      <vt:lpstr>Example of a Dependence Graph</vt:lpstr>
      <vt:lpstr>Instruction Scheduling</vt:lpstr>
      <vt:lpstr>Cont…</vt:lpstr>
      <vt:lpstr>Cont…</vt:lpstr>
      <vt:lpstr>Limitations in Scheduling</vt:lpstr>
      <vt:lpstr>Challenges in Scheduling </vt:lpstr>
      <vt:lpstr>List Scheduling</vt:lpstr>
      <vt:lpstr>Steps in List Scheduling</vt:lpstr>
      <vt:lpstr>Steps in List Scheduling – cont…</vt:lpstr>
      <vt:lpstr>Approach</vt:lpstr>
      <vt:lpstr>Example</vt:lpstr>
      <vt:lpstr>Cont…</vt:lpstr>
      <vt:lpstr>Software pipelining</vt:lpstr>
      <vt:lpstr>Introduction to Software Pipelining</vt:lpstr>
      <vt:lpstr>Unrolling loops </vt:lpstr>
      <vt:lpstr>Unrolling loops</vt:lpstr>
      <vt:lpstr>Three Stages </vt:lpstr>
      <vt:lpstr>PowerPoint Presentation</vt:lpstr>
      <vt:lpstr>Approaches to Software Pipelining</vt:lpstr>
      <vt:lpstr>Modulo Reservation Tables (MRT) </vt:lpstr>
      <vt:lpstr>Example 1</vt:lpstr>
      <vt:lpstr>Example 2</vt:lpstr>
      <vt:lpstr>Example 2</vt:lpstr>
      <vt:lpstr>PowerPoint Presentation</vt:lpstr>
      <vt:lpstr>Module Wise Mark Split-up for FAT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Mathematical Logic And Algebraic Structures</dc:title>
  <dc:creator>SKS</dc:creator>
  <cp:lastModifiedBy>Arumuga Arun R</cp:lastModifiedBy>
  <cp:revision>799</cp:revision>
  <dcterms:created xsi:type="dcterms:W3CDTF">2020-07-30T09:53:05Z</dcterms:created>
  <dcterms:modified xsi:type="dcterms:W3CDTF">2024-11-20T03:07:53Z</dcterms:modified>
</cp:coreProperties>
</file>