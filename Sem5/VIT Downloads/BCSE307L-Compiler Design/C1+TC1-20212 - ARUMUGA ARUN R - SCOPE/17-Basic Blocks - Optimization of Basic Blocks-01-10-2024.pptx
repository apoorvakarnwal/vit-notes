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84" r:id="rId2"/>
    <p:sldId id="319" r:id="rId3"/>
    <p:sldId id="299" r:id="rId4"/>
    <p:sldId id="384" r:id="rId5"/>
    <p:sldId id="300" r:id="rId6"/>
    <p:sldId id="301" r:id="rId7"/>
    <p:sldId id="302" r:id="rId8"/>
    <p:sldId id="303" r:id="rId9"/>
    <p:sldId id="304" r:id="rId10"/>
    <p:sldId id="382" r:id="rId11"/>
    <p:sldId id="360" r:id="rId12"/>
    <p:sldId id="361" r:id="rId13"/>
    <p:sldId id="362" r:id="rId14"/>
    <p:sldId id="416" r:id="rId15"/>
    <p:sldId id="417" r:id="rId16"/>
    <p:sldId id="418" r:id="rId17"/>
    <p:sldId id="419" r:id="rId18"/>
    <p:sldId id="383" r:id="rId19"/>
    <p:sldId id="364" r:id="rId20"/>
    <p:sldId id="365" r:id="rId21"/>
    <p:sldId id="366" r:id="rId22"/>
    <p:sldId id="367" r:id="rId23"/>
    <p:sldId id="368" r:id="rId24"/>
    <p:sldId id="369" r:id="rId25"/>
    <p:sldId id="372" r:id="rId26"/>
    <p:sldId id="370" r:id="rId27"/>
    <p:sldId id="371" r:id="rId28"/>
    <p:sldId id="373" r:id="rId29"/>
    <p:sldId id="37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9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23-11-2024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18" Type="http://schemas.openxmlformats.org/officeDocument/2006/relationships/image" Target="../media/image390.png"/><Relationship Id="rId26" Type="http://schemas.openxmlformats.org/officeDocument/2006/relationships/image" Target="../media/image47.png"/><Relationship Id="rId3" Type="http://schemas.openxmlformats.org/officeDocument/2006/relationships/image" Target="../media/image240.png"/><Relationship Id="rId21" Type="http://schemas.openxmlformats.org/officeDocument/2006/relationships/image" Target="../media/image42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7" Type="http://schemas.openxmlformats.org/officeDocument/2006/relationships/image" Target="../media/image380.png"/><Relationship Id="rId25" Type="http://schemas.openxmlformats.org/officeDocument/2006/relationships/image" Target="../media/image46.png"/><Relationship Id="rId2" Type="http://schemas.openxmlformats.org/officeDocument/2006/relationships/image" Target="../media/image230.png"/><Relationship Id="rId16" Type="http://schemas.openxmlformats.org/officeDocument/2006/relationships/image" Target="../media/image370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24" Type="http://schemas.openxmlformats.org/officeDocument/2006/relationships/image" Target="../media/image45.png"/><Relationship Id="rId5" Type="http://schemas.openxmlformats.org/officeDocument/2006/relationships/image" Target="../media/image260.png"/><Relationship Id="rId15" Type="http://schemas.openxmlformats.org/officeDocument/2006/relationships/image" Target="../media/image360.png"/><Relationship Id="rId23" Type="http://schemas.openxmlformats.org/officeDocument/2006/relationships/image" Target="../media/image44.png"/><Relationship Id="rId10" Type="http://schemas.openxmlformats.org/officeDocument/2006/relationships/image" Target="../media/image310.png"/><Relationship Id="rId19" Type="http://schemas.openxmlformats.org/officeDocument/2006/relationships/image" Target="../media/image40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350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26" Type="http://schemas.openxmlformats.org/officeDocument/2006/relationships/image" Target="../media/image73.png"/><Relationship Id="rId3" Type="http://schemas.openxmlformats.org/officeDocument/2006/relationships/image" Target="../media/image50.png"/><Relationship Id="rId21" Type="http://schemas.openxmlformats.org/officeDocument/2006/relationships/image" Target="../media/image68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5" Type="http://schemas.openxmlformats.org/officeDocument/2006/relationships/image" Target="../media/image72.pn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24" Type="http://schemas.openxmlformats.org/officeDocument/2006/relationships/image" Target="../media/image71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23" Type="http://schemas.openxmlformats.org/officeDocument/2006/relationships/image" Target="../media/image70.png"/><Relationship Id="rId10" Type="http://schemas.openxmlformats.org/officeDocument/2006/relationships/image" Target="../media/image57.png"/><Relationship Id="rId19" Type="http://schemas.openxmlformats.org/officeDocument/2006/relationships/image" Target="../media/image66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Relationship Id="rId22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18" Type="http://schemas.openxmlformats.org/officeDocument/2006/relationships/image" Target="../media/image78.png"/><Relationship Id="rId26" Type="http://schemas.openxmlformats.org/officeDocument/2006/relationships/image" Target="../media/image84.png"/><Relationship Id="rId3" Type="http://schemas.openxmlformats.org/officeDocument/2006/relationships/image" Target="../media/image240.png"/><Relationship Id="rId21" Type="http://schemas.openxmlformats.org/officeDocument/2006/relationships/image" Target="../media/image81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7" Type="http://schemas.openxmlformats.org/officeDocument/2006/relationships/image" Target="../media/image77.png"/><Relationship Id="rId25" Type="http://schemas.openxmlformats.org/officeDocument/2006/relationships/image" Target="../media/image83.png"/><Relationship Id="rId2" Type="http://schemas.openxmlformats.org/officeDocument/2006/relationships/image" Target="../media/image230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24" Type="http://schemas.openxmlformats.org/officeDocument/2006/relationships/image" Target="../media/image45.png"/><Relationship Id="rId5" Type="http://schemas.openxmlformats.org/officeDocument/2006/relationships/image" Target="../media/image260.png"/><Relationship Id="rId15" Type="http://schemas.openxmlformats.org/officeDocument/2006/relationships/image" Target="../media/image75.png"/><Relationship Id="rId23" Type="http://schemas.openxmlformats.org/officeDocument/2006/relationships/image" Target="../media/image44.png"/><Relationship Id="rId10" Type="http://schemas.openxmlformats.org/officeDocument/2006/relationships/image" Target="../media/image310.png"/><Relationship Id="rId19" Type="http://schemas.openxmlformats.org/officeDocument/2006/relationships/image" Target="../media/image79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18" Type="http://schemas.openxmlformats.org/officeDocument/2006/relationships/image" Target="../media/image78.png"/><Relationship Id="rId3" Type="http://schemas.openxmlformats.org/officeDocument/2006/relationships/image" Target="../media/image240.png"/><Relationship Id="rId21" Type="http://schemas.openxmlformats.org/officeDocument/2006/relationships/image" Target="../media/image81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2" Type="http://schemas.openxmlformats.org/officeDocument/2006/relationships/image" Target="../media/image230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24" Type="http://schemas.openxmlformats.org/officeDocument/2006/relationships/image" Target="../media/image45.png"/><Relationship Id="rId5" Type="http://schemas.openxmlformats.org/officeDocument/2006/relationships/image" Target="../media/image260.png"/><Relationship Id="rId15" Type="http://schemas.openxmlformats.org/officeDocument/2006/relationships/image" Target="../media/image75.png"/><Relationship Id="rId23" Type="http://schemas.openxmlformats.org/officeDocument/2006/relationships/image" Target="../media/image44.png"/><Relationship Id="rId10" Type="http://schemas.openxmlformats.org/officeDocument/2006/relationships/image" Target="../media/image310.png"/><Relationship Id="rId19" Type="http://schemas.openxmlformats.org/officeDocument/2006/relationships/image" Target="../media/image79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13" Type="http://schemas.openxmlformats.org/officeDocument/2006/relationships/image" Target="../media/image340.png"/><Relationship Id="rId18" Type="http://schemas.openxmlformats.org/officeDocument/2006/relationships/image" Target="../media/image78.png"/><Relationship Id="rId3" Type="http://schemas.openxmlformats.org/officeDocument/2006/relationships/image" Target="../media/image240.png"/><Relationship Id="rId21" Type="http://schemas.openxmlformats.org/officeDocument/2006/relationships/image" Target="../media/image81.png"/><Relationship Id="rId7" Type="http://schemas.openxmlformats.org/officeDocument/2006/relationships/image" Target="../media/image280.png"/><Relationship Id="rId12" Type="http://schemas.openxmlformats.org/officeDocument/2006/relationships/image" Target="../media/image330.png"/><Relationship Id="rId17" Type="http://schemas.openxmlformats.org/officeDocument/2006/relationships/image" Target="../media/image77.png"/><Relationship Id="rId2" Type="http://schemas.openxmlformats.org/officeDocument/2006/relationships/image" Target="../media/image230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0.png"/><Relationship Id="rId11" Type="http://schemas.openxmlformats.org/officeDocument/2006/relationships/image" Target="../media/image320.png"/><Relationship Id="rId5" Type="http://schemas.openxmlformats.org/officeDocument/2006/relationships/image" Target="../media/image260.png"/><Relationship Id="rId15" Type="http://schemas.openxmlformats.org/officeDocument/2006/relationships/image" Target="../media/image75.png"/><Relationship Id="rId10" Type="http://schemas.openxmlformats.org/officeDocument/2006/relationships/image" Target="../media/image310.png"/><Relationship Id="rId19" Type="http://schemas.openxmlformats.org/officeDocument/2006/relationships/image" Target="../media/image79.png"/><Relationship Id="rId4" Type="http://schemas.openxmlformats.org/officeDocument/2006/relationships/image" Target="../media/image250.png"/><Relationship Id="rId9" Type="http://schemas.openxmlformats.org/officeDocument/2006/relationships/image" Target="../media/image300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image" Target="../media/image87.png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354485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5 – Code Optimization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7B4773-E354-901B-FEDE-F17DDD5F1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681EDADC-C009-F8C0-72E2-E2260370255E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1026" name="Picture 2" descr="Code Optimization - RS VISION SOFTWARE PRIVATE LIMITED">
            <a:extLst>
              <a:ext uri="{FF2B5EF4-FFF2-40B4-BE49-F238E27FC236}">
                <a16:creationId xmlns:a16="http://schemas.microsoft.com/office/drawing/2014/main" id="{AE18FE47-F6E5-9A3A-33F9-825B40B7C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7" r="7557"/>
          <a:stretch/>
        </p:blipFill>
        <p:spPr bwMode="auto">
          <a:xfrm>
            <a:off x="7292311" y="3947886"/>
            <a:ext cx="4206257" cy="24743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615F-C9C9-AF99-86D4-5D5D25F54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 in Flow Graphs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8898D-860A-9A0E-527A-C9313F5099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77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1342-6C89-E508-0FA5-A9A5EAACA28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Dominators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00A7-790A-FBDD-306F-952971253E0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a flow graph, a </a:t>
            </a:r>
            <a:r>
              <a:rPr lang="en-US" dirty="0">
                <a:solidFill>
                  <a:srgbClr val="C00000"/>
                </a:solidFill>
              </a:rPr>
              <a:t>node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‘d’ </a:t>
            </a:r>
            <a:r>
              <a:rPr lang="en-US" dirty="0"/>
              <a:t>is said to be </a:t>
            </a:r>
            <a:r>
              <a:rPr lang="en-US" dirty="0">
                <a:solidFill>
                  <a:srgbClr val="C00000"/>
                </a:solidFill>
              </a:rPr>
              <a:t>dominates node ‘n’ </a:t>
            </a:r>
            <a:r>
              <a:rPr lang="en-US" dirty="0"/>
              <a:t>if every path to node n from initial node </a:t>
            </a:r>
            <a:r>
              <a:rPr lang="en-US" dirty="0">
                <a:solidFill>
                  <a:srgbClr val="C00000"/>
                </a:solidFill>
              </a:rPr>
              <a:t>goes through d only</a:t>
            </a:r>
            <a:r>
              <a:rPr lang="en-US" dirty="0"/>
              <a:t>. </a:t>
            </a:r>
          </a:p>
          <a:p>
            <a:r>
              <a:rPr lang="en-US" dirty="0"/>
              <a:t>This can be denoted as ’d </a:t>
            </a:r>
            <a:r>
              <a:rPr lang="en-US" dirty="0" err="1"/>
              <a:t>dom</a:t>
            </a:r>
            <a:r>
              <a:rPr lang="en-US" dirty="0"/>
              <a:t> n'. </a:t>
            </a:r>
          </a:p>
          <a:p>
            <a:r>
              <a:rPr lang="en-US" dirty="0"/>
              <a:t>Every initial node dominates all the remaining nodes in the flow graph. </a:t>
            </a:r>
          </a:p>
          <a:p>
            <a:r>
              <a:rPr lang="en-US" dirty="0"/>
              <a:t>Every node dominates itself.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Node 1 is initial node and it dominates every node as it is initial node.</a:t>
            </a:r>
          </a:p>
          <a:p>
            <a:r>
              <a:rPr lang="en-US" dirty="0"/>
              <a:t>Node 2 dominates 3, 4 and 5.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5F1086C-DB74-9160-CC4A-E112B376C0F8}"/>
              </a:ext>
            </a:extLst>
          </p:cNvPr>
          <p:cNvSpPr/>
          <p:nvPr/>
        </p:nvSpPr>
        <p:spPr>
          <a:xfrm>
            <a:off x="5586200" y="3078053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9B8EEE-FB95-EEA6-849B-21F82792A80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5982015" y="4326921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7681639-9892-3E93-3302-7BCF2BAC77E2}"/>
              </a:ext>
            </a:extLst>
          </p:cNvPr>
          <p:cNvSpPr/>
          <p:nvPr/>
        </p:nvSpPr>
        <p:spPr>
          <a:xfrm>
            <a:off x="5603965" y="393667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DA5C67-0E0A-0612-0477-A2E1A2F4568F}"/>
              </a:ext>
            </a:extLst>
          </p:cNvPr>
          <p:cNvSpPr/>
          <p:nvPr/>
        </p:nvSpPr>
        <p:spPr>
          <a:xfrm>
            <a:off x="5618252" y="519397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BE62D0-2D28-B24E-28DB-38C9225C5946}"/>
              </a:ext>
            </a:extLst>
          </p:cNvPr>
          <p:cNvSpPr/>
          <p:nvPr/>
        </p:nvSpPr>
        <p:spPr>
          <a:xfrm>
            <a:off x="6289765" y="456532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195329-5BC5-4916-1F6E-249D2081BB2B}"/>
              </a:ext>
            </a:extLst>
          </p:cNvPr>
          <p:cNvSpPr/>
          <p:nvPr/>
        </p:nvSpPr>
        <p:spPr>
          <a:xfrm>
            <a:off x="4918165" y="456532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D2AF88-7AB9-BA47-39EF-46EDA1CF4A6E}"/>
              </a:ext>
            </a:extLst>
          </p:cNvPr>
          <p:cNvCxnSpPr/>
          <p:nvPr/>
        </p:nvCxnSpPr>
        <p:spPr>
          <a:xfrm>
            <a:off x="5311641" y="4955571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538D157-3054-62BD-0F99-4FACE3457DA3}"/>
              </a:ext>
            </a:extLst>
          </p:cNvPr>
          <p:cNvCxnSpPr>
            <a:stCxn id="6" idx="3"/>
            <a:endCxn id="9" idx="7"/>
          </p:cNvCxnSpPr>
          <p:nvPr/>
        </p:nvCxnSpPr>
        <p:spPr>
          <a:xfrm flipH="1">
            <a:off x="5296215" y="4326921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D8709DD-6E87-F941-CE44-83FEA3308B3F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5996302" y="4955571"/>
            <a:ext cx="358326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A3DEF6-F3DA-0F44-11BA-97FE5FB46D0B}"/>
              </a:ext>
            </a:extLst>
          </p:cNvPr>
          <p:cNvCxnSpPr>
            <a:endCxn id="6" idx="0"/>
          </p:cNvCxnSpPr>
          <p:nvPr/>
        </p:nvCxnSpPr>
        <p:spPr>
          <a:xfrm>
            <a:off x="5825421" y="3545058"/>
            <a:ext cx="1" cy="391618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C752A787-666C-E690-313B-E2F33E5FB761}"/>
              </a:ext>
            </a:extLst>
          </p:cNvPr>
          <p:cNvCxnSpPr/>
          <p:nvPr/>
        </p:nvCxnSpPr>
        <p:spPr>
          <a:xfrm flipH="1" flipV="1">
            <a:off x="6041301" y="4097354"/>
            <a:ext cx="36576" cy="1380744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5390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1342-6C89-E508-0FA5-A9A5EAACA28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Cont.,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A00A7-790A-FBDD-306F-952971253E0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A4F6D1-0BA9-8EB2-33AC-3836AB211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42" t="18482" r="20501" b="55986"/>
          <a:stretch/>
        </p:blipFill>
        <p:spPr>
          <a:xfrm>
            <a:off x="308809" y="863444"/>
            <a:ext cx="5616033" cy="4150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CD4760E-4226-C5E6-52BE-294DA9E42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629" t="55483" r="17734" b="16990"/>
          <a:stretch/>
        </p:blipFill>
        <p:spPr>
          <a:xfrm>
            <a:off x="6721700" y="2663516"/>
            <a:ext cx="5339120" cy="39427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E685F2-B11D-961E-CA4E-2D52C0C42C2D}"/>
              </a:ext>
            </a:extLst>
          </p:cNvPr>
          <p:cNvSpPr txBox="1"/>
          <p:nvPr/>
        </p:nvSpPr>
        <p:spPr>
          <a:xfrm>
            <a:off x="2252816" y="4858875"/>
            <a:ext cx="1728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u="none" strike="noStrike" baseline="0" dirty="0">
                <a:latin typeface="Times New Roman" panose="02020603050405020304" pitchFamily="18" charset="0"/>
              </a:rPr>
              <a:t>A </a:t>
            </a:r>
            <a:r>
              <a:rPr lang="en-IN" sz="1800" b="0" i="0" u="none" strike="noStrike" baseline="0" dirty="0">
                <a:latin typeface="Times New Roman" panose="02020603050405020304" pitchFamily="18" charset="0"/>
              </a:rPr>
              <a:t>flow graph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3C044-873F-D633-CD7A-1E1D0581F75E}"/>
              </a:ext>
            </a:extLst>
          </p:cNvPr>
          <p:cNvSpPr txBox="1"/>
          <p:nvPr/>
        </p:nvSpPr>
        <p:spPr>
          <a:xfrm>
            <a:off x="7760111" y="2294184"/>
            <a:ext cx="2022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u="none" strike="noStrike" baseline="0" dirty="0">
                <a:latin typeface="Times New Roman" panose="02020603050405020304" pitchFamily="18" charset="0"/>
              </a:rPr>
              <a:t>Dominator tree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44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3256D-140D-C5B7-046B-F6DFC7CFC8F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Natural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A0709-714D-A76D-0059-91113CAD6BF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There are two essential properties of natural loop: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A loop must have single entry point, called the header. This point dominates all nodes in the loop.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There must be a back edge that enters the loop header. There must be at least one way to iterate loop.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Given a back edge n + d, we define the natural loop of the edge to be d plus the set of nodes that can reach n without going through d.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000" dirty="0"/>
              <a:t>Node d is the header of the loop.</a:t>
            </a:r>
          </a:p>
          <a:p>
            <a:pPr marL="0" indent="0" defTabSz="396875"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</a:rPr>
              <a:t>6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1 is natural loop</a:t>
            </a:r>
            <a:r>
              <a:rPr lang="en-US" dirty="0">
                <a:sym typeface="Wingdings" panose="05000000000000000000" pitchFamily="2" charset="2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6DB1D0D-639F-C1B9-372A-6584AE918B5F}"/>
              </a:ext>
            </a:extLst>
          </p:cNvPr>
          <p:cNvSpPr/>
          <p:nvPr/>
        </p:nvSpPr>
        <p:spPr>
          <a:xfrm>
            <a:off x="7010400" y="3200400"/>
            <a:ext cx="457200" cy="457200"/>
          </a:xfrm>
          <a:prstGeom prst="ellipse">
            <a:avLst/>
          </a:prstGeom>
          <a:solidFill>
            <a:srgbClr val="C00000"/>
          </a:solidFill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27377A-F2DD-1FE1-4B66-251AB41874DB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7388450" y="4514290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952ABDD-3D34-409A-F472-FD807E4786BF}"/>
              </a:ext>
            </a:extLst>
          </p:cNvPr>
          <p:cNvSpPr/>
          <p:nvPr/>
        </p:nvSpPr>
        <p:spPr>
          <a:xfrm>
            <a:off x="7010400" y="4124045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DE5C38-D6C1-D722-6389-1E393E80512F}"/>
              </a:ext>
            </a:extLst>
          </p:cNvPr>
          <p:cNvSpPr/>
          <p:nvPr/>
        </p:nvSpPr>
        <p:spPr>
          <a:xfrm>
            <a:off x="7024687" y="5381345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0ABFAF-F004-7D3B-676A-96C69D451FA1}"/>
              </a:ext>
            </a:extLst>
          </p:cNvPr>
          <p:cNvSpPr/>
          <p:nvPr/>
        </p:nvSpPr>
        <p:spPr>
          <a:xfrm>
            <a:off x="7696200" y="4752695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5249987-F266-76EB-3EB2-B0F400661E30}"/>
              </a:ext>
            </a:extLst>
          </p:cNvPr>
          <p:cNvSpPr/>
          <p:nvPr/>
        </p:nvSpPr>
        <p:spPr>
          <a:xfrm>
            <a:off x="6324600" y="4752695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163F83-B423-7BAB-359C-557DB2697A55}"/>
              </a:ext>
            </a:extLst>
          </p:cNvPr>
          <p:cNvCxnSpPr>
            <a:stCxn id="9" idx="5"/>
            <a:endCxn id="7" idx="1"/>
          </p:cNvCxnSpPr>
          <p:nvPr/>
        </p:nvCxnSpPr>
        <p:spPr>
          <a:xfrm>
            <a:off x="6702650" y="5142940"/>
            <a:ext cx="386900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3D5C8E7-7403-758D-82A7-E03BEC2412C5}"/>
              </a:ext>
            </a:extLst>
          </p:cNvPr>
          <p:cNvCxnSpPr>
            <a:stCxn id="6" idx="3"/>
            <a:endCxn id="9" idx="7"/>
          </p:cNvCxnSpPr>
          <p:nvPr/>
        </p:nvCxnSpPr>
        <p:spPr>
          <a:xfrm flipH="1">
            <a:off x="6702650" y="4514290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889995D-934E-217A-6714-8AEE31D443D1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7402737" y="5142940"/>
            <a:ext cx="358326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000649-859E-20D2-4018-BECCAD868178}"/>
              </a:ext>
            </a:extLst>
          </p:cNvPr>
          <p:cNvCxnSpPr>
            <a:stCxn id="4" idx="4"/>
          </p:cNvCxnSpPr>
          <p:nvPr/>
        </p:nvCxnSpPr>
        <p:spPr>
          <a:xfrm flipH="1">
            <a:off x="7231857" y="3657600"/>
            <a:ext cx="7143" cy="480513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0BE7C411-4ACE-4F3B-202E-8A1608621022}"/>
              </a:ext>
            </a:extLst>
          </p:cNvPr>
          <p:cNvCxnSpPr/>
          <p:nvPr/>
        </p:nvCxnSpPr>
        <p:spPr>
          <a:xfrm flipH="1" flipV="1">
            <a:off x="7448235" y="3421674"/>
            <a:ext cx="36576" cy="3017520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C3B27BF-0551-3CBB-990B-EA1553BBFE8C}"/>
              </a:ext>
            </a:extLst>
          </p:cNvPr>
          <p:cNvSpPr/>
          <p:nvPr/>
        </p:nvSpPr>
        <p:spPr>
          <a:xfrm>
            <a:off x="7033318" y="6206947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CF37E5-D2B2-EF6A-9FBC-4DE70FDD3D2A}"/>
              </a:ext>
            </a:extLst>
          </p:cNvPr>
          <p:cNvCxnSpPr>
            <a:stCxn id="7" idx="4"/>
            <a:endCxn id="15" idx="0"/>
          </p:cNvCxnSpPr>
          <p:nvPr/>
        </p:nvCxnSpPr>
        <p:spPr>
          <a:xfrm>
            <a:off x="7246144" y="5838545"/>
            <a:ext cx="8631" cy="368402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2A73CCA-B0BD-2CD2-5D25-812168CEDE00}"/>
              </a:ext>
            </a:extLst>
          </p:cNvPr>
          <p:cNvSpPr/>
          <p:nvPr/>
        </p:nvSpPr>
        <p:spPr>
          <a:xfrm>
            <a:off x="6096000" y="3276740"/>
            <a:ext cx="914400" cy="3045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</a:rPr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38938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15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61854-3D74-D204-9B8B-8110B6C1DCD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Inner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ECF3-D55F-4DCC-ECE9-6697C134C0B8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inner loop is a loop that contains no other loop.</a:t>
            </a:r>
          </a:p>
          <a:p>
            <a:r>
              <a:rPr lang="en-US" dirty="0"/>
              <a:t>Here the inner loop is 4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2 that mean edge given by 2-3-4.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165E931-8669-C45C-9F48-A44F97C18341}"/>
              </a:ext>
            </a:extLst>
          </p:cNvPr>
          <p:cNvSpPr/>
          <p:nvPr/>
        </p:nvSpPr>
        <p:spPr>
          <a:xfrm>
            <a:off x="2492818" y="2567672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3C7F709-1332-D04D-2967-2684D163C47A}"/>
              </a:ext>
            </a:extLst>
          </p:cNvPr>
          <p:cNvCxnSpPr>
            <a:endCxn id="7" idx="0"/>
          </p:cNvCxnSpPr>
          <p:nvPr/>
        </p:nvCxnSpPr>
        <p:spPr>
          <a:xfrm>
            <a:off x="2728561" y="3952720"/>
            <a:ext cx="1" cy="795897"/>
          </a:xfrm>
          <a:prstGeom prst="straightConnector1">
            <a:avLst/>
          </a:prstGeom>
          <a:ln w="25400">
            <a:solidFill>
              <a:srgbClr val="C0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4905C1B-FF68-BF14-5012-9B9722C14F71}"/>
              </a:ext>
            </a:extLst>
          </p:cNvPr>
          <p:cNvSpPr/>
          <p:nvPr/>
        </p:nvSpPr>
        <p:spPr>
          <a:xfrm>
            <a:off x="2492818" y="3491317"/>
            <a:ext cx="442913" cy="45720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605851-846E-8B42-FDAA-0327ED3B1D45}"/>
              </a:ext>
            </a:extLst>
          </p:cNvPr>
          <p:cNvSpPr/>
          <p:nvPr/>
        </p:nvSpPr>
        <p:spPr>
          <a:xfrm>
            <a:off x="2507105" y="4748617"/>
            <a:ext cx="442913" cy="45720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4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7136D8-4BFA-0F21-5FC6-0B872C57B129}"/>
              </a:ext>
            </a:extLst>
          </p:cNvPr>
          <p:cNvSpPr/>
          <p:nvPr/>
        </p:nvSpPr>
        <p:spPr>
          <a:xfrm>
            <a:off x="1807018" y="4119967"/>
            <a:ext cx="442913" cy="45720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7ACDAA-C0C7-2F10-21D7-800458E1EDE5}"/>
              </a:ext>
            </a:extLst>
          </p:cNvPr>
          <p:cNvCxnSpPr/>
          <p:nvPr/>
        </p:nvCxnSpPr>
        <p:spPr>
          <a:xfrm>
            <a:off x="2200494" y="4510212"/>
            <a:ext cx="372613" cy="30536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295386-550F-EC77-E67A-5AD6D9C690EB}"/>
              </a:ext>
            </a:extLst>
          </p:cNvPr>
          <p:cNvCxnSpPr>
            <a:endCxn id="8" idx="7"/>
          </p:cNvCxnSpPr>
          <p:nvPr/>
        </p:nvCxnSpPr>
        <p:spPr>
          <a:xfrm flipH="1">
            <a:off x="2185068" y="3881562"/>
            <a:ext cx="352889" cy="30536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4CAF0FC-B33B-3494-50D5-FF0A470B55E3}"/>
              </a:ext>
            </a:extLst>
          </p:cNvPr>
          <p:cNvCxnSpPr>
            <a:endCxn id="6" idx="0"/>
          </p:cNvCxnSpPr>
          <p:nvPr/>
        </p:nvCxnSpPr>
        <p:spPr>
          <a:xfrm flipH="1">
            <a:off x="2714275" y="3033837"/>
            <a:ext cx="14287" cy="45748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06D95849-41F6-7FE4-2BAB-F140701E5374}"/>
              </a:ext>
            </a:extLst>
          </p:cNvPr>
          <p:cNvCxnSpPr/>
          <p:nvPr/>
        </p:nvCxnSpPr>
        <p:spPr>
          <a:xfrm flipH="1" flipV="1">
            <a:off x="2916007" y="2729590"/>
            <a:ext cx="36576" cy="3108960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27CF83C5-6C9F-5819-60E7-935A9C9E946B}"/>
              </a:ext>
            </a:extLst>
          </p:cNvPr>
          <p:cNvSpPr/>
          <p:nvPr/>
        </p:nvSpPr>
        <p:spPr>
          <a:xfrm>
            <a:off x="2501668" y="5575387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B6A7AE-150D-CD46-9360-8589843E6638}"/>
              </a:ext>
            </a:extLst>
          </p:cNvPr>
          <p:cNvCxnSpPr>
            <a:stCxn id="7" idx="4"/>
            <a:endCxn id="13" idx="0"/>
          </p:cNvCxnSpPr>
          <p:nvPr/>
        </p:nvCxnSpPr>
        <p:spPr>
          <a:xfrm flipH="1">
            <a:off x="2723125" y="5205817"/>
            <a:ext cx="5437" cy="36957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DDC9E-4D7E-C18D-7CDE-D36D195420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752" t="21473" r="38023" b="46232"/>
          <a:stretch/>
        </p:blipFill>
        <p:spPr>
          <a:xfrm>
            <a:off x="7230146" y="2250289"/>
            <a:ext cx="4190462" cy="342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248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ACA44-64BE-20D0-7341-4E38304DF23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Preheader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BAE60-B611-3BF4-B555-D8A29F998B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dirty="0"/>
                  <a:t>Several transformation require us to move statements </a:t>
                </a:r>
                <a:r>
                  <a:rPr lang="en-US" dirty="0">
                    <a:solidFill>
                      <a:srgbClr val="C00000"/>
                    </a:solidFill>
                  </a:rPr>
                  <a:t>“before the header”</a:t>
                </a:r>
                <a:r>
                  <a:rPr lang="en-US" dirty="0"/>
                  <a:t>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Therefore begin treatment of a loop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by creating a new block, called the preheader.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The preheader has only the header as successor.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BAE60-B611-3BF4-B555-D8A29F998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1309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CE102124-1F4C-3260-DD1E-E8EBB447E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029" y="3663632"/>
            <a:ext cx="1676400" cy="43815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Preheader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9E0B18-1759-443D-19F1-9AAFFF49E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6605" y="4285297"/>
            <a:ext cx="1676400" cy="403225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Header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0AEB57-4B8B-F719-B994-175F29A92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8030" y="4994591"/>
            <a:ext cx="1704976" cy="379730"/>
          </a:xfrm>
          <a:prstGeom prst="rect">
            <a:avLst/>
          </a:prstGeom>
          <a:solidFill>
            <a:srgbClr val="FFFFFF"/>
          </a:solidFill>
          <a:ln w="25400">
            <a:solidFill>
              <a:srgbClr val="0E47A1"/>
            </a:solidFill>
            <a:miter lim="800000"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 algn="ctr"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baseline="-25000">
                <a:effectLst/>
                <a:latin typeface="Palatino Linotype" panose="020405020505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en-US">
              <a:effectLst/>
              <a:latin typeface="Palatino Linotype" panose="020405020505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7" name="AutoShape 7">
            <a:extLst>
              <a:ext uri="{FF2B5EF4-FFF2-40B4-BE49-F238E27FC236}">
                <a16:creationId xmlns:a16="http://schemas.microsoft.com/office/drawing/2014/main" id="{E55E9312-CFEC-3F1A-7419-9C87482FB9D8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924805" y="4110356"/>
            <a:ext cx="318" cy="189229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8">
            <a:extLst>
              <a:ext uri="{FF2B5EF4-FFF2-40B4-BE49-F238E27FC236}">
                <a16:creationId xmlns:a16="http://schemas.microsoft.com/office/drawing/2014/main" id="{26C5A8A0-F9B0-31EA-FAB9-D7A148C2FFF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971286" y="4461509"/>
            <a:ext cx="635" cy="77374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9">
            <a:extLst>
              <a:ext uri="{FF2B5EF4-FFF2-40B4-BE49-F238E27FC236}">
                <a16:creationId xmlns:a16="http://schemas.microsoft.com/office/drawing/2014/main" id="{247CDA83-B93F-DF2F-527D-5A99190A187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57926" y="4461509"/>
            <a:ext cx="21336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AutoShape 10">
            <a:extLst>
              <a:ext uri="{FF2B5EF4-FFF2-40B4-BE49-F238E27FC236}">
                <a16:creationId xmlns:a16="http://schemas.microsoft.com/office/drawing/2014/main" id="{AEAC7BC7-049D-CAF8-455E-A65730685C5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757926" y="5235257"/>
            <a:ext cx="213360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AutoShape 11">
            <a:extLst>
              <a:ext uri="{FF2B5EF4-FFF2-40B4-BE49-F238E27FC236}">
                <a16:creationId xmlns:a16="http://schemas.microsoft.com/office/drawing/2014/main" id="{DB595030-F0D3-E623-6E41-106F678C349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55464" y="4490088"/>
            <a:ext cx="0" cy="741046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2">
            <a:extLst>
              <a:ext uri="{FF2B5EF4-FFF2-40B4-BE49-F238E27FC236}">
                <a16:creationId xmlns:a16="http://schemas.microsoft.com/office/drawing/2014/main" id="{9DD4489A-C24E-412B-B220-9EC235B1A6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69752" y="4504376"/>
            <a:ext cx="20256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9EE0F6C2-8D2C-3E12-3DEA-78EE1740D01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5464" y="5231133"/>
            <a:ext cx="202565" cy="0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AutoShape 14">
            <a:extLst>
              <a:ext uri="{FF2B5EF4-FFF2-40B4-BE49-F238E27FC236}">
                <a16:creationId xmlns:a16="http://schemas.microsoft.com/office/drawing/2014/main" id="{53CC7565-2296-FAA6-E626-C46FA7C956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452364" y="3429000"/>
            <a:ext cx="295910" cy="22669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15">
            <a:extLst>
              <a:ext uri="{FF2B5EF4-FFF2-40B4-BE49-F238E27FC236}">
                <a16:creationId xmlns:a16="http://schemas.microsoft.com/office/drawing/2014/main" id="{06AE5632-76E0-7534-EF3F-9C2CB947AB9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102287" y="3429000"/>
            <a:ext cx="285115" cy="22669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2014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CEBCA-F3D5-936A-6D54-114019BEDB5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Reducible Flow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815B8-ABEC-D778-BD84-6D0E9E36289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dirty="0"/>
              <a:t>The reducible graph is a flow graph, if and only if we can partition the edges into two disjoint groups, in which often called the forward edges and backward edges. </a:t>
            </a:r>
          </a:p>
          <a:p>
            <a:pPr>
              <a:lnSpc>
                <a:spcPct val="100000"/>
              </a:lnSpc>
            </a:pPr>
            <a:r>
              <a:rPr lang="en-US" dirty="0"/>
              <a:t>These edges have following properties,</a:t>
            </a:r>
          </a:p>
          <a:p>
            <a:pPr marL="85725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forward edge forms an acyclic graph </a:t>
            </a:r>
            <a:r>
              <a:rPr lang="en-US" dirty="0"/>
              <a:t>in which every node has to be reached from the initial node.</a:t>
            </a:r>
          </a:p>
          <a:p>
            <a:pPr marL="85725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back edges are such edges whose head dominates their tail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653BA8-9E81-7B8E-E670-C1A2879F026F}"/>
              </a:ext>
            </a:extLst>
          </p:cNvPr>
          <p:cNvSpPr/>
          <p:nvPr/>
        </p:nvSpPr>
        <p:spPr>
          <a:xfrm>
            <a:off x="5504968" y="411083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235C516-84C5-FFFF-C97B-E6DA1A3AC6D5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5883018" y="5424721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DA29DD0-ACC0-B200-F7A2-76C6EF9A4431}"/>
              </a:ext>
            </a:extLst>
          </p:cNvPr>
          <p:cNvSpPr/>
          <p:nvPr/>
        </p:nvSpPr>
        <p:spPr>
          <a:xfrm>
            <a:off x="5504968" y="503447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F4EDB8-DCB7-CDB2-4EC8-CC89825D20E8}"/>
              </a:ext>
            </a:extLst>
          </p:cNvPr>
          <p:cNvSpPr/>
          <p:nvPr/>
        </p:nvSpPr>
        <p:spPr>
          <a:xfrm>
            <a:off x="5519255" y="629177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E7223BF-3247-DA5A-CCF0-C93588F3A464}"/>
              </a:ext>
            </a:extLst>
          </p:cNvPr>
          <p:cNvSpPr/>
          <p:nvPr/>
        </p:nvSpPr>
        <p:spPr>
          <a:xfrm>
            <a:off x="6190768" y="566312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59D122-1F91-1B3D-9F87-C76BA396A43B}"/>
              </a:ext>
            </a:extLst>
          </p:cNvPr>
          <p:cNvSpPr/>
          <p:nvPr/>
        </p:nvSpPr>
        <p:spPr>
          <a:xfrm>
            <a:off x="4819168" y="5663126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1B5F43-E2B9-76E9-5117-6B7CB84B6520}"/>
              </a:ext>
            </a:extLst>
          </p:cNvPr>
          <p:cNvCxnSpPr/>
          <p:nvPr/>
        </p:nvCxnSpPr>
        <p:spPr>
          <a:xfrm>
            <a:off x="5212644" y="6053371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A34B1C5-D037-8B2D-BC29-0A7EC5C50BE5}"/>
              </a:ext>
            </a:extLst>
          </p:cNvPr>
          <p:cNvCxnSpPr>
            <a:stCxn id="6" idx="3"/>
            <a:endCxn id="9" idx="7"/>
          </p:cNvCxnSpPr>
          <p:nvPr/>
        </p:nvCxnSpPr>
        <p:spPr>
          <a:xfrm flipH="1">
            <a:off x="5197218" y="5424721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A3313F-3870-1D03-2832-8114A1AA6F0D}"/>
              </a:ext>
            </a:extLst>
          </p:cNvPr>
          <p:cNvCxnSpPr>
            <a:stCxn id="8" idx="3"/>
            <a:endCxn id="7" idx="7"/>
          </p:cNvCxnSpPr>
          <p:nvPr/>
        </p:nvCxnSpPr>
        <p:spPr>
          <a:xfrm flipH="1">
            <a:off x="5897305" y="6053371"/>
            <a:ext cx="358326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693993-B2D5-1358-17FB-63DD0F668D04}"/>
              </a:ext>
            </a:extLst>
          </p:cNvPr>
          <p:cNvCxnSpPr>
            <a:stCxn id="4" idx="4"/>
            <a:endCxn id="6" idx="0"/>
          </p:cNvCxnSpPr>
          <p:nvPr/>
        </p:nvCxnSpPr>
        <p:spPr>
          <a:xfrm flipH="1">
            <a:off x="5726425" y="4568031"/>
            <a:ext cx="7143" cy="466445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D23D54EB-CFA5-7C28-C946-3BAA3BDFA5F9}"/>
              </a:ext>
            </a:extLst>
          </p:cNvPr>
          <p:cNvCxnSpPr/>
          <p:nvPr/>
        </p:nvCxnSpPr>
        <p:spPr>
          <a:xfrm flipH="1" flipV="1">
            <a:off x="5929592" y="4287758"/>
            <a:ext cx="36576" cy="2286000"/>
          </a:xfrm>
          <a:prstGeom prst="curvedConnector3">
            <a:avLst>
              <a:gd name="adj1" fmla="val -3059900"/>
            </a:avLst>
          </a:prstGeom>
          <a:ln w="25400">
            <a:solidFill>
              <a:srgbClr val="0E47A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683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60685-0E81-54F8-EE41-4766D27433F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Non-reducible Flow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2A0F2-254F-38FF-74B8-2B200D5C9C5B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/>
              <a:t>A non reducible flow graph is a flow graph in which:</a:t>
            </a:r>
          </a:p>
          <a:p>
            <a:pPr marL="85725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There are no back edges.</a:t>
            </a:r>
          </a:p>
          <a:p>
            <a:pPr marL="857250" lvl="1" indent="-457200">
              <a:lnSpc>
                <a:spcPct val="100000"/>
              </a:lnSpc>
              <a:buFont typeface="+mj-lt"/>
              <a:buAutoNum type="arabicPeriod"/>
            </a:pPr>
            <a:r>
              <a:rPr lang="en-US"/>
              <a:t>Forward edges may produce cycle in the graph.</a:t>
            </a:r>
          </a:p>
          <a:p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4904EF7-646E-E179-1C59-FBC586D8805B}"/>
              </a:ext>
            </a:extLst>
          </p:cNvPr>
          <p:cNvCxnSpPr>
            <a:stCxn id="5" idx="5"/>
            <a:endCxn id="6" idx="1"/>
          </p:cNvCxnSpPr>
          <p:nvPr/>
        </p:nvCxnSpPr>
        <p:spPr>
          <a:xfrm>
            <a:off x="5030939" y="3192207"/>
            <a:ext cx="372613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E801B108-5B36-7026-7D2B-504DA562D85A}"/>
              </a:ext>
            </a:extLst>
          </p:cNvPr>
          <p:cNvSpPr/>
          <p:nvPr/>
        </p:nvSpPr>
        <p:spPr>
          <a:xfrm>
            <a:off x="4652889" y="2801962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7C2908-7D28-BB8A-5F5A-DE6FD01C878C}"/>
              </a:ext>
            </a:extLst>
          </p:cNvPr>
          <p:cNvSpPr/>
          <p:nvPr/>
        </p:nvSpPr>
        <p:spPr>
          <a:xfrm>
            <a:off x="5338689" y="3430612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A65E28-C3C5-0D04-E8B3-FAB995A5FD77}"/>
              </a:ext>
            </a:extLst>
          </p:cNvPr>
          <p:cNvSpPr/>
          <p:nvPr/>
        </p:nvSpPr>
        <p:spPr>
          <a:xfrm>
            <a:off x="3967089" y="3430612"/>
            <a:ext cx="442913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3B1C8A7-B423-05D5-EC9E-6F8B5D944820}"/>
              </a:ext>
            </a:extLst>
          </p:cNvPr>
          <p:cNvCxnSpPr>
            <a:endCxn id="7" idx="7"/>
          </p:cNvCxnSpPr>
          <p:nvPr/>
        </p:nvCxnSpPr>
        <p:spPr>
          <a:xfrm flipH="1">
            <a:off x="4345139" y="3192207"/>
            <a:ext cx="352889" cy="30536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47F5647-67F0-407A-01EA-0C1CF6535D25}"/>
              </a:ext>
            </a:extLst>
          </p:cNvPr>
          <p:cNvCxnSpPr>
            <a:stCxn id="6" idx="2"/>
            <a:endCxn id="7" idx="6"/>
          </p:cNvCxnSpPr>
          <p:nvPr/>
        </p:nvCxnSpPr>
        <p:spPr>
          <a:xfrm flipH="1">
            <a:off x="4410002" y="3659212"/>
            <a:ext cx="928687" cy="0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3855CF5-149F-E69E-9842-D3671948A257}"/>
              </a:ext>
            </a:extLst>
          </p:cNvPr>
          <p:cNvCxnSpPr>
            <a:stCxn id="6" idx="3"/>
            <a:endCxn id="7" idx="5"/>
          </p:cNvCxnSpPr>
          <p:nvPr/>
        </p:nvCxnSpPr>
        <p:spPr>
          <a:xfrm flipH="1">
            <a:off x="4345139" y="3820857"/>
            <a:ext cx="1058413" cy="0"/>
          </a:xfrm>
          <a:prstGeom prst="straightConnector1">
            <a:avLst/>
          </a:prstGeom>
          <a:ln w="25400">
            <a:solidFill>
              <a:srgbClr val="0E47A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56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C202-16CA-1CE7-4436-A7F0DC4C3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7601"/>
            <a:ext cx="9144000" cy="2387600"/>
          </a:xfrm>
        </p:spPr>
        <p:txBody>
          <a:bodyPr/>
          <a:lstStyle/>
          <a:p>
            <a:r>
              <a:rPr lang="en-US" dirty="0"/>
              <a:t>DAG Representation of Basic Block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40EB1-D130-387D-7A1B-25F010253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36103"/>
            <a:ext cx="9144000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577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5EB96-9448-E385-BF2C-585CD136271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Algorithm: DAG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868A3-41EC-9E91-A0B5-560310C74376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300"/>
              <a:t>We assume the three address statement could of following types: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/>
              <a:t>		 </a:t>
            </a:r>
            <a:r>
              <a:rPr lang="en-US" sz="2300" b="1">
                <a:solidFill>
                  <a:srgbClr val="0E47A1"/>
                </a:solidFill>
              </a:rPr>
              <a:t>Case (i) x:=y op z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 b="1">
                <a:solidFill>
                  <a:srgbClr val="0E47A1"/>
                </a:solidFill>
              </a:rPr>
              <a:t>		 Case (ii) x:=op 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 b="1">
                <a:solidFill>
                  <a:srgbClr val="0E47A1"/>
                </a:solidFill>
              </a:rPr>
              <a:t>		 Case (iii) x:=y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/>
              <a:t>With the help of following steps the DAG can be constructed.</a:t>
            </a:r>
          </a:p>
          <a:p>
            <a:r>
              <a:rPr lang="en-US" sz="2300">
                <a:solidFill>
                  <a:srgbClr val="C00000"/>
                </a:solidFill>
              </a:rPr>
              <a:t>Step 1</a:t>
            </a:r>
            <a:r>
              <a:rPr lang="en-US" sz="2300"/>
              <a:t>: If y is undefined then create node(y). Similarly if z is undefined create a node (z)</a:t>
            </a:r>
          </a:p>
          <a:p>
            <a:r>
              <a:rPr lang="en-US" sz="2300">
                <a:solidFill>
                  <a:srgbClr val="C00000"/>
                </a:solidFill>
              </a:rPr>
              <a:t>Step 2</a:t>
            </a:r>
            <a:r>
              <a:rPr lang="en-US" sz="2300"/>
              <a:t>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30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300" b="1">
                <a:solidFill>
                  <a:srgbClr val="0E47A1"/>
                </a:solidFill>
              </a:rPr>
              <a:t>Case(i)</a:t>
            </a:r>
            <a:r>
              <a:rPr lang="en-US" sz="2300"/>
              <a:t> create a node(op) whose left child is node(y) and node(z) will be 	the right child. 	Also check for any common sub expressions. 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en-US" sz="230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300" b="1">
                <a:solidFill>
                  <a:srgbClr val="0E47A1"/>
                </a:solidFill>
              </a:rPr>
              <a:t>Case (ii) </a:t>
            </a:r>
            <a:r>
              <a:rPr lang="en-US" sz="2300"/>
              <a:t>determine whether is a node labeled op, such node will have a 	child node(y). 	</a:t>
            </a:r>
          </a:p>
          <a:p>
            <a:pPr marL="0" indent="342900">
              <a:buFont typeface="Arial" panose="020B0604020202020204" pitchFamily="34" charset="0"/>
              <a:buNone/>
            </a:pPr>
            <a:r>
              <a:rPr lang="en-US" sz="230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300" b="1">
                <a:solidFill>
                  <a:srgbClr val="0E47A1"/>
                </a:solidFill>
              </a:rPr>
              <a:t>Case (iii) </a:t>
            </a:r>
            <a:r>
              <a:rPr lang="en-US" sz="2300"/>
              <a:t>node n win be node(y).</a:t>
            </a:r>
          </a:p>
          <a:p>
            <a:r>
              <a:rPr lang="en-US" sz="2300">
                <a:solidFill>
                  <a:srgbClr val="C00000"/>
                </a:solidFill>
              </a:rPr>
              <a:t>Step 3</a:t>
            </a:r>
            <a:r>
              <a:rPr lang="en-US" sz="2300"/>
              <a:t>: Delete x from list of identifiers for node(x). Append x to the list of attached identifiers for node n found in 2.</a:t>
            </a:r>
          </a:p>
          <a:p>
            <a:endParaRPr lang="en-US" sz="2300"/>
          </a:p>
        </p:txBody>
      </p:sp>
    </p:spTree>
    <p:extLst>
      <p:ext uri="{BB962C8B-B14F-4D97-AF65-F5344CB8AC3E}">
        <p14:creationId xmlns:p14="http://schemas.microsoft.com/office/powerpoint/2010/main" val="208875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EB98-4CFE-1C55-722A-B3A2787A050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4662872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DAG Representation of Basic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3B04-8078-61AA-EAF8-C79FB4B54E89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3713233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>
                <a:solidFill>
                  <a:srgbClr val="0E47A1"/>
                </a:solidFill>
              </a:rPr>
              <a:t>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 (1)  t1 := 4*i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 (2)  t2 := a [t1]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 (3)  t3 := 4*i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 (4)  t4 :=b [t3]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 (5)  t5 := t2*t4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(6)  t6 := prod +t5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 (7)  prod := t6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(8)  t7 := i+1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(9)  i := t7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(10)  if  i&lt;=20 goto (1)</a:t>
            </a:r>
          </a:p>
          <a:p>
            <a:endParaRPr lang="en-US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632485A-109B-0EFF-65F8-0B60A601A264}"/>
                  </a:ext>
                </a:extLst>
              </p:cNvPr>
              <p:cNvSpPr/>
              <p:nvPr/>
            </p:nvSpPr>
            <p:spPr>
              <a:xfrm>
                <a:off x="9559255" y="3248596"/>
                <a:ext cx="669016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F632485A-109B-0EFF-65F8-0B60A601A2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255" y="3248596"/>
                <a:ext cx="669016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3064C94-0201-A227-7BBC-55BE4A81826E}"/>
                  </a:ext>
                </a:extLst>
              </p:cNvPr>
              <p:cNvSpPr/>
              <p:nvPr/>
            </p:nvSpPr>
            <p:spPr>
              <a:xfrm>
                <a:off x="6846548" y="3323223"/>
                <a:ext cx="669016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 ]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3064C94-0201-A227-7BBC-55BE4A8182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548" y="3323223"/>
                <a:ext cx="669016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3122162-4C12-1187-D1DE-EF42432DF765}"/>
                  </a:ext>
                </a:extLst>
              </p:cNvPr>
              <p:cNvSpPr/>
              <p:nvPr/>
            </p:nvSpPr>
            <p:spPr>
              <a:xfrm>
                <a:off x="5974080" y="2560415"/>
                <a:ext cx="669016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33122162-4C12-1187-D1DE-EF42432DF7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4080" y="2560415"/>
                <a:ext cx="669016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0EF0BF3-07EE-8BA2-3308-361233946F33}"/>
                  </a:ext>
                </a:extLst>
              </p:cNvPr>
              <p:cNvSpPr/>
              <p:nvPr/>
            </p:nvSpPr>
            <p:spPr>
              <a:xfrm>
                <a:off x="5120611" y="1776984"/>
                <a:ext cx="669016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A0EF0BF3-07EE-8BA2-3308-361233946F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11" y="1776984"/>
                <a:ext cx="669016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792D38-B8C0-0C15-1B03-9D6EF169C638}"/>
                  </a:ext>
                </a:extLst>
              </p:cNvPr>
              <p:cNvSpPr/>
              <p:nvPr/>
            </p:nvSpPr>
            <p:spPr>
              <a:xfrm>
                <a:off x="5120611" y="3358176"/>
                <a:ext cx="669016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 ]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1792D38-B8C0-0C15-1B03-9D6EF169C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11" y="3358176"/>
                <a:ext cx="669016" cy="50958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5D6F231-02FB-6363-119C-BF58475F9937}"/>
                  </a:ext>
                </a:extLst>
              </p:cNvPr>
              <p:cNvSpPr/>
              <p:nvPr/>
            </p:nvSpPr>
            <p:spPr>
              <a:xfrm>
                <a:off x="7733105" y="4111502"/>
                <a:ext cx="669016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5D6F231-02FB-6363-119C-BF58475F99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105" y="4111502"/>
                <a:ext cx="669016" cy="50958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2205ED6-9D7C-C9DD-AA7B-D02FA708DA48}"/>
                  </a:ext>
                </a:extLst>
              </p:cNvPr>
              <p:cNvSpPr/>
              <p:nvPr/>
            </p:nvSpPr>
            <p:spPr>
              <a:xfrm>
                <a:off x="8849695" y="4097214"/>
                <a:ext cx="669016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2205ED6-9D7C-C9DD-AA7B-D02FA708DA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9695" y="4097214"/>
                <a:ext cx="669016" cy="50958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8C57B2-41AE-8BD2-3145-037F14329EAC}"/>
              </a:ext>
            </a:extLst>
          </p:cNvPr>
          <p:cNvCxnSpPr>
            <a:stCxn id="7" idx="5"/>
            <a:endCxn id="6" idx="1"/>
          </p:cNvCxnSpPr>
          <p:nvPr/>
        </p:nvCxnSpPr>
        <p:spPr>
          <a:xfrm>
            <a:off x="5691652" y="2211945"/>
            <a:ext cx="380403" cy="42309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A6FEA4-E793-36AA-4D75-CDAB7CF47117}"/>
              </a:ext>
            </a:extLst>
          </p:cNvPr>
          <p:cNvCxnSpPr>
            <a:stCxn id="6" idx="5"/>
            <a:endCxn id="5" idx="1"/>
          </p:cNvCxnSpPr>
          <p:nvPr/>
        </p:nvCxnSpPr>
        <p:spPr>
          <a:xfrm>
            <a:off x="6545121" y="2995376"/>
            <a:ext cx="399402" cy="40247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7F540ED-E581-2908-4843-8D170B9E6118}"/>
              </a:ext>
            </a:extLst>
          </p:cNvPr>
          <p:cNvCxnSpPr>
            <a:stCxn id="5" idx="5"/>
            <a:endCxn id="9" idx="1"/>
          </p:cNvCxnSpPr>
          <p:nvPr/>
        </p:nvCxnSpPr>
        <p:spPr>
          <a:xfrm>
            <a:off x="7417589" y="3758184"/>
            <a:ext cx="413491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75C22A-8FA1-B396-139E-C0A792B2C054}"/>
              </a:ext>
            </a:extLst>
          </p:cNvPr>
          <p:cNvCxnSpPr>
            <a:cxnSpLocks/>
          </p:cNvCxnSpPr>
          <p:nvPr/>
        </p:nvCxnSpPr>
        <p:spPr>
          <a:xfrm>
            <a:off x="8176296" y="4485741"/>
            <a:ext cx="460120" cy="42309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87DDB9-C466-9E90-4817-00C92B600183}"/>
              </a:ext>
            </a:extLst>
          </p:cNvPr>
          <p:cNvCxnSpPr>
            <a:cxnSpLocks/>
          </p:cNvCxnSpPr>
          <p:nvPr/>
        </p:nvCxnSpPr>
        <p:spPr>
          <a:xfrm flipV="1">
            <a:off x="8631552" y="4560751"/>
            <a:ext cx="328184" cy="3623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57D148-67DD-1DFD-6338-9EC545F4C611}"/>
              </a:ext>
            </a:extLst>
          </p:cNvPr>
          <p:cNvCxnSpPr>
            <a:cxnSpLocks/>
          </p:cNvCxnSpPr>
          <p:nvPr/>
        </p:nvCxnSpPr>
        <p:spPr>
          <a:xfrm flipV="1">
            <a:off x="9324509" y="3743896"/>
            <a:ext cx="383371" cy="4136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B79878-5F11-EE3A-3D75-84FEB7951810}"/>
              </a:ext>
            </a:extLst>
          </p:cNvPr>
          <p:cNvCxnSpPr>
            <a:stCxn id="8" idx="7"/>
            <a:endCxn id="6" idx="3"/>
          </p:cNvCxnSpPr>
          <p:nvPr/>
        </p:nvCxnSpPr>
        <p:spPr>
          <a:xfrm flipV="1">
            <a:off x="5691652" y="2995376"/>
            <a:ext cx="380403" cy="43742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A420258-5863-0BA7-EEDD-C2DDCA16F48C}"/>
              </a:ext>
            </a:extLst>
          </p:cNvPr>
          <p:cNvCxnSpPr>
            <a:cxnSpLocks/>
          </p:cNvCxnSpPr>
          <p:nvPr/>
        </p:nvCxnSpPr>
        <p:spPr>
          <a:xfrm flipV="1">
            <a:off x="4411980" y="3832812"/>
            <a:ext cx="822236" cy="86447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DC66B9-EC24-EE76-0D4C-96455B7B1DDF}"/>
              </a:ext>
            </a:extLst>
          </p:cNvPr>
          <p:cNvCxnSpPr>
            <a:cxnSpLocks/>
          </p:cNvCxnSpPr>
          <p:nvPr/>
        </p:nvCxnSpPr>
        <p:spPr>
          <a:xfrm flipV="1">
            <a:off x="6006366" y="3756614"/>
            <a:ext cx="953337" cy="101257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0756A3-A92C-519E-C222-D9A4283BCA00}"/>
              </a:ext>
            </a:extLst>
          </p:cNvPr>
          <p:cNvCxnSpPr>
            <a:stCxn id="9" idx="3"/>
          </p:cNvCxnSpPr>
          <p:nvPr/>
        </p:nvCxnSpPr>
        <p:spPr>
          <a:xfrm flipH="1">
            <a:off x="7414959" y="4546463"/>
            <a:ext cx="416121" cy="4454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513B2B-209A-0B67-61B7-B3C2BDDAA0A3}"/>
              </a:ext>
            </a:extLst>
          </p:cNvPr>
          <p:cNvCxnSpPr>
            <a:cxnSpLocks/>
          </p:cNvCxnSpPr>
          <p:nvPr/>
        </p:nvCxnSpPr>
        <p:spPr>
          <a:xfrm>
            <a:off x="9240650" y="4467456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EF8898-FEBD-E5C2-DFFC-F6ACC452451E}"/>
              </a:ext>
            </a:extLst>
          </p:cNvPr>
          <p:cNvCxnSpPr>
            <a:cxnSpLocks/>
          </p:cNvCxnSpPr>
          <p:nvPr/>
        </p:nvCxnSpPr>
        <p:spPr>
          <a:xfrm>
            <a:off x="9919121" y="3729268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DB65F28-40D3-C15F-488D-F2CC1D74F3B9}"/>
              </a:ext>
            </a:extLst>
          </p:cNvPr>
          <p:cNvCxnSpPr>
            <a:cxnSpLocks/>
          </p:cNvCxnSpPr>
          <p:nvPr/>
        </p:nvCxnSpPr>
        <p:spPr>
          <a:xfrm flipV="1">
            <a:off x="4793220" y="2242094"/>
            <a:ext cx="460120" cy="43742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1D120D-8670-7348-0E20-9F7AB8A639A3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5789627" y="3612970"/>
            <a:ext cx="1943478" cy="75332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86FF4AC6-51F2-20A9-5B7D-B1F674B2BA26}"/>
              </a:ext>
            </a:extLst>
          </p:cNvPr>
          <p:cNvSpPr/>
          <p:nvPr/>
        </p:nvSpPr>
        <p:spPr>
          <a:xfrm>
            <a:off x="7193851" y="4948211"/>
            <a:ext cx="37569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C00000"/>
                </a:solidFill>
                <a:latin typeface="+mj-lt"/>
              </a:rPr>
              <a:t>4</a:t>
            </a:r>
            <a:endParaRPr lang="en-US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AD3E9B-4EBF-96A9-B3FD-BFD355F31B42}"/>
              </a:ext>
            </a:extLst>
          </p:cNvPr>
          <p:cNvSpPr/>
          <p:nvPr/>
        </p:nvSpPr>
        <p:spPr>
          <a:xfrm>
            <a:off x="8475359" y="4923126"/>
            <a:ext cx="450199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i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4892A1-025D-38D7-35EA-E3196661C8E6}"/>
              </a:ext>
            </a:extLst>
          </p:cNvPr>
          <p:cNvSpPr/>
          <p:nvPr/>
        </p:nvSpPr>
        <p:spPr>
          <a:xfrm>
            <a:off x="5850173" y="4790073"/>
            <a:ext cx="37569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953CDD-CE68-C54E-959B-D694F83A872C}"/>
              </a:ext>
            </a:extLst>
          </p:cNvPr>
          <p:cNvSpPr/>
          <p:nvPr/>
        </p:nvSpPr>
        <p:spPr>
          <a:xfrm>
            <a:off x="4306541" y="4681428"/>
            <a:ext cx="422017" cy="414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9D02C0-60FC-8164-0BF3-88A096020F33}"/>
              </a:ext>
            </a:extLst>
          </p:cNvPr>
          <p:cNvSpPr/>
          <p:nvPr/>
        </p:nvSpPr>
        <p:spPr>
          <a:xfrm>
            <a:off x="4411979" y="2604220"/>
            <a:ext cx="1011873" cy="414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prod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F21838-1651-8D4A-35C7-B8589AA41AA2}"/>
              </a:ext>
            </a:extLst>
          </p:cNvPr>
          <p:cNvSpPr/>
          <p:nvPr/>
        </p:nvSpPr>
        <p:spPr>
          <a:xfrm>
            <a:off x="5269228" y="1601743"/>
            <a:ext cx="1182207" cy="414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</a:t>
            </a:r>
            <a:r>
              <a:rPr lang="en-US" b="1" baseline="-25000">
                <a:solidFill>
                  <a:srgbClr val="C00000"/>
                </a:solidFill>
                <a:latin typeface="+mj-lt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771926-7229-6B43-65B1-00F866429AFD}"/>
              </a:ext>
            </a:extLst>
          </p:cNvPr>
          <p:cNvSpPr/>
          <p:nvPr/>
        </p:nvSpPr>
        <p:spPr>
          <a:xfrm>
            <a:off x="6536331" y="2512624"/>
            <a:ext cx="50917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</a:t>
            </a:r>
            <a:r>
              <a:rPr lang="en-US" b="1" baseline="-25000">
                <a:solidFill>
                  <a:srgbClr val="C00000"/>
                </a:solidFill>
                <a:latin typeface="+mj-lt"/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9A7D8B-B797-AE92-767E-63086197D30B}"/>
              </a:ext>
            </a:extLst>
          </p:cNvPr>
          <p:cNvSpPr/>
          <p:nvPr/>
        </p:nvSpPr>
        <p:spPr>
          <a:xfrm>
            <a:off x="7299319" y="3129734"/>
            <a:ext cx="50917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</a:t>
            </a:r>
            <a:r>
              <a:rPr lang="en-US" b="1" baseline="-25000">
                <a:solidFill>
                  <a:srgbClr val="C00000"/>
                </a:solidFill>
                <a:latin typeface="+mj-lt"/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7F57A3D-F89B-AF65-EFA1-CA9042E584C5}"/>
              </a:ext>
            </a:extLst>
          </p:cNvPr>
          <p:cNvSpPr/>
          <p:nvPr/>
        </p:nvSpPr>
        <p:spPr>
          <a:xfrm>
            <a:off x="5669978" y="3294631"/>
            <a:ext cx="50917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</a:t>
            </a:r>
            <a:r>
              <a:rPr lang="en-US" b="1" baseline="-25000">
                <a:solidFill>
                  <a:srgbClr val="C00000"/>
                </a:solidFill>
                <a:latin typeface="+mj-lt"/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7722C67-E288-052B-643C-016ED6F906EB}"/>
              </a:ext>
            </a:extLst>
          </p:cNvPr>
          <p:cNvSpPr/>
          <p:nvPr/>
        </p:nvSpPr>
        <p:spPr>
          <a:xfrm>
            <a:off x="8054376" y="3776213"/>
            <a:ext cx="66525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</a:t>
            </a:r>
            <a:r>
              <a:rPr lang="en-US" b="1" baseline="-25000">
                <a:solidFill>
                  <a:srgbClr val="C00000"/>
                </a:solidFill>
                <a:latin typeface="+mj-lt"/>
              </a:rPr>
              <a:t>1</a:t>
            </a:r>
          </a:p>
          <a:p>
            <a:pPr algn="ctr"/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381656-65B3-7EE1-0372-DE7E3B8838F1}"/>
              </a:ext>
            </a:extLst>
          </p:cNvPr>
          <p:cNvSpPr/>
          <p:nvPr/>
        </p:nvSpPr>
        <p:spPr>
          <a:xfrm>
            <a:off x="9405973" y="4182047"/>
            <a:ext cx="66525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</a:t>
            </a:r>
            <a:r>
              <a:rPr lang="en-US" b="1" baseline="-25000">
                <a:solidFill>
                  <a:srgbClr val="C00000"/>
                </a:solidFill>
                <a:latin typeface="+mj-lt"/>
              </a:rPr>
              <a:t>7</a:t>
            </a:r>
          </a:p>
          <a:p>
            <a:pPr algn="ctr"/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2E293B-5CD0-2BAC-7A3E-9CB7654302AC}"/>
              </a:ext>
            </a:extLst>
          </p:cNvPr>
          <p:cNvSpPr/>
          <p:nvPr/>
        </p:nvSpPr>
        <p:spPr>
          <a:xfrm>
            <a:off x="9577665" y="4923126"/>
            <a:ext cx="37569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C00000"/>
                </a:solidFill>
                <a:latin typeface="+mj-lt"/>
              </a:rPr>
              <a:t>1</a:t>
            </a:r>
            <a:endParaRPr lang="en-US" b="1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F8BBE4-821B-ECE4-A656-2C105A24F81E}"/>
              </a:ext>
            </a:extLst>
          </p:cNvPr>
          <p:cNvSpPr/>
          <p:nvPr/>
        </p:nvSpPr>
        <p:spPr>
          <a:xfrm>
            <a:off x="10146354" y="4111502"/>
            <a:ext cx="5585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20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17E7C91-7ED4-62F0-622C-266DB71E5EF6}"/>
              </a:ext>
            </a:extLst>
          </p:cNvPr>
          <p:cNvSpPr/>
          <p:nvPr/>
        </p:nvSpPr>
        <p:spPr>
          <a:xfrm>
            <a:off x="10094949" y="3197508"/>
            <a:ext cx="55856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(1)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6CE788-F1E7-2A2A-3CFC-1104682938F7}"/>
              </a:ext>
            </a:extLst>
          </p:cNvPr>
          <p:cNvSpPr/>
          <p:nvPr/>
        </p:nvSpPr>
        <p:spPr>
          <a:xfrm>
            <a:off x="8300617" y="3760224"/>
            <a:ext cx="66525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,t</a:t>
            </a:r>
            <a:r>
              <a:rPr lang="en-US" b="1" baseline="-25000">
                <a:solidFill>
                  <a:srgbClr val="C00000"/>
                </a:solidFill>
                <a:latin typeface="+mj-lt"/>
              </a:rPr>
              <a:t>3</a:t>
            </a:r>
          </a:p>
          <a:p>
            <a:pPr algn="ctr"/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FFBC86-A8FD-2747-C950-C8F7E2848FFA}"/>
              </a:ext>
            </a:extLst>
          </p:cNvPr>
          <p:cNvSpPr/>
          <p:nvPr/>
        </p:nvSpPr>
        <p:spPr>
          <a:xfrm>
            <a:off x="5705462" y="1572689"/>
            <a:ext cx="1182207" cy="4146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, prod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6AD8834-9B83-AEE4-A537-4E6BEC8AB2D5}"/>
              </a:ext>
            </a:extLst>
          </p:cNvPr>
          <p:cNvSpPr/>
          <p:nvPr/>
        </p:nvSpPr>
        <p:spPr>
          <a:xfrm>
            <a:off x="9593201" y="4200076"/>
            <a:ext cx="665257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, i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  <a:p>
            <a:pPr algn="ctr"/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8143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9C67-0776-3FDA-EF9D-C2200D9FA7D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Applications of DAG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097AE-1278-E740-B36F-7AD9C30D07AE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DAGs are used in following:</a:t>
            </a:r>
          </a:p>
          <a:p>
            <a:pPr marL="857250" lvl="2" indent="-457200">
              <a:buFont typeface="+mj-lt"/>
              <a:buAutoNum type="arabicPeriod"/>
            </a:pPr>
            <a:r>
              <a:rPr lang="en-US" sz="2400"/>
              <a:t>Determining the </a:t>
            </a:r>
            <a:r>
              <a:rPr lang="en-US" sz="2400">
                <a:solidFill>
                  <a:srgbClr val="C00000"/>
                </a:solidFill>
              </a:rPr>
              <a:t>common sub-expressions</a:t>
            </a:r>
            <a:r>
              <a:rPr lang="en-US" sz="2400"/>
              <a:t>.</a:t>
            </a:r>
          </a:p>
          <a:p>
            <a:pPr marL="857250" lvl="2" indent="-457200">
              <a:buFont typeface="+mj-lt"/>
              <a:buAutoNum type="arabicPeriod"/>
            </a:pPr>
            <a:r>
              <a:rPr lang="en-US" sz="2400"/>
              <a:t>Determining which </a:t>
            </a:r>
            <a:r>
              <a:rPr lang="en-US" sz="2400">
                <a:solidFill>
                  <a:srgbClr val="C00000"/>
                </a:solidFill>
              </a:rPr>
              <a:t>names are used inside the block and computed outside the block.</a:t>
            </a:r>
          </a:p>
          <a:p>
            <a:pPr marL="857250" lvl="2" indent="-457200">
              <a:buFont typeface="+mj-lt"/>
              <a:buAutoNum type="arabicPeriod"/>
            </a:pPr>
            <a:r>
              <a:rPr lang="en-US" sz="2400"/>
              <a:t>Determining which statements of the </a:t>
            </a:r>
            <a:r>
              <a:rPr lang="en-US" sz="2400">
                <a:solidFill>
                  <a:srgbClr val="C00000"/>
                </a:solidFill>
              </a:rPr>
              <a:t>block could have their computed value outside the block.</a:t>
            </a:r>
          </a:p>
          <a:p>
            <a:pPr marL="857250" lvl="1" indent="-457200">
              <a:buFont typeface="+mj-lt"/>
              <a:buAutoNum type="arabicPeriod" startAt="4"/>
            </a:pPr>
            <a:r>
              <a:rPr lang="en-US"/>
              <a:t>Simplifying the list of quadruples by </a:t>
            </a:r>
            <a:r>
              <a:rPr lang="en-US">
                <a:solidFill>
                  <a:srgbClr val="C00000"/>
                </a:solidFill>
              </a:rPr>
              <a:t>eliminating the common sub-expressions and not performing the assignment of the form x:=y unless and until it is a must.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3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241CF-83B2-78CA-4DB0-4032922B3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00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68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DC7624-15A9-362C-7975-AE203D548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0"/>
            <a:ext cx="120091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52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FE9EE8-752D-42F8-0304-1137BB2E9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" y="0"/>
            <a:ext cx="12080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58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1FDA36-280B-90F8-B1F7-F4563895A653}"/>
              </a:ext>
            </a:extLst>
          </p:cNvPr>
          <p:cNvSpPr txBox="1"/>
          <p:nvPr/>
        </p:nvSpPr>
        <p:spPr>
          <a:xfrm>
            <a:off x="568960" y="0"/>
            <a:ext cx="6705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IN" sz="2400" b="1" i="0" u="none" strike="noStrike" baseline="0" dirty="0">
                <a:latin typeface="Calibri" panose="020F0502020204030204" pitchFamily="34" charset="0"/>
              </a:rPr>
              <a:t>Renaming of temporary variables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EE268-3C90-608D-DF7F-C751737ED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73" y="1110142"/>
            <a:ext cx="10924054" cy="2219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38F6F7-4463-A93B-533B-0D4ECD5F8F40}"/>
              </a:ext>
            </a:extLst>
          </p:cNvPr>
          <p:cNvSpPr txBox="1"/>
          <p:nvPr/>
        </p:nvSpPr>
        <p:spPr>
          <a:xfrm>
            <a:off x="386080" y="3226861"/>
            <a:ext cx="6705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IN" sz="24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r>
              <a:rPr lang="en-US" sz="1800" b="1" i="0" u="none" strike="noStrike" baseline="0" dirty="0">
                <a:latin typeface="Calibri" panose="020F0502020204030204" pitchFamily="34" charset="0"/>
              </a:rPr>
              <a:t>Interchange of two independent adjacent statements 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84D656-E5AE-91A3-3F91-E50D9DC1A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423" y="4371122"/>
            <a:ext cx="715427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808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F07A3-EECE-8FD5-1E84-E84EA71B3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dirty="0"/>
              <a:t>Generation of Code from DAGs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A6892F-8D12-A286-B7A9-F52A8E891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11406"/>
            <a:ext cx="9144000" cy="165576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672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B7C9-5751-78F4-52E0-8BD1FB5C2AE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Generation of Code from DAGs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558CA-52AB-C1DD-6399-0F0F5A6F6E0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Methods generating code from DAGs are: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>
                <a:solidFill>
                  <a:srgbClr val="0E47A1"/>
                </a:solidFill>
              </a:rPr>
              <a:t>Rearranging Order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 Heuristic ordering</a:t>
            </a:r>
          </a:p>
          <a:p>
            <a:pPr marL="914400" indent="-457200">
              <a:buFont typeface="+mj-lt"/>
              <a:buAutoNum type="arabicPeriod"/>
            </a:pPr>
            <a:r>
              <a:rPr lang="en-US">
                <a:solidFill>
                  <a:srgbClr val="0E47A1"/>
                </a:solidFill>
              </a:rPr>
              <a:t> Labeling algorithm</a:t>
            </a:r>
          </a:p>
        </p:txBody>
      </p:sp>
    </p:spTree>
    <p:extLst>
      <p:ext uri="{BB962C8B-B14F-4D97-AF65-F5344CB8AC3E}">
        <p14:creationId xmlns:p14="http://schemas.microsoft.com/office/powerpoint/2010/main" val="1943784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80634-9E56-E5CB-ED1C-FB6E90416D1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Rearranging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4CB62-D8B1-D965-B6D5-9181C8EA10BC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order of three address code affects the cost of the object code being generated. </a:t>
            </a:r>
          </a:p>
          <a:p>
            <a:r>
              <a:rPr lang="en-US"/>
              <a:t>By changing the order in which computations are done we can obtain the object code with minimum cost.</a:t>
            </a:r>
          </a:p>
          <a:p>
            <a:r>
              <a:rPr lang="en-US"/>
              <a:t>Example: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5DEEFA-C60B-03E0-50E6-E0D9C99F9A7F}"/>
              </a:ext>
            </a:extLst>
          </p:cNvPr>
          <p:cNvSpPr/>
          <p:nvPr/>
        </p:nvSpPr>
        <p:spPr>
          <a:xfrm>
            <a:off x="427053" y="2657286"/>
            <a:ext cx="2724557" cy="266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chemeClr val="tx1"/>
                </a:solidFill>
              </a:rPr>
              <a:t>t1:=a+b</a:t>
            </a:r>
          </a:p>
          <a:p>
            <a:r>
              <a:rPr lang="en-US" sz="2400">
                <a:solidFill>
                  <a:schemeClr val="tx1"/>
                </a:solidFill>
              </a:rPr>
              <a:t>t2:=c+d</a:t>
            </a:r>
          </a:p>
          <a:p>
            <a:r>
              <a:rPr lang="en-US" sz="2400">
                <a:solidFill>
                  <a:schemeClr val="tx1"/>
                </a:solidFill>
              </a:rPr>
              <a:t>t3:=e-t2</a:t>
            </a:r>
          </a:p>
          <a:p>
            <a:r>
              <a:rPr lang="en-US" sz="2400">
                <a:solidFill>
                  <a:schemeClr val="tx1"/>
                </a:solidFill>
              </a:rPr>
              <a:t>t4:=t1-t3</a:t>
            </a:r>
          </a:p>
          <a:p>
            <a:r>
              <a:rPr lang="en-US" sz="2400">
                <a:solidFill>
                  <a:srgbClr val="0E47A1"/>
                </a:solidFill>
              </a:rPr>
              <a:t>Three Address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6A97CE8-03FD-2376-BACE-8B28FD5EA4AB}"/>
                  </a:ext>
                </a:extLst>
              </p:cNvPr>
              <p:cNvSpPr/>
              <p:nvPr/>
            </p:nvSpPr>
            <p:spPr>
              <a:xfrm>
                <a:off x="5097991" y="433406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6A97CE8-03FD-2376-BACE-8B28FD5EA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991" y="4334063"/>
                <a:ext cx="556279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F25007-6208-2139-8CA6-D7CBD489AAE5}"/>
              </a:ext>
            </a:extLst>
          </p:cNvPr>
          <p:cNvCxnSpPr/>
          <p:nvPr/>
        </p:nvCxnSpPr>
        <p:spPr>
          <a:xfrm flipV="1">
            <a:off x="4879848" y="4797600"/>
            <a:ext cx="328184" cy="3623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521419F-8350-E921-AD8E-2920863C612F}"/>
              </a:ext>
            </a:extLst>
          </p:cNvPr>
          <p:cNvCxnSpPr/>
          <p:nvPr/>
        </p:nvCxnSpPr>
        <p:spPr>
          <a:xfrm>
            <a:off x="5488946" y="4704305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A70E6452-01F3-ED4C-DA3B-5E8EDE4CB55D}"/>
              </a:ext>
            </a:extLst>
          </p:cNvPr>
          <p:cNvSpPr/>
          <p:nvPr/>
        </p:nvSpPr>
        <p:spPr>
          <a:xfrm>
            <a:off x="4683848" y="5074041"/>
            <a:ext cx="37433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a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B7D5C-293B-4DE2-33CB-5332279FE105}"/>
              </a:ext>
            </a:extLst>
          </p:cNvPr>
          <p:cNvSpPr/>
          <p:nvPr/>
        </p:nvSpPr>
        <p:spPr>
          <a:xfrm>
            <a:off x="5866771" y="5083779"/>
            <a:ext cx="31238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C00000"/>
                </a:solidFill>
                <a:latin typeface="+mj-lt"/>
              </a:rPr>
              <a:t>b</a:t>
            </a:r>
            <a:endParaRPr lang="en-US" b="1">
              <a:solidFill>
                <a:srgbClr val="C0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78B8DD4-003D-309F-D020-A2F7161A1BA6}"/>
                  </a:ext>
                </a:extLst>
              </p:cNvPr>
              <p:cNvSpPr/>
              <p:nvPr/>
            </p:nvSpPr>
            <p:spPr>
              <a:xfrm>
                <a:off x="7558340" y="4619817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78B8DD4-003D-309F-D020-A2F7161A1B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8340" y="4619817"/>
                <a:ext cx="556279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E6C1F9-C0F2-41FA-A299-5028118238B3}"/>
              </a:ext>
            </a:extLst>
          </p:cNvPr>
          <p:cNvCxnSpPr/>
          <p:nvPr/>
        </p:nvCxnSpPr>
        <p:spPr>
          <a:xfrm flipV="1">
            <a:off x="7340197" y="5083354"/>
            <a:ext cx="328184" cy="3623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FA8788-D612-100F-0742-DAA9D713B533}"/>
              </a:ext>
            </a:extLst>
          </p:cNvPr>
          <p:cNvCxnSpPr/>
          <p:nvPr/>
        </p:nvCxnSpPr>
        <p:spPr>
          <a:xfrm>
            <a:off x="7949295" y="4990059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B7E6470-87B6-24F3-8861-87FA303529E9}"/>
              </a:ext>
            </a:extLst>
          </p:cNvPr>
          <p:cNvSpPr/>
          <p:nvPr/>
        </p:nvSpPr>
        <p:spPr>
          <a:xfrm>
            <a:off x="7144798" y="5394237"/>
            <a:ext cx="37433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c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211F9F-85F8-FBE2-470C-881604811CD5}"/>
              </a:ext>
            </a:extLst>
          </p:cNvPr>
          <p:cNvSpPr/>
          <p:nvPr/>
        </p:nvSpPr>
        <p:spPr>
          <a:xfrm>
            <a:off x="8312728" y="5394237"/>
            <a:ext cx="31238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CA52A5F-4442-5833-E27E-BA9C8BA0F6E8}"/>
                  </a:ext>
                </a:extLst>
              </p:cNvPr>
              <p:cNvSpPr/>
              <p:nvPr/>
            </p:nvSpPr>
            <p:spPr>
              <a:xfrm>
                <a:off x="6866659" y="3837621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CA52A5F-4442-5833-E27E-BA9C8BA0F6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6659" y="3837621"/>
                <a:ext cx="556279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2F6DE6-FD22-8174-6656-873C67DDA563}"/>
              </a:ext>
            </a:extLst>
          </p:cNvPr>
          <p:cNvCxnSpPr/>
          <p:nvPr/>
        </p:nvCxnSpPr>
        <p:spPr>
          <a:xfrm flipV="1">
            <a:off x="6648516" y="4301158"/>
            <a:ext cx="328184" cy="3623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EDF88C-875A-5A22-CA3D-5D0D087A9612}"/>
              </a:ext>
            </a:extLst>
          </p:cNvPr>
          <p:cNvCxnSpPr/>
          <p:nvPr/>
        </p:nvCxnSpPr>
        <p:spPr>
          <a:xfrm>
            <a:off x="7257614" y="4207863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1D785F3-B780-00D1-3208-BBEFDC162B6E}"/>
              </a:ext>
            </a:extLst>
          </p:cNvPr>
          <p:cNvSpPr/>
          <p:nvPr/>
        </p:nvSpPr>
        <p:spPr>
          <a:xfrm>
            <a:off x="6433897" y="4607100"/>
            <a:ext cx="37433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e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99795E7-B525-3948-737F-482294CF7028}"/>
                  </a:ext>
                </a:extLst>
              </p:cNvPr>
              <p:cNvSpPr/>
              <p:nvPr/>
            </p:nvSpPr>
            <p:spPr>
              <a:xfrm>
                <a:off x="6188639" y="324740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099795E7-B525-3948-737F-482294CF70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8639" y="3247406"/>
                <a:ext cx="556279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B8D652E-65BF-AFDB-7224-0BD8433D3671}"/>
              </a:ext>
            </a:extLst>
          </p:cNvPr>
          <p:cNvCxnSpPr>
            <a:stCxn id="19" idx="3"/>
            <a:endCxn id="5" idx="7"/>
          </p:cNvCxnSpPr>
          <p:nvPr/>
        </p:nvCxnSpPr>
        <p:spPr>
          <a:xfrm flipH="1">
            <a:off x="5572805" y="3682367"/>
            <a:ext cx="697299" cy="726323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E307950-80E3-0533-215D-E8C527F3FF92}"/>
              </a:ext>
            </a:extLst>
          </p:cNvPr>
          <p:cNvCxnSpPr>
            <a:stCxn id="19" idx="5"/>
            <a:endCxn id="15" idx="1"/>
          </p:cNvCxnSpPr>
          <p:nvPr/>
        </p:nvCxnSpPr>
        <p:spPr>
          <a:xfrm>
            <a:off x="6663453" y="3682367"/>
            <a:ext cx="284671" cy="22988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B406ADE3-357C-12C3-CA45-B6F8B396CA20}"/>
              </a:ext>
            </a:extLst>
          </p:cNvPr>
          <p:cNvSpPr/>
          <p:nvPr/>
        </p:nvSpPr>
        <p:spPr>
          <a:xfrm>
            <a:off x="5048248" y="3945113"/>
            <a:ext cx="412970" cy="411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t1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22B947-ACC8-06D4-AC3D-E921191F833C}"/>
              </a:ext>
            </a:extLst>
          </p:cNvPr>
          <p:cNvSpPr/>
          <p:nvPr/>
        </p:nvSpPr>
        <p:spPr>
          <a:xfrm>
            <a:off x="8087960" y="4588857"/>
            <a:ext cx="41297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t2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554B50-54A0-8D1F-39DA-AE8B854DDC6E}"/>
              </a:ext>
            </a:extLst>
          </p:cNvPr>
          <p:cNvSpPr/>
          <p:nvPr/>
        </p:nvSpPr>
        <p:spPr>
          <a:xfrm>
            <a:off x="7434596" y="3800286"/>
            <a:ext cx="41297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t3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2B3D15-56B6-072A-6D81-C55C0B0AA4B0}"/>
              </a:ext>
            </a:extLst>
          </p:cNvPr>
          <p:cNvSpPr/>
          <p:nvPr/>
        </p:nvSpPr>
        <p:spPr>
          <a:xfrm>
            <a:off x="6724733" y="3200400"/>
            <a:ext cx="41297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t4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5263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/>
      <p:bldP spid="9" grpId="0"/>
      <p:bldP spid="10" grpId="0" animBg="1"/>
      <p:bldP spid="13" grpId="0"/>
      <p:bldP spid="14" grpId="0"/>
      <p:bldP spid="15" grpId="0" animBg="1"/>
      <p:bldP spid="18" grpId="0"/>
      <p:bldP spid="19" grpId="0" animBg="1"/>
      <p:bldP spid="22" grpId="0"/>
      <p:bldP spid="23" grpId="0"/>
      <p:bldP spid="24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DC12-EC40-1FD6-050B-5A31C91DB99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Rearranging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5B1650-CBDF-B7C5-7F2F-2726A5E8FF88}"/>
              </a:ext>
            </a:extLst>
          </p:cNvPr>
          <p:cNvSpPr/>
          <p:nvPr/>
        </p:nvSpPr>
        <p:spPr>
          <a:xfrm>
            <a:off x="533400" y="647700"/>
            <a:ext cx="2419350" cy="266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>
                <a:solidFill>
                  <a:schemeClr val="tx1"/>
                </a:solidFill>
              </a:rPr>
              <a:t>t1:=a+b</a:t>
            </a:r>
          </a:p>
          <a:p>
            <a:r>
              <a:rPr lang="en-US" sz="2200">
                <a:solidFill>
                  <a:schemeClr val="tx1"/>
                </a:solidFill>
              </a:rPr>
              <a:t>t2:=c+d</a:t>
            </a:r>
          </a:p>
          <a:p>
            <a:r>
              <a:rPr lang="en-US" sz="2200">
                <a:solidFill>
                  <a:schemeClr val="tx1"/>
                </a:solidFill>
              </a:rPr>
              <a:t>t3:=e-t2</a:t>
            </a:r>
          </a:p>
          <a:p>
            <a:r>
              <a:rPr lang="en-US" sz="2200">
                <a:solidFill>
                  <a:schemeClr val="tx1"/>
                </a:solidFill>
              </a:rPr>
              <a:t>t4:=t1-t3</a:t>
            </a:r>
          </a:p>
          <a:p>
            <a:r>
              <a:rPr lang="en-US" sz="2000" b="1">
                <a:solidFill>
                  <a:srgbClr val="0E47A1"/>
                </a:solidFill>
              </a:rPr>
              <a:t>Three Address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AB56C1-C4B9-2ECB-82D4-7044FFE24F1D}"/>
              </a:ext>
            </a:extLst>
          </p:cNvPr>
          <p:cNvSpPr/>
          <p:nvPr/>
        </p:nvSpPr>
        <p:spPr>
          <a:xfrm>
            <a:off x="2843213" y="2514600"/>
            <a:ext cx="29718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MOV a, R0</a:t>
            </a:r>
          </a:p>
          <a:p>
            <a:r>
              <a:rPr lang="en-US" sz="2400" dirty="0">
                <a:solidFill>
                  <a:schemeClr val="tx1"/>
                </a:solidFill>
              </a:rPr>
              <a:t>ADD b, R0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MOV c, R1</a:t>
            </a:r>
          </a:p>
          <a:p>
            <a:r>
              <a:rPr lang="en-US" sz="2400" dirty="0">
                <a:solidFill>
                  <a:schemeClr val="tx1"/>
                </a:solidFill>
              </a:rPr>
              <a:t>ADD d, R1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MOV R0, t1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MOV e, R0</a:t>
            </a:r>
          </a:p>
          <a:p>
            <a:r>
              <a:rPr lang="en-US" sz="2400" dirty="0">
                <a:solidFill>
                  <a:schemeClr val="tx1"/>
                </a:solidFill>
              </a:rPr>
              <a:t>SUB R1, R0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MOV t1, R1</a:t>
            </a:r>
          </a:p>
          <a:p>
            <a:r>
              <a:rPr lang="en-US" sz="2400" dirty="0">
                <a:solidFill>
                  <a:schemeClr val="tx1"/>
                </a:solidFill>
              </a:rPr>
              <a:t>SUB R0, R1</a:t>
            </a:r>
          </a:p>
          <a:p>
            <a:r>
              <a:rPr lang="en-US" sz="2400" dirty="0">
                <a:solidFill>
                  <a:schemeClr val="tx1"/>
                </a:solidFill>
              </a:rPr>
              <a:t>MOV R1, t4</a:t>
            </a:r>
          </a:p>
          <a:p>
            <a:r>
              <a:rPr lang="en-US" sz="2400" b="1" dirty="0">
                <a:solidFill>
                  <a:srgbClr val="0E47A1"/>
                </a:solidFill>
              </a:rPr>
              <a:t>Assembly Code</a:t>
            </a:r>
            <a:endParaRPr lang="en-US" sz="2200" b="1" dirty="0">
              <a:solidFill>
                <a:srgbClr val="0E47A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0023E0-D6F4-A1C3-DE79-1C9C7D9DFFC9}"/>
              </a:ext>
            </a:extLst>
          </p:cNvPr>
          <p:cNvSpPr/>
          <p:nvPr/>
        </p:nvSpPr>
        <p:spPr>
          <a:xfrm>
            <a:off x="4743449" y="680803"/>
            <a:ext cx="5172075" cy="266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t2:=</a:t>
            </a:r>
            <a:r>
              <a:rPr lang="en-US" sz="2400" dirty="0" err="1">
                <a:solidFill>
                  <a:schemeClr val="tx1"/>
                </a:solidFill>
              </a:rPr>
              <a:t>c+d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t3:=e-t2</a:t>
            </a:r>
          </a:p>
          <a:p>
            <a:r>
              <a:rPr lang="en-US" sz="2400" dirty="0">
                <a:solidFill>
                  <a:schemeClr val="tx1"/>
                </a:solidFill>
              </a:rPr>
              <a:t>t1:=</a:t>
            </a:r>
            <a:r>
              <a:rPr lang="en-US" sz="2400" dirty="0" err="1">
                <a:solidFill>
                  <a:schemeClr val="tx1"/>
                </a:solidFill>
              </a:rPr>
              <a:t>a+b</a:t>
            </a:r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t4:=t1-t3</a:t>
            </a:r>
          </a:p>
          <a:p>
            <a:r>
              <a:rPr lang="en-US" sz="2000" b="1" dirty="0">
                <a:solidFill>
                  <a:srgbClr val="0E47A1"/>
                </a:solidFill>
              </a:rPr>
              <a:t>Three Address Code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49CDFA-C682-80ED-53C6-3E749D65D1F0}"/>
              </a:ext>
            </a:extLst>
          </p:cNvPr>
          <p:cNvSpPr/>
          <p:nvPr/>
        </p:nvSpPr>
        <p:spPr>
          <a:xfrm>
            <a:off x="6943725" y="2514600"/>
            <a:ext cx="2971800" cy="3886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chemeClr val="tx1"/>
                </a:solidFill>
              </a:rPr>
              <a:t>MOV c, R0</a:t>
            </a:r>
          </a:p>
          <a:p>
            <a:r>
              <a:rPr lang="en-US" sz="2400">
                <a:solidFill>
                  <a:schemeClr val="tx1"/>
                </a:solidFill>
              </a:rPr>
              <a:t>ADD d, R0</a:t>
            </a:r>
          </a:p>
          <a:p>
            <a:r>
              <a:rPr lang="en-US" sz="2400">
                <a:solidFill>
                  <a:schemeClr val="tx1"/>
                </a:solidFill>
              </a:rPr>
              <a:t>MOV e, R1</a:t>
            </a:r>
          </a:p>
          <a:p>
            <a:r>
              <a:rPr lang="en-US" sz="2400">
                <a:solidFill>
                  <a:schemeClr val="tx1"/>
                </a:solidFill>
              </a:rPr>
              <a:t>SUB R0, R1</a:t>
            </a:r>
          </a:p>
          <a:p>
            <a:r>
              <a:rPr lang="en-US" sz="2400">
                <a:solidFill>
                  <a:schemeClr val="tx1"/>
                </a:solidFill>
              </a:rPr>
              <a:t>MOV a, R0</a:t>
            </a:r>
          </a:p>
          <a:p>
            <a:r>
              <a:rPr lang="en-US" sz="2400">
                <a:solidFill>
                  <a:schemeClr val="tx1"/>
                </a:solidFill>
              </a:rPr>
              <a:t>ADD b, R0</a:t>
            </a:r>
          </a:p>
          <a:p>
            <a:r>
              <a:rPr lang="en-US" sz="2400">
                <a:solidFill>
                  <a:schemeClr val="tx1"/>
                </a:solidFill>
              </a:rPr>
              <a:t>SUB R1, R0</a:t>
            </a:r>
          </a:p>
          <a:p>
            <a:r>
              <a:rPr lang="en-US" sz="2400">
                <a:solidFill>
                  <a:schemeClr val="tx1"/>
                </a:solidFill>
              </a:rPr>
              <a:t>MOV R0, t4</a:t>
            </a:r>
          </a:p>
          <a:p>
            <a:r>
              <a:rPr lang="en-US" sz="2400" b="1">
                <a:solidFill>
                  <a:srgbClr val="0E47A1"/>
                </a:solidFill>
              </a:rPr>
              <a:t>Assembly Code</a:t>
            </a:r>
            <a:endParaRPr lang="en-US" sz="2200" b="1">
              <a:solidFill>
                <a:srgbClr val="0E47A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7180DD-26E6-7E1E-B2FE-4AE83E75B03F}"/>
              </a:ext>
            </a:extLst>
          </p:cNvPr>
          <p:cNvCxnSpPr/>
          <p:nvPr/>
        </p:nvCxnSpPr>
        <p:spPr>
          <a:xfrm>
            <a:off x="2081213" y="1752600"/>
            <a:ext cx="2490787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5CF849EA-6073-AC6C-0DB4-16ACBE3AD6DC}"/>
              </a:ext>
            </a:extLst>
          </p:cNvPr>
          <p:cNvSpPr/>
          <p:nvPr/>
        </p:nvSpPr>
        <p:spPr>
          <a:xfrm>
            <a:off x="2488406" y="1364103"/>
            <a:ext cx="1676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C00000"/>
                </a:solidFill>
              </a:rPr>
              <a:t>Re-arrange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E165C6-99F5-E805-9A21-612D2E6ED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4444" y="787400"/>
            <a:ext cx="2616996" cy="165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DFA23-98AF-A3C1-B26B-41221D40B12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Algorithm: Heuristic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74DD7-1AC6-C450-86EA-05695F2F5DA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Obtain all the interior nodes. Consider these interior nodes as unlisted nodes.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while(unlisted interior nodes remain) </a:t>
            </a:r>
            <a:endParaRPr lang="en-US" dirty="0"/>
          </a:p>
          <a:p>
            <a:pPr marL="0" indent="0" defTabSz="404813">
              <a:buFont typeface="Arial" panose="020B0604020202020204" pitchFamily="34" charset="0"/>
              <a:buNone/>
            </a:pPr>
            <a:r>
              <a:rPr lang="en-US" i="1" dirty="0"/>
              <a:t>	{</a:t>
            </a:r>
            <a:endParaRPr lang="en-US" dirty="0"/>
          </a:p>
          <a:p>
            <a:pPr marL="0" indent="0" defTabSz="688975">
              <a:buFont typeface="Arial" panose="020B0604020202020204" pitchFamily="34" charset="0"/>
              <a:buNone/>
            </a:pPr>
            <a:r>
              <a:rPr lang="en-US" i="1" dirty="0"/>
              <a:t>	pick up an unlisted node n, whose parents have been listed</a:t>
            </a:r>
            <a:endParaRPr lang="en-US" dirty="0"/>
          </a:p>
          <a:p>
            <a:pPr marL="0" indent="0" defTabSz="688975">
              <a:buFont typeface="Arial" panose="020B0604020202020204" pitchFamily="34" charset="0"/>
              <a:buNone/>
            </a:pPr>
            <a:r>
              <a:rPr lang="en-US" i="1" dirty="0"/>
              <a:t>	list n;</a:t>
            </a:r>
            <a:endParaRPr lang="en-US" dirty="0"/>
          </a:p>
          <a:p>
            <a:pPr marL="0" indent="0" defTabSz="688975">
              <a:buFont typeface="Arial" panose="020B0604020202020204" pitchFamily="34" charset="0"/>
              <a:buNone/>
            </a:pPr>
            <a:r>
              <a:rPr lang="en-US" i="1" dirty="0"/>
              <a:t>	while(the leftmost child m of n has no unlisted parent AND is not leaf)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		{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		List m;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i="1" dirty="0"/>
              <a:t>		n=m;</a:t>
            </a:r>
            <a:endParaRPr lang="en-US" dirty="0"/>
          </a:p>
          <a:p>
            <a:pPr marL="0" indent="0" defTabSz="1828800">
              <a:buFont typeface="Arial" panose="020B0604020202020204" pitchFamily="34" charset="0"/>
              <a:buNone/>
            </a:pPr>
            <a:r>
              <a:rPr lang="en-US" i="1" dirty="0"/>
              <a:t>	}</a:t>
            </a:r>
            <a:endParaRPr lang="en-US" dirty="0"/>
          </a:p>
          <a:p>
            <a:pPr marL="404813" indent="0">
              <a:buFont typeface="Arial" panose="020B0604020202020204" pitchFamily="34" charset="0"/>
              <a:buNone/>
            </a:pPr>
            <a:r>
              <a:rPr lang="en-US" i="1" dirty="0"/>
              <a:t>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672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4">
            <a:extLst>
              <a:ext uri="{FF2B5EF4-FFF2-40B4-BE49-F238E27FC236}">
                <a16:creationId xmlns:a16="http://schemas.microsoft.com/office/drawing/2014/main" id="{9533473A-9924-B63B-E957-9DF4FD9FA3B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Heuristic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6DB87B6-7EC3-1125-0203-3309C49420FB}"/>
                  </a:ext>
                </a:extLst>
              </p:cNvPr>
              <p:cNvSpPr/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6DB87B6-7EC3-1125-0203-3309C4942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BF42877-B1F4-5FAE-EDA9-3EE710735700}"/>
              </a:ext>
            </a:extLst>
          </p:cNvPr>
          <p:cNvCxnSpPr>
            <a:endCxn id="3" idx="3"/>
          </p:cNvCxnSpPr>
          <p:nvPr/>
        </p:nvCxnSpPr>
        <p:spPr>
          <a:xfrm flipV="1">
            <a:off x="1790975" y="1497090"/>
            <a:ext cx="746090" cy="45860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28869F-E194-9632-2435-CF2D6231E4C6}"/>
              </a:ext>
            </a:extLst>
          </p:cNvPr>
          <p:cNvCxnSpPr>
            <a:endCxn id="7" idx="1"/>
          </p:cNvCxnSpPr>
          <p:nvPr/>
        </p:nvCxnSpPr>
        <p:spPr>
          <a:xfrm>
            <a:off x="2932944" y="1504738"/>
            <a:ext cx="664738" cy="495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9B81E36-C715-1CDF-DF73-64D39E8683D5}"/>
                  </a:ext>
                </a:extLst>
              </p:cNvPr>
              <p:cNvSpPr/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9B81E36-C715-1CDF-DF73-64D39E8683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B8892F7-BC9E-9FB3-C520-B9317063E30D}"/>
                  </a:ext>
                </a:extLst>
              </p:cNvPr>
              <p:cNvSpPr/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B8892F7-BC9E-9FB3-C520-B9317063E3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7CE421C-D0CB-B8B6-C21F-090E568C8A33}"/>
                  </a:ext>
                </a:extLst>
              </p:cNvPr>
              <p:cNvSpPr/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7CE421C-D0CB-B8B6-C21F-090E568C8A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8F4B5C9-EE93-CB54-C8DF-7F354294C515}"/>
                  </a:ext>
                </a:extLst>
              </p:cNvPr>
              <p:cNvSpPr/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48F4B5C9-EE93-CB54-C8DF-7F354294C5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6C99A3-0B17-5400-1098-A4F3DBDD9093}"/>
              </a:ext>
            </a:extLst>
          </p:cNvPr>
          <p:cNvCxnSpPr/>
          <p:nvPr/>
        </p:nvCxnSpPr>
        <p:spPr>
          <a:xfrm flipV="1">
            <a:off x="1327786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42DF79-2F7D-344C-A3B8-AA8125A23611}"/>
              </a:ext>
            </a:extLst>
          </p:cNvPr>
          <p:cNvCxnSpPr/>
          <p:nvPr/>
        </p:nvCxnSpPr>
        <p:spPr>
          <a:xfrm>
            <a:off x="1831790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38772BB-E38F-35FB-C58E-E6CAF0A3FB16}"/>
                  </a:ext>
                </a:extLst>
              </p:cNvPr>
              <p:cNvSpPr/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38772BB-E38F-35FB-C58E-E6CAF0A3FB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7E1D17F-6034-4A0D-2C45-11E1AABD49F8}"/>
                  </a:ext>
                </a:extLst>
              </p:cNvPr>
              <p:cNvSpPr/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7E1D17F-6034-4A0D-2C45-11E1AABD4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C41E37-C8A8-F889-975F-F54EED2DF53B}"/>
              </a:ext>
            </a:extLst>
          </p:cNvPr>
          <p:cNvCxnSpPr/>
          <p:nvPr/>
        </p:nvCxnSpPr>
        <p:spPr>
          <a:xfrm flipV="1">
            <a:off x="771507" y="4976277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C22BB5-8505-4BFF-F4B1-EEAB779279E0}"/>
              </a:ext>
            </a:extLst>
          </p:cNvPr>
          <p:cNvCxnSpPr/>
          <p:nvPr/>
        </p:nvCxnSpPr>
        <p:spPr>
          <a:xfrm>
            <a:off x="1275511" y="4970465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C2A8A7B-116A-9EDE-DC20-A6CD919C7ED6}"/>
                  </a:ext>
                </a:extLst>
              </p:cNvPr>
              <p:cNvSpPr/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C2A8A7B-116A-9EDE-DC20-A6CD919C7E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6CD8322-8FEF-4CDC-E5DB-CC845744EFC9}"/>
                  </a:ext>
                </a:extLst>
              </p:cNvPr>
              <p:cNvSpPr/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6CD8322-8FEF-4CDC-E5DB-CC845744E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13A7DE0-034C-D2DA-366D-0D1297E5CF76}"/>
                  </a:ext>
                </a:extLst>
              </p:cNvPr>
              <p:cNvSpPr/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13A7DE0-034C-D2DA-366D-0D1297E5CF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6EBF945-B7F8-5631-529C-D7A7A6E75802}"/>
              </a:ext>
            </a:extLst>
          </p:cNvPr>
          <p:cNvCxnSpPr/>
          <p:nvPr/>
        </p:nvCxnSpPr>
        <p:spPr>
          <a:xfrm flipV="1">
            <a:off x="3167599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ECAFB8-626D-DB0E-E318-39B1774CF6B5}"/>
              </a:ext>
            </a:extLst>
          </p:cNvPr>
          <p:cNvCxnSpPr/>
          <p:nvPr/>
        </p:nvCxnSpPr>
        <p:spPr>
          <a:xfrm>
            <a:off x="3671603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EA6EE47-9E5B-161F-7EC2-20A14E5147C3}"/>
                  </a:ext>
                </a:extLst>
              </p:cNvPr>
              <p:cNvSpPr/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EA6EE47-9E5B-161F-7EC2-20A14E5147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CFD0D94-B956-1507-2A3C-C4A2A526ED8D}"/>
                  </a:ext>
                </a:extLst>
              </p:cNvPr>
              <p:cNvSpPr/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CFD0D94-B956-1507-2A3C-C4A2A526E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6884BC3-F9F2-4DFA-5550-D33144879752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1879856" y="2339261"/>
            <a:ext cx="657209" cy="49278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3AE5D5D-8847-AD4E-737F-C31D20D1CA82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2930414" y="2361017"/>
            <a:ext cx="667268" cy="471033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0345EF-7055-3FFF-06D2-9D6FF63DDABF}"/>
              </a:ext>
            </a:extLst>
          </p:cNvPr>
          <p:cNvCxnSpPr>
            <a:stCxn id="9" idx="7"/>
          </p:cNvCxnSpPr>
          <p:nvPr/>
        </p:nvCxnSpPr>
        <p:spPr>
          <a:xfrm flipV="1">
            <a:off x="1925020" y="3193924"/>
            <a:ext cx="609249" cy="66259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3B4653-C35B-2DDE-9E34-C5F4C4FA4375}"/>
              </a:ext>
            </a:extLst>
          </p:cNvPr>
          <p:cNvCxnSpPr>
            <a:endCxn id="18" idx="0"/>
          </p:cNvCxnSpPr>
          <p:nvPr/>
        </p:nvCxnSpPr>
        <p:spPr>
          <a:xfrm>
            <a:off x="2930148" y="3201572"/>
            <a:ext cx="638011" cy="58032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0CC162-53F7-2AC6-2A95-1FD845E85B36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flipH="1">
            <a:off x="1172067" y="2413888"/>
            <a:ext cx="511115" cy="208968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409983B-E28A-74C1-1196-32D39BF33915}"/>
              </a:ext>
            </a:extLst>
          </p:cNvPr>
          <p:cNvCxnSpPr>
            <a:stCxn id="7" idx="4"/>
            <a:endCxn id="21" idx="0"/>
          </p:cNvCxnSpPr>
          <p:nvPr/>
        </p:nvCxnSpPr>
        <p:spPr>
          <a:xfrm>
            <a:off x="3794357" y="2435644"/>
            <a:ext cx="322389" cy="211879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91D4EA8-3D71-0C78-7D68-FBFD46CF1907}"/>
                  </a:ext>
                </a:extLst>
              </p:cNvPr>
              <p:cNvSpPr/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91D4EA8-3D71-0C78-7D68-FBFD46CF1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blipFill>
                <a:blip r:embed="rId14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DA27422-D96B-B524-7FE9-CF49CF23365C}"/>
                  </a:ext>
                </a:extLst>
              </p:cNvPr>
              <p:cNvSpPr/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ADA27422-D96B-B524-7FE9-CF49CF2336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blipFill>
                <a:blip r:embed="rId15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1D8B217-43DF-E7CA-6B9F-DFA81B8B5C38}"/>
                  </a:ext>
                </a:extLst>
              </p:cNvPr>
              <p:cNvSpPr/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1D8B217-43DF-E7CA-6B9F-DFA81B8B5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blipFill>
                <a:blip r:embed="rId16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5D0CA7-286A-C876-12E9-DC56E4C1C9FF}"/>
                  </a:ext>
                </a:extLst>
              </p:cNvPr>
              <p:cNvSpPr/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25D0CA7-286A-C876-12E9-DC56E4C1C9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blipFill>
                <a:blip r:embed="rId17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5630684-9F01-883F-E916-F460A53CD7AC}"/>
                  </a:ext>
                </a:extLst>
              </p:cNvPr>
              <p:cNvSpPr/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5630684-9F01-883F-E916-F460A53CD7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blipFill>
                <a:blip r:embed="rId18"/>
                <a:stretch>
                  <a:fillRect l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8A15217-E6BC-91DE-6454-21C30482282A}"/>
                  </a:ext>
                </a:extLst>
              </p:cNvPr>
              <p:cNvSpPr/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8A15217-E6BC-91DE-6454-21C304822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blipFill>
                <a:blip r:embed="rId19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84FC015-F335-7EC1-3909-401EB3F85D08}"/>
                  </a:ext>
                </a:extLst>
              </p:cNvPr>
              <p:cNvSpPr/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84FC015-F335-7EC1-3909-401EB3F85D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blipFill>
                <a:blip r:embed="rId20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5E71C70-A1C2-1148-DBE5-59CA3FE25274}"/>
                  </a:ext>
                </a:extLst>
              </p:cNvPr>
              <p:cNvSpPr/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25E71C70-A1C2-1148-DBE5-59CA3FE252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blipFill>
                <a:blip r:embed="rId21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1A052BF-14D7-A29C-42B5-E71FA71039A1}"/>
                  </a:ext>
                </a:extLst>
              </p:cNvPr>
              <p:cNvSpPr/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1A052BF-14D7-A29C-42B5-E71FA71039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blipFill>
                <a:blip r:embed="rId22"/>
                <a:stretch>
                  <a:fillRect l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B8DB9A11-A480-68BA-C489-E02E961E4CFA}"/>
              </a:ext>
            </a:extLst>
          </p:cNvPr>
          <p:cNvSpPr/>
          <p:nvPr/>
        </p:nvSpPr>
        <p:spPr>
          <a:xfrm>
            <a:off x="1940151" y="544744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D914C5E-DA4D-FAFF-3185-7500E2437F92}"/>
              </a:ext>
            </a:extLst>
          </p:cNvPr>
          <p:cNvSpPr/>
          <p:nvPr/>
        </p:nvSpPr>
        <p:spPr>
          <a:xfrm>
            <a:off x="3167599" y="464156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</a:rPr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EB4CC99-49C9-BC12-3D16-E92A8670E532}"/>
              </a:ext>
            </a:extLst>
          </p:cNvPr>
          <p:cNvSpPr/>
          <p:nvPr/>
        </p:nvSpPr>
        <p:spPr>
          <a:xfrm>
            <a:off x="4315828" y="4642329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Cambria" panose="02040503050406030204" pitchFamily="18" charset="0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B4B7D1C-B7F0-6672-7391-283CB4081E9D}"/>
                  </a:ext>
                </a:extLst>
              </p:cNvPr>
              <p:cNvSpPr/>
              <p:nvPr/>
            </p:nvSpPr>
            <p:spPr>
              <a:xfrm>
                <a:off x="4488038" y="1086015"/>
                <a:ext cx="4077496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𝐼𝑛𝑡𝑒𝑟𝑖𝑜𝑟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B4B7D1C-B7F0-6672-7391-283CB4081E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38" y="1086015"/>
                <a:ext cx="4077496" cy="50359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01D94B27-2821-98FC-20FC-2C9FD5992A5C}"/>
              </a:ext>
            </a:extLst>
          </p:cNvPr>
          <p:cNvSpPr/>
          <p:nvPr/>
        </p:nvSpPr>
        <p:spPr>
          <a:xfrm>
            <a:off x="4899224" y="2637849"/>
            <a:ext cx="3652109" cy="978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>
                <a:solidFill>
                  <a:schemeClr val="tx1"/>
                </a:solidFill>
              </a:rPr>
              <a:t>Pick up an unlisted node, </a:t>
            </a:r>
          </a:p>
          <a:p>
            <a:pPr lvl="0" algn="ctr"/>
            <a:r>
              <a:rPr lang="en-US" b="1">
                <a:solidFill>
                  <a:schemeClr val="tx1"/>
                </a:solidFill>
              </a:rPr>
              <a:t>whose parents have been listed</a:t>
            </a:r>
          </a:p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D0BA14B-3C08-7338-644F-EA2DDDE7E33F}"/>
                  </a:ext>
                </a:extLst>
              </p:cNvPr>
              <p:cNvSpPr/>
              <p:nvPr/>
            </p:nvSpPr>
            <p:spPr>
              <a:xfrm>
                <a:off x="4454144" y="1752710"/>
                <a:ext cx="4111389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𝑈𝑛𝑙𝑖𝑠𝑡𝑒𝑑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D0BA14B-3C08-7338-644F-EA2DDDE7E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144" y="1752710"/>
                <a:ext cx="4111389" cy="50359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15E327E-3940-DA6B-0329-63489E984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315456"/>
              </p:ext>
            </p:extLst>
          </p:nvPr>
        </p:nvGraphicFramePr>
        <p:xfrm>
          <a:off x="2389557" y="5727493"/>
          <a:ext cx="7254656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2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Listed Node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CAA9000-35B4-9747-1061-719B57D4D0AB}"/>
                  </a:ext>
                </a:extLst>
              </p:cNvPr>
              <p:cNvSpPr/>
              <p:nvPr/>
            </p:nvSpPr>
            <p:spPr>
              <a:xfrm>
                <a:off x="6509838" y="3525222"/>
                <a:ext cx="457200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DCAA9000-35B4-9747-1061-719B57D4D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838" y="3525222"/>
                <a:ext cx="457200" cy="415907"/>
              </a:xfrm>
              <a:prstGeom prst="rect">
                <a:avLst/>
              </a:prstGeom>
              <a:blipFill>
                <a:blip r:embed="rId25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668DDD83-C482-268E-AE65-D35554A23C88}"/>
              </a:ext>
            </a:extLst>
          </p:cNvPr>
          <p:cNvSpPr/>
          <p:nvPr/>
        </p:nvSpPr>
        <p:spPr>
          <a:xfrm>
            <a:off x="3874695" y="5824894"/>
            <a:ext cx="342900" cy="290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ECD8FD4-0386-922B-EF03-23A6292E4E16}"/>
              </a:ext>
            </a:extLst>
          </p:cNvPr>
          <p:cNvSpPr/>
          <p:nvPr/>
        </p:nvSpPr>
        <p:spPr>
          <a:xfrm>
            <a:off x="5292940" y="4077942"/>
            <a:ext cx="2667000" cy="72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0E47A1"/>
                </a:solidFill>
              </a:rPr>
              <a:t>Leftchild of 1 = </a:t>
            </a:r>
          </a:p>
          <a:p>
            <a:pPr algn="ctr"/>
            <a:r>
              <a:rPr lang="en-US" b="1">
                <a:solidFill>
                  <a:srgbClr val="0E47A1"/>
                </a:solidFill>
              </a:rPr>
              <a:t>Parent 1 is listed so list 2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FF07F16-C981-D014-766F-24244A708831}"/>
              </a:ext>
            </a:extLst>
          </p:cNvPr>
          <p:cNvCxnSpPr/>
          <p:nvPr/>
        </p:nvCxnSpPr>
        <p:spPr>
          <a:xfrm flipH="1">
            <a:off x="6866590" y="1810282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3318125-0CF2-1C74-DDE1-93FBE2C2FB68}"/>
                  </a:ext>
                </a:extLst>
              </p:cNvPr>
              <p:cNvSpPr/>
              <p:nvPr/>
            </p:nvSpPr>
            <p:spPr>
              <a:xfrm>
                <a:off x="7315200" y="4109926"/>
                <a:ext cx="457200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3318125-0CF2-1C74-DDE1-93FBE2C2F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4109926"/>
                <a:ext cx="457200" cy="415907"/>
              </a:xfrm>
              <a:prstGeom prst="rect">
                <a:avLst/>
              </a:prstGeom>
              <a:blipFill>
                <a:blip r:embed="rId26"/>
                <a:stretch>
                  <a:fillRect l="-1333" b="-14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F971EBE-26CC-4AB4-EDB6-2E41CCBD7995}"/>
              </a:ext>
            </a:extLst>
          </p:cNvPr>
          <p:cNvCxnSpPr/>
          <p:nvPr/>
        </p:nvCxnSpPr>
        <p:spPr>
          <a:xfrm flipH="1">
            <a:off x="7075640" y="1849398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6A428D62-5B30-2430-CDC4-FDDA68C9FF24}"/>
              </a:ext>
            </a:extLst>
          </p:cNvPr>
          <p:cNvSpPr/>
          <p:nvPr/>
        </p:nvSpPr>
        <p:spPr>
          <a:xfrm>
            <a:off x="4677398" y="5785706"/>
            <a:ext cx="342900" cy="311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A91E265-D570-EF33-B97E-B430E0D6C41E}"/>
              </a:ext>
            </a:extLst>
          </p:cNvPr>
          <p:cNvSpPr/>
          <p:nvPr/>
        </p:nvSpPr>
        <p:spPr>
          <a:xfrm>
            <a:off x="4743131" y="4071262"/>
            <a:ext cx="3717758" cy="72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0E47A1"/>
                </a:solidFill>
              </a:rPr>
              <a:t>Leftchild of 2 = </a:t>
            </a:r>
          </a:p>
          <a:p>
            <a:pPr algn="ctr"/>
            <a:r>
              <a:rPr lang="en-US" b="1">
                <a:solidFill>
                  <a:srgbClr val="0E47A1"/>
                </a:solidFill>
              </a:rPr>
              <a:t>Parent 5 is not listed so can’t list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A997250-F9D8-439B-56FE-951FF4555185}"/>
                  </a:ext>
                </a:extLst>
              </p:cNvPr>
              <p:cNvSpPr/>
              <p:nvPr/>
            </p:nvSpPr>
            <p:spPr>
              <a:xfrm>
                <a:off x="7315200" y="4103246"/>
                <a:ext cx="457200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A997250-F9D8-439B-56FE-951FF45551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4103246"/>
                <a:ext cx="457200" cy="415907"/>
              </a:xfrm>
              <a:prstGeom prst="rect">
                <a:avLst/>
              </a:prstGeom>
              <a:blipFill>
                <a:blip r:embed="rId27"/>
                <a:stretch>
                  <a:fillRect l="-1333" b="-14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965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dur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5" grpId="0"/>
      <p:bldP spid="45" grpId="1"/>
      <p:bldP spid="46" grpId="0" animBg="1"/>
      <p:bldP spid="47" grpId="0" uiExpand="1" build="allAtOnce"/>
      <p:bldP spid="49" grpId="0"/>
      <p:bldP spid="49" grpId="1"/>
      <p:bldP spid="51" grpId="0" animBg="1"/>
      <p:bldP spid="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5">
            <a:extLst>
              <a:ext uri="{FF2B5EF4-FFF2-40B4-BE49-F238E27FC236}">
                <a16:creationId xmlns:a16="http://schemas.microsoft.com/office/drawing/2014/main" id="{2CEE0BB8-BBD9-669A-7947-07CD1EBADD0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Heuristic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D5D47DE-F550-AC21-B5E2-9B60B42E2D01}"/>
                  </a:ext>
                </a:extLst>
              </p:cNvPr>
              <p:cNvSpPr/>
              <p:nvPr/>
            </p:nvSpPr>
            <p:spPr>
              <a:xfrm>
                <a:off x="2455600" y="1062129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D5D47DE-F550-AC21-B5E2-9B60B42E2D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1062129"/>
                <a:ext cx="578585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5C6EBA-0710-CDB4-DBC0-D3698E16A17C}"/>
              </a:ext>
            </a:extLst>
          </p:cNvPr>
          <p:cNvCxnSpPr>
            <a:endCxn id="3" idx="3"/>
          </p:cNvCxnSpPr>
          <p:nvPr/>
        </p:nvCxnSpPr>
        <p:spPr>
          <a:xfrm flipV="1">
            <a:off x="1790975" y="1497090"/>
            <a:ext cx="749357" cy="45860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E5AE4F-24AF-91E7-828A-3FB51AAEB65D}"/>
              </a:ext>
            </a:extLst>
          </p:cNvPr>
          <p:cNvCxnSpPr>
            <a:endCxn id="7" idx="1"/>
          </p:cNvCxnSpPr>
          <p:nvPr/>
        </p:nvCxnSpPr>
        <p:spPr>
          <a:xfrm>
            <a:off x="2932944" y="1504738"/>
            <a:ext cx="668005" cy="495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845B0C6-333E-B639-98FB-7076238C851A}"/>
                  </a:ext>
                </a:extLst>
              </p:cNvPr>
              <p:cNvSpPr/>
              <p:nvPr/>
            </p:nvSpPr>
            <p:spPr>
              <a:xfrm>
                <a:off x="1405042" y="1904300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845B0C6-333E-B639-98FB-7076238C85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042" y="1904300"/>
                <a:ext cx="578585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670265-1694-24A2-C388-28046605D4AC}"/>
                  </a:ext>
                </a:extLst>
              </p:cNvPr>
              <p:cNvSpPr/>
              <p:nvPr/>
            </p:nvSpPr>
            <p:spPr>
              <a:xfrm>
                <a:off x="3516217" y="1926056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670265-1694-24A2-C388-28046605D4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217" y="1926056"/>
                <a:ext cx="578585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010A23A-9585-65E0-53FA-908C991CAD1B}"/>
                  </a:ext>
                </a:extLst>
              </p:cNvPr>
              <p:cNvSpPr/>
              <p:nvPr/>
            </p:nvSpPr>
            <p:spPr>
              <a:xfrm>
                <a:off x="2455600" y="2757423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010A23A-9585-65E0-53FA-908C991CAD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2757423"/>
                <a:ext cx="578585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18B946F-62A0-9620-7A7C-B3E60781E002}"/>
                  </a:ext>
                </a:extLst>
              </p:cNvPr>
              <p:cNvSpPr/>
              <p:nvPr/>
            </p:nvSpPr>
            <p:spPr>
              <a:xfrm>
                <a:off x="1450206" y="3781893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18B946F-62A0-9620-7A7C-B3E60781E0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06" y="3781893"/>
                <a:ext cx="578585" cy="50958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876D1E9-2336-6E6A-88D4-8EE6E476EDC5}"/>
              </a:ext>
            </a:extLst>
          </p:cNvPr>
          <p:cNvCxnSpPr/>
          <p:nvPr/>
        </p:nvCxnSpPr>
        <p:spPr>
          <a:xfrm flipV="1">
            <a:off x="1327786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8FDC88-C003-1CAC-35CC-E9B3E966CB9B}"/>
              </a:ext>
            </a:extLst>
          </p:cNvPr>
          <p:cNvCxnSpPr/>
          <p:nvPr/>
        </p:nvCxnSpPr>
        <p:spPr>
          <a:xfrm>
            <a:off x="1831790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2BF73D0-ED8B-7340-338D-FBD4FB484548}"/>
                  </a:ext>
                </a:extLst>
              </p:cNvPr>
              <p:cNvSpPr/>
              <p:nvPr/>
            </p:nvSpPr>
            <p:spPr>
              <a:xfrm>
                <a:off x="1998793" y="4554435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2BF73D0-ED8B-7340-338D-FBD4FB4845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793" y="4554435"/>
                <a:ext cx="578585" cy="50958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40918D3-3C0F-346D-7BB3-43C0A0ACD989}"/>
                  </a:ext>
                </a:extLst>
              </p:cNvPr>
              <p:cNvSpPr/>
              <p:nvPr/>
            </p:nvSpPr>
            <p:spPr>
              <a:xfrm>
                <a:off x="893927" y="4503576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40918D3-3C0F-346D-7BB3-43C0A0ACD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27" y="4503576"/>
                <a:ext cx="578585" cy="50958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08FA6F-FDF2-73E9-4D7C-5A1458B42ACC}"/>
              </a:ext>
            </a:extLst>
          </p:cNvPr>
          <p:cNvCxnSpPr/>
          <p:nvPr/>
        </p:nvCxnSpPr>
        <p:spPr>
          <a:xfrm flipV="1">
            <a:off x="771507" y="4976277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E79C9CD-1646-8E78-A371-BC04F695E735}"/>
              </a:ext>
            </a:extLst>
          </p:cNvPr>
          <p:cNvCxnSpPr/>
          <p:nvPr/>
        </p:nvCxnSpPr>
        <p:spPr>
          <a:xfrm>
            <a:off x="1275511" y="4970465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CDC1AC4-368B-4B9D-2C1E-372D9F4788DD}"/>
                  </a:ext>
                </a:extLst>
              </p:cNvPr>
              <p:cNvSpPr/>
              <p:nvPr/>
            </p:nvSpPr>
            <p:spPr>
              <a:xfrm>
                <a:off x="1442514" y="5276118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CDC1AC4-368B-4B9D-2C1E-372D9F4788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514" y="5276118"/>
                <a:ext cx="578585" cy="50958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F115D4E-9EA2-4A1C-315F-3A78C20119C5}"/>
                  </a:ext>
                </a:extLst>
              </p:cNvPr>
              <p:cNvSpPr/>
              <p:nvPr/>
            </p:nvSpPr>
            <p:spPr>
              <a:xfrm>
                <a:off x="340445" y="5262146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0F115D4E-9EA2-4A1C-315F-3A78C2011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5" y="5262146"/>
                <a:ext cx="578585" cy="50958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01E6162-0E53-BFBF-F9E3-37709A26DF2C}"/>
                  </a:ext>
                </a:extLst>
              </p:cNvPr>
              <p:cNvSpPr/>
              <p:nvPr/>
            </p:nvSpPr>
            <p:spPr>
              <a:xfrm>
                <a:off x="3290019" y="3781893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01E6162-0E53-BFBF-F9E3-37709A26DF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019" y="3781893"/>
                <a:ext cx="578585" cy="50958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6CD0D16-7E53-BDB3-7C82-814E27E94888}"/>
              </a:ext>
            </a:extLst>
          </p:cNvPr>
          <p:cNvCxnSpPr/>
          <p:nvPr/>
        </p:nvCxnSpPr>
        <p:spPr>
          <a:xfrm flipV="1">
            <a:off x="3167599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6EB3CA-6C18-AA4A-FEF0-4ED7B4E80CA5}"/>
              </a:ext>
            </a:extLst>
          </p:cNvPr>
          <p:cNvCxnSpPr/>
          <p:nvPr/>
        </p:nvCxnSpPr>
        <p:spPr>
          <a:xfrm>
            <a:off x="3671603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230D77-9064-BE9F-DD0C-722795D80667}"/>
                  </a:ext>
                </a:extLst>
              </p:cNvPr>
              <p:cNvSpPr/>
              <p:nvPr/>
            </p:nvSpPr>
            <p:spPr>
              <a:xfrm>
                <a:off x="3838606" y="4554435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230D77-9064-BE9F-DD0C-722795D806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06" y="4554435"/>
                <a:ext cx="578585" cy="50958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063AF83-D3E0-8DF4-1297-441DF6D1DEA7}"/>
                  </a:ext>
                </a:extLst>
              </p:cNvPr>
              <p:cNvSpPr/>
              <p:nvPr/>
            </p:nvSpPr>
            <p:spPr>
              <a:xfrm>
                <a:off x="2733740" y="4503576"/>
                <a:ext cx="578585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063AF83-D3E0-8DF4-1297-441DF6D1D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40" y="4503576"/>
                <a:ext cx="578585" cy="50958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F8C424-A794-FB1F-7116-3220D9937311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1898895" y="2339261"/>
            <a:ext cx="641437" cy="49278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5DFCDB6-F0BF-3D33-F0BC-16E6E25ED6A9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2949453" y="2361017"/>
            <a:ext cx="651496" cy="471033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80E1CB-9D88-0D7E-02A0-2512F5712DE2}"/>
              </a:ext>
            </a:extLst>
          </p:cNvPr>
          <p:cNvCxnSpPr>
            <a:stCxn id="9" idx="7"/>
          </p:cNvCxnSpPr>
          <p:nvPr/>
        </p:nvCxnSpPr>
        <p:spPr>
          <a:xfrm flipV="1">
            <a:off x="1944059" y="3193924"/>
            <a:ext cx="590210" cy="66259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07EDF25-C95B-772C-45DC-A1EF0D859ADB}"/>
              </a:ext>
            </a:extLst>
          </p:cNvPr>
          <p:cNvCxnSpPr>
            <a:endCxn id="18" idx="0"/>
          </p:cNvCxnSpPr>
          <p:nvPr/>
        </p:nvCxnSpPr>
        <p:spPr>
          <a:xfrm>
            <a:off x="2930148" y="3201572"/>
            <a:ext cx="649164" cy="58032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844562B-93D5-3BA9-75F6-ECCB36196310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flipH="1">
            <a:off x="1183220" y="2413888"/>
            <a:ext cx="511115" cy="208968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DD5F01-72D8-1C0B-486F-368E3082A234}"/>
              </a:ext>
            </a:extLst>
          </p:cNvPr>
          <p:cNvCxnSpPr>
            <a:stCxn id="7" idx="4"/>
            <a:endCxn id="21" idx="0"/>
          </p:cNvCxnSpPr>
          <p:nvPr/>
        </p:nvCxnSpPr>
        <p:spPr>
          <a:xfrm>
            <a:off x="3805510" y="2435644"/>
            <a:ext cx="322389" cy="211879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FE31072-DD7B-FA4D-E731-B1F11127760C}"/>
                  </a:ext>
                </a:extLst>
              </p:cNvPr>
              <p:cNvSpPr/>
              <p:nvPr/>
            </p:nvSpPr>
            <p:spPr>
              <a:xfrm>
                <a:off x="3032989" y="1170887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FE31072-DD7B-FA4D-E731-B1F111277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989" y="1170887"/>
                <a:ext cx="350929" cy="333851"/>
              </a:xfrm>
              <a:prstGeom prst="rect">
                <a:avLst/>
              </a:prstGeom>
              <a:blipFill>
                <a:blip r:embed="rId14"/>
                <a:stretch>
                  <a:fillRect l="-17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6E580C-7345-7775-D7B3-8F18B827E954}"/>
                  </a:ext>
                </a:extLst>
              </p:cNvPr>
              <p:cNvSpPr/>
              <p:nvPr/>
            </p:nvSpPr>
            <p:spPr>
              <a:xfrm>
                <a:off x="1067647" y="1946830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6E580C-7345-7775-D7B3-8F18B827E9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47" y="1946830"/>
                <a:ext cx="350929" cy="333851"/>
              </a:xfrm>
              <a:prstGeom prst="rect">
                <a:avLst/>
              </a:prstGeom>
              <a:blipFill>
                <a:blip r:embed="rId15"/>
                <a:stretch>
                  <a:fillRect l="-17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615B32C-A450-2CA0-658D-E48D01059850}"/>
                  </a:ext>
                </a:extLst>
              </p:cNvPr>
              <p:cNvSpPr/>
              <p:nvPr/>
            </p:nvSpPr>
            <p:spPr>
              <a:xfrm>
                <a:off x="4116744" y="2000683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615B32C-A450-2CA0-658D-E48D010598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744" y="2000683"/>
                <a:ext cx="350929" cy="33385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4436A19-7A9E-D1FB-C30F-3EEF7B7EE371}"/>
                  </a:ext>
                </a:extLst>
              </p:cNvPr>
              <p:cNvSpPr/>
              <p:nvPr/>
            </p:nvSpPr>
            <p:spPr>
              <a:xfrm>
                <a:off x="3019956" y="2832192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4436A19-7A9E-D1FB-C30F-3EEF7B7EE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956" y="2832192"/>
                <a:ext cx="350929" cy="33385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8AED0E-7828-D284-6455-780EE2946F62}"/>
                  </a:ext>
                </a:extLst>
              </p:cNvPr>
              <p:cNvSpPr/>
              <p:nvPr/>
            </p:nvSpPr>
            <p:spPr>
              <a:xfrm>
                <a:off x="2018819" y="3855034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58AED0E-7828-D284-6455-780EE2946F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819" y="3855034"/>
                <a:ext cx="350929" cy="333851"/>
              </a:xfrm>
              <a:prstGeom prst="rect">
                <a:avLst/>
              </a:prstGeom>
              <a:blipFill>
                <a:blip r:embed="rId18"/>
                <a:stretch>
                  <a:fillRect l="-17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5099461-CC7A-E13C-2D9D-FC10F92DD3AC}"/>
                  </a:ext>
                </a:extLst>
              </p:cNvPr>
              <p:cNvSpPr/>
              <p:nvPr/>
            </p:nvSpPr>
            <p:spPr>
              <a:xfrm>
                <a:off x="610498" y="4570426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5099461-CC7A-E13C-2D9D-FC10F92DD3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98" y="4570426"/>
                <a:ext cx="350929" cy="333851"/>
              </a:xfrm>
              <a:prstGeom prst="rect">
                <a:avLst/>
              </a:prstGeom>
              <a:blipFill>
                <a:blip r:embed="rId19"/>
                <a:stretch>
                  <a:fillRect l="-17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F56C206-8676-6937-D221-78E6C147F213}"/>
                  </a:ext>
                </a:extLst>
              </p:cNvPr>
              <p:cNvSpPr/>
              <p:nvPr/>
            </p:nvSpPr>
            <p:spPr>
              <a:xfrm>
                <a:off x="-19048" y="5350014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DF56C206-8676-6937-D221-78E6C147F2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48" y="5350014"/>
                <a:ext cx="350929" cy="333851"/>
              </a:xfrm>
              <a:prstGeom prst="rect">
                <a:avLst/>
              </a:prstGeom>
              <a:blipFill>
                <a:blip r:embed="rId20"/>
                <a:stretch>
                  <a:fillRect l="-175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756AFF3-9DDD-F232-A668-2675D8119220}"/>
                  </a:ext>
                </a:extLst>
              </p:cNvPr>
              <p:cNvSpPr/>
              <p:nvPr/>
            </p:nvSpPr>
            <p:spPr>
              <a:xfrm>
                <a:off x="1678466" y="4636783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756AFF3-9DDD-F232-A668-2675D81192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66" y="4636783"/>
                <a:ext cx="350929" cy="33385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6E19FD6-B47A-F539-732D-CCD43E21A0F4}"/>
                  </a:ext>
                </a:extLst>
              </p:cNvPr>
              <p:cNvSpPr/>
              <p:nvPr/>
            </p:nvSpPr>
            <p:spPr>
              <a:xfrm>
                <a:off x="2969997" y="3863949"/>
                <a:ext cx="350929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6E19FD6-B47A-F539-732D-CCD43E21A0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97" y="3863949"/>
                <a:ext cx="350929" cy="333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A5AE3911-A039-ED65-6C1E-2259663F9F6E}"/>
              </a:ext>
            </a:extLst>
          </p:cNvPr>
          <p:cNvSpPr/>
          <p:nvPr/>
        </p:nvSpPr>
        <p:spPr>
          <a:xfrm>
            <a:off x="1940151" y="5447441"/>
            <a:ext cx="536118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EAD6E39-3237-379A-28B7-44B056D38A30}"/>
              </a:ext>
            </a:extLst>
          </p:cNvPr>
          <p:cNvSpPr/>
          <p:nvPr/>
        </p:nvSpPr>
        <p:spPr>
          <a:xfrm>
            <a:off x="3167599" y="4641561"/>
            <a:ext cx="536118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24B4CF0-4E0E-9C2F-6182-D4BBC1A6F9C8}"/>
              </a:ext>
            </a:extLst>
          </p:cNvPr>
          <p:cNvSpPr/>
          <p:nvPr/>
        </p:nvSpPr>
        <p:spPr>
          <a:xfrm>
            <a:off x="4315828" y="4642329"/>
            <a:ext cx="536118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A593ED8-AEDC-86C7-FA33-8AF771506EB5}"/>
                  </a:ext>
                </a:extLst>
              </p:cNvPr>
              <p:cNvSpPr/>
              <p:nvPr/>
            </p:nvSpPr>
            <p:spPr>
              <a:xfrm>
                <a:off x="4488038" y="1086015"/>
                <a:ext cx="4240996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𝐼𝑛𝑡𝑒𝑟𝑖𝑜𝑟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A593ED8-AEDC-86C7-FA33-8AF771506E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38" y="1086015"/>
                <a:ext cx="4240996" cy="50359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7709FBF7-3491-1113-190E-8C2694356A8C}"/>
              </a:ext>
            </a:extLst>
          </p:cNvPr>
          <p:cNvSpPr/>
          <p:nvPr/>
        </p:nvSpPr>
        <p:spPr>
          <a:xfrm>
            <a:off x="4899224" y="2637849"/>
            <a:ext cx="3798552" cy="978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>
                <a:solidFill>
                  <a:schemeClr val="tx1"/>
                </a:solidFill>
              </a:rPr>
              <a:t>Pick up an unlisted node, </a:t>
            </a:r>
          </a:p>
          <a:p>
            <a:pPr lvl="0" algn="ctr"/>
            <a:r>
              <a:rPr lang="en-US" b="1">
                <a:solidFill>
                  <a:schemeClr val="tx1"/>
                </a:solidFill>
              </a:rPr>
              <a:t>whose parents have been listed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03F5B9F-20A2-D243-49FD-F888DEB2F320}"/>
                  </a:ext>
                </a:extLst>
              </p:cNvPr>
              <p:cNvSpPr/>
              <p:nvPr/>
            </p:nvSpPr>
            <p:spPr>
              <a:xfrm>
                <a:off x="4454144" y="1752710"/>
                <a:ext cx="4276248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𝑈𝑛𝑙𝑖𝑠𝑡𝑒𝑑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03F5B9F-20A2-D243-49FD-F888DEB2F3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144" y="1752710"/>
                <a:ext cx="4276248" cy="50359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E67B7066-8D9B-3800-D393-BDE7737121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045267"/>
              </p:ext>
            </p:extLst>
          </p:nvPr>
        </p:nvGraphicFramePr>
        <p:xfrm>
          <a:off x="2389557" y="5727493"/>
          <a:ext cx="7492391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08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0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08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08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8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416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Listed Node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25EC4DE-494E-F4A9-6550-826FD94495C1}"/>
                  </a:ext>
                </a:extLst>
              </p:cNvPr>
              <p:cNvSpPr/>
              <p:nvPr/>
            </p:nvSpPr>
            <p:spPr>
              <a:xfrm>
                <a:off x="7372581" y="4112627"/>
                <a:ext cx="475533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F25EC4DE-494E-F4A9-6550-826FD94495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581" y="4112627"/>
                <a:ext cx="475533" cy="41590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6BE4E6C1-69ED-01C8-3381-79C2A37F1C44}"/>
              </a:ext>
            </a:extLst>
          </p:cNvPr>
          <p:cNvSpPr/>
          <p:nvPr/>
        </p:nvSpPr>
        <p:spPr>
          <a:xfrm>
            <a:off x="5476343" y="5798220"/>
            <a:ext cx="356650" cy="2785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52F5961-F88D-F1FC-1FC0-589F9AA1AD70}"/>
              </a:ext>
            </a:extLst>
          </p:cNvPr>
          <p:cNvSpPr/>
          <p:nvPr/>
        </p:nvSpPr>
        <p:spPr>
          <a:xfrm>
            <a:off x="5367155" y="4112627"/>
            <a:ext cx="2620143" cy="72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0E47A1"/>
                </a:solidFill>
              </a:rPr>
              <a:t>Rightchild of 1 = </a:t>
            </a:r>
          </a:p>
          <a:p>
            <a:pPr algn="ctr"/>
            <a:r>
              <a:rPr lang="en-US" b="1">
                <a:solidFill>
                  <a:srgbClr val="0E47A1"/>
                </a:solidFill>
              </a:rPr>
              <a:t>Parent 1 is listed so list 3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7436348-90E2-B695-2B1D-A95DD6C72617}"/>
              </a:ext>
            </a:extLst>
          </p:cNvPr>
          <p:cNvCxnSpPr/>
          <p:nvPr/>
        </p:nvCxnSpPr>
        <p:spPr>
          <a:xfrm flipH="1">
            <a:off x="6936710" y="1810282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CCCD830-9C2C-C32F-DD55-F6819C4C6654}"/>
              </a:ext>
            </a:extLst>
          </p:cNvPr>
          <p:cNvCxnSpPr/>
          <p:nvPr/>
        </p:nvCxnSpPr>
        <p:spPr>
          <a:xfrm flipH="1">
            <a:off x="7145760" y="1849398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51DA133-8789-3983-D675-59CCE838DA7A}"/>
              </a:ext>
            </a:extLst>
          </p:cNvPr>
          <p:cNvCxnSpPr/>
          <p:nvPr/>
        </p:nvCxnSpPr>
        <p:spPr>
          <a:xfrm flipH="1">
            <a:off x="7374360" y="1845051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1DB7004-88C5-6BF2-7F01-1BCB77913E6A}"/>
              </a:ext>
            </a:extLst>
          </p:cNvPr>
          <p:cNvSpPr/>
          <p:nvPr/>
        </p:nvSpPr>
        <p:spPr>
          <a:xfrm>
            <a:off x="5268413" y="4107711"/>
            <a:ext cx="3030564" cy="72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0E47A1"/>
                </a:solidFill>
              </a:rPr>
              <a:t>Leftchild of 3 = </a:t>
            </a:r>
          </a:p>
          <a:p>
            <a:pPr algn="ctr"/>
            <a:r>
              <a:rPr lang="en-US" b="1">
                <a:solidFill>
                  <a:srgbClr val="0E47A1"/>
                </a:solidFill>
              </a:rPr>
              <a:t>Parent 2,3 are listed so list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92B7392-A6D1-4B4A-C358-4BD315745E3D}"/>
                  </a:ext>
                </a:extLst>
              </p:cNvPr>
              <p:cNvSpPr/>
              <p:nvPr/>
            </p:nvSpPr>
            <p:spPr>
              <a:xfrm>
                <a:off x="7400833" y="4138528"/>
                <a:ext cx="475533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92B7392-A6D1-4B4A-C358-4BD315745E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0833" y="4138528"/>
                <a:ext cx="475533" cy="415907"/>
              </a:xfrm>
              <a:prstGeom prst="rect">
                <a:avLst/>
              </a:prstGeom>
              <a:blipFill>
                <a:blip r:embed="rId26"/>
                <a:stretch>
                  <a:fillRect b="-14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A33F1CB-B5A8-C0F8-5F96-E9EAE1A4AACF}"/>
              </a:ext>
            </a:extLst>
          </p:cNvPr>
          <p:cNvCxnSpPr/>
          <p:nvPr/>
        </p:nvCxnSpPr>
        <p:spPr>
          <a:xfrm flipH="1">
            <a:off x="7583410" y="185381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6860CDA-1F13-E5C9-FE6C-C6401522156B}"/>
              </a:ext>
            </a:extLst>
          </p:cNvPr>
          <p:cNvSpPr/>
          <p:nvPr/>
        </p:nvSpPr>
        <p:spPr>
          <a:xfrm>
            <a:off x="6251886" y="5771734"/>
            <a:ext cx="356650" cy="350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6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5" grpId="1"/>
      <p:bldP spid="46" grpId="0" animBg="1"/>
      <p:bldP spid="47" grpId="0" uiExpand="1" build="allAtOnce"/>
      <p:bldP spid="52" grpId="0"/>
      <p:bldP spid="5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7">
            <a:extLst>
              <a:ext uri="{FF2B5EF4-FFF2-40B4-BE49-F238E27FC236}">
                <a16:creationId xmlns:a16="http://schemas.microsoft.com/office/drawing/2014/main" id="{DCD8BC24-E7B4-12DC-DB24-26C9F4920DC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Heuristic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D2D4657-92AC-6B3E-634D-68814B1C80FB}"/>
                  </a:ext>
                </a:extLst>
              </p:cNvPr>
              <p:cNvSpPr/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4D2D4657-92AC-6B3E-634D-68814B1C80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04E418B-286E-D804-C94B-B3D3DC96EB5C}"/>
              </a:ext>
            </a:extLst>
          </p:cNvPr>
          <p:cNvCxnSpPr>
            <a:endCxn id="3" idx="3"/>
          </p:cNvCxnSpPr>
          <p:nvPr/>
        </p:nvCxnSpPr>
        <p:spPr>
          <a:xfrm flipV="1">
            <a:off x="1790975" y="1497090"/>
            <a:ext cx="746090" cy="45860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E13885-BC7E-45FE-F723-AD6E09A21C31}"/>
              </a:ext>
            </a:extLst>
          </p:cNvPr>
          <p:cNvCxnSpPr>
            <a:endCxn id="7" idx="1"/>
          </p:cNvCxnSpPr>
          <p:nvPr/>
        </p:nvCxnSpPr>
        <p:spPr>
          <a:xfrm>
            <a:off x="2932944" y="1504738"/>
            <a:ext cx="664738" cy="495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123FEA0-6C72-58A0-31E7-D6EE63CC06CD}"/>
                  </a:ext>
                </a:extLst>
              </p:cNvPr>
              <p:cNvSpPr/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123FEA0-6C72-58A0-31E7-D6EE63CC06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A1BC9DD-62C4-9CB7-6172-97F18CB2B3FA}"/>
                  </a:ext>
                </a:extLst>
              </p:cNvPr>
              <p:cNvSpPr/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A1BC9DD-62C4-9CB7-6172-97F18CB2B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C62FBB1-6079-B2A9-B7BE-5AE9706D6CCF}"/>
                  </a:ext>
                </a:extLst>
              </p:cNvPr>
              <p:cNvSpPr/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C62FBB1-6079-B2A9-B7BE-5AE9706D6C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0CBD35E-1E00-1598-4DE3-A653418312EB}"/>
                  </a:ext>
                </a:extLst>
              </p:cNvPr>
              <p:cNvSpPr/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0CBD35E-1E00-1598-4DE3-A653418312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480B6F9-D134-CCD9-AD38-180CCAA6C1E3}"/>
              </a:ext>
            </a:extLst>
          </p:cNvPr>
          <p:cNvCxnSpPr/>
          <p:nvPr/>
        </p:nvCxnSpPr>
        <p:spPr>
          <a:xfrm flipV="1">
            <a:off x="1327786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0ABA63A-D6CA-6199-1C64-86F8E4DCB156}"/>
              </a:ext>
            </a:extLst>
          </p:cNvPr>
          <p:cNvCxnSpPr/>
          <p:nvPr/>
        </p:nvCxnSpPr>
        <p:spPr>
          <a:xfrm>
            <a:off x="1831790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8A8C673-705F-659E-542B-7C71973C17EE}"/>
                  </a:ext>
                </a:extLst>
              </p:cNvPr>
              <p:cNvSpPr/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8A8C673-705F-659E-542B-7C71973C1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A1A71CD-7024-C3DC-191C-A9E16146F1A7}"/>
                  </a:ext>
                </a:extLst>
              </p:cNvPr>
              <p:cNvSpPr/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A1A71CD-7024-C3DC-191C-A9E16146F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2F1BFE-2D18-A598-DFFB-ECC6D6F17BD1}"/>
              </a:ext>
            </a:extLst>
          </p:cNvPr>
          <p:cNvCxnSpPr/>
          <p:nvPr/>
        </p:nvCxnSpPr>
        <p:spPr>
          <a:xfrm flipV="1">
            <a:off x="771507" y="4976277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E5EF1A1-E819-370C-2DD2-49BC1B5E7182}"/>
              </a:ext>
            </a:extLst>
          </p:cNvPr>
          <p:cNvCxnSpPr/>
          <p:nvPr/>
        </p:nvCxnSpPr>
        <p:spPr>
          <a:xfrm>
            <a:off x="1275511" y="4970465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8FDF2FC-2CBE-4AF9-C66C-EF57EDBC7777}"/>
                  </a:ext>
                </a:extLst>
              </p:cNvPr>
              <p:cNvSpPr/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8FDF2FC-2CBE-4AF9-C66C-EF57EDBC77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3BA0EBD-3FBE-0E59-350E-54839B396709}"/>
                  </a:ext>
                </a:extLst>
              </p:cNvPr>
              <p:cNvSpPr/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3BA0EBD-3FBE-0E59-350E-54839B3967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14196FC-B27A-9716-BD55-C2126F64A9E3}"/>
                  </a:ext>
                </a:extLst>
              </p:cNvPr>
              <p:cNvSpPr/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14196FC-B27A-9716-BD55-C2126F64A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034FA8F-6119-A6FB-53B6-54E803027FB8}"/>
              </a:ext>
            </a:extLst>
          </p:cNvPr>
          <p:cNvCxnSpPr/>
          <p:nvPr/>
        </p:nvCxnSpPr>
        <p:spPr>
          <a:xfrm flipV="1">
            <a:off x="3167599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326D20-1450-CEC2-B1F8-FFF6C3D54D49}"/>
              </a:ext>
            </a:extLst>
          </p:cNvPr>
          <p:cNvCxnSpPr/>
          <p:nvPr/>
        </p:nvCxnSpPr>
        <p:spPr>
          <a:xfrm>
            <a:off x="3671603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A246FFA-CC25-2F2D-1FFA-0E2516316CCA}"/>
                  </a:ext>
                </a:extLst>
              </p:cNvPr>
              <p:cNvSpPr/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A246FFA-CC25-2F2D-1FFA-0E2516316C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A518F00-AA92-3477-887E-48F498C634A2}"/>
                  </a:ext>
                </a:extLst>
              </p:cNvPr>
              <p:cNvSpPr/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5A518F00-AA92-3477-887E-48F498C634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9416069-4A98-170B-1B1C-BE09A93C64B3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1879856" y="2339261"/>
            <a:ext cx="657209" cy="49278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3158424-F7C5-C507-92EB-C01F583FF5A3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2930414" y="2361017"/>
            <a:ext cx="667268" cy="471033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EA466B-639E-F275-7401-C38A0CC6A9AA}"/>
              </a:ext>
            </a:extLst>
          </p:cNvPr>
          <p:cNvCxnSpPr>
            <a:stCxn id="9" idx="7"/>
          </p:cNvCxnSpPr>
          <p:nvPr/>
        </p:nvCxnSpPr>
        <p:spPr>
          <a:xfrm flipV="1">
            <a:off x="1925020" y="3193924"/>
            <a:ext cx="609249" cy="66259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3BA9B86-3443-2F3B-1B06-5362DE376F31}"/>
              </a:ext>
            </a:extLst>
          </p:cNvPr>
          <p:cNvCxnSpPr>
            <a:endCxn id="18" idx="0"/>
          </p:cNvCxnSpPr>
          <p:nvPr/>
        </p:nvCxnSpPr>
        <p:spPr>
          <a:xfrm>
            <a:off x="2930148" y="3201572"/>
            <a:ext cx="638011" cy="58032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EB3400-C92C-1268-CF42-5C60E283320D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flipH="1">
            <a:off x="1172067" y="2413888"/>
            <a:ext cx="511115" cy="208968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DCD6A1C-32D2-C507-C8E5-7194B99D6DD9}"/>
              </a:ext>
            </a:extLst>
          </p:cNvPr>
          <p:cNvCxnSpPr>
            <a:stCxn id="7" idx="4"/>
            <a:endCxn id="21" idx="0"/>
          </p:cNvCxnSpPr>
          <p:nvPr/>
        </p:nvCxnSpPr>
        <p:spPr>
          <a:xfrm>
            <a:off x="3794357" y="2435644"/>
            <a:ext cx="322389" cy="211879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E219FE3-4765-34ED-3DE5-156B0FD23885}"/>
                  </a:ext>
                </a:extLst>
              </p:cNvPr>
              <p:cNvSpPr/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E219FE3-4765-34ED-3DE5-156B0FD23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blipFill>
                <a:blip r:embed="rId14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1DE25FA-9652-6A85-4C5E-DB60B233E526}"/>
                  </a:ext>
                </a:extLst>
              </p:cNvPr>
              <p:cNvSpPr/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C1DE25FA-9652-6A85-4C5E-DB60B233E5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blipFill>
                <a:blip r:embed="rId15"/>
                <a:stretch>
                  <a:fillRect l="-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B687B54-E580-BD64-B53B-3ECE00704362}"/>
                  </a:ext>
                </a:extLst>
              </p:cNvPr>
              <p:cNvSpPr/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B687B54-E580-BD64-B53B-3ECE00704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blipFill>
                <a:blip r:embed="rId16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760AA5-79A6-EA50-4291-187CDDD435FE}"/>
                  </a:ext>
                </a:extLst>
              </p:cNvPr>
              <p:cNvSpPr/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B760AA5-79A6-EA50-4291-187CDDD435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blipFill>
                <a:blip r:embed="rId17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CB62B02-84CC-E21E-D4AE-0D251195BE8E}"/>
                  </a:ext>
                </a:extLst>
              </p:cNvPr>
              <p:cNvSpPr/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CB62B02-84CC-E21E-D4AE-0D251195BE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blipFill>
                <a:blip r:embed="rId18"/>
                <a:stretch>
                  <a:fillRect l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72B9D0F-B12B-CBE6-E84F-7EBC90DB1E76}"/>
                  </a:ext>
                </a:extLst>
              </p:cNvPr>
              <p:cNvSpPr/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72B9D0F-B12B-CBE6-E84F-7EBC90DB1E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blipFill>
                <a:blip r:embed="rId19"/>
                <a:stretch>
                  <a:fillRect l="-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59047C6-A785-966D-0BE1-0CE2355EC8AB}"/>
                  </a:ext>
                </a:extLst>
              </p:cNvPr>
              <p:cNvSpPr/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59047C6-A785-966D-0BE1-0CE2355EC8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blipFill>
                <a:blip r:embed="rId20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FDE18A0-C27B-ABCB-A969-04702EB8F6EE}"/>
                  </a:ext>
                </a:extLst>
              </p:cNvPr>
              <p:cNvSpPr/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FDE18A0-C27B-ABCB-A969-04702EB8F6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blipFill>
                <a:blip r:embed="rId21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AEFC217-24AA-4F0D-74BE-D564C0A2E7B7}"/>
                  </a:ext>
                </a:extLst>
              </p:cNvPr>
              <p:cNvSpPr/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8AEFC217-24AA-4F0D-74BE-D564C0A2E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blipFill>
                <a:blip r:embed="rId22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9BEAE96A-E0A6-7AFE-44C3-8F198E974288}"/>
              </a:ext>
            </a:extLst>
          </p:cNvPr>
          <p:cNvSpPr/>
          <p:nvPr/>
        </p:nvSpPr>
        <p:spPr>
          <a:xfrm>
            <a:off x="1940151" y="544744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C8C2EC-46F7-56D9-7657-25EE89696C92}"/>
              </a:ext>
            </a:extLst>
          </p:cNvPr>
          <p:cNvSpPr/>
          <p:nvPr/>
        </p:nvSpPr>
        <p:spPr>
          <a:xfrm>
            <a:off x="3167599" y="464156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AF37AFA-18BE-508E-2897-9DE7BBE33C45}"/>
              </a:ext>
            </a:extLst>
          </p:cNvPr>
          <p:cNvSpPr/>
          <p:nvPr/>
        </p:nvSpPr>
        <p:spPr>
          <a:xfrm>
            <a:off x="4315828" y="4642329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D433875-07AE-FFF7-EBC3-F42FC3F4A6CF}"/>
                  </a:ext>
                </a:extLst>
              </p:cNvPr>
              <p:cNvSpPr/>
              <p:nvPr/>
            </p:nvSpPr>
            <p:spPr>
              <a:xfrm>
                <a:off x="4488038" y="1086015"/>
                <a:ext cx="4077496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𝐼𝑛𝑡𝑒𝑟𝑖𝑜𝑟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AD433875-07AE-FFF7-EBC3-F42FC3F4A6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38" y="1086015"/>
                <a:ext cx="4077496" cy="50359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6F702339-A98F-8A4A-A515-EFF6762DFABB}"/>
              </a:ext>
            </a:extLst>
          </p:cNvPr>
          <p:cNvSpPr/>
          <p:nvPr/>
        </p:nvSpPr>
        <p:spPr>
          <a:xfrm>
            <a:off x="4899224" y="2637849"/>
            <a:ext cx="3652109" cy="978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>
                <a:solidFill>
                  <a:schemeClr val="tx1"/>
                </a:solidFill>
              </a:rPr>
              <a:t>Pick up an unlisted node, </a:t>
            </a:r>
          </a:p>
          <a:p>
            <a:pPr lvl="0" algn="ctr"/>
            <a:r>
              <a:rPr lang="en-US" b="1">
                <a:solidFill>
                  <a:schemeClr val="tx1"/>
                </a:solidFill>
              </a:rPr>
              <a:t>whose parents have been listed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AFC55D6-9AF9-D052-059E-2D5E7A22F996}"/>
                  </a:ext>
                </a:extLst>
              </p:cNvPr>
              <p:cNvSpPr/>
              <p:nvPr/>
            </p:nvSpPr>
            <p:spPr>
              <a:xfrm>
                <a:off x="4454144" y="1752710"/>
                <a:ext cx="4111389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𝑈𝑛𝑙𝑖𝑠𝑡𝑒𝑑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AFC55D6-9AF9-D052-059E-2D5E7A22F9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144" y="1752710"/>
                <a:ext cx="4111389" cy="50359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B64AC3E8-D9E7-963B-5E68-4B6467F17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943535"/>
              </p:ext>
            </p:extLst>
          </p:nvPr>
        </p:nvGraphicFramePr>
        <p:xfrm>
          <a:off x="2389557" y="5727493"/>
          <a:ext cx="7254656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2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Listed Node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FA94AFF-68E2-4B20-CA7F-E646254F8421}"/>
                  </a:ext>
                </a:extLst>
              </p:cNvPr>
              <p:cNvSpPr/>
              <p:nvPr/>
            </p:nvSpPr>
            <p:spPr>
              <a:xfrm>
                <a:off x="7372582" y="4112627"/>
                <a:ext cx="457200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FA94AFF-68E2-4B20-CA7F-E646254F84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582" y="4112627"/>
                <a:ext cx="457200" cy="415907"/>
              </a:xfrm>
              <a:prstGeom prst="rect">
                <a:avLst/>
              </a:prstGeom>
              <a:blipFill>
                <a:blip r:embed="rId25"/>
                <a:stretch>
                  <a:fillRect l="-2667" b="-14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>
            <a:extLst>
              <a:ext uri="{FF2B5EF4-FFF2-40B4-BE49-F238E27FC236}">
                <a16:creationId xmlns:a16="http://schemas.microsoft.com/office/drawing/2014/main" id="{7FD1BDE1-E261-57E1-BE7B-A3466E0C09E0}"/>
              </a:ext>
            </a:extLst>
          </p:cNvPr>
          <p:cNvSpPr/>
          <p:nvPr/>
        </p:nvSpPr>
        <p:spPr>
          <a:xfrm>
            <a:off x="6822928" y="5825612"/>
            <a:ext cx="342900" cy="2511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8A1D2F-773D-0526-4214-D3C8FDD052E9}"/>
              </a:ext>
            </a:extLst>
          </p:cNvPr>
          <p:cNvSpPr/>
          <p:nvPr/>
        </p:nvSpPr>
        <p:spPr>
          <a:xfrm>
            <a:off x="5400280" y="4103643"/>
            <a:ext cx="2582306" cy="72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0E47A1"/>
                </a:solidFill>
              </a:rPr>
              <a:t>Leftchild of 4 = </a:t>
            </a:r>
          </a:p>
          <a:p>
            <a:pPr algn="ctr"/>
            <a:r>
              <a:rPr lang="en-US" b="1">
                <a:solidFill>
                  <a:srgbClr val="0E47A1"/>
                </a:solidFill>
              </a:rPr>
              <a:t>Parent 4 is listed so list 5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3B6019F-E047-7535-30F7-86B9DFBA5261}"/>
              </a:ext>
            </a:extLst>
          </p:cNvPr>
          <p:cNvCxnSpPr/>
          <p:nvPr/>
        </p:nvCxnSpPr>
        <p:spPr>
          <a:xfrm flipH="1">
            <a:off x="6852742" y="1810282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A219FD3-66E7-AFEA-4BA5-FF78EBEE7833}"/>
              </a:ext>
            </a:extLst>
          </p:cNvPr>
          <p:cNvCxnSpPr/>
          <p:nvPr/>
        </p:nvCxnSpPr>
        <p:spPr>
          <a:xfrm flipH="1">
            <a:off x="7061792" y="1849398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F7D6C50-9550-9A3C-A16F-4679B0750318}"/>
              </a:ext>
            </a:extLst>
          </p:cNvPr>
          <p:cNvCxnSpPr/>
          <p:nvPr/>
        </p:nvCxnSpPr>
        <p:spPr>
          <a:xfrm flipH="1">
            <a:off x="7290392" y="1845051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1C1239D-EC36-0B3B-A2BD-F57562DA936D}"/>
              </a:ext>
            </a:extLst>
          </p:cNvPr>
          <p:cNvSpPr/>
          <p:nvPr/>
        </p:nvSpPr>
        <p:spPr>
          <a:xfrm>
            <a:off x="5094673" y="4084318"/>
            <a:ext cx="3228060" cy="72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0E47A1"/>
                </a:solidFill>
              </a:rPr>
              <a:t>Leftchild of 5 = </a:t>
            </a:r>
          </a:p>
          <a:p>
            <a:pPr algn="ctr"/>
            <a:r>
              <a:rPr lang="en-US" b="1">
                <a:solidFill>
                  <a:srgbClr val="0E47A1"/>
                </a:solidFill>
              </a:rPr>
              <a:t>Parent 2,5 are listed so list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1DDD020-85F8-65C5-8CCE-0DF67F7EB0F9}"/>
                  </a:ext>
                </a:extLst>
              </p:cNvPr>
              <p:cNvSpPr/>
              <p:nvPr/>
            </p:nvSpPr>
            <p:spPr>
              <a:xfrm>
                <a:off x="7364088" y="4112627"/>
                <a:ext cx="457200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1DDD020-85F8-65C5-8CCE-0DF67F7EB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088" y="4112627"/>
                <a:ext cx="457200" cy="415907"/>
              </a:xfrm>
              <a:prstGeom prst="rect">
                <a:avLst/>
              </a:prstGeom>
              <a:blipFill>
                <a:blip r:embed="rId26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F9C5857-28B7-CC7F-38AA-2A696F8001C3}"/>
              </a:ext>
            </a:extLst>
          </p:cNvPr>
          <p:cNvCxnSpPr/>
          <p:nvPr/>
        </p:nvCxnSpPr>
        <p:spPr>
          <a:xfrm flipH="1">
            <a:off x="7499442" y="185381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3D0A760-FF00-19CC-8B49-3A26CE9ED63D}"/>
              </a:ext>
            </a:extLst>
          </p:cNvPr>
          <p:cNvSpPr/>
          <p:nvPr/>
        </p:nvSpPr>
        <p:spPr>
          <a:xfrm>
            <a:off x="7556592" y="5813464"/>
            <a:ext cx="342900" cy="2632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0C24899-26C1-3D78-5702-5644C44DACDD}"/>
              </a:ext>
            </a:extLst>
          </p:cNvPr>
          <p:cNvCxnSpPr/>
          <p:nvPr/>
        </p:nvCxnSpPr>
        <p:spPr>
          <a:xfrm flipH="1">
            <a:off x="7706992" y="186353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B019E36-36AC-24B4-390C-035080ABEAF4}"/>
              </a:ext>
            </a:extLst>
          </p:cNvPr>
          <p:cNvCxnSpPr/>
          <p:nvPr/>
        </p:nvCxnSpPr>
        <p:spPr>
          <a:xfrm flipH="1">
            <a:off x="7935592" y="187325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205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dur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5" grpId="1"/>
      <p:bldP spid="46" grpId="0" animBg="1"/>
      <p:bldP spid="47" grpId="0" uiExpand="1" build="allAtOnce"/>
      <p:bldP spid="52" grpId="0"/>
      <p:bldP spid="5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5">
            <a:extLst>
              <a:ext uri="{FF2B5EF4-FFF2-40B4-BE49-F238E27FC236}">
                <a16:creationId xmlns:a16="http://schemas.microsoft.com/office/drawing/2014/main" id="{F35670F6-D064-3569-43CE-58B8C71CB5F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Example: Heuristic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DDD42BD-22CC-FBB2-E4DA-E692FB54054D}"/>
                  </a:ext>
                </a:extLst>
              </p:cNvPr>
              <p:cNvSpPr/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9DDD42BD-22CC-FBB2-E4DA-E692FB540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207554-840A-4549-4B17-AD5697D630BB}"/>
              </a:ext>
            </a:extLst>
          </p:cNvPr>
          <p:cNvCxnSpPr>
            <a:endCxn id="3" idx="3"/>
          </p:cNvCxnSpPr>
          <p:nvPr/>
        </p:nvCxnSpPr>
        <p:spPr>
          <a:xfrm flipV="1">
            <a:off x="1790975" y="1497090"/>
            <a:ext cx="746090" cy="45860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F285437-DDAE-5669-E8C4-9EAF315475D3}"/>
              </a:ext>
            </a:extLst>
          </p:cNvPr>
          <p:cNvCxnSpPr>
            <a:endCxn id="7" idx="1"/>
          </p:cNvCxnSpPr>
          <p:nvPr/>
        </p:nvCxnSpPr>
        <p:spPr>
          <a:xfrm>
            <a:off x="2932944" y="1504738"/>
            <a:ext cx="664738" cy="495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3DA2AE-8BB8-DAB6-FCB1-8DA80ADB9E04}"/>
                  </a:ext>
                </a:extLst>
              </p:cNvPr>
              <p:cNvSpPr/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23DA2AE-8BB8-DAB6-FCB1-8DA80ADB9E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2F18386-A941-C9BA-6C5E-2D1AEAD6985E}"/>
                  </a:ext>
                </a:extLst>
              </p:cNvPr>
              <p:cNvSpPr/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2F18386-A941-C9BA-6C5E-2D1AEAD698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6B67FDA-D5A4-D166-D9C0-09BEDB7E189D}"/>
                  </a:ext>
                </a:extLst>
              </p:cNvPr>
              <p:cNvSpPr/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96B67FDA-D5A4-D166-D9C0-09BEDB7E18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09E5A3F-89CA-B36F-55F0-5C49B7FDD01C}"/>
                  </a:ext>
                </a:extLst>
              </p:cNvPr>
              <p:cNvSpPr/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09E5A3F-89CA-B36F-55F0-5C49B7FDD0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15B20C-4E72-CD6D-BAFB-4BEF738EC3A2}"/>
              </a:ext>
            </a:extLst>
          </p:cNvPr>
          <p:cNvCxnSpPr/>
          <p:nvPr/>
        </p:nvCxnSpPr>
        <p:spPr>
          <a:xfrm flipV="1">
            <a:off x="1327786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2D2116-1424-251A-F5D3-CCE0820F1913}"/>
              </a:ext>
            </a:extLst>
          </p:cNvPr>
          <p:cNvCxnSpPr/>
          <p:nvPr/>
        </p:nvCxnSpPr>
        <p:spPr>
          <a:xfrm>
            <a:off x="1831790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9CBE3A-1A6B-5667-BE18-F1D30DC181AD}"/>
                  </a:ext>
                </a:extLst>
              </p:cNvPr>
              <p:cNvSpPr/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979CBE3A-1A6B-5667-BE18-F1D30DC181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781B4AE-F959-31DD-5B06-32D1188280C1}"/>
                  </a:ext>
                </a:extLst>
              </p:cNvPr>
              <p:cNvSpPr/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781B4AE-F959-31DD-5B06-32D1188280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1B980C-3E38-6218-4BD5-CD7E198570F9}"/>
              </a:ext>
            </a:extLst>
          </p:cNvPr>
          <p:cNvCxnSpPr/>
          <p:nvPr/>
        </p:nvCxnSpPr>
        <p:spPr>
          <a:xfrm flipV="1">
            <a:off x="771507" y="4976277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874F8F-1D2C-0C1D-A14A-943863391667}"/>
              </a:ext>
            </a:extLst>
          </p:cNvPr>
          <p:cNvCxnSpPr/>
          <p:nvPr/>
        </p:nvCxnSpPr>
        <p:spPr>
          <a:xfrm>
            <a:off x="1275511" y="4970465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35972C2-E9D7-C880-EF1A-4B6AEF58B92A}"/>
                  </a:ext>
                </a:extLst>
              </p:cNvPr>
              <p:cNvSpPr/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35972C2-E9D7-C880-EF1A-4B6AEF58B9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E726C7B-A2BC-0E9E-2C4F-3F4D44C5809E}"/>
                  </a:ext>
                </a:extLst>
              </p:cNvPr>
              <p:cNvSpPr/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E726C7B-A2BC-0E9E-2C4F-3F4D44C580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877589-FB05-EB9E-F770-5FECA65A9C26}"/>
                  </a:ext>
                </a:extLst>
              </p:cNvPr>
              <p:cNvSpPr/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44877589-FB05-EB9E-F770-5FECA65A9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345021-748E-5026-6675-C9D1A1709991}"/>
              </a:ext>
            </a:extLst>
          </p:cNvPr>
          <p:cNvCxnSpPr/>
          <p:nvPr/>
        </p:nvCxnSpPr>
        <p:spPr>
          <a:xfrm flipV="1">
            <a:off x="3167599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7D2930D-6BDF-96A9-A9BC-FDAD5FB3B849}"/>
              </a:ext>
            </a:extLst>
          </p:cNvPr>
          <p:cNvCxnSpPr/>
          <p:nvPr/>
        </p:nvCxnSpPr>
        <p:spPr>
          <a:xfrm>
            <a:off x="3671603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8032A00-3FAF-73F7-C169-643BD28A497E}"/>
                  </a:ext>
                </a:extLst>
              </p:cNvPr>
              <p:cNvSpPr/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8032A00-3FAF-73F7-C169-643BD28A49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0085153-F31C-FAB7-67B6-A56E2C7D75D9}"/>
                  </a:ext>
                </a:extLst>
              </p:cNvPr>
              <p:cNvSpPr/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40085153-F31C-FAB7-67B6-A56E2C7D75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E65F22-43E2-6ECF-4623-DB1E614EF2A1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1879856" y="2339261"/>
            <a:ext cx="657209" cy="49278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C66B03-6EA1-62CD-4788-04DA66C67D96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2930414" y="2361017"/>
            <a:ext cx="667268" cy="471033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09A24E-ADD7-46D3-F257-210E3FEEB889}"/>
              </a:ext>
            </a:extLst>
          </p:cNvPr>
          <p:cNvCxnSpPr>
            <a:stCxn id="9" idx="7"/>
          </p:cNvCxnSpPr>
          <p:nvPr/>
        </p:nvCxnSpPr>
        <p:spPr>
          <a:xfrm flipV="1">
            <a:off x="1925020" y="3193924"/>
            <a:ext cx="609249" cy="66259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581DE8-8897-3447-2466-BCDD5451358E}"/>
              </a:ext>
            </a:extLst>
          </p:cNvPr>
          <p:cNvCxnSpPr>
            <a:endCxn id="18" idx="0"/>
          </p:cNvCxnSpPr>
          <p:nvPr/>
        </p:nvCxnSpPr>
        <p:spPr>
          <a:xfrm>
            <a:off x="2930148" y="3201572"/>
            <a:ext cx="638011" cy="58032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066437-AF5E-3FF0-A4EB-004FD8D693F2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flipH="1">
            <a:off x="1172067" y="2413888"/>
            <a:ext cx="511115" cy="208968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616658E-D53D-1792-2537-CDEDF019CCD1}"/>
              </a:ext>
            </a:extLst>
          </p:cNvPr>
          <p:cNvCxnSpPr>
            <a:stCxn id="7" idx="4"/>
            <a:endCxn id="21" idx="0"/>
          </p:cNvCxnSpPr>
          <p:nvPr/>
        </p:nvCxnSpPr>
        <p:spPr>
          <a:xfrm>
            <a:off x="3794357" y="2435644"/>
            <a:ext cx="322389" cy="211879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B0BC83A-7D66-1F03-8E67-CB482E242B77}"/>
                  </a:ext>
                </a:extLst>
              </p:cNvPr>
              <p:cNvSpPr/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FB0BC83A-7D66-1F03-8E67-CB482E242B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blipFill>
                <a:blip r:embed="rId14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4FB5D72-F3FE-0634-A74B-1C210AE11617}"/>
                  </a:ext>
                </a:extLst>
              </p:cNvPr>
              <p:cNvSpPr/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84FB5D72-F3FE-0634-A74B-1C210AE116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blipFill>
                <a:blip r:embed="rId15"/>
                <a:stretch>
                  <a:fillRect l="-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9702D58-0040-2F6C-84A8-36085F9A50D3}"/>
                  </a:ext>
                </a:extLst>
              </p:cNvPr>
              <p:cNvSpPr/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9702D58-0040-2F6C-84A8-36085F9A50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blipFill>
                <a:blip r:embed="rId16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4042E9B-5A97-5D43-DDB8-5B1E065DB764}"/>
                  </a:ext>
                </a:extLst>
              </p:cNvPr>
              <p:cNvSpPr/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4042E9B-5A97-5D43-DDB8-5B1E065DB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blipFill>
                <a:blip r:embed="rId17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75C74DE-B45D-1A0C-E9EA-9945F4546655}"/>
                  </a:ext>
                </a:extLst>
              </p:cNvPr>
              <p:cNvSpPr/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75C74DE-B45D-1A0C-E9EA-9945F45466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blipFill>
                <a:blip r:embed="rId18"/>
                <a:stretch>
                  <a:fillRect l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20D1A77-33CB-8C67-B5F3-36EFFDF9DB42}"/>
                  </a:ext>
                </a:extLst>
              </p:cNvPr>
              <p:cNvSpPr/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20D1A77-33CB-8C67-B5F3-36EFFDF9DB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blipFill>
                <a:blip r:embed="rId19"/>
                <a:stretch>
                  <a:fillRect l="-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85E2CA5-F277-7556-3CD4-42B585C11C5F}"/>
                  </a:ext>
                </a:extLst>
              </p:cNvPr>
              <p:cNvSpPr/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85E2CA5-F277-7556-3CD4-42B585C11C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blipFill>
                <a:blip r:embed="rId20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BF22627-C311-DDD1-7EBD-6D64611B1B11}"/>
                  </a:ext>
                </a:extLst>
              </p:cNvPr>
              <p:cNvSpPr/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BF22627-C311-DDD1-7EBD-6D64611B1B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blipFill>
                <a:blip r:embed="rId21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5D687E4-F2C5-0A94-E140-F0E5258CCFA4}"/>
                  </a:ext>
                </a:extLst>
              </p:cNvPr>
              <p:cNvSpPr/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5D687E4-F2C5-0A94-E140-F0E5258CCF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blipFill>
                <a:blip r:embed="rId22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9570E195-E360-15F9-90C9-65719CF1B713}"/>
              </a:ext>
            </a:extLst>
          </p:cNvPr>
          <p:cNvSpPr/>
          <p:nvPr/>
        </p:nvSpPr>
        <p:spPr>
          <a:xfrm>
            <a:off x="1940151" y="544744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1FF327-DCF8-3897-B0EB-10A1EBE6ACC6}"/>
              </a:ext>
            </a:extLst>
          </p:cNvPr>
          <p:cNvSpPr/>
          <p:nvPr/>
        </p:nvSpPr>
        <p:spPr>
          <a:xfrm>
            <a:off x="3167599" y="464156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057613-94A3-6284-51E1-C17B73D247C2}"/>
              </a:ext>
            </a:extLst>
          </p:cNvPr>
          <p:cNvSpPr/>
          <p:nvPr/>
        </p:nvSpPr>
        <p:spPr>
          <a:xfrm>
            <a:off x="4315828" y="4642329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7D0D91E-6A59-D352-C7AF-A2395390EFFB}"/>
                  </a:ext>
                </a:extLst>
              </p:cNvPr>
              <p:cNvSpPr/>
              <p:nvPr/>
            </p:nvSpPr>
            <p:spPr>
              <a:xfrm>
                <a:off x="4488038" y="1086015"/>
                <a:ext cx="4077496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𝐼𝑛𝑡𝑒𝑟𝑖𝑜𝑟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7D0D91E-6A59-D352-C7AF-A2395390EF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038" y="1086015"/>
                <a:ext cx="4077496" cy="50359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0DDD83C7-1321-A580-2686-504CA113BD08}"/>
              </a:ext>
            </a:extLst>
          </p:cNvPr>
          <p:cNvSpPr/>
          <p:nvPr/>
        </p:nvSpPr>
        <p:spPr>
          <a:xfrm>
            <a:off x="4899224" y="2637849"/>
            <a:ext cx="3652109" cy="9784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b="1">
                <a:solidFill>
                  <a:schemeClr val="tx1"/>
                </a:solidFill>
              </a:rPr>
              <a:t>Pick up an unlisted node, </a:t>
            </a:r>
          </a:p>
          <a:p>
            <a:pPr lvl="0" algn="ctr"/>
            <a:r>
              <a:rPr lang="en-US" b="1">
                <a:solidFill>
                  <a:schemeClr val="tx1"/>
                </a:solidFill>
              </a:rPr>
              <a:t>whose parents have been listed</a:t>
            </a:r>
          </a:p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D1D4D29-D8EB-78D1-FF96-3EA1EF04A187}"/>
                  </a:ext>
                </a:extLst>
              </p:cNvPr>
              <p:cNvSpPr/>
              <p:nvPr/>
            </p:nvSpPr>
            <p:spPr>
              <a:xfrm>
                <a:off x="4454144" y="1752710"/>
                <a:ext cx="4111389" cy="50359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𝑈𝑛𝑙𝑖𝑠𝑡𝑒𝑑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𝑛𝑜𝑑𝑒𝑠</m:t>
                      </m:r>
                      <m:r>
                        <a:rPr lang="en-US" sz="2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=1 2 3 4 5 6 8</m:t>
                      </m:r>
                    </m:oMath>
                  </m:oMathPara>
                </a14:m>
                <a:endParaRPr lang="en-US" sz="2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FD1D4D29-D8EB-78D1-FF96-3EA1EF04A1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144" y="1752710"/>
                <a:ext cx="4111389" cy="503593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BEA026D-E7FD-0EB8-2943-E4DF1B587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157194"/>
              </p:ext>
            </p:extLst>
          </p:nvPr>
        </p:nvGraphicFramePr>
        <p:xfrm>
          <a:off x="2389557" y="5727493"/>
          <a:ext cx="7254656" cy="426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82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Listed Node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/>
                        <a:t>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1902EAA-0F8C-6523-BBB4-0419F925B7BF}"/>
              </a:ext>
            </a:extLst>
          </p:cNvPr>
          <p:cNvCxnSpPr/>
          <p:nvPr/>
        </p:nvCxnSpPr>
        <p:spPr>
          <a:xfrm flipH="1">
            <a:off x="6838454" y="1810282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B06FD84-B51D-5357-0DE3-140752DB7DCC}"/>
              </a:ext>
            </a:extLst>
          </p:cNvPr>
          <p:cNvCxnSpPr/>
          <p:nvPr/>
        </p:nvCxnSpPr>
        <p:spPr>
          <a:xfrm flipH="1">
            <a:off x="7047504" y="1849398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B82E717-8DFC-B269-3F2B-6C74A778C783}"/>
              </a:ext>
            </a:extLst>
          </p:cNvPr>
          <p:cNvCxnSpPr/>
          <p:nvPr/>
        </p:nvCxnSpPr>
        <p:spPr>
          <a:xfrm flipH="1">
            <a:off x="7276104" y="1845051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E8046ED-D117-D95C-2DE2-F9E2CB11F2E7}"/>
              </a:ext>
            </a:extLst>
          </p:cNvPr>
          <p:cNvSpPr/>
          <p:nvPr/>
        </p:nvSpPr>
        <p:spPr>
          <a:xfrm>
            <a:off x="5267774" y="3922149"/>
            <a:ext cx="2639348" cy="7216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0E47A1"/>
                </a:solidFill>
              </a:rPr>
              <a:t>Rightchild of 4 = </a:t>
            </a:r>
          </a:p>
          <a:p>
            <a:pPr algn="ctr"/>
            <a:r>
              <a:rPr lang="en-US" b="1">
                <a:solidFill>
                  <a:srgbClr val="0E47A1"/>
                </a:solidFill>
              </a:rPr>
              <a:t>Parent 4 is listed so list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42F456A-58F8-FDD1-A022-FFE104CC208E}"/>
                  </a:ext>
                </a:extLst>
              </p:cNvPr>
              <p:cNvSpPr/>
              <p:nvPr/>
            </p:nvSpPr>
            <p:spPr>
              <a:xfrm>
                <a:off x="7356563" y="3940408"/>
                <a:ext cx="457200" cy="41590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sz="2400" b="1">
                  <a:solidFill>
                    <a:srgbClr val="0E47A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542F456A-58F8-FDD1-A022-FFE104CC20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563" y="3940408"/>
                <a:ext cx="457200" cy="415907"/>
              </a:xfrm>
              <a:prstGeom prst="rect">
                <a:avLst/>
              </a:prstGeom>
              <a:blipFill>
                <a:blip r:embed="rId25"/>
                <a:stretch>
                  <a:fillRect l="-1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5370BD8-A257-D2CE-FDDD-37A654C36681}"/>
              </a:ext>
            </a:extLst>
          </p:cNvPr>
          <p:cNvCxnSpPr/>
          <p:nvPr/>
        </p:nvCxnSpPr>
        <p:spPr>
          <a:xfrm flipH="1">
            <a:off x="7485154" y="185381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007247F-7E25-B0F9-A39A-CE094DC27859}"/>
              </a:ext>
            </a:extLst>
          </p:cNvPr>
          <p:cNvSpPr/>
          <p:nvPr/>
        </p:nvSpPr>
        <p:spPr>
          <a:xfrm>
            <a:off x="8736562" y="5810372"/>
            <a:ext cx="342900" cy="2684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53590EE-CFCE-1649-EA70-CA65632FB1C5}"/>
              </a:ext>
            </a:extLst>
          </p:cNvPr>
          <p:cNvCxnSpPr/>
          <p:nvPr/>
        </p:nvCxnSpPr>
        <p:spPr>
          <a:xfrm flipH="1">
            <a:off x="7692704" y="186353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DCA33D8-872E-A4E4-34ED-1745B9419B18}"/>
              </a:ext>
            </a:extLst>
          </p:cNvPr>
          <p:cNvCxnSpPr/>
          <p:nvPr/>
        </p:nvCxnSpPr>
        <p:spPr>
          <a:xfrm flipH="1">
            <a:off x="7921304" y="187325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3ADE6277-D409-748E-4952-AE95D1C4CA0F}"/>
              </a:ext>
            </a:extLst>
          </p:cNvPr>
          <p:cNvCxnSpPr/>
          <p:nvPr/>
        </p:nvCxnSpPr>
        <p:spPr>
          <a:xfrm flipH="1">
            <a:off x="8149904" y="1863534"/>
            <a:ext cx="228600" cy="34881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75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0190-EA0B-C9E5-2282-459B55BBB61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Heuristic Ordering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02476CD-FE0D-6D80-480B-DB726B55FB08}"/>
                  </a:ext>
                </a:extLst>
              </p:cNvPr>
              <p:cNvSpPr/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02476CD-FE0D-6D80-480B-DB726B55F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1062129"/>
                <a:ext cx="556279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D36178-B225-B8C9-7CC9-DBC06FECBF2F}"/>
              </a:ext>
            </a:extLst>
          </p:cNvPr>
          <p:cNvCxnSpPr>
            <a:endCxn id="3" idx="3"/>
          </p:cNvCxnSpPr>
          <p:nvPr/>
        </p:nvCxnSpPr>
        <p:spPr>
          <a:xfrm flipV="1">
            <a:off x="1790975" y="1497090"/>
            <a:ext cx="746090" cy="45860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9A96F13-7296-0874-A75B-BA561CB9BBCC}"/>
              </a:ext>
            </a:extLst>
          </p:cNvPr>
          <p:cNvCxnSpPr>
            <a:endCxn id="7" idx="1"/>
          </p:cNvCxnSpPr>
          <p:nvPr/>
        </p:nvCxnSpPr>
        <p:spPr>
          <a:xfrm>
            <a:off x="2932944" y="1504738"/>
            <a:ext cx="664738" cy="495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5213BFE-BCBE-03EC-4EFC-C1B6A7AE629E}"/>
                  </a:ext>
                </a:extLst>
              </p:cNvPr>
              <p:cNvSpPr/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5213BFE-BCBE-03EC-4EFC-C1B6A7AE62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042" y="1904300"/>
                <a:ext cx="556279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89887F9-9B95-EC11-F170-0B1170EAA8B0}"/>
                  </a:ext>
                </a:extLst>
              </p:cNvPr>
              <p:cNvSpPr/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89887F9-9B95-EC11-F170-0B1170EAA8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217" y="1926056"/>
                <a:ext cx="556279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3AB5868-CB01-725A-68AD-47C6950424C2}"/>
                  </a:ext>
                </a:extLst>
              </p:cNvPr>
              <p:cNvSpPr/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3AB5868-CB01-725A-68AD-47C695042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600" y="2757423"/>
                <a:ext cx="556279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5DE74A5-4486-5E9F-F9AC-5F9CF1F7E12D}"/>
                  </a:ext>
                </a:extLst>
              </p:cNvPr>
              <p:cNvSpPr/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5DE74A5-4486-5E9F-F9AC-5F9CF1F7E1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06" y="3781893"/>
                <a:ext cx="556279" cy="50958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5EB787-3F76-671C-0446-1CEBB0DE00AE}"/>
              </a:ext>
            </a:extLst>
          </p:cNvPr>
          <p:cNvCxnSpPr/>
          <p:nvPr/>
        </p:nvCxnSpPr>
        <p:spPr>
          <a:xfrm flipV="1">
            <a:off x="1327786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98D6CB-B18B-4AEC-3A0B-12D941638E01}"/>
              </a:ext>
            </a:extLst>
          </p:cNvPr>
          <p:cNvCxnSpPr/>
          <p:nvPr/>
        </p:nvCxnSpPr>
        <p:spPr>
          <a:xfrm>
            <a:off x="1831790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642F0D1-E24A-C4E9-D625-601B74F7452D}"/>
                  </a:ext>
                </a:extLst>
              </p:cNvPr>
              <p:cNvSpPr/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642F0D1-E24A-C4E9-D625-601B74F745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793" y="4554435"/>
                <a:ext cx="556279" cy="50958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5A2D558-654E-9EB7-9EAE-1B178F5592EC}"/>
                  </a:ext>
                </a:extLst>
              </p:cNvPr>
              <p:cNvSpPr/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85A2D558-654E-9EB7-9EAE-1B178F5592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27" y="4503576"/>
                <a:ext cx="556279" cy="50958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34C102-AC7C-0B3F-18E5-446679EF09FA}"/>
              </a:ext>
            </a:extLst>
          </p:cNvPr>
          <p:cNvCxnSpPr/>
          <p:nvPr/>
        </p:nvCxnSpPr>
        <p:spPr>
          <a:xfrm flipV="1">
            <a:off x="771507" y="4976277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A470836-CC54-125B-26CD-2E8943714DAB}"/>
              </a:ext>
            </a:extLst>
          </p:cNvPr>
          <p:cNvCxnSpPr/>
          <p:nvPr/>
        </p:nvCxnSpPr>
        <p:spPr>
          <a:xfrm>
            <a:off x="1275511" y="4970465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B0C4CC4-B4C2-F60C-70CD-BAA8673C85A3}"/>
                  </a:ext>
                </a:extLst>
              </p:cNvPr>
              <p:cNvSpPr/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B0C4CC4-B4C2-F60C-70CD-BAA8673C85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2514" y="5276118"/>
                <a:ext cx="556279" cy="50958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3B27D74-A42A-14DA-8884-A4B3BB786535}"/>
                  </a:ext>
                </a:extLst>
              </p:cNvPr>
              <p:cNvSpPr/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3B27D74-A42A-14DA-8884-A4B3BB786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45" y="5262146"/>
                <a:ext cx="556279" cy="509588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E678921-4DA7-90B8-7EC3-B894FB45686D}"/>
                  </a:ext>
                </a:extLst>
              </p:cNvPr>
              <p:cNvSpPr/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CE678921-4DA7-90B8-7EC3-B894FB4568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0019" y="3781893"/>
                <a:ext cx="556279" cy="50958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E89A97-BFAD-13ED-4D82-37CD0ED6A7C8}"/>
              </a:ext>
            </a:extLst>
          </p:cNvPr>
          <p:cNvCxnSpPr/>
          <p:nvPr/>
        </p:nvCxnSpPr>
        <p:spPr>
          <a:xfrm flipV="1">
            <a:off x="3167599" y="4254594"/>
            <a:ext cx="289423" cy="32548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C135DB-98D6-7D4F-0962-03507A84998F}"/>
              </a:ext>
            </a:extLst>
          </p:cNvPr>
          <p:cNvCxnSpPr/>
          <p:nvPr/>
        </p:nvCxnSpPr>
        <p:spPr>
          <a:xfrm>
            <a:off x="3671603" y="4248782"/>
            <a:ext cx="357075" cy="33129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2B219C6-D87B-F2FD-A924-0102A6B33A66}"/>
                  </a:ext>
                </a:extLst>
              </p:cNvPr>
              <p:cNvSpPr/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2B219C6-D87B-F2FD-A924-0102A6B33A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8606" y="4554435"/>
                <a:ext cx="556279" cy="50958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BDF8E27-CEEE-87A8-EE62-0165B216EB18}"/>
                  </a:ext>
                </a:extLst>
              </p:cNvPr>
              <p:cNvSpPr/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BDF8E27-CEEE-87A8-EE62-0165B216EB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40" y="4503576"/>
                <a:ext cx="556279" cy="50958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50662B-54BA-4BCA-FB9D-F6AC03571A91}"/>
              </a:ext>
            </a:extLst>
          </p:cNvPr>
          <p:cNvCxnSpPr>
            <a:stCxn id="6" idx="5"/>
            <a:endCxn id="8" idx="1"/>
          </p:cNvCxnSpPr>
          <p:nvPr/>
        </p:nvCxnSpPr>
        <p:spPr>
          <a:xfrm>
            <a:off x="1879856" y="2339261"/>
            <a:ext cx="657209" cy="49278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8EFE87-0637-E8F8-01B7-B6D5DA071278}"/>
              </a:ext>
            </a:extLst>
          </p:cNvPr>
          <p:cNvCxnSpPr>
            <a:stCxn id="7" idx="3"/>
            <a:endCxn id="8" idx="7"/>
          </p:cNvCxnSpPr>
          <p:nvPr/>
        </p:nvCxnSpPr>
        <p:spPr>
          <a:xfrm flipH="1">
            <a:off x="2930414" y="2361017"/>
            <a:ext cx="667268" cy="471033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0C4C61-096A-90FA-53B6-3EAEE8A4438E}"/>
              </a:ext>
            </a:extLst>
          </p:cNvPr>
          <p:cNvCxnSpPr>
            <a:stCxn id="9" idx="7"/>
          </p:cNvCxnSpPr>
          <p:nvPr/>
        </p:nvCxnSpPr>
        <p:spPr>
          <a:xfrm flipV="1">
            <a:off x="1925020" y="3193924"/>
            <a:ext cx="609249" cy="66259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B7D748-F1DB-E26B-6DAB-5BA7C89407CA}"/>
              </a:ext>
            </a:extLst>
          </p:cNvPr>
          <p:cNvCxnSpPr>
            <a:endCxn id="18" idx="0"/>
          </p:cNvCxnSpPr>
          <p:nvPr/>
        </p:nvCxnSpPr>
        <p:spPr>
          <a:xfrm>
            <a:off x="2930148" y="3201572"/>
            <a:ext cx="638011" cy="58032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F40AB3B-CC85-460F-F9DA-DCEE0DB60AA9}"/>
              </a:ext>
            </a:extLst>
          </p:cNvPr>
          <p:cNvCxnSpPr>
            <a:stCxn id="6" idx="4"/>
            <a:endCxn id="13" idx="0"/>
          </p:cNvCxnSpPr>
          <p:nvPr/>
        </p:nvCxnSpPr>
        <p:spPr>
          <a:xfrm flipH="1">
            <a:off x="1172067" y="2413888"/>
            <a:ext cx="511115" cy="208968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60920F8-77FD-91D5-C90D-5AB41C520F3F}"/>
              </a:ext>
            </a:extLst>
          </p:cNvPr>
          <p:cNvCxnSpPr>
            <a:stCxn id="7" idx="4"/>
            <a:endCxn id="21" idx="0"/>
          </p:cNvCxnSpPr>
          <p:nvPr/>
        </p:nvCxnSpPr>
        <p:spPr>
          <a:xfrm>
            <a:off x="3794357" y="2435644"/>
            <a:ext cx="322389" cy="211879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77FBE04-B119-1818-56ED-071B0E4B9483}"/>
                  </a:ext>
                </a:extLst>
              </p:cNvPr>
              <p:cNvSpPr/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77FBE04-B119-1818-56ED-071B0E4B94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2990" y="1170887"/>
                <a:ext cx="337400" cy="333851"/>
              </a:xfrm>
              <a:prstGeom prst="rect">
                <a:avLst/>
              </a:prstGeom>
              <a:blipFill>
                <a:blip r:embed="rId14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9204493-D6D8-7EAC-E2FA-68BDE649FAC6}"/>
                  </a:ext>
                </a:extLst>
              </p:cNvPr>
              <p:cNvSpPr/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9204493-D6D8-7EAC-E2FA-68BDE649FA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648" y="1946830"/>
                <a:ext cx="337400" cy="333851"/>
              </a:xfrm>
              <a:prstGeom prst="rect">
                <a:avLst/>
              </a:prstGeom>
              <a:blipFill>
                <a:blip r:embed="rId15"/>
                <a:stretch>
                  <a:fillRect l="-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582CB4C-E71A-DDF4-B4E5-0FB8A5DA7456}"/>
                  </a:ext>
                </a:extLst>
              </p:cNvPr>
              <p:cNvSpPr/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582CB4C-E71A-DDF4-B4E5-0FB8A5DA74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745" y="2000683"/>
                <a:ext cx="337400" cy="333851"/>
              </a:xfrm>
              <a:prstGeom prst="rect">
                <a:avLst/>
              </a:prstGeom>
              <a:blipFill>
                <a:blip r:embed="rId16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668FAA0-3832-28D3-4EA6-2AA317A2498B}"/>
                  </a:ext>
                </a:extLst>
              </p:cNvPr>
              <p:cNvSpPr/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668FAA0-3832-28D3-4EA6-2AA317A249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957" y="2832192"/>
                <a:ext cx="337400" cy="333851"/>
              </a:xfrm>
              <a:prstGeom prst="rect">
                <a:avLst/>
              </a:prstGeom>
              <a:blipFill>
                <a:blip r:embed="rId17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DBFFBEC-CABA-C9B2-DD26-3148DDF79C4E}"/>
                  </a:ext>
                </a:extLst>
              </p:cNvPr>
              <p:cNvSpPr/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BDBFFBEC-CABA-C9B2-DD26-3148DDF79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820" y="3855034"/>
                <a:ext cx="337400" cy="333851"/>
              </a:xfrm>
              <a:prstGeom prst="rect">
                <a:avLst/>
              </a:prstGeom>
              <a:blipFill>
                <a:blip r:embed="rId18"/>
                <a:stretch>
                  <a:fillRect l="-35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13C6387-28D8-D9FE-6EC9-D4BA634EB738}"/>
                  </a:ext>
                </a:extLst>
              </p:cNvPr>
              <p:cNvSpPr/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13C6387-28D8-D9FE-6EC9-D4BA634EB7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99" y="4570426"/>
                <a:ext cx="337400" cy="333851"/>
              </a:xfrm>
              <a:prstGeom prst="rect">
                <a:avLst/>
              </a:prstGeom>
              <a:blipFill>
                <a:blip r:embed="rId19"/>
                <a:stretch>
                  <a:fillRect l="-1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985922F-9764-272B-BFD9-F7389ACFA546}"/>
                  </a:ext>
                </a:extLst>
              </p:cNvPr>
              <p:cNvSpPr/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985922F-9764-272B-BFD9-F7389ACFA5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47" y="5350014"/>
                <a:ext cx="337400" cy="333851"/>
              </a:xfrm>
              <a:prstGeom prst="rect">
                <a:avLst/>
              </a:prstGeom>
              <a:blipFill>
                <a:blip r:embed="rId20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4E44FFC-F1D2-8EA9-F4D7-1F4E02851A62}"/>
                  </a:ext>
                </a:extLst>
              </p:cNvPr>
              <p:cNvSpPr/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4E44FFC-F1D2-8EA9-F4D7-1F4E02851A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67" y="4636783"/>
                <a:ext cx="337400" cy="333851"/>
              </a:xfrm>
              <a:prstGeom prst="rect">
                <a:avLst/>
              </a:prstGeom>
              <a:blipFill>
                <a:blip r:embed="rId21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37AEA49-85DB-2503-49B7-E383F9FA5FDA}"/>
                  </a:ext>
                </a:extLst>
              </p:cNvPr>
              <p:cNvSpPr/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</m:oMath>
                  </m:oMathPara>
                </a14:m>
                <a:endParaRPr lang="en-US" b="1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137AEA49-85DB-2503-49B7-E383F9FA5F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9998" y="3863949"/>
                <a:ext cx="337400" cy="333851"/>
              </a:xfrm>
              <a:prstGeom prst="rect">
                <a:avLst/>
              </a:prstGeom>
              <a:blipFill>
                <a:blip r:embed="rId22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>
            <a:extLst>
              <a:ext uri="{FF2B5EF4-FFF2-40B4-BE49-F238E27FC236}">
                <a16:creationId xmlns:a16="http://schemas.microsoft.com/office/drawing/2014/main" id="{F6D35957-705C-9ED3-D78B-C3EC6EA75238}"/>
              </a:ext>
            </a:extLst>
          </p:cNvPr>
          <p:cNvSpPr/>
          <p:nvPr/>
        </p:nvSpPr>
        <p:spPr>
          <a:xfrm>
            <a:off x="1940151" y="544744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370B5F1-E8C5-5E0D-6ADC-D185821ED1AD}"/>
              </a:ext>
            </a:extLst>
          </p:cNvPr>
          <p:cNvSpPr/>
          <p:nvPr/>
        </p:nvSpPr>
        <p:spPr>
          <a:xfrm>
            <a:off x="3167599" y="4641561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B00530-FBDA-4746-9BD2-6B4D7ECF6EA8}"/>
              </a:ext>
            </a:extLst>
          </p:cNvPr>
          <p:cNvSpPr/>
          <p:nvPr/>
        </p:nvSpPr>
        <p:spPr>
          <a:xfrm>
            <a:off x="4315828" y="4642329"/>
            <a:ext cx="515449" cy="3242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FF0000"/>
                </a:solidFill>
                <a:latin typeface="+mj-lt"/>
              </a:rPr>
              <a:t>12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65AC6FE-FECD-E2B5-F931-9518F3CE6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99771"/>
              </p:ext>
            </p:extLst>
          </p:nvPr>
        </p:nvGraphicFramePr>
        <p:xfrm>
          <a:off x="5562735" y="1621826"/>
          <a:ext cx="38204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11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/>
                        <a:t>Listed Node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8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Rectangle 41">
            <a:extLst>
              <a:ext uri="{FF2B5EF4-FFF2-40B4-BE49-F238E27FC236}">
                <a16:creationId xmlns:a16="http://schemas.microsoft.com/office/drawing/2014/main" id="{6EDC62B6-A9D4-7396-4390-CF3E257704BA}"/>
              </a:ext>
            </a:extLst>
          </p:cNvPr>
          <p:cNvSpPr/>
          <p:nvPr/>
        </p:nvSpPr>
        <p:spPr>
          <a:xfrm>
            <a:off x="4831277" y="2153742"/>
            <a:ext cx="5283394" cy="6645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E47A1"/>
                </a:solidFill>
              </a:rPr>
              <a:t>Reverse Order for three address code = 8 6 5 4 3 2 1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4C163E2-C95E-08C3-335E-1D3F86303F1A}"/>
              </a:ext>
            </a:extLst>
          </p:cNvPr>
          <p:cNvSpPr/>
          <p:nvPr/>
        </p:nvSpPr>
        <p:spPr>
          <a:xfrm>
            <a:off x="6248400" y="3069296"/>
            <a:ext cx="3235694" cy="22737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t8=d+e</a:t>
            </a:r>
          </a:p>
          <a:p>
            <a:r>
              <a:rPr lang="en-US" sz="2000">
                <a:solidFill>
                  <a:schemeClr val="tx1"/>
                </a:solidFill>
              </a:rPr>
              <a:t>t6=a+b</a:t>
            </a:r>
          </a:p>
          <a:p>
            <a:r>
              <a:rPr lang="en-US" sz="2000">
                <a:solidFill>
                  <a:schemeClr val="tx1"/>
                </a:solidFill>
              </a:rPr>
              <a:t>t5=t6-c</a:t>
            </a:r>
          </a:p>
          <a:p>
            <a:r>
              <a:rPr lang="en-US" sz="2000">
                <a:solidFill>
                  <a:schemeClr val="tx1"/>
                </a:solidFill>
              </a:rPr>
              <a:t>t4=t5*t8</a:t>
            </a:r>
          </a:p>
          <a:p>
            <a:r>
              <a:rPr lang="en-US" sz="2000">
                <a:solidFill>
                  <a:schemeClr val="tx1"/>
                </a:solidFill>
              </a:rPr>
              <a:t>t3=t4-e</a:t>
            </a:r>
          </a:p>
          <a:p>
            <a:r>
              <a:rPr lang="en-US" sz="2000">
                <a:solidFill>
                  <a:schemeClr val="tx1"/>
                </a:solidFill>
              </a:rPr>
              <a:t>t2=t6+t4</a:t>
            </a:r>
          </a:p>
          <a:p>
            <a:r>
              <a:rPr lang="en-US" sz="2000">
                <a:solidFill>
                  <a:schemeClr val="tx1"/>
                </a:solidFill>
              </a:rPr>
              <a:t>t1=t2*t3</a:t>
            </a:r>
          </a:p>
          <a:p>
            <a:pPr algn="ctr"/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EE9508D6-B262-7755-B439-C57CB70CABCF}"/>
              </a:ext>
            </a:extLst>
          </p:cNvPr>
          <p:cNvSpPr/>
          <p:nvPr/>
        </p:nvSpPr>
        <p:spPr>
          <a:xfrm>
            <a:off x="7132393" y="2989124"/>
            <a:ext cx="990600" cy="2192850"/>
          </a:xfrm>
          <a:prstGeom prst="rightBrac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E775398-96B5-50A1-0B17-1B5EA7D0EFE2}"/>
              </a:ext>
            </a:extLst>
          </p:cNvPr>
          <p:cNvSpPr/>
          <p:nvPr/>
        </p:nvSpPr>
        <p:spPr>
          <a:xfrm>
            <a:off x="8144490" y="3410893"/>
            <a:ext cx="934150" cy="14826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rgbClr val="C00000"/>
                </a:solidFill>
              </a:rPr>
              <a:t>OptimalThree</a:t>
            </a:r>
            <a:endParaRPr lang="en-US">
              <a:solidFill>
                <a:srgbClr val="C00000"/>
              </a:solidFill>
            </a:endParaRPr>
          </a:p>
          <a:p>
            <a:pPr algn="ctr"/>
            <a:r>
              <a:rPr lang="en-US">
                <a:solidFill>
                  <a:srgbClr val="C00000"/>
                </a:solidFill>
              </a:rPr>
              <a:t>Address</a:t>
            </a:r>
          </a:p>
          <a:p>
            <a:pPr algn="ctr"/>
            <a:r>
              <a:rPr lang="en-US">
                <a:solidFill>
                  <a:srgbClr val="C00000"/>
                </a:solidFill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65128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 animBg="1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9D792-5E99-6BFD-517E-229B525B7E1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Labeling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772F5-2D45-9231-9E1D-A3A08A42C6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/>
                  <a:t>The labeling algorithm </a:t>
                </a:r>
                <a:r>
                  <a:rPr lang="en-US">
                    <a:solidFill>
                      <a:srgbClr val="C00000"/>
                    </a:solidFill>
                  </a:rPr>
                  <a:t>generates the optimal code for given expression</a:t>
                </a:r>
                <a:r>
                  <a:rPr lang="en-US"/>
                  <a:t> in which minimum registers are required. </a:t>
                </a:r>
              </a:p>
              <a:p>
                <a:r>
                  <a:rPr lang="en-US"/>
                  <a:t>Using labeling algorithm the labeling can be done to tree by visiting nodes in bottom up order. </a:t>
                </a:r>
              </a:p>
              <a:p>
                <a:r>
                  <a:rPr lang="en-US"/>
                  <a:t>For computing the label at node n with the label L1 to left child and label L2 to right child as,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/>
                  <a:t>	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𝐿𝑎𝑏𝑒𝑙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2)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𝑒𝑞𝑢𝑎𝑙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smtClean="0">
                        <a:solidFill>
                          <a:srgbClr val="0E47A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>
                  <a:solidFill>
                    <a:srgbClr val="0E47A1"/>
                  </a:solidFill>
                </a:endParaRPr>
              </a:p>
              <a:p>
                <a:pPr marL="1660525" indent="0" defTabSz="601663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		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𝐿𝑎𝑏𝑒𝑙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1+1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1=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0E47A1"/>
                  </a:solidFill>
                </a:endParaRPr>
              </a:p>
              <a:p>
                <a:r>
                  <a:rPr lang="en-US"/>
                  <a:t>We start in bottom-up fashion and label </a:t>
                </a:r>
                <a:r>
                  <a:rPr lang="en-US">
                    <a:solidFill>
                      <a:srgbClr val="C00000"/>
                    </a:solidFill>
                  </a:rPr>
                  <a:t>left leaf as 1 </a:t>
                </a:r>
                <a:r>
                  <a:rPr lang="en-US"/>
                  <a:t>and </a:t>
                </a:r>
                <a:r>
                  <a:rPr lang="en-US">
                    <a:solidFill>
                      <a:srgbClr val="C00000"/>
                    </a:solidFill>
                  </a:rPr>
                  <a:t>right leaf as 0</a:t>
                </a:r>
                <a:r>
                  <a:rPr lang="en-US"/>
                  <a:t>.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2772F5-2D45-9231-9E1D-A3A08A42C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920" t="-2072" r="-10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875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D561-134E-8582-635A-033D9124B35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Example: Labeling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BB01FD-2978-E995-8956-74F5AE8319CC}"/>
              </a:ext>
            </a:extLst>
          </p:cNvPr>
          <p:cNvSpPr/>
          <p:nvPr/>
        </p:nvSpPr>
        <p:spPr>
          <a:xfrm>
            <a:off x="170874" y="662242"/>
            <a:ext cx="2862638" cy="266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>
                <a:solidFill>
                  <a:schemeClr val="tx1"/>
                </a:solidFill>
                <a:latin typeface="+mj-lt"/>
              </a:rPr>
              <a:t>t1:=a+b</a:t>
            </a:r>
          </a:p>
          <a:p>
            <a:r>
              <a:rPr lang="en-US" sz="2400">
                <a:solidFill>
                  <a:schemeClr val="tx1"/>
                </a:solidFill>
                <a:latin typeface="+mj-lt"/>
              </a:rPr>
              <a:t>t2:=c+d</a:t>
            </a:r>
          </a:p>
          <a:p>
            <a:r>
              <a:rPr lang="en-US" sz="2400">
                <a:solidFill>
                  <a:schemeClr val="tx1"/>
                </a:solidFill>
                <a:latin typeface="+mj-lt"/>
              </a:rPr>
              <a:t>t3:=e-t2</a:t>
            </a:r>
          </a:p>
          <a:p>
            <a:r>
              <a:rPr lang="en-US" sz="2400">
                <a:solidFill>
                  <a:schemeClr val="tx1"/>
                </a:solidFill>
                <a:latin typeface="+mj-lt"/>
              </a:rPr>
              <a:t>t4:=t1-t3</a:t>
            </a:r>
          </a:p>
          <a:p>
            <a:r>
              <a:rPr lang="en-US" sz="2400">
                <a:solidFill>
                  <a:srgbClr val="0E47A1"/>
                </a:solidFill>
                <a:latin typeface="+mj-lt"/>
              </a:rPr>
              <a:t>Three Address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A2D84C3-9DE9-605F-B3E6-641081DCD355}"/>
                  </a:ext>
                </a:extLst>
              </p:cNvPr>
              <p:cNvSpPr/>
              <p:nvPr/>
            </p:nvSpPr>
            <p:spPr>
              <a:xfrm>
                <a:off x="5320294" y="3873978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A2D84C3-9DE9-605F-B3E6-641081DCD3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294" y="3873978"/>
                <a:ext cx="556279" cy="50958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3F8A951-A3E6-95A6-FC0E-A8CA339EE8A6}"/>
              </a:ext>
            </a:extLst>
          </p:cNvPr>
          <p:cNvCxnSpPr/>
          <p:nvPr/>
        </p:nvCxnSpPr>
        <p:spPr>
          <a:xfrm flipV="1">
            <a:off x="5102151" y="4337515"/>
            <a:ext cx="328184" cy="3623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60E2557-2E38-6AA9-7131-307C291B95E1}"/>
              </a:ext>
            </a:extLst>
          </p:cNvPr>
          <p:cNvCxnSpPr/>
          <p:nvPr/>
        </p:nvCxnSpPr>
        <p:spPr>
          <a:xfrm>
            <a:off x="5711249" y="4244220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338DC38-430B-DD45-2BBE-4495179874F8}"/>
              </a:ext>
            </a:extLst>
          </p:cNvPr>
          <p:cNvSpPr/>
          <p:nvPr/>
        </p:nvSpPr>
        <p:spPr>
          <a:xfrm>
            <a:off x="4906151" y="4613956"/>
            <a:ext cx="37433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a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71D14B-A1B2-D56F-C154-AFCEC6697D6D}"/>
              </a:ext>
            </a:extLst>
          </p:cNvPr>
          <p:cNvSpPr/>
          <p:nvPr/>
        </p:nvSpPr>
        <p:spPr>
          <a:xfrm>
            <a:off x="6089074" y="4623694"/>
            <a:ext cx="31238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rgbClr val="C00000"/>
                </a:solidFill>
                <a:latin typeface="+mj-lt"/>
              </a:rPr>
              <a:t>b</a:t>
            </a:r>
            <a:endParaRPr lang="en-US" b="1">
              <a:solidFill>
                <a:srgbClr val="C0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6D896DD-D41A-5B02-6B2D-D8F038FE57E5}"/>
                  </a:ext>
                </a:extLst>
              </p:cNvPr>
              <p:cNvSpPr/>
              <p:nvPr/>
            </p:nvSpPr>
            <p:spPr>
              <a:xfrm>
                <a:off x="7780643" y="4159732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66D896DD-D41A-5B02-6B2D-D8F038FE57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643" y="4159732"/>
                <a:ext cx="556279" cy="509588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B873A0-4621-FDB2-E03E-25731003506D}"/>
              </a:ext>
            </a:extLst>
          </p:cNvPr>
          <p:cNvCxnSpPr/>
          <p:nvPr/>
        </p:nvCxnSpPr>
        <p:spPr>
          <a:xfrm flipV="1">
            <a:off x="7562500" y="4623269"/>
            <a:ext cx="328184" cy="3623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7FF4C9-BE8A-52DE-6AB1-2AE1A1F40930}"/>
              </a:ext>
            </a:extLst>
          </p:cNvPr>
          <p:cNvCxnSpPr/>
          <p:nvPr/>
        </p:nvCxnSpPr>
        <p:spPr>
          <a:xfrm>
            <a:off x="8171598" y="4529974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D337E28-C909-C881-F8A7-2C06A6204FB4}"/>
              </a:ext>
            </a:extLst>
          </p:cNvPr>
          <p:cNvSpPr/>
          <p:nvPr/>
        </p:nvSpPr>
        <p:spPr>
          <a:xfrm>
            <a:off x="7367101" y="4934152"/>
            <a:ext cx="37433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c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6E1F32-8E8C-2EA4-17AC-F4DBC5DFC67B}"/>
              </a:ext>
            </a:extLst>
          </p:cNvPr>
          <p:cNvSpPr/>
          <p:nvPr/>
        </p:nvSpPr>
        <p:spPr>
          <a:xfrm>
            <a:off x="8535031" y="4934152"/>
            <a:ext cx="312384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310B88-44CA-80DA-8EDF-2CCA8AB77541}"/>
                  </a:ext>
                </a:extLst>
              </p:cNvPr>
              <p:cNvSpPr/>
              <p:nvPr/>
            </p:nvSpPr>
            <p:spPr>
              <a:xfrm>
                <a:off x="7088962" y="3377536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B310B88-44CA-80DA-8EDF-2CCA8AB775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8962" y="3377536"/>
                <a:ext cx="556279" cy="50958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AEA3F4-1D5B-24B6-D415-CEC28572EF20}"/>
              </a:ext>
            </a:extLst>
          </p:cNvPr>
          <p:cNvCxnSpPr/>
          <p:nvPr/>
        </p:nvCxnSpPr>
        <p:spPr>
          <a:xfrm flipV="1">
            <a:off x="6870819" y="3841073"/>
            <a:ext cx="328184" cy="3623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E2A66F-5F5A-9967-61C5-3E79AA0B0E26}"/>
              </a:ext>
            </a:extLst>
          </p:cNvPr>
          <p:cNvCxnSpPr/>
          <p:nvPr/>
        </p:nvCxnSpPr>
        <p:spPr>
          <a:xfrm>
            <a:off x="7479917" y="3747778"/>
            <a:ext cx="493208" cy="42794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BBBCB39-AC41-FE45-F553-B28AC8C2A9E2}"/>
              </a:ext>
            </a:extLst>
          </p:cNvPr>
          <p:cNvSpPr/>
          <p:nvPr/>
        </p:nvSpPr>
        <p:spPr>
          <a:xfrm>
            <a:off x="6656200" y="4147015"/>
            <a:ext cx="374335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e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52C9684-4954-CB88-D047-4B90796FA082}"/>
                  </a:ext>
                </a:extLst>
              </p:cNvPr>
              <p:cNvSpPr/>
              <p:nvPr/>
            </p:nvSpPr>
            <p:spPr>
              <a:xfrm>
                <a:off x="6410942" y="2787321"/>
                <a:ext cx="556279" cy="509588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52C9684-4954-CB88-D047-4B90796FA0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942" y="2787321"/>
                <a:ext cx="556279" cy="5095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45549B7-5CD7-C5FD-DC57-B923BBAF0C72}"/>
              </a:ext>
            </a:extLst>
          </p:cNvPr>
          <p:cNvCxnSpPr>
            <a:stCxn id="18" idx="3"/>
            <a:endCxn id="4" idx="7"/>
          </p:cNvCxnSpPr>
          <p:nvPr/>
        </p:nvCxnSpPr>
        <p:spPr>
          <a:xfrm flipH="1">
            <a:off x="5795108" y="3222282"/>
            <a:ext cx="697299" cy="726323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8AA6838-2B84-7376-EA5B-F848B4C2CF60}"/>
              </a:ext>
            </a:extLst>
          </p:cNvPr>
          <p:cNvCxnSpPr>
            <a:stCxn id="18" idx="5"/>
            <a:endCxn id="14" idx="1"/>
          </p:cNvCxnSpPr>
          <p:nvPr/>
        </p:nvCxnSpPr>
        <p:spPr>
          <a:xfrm>
            <a:off x="6885756" y="3222282"/>
            <a:ext cx="284671" cy="22988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FD021-C5BA-FC4A-BD4D-69E2F5261DCD}"/>
              </a:ext>
            </a:extLst>
          </p:cNvPr>
          <p:cNvSpPr/>
          <p:nvPr/>
        </p:nvSpPr>
        <p:spPr>
          <a:xfrm>
            <a:off x="5376822" y="3470378"/>
            <a:ext cx="412970" cy="4116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t1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2747377-E3A0-DE4F-36DC-DFF90E3C608A}"/>
              </a:ext>
            </a:extLst>
          </p:cNvPr>
          <p:cNvSpPr/>
          <p:nvPr/>
        </p:nvSpPr>
        <p:spPr>
          <a:xfrm>
            <a:off x="8310263" y="4128772"/>
            <a:ext cx="41297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t2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AAA398-1C8D-BCF3-F99D-16847EADDDC7}"/>
              </a:ext>
            </a:extLst>
          </p:cNvPr>
          <p:cNvSpPr/>
          <p:nvPr/>
        </p:nvSpPr>
        <p:spPr>
          <a:xfrm>
            <a:off x="7656899" y="3340201"/>
            <a:ext cx="41297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t3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D3973D-967C-77DA-4785-F366FF8D3C4E}"/>
              </a:ext>
            </a:extLst>
          </p:cNvPr>
          <p:cNvSpPr/>
          <p:nvPr/>
        </p:nvSpPr>
        <p:spPr>
          <a:xfrm>
            <a:off x="6947036" y="2740315"/>
            <a:ext cx="41297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+mj-lt"/>
              </a:rPr>
              <a:t>t4</a:t>
            </a:r>
            <a:endParaRPr lang="en-US" b="1" baseline="-25000">
              <a:solidFill>
                <a:srgbClr val="C00000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D19A685-5E7C-2E7C-E224-80A3E83649D3}"/>
                  </a:ext>
                </a:extLst>
              </p:cNvPr>
              <p:cNvSpPr/>
              <p:nvPr/>
            </p:nvSpPr>
            <p:spPr>
              <a:xfrm>
                <a:off x="4349294" y="1247252"/>
                <a:ext cx="1562882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𝑳𝒂𝒃𝒆𝒍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)=   </m:t>
                      </m:r>
                    </m:oMath>
                  </m:oMathPara>
                </a14:m>
                <a:endParaRPr lang="en-US" b="1" i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D19A685-5E7C-2E7C-E224-80A3E83649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9294" y="1247252"/>
                <a:ext cx="1562882" cy="685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4AEDEE8-DECD-D5BA-557B-C8E44E0D50DC}"/>
                  </a:ext>
                </a:extLst>
              </p:cNvPr>
              <p:cNvSpPr/>
              <p:nvPr/>
            </p:nvSpPr>
            <p:spPr>
              <a:xfrm>
                <a:off x="6031884" y="1215796"/>
                <a:ext cx="2807316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𝑴𝒂𝒙</m:t>
                      </m:r>
                      <m:d>
                        <m:dPr>
                          <m:ctrlPr>
                            <a:rPr lang="en-US" b="1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b="1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1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  <m:r>
                            <a:rPr lang="en-US" b="1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     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𝒊𝒇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𝒍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i="1">
                  <a:solidFill>
                    <a:srgbClr val="0E47A1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𝒊𝒇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𝒍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i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4AEDEE8-DECD-D5BA-557B-C8E44E0D50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1884" y="1215796"/>
                <a:ext cx="2807316" cy="685800"/>
              </a:xfrm>
              <a:prstGeom prst="rect">
                <a:avLst/>
              </a:prstGeom>
              <a:blipFill>
                <a:blip r:embed="rId7"/>
                <a:stretch>
                  <a:fillRect b="-44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eft Brace 26">
            <a:extLst>
              <a:ext uri="{FF2B5EF4-FFF2-40B4-BE49-F238E27FC236}">
                <a16:creationId xmlns:a16="http://schemas.microsoft.com/office/drawing/2014/main" id="{BAAA5BFE-87B4-C0C3-35AA-B932E8F8EDFC}"/>
              </a:ext>
            </a:extLst>
          </p:cNvPr>
          <p:cNvSpPr/>
          <p:nvPr/>
        </p:nvSpPr>
        <p:spPr>
          <a:xfrm>
            <a:off x="5795108" y="1088273"/>
            <a:ext cx="282496" cy="983562"/>
          </a:xfrm>
          <a:prstGeom prst="lef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E47A1"/>
              </a:solidFill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D3D873D-B5E7-9FEF-8E9B-B4DBB726144F}"/>
                  </a:ext>
                </a:extLst>
              </p:cNvPr>
              <p:cNvSpPr/>
              <p:nvPr/>
            </p:nvSpPr>
            <p:spPr>
              <a:xfrm>
                <a:off x="84045" y="5668107"/>
                <a:ext cx="5506776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𝒑𝒐𝒔𝒕𝒐𝒓𝒅𝒆𝒓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𝒕𝒓𝒂𝒗𝒆𝒓𝒔𝒂𝒍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b="1" i="1" dirty="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4D3D873D-B5E7-9FEF-8E9B-B4DBB7261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45" y="5668107"/>
                <a:ext cx="5506776" cy="685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C39D7EE-3C77-714A-8E22-5BBF9CFF4766}"/>
                  </a:ext>
                </a:extLst>
              </p:cNvPr>
              <p:cNvSpPr/>
              <p:nvPr/>
            </p:nvSpPr>
            <p:spPr>
              <a:xfrm>
                <a:off x="4684257" y="4629667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C39D7EE-3C77-714A-8E22-5BBF9CF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257" y="4629667"/>
                <a:ext cx="337400" cy="333851"/>
              </a:xfrm>
              <a:prstGeom prst="rect">
                <a:avLst/>
              </a:prstGeom>
              <a:blipFill>
                <a:blip r:embed="rId9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4E734CF-A11F-E538-B582-A7535EAEB63A}"/>
                  </a:ext>
                </a:extLst>
              </p:cNvPr>
              <p:cNvSpPr/>
              <p:nvPr/>
            </p:nvSpPr>
            <p:spPr>
              <a:xfrm>
                <a:off x="6318019" y="4630295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4E734CF-A11F-E538-B582-A7535EAEB6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019" y="4630295"/>
                <a:ext cx="337400" cy="333851"/>
              </a:xfrm>
              <a:prstGeom prst="rect">
                <a:avLst/>
              </a:prstGeom>
              <a:blipFill>
                <a:blip r:embed="rId10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6C19D23-3EDD-8973-AF03-AEB9BF274F82}"/>
                  </a:ext>
                </a:extLst>
              </p:cNvPr>
              <p:cNvSpPr/>
              <p:nvPr/>
            </p:nvSpPr>
            <p:spPr>
              <a:xfrm>
                <a:off x="5000248" y="3792187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6C19D23-3EDD-8973-AF03-AEB9BF274F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248" y="3792187"/>
                <a:ext cx="337400" cy="333851"/>
              </a:xfrm>
              <a:prstGeom prst="rect">
                <a:avLst/>
              </a:prstGeom>
              <a:blipFill>
                <a:blip r:embed="rId11"/>
                <a:stretch>
                  <a:fillRect l="-17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79C06FE-003D-D589-4065-CEAC0CF60027}"/>
                  </a:ext>
                </a:extLst>
              </p:cNvPr>
              <p:cNvSpPr/>
              <p:nvPr/>
            </p:nvSpPr>
            <p:spPr>
              <a:xfrm>
                <a:off x="6485615" y="4195020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279C06FE-003D-D589-4065-CEAC0CF60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615" y="4195020"/>
                <a:ext cx="337400" cy="333851"/>
              </a:xfrm>
              <a:prstGeom prst="rect">
                <a:avLst/>
              </a:prstGeom>
              <a:blipFill>
                <a:blip r:embed="rId12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50FB940-AFB1-D443-D3FD-2E49B963CC50}"/>
                  </a:ext>
                </a:extLst>
              </p:cNvPr>
              <p:cNvSpPr/>
              <p:nvPr/>
            </p:nvSpPr>
            <p:spPr>
              <a:xfrm>
                <a:off x="7162815" y="4981301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50FB940-AFB1-D443-D3FD-2E49B963CC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15" y="4981301"/>
                <a:ext cx="337400" cy="333851"/>
              </a:xfrm>
              <a:prstGeom prst="rect">
                <a:avLst/>
              </a:prstGeom>
              <a:blipFill>
                <a:blip r:embed="rId13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81A15FD-0070-5692-02C8-33548FCB2C36}"/>
                  </a:ext>
                </a:extLst>
              </p:cNvPr>
              <p:cNvSpPr/>
              <p:nvPr/>
            </p:nvSpPr>
            <p:spPr>
              <a:xfrm>
                <a:off x="8843444" y="4957726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81A15FD-0070-5692-02C8-33548FCB2C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3444" y="4957726"/>
                <a:ext cx="337400" cy="333851"/>
              </a:xfrm>
              <a:prstGeom prst="rect">
                <a:avLst/>
              </a:prstGeom>
              <a:blipFill>
                <a:blip r:embed="rId14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CAAEB40-55C3-2EF6-1207-62D7838811ED}"/>
                  </a:ext>
                </a:extLst>
              </p:cNvPr>
              <p:cNvSpPr/>
              <p:nvPr/>
            </p:nvSpPr>
            <p:spPr>
              <a:xfrm>
                <a:off x="8222734" y="3959112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CAAEB40-55C3-2EF6-1207-62D7838811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2734" y="3959112"/>
                <a:ext cx="337400" cy="333851"/>
              </a:xfrm>
              <a:prstGeom prst="rect">
                <a:avLst/>
              </a:prstGeom>
              <a:blipFill>
                <a:blip r:embed="rId15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9A69D4B-7EF9-B8AA-EC5A-4D0DEC2F9EA6}"/>
                  </a:ext>
                </a:extLst>
              </p:cNvPr>
              <p:cNvSpPr/>
              <p:nvPr/>
            </p:nvSpPr>
            <p:spPr>
              <a:xfrm>
                <a:off x="7553284" y="3196850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A9A69D4B-7EF9-B8AA-EC5A-4D0DEC2F9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3284" y="3196850"/>
                <a:ext cx="337400" cy="333851"/>
              </a:xfrm>
              <a:prstGeom prst="rect">
                <a:avLst/>
              </a:prstGeom>
              <a:blipFill>
                <a:blip r:embed="rId16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30CDE46-C42C-F6B0-23B6-3B363C8542D9}"/>
                  </a:ext>
                </a:extLst>
              </p:cNvPr>
              <p:cNvSpPr/>
              <p:nvPr/>
            </p:nvSpPr>
            <p:spPr>
              <a:xfrm>
                <a:off x="6843367" y="2541541"/>
                <a:ext cx="337400" cy="33385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30CDE46-C42C-F6B0-23B6-3B363C854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3367" y="2541541"/>
                <a:ext cx="337400" cy="333851"/>
              </a:xfrm>
              <a:prstGeom prst="rect">
                <a:avLst/>
              </a:prstGeom>
              <a:blipFill>
                <a:blip r:embed="rId17"/>
                <a:stretch>
                  <a:fillRect l="-36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26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8" grpId="0"/>
      <p:bldP spid="9" grpId="0" animBg="1"/>
      <p:bldP spid="12" grpId="0"/>
      <p:bldP spid="13" grpId="0"/>
      <p:bldP spid="14" grpId="0" animBg="1"/>
      <p:bldP spid="17" grpId="0"/>
      <p:bldP spid="18" grpId="0" animBg="1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26741</TotalTime>
  <Words>1741</Words>
  <Application>Microsoft Office PowerPoint</Application>
  <PresentationFormat>Widescreen</PresentationFormat>
  <Paragraphs>445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Cambria</vt:lpstr>
      <vt:lpstr>Cambria Math</vt:lpstr>
      <vt:lpstr>Palatino Linotype</vt:lpstr>
      <vt:lpstr>Times New Roman</vt:lpstr>
      <vt:lpstr>Wingdings</vt:lpstr>
      <vt:lpstr>Office Theme</vt:lpstr>
      <vt:lpstr>PowerPoint Presentation</vt:lpstr>
      <vt:lpstr>Loops in Flow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DAG Representation of Basic Block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Generation of Code from DAGs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SKS</dc:creator>
  <cp:lastModifiedBy>Arumuga Arun R</cp:lastModifiedBy>
  <cp:revision>747</cp:revision>
  <dcterms:created xsi:type="dcterms:W3CDTF">2020-07-30T09:53:05Z</dcterms:created>
  <dcterms:modified xsi:type="dcterms:W3CDTF">2024-11-23T13:03:37Z</dcterms:modified>
</cp:coreProperties>
</file>