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84" r:id="rId2"/>
    <p:sldId id="286" r:id="rId3"/>
    <p:sldId id="402" r:id="rId4"/>
    <p:sldId id="403" r:id="rId5"/>
    <p:sldId id="404" r:id="rId6"/>
    <p:sldId id="287" r:id="rId7"/>
    <p:sldId id="318" r:id="rId8"/>
    <p:sldId id="395" r:id="rId9"/>
    <p:sldId id="396" r:id="rId10"/>
    <p:sldId id="288" r:id="rId11"/>
    <p:sldId id="292" r:id="rId12"/>
    <p:sldId id="290" r:id="rId13"/>
    <p:sldId id="289" r:id="rId14"/>
    <p:sldId id="291" r:id="rId15"/>
    <p:sldId id="398" r:id="rId16"/>
    <p:sldId id="397" r:id="rId17"/>
    <p:sldId id="405" r:id="rId18"/>
    <p:sldId id="406" r:id="rId19"/>
    <p:sldId id="407" r:id="rId20"/>
    <p:sldId id="321" r:id="rId21"/>
    <p:sldId id="305" r:id="rId22"/>
    <p:sldId id="307" r:id="rId23"/>
    <p:sldId id="388" r:id="rId24"/>
    <p:sldId id="399" r:id="rId25"/>
    <p:sldId id="309" r:id="rId26"/>
    <p:sldId id="385" r:id="rId27"/>
    <p:sldId id="308" r:id="rId28"/>
    <p:sldId id="401" r:id="rId29"/>
    <p:sldId id="310" r:id="rId30"/>
    <p:sldId id="311" r:id="rId31"/>
    <p:sldId id="389" r:id="rId32"/>
    <p:sldId id="390" r:id="rId33"/>
    <p:sldId id="391" r:id="rId34"/>
    <p:sldId id="378" r:id="rId35"/>
    <p:sldId id="337" r:id="rId36"/>
    <p:sldId id="338" r:id="rId37"/>
    <p:sldId id="339" r:id="rId38"/>
    <p:sldId id="340" r:id="rId39"/>
    <p:sldId id="392" r:id="rId40"/>
    <p:sldId id="420" r:id="rId41"/>
    <p:sldId id="421" r:id="rId42"/>
    <p:sldId id="422" r:id="rId43"/>
    <p:sldId id="379" r:id="rId44"/>
    <p:sldId id="342" r:id="rId45"/>
    <p:sldId id="343" r:id="rId46"/>
    <p:sldId id="344" r:id="rId47"/>
    <p:sldId id="345" r:id="rId48"/>
    <p:sldId id="346" r:id="rId49"/>
    <p:sldId id="347" r:id="rId50"/>
    <p:sldId id="423" r:id="rId51"/>
    <p:sldId id="387" r:id="rId52"/>
    <p:sldId id="293" r:id="rId53"/>
    <p:sldId id="393" r:id="rId54"/>
    <p:sldId id="294" r:id="rId55"/>
    <p:sldId id="394" r:id="rId56"/>
    <p:sldId id="295" r:id="rId57"/>
    <p:sldId id="296" r:id="rId58"/>
    <p:sldId id="298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9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000000"/>
                </a:solidFill>
                <a:effectLst/>
              </a:rPr>
              <a:t>Data- flow analysis" refers to a body of techniques that derive information about the flow of data along program execution paths. For example, one way to </a:t>
            </a:r>
            <a:endParaRPr lang="en-US" dirty="0"/>
          </a:p>
          <a:p>
            <a:pPr algn="just"/>
            <a:r>
              <a:rPr lang="en-US" dirty="0">
                <a:solidFill>
                  <a:srgbClr val="000000"/>
                </a:solidFill>
                <a:effectLst/>
              </a:rPr>
              <a:t>implement global common subexpression elimination requires us to determine whether two textually identical expressions evaluate to the same value along </a:t>
            </a:r>
            <a:endParaRPr lang="en-US" dirty="0"/>
          </a:p>
          <a:p>
            <a:pPr algn="just"/>
            <a:r>
              <a:rPr lang="en-US" dirty="0">
                <a:solidFill>
                  <a:srgbClr val="000000"/>
                </a:solidFill>
                <a:effectLst/>
              </a:rPr>
              <a:t>any possible execution path of the program. As another example, if the result of an assignment is not used along any subsequent execution path, then we </a:t>
            </a:r>
            <a:endParaRPr lang="en-US" dirty="0"/>
          </a:p>
          <a:p>
            <a:pPr algn="just"/>
            <a:r>
              <a:rPr lang="en-US" dirty="0">
                <a:solidFill>
                  <a:srgbClr val="000000"/>
                </a:solidFill>
                <a:effectLst/>
              </a:rPr>
              <a:t>can eliminate the assignment as dead code.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472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354485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5 – Code Optimization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B4773-E354-901B-FEDE-F17DDD5F1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362" y="5740399"/>
            <a:ext cx="963221" cy="1016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681EDADC-C009-F8C0-72E2-E2260370255E}"/>
              </a:ext>
            </a:extLst>
          </p:cNvPr>
          <p:cNvSpPr txBox="1">
            <a:spLocks/>
          </p:cNvSpPr>
          <p:nvPr/>
        </p:nvSpPr>
        <p:spPr>
          <a:xfrm>
            <a:off x="1408946" y="665914"/>
            <a:ext cx="9144000" cy="79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rgbClr val="000099"/>
                </a:solidFill>
              </a:rPr>
              <a:t>BCSE307L – Compiler Design</a:t>
            </a:r>
          </a:p>
        </p:txBody>
      </p:sp>
      <p:pic>
        <p:nvPicPr>
          <p:cNvPr id="1026" name="Picture 2" descr="Code Optimization - RS VISION SOFTWARE PRIVATE LIMITED">
            <a:extLst>
              <a:ext uri="{FF2B5EF4-FFF2-40B4-BE49-F238E27FC236}">
                <a16:creationId xmlns:a16="http://schemas.microsoft.com/office/drawing/2014/main" id="{AE18FE47-F6E5-9A3A-33F9-825B40B7C9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7" r="7557"/>
          <a:stretch/>
        </p:blipFill>
        <p:spPr bwMode="auto">
          <a:xfrm>
            <a:off x="7292311" y="3947886"/>
            <a:ext cx="4206257" cy="24743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09B3-C547-AEF7-D9F2-BD28E3F0EB2F}"/>
              </a:ext>
            </a:extLst>
          </p:cNvPr>
          <p:cNvSpPr txBox="1">
            <a:spLocks/>
          </p:cNvSpPr>
          <p:nvPr/>
        </p:nvSpPr>
        <p:spPr>
          <a:xfrm>
            <a:off x="0" y="7144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Code Optimization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FC5B18-740E-7EBF-8027-AA0EE72EF796}"/>
              </a:ext>
            </a:extLst>
          </p:cNvPr>
          <p:cNvSpPr txBox="1"/>
          <p:nvPr/>
        </p:nvSpPr>
        <p:spPr>
          <a:xfrm>
            <a:off x="477520" y="782641"/>
            <a:ext cx="10678160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105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optimization in the synthesis phase is a program transformation technique, which tries to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intermediate code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it consume fewer resources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(i.e. CPU, Memory) so that faster-running machine code will result.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compiler optimizing process should meet the following objectives :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optimization must be correct, it must not, in any way, change the meaning of the program.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should increase the speed and performance of the program.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compilation time must be kept reasonable.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optimization process should not delay the overall compiling process. </a:t>
            </a:r>
          </a:p>
        </p:txBody>
      </p:sp>
    </p:spTree>
    <p:extLst>
      <p:ext uri="{BB962C8B-B14F-4D97-AF65-F5344CB8AC3E}">
        <p14:creationId xmlns:p14="http://schemas.microsoft.com/office/powerpoint/2010/main" val="400908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09B3-C547-AEF7-D9F2-BD28E3F0EB2F}"/>
              </a:ext>
            </a:extLst>
          </p:cNvPr>
          <p:cNvSpPr txBox="1">
            <a:spLocks/>
          </p:cNvSpPr>
          <p:nvPr/>
        </p:nvSpPr>
        <p:spPr>
          <a:xfrm>
            <a:off x="0" y="7144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Code Optimization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EA2481-9015-1CEE-769A-619B645E7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9480" y="2471638"/>
            <a:ext cx="1167990" cy="686117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b="1">
                <a:solidFill>
                  <a:srgbClr val="0E47A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 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19F93B-A7F2-DB88-4C88-03EBA7372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365" y="3997691"/>
            <a:ext cx="2163922" cy="387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b="1">
                <a:solidFill>
                  <a:srgbClr val="C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can </a:t>
            </a:r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b="1">
                <a:solidFill>
                  <a:srgbClr val="C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ptimize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29B4AF-6611-2344-8E21-8EFDF2BFA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264" y="2479943"/>
            <a:ext cx="1533255" cy="686116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E47A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Intermediate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E2C4F8-1BFC-2C5A-9323-D17788CAF363}"/>
              </a:ext>
            </a:extLst>
          </p:cNvPr>
          <p:cNvCxnSpPr/>
          <p:nvPr/>
        </p:nvCxnSpPr>
        <p:spPr>
          <a:xfrm>
            <a:off x="2140937" y="2845148"/>
            <a:ext cx="633521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22A09D4F-DD35-FEBE-98CC-151EFBF9809A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3927470" y="2845148"/>
            <a:ext cx="976415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6FAFCF-C211-663B-39A9-C66E5D2DF85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436519" y="2823001"/>
            <a:ext cx="78539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ECD076B-E3B9-5A31-2779-4631575B7C5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221917" y="2441808"/>
            <a:ext cx="1468397" cy="715947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b="1">
                <a:solidFill>
                  <a:srgbClr val="0E47A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 Generator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DC02B4-E322-88D2-3C6E-45CAA267F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7004" y="2479943"/>
            <a:ext cx="1171421" cy="775824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dirty="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 Program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A8B9D-ACCB-D324-F32F-5F80EF279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838" y="3569398"/>
            <a:ext cx="2419714" cy="387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C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Compiler can optimize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8F9D6C-61F2-4E8E-9667-ED4D715FF0BD}"/>
              </a:ext>
            </a:extLst>
          </p:cNvPr>
          <p:cNvCxnSpPr>
            <a:endCxn id="3" idx="2"/>
          </p:cNvCxnSpPr>
          <p:nvPr/>
        </p:nvCxnSpPr>
        <p:spPr>
          <a:xfrm flipH="1" flipV="1">
            <a:off x="3343475" y="3157755"/>
            <a:ext cx="0" cy="839936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EA2ED9-1C0D-F1CE-BAD0-402F14FA6B25}"/>
              </a:ext>
            </a:extLst>
          </p:cNvPr>
          <p:cNvGrpSpPr/>
          <p:nvPr/>
        </p:nvGrpSpPr>
        <p:grpSpPr>
          <a:xfrm>
            <a:off x="8593858" y="3147078"/>
            <a:ext cx="1097280" cy="640759"/>
            <a:chOff x="8519146" y="3257010"/>
            <a:chExt cx="1097280" cy="640759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1D1708B-DD46-F934-6214-AD39E92AE869}"/>
                </a:ext>
              </a:extLst>
            </p:cNvPr>
            <p:cNvCxnSpPr/>
            <p:nvPr/>
          </p:nvCxnSpPr>
          <p:spPr>
            <a:xfrm flipV="1">
              <a:off x="9608233" y="3257010"/>
              <a:ext cx="3762" cy="64008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utoShape 7">
              <a:extLst>
                <a:ext uri="{FF2B5EF4-FFF2-40B4-BE49-F238E27FC236}">
                  <a16:creationId xmlns:a16="http://schemas.microsoft.com/office/drawing/2014/main" id="{99F11552-8BBC-8A86-C740-ACD86B074A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8519146" y="3897769"/>
              <a:ext cx="1097280" cy="0"/>
            </a:xfrm>
            <a:prstGeom prst="straightConnector1">
              <a:avLst/>
            </a:prstGeom>
            <a:noFill/>
            <a:ln w="25400">
              <a:solidFill>
                <a:srgbClr val="0E47A1"/>
              </a:solidFill>
              <a:round/>
              <a:headEnd type="none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2BDD2DB-79A9-C8F5-D327-B1C1DA5C9CDD}"/>
              </a:ext>
            </a:extLst>
          </p:cNvPr>
          <p:cNvGrpSpPr/>
          <p:nvPr/>
        </p:nvGrpSpPr>
        <p:grpSpPr>
          <a:xfrm>
            <a:off x="5669892" y="3166059"/>
            <a:ext cx="736460" cy="661780"/>
            <a:chOff x="5520455" y="3182091"/>
            <a:chExt cx="736460" cy="66178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D2ECEF4-EB8C-AF96-419E-9370E831FFB5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H="1" flipV="1">
              <a:off x="5520455" y="3182091"/>
              <a:ext cx="117007" cy="66178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ACD977E-A854-E5BD-7923-D1D4746CEBDF}"/>
                </a:ext>
              </a:extLst>
            </p:cNvPr>
            <p:cNvCxnSpPr/>
            <p:nvPr/>
          </p:nvCxnSpPr>
          <p:spPr>
            <a:xfrm>
              <a:off x="5623394" y="3830933"/>
              <a:ext cx="633521" cy="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B6F1E5-768F-5DCB-5D1A-0EFCFD55E9A2}"/>
              </a:ext>
            </a:extLst>
          </p:cNvPr>
          <p:cNvCxnSpPr/>
          <p:nvPr/>
        </p:nvCxnSpPr>
        <p:spPr>
          <a:xfrm>
            <a:off x="8690314" y="2845147"/>
            <a:ext cx="539496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51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9" grpId="0" animBg="1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09B3-C547-AEF7-D9F2-BD28E3F0EB2F}"/>
              </a:ext>
            </a:extLst>
          </p:cNvPr>
          <p:cNvSpPr txBox="1">
            <a:spLocks/>
          </p:cNvSpPr>
          <p:nvPr/>
        </p:nvSpPr>
        <p:spPr>
          <a:xfrm>
            <a:off x="0" y="7144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Code Optimization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1D6E33A-71FA-0022-44DB-9334C28A3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" y="782641"/>
            <a:ext cx="10576560" cy="590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95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C582E21-9287-99E2-8050-7C01A7850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1" y="187960"/>
            <a:ext cx="11064240" cy="648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6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5FFC4-3711-3EF8-753C-E0EAE0F9C0F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Compile time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71BBF-6B73-FA33-7487-FC6781B8401C}"/>
              </a:ext>
            </a:extLst>
          </p:cNvPr>
          <p:cNvSpPr txBox="1">
            <a:spLocks/>
          </p:cNvSpPr>
          <p:nvPr/>
        </p:nvSpPr>
        <p:spPr>
          <a:xfrm>
            <a:off x="685801" y="821240"/>
            <a:ext cx="10351294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 dirty="0"/>
              <a:t>Compile time evaluation means </a:t>
            </a:r>
            <a:r>
              <a:rPr lang="en-US" dirty="0">
                <a:solidFill>
                  <a:srgbClr val="FF0000"/>
                </a:solidFill>
              </a:rPr>
              <a:t>shifting of computations from run time to compile time.</a:t>
            </a:r>
          </a:p>
          <a:p>
            <a:pPr>
              <a:lnSpc>
                <a:spcPct val="85000"/>
              </a:lnSpc>
            </a:pPr>
            <a:r>
              <a:rPr lang="en-US" dirty="0"/>
              <a:t>There are two methods used to obtain the compile time evaluation.</a:t>
            </a:r>
          </a:p>
          <a:p>
            <a:pPr>
              <a:lnSpc>
                <a:spcPct val="85000"/>
              </a:lnSpc>
            </a:pPr>
            <a:endParaRPr lang="en-US" dirty="0"/>
          </a:p>
          <a:p>
            <a:pPr marL="0" indent="0">
              <a:lnSpc>
                <a:spcPct val="85000"/>
              </a:lnSpc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C00000"/>
                </a:solidFill>
              </a:rPr>
              <a:t>1. Folding</a:t>
            </a:r>
            <a:endParaRPr lang="en-US" dirty="0">
              <a:solidFill>
                <a:srgbClr val="C00000"/>
              </a:solidFill>
            </a:endParaRPr>
          </a:p>
          <a:p>
            <a:pPr>
              <a:lnSpc>
                <a:spcPct val="85000"/>
              </a:lnSpc>
            </a:pPr>
            <a:r>
              <a:rPr lang="en-US" dirty="0"/>
              <a:t>In the folding technique the </a:t>
            </a:r>
            <a:r>
              <a:rPr lang="en-US" dirty="0">
                <a:solidFill>
                  <a:srgbClr val="FF0000"/>
                </a:solidFill>
              </a:rPr>
              <a:t>computation of constant is done at compile time instead of run time</a:t>
            </a:r>
            <a:r>
              <a:rPr lang="en-US" dirty="0"/>
              <a:t>.</a:t>
            </a:r>
          </a:p>
          <a:p>
            <a:pPr marL="0" indent="0">
              <a:lnSpc>
                <a:spcPct val="85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99"/>
                </a:solidFill>
              </a:rPr>
              <a:t>	Example : length = (22/7)*d</a:t>
            </a:r>
          </a:p>
          <a:p>
            <a:pPr lvl="1">
              <a:lnSpc>
                <a:spcPct val="85000"/>
              </a:lnSpc>
            </a:pPr>
            <a:r>
              <a:rPr lang="en-US" dirty="0"/>
              <a:t>Folding is implied by performing the computation of </a:t>
            </a:r>
            <a:r>
              <a:rPr lang="en-US" dirty="0">
                <a:solidFill>
                  <a:srgbClr val="000099"/>
                </a:solidFill>
              </a:rPr>
              <a:t>22/7 at compile time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6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178F9-CC96-9C79-EF4D-562F0CB94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Cont.,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207D6-CF9B-8365-CCDA-2F53E0177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319"/>
            <a:ext cx="10515600" cy="476964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C00000"/>
                </a:solidFill>
              </a:rPr>
              <a:t>2. Constant/ Variable propagation</a:t>
            </a:r>
            <a:endParaRPr lang="en-US" sz="28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In this technique the </a:t>
            </a:r>
            <a:r>
              <a:rPr lang="en-US" sz="2800" dirty="0">
                <a:solidFill>
                  <a:srgbClr val="FF0000"/>
                </a:solidFill>
              </a:rPr>
              <a:t>value of variable is replaced and computation of an expression is done at compilation time</a:t>
            </a:r>
            <a:r>
              <a:rPr lang="en-US" sz="2800" dirty="0"/>
              <a:t>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000099"/>
                </a:solidFill>
              </a:rPr>
              <a:t>Example : pi = 3.14; r = 5;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	Area = pi * r * r;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At the compilation time the value of pi is replaced by 3.14 and r by 5 then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computation of </a:t>
            </a:r>
            <a:r>
              <a:rPr lang="en-US" dirty="0">
                <a:solidFill>
                  <a:srgbClr val="0E47A1"/>
                </a:solidFill>
              </a:rPr>
              <a:t>3.14 * 5 * 5 is done during compilation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32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A15A3-B0F1-E7D7-F038-B606054365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Principal Sources of Optimization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ABE02-6800-5D7E-DD8A-F4A303337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91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6171-4ADD-FB91-548C-93F2147E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Principal Sources of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42BF3-36A8-73E2-1B0B-4FA9DC9C0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18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Common sub expressions elimination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Dead code elimination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Code Motion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Copy Propagation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Induction variable elimination &amp; Reduction in Strength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Constant folding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Induction Variable elimination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N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604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405930-7D66-9D0D-0EC1-2E9270E78EE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1. Common sub expressions elimination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4D4B9A-B79D-BA54-316F-6CDBBF515CE0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common sub expression is an </a:t>
            </a:r>
            <a:r>
              <a:rPr lang="en-US" dirty="0">
                <a:solidFill>
                  <a:srgbClr val="FF0000"/>
                </a:solidFill>
              </a:rPr>
              <a:t>expression appearing repeatedly in the program </a:t>
            </a:r>
            <a:r>
              <a:rPr lang="en-US" dirty="0"/>
              <a:t>which is computed previously.</a:t>
            </a:r>
          </a:p>
          <a:p>
            <a:r>
              <a:rPr lang="en-US" dirty="0"/>
              <a:t>If the operands of this sub expression do not get changed at all then result of such sub expression is used instead of re-computing it each time.</a:t>
            </a:r>
          </a:p>
          <a:p>
            <a:r>
              <a:rPr lang="en-US" dirty="0">
                <a:solidFill>
                  <a:srgbClr val="0E47A1"/>
                </a:solidFill>
              </a:rPr>
              <a:t>Example: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873F60-B5BC-5E6D-9FCF-84D956F37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500095"/>
              </p:ext>
            </p:extLst>
          </p:nvPr>
        </p:nvGraphicFramePr>
        <p:xfrm>
          <a:off x="1160550" y="3589459"/>
          <a:ext cx="2161184" cy="257559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61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62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 dirty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t1 := 4 * </a:t>
                      </a:r>
                      <a:r>
                        <a:rPr lang="en-US" sz="1800" b="0" dirty="0" err="1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800" b="0" dirty="0">
                        <a:solidFill>
                          <a:srgbClr val="C00000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62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>
                          <a:effectLst/>
                          <a:latin typeface="Palatino Linotype" panose="02040502050505030304" pitchFamily="18" charset="0"/>
                          <a:ea typeface="Palatino Linotype" panose="02040502050505030304" pitchFamily="18" charset="0"/>
                          <a:cs typeface="Palatino Linotype" panose="02040502050505030304" pitchFamily="18" charset="0"/>
                        </a:rPr>
                        <a:t>t2 := a[t1]</a:t>
                      </a:r>
                      <a:endParaRPr lang="en-US" sz="1800" b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62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>
                          <a:effectLst/>
                          <a:latin typeface="Palatino Linotype" panose="02040502050505030304" pitchFamily="18" charset="0"/>
                          <a:ea typeface="Palatino Linotype" panose="02040502050505030304" pitchFamily="18" charset="0"/>
                          <a:cs typeface="Palatino Linotype" panose="02040502050505030304" pitchFamily="18" charset="0"/>
                        </a:rPr>
                        <a:t>t3 := </a:t>
                      </a:r>
                      <a:r>
                        <a:rPr lang="en-US" sz="1800" b="0" spc="300">
                          <a:effectLst/>
                          <a:latin typeface="Palatino Linotype" panose="02040502050505030304" pitchFamily="18" charset="0"/>
                          <a:ea typeface="Palatino Linotype" panose="02040502050505030304" pitchFamily="18" charset="0"/>
                          <a:cs typeface="Palatino Linotype" panose="02040502050505030304" pitchFamily="18" charset="0"/>
                        </a:rPr>
                        <a:t>4*j </a:t>
                      </a:r>
                      <a:endParaRPr lang="en-US" sz="1800" b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62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  <a:ea typeface="Palatino Linotype" panose="02040502050505030304" pitchFamily="18" charset="0"/>
                          <a:cs typeface="Palatino Linotype" panose="02040502050505030304" pitchFamily="18" charset="0"/>
                        </a:rPr>
                        <a:t>t4 : = 4 * i</a:t>
                      </a:r>
                      <a:endParaRPr lang="en-US" sz="1800" b="0">
                        <a:solidFill>
                          <a:srgbClr val="C00000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62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0">
                          <a:effectLst/>
                          <a:latin typeface="Palatino Linotype" panose="02040502050505030304" pitchFamily="18" charset="0"/>
                          <a:ea typeface="Palatino Linotype" panose="02040502050505030304" pitchFamily="18" charset="0"/>
                          <a:cs typeface="Palatino Linotype" panose="02040502050505030304" pitchFamily="18" charset="0"/>
                        </a:rPr>
                        <a:t>t5:= n</a:t>
                      </a:r>
                      <a:endParaRPr lang="en-US" sz="1800" b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490"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Palatino Linotype" panose="02040502050505030304" pitchFamily="18" charset="0"/>
                          <a:ea typeface="Palatino Linotype" panose="02040502050505030304" pitchFamily="18" charset="0"/>
                          <a:cs typeface="Palatino Linotype" panose="02040502050505030304" pitchFamily="18" charset="0"/>
                        </a:rPr>
                        <a:t>t6 := b[t4]+t5</a:t>
                      </a:r>
                      <a:endParaRPr lang="en-US" sz="1800" b="0" dirty="0">
                        <a:latin typeface="Palatino Linotype" panose="0204050205050503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1CDEC9-D69B-ECC7-2410-30CBEC9B21A0}"/>
              </a:ext>
            </a:extLst>
          </p:cNvPr>
          <p:cNvCxnSpPr/>
          <p:nvPr/>
        </p:nvCxnSpPr>
        <p:spPr>
          <a:xfrm>
            <a:off x="823846" y="5063183"/>
            <a:ext cx="2362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67E930-64FD-C6A1-8F7C-E167A0E918E8}"/>
              </a:ext>
            </a:extLst>
          </p:cNvPr>
          <p:cNvSpPr txBox="1"/>
          <p:nvPr/>
        </p:nvSpPr>
        <p:spPr>
          <a:xfrm>
            <a:off x="6096000" y="3429000"/>
            <a:ext cx="11110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Palatino Linotype" panose="02040502050505030304" pitchFamily="18" charset="0"/>
              </a:rPr>
              <a:t>a=</a:t>
            </a:r>
            <a:r>
              <a:rPr lang="en-IN" sz="2400" dirty="0" err="1">
                <a:latin typeface="Palatino Linotype" panose="02040502050505030304" pitchFamily="18" charset="0"/>
              </a:rPr>
              <a:t>b+c</a:t>
            </a:r>
            <a:endParaRPr lang="en-IN" sz="2400" dirty="0">
              <a:latin typeface="Palatino Linotype" panose="02040502050505030304" pitchFamily="18" charset="0"/>
            </a:endParaRPr>
          </a:p>
          <a:p>
            <a:r>
              <a:rPr lang="en-IN" sz="2400" dirty="0">
                <a:latin typeface="Palatino Linotype" panose="02040502050505030304" pitchFamily="18" charset="0"/>
              </a:rPr>
              <a:t>b=a-d</a:t>
            </a:r>
          </a:p>
          <a:p>
            <a:r>
              <a:rPr lang="en-IN" sz="2400" dirty="0">
                <a:latin typeface="Palatino Linotype" panose="02040502050505030304" pitchFamily="18" charset="0"/>
              </a:rPr>
              <a:t>c=</a:t>
            </a:r>
            <a:r>
              <a:rPr lang="en-IN" sz="2400" dirty="0" err="1">
                <a:latin typeface="Palatino Linotype" panose="02040502050505030304" pitchFamily="18" charset="0"/>
              </a:rPr>
              <a:t>b+c</a:t>
            </a:r>
            <a:endParaRPr lang="en-IN" sz="2400" dirty="0">
              <a:latin typeface="Palatino Linotype" panose="02040502050505030304" pitchFamily="18" charset="0"/>
            </a:endParaRPr>
          </a:p>
          <a:p>
            <a:r>
              <a:rPr lang="en-IN" sz="2400" dirty="0">
                <a:latin typeface="Palatino Linotype" panose="02040502050505030304" pitchFamily="18" charset="0"/>
              </a:rPr>
              <a:t>d=a-d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D2E81A-EF98-3AFE-ECB3-5EC8294458FF}"/>
              </a:ext>
            </a:extLst>
          </p:cNvPr>
          <p:cNvSpPr txBox="1"/>
          <p:nvPr/>
        </p:nvSpPr>
        <p:spPr>
          <a:xfrm>
            <a:off x="8165131" y="3428999"/>
            <a:ext cx="14256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Palatino Linotype" panose="02040502050505030304" pitchFamily="18" charset="0"/>
              </a:rPr>
              <a:t>a=</a:t>
            </a:r>
            <a:r>
              <a:rPr lang="en-IN" sz="2400" dirty="0" err="1">
                <a:latin typeface="Palatino Linotype" panose="02040502050505030304" pitchFamily="18" charset="0"/>
              </a:rPr>
              <a:t>b+c</a:t>
            </a:r>
            <a:endParaRPr lang="en-IN" sz="2400" dirty="0">
              <a:latin typeface="Palatino Linotype" panose="02040502050505030304" pitchFamily="18" charset="0"/>
            </a:endParaRPr>
          </a:p>
          <a:p>
            <a:r>
              <a:rPr lang="en-IN" sz="2400" dirty="0">
                <a:latin typeface="Palatino Linotype" panose="02040502050505030304" pitchFamily="18" charset="0"/>
              </a:rPr>
              <a:t>b=a-d</a:t>
            </a:r>
          </a:p>
          <a:p>
            <a:r>
              <a:rPr lang="en-IN" sz="2400" dirty="0">
                <a:latin typeface="Palatino Linotype" panose="02040502050505030304" pitchFamily="18" charset="0"/>
              </a:rPr>
              <a:t>c=</a:t>
            </a:r>
            <a:r>
              <a:rPr lang="en-IN" sz="2400" dirty="0" err="1">
                <a:latin typeface="Palatino Linotype" panose="02040502050505030304" pitchFamily="18" charset="0"/>
              </a:rPr>
              <a:t>b+c</a:t>
            </a:r>
            <a:endParaRPr lang="en-IN" sz="2400" dirty="0">
              <a:latin typeface="Palatino Linotype" panose="02040502050505030304" pitchFamily="18" charset="0"/>
            </a:endParaRPr>
          </a:p>
          <a:p>
            <a:r>
              <a:rPr lang="en-IN" sz="2400" dirty="0">
                <a:latin typeface="Palatino Linotype" panose="02040502050505030304" pitchFamily="18" charset="0"/>
              </a:rPr>
              <a:t>d=b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BCD36F2-470D-665F-956E-AD449B4992B7}"/>
              </a:ext>
            </a:extLst>
          </p:cNvPr>
          <p:cNvSpPr/>
          <p:nvPr/>
        </p:nvSpPr>
        <p:spPr>
          <a:xfrm>
            <a:off x="7114198" y="3834581"/>
            <a:ext cx="865239" cy="31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11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1121-4054-B77C-4088-3BECE6B10DF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2. Dead code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6B915-9F2A-7C47-0CD3-FD8B275CFB2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variable is said to be </a:t>
            </a:r>
            <a:r>
              <a:rPr lang="en-US" dirty="0">
                <a:solidFill>
                  <a:srgbClr val="FF0000"/>
                </a:solidFill>
              </a:rPr>
              <a:t>dead at a point in a program if the value contained into it is never been used. </a:t>
            </a:r>
          </a:p>
          <a:p>
            <a:r>
              <a:rPr lang="en-US" dirty="0"/>
              <a:t>The code containing</a:t>
            </a:r>
            <a:r>
              <a:rPr lang="en-US" b="1" i="1" dirty="0"/>
              <a:t> </a:t>
            </a:r>
            <a:r>
              <a:rPr lang="en-US" dirty="0"/>
              <a:t>such a variable</a:t>
            </a:r>
            <a:r>
              <a:rPr lang="en-US" b="1" i="1" dirty="0"/>
              <a:t> </a:t>
            </a:r>
            <a:r>
              <a:rPr lang="en-US" dirty="0"/>
              <a:t>supposed to be a dead code. </a:t>
            </a:r>
          </a:p>
          <a:p>
            <a:r>
              <a:rPr lang="en-US" dirty="0">
                <a:solidFill>
                  <a:srgbClr val="0E47A1"/>
                </a:solidFill>
              </a:rPr>
              <a:t>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i</a:t>
            </a:r>
            <a:r>
              <a:rPr lang="en-US" dirty="0"/>
              <a:t>=0;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if(</a:t>
            </a:r>
            <a:r>
              <a:rPr lang="en-US" dirty="0" err="1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==1)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	a=x+5;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}</a:t>
            </a:r>
          </a:p>
          <a:p>
            <a:endParaRPr lang="en-US" dirty="0"/>
          </a:p>
          <a:p>
            <a:r>
              <a:rPr lang="en-US" dirty="0"/>
              <a:t>If statement is a dead code as this condition will never get satisfied hence, statement can be eliminated and optimization can be done.</a:t>
            </a:r>
          </a:p>
          <a:p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C55A9E2-E113-FD5C-5561-0CE26A4E956E}"/>
              </a:ext>
            </a:extLst>
          </p:cNvPr>
          <p:cNvSpPr/>
          <p:nvPr/>
        </p:nvSpPr>
        <p:spPr>
          <a:xfrm>
            <a:off x="4001106" y="3429000"/>
            <a:ext cx="533400" cy="1752600"/>
          </a:xfrm>
          <a:prstGeom prst="rightBrac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E47A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17559-815D-AE56-DC28-FAFCBA95D989}"/>
              </a:ext>
            </a:extLst>
          </p:cNvPr>
          <p:cNvSpPr/>
          <p:nvPr/>
        </p:nvSpPr>
        <p:spPr>
          <a:xfrm>
            <a:off x="4534506" y="4062412"/>
            <a:ext cx="1981200" cy="485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Dead Code</a:t>
            </a:r>
          </a:p>
        </p:txBody>
      </p:sp>
    </p:spTree>
    <p:extLst>
      <p:ext uri="{BB962C8B-B14F-4D97-AF65-F5344CB8AC3E}">
        <p14:creationId xmlns:p14="http://schemas.microsoft.com/office/powerpoint/2010/main" val="55140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F61E7-820E-DE53-10EA-A5A51931F04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3. Code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5254F-A17F-4DFC-1457-6437AF8EB4C6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Optimization can be obtained by </a:t>
            </a:r>
            <a:r>
              <a:rPr lang="en-US" dirty="0">
                <a:solidFill>
                  <a:srgbClr val="C00000"/>
                </a:solidFill>
              </a:rPr>
              <a:t>moving some amount of code outside the loop</a:t>
            </a:r>
            <a:r>
              <a:rPr lang="en-US" dirty="0"/>
              <a:t> and placing it just before entering in the loop. </a:t>
            </a:r>
          </a:p>
          <a:p>
            <a:r>
              <a:rPr lang="en-US" dirty="0"/>
              <a:t>This method is also called </a:t>
            </a:r>
            <a:r>
              <a:rPr lang="en-US" dirty="0">
                <a:solidFill>
                  <a:srgbClr val="FF0000"/>
                </a:solidFill>
              </a:rPr>
              <a:t>loop invariant computation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0E47A1"/>
                </a:solidFill>
              </a:rPr>
              <a:t>Example: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81F3AD-A2CB-6C67-490C-8F2DD34AC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485297"/>
              </p:ext>
            </p:extLst>
          </p:nvPr>
        </p:nvGraphicFramePr>
        <p:xfrm>
          <a:off x="681686" y="3202059"/>
          <a:ext cx="5826269" cy="17325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8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0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9431">
                <a:tc>
                  <a:txBody>
                    <a:bodyPr/>
                    <a:lstStyle/>
                    <a:p>
                      <a:pPr marL="0" marR="1270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while(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&lt;=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max-1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</a:p>
                    <a:p>
                      <a:pPr marL="0" marR="1270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{</a:t>
                      </a:r>
                    </a:p>
                    <a:p>
                      <a:pPr marL="0" marR="1270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    sum=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sum+a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];</a:t>
                      </a:r>
                    </a:p>
                    <a:p>
                      <a:pPr marL="0" marR="1270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}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1270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dirty="0">
                          <a:solidFill>
                            <a:srgbClr val="C00000"/>
                          </a:solidFill>
                          <a:effectLst/>
                          <a:latin typeface="Palatino Linotype" panose="02040502050505030304" pitchFamily="18" charset="0"/>
                        </a:rPr>
                        <a:t>N=max-1;</a:t>
                      </a:r>
                    </a:p>
                    <a:p>
                      <a:pPr marL="457200" marR="1270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while(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&lt;=N)</a:t>
                      </a:r>
                    </a:p>
                    <a:p>
                      <a:pPr marL="457200" marR="1270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{</a:t>
                      </a:r>
                    </a:p>
                    <a:p>
                      <a:pPr marL="457200" marR="1270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	sum=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sum+a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[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];</a:t>
                      </a:r>
                    </a:p>
                    <a:p>
                      <a:pPr marL="457200" marR="1270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}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3D3E0872-97C1-92D8-8744-6C24CD48688E}"/>
              </a:ext>
            </a:extLst>
          </p:cNvPr>
          <p:cNvSpPr/>
          <p:nvPr/>
        </p:nvSpPr>
        <p:spPr>
          <a:xfrm>
            <a:off x="3061094" y="3660984"/>
            <a:ext cx="914400" cy="127420"/>
          </a:xfrm>
          <a:prstGeom prst="righ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75598-8477-D339-5FC2-A0EF026422A7}"/>
              </a:ext>
            </a:extLst>
          </p:cNvPr>
          <p:cNvSpPr/>
          <p:nvPr/>
        </p:nvSpPr>
        <p:spPr>
          <a:xfrm>
            <a:off x="4152900" y="3164245"/>
            <a:ext cx="2532461" cy="1808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12048-9B5C-19B0-2D1F-E6C174B90F11}"/>
              </a:ext>
            </a:extLst>
          </p:cNvPr>
          <p:cNvSpPr txBox="1"/>
          <p:nvPr/>
        </p:nvSpPr>
        <p:spPr>
          <a:xfrm>
            <a:off x="7041060" y="4533681"/>
            <a:ext cx="205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a=200;</a:t>
            </a:r>
          </a:p>
          <a:p>
            <a:r>
              <a:rPr lang="en-IN" sz="2000" dirty="0">
                <a:latin typeface="Palatino Linotype" panose="02040502050505030304" pitchFamily="18" charset="0"/>
              </a:rPr>
              <a:t>while(a&gt;0)</a:t>
            </a:r>
          </a:p>
          <a:p>
            <a:r>
              <a:rPr lang="en-IN" sz="2000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sz="2000" dirty="0">
                <a:latin typeface="Palatino Linotype" panose="02040502050505030304" pitchFamily="18" charset="0"/>
              </a:rPr>
              <a:t>b=</a:t>
            </a:r>
            <a:r>
              <a:rPr lang="en-IN" sz="2000" dirty="0" err="1">
                <a:latin typeface="Palatino Linotype" panose="02040502050505030304" pitchFamily="18" charset="0"/>
              </a:rPr>
              <a:t>x+y</a:t>
            </a:r>
            <a:r>
              <a:rPr lang="en-IN" sz="2000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sz="2000" dirty="0">
                <a:latin typeface="Palatino Linotype" panose="02040502050505030304" pitchFamily="18" charset="0"/>
              </a:rPr>
              <a:t>if(</a:t>
            </a:r>
            <a:r>
              <a:rPr lang="en-IN" sz="2000" dirty="0" err="1">
                <a:latin typeface="Palatino Linotype" panose="02040502050505030304" pitchFamily="18" charset="0"/>
              </a:rPr>
              <a:t>a%b</a:t>
            </a:r>
            <a:r>
              <a:rPr lang="en-IN" sz="2000" dirty="0">
                <a:latin typeface="Palatino Linotype" panose="02040502050505030304" pitchFamily="18" charset="0"/>
              </a:rPr>
              <a:t>==0)</a:t>
            </a:r>
          </a:p>
          <a:p>
            <a:r>
              <a:rPr lang="en-IN" sz="2000" dirty="0" err="1">
                <a:latin typeface="Palatino Linotype" panose="02040502050505030304" pitchFamily="18" charset="0"/>
              </a:rPr>
              <a:t>printf</a:t>
            </a:r>
            <a:r>
              <a:rPr lang="en-IN" sz="2000" dirty="0">
                <a:latin typeface="Palatino Linotype" panose="02040502050505030304" pitchFamily="18" charset="0"/>
              </a:rPr>
              <a:t>(“%</a:t>
            </a:r>
            <a:r>
              <a:rPr lang="en-IN" sz="2000" dirty="0" err="1">
                <a:latin typeface="Palatino Linotype" panose="02040502050505030304" pitchFamily="18" charset="0"/>
              </a:rPr>
              <a:t>d”,a</a:t>
            </a:r>
            <a:r>
              <a:rPr lang="en-IN" sz="2000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sz="2000" dirty="0"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E99894F-9DC0-3602-145A-E21055166E37}"/>
              </a:ext>
            </a:extLst>
          </p:cNvPr>
          <p:cNvSpPr/>
          <p:nvPr/>
        </p:nvSpPr>
        <p:spPr>
          <a:xfrm>
            <a:off x="9025997" y="5306247"/>
            <a:ext cx="865239" cy="31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DC7818-71BB-C108-2686-4FB8AB68FB69}"/>
              </a:ext>
            </a:extLst>
          </p:cNvPr>
          <p:cNvSpPr txBox="1"/>
          <p:nvPr/>
        </p:nvSpPr>
        <p:spPr>
          <a:xfrm>
            <a:off x="10134600" y="4410157"/>
            <a:ext cx="205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Palatino Linotype" panose="02040502050505030304" pitchFamily="18" charset="0"/>
              </a:rPr>
              <a:t>a=200;</a:t>
            </a:r>
          </a:p>
          <a:p>
            <a:r>
              <a:rPr lang="en-IN" sz="2000" dirty="0">
                <a:latin typeface="Palatino Linotype" panose="02040502050505030304" pitchFamily="18" charset="0"/>
              </a:rPr>
              <a:t>b=</a:t>
            </a:r>
            <a:r>
              <a:rPr lang="en-IN" sz="2000" dirty="0" err="1">
                <a:latin typeface="Palatino Linotype" panose="02040502050505030304" pitchFamily="18" charset="0"/>
              </a:rPr>
              <a:t>x+y</a:t>
            </a:r>
            <a:r>
              <a:rPr lang="en-IN" sz="2000" dirty="0">
                <a:latin typeface="Palatino Linotype" panose="02040502050505030304" pitchFamily="18" charset="0"/>
              </a:rPr>
              <a:t>;</a:t>
            </a:r>
          </a:p>
          <a:p>
            <a:r>
              <a:rPr lang="en-IN" sz="2000" dirty="0">
                <a:latin typeface="Palatino Linotype" panose="02040502050505030304" pitchFamily="18" charset="0"/>
              </a:rPr>
              <a:t>while(a&gt;0)</a:t>
            </a:r>
          </a:p>
          <a:p>
            <a:r>
              <a:rPr lang="en-IN" sz="2000" dirty="0">
                <a:latin typeface="Palatino Linotype" panose="02040502050505030304" pitchFamily="18" charset="0"/>
              </a:rPr>
              <a:t>{</a:t>
            </a:r>
          </a:p>
          <a:p>
            <a:r>
              <a:rPr lang="en-IN" sz="2000" dirty="0">
                <a:latin typeface="Palatino Linotype" panose="02040502050505030304" pitchFamily="18" charset="0"/>
              </a:rPr>
              <a:t>if(</a:t>
            </a:r>
            <a:r>
              <a:rPr lang="en-IN" sz="2000" dirty="0" err="1">
                <a:latin typeface="Palatino Linotype" panose="02040502050505030304" pitchFamily="18" charset="0"/>
              </a:rPr>
              <a:t>a%b</a:t>
            </a:r>
            <a:r>
              <a:rPr lang="en-IN" sz="2000" dirty="0">
                <a:latin typeface="Palatino Linotype" panose="02040502050505030304" pitchFamily="18" charset="0"/>
              </a:rPr>
              <a:t>==0)</a:t>
            </a:r>
          </a:p>
          <a:p>
            <a:r>
              <a:rPr lang="en-IN" sz="2000" dirty="0" err="1">
                <a:latin typeface="Palatino Linotype" panose="02040502050505030304" pitchFamily="18" charset="0"/>
              </a:rPr>
              <a:t>printf</a:t>
            </a:r>
            <a:r>
              <a:rPr lang="en-IN" sz="2000" dirty="0">
                <a:latin typeface="Palatino Linotype" panose="02040502050505030304" pitchFamily="18" charset="0"/>
              </a:rPr>
              <a:t>(“%</a:t>
            </a:r>
            <a:r>
              <a:rPr lang="en-IN" sz="2000" dirty="0" err="1">
                <a:latin typeface="Palatino Linotype" panose="02040502050505030304" pitchFamily="18" charset="0"/>
              </a:rPr>
              <a:t>d”,a</a:t>
            </a:r>
            <a:r>
              <a:rPr lang="en-IN" sz="2000" dirty="0">
                <a:latin typeface="Palatino Linotype" panose="02040502050505030304" pitchFamily="18" charset="0"/>
              </a:rPr>
              <a:t>);</a:t>
            </a:r>
          </a:p>
          <a:p>
            <a:r>
              <a:rPr lang="en-IN" sz="2000" dirty="0">
                <a:latin typeface="Palatino Linotype" panose="0204050205050503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473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9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88-8038-79EA-5377-7252FA1D539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4. Copy 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D728-6A3C-15F3-D68D-5822DF11EC0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 propagation means </a:t>
            </a:r>
            <a:r>
              <a:rPr lang="en-US" dirty="0">
                <a:solidFill>
                  <a:srgbClr val="C00000"/>
                </a:solidFill>
              </a:rPr>
              <a:t>use of one variable instead of another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0E47A1"/>
                </a:solidFill>
              </a:rPr>
              <a:t>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x = pi;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area = 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 * r * r;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area = </a:t>
            </a:r>
            <a:r>
              <a:rPr lang="en-US" dirty="0">
                <a:solidFill>
                  <a:srgbClr val="C00000"/>
                </a:solidFill>
              </a:rPr>
              <a:t>pi</a:t>
            </a:r>
            <a:r>
              <a:rPr lang="en-US" dirty="0"/>
              <a:t> * r * r;</a:t>
            </a:r>
          </a:p>
          <a:p>
            <a:endParaRPr lang="en-US" dirty="0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942A6131-639F-6641-07D5-B3AC7C72D58C}"/>
              </a:ext>
            </a:extLst>
          </p:cNvPr>
          <p:cNvSpPr/>
          <p:nvPr/>
        </p:nvSpPr>
        <p:spPr>
          <a:xfrm>
            <a:off x="2209068" y="2986446"/>
            <a:ext cx="45719" cy="1600200"/>
          </a:xfrm>
          <a:prstGeom prst="downArrow">
            <a:avLst/>
          </a:prstGeom>
          <a:solidFill>
            <a:schemeClr val="tx1"/>
          </a:solidFill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E47A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5CCF15-A194-CFD7-1DA8-C2983560FE20}"/>
              </a:ext>
            </a:extLst>
          </p:cNvPr>
          <p:cNvCxnSpPr/>
          <p:nvPr/>
        </p:nvCxnSpPr>
        <p:spPr>
          <a:xfrm>
            <a:off x="1066412" y="2100868"/>
            <a:ext cx="9906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6DA6BF6-FF44-46E7-C473-9633F9E3104B}"/>
              </a:ext>
            </a:extLst>
          </p:cNvPr>
          <p:cNvSpPr txBox="1"/>
          <p:nvPr/>
        </p:nvSpPr>
        <p:spPr>
          <a:xfrm>
            <a:off x="6071420" y="3429000"/>
            <a:ext cx="1111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Palatino Linotype" panose="02040502050505030304" pitchFamily="18" charset="0"/>
              </a:rPr>
              <a:t>x=a</a:t>
            </a:r>
          </a:p>
          <a:p>
            <a:r>
              <a:rPr lang="en-IN" sz="2400" dirty="0">
                <a:latin typeface="Palatino Linotype" panose="02040502050505030304" pitchFamily="18" charset="0"/>
              </a:rPr>
              <a:t>y=x*b</a:t>
            </a:r>
          </a:p>
          <a:p>
            <a:r>
              <a:rPr lang="en-IN" sz="2400" dirty="0">
                <a:latin typeface="Palatino Linotype" panose="02040502050505030304" pitchFamily="18" charset="0"/>
              </a:rPr>
              <a:t>z=x*c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B090E-D3C9-0E99-15AE-2E1F5C783DC0}"/>
              </a:ext>
            </a:extLst>
          </p:cNvPr>
          <p:cNvSpPr txBox="1"/>
          <p:nvPr/>
        </p:nvSpPr>
        <p:spPr>
          <a:xfrm>
            <a:off x="8284796" y="3429000"/>
            <a:ext cx="1425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Palatino Linotype" panose="02040502050505030304" pitchFamily="18" charset="0"/>
              </a:rPr>
              <a:t>x=a</a:t>
            </a:r>
          </a:p>
          <a:p>
            <a:r>
              <a:rPr lang="en-IN" sz="2400" dirty="0">
                <a:latin typeface="Palatino Linotype" panose="02040502050505030304" pitchFamily="18" charset="0"/>
              </a:rPr>
              <a:t>y=a*b</a:t>
            </a:r>
          </a:p>
          <a:p>
            <a:r>
              <a:rPr lang="en-IN" sz="2400" dirty="0">
                <a:latin typeface="Palatino Linotype" panose="02040502050505030304" pitchFamily="18" charset="0"/>
              </a:rPr>
              <a:t>z=a*c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C2C7453-EB45-842B-4E51-AEF83A1723AC}"/>
              </a:ext>
            </a:extLst>
          </p:cNvPr>
          <p:cNvSpPr/>
          <p:nvPr/>
        </p:nvSpPr>
        <p:spPr>
          <a:xfrm>
            <a:off x="7227269" y="3871848"/>
            <a:ext cx="865239" cy="31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4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18014-C909-FF5B-D58F-68D93EA5996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 dirty="0"/>
              <a:t>5. Induction variable elimination &amp; Reduction in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C369D-EC9B-515A-5432-5018B25C083D}"/>
              </a:ext>
            </a:extLst>
          </p:cNvPr>
          <p:cNvSpPr txBox="1">
            <a:spLocks/>
          </p:cNvSpPr>
          <p:nvPr/>
        </p:nvSpPr>
        <p:spPr>
          <a:xfrm>
            <a:off x="131180" y="747332"/>
            <a:ext cx="11929641" cy="5936499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Priority of certain operators is higher than others. </a:t>
            </a:r>
          </a:p>
          <a:p>
            <a:r>
              <a:rPr lang="en-US" dirty="0"/>
              <a:t>For instance strength of * is higher than +. </a:t>
            </a:r>
          </a:p>
          <a:p>
            <a:r>
              <a:rPr lang="en-US" dirty="0"/>
              <a:t>In this technique the higher strength operators can be replaced by lower strength operators.</a:t>
            </a:r>
          </a:p>
          <a:p>
            <a:pPr lvl="1"/>
            <a:r>
              <a:rPr lang="en-US" dirty="0"/>
              <a:t>Addition of a constant is cheaper than a multiplication. So we can replace multiplication with an addition within the loop.</a:t>
            </a:r>
          </a:p>
          <a:p>
            <a:pPr lvl="1"/>
            <a:r>
              <a:rPr lang="en-US" dirty="0"/>
              <a:t>Multiplication is cheaper than exponentiation. So we can replace exponentiation with multiplication within the loop.</a:t>
            </a:r>
          </a:p>
          <a:p>
            <a:r>
              <a:rPr lang="en-US" dirty="0">
                <a:solidFill>
                  <a:srgbClr val="0E47A1"/>
                </a:solidFill>
              </a:rPr>
              <a:t>Example: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Here, we get the count values as 7, 14, 21…. and so on.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789493-44D3-90C8-2375-B1ABA68DE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19301"/>
              </p:ext>
            </p:extLst>
          </p:nvPr>
        </p:nvGraphicFramePr>
        <p:xfrm>
          <a:off x="2162175" y="4500231"/>
          <a:ext cx="6934201" cy="167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3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0437">
                <a:tc>
                  <a:txBody>
                    <a:bodyPr/>
                    <a:lstStyle/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for(</a:t>
                      </a:r>
                      <a:r>
                        <a:rPr lang="en-US" sz="2200" b="0" dirty="0" err="1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=1;i&lt;=50;i++)</a:t>
                      </a:r>
                    </a:p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{</a:t>
                      </a:r>
                    </a:p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	count = </a:t>
                      </a:r>
                      <a:r>
                        <a:rPr lang="en-US" sz="2200" b="0" dirty="0" err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n-US" sz="2200" b="0" dirty="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*7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;</a:t>
                      </a:r>
                    </a:p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}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0"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US" sz="2200" b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temp=7;</a:t>
                      </a:r>
                    </a:p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for(</a:t>
                      </a:r>
                      <a:r>
                        <a:rPr lang="en-US" sz="2200" b="0" dirty="0" err="1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=1;i&lt;=50;i++) </a:t>
                      </a:r>
                    </a:p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{	count = temp;</a:t>
                      </a:r>
                    </a:p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	temp = temp+7;</a:t>
                      </a:r>
                    </a:p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}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3F673D58-D6C0-C48E-5C9A-CEFB390DAD4A}"/>
              </a:ext>
            </a:extLst>
          </p:cNvPr>
          <p:cNvSpPr/>
          <p:nvPr/>
        </p:nvSpPr>
        <p:spPr>
          <a:xfrm>
            <a:off x="4720297" y="4982437"/>
            <a:ext cx="609600" cy="177547"/>
          </a:xfrm>
          <a:prstGeom prst="righ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C1E003-4EC4-D12F-4AB3-B0AC6D933389}"/>
              </a:ext>
            </a:extLst>
          </p:cNvPr>
          <p:cNvSpPr/>
          <p:nvPr/>
        </p:nvSpPr>
        <p:spPr>
          <a:xfrm>
            <a:off x="5605442" y="4285133"/>
            <a:ext cx="3215388" cy="21065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6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9AF0-0B47-DC59-0269-E19241205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811"/>
            <a:ext cx="10515600" cy="1325563"/>
          </a:xfrm>
        </p:spPr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 [Another Example]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4974E35-F74F-A6AF-FA8B-0CEA5378F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50000"/>
          </a:blip>
          <a:srcRect r="57741"/>
          <a:stretch/>
        </p:blipFill>
        <p:spPr>
          <a:xfrm>
            <a:off x="703579" y="1678659"/>
            <a:ext cx="4006308" cy="34085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54B5A0-B97C-42DE-800C-02E403DE7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014" y="1586140"/>
            <a:ext cx="54102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4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88-8038-79EA-5377-7252FA1D539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6. Constant 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D728-6A3C-15F3-D68D-5822DF11EC0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If the value of an expression is constant then use constant instead of the expression</a:t>
            </a:r>
          </a:p>
          <a:p>
            <a:pPr>
              <a:lnSpc>
                <a:spcPct val="200000"/>
              </a:lnSpc>
            </a:pPr>
            <a:r>
              <a:rPr lang="en-US" dirty="0"/>
              <a:t>Ex: </a:t>
            </a:r>
            <a:r>
              <a:rPr lang="en-US" dirty="0">
                <a:solidFill>
                  <a:srgbClr val="FF0000"/>
                </a:solidFill>
              </a:rPr>
              <a:t>pi = 22/7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 pi = 3.14..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0393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88-8038-79EA-5377-7252FA1D539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7. Induction Variable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D728-6A3C-15F3-D68D-5822DF11EC0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638CF-645C-0B1A-48F6-78B97FF7E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18" y="863444"/>
            <a:ext cx="11383964" cy="3556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0170D9-8801-7C88-DF0C-883B2CECB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652" y="4571843"/>
            <a:ext cx="6706536" cy="208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12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88-8038-79EA-5377-7252FA1D539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7. Induction Variable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D728-6A3C-15F3-D68D-5822DF11EC0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638CF-645C-0B1A-48F6-78B97FF7E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18" y="863444"/>
            <a:ext cx="11383964" cy="3556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0170D9-8801-7C88-DF0C-883B2CECB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652" y="4571843"/>
            <a:ext cx="6706536" cy="208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27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88-8038-79EA-5377-7252FA1D539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4200" dirty="0"/>
              <a:t>Principal Sources of Optimization -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D728-6A3C-15F3-D68D-5822DF11EC0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A7CE1A-80DD-7DBC-D22D-5FEE02E2F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651" y="863444"/>
            <a:ext cx="9032697" cy="566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3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A15A3-B0F1-E7D7-F038-B606054365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Global Data Flow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ABE02-6800-5D7E-DD8A-F4A303337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352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A4CF-4DE8-BEAD-138E-F7B8EA4BA8D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Global Data Flow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F5D75-BB5B-C15D-7CC6-7CA8BCBDF5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To do code optimization and code generation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olidFill>
                      <a:srgbClr val="000099"/>
                    </a:solidFill>
                  </a:rPr>
                  <a:t>Compiler needs to collect information about the whole program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solidFill>
                      <a:srgbClr val="000099"/>
                    </a:solidFill>
                  </a:rPr>
                  <a:t>Distribute it to each block in the whole program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Data flow equations are the equations representing the expressions that are appearing in the flow graph.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Data flow information can be collected by setting up and solving systems of equations that relate information at various points in a program.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data flow equation written in a form of equation such that,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0" smtClean="0">
                        <a:solidFill>
                          <a:srgbClr val="FF0000"/>
                        </a:solidFill>
                      </a:rPr>
                      <m:t>out</m:t>
                    </m:r>
                    <m:r>
                      <m:rPr>
                        <m:nor/>
                      </m:rPr>
                      <a:rPr lang="en-US" sz="2400" b="1" i="0" smtClean="0">
                        <a:solidFill>
                          <a:srgbClr val="FF0000"/>
                        </a:solidFill>
                      </a:rPr>
                      <m:t> [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] = 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gen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[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] 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U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 (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in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[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] −</m:t>
                    </m:r>
                    <m:r>
                      <m:rPr>
                        <m:nor/>
                      </m:rPr>
                      <a:rPr lang="en-IN" sz="2400" b="1" i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kill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[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en-US" sz="2400" b="1" i="0">
                        <a:solidFill>
                          <a:srgbClr val="FF0000"/>
                        </a:solidFill>
                      </a:rPr>
                      <m:t>])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Data flow equation can be read as “</a:t>
                </a:r>
                <a:r>
                  <a:rPr lang="en-US" dirty="0">
                    <a:solidFill>
                      <a:srgbClr val="000099"/>
                    </a:solidFill>
                  </a:rPr>
                  <a:t>the information at the end of a statement is either generated within a statement, or enters at the beginning and is not killed as control flows through the statement</a:t>
                </a:r>
                <a:r>
                  <a:rPr lang="en-US" dirty="0"/>
                  <a:t>”.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F5D75-BB5B-C15D-7CC6-7CA8BCBDF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3"/>
                <a:stretch>
                  <a:fillRect l="-920" t="-1309" r="-1074" b="-4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332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3734-8F01-9DF2-A4A4-8B5418DFAE3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Data Flow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FCCD4-E018-ECCB-FC8F-355182F179E0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program point containing the definition is called</a:t>
            </a:r>
            <a:r>
              <a:rPr lang="en-US" b="1" dirty="0"/>
              <a:t> </a:t>
            </a:r>
            <a:r>
              <a:rPr lang="en-US" dirty="0">
                <a:solidFill>
                  <a:srgbClr val="C00000"/>
                </a:solidFill>
              </a:rPr>
              <a:t>Definition point.</a:t>
            </a:r>
          </a:p>
          <a:p>
            <a:r>
              <a:rPr lang="en-US" dirty="0"/>
              <a:t>A program point at which a reference to a data item is made is called</a:t>
            </a:r>
            <a:r>
              <a:rPr lang="en-US" b="1" dirty="0"/>
              <a:t> </a:t>
            </a:r>
            <a:r>
              <a:rPr lang="en-US" dirty="0">
                <a:solidFill>
                  <a:srgbClr val="C00000"/>
                </a:solidFill>
              </a:rPr>
              <a:t>Reference point.</a:t>
            </a:r>
          </a:p>
          <a:p>
            <a:r>
              <a:rPr lang="en-US" dirty="0"/>
              <a:t>A program point at which some evaluating expression is given is called </a:t>
            </a:r>
            <a:r>
              <a:rPr lang="en-US" dirty="0">
                <a:solidFill>
                  <a:srgbClr val="C00000"/>
                </a:solidFill>
              </a:rPr>
              <a:t>Evaluation point.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422FD5-8E4E-D37A-6AE5-517BACCA6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3898" y="3429000"/>
            <a:ext cx="1676400" cy="43815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W</a:t>
            </a:r>
            <a:r>
              <a:rPr lang="en-US" baseline="-25000" dirty="0">
                <a:latin typeface="Palatino Linotype" panose="02040502050505030304" pitchFamily="18" charset="0"/>
              </a:rPr>
              <a:t>1</a:t>
            </a:r>
            <a:r>
              <a:rPr lang="en-US" dirty="0">
                <a:latin typeface="Palatino Linotype" panose="02040502050505030304" pitchFamily="18" charset="0"/>
              </a:rPr>
              <a:t>:x=3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81485B-370C-BBDB-EC2B-BE46B1EFC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3899" y="4116067"/>
            <a:ext cx="1676400" cy="403225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W</a:t>
            </a:r>
            <a:r>
              <a:rPr lang="en-US" baseline="-25000" dirty="0">
                <a:latin typeface="Palatino Linotype" panose="02040502050505030304" pitchFamily="18" charset="0"/>
              </a:rPr>
              <a:t>2</a:t>
            </a:r>
            <a:r>
              <a:rPr lang="en-US" dirty="0">
                <a:latin typeface="Palatino Linotype" panose="02040502050505030304" pitchFamily="18" charset="0"/>
              </a:rPr>
              <a:t>: y=x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D5D623-9302-F2B3-B3DE-10A4E7AAE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9611" y="4759959"/>
            <a:ext cx="1704976" cy="37973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W</a:t>
            </a:r>
            <a:r>
              <a:rPr lang="en-US" baseline="-25000" dirty="0">
                <a:latin typeface="Palatino Linotype" panose="02040502050505030304" pitchFamily="18" charset="0"/>
              </a:rPr>
              <a:t>3</a:t>
            </a:r>
            <a:r>
              <a:rPr lang="en-US" dirty="0">
                <a:latin typeface="Palatino Linotype" panose="02040502050505030304" pitchFamily="18" charset="0"/>
              </a:rPr>
              <a:t>: z=a*b</a:t>
            </a:r>
          </a:p>
        </p:txBody>
      </p: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FECBE3E5-DC39-FE9F-F23D-79A195CEBF02}"/>
              </a:ext>
            </a:extLst>
          </p:cNvPr>
          <p:cNvCxnSpPr>
            <a:cxnSpLocks noChangeShapeType="1"/>
            <a:stCxn id="4" idx="2"/>
            <a:endCxn id="5" idx="0"/>
          </p:cNvCxnSpPr>
          <p:nvPr/>
        </p:nvCxnSpPr>
        <p:spPr bwMode="auto">
          <a:xfrm>
            <a:off x="4952098" y="3867150"/>
            <a:ext cx="1" cy="24891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7">
            <a:extLst>
              <a:ext uri="{FF2B5EF4-FFF2-40B4-BE49-F238E27FC236}">
                <a16:creationId xmlns:a16="http://schemas.microsoft.com/office/drawing/2014/main" id="{593F6FC7-ECA0-DB4F-B8E9-4EF21193C532}"/>
              </a:ext>
            </a:extLst>
          </p:cNvPr>
          <p:cNvCxnSpPr>
            <a:cxnSpLocks noChangeShapeType="1"/>
            <a:stCxn id="5" idx="2"/>
            <a:endCxn id="6" idx="0"/>
          </p:cNvCxnSpPr>
          <p:nvPr/>
        </p:nvCxnSpPr>
        <p:spPr bwMode="auto">
          <a:xfrm flipH="1">
            <a:off x="4952099" y="4519292"/>
            <a:ext cx="0" cy="24066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B87FAB2-DB91-9AB5-726D-1D2A761F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836" y="3438525"/>
            <a:ext cx="1823402" cy="438150"/>
          </a:xfrm>
          <a:prstGeom prst="rect">
            <a:avLst/>
          </a:prstGeom>
          <a:solidFill>
            <a:srgbClr val="FFFFFF"/>
          </a:solidFill>
          <a:ln w="222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solidFill>
                  <a:srgbClr val="C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 point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AA3D0E-E683-78D2-CEB9-00414B52B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836" y="4110352"/>
            <a:ext cx="1823401" cy="403225"/>
          </a:xfrm>
          <a:prstGeom prst="rect">
            <a:avLst/>
          </a:prstGeom>
          <a:solidFill>
            <a:srgbClr val="FFFFFF"/>
          </a:solidFill>
          <a:ln w="222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solidFill>
                  <a:srgbClr val="C00000"/>
                </a:solidFill>
                <a:latin typeface="Palatino Linotype" panose="02040502050505030304" pitchFamily="18" charset="0"/>
              </a:rPr>
              <a:t>Reference point</a:t>
            </a:r>
            <a:endParaRPr lang="en-US">
              <a:solidFill>
                <a:srgbClr val="C00000"/>
              </a:solidFill>
              <a:effectLst/>
              <a:latin typeface="Palatino Linotype" panose="020405020505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BC4D6C-6B2E-D76D-2012-E520B94A1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028" y="4769484"/>
            <a:ext cx="1990089" cy="379730"/>
          </a:xfrm>
          <a:prstGeom prst="rect">
            <a:avLst/>
          </a:prstGeom>
          <a:solidFill>
            <a:srgbClr val="FFFFFF"/>
          </a:solidFill>
          <a:ln w="222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solidFill>
                  <a:srgbClr val="C00000"/>
                </a:solidFill>
                <a:latin typeface="Palatino Linotype" panose="02040502050505030304" pitchFamily="18" charset="0"/>
              </a:rPr>
              <a:t>Evaluation point</a:t>
            </a:r>
            <a:endParaRPr lang="en-US">
              <a:solidFill>
                <a:srgbClr val="C00000"/>
              </a:solidFill>
              <a:effectLst/>
              <a:latin typeface="Palatino Linotype" panose="020405020505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70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7087-043A-5AF8-E9C4-165A03B24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56" y="0"/>
            <a:ext cx="9644743" cy="1325563"/>
          </a:xfrm>
        </p:spPr>
        <p:txBody>
          <a:bodyPr/>
          <a:lstStyle/>
          <a:p>
            <a:r>
              <a:rPr lang="en-IN" dirty="0"/>
              <a:t>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FABCE-6676-5724-AD2D-348F87A0D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056" y="1143454"/>
            <a:ext cx="11030857" cy="4059918"/>
          </a:xfrm>
        </p:spPr>
        <p:txBody>
          <a:bodyPr>
            <a:normAutofit/>
          </a:bodyPr>
          <a:lstStyle/>
          <a:p>
            <a:r>
              <a:rPr lang="en-IN" sz="3200" dirty="0"/>
              <a:t>A path from p</a:t>
            </a:r>
            <a:r>
              <a:rPr lang="en-IN" sz="3200" baseline="-25000" dirty="0"/>
              <a:t>1</a:t>
            </a:r>
            <a:r>
              <a:rPr lang="en-IN" sz="3200" dirty="0"/>
              <a:t> to </a:t>
            </a:r>
            <a:r>
              <a:rPr lang="en-IN" sz="3200" dirty="0" err="1"/>
              <a:t>p</a:t>
            </a:r>
            <a:r>
              <a:rPr lang="en-IN" sz="3200" baseline="-25000" dirty="0" err="1"/>
              <a:t>n</a:t>
            </a:r>
            <a:r>
              <a:rPr lang="en-IN" sz="3200" dirty="0"/>
              <a:t> is sequence of points p</a:t>
            </a:r>
            <a:r>
              <a:rPr lang="en-IN" sz="3200" baseline="-25000" dirty="0"/>
              <a:t>1</a:t>
            </a:r>
            <a:r>
              <a:rPr lang="en-IN" sz="3200" dirty="0"/>
              <a:t>, p</a:t>
            </a:r>
            <a:r>
              <a:rPr lang="en-IN" sz="3200" baseline="-25000" dirty="0"/>
              <a:t>2</a:t>
            </a:r>
            <a:r>
              <a:rPr lang="en-IN" sz="3200" dirty="0"/>
              <a:t>, …</a:t>
            </a:r>
            <a:r>
              <a:rPr lang="en-IN" sz="3200" dirty="0" err="1"/>
              <a:t>p</a:t>
            </a:r>
            <a:r>
              <a:rPr lang="en-IN" sz="3200" baseline="-25000" dirty="0" err="1"/>
              <a:t>n</a:t>
            </a:r>
            <a:r>
              <a:rPr lang="en-IN" sz="3200" dirty="0"/>
              <a:t> such that for each </a:t>
            </a:r>
            <a:r>
              <a:rPr lang="en-IN" sz="3200" dirty="0" err="1"/>
              <a:t>i</a:t>
            </a:r>
            <a:r>
              <a:rPr lang="en-IN" sz="3200" dirty="0"/>
              <a:t> between 1 and n-1, either,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800" dirty="0">
                <a:solidFill>
                  <a:srgbClr val="000099"/>
                </a:solidFill>
              </a:rPr>
              <a:t>P</a:t>
            </a:r>
            <a:r>
              <a:rPr lang="en-IN" sz="2800" baseline="-25000" dirty="0">
                <a:solidFill>
                  <a:srgbClr val="000099"/>
                </a:solidFill>
              </a:rPr>
              <a:t>i</a:t>
            </a:r>
            <a:r>
              <a:rPr lang="en-IN" sz="2800" dirty="0">
                <a:solidFill>
                  <a:srgbClr val="000099"/>
                </a:solidFill>
              </a:rPr>
              <a:t> – point immediately preceding the statement</a:t>
            </a:r>
          </a:p>
          <a:p>
            <a:pPr marL="457200" lvl="1" indent="0">
              <a:buNone/>
            </a:pPr>
            <a:r>
              <a:rPr lang="en-IN" sz="2800" dirty="0">
                <a:solidFill>
                  <a:srgbClr val="000099"/>
                </a:solidFill>
              </a:rPr>
              <a:t>	 P</a:t>
            </a:r>
            <a:r>
              <a:rPr lang="en-IN" sz="2800" baseline="-25000" dirty="0">
                <a:solidFill>
                  <a:srgbClr val="000099"/>
                </a:solidFill>
              </a:rPr>
              <a:t>i+1 </a:t>
            </a:r>
            <a:r>
              <a:rPr lang="en-IN" sz="2800" dirty="0">
                <a:solidFill>
                  <a:srgbClr val="000099"/>
                </a:solidFill>
              </a:rPr>
              <a:t>– point immediately following that statement in the same 	 block</a:t>
            </a:r>
          </a:p>
          <a:p>
            <a:pPr marL="457200" lvl="1" indent="0">
              <a:buNone/>
            </a:pPr>
            <a:endParaRPr lang="en-IN" sz="2800" dirty="0">
              <a:solidFill>
                <a:srgbClr val="000099"/>
              </a:solidFill>
            </a:endParaRPr>
          </a:p>
          <a:p>
            <a:pPr marL="971550" lvl="1" indent="-514350">
              <a:buFont typeface="+mj-lt"/>
              <a:buAutoNum type="romanLcPeriod" startAt="2"/>
            </a:pPr>
            <a:r>
              <a:rPr lang="en-IN" sz="2800" dirty="0">
                <a:solidFill>
                  <a:srgbClr val="000099"/>
                </a:solidFill>
              </a:rPr>
              <a:t>P</a:t>
            </a:r>
            <a:r>
              <a:rPr lang="en-IN" sz="2800" baseline="-25000" dirty="0">
                <a:solidFill>
                  <a:srgbClr val="000099"/>
                </a:solidFill>
              </a:rPr>
              <a:t>i</a:t>
            </a:r>
            <a:r>
              <a:rPr lang="en-IN" sz="2800" dirty="0">
                <a:solidFill>
                  <a:srgbClr val="000099"/>
                </a:solidFill>
              </a:rPr>
              <a:t> – End of some block</a:t>
            </a:r>
          </a:p>
          <a:p>
            <a:pPr marL="457200" lvl="1" indent="0">
              <a:buNone/>
            </a:pPr>
            <a:r>
              <a:rPr lang="en-IN" sz="2800" dirty="0">
                <a:solidFill>
                  <a:srgbClr val="000099"/>
                </a:solidFill>
              </a:rPr>
              <a:t>	 P</a:t>
            </a:r>
            <a:r>
              <a:rPr lang="en-IN" sz="2800" baseline="-25000" dirty="0">
                <a:solidFill>
                  <a:srgbClr val="000099"/>
                </a:solidFill>
              </a:rPr>
              <a:t>i+1 </a:t>
            </a:r>
            <a:r>
              <a:rPr lang="en-IN" sz="2800" dirty="0">
                <a:solidFill>
                  <a:srgbClr val="000099"/>
                </a:solidFill>
              </a:rPr>
              <a:t>– beginning of a successor block</a:t>
            </a:r>
          </a:p>
          <a:p>
            <a:pPr marL="457200" lvl="1" indent="0">
              <a:buNone/>
            </a:pPr>
            <a:endParaRPr lang="en-IN" sz="2800" dirty="0"/>
          </a:p>
          <a:p>
            <a:pPr lvl="1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9307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9CDD7-C6C6-DF89-C970-BC804D7D6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603" y="3440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/>
              </a:rPr>
              <a:t>Example program illustrating the dataflow path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A1B5C-8F0A-AE88-08BA-F5BA68405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512" y="796353"/>
            <a:ext cx="6906744" cy="54736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DC81E3-6415-D6EB-9F60-EFF06DC3D2A3}"/>
              </a:ext>
            </a:extLst>
          </p:cNvPr>
          <p:cNvSpPr txBox="1"/>
          <p:nvPr/>
        </p:nvSpPr>
        <p:spPr>
          <a:xfrm>
            <a:off x="8131663" y="5330685"/>
            <a:ext cx="3813409" cy="968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(1; 2; 3; 4; 9).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(1; 2; 3; 4; 5; 6; 7; 8; 3; 4;9)</a:t>
            </a:r>
            <a:endParaRPr lang="en-IN" sz="2000" b="1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92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8AF8-D711-316A-39F0-766A68994BF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Reaching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B52E7-F420-20A4-4514-E249159AC0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 definition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reaches at the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if there is a path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along which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not killed.</a:t>
                </a:r>
              </a:p>
              <a:p>
                <a:r>
                  <a:rPr lang="en-US" dirty="0"/>
                  <a:t>A definition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of variable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killed when there is a redefinition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definition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is reaching definition for block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but the definition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is not reaching definition for block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, because it is killed by definition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in block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9B52E7-F420-20A4-4514-E249159AC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1963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9338220-C46C-B23C-6EFF-E299CDEFF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628" y="2411860"/>
            <a:ext cx="1676400" cy="43815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en-US">
                <a:latin typeface="Palatino Linotype" panose="02040502050505030304" pitchFamily="18" charset="0"/>
              </a:rPr>
              <a:t>D1: y=2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67C884-F41D-EE20-9B9D-083985C95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629" y="3098927"/>
            <a:ext cx="1676400" cy="403225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en-US">
                <a:latin typeface="Palatino Linotype" panose="02040502050505030304" pitchFamily="18" charset="0"/>
              </a:rPr>
              <a:t>D2: y=y+2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8E0DD7-6CB2-96CC-6A1D-2DE1D297E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8341" y="3742819"/>
            <a:ext cx="1704976" cy="37973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en-US">
                <a:latin typeface="Palatino Linotype" panose="02040502050505030304" pitchFamily="18" charset="0"/>
              </a:rPr>
              <a:t>D3: x=y+2</a:t>
            </a:r>
          </a:p>
        </p:txBody>
      </p: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5C5E670F-6443-C713-B2BE-79152C24211A}"/>
              </a:ext>
            </a:extLst>
          </p:cNvPr>
          <p:cNvCxnSpPr>
            <a:cxnSpLocks noChangeShapeType="1"/>
            <a:stCxn id="4" idx="2"/>
            <a:endCxn id="5" idx="0"/>
          </p:cNvCxnSpPr>
          <p:nvPr/>
        </p:nvCxnSpPr>
        <p:spPr bwMode="auto">
          <a:xfrm>
            <a:off x="5540828" y="2850010"/>
            <a:ext cx="1" cy="24891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7">
            <a:extLst>
              <a:ext uri="{FF2B5EF4-FFF2-40B4-BE49-F238E27FC236}">
                <a16:creationId xmlns:a16="http://schemas.microsoft.com/office/drawing/2014/main" id="{2B3811FF-B533-454C-F064-0D8B7BC39620}"/>
              </a:ext>
            </a:extLst>
          </p:cNvPr>
          <p:cNvCxnSpPr>
            <a:cxnSpLocks noChangeShapeType="1"/>
            <a:stCxn id="5" idx="2"/>
            <a:endCxn id="6" idx="0"/>
          </p:cNvCxnSpPr>
          <p:nvPr/>
        </p:nvCxnSpPr>
        <p:spPr bwMode="auto">
          <a:xfrm flipH="1">
            <a:off x="5540829" y="3502152"/>
            <a:ext cx="0" cy="24066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5969F42-1BB0-CFE8-6EF4-CDCE305EA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366" y="2421385"/>
            <a:ext cx="1823402" cy="438150"/>
          </a:xfrm>
          <a:prstGeom prst="rect">
            <a:avLst/>
          </a:prstGeom>
          <a:solidFill>
            <a:srgbClr val="FFFFFF"/>
          </a:solidFill>
          <a:ln w="222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solidFill>
                  <a:srgbClr val="C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A36DDD-D1AE-96CB-4CB6-FE418331D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366" y="3108452"/>
            <a:ext cx="1823401" cy="403225"/>
          </a:xfrm>
          <a:prstGeom prst="rect">
            <a:avLst/>
          </a:prstGeom>
          <a:solidFill>
            <a:srgbClr val="FFFFFF"/>
          </a:solidFill>
          <a:ln w="222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C00000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DDBC15-E8BD-6D10-B9E2-AE4DD60E4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366" y="3760594"/>
            <a:ext cx="1990089" cy="379730"/>
          </a:xfrm>
          <a:prstGeom prst="rect">
            <a:avLst/>
          </a:prstGeom>
          <a:solidFill>
            <a:srgbClr val="FFFFFF"/>
          </a:solidFill>
          <a:ln w="222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>
                <a:solidFill>
                  <a:srgbClr val="C00000"/>
                </a:solidFill>
                <a:latin typeface="Palatino Linotype" panose="02040502050505030304" pitchFamily="18" charset="0"/>
              </a:rPr>
              <a:t>B3</a:t>
            </a:r>
            <a:endParaRPr lang="en-US">
              <a:solidFill>
                <a:srgbClr val="C00000"/>
              </a:solidFill>
              <a:effectLst/>
              <a:latin typeface="Palatino Linotype" panose="020405020505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95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DBA5A-10C8-CC1B-AFD2-BCBEB6BFC1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03" t="19642" r="33952" b="11828"/>
          <a:stretch/>
        </p:blipFill>
        <p:spPr>
          <a:xfrm>
            <a:off x="1632154" y="432618"/>
            <a:ext cx="8038322" cy="583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30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2E63A-42B9-2EF6-9D21-E1D264CD46B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Available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40CF1-2614-A16A-C058-6ACAB1C8E8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929101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</a:pPr>
                <a:r>
                  <a:rPr lang="en-US" sz="2400" dirty="0"/>
                  <a:t>Determines the points in the program where a particular expression is “available”, meaning that its value has already been computed and can be reused. 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2400" dirty="0"/>
                  <a:t>An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available at a program point w if and only if along all paths are reaching to w.</a:t>
                </a:r>
              </a:p>
              <a:p>
                <a:pPr marL="857250" lvl="1" indent="-45720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000099"/>
                    </a:solidFill>
                  </a:rPr>
                  <a:t>The expression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000099"/>
                    </a:solidFill>
                  </a:rPr>
                  <a:t> is said to be available at its evaluation point.</a:t>
                </a:r>
              </a:p>
              <a:p>
                <a:pPr marL="857250" lvl="1" indent="-45720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sz="2000" dirty="0">
                    <a:solidFill>
                      <a:srgbClr val="000099"/>
                    </a:solidFill>
                  </a:rPr>
                  <a:t>Neither of the two operands get modified before their use.</a:t>
                </a:r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sz="2400" dirty="0"/>
              </a:p>
              <a:p>
                <a:pPr>
                  <a:spcBef>
                    <a:spcPts val="0"/>
                  </a:spcBef>
                </a:pPr>
                <a:r>
                  <a:rPr lang="en-US" sz="2400" dirty="0"/>
                  <a:t>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 ∗ </m:t>
                    </m:r>
                    <m:r>
                      <a:rPr lang="en-US" sz="2400" i="1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the available expression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/>
                  <a:t> because this expression has not been changed by any of block appearing before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baseline="-25000" dirty="0"/>
                  <a:t>.</a:t>
                </a:r>
                <a:endParaRPr lang="en-US" sz="2400" dirty="0"/>
              </a:p>
              <a:p>
                <a:pPr>
                  <a:spcBef>
                    <a:spcPts val="0"/>
                  </a:spcBef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40CF1-2614-A16A-C058-6ACAB1C8E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929101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716" t="-1527" r="-818" b="-2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94F217E-91FF-FC1A-61D6-0313C2033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3717" y="2911239"/>
            <a:ext cx="1676400" cy="43815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B</a:t>
            </a:r>
            <a:r>
              <a:rPr lang="en-US" baseline="-25000" dirty="0">
                <a:latin typeface="Palatino Linotype" panose="02040502050505030304" pitchFamily="18" charset="0"/>
              </a:rPr>
              <a:t>1</a:t>
            </a:r>
            <a:r>
              <a:rPr lang="en-US" dirty="0">
                <a:latin typeface="Palatino Linotype" panose="02040502050505030304" pitchFamily="18" charset="0"/>
              </a:rPr>
              <a:t>: t</a:t>
            </a:r>
            <a:r>
              <a:rPr lang="en-US" baseline="-25000" dirty="0">
                <a:latin typeface="Palatino Linotype" panose="02040502050505030304" pitchFamily="18" charset="0"/>
              </a:rPr>
              <a:t>1</a:t>
            </a:r>
            <a:r>
              <a:rPr lang="en-US" dirty="0">
                <a:latin typeface="Palatino Linotype" panose="02040502050505030304" pitchFamily="18" charset="0"/>
              </a:rPr>
              <a:t>=4*</a:t>
            </a:r>
            <a:r>
              <a:rPr lang="en-US" dirty="0" err="1">
                <a:latin typeface="Palatino Linotype" panose="02040502050505030304" pitchFamily="18" charset="0"/>
              </a:rPr>
              <a:t>i</a:t>
            </a:r>
            <a:endParaRPr lang="en-US" dirty="0">
              <a:latin typeface="Palatino Linotype" panose="02040502050505030304" pitchFamily="18" charset="0"/>
            </a:endParaRPr>
          </a:p>
          <a:p>
            <a:pPr algn="ctr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5A45CE-E747-3F04-E1E8-8845CFCA8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6767" y="3982801"/>
            <a:ext cx="1676400" cy="43815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B</a:t>
            </a:r>
            <a:r>
              <a:rPr lang="en-US" baseline="-25000" dirty="0">
                <a:latin typeface="Palatino Linotype" panose="02040502050505030304" pitchFamily="18" charset="0"/>
              </a:rPr>
              <a:t>2</a:t>
            </a:r>
            <a:r>
              <a:rPr lang="en-US" b="1" dirty="0">
                <a:latin typeface="Palatino Linotype" panose="02040502050505030304" pitchFamily="18" charset="0"/>
              </a:rPr>
              <a:t>:</a:t>
            </a:r>
            <a:r>
              <a:rPr lang="en-US" dirty="0">
                <a:latin typeface="Palatino Linotype" panose="02040502050505030304" pitchFamily="18" charset="0"/>
              </a:rPr>
              <a:t> t</a:t>
            </a:r>
            <a:r>
              <a:rPr lang="en-US" baseline="-25000" dirty="0">
                <a:latin typeface="Palatino Linotype" panose="02040502050505030304" pitchFamily="18" charset="0"/>
              </a:rPr>
              <a:t>2</a:t>
            </a:r>
            <a:r>
              <a:rPr lang="en-US" dirty="0">
                <a:latin typeface="Palatino Linotype" panose="02040502050505030304" pitchFamily="18" charset="0"/>
              </a:rPr>
              <a:t>:c+d[t1]</a:t>
            </a:r>
          </a:p>
          <a:p>
            <a:pPr algn="ctr"/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C5F16E-1AD6-9E52-5154-1FFB554EA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5917" y="3982801"/>
            <a:ext cx="1676400" cy="43815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B</a:t>
            </a:r>
            <a:r>
              <a:rPr lang="en-US" baseline="-25000" dirty="0">
                <a:latin typeface="Palatino Linotype" panose="02040502050505030304" pitchFamily="18" charset="0"/>
              </a:rPr>
              <a:t>3</a:t>
            </a:r>
            <a:r>
              <a:rPr lang="en-US" dirty="0">
                <a:latin typeface="Palatino Linotype" panose="02040502050505030304" pitchFamily="18" charset="0"/>
              </a:rPr>
              <a:t>: t</a:t>
            </a:r>
            <a:r>
              <a:rPr lang="en-US" baseline="-25000" dirty="0">
                <a:latin typeface="Palatino Linotype" panose="02040502050505030304" pitchFamily="18" charset="0"/>
              </a:rPr>
              <a:t>3</a:t>
            </a:r>
            <a:r>
              <a:rPr lang="en-US" dirty="0">
                <a:latin typeface="Palatino Linotype" panose="02040502050505030304" pitchFamily="18" charset="0"/>
              </a:rPr>
              <a:t>=4*</a:t>
            </a:r>
            <a:r>
              <a:rPr lang="en-US" dirty="0" err="1">
                <a:latin typeface="Palatino Linotype" panose="02040502050505030304" pitchFamily="18" charset="0"/>
              </a:rPr>
              <a:t>i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69E4E-12E9-9CCC-DA6E-993C71CD7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3717" y="5216289"/>
            <a:ext cx="1676400" cy="43815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B</a:t>
            </a:r>
            <a:r>
              <a:rPr lang="en-US" baseline="-25000" dirty="0">
                <a:latin typeface="Palatino Linotype" panose="02040502050505030304" pitchFamily="18" charset="0"/>
              </a:rPr>
              <a:t>4</a:t>
            </a:r>
            <a:r>
              <a:rPr lang="en-US" dirty="0">
                <a:latin typeface="Palatino Linotype" panose="02040502050505030304" pitchFamily="18" charset="0"/>
              </a:rPr>
              <a:t>: t</a:t>
            </a:r>
            <a:r>
              <a:rPr lang="en-US" baseline="-25000" dirty="0">
                <a:latin typeface="Palatino Linotype" panose="02040502050505030304" pitchFamily="18" charset="0"/>
              </a:rPr>
              <a:t>4</a:t>
            </a:r>
            <a:r>
              <a:rPr lang="en-US" dirty="0">
                <a:latin typeface="Palatino Linotype" panose="02040502050505030304" pitchFamily="18" charset="0"/>
              </a:rPr>
              <a:t>=a[t</a:t>
            </a:r>
            <a:r>
              <a:rPr lang="en-US" baseline="-25000" dirty="0">
                <a:latin typeface="Palatino Linotype" panose="02040502050505030304" pitchFamily="18" charset="0"/>
              </a:rPr>
              <a:t>3</a:t>
            </a:r>
            <a:r>
              <a:rPr lang="en-US" dirty="0">
                <a:latin typeface="Palatino Linotype" panose="02040502050505030304" pitchFamily="18" charset="0"/>
              </a:rPr>
              <a:t>]</a:t>
            </a:r>
          </a:p>
          <a:p>
            <a:pPr algn="ctr"/>
            <a:endParaRPr lang="en-US" dirty="0">
              <a:latin typeface="Palatino Linotype" panose="0204050205050503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A3CC66A-0531-0949-0977-5B6289530030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904967" y="3349389"/>
            <a:ext cx="2266950" cy="63341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144D98-17C3-099D-D599-CDD1D2A53B3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171917" y="3349389"/>
            <a:ext cx="2362200" cy="63341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88618B-B3C6-E118-F30F-1AF1CE4286E7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3904967" y="4420951"/>
            <a:ext cx="2266950" cy="79533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45DD9F-C402-8FBD-7229-CF40BBC78861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6171917" y="4420951"/>
            <a:ext cx="2362200" cy="79533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79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C0D96-D162-97AE-B3F3-531C40CF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Computation of available expressions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DCDE32-5FDF-2276-C75B-61879F03FE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92738"/>
            <a:ext cx="4140983" cy="308008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8DCEFD-8F6A-F313-BD0D-12FB45614DE1}"/>
              </a:ext>
            </a:extLst>
          </p:cNvPr>
          <p:cNvSpPr txBox="1"/>
          <p:nvPr/>
        </p:nvSpPr>
        <p:spPr>
          <a:xfrm>
            <a:off x="5167085" y="2009231"/>
            <a:ext cx="6792685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After the first, </a:t>
            </a:r>
            <a:r>
              <a:rPr lang="en-US" sz="2000" dirty="0" err="1">
                <a:solidFill>
                  <a:srgbClr val="000099"/>
                </a:solidFill>
                <a:latin typeface="Palatino Linotype" panose="02040502050505030304" pitchFamily="18" charset="0"/>
              </a:rPr>
              <a:t>b+c</a:t>
            </a:r>
            <a:r>
              <a:rPr lang="en-US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 is available.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After the second statement, a - d becomes available, but b + c is no longer available because b has been redefined.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The third statement does not make b + c available again, because the value of c is immediately changed.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After the last statement, a - d is no longer available, because d has changed.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Thus no expressions are generated, and all expressions involving a, b, c, or d are killed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00099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19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CADB-9D9D-8502-6BDC-A3030C5386B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Live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E9D90C-36C0-D899-6F1D-4030A89F9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rgbClr val="000099"/>
                    </a:solidFill>
                  </a:rPr>
                  <a:t>A live variable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0099"/>
                    </a:solidFill>
                  </a:rPr>
                  <a:t> is live at point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0099"/>
                    </a:solidFill>
                  </a:rPr>
                  <a:t> if there is a path from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0099"/>
                    </a:solidFill>
                  </a:rPr>
                  <a:t> to the exit, along which the </a:t>
                </a:r>
                <a:r>
                  <a:rPr lang="en-US" dirty="0">
                    <a:solidFill>
                      <a:srgbClr val="FF0000"/>
                    </a:solidFill>
                  </a:rPr>
                  <a:t>value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used before it is redefined.</a:t>
                </a:r>
              </a:p>
              <a:p>
                <a:r>
                  <a:rPr lang="en-US" dirty="0"/>
                  <a:t>Otherwise the variable is said to be dead at the point.</a:t>
                </a:r>
              </a:p>
              <a:p>
                <a:r>
                  <a:rPr lang="en-US" dirty="0"/>
                  <a:t>Example:</a:t>
                </a:r>
              </a:p>
              <a:p>
                <a:pPr marL="400050" lvl="1" indent="0">
                  <a:buFont typeface="Arial" panose="020B0604020202020204" pitchFamily="34" charset="0"/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rgbClr val="0E47A1"/>
                    </a:solidFill>
                  </a:rPr>
                  <a:t>b = 3</a:t>
                </a:r>
              </a:p>
              <a:p>
                <a:pPr marL="400050" lvl="1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0E47A1"/>
                    </a:solidFill>
                  </a:rPr>
                  <a:t>	c = 5</a:t>
                </a:r>
              </a:p>
              <a:p>
                <a:pPr marL="400050" lvl="1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0E47A1"/>
                    </a:solidFill>
                  </a:rPr>
                  <a:t>	a = f(b * c)</a:t>
                </a:r>
              </a:p>
              <a:p>
                <a:r>
                  <a:rPr lang="en-US" dirty="0"/>
                  <a:t>The set of live variables are </a:t>
                </a:r>
                <a:r>
                  <a:rPr lang="en-US" dirty="0">
                    <a:solidFill>
                      <a:srgbClr val="0E47A1"/>
                    </a:solidFill>
                  </a:rPr>
                  <a:t>{b, c} </a:t>
                </a:r>
                <a:r>
                  <a:rPr lang="en-US" dirty="0"/>
                  <a:t>because both are used in the multiplication on line 3.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E9D90C-36C0-D899-6F1D-4030A89F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1963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66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F3146-7376-A3CD-9D93-3F3F268AC88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Busy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D5A52A-DA4A-A69D-6234-0CC0B54E54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5"/>
                <a:ext cx="11929641" cy="1361596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An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is said to be busy expression along some path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and only if an evaluation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exists along some path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and no definition of any operand exists before its evaluation along the path.</a:t>
                </a:r>
              </a:p>
              <a:p>
                <a:endParaRPr lang="en-US" dirty="0"/>
              </a:p>
              <a:p>
                <a:endParaRPr lang="en-IN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D5A52A-DA4A-A69D-6234-0CC0B54E5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5"/>
                <a:ext cx="11929641" cy="1361596"/>
              </a:xfrm>
              <a:prstGeom prst="rect">
                <a:avLst/>
              </a:prstGeom>
              <a:blipFill>
                <a:blip r:embed="rId2"/>
                <a:stretch>
                  <a:fillRect l="-920" t="-8072" r="-1074" b="-35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A99E9BD-C843-8F7C-F25C-7D49A7DEC16D}"/>
              </a:ext>
            </a:extLst>
          </p:cNvPr>
          <p:cNvSpPr txBox="1"/>
          <p:nvPr/>
        </p:nvSpPr>
        <p:spPr>
          <a:xfrm>
            <a:off x="492760" y="3322320"/>
            <a:ext cx="112064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Available Expression  -  </a:t>
            </a:r>
            <a:r>
              <a:rPr lang="en-US" sz="2800" dirty="0"/>
              <a:t>It is used to eliminate </a:t>
            </a:r>
            <a:r>
              <a:rPr lang="en-US" sz="2800" b="1" dirty="0"/>
              <a:t>common subexpressions</a:t>
            </a:r>
            <a:r>
              <a:rPr lang="en-US" sz="2800" dirty="0"/>
              <a:t>. </a:t>
            </a:r>
          </a:p>
          <a:p>
            <a:r>
              <a:rPr lang="en-IN" sz="2800" b="1" dirty="0"/>
              <a:t>Reaching definition  - </a:t>
            </a:r>
            <a:r>
              <a:rPr lang="en-US" sz="2800" dirty="0"/>
              <a:t>It is generally used in </a:t>
            </a:r>
            <a:r>
              <a:rPr lang="en-US" sz="2800" b="1" dirty="0"/>
              <a:t>variable/constant propagation. </a:t>
            </a:r>
          </a:p>
          <a:p>
            <a:r>
              <a:rPr lang="en-IN" sz="2800" b="1" dirty="0"/>
              <a:t>Live variable - </a:t>
            </a:r>
            <a:r>
              <a:rPr lang="en-US" sz="2800" dirty="0"/>
              <a:t>It is generally used in </a:t>
            </a:r>
            <a:r>
              <a:rPr lang="en-US" sz="2800" b="1" dirty="0"/>
              <a:t>register allocation and dead code elimination.</a:t>
            </a:r>
          </a:p>
          <a:p>
            <a:r>
              <a:rPr lang="en-IN" sz="2800" b="1" dirty="0"/>
              <a:t>Busy expression - </a:t>
            </a:r>
            <a:r>
              <a:rPr lang="en-US" sz="2800" dirty="0"/>
              <a:t>It is used for performing </a:t>
            </a:r>
            <a:r>
              <a:rPr lang="en-US" sz="2800" b="1" dirty="0"/>
              <a:t>code movement </a:t>
            </a:r>
            <a:r>
              <a:rPr lang="en-US" sz="2800" dirty="0"/>
              <a:t>optimization. </a:t>
            </a:r>
          </a:p>
        </p:txBody>
      </p:sp>
    </p:spTree>
    <p:extLst>
      <p:ext uri="{BB962C8B-B14F-4D97-AF65-F5344CB8AC3E}">
        <p14:creationId xmlns:p14="http://schemas.microsoft.com/office/powerpoint/2010/main" val="242996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0192-0CC8-784F-A0ED-AEF6ED5F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Dataflow analysis of structured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BDD2A-9B6A-5576-8AAB-75A53B649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 err="1">
                <a:sym typeface="Wingdings" panose="05000000000000000000" pitchFamily="2" charset="2"/>
              </a:rPr>
              <a:t>id:E</a:t>
            </a:r>
            <a:r>
              <a:rPr lang="en-IN" dirty="0">
                <a:sym typeface="Wingdings" panose="05000000000000000000" pitchFamily="2" charset="2"/>
              </a:rPr>
              <a:t> | S; S | if E then S else S | do S while E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E  </a:t>
            </a:r>
            <a:r>
              <a:rPr lang="en-IN" dirty="0" err="1">
                <a:sym typeface="Wingdings" panose="05000000000000000000" pitchFamily="2" charset="2"/>
              </a:rPr>
              <a:t>id+id</a:t>
            </a:r>
            <a:r>
              <a:rPr lang="en-IN" dirty="0">
                <a:sym typeface="Wingdings" panose="05000000000000000000" pitchFamily="2" charset="2"/>
              </a:rPr>
              <a:t> | id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05B87-A00F-0F7A-61AD-9357645B26B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400605" y="3527643"/>
            <a:ext cx="8752138" cy="282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8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C69D-3E50-540B-5E07-CA7C03B8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074"/>
            <a:ext cx="10515600" cy="1325563"/>
          </a:xfrm>
        </p:spPr>
        <p:txBody>
          <a:bodyPr/>
          <a:lstStyle/>
          <a:p>
            <a:r>
              <a:rPr lang="en-IN" dirty="0"/>
              <a:t>Data flow equations for reaching definitions – </a:t>
            </a:r>
            <a:r>
              <a:rPr lang="en-IN" dirty="0">
                <a:solidFill>
                  <a:srgbClr val="000099"/>
                </a:solidFill>
              </a:rPr>
              <a:t>[statement(s)]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054CB6-94CB-98AC-B5D0-5988EEB2D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273507" y="1962666"/>
            <a:ext cx="9791772" cy="188334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0139EC-6118-0452-BB9A-4AA6F7B1F28B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1047377" y="4498358"/>
            <a:ext cx="9139304" cy="21098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D6DB00-7BEC-3510-07D1-BAE88064ACA3}"/>
              </a:ext>
            </a:extLst>
          </p:cNvPr>
          <p:cNvSpPr txBox="1"/>
          <p:nvPr/>
        </p:nvSpPr>
        <p:spPr>
          <a:xfrm>
            <a:off x="6480629" y="1933345"/>
            <a:ext cx="4392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99"/>
                </a:solidFill>
                <a:latin typeface="Palatino Linotype" panose="02040502050505030304" pitchFamily="18" charset="0"/>
              </a:rPr>
              <a:t>Newly generated definition, d  for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C0FAFB-3AC6-86BD-F531-28FD4D2F54D8}"/>
              </a:ext>
            </a:extLst>
          </p:cNvPr>
          <p:cNvSpPr txBox="1"/>
          <p:nvPr/>
        </p:nvSpPr>
        <p:spPr>
          <a:xfrm>
            <a:off x="7612742" y="2343033"/>
            <a:ext cx="4579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All previous definition for a will be killed except the newly generated definition, d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B8DD42B8-B9A7-D73C-F48B-8D501B92EEB4}"/>
              </a:ext>
            </a:extLst>
          </p:cNvPr>
          <p:cNvSpPr/>
          <p:nvPr/>
        </p:nvSpPr>
        <p:spPr>
          <a:xfrm>
            <a:off x="6299200" y="2098373"/>
            <a:ext cx="232229" cy="8602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2E284D7F-77C9-4B61-83B8-5FA4772FCCA8}"/>
              </a:ext>
            </a:extLst>
          </p:cNvPr>
          <p:cNvSpPr/>
          <p:nvPr/>
        </p:nvSpPr>
        <p:spPr>
          <a:xfrm>
            <a:off x="7264400" y="2550412"/>
            <a:ext cx="232229" cy="8602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F8FA5B-9957-BCA3-FB07-A0CBCA7A540C}"/>
              </a:ext>
            </a:extLst>
          </p:cNvPr>
          <p:cNvSpPr txBox="1"/>
          <p:nvPr/>
        </p:nvSpPr>
        <p:spPr>
          <a:xfrm>
            <a:off x="377372" y="1685352"/>
            <a:ext cx="2090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Single Statement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393560-1B4E-FA0F-33BF-CA07A3097789}"/>
              </a:ext>
            </a:extLst>
          </p:cNvPr>
          <p:cNvSpPr txBox="1"/>
          <p:nvPr/>
        </p:nvSpPr>
        <p:spPr>
          <a:xfrm>
            <a:off x="377371" y="4123327"/>
            <a:ext cx="3432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Sequence of  Statements</a:t>
            </a:r>
          </a:p>
        </p:txBody>
      </p:sp>
    </p:spTree>
    <p:extLst>
      <p:ext uri="{BB962C8B-B14F-4D97-AF65-F5344CB8AC3E}">
        <p14:creationId xmlns:p14="http://schemas.microsoft.com/office/powerpoint/2010/main" val="281282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C69D-3E50-540B-5E07-CA7C03B8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26" y="276800"/>
            <a:ext cx="10515600" cy="1325563"/>
          </a:xfrm>
        </p:spPr>
        <p:txBody>
          <a:bodyPr/>
          <a:lstStyle/>
          <a:p>
            <a:r>
              <a:rPr lang="en-IN" dirty="0"/>
              <a:t>Data flow equations for reaching definitions – </a:t>
            </a:r>
            <a:r>
              <a:rPr lang="en-IN" dirty="0">
                <a:solidFill>
                  <a:srgbClr val="000099"/>
                </a:solidFill>
              </a:rPr>
              <a:t>[</a:t>
            </a:r>
            <a:r>
              <a:rPr lang="en-IN" dirty="0" err="1">
                <a:solidFill>
                  <a:srgbClr val="000099"/>
                </a:solidFill>
              </a:rPr>
              <a:t>if..else</a:t>
            </a:r>
            <a:r>
              <a:rPr lang="en-IN" dirty="0">
                <a:solidFill>
                  <a:srgbClr val="000099"/>
                </a:solidFill>
              </a:rPr>
              <a:t> &amp; loop]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AB9030-BE46-DE1A-D4CA-EEDAE9A8D2E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301377" y="1690688"/>
            <a:ext cx="8743299" cy="21627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A56504-7A7A-4823-B040-32FD434F77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50000"/>
          </a:blip>
          <a:srcRect l="1526"/>
          <a:stretch/>
        </p:blipFill>
        <p:spPr>
          <a:xfrm>
            <a:off x="1146629" y="4256134"/>
            <a:ext cx="9677867" cy="231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8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5B43-8E58-81E8-3907-A79174258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Block &amp; Flow Graph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CCBA4-2A70-4DF4-A71A-A069982BFA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4537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902F1-F5CE-44DB-B116-7B5F1297F5F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Basic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540A6-CFDD-27F4-3C60-21397658673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 basic block is a </a:t>
            </a:r>
            <a:r>
              <a:rPr lang="en-US">
                <a:solidFill>
                  <a:srgbClr val="C00000"/>
                </a:solidFill>
              </a:rPr>
              <a:t>sequence of consecutive statements in which flow of control enters at the beginning and leaves at the end </a:t>
            </a:r>
            <a:r>
              <a:rPr lang="en-US"/>
              <a:t>without halt or possibility of branching except at the end. </a:t>
            </a:r>
          </a:p>
          <a:p>
            <a:r>
              <a:rPr lang="en-US"/>
              <a:t>The following sequence of three-address statements forms a basic block: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t1 := a*a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t2 := a*b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t3 := 2*t2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t4 := t1+t3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t5 := b*b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t6 := t4+t5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32D9-A701-8A3F-EE33-6E0CC2773FB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Algorithm: Partition into basic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98D3C-AAC9-EBC9-C0CE-EF4429047473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Input:</a:t>
            </a:r>
            <a:r>
              <a:rPr lang="en-US"/>
              <a:t> A sequence of three-address statements.</a:t>
            </a:r>
            <a:endParaRPr lang="en-US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Output:</a:t>
            </a:r>
            <a:r>
              <a:rPr lang="en-US"/>
              <a:t> A list of basic blocks with each three-address statement in exactly one block.</a:t>
            </a:r>
            <a:endParaRPr lang="en-US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Method:</a:t>
            </a:r>
            <a:endParaRPr lang="en-US" sz="2000">
              <a:solidFill>
                <a:srgbClr val="0E47A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/>
              <a:t>We first determine the set of </a:t>
            </a:r>
            <a:r>
              <a:rPr lang="en-US" b="1"/>
              <a:t>leaders</a:t>
            </a:r>
            <a:r>
              <a:rPr lang="en-US"/>
              <a:t>, for that we use the following rules:</a:t>
            </a:r>
            <a:endParaRPr lang="en-US" sz="2000"/>
          </a:p>
          <a:p>
            <a:pPr marL="1314450" lvl="2" indent="-400050">
              <a:buFont typeface="+mj-lt"/>
              <a:buAutoNum type="romanUcPeriod"/>
            </a:pPr>
            <a:r>
              <a:rPr lang="en-US" sz="2200"/>
              <a:t>The first statement is a leader.</a:t>
            </a:r>
          </a:p>
          <a:p>
            <a:pPr marL="1314450" lvl="2" indent="-400050">
              <a:buFont typeface="+mj-lt"/>
              <a:buAutoNum type="romanUcPeriod"/>
            </a:pPr>
            <a:r>
              <a:rPr lang="en-US" sz="2200"/>
              <a:t>Any statement that is the target of a conditional or unconditional goto is a leader.</a:t>
            </a:r>
          </a:p>
          <a:p>
            <a:pPr marL="1314450" lvl="2" indent="-400050">
              <a:buFont typeface="+mj-lt"/>
              <a:buAutoNum type="romanUcPeriod"/>
            </a:pPr>
            <a:r>
              <a:rPr lang="en-US" sz="2200"/>
              <a:t>Any statement that immediately follows a goto or conditional goto statement is a leader</a:t>
            </a:r>
            <a:r>
              <a:rPr lang="en-US" sz="1900"/>
              <a:t>. </a:t>
            </a:r>
          </a:p>
          <a:p>
            <a:pPr marL="457200" indent="-400050">
              <a:buFont typeface="Arial" panose="020B0604020202020204" pitchFamily="34" charset="0"/>
              <a:buNone/>
            </a:pPr>
            <a:r>
              <a:rPr lang="en-US"/>
              <a:t>2.   For each leader, its basic block consists of the leader and all statements up to but not including the next leader or the end of the program.</a:t>
            </a:r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959B8-52F6-A43E-D2F9-0F842ECA30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Example1: Partition into basic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B6CC9-43F6-34ED-1925-21F14DE32826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5612797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begin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	prod :=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              </a:t>
            </a:r>
            <a:r>
              <a:rPr lang="en-US" sz="2000" dirty="0" err="1"/>
              <a:t>i</a:t>
            </a:r>
            <a:r>
              <a:rPr lang="en-US" sz="2000" dirty="0"/>
              <a:t> := 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              do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                             prod := prod + a[t1] * b[t2];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                             </a:t>
            </a:r>
            <a:r>
              <a:rPr lang="en-US" sz="2000" dirty="0" err="1"/>
              <a:t>i</a:t>
            </a:r>
            <a:r>
              <a:rPr lang="en-US" sz="2000" dirty="0"/>
              <a:t> := i+1;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900113" algn="l"/>
              </a:tabLst>
            </a:pPr>
            <a:r>
              <a:rPr lang="en-US" sz="2000" dirty="0"/>
              <a:t>              while  </a:t>
            </a:r>
            <a:r>
              <a:rPr lang="en-US" sz="2000" dirty="0" err="1"/>
              <a:t>i</a:t>
            </a:r>
            <a:r>
              <a:rPr lang="en-US" sz="2000" dirty="0"/>
              <a:t>&lt;= 20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end</a:t>
            </a:r>
          </a:p>
          <a:p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9B2318-68A4-2914-311A-5A4D0F7C5C08}"/>
              </a:ext>
            </a:extLst>
          </p:cNvPr>
          <p:cNvSpPr/>
          <p:nvPr/>
        </p:nvSpPr>
        <p:spPr>
          <a:xfrm>
            <a:off x="8046477" y="1297546"/>
            <a:ext cx="2667000" cy="3657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(1)    prod := 0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(2)    </a:t>
            </a:r>
            <a:r>
              <a:rPr lang="en-U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 := 1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(3)    t1 := 4*</a:t>
            </a:r>
            <a:r>
              <a:rPr lang="en-U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i</a:t>
            </a:r>
            <a:endParaRPr lang="en-US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(4)    t2 := a [t1]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(5)    t3 := 4*</a:t>
            </a:r>
            <a:r>
              <a:rPr lang="en-U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i</a:t>
            </a:r>
            <a:endParaRPr lang="en-US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(6)    t4 :=b [t3]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(7)    t5 := t2*t4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(8)    t6 := prod +t5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(9)    prod := t6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(10)  t7 := i+1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(11)  </a:t>
            </a:r>
            <a:r>
              <a:rPr lang="en-U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 := t7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(12)  if  </a:t>
            </a:r>
            <a:r>
              <a:rPr lang="en-U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&lt;=20 </a:t>
            </a:r>
            <a:r>
              <a:rPr lang="en-U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goto</a:t>
            </a: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 (3)</a:t>
            </a:r>
          </a:p>
          <a:p>
            <a:endParaRPr lang="en-US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54A7E4-9085-4570-AF9C-2E1C4A7E5AF1}"/>
              </a:ext>
            </a:extLst>
          </p:cNvPr>
          <p:cNvSpPr/>
          <p:nvPr/>
        </p:nvSpPr>
        <p:spPr>
          <a:xfrm>
            <a:off x="10056252" y="1297546"/>
            <a:ext cx="1462087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Leader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D7BF21-2BB9-DA36-CF59-90420E80727A}"/>
              </a:ext>
            </a:extLst>
          </p:cNvPr>
          <p:cNvCxnSpPr/>
          <p:nvPr/>
        </p:nvCxnSpPr>
        <p:spPr>
          <a:xfrm flipH="1">
            <a:off x="9522857" y="1464234"/>
            <a:ext cx="814388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313C39DB-F79C-5B11-F5A1-F3DBBD444BCF}"/>
              </a:ext>
            </a:extLst>
          </p:cNvPr>
          <p:cNvGrpSpPr/>
          <p:nvPr/>
        </p:nvGrpSpPr>
        <p:grpSpPr>
          <a:xfrm>
            <a:off x="7730629" y="2059546"/>
            <a:ext cx="352424" cy="2514600"/>
            <a:chOff x="5105400" y="1905000"/>
            <a:chExt cx="352424" cy="25146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E07E809-725E-6F65-8EFE-384F6CD66497}"/>
                </a:ext>
              </a:extLst>
            </p:cNvPr>
            <p:cNvCxnSpPr/>
            <p:nvPr/>
          </p:nvCxnSpPr>
          <p:spPr>
            <a:xfrm flipH="1">
              <a:off x="5105400" y="4419600"/>
              <a:ext cx="352424" cy="0"/>
            </a:xfrm>
            <a:prstGeom prst="line">
              <a:avLst/>
            </a:prstGeom>
            <a:ln w="25400">
              <a:solidFill>
                <a:srgbClr val="0E47A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0CB19DD-62FB-1C48-204D-FB9D77DEB8FE}"/>
                </a:ext>
              </a:extLst>
            </p:cNvPr>
            <p:cNvCxnSpPr/>
            <p:nvPr/>
          </p:nvCxnSpPr>
          <p:spPr>
            <a:xfrm flipH="1">
              <a:off x="5105400" y="1905000"/>
              <a:ext cx="352424" cy="0"/>
            </a:xfrm>
            <a:prstGeom prst="line">
              <a:avLst/>
            </a:prstGeom>
            <a:ln w="25400">
              <a:solidFill>
                <a:srgbClr val="0E47A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11D23FA-3142-15FA-F690-E55C50593C36}"/>
                </a:ext>
              </a:extLst>
            </p:cNvPr>
            <p:cNvCxnSpPr/>
            <p:nvPr/>
          </p:nvCxnSpPr>
          <p:spPr>
            <a:xfrm flipH="1">
              <a:off x="5119688" y="1905000"/>
              <a:ext cx="0" cy="2514600"/>
            </a:xfrm>
            <a:prstGeom prst="line">
              <a:avLst/>
            </a:prstGeom>
            <a:ln w="25400">
              <a:solidFill>
                <a:srgbClr val="0E47A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51D3CB9-75EC-40AD-50A7-44B46D2ADD05}"/>
              </a:ext>
            </a:extLst>
          </p:cNvPr>
          <p:cNvSpPr/>
          <p:nvPr/>
        </p:nvSpPr>
        <p:spPr>
          <a:xfrm>
            <a:off x="10039585" y="1864282"/>
            <a:ext cx="1462087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Leader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A2E5D8-3496-8E8F-631C-75ADD4817417}"/>
              </a:ext>
            </a:extLst>
          </p:cNvPr>
          <p:cNvCxnSpPr/>
          <p:nvPr/>
        </p:nvCxnSpPr>
        <p:spPr>
          <a:xfrm flipH="1">
            <a:off x="9506190" y="2030970"/>
            <a:ext cx="814388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C58C337-1D20-E9FE-6A5E-6D2E9276A229}"/>
              </a:ext>
            </a:extLst>
          </p:cNvPr>
          <p:cNvSpPr/>
          <p:nvPr/>
        </p:nvSpPr>
        <p:spPr>
          <a:xfrm>
            <a:off x="8075053" y="1297546"/>
            <a:ext cx="2174084" cy="566736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AF41B5-3DAE-F742-10E2-BDC276F37096}"/>
              </a:ext>
            </a:extLst>
          </p:cNvPr>
          <p:cNvSpPr/>
          <p:nvPr/>
        </p:nvSpPr>
        <p:spPr>
          <a:xfrm>
            <a:off x="8083818" y="1907254"/>
            <a:ext cx="2183607" cy="2786064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127CAE-3741-1F60-6ECD-26C3D9736AAF}"/>
              </a:ext>
            </a:extLst>
          </p:cNvPr>
          <p:cNvSpPr/>
          <p:nvPr/>
        </p:nvSpPr>
        <p:spPr>
          <a:xfrm>
            <a:off x="6848709" y="1407083"/>
            <a:ext cx="1462087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Block B1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DDF30-D2DA-3A47-38A6-4535EA83481C}"/>
              </a:ext>
            </a:extLst>
          </p:cNvPr>
          <p:cNvSpPr/>
          <p:nvPr/>
        </p:nvSpPr>
        <p:spPr>
          <a:xfrm>
            <a:off x="10056251" y="3364469"/>
            <a:ext cx="1462087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Block B2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29D0B2-9DB5-C0CF-5EF7-60EF0F5DB315}"/>
              </a:ext>
            </a:extLst>
          </p:cNvPr>
          <p:cNvSpPr/>
          <p:nvPr/>
        </p:nvSpPr>
        <p:spPr>
          <a:xfrm>
            <a:off x="8082197" y="4912283"/>
            <a:ext cx="2133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99"/>
                </a:solidFill>
                <a:latin typeface="Palatino Linotype" panose="02040502050505030304" pitchFamily="18" charset="0"/>
              </a:rPr>
              <a:t>Three Address Code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D4EDB1-23B9-BC9B-81E2-A830F2828018}"/>
              </a:ext>
            </a:extLst>
          </p:cNvPr>
          <p:cNvCxnSpPr/>
          <p:nvPr/>
        </p:nvCxnSpPr>
        <p:spPr>
          <a:xfrm>
            <a:off x="6106318" y="967609"/>
            <a:ext cx="6120" cy="548640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52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3" grpId="0" animBg="1"/>
      <p:bldP spid="14" grpId="0" animBg="1"/>
      <p:bldP spid="15" grpId="0"/>
      <p:bldP spid="16" grpId="0"/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AE40-4CD2-C196-67E0-F782E8D3069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Flow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68E25-3827-8066-9DFD-3B7FB0CBFB96}"/>
              </a:ext>
            </a:extLst>
          </p:cNvPr>
          <p:cNvSpPr txBox="1">
            <a:spLocks/>
          </p:cNvSpPr>
          <p:nvPr/>
        </p:nvSpPr>
        <p:spPr>
          <a:xfrm>
            <a:off x="131180" y="863445"/>
            <a:ext cx="11929641" cy="1660300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We can add flow-of-control information to the set of basic blocks making up a program by constructing a direct graph called a </a:t>
            </a:r>
            <a:r>
              <a:rPr lang="en-US" sz="2200" dirty="0">
                <a:solidFill>
                  <a:srgbClr val="C00000"/>
                </a:solidFill>
              </a:rPr>
              <a:t>flow graph</a:t>
            </a:r>
            <a:r>
              <a:rPr lang="en-US" sz="2200" dirty="0"/>
              <a:t>.</a:t>
            </a:r>
          </a:p>
          <a:p>
            <a:r>
              <a:rPr lang="en-US" sz="2200" dirty="0"/>
              <a:t>Nodes in the flow graph represent computations, and the edges represent the flow of control.</a:t>
            </a:r>
          </a:p>
          <a:p>
            <a:r>
              <a:rPr lang="en-US" sz="2200" dirty="0"/>
              <a:t>Example of flow graph for following three address code: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2BD5F2-7EC0-490C-FD16-24FFAB927853}"/>
              </a:ext>
            </a:extLst>
          </p:cNvPr>
          <p:cNvGrpSpPr/>
          <p:nvPr/>
        </p:nvGrpSpPr>
        <p:grpSpPr>
          <a:xfrm>
            <a:off x="7688387" y="3846127"/>
            <a:ext cx="352424" cy="2514600"/>
            <a:chOff x="5105400" y="1905000"/>
            <a:chExt cx="352424" cy="25146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AB1BB22-B3CA-F1C6-89F0-57FE688D1EE9}"/>
                </a:ext>
              </a:extLst>
            </p:cNvPr>
            <p:cNvCxnSpPr/>
            <p:nvPr/>
          </p:nvCxnSpPr>
          <p:spPr>
            <a:xfrm flipH="1">
              <a:off x="5105400" y="4419600"/>
              <a:ext cx="352424" cy="0"/>
            </a:xfrm>
            <a:prstGeom prst="line">
              <a:avLst/>
            </a:prstGeom>
            <a:ln w="25400">
              <a:solidFill>
                <a:srgbClr val="0E47A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77CBFCC-A931-8B5D-FFD0-65471BF961CB}"/>
                </a:ext>
              </a:extLst>
            </p:cNvPr>
            <p:cNvCxnSpPr/>
            <p:nvPr/>
          </p:nvCxnSpPr>
          <p:spPr>
            <a:xfrm flipH="1">
              <a:off x="5105400" y="1905000"/>
              <a:ext cx="352424" cy="0"/>
            </a:xfrm>
            <a:prstGeom prst="line">
              <a:avLst/>
            </a:prstGeom>
            <a:ln w="25400">
              <a:solidFill>
                <a:srgbClr val="0E47A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B9E2841-C33F-87B7-5086-666571050BF8}"/>
                </a:ext>
              </a:extLst>
            </p:cNvPr>
            <p:cNvCxnSpPr/>
            <p:nvPr/>
          </p:nvCxnSpPr>
          <p:spPr>
            <a:xfrm flipH="1">
              <a:off x="5119688" y="1905000"/>
              <a:ext cx="0" cy="2514600"/>
            </a:xfrm>
            <a:prstGeom prst="line">
              <a:avLst/>
            </a:prstGeom>
            <a:ln w="25400">
              <a:solidFill>
                <a:srgbClr val="0E47A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0BBF13E-8BCE-E6E8-FE4A-4DCAA85F9E27}"/>
              </a:ext>
            </a:extLst>
          </p:cNvPr>
          <p:cNvSpPr/>
          <p:nvPr/>
        </p:nvSpPr>
        <p:spPr>
          <a:xfrm>
            <a:off x="8040811" y="2919822"/>
            <a:ext cx="2174084" cy="566736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4DA359-F3EC-CFF5-04EE-7C75F141A778}"/>
              </a:ext>
            </a:extLst>
          </p:cNvPr>
          <p:cNvSpPr/>
          <p:nvPr/>
        </p:nvSpPr>
        <p:spPr>
          <a:xfrm>
            <a:off x="8040811" y="3691348"/>
            <a:ext cx="2183607" cy="2699148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7AED96-FE09-1364-E102-F016D649A9B6}"/>
              </a:ext>
            </a:extLst>
          </p:cNvPr>
          <p:cNvSpPr/>
          <p:nvPr/>
        </p:nvSpPr>
        <p:spPr>
          <a:xfrm>
            <a:off x="10204182" y="2990068"/>
            <a:ext cx="1462087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Block B1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EA4408-8C6B-2811-44BE-63CE2787F4BA}"/>
              </a:ext>
            </a:extLst>
          </p:cNvPr>
          <p:cNvSpPr/>
          <p:nvPr/>
        </p:nvSpPr>
        <p:spPr>
          <a:xfrm>
            <a:off x="10224418" y="4798627"/>
            <a:ext cx="1462087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Block B2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C62AD1-8A98-8F09-A699-E4841669B91F}"/>
              </a:ext>
            </a:extLst>
          </p:cNvPr>
          <p:cNvSpPr/>
          <p:nvPr/>
        </p:nvSpPr>
        <p:spPr>
          <a:xfrm>
            <a:off x="8005089" y="3082938"/>
            <a:ext cx="2174084" cy="5667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   prod=0</a:t>
            </a:r>
          </a:p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   i=1</a:t>
            </a:r>
          </a:p>
          <a:p>
            <a:pPr algn="ctr"/>
            <a:endParaRPr lang="en-US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EF9FC2-659C-EE10-3D28-36F0A026CB0A}"/>
              </a:ext>
            </a:extLst>
          </p:cNvPr>
          <p:cNvCxnSpPr/>
          <p:nvPr/>
        </p:nvCxnSpPr>
        <p:spPr>
          <a:xfrm flipH="1">
            <a:off x="9031414" y="3499324"/>
            <a:ext cx="0" cy="192024"/>
          </a:xfrm>
          <a:prstGeom prst="straightConnector1">
            <a:avLst/>
          </a:prstGeom>
          <a:ln w="2222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EDD868-E580-69E2-01A6-D8EE7C855068}"/>
              </a:ext>
            </a:extLst>
          </p:cNvPr>
          <p:cNvCxnSpPr/>
          <p:nvPr/>
        </p:nvCxnSpPr>
        <p:spPr>
          <a:xfrm flipH="1">
            <a:off x="9007601" y="6375015"/>
            <a:ext cx="0" cy="192024"/>
          </a:xfrm>
          <a:prstGeom prst="straightConnector1">
            <a:avLst/>
          </a:prstGeom>
          <a:ln w="2222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06B45139-B07C-E0A1-3722-1ABD5C165920}"/>
              </a:ext>
            </a:extLst>
          </p:cNvPr>
          <p:cNvSpPr/>
          <p:nvPr/>
        </p:nvSpPr>
        <p:spPr>
          <a:xfrm>
            <a:off x="6854952" y="2919822"/>
            <a:ext cx="457200" cy="3470673"/>
          </a:xfrm>
          <a:prstGeom prst="leftBrac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EACDDD-625B-B639-22E1-27679DC41942}"/>
              </a:ext>
            </a:extLst>
          </p:cNvPr>
          <p:cNvSpPr/>
          <p:nvPr/>
        </p:nvSpPr>
        <p:spPr>
          <a:xfrm>
            <a:off x="5447629" y="4493827"/>
            <a:ext cx="1462087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Flow Graph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182F16-9E87-D4EE-0B86-5D569B67AA63}"/>
              </a:ext>
            </a:extLst>
          </p:cNvPr>
          <p:cNvSpPr/>
          <p:nvPr/>
        </p:nvSpPr>
        <p:spPr>
          <a:xfrm>
            <a:off x="8089107" y="3739495"/>
            <a:ext cx="2667000" cy="2862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   t1 := 4*</a:t>
            </a:r>
            <a:r>
              <a:rPr lang="en-U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i</a:t>
            </a:r>
            <a:endParaRPr lang="en-US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   t2 := a [t1]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   t3 := 4*</a:t>
            </a:r>
            <a:r>
              <a:rPr lang="en-U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i</a:t>
            </a:r>
            <a:endParaRPr lang="en-US" dirty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   t4 :=b [t3]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   t5 := t2*t4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   t6 := prod +t5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   prod := t6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   t7 := i+1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   </a:t>
            </a:r>
            <a:r>
              <a:rPr lang="en-U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 := t7</a:t>
            </a:r>
          </a:p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   if  </a:t>
            </a:r>
            <a:r>
              <a:rPr lang="en-U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&lt;=20 </a:t>
            </a:r>
            <a:r>
              <a:rPr lang="en-U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goto</a:t>
            </a: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 B2</a:t>
            </a:r>
          </a:p>
          <a:p>
            <a:endParaRPr lang="en-US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74F376-087B-11C1-76B0-C03E5CB6ABE1}"/>
              </a:ext>
            </a:extLst>
          </p:cNvPr>
          <p:cNvSpPr txBox="1"/>
          <p:nvPr/>
        </p:nvSpPr>
        <p:spPr>
          <a:xfrm>
            <a:off x="131180" y="2860439"/>
            <a:ext cx="563383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0099"/>
                </a:solidFill>
                <a:latin typeface="Palatino Linotype" panose="02040502050505030304" pitchFamily="18" charset="0"/>
              </a:rPr>
              <a:t>Construction of Flow Graph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Palatino Linotype" panose="02040502050505030304" pitchFamily="18" charset="0"/>
              </a:rPr>
              <a:t>Draw directed edge from block1 to block2 if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IN" sz="2000" dirty="0">
                <a:latin typeface="Palatino Linotype" panose="02040502050505030304" pitchFamily="18" charset="0"/>
              </a:rPr>
              <a:t>Conditional or unconditional jump from block1 to block2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IN" sz="2000" dirty="0">
                <a:latin typeface="Palatino Linotype" panose="02040502050505030304" pitchFamily="18" charset="0"/>
              </a:rPr>
              <a:t>Block2 immediately follows block1</a:t>
            </a:r>
          </a:p>
        </p:txBody>
      </p:sp>
    </p:spTree>
    <p:extLst>
      <p:ext uri="{BB962C8B-B14F-4D97-AF65-F5344CB8AC3E}">
        <p14:creationId xmlns:p14="http://schemas.microsoft.com/office/powerpoint/2010/main" val="307362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2" grpId="0"/>
      <p:bldP spid="15" grpId="0" animBg="1"/>
      <p:bldP spid="16" grpId="0"/>
      <p:bldP spid="17" grpId="0"/>
      <p:bldP spid="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90B1-BC35-0BCD-DB8F-949E7DF6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Example2: Partition into basic blocks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5B472F-EB03-0C7F-C706-932A8473EB61}"/>
              </a:ext>
            </a:extLst>
          </p:cNvPr>
          <p:cNvCxnSpPr/>
          <p:nvPr/>
        </p:nvCxnSpPr>
        <p:spPr>
          <a:xfrm>
            <a:off x="3704204" y="915526"/>
            <a:ext cx="6120" cy="548640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ED5384E-CEDC-20E9-958E-F76F4A70EBFC}"/>
              </a:ext>
            </a:extLst>
          </p:cNvPr>
          <p:cNvSpPr txBox="1"/>
          <p:nvPr/>
        </p:nvSpPr>
        <p:spPr>
          <a:xfrm>
            <a:off x="4555253" y="956231"/>
            <a:ext cx="2224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99"/>
                </a:solidFill>
                <a:latin typeface="Palatino Linotype" panose="02040502050505030304" pitchFamily="18" charset="0"/>
              </a:rPr>
              <a:t>Intermediate code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5A0934-6927-6205-50CD-EB20DF989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59" y="1325563"/>
            <a:ext cx="3509963" cy="519957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0C8465-475D-9442-D444-D04AD8A7C308}"/>
              </a:ext>
            </a:extLst>
          </p:cNvPr>
          <p:cNvCxnSpPr/>
          <p:nvPr/>
        </p:nvCxnSpPr>
        <p:spPr>
          <a:xfrm>
            <a:off x="7498958" y="915526"/>
            <a:ext cx="6120" cy="548640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8029B4-0665-E965-FEEA-C306F44708FE}"/>
              </a:ext>
            </a:extLst>
          </p:cNvPr>
          <p:cNvSpPr txBox="1"/>
          <p:nvPr/>
        </p:nvSpPr>
        <p:spPr>
          <a:xfrm>
            <a:off x="8343887" y="1079289"/>
            <a:ext cx="2224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000099"/>
                </a:solidFill>
                <a:latin typeface="Palatino Linotype" panose="02040502050505030304" pitchFamily="18" charset="0"/>
              </a:rPr>
              <a:t>Flow Graph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91C895-0379-02F0-2DAB-80E071A90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218" y="1604226"/>
            <a:ext cx="3222555" cy="492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90B1-BC35-0BCD-DB8F-949E7DF6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Example3: Partition into basic blocks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D6EF5BD-98D3-72CA-D588-73E0A45E8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53" y="966245"/>
            <a:ext cx="4805727" cy="2585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Construct the Basic Blocks for the following statements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 = 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Bookman Old Style" panose="02050604050505020204" pitchFamily="18" charset="0"/>
              </a:rPr>
              <a:t>While (I &lt; 10)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Bookman Old Style" panose="02050604050505020204" pitchFamily="18" charset="0"/>
              </a:rPr>
              <a:t>	a = b[</a:t>
            </a:r>
            <a:r>
              <a:rPr lang="en-US" altLang="en-US" dirty="0" err="1">
                <a:latin typeface="Bookman Old Style" panose="02050604050505020204" pitchFamily="18" charset="0"/>
              </a:rPr>
              <a:t>i</a:t>
            </a:r>
            <a:r>
              <a:rPr lang="en-US" altLang="en-US" dirty="0">
                <a:latin typeface="Bookman Old Style" panose="02050604050505020204" pitchFamily="18" charset="0"/>
              </a:rPr>
              <a:t>] + c;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++;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Bookman Old Style" panose="02050604050505020204" pitchFamily="18" charset="0"/>
              </a:rPr>
              <a:t>}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Bookman Old Style" panose="02050604050505020204" pitchFamily="18" charset="0"/>
              </a:rPr>
              <a:t>Result = a + c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627EA50-C629-22AC-64B3-C276741AA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156584"/>
            <a:ext cx="5146063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 = 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WSTART:	if (I &lt; 10) then goto TRUE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oto EXIT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TRUE:		T1 = 4*j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</a:t>
            </a:r>
            <a:r>
              <a:rPr lang="en-US" altLang="en-US" b="1" dirty="0">
                <a:latin typeface="Bookman Old Style" panose="02050604050505020204" pitchFamily="18" charset="0"/>
              </a:rPr>
              <a:t>2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= b[</a:t>
            </a:r>
            <a:r>
              <a:rPr lang="en-US" altLang="en-US" b="1" dirty="0">
                <a:latin typeface="Bookman Old Style" panose="02050604050505020204" pitchFamily="18" charset="0"/>
              </a:rPr>
              <a:t>T1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T3 = T2 + c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= T3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T4 = I + 1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I = T4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goto WSTART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EXIT:		T5 = a + c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Result = T4</a:t>
            </a:r>
          </a:p>
        </p:txBody>
      </p:sp>
    </p:spTree>
    <p:extLst>
      <p:ext uri="{BB962C8B-B14F-4D97-AF65-F5344CB8AC3E}">
        <p14:creationId xmlns:p14="http://schemas.microsoft.com/office/powerpoint/2010/main" val="83040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90B1-BC35-0BCD-DB8F-949E7DF6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Example3: Partition into basic blocks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90AF999-1D5B-35DC-2307-90573D492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770" y="1187064"/>
            <a:ext cx="5146063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 = 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WSTART:	if (I &lt; 10) then goto TRUE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oto EXIT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TRUE:		T1 = 4*j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</a:t>
            </a:r>
            <a:r>
              <a:rPr lang="en-US" altLang="en-US" b="1" dirty="0">
                <a:latin typeface="Bookman Old Style" panose="02050604050505020204" pitchFamily="18" charset="0"/>
              </a:rPr>
              <a:t>2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= b[</a:t>
            </a:r>
            <a:r>
              <a:rPr lang="en-US" altLang="en-US" b="1" dirty="0">
                <a:latin typeface="Bookman Old Style" panose="02050604050505020204" pitchFamily="18" charset="0"/>
              </a:rPr>
              <a:t>T1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T3 = T2 + c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= T3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T4 = I + 1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I = T4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goto WSTART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EXIT:		T5 = a + c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Result = T4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84FCC-5D23-7ACE-F39A-9A7C8E638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937" y="1328860"/>
            <a:ext cx="5146063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L1:		I = 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L2:		if (I &lt; 10) then goto TRUE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L3:		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oto EXIT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L4: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T1 = 4*</a:t>
            </a:r>
            <a:r>
              <a:rPr lang="en-US" altLang="en-US" b="1" dirty="0">
                <a:latin typeface="Bookman Old Style" panose="02050604050505020204" pitchFamily="18" charset="0"/>
              </a:rPr>
              <a:t>j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T2 = b[</a:t>
            </a:r>
            <a:r>
              <a:rPr lang="en-US" altLang="en-US" b="1" dirty="0">
                <a:latin typeface="Bookman Old Style" panose="02050604050505020204" pitchFamily="18" charset="0"/>
              </a:rPr>
              <a:t>T1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T3 = T2 + c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= T3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T4 = I + 1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I = T4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goto WSTART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Bookman Old Style" panose="0205060405050502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L5:		T5 = a + c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Result = T5</a:t>
            </a:r>
          </a:p>
        </p:txBody>
      </p:sp>
    </p:spTree>
    <p:extLst>
      <p:ext uri="{BB962C8B-B14F-4D97-AF65-F5344CB8AC3E}">
        <p14:creationId xmlns:p14="http://schemas.microsoft.com/office/powerpoint/2010/main" val="309563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90B1-BC35-0BCD-DB8F-949E7DF6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Example3: Partition into basic blocks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2794AF0-9927-D49F-39D3-C026E5556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897" y="1222586"/>
            <a:ext cx="5146063" cy="4247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L1:		I = 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L2:		if (I &lt; 10) then goto TRUE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L3:		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oto EXIT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L4: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T1 = b[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T2 = T1 + c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= T2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T3 = I + 1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I = T3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		goto WSTART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Bookman Old Style" panose="0205060405050502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Bookman Old Style" panose="02050604050505020204" pitchFamily="18" charset="0"/>
              </a:rPr>
              <a:t>L5:		T4 = a + c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		Result = T4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2EA53-5184-383F-E61E-DBAD33964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022" y="1507480"/>
            <a:ext cx="4267796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024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B428-5290-9275-F11F-BBE303BDA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3473"/>
            <a:ext cx="9144000" cy="2387600"/>
          </a:xfrm>
        </p:spPr>
        <p:txBody>
          <a:bodyPr/>
          <a:lstStyle/>
          <a:p>
            <a:r>
              <a:rPr lang="en-US" dirty="0"/>
              <a:t>Transformation on Basic Blocks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65FAA-758E-5283-8D73-BCDC1B0C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7445"/>
            <a:ext cx="9144000" cy="165576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32092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9B60-ECC6-DDD6-462F-EDD7DB67138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Transformation on Basic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C7C36-0137-76EB-5310-A3EE537173A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number of transformations can be applied to a basic block without changing the set of expressions computed by the block.</a:t>
            </a:r>
          </a:p>
          <a:p>
            <a:r>
              <a:rPr lang="en-US" dirty="0"/>
              <a:t>Many of these </a:t>
            </a:r>
            <a:r>
              <a:rPr lang="en-US" dirty="0">
                <a:solidFill>
                  <a:srgbClr val="C00000"/>
                </a:solidFill>
              </a:rPr>
              <a:t>transformations</a:t>
            </a:r>
            <a:r>
              <a:rPr lang="en-US" dirty="0"/>
              <a:t> are useful for </a:t>
            </a:r>
            <a:r>
              <a:rPr lang="en-US" dirty="0">
                <a:solidFill>
                  <a:srgbClr val="C00000"/>
                </a:solidFill>
              </a:rPr>
              <a:t>improving the quality of the code.</a:t>
            </a:r>
          </a:p>
          <a:p>
            <a:r>
              <a:rPr lang="en-US" dirty="0"/>
              <a:t>Types of transformations are:</a:t>
            </a:r>
          </a:p>
          <a:p>
            <a:pPr marL="1371600" lvl="1" indent="-514350">
              <a:buFont typeface="+mj-lt"/>
              <a:buAutoNum type="romanUcPeriod"/>
            </a:pPr>
            <a:r>
              <a:rPr lang="en-US" dirty="0">
                <a:solidFill>
                  <a:srgbClr val="0E47A1"/>
                </a:solidFill>
              </a:rPr>
              <a:t>Structure preserving transformation</a:t>
            </a:r>
          </a:p>
          <a:p>
            <a:pPr marL="1314450" lvl="1" indent="-457200">
              <a:buFont typeface="+mj-lt"/>
              <a:buAutoNum type="romanUcPeriod"/>
            </a:pPr>
            <a:r>
              <a:rPr lang="en-US" dirty="0">
                <a:solidFill>
                  <a:srgbClr val="0E47A1"/>
                </a:solidFill>
              </a:rPr>
              <a:t>Algebraic transformation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4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C65D-EEA8-F3EE-B23D-15341BD3CD8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I. Structure Preserving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6CA56-398E-5AD9-8137-72F473DA6E21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Structure-preserving transformations on basic blocks are: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Common sub-expression elimination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Dead-code elimination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Renaming of temporary variables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Interchange of two independent adjacent statements</a:t>
            </a:r>
          </a:p>
          <a:p>
            <a:endParaRPr lang="en-US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09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B10F8-EC5D-6D11-ACBC-C8D4198D62B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1. Common sub-expression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7B034-A7A9-FF71-BB99-43C50AD3EE8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Consider the basic block,</a:t>
            </a:r>
          </a:p>
          <a:p>
            <a:pPr marL="0" indent="742950">
              <a:buFont typeface="Arial" panose="020B0604020202020204" pitchFamily="34" charset="0"/>
              <a:buNone/>
            </a:pPr>
            <a:r>
              <a:rPr lang="en-US" dirty="0"/>
              <a:t>      a:= </a:t>
            </a:r>
            <a:r>
              <a:rPr lang="en-US" dirty="0" err="1"/>
              <a:t>b+c</a:t>
            </a:r>
            <a:endParaRPr lang="en-US" dirty="0"/>
          </a:p>
          <a:p>
            <a:pPr marL="0" indent="742950">
              <a:buFont typeface="Arial" panose="020B0604020202020204" pitchFamily="34" charset="0"/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0E47A1"/>
                </a:solidFill>
              </a:rPr>
              <a:t>b:= a-d</a:t>
            </a:r>
          </a:p>
          <a:p>
            <a:pPr marL="0" indent="742950">
              <a:buFont typeface="Arial" panose="020B0604020202020204" pitchFamily="34" charset="0"/>
              <a:buNone/>
            </a:pPr>
            <a:r>
              <a:rPr lang="en-US" dirty="0"/>
              <a:t>      c:= </a:t>
            </a:r>
            <a:r>
              <a:rPr lang="en-US" dirty="0" err="1"/>
              <a:t>b+c</a:t>
            </a:r>
            <a:endParaRPr lang="en-US" dirty="0"/>
          </a:p>
          <a:p>
            <a:pPr marL="0" indent="74295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      </a:t>
            </a:r>
            <a:r>
              <a:rPr lang="en-US" dirty="0">
                <a:solidFill>
                  <a:srgbClr val="0E47A1"/>
                </a:solidFill>
              </a:rPr>
              <a:t>d:= a-d</a:t>
            </a:r>
          </a:p>
          <a:p>
            <a:r>
              <a:rPr lang="en-US" dirty="0"/>
              <a:t>The second and fourth statements compute the same expression, hence this basic block may be transformed into the equivalent block:</a:t>
            </a:r>
          </a:p>
          <a:p>
            <a:pPr marL="0" indent="685800">
              <a:buFont typeface="Arial" panose="020B0604020202020204" pitchFamily="34" charset="0"/>
              <a:buNone/>
            </a:pPr>
            <a:r>
              <a:rPr lang="en-US" dirty="0"/>
              <a:t>       a:= </a:t>
            </a:r>
            <a:r>
              <a:rPr lang="en-US" dirty="0" err="1"/>
              <a:t>b+c</a:t>
            </a:r>
            <a:endParaRPr lang="en-US" dirty="0"/>
          </a:p>
          <a:p>
            <a:pPr marL="0" indent="685800">
              <a:buFont typeface="Arial" panose="020B0604020202020204" pitchFamily="34" charset="0"/>
              <a:buNone/>
            </a:pPr>
            <a:r>
              <a:rPr lang="en-US" dirty="0"/>
              <a:t>       b:= a-d</a:t>
            </a:r>
          </a:p>
          <a:p>
            <a:pPr marL="0" indent="685800">
              <a:buFont typeface="Arial" panose="020B0604020202020204" pitchFamily="34" charset="0"/>
              <a:buNone/>
            </a:pPr>
            <a:r>
              <a:rPr lang="en-US" dirty="0"/>
              <a:t>       c:= </a:t>
            </a:r>
            <a:r>
              <a:rPr lang="en-US" dirty="0" err="1"/>
              <a:t>b+c</a:t>
            </a:r>
            <a:endParaRPr lang="en-US" dirty="0"/>
          </a:p>
          <a:p>
            <a:pPr marL="0" indent="685800">
              <a:buFont typeface="Arial" panose="020B0604020202020204" pitchFamily="34" charset="0"/>
              <a:buNone/>
            </a:pPr>
            <a:r>
              <a:rPr lang="en-US" dirty="0"/>
              <a:t>       </a:t>
            </a:r>
            <a:r>
              <a:rPr lang="en-US" dirty="0">
                <a:solidFill>
                  <a:srgbClr val="0E47A1"/>
                </a:solidFill>
              </a:rPr>
              <a:t>d:= 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83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BDFF-6CA3-85D9-D834-910A91A4636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2. Dead-code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E4C43-227F-3C6C-0D36-F580DAA45D7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dirty="0"/>
              <a:t>It is possible that a program contains a large amount of dead code.</a:t>
            </a:r>
          </a:p>
          <a:p>
            <a:r>
              <a:rPr lang="en-US" sz="2300" dirty="0"/>
              <a:t>This can be caused when once declared and defined once and forget to remove them in this case they serve no purpose.</a:t>
            </a:r>
          </a:p>
          <a:p>
            <a:r>
              <a:rPr lang="en-US" sz="2300" dirty="0"/>
              <a:t>Suppose the statement x:= y + z appears in a block and x is dead symbol that means it will never subsequently used. Then without changing the value of the basic block you can safely remove this statement.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76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1DB7-BE79-7494-3B8D-C6DF6EBFEC0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3. Renaming of temporary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85794-9D62-939D-C60A-04431F069830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Suppose we have a statement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t:=b+c</a:t>
            </a:r>
            <a:r>
              <a:rPr lang="en-US" dirty="0"/>
              <a:t>, where </a:t>
            </a:r>
            <a:r>
              <a:rPr lang="en-US" dirty="0">
                <a:solidFill>
                  <a:srgbClr val="0E47A1"/>
                </a:solidFill>
              </a:rPr>
              <a:t>t is a temporary </a:t>
            </a:r>
            <a:r>
              <a:rPr lang="en-US" dirty="0"/>
              <a:t>variable. </a:t>
            </a:r>
          </a:p>
          <a:p>
            <a:r>
              <a:rPr lang="en-US" dirty="0"/>
              <a:t>If we change this statement to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u:= </a:t>
            </a:r>
            <a:r>
              <a:rPr lang="en-US" dirty="0" err="1">
                <a:solidFill>
                  <a:srgbClr val="C00000"/>
                </a:solidFill>
              </a:rPr>
              <a:t>b+c</a:t>
            </a:r>
            <a:r>
              <a:rPr lang="en-US" dirty="0"/>
              <a:t>, where </a:t>
            </a:r>
            <a:r>
              <a:rPr lang="en-US" dirty="0">
                <a:solidFill>
                  <a:srgbClr val="0E47A1"/>
                </a:solidFill>
              </a:rPr>
              <a:t>u is a new temporary </a:t>
            </a:r>
            <a:r>
              <a:rPr lang="en-US" dirty="0"/>
              <a:t>variable, </a:t>
            </a:r>
          </a:p>
          <a:p>
            <a:r>
              <a:rPr lang="en-US" dirty="0"/>
              <a:t>Change all uses of this instance of </a:t>
            </a:r>
            <a:r>
              <a:rPr lang="en-US" dirty="0">
                <a:solidFill>
                  <a:srgbClr val="C00000"/>
                </a:solidFill>
              </a:rPr>
              <a:t>t to u</a:t>
            </a:r>
            <a:r>
              <a:rPr lang="en-US" dirty="0"/>
              <a:t>, then the value of the basic block is not changed. </a:t>
            </a:r>
          </a:p>
          <a:p>
            <a:r>
              <a:rPr lang="en-US" dirty="0"/>
              <a:t>In fact, we can always transform a basic block into an equivalent block in which each statement defines a new temporary. </a:t>
            </a:r>
          </a:p>
          <a:p>
            <a:r>
              <a:rPr lang="en-US" dirty="0"/>
              <a:t>We call such a basic block a </a:t>
            </a:r>
            <a:r>
              <a:rPr lang="en-US" i="1" dirty="0"/>
              <a:t>normal-form</a:t>
            </a:r>
            <a:r>
              <a:rPr lang="en-US" dirty="0"/>
              <a:t> block.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70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2DF8C-9A0D-3C8B-E1C2-2AF216A5A9F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 dirty="0"/>
              <a:t>4. Interchange of two independent adjacent statements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C2C799-C080-DE25-FC6A-06913363CB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Suppose we have a block with the two adjacent statements,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	</a:t>
                </a:r>
                <a:r>
                  <a:rPr lang="en-US">
                    <a:solidFill>
                      <a:srgbClr val="0E47A1"/>
                    </a:solidFill>
                  </a:rPr>
                  <a:t>t1:= b+c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>
                    <a:solidFill>
                      <a:srgbClr val="0E47A1"/>
                    </a:solidFill>
                  </a:rPr>
                  <a:t>	t2:= x+y</a:t>
                </a:r>
              </a:p>
              <a:p>
                <a:r>
                  <a:rPr lang="en-US"/>
                  <a:t>Then we can interchange the two statements without affecting the value of the block if and only if neither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nor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and neither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nor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/>
                  <a:t>. </a:t>
                </a:r>
              </a:p>
              <a:p>
                <a:r>
                  <a:rPr lang="en-US"/>
                  <a:t>A normal-form basic block permits all statement interchanges that are possible.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C2C799-C080-DE25-FC6A-06913363C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2072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08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0140F-5234-B705-52D8-195C751E0C3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II. Algebraic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9BDB2-A33A-CC11-77FD-075852A1EE7E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Countless algebraic transformation can be used to change the set of expressions computed by the basic block into an algebraically equivalent set. </a:t>
            </a:r>
          </a:p>
          <a:p>
            <a:r>
              <a:rPr lang="en-US"/>
              <a:t>The useful ones are those that </a:t>
            </a:r>
            <a:r>
              <a:rPr lang="en-US">
                <a:solidFill>
                  <a:srgbClr val="C00000"/>
                </a:solidFill>
              </a:rPr>
              <a:t>simplify expressions or replace expensive operations by cheaper one</a:t>
            </a:r>
            <a:r>
              <a:rPr lang="en-US"/>
              <a:t>.</a:t>
            </a:r>
          </a:p>
          <a:p>
            <a:r>
              <a:rPr lang="en-US"/>
              <a:t>Example: </a:t>
            </a:r>
            <a:r>
              <a:rPr lang="en-US">
                <a:solidFill>
                  <a:srgbClr val="C00000"/>
                </a:solidFill>
              </a:rPr>
              <a:t>x=x+0 or x=x*1 </a:t>
            </a:r>
            <a:r>
              <a:rPr lang="en-US"/>
              <a:t>can be eliminated.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8A72E-51AC-7052-1B19-CE57D8301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241" y="3464560"/>
            <a:ext cx="2524477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6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1592-3A49-99F2-2E7F-32A37331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Peephole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2C6C6-AEAC-EAF1-9CF9-C52499587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5068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04E3-6CE5-564F-5CE5-DF42694734A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Peephole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1AC25-FF35-463E-B72D-3B84BA112CFB}"/>
              </a:ext>
            </a:extLst>
          </p:cNvPr>
          <p:cNvSpPr txBox="1">
            <a:spLocks/>
          </p:cNvSpPr>
          <p:nvPr/>
        </p:nvSpPr>
        <p:spPr>
          <a:xfrm>
            <a:off x="442686" y="1139371"/>
            <a:ext cx="11299371" cy="5314638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200" dirty="0"/>
              <a:t>Peephole optimization is a simple and effective technique </a:t>
            </a:r>
            <a:r>
              <a:rPr lang="en-US" sz="3200" dirty="0">
                <a:solidFill>
                  <a:srgbClr val="FF0000"/>
                </a:solidFill>
              </a:rPr>
              <a:t>for locally improving target code. </a:t>
            </a:r>
          </a:p>
          <a:p>
            <a:pPr>
              <a:lnSpc>
                <a:spcPct val="100000"/>
              </a:lnSpc>
            </a:pPr>
            <a:endParaRPr lang="en-US" sz="32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rgbClr val="000099"/>
                </a:solidFill>
              </a:rPr>
              <a:t>Replaces short sequences of target instructions (PEEPHOLE) by a shorter or faster sequence.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It is applied to improve the performance of the target program</a:t>
            </a:r>
          </a:p>
          <a:p>
            <a:pPr lvl="1">
              <a:lnSpc>
                <a:spcPct val="100000"/>
              </a:lnSpc>
            </a:pP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/>
              <a:t>Peephole is a </a:t>
            </a:r>
            <a:r>
              <a:rPr lang="en-US" sz="3200" dirty="0">
                <a:solidFill>
                  <a:srgbClr val="FF0000"/>
                </a:solidFill>
              </a:rPr>
              <a:t>small, moving window </a:t>
            </a:r>
            <a:r>
              <a:rPr lang="en-US" sz="3200" dirty="0"/>
              <a:t>on the target program.</a:t>
            </a:r>
          </a:p>
          <a:p>
            <a:pPr marL="457200" indent="0">
              <a:buFont typeface="Arial" panose="020B0604020202020204" pitchFamily="34" charset="0"/>
              <a:buNone/>
            </a:pP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7019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783D-ADA1-7484-EAF7-C38E339D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Techniques of peephole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05BB1-3C4E-E40A-9FE5-BADA4A13F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Redundant Loads &amp; Stores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Unreachable code elimination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Flow of Control Optimization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Algebraic simplification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Use of Machine idioms</a:t>
            </a:r>
          </a:p>
        </p:txBody>
      </p:sp>
    </p:spTree>
    <p:extLst>
      <p:ext uri="{BB962C8B-B14F-4D97-AF65-F5344CB8AC3E}">
        <p14:creationId xmlns:p14="http://schemas.microsoft.com/office/powerpoint/2010/main" val="3530051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1B8F-879D-7D45-9A4E-A1F8F18CACF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Redundant Loads &amp; Stores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CAA0F-688F-D502-2D9A-8590F721A4BE}"/>
              </a:ext>
            </a:extLst>
          </p:cNvPr>
          <p:cNvSpPr txBox="1">
            <a:spLocks/>
          </p:cNvSpPr>
          <p:nvPr/>
        </p:nvSpPr>
        <p:spPr>
          <a:xfrm>
            <a:off x="384629" y="863444"/>
            <a:ext cx="11219542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Especially the </a:t>
            </a:r>
            <a:r>
              <a:rPr lang="en-US" dirty="0">
                <a:solidFill>
                  <a:srgbClr val="000099"/>
                </a:solidFill>
              </a:rPr>
              <a:t>redundant loads and stores can be eliminated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following type of transformations.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/>
              <a:t>	MOV R</a:t>
            </a:r>
            <a:r>
              <a:rPr lang="en-US" baseline="-25000" dirty="0"/>
              <a:t>0</a:t>
            </a:r>
            <a:r>
              <a:rPr lang="en-US" dirty="0"/>
              <a:t>,x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MOV x,R</a:t>
            </a:r>
            <a:r>
              <a:rPr lang="en-US" baseline="-25000" dirty="0">
                <a:solidFill>
                  <a:srgbClr val="C00000"/>
                </a:solidFill>
              </a:rPr>
              <a:t>0</a:t>
            </a:r>
          </a:p>
          <a:p>
            <a:pPr>
              <a:lnSpc>
                <a:spcPct val="100000"/>
              </a:lnSpc>
            </a:pPr>
            <a:r>
              <a:rPr lang="en-US" dirty="0"/>
              <a:t>We can eliminate the second instruction since x is in already R</a:t>
            </a:r>
            <a:r>
              <a:rPr lang="en-US" baseline="-25000" dirty="0"/>
              <a:t>0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80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5FEE-8198-FAC3-3D6B-00F93C5F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Unreachable code elimination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7FDA46-87F9-A4DA-C20D-B9B76F2AA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50000"/>
          </a:blip>
          <a:srcRect t="13972" r="54683" b="51447"/>
          <a:stretch/>
        </p:blipFill>
        <p:spPr>
          <a:xfrm>
            <a:off x="101787" y="2518002"/>
            <a:ext cx="4104189" cy="2445883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B9FAC2D-5B41-7335-AE75-E5C456C574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</a:blip>
          <a:srcRect t="48032" r="4071"/>
          <a:stretch/>
        </p:blipFill>
        <p:spPr>
          <a:xfrm>
            <a:off x="3831958" y="2518002"/>
            <a:ext cx="7016417" cy="29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4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9637-DEB4-08F9-14D8-46B64E2E6F0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3. Flow of Control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D56D4-BBED-B6BA-8994-1FEEA659D76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unnecessary jumps can be eliminated in either the intermediate code or the target code by the following types of peephole optimizations.</a:t>
            </a:r>
          </a:p>
          <a:p>
            <a:r>
              <a:rPr lang="en-US" dirty="0"/>
              <a:t>We can replace the jump sequence.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may be possible to eliminate the statement </a:t>
            </a:r>
            <a:r>
              <a:rPr lang="en-US" dirty="0">
                <a:solidFill>
                  <a:srgbClr val="C00000"/>
                </a:solidFill>
              </a:rPr>
              <a:t>L1: </a:t>
            </a:r>
            <a:r>
              <a:rPr lang="en-US" dirty="0" err="1">
                <a:solidFill>
                  <a:srgbClr val="C00000"/>
                </a:solidFill>
              </a:rPr>
              <a:t>goto</a:t>
            </a:r>
            <a:r>
              <a:rPr lang="en-US" dirty="0">
                <a:solidFill>
                  <a:srgbClr val="C00000"/>
                </a:solidFill>
              </a:rPr>
              <a:t> L2 </a:t>
            </a:r>
            <a:r>
              <a:rPr lang="en-US" dirty="0"/>
              <a:t>provided it is preceded by an unconditional jump. Similarly, the sequence can be replaced by: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CE8883-3839-1B41-5678-C0C9D1B09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067593"/>
              </p:ext>
            </p:extLst>
          </p:nvPr>
        </p:nvGraphicFramePr>
        <p:xfrm>
          <a:off x="2849880" y="2550730"/>
          <a:ext cx="6248402" cy="1097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7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n-US" sz="2200" b="0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400" b="0" i="1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Goto L1</a:t>
                      </a:r>
                      <a:endParaRPr lang="en-US" sz="2400" b="0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1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	……</a:t>
                      </a:r>
                      <a:endParaRPr lang="en-US" sz="2400" b="0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1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L1: </a:t>
                      </a:r>
                      <a:r>
                        <a:rPr lang="en-US" sz="2400" b="0" i="1" dirty="0" err="1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goto</a:t>
                      </a:r>
                      <a:r>
                        <a:rPr lang="en-US" sz="2400" b="0" i="1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 L2</a:t>
                      </a:r>
                      <a:endParaRPr lang="en-US" sz="2400" b="0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0" dirty="0">
                          <a:solidFill>
                            <a:srgbClr val="000099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US" sz="2200" b="0" dirty="0">
                        <a:solidFill>
                          <a:srgbClr val="000099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i="1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1" dirty="0">
                          <a:solidFill>
                            <a:srgbClr val="000099"/>
                          </a:solidFill>
                          <a:latin typeface="Palatino Linotype" panose="02040502050505030304" pitchFamily="18" charset="0"/>
                        </a:rPr>
                        <a:t>Goto L2</a:t>
                      </a:r>
                      <a:endParaRPr lang="en-US" sz="2400" b="0" dirty="0">
                        <a:solidFill>
                          <a:srgbClr val="000099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6A196905-18DB-ABB0-52D0-8FD66132E82F}"/>
              </a:ext>
            </a:extLst>
          </p:cNvPr>
          <p:cNvSpPr/>
          <p:nvPr/>
        </p:nvSpPr>
        <p:spPr>
          <a:xfrm>
            <a:off x="4914777" y="3010596"/>
            <a:ext cx="609600" cy="177547"/>
          </a:xfrm>
          <a:prstGeom prst="righ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E47A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2EB53F-8FFA-90B0-06C8-52CAE1368178}"/>
              </a:ext>
            </a:extLst>
          </p:cNvPr>
          <p:cNvSpPr/>
          <p:nvPr/>
        </p:nvSpPr>
        <p:spPr>
          <a:xfrm>
            <a:off x="5953127" y="2337369"/>
            <a:ext cx="2880608" cy="15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E47A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1E315C-2A58-733F-6AD9-B78BDD3BF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283841"/>
              </p:ext>
            </p:extLst>
          </p:nvPr>
        </p:nvGraphicFramePr>
        <p:xfrm>
          <a:off x="2782389" y="5250049"/>
          <a:ext cx="6248402" cy="1097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7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1545">
                <a:tc>
                  <a:txBody>
                    <a:bodyPr/>
                    <a:lstStyle/>
                    <a:p>
                      <a:r>
                        <a:rPr lang="en-US" sz="2200" b="0" dirty="0">
                          <a:solidFill>
                            <a:srgbClr val="0E47A1"/>
                          </a:solidFill>
                          <a:latin typeface="Palatino Linotype" panose="02040502050505030304" pitchFamily="18" charset="0"/>
                        </a:rPr>
                        <a:t> </a:t>
                      </a:r>
                      <a:r>
                        <a:rPr lang="en-US" sz="2400" b="0" i="1" dirty="0">
                          <a:solidFill>
                            <a:srgbClr val="0E47A1"/>
                          </a:solidFill>
                          <a:latin typeface="Palatino Linotype" panose="02040502050505030304" pitchFamily="18" charset="0"/>
                        </a:rPr>
                        <a:t>If a&lt;b </a:t>
                      </a:r>
                      <a:r>
                        <a:rPr lang="en-US" sz="2400" b="0" i="1" dirty="0" err="1">
                          <a:solidFill>
                            <a:srgbClr val="0E47A1"/>
                          </a:solidFill>
                          <a:latin typeface="Palatino Linotype" panose="02040502050505030304" pitchFamily="18" charset="0"/>
                        </a:rPr>
                        <a:t>goto</a:t>
                      </a:r>
                      <a:r>
                        <a:rPr lang="en-US" sz="2400" b="0" i="1" dirty="0">
                          <a:solidFill>
                            <a:srgbClr val="0E47A1"/>
                          </a:solidFill>
                          <a:latin typeface="Palatino Linotype" panose="02040502050505030304" pitchFamily="18" charset="0"/>
                        </a:rPr>
                        <a:t> L1</a:t>
                      </a:r>
                      <a:endParaRPr lang="en-US" sz="2400" b="0" dirty="0">
                        <a:solidFill>
                          <a:srgbClr val="0E47A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1" dirty="0">
                          <a:solidFill>
                            <a:srgbClr val="0E47A1"/>
                          </a:solidFill>
                          <a:latin typeface="Palatino Linotype" panose="02040502050505030304" pitchFamily="18" charset="0"/>
                        </a:rPr>
                        <a:t>	……</a:t>
                      </a:r>
                      <a:endParaRPr lang="en-US" sz="2400" b="0" dirty="0">
                        <a:solidFill>
                          <a:srgbClr val="0E47A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1" dirty="0">
                          <a:solidFill>
                            <a:srgbClr val="0E47A1"/>
                          </a:solidFill>
                          <a:latin typeface="Palatino Linotype" panose="02040502050505030304" pitchFamily="18" charset="0"/>
                        </a:rPr>
                        <a:t>L1: </a:t>
                      </a:r>
                      <a:r>
                        <a:rPr lang="en-US" sz="2400" b="0" i="1" dirty="0" err="1">
                          <a:solidFill>
                            <a:srgbClr val="0E47A1"/>
                          </a:solidFill>
                          <a:latin typeface="Palatino Linotype" panose="02040502050505030304" pitchFamily="18" charset="0"/>
                        </a:rPr>
                        <a:t>goto</a:t>
                      </a:r>
                      <a:r>
                        <a:rPr lang="en-US" sz="2400" b="0" i="1" dirty="0">
                          <a:solidFill>
                            <a:srgbClr val="0E47A1"/>
                          </a:solidFill>
                          <a:latin typeface="Palatino Linotype" panose="02040502050505030304" pitchFamily="18" charset="0"/>
                        </a:rPr>
                        <a:t> L2</a:t>
                      </a:r>
                      <a:endParaRPr lang="en-US" sz="2400" b="0" dirty="0">
                        <a:solidFill>
                          <a:srgbClr val="0E47A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b="0">
                          <a:solidFill>
                            <a:srgbClr val="0E47A1"/>
                          </a:solidFill>
                          <a:effectLst/>
                          <a:latin typeface="Palatino Linotype" panose="02040502050505030304" pitchFamily="18" charset="0"/>
                        </a:rPr>
                        <a:t> </a:t>
                      </a:r>
                      <a:endParaRPr lang="en-US" sz="2200" b="0">
                        <a:solidFill>
                          <a:srgbClr val="0E47A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0" i="1" dirty="0">
                        <a:solidFill>
                          <a:srgbClr val="0E47A1"/>
                        </a:solidFill>
                        <a:latin typeface="Palatino Linotype" panose="02040502050505030304" pitchFamily="18" charset="0"/>
                      </a:endParaRPr>
                    </a:p>
                    <a:p>
                      <a:r>
                        <a:rPr lang="en-US" sz="2400" b="0" i="1" dirty="0">
                          <a:solidFill>
                            <a:srgbClr val="0E47A1"/>
                          </a:solidFill>
                          <a:latin typeface="Palatino Linotype" panose="02040502050505030304" pitchFamily="18" charset="0"/>
                        </a:rPr>
                        <a:t>If a&lt;b </a:t>
                      </a:r>
                      <a:r>
                        <a:rPr lang="en-US" sz="2400" b="0" i="1" dirty="0" err="1">
                          <a:solidFill>
                            <a:srgbClr val="0E47A1"/>
                          </a:solidFill>
                          <a:latin typeface="Palatino Linotype" panose="02040502050505030304" pitchFamily="18" charset="0"/>
                        </a:rPr>
                        <a:t>goto</a:t>
                      </a:r>
                      <a:r>
                        <a:rPr lang="en-US" sz="2400" b="0" i="1" dirty="0">
                          <a:solidFill>
                            <a:srgbClr val="0E47A1"/>
                          </a:solidFill>
                          <a:latin typeface="Palatino Linotype" panose="02040502050505030304" pitchFamily="18" charset="0"/>
                        </a:rPr>
                        <a:t> L2</a:t>
                      </a:r>
                      <a:endParaRPr lang="en-US" sz="2400" b="0" dirty="0">
                        <a:solidFill>
                          <a:srgbClr val="0E47A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ight Arrow 7">
            <a:extLst>
              <a:ext uri="{FF2B5EF4-FFF2-40B4-BE49-F238E27FC236}">
                <a16:creationId xmlns:a16="http://schemas.microsoft.com/office/drawing/2014/main" id="{CD123A58-FADD-140A-CDA3-36B1DBE3D1E2}"/>
              </a:ext>
            </a:extLst>
          </p:cNvPr>
          <p:cNvSpPr/>
          <p:nvPr/>
        </p:nvSpPr>
        <p:spPr>
          <a:xfrm>
            <a:off x="4870269" y="5714488"/>
            <a:ext cx="609600" cy="177547"/>
          </a:xfrm>
          <a:prstGeom prst="righ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632728-D1D6-E6DE-EEAD-29AA9D1C3DC4}"/>
              </a:ext>
            </a:extLst>
          </p:cNvPr>
          <p:cNvSpPr/>
          <p:nvPr/>
        </p:nvSpPr>
        <p:spPr>
          <a:xfrm>
            <a:off x="5920879" y="4823329"/>
            <a:ext cx="2095500" cy="15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5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60C33-4FE4-E0C3-32D6-9D7C2774C82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4. Algebraic simplification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44AEF-B051-C9D9-0EB1-7E32D6CBD100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Peephole optimization is an effective technique for algebraic simplification.</a:t>
            </a:r>
          </a:p>
          <a:p>
            <a:r>
              <a:rPr lang="en-US" dirty="0"/>
              <a:t>The statements such as </a:t>
            </a:r>
            <a:r>
              <a:rPr lang="en-US" dirty="0">
                <a:solidFill>
                  <a:srgbClr val="C00000"/>
                </a:solidFill>
              </a:rPr>
              <a:t>x = x + 0 </a:t>
            </a:r>
            <a:r>
              <a:rPr lang="en-US" dirty="0"/>
              <a:t>or</a:t>
            </a:r>
            <a:r>
              <a:rPr lang="en-US" dirty="0">
                <a:solidFill>
                  <a:srgbClr val="C00000"/>
                </a:solidFill>
              </a:rPr>
              <a:t> x := x* 1 </a:t>
            </a:r>
            <a:r>
              <a:rPr lang="en-US" dirty="0"/>
              <a:t>can be eliminated by peephole optimization.</a:t>
            </a:r>
          </a:p>
          <a:p>
            <a:endParaRPr lang="en-US" dirty="0"/>
          </a:p>
          <a:p>
            <a:r>
              <a:rPr lang="en-US" dirty="0">
                <a:solidFill>
                  <a:srgbClr val="000099"/>
                </a:solidFill>
              </a:rPr>
              <a:t>Reduction in strength</a:t>
            </a:r>
          </a:p>
          <a:p>
            <a:pPr lvl="1"/>
            <a:r>
              <a:rPr lang="en-US" dirty="0"/>
              <a:t>Certain machine instructions are cheaper than the other. </a:t>
            </a:r>
          </a:p>
          <a:p>
            <a:pPr lvl="1"/>
            <a:r>
              <a:rPr lang="en-US" dirty="0"/>
              <a:t>In order to improve performance of the intermediate code we can replace these instructions by equivalent cheaper instruction. </a:t>
            </a:r>
          </a:p>
          <a:p>
            <a:pPr lvl="1"/>
            <a:r>
              <a:rPr lang="en-US" dirty="0"/>
              <a:t>For example, x * x is cheaper than x^2, x + x is cheaper than 2 * x, x &lt;&lt; 1 is cheaper than x * 2, x &gt;&gt; 1 is cheaper than x/2</a:t>
            </a:r>
          </a:p>
          <a:p>
            <a:pPr lvl="1"/>
            <a:r>
              <a:rPr lang="en-US" dirty="0"/>
              <a:t>Similarly addition and subtraction are cheaper than multiplication and division. So we can add effectively equivalent addition and subtraction for multiplication and division.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69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C744-87B7-552E-4E9C-D3358FA8472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5. Use of Machine idioms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BEF83-85E9-8D54-58CB-475D74B01F2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The target instructions have equivalent machine instructions for performing some operations.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rgbClr val="000099"/>
                </a:solidFill>
              </a:rPr>
              <a:t>We can replace these target instructions by equivalent machine instructions in order to improve the efficiency.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Example: Some machines have </a:t>
            </a:r>
            <a:r>
              <a:rPr lang="en-US" dirty="0">
                <a:solidFill>
                  <a:srgbClr val="C00000"/>
                </a:solidFill>
              </a:rPr>
              <a:t>auto-increment or auto-decrement addressing modes. </a:t>
            </a:r>
          </a:p>
          <a:p>
            <a:pPr>
              <a:lnSpc>
                <a:spcPct val="100000"/>
              </a:lnSpc>
            </a:pPr>
            <a:r>
              <a:rPr lang="en-US" dirty="0"/>
              <a:t>These modes can be used in code for statement like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000099"/>
                </a:solidFill>
              </a:rPr>
              <a:t>i</a:t>
            </a:r>
            <a:r>
              <a:rPr lang="en-US" dirty="0">
                <a:solidFill>
                  <a:srgbClr val="000099"/>
                </a:solidFill>
              </a:rPr>
              <a:t>=i+1 </a:t>
            </a: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 INCR </a:t>
            </a:r>
            <a:r>
              <a:rPr lang="en-US" dirty="0" err="1">
                <a:solidFill>
                  <a:srgbClr val="000099"/>
                </a:solidFill>
                <a:sym typeface="Wingdings" panose="05000000000000000000" pitchFamily="2" charset="2"/>
              </a:rPr>
              <a:t>i</a:t>
            </a:r>
            <a:endParaRPr lang="en-US" b="1" dirty="0">
              <a:solidFill>
                <a:srgbClr val="000099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99"/>
                </a:solidFill>
              </a:rPr>
              <a:t>									 </a:t>
            </a:r>
            <a:r>
              <a:rPr lang="en-US" dirty="0" err="1">
                <a:solidFill>
                  <a:srgbClr val="000099"/>
                </a:solidFill>
              </a:rPr>
              <a:t>i</a:t>
            </a:r>
            <a:r>
              <a:rPr lang="en-US" dirty="0">
                <a:solidFill>
                  <a:srgbClr val="000099"/>
                </a:solidFill>
              </a:rPr>
              <a:t>=i-1 </a:t>
            </a: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 DECR </a:t>
            </a:r>
            <a:r>
              <a:rPr lang="en-US" dirty="0" err="1">
                <a:solidFill>
                  <a:srgbClr val="000099"/>
                </a:solidFill>
                <a:sym typeface="Wingdings" panose="05000000000000000000" pitchFamily="2" charset="2"/>
              </a:rPr>
              <a:t>i</a:t>
            </a:r>
            <a:endParaRPr lang="en-US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50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26479</TotalTime>
  <Words>3787</Words>
  <Application>Microsoft Office PowerPoint</Application>
  <PresentationFormat>Widescreen</PresentationFormat>
  <Paragraphs>488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Arial</vt:lpstr>
      <vt:lpstr>Bookman Old Style</vt:lpstr>
      <vt:lpstr>Calibri</vt:lpstr>
      <vt:lpstr>Cambria Math</vt:lpstr>
      <vt:lpstr>Palatino Linotype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Cont.,</vt:lpstr>
      <vt:lpstr>Principal Sources of Optimization</vt:lpstr>
      <vt:lpstr>Principal Sources of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Cont… [Another Example]</vt:lpstr>
      <vt:lpstr>PowerPoint Presentation</vt:lpstr>
      <vt:lpstr>PowerPoint Presentation</vt:lpstr>
      <vt:lpstr>PowerPoint Presentation</vt:lpstr>
      <vt:lpstr>PowerPoint Presentation</vt:lpstr>
      <vt:lpstr>Global Data Flow Analysis</vt:lpstr>
      <vt:lpstr>PowerPoint Presentation</vt:lpstr>
      <vt:lpstr>PowerPoint Presentation</vt:lpstr>
      <vt:lpstr>Path</vt:lpstr>
      <vt:lpstr>PowerPoint Presentation</vt:lpstr>
      <vt:lpstr>PowerPoint Presentation</vt:lpstr>
      <vt:lpstr>PowerPoint Presentation</vt:lpstr>
      <vt:lpstr>PowerPoint Presentation</vt:lpstr>
      <vt:lpstr>Example - Computation of available expressions</vt:lpstr>
      <vt:lpstr>PowerPoint Presentation</vt:lpstr>
      <vt:lpstr>PowerPoint Presentation</vt:lpstr>
      <vt:lpstr>Dataflow analysis of structured programs</vt:lpstr>
      <vt:lpstr>Data flow equations for reaching definitions – [statement(s)]</vt:lpstr>
      <vt:lpstr>Data flow equations for reaching definitions – [if..else &amp; loop]</vt:lpstr>
      <vt:lpstr>Basic Block &amp; Flow Graph</vt:lpstr>
      <vt:lpstr>PowerPoint Presentation</vt:lpstr>
      <vt:lpstr>PowerPoint Presentation</vt:lpstr>
      <vt:lpstr>PowerPoint Presentation</vt:lpstr>
      <vt:lpstr>PowerPoint Presentation</vt:lpstr>
      <vt:lpstr>Example2: Partition into basic blocks</vt:lpstr>
      <vt:lpstr>Example3: Partition into basic blocks</vt:lpstr>
      <vt:lpstr>Example3: Partition into basic blocks</vt:lpstr>
      <vt:lpstr>Example3: Partition into basic blocks</vt:lpstr>
      <vt:lpstr>Transformation on Basic Blocks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Peephole Optimization</vt:lpstr>
      <vt:lpstr>PowerPoint Presentation</vt:lpstr>
      <vt:lpstr> Techniques of peephole optimization</vt:lpstr>
      <vt:lpstr>PowerPoint Presentation</vt:lpstr>
      <vt:lpstr>2. Unreachable code elimination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SKS</dc:creator>
  <cp:lastModifiedBy>Arumuga Arun R</cp:lastModifiedBy>
  <cp:revision>744</cp:revision>
  <dcterms:created xsi:type="dcterms:W3CDTF">2020-07-30T09:53:05Z</dcterms:created>
  <dcterms:modified xsi:type="dcterms:W3CDTF">2024-10-08T15:37:02Z</dcterms:modified>
</cp:coreProperties>
</file>