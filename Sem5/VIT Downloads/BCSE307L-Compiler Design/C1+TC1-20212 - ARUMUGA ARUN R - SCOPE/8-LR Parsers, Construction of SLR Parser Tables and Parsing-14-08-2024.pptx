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84" r:id="rId2"/>
    <p:sldId id="316" r:id="rId3"/>
    <p:sldId id="317" r:id="rId4"/>
    <p:sldId id="319" r:id="rId5"/>
    <p:sldId id="321" r:id="rId6"/>
    <p:sldId id="343" r:id="rId7"/>
    <p:sldId id="318" r:id="rId8"/>
    <p:sldId id="344" r:id="rId9"/>
    <p:sldId id="346" r:id="rId10"/>
    <p:sldId id="347" r:id="rId11"/>
    <p:sldId id="320" r:id="rId12"/>
    <p:sldId id="322" r:id="rId13"/>
    <p:sldId id="352" r:id="rId14"/>
    <p:sldId id="348" r:id="rId15"/>
    <p:sldId id="349" r:id="rId16"/>
    <p:sldId id="350" r:id="rId17"/>
    <p:sldId id="373" r:id="rId18"/>
    <p:sldId id="353" r:id="rId19"/>
    <p:sldId id="354" r:id="rId20"/>
    <p:sldId id="355" r:id="rId21"/>
    <p:sldId id="356" r:id="rId22"/>
    <p:sldId id="345" r:id="rId23"/>
    <p:sldId id="357" r:id="rId24"/>
    <p:sldId id="358" r:id="rId25"/>
    <p:sldId id="36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34" autoAdjust="0"/>
  </p:normalViewPr>
  <p:slideViewPr>
    <p:cSldViewPr snapToGrid="0">
      <p:cViewPr varScale="1">
        <p:scale>
          <a:sx n="74" d="100"/>
          <a:sy n="74" d="100"/>
        </p:scale>
        <p:origin x="96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10:40:31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24575,'1'3'0,"-1"-1"0,1 1 0,-1-1 0,1 1 0,0-1 0,0 0 0,0 1 0,2 2 0,5 11 0,0 20 0,-1 0 0,-1 1 0,-2-1 0,-2 1 0,-3 42 0,-1-58 0,-7 34 0,5-35 0,-2 37 0,6 103-1365,0-142-5461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10:40:32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24575,'716'0'-1365,"-697"0"-5461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10:40:43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24575,'677'0'-1365,"-659"0"-5461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10:40:51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43 24575,'-5'0'0,"0"0"0,0 0 0,1 1 0,-1-1 0,0 1 0,0 0 0,1 1 0,-1-1 0,-8 5 0,12-5 0,-1 0 0,0 0 0,0 1 0,1-1 0,-1 1 0,1-1 0,-1 1 0,1 0 0,0-1 0,0 1 0,0 0 0,0 0 0,0 0 0,0 0 0,0 0 0,1 0 0,-1 0 0,0 0 0,1 1 0,0-1 0,0 0 0,0 0 0,0 0 0,0 3 0,0 1 0,1 1 0,0-1 0,0 0 0,1 0 0,-1-1 0,1 1 0,0 0 0,1 0 0,4 6 0,-6-9 0,1 0 0,0-1 0,0 1 0,0-1 0,0 1 0,0-1 0,0 0 0,1 0 0,-1 0 0,1 0 0,-1-1 0,1 1 0,0 0 0,0-1 0,-1 0 0,1 0 0,0 0 0,0 0 0,0 0 0,4 0 0,-4-2 0,0 1 0,0-1 0,0 0 0,-1 0 0,1 0 0,0 0 0,-1 0 0,1 0 0,-1-1 0,1 0 0,-1 1 0,0-1 0,0 0 0,1 0 0,-1 0 0,2-4 0,11-7 0,-8 8 0,1 1 0,16-7 0,11-8 0,-32 17 0,-1 1 0,0-1 0,0 0 0,1 0 0,-1 0 0,-1 0 0,1-1 0,0 1 0,-1 0 0,1-1 0,1-3 0,-2 5 0,-1 0 0,0 0 0,0 0 0,1 0 0,-1 1 0,0-1 0,0 0 0,0 0 0,0 0 0,0 0 0,0 0 0,0 0 0,0 1 0,-1-1 0,1 0 0,0 0 0,0 0 0,-1 0 0,1 1 0,0-1 0,-1 0 0,1 0 0,-1 1 0,1-1 0,-1 0 0,1 1 0,-1-1 0,0 0 0,1 1 0,-1-1 0,0 1 0,1-1 0,-3 0 0,-2-2 0,0 1 0,-1-1 0,0 1 0,-6-1 0,-4-3 0,-17-11 0,25 12 0,1 1 0,-1 0 0,0 0 0,-14-4 0,-23-1-1365,34 8-5461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10:40:55.2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65BBB-9053-4FB2-B204-6D5C221D5451}" type="datetimeFigureOut">
              <a:rPr lang="en-IN" smtClean="0"/>
              <a:t>06-09-2024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192C4-1362-4BBE-9949-F6525E953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3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5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11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02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8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1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45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86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7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86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9C8CFCD6-D300-4021-B6CE-49872693289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57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3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5.png"/><Relationship Id="rId2" Type="http://schemas.openxmlformats.org/officeDocument/2006/relationships/image" Target="../media/image2.png"/><Relationship Id="rId16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customXml" Target="../ink/ink4.xml"/><Relationship Id="rId1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80.png"/><Relationship Id="rId18" Type="http://schemas.openxmlformats.org/officeDocument/2006/relationships/image" Target="../media/image23.png"/><Relationship Id="rId3" Type="http://schemas.openxmlformats.org/officeDocument/2006/relationships/image" Target="../media/image810.png"/><Relationship Id="rId21" Type="http://schemas.openxmlformats.org/officeDocument/2006/relationships/image" Target="../media/image26.png"/><Relationship Id="rId7" Type="http://schemas.openxmlformats.org/officeDocument/2006/relationships/image" Target="../media/image120.png"/><Relationship Id="rId12" Type="http://schemas.openxmlformats.org/officeDocument/2006/relationships/image" Target="../media/image170.png"/><Relationship Id="rId17" Type="http://schemas.openxmlformats.org/officeDocument/2006/relationships/image" Target="../media/image22.png"/><Relationship Id="rId2" Type="http://schemas.openxmlformats.org/officeDocument/2006/relationships/image" Target="../media/image710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11" Type="http://schemas.openxmlformats.org/officeDocument/2006/relationships/image" Target="../media/image160.png"/><Relationship Id="rId5" Type="http://schemas.openxmlformats.org/officeDocument/2006/relationships/image" Target="../media/image1010.png"/><Relationship Id="rId15" Type="http://schemas.openxmlformats.org/officeDocument/2006/relationships/image" Target="../media/image20.png"/><Relationship Id="rId10" Type="http://schemas.openxmlformats.org/officeDocument/2006/relationships/image" Target="../media/image150.png"/><Relationship Id="rId19" Type="http://schemas.openxmlformats.org/officeDocument/2006/relationships/image" Target="../media/image24.png"/><Relationship Id="rId4" Type="http://schemas.openxmlformats.org/officeDocument/2006/relationships/image" Target="../media/image910.png"/><Relationship Id="rId9" Type="http://schemas.openxmlformats.org/officeDocument/2006/relationships/image" Target="../media/image140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6077" y="2354485"/>
            <a:ext cx="9144000" cy="1655762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C00000"/>
                </a:solidFill>
              </a:rPr>
              <a:t>Module 2 – Syntax Analysis</a:t>
            </a:r>
          </a:p>
          <a:p>
            <a:r>
              <a:rPr lang="en-IN" sz="4400" dirty="0">
                <a:solidFill>
                  <a:srgbClr val="C00000"/>
                </a:solidFill>
              </a:rPr>
              <a:t>Bottom Up Parsing</a:t>
            </a:r>
          </a:p>
        </p:txBody>
      </p:sp>
    </p:spTree>
    <p:extLst>
      <p:ext uri="{BB962C8B-B14F-4D97-AF65-F5344CB8AC3E}">
        <p14:creationId xmlns:p14="http://schemas.microsoft.com/office/powerpoint/2010/main" val="426203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25A14-36DA-CAB9-D6DF-B998D3F7F14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LR parser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03589-A1C0-CCF5-CDB0-9DE0A1BBE484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LR parsing is most efficient method of bottom up parsing which can be used to parse </a:t>
            </a:r>
            <a:r>
              <a:rPr lang="en-US" sz="2400" dirty="0">
                <a:solidFill>
                  <a:srgbClr val="000099"/>
                </a:solidFill>
              </a:rPr>
              <a:t>large class of context free grammar</a:t>
            </a:r>
            <a:r>
              <a:rPr lang="en-US" sz="2400" dirty="0"/>
              <a:t>.</a:t>
            </a:r>
          </a:p>
          <a:p>
            <a:r>
              <a:rPr lang="en-US" sz="2400" dirty="0"/>
              <a:t>The technique is called LR(k) parsing:  </a:t>
            </a:r>
          </a:p>
          <a:p>
            <a:pPr marL="914400" indent="-457200">
              <a:buFont typeface="+mj-lt"/>
              <a:buAutoNum type="arabicPeriod"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C00000"/>
                </a:solidFill>
              </a:rPr>
              <a:t>“L”</a:t>
            </a:r>
            <a:r>
              <a:rPr lang="en-US" sz="2400" dirty="0"/>
              <a:t> is for </a:t>
            </a:r>
            <a:r>
              <a:rPr lang="en-US" sz="2400" dirty="0">
                <a:solidFill>
                  <a:srgbClr val="C00000"/>
                </a:solidFill>
              </a:rPr>
              <a:t>left to right </a:t>
            </a:r>
            <a:r>
              <a:rPr lang="en-US" sz="2400" dirty="0"/>
              <a:t>scanning of input symbol, </a:t>
            </a:r>
          </a:p>
          <a:p>
            <a:pPr marL="914400" indent="-457200">
              <a:buFont typeface="+mj-lt"/>
              <a:buAutoNum type="arabicPeriod"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C00000"/>
                </a:solidFill>
              </a:rPr>
              <a:t>“R”</a:t>
            </a:r>
            <a:r>
              <a:rPr lang="en-US" sz="2400" dirty="0"/>
              <a:t> for constructing </a:t>
            </a:r>
            <a:r>
              <a:rPr lang="en-US" sz="2400" dirty="0">
                <a:solidFill>
                  <a:srgbClr val="C00000"/>
                </a:solidFill>
              </a:rPr>
              <a:t>right most derivation in reverse</a:t>
            </a:r>
            <a:r>
              <a:rPr lang="en-US" sz="2400" dirty="0"/>
              <a:t>, </a:t>
            </a:r>
          </a:p>
          <a:p>
            <a:pPr marL="914400" indent="-457200">
              <a:buFont typeface="+mj-lt"/>
              <a:buAutoNum type="arabicPeriod"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C00000"/>
                </a:solidFill>
              </a:rPr>
              <a:t>“k”</a:t>
            </a:r>
            <a:r>
              <a:rPr lang="en-US" sz="2400" dirty="0"/>
              <a:t> for the </a:t>
            </a:r>
            <a:r>
              <a:rPr lang="en-US" sz="2400" dirty="0">
                <a:solidFill>
                  <a:srgbClr val="C00000"/>
                </a:solidFill>
              </a:rPr>
              <a:t>number of input symbols </a:t>
            </a:r>
            <a:r>
              <a:rPr lang="en-US" sz="2400" dirty="0"/>
              <a:t>of look ahead that are used in making parsing decision.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BF42AB-F1B1-FC1F-1F03-7CDFCB48B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0263" y="4423766"/>
            <a:ext cx="1285875" cy="795495"/>
          </a:xfrm>
          <a:prstGeom prst="rect">
            <a:avLst/>
          </a:prstGeom>
          <a:solidFill>
            <a:srgbClr val="FFFFFF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LR parsing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059DDC-7827-0D46-F963-73094B2C5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494" y="3488821"/>
            <a:ext cx="838200" cy="337186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100000"/>
                <a:lumOff val="0"/>
              </a:schemeClr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FC167A-59E4-9520-8399-18396A0C3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0988" y="4721601"/>
            <a:ext cx="1085850" cy="3403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</a:t>
            </a:r>
          </a:p>
        </p:txBody>
      </p:sp>
      <p:cxnSp>
        <p:nvCxnSpPr>
          <p:cNvPr id="7" name="AutoShape 14">
            <a:extLst>
              <a:ext uri="{FF2B5EF4-FFF2-40B4-BE49-F238E27FC236}">
                <a16:creationId xmlns:a16="http://schemas.microsoft.com/office/drawing/2014/main" id="{E28B8E7C-F6A4-7E98-1B79-264717A1DEF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704107" y="3890366"/>
            <a:ext cx="0" cy="53340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AutoShape 15">
            <a:extLst>
              <a:ext uri="{FF2B5EF4-FFF2-40B4-BE49-F238E27FC236}">
                <a16:creationId xmlns:a16="http://schemas.microsoft.com/office/drawing/2014/main" id="{AA1268C2-0419-109E-6BAD-B28EC8FE299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388275" y="4923511"/>
            <a:ext cx="657225" cy="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16">
            <a:extLst>
              <a:ext uri="{FF2B5EF4-FFF2-40B4-BE49-F238E27FC236}">
                <a16:creationId xmlns:a16="http://schemas.microsoft.com/office/drawing/2014/main" id="{C726C085-5DC7-9234-80D3-950EF9EF5CE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36138" y="4874636"/>
            <a:ext cx="704850" cy="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0F82297-65B5-75D5-FAB2-2C43AB28A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566830"/>
              </p:ext>
            </p:extLst>
          </p:nvPr>
        </p:nvGraphicFramePr>
        <p:xfrm>
          <a:off x="4916912" y="3532002"/>
          <a:ext cx="1485901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4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1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B411CB6-68A7-6F47-D5D4-62E39EB8E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516030"/>
              </p:ext>
            </p:extLst>
          </p:nvPr>
        </p:nvGraphicFramePr>
        <p:xfrm>
          <a:off x="3980543" y="4181831"/>
          <a:ext cx="381000" cy="148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D9B61FA-FC69-CCBC-7491-B62079651319}"/>
              </a:ext>
            </a:extLst>
          </p:cNvPr>
          <p:cNvCxnSpPr>
            <a:stCxn id="4" idx="2"/>
            <a:endCxn id="13" idx="0"/>
          </p:cNvCxnSpPr>
          <p:nvPr/>
        </p:nvCxnSpPr>
        <p:spPr>
          <a:xfrm>
            <a:off x="5693201" y="5219261"/>
            <a:ext cx="10906" cy="52092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7E4E46C-FB53-A91E-9C7E-128F8E460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897" y="5740185"/>
            <a:ext cx="2098419" cy="388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Parsing Table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C71E2F-8287-0A15-F430-8B435F216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897" y="6113669"/>
            <a:ext cx="1085850" cy="3403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843F2F-83A6-AA4D-DB0B-E5A87292B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701" y="6113669"/>
            <a:ext cx="1039615" cy="3403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Goto</a:t>
            </a:r>
            <a:endParaRPr lang="en-US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221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1">
            <a:extLst>
              <a:ext uri="{FF2B5EF4-FFF2-40B4-BE49-F238E27FC236}">
                <a16:creationId xmlns:a16="http://schemas.microsoft.com/office/drawing/2014/main" id="{ADA3ABE6-333A-07A9-8A81-DDF736BD072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Parsing Methods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32EB63-36BE-F3EA-4EDE-EA36441AF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3207" y="971384"/>
            <a:ext cx="904875" cy="4286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A179BC-88D0-2BD6-8E1D-E65B049F6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400" y="2065946"/>
            <a:ext cx="1985963" cy="436570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 down parsing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16B68D-FF06-320E-8865-7D856DC4F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413" y="2068981"/>
            <a:ext cx="3258632" cy="457200"/>
          </a:xfrm>
          <a:prstGeom prst="rect">
            <a:avLst/>
          </a:prstGeom>
          <a:solidFill>
            <a:srgbClr val="03A9F5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Bottom up parsing (Shift reduce)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BF42B-EA36-5F0C-2F52-72542BEC2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6400" y="2788083"/>
            <a:ext cx="2415128" cy="44719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Back tracking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20ABE-F177-DEF5-0672-5FB1F407C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902" y="3444834"/>
            <a:ext cx="2413626" cy="1004732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 without backtracking (</a:t>
            </a: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redictive </a:t>
            </a: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arsing)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9BB56F-0F70-66C0-5283-E2CD7CE0A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8185" y="3754080"/>
            <a:ext cx="1492094" cy="399545"/>
          </a:xfrm>
          <a:prstGeom prst="rect">
            <a:avLst/>
          </a:prstGeom>
          <a:solidFill>
            <a:srgbClr val="0972C6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LR parsing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B43CD8-C364-96FF-E8F5-5C31ED90F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8827" y="2780738"/>
            <a:ext cx="2322105" cy="46188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Operator precedence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472AC5-9ECC-C8A4-340C-2059B8808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4070" y="5606408"/>
            <a:ext cx="973191" cy="3741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LALR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508320-9173-0B14-D72F-804805C1E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7143" y="4931919"/>
            <a:ext cx="970118" cy="37810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CLR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82B1E3-A11E-41A3-4E2B-19F8E6264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0814" y="4279370"/>
            <a:ext cx="970118" cy="35272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SLR </a:t>
            </a:r>
          </a:p>
        </p:txBody>
      </p:sp>
      <p:cxnSp>
        <p:nvCxnSpPr>
          <p:cNvPr id="13" name="AutoShape 14">
            <a:extLst>
              <a:ext uri="{FF2B5EF4-FFF2-40B4-BE49-F238E27FC236}">
                <a16:creationId xmlns:a16="http://schemas.microsoft.com/office/drawing/2014/main" id="{E848181E-8347-214F-16B5-CB3163C3BA8D}"/>
              </a:ext>
            </a:extLst>
          </p:cNvPr>
          <p:cNvCxnSpPr>
            <a:cxnSpLocks noChangeShapeType="1"/>
            <a:stCxn id="3" idx="2"/>
            <a:endCxn id="19" idx="0"/>
          </p:cNvCxnSpPr>
          <p:nvPr/>
        </p:nvCxnSpPr>
        <p:spPr bwMode="auto">
          <a:xfrm flipH="1">
            <a:off x="3708582" y="1400009"/>
            <a:ext cx="2177063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5">
            <a:extLst>
              <a:ext uri="{FF2B5EF4-FFF2-40B4-BE49-F238E27FC236}">
                <a16:creationId xmlns:a16="http://schemas.microsoft.com/office/drawing/2014/main" id="{5ED857B2-1F93-77D9-7F75-D33C659CCF68}"/>
              </a:ext>
            </a:extLst>
          </p:cNvPr>
          <p:cNvCxnSpPr>
            <a:cxnSpLocks noChangeShapeType="1"/>
            <a:stCxn id="3" idx="2"/>
            <a:endCxn id="20" idx="0"/>
          </p:cNvCxnSpPr>
          <p:nvPr/>
        </p:nvCxnSpPr>
        <p:spPr bwMode="auto">
          <a:xfrm>
            <a:off x="5885645" y="1400009"/>
            <a:ext cx="2250942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16">
            <a:extLst>
              <a:ext uri="{FF2B5EF4-FFF2-40B4-BE49-F238E27FC236}">
                <a16:creationId xmlns:a16="http://schemas.microsoft.com/office/drawing/2014/main" id="{84B80DAA-51E5-F21F-0D7C-A802C28B6A1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96747" y="2502516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7">
            <a:extLst>
              <a:ext uri="{FF2B5EF4-FFF2-40B4-BE49-F238E27FC236}">
                <a16:creationId xmlns:a16="http://schemas.microsoft.com/office/drawing/2014/main" id="{6EAA360B-1F8F-2939-9F68-5D7A5F29DA4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91125" y="3015641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5207C8E-F2E3-5F35-2E9F-BF22408D5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3241" y="5294837"/>
            <a:ext cx="1078287" cy="67846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Recursive</a:t>
            </a:r>
          </a:p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descent </a:t>
            </a:r>
            <a:endParaRPr lang="en-US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1FEE61-F4D3-4E00-C4E2-CE99B674A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6582" y="4613515"/>
            <a:ext cx="1074946" cy="42882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LL(1)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B45E92-8309-21F0-ED57-0CC8A04FB203}"/>
              </a:ext>
            </a:extLst>
          </p:cNvPr>
          <p:cNvSpPr/>
          <p:nvPr/>
        </p:nvSpPr>
        <p:spPr>
          <a:xfrm>
            <a:off x="1691110" y="1992781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DB0CCB-6DED-4E85-074E-7AFD547ECDF3}"/>
              </a:ext>
            </a:extLst>
          </p:cNvPr>
          <p:cNvSpPr/>
          <p:nvPr/>
        </p:nvSpPr>
        <p:spPr>
          <a:xfrm>
            <a:off x="6119115" y="1992781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1" name="AutoShape 17">
            <a:extLst>
              <a:ext uri="{FF2B5EF4-FFF2-40B4-BE49-F238E27FC236}">
                <a16:creationId xmlns:a16="http://schemas.microsoft.com/office/drawing/2014/main" id="{D2284A6F-3966-B292-3775-BD516872868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81767" y="3946158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17">
            <a:extLst>
              <a:ext uri="{FF2B5EF4-FFF2-40B4-BE49-F238E27FC236}">
                <a16:creationId xmlns:a16="http://schemas.microsoft.com/office/drawing/2014/main" id="{EB0CA853-2788-1C44-9F4D-CAD3402501E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316508" y="4843033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17">
            <a:extLst>
              <a:ext uri="{FF2B5EF4-FFF2-40B4-BE49-F238E27FC236}">
                <a16:creationId xmlns:a16="http://schemas.microsoft.com/office/drawing/2014/main" id="{73238F4D-09A5-00DC-0BEB-B2ED632A600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301953" y="5622076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031B2D0-5827-2D72-1E11-FA338DEF7711}"/>
              </a:ext>
            </a:extLst>
          </p:cNvPr>
          <p:cNvCxnSpPr/>
          <p:nvPr/>
        </p:nvCxnSpPr>
        <p:spPr>
          <a:xfrm flipH="1" flipV="1">
            <a:off x="3316508" y="4449566"/>
            <a:ext cx="0" cy="117251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AutoShape 16">
            <a:extLst>
              <a:ext uri="{FF2B5EF4-FFF2-40B4-BE49-F238E27FC236}">
                <a16:creationId xmlns:a16="http://schemas.microsoft.com/office/drawing/2014/main" id="{7D113779-B182-C505-F9B9-493D925EDDE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60807" y="2542543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17">
            <a:extLst>
              <a:ext uri="{FF2B5EF4-FFF2-40B4-BE49-F238E27FC236}">
                <a16:creationId xmlns:a16="http://schemas.microsoft.com/office/drawing/2014/main" id="{5ABF24D4-9CE7-22D2-682A-3FFB9E06D4F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55185" y="3055668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17">
            <a:extLst>
              <a:ext uri="{FF2B5EF4-FFF2-40B4-BE49-F238E27FC236}">
                <a16:creationId xmlns:a16="http://schemas.microsoft.com/office/drawing/2014/main" id="{83F30A62-CE1A-1A0F-D1D6-F9566CE3753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45827" y="3986185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17">
            <a:extLst>
              <a:ext uri="{FF2B5EF4-FFF2-40B4-BE49-F238E27FC236}">
                <a16:creationId xmlns:a16="http://schemas.microsoft.com/office/drawing/2014/main" id="{5884F7C9-93DA-DC8F-7300-FABB8896CA5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97814" y="4449566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17">
            <a:extLst>
              <a:ext uri="{FF2B5EF4-FFF2-40B4-BE49-F238E27FC236}">
                <a16:creationId xmlns:a16="http://schemas.microsoft.com/office/drawing/2014/main" id="{C39690DD-100D-895E-EB26-D3C30A9917D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76012" y="5127939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F12C2F8-351B-01AF-08E5-89B28C7F3F20}"/>
              </a:ext>
            </a:extLst>
          </p:cNvPr>
          <p:cNvCxnSpPr/>
          <p:nvPr/>
        </p:nvCxnSpPr>
        <p:spPr>
          <a:xfrm flipV="1">
            <a:off x="7795804" y="4153113"/>
            <a:ext cx="2010" cy="166532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AutoShape 17">
            <a:extLst>
              <a:ext uri="{FF2B5EF4-FFF2-40B4-BE49-F238E27FC236}">
                <a16:creationId xmlns:a16="http://schemas.microsoft.com/office/drawing/2014/main" id="{F371A632-7DA8-7F39-1617-9D7330263D2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76453" y="5818439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425256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E4B9-5585-70ED-3232-2ABDDF598B1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Steps to construct Simple LR (SLR) parser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EF09-0E9D-6291-0D83-23A869FB5D74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/>
              <a:t>Construct Canonical set of LR(0) items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Construct SLR parsing table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Parse the input string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51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DC6A6-CAB3-925B-0DB6-114EE03FD78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Rules to construct SLR parsing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58D1E4-3A8C-76DE-CE73-2E379325A6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fontAlgn="base">
                  <a:buFont typeface="+mj-lt"/>
                  <a:buAutoNum type="arabicPeriod"/>
                </a:pPr>
                <a:r>
                  <a:rPr lang="en-US" dirty="0"/>
                  <a:t>Construct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= {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…….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the collection of sets of LR(0) items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’.</m:t>
                    </m:r>
                  </m:oMath>
                </a14:m>
                <a:endParaRPr lang="en-US" dirty="0"/>
              </a:p>
              <a:p>
                <a:pPr marL="457200" indent="-457200" fontAlgn="base">
                  <a:buFont typeface="+mj-lt"/>
                  <a:buAutoNum type="arabicPeriod"/>
                </a:pPr>
                <a:r>
                  <a:rPr lang="en-US" dirty="0"/>
                  <a:t>State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constructed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. The parsing actions for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are determined as follow :</a:t>
                </a:r>
              </a:p>
              <a:p>
                <a:pPr marL="914400" lvl="1" indent="-457200" fontAlgn="base">
                  <a:buFont typeface="+mj-lt"/>
                  <a:buAutoNum type="alphaLcParenR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] </m:t>
                    </m:r>
                  </m:oMath>
                </a14:m>
                <a:r>
                  <a:rPr lang="en-US" dirty="0"/>
                  <a:t>is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 and GOTO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 err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 , then 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𝐴𝐶𝑇𝐼𝑂𝑁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dirty="0"/>
                  <a:t>to “shift j”. Here, ‘a’ must be a terminal.</a:t>
                </a:r>
              </a:p>
              <a:p>
                <a:pPr marL="914400" lvl="1" indent="-457200" fontAlgn="base">
                  <a:buFont typeface="+mj-lt"/>
                  <a:buAutoNum type="alphaLcParenR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.] </m:t>
                    </m:r>
                  </m:oMath>
                </a14:m>
                <a:r>
                  <a:rPr lang="en-US" dirty="0"/>
                  <a:t>is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then 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𝐴𝐶𝑇𝐼𝑂𝑁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dirty="0"/>
                  <a:t>to “reduce A</a:t>
                </a:r>
                <a:r>
                  <a:rPr lang="en-US" dirty="0">
                    <a:sym typeface="Wingdings" panose="05000000000000000000" pitchFamily="2" charset="2"/>
                  </a:rPr>
                  <a:t>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” for all ‘a’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𝐹𝑂𝐿𝐿𝑂𝑊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; here, A may not be S’.</a:t>
                </a:r>
              </a:p>
              <a:p>
                <a:pPr marL="914400" lvl="1" indent="-457200" fontAlgn="base">
                  <a:buFont typeface="+mj-lt"/>
                  <a:buAutoNum type="alphaLcParenR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.] </m:t>
                    </m:r>
                  </m:oMath>
                </a14:m>
                <a:r>
                  <a:rPr lang="en-US" dirty="0"/>
                  <a:t>is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then set action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$] </m:t>
                    </m:r>
                  </m:oMath>
                </a14:m>
                <a:r>
                  <a:rPr lang="en-US" dirty="0"/>
                  <a:t>to “accept”. </a:t>
                </a:r>
              </a:p>
              <a:p>
                <a:pPr marL="457200" lvl="1" indent="-457200" fontAlgn="base">
                  <a:buFont typeface="+mj-lt"/>
                  <a:buAutoNum type="arabicPeriod" startAt="3"/>
                </a:pPr>
                <a:r>
                  <a:rPr lang="en-US" dirty="0"/>
                  <a:t>The </a:t>
                </a:r>
                <a:r>
                  <a:rPr lang="en-US" dirty="0" err="1"/>
                  <a:t>goto</a:t>
                </a:r>
                <a:r>
                  <a:rPr lang="en-US" dirty="0"/>
                  <a:t> transitions for state, </a:t>
                </a:r>
                <a:r>
                  <a:rPr lang="en-US" dirty="0" err="1"/>
                  <a:t>i</a:t>
                </a:r>
                <a:r>
                  <a:rPr lang="en-US" dirty="0"/>
                  <a:t> are constructed for all non-terminals A using the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𝐺𝑂𝑇𝑂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𝐼𝑖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) = 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𝑡h𝑒𝑛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𝐺𝑂𝑇𝑂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[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 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457200" lvl="1" indent="-457200" fontAlgn="base">
                  <a:buFont typeface="+mj-lt"/>
                  <a:buAutoNum type="arabicPeriod" startAt="3"/>
                </a:pPr>
                <a:r>
                  <a:rPr lang="en-US" dirty="0"/>
                  <a:t>All entries not defined by rules 2 and 3 are made error.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58D1E4-3A8C-76DE-CE73-2E379325A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1278" t="-2835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0466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C29AF-A253-6341-C61A-7787B3518AA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Computation of </a:t>
            </a:r>
            <a:r>
              <a:rPr lang="en-US" dirty="0">
                <a:solidFill>
                  <a:srgbClr val="000099"/>
                </a:solidFill>
              </a:rPr>
              <a:t>closure</a:t>
            </a:r>
            <a:r>
              <a:rPr lang="en-US" dirty="0"/>
              <a:t> &amp; </a:t>
            </a:r>
            <a:r>
              <a:rPr lang="en-US" dirty="0" err="1"/>
              <a:t>goto</a:t>
            </a:r>
            <a:r>
              <a:rPr lang="en-US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CDB3C-C6C8-194D-ECB2-00139216E458}"/>
              </a:ext>
            </a:extLst>
          </p:cNvPr>
          <p:cNvSpPr txBox="1">
            <a:spLocks/>
          </p:cNvSpPr>
          <p:nvPr/>
        </p:nvSpPr>
        <p:spPr>
          <a:xfrm>
            <a:off x="442914" y="792007"/>
            <a:ext cx="11558586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Closure(I):</a:t>
            </a:r>
          </a:p>
          <a:p>
            <a:pPr fontAlgn="base">
              <a:lnSpc>
                <a:spcPct val="100000"/>
              </a:lnSpc>
            </a:pPr>
            <a:r>
              <a:rPr lang="en-US" sz="2400" dirty="0"/>
              <a:t>If ‘I’ is a </a:t>
            </a:r>
            <a:r>
              <a:rPr lang="en-US" sz="2400" i="1" dirty="0"/>
              <a:t>set of items </a:t>
            </a:r>
            <a:r>
              <a:rPr lang="en-US" sz="2400" dirty="0"/>
              <a:t>for a grammar, G then closure of I (closure (I)) is set of items constructed from I by applying following 3 rules:</a:t>
            </a:r>
          </a:p>
          <a:p>
            <a:pPr marL="971550" lvl="1" indent="-514350" fontAlgn="base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0099"/>
                </a:solidFill>
              </a:rPr>
              <a:t>Construct augmented grammar.</a:t>
            </a:r>
          </a:p>
          <a:p>
            <a:pPr marL="971550" lvl="1" indent="-514350" fontAlgn="base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6600"/>
                </a:solidFill>
              </a:rPr>
              <a:t>Initially, every item in I is added to closure(I).</a:t>
            </a:r>
          </a:p>
          <a:p>
            <a:pPr marL="971550" lvl="1" indent="-514350" fontAlgn="base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</a:rPr>
              <a:t>If A → α • B β is in closure (I) and B ⟶ ४ is a production, then add the item B ⟶ •४ to I, if it is not already in existence, we apply this rule until no more new items can be added to closure(I).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dirty="0">
                <a:solidFill>
                  <a:srgbClr val="000099"/>
                </a:solidFill>
                <a:sym typeface="Wingdings" panose="05000000000000000000" pitchFamily="2" charset="2"/>
              </a:rPr>
              <a:t>Example</a:t>
            </a: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6600"/>
                </a:solidFill>
              </a:rPr>
              <a:t>E</a:t>
            </a:r>
            <a:r>
              <a:rPr lang="en-US" sz="2000" b="1" dirty="0">
                <a:solidFill>
                  <a:srgbClr val="006600"/>
                </a:solidFill>
                <a:sym typeface="Wingdings" panose="05000000000000000000" pitchFamily="2" charset="2"/>
              </a:rPr>
              <a:t> E+T | T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6600"/>
                </a:solidFill>
                <a:sym typeface="Wingdings" panose="05000000000000000000" pitchFamily="2" charset="2"/>
              </a:rPr>
              <a:t>T T*F | F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6600"/>
                </a:solidFill>
                <a:sym typeface="Wingdings" panose="05000000000000000000" pitchFamily="2" charset="2"/>
              </a:rPr>
              <a:t>F (E)| id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rgbClr val="0E47A1"/>
              </a:solidFill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BC8D69-5FB6-27C0-983F-831739376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133" y="3561479"/>
            <a:ext cx="1616868" cy="337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65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C29AF-A253-6341-C61A-7787B3518AA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Computation of closure &amp; </a:t>
            </a:r>
            <a:r>
              <a:rPr lang="en-US" dirty="0" err="1">
                <a:solidFill>
                  <a:srgbClr val="000099"/>
                </a:solidFill>
              </a:rPr>
              <a:t>goto</a:t>
            </a:r>
            <a:r>
              <a:rPr lang="en-US" dirty="0">
                <a:solidFill>
                  <a:srgbClr val="000099"/>
                </a:solidFill>
              </a:rPr>
              <a:t> </a:t>
            </a:r>
            <a:r>
              <a:rPr lang="en-US" dirty="0"/>
              <a:t>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CDB3C-C6C8-194D-ECB2-00139216E458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66315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0E47A1"/>
                </a:solidFill>
                <a:sym typeface="Wingdings" panose="05000000000000000000" pitchFamily="2" charset="2"/>
              </a:rPr>
              <a:t>Goto</a:t>
            </a: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(I,X)</a:t>
            </a:r>
          </a:p>
          <a:p>
            <a:r>
              <a:rPr lang="en-US" dirty="0">
                <a:sym typeface="Wingdings" panose="05000000000000000000" pitchFamily="2" charset="2"/>
              </a:rPr>
              <a:t>The function </a:t>
            </a:r>
            <a:r>
              <a:rPr lang="en-US" dirty="0" err="1">
                <a:sym typeface="Wingdings" panose="05000000000000000000" pitchFamily="2" charset="2"/>
              </a:rPr>
              <a:t>goto</a:t>
            </a:r>
            <a:r>
              <a:rPr lang="en-US" dirty="0">
                <a:sym typeface="Wingdings" panose="05000000000000000000" pitchFamily="2" charset="2"/>
              </a:rPr>
              <a:t> can be defined as,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If there is a production A → α • B β then, 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			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goto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(A → α • B β, B) = A → α B • β. </a:t>
            </a:r>
          </a:p>
          <a:p>
            <a:pPr lvl="1"/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Simply shifting of “•” one position ahead over grammar symbol.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99"/>
                </a:solidFill>
                <a:sym typeface="Wingdings" panose="05000000000000000000" pitchFamily="2" charset="2"/>
              </a:rPr>
              <a:t>Example</a:t>
            </a: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: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6600"/>
                </a:solidFill>
              </a:rPr>
              <a:t>E</a:t>
            </a:r>
            <a:r>
              <a:rPr lang="en-US" sz="2000" b="1" dirty="0">
                <a:solidFill>
                  <a:srgbClr val="006600"/>
                </a:solidFill>
                <a:sym typeface="Wingdings" panose="05000000000000000000" pitchFamily="2" charset="2"/>
              </a:rPr>
              <a:t> E+T | T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6600"/>
                </a:solidFill>
                <a:sym typeface="Wingdings" panose="05000000000000000000" pitchFamily="2" charset="2"/>
              </a:rPr>
              <a:t>T T*F | F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6600"/>
                </a:solidFill>
                <a:sym typeface="Wingdings" panose="05000000000000000000" pitchFamily="2" charset="2"/>
              </a:rPr>
              <a:t>F id | (E)</a:t>
            </a:r>
          </a:p>
          <a:p>
            <a:pPr marL="457200" lvl="1" indent="0">
              <a:buNone/>
            </a:pPr>
            <a:endParaRPr lang="en-US" sz="2000" b="1" dirty="0">
              <a:solidFill>
                <a:srgbClr val="006600"/>
              </a:solidFill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	</a:t>
            </a:r>
            <a:endParaRPr lang="en-US" dirty="0"/>
          </a:p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DA5C2C-060C-9836-EB8D-322035700CB4}"/>
              </a:ext>
            </a:extLst>
          </p:cNvPr>
          <p:cNvSpPr/>
          <p:nvPr/>
        </p:nvSpPr>
        <p:spPr>
          <a:xfrm>
            <a:off x="7879556" y="5772150"/>
            <a:ext cx="357188" cy="36433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B092706-6977-2595-5B2E-7FFEB9ABC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937" y="3052763"/>
            <a:ext cx="174307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286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BE2095-2462-D622-5BB7-D11E021CA6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66" t="3601" r="5509" b="3764"/>
          <a:stretch/>
        </p:blipFill>
        <p:spPr>
          <a:xfrm>
            <a:off x="357693" y="1584331"/>
            <a:ext cx="1375034" cy="321174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55C9DD85-F818-5BF5-AC4A-6D49B9FD2F74}"/>
              </a:ext>
            </a:extLst>
          </p:cNvPr>
          <p:cNvGrpSpPr/>
          <p:nvPr/>
        </p:nvGrpSpPr>
        <p:grpSpPr>
          <a:xfrm>
            <a:off x="692988" y="1076307"/>
            <a:ext cx="443009" cy="309664"/>
            <a:chOff x="692988" y="1076307"/>
            <a:chExt cx="443009" cy="30966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D01620D-293C-3672-ACA0-6FBC3C16903B}"/>
                </a:ext>
              </a:extLst>
            </p:cNvPr>
            <p:cNvGrpSpPr/>
            <p:nvPr/>
          </p:nvGrpSpPr>
          <p:grpSpPr>
            <a:xfrm>
              <a:off x="692988" y="1150171"/>
              <a:ext cx="264960" cy="228240"/>
              <a:chOff x="656117" y="103227"/>
              <a:chExt cx="264960" cy="2282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8" name="Ink 7">
                    <a:extLst>
                      <a:ext uri="{FF2B5EF4-FFF2-40B4-BE49-F238E27FC236}">
                        <a16:creationId xmlns:a16="http://schemas.microsoft.com/office/drawing/2014/main" id="{0D1D532C-45A1-50AA-73F2-54F70D3D010A}"/>
                      </a:ext>
                    </a:extLst>
                  </p14:cNvPr>
                  <p14:cNvContentPartPr/>
                  <p14:nvPr/>
                </p14:nvContentPartPr>
                <p14:xfrm>
                  <a:off x="796157" y="103227"/>
                  <a:ext cx="16200" cy="228240"/>
                </p14:xfrm>
              </p:contentPart>
            </mc:Choice>
            <mc:Fallback xmlns="">
              <p:pic>
                <p:nvPicPr>
                  <p:cNvPr id="8" name="Ink 7">
                    <a:extLst>
                      <a:ext uri="{FF2B5EF4-FFF2-40B4-BE49-F238E27FC236}">
                        <a16:creationId xmlns:a16="http://schemas.microsoft.com/office/drawing/2014/main" id="{0D1D532C-45A1-50AA-73F2-54F70D3D010A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787157" y="94227"/>
                    <a:ext cx="33840" cy="245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9" name="Ink 8">
                    <a:extLst>
                      <a:ext uri="{FF2B5EF4-FFF2-40B4-BE49-F238E27FC236}">
                        <a16:creationId xmlns:a16="http://schemas.microsoft.com/office/drawing/2014/main" id="{46A905FF-4FD3-D4FC-8DBA-CB71504D1154}"/>
                      </a:ext>
                    </a:extLst>
                  </p14:cNvPr>
                  <p14:cNvContentPartPr/>
                  <p14:nvPr/>
                </p14:nvContentPartPr>
                <p14:xfrm>
                  <a:off x="656117" y="125547"/>
                  <a:ext cx="264960" cy="360"/>
                </p14:xfrm>
              </p:contentPart>
            </mc:Choice>
            <mc:Fallback xmlns="">
              <p:pic>
                <p:nvPicPr>
                  <p:cNvPr id="9" name="Ink 8">
                    <a:extLst>
                      <a:ext uri="{FF2B5EF4-FFF2-40B4-BE49-F238E27FC236}">
                        <a16:creationId xmlns:a16="http://schemas.microsoft.com/office/drawing/2014/main" id="{46A905FF-4FD3-D4FC-8DBA-CB71504D1154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647477" y="116547"/>
                    <a:ext cx="282600" cy="18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87F5FB8-8F1B-8D8C-79DA-2E0A94847600}"/>
                    </a:ext>
                  </a:extLst>
                </p14:cNvPr>
                <p14:cNvContentPartPr/>
                <p14:nvPr/>
              </p14:nvContentPartPr>
              <p14:xfrm>
                <a:off x="707388" y="1371211"/>
                <a:ext cx="2505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87F5FB8-8F1B-8D8C-79DA-2E0A9484760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8748" y="1362571"/>
                  <a:ext cx="268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F338DCD-018E-73FD-4DC3-87E842017B69}"/>
                    </a:ext>
                  </a:extLst>
                </p14:cNvPr>
                <p14:cNvContentPartPr/>
                <p14:nvPr/>
              </p14:nvContentPartPr>
              <p14:xfrm>
                <a:off x="988908" y="1311451"/>
                <a:ext cx="85680" cy="74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F338DCD-018E-73FD-4DC3-87E842017B6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80268" y="1302811"/>
                  <a:ext cx="1033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C172769-834F-DA04-8ACC-92F58B3B8EA8}"/>
                    </a:ext>
                  </a:extLst>
                </p14:cNvPr>
                <p14:cNvContentPartPr/>
                <p14:nvPr/>
              </p14:nvContentPartPr>
              <p14:xfrm>
                <a:off x="1135637" y="1076307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C172769-834F-DA04-8ACC-92F58B3B8EA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26637" y="106766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886AA024-AEB6-D9DC-848B-ECAA1A5A076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584" y="518194"/>
            <a:ext cx="2200926" cy="59346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F0BAE21-D1E3-57E8-C094-05651783062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63079" y="518194"/>
            <a:ext cx="1938464" cy="59346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5DDC1D3-E74E-331B-3E9F-19FA136BDC6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94857" y="518194"/>
            <a:ext cx="2217954" cy="59346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F2D04BA-EB70-62E3-D195-FC2D512D3EB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00416" y="518194"/>
            <a:ext cx="2217954" cy="29914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87043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573BE-2045-959D-F573-3B319120F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258" y="239486"/>
            <a:ext cx="10515600" cy="1325563"/>
          </a:xfrm>
        </p:spPr>
        <p:txBody>
          <a:bodyPr/>
          <a:lstStyle/>
          <a:p>
            <a:r>
              <a:rPr lang="en-US" dirty="0"/>
              <a:t>Solution1 – canonical form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97FE42-1028-85C4-40C1-C3518FEEF8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353" t="5983" r="1992" b="4093"/>
          <a:stretch/>
        </p:blipFill>
        <p:spPr>
          <a:xfrm>
            <a:off x="1074056" y="1357086"/>
            <a:ext cx="9586687" cy="526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393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573BE-2045-959D-F573-3B319120F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258" y="239486"/>
            <a:ext cx="10515600" cy="1325563"/>
          </a:xfrm>
        </p:spPr>
        <p:txBody>
          <a:bodyPr/>
          <a:lstStyle/>
          <a:p>
            <a:r>
              <a:rPr lang="en-US" dirty="0"/>
              <a:t>Solution1 – parsing table </a:t>
            </a:r>
            <a:endParaRPr lang="en-IN" dirty="0"/>
          </a:p>
        </p:txBody>
      </p:sp>
      <p:pic>
        <p:nvPicPr>
          <p:cNvPr id="1026" name="Picture 2" descr="SLR (1) Parsing 4">
            <a:extLst>
              <a:ext uri="{FF2B5EF4-FFF2-40B4-BE49-F238E27FC236}">
                <a16:creationId xmlns:a16="http://schemas.microsoft.com/office/drawing/2014/main" id="{21BDCED7-6796-C931-C7DC-D33950289F7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96" y="1767567"/>
            <a:ext cx="11571406" cy="401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410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AF868-2548-C12D-BE0B-6E68C12C20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Example 2: SLR(1)- simple LR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D3ED6F-8BEF-C71E-1F4B-E0FC00A1525F}"/>
              </a:ext>
            </a:extLst>
          </p:cNvPr>
          <p:cNvSpPr/>
          <p:nvPr/>
        </p:nvSpPr>
        <p:spPr>
          <a:xfrm>
            <a:off x="109952" y="835478"/>
            <a:ext cx="1790700" cy="76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E47A1"/>
                </a:solidFill>
                <a:latin typeface="+mj-lt"/>
              </a:rPr>
              <a:t>S--&gt;</a:t>
            </a:r>
            <a:r>
              <a:rPr lang="en-US" sz="2400" b="1" dirty="0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AA</a:t>
            </a:r>
          </a:p>
          <a:p>
            <a:r>
              <a:rPr lang="en-US" sz="2400" b="1" dirty="0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A--&gt;</a:t>
            </a:r>
            <a:r>
              <a:rPr lang="en-US" sz="2400" b="1" dirty="0" err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aA</a:t>
            </a:r>
            <a:r>
              <a:rPr lang="en-US" sz="2400" b="1" dirty="0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 | b</a:t>
            </a:r>
            <a:endParaRPr lang="en-US" sz="2400" b="1" dirty="0">
              <a:solidFill>
                <a:srgbClr val="0E47A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05BF3C-9734-9BA4-79E7-E5EF0B5588CD}"/>
              </a:ext>
            </a:extLst>
          </p:cNvPr>
          <p:cNvSpPr/>
          <p:nvPr/>
        </p:nvSpPr>
        <p:spPr>
          <a:xfrm>
            <a:off x="2782061" y="2286000"/>
            <a:ext cx="6477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S’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.S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85FC1D-5BD2-FCE2-0442-4664AEE8D19C}"/>
              </a:ext>
            </a:extLst>
          </p:cNvPr>
          <p:cNvSpPr/>
          <p:nvPr/>
        </p:nvSpPr>
        <p:spPr>
          <a:xfrm>
            <a:off x="2782061" y="2596242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9D4B22-E3A4-AD03-D496-8EC635491916}"/>
              </a:ext>
            </a:extLst>
          </p:cNvPr>
          <p:cNvSpPr/>
          <p:nvPr/>
        </p:nvSpPr>
        <p:spPr>
          <a:xfrm>
            <a:off x="2782061" y="2971799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67927D-527A-0C50-1FF9-914E67F52127}"/>
              </a:ext>
            </a:extLst>
          </p:cNvPr>
          <p:cNvSpPr/>
          <p:nvPr/>
        </p:nvSpPr>
        <p:spPr>
          <a:xfrm>
            <a:off x="2787504" y="3347356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17E5F3-E8C6-3801-9FC5-B68CD540E82F}"/>
              </a:ext>
            </a:extLst>
          </p:cNvPr>
          <p:cNvSpPr/>
          <p:nvPr/>
        </p:nvSpPr>
        <p:spPr>
          <a:xfrm>
            <a:off x="2727638" y="2209800"/>
            <a:ext cx="876300" cy="15240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FF72D8-1A1C-801F-466B-464EF0D4FC13}"/>
              </a:ext>
            </a:extLst>
          </p:cNvPr>
          <p:cNvSpPr/>
          <p:nvPr/>
        </p:nvSpPr>
        <p:spPr>
          <a:xfrm>
            <a:off x="2890922" y="1257300"/>
            <a:ext cx="6477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S’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S.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A96642-7A65-8DAF-FDC5-596B06647447}"/>
              </a:ext>
            </a:extLst>
          </p:cNvPr>
          <p:cNvSpPr/>
          <p:nvPr/>
        </p:nvSpPr>
        <p:spPr>
          <a:xfrm>
            <a:off x="2709262" y="1151163"/>
            <a:ext cx="876300" cy="489858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6DF2A0-20AD-0A4C-1F50-AF29BD02292C}"/>
              </a:ext>
            </a:extLst>
          </p:cNvPr>
          <p:cNvSpPr/>
          <p:nvPr/>
        </p:nvSpPr>
        <p:spPr>
          <a:xfrm>
            <a:off x="4816700" y="2062842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A . 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9C5A35-BB82-88FE-DED2-23E9403C9A0B}"/>
              </a:ext>
            </a:extLst>
          </p:cNvPr>
          <p:cNvSpPr/>
          <p:nvPr/>
        </p:nvSpPr>
        <p:spPr>
          <a:xfrm>
            <a:off x="4816700" y="2438399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4C30C9-C8DC-444A-B33B-D6EE2729F6B1}"/>
              </a:ext>
            </a:extLst>
          </p:cNvPr>
          <p:cNvSpPr/>
          <p:nvPr/>
        </p:nvSpPr>
        <p:spPr>
          <a:xfrm>
            <a:off x="4822143" y="2813956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F965C7-3BB8-A2B6-64EC-B4F5930FD221}"/>
              </a:ext>
            </a:extLst>
          </p:cNvPr>
          <p:cNvSpPr/>
          <p:nvPr/>
        </p:nvSpPr>
        <p:spPr>
          <a:xfrm>
            <a:off x="4778605" y="1981200"/>
            <a:ext cx="892623" cy="12083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A45F62-E879-E331-5E3A-91C4CB229CAF}"/>
              </a:ext>
            </a:extLst>
          </p:cNvPr>
          <p:cNvSpPr/>
          <p:nvPr/>
        </p:nvSpPr>
        <p:spPr>
          <a:xfrm>
            <a:off x="4816699" y="4419602"/>
            <a:ext cx="838200" cy="364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C49086-E323-6E90-85AB-47A8BF6A3AA6}"/>
              </a:ext>
            </a:extLst>
          </p:cNvPr>
          <p:cNvSpPr/>
          <p:nvPr/>
        </p:nvSpPr>
        <p:spPr>
          <a:xfrm>
            <a:off x="4822142" y="4795159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9C818E-B951-06DF-1E7A-392DD5A4FAFC}"/>
              </a:ext>
            </a:extLst>
          </p:cNvPr>
          <p:cNvSpPr/>
          <p:nvPr/>
        </p:nvSpPr>
        <p:spPr>
          <a:xfrm>
            <a:off x="4762275" y="3897089"/>
            <a:ext cx="903509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38124-A54B-478A-137F-AA7DD47F5E74}"/>
              </a:ext>
            </a:extLst>
          </p:cNvPr>
          <p:cNvSpPr/>
          <p:nvPr/>
        </p:nvSpPr>
        <p:spPr>
          <a:xfrm>
            <a:off x="4822142" y="4068536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 . 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13F7AB-CABC-FC9B-6B0F-922210950754}"/>
              </a:ext>
            </a:extLst>
          </p:cNvPr>
          <p:cNvSpPr/>
          <p:nvPr/>
        </p:nvSpPr>
        <p:spPr>
          <a:xfrm>
            <a:off x="2808938" y="4910792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35752E-A96E-7C5D-5CCE-7A2391BA51A8}"/>
              </a:ext>
            </a:extLst>
          </p:cNvPr>
          <p:cNvSpPr/>
          <p:nvPr/>
        </p:nvSpPr>
        <p:spPr>
          <a:xfrm>
            <a:off x="2720182" y="4864519"/>
            <a:ext cx="876300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498CF3-955A-5279-2A67-469DA72C56AC}"/>
              </a:ext>
            </a:extLst>
          </p:cNvPr>
          <p:cNvSpPr/>
          <p:nvPr/>
        </p:nvSpPr>
        <p:spPr>
          <a:xfrm>
            <a:off x="6977167" y="1755320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B7E878-67C6-960E-F132-57B3AB83922E}"/>
              </a:ext>
            </a:extLst>
          </p:cNvPr>
          <p:cNvSpPr/>
          <p:nvPr/>
        </p:nvSpPr>
        <p:spPr>
          <a:xfrm>
            <a:off x="6982610" y="2130877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73978A-A45B-9E1E-6978-3883BA675FD0}"/>
              </a:ext>
            </a:extLst>
          </p:cNvPr>
          <p:cNvSpPr/>
          <p:nvPr/>
        </p:nvSpPr>
        <p:spPr>
          <a:xfrm>
            <a:off x="6938749" y="1216478"/>
            <a:ext cx="903509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DAD958-FA0F-9A21-FDA5-74F8FE17AAC2}"/>
              </a:ext>
            </a:extLst>
          </p:cNvPr>
          <p:cNvSpPr/>
          <p:nvPr/>
        </p:nvSpPr>
        <p:spPr>
          <a:xfrm>
            <a:off x="6982610" y="1404254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 . 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B4B2C0-7DB7-E797-C39B-16E0833F9CAD}"/>
              </a:ext>
            </a:extLst>
          </p:cNvPr>
          <p:cNvSpPr/>
          <p:nvPr/>
        </p:nvSpPr>
        <p:spPr>
          <a:xfrm>
            <a:off x="7060152" y="2775857"/>
            <a:ext cx="825648" cy="4027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0D4972-25E2-6006-E3EB-8711E10E0747}"/>
              </a:ext>
            </a:extLst>
          </p:cNvPr>
          <p:cNvSpPr/>
          <p:nvPr/>
        </p:nvSpPr>
        <p:spPr>
          <a:xfrm>
            <a:off x="6970238" y="2784383"/>
            <a:ext cx="876300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86CCCC-EC4E-B53C-2462-0C29DFE5F9E2}"/>
              </a:ext>
            </a:extLst>
          </p:cNvPr>
          <p:cNvSpPr/>
          <p:nvPr/>
        </p:nvSpPr>
        <p:spPr>
          <a:xfrm>
            <a:off x="7016633" y="4825090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1D4B00-A8F2-6BBD-0A4A-640C574D9C2B}"/>
              </a:ext>
            </a:extLst>
          </p:cNvPr>
          <p:cNvSpPr/>
          <p:nvPr/>
        </p:nvSpPr>
        <p:spPr>
          <a:xfrm>
            <a:off x="7022076" y="5200647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dirty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E794E2-7A9F-5CB1-9163-6A8A717C814A}"/>
              </a:ext>
            </a:extLst>
          </p:cNvPr>
          <p:cNvSpPr/>
          <p:nvPr/>
        </p:nvSpPr>
        <p:spPr>
          <a:xfrm>
            <a:off x="6959794" y="4285585"/>
            <a:ext cx="903509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1CECD1-8C58-C946-CAF9-616489D586DA}"/>
              </a:ext>
            </a:extLst>
          </p:cNvPr>
          <p:cNvSpPr/>
          <p:nvPr/>
        </p:nvSpPr>
        <p:spPr>
          <a:xfrm>
            <a:off x="7022076" y="4474024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 . 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523BC88-1367-CF8E-6DB4-DA6F8917CD7E}"/>
              </a:ext>
            </a:extLst>
          </p:cNvPr>
          <p:cNvSpPr/>
          <p:nvPr/>
        </p:nvSpPr>
        <p:spPr>
          <a:xfrm>
            <a:off x="6989412" y="5938156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dirty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F9A2D1-A2FA-EEF8-3674-2235C86C11D8}"/>
              </a:ext>
            </a:extLst>
          </p:cNvPr>
          <p:cNvSpPr/>
          <p:nvPr/>
        </p:nvSpPr>
        <p:spPr>
          <a:xfrm>
            <a:off x="6880559" y="5938156"/>
            <a:ext cx="876300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4B45EF3-8CB3-80E3-F5B8-9F581CD51419}"/>
              </a:ext>
            </a:extLst>
          </p:cNvPr>
          <p:cNvSpPr/>
          <p:nvPr/>
        </p:nvSpPr>
        <p:spPr>
          <a:xfrm>
            <a:off x="4868036" y="1066799"/>
            <a:ext cx="843635" cy="323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AA .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C72F23-9C12-29F5-FC32-C2EF6F410C50}"/>
              </a:ext>
            </a:extLst>
          </p:cNvPr>
          <p:cNvSpPr/>
          <p:nvPr/>
        </p:nvSpPr>
        <p:spPr>
          <a:xfrm>
            <a:off x="4791833" y="979713"/>
            <a:ext cx="876300" cy="489858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24776FF-0ACF-0628-FDC3-3BE6341CA96E}"/>
              </a:ext>
            </a:extLst>
          </p:cNvPr>
          <p:cNvSpPr/>
          <p:nvPr/>
        </p:nvSpPr>
        <p:spPr>
          <a:xfrm>
            <a:off x="7011177" y="3541932"/>
            <a:ext cx="890275" cy="3442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aA .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FB8C96-1430-6801-5375-E4CED5532A8C}"/>
              </a:ext>
            </a:extLst>
          </p:cNvPr>
          <p:cNvSpPr/>
          <p:nvPr/>
        </p:nvSpPr>
        <p:spPr>
          <a:xfrm>
            <a:off x="6960313" y="3514718"/>
            <a:ext cx="876300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2E7C618-A2AF-6A34-2353-01D6D2A7051B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3165788" y="1641021"/>
            <a:ext cx="0" cy="56877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5EEA7AF-7026-9FBF-0052-DA1EFC80374D}"/>
              </a:ext>
            </a:extLst>
          </p:cNvPr>
          <p:cNvCxnSpPr>
            <a:stCxn id="8" idx="3"/>
          </p:cNvCxnSpPr>
          <p:nvPr/>
        </p:nvCxnSpPr>
        <p:spPr>
          <a:xfrm flipV="1">
            <a:off x="3603938" y="2256075"/>
            <a:ext cx="1182872" cy="715725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BD50D3C-B5E0-C263-90F5-7EDEEADD446C}"/>
              </a:ext>
            </a:extLst>
          </p:cNvPr>
          <p:cNvCxnSpPr/>
          <p:nvPr/>
        </p:nvCxnSpPr>
        <p:spPr>
          <a:xfrm>
            <a:off x="3592873" y="3347356"/>
            <a:ext cx="1147713" cy="95248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0ACFECA-6BEA-2070-4404-89B65267949A}"/>
              </a:ext>
            </a:extLst>
          </p:cNvPr>
          <p:cNvCxnSpPr/>
          <p:nvPr/>
        </p:nvCxnSpPr>
        <p:spPr>
          <a:xfrm flipH="1" flipV="1">
            <a:off x="3147412" y="3744681"/>
            <a:ext cx="0" cy="1115568"/>
          </a:xfrm>
          <a:prstGeom prst="straightConnector1">
            <a:avLst/>
          </a:prstGeom>
          <a:ln w="25400">
            <a:solidFill>
              <a:srgbClr val="0E47A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FDA406D-E7C4-712E-20F1-8DE4ED3C74D5}"/>
              </a:ext>
            </a:extLst>
          </p:cNvPr>
          <p:cNvCxnSpPr/>
          <p:nvPr/>
        </p:nvCxnSpPr>
        <p:spPr>
          <a:xfrm flipH="1" flipV="1">
            <a:off x="5235799" y="1461408"/>
            <a:ext cx="0" cy="521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AE60C1C-0070-3A87-6F89-87E28328F877}"/>
              </a:ext>
            </a:extLst>
          </p:cNvPr>
          <p:cNvCxnSpPr/>
          <p:nvPr/>
        </p:nvCxnSpPr>
        <p:spPr>
          <a:xfrm flipV="1">
            <a:off x="5691740" y="2038354"/>
            <a:ext cx="1247009" cy="57694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AF1596D-B974-926D-4D7E-12CEEE31B582}"/>
              </a:ext>
            </a:extLst>
          </p:cNvPr>
          <p:cNvCxnSpPr>
            <a:stCxn id="13" idx="3"/>
            <a:endCxn id="26" idx="1"/>
          </p:cNvCxnSpPr>
          <p:nvPr/>
        </p:nvCxnSpPr>
        <p:spPr>
          <a:xfrm flipV="1">
            <a:off x="5660343" y="2977605"/>
            <a:ext cx="1309895" cy="2413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0F88C76-D1B7-D00A-0B66-51FCC79E9095}"/>
              </a:ext>
            </a:extLst>
          </p:cNvPr>
          <p:cNvCxnSpPr/>
          <p:nvPr/>
        </p:nvCxnSpPr>
        <p:spPr>
          <a:xfrm flipV="1">
            <a:off x="5675411" y="3707940"/>
            <a:ext cx="1268573" cy="71845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FA62029-26DC-7D3F-1A12-102740322BD2}"/>
              </a:ext>
            </a:extLst>
          </p:cNvPr>
          <p:cNvCxnSpPr/>
          <p:nvPr/>
        </p:nvCxnSpPr>
        <p:spPr>
          <a:xfrm flipV="1">
            <a:off x="5664338" y="4795159"/>
            <a:ext cx="1270650" cy="679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769743B-F7DA-5541-A993-D0EE55E6C297}"/>
              </a:ext>
            </a:extLst>
          </p:cNvPr>
          <p:cNvCxnSpPr/>
          <p:nvPr/>
        </p:nvCxnSpPr>
        <p:spPr>
          <a:xfrm>
            <a:off x="5672519" y="5052315"/>
            <a:ext cx="1204968" cy="90895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76946FF-BA13-5A5B-B241-AA88583F5F8A}"/>
                  </a:ext>
                </a:extLst>
              </p:cNvPr>
              <p:cNvSpPr/>
              <p:nvPr/>
            </p:nvSpPr>
            <p:spPr>
              <a:xfrm>
                <a:off x="2682222" y="1876422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baseline="-25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76946FF-BA13-5A5B-B241-AA88583F5F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222" y="1876422"/>
                <a:ext cx="364677" cy="315690"/>
              </a:xfrm>
              <a:prstGeom prst="rect">
                <a:avLst/>
              </a:prstGeom>
              <a:blipFill>
                <a:blip r:embed="rId2"/>
                <a:stretch>
                  <a:fillRect l="-3333" b="-9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1E77103-BA5F-9506-CE85-72C94B18397E}"/>
                  </a:ext>
                </a:extLst>
              </p:cNvPr>
              <p:cNvSpPr/>
              <p:nvPr/>
            </p:nvSpPr>
            <p:spPr>
              <a:xfrm>
                <a:off x="3603601" y="1262739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baseline="-25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1E77103-BA5F-9506-CE85-72C94B1839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601" y="1262739"/>
                <a:ext cx="364677" cy="315690"/>
              </a:xfrm>
              <a:prstGeom prst="rect">
                <a:avLst/>
              </a:prstGeom>
              <a:blipFill>
                <a:blip r:embed="rId3"/>
                <a:stretch>
                  <a:fillRect l="-3333" b="-9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D203DA3-665F-6EA1-01E2-48528D91A701}"/>
                  </a:ext>
                </a:extLst>
              </p:cNvPr>
              <p:cNvSpPr/>
              <p:nvPr/>
            </p:nvSpPr>
            <p:spPr>
              <a:xfrm>
                <a:off x="4700528" y="1627414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baseline="-25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D203DA3-665F-6EA1-01E2-48528D91A7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528" y="1627414"/>
                <a:ext cx="364677" cy="315690"/>
              </a:xfrm>
              <a:prstGeom prst="rect">
                <a:avLst/>
              </a:prstGeom>
              <a:blipFill>
                <a:blip r:embed="rId4"/>
                <a:stretch>
                  <a:fillRect l="-3333" b="-9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3319002D-F914-895E-FFAE-85B4818C51A6}"/>
                  </a:ext>
                </a:extLst>
              </p:cNvPr>
              <p:cNvSpPr/>
              <p:nvPr/>
            </p:nvSpPr>
            <p:spPr>
              <a:xfrm>
                <a:off x="4707303" y="3516080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3</a:t>
                </a: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3319002D-F914-895E-FFAE-85B4818C51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303" y="3516080"/>
                <a:ext cx="364677" cy="315690"/>
              </a:xfrm>
              <a:prstGeom prst="rect">
                <a:avLst/>
              </a:prstGeom>
              <a:blipFill>
                <a:blip r:embed="rId5"/>
                <a:stretch>
                  <a:fillRect r="-1667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F1AA1000-7329-88CC-3710-528BA10DB27F}"/>
                  </a:ext>
                </a:extLst>
              </p:cNvPr>
              <p:cNvSpPr/>
              <p:nvPr/>
            </p:nvSpPr>
            <p:spPr>
              <a:xfrm>
                <a:off x="7809835" y="3521513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6</a:t>
                </a: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F1AA1000-7329-88CC-3710-528BA10DB2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9835" y="3521513"/>
                <a:ext cx="364677" cy="315690"/>
              </a:xfrm>
              <a:prstGeom prst="rect">
                <a:avLst/>
              </a:prstGeom>
              <a:blipFill>
                <a:blip r:embed="rId6"/>
                <a:stretch>
                  <a:fillRect r="-1667" b="-37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073D5052-1699-8680-2D1B-5E96F240BE7C}"/>
                  </a:ext>
                </a:extLst>
              </p:cNvPr>
              <p:cNvSpPr/>
              <p:nvPr/>
            </p:nvSpPr>
            <p:spPr>
              <a:xfrm>
                <a:off x="5678015" y="1007595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5</a:t>
                </a: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073D5052-1699-8680-2D1B-5E96F240B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015" y="1007595"/>
                <a:ext cx="364677" cy="315690"/>
              </a:xfrm>
              <a:prstGeom prst="rect">
                <a:avLst/>
              </a:prstGeom>
              <a:blipFill>
                <a:blip r:embed="rId7"/>
                <a:stretch>
                  <a:fillRect r="-1667" b="-365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41228BCF-8DF9-E7B2-A6D1-E51C384AC111}"/>
                  </a:ext>
                </a:extLst>
              </p:cNvPr>
              <p:cNvSpPr/>
              <p:nvPr/>
            </p:nvSpPr>
            <p:spPr>
              <a:xfrm>
                <a:off x="7797738" y="1724018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3</a:t>
                </a: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41228BCF-8DF9-E7B2-A6D1-E51C384AC1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7738" y="1724018"/>
                <a:ext cx="364677" cy="315690"/>
              </a:xfrm>
              <a:prstGeom prst="rect">
                <a:avLst/>
              </a:prstGeom>
              <a:blipFill>
                <a:blip r:embed="rId8"/>
                <a:stretch>
                  <a:fillRect r="-1667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683E27A-52E1-2C11-4418-045CADA3FD2E}"/>
                  </a:ext>
                </a:extLst>
              </p:cNvPr>
              <p:cNvSpPr/>
              <p:nvPr/>
            </p:nvSpPr>
            <p:spPr>
              <a:xfrm>
                <a:off x="7816731" y="4736625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3</a:t>
                </a: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683E27A-52E1-2C11-4418-045CADA3FD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731" y="4736625"/>
                <a:ext cx="364677" cy="315690"/>
              </a:xfrm>
              <a:prstGeom prst="rect">
                <a:avLst/>
              </a:prstGeom>
              <a:blipFill>
                <a:blip r:embed="rId9"/>
                <a:stretch>
                  <a:fillRect r="-1667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AE25E414-CE4A-CFC2-77AB-53E37C2393AF}"/>
                  </a:ext>
                </a:extLst>
              </p:cNvPr>
              <p:cNvSpPr/>
              <p:nvPr/>
            </p:nvSpPr>
            <p:spPr>
              <a:xfrm>
                <a:off x="7797738" y="2823459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4</a:t>
                </a: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AE25E414-CE4A-CFC2-77AB-53E37C2393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7738" y="2823459"/>
                <a:ext cx="364677" cy="315690"/>
              </a:xfrm>
              <a:prstGeom prst="rect">
                <a:avLst/>
              </a:prstGeom>
              <a:blipFill>
                <a:blip r:embed="rId10"/>
                <a:stretch>
                  <a:fillRect r="-1667" b="-365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B1134995-409C-0E6C-9CF1-575AD2646D9E}"/>
                  </a:ext>
                </a:extLst>
              </p:cNvPr>
              <p:cNvSpPr/>
              <p:nvPr/>
            </p:nvSpPr>
            <p:spPr>
              <a:xfrm>
                <a:off x="7781697" y="5961273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4</a:t>
                </a: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B1134995-409C-0E6C-9CF1-575AD2646D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1697" y="5961273"/>
                <a:ext cx="364677" cy="315690"/>
              </a:xfrm>
              <a:prstGeom prst="rect">
                <a:avLst/>
              </a:prstGeom>
              <a:blipFill>
                <a:blip r:embed="rId11"/>
                <a:stretch>
                  <a:fillRect r="-1695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AF3E1E7-98F4-F8DA-23A6-EF3CFDB4741C}"/>
                  </a:ext>
                </a:extLst>
              </p:cNvPr>
              <p:cNvSpPr/>
              <p:nvPr/>
            </p:nvSpPr>
            <p:spPr>
              <a:xfrm>
                <a:off x="3554276" y="4849581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4</a:t>
                </a: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AF3E1E7-98F4-F8DA-23A6-EF3CFDB474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276" y="4849581"/>
                <a:ext cx="364677" cy="315690"/>
              </a:xfrm>
              <a:prstGeom prst="rect">
                <a:avLst/>
              </a:prstGeom>
              <a:blipFill>
                <a:blip r:embed="rId12"/>
                <a:stretch>
                  <a:fillRect r="-1667" b="-37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977742B-848D-FD6C-A451-D1961CB9F07B}"/>
                  </a:ext>
                </a:extLst>
              </p:cNvPr>
              <p:cNvSpPr/>
              <p:nvPr/>
            </p:nvSpPr>
            <p:spPr>
              <a:xfrm>
                <a:off x="3246041" y="1728102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977742B-848D-FD6C-A451-D1961CB9F0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041" y="1728102"/>
                <a:ext cx="1138981" cy="429992"/>
              </a:xfrm>
              <a:prstGeom prst="rect">
                <a:avLst/>
              </a:prstGeom>
              <a:blipFill>
                <a:blip r:embed="rId13"/>
                <a:stretch>
                  <a:fillRect l="-6417" r="-5882" b="-14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2C5037F-F540-F24A-5652-3AF8F8E2CF9B}"/>
                  </a:ext>
                </a:extLst>
              </p:cNvPr>
              <p:cNvSpPr/>
              <p:nvPr/>
            </p:nvSpPr>
            <p:spPr>
              <a:xfrm rot="19738692">
                <a:off x="3680150" y="2539347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2C5037F-F540-F24A-5652-3AF8F8E2CF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738692">
                <a:off x="3680150" y="2539347"/>
                <a:ext cx="1138981" cy="429992"/>
              </a:xfrm>
              <a:prstGeom prst="rect">
                <a:avLst/>
              </a:prstGeom>
              <a:blipFill>
                <a:blip r:embed="rId14"/>
                <a:stretch>
                  <a:fillRect l="-1515" r="-50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18DD6285-54B1-653A-3BAA-FDE450C55222}"/>
                  </a:ext>
                </a:extLst>
              </p:cNvPr>
              <p:cNvSpPr/>
              <p:nvPr/>
            </p:nvSpPr>
            <p:spPr>
              <a:xfrm rot="2353495">
                <a:off x="3671975" y="3448255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18DD6285-54B1-653A-3BAA-FDE450C552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353495">
                <a:off x="3671975" y="3448255"/>
                <a:ext cx="1138981" cy="429992"/>
              </a:xfrm>
              <a:prstGeom prst="rect">
                <a:avLst/>
              </a:prstGeom>
              <a:blipFill>
                <a:blip r:embed="rId15"/>
                <a:stretch>
                  <a:fillRect l="-1579" b="-40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2DCE12D0-C017-CADC-4838-DEDE73787883}"/>
                  </a:ext>
                </a:extLst>
              </p:cNvPr>
              <p:cNvSpPr/>
              <p:nvPr/>
            </p:nvSpPr>
            <p:spPr>
              <a:xfrm>
                <a:off x="3266079" y="4309362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2DCE12D0-C017-CADC-4838-DEDE737878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079" y="4309362"/>
                <a:ext cx="1138981" cy="429992"/>
              </a:xfrm>
              <a:prstGeom prst="rect">
                <a:avLst/>
              </a:prstGeom>
              <a:blipFill>
                <a:blip r:embed="rId16"/>
                <a:stretch>
                  <a:fillRect l="-7487" r="-5348" b="-2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FE911F9-BF56-C19E-DAA5-0AF733063161}"/>
                  </a:ext>
                </a:extLst>
              </p:cNvPr>
              <p:cNvSpPr/>
              <p:nvPr/>
            </p:nvSpPr>
            <p:spPr>
              <a:xfrm rot="20088118">
                <a:off x="5797624" y="2298677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FE911F9-BF56-C19E-DAA5-0AF7330631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088118">
                <a:off x="5797624" y="2298677"/>
                <a:ext cx="1138981" cy="413614"/>
              </a:xfrm>
              <a:prstGeom prst="rect">
                <a:avLst/>
              </a:prstGeom>
              <a:blipFill>
                <a:blip r:embed="rId17"/>
                <a:stretch>
                  <a:fillRect l="-2513" r="-50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B70E2CD-1D9B-9644-FEA2-17425C5029A8}"/>
                  </a:ext>
                </a:extLst>
              </p:cNvPr>
              <p:cNvSpPr/>
              <p:nvPr/>
            </p:nvSpPr>
            <p:spPr>
              <a:xfrm>
                <a:off x="5779678" y="2924153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B70E2CD-1D9B-9644-FEA2-17425C5029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9678" y="2924153"/>
                <a:ext cx="1138981" cy="429992"/>
              </a:xfrm>
              <a:prstGeom prst="rect">
                <a:avLst/>
              </a:prstGeom>
              <a:blipFill>
                <a:blip r:embed="rId18"/>
                <a:stretch>
                  <a:fillRect l="-6952" r="-5348" b="-2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792313DD-BC47-B724-92D5-D9B90E77640A}"/>
                  </a:ext>
                </a:extLst>
              </p:cNvPr>
              <p:cNvSpPr/>
              <p:nvPr/>
            </p:nvSpPr>
            <p:spPr>
              <a:xfrm>
                <a:off x="5319269" y="1452730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792313DD-BC47-B724-92D5-D9B90E7764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269" y="1452730"/>
                <a:ext cx="1138981" cy="429992"/>
              </a:xfrm>
              <a:prstGeom prst="rect">
                <a:avLst/>
              </a:prstGeom>
              <a:blipFill>
                <a:blip r:embed="rId19"/>
                <a:stretch>
                  <a:fillRect l="-8065" r="-6452" b="-14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93F8BE4-E49C-2AC6-D4F6-7DCBFAED951D}"/>
                  </a:ext>
                </a:extLst>
              </p:cNvPr>
              <p:cNvSpPr/>
              <p:nvPr/>
            </p:nvSpPr>
            <p:spPr>
              <a:xfrm rot="19594018">
                <a:off x="5737859" y="3659952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93F8BE4-E49C-2AC6-D4F6-7DCBFAED95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018">
                <a:off x="5737859" y="3659952"/>
                <a:ext cx="1138981" cy="413614"/>
              </a:xfrm>
              <a:prstGeom prst="rect">
                <a:avLst/>
              </a:prstGeom>
              <a:blipFill>
                <a:blip r:embed="rId20"/>
                <a:stretch>
                  <a:fillRect l="-2062" r="-51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24789230-E991-53C0-6767-8698FE760052}"/>
                  </a:ext>
                </a:extLst>
              </p:cNvPr>
              <p:cNvSpPr/>
              <p:nvPr/>
            </p:nvSpPr>
            <p:spPr>
              <a:xfrm>
                <a:off x="5790401" y="4429455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24789230-E991-53C0-6767-8698FE7600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0401" y="4429455"/>
                <a:ext cx="1138981" cy="413614"/>
              </a:xfrm>
              <a:prstGeom prst="rect">
                <a:avLst/>
              </a:prstGeom>
              <a:blipFill>
                <a:blip r:embed="rId21"/>
                <a:stretch>
                  <a:fillRect l="-7487" r="-5348" b="-44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D474D397-F5A0-11A1-971C-D6FE2260308C}"/>
                  </a:ext>
                </a:extLst>
              </p:cNvPr>
              <p:cNvSpPr/>
              <p:nvPr/>
            </p:nvSpPr>
            <p:spPr>
              <a:xfrm rot="2162234">
                <a:off x="5829256" y="5141277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D474D397-F5A0-11A1-971C-D6FE226030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62234">
                <a:off x="5829256" y="5141277"/>
                <a:ext cx="1138981" cy="413614"/>
              </a:xfrm>
              <a:prstGeom prst="rect">
                <a:avLst/>
              </a:prstGeom>
              <a:blipFill>
                <a:blip r:embed="rId22"/>
                <a:stretch>
                  <a:fillRect l="-2604" b="-48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ight Brace 68">
            <a:extLst>
              <a:ext uri="{FF2B5EF4-FFF2-40B4-BE49-F238E27FC236}">
                <a16:creationId xmlns:a16="http://schemas.microsoft.com/office/drawing/2014/main" id="{FC604F0A-223A-8A0B-543A-FAE81B9D57DC}"/>
              </a:ext>
            </a:extLst>
          </p:cNvPr>
          <p:cNvSpPr/>
          <p:nvPr/>
        </p:nvSpPr>
        <p:spPr>
          <a:xfrm>
            <a:off x="8480738" y="1151163"/>
            <a:ext cx="914400" cy="5173437"/>
          </a:xfrm>
          <a:prstGeom prst="rightBrac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598ABE9-8DC3-E3C1-0A56-F2AABDE0226E}"/>
              </a:ext>
            </a:extLst>
          </p:cNvPr>
          <p:cNvSpPr/>
          <p:nvPr/>
        </p:nvSpPr>
        <p:spPr>
          <a:xfrm>
            <a:off x="9395138" y="3380404"/>
            <a:ext cx="1752600" cy="6881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LR(0) item set 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34C5B8B-3348-1226-7F47-D898C587F3F1}"/>
              </a:ext>
            </a:extLst>
          </p:cNvPr>
          <p:cNvSpPr/>
          <p:nvPr/>
        </p:nvSpPr>
        <p:spPr>
          <a:xfrm>
            <a:off x="855372" y="2296887"/>
            <a:ext cx="6477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S’</a:t>
            </a:r>
            <a:r>
              <a:rPr lang="en-US" dirty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S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0286EF1-D96D-A495-FA14-5B41BD16BFEA}"/>
              </a:ext>
            </a:extLst>
          </p:cNvPr>
          <p:cNvSpPr/>
          <p:nvPr/>
        </p:nvSpPr>
        <p:spPr>
          <a:xfrm>
            <a:off x="855372" y="2607129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S</a:t>
            </a:r>
            <a:r>
              <a:rPr lang="en-US" dirty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AA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11100A9-558C-2D99-A903-6A12004BF28E}"/>
              </a:ext>
            </a:extLst>
          </p:cNvPr>
          <p:cNvSpPr/>
          <p:nvPr/>
        </p:nvSpPr>
        <p:spPr>
          <a:xfrm>
            <a:off x="855372" y="2982686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dirty="0" err="1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AaA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BB17D75-3213-5996-C96A-3B3EB71975EE}"/>
              </a:ext>
            </a:extLst>
          </p:cNvPr>
          <p:cNvSpPr/>
          <p:nvPr/>
        </p:nvSpPr>
        <p:spPr>
          <a:xfrm>
            <a:off x="860815" y="3358243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dirty="0" err="1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Ab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D88641A-09CB-9CBA-AEC0-9C67BD6DDCE2}"/>
              </a:ext>
            </a:extLst>
          </p:cNvPr>
          <p:cNvSpPr txBox="1"/>
          <p:nvPr/>
        </p:nvSpPr>
        <p:spPr>
          <a:xfrm>
            <a:off x="493543" y="3780063"/>
            <a:ext cx="1500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Augmented </a:t>
            </a:r>
          </a:p>
          <a:p>
            <a:r>
              <a:rPr lang="en-US" dirty="0"/>
              <a:t>Grammar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2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mph" presetSubtype="2" dur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5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7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9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3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4" grpId="2"/>
      <p:bldP spid="5" grpId="0"/>
      <p:bldP spid="5" grpId="1"/>
      <p:bldP spid="5" grpId="2"/>
      <p:bldP spid="6" grpId="0"/>
      <p:bldP spid="6" grpId="1"/>
      <p:bldP spid="6" grpId="2"/>
      <p:bldP spid="7" grpId="0"/>
      <p:bldP spid="7" grpId="1"/>
      <p:bldP spid="7" grpId="2"/>
      <p:bldP spid="8" grpId="0" animBg="1"/>
      <p:bldP spid="9" grpId="0"/>
      <p:bldP spid="10" grpId="0" animBg="1"/>
      <p:bldP spid="11" grpId="0"/>
      <p:bldP spid="11" grpId="1"/>
      <p:bldP spid="11" grpId="2"/>
      <p:bldP spid="12" grpId="0"/>
      <p:bldP spid="12" grpId="1"/>
      <p:bldP spid="12" grpId="2"/>
      <p:bldP spid="13" grpId="0"/>
      <p:bldP spid="13" grpId="1"/>
      <p:bldP spid="13" grpId="2"/>
      <p:bldP spid="14" grpId="0" animBg="1"/>
      <p:bldP spid="15" grpId="0"/>
      <p:bldP spid="15" grpId="1"/>
      <p:bldP spid="15" grpId="2"/>
      <p:bldP spid="16" grpId="0"/>
      <p:bldP spid="16" grpId="1"/>
      <p:bldP spid="16" grpId="2"/>
      <p:bldP spid="17" grpId="0" animBg="1"/>
      <p:bldP spid="18" grpId="0"/>
      <p:bldP spid="18" grpId="1"/>
      <p:bldP spid="18" grpId="2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  <p:bldP spid="26" grpId="0" animBg="1"/>
      <p:bldP spid="27" grpId="0"/>
      <p:bldP spid="28" grpId="0"/>
      <p:bldP spid="29" grpId="0" animBg="1"/>
      <p:bldP spid="30" grpId="0"/>
      <p:bldP spid="31" grpId="0"/>
      <p:bldP spid="32" grpId="0" animBg="1"/>
      <p:bldP spid="33" grpId="0"/>
      <p:bldP spid="34" grpId="0" animBg="1"/>
      <p:bldP spid="35" grpId="0"/>
      <p:bldP spid="36" grpId="0" animBg="1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9" grpId="0" animBg="1"/>
      <p:bldP spid="70" grpId="0"/>
      <p:bldP spid="71" grpId="0"/>
      <p:bldP spid="72" grpId="0"/>
      <p:bldP spid="73" grpId="0"/>
      <p:bldP spid="74" grpId="0"/>
      <p:bldP spid="7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51CA4-18DE-BC79-A515-C1BFBB29750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Example 2: SLR(1)- simple LR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38F7EF7-7B71-2B80-7F97-64C9D7CC3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431394"/>
              </p:ext>
            </p:extLst>
          </p:nvPr>
        </p:nvGraphicFramePr>
        <p:xfrm>
          <a:off x="7411890" y="1188359"/>
          <a:ext cx="3305812" cy="36068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3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1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/>
                        <a:t>Action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Go to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Item</a:t>
                      </a:r>
                    </a:p>
                    <a:p>
                      <a:pPr algn="ctr"/>
                      <a:r>
                        <a:rPr lang="en-US"/>
                        <a:t>set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S3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Accept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S3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S4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S3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S4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R3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R1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R2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R2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R2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D9C7CF6-F3FD-847F-2328-E1D52F77CE4E}"/>
              </a:ext>
            </a:extLst>
          </p:cNvPr>
          <p:cNvSpPr/>
          <p:nvPr/>
        </p:nvSpPr>
        <p:spPr>
          <a:xfrm>
            <a:off x="244923" y="2286000"/>
            <a:ext cx="6477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S’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. S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5C9894-BE92-E619-7D31-CF94F44E991B}"/>
              </a:ext>
            </a:extLst>
          </p:cNvPr>
          <p:cNvSpPr/>
          <p:nvPr/>
        </p:nvSpPr>
        <p:spPr>
          <a:xfrm>
            <a:off x="244923" y="2596242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3AAFE7-417D-D68E-231B-B1B942577FF3}"/>
              </a:ext>
            </a:extLst>
          </p:cNvPr>
          <p:cNvSpPr/>
          <p:nvPr/>
        </p:nvSpPr>
        <p:spPr>
          <a:xfrm>
            <a:off x="244923" y="2971799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52F8A4-8488-5335-2517-AB2C81B9945A}"/>
              </a:ext>
            </a:extLst>
          </p:cNvPr>
          <p:cNvSpPr/>
          <p:nvPr/>
        </p:nvSpPr>
        <p:spPr>
          <a:xfrm>
            <a:off x="250366" y="3347356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58525F-222B-CD90-403F-8904B226A8C8}"/>
              </a:ext>
            </a:extLst>
          </p:cNvPr>
          <p:cNvSpPr/>
          <p:nvPr/>
        </p:nvSpPr>
        <p:spPr>
          <a:xfrm>
            <a:off x="190500" y="2209800"/>
            <a:ext cx="876300" cy="15240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0E94F6-D56E-389A-F61C-34AF54E0136F}"/>
              </a:ext>
            </a:extLst>
          </p:cNvPr>
          <p:cNvSpPr/>
          <p:nvPr/>
        </p:nvSpPr>
        <p:spPr>
          <a:xfrm>
            <a:off x="353784" y="1257300"/>
            <a:ext cx="6477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S’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S.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C2CA32-F89F-BF6D-1F07-BEB531FF71CD}"/>
              </a:ext>
            </a:extLst>
          </p:cNvPr>
          <p:cNvSpPr/>
          <p:nvPr/>
        </p:nvSpPr>
        <p:spPr>
          <a:xfrm>
            <a:off x="172124" y="1151163"/>
            <a:ext cx="876300" cy="489858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EB81C4-403A-9CF8-0F65-A1EF49375F32}"/>
              </a:ext>
            </a:extLst>
          </p:cNvPr>
          <p:cNvSpPr/>
          <p:nvPr/>
        </p:nvSpPr>
        <p:spPr>
          <a:xfrm>
            <a:off x="2279562" y="2062842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A . 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153B35-899F-4498-6FF7-1DB05F1D9263}"/>
              </a:ext>
            </a:extLst>
          </p:cNvPr>
          <p:cNvSpPr/>
          <p:nvPr/>
        </p:nvSpPr>
        <p:spPr>
          <a:xfrm>
            <a:off x="2279562" y="2438399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078FFF-1872-C61B-822E-84F396A010E6}"/>
              </a:ext>
            </a:extLst>
          </p:cNvPr>
          <p:cNvSpPr/>
          <p:nvPr/>
        </p:nvSpPr>
        <p:spPr>
          <a:xfrm>
            <a:off x="2285005" y="2813956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A03FFB-A956-7E8D-BD9F-26EDC1B33BBF}"/>
              </a:ext>
            </a:extLst>
          </p:cNvPr>
          <p:cNvSpPr/>
          <p:nvPr/>
        </p:nvSpPr>
        <p:spPr>
          <a:xfrm>
            <a:off x="2241467" y="1981200"/>
            <a:ext cx="892623" cy="12083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30D3E7-1D82-3352-D52E-1D6F9C081939}"/>
              </a:ext>
            </a:extLst>
          </p:cNvPr>
          <p:cNvSpPr/>
          <p:nvPr/>
        </p:nvSpPr>
        <p:spPr>
          <a:xfrm>
            <a:off x="2279561" y="4419602"/>
            <a:ext cx="838200" cy="364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A15507-FD94-7D15-CE24-63F64D21967D}"/>
              </a:ext>
            </a:extLst>
          </p:cNvPr>
          <p:cNvSpPr/>
          <p:nvPr/>
        </p:nvSpPr>
        <p:spPr>
          <a:xfrm>
            <a:off x="2285004" y="4795159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DC7793-F7E2-6088-CCAD-4F2F4DEDFBF8}"/>
              </a:ext>
            </a:extLst>
          </p:cNvPr>
          <p:cNvSpPr/>
          <p:nvPr/>
        </p:nvSpPr>
        <p:spPr>
          <a:xfrm>
            <a:off x="2225137" y="3897089"/>
            <a:ext cx="903509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001F5D-64CC-BFEC-75D1-92B70D32AC3A}"/>
              </a:ext>
            </a:extLst>
          </p:cNvPr>
          <p:cNvSpPr/>
          <p:nvPr/>
        </p:nvSpPr>
        <p:spPr>
          <a:xfrm>
            <a:off x="2285004" y="4068536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 . 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DB56BD-BAFF-8050-D005-9DEC5362B20F}"/>
              </a:ext>
            </a:extLst>
          </p:cNvPr>
          <p:cNvSpPr/>
          <p:nvPr/>
        </p:nvSpPr>
        <p:spPr>
          <a:xfrm>
            <a:off x="271800" y="4910792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90649A-3525-B997-E261-F5245F20CDC7}"/>
              </a:ext>
            </a:extLst>
          </p:cNvPr>
          <p:cNvSpPr/>
          <p:nvPr/>
        </p:nvSpPr>
        <p:spPr>
          <a:xfrm>
            <a:off x="183044" y="4864519"/>
            <a:ext cx="876300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A2DA7B-1551-32CE-8D00-768FB074C605}"/>
              </a:ext>
            </a:extLst>
          </p:cNvPr>
          <p:cNvSpPr/>
          <p:nvPr/>
        </p:nvSpPr>
        <p:spPr>
          <a:xfrm>
            <a:off x="4440029" y="1755320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236825-1B7C-A81E-02A7-7E8D5146D7A3}"/>
              </a:ext>
            </a:extLst>
          </p:cNvPr>
          <p:cNvSpPr/>
          <p:nvPr/>
        </p:nvSpPr>
        <p:spPr>
          <a:xfrm>
            <a:off x="4445472" y="2130877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FAC080-D245-1911-0818-B7CDFA1EAE0D}"/>
              </a:ext>
            </a:extLst>
          </p:cNvPr>
          <p:cNvSpPr/>
          <p:nvPr/>
        </p:nvSpPr>
        <p:spPr>
          <a:xfrm>
            <a:off x="4401611" y="1216478"/>
            <a:ext cx="903509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B98963-12E0-1FE9-1FAC-4CAC844A05CB}"/>
              </a:ext>
            </a:extLst>
          </p:cNvPr>
          <p:cNvSpPr/>
          <p:nvPr/>
        </p:nvSpPr>
        <p:spPr>
          <a:xfrm>
            <a:off x="4445472" y="1404254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 . 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582759-75ED-2BA9-7E78-FD94B34D80C9}"/>
              </a:ext>
            </a:extLst>
          </p:cNvPr>
          <p:cNvSpPr/>
          <p:nvPr/>
        </p:nvSpPr>
        <p:spPr>
          <a:xfrm>
            <a:off x="4523014" y="2775857"/>
            <a:ext cx="825648" cy="4027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2E9624-45CD-4948-EB94-B2C1D8691E1B}"/>
              </a:ext>
            </a:extLst>
          </p:cNvPr>
          <p:cNvSpPr/>
          <p:nvPr/>
        </p:nvSpPr>
        <p:spPr>
          <a:xfrm>
            <a:off x="4433100" y="2784383"/>
            <a:ext cx="876300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E5048C0-9C1D-60BF-9E7A-F621C7F93AC6}"/>
              </a:ext>
            </a:extLst>
          </p:cNvPr>
          <p:cNvSpPr/>
          <p:nvPr/>
        </p:nvSpPr>
        <p:spPr>
          <a:xfrm>
            <a:off x="4479495" y="4825090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E2C6F7-C547-6D66-37B6-73C4044B70F0}"/>
              </a:ext>
            </a:extLst>
          </p:cNvPr>
          <p:cNvSpPr/>
          <p:nvPr/>
        </p:nvSpPr>
        <p:spPr>
          <a:xfrm>
            <a:off x="4484938" y="5200647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621FBCD-CFB0-0088-C489-D1E773BDA320}"/>
              </a:ext>
            </a:extLst>
          </p:cNvPr>
          <p:cNvSpPr/>
          <p:nvPr/>
        </p:nvSpPr>
        <p:spPr>
          <a:xfrm>
            <a:off x="4422656" y="4285585"/>
            <a:ext cx="903509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F08880C-8117-DCF5-6891-082368B52436}"/>
              </a:ext>
            </a:extLst>
          </p:cNvPr>
          <p:cNvSpPr/>
          <p:nvPr/>
        </p:nvSpPr>
        <p:spPr>
          <a:xfrm>
            <a:off x="4484938" y="4474024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 . 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762AD5D-CD68-A29D-4509-B244969BEB62}"/>
              </a:ext>
            </a:extLst>
          </p:cNvPr>
          <p:cNvSpPr/>
          <p:nvPr/>
        </p:nvSpPr>
        <p:spPr>
          <a:xfrm>
            <a:off x="4452274" y="5938156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B9C71A2-9353-C99F-B957-B1CA1C3D1635}"/>
              </a:ext>
            </a:extLst>
          </p:cNvPr>
          <p:cNvSpPr/>
          <p:nvPr/>
        </p:nvSpPr>
        <p:spPr>
          <a:xfrm>
            <a:off x="4343421" y="5938156"/>
            <a:ext cx="876300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99EC9D-3244-9BEC-CFF2-19EC58072436}"/>
              </a:ext>
            </a:extLst>
          </p:cNvPr>
          <p:cNvSpPr/>
          <p:nvPr/>
        </p:nvSpPr>
        <p:spPr>
          <a:xfrm>
            <a:off x="2330898" y="1066799"/>
            <a:ext cx="843635" cy="323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AA .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D4845C7-B032-9C2F-3A97-4B7EE63F7FCE}"/>
              </a:ext>
            </a:extLst>
          </p:cNvPr>
          <p:cNvSpPr/>
          <p:nvPr/>
        </p:nvSpPr>
        <p:spPr>
          <a:xfrm>
            <a:off x="2254695" y="979713"/>
            <a:ext cx="876300" cy="489858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5D766C8-8155-314F-0006-BE8654EE54B6}"/>
              </a:ext>
            </a:extLst>
          </p:cNvPr>
          <p:cNvSpPr/>
          <p:nvPr/>
        </p:nvSpPr>
        <p:spPr>
          <a:xfrm>
            <a:off x="4474039" y="3541932"/>
            <a:ext cx="890275" cy="3442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aA .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78E65BE-3BBD-6B1C-1B0B-56029E65D1A1}"/>
              </a:ext>
            </a:extLst>
          </p:cNvPr>
          <p:cNvSpPr/>
          <p:nvPr/>
        </p:nvSpPr>
        <p:spPr>
          <a:xfrm>
            <a:off x="4423175" y="3514718"/>
            <a:ext cx="876300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BA55ECB-0122-05B6-8A99-9EAA3191DA76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628650" y="1641021"/>
            <a:ext cx="0" cy="56877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B4277B7-F7C4-DE4B-4852-5207DB7B1BD5}"/>
              </a:ext>
            </a:extLst>
          </p:cNvPr>
          <p:cNvCxnSpPr>
            <a:stCxn id="8" idx="3"/>
          </p:cNvCxnSpPr>
          <p:nvPr/>
        </p:nvCxnSpPr>
        <p:spPr>
          <a:xfrm flipV="1">
            <a:off x="1066800" y="2256075"/>
            <a:ext cx="1182872" cy="715725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477F666-B508-6A5E-7CE9-6A0458C02F44}"/>
              </a:ext>
            </a:extLst>
          </p:cNvPr>
          <p:cNvCxnSpPr/>
          <p:nvPr/>
        </p:nvCxnSpPr>
        <p:spPr>
          <a:xfrm>
            <a:off x="1055735" y="3347356"/>
            <a:ext cx="1147713" cy="95248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53B94DA-8C76-C7E0-00B5-089726A6EAB3}"/>
              </a:ext>
            </a:extLst>
          </p:cNvPr>
          <p:cNvCxnSpPr/>
          <p:nvPr/>
        </p:nvCxnSpPr>
        <p:spPr>
          <a:xfrm flipH="1" flipV="1">
            <a:off x="610274" y="3744681"/>
            <a:ext cx="0" cy="1115568"/>
          </a:xfrm>
          <a:prstGeom prst="straightConnector1">
            <a:avLst/>
          </a:prstGeom>
          <a:ln w="25400">
            <a:solidFill>
              <a:srgbClr val="0E47A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4057E06-A20E-4F26-26AD-C1A5EF14D2A8}"/>
              </a:ext>
            </a:extLst>
          </p:cNvPr>
          <p:cNvCxnSpPr/>
          <p:nvPr/>
        </p:nvCxnSpPr>
        <p:spPr>
          <a:xfrm flipH="1" flipV="1">
            <a:off x="2698661" y="1461408"/>
            <a:ext cx="0" cy="521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A6DF990-616C-FF1F-A824-4C71E30FD31B}"/>
              </a:ext>
            </a:extLst>
          </p:cNvPr>
          <p:cNvCxnSpPr/>
          <p:nvPr/>
        </p:nvCxnSpPr>
        <p:spPr>
          <a:xfrm flipV="1">
            <a:off x="3154602" y="2038354"/>
            <a:ext cx="1247009" cy="57694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1778B34-283C-097F-C850-3543D1791AD5}"/>
              </a:ext>
            </a:extLst>
          </p:cNvPr>
          <p:cNvCxnSpPr>
            <a:stCxn id="13" idx="3"/>
            <a:endCxn id="26" idx="1"/>
          </p:cNvCxnSpPr>
          <p:nvPr/>
        </p:nvCxnSpPr>
        <p:spPr>
          <a:xfrm flipV="1">
            <a:off x="3123205" y="2977605"/>
            <a:ext cx="1309895" cy="2413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AFAA40D-85E4-3E80-3B25-95CBDA74A069}"/>
              </a:ext>
            </a:extLst>
          </p:cNvPr>
          <p:cNvCxnSpPr/>
          <p:nvPr/>
        </p:nvCxnSpPr>
        <p:spPr>
          <a:xfrm flipV="1">
            <a:off x="3138273" y="3707940"/>
            <a:ext cx="1268573" cy="71845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B72BDC8-1A7E-E1A8-D098-D113AC03E9C0}"/>
              </a:ext>
            </a:extLst>
          </p:cNvPr>
          <p:cNvCxnSpPr/>
          <p:nvPr/>
        </p:nvCxnSpPr>
        <p:spPr>
          <a:xfrm flipV="1">
            <a:off x="3127200" y="4795159"/>
            <a:ext cx="1270650" cy="679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F4A8FE4-9A34-C79D-5850-5DB6C8C88401}"/>
              </a:ext>
            </a:extLst>
          </p:cNvPr>
          <p:cNvCxnSpPr/>
          <p:nvPr/>
        </p:nvCxnSpPr>
        <p:spPr>
          <a:xfrm>
            <a:off x="3135381" y="5052315"/>
            <a:ext cx="1204968" cy="90895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06FDD63-15DD-8250-7865-C39A526928C3}"/>
                  </a:ext>
                </a:extLst>
              </p:cNvPr>
              <p:cNvSpPr/>
              <p:nvPr/>
            </p:nvSpPr>
            <p:spPr>
              <a:xfrm>
                <a:off x="145084" y="1876422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baseline="-25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06FDD63-15DD-8250-7865-C39A526928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84" y="1876422"/>
                <a:ext cx="364677" cy="315690"/>
              </a:xfrm>
              <a:prstGeom prst="rect">
                <a:avLst/>
              </a:prstGeom>
              <a:blipFill>
                <a:blip r:embed="rId2"/>
                <a:stretch>
                  <a:fillRect l="-3333" b="-9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5B28955-DFD0-20DA-4248-18446EA65145}"/>
                  </a:ext>
                </a:extLst>
              </p:cNvPr>
              <p:cNvSpPr/>
              <p:nvPr/>
            </p:nvSpPr>
            <p:spPr>
              <a:xfrm>
                <a:off x="1066463" y="1262739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baseline="-25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5B28955-DFD0-20DA-4248-18446EA651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463" y="1262739"/>
                <a:ext cx="364677" cy="315690"/>
              </a:xfrm>
              <a:prstGeom prst="rect">
                <a:avLst/>
              </a:prstGeom>
              <a:blipFill>
                <a:blip r:embed="rId3"/>
                <a:stretch>
                  <a:fillRect l="-3333" b="-9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C8B438DA-8A6D-7B84-902C-A4D7944064F0}"/>
                  </a:ext>
                </a:extLst>
              </p:cNvPr>
              <p:cNvSpPr/>
              <p:nvPr/>
            </p:nvSpPr>
            <p:spPr>
              <a:xfrm>
                <a:off x="2163390" y="1627414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baseline="-25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C8B438DA-8A6D-7B84-902C-A4D7944064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390" y="1627414"/>
                <a:ext cx="364677" cy="315690"/>
              </a:xfrm>
              <a:prstGeom prst="rect">
                <a:avLst/>
              </a:prstGeom>
              <a:blipFill>
                <a:blip r:embed="rId4"/>
                <a:stretch>
                  <a:fillRect l="-3333" b="-9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CF57706-8559-3B1F-9087-8E05D1800D7B}"/>
                  </a:ext>
                </a:extLst>
              </p:cNvPr>
              <p:cNvSpPr/>
              <p:nvPr/>
            </p:nvSpPr>
            <p:spPr>
              <a:xfrm>
                <a:off x="2170165" y="3516080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3</a:t>
                </a: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CF57706-8559-3B1F-9087-8E05D1800D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165" y="3516080"/>
                <a:ext cx="364677" cy="315690"/>
              </a:xfrm>
              <a:prstGeom prst="rect">
                <a:avLst/>
              </a:prstGeom>
              <a:blipFill>
                <a:blip r:embed="rId5"/>
                <a:stretch>
                  <a:fillRect r="-1667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97C39D5-A53B-5BB5-88E9-7020B21026C4}"/>
                  </a:ext>
                </a:extLst>
              </p:cNvPr>
              <p:cNvSpPr/>
              <p:nvPr/>
            </p:nvSpPr>
            <p:spPr>
              <a:xfrm>
                <a:off x="5272697" y="3521513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6</a:t>
                </a: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97C39D5-A53B-5BB5-88E9-7020B21026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697" y="3521513"/>
                <a:ext cx="364677" cy="315690"/>
              </a:xfrm>
              <a:prstGeom prst="rect">
                <a:avLst/>
              </a:prstGeom>
              <a:blipFill>
                <a:blip r:embed="rId6"/>
                <a:stretch>
                  <a:fillRect r="-1667" b="-37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1863B578-5291-C724-E0CA-96DADCCD9591}"/>
                  </a:ext>
                </a:extLst>
              </p:cNvPr>
              <p:cNvSpPr/>
              <p:nvPr/>
            </p:nvSpPr>
            <p:spPr>
              <a:xfrm>
                <a:off x="3140877" y="1007595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5</a:t>
                </a: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1863B578-5291-C724-E0CA-96DADCCD95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877" y="1007595"/>
                <a:ext cx="364677" cy="315690"/>
              </a:xfrm>
              <a:prstGeom prst="rect">
                <a:avLst/>
              </a:prstGeom>
              <a:blipFill>
                <a:blip r:embed="rId7"/>
                <a:stretch>
                  <a:fillRect r="-1667" b="-365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DE8A77F-3815-914C-2792-527B7812EC76}"/>
                  </a:ext>
                </a:extLst>
              </p:cNvPr>
              <p:cNvSpPr/>
              <p:nvPr/>
            </p:nvSpPr>
            <p:spPr>
              <a:xfrm>
                <a:off x="5260600" y="1724018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3</a:t>
                </a: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DE8A77F-3815-914C-2792-527B7812EC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600" y="1724018"/>
                <a:ext cx="364677" cy="315690"/>
              </a:xfrm>
              <a:prstGeom prst="rect">
                <a:avLst/>
              </a:prstGeom>
              <a:blipFill>
                <a:blip r:embed="rId8"/>
                <a:stretch>
                  <a:fillRect r="-1667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3911B60-430F-72A6-BD48-446E95EDA0AC}"/>
                  </a:ext>
                </a:extLst>
              </p:cNvPr>
              <p:cNvSpPr/>
              <p:nvPr/>
            </p:nvSpPr>
            <p:spPr>
              <a:xfrm>
                <a:off x="5279593" y="4736625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3</a:t>
                </a: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3911B60-430F-72A6-BD48-446E95EDA0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593" y="4736625"/>
                <a:ext cx="364677" cy="315690"/>
              </a:xfrm>
              <a:prstGeom prst="rect">
                <a:avLst/>
              </a:prstGeom>
              <a:blipFill>
                <a:blip r:embed="rId9"/>
                <a:stretch>
                  <a:fillRect r="-1667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79F9E9B0-7261-8646-336B-617E9E72A6DF}"/>
                  </a:ext>
                </a:extLst>
              </p:cNvPr>
              <p:cNvSpPr/>
              <p:nvPr/>
            </p:nvSpPr>
            <p:spPr>
              <a:xfrm>
                <a:off x="5260600" y="2823459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4</a:t>
                </a: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79F9E9B0-7261-8646-336B-617E9E72A6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600" y="2823459"/>
                <a:ext cx="364677" cy="315690"/>
              </a:xfrm>
              <a:prstGeom prst="rect">
                <a:avLst/>
              </a:prstGeom>
              <a:blipFill>
                <a:blip r:embed="rId10"/>
                <a:stretch>
                  <a:fillRect r="-1667" b="-365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9E9851A1-37B6-562B-A053-748C3BEFAAF9}"/>
                  </a:ext>
                </a:extLst>
              </p:cNvPr>
              <p:cNvSpPr/>
              <p:nvPr/>
            </p:nvSpPr>
            <p:spPr>
              <a:xfrm>
                <a:off x="5244559" y="5961273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4</a:t>
                </a: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9E9851A1-37B6-562B-A053-748C3BEFAA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4559" y="5961273"/>
                <a:ext cx="364677" cy="315690"/>
              </a:xfrm>
              <a:prstGeom prst="rect">
                <a:avLst/>
              </a:prstGeom>
              <a:blipFill>
                <a:blip r:embed="rId11"/>
                <a:stretch>
                  <a:fillRect r="-1667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D51CAFD0-D56E-A4DD-8D24-E967ECCABD39}"/>
                  </a:ext>
                </a:extLst>
              </p:cNvPr>
              <p:cNvSpPr/>
              <p:nvPr/>
            </p:nvSpPr>
            <p:spPr>
              <a:xfrm>
                <a:off x="1017138" y="4849581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4</a:t>
                </a: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D51CAFD0-D56E-A4DD-8D24-E967ECCABD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38" y="4849581"/>
                <a:ext cx="364677" cy="315690"/>
              </a:xfrm>
              <a:prstGeom prst="rect">
                <a:avLst/>
              </a:prstGeom>
              <a:blipFill>
                <a:blip r:embed="rId12"/>
                <a:stretch>
                  <a:fillRect b="-37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ACF83111-FE40-58B7-51AE-F503AB637818}"/>
                  </a:ext>
                </a:extLst>
              </p:cNvPr>
              <p:cNvSpPr/>
              <p:nvPr/>
            </p:nvSpPr>
            <p:spPr>
              <a:xfrm>
                <a:off x="708903" y="1728102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ACF83111-FE40-58B7-51AE-F503AB6378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03" y="1728102"/>
                <a:ext cx="1138981" cy="429992"/>
              </a:xfrm>
              <a:prstGeom prst="rect">
                <a:avLst/>
              </a:prstGeom>
              <a:blipFill>
                <a:blip r:embed="rId13"/>
                <a:stretch>
                  <a:fillRect l="-6417" r="-5348" b="-14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3C4243C-523A-897D-5CDC-BF5E304BCB9D}"/>
                  </a:ext>
                </a:extLst>
              </p:cNvPr>
              <p:cNvSpPr/>
              <p:nvPr/>
            </p:nvSpPr>
            <p:spPr>
              <a:xfrm rot="19738692">
                <a:off x="1143012" y="2539347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3C4243C-523A-897D-5CDC-BF5E304BCB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738692">
                <a:off x="1143012" y="2539347"/>
                <a:ext cx="1138981" cy="429992"/>
              </a:xfrm>
              <a:prstGeom prst="rect">
                <a:avLst/>
              </a:prstGeom>
              <a:blipFill>
                <a:blip r:embed="rId14"/>
                <a:stretch>
                  <a:fillRect l="-1515" r="-45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7D610F9C-E7EB-5E0F-B188-3E9538BB6EFD}"/>
                  </a:ext>
                </a:extLst>
              </p:cNvPr>
              <p:cNvSpPr/>
              <p:nvPr/>
            </p:nvSpPr>
            <p:spPr>
              <a:xfrm rot="2353495">
                <a:off x="1134837" y="3448255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7D610F9C-E7EB-5E0F-B188-3E9538BB6E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353495">
                <a:off x="1134837" y="3448255"/>
                <a:ext cx="1138981" cy="429992"/>
              </a:xfrm>
              <a:prstGeom prst="rect">
                <a:avLst/>
              </a:prstGeom>
              <a:blipFill>
                <a:blip r:embed="rId15"/>
                <a:stretch>
                  <a:fillRect l="-1047" b="-40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C15C9919-A5E7-E366-D6ED-0ADA706DD95B}"/>
                  </a:ext>
                </a:extLst>
              </p:cNvPr>
              <p:cNvSpPr/>
              <p:nvPr/>
            </p:nvSpPr>
            <p:spPr>
              <a:xfrm>
                <a:off x="728941" y="4309362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C15C9919-A5E7-E366-D6ED-0ADA706DD9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41" y="4309362"/>
                <a:ext cx="1138981" cy="429992"/>
              </a:xfrm>
              <a:prstGeom prst="rect">
                <a:avLst/>
              </a:prstGeom>
              <a:blipFill>
                <a:blip r:embed="rId16"/>
                <a:stretch>
                  <a:fillRect l="-7527" r="-5914" b="-2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E0C0400-BA2F-969C-5931-D64FFDC18E1C}"/>
                  </a:ext>
                </a:extLst>
              </p:cNvPr>
              <p:cNvSpPr/>
              <p:nvPr/>
            </p:nvSpPr>
            <p:spPr>
              <a:xfrm rot="20088118">
                <a:off x="3260486" y="2298677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E0C0400-BA2F-969C-5931-D64FFDC18E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088118">
                <a:off x="3260486" y="2298677"/>
                <a:ext cx="1138981" cy="413614"/>
              </a:xfrm>
              <a:prstGeom prst="rect">
                <a:avLst/>
              </a:prstGeom>
              <a:blipFill>
                <a:blip r:embed="rId17"/>
                <a:stretch>
                  <a:fillRect l="-2513" r="-50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24AEFB38-2FF6-4F7E-8C70-A696E02CDD5F}"/>
                  </a:ext>
                </a:extLst>
              </p:cNvPr>
              <p:cNvSpPr/>
              <p:nvPr/>
            </p:nvSpPr>
            <p:spPr>
              <a:xfrm>
                <a:off x="3242540" y="2924153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24AEFB38-2FF6-4F7E-8C70-A696E02CDD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540" y="2924153"/>
                <a:ext cx="1138981" cy="429992"/>
              </a:xfrm>
              <a:prstGeom prst="rect">
                <a:avLst/>
              </a:prstGeom>
              <a:blipFill>
                <a:blip r:embed="rId18"/>
                <a:stretch>
                  <a:fillRect l="-7487" r="-5348" b="-2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75B9B84-257C-20EF-C18C-929C4ABB50FE}"/>
                  </a:ext>
                </a:extLst>
              </p:cNvPr>
              <p:cNvSpPr/>
              <p:nvPr/>
            </p:nvSpPr>
            <p:spPr>
              <a:xfrm>
                <a:off x="2782131" y="1452730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75B9B84-257C-20EF-C18C-929C4ABB50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131" y="1452730"/>
                <a:ext cx="1138981" cy="429992"/>
              </a:xfrm>
              <a:prstGeom prst="rect">
                <a:avLst/>
              </a:prstGeom>
              <a:blipFill>
                <a:blip r:embed="rId19"/>
                <a:stretch>
                  <a:fillRect l="-7487" r="-5882" b="-14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B7CE671-392E-FAF8-BFA3-891D58E2B264}"/>
                  </a:ext>
                </a:extLst>
              </p:cNvPr>
              <p:cNvSpPr/>
              <p:nvPr/>
            </p:nvSpPr>
            <p:spPr>
              <a:xfrm rot="19594018">
                <a:off x="3200721" y="3659952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B7CE671-392E-FAF8-BFA3-891D58E2B2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018">
                <a:off x="3200721" y="3659952"/>
                <a:ext cx="1138981" cy="413614"/>
              </a:xfrm>
              <a:prstGeom prst="rect">
                <a:avLst/>
              </a:prstGeom>
              <a:blipFill>
                <a:blip r:embed="rId20"/>
                <a:stretch>
                  <a:fillRect l="-1538" r="-51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FC1F821-3CF5-A8F0-E9BE-1211A9252AAC}"/>
                  </a:ext>
                </a:extLst>
              </p:cNvPr>
              <p:cNvSpPr/>
              <p:nvPr/>
            </p:nvSpPr>
            <p:spPr>
              <a:xfrm>
                <a:off x="3253263" y="4429455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FC1F821-3CF5-A8F0-E9BE-1211A9252A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263" y="4429455"/>
                <a:ext cx="1138981" cy="413614"/>
              </a:xfrm>
              <a:prstGeom prst="rect">
                <a:avLst/>
              </a:prstGeom>
              <a:blipFill>
                <a:blip r:embed="rId21"/>
                <a:stretch>
                  <a:fillRect l="-7487" r="-5348" b="-44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A5308C1-FBB8-4A6F-6FCE-BF80EFBDE04A}"/>
                  </a:ext>
                </a:extLst>
              </p:cNvPr>
              <p:cNvSpPr/>
              <p:nvPr/>
            </p:nvSpPr>
            <p:spPr>
              <a:xfrm rot="2162234">
                <a:off x="3292118" y="5141277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A5308C1-FBB8-4A6F-6FCE-BF80EFBDE0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62234">
                <a:off x="3292118" y="5141277"/>
                <a:ext cx="1138981" cy="413614"/>
              </a:xfrm>
              <a:prstGeom prst="rect">
                <a:avLst/>
              </a:prstGeom>
              <a:blipFill>
                <a:blip r:embed="rId22"/>
                <a:stretch>
                  <a:fillRect l="-2083" r="-521" b="-48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>
            <a:extLst>
              <a:ext uri="{FF2B5EF4-FFF2-40B4-BE49-F238E27FC236}">
                <a16:creationId xmlns:a16="http://schemas.microsoft.com/office/drawing/2014/main" id="{283B13B8-1D33-C984-DED8-6B251845A8E7}"/>
              </a:ext>
            </a:extLst>
          </p:cNvPr>
          <p:cNvSpPr/>
          <p:nvPr/>
        </p:nvSpPr>
        <p:spPr>
          <a:xfrm>
            <a:off x="9166486" y="2651417"/>
            <a:ext cx="685800" cy="229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41D7052-29C6-F494-F0AD-6913B622657C}"/>
              </a:ext>
            </a:extLst>
          </p:cNvPr>
          <p:cNvSpPr/>
          <p:nvPr/>
        </p:nvSpPr>
        <p:spPr>
          <a:xfrm>
            <a:off x="10407113" y="2277458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3423BD6-3D47-71DF-841F-6CAE7F323199}"/>
              </a:ext>
            </a:extLst>
          </p:cNvPr>
          <p:cNvSpPr/>
          <p:nvPr/>
        </p:nvSpPr>
        <p:spPr>
          <a:xfrm>
            <a:off x="8168622" y="2281984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67455F7-4037-1C46-4899-E13C0F8CF717}"/>
              </a:ext>
            </a:extLst>
          </p:cNvPr>
          <p:cNvSpPr/>
          <p:nvPr/>
        </p:nvSpPr>
        <p:spPr>
          <a:xfrm>
            <a:off x="8674458" y="2281984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2A4195E-BF04-8BC1-01AF-27DCDBB3439D}"/>
              </a:ext>
            </a:extLst>
          </p:cNvPr>
          <p:cNvSpPr/>
          <p:nvPr/>
        </p:nvSpPr>
        <p:spPr>
          <a:xfrm>
            <a:off x="10380592" y="2995893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51B04DF-4CC3-8D53-F74B-B94730A73CD8}"/>
              </a:ext>
            </a:extLst>
          </p:cNvPr>
          <p:cNvSpPr/>
          <p:nvPr/>
        </p:nvSpPr>
        <p:spPr>
          <a:xfrm>
            <a:off x="9975307" y="2285088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B5A03894-1A8E-F575-03A7-5893041DBDAF}"/>
                  </a:ext>
                </a:extLst>
              </p:cNvPr>
              <p:cNvSpPr/>
              <p:nvPr/>
            </p:nvSpPr>
            <p:spPr>
              <a:xfrm>
                <a:off x="7777291" y="234410"/>
                <a:ext cx="2332820" cy="6198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𝐹𝑜𝑙𝑙𝑜𝑤</m:t>
                      </m:r>
                      <m:r>
                        <a:rPr lang="en-US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)={$}</m:t>
                      </m:r>
                    </m:oMath>
                  </m:oMathPara>
                </a14:m>
                <a:endParaRPr lang="en-US" dirty="0">
                  <a:solidFill>
                    <a:srgbClr val="0E47A1"/>
                  </a:solidFill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𝐹𝑜𝑙𝑙𝑜𝑤</m:t>
                      </m:r>
                      <m:r>
                        <a:rPr lang="en-US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)={</m:t>
                      </m:r>
                      <m:r>
                        <a:rPr lang="en-US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$}</m:t>
                      </m:r>
                    </m:oMath>
                  </m:oMathPara>
                </a14:m>
                <a:endParaRPr lang="en-US" dirty="0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B5A03894-1A8E-F575-03A7-5893041DBD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291" y="234410"/>
                <a:ext cx="2332820" cy="619819"/>
              </a:xfrm>
              <a:prstGeom prst="rect">
                <a:avLst/>
              </a:prstGeom>
              <a:blipFill>
                <a:blip r:embed="rId23"/>
                <a:stretch>
                  <a:fillRect b="-117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Rectangle 75">
            <a:extLst>
              <a:ext uri="{FF2B5EF4-FFF2-40B4-BE49-F238E27FC236}">
                <a16:creationId xmlns:a16="http://schemas.microsoft.com/office/drawing/2014/main" id="{26EB9E05-1B37-3010-F602-EA7A0D5DB969}"/>
              </a:ext>
            </a:extLst>
          </p:cNvPr>
          <p:cNvSpPr/>
          <p:nvPr/>
        </p:nvSpPr>
        <p:spPr>
          <a:xfrm>
            <a:off x="8175912" y="3004054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34A5E51-EF89-05DF-BF72-0679301740ED}"/>
              </a:ext>
            </a:extLst>
          </p:cNvPr>
          <p:cNvSpPr/>
          <p:nvPr/>
        </p:nvSpPr>
        <p:spPr>
          <a:xfrm>
            <a:off x="8671907" y="3007940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28B629C-0D5F-24BE-F7DD-8430ADC54937}"/>
              </a:ext>
            </a:extLst>
          </p:cNvPr>
          <p:cNvSpPr/>
          <p:nvPr/>
        </p:nvSpPr>
        <p:spPr>
          <a:xfrm>
            <a:off x="10380592" y="3373656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4E40F22-E6E0-5485-B409-647A8F5669EF}"/>
              </a:ext>
            </a:extLst>
          </p:cNvPr>
          <p:cNvSpPr/>
          <p:nvPr/>
        </p:nvSpPr>
        <p:spPr>
          <a:xfrm>
            <a:off x="8195312" y="3383445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F23F965-37C3-40A8-59E5-B4664A9497C8}"/>
              </a:ext>
            </a:extLst>
          </p:cNvPr>
          <p:cNvSpPr/>
          <p:nvPr/>
        </p:nvSpPr>
        <p:spPr>
          <a:xfrm>
            <a:off x="8724002" y="3370944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126212C-4ABC-D359-1B68-EF0621DDF7E2}"/>
              </a:ext>
            </a:extLst>
          </p:cNvPr>
          <p:cNvSpPr/>
          <p:nvPr/>
        </p:nvSpPr>
        <p:spPr>
          <a:xfrm>
            <a:off x="8181355" y="3739670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D3B75EB-E9D2-2C5C-BFEF-448F64C868C8}"/>
              </a:ext>
            </a:extLst>
          </p:cNvPr>
          <p:cNvSpPr/>
          <p:nvPr/>
        </p:nvSpPr>
        <p:spPr>
          <a:xfrm>
            <a:off x="8681594" y="3773093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1462E89-20ED-F3CF-DD8F-FF8F7426909B}"/>
              </a:ext>
            </a:extLst>
          </p:cNvPr>
          <p:cNvSpPr/>
          <p:nvPr/>
        </p:nvSpPr>
        <p:spPr>
          <a:xfrm>
            <a:off x="9395196" y="3756765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086DDD1-7DC0-4048-6A52-1D9A3AB1E446}"/>
              </a:ext>
            </a:extLst>
          </p:cNvPr>
          <p:cNvSpPr/>
          <p:nvPr/>
        </p:nvSpPr>
        <p:spPr>
          <a:xfrm>
            <a:off x="9373489" y="4120836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8106869-B33D-68FE-79FC-5652DDF2C4C6}"/>
              </a:ext>
            </a:extLst>
          </p:cNvPr>
          <p:cNvSpPr/>
          <p:nvPr/>
        </p:nvSpPr>
        <p:spPr>
          <a:xfrm>
            <a:off x="8207055" y="4495624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72289D4-8A94-5C29-B7BC-3D69A13715BB}"/>
              </a:ext>
            </a:extLst>
          </p:cNvPr>
          <p:cNvSpPr/>
          <p:nvPr/>
        </p:nvSpPr>
        <p:spPr>
          <a:xfrm>
            <a:off x="8678043" y="4481283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ED161AA-5B3A-D6D3-95AD-63525902E17F}"/>
              </a:ext>
            </a:extLst>
          </p:cNvPr>
          <p:cNvSpPr/>
          <p:nvPr/>
        </p:nvSpPr>
        <p:spPr>
          <a:xfrm>
            <a:off x="9415716" y="4499982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29FBCBB-09B3-4027-3AB6-0062994B7423}"/>
              </a:ext>
            </a:extLst>
          </p:cNvPr>
          <p:cNvSpPr txBox="1"/>
          <p:nvPr/>
        </p:nvSpPr>
        <p:spPr>
          <a:xfrm>
            <a:off x="7748216" y="5164304"/>
            <a:ext cx="330581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E47A1"/>
                </a:solidFill>
                <a:latin typeface="Palatino Linotype" panose="02040502050505030304" pitchFamily="18" charset="0"/>
              </a:rPr>
              <a:t>S--&gt;</a:t>
            </a:r>
            <a:r>
              <a:rPr lang="en-US" sz="2200" b="1" dirty="0">
                <a:solidFill>
                  <a:srgbClr val="0E47A1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S’        -------(0)</a:t>
            </a:r>
            <a:endParaRPr lang="en-US" sz="2200" b="1" dirty="0">
              <a:solidFill>
                <a:srgbClr val="0E47A1"/>
              </a:solidFill>
              <a:latin typeface="Palatino Linotype" panose="02040502050505030304" pitchFamily="18" charset="0"/>
            </a:endParaRPr>
          </a:p>
          <a:p>
            <a:r>
              <a:rPr lang="en-US" sz="2200" b="1" dirty="0">
                <a:solidFill>
                  <a:srgbClr val="0E47A1"/>
                </a:solidFill>
                <a:latin typeface="Palatino Linotype" panose="02040502050505030304" pitchFamily="18" charset="0"/>
              </a:rPr>
              <a:t>S--&gt;</a:t>
            </a:r>
            <a:r>
              <a:rPr lang="en-US" sz="2200" b="1" dirty="0">
                <a:solidFill>
                  <a:srgbClr val="0E47A1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AA     -------(1)</a:t>
            </a:r>
          </a:p>
          <a:p>
            <a:r>
              <a:rPr lang="en-US" sz="2200" b="1" dirty="0">
                <a:solidFill>
                  <a:srgbClr val="0E47A1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A--&gt;</a:t>
            </a:r>
            <a:r>
              <a:rPr lang="en-US" sz="2200" b="1" dirty="0" err="1">
                <a:solidFill>
                  <a:srgbClr val="0E47A1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aA</a:t>
            </a:r>
            <a:r>
              <a:rPr lang="en-US" sz="2200" b="1" dirty="0">
                <a:solidFill>
                  <a:srgbClr val="0E47A1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     --------(2)</a:t>
            </a:r>
          </a:p>
          <a:p>
            <a:r>
              <a:rPr lang="en-US" sz="2200" b="1" dirty="0">
                <a:solidFill>
                  <a:srgbClr val="0E47A1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A--&gt;b       ---------(3)</a:t>
            </a:r>
            <a:endParaRPr lang="en-US" sz="2200" b="1" dirty="0">
              <a:solidFill>
                <a:srgbClr val="0E47A1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55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dur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5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5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3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95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mph" presetSubtype="2" dur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113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11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25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2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13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142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4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5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9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161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16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71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7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185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18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95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9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7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1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14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19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2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1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3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35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3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2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43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4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59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1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62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4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5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9" grpId="0"/>
      <p:bldP spid="9" grpId="1"/>
      <p:bldP spid="11" grpId="0"/>
      <p:bldP spid="11" grpId="1"/>
      <p:bldP spid="12" grpId="0"/>
      <p:bldP spid="12" grpId="1"/>
      <p:bldP spid="13" grpId="0"/>
      <p:bldP spid="13" grpId="1"/>
      <p:bldP spid="15" grpId="0"/>
      <p:bldP spid="15" grpId="1"/>
      <p:bldP spid="16" grpId="0"/>
      <p:bldP spid="16" grpId="1"/>
      <p:bldP spid="18" grpId="0"/>
      <p:bldP spid="18" grpId="1"/>
      <p:bldP spid="19" grpId="0"/>
      <p:bldP spid="33" grpId="0"/>
      <p:bldP spid="33" grpId="1"/>
      <p:bldP spid="35" grpId="0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08BDAF-D0E3-C4C0-7623-DEE8574C18DD}"/>
              </a:ext>
            </a:extLst>
          </p:cNvPr>
          <p:cNvSpPr txBox="1"/>
          <p:nvPr/>
        </p:nvSpPr>
        <p:spPr>
          <a:xfrm>
            <a:off x="447040" y="175865"/>
            <a:ext cx="8371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  <a:latin typeface="Palatino Linotype" panose="02040502050505030304" pitchFamily="18" charset="0"/>
              </a:rPr>
              <a:t>Parse the string </a:t>
            </a:r>
            <a:r>
              <a:rPr lang="en-US" sz="2200" b="1" dirty="0" err="1">
                <a:solidFill>
                  <a:srgbClr val="0070C0"/>
                </a:solidFill>
                <a:latin typeface="Palatino Linotype" panose="02040502050505030304" pitchFamily="18" charset="0"/>
              </a:rPr>
              <a:t>aabb</a:t>
            </a:r>
            <a:r>
              <a:rPr lang="en-US" sz="2200" dirty="0">
                <a:solidFill>
                  <a:srgbClr val="FF0000"/>
                </a:solidFill>
                <a:latin typeface="Palatino Linotype" panose="02040502050505030304" pitchFamily="18" charset="0"/>
              </a:rPr>
              <a:t> using SLR parser</a:t>
            </a:r>
            <a:endParaRPr lang="en-IN" sz="2200" dirty="0">
              <a:solidFill>
                <a:srgbClr val="FF0000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0ED5508-F602-5F82-AE79-F889A490E1E8}"/>
              </a:ext>
            </a:extLst>
          </p:cNvPr>
          <p:cNvGraphicFramePr>
            <a:graphicFrameLocks noGrp="1"/>
          </p:cNvGraphicFramePr>
          <p:nvPr/>
        </p:nvGraphicFramePr>
        <p:xfrm>
          <a:off x="375920" y="762664"/>
          <a:ext cx="7203439" cy="49670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8001">
                  <a:extLst>
                    <a:ext uri="{9D8B030D-6E8A-4147-A177-3AD203B41FA5}">
                      <a16:colId xmlns:a16="http://schemas.microsoft.com/office/drawing/2014/main" val="1898847490"/>
                    </a:ext>
                  </a:extLst>
                </a:gridCol>
                <a:gridCol w="1030859">
                  <a:extLst>
                    <a:ext uri="{9D8B030D-6E8A-4147-A177-3AD203B41FA5}">
                      <a16:colId xmlns:a16="http://schemas.microsoft.com/office/drawing/2014/main" val="1814207292"/>
                    </a:ext>
                  </a:extLst>
                </a:gridCol>
                <a:gridCol w="2011219">
                  <a:extLst>
                    <a:ext uri="{9D8B030D-6E8A-4147-A177-3AD203B41FA5}">
                      <a16:colId xmlns:a16="http://schemas.microsoft.com/office/drawing/2014/main" val="1711519887"/>
                    </a:ext>
                  </a:extLst>
                </a:gridCol>
                <a:gridCol w="2753360">
                  <a:extLst>
                    <a:ext uri="{9D8B030D-6E8A-4147-A177-3AD203B41FA5}">
                      <a16:colId xmlns:a16="http://schemas.microsoft.com/office/drawing/2014/main" val="173744631"/>
                    </a:ext>
                  </a:extLst>
                </a:gridCol>
              </a:tblGrid>
              <a:tr h="2977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Stack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Input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Action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5481052"/>
                  </a:ext>
                </a:extLst>
              </a:tr>
              <a:tr h="2977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IN" sz="2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aabb$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Shift   I0-&gt;a, S3</a:t>
                      </a:r>
                      <a:endParaRPr lang="en-IN" sz="2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9113383"/>
                  </a:ext>
                </a:extLst>
              </a:tr>
              <a:tr h="2977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0a3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abb$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Shift  I3 -&gt;a, S3</a:t>
                      </a:r>
                      <a:endParaRPr lang="en-IN" sz="2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endParaRPr lang="en-IN" sz="2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10808693"/>
                  </a:ext>
                </a:extLst>
              </a:tr>
              <a:tr h="2977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0a3a3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bb$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I3-&gt;b, S4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5285547"/>
                  </a:ext>
                </a:extLst>
              </a:tr>
              <a:tr h="2977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0a3a3</a:t>
                      </a:r>
                      <a:r>
                        <a:rPr lang="en-IN" sz="2200" kern="100" dirty="0">
                          <a:solidFill>
                            <a:srgbClr val="FF0000"/>
                          </a:solidFill>
                          <a:effectLst/>
                          <a:latin typeface="Palatino Linotype" panose="02040502050505030304" pitchFamily="18" charset="0"/>
                        </a:rPr>
                        <a:t>b</a:t>
                      </a: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4</a:t>
                      </a:r>
                      <a:endParaRPr lang="en-IN" sz="2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b$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I4-&gt;b, R3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Pop 4, </a:t>
                      </a:r>
                      <a:r>
                        <a:rPr lang="en-IN" sz="2200" kern="100" dirty="0" err="1">
                          <a:effectLst/>
                          <a:latin typeface="Palatino Linotype" panose="02040502050505030304" pitchFamily="18" charset="0"/>
                        </a:rPr>
                        <a:t>goto</a:t>
                      </a: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(I3,A)=6</a:t>
                      </a:r>
                      <a:endParaRPr lang="en-IN" sz="2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4079524"/>
                  </a:ext>
                </a:extLst>
              </a:tr>
              <a:tr h="34893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0a3</a:t>
                      </a:r>
                      <a:r>
                        <a:rPr lang="en-IN" sz="2200" kern="100" dirty="0">
                          <a:solidFill>
                            <a:srgbClr val="FF0000"/>
                          </a:solidFill>
                          <a:effectLst/>
                          <a:latin typeface="Palatino Linotype" panose="02040502050505030304" pitchFamily="18" charset="0"/>
                        </a:rPr>
                        <a:t>a</a:t>
                      </a: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3</a:t>
                      </a:r>
                      <a:r>
                        <a:rPr lang="en-IN" sz="2200" kern="100" dirty="0">
                          <a:solidFill>
                            <a:srgbClr val="FF0000"/>
                          </a:solidFill>
                          <a:effectLst/>
                          <a:latin typeface="Palatino Linotype" panose="02040502050505030304" pitchFamily="18" charset="0"/>
                        </a:rPr>
                        <a:t>A</a:t>
                      </a: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  <a:endParaRPr lang="en-IN" sz="2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b$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I6-&gt;b, R2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endParaRPr lang="en-IN" sz="2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728128"/>
                  </a:ext>
                </a:extLst>
              </a:tr>
              <a:tr h="2977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IN" sz="2200" kern="100" dirty="0">
                          <a:solidFill>
                            <a:srgbClr val="FF0000"/>
                          </a:solidFill>
                          <a:effectLst/>
                          <a:latin typeface="Palatino Linotype" panose="02040502050505030304" pitchFamily="18" charset="0"/>
                        </a:rPr>
                        <a:t>a</a:t>
                      </a: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3</a:t>
                      </a:r>
                      <a:r>
                        <a:rPr lang="en-IN" sz="2200" kern="100" dirty="0">
                          <a:solidFill>
                            <a:srgbClr val="FF0000"/>
                          </a:solidFill>
                          <a:effectLst/>
                          <a:latin typeface="Palatino Linotype" panose="02040502050505030304" pitchFamily="18" charset="0"/>
                        </a:rPr>
                        <a:t>A</a:t>
                      </a: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  <a:endParaRPr lang="en-IN" sz="2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b$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I6-&gt;b, R2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5799018"/>
                  </a:ext>
                </a:extLst>
              </a:tr>
              <a:tr h="2977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IN" sz="2200" kern="100" dirty="0">
                          <a:solidFill>
                            <a:srgbClr val="FF0000"/>
                          </a:solidFill>
                          <a:effectLst/>
                          <a:latin typeface="Palatino Linotype" panose="02040502050505030304" pitchFamily="18" charset="0"/>
                        </a:rPr>
                        <a:t>A</a:t>
                      </a: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2</a:t>
                      </a:r>
                      <a:endParaRPr lang="en-IN" sz="2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b$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I2-&gt;b, s4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9158593"/>
                  </a:ext>
                </a:extLst>
              </a:tr>
              <a:tr h="2977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0A2</a:t>
                      </a:r>
                      <a:r>
                        <a:rPr lang="en-IN" sz="2200" b="1" kern="100" dirty="0">
                          <a:solidFill>
                            <a:srgbClr val="C00000"/>
                          </a:solidFill>
                          <a:effectLst/>
                          <a:latin typeface="Palatino Linotype" panose="02040502050505030304" pitchFamily="18" charset="0"/>
                        </a:rPr>
                        <a:t>b</a:t>
                      </a: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4</a:t>
                      </a:r>
                      <a:endParaRPr lang="en-IN" sz="2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$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I4-&gt;$, r3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Pop 4, goto(I2,A)=5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1468301"/>
                  </a:ext>
                </a:extLst>
              </a:tr>
              <a:tr h="2977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IN" sz="2200" kern="100" dirty="0">
                          <a:solidFill>
                            <a:srgbClr val="C00000"/>
                          </a:solidFill>
                          <a:effectLst/>
                          <a:latin typeface="Palatino Linotype" panose="02040502050505030304" pitchFamily="18" charset="0"/>
                        </a:rPr>
                        <a:t>A</a:t>
                      </a: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2</a:t>
                      </a:r>
                      <a:r>
                        <a:rPr lang="en-IN" sz="2200" strike="noStrike" kern="100" dirty="0">
                          <a:solidFill>
                            <a:srgbClr val="C00000"/>
                          </a:solidFill>
                          <a:effectLst/>
                          <a:latin typeface="Palatino Linotype" panose="02040502050505030304" pitchFamily="18" charset="0"/>
                        </a:rPr>
                        <a:t>A</a:t>
                      </a: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5</a:t>
                      </a:r>
                      <a:endParaRPr lang="en-IN" sz="2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$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I5-&gt;$,r1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Pop 5, goto(I0,S)=1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1218178"/>
                  </a:ext>
                </a:extLst>
              </a:tr>
              <a:tr h="2977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IN" sz="2200" kern="100" dirty="0">
                          <a:solidFill>
                            <a:srgbClr val="C00000"/>
                          </a:solidFill>
                          <a:effectLst/>
                          <a:latin typeface="Palatino Linotype" panose="02040502050505030304" pitchFamily="18" charset="0"/>
                        </a:rPr>
                        <a:t>S</a:t>
                      </a: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endParaRPr lang="en-IN" sz="2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$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>
                          <a:effectLst/>
                          <a:latin typeface="Palatino Linotype" panose="02040502050505030304" pitchFamily="18" charset="0"/>
                        </a:rPr>
                        <a:t>Accept</a:t>
                      </a:r>
                      <a:endParaRPr lang="en-IN" sz="2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2200" kern="100" dirty="0"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endParaRPr lang="en-IN" sz="2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399608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67E2647-F52F-0CAF-305D-EB0916AF20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639" y="505152"/>
            <a:ext cx="3879761" cy="4182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E454AD-9FDA-31BF-450F-B7C854285E8A}"/>
              </a:ext>
            </a:extLst>
          </p:cNvPr>
          <p:cNvSpPr txBox="1"/>
          <p:nvPr/>
        </p:nvSpPr>
        <p:spPr>
          <a:xfrm>
            <a:off x="8818880" y="5006428"/>
            <a:ext cx="312027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E47A1"/>
                </a:solidFill>
                <a:latin typeface="Palatino Linotype" panose="02040502050505030304" pitchFamily="18" charset="0"/>
              </a:rPr>
              <a:t>S--&gt;</a:t>
            </a:r>
            <a:r>
              <a:rPr lang="en-US" sz="2200" b="1" dirty="0">
                <a:solidFill>
                  <a:srgbClr val="0E47A1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S’        -------(0)</a:t>
            </a:r>
            <a:endParaRPr lang="en-US" sz="2200" b="1" dirty="0">
              <a:solidFill>
                <a:srgbClr val="0E47A1"/>
              </a:solidFill>
              <a:latin typeface="Palatino Linotype" panose="02040502050505030304" pitchFamily="18" charset="0"/>
            </a:endParaRPr>
          </a:p>
          <a:p>
            <a:r>
              <a:rPr lang="en-US" sz="2200" b="1" dirty="0">
                <a:solidFill>
                  <a:srgbClr val="0E47A1"/>
                </a:solidFill>
                <a:latin typeface="Palatino Linotype" panose="02040502050505030304" pitchFamily="18" charset="0"/>
              </a:rPr>
              <a:t>S--&gt;</a:t>
            </a:r>
            <a:r>
              <a:rPr lang="en-US" sz="2200" b="1" dirty="0">
                <a:solidFill>
                  <a:srgbClr val="0E47A1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AA     -------(1)</a:t>
            </a:r>
          </a:p>
          <a:p>
            <a:r>
              <a:rPr lang="en-US" sz="2200" b="1" dirty="0">
                <a:solidFill>
                  <a:srgbClr val="0E47A1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A--&gt;</a:t>
            </a:r>
            <a:r>
              <a:rPr lang="en-US" sz="2200" b="1" dirty="0" err="1">
                <a:solidFill>
                  <a:srgbClr val="0E47A1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aA</a:t>
            </a:r>
            <a:r>
              <a:rPr lang="en-US" sz="2200" b="1" dirty="0">
                <a:solidFill>
                  <a:srgbClr val="0E47A1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     --------(2)</a:t>
            </a:r>
          </a:p>
          <a:p>
            <a:r>
              <a:rPr lang="en-US" sz="2200" b="1" dirty="0">
                <a:solidFill>
                  <a:srgbClr val="0E47A1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A--&gt;b       ---------(3)</a:t>
            </a:r>
            <a:endParaRPr lang="en-US" sz="2200" b="1" dirty="0">
              <a:solidFill>
                <a:srgbClr val="0E47A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4D4B16-7DEE-1C72-9EBE-4C4CAC95A448}"/>
              </a:ext>
            </a:extLst>
          </p:cNvPr>
          <p:cNvSpPr txBox="1"/>
          <p:nvPr/>
        </p:nvSpPr>
        <p:spPr>
          <a:xfrm>
            <a:off x="7936319" y="153093"/>
            <a:ext cx="19392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E47A1"/>
                </a:solidFill>
                <a:latin typeface="Palatino Linotype" panose="02040502050505030304" pitchFamily="18" charset="0"/>
              </a:rPr>
              <a:t>Parsing Table</a:t>
            </a:r>
          </a:p>
        </p:txBody>
      </p:sp>
    </p:spTree>
    <p:extLst>
      <p:ext uri="{BB962C8B-B14F-4D97-AF65-F5344CB8AC3E}">
        <p14:creationId xmlns:p14="http://schemas.microsoft.com/office/powerpoint/2010/main" val="379277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2E89D-338E-FE08-0677-31A22BD0C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5" y="1"/>
            <a:ext cx="10515600" cy="678656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3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CD43843-4D9F-53C2-F5DD-CCDA7B6EB0A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492" y="1028700"/>
            <a:ext cx="10281334" cy="567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314421-8996-2652-24EA-073E18D5B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97" y="867994"/>
            <a:ext cx="1981477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089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573BE-2045-959D-F573-3B319120F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258" y="0"/>
            <a:ext cx="10515600" cy="905824"/>
          </a:xfrm>
        </p:spPr>
        <p:txBody>
          <a:bodyPr/>
          <a:lstStyle/>
          <a:p>
            <a:r>
              <a:rPr lang="en-US" dirty="0"/>
              <a:t>Solution3 – parsing table 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B9EDDE-B9D3-9849-BE6E-E5E81CEFE4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06374" y="1145311"/>
            <a:ext cx="4485626" cy="51176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975881-7160-ADD4-948B-5ED52033B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37" y="1007917"/>
            <a:ext cx="7252854" cy="5777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4069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573BE-2045-959D-F573-3B319120F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3408"/>
            <a:ext cx="10515600" cy="939233"/>
          </a:xfrm>
        </p:spPr>
        <p:txBody>
          <a:bodyPr/>
          <a:lstStyle/>
          <a:p>
            <a:r>
              <a:rPr lang="en-US" dirty="0"/>
              <a:t>Solution3 – parsing the string</a:t>
            </a:r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9037B34-4FF9-82FB-71CB-2701195BD4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6866" t="22821" r="26063" b="17396"/>
          <a:stretch/>
        </p:blipFill>
        <p:spPr>
          <a:xfrm>
            <a:off x="5357597" y="829231"/>
            <a:ext cx="6664036" cy="5958834"/>
          </a:xfrm>
          <a:prstGeom prst="rect">
            <a:avLst/>
          </a:prstGeom>
        </p:spPr>
      </p:pic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A0C6A107-E321-6539-B0C5-B6D115AC6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67" y="2800152"/>
            <a:ext cx="4983524" cy="39879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C5E361-A3A6-7BA8-30A8-8ED187C75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9" y="631804"/>
            <a:ext cx="1981477" cy="11526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B20C93-501C-5CAF-D22A-B2BBAEB87533}"/>
              </a:ext>
            </a:extLst>
          </p:cNvPr>
          <p:cNvSpPr txBox="1"/>
          <p:nvPr/>
        </p:nvSpPr>
        <p:spPr>
          <a:xfrm>
            <a:off x="2057495" y="657583"/>
            <a:ext cx="2514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 </a:t>
            </a:r>
            <a:r>
              <a:rPr lang="en-IN" dirty="0">
                <a:sym typeface="Wingdings" panose="05000000000000000000" pitchFamily="2" charset="2"/>
              </a:rPr>
              <a:t> E+T       (r1)</a:t>
            </a:r>
          </a:p>
          <a:p>
            <a:r>
              <a:rPr lang="en-IN" dirty="0">
                <a:sym typeface="Wingdings" panose="05000000000000000000" pitchFamily="2" charset="2"/>
              </a:rPr>
              <a:t>E  T            (r2)</a:t>
            </a:r>
          </a:p>
          <a:p>
            <a:r>
              <a:rPr lang="en-IN" dirty="0">
                <a:sym typeface="Wingdings" panose="05000000000000000000" pitchFamily="2" charset="2"/>
              </a:rPr>
              <a:t>T  TF          (r3)</a:t>
            </a:r>
          </a:p>
          <a:p>
            <a:r>
              <a:rPr lang="en-IN" dirty="0">
                <a:sym typeface="Wingdings" panose="05000000000000000000" pitchFamily="2" charset="2"/>
              </a:rPr>
              <a:t>T  F            (r4)</a:t>
            </a:r>
          </a:p>
          <a:p>
            <a:r>
              <a:rPr lang="en-IN" dirty="0">
                <a:sym typeface="Wingdings" panose="05000000000000000000" pitchFamily="2" charset="2"/>
              </a:rPr>
              <a:t>F  F*          (r5)</a:t>
            </a:r>
          </a:p>
          <a:p>
            <a:r>
              <a:rPr lang="en-IN" dirty="0">
                <a:sym typeface="Wingdings" panose="05000000000000000000" pitchFamily="2" charset="2"/>
              </a:rPr>
              <a:t>F a             (r6)</a:t>
            </a:r>
          </a:p>
          <a:p>
            <a:r>
              <a:rPr lang="en-IN" dirty="0">
                <a:sym typeface="Wingdings" panose="05000000000000000000" pitchFamily="2" charset="2"/>
              </a:rPr>
              <a:t>F  b            (r7)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252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1A498-1238-703D-8141-2819C0CBD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363" y="2349789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With Conflicts</a:t>
            </a:r>
          </a:p>
        </p:txBody>
      </p:sp>
    </p:spTree>
    <p:extLst>
      <p:ext uri="{BB962C8B-B14F-4D97-AF65-F5344CB8AC3E}">
        <p14:creationId xmlns:p14="http://schemas.microsoft.com/office/powerpoint/2010/main" val="1856539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188EB-608A-5813-EC4C-64F2EEA7D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23019"/>
            <a:ext cx="10515600" cy="1325563"/>
          </a:xfrm>
        </p:spPr>
        <p:txBody>
          <a:bodyPr/>
          <a:lstStyle/>
          <a:p>
            <a:r>
              <a:rPr lang="en-IN" dirty="0"/>
              <a:t>Example:4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AC7CB-FD1A-5D01-CFC8-8888523244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5769" y="1393030"/>
            <a:ext cx="5886450" cy="5464970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dirty="0"/>
              <a:t>Construct SLR parsing table for the following grammar: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/>
              <a:t>S--&gt;Aa | </a:t>
            </a:r>
            <a:r>
              <a:rPr lang="en-IN" dirty="0" err="1"/>
              <a:t>bAc</a:t>
            </a:r>
            <a:r>
              <a:rPr lang="en-IN" dirty="0"/>
              <a:t>| </a:t>
            </a:r>
            <a:r>
              <a:rPr lang="en-IN" dirty="0" err="1"/>
              <a:t>Bc</a:t>
            </a:r>
            <a:r>
              <a:rPr lang="en-IN" dirty="0"/>
              <a:t> | </a:t>
            </a:r>
            <a:r>
              <a:rPr lang="en-IN" dirty="0" err="1"/>
              <a:t>bBa</a:t>
            </a:r>
            <a:r>
              <a:rPr lang="en-IN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/>
              <a:t>A--&gt;d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/>
              <a:t>B--&gt;d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>
                <a:solidFill>
                  <a:srgbClr val="FF0000"/>
                </a:solidFill>
              </a:rPr>
              <a:t>Solution</a:t>
            </a:r>
            <a:r>
              <a:rPr lang="en-IN" dirty="0"/>
              <a:t>: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>
                <a:solidFill>
                  <a:srgbClr val="000099"/>
                </a:solidFill>
              </a:rPr>
              <a:t>Step 1: Grammar Augmentation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/>
              <a:t>S’--&gt;S … rule 0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/>
              <a:t>S--&gt;Aa … rule 1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/>
              <a:t>S--&gt;</a:t>
            </a:r>
            <a:r>
              <a:rPr lang="en-IN" dirty="0" err="1"/>
              <a:t>bAc</a:t>
            </a:r>
            <a:r>
              <a:rPr lang="en-IN" dirty="0"/>
              <a:t> … rule 2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/>
              <a:t>S--&gt;</a:t>
            </a:r>
            <a:r>
              <a:rPr lang="en-IN" dirty="0" err="1"/>
              <a:t>Bc</a:t>
            </a:r>
            <a:r>
              <a:rPr lang="en-IN" dirty="0"/>
              <a:t> …. rule 3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/>
              <a:t>S--&gt;</a:t>
            </a:r>
            <a:r>
              <a:rPr lang="en-IN" dirty="0" err="1"/>
              <a:t>bBa</a:t>
            </a:r>
            <a:r>
              <a:rPr lang="en-IN" dirty="0"/>
              <a:t> ….rule 4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/>
              <a:t>A--&gt;d …. rule 5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/>
              <a:t>B--&gt;d … rule 6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18E65-F1D6-8AF6-890B-88ADE4251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2237" y="1393030"/>
            <a:ext cx="5181600" cy="477916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99"/>
                </a:solidFill>
              </a:rPr>
              <a:t>Step 2: Closure operation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S’--&gt;.S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S--&gt;.Aa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S--&gt;.</a:t>
            </a:r>
            <a:r>
              <a:rPr lang="en-US" dirty="0" err="1"/>
              <a:t>bAc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S--&gt;.</a:t>
            </a:r>
            <a:r>
              <a:rPr lang="en-US" dirty="0" err="1"/>
              <a:t>Bc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S--&gt;.</a:t>
            </a:r>
            <a:r>
              <a:rPr lang="en-US" dirty="0" err="1"/>
              <a:t>bBa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A--&gt;.d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B--&gt;.d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1202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91F3CEE-692D-313A-F758-097D95C31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5276CF2-1397-E593-4082-1A73C833DB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2736" t="29787" r="6939" b="18334"/>
          <a:stretch/>
        </p:blipFill>
        <p:spPr>
          <a:xfrm>
            <a:off x="4016735" y="365125"/>
            <a:ext cx="7815264" cy="6284028"/>
          </a:xfrm>
        </p:spPr>
      </p:pic>
    </p:spTree>
    <p:extLst>
      <p:ext uri="{BB962C8B-B14F-4D97-AF65-F5344CB8AC3E}">
        <p14:creationId xmlns:p14="http://schemas.microsoft.com/office/powerpoint/2010/main" val="1778916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8AA5-A0FB-F3E5-FA3A-100EEF0D5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Cont</a:t>
            </a:r>
            <a:r>
              <a:rPr lang="en-IN" dirty="0"/>
              <a:t>… Canonical Form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C5A6EA7-57D7-C993-6763-38AE8AD98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94" y="4001290"/>
            <a:ext cx="12" cy="8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C8685C-D9CA-2047-F0B7-1C23956F5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989" y="1565233"/>
            <a:ext cx="7841097" cy="512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81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B9BFF6-0EBC-5362-3E26-8B56FD0DD9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3902" y="1960863"/>
            <a:ext cx="5158098" cy="462305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4AB2B2-9D7E-0D81-26B8-8E019AFCD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390" y="104625"/>
            <a:ext cx="3817671" cy="1846562"/>
          </a:xfrm>
          <a:prstGeom prst="rect">
            <a:avLst/>
          </a:prstGeom>
        </p:spPr>
      </p:pic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43BC4D73-BC14-8056-2F35-020B30F468D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736" t="29787" r="6939" b="18334"/>
          <a:stretch/>
        </p:blipFill>
        <p:spPr>
          <a:xfrm>
            <a:off x="135081" y="104625"/>
            <a:ext cx="6691745" cy="332437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EEB0EB8-4AF1-C92C-2525-54857E337081}"/>
              </a:ext>
            </a:extLst>
          </p:cNvPr>
          <p:cNvSpPr txBox="1">
            <a:spLocks/>
          </p:cNvSpPr>
          <p:nvPr/>
        </p:nvSpPr>
        <p:spPr>
          <a:xfrm>
            <a:off x="435769" y="3657600"/>
            <a:ext cx="3107531" cy="2493819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IN" b="1" dirty="0"/>
              <a:t>S’--&gt;S … R0 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IN" b="1" dirty="0"/>
              <a:t>S--&gt;Aa … R1 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IN" b="1" dirty="0"/>
              <a:t>S--&gt;</a:t>
            </a:r>
            <a:r>
              <a:rPr lang="en-IN" b="1" dirty="0" err="1"/>
              <a:t>bAc</a:t>
            </a:r>
            <a:r>
              <a:rPr lang="en-IN" b="1" dirty="0"/>
              <a:t> … R2 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IN" b="1" dirty="0"/>
              <a:t>S--&gt;</a:t>
            </a:r>
            <a:r>
              <a:rPr lang="en-IN" b="1" dirty="0" err="1"/>
              <a:t>Bc</a:t>
            </a:r>
            <a:r>
              <a:rPr lang="en-IN" b="1" dirty="0"/>
              <a:t> …. R3 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IN" b="1" dirty="0"/>
              <a:t>S--&gt;</a:t>
            </a:r>
            <a:r>
              <a:rPr lang="en-IN" b="1" dirty="0" err="1"/>
              <a:t>bBa</a:t>
            </a:r>
            <a:r>
              <a:rPr lang="en-IN" b="1" dirty="0"/>
              <a:t> ….R4 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IN" b="1" dirty="0"/>
              <a:t>A--&gt;d …. R5 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IN" b="1" dirty="0"/>
              <a:t>B--&gt;d … R6 </a:t>
            </a:r>
          </a:p>
        </p:txBody>
      </p:sp>
    </p:spTree>
    <p:extLst>
      <p:ext uri="{BB962C8B-B14F-4D97-AF65-F5344CB8AC3E}">
        <p14:creationId xmlns:p14="http://schemas.microsoft.com/office/powerpoint/2010/main" val="2123401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8796A-609A-A06B-4839-4073A7D5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Example:5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F527D-6D2D-86B5-D201-28BDAD5F9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281"/>
            <a:ext cx="10515600" cy="5222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Construct SLR parsing table for the following grammar</a:t>
            </a:r>
            <a:endParaRPr lang="en-IN" dirty="0">
              <a:solidFill>
                <a:srgbClr val="FF0000"/>
              </a:solidFill>
            </a:endParaRPr>
          </a:p>
          <a:p>
            <a:pPr marL="0" indent="0" algn="l">
              <a:buNone/>
            </a:pPr>
            <a:r>
              <a:rPr lang="en-IN" sz="2300" b="0" i="0" u="none" strike="noStrike" baseline="0" dirty="0">
                <a:solidFill>
                  <a:srgbClr val="FF0000"/>
                </a:solidFill>
              </a:rPr>
              <a:t>S</a:t>
            </a:r>
            <a:r>
              <a:rPr lang="en-IN" sz="2300" dirty="0">
                <a:solidFill>
                  <a:srgbClr val="FF0000"/>
                </a:solidFill>
              </a:rPr>
              <a:t> → </a:t>
            </a:r>
            <a:r>
              <a:rPr lang="en-IN" sz="2300" b="0" i="0" u="none" strike="noStrike" baseline="0" dirty="0">
                <a:solidFill>
                  <a:srgbClr val="FF0000"/>
                </a:solidFill>
              </a:rPr>
              <a:t>L = R | R</a:t>
            </a:r>
          </a:p>
          <a:p>
            <a:pPr marL="0" indent="0" algn="l">
              <a:buNone/>
            </a:pPr>
            <a:r>
              <a:rPr lang="en-IN" sz="2300" b="0" i="0" u="none" strike="noStrike" baseline="0" dirty="0">
                <a:solidFill>
                  <a:srgbClr val="FF0000"/>
                </a:solidFill>
              </a:rPr>
              <a:t>L </a:t>
            </a:r>
            <a:r>
              <a:rPr lang="en-IN" sz="2300" dirty="0">
                <a:solidFill>
                  <a:srgbClr val="FF0000"/>
                </a:solidFill>
              </a:rPr>
              <a:t>→ </a:t>
            </a:r>
            <a:r>
              <a:rPr lang="en-IN" sz="2300" b="0" i="0" u="none" strike="noStrike" baseline="0" dirty="0">
                <a:solidFill>
                  <a:srgbClr val="FF0000"/>
                </a:solidFill>
              </a:rPr>
              <a:t>* R | id</a:t>
            </a:r>
          </a:p>
          <a:p>
            <a:pPr marL="0" indent="0" algn="l">
              <a:buNone/>
            </a:pPr>
            <a:r>
              <a:rPr lang="en-IN" sz="2300" b="0" i="0" u="none" strike="noStrike" baseline="0" dirty="0">
                <a:solidFill>
                  <a:srgbClr val="FF0000"/>
                </a:solidFill>
              </a:rPr>
              <a:t>R</a:t>
            </a:r>
            <a:r>
              <a:rPr lang="en-IN" sz="2300" dirty="0">
                <a:solidFill>
                  <a:srgbClr val="FF0000"/>
                </a:solidFill>
              </a:rPr>
              <a:t> → </a:t>
            </a:r>
            <a:r>
              <a:rPr lang="en-IN" sz="2300" b="0" i="0" u="none" strike="noStrike" baseline="0" dirty="0">
                <a:solidFill>
                  <a:srgbClr val="FF0000"/>
                </a:solidFill>
              </a:rPr>
              <a:t>L</a:t>
            </a:r>
            <a:endParaRPr lang="en-IN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1702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6AAA3-AAB6-DBC5-69EA-0EA340405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" y="72231"/>
            <a:ext cx="10515600" cy="1325563"/>
          </a:xfrm>
        </p:spPr>
        <p:txBody>
          <a:bodyPr/>
          <a:lstStyle/>
          <a:p>
            <a:r>
              <a:rPr lang="en-IN" dirty="0"/>
              <a:t>Solution2 </a:t>
            </a:r>
            <a:r>
              <a:rPr lang="en-US" dirty="0"/>
              <a:t>– canonical form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A1F8CC-0A61-901C-2A32-610CC8A63E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760" y="1064333"/>
            <a:ext cx="11134253" cy="5536264"/>
          </a:xfrm>
        </p:spPr>
      </p:pic>
    </p:spTree>
    <p:extLst>
      <p:ext uri="{BB962C8B-B14F-4D97-AF65-F5344CB8AC3E}">
        <p14:creationId xmlns:p14="http://schemas.microsoft.com/office/powerpoint/2010/main" val="1232410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573BE-2045-959D-F573-3B319120F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Solution2 – </a:t>
            </a:r>
            <a:r>
              <a:rPr lang="en-US" dirty="0" err="1"/>
              <a:t>cont</a:t>
            </a:r>
            <a:r>
              <a:rPr lang="en-US" dirty="0"/>
              <a:t>…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4AB0836-350E-73C7-43DC-F17F76683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9126" y="1131885"/>
            <a:ext cx="9739240" cy="5413893"/>
          </a:xfrm>
        </p:spPr>
      </p:pic>
    </p:spTree>
    <p:extLst>
      <p:ext uri="{BB962C8B-B14F-4D97-AF65-F5344CB8AC3E}">
        <p14:creationId xmlns:p14="http://schemas.microsoft.com/office/powerpoint/2010/main" val="872278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573BE-2045-959D-F573-3B319120F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258" y="239486"/>
            <a:ext cx="10515600" cy="1325563"/>
          </a:xfrm>
        </p:spPr>
        <p:txBody>
          <a:bodyPr/>
          <a:lstStyle/>
          <a:p>
            <a:r>
              <a:rPr lang="en-US" dirty="0"/>
              <a:t>Solution2 – parsing table 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05A3E79-AE11-8B24-DFF3-C2F69DE582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82576" y="1565049"/>
            <a:ext cx="5309424" cy="4827945"/>
          </a:xfrm>
        </p:spPr>
      </p:pic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338C5614-9D2B-D60B-64F0-A4706A9F8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1565049"/>
            <a:ext cx="6768276" cy="437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60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26964</TotalTime>
  <Words>1509</Words>
  <Application>Microsoft Office PowerPoint</Application>
  <PresentationFormat>Widescreen</PresentationFormat>
  <Paragraphs>309</Paragraphs>
  <Slides>25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Cambria Math</vt:lpstr>
      <vt:lpstr>Palatino Linotype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Solution1 – canonical form</vt:lpstr>
      <vt:lpstr>Solution1 – parsing table </vt:lpstr>
      <vt:lpstr>PowerPoint Presentation</vt:lpstr>
      <vt:lpstr>PowerPoint Presentation</vt:lpstr>
      <vt:lpstr>PowerPoint Presentation</vt:lpstr>
      <vt:lpstr>Example 3</vt:lpstr>
      <vt:lpstr>Solution3 – parsing table </vt:lpstr>
      <vt:lpstr>Solution3 – parsing the string</vt:lpstr>
      <vt:lpstr>With Conflicts</vt:lpstr>
      <vt:lpstr>Example:4</vt:lpstr>
      <vt:lpstr>Cont…</vt:lpstr>
      <vt:lpstr>Cont… Canonical Form</vt:lpstr>
      <vt:lpstr>PowerPoint Presentation</vt:lpstr>
      <vt:lpstr>Example:5</vt:lpstr>
      <vt:lpstr>Solution2 – canonical form</vt:lpstr>
      <vt:lpstr>Solution2 – cont…</vt:lpstr>
      <vt:lpstr>Solution2 – parsing table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Logic And Algebraic Structures</dc:title>
  <dc:creator>HP</dc:creator>
  <cp:lastModifiedBy>Arumuga Arun R</cp:lastModifiedBy>
  <cp:revision>752</cp:revision>
  <dcterms:created xsi:type="dcterms:W3CDTF">2020-07-30T09:53:05Z</dcterms:created>
  <dcterms:modified xsi:type="dcterms:W3CDTF">2024-09-06T03:35:20Z</dcterms:modified>
</cp:coreProperties>
</file>