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284" r:id="rId2"/>
    <p:sldId id="285" r:id="rId3"/>
    <p:sldId id="286" r:id="rId4"/>
    <p:sldId id="287" r:id="rId5"/>
    <p:sldId id="288" r:id="rId6"/>
    <p:sldId id="289" r:id="rId7"/>
    <p:sldId id="360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361" r:id="rId16"/>
    <p:sldId id="362" r:id="rId17"/>
    <p:sldId id="363" r:id="rId18"/>
    <p:sldId id="297" r:id="rId19"/>
    <p:sldId id="298" r:id="rId20"/>
    <p:sldId id="299" r:id="rId21"/>
    <p:sldId id="304" r:id="rId22"/>
    <p:sldId id="300" r:id="rId23"/>
    <p:sldId id="301" r:id="rId24"/>
    <p:sldId id="302" r:id="rId25"/>
    <p:sldId id="303" r:id="rId26"/>
    <p:sldId id="305" r:id="rId27"/>
    <p:sldId id="307" r:id="rId28"/>
    <p:sldId id="306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64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336" r:id="rId59"/>
    <p:sldId id="337" r:id="rId60"/>
    <p:sldId id="338" r:id="rId61"/>
    <p:sldId id="339" r:id="rId62"/>
    <p:sldId id="340" r:id="rId63"/>
    <p:sldId id="341" r:id="rId64"/>
    <p:sldId id="342" r:id="rId65"/>
    <p:sldId id="343" r:id="rId66"/>
    <p:sldId id="344" r:id="rId67"/>
    <p:sldId id="345" r:id="rId68"/>
    <p:sldId id="346" r:id="rId69"/>
    <p:sldId id="347" r:id="rId70"/>
    <p:sldId id="348" r:id="rId71"/>
    <p:sldId id="349" r:id="rId72"/>
    <p:sldId id="350" r:id="rId73"/>
    <p:sldId id="351" r:id="rId74"/>
    <p:sldId id="352" r:id="rId75"/>
    <p:sldId id="353" r:id="rId76"/>
    <p:sldId id="369" r:id="rId77"/>
    <p:sldId id="257" r:id="rId78"/>
    <p:sldId id="258" r:id="rId79"/>
    <p:sldId id="260" r:id="rId80"/>
    <p:sldId id="261" r:id="rId81"/>
    <p:sldId id="262" r:id="rId82"/>
    <p:sldId id="264" r:id="rId83"/>
    <p:sldId id="265" r:id="rId84"/>
    <p:sldId id="354" r:id="rId85"/>
    <p:sldId id="368" r:id="rId86"/>
    <p:sldId id="359" r:id="rId87"/>
    <p:sldId id="356" r:id="rId88"/>
    <p:sldId id="357" r:id="rId89"/>
    <p:sldId id="554" r:id="rId90"/>
    <p:sldId id="371" r:id="rId91"/>
    <p:sldId id="556" r:id="rId92"/>
    <p:sldId id="557" r:id="rId9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96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9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79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3777" y="1121036"/>
            <a:ext cx="10364447" cy="353045"/>
          </a:xfrm>
        </p:spPr>
        <p:txBody>
          <a:bodyPr lIns="0" tIns="0" rIns="0" bIns="0"/>
          <a:lstStyle>
            <a:lvl1pPr>
              <a:defRPr sz="2294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3784" y="1574202"/>
            <a:ext cx="4429606" cy="33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6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585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2 – Syntax Analysis</a:t>
            </a:r>
          </a:p>
        </p:txBody>
      </p:sp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BDD16EE-24F3-CC36-E0E3-76AED223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858" y="1599205"/>
            <a:ext cx="1497126" cy="40078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Get next token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F8726-BAC3-42F8-65CF-438FBD1E989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Role of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CC7E-57D6-1B67-09AB-DF94594D11D2}"/>
              </a:ext>
            </a:extLst>
          </p:cNvPr>
          <p:cNvSpPr txBox="1">
            <a:spLocks/>
          </p:cNvSpPr>
          <p:nvPr/>
        </p:nvSpPr>
        <p:spPr>
          <a:xfrm>
            <a:off x="131180" y="3503054"/>
            <a:ext cx="11929641" cy="295095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r>
              <a:rPr lang="en-US"/>
              <a:t>Parser obtains a string of token from the lexical analyzer and reports  </a:t>
            </a:r>
            <a:r>
              <a:rPr lang="en-US">
                <a:solidFill>
                  <a:srgbClr val="C00000"/>
                </a:solidFill>
              </a:rPr>
              <a:t>syntax error </a:t>
            </a:r>
            <a:r>
              <a:rPr lang="en-US"/>
              <a:t>if any otherwise generates </a:t>
            </a:r>
            <a:r>
              <a:rPr lang="en-US">
                <a:solidFill>
                  <a:srgbClr val="C00000"/>
                </a:solidFill>
              </a:rPr>
              <a:t>syntax tree</a:t>
            </a:r>
            <a:r>
              <a:rPr lang="en-US"/>
              <a:t>.</a:t>
            </a:r>
          </a:p>
          <a:p>
            <a:r>
              <a:rPr lang="en-US"/>
              <a:t>There are two types of parser: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>
                <a:solidFill>
                  <a:srgbClr val="0E47A1"/>
                </a:solidFill>
              </a:rPr>
              <a:t>Top-down parser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 Bottom-up parser</a:t>
            </a:r>
          </a:p>
          <a:p>
            <a:endParaRPr lang="en-US">
              <a:solidFill>
                <a:srgbClr val="0E47A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7EB467-6C8E-554C-8C7C-7B6226AAA13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265133" y="1157173"/>
            <a:ext cx="1477215" cy="715947"/>
          </a:xfrm>
          <a:prstGeom prst="rect">
            <a:avLst/>
          </a:prstGeom>
          <a:solidFill>
            <a:srgbClr val="0E47A1"/>
          </a:solidFill>
          <a:ln w="9525">
            <a:solidFill>
              <a:schemeClr val="tx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Rest of front 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E0429-DB66-DDC0-7EBA-7E7E57108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904" y="1095734"/>
            <a:ext cx="900099" cy="459105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Parse tree</a:t>
            </a:r>
          </a:p>
        </p:txBody>
      </p:sp>
      <p:cxnSp>
        <p:nvCxnSpPr>
          <p:cNvPr id="6" name="AutoShape 13">
            <a:extLst>
              <a:ext uri="{FF2B5EF4-FFF2-40B4-BE49-F238E27FC236}">
                <a16:creationId xmlns:a16="http://schemas.microsoft.com/office/drawing/2014/main" id="{64CAABB1-85B1-CF0F-3BAA-F0F9173D9E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53789" y="1792964"/>
            <a:ext cx="62571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Dot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CBDB8A-CBB0-A7A6-3F44-C0A47BD34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2883" y="867173"/>
            <a:ext cx="784288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Token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4406A-2B7E-4A92-B0A6-088BBB81B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570" y="1111238"/>
            <a:ext cx="611541" cy="3734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64BD3-BF43-657E-4C44-24C840BCF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919" y="1141639"/>
            <a:ext cx="1537837" cy="686117"/>
          </a:xfrm>
          <a:prstGeom prst="rect">
            <a:avLst/>
          </a:prstGeom>
          <a:solidFill>
            <a:srgbClr val="0E47A1"/>
          </a:solidFill>
          <a:ln w="9525">
            <a:solidFill>
              <a:schemeClr val="tx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Lexical analyzer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98E4E-3C5E-807F-5090-DAF3B666D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976" y="2718386"/>
            <a:ext cx="1843011" cy="387350"/>
          </a:xfrm>
          <a:prstGeom prst="rect">
            <a:avLst/>
          </a:prstGeom>
          <a:solidFill>
            <a:srgbClr val="0E47A1"/>
          </a:solidFill>
          <a:ln w="9525">
            <a:solidFill>
              <a:schemeClr val="tx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Symbol 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E74FA2-1686-307A-6D4C-0A2412C2D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4560" y="1172089"/>
            <a:ext cx="1070317" cy="686116"/>
          </a:xfrm>
          <a:prstGeom prst="rect">
            <a:avLst/>
          </a:prstGeom>
          <a:solidFill>
            <a:srgbClr val="0E47A1"/>
          </a:solidFill>
          <a:ln w="9525">
            <a:solidFill>
              <a:schemeClr val="tx1"/>
            </a:solidFill>
            <a:miter lim="800000"/>
          </a:ln>
        </p:spPr>
        <p:txBody>
          <a:bodyPr rot="0" vert="horz" wrap="square" lIns="91440" tIns="18288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Parser</a:t>
            </a:r>
          </a:p>
        </p:txBody>
      </p:sp>
      <p:cxnSp>
        <p:nvCxnSpPr>
          <p:cNvPr id="12" name="AutoShape 7">
            <a:extLst>
              <a:ext uri="{FF2B5EF4-FFF2-40B4-BE49-F238E27FC236}">
                <a16:creationId xmlns:a16="http://schemas.microsoft.com/office/drawing/2014/main" id="{2234FC9C-4187-FB35-B8F1-489E82C8AE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38756" y="1634544"/>
            <a:ext cx="94784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1">
            <a:extLst>
              <a:ext uri="{FF2B5EF4-FFF2-40B4-BE49-F238E27FC236}">
                <a16:creationId xmlns:a16="http://schemas.microsoft.com/office/drawing/2014/main" id="{24665CB9-A0DA-A8CA-A9D0-F215C8F3B0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10122" y="1819568"/>
            <a:ext cx="848519" cy="910723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2">
            <a:extLst>
              <a:ext uri="{FF2B5EF4-FFF2-40B4-BE49-F238E27FC236}">
                <a16:creationId xmlns:a16="http://schemas.microsoft.com/office/drawing/2014/main" id="{26F5AB68-72AB-5E18-8B42-C60BB03866F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368714" y="1833420"/>
            <a:ext cx="770252" cy="896871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546581D-61C8-A67D-DEDD-8043EF663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756" y="1153569"/>
            <a:ext cx="1127439" cy="775824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Source program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22F76F-BDFC-358B-4FDB-16A8A927230B}"/>
              </a:ext>
            </a:extLst>
          </p:cNvPr>
          <p:cNvCxnSpPr/>
          <p:nvPr/>
        </p:nvCxnSpPr>
        <p:spPr>
          <a:xfrm>
            <a:off x="3282377" y="1515149"/>
            <a:ext cx="633521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utoShape 7">
            <a:extLst>
              <a:ext uri="{FF2B5EF4-FFF2-40B4-BE49-F238E27FC236}">
                <a16:creationId xmlns:a16="http://schemas.microsoft.com/office/drawing/2014/main" id="{AB682F1D-26BD-DD42-A9D8-FCCB696562F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410181" y="1342066"/>
            <a:ext cx="976415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DD8F9E-B6E4-06FD-B1F7-66C37F0A3D59}"/>
              </a:ext>
            </a:extLst>
          </p:cNvPr>
          <p:cNvCxnSpPr/>
          <p:nvPr/>
        </p:nvCxnSpPr>
        <p:spPr>
          <a:xfrm>
            <a:off x="9729590" y="1499687"/>
            <a:ext cx="633521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3BE89-B312-040B-DE88-8714E130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9844" y="845857"/>
            <a:ext cx="775289" cy="402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Parse tree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6AB535-FB4E-33B4-2F31-CC34FB976CA4}"/>
              </a:ext>
            </a:extLst>
          </p:cNvPr>
          <p:cNvCxnSpPr>
            <a:stCxn id="11" idx="3"/>
            <a:endCxn id="4" idx="1"/>
          </p:cNvCxnSpPr>
          <p:nvPr/>
        </p:nvCxnSpPr>
        <p:spPr>
          <a:xfrm flipV="1">
            <a:off x="7414877" y="1515146"/>
            <a:ext cx="850256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C05B29-B207-8F0C-5456-487D134AE3E3}"/>
              </a:ext>
            </a:extLst>
          </p:cNvPr>
          <p:cNvCxnSpPr/>
          <p:nvPr/>
        </p:nvCxnSpPr>
        <p:spPr>
          <a:xfrm>
            <a:off x="192498" y="3677692"/>
            <a:ext cx="118872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6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5" grpId="0" animBg="1"/>
      <p:bldP spid="7" grpId="0"/>
      <p:bldP spid="8" grpId="0"/>
      <p:bldP spid="9" grpId="0" animBg="1"/>
      <p:bldP spid="10" grpId="0" animBg="1"/>
      <p:bldP spid="11" grpId="0" animBg="1"/>
      <p:bldP spid="16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A9A3-1C83-8F92-DF66-2960795BCC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Context free grammar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86E6B-7311-D6F5-136B-87F38391EF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246497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dirty="0"/>
                  <a:t>A context free grammar (CFG) is a 4-tuple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 dirty="0"/>
                  <a:t>where,</a:t>
                </a: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is finite set of non terminals,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IN" dirty="0"/>
                  <a:t> is disjoint finite set of terminals,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 is an element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and it’s a start symbol,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38188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 dirty="0"/>
                  <a:t> is a finite set formulas of the form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 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∪ 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86E6B-7311-D6F5-136B-87F38391E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2464972"/>
              </a:xfrm>
              <a:prstGeom prst="rect">
                <a:avLst/>
              </a:prstGeom>
              <a:blipFill>
                <a:blip r:embed="rId2"/>
                <a:stretch>
                  <a:fillRect l="-920" t="-4455" b="-153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74A31C9-31AD-FC86-E05B-FFCBE505F38C}"/>
              </a:ext>
            </a:extLst>
          </p:cNvPr>
          <p:cNvSpPr/>
          <p:nvPr/>
        </p:nvSpPr>
        <p:spPr>
          <a:xfrm>
            <a:off x="3411580" y="1388200"/>
            <a:ext cx="2222303" cy="371527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73E1B21-3698-AE6B-C302-2CEED1AA0C35}"/>
              </a:ext>
            </a:extLst>
          </p:cNvPr>
          <p:cNvSpPr txBox="1"/>
          <p:nvPr/>
        </p:nvSpPr>
        <p:spPr>
          <a:xfrm>
            <a:off x="131179" y="3480660"/>
            <a:ext cx="11929641" cy="1603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Nonterminal symbol: </a:t>
            </a:r>
          </a:p>
          <a:p>
            <a:pPr lvl="1"/>
            <a:r>
              <a:rPr lang="en-US" sz="2400" dirty="0"/>
              <a:t>The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name of syntax category of a language, e.g., noun, verb, etc. </a:t>
            </a:r>
          </a:p>
          <a:p>
            <a:pPr lvl="1"/>
            <a:r>
              <a:rPr lang="en-US" sz="2400" dirty="0"/>
              <a:t>The It is written as a </a:t>
            </a:r>
            <a:r>
              <a:rPr lang="en-US" sz="2400" b="1" dirty="0"/>
              <a:t>single capital letter</a:t>
            </a:r>
            <a:r>
              <a:rPr lang="en-US" sz="2400" dirty="0"/>
              <a:t>, or as a </a:t>
            </a:r>
            <a:r>
              <a:rPr lang="en-US" sz="2400" b="1" dirty="0"/>
              <a:t>name enclosed between &lt; … &gt;, </a:t>
            </a:r>
            <a:r>
              <a:rPr lang="en-US" sz="2400" dirty="0"/>
              <a:t>e.g., A or &lt;Noun&gt;</a:t>
            </a:r>
          </a:p>
          <a:p>
            <a:pPr lvl="1"/>
            <a:endParaRPr lang="en-US" sz="2400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7FECA9-0C7F-61C6-63C0-B86F7142FF94}"/>
              </a:ext>
            </a:extLst>
          </p:cNvPr>
          <p:cNvCxnSpPr/>
          <p:nvPr/>
        </p:nvCxnSpPr>
        <p:spPr>
          <a:xfrm>
            <a:off x="173620" y="3861162"/>
            <a:ext cx="118872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8332A50-CE4C-F57C-6A92-0DE98F8017FA}"/>
              </a:ext>
            </a:extLst>
          </p:cNvPr>
          <p:cNvSpPr/>
          <p:nvPr/>
        </p:nvSpPr>
        <p:spPr>
          <a:xfrm>
            <a:off x="3525012" y="5084063"/>
            <a:ext cx="487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&lt;Noun Phrase&gt; </a:t>
            </a:r>
            <a:r>
              <a:rPr lang="en-US" sz="2000" dirty="0"/>
              <a:t>→</a:t>
            </a:r>
            <a:r>
              <a:rPr lang="en-US" sz="2400" dirty="0"/>
              <a:t> &lt;Article&gt;&lt;Noun&gt;</a:t>
            </a:r>
          </a:p>
          <a:p>
            <a:r>
              <a:rPr lang="en-US" sz="2400" dirty="0"/>
              <a:t>&lt;Article&gt; </a:t>
            </a:r>
            <a:r>
              <a:rPr lang="en-US" sz="2000" dirty="0"/>
              <a:t>→</a:t>
            </a:r>
            <a:r>
              <a:rPr lang="en-US" sz="2400" dirty="0"/>
              <a:t> a | an | the</a:t>
            </a:r>
          </a:p>
          <a:p>
            <a:r>
              <a:rPr lang="en-US" sz="2400" dirty="0"/>
              <a:t>&lt;Noun&gt; </a:t>
            </a:r>
            <a:r>
              <a:rPr lang="en-US" sz="2000" dirty="0"/>
              <a:t>→</a:t>
            </a:r>
            <a:r>
              <a:rPr lang="en-US" sz="2400" dirty="0"/>
              <a:t> boy | apple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F86B5B-0196-17D6-7671-4DDD67AAB847}"/>
              </a:ext>
            </a:extLst>
          </p:cNvPr>
          <p:cNvSpPr/>
          <p:nvPr/>
        </p:nvSpPr>
        <p:spPr>
          <a:xfrm>
            <a:off x="3517116" y="5162714"/>
            <a:ext cx="2028277" cy="326377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6A8A34-802C-C62F-60BE-8D11FC0FAB89}"/>
              </a:ext>
            </a:extLst>
          </p:cNvPr>
          <p:cNvSpPr/>
          <p:nvPr/>
        </p:nvSpPr>
        <p:spPr>
          <a:xfrm>
            <a:off x="3517116" y="5540832"/>
            <a:ext cx="1300689" cy="320040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D764E-7769-8D4D-6D1C-C2D05DC39719}"/>
              </a:ext>
            </a:extLst>
          </p:cNvPr>
          <p:cNvSpPr/>
          <p:nvPr/>
        </p:nvSpPr>
        <p:spPr>
          <a:xfrm>
            <a:off x="3517116" y="5912612"/>
            <a:ext cx="1113877" cy="371780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7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8C1C-408F-D670-CC77-2CCC8C500EE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Context free grammar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15C11-572F-4808-F99D-A50E0FB206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5"/>
                <a:ext cx="11929641" cy="246497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dirty="0"/>
                  <a:t>A context free grammar (CFG) is a 4-tuple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 dirty="0"/>
                  <a:t>where,</a:t>
                </a: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is finite set of non terminals,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IN" dirty="0"/>
                  <a:t> is disjoint finite set of terminals,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 is an element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and it’s a start symbol,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38188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sz="2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 sz="2600" dirty="0"/>
                  <a:t> is a finite set formulas of the form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sz="2600" dirty="0"/>
                  <a:t> where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2600" dirty="0"/>
                  <a:t> and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I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∪ </m:t>
                        </m:r>
                        <m:r>
                          <a:rPr lang="el-G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  <m: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6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15C11-572F-4808-F99D-A50E0FB20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5"/>
                <a:ext cx="11929641" cy="2464972"/>
              </a:xfrm>
              <a:prstGeom prst="rect">
                <a:avLst/>
              </a:prstGeom>
              <a:blipFill>
                <a:blip r:embed="rId2"/>
                <a:stretch>
                  <a:fillRect l="-920" t="-4455" b="-74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C8D68AB-E15B-596E-4EDA-B66505C00C81}"/>
              </a:ext>
            </a:extLst>
          </p:cNvPr>
          <p:cNvSpPr/>
          <p:nvPr/>
        </p:nvSpPr>
        <p:spPr>
          <a:xfrm>
            <a:off x="3699054" y="1944128"/>
            <a:ext cx="2485436" cy="371527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EEAE13-F50E-5B60-0D02-401553286AC2}"/>
              </a:ext>
            </a:extLst>
          </p:cNvPr>
          <p:cNvSpPr txBox="1"/>
          <p:nvPr/>
        </p:nvSpPr>
        <p:spPr>
          <a:xfrm>
            <a:off x="131179" y="3480661"/>
            <a:ext cx="11929641" cy="1603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Terminal symbol: </a:t>
            </a:r>
          </a:p>
          <a:p>
            <a:pPr lvl="1"/>
            <a:r>
              <a:rPr lang="en-US" sz="2400" dirty="0"/>
              <a:t>A symbol in the alphabet. </a:t>
            </a:r>
          </a:p>
          <a:p>
            <a:pPr lvl="1"/>
            <a:r>
              <a:rPr lang="en-US" sz="2400" dirty="0"/>
              <a:t>It is denoted by lower case letter and punctuation marks used in language.</a:t>
            </a:r>
          </a:p>
          <a:p>
            <a:pPr lvl="1"/>
            <a:endParaRPr lang="en-US" sz="2400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78310F-3A49-F4FF-1B12-141C889C5EF1}"/>
              </a:ext>
            </a:extLst>
          </p:cNvPr>
          <p:cNvCxnSpPr/>
          <p:nvPr/>
        </p:nvCxnSpPr>
        <p:spPr>
          <a:xfrm>
            <a:off x="173620" y="3330221"/>
            <a:ext cx="118872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E66B6A2-A983-9A79-A901-CF6A7B0DFD39}"/>
              </a:ext>
            </a:extLst>
          </p:cNvPr>
          <p:cNvSpPr/>
          <p:nvPr/>
        </p:nvSpPr>
        <p:spPr>
          <a:xfrm>
            <a:off x="3525012" y="5084064"/>
            <a:ext cx="487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&lt;Noun Phrase&gt; </a:t>
            </a:r>
            <a:r>
              <a:rPr lang="en-US" sz="2000" dirty="0"/>
              <a:t>→</a:t>
            </a:r>
            <a:r>
              <a:rPr lang="en-US" sz="2400" dirty="0"/>
              <a:t> &lt;Article&gt;&lt;Noun&gt;</a:t>
            </a:r>
          </a:p>
          <a:p>
            <a:r>
              <a:rPr lang="en-US" sz="2400" dirty="0"/>
              <a:t>&lt;Article&gt; </a:t>
            </a:r>
            <a:r>
              <a:rPr lang="en-US" sz="2000" dirty="0"/>
              <a:t>→</a:t>
            </a:r>
            <a:r>
              <a:rPr lang="en-US" sz="2400" dirty="0"/>
              <a:t> a | an | the</a:t>
            </a:r>
          </a:p>
          <a:p>
            <a:r>
              <a:rPr lang="en-US" sz="2400" dirty="0"/>
              <a:t>&lt;Noun&gt; </a:t>
            </a:r>
            <a:r>
              <a:rPr lang="en-US" sz="2000" dirty="0"/>
              <a:t>→</a:t>
            </a:r>
            <a:r>
              <a:rPr lang="en-US" sz="2400" dirty="0"/>
              <a:t> boy | apple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B3D4DA-D274-D82C-9956-6D381559CE48}"/>
              </a:ext>
            </a:extLst>
          </p:cNvPr>
          <p:cNvSpPr/>
          <p:nvPr/>
        </p:nvSpPr>
        <p:spPr>
          <a:xfrm>
            <a:off x="4889146" y="5901281"/>
            <a:ext cx="505689" cy="316538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A758EE-6F01-D76C-5AFF-3B6E701589DB}"/>
              </a:ext>
            </a:extLst>
          </p:cNvPr>
          <p:cNvSpPr/>
          <p:nvPr/>
        </p:nvSpPr>
        <p:spPr>
          <a:xfrm>
            <a:off x="5562623" y="5901281"/>
            <a:ext cx="857842" cy="320040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6E2BF9-08D5-73CF-0D92-E464C48EFB7B}"/>
              </a:ext>
            </a:extLst>
          </p:cNvPr>
          <p:cNvSpPr/>
          <p:nvPr/>
        </p:nvSpPr>
        <p:spPr>
          <a:xfrm>
            <a:off x="5016078" y="5539479"/>
            <a:ext cx="228600" cy="316538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73A5B0-84A7-5103-1DCD-24EEF36C2595}"/>
              </a:ext>
            </a:extLst>
          </p:cNvPr>
          <p:cNvSpPr/>
          <p:nvPr/>
        </p:nvSpPr>
        <p:spPr>
          <a:xfrm>
            <a:off x="5421174" y="5539479"/>
            <a:ext cx="365760" cy="316538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787C76-B6CA-7627-2E87-56ADEC9BDC80}"/>
              </a:ext>
            </a:extLst>
          </p:cNvPr>
          <p:cNvSpPr/>
          <p:nvPr/>
        </p:nvSpPr>
        <p:spPr>
          <a:xfrm>
            <a:off x="5960461" y="5525959"/>
            <a:ext cx="548493" cy="316538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4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92EE7-EFF1-D571-ACCF-98A51A0649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Context free grammar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FD69A5-A999-3B16-D7B8-532335CA6A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5"/>
                <a:ext cx="11929641" cy="246497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/>
                  <a:t>A context free grammar (CFG) is a 4-tuple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/>
                  <a:t>where,</a:t>
                </a: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/>
                  <a:t> is finite set of non terminals,</a:t>
                </a: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IN"/>
                  <a:t> is disjoint finite set of terminals,</a:t>
                </a: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/>
                  <a:t> is an element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/>
                  <a:t> and it’s a start symbol,</a:t>
                </a: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38188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/>
                  <a:t> is a finite set formulas of the form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/>
                  <a:t> 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/>
                  <a:t>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∪ 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FD69A5-A999-3B16-D7B8-532335CA6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5"/>
                <a:ext cx="11929641" cy="2464972"/>
              </a:xfrm>
              <a:prstGeom prst="rect">
                <a:avLst/>
              </a:prstGeom>
              <a:blipFill>
                <a:blip r:embed="rId3"/>
                <a:stretch>
                  <a:fillRect l="-920" t="-4455" b="-153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9B03CA7-4DB7-449A-03ED-EDB4B076BF40}"/>
              </a:ext>
            </a:extLst>
          </p:cNvPr>
          <p:cNvSpPr/>
          <p:nvPr/>
        </p:nvSpPr>
        <p:spPr>
          <a:xfrm>
            <a:off x="5583516" y="2436881"/>
            <a:ext cx="1957826" cy="371527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E37E38-6D9A-B563-3FE8-907D136AE804}"/>
              </a:ext>
            </a:extLst>
          </p:cNvPr>
          <p:cNvSpPr txBox="1"/>
          <p:nvPr/>
        </p:nvSpPr>
        <p:spPr>
          <a:xfrm>
            <a:off x="131179" y="3480661"/>
            <a:ext cx="11929641" cy="1603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Start symbol: </a:t>
            </a:r>
          </a:p>
          <a:p>
            <a:pPr lvl="1"/>
            <a:r>
              <a:rPr lang="en-US" sz="2400" dirty="0"/>
              <a:t>First nonterminal symbol of the grammar is called start symbol. </a:t>
            </a:r>
          </a:p>
          <a:p>
            <a:pPr marL="457200" lvl="1" indent="0"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38F0A-8995-E454-830A-ECC812672588}"/>
              </a:ext>
            </a:extLst>
          </p:cNvPr>
          <p:cNvCxnSpPr/>
          <p:nvPr/>
        </p:nvCxnSpPr>
        <p:spPr>
          <a:xfrm>
            <a:off x="131179" y="3762840"/>
            <a:ext cx="118872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550B498-02B7-B087-984F-9C6C77C67E95}"/>
              </a:ext>
            </a:extLst>
          </p:cNvPr>
          <p:cNvSpPr/>
          <p:nvPr/>
        </p:nvSpPr>
        <p:spPr>
          <a:xfrm>
            <a:off x="3525012" y="5084064"/>
            <a:ext cx="487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&lt;Noun Phrase&gt; </a:t>
            </a:r>
            <a:r>
              <a:rPr lang="en-US" sz="2000"/>
              <a:t>→</a:t>
            </a:r>
            <a:r>
              <a:rPr lang="en-US" sz="2400"/>
              <a:t> &lt;Article&gt;&lt;Noun&gt;</a:t>
            </a:r>
          </a:p>
          <a:p>
            <a:r>
              <a:rPr lang="en-US" sz="2400"/>
              <a:t>&lt;Article&gt; </a:t>
            </a:r>
            <a:r>
              <a:rPr lang="en-US" sz="2000"/>
              <a:t>→</a:t>
            </a:r>
            <a:r>
              <a:rPr lang="en-US" sz="2400"/>
              <a:t> a | an | the</a:t>
            </a:r>
          </a:p>
          <a:p>
            <a:r>
              <a:rPr lang="en-US" sz="2400"/>
              <a:t>&lt;Noun&gt; </a:t>
            </a:r>
            <a:r>
              <a:rPr lang="en-US" sz="2000"/>
              <a:t>→</a:t>
            </a:r>
            <a:r>
              <a:rPr lang="en-US" sz="2400"/>
              <a:t> boy | apple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17B939-9883-60C4-31FC-303BE99F656A}"/>
              </a:ext>
            </a:extLst>
          </p:cNvPr>
          <p:cNvSpPr/>
          <p:nvPr/>
        </p:nvSpPr>
        <p:spPr>
          <a:xfrm>
            <a:off x="3553148" y="5146441"/>
            <a:ext cx="1896162" cy="326463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3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0DCE-482C-5F3D-8307-5A44138D700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Context free grammar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6A135A-232C-BACD-22AC-257687C768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5"/>
                <a:ext cx="11929641" cy="246497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/>
                  <a:t>A context free grammar (CFG) is a 4-tuple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/>
                  <a:t>where,</a:t>
                </a: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/>
                  <a:t> is finite set of non terminals,</a:t>
                </a: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IN"/>
                  <a:t> is disjoint finite set of terminals,</a:t>
                </a: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390525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/>
                  <a:t> is an element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/>
                  <a:t> and it’s a start symbol,</a:t>
                </a: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38188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/>
                  <a:t> is a finite set formulas of the form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/>
                  <a:t> 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/>
                  <a:t>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∪ 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6A135A-232C-BACD-22AC-257687C76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5"/>
                <a:ext cx="11929641" cy="2464972"/>
              </a:xfrm>
              <a:prstGeom prst="rect">
                <a:avLst/>
              </a:prstGeom>
              <a:blipFill>
                <a:blip r:embed="rId2"/>
                <a:stretch>
                  <a:fillRect l="-920" t="-4455" b="-153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3C9384E-87AF-7DB9-7C00-77B823D6472F}"/>
              </a:ext>
            </a:extLst>
          </p:cNvPr>
          <p:cNvSpPr/>
          <p:nvPr/>
        </p:nvSpPr>
        <p:spPr>
          <a:xfrm>
            <a:off x="2066140" y="2911995"/>
            <a:ext cx="3007305" cy="369948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4D8152-E94B-0D3F-B9BE-47D0D7A406AA}"/>
              </a:ext>
            </a:extLst>
          </p:cNvPr>
          <p:cNvSpPr txBox="1"/>
          <p:nvPr/>
        </p:nvSpPr>
        <p:spPr>
          <a:xfrm>
            <a:off x="131179" y="3480661"/>
            <a:ext cx="11929641" cy="1603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Production: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US" sz="2400" dirty="0"/>
              <a:t>A production, also called a rewriting rule, is a rule of grammar. It has the form of</a:t>
            </a:r>
          </a:p>
          <a:p>
            <a:pPr marL="457200" lvl="1" indent="0" algn="ctr">
              <a:buNone/>
            </a:pPr>
            <a:r>
              <a:rPr lang="en-US" sz="2400" dirty="0">
                <a:solidFill>
                  <a:srgbClr val="0972C6"/>
                </a:solidFill>
              </a:rPr>
              <a:t>A nonterminal symbol </a:t>
            </a:r>
            <a:r>
              <a:rPr lang="en-US" dirty="0">
                <a:solidFill>
                  <a:srgbClr val="0972C6"/>
                </a:solidFill>
              </a:rPr>
              <a:t>→</a:t>
            </a:r>
            <a:r>
              <a:rPr lang="en-US" sz="2400" dirty="0">
                <a:solidFill>
                  <a:srgbClr val="0972C6"/>
                </a:solidFill>
              </a:rPr>
              <a:t> String of terminal and nonterminal symbols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</a:p>
          <a:p>
            <a:pPr marL="457200" lvl="1" indent="0"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5137F3-CA41-B42B-2B67-3367B6507D13}"/>
              </a:ext>
            </a:extLst>
          </p:cNvPr>
          <p:cNvCxnSpPr/>
          <p:nvPr/>
        </p:nvCxnSpPr>
        <p:spPr>
          <a:xfrm>
            <a:off x="173620" y="3841498"/>
            <a:ext cx="118872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44CF22B-9823-A07C-6000-4899347A6FCE}"/>
              </a:ext>
            </a:extLst>
          </p:cNvPr>
          <p:cNvSpPr/>
          <p:nvPr/>
        </p:nvSpPr>
        <p:spPr>
          <a:xfrm>
            <a:off x="3525012" y="5084064"/>
            <a:ext cx="487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&lt;Noun Phrase&gt; </a:t>
            </a:r>
            <a:r>
              <a:rPr lang="en-US" sz="2000" dirty="0"/>
              <a:t>→</a:t>
            </a:r>
            <a:r>
              <a:rPr lang="en-US" sz="2400" dirty="0"/>
              <a:t> &lt;Article&gt;&lt;Noun&gt;</a:t>
            </a:r>
          </a:p>
          <a:p>
            <a:r>
              <a:rPr lang="en-US" sz="2400" dirty="0"/>
              <a:t>&lt;Article&gt; </a:t>
            </a:r>
            <a:r>
              <a:rPr lang="en-US" sz="2000" dirty="0"/>
              <a:t>→</a:t>
            </a:r>
            <a:r>
              <a:rPr lang="en-US" sz="2400" dirty="0"/>
              <a:t> a | an | the</a:t>
            </a:r>
          </a:p>
          <a:p>
            <a:r>
              <a:rPr lang="en-US" sz="2400" dirty="0"/>
              <a:t>&lt;Noun&gt; </a:t>
            </a:r>
            <a:r>
              <a:rPr lang="en-US" sz="2000" dirty="0"/>
              <a:t>→</a:t>
            </a:r>
            <a:r>
              <a:rPr lang="en-US" sz="2400" dirty="0"/>
              <a:t> boy | apple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151A5D-49D5-1C2E-5E80-46B7308B556C}"/>
              </a:ext>
            </a:extLst>
          </p:cNvPr>
          <p:cNvSpPr/>
          <p:nvPr/>
        </p:nvSpPr>
        <p:spPr>
          <a:xfrm>
            <a:off x="3553148" y="5146441"/>
            <a:ext cx="4460142" cy="326463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5043C-8A20-96D7-008B-9676F3D00448}"/>
              </a:ext>
            </a:extLst>
          </p:cNvPr>
          <p:cNvSpPr/>
          <p:nvPr/>
        </p:nvSpPr>
        <p:spPr>
          <a:xfrm>
            <a:off x="3553147" y="5502290"/>
            <a:ext cx="3004969" cy="333928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26B0DE-1BEC-4C7F-E8A3-8B655F185C84}"/>
              </a:ext>
            </a:extLst>
          </p:cNvPr>
          <p:cNvSpPr/>
          <p:nvPr/>
        </p:nvSpPr>
        <p:spPr>
          <a:xfrm>
            <a:off x="3571436" y="5891130"/>
            <a:ext cx="2842242" cy="393263"/>
          </a:xfrm>
          <a:prstGeom prst="rect">
            <a:avLst/>
          </a:prstGeom>
          <a:solidFill>
            <a:srgbClr val="0972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6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C50D0E-9BE3-EE85-238D-0F515A615059}"/>
              </a:ext>
            </a:extLst>
          </p:cNvPr>
          <p:cNvSpPr txBox="1"/>
          <p:nvPr/>
        </p:nvSpPr>
        <p:spPr>
          <a:xfrm>
            <a:off x="721360" y="1635760"/>
            <a:ext cx="94081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i="1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stmt</a:t>
            </a:r>
            <a:r>
              <a:rPr lang="en-IN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-&gt;  </a:t>
            </a:r>
            <a:r>
              <a:rPr lang="en-IN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if</a:t>
            </a:r>
            <a:r>
              <a:rPr lang="en-IN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( expr ) </a:t>
            </a:r>
            <a:r>
              <a:rPr lang="en-IN" sz="2500" i="1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stmt</a:t>
            </a:r>
            <a:r>
              <a:rPr lang="en-IN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r>
              <a:rPr lang="en-IN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else</a:t>
            </a:r>
            <a:r>
              <a:rPr lang="en-IN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r>
              <a:rPr lang="en-IN" sz="2500" i="1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stmt</a:t>
            </a:r>
            <a:endParaRPr lang="en-IN" sz="2500" i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07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B23A-AF23-0C15-0744-DD937E42E1D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8BC7C-14EB-E3DB-96D3-0093D899C6A9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0">
              <a:buFont typeface="Arial" panose="020B0604020202020204" pitchFamily="34" charset="0"/>
              <a:buNone/>
            </a:pPr>
            <a:r>
              <a:rPr lang="en-US" dirty="0"/>
              <a:t>Write terminals, non terminals, start symbol, and productions for following grammar.</a:t>
            </a:r>
          </a:p>
          <a:p>
            <a:pPr marL="693738" indent="-407988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</a:rPr>
              <a:t>E 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E47A1"/>
                </a:solidFill>
              </a:rPr>
              <a:t>E O E| (E) | -E | id</a:t>
            </a:r>
          </a:p>
          <a:p>
            <a:pPr marL="693738" indent="-407988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</a:rPr>
              <a:t>O 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 + | - | * | /  | </a:t>
            </a:r>
            <a:r>
              <a:rPr lang="en-US" dirty="0">
                <a:solidFill>
                  <a:srgbClr val="0E47A1"/>
                </a:solidFill>
              </a:rPr>
              <a:t>↑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3B3AE5-F91A-21BC-980B-EC4B8DCCEB81}"/>
              </a:ext>
            </a:extLst>
          </p:cNvPr>
          <p:cNvSpPr/>
          <p:nvPr/>
        </p:nvSpPr>
        <p:spPr>
          <a:xfrm>
            <a:off x="385994" y="2971800"/>
            <a:ext cx="3810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E47A1"/>
                </a:solidFill>
              </a:rPr>
              <a:t>Terminals: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</a:rPr>
              <a:t>id + - * / ↑ ( 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76413-88BD-8AFF-F742-E23F96FDEA7B}"/>
              </a:ext>
            </a:extLst>
          </p:cNvPr>
          <p:cNvSpPr/>
          <p:nvPr/>
        </p:nvSpPr>
        <p:spPr>
          <a:xfrm>
            <a:off x="385994" y="3470129"/>
            <a:ext cx="3498704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E47A1"/>
                </a:solidFill>
              </a:rPr>
              <a:t>Non terminals: </a:t>
            </a:r>
            <a:r>
              <a:rPr lang="en-US" sz="2400" b="1" dirty="0">
                <a:solidFill>
                  <a:schemeClr val="tx1"/>
                </a:solidFill>
              </a:rPr>
              <a:t>E, 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91C500-80FD-4036-2A04-961924F7A69E}"/>
              </a:ext>
            </a:extLst>
          </p:cNvPr>
          <p:cNvSpPr/>
          <p:nvPr/>
        </p:nvSpPr>
        <p:spPr>
          <a:xfrm>
            <a:off x="385994" y="4096834"/>
            <a:ext cx="29337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E47A1"/>
                </a:solidFill>
              </a:rPr>
              <a:t>Start symbol: </a:t>
            </a:r>
            <a:r>
              <a:rPr lang="en-US" sz="2400" b="1" dirty="0">
                <a:solidFill>
                  <a:srgbClr val="00B050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B9375-CC52-9984-4DFD-322CA5138570}"/>
              </a:ext>
            </a:extLst>
          </p:cNvPr>
          <p:cNvSpPr/>
          <p:nvPr/>
        </p:nvSpPr>
        <p:spPr>
          <a:xfrm>
            <a:off x="385994" y="4893044"/>
            <a:ext cx="5004390" cy="857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sz="2400" b="1" dirty="0">
                <a:solidFill>
                  <a:srgbClr val="0E47A1"/>
                </a:solidFill>
              </a:rPr>
              <a:t>Productions: </a:t>
            </a:r>
            <a:r>
              <a:rPr lang="en-US" sz="2400" b="1" dirty="0">
                <a:solidFill>
                  <a:srgbClr val="00B050"/>
                </a:solidFill>
              </a:rPr>
              <a:t>	</a:t>
            </a:r>
            <a:r>
              <a:rPr lang="en-US" sz="2400" b="1" dirty="0">
                <a:solidFill>
                  <a:schemeClr val="tx1"/>
                </a:solidFill>
              </a:rPr>
              <a:t>E </a:t>
            </a:r>
            <a:r>
              <a:rPr lang="en-US" sz="24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2400" b="1" dirty="0">
                <a:solidFill>
                  <a:schemeClr val="tx1"/>
                </a:solidFill>
              </a:rPr>
              <a:t>E O E| (E) | -E | id</a:t>
            </a:r>
          </a:p>
          <a:p>
            <a:pPr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		O </a:t>
            </a:r>
            <a:r>
              <a:rPr lang="en-US" sz="2400" b="1" dirty="0">
                <a:solidFill>
                  <a:schemeClr val="tx1"/>
                </a:solidFill>
                <a:sym typeface="Wingdings" panose="05000000000000000000" pitchFamily="2" charset="2"/>
              </a:rPr>
              <a:t> + | - | * | /  | </a:t>
            </a:r>
            <a:r>
              <a:rPr lang="en-US" sz="2400" b="1" dirty="0">
                <a:solidFill>
                  <a:schemeClr val="tx1"/>
                </a:solidFill>
              </a:rPr>
              <a:t>↑</a:t>
            </a:r>
          </a:p>
          <a:p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31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C904-B266-E652-CF02-499DCE80A0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Derivation &amp; Ambiguity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E4772-4506-7D4B-0891-B5502F63A7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404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46C2-05B2-BA37-15DA-2CF19FA15B9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3A91-816B-242B-C475-F8438D19565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Derivation is used to find whether the string belongs to a given grammar or not.</a:t>
            </a:r>
          </a:p>
          <a:p>
            <a:r>
              <a:rPr lang="en-US"/>
              <a:t>Types of derivations are: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>
                <a:solidFill>
                  <a:srgbClr val="0E47A1"/>
                </a:solidFill>
              </a:rPr>
              <a:t>Leftmost derivation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 Rightmost derivation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1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7963-78A4-0C95-35E8-676F73B5FF5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IN"/>
              <a:t>Leftmost derivation 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2AC76-83EE-26DF-5571-A636EC699F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464203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 derivation of a string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in a grammar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left most derivation if at every step the </a:t>
                </a:r>
                <a:r>
                  <a:rPr lang="en-US" dirty="0">
                    <a:solidFill>
                      <a:srgbClr val="C00000"/>
                    </a:solidFill>
                  </a:rPr>
                  <a:t>left most non terminal </a:t>
                </a:r>
                <a:r>
                  <a:rPr lang="en-US" dirty="0"/>
                  <a:t>is replaced.</a:t>
                </a:r>
              </a:p>
              <a:p>
                <a:r>
                  <a:rPr lang="en-IN" dirty="0">
                    <a:solidFill>
                      <a:srgbClr val="0E47A1"/>
                    </a:solidFill>
                  </a:rPr>
                  <a:t>Grammar: S</a:t>
                </a:r>
                <a:r>
                  <a:rPr lang="en-IN" sz="2000" dirty="0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IN" dirty="0">
                    <a:solidFill>
                      <a:srgbClr val="0E47A1"/>
                    </a:solidFill>
                    <a:sym typeface="Wingdings" panose="05000000000000000000" pitchFamily="2" charset="2"/>
                  </a:rPr>
                  <a:t>S+S | S-S | S*S | S/S | a</a:t>
                </a:r>
                <a:r>
                  <a:rPr lang="en-IN" b="1" dirty="0">
                    <a:solidFill>
                      <a:srgbClr val="0E47A1"/>
                    </a:solidFill>
                    <a:sym typeface="Wingdings" panose="05000000000000000000" pitchFamily="2" charset="2"/>
                  </a:rPr>
                  <a:t> 	</a:t>
                </a:r>
                <a:r>
                  <a:rPr lang="en-IN" dirty="0">
                    <a:solidFill>
                      <a:srgbClr val="0E47A1"/>
                    </a:solidFill>
                    <a:sym typeface="Wingdings" panose="05000000000000000000" pitchFamily="2" charset="2"/>
                  </a:rPr>
                  <a:t>Output string: a*a-a</a:t>
                </a:r>
              </a:p>
              <a:p>
                <a:endParaRPr lang="en-IN" b="1" dirty="0">
                  <a:solidFill>
                    <a:srgbClr val="0E47A1"/>
                  </a:solidFill>
                  <a:sym typeface="Wingdings" panose="05000000000000000000" pitchFamily="2" charset="2"/>
                </a:endParaRPr>
              </a:p>
              <a:p>
                <a:endParaRPr lang="en-IN" b="1" dirty="0">
                  <a:solidFill>
                    <a:srgbClr val="0E47A1"/>
                  </a:solidFill>
                  <a:sym typeface="Wingdings" panose="05000000000000000000" pitchFamily="2" charset="2"/>
                </a:endParaRPr>
              </a:p>
              <a:p>
                <a:pPr defTabSz="565150">
                  <a:buFont typeface="Arial" panose="020B0604020202020204" pitchFamily="34" charset="0"/>
                  <a:buNone/>
                </a:pPr>
                <a:r>
                  <a:rPr lang="en-IN" dirty="0">
                    <a:sym typeface="Wingdings" panose="05000000000000000000" pitchFamily="2" charset="2"/>
                  </a:rPr>
                  <a:t>		S</a:t>
                </a:r>
              </a:p>
              <a:p>
                <a:pPr defTabSz="565150">
                  <a:buFont typeface="Arial" panose="020B0604020202020204" pitchFamily="34" charset="0"/>
                  <a:buNone/>
                </a:pPr>
                <a:r>
                  <a:rPr lang="en-IN" sz="2000" dirty="0">
                    <a:sym typeface="Wingdings" panose="05000000000000000000" pitchFamily="2" charset="2"/>
                  </a:rPr>
                  <a:t>	</a:t>
                </a:r>
                <a:r>
                  <a:rPr lang="en-IN" b="1" dirty="0">
                    <a:sym typeface="Wingdings" panose="05000000000000000000" pitchFamily="2" charset="2"/>
                  </a:rPr>
                  <a:t>S-S</a:t>
                </a:r>
              </a:p>
              <a:p>
                <a:pPr indent="6350" defTabSz="349250">
                  <a:buFont typeface="Arial" panose="020B0604020202020204" pitchFamily="34" charset="0"/>
                  <a:buNone/>
                </a:pP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b="1" dirty="0">
                    <a:sym typeface="Wingdings" panose="05000000000000000000" pitchFamily="2" charset="2"/>
                  </a:rPr>
                  <a:t>S*S</a:t>
                </a:r>
                <a:r>
                  <a:rPr lang="en-IN" dirty="0">
                    <a:sym typeface="Wingdings" panose="05000000000000000000" pitchFamily="2" charset="2"/>
                  </a:rPr>
                  <a:t>-S</a:t>
                </a:r>
              </a:p>
              <a:p>
                <a:pPr indent="6350" defTabSz="349250">
                  <a:buFont typeface="Arial" panose="020B0604020202020204" pitchFamily="34" charset="0"/>
                  <a:buNone/>
                </a:pP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b="1" dirty="0">
                    <a:sym typeface="Wingdings" panose="05000000000000000000" pitchFamily="2" charset="2"/>
                  </a:rPr>
                  <a:t>a</a:t>
                </a:r>
                <a:r>
                  <a:rPr lang="en-IN" dirty="0">
                    <a:sym typeface="Wingdings" panose="05000000000000000000" pitchFamily="2" charset="2"/>
                  </a:rPr>
                  <a:t>*S-S</a:t>
                </a:r>
              </a:p>
              <a:p>
                <a:pPr indent="6350" defTabSz="349250">
                  <a:buFont typeface="Arial" panose="020B0604020202020204" pitchFamily="34" charset="0"/>
                  <a:buNone/>
                </a:pP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dirty="0">
                    <a:sym typeface="Wingdings" panose="05000000000000000000" pitchFamily="2" charset="2"/>
                  </a:rPr>
                  <a:t>a*</a:t>
                </a:r>
                <a:r>
                  <a:rPr lang="en-IN" b="1" dirty="0">
                    <a:sym typeface="Wingdings" panose="05000000000000000000" pitchFamily="2" charset="2"/>
                  </a:rPr>
                  <a:t>a</a:t>
                </a:r>
                <a:r>
                  <a:rPr lang="en-IN" dirty="0">
                    <a:sym typeface="Wingdings" panose="05000000000000000000" pitchFamily="2" charset="2"/>
                  </a:rPr>
                  <a:t>-S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IN" dirty="0">
                    <a:sym typeface="Wingdings" panose="05000000000000000000" pitchFamily="2" charset="2"/>
                  </a:rPr>
                  <a:t>	</a:t>
                </a: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dirty="0">
                    <a:sym typeface="Wingdings" panose="05000000000000000000" pitchFamily="2" charset="2"/>
                  </a:rPr>
                  <a:t>a*a-</a:t>
                </a:r>
                <a:r>
                  <a:rPr lang="en-IN" b="1" dirty="0">
                    <a:sym typeface="Wingdings" panose="05000000000000000000" pitchFamily="2" charset="2"/>
                  </a:rPr>
                  <a:t>a</a:t>
                </a:r>
                <a:endParaRPr lang="en-IN" b="1" dirty="0"/>
              </a:p>
              <a:p>
                <a:endParaRPr lang="en-IN" b="1" dirty="0">
                  <a:solidFill>
                    <a:srgbClr val="0E47A1"/>
                  </a:solidFill>
                  <a:sym typeface="Wingdings" panose="05000000000000000000" pitchFamily="2" charset="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2AC76-83EE-26DF-5571-A636EC699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464203"/>
              </a:xfrm>
              <a:prstGeom prst="rect">
                <a:avLst/>
              </a:prstGeom>
              <a:blipFill>
                <a:blip r:embed="rId2"/>
                <a:stretch>
                  <a:fillRect l="-920" t="-2009" r="-1074" b="-30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1CEECB-7D1D-6A46-5171-7E5F2EE89B0C}"/>
              </a:ext>
            </a:extLst>
          </p:cNvPr>
          <p:cNvCxnSpPr/>
          <p:nvPr/>
        </p:nvCxnSpPr>
        <p:spPr>
          <a:xfrm>
            <a:off x="691896" y="4159141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C610B2-660B-EB3F-777C-E411FEF2EB27}"/>
              </a:ext>
            </a:extLst>
          </p:cNvPr>
          <p:cNvCxnSpPr/>
          <p:nvPr/>
        </p:nvCxnSpPr>
        <p:spPr>
          <a:xfrm>
            <a:off x="681736" y="4709687"/>
            <a:ext cx="2514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023DBB-F783-46CF-3C70-6FE154D5E5DD}"/>
              </a:ext>
            </a:extLst>
          </p:cNvPr>
          <p:cNvCxnSpPr/>
          <p:nvPr/>
        </p:nvCxnSpPr>
        <p:spPr>
          <a:xfrm>
            <a:off x="933196" y="5221563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4887BC-60D5-43B1-5741-AB9947ACE711}"/>
              </a:ext>
            </a:extLst>
          </p:cNvPr>
          <p:cNvCxnSpPr>
            <a:cxnSpLocks/>
          </p:cNvCxnSpPr>
          <p:nvPr/>
        </p:nvCxnSpPr>
        <p:spPr>
          <a:xfrm>
            <a:off x="1289256" y="5749883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067489E-E0C0-4BDB-A9BE-28D13ACD3DEE}"/>
              </a:ext>
            </a:extLst>
          </p:cNvPr>
          <p:cNvGrpSpPr/>
          <p:nvPr/>
        </p:nvGrpSpPr>
        <p:grpSpPr>
          <a:xfrm>
            <a:off x="6916704" y="3336181"/>
            <a:ext cx="1066800" cy="457200"/>
            <a:chOff x="6248400" y="2338172"/>
            <a:chExt cx="1066800" cy="45720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B77904C-8672-5E5D-9200-416EED1BDDA4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289186E-2774-EC83-528A-9C28CCE3800C}"/>
                </a:ext>
              </a:extLst>
            </p:cNvPr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3954B0D-4BA5-ABD8-E5CA-9EA7AFAF0C14}"/>
                </a:ext>
              </a:extLst>
            </p:cNvPr>
            <p:cNvCxnSpPr/>
            <p:nvPr/>
          </p:nvCxnSpPr>
          <p:spPr>
            <a:xfrm flipH="1"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188C8C2-6F05-DC1C-09CA-80665F662B29}"/>
              </a:ext>
            </a:extLst>
          </p:cNvPr>
          <p:cNvSpPr/>
          <p:nvPr/>
        </p:nvSpPr>
        <p:spPr>
          <a:xfrm>
            <a:off x="7221504" y="5271473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DEFD71F-3D5F-592A-F674-4376EE04F346}"/>
              </a:ext>
            </a:extLst>
          </p:cNvPr>
          <p:cNvGrpSpPr/>
          <p:nvPr/>
        </p:nvGrpSpPr>
        <p:grpSpPr>
          <a:xfrm>
            <a:off x="6688104" y="3698342"/>
            <a:ext cx="1509932" cy="457200"/>
            <a:chOff x="6019800" y="2743200"/>
            <a:chExt cx="1509932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5677A10-FE3E-FE19-A8A3-D9655C539FAE}"/>
                </a:ext>
              </a:extLst>
            </p:cNvPr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C4CDBA-389B-6DAD-8C35-9614634FECF9}"/>
                </a:ext>
              </a:extLst>
            </p:cNvPr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-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15A8D88-78A8-03E5-E5B3-C2B54576C223}"/>
                </a:ext>
              </a:extLst>
            </p:cNvPr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2EB149-DEC8-4126-7ECF-91FD86DB2804}"/>
              </a:ext>
            </a:extLst>
          </p:cNvPr>
          <p:cNvCxnSpPr/>
          <p:nvPr/>
        </p:nvCxnSpPr>
        <p:spPr>
          <a:xfrm flipH="1">
            <a:off x="6383304" y="4884209"/>
            <a:ext cx="0" cy="4754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BA8E61-D904-892F-407E-33DE3974D863}"/>
              </a:ext>
            </a:extLst>
          </p:cNvPr>
          <p:cNvGrpSpPr/>
          <p:nvPr/>
        </p:nvGrpSpPr>
        <p:grpSpPr>
          <a:xfrm>
            <a:off x="6383304" y="4122209"/>
            <a:ext cx="1066800" cy="457200"/>
            <a:chOff x="5715000" y="3124200"/>
            <a:chExt cx="1066800" cy="45720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02DB3AD-9E37-FDE9-6BF3-4993C3179BB8}"/>
                </a:ext>
              </a:extLst>
            </p:cNvPr>
            <p:cNvCxnSpPr/>
            <p:nvPr/>
          </p:nvCxnSpPr>
          <p:spPr>
            <a:xfrm flipH="1">
              <a:off x="5715000" y="3124200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6411975-E44E-49A5-6CD3-1DA06508A57E}"/>
                </a:ext>
              </a:extLst>
            </p:cNvPr>
            <p:cNvCxnSpPr/>
            <p:nvPr/>
          </p:nvCxnSpPr>
          <p:spPr>
            <a:xfrm>
              <a:off x="6248400" y="3124200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9C7B1BA-D2A9-211A-4071-FF3AC585DED2}"/>
                </a:ext>
              </a:extLst>
            </p:cNvPr>
            <p:cNvCxnSpPr/>
            <p:nvPr/>
          </p:nvCxnSpPr>
          <p:spPr>
            <a:xfrm flipH="1">
              <a:off x="6248400" y="3124200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77D9055-73A7-DB37-658F-6020093654F0}"/>
              </a:ext>
            </a:extLst>
          </p:cNvPr>
          <p:cNvSpPr/>
          <p:nvPr/>
        </p:nvSpPr>
        <p:spPr>
          <a:xfrm>
            <a:off x="6154704" y="529379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302AB6-2F4F-E0EC-3021-A497A81DAE36}"/>
              </a:ext>
            </a:extLst>
          </p:cNvPr>
          <p:cNvSpPr/>
          <p:nvPr/>
        </p:nvSpPr>
        <p:spPr>
          <a:xfrm>
            <a:off x="7754904" y="4518857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35A0F55-45F6-7DE5-2D79-B342ECAE812D}"/>
              </a:ext>
            </a:extLst>
          </p:cNvPr>
          <p:cNvGrpSpPr/>
          <p:nvPr/>
        </p:nvGrpSpPr>
        <p:grpSpPr>
          <a:xfrm>
            <a:off x="6173534" y="4477876"/>
            <a:ext cx="1509932" cy="457200"/>
            <a:chOff x="5486400" y="3505200"/>
            <a:chExt cx="1509932" cy="4572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18EA41E-37D9-289A-2C87-724E31FC486A}"/>
                </a:ext>
              </a:extLst>
            </p:cNvPr>
            <p:cNvSpPr/>
            <p:nvPr/>
          </p:nvSpPr>
          <p:spPr>
            <a:xfrm>
              <a:off x="5486400" y="3505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23B496B-C02C-DD6C-EABB-879195A75AD2}"/>
                </a:ext>
              </a:extLst>
            </p:cNvPr>
            <p:cNvSpPr/>
            <p:nvPr/>
          </p:nvSpPr>
          <p:spPr>
            <a:xfrm>
              <a:off x="6019800" y="3581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281A78D-38C2-CCE4-5B8A-C3BAE6CE0E4A}"/>
                </a:ext>
              </a:extLst>
            </p:cNvPr>
            <p:cNvSpPr/>
            <p:nvPr/>
          </p:nvSpPr>
          <p:spPr>
            <a:xfrm>
              <a:off x="6539132" y="3533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B62C09-351A-138E-B14A-43B485C3194F}"/>
              </a:ext>
            </a:extLst>
          </p:cNvPr>
          <p:cNvCxnSpPr/>
          <p:nvPr/>
        </p:nvCxnSpPr>
        <p:spPr>
          <a:xfrm flipH="1">
            <a:off x="7450104" y="4884209"/>
            <a:ext cx="0" cy="4754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227D88-F8B4-EE8F-0225-801A2AD4E96C}"/>
              </a:ext>
            </a:extLst>
          </p:cNvPr>
          <p:cNvCxnSpPr/>
          <p:nvPr/>
        </p:nvCxnSpPr>
        <p:spPr>
          <a:xfrm rot="120000">
            <a:off x="7969436" y="4107478"/>
            <a:ext cx="14068" cy="47193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2091159-8677-76E0-AD32-082163DAC61E}"/>
              </a:ext>
            </a:extLst>
          </p:cNvPr>
          <p:cNvSpPr/>
          <p:nvPr/>
        </p:nvSpPr>
        <p:spPr>
          <a:xfrm>
            <a:off x="7212198" y="2921635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1" name="Oval Callout 32">
            <a:extLst>
              <a:ext uri="{FF2B5EF4-FFF2-40B4-BE49-F238E27FC236}">
                <a16:creationId xmlns:a16="http://schemas.microsoft.com/office/drawing/2014/main" id="{0E9861D5-C223-AE30-3789-B73C5CE07DD5}"/>
              </a:ext>
            </a:extLst>
          </p:cNvPr>
          <p:cNvSpPr/>
          <p:nvPr/>
        </p:nvSpPr>
        <p:spPr>
          <a:xfrm>
            <a:off x="2253398" y="3351506"/>
            <a:ext cx="3589525" cy="777565"/>
          </a:xfrm>
          <a:prstGeom prst="wedgeEllipseCallout">
            <a:avLst>
              <a:gd name="adj1" fmla="val 61401"/>
              <a:gd name="adj2" fmla="val 160522"/>
            </a:avLst>
          </a:prstGeom>
          <a:noFill/>
          <a:ln w="22225">
            <a:solidFill>
              <a:srgbClr val="0E47A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just"/>
            <a:r>
              <a:rPr lang="en-US">
                <a:solidFill>
                  <a:srgbClr val="0E47A1"/>
                </a:solidFill>
              </a:rPr>
              <a:t>Parse tree represents the structure of derivation 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3F9A3C-6E94-963F-C785-4CC4B6766180}"/>
              </a:ext>
            </a:extLst>
          </p:cNvPr>
          <p:cNvSpPr/>
          <p:nvPr/>
        </p:nvSpPr>
        <p:spPr>
          <a:xfrm>
            <a:off x="166871" y="6300153"/>
            <a:ext cx="2371769" cy="262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Leftmost Derivation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EEC0CA-7FDC-94EC-B43B-29E9F9719E2A}"/>
              </a:ext>
            </a:extLst>
          </p:cNvPr>
          <p:cNvSpPr/>
          <p:nvPr/>
        </p:nvSpPr>
        <p:spPr>
          <a:xfrm>
            <a:off x="5998464" y="5674790"/>
            <a:ext cx="1896931" cy="5381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C00000"/>
                </a:solidFill>
              </a:rPr>
              <a:t>Parse tree</a:t>
            </a:r>
          </a:p>
        </p:txBody>
      </p:sp>
    </p:spTree>
    <p:extLst>
      <p:ext uri="{BB962C8B-B14F-4D97-AF65-F5344CB8AC3E}">
        <p14:creationId xmlns:p14="http://schemas.microsoft.com/office/powerpoint/2010/main" val="243036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dur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dur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dur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dur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23" grpId="0"/>
      <p:bldP spid="30" grpId="0"/>
      <p:bldP spid="31" grpId="0" animBg="1"/>
      <p:bldP spid="32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3994-3B58-988A-04B0-1FA898A3E1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IN"/>
              <a:t>Rightmost derivation 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805EC-650F-DBCA-A771-495A2937E8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 derivation of a string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/>
                  <a:t> in a grammar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dirty="0"/>
                  <a:t> is a right most derivation if at every step the right most non terminal is replaced.</a:t>
                </a:r>
              </a:p>
              <a:p>
                <a:r>
                  <a:rPr lang="en-US" dirty="0"/>
                  <a:t>It is all called canonical derivation.</a:t>
                </a:r>
                <a:endParaRPr lang="en-IN" dirty="0"/>
              </a:p>
              <a:p>
                <a:r>
                  <a:rPr lang="en-IN" dirty="0">
                    <a:solidFill>
                      <a:srgbClr val="0E47A1"/>
                    </a:solidFill>
                  </a:rPr>
                  <a:t>Grammar: S</a:t>
                </a:r>
                <a:r>
                  <a:rPr lang="en-IN" dirty="0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S+S | S-S | S*S | S/S | a 	Output string: a*a-a</a:t>
                </a:r>
              </a:p>
              <a:p>
                <a:endParaRPr lang="en-IN" dirty="0">
                  <a:sym typeface="Wingdings" panose="05000000000000000000" pitchFamily="2" charset="2"/>
                </a:endParaRPr>
              </a:p>
              <a:p>
                <a:endParaRPr lang="en-IN" dirty="0">
                  <a:sym typeface="Wingdings" panose="05000000000000000000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dirty="0">
                    <a:sym typeface="Wingdings" panose="05000000000000000000" pitchFamily="2" charset="2"/>
                  </a:rPr>
                  <a:t>         S</a:t>
                </a:r>
              </a:p>
              <a:p>
                <a:pPr marL="285750" defTabSz="114300">
                  <a:buFont typeface="Arial" panose="020B0604020202020204" pitchFamily="34" charset="0"/>
                  <a:buNone/>
                </a:pPr>
                <a:r>
                  <a:rPr lang="en-IN" dirty="0">
                    <a:sym typeface="Wingdings" panose="05000000000000000000" pitchFamily="2" charset="2"/>
                  </a:rPr>
                  <a:t>		</a:t>
                </a: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b="1" dirty="0">
                    <a:sym typeface="Wingdings" panose="05000000000000000000" pitchFamily="2" charset="2"/>
                  </a:rPr>
                  <a:t>S*S</a:t>
                </a:r>
              </a:p>
              <a:p>
                <a:pPr marL="282575" indent="-282575" defTabSz="285750">
                  <a:buFont typeface="Arial" panose="020B0604020202020204" pitchFamily="34" charset="0"/>
                  <a:buNone/>
                </a:pPr>
                <a:r>
                  <a:rPr lang="en-IN" dirty="0">
                    <a:sym typeface="Wingdings" panose="05000000000000000000" pitchFamily="2" charset="2"/>
                  </a:rPr>
                  <a:t>		 </a:t>
                </a: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dirty="0">
                    <a:sym typeface="Wingdings" panose="05000000000000000000" pitchFamily="2" charset="2"/>
                  </a:rPr>
                  <a:t>S*</a:t>
                </a:r>
                <a:r>
                  <a:rPr lang="en-IN" b="1" dirty="0">
                    <a:sym typeface="Wingdings" panose="05000000000000000000" pitchFamily="2" charset="2"/>
                  </a:rPr>
                  <a:t>S-S</a:t>
                </a:r>
              </a:p>
              <a:p>
                <a:pPr marL="282575" indent="-282575" defTabSz="285750">
                  <a:buFont typeface="Arial" panose="020B0604020202020204" pitchFamily="34" charset="0"/>
                  <a:buNone/>
                </a:pPr>
                <a:r>
                  <a:rPr lang="en-IN" dirty="0">
                    <a:sym typeface="Wingdings" panose="05000000000000000000" pitchFamily="2" charset="2"/>
                  </a:rPr>
                  <a:t>		 </a:t>
                </a: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dirty="0">
                    <a:sym typeface="Wingdings" panose="05000000000000000000" pitchFamily="2" charset="2"/>
                  </a:rPr>
                  <a:t>S*S-</a:t>
                </a:r>
                <a:r>
                  <a:rPr lang="en-IN" b="1" dirty="0">
                    <a:sym typeface="Wingdings" panose="05000000000000000000" pitchFamily="2" charset="2"/>
                  </a:rPr>
                  <a:t>a</a:t>
                </a:r>
              </a:p>
              <a:p>
                <a:pPr marL="282575" indent="-282575" defTabSz="285750">
                  <a:buFont typeface="Arial" panose="020B0604020202020204" pitchFamily="34" charset="0"/>
                  <a:buNone/>
                </a:pPr>
                <a:r>
                  <a:rPr lang="en-IN" dirty="0">
                    <a:sym typeface="Wingdings" panose="05000000000000000000" pitchFamily="2" charset="2"/>
                  </a:rPr>
                  <a:t>		 </a:t>
                </a: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dirty="0">
                    <a:sym typeface="Wingdings" panose="05000000000000000000" pitchFamily="2" charset="2"/>
                  </a:rPr>
                  <a:t>S*</a:t>
                </a:r>
                <a:r>
                  <a:rPr lang="en-IN" b="1" dirty="0">
                    <a:sym typeface="Wingdings" panose="05000000000000000000" pitchFamily="2" charset="2"/>
                  </a:rPr>
                  <a:t>a</a:t>
                </a:r>
                <a:r>
                  <a:rPr lang="en-IN" dirty="0">
                    <a:sym typeface="Wingdings" panose="05000000000000000000" pitchFamily="2" charset="2"/>
                  </a:rPr>
                  <a:t>-a</a:t>
                </a:r>
              </a:p>
              <a:p>
                <a:pPr marL="282575" indent="-282575" defTabSz="285750">
                  <a:buFont typeface="Arial" panose="020B0604020202020204" pitchFamily="34" charset="0"/>
                  <a:buNone/>
                </a:pPr>
                <a:r>
                  <a:rPr lang="en-IN" dirty="0">
                    <a:sym typeface="Wingdings" panose="05000000000000000000" pitchFamily="2" charset="2"/>
                  </a:rPr>
                  <a:t>		 </a:t>
                </a: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b="1" dirty="0">
                    <a:sym typeface="Wingdings" panose="05000000000000000000" pitchFamily="2" charset="2"/>
                  </a:rPr>
                  <a:t>a</a:t>
                </a:r>
                <a:r>
                  <a:rPr lang="en-IN" dirty="0">
                    <a:sym typeface="Wingdings" panose="05000000000000000000" pitchFamily="2" charset="2"/>
                  </a:rPr>
                  <a:t>*a-a</a:t>
                </a:r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805EC-650F-DBCA-A771-495A2937E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1963" r="-1074" b="-98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C69CC89-B2CD-05C8-47E7-E679F8A46274}"/>
              </a:ext>
            </a:extLst>
          </p:cNvPr>
          <p:cNvGrpSpPr/>
          <p:nvPr/>
        </p:nvGrpSpPr>
        <p:grpSpPr>
          <a:xfrm>
            <a:off x="5882640" y="3722362"/>
            <a:ext cx="1066800" cy="457200"/>
            <a:chOff x="6248400" y="2338172"/>
            <a:chExt cx="1066800" cy="4572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01A8503-6DAD-A2B2-5BFD-08EDF0B16E03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8AF8435-5366-F2DC-1874-F074F1B505E3}"/>
                </a:ext>
              </a:extLst>
            </p:cNvPr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3B7D145-A1BF-2A39-9AEB-626BF2FC1CB9}"/>
                </a:ext>
              </a:extLst>
            </p:cNvPr>
            <p:cNvCxnSpPr/>
            <p:nvPr/>
          </p:nvCxnSpPr>
          <p:spPr>
            <a:xfrm flipH="1"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5521D6D-85E0-286A-320D-D541C6F03B55}"/>
              </a:ext>
            </a:extLst>
          </p:cNvPr>
          <p:cNvSpPr/>
          <p:nvPr/>
        </p:nvSpPr>
        <p:spPr>
          <a:xfrm>
            <a:off x="6201728" y="5671942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CA195A-D878-1864-B515-7C7FB85BBCC6}"/>
              </a:ext>
            </a:extLst>
          </p:cNvPr>
          <p:cNvGrpSpPr/>
          <p:nvPr/>
        </p:nvGrpSpPr>
        <p:grpSpPr>
          <a:xfrm>
            <a:off x="5654040" y="4084523"/>
            <a:ext cx="1509932" cy="457200"/>
            <a:chOff x="6019800" y="2743200"/>
            <a:chExt cx="1509932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02FC0F-DEFE-E373-851D-C8B677256D8E}"/>
                </a:ext>
              </a:extLst>
            </p:cNvPr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FD3524-2483-C4EF-9232-576493A97F1B}"/>
                </a:ext>
              </a:extLst>
            </p:cNvPr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CFA7A9-720F-56EA-9AF9-7392160125CD}"/>
                </a:ext>
              </a:extLst>
            </p:cNvPr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D32A11-BA76-53D5-CF88-8A5CA25AC03E}"/>
              </a:ext>
            </a:extLst>
          </p:cNvPr>
          <p:cNvCxnSpPr/>
          <p:nvPr/>
        </p:nvCxnSpPr>
        <p:spPr>
          <a:xfrm flipH="1">
            <a:off x="7520960" y="5313254"/>
            <a:ext cx="0" cy="4572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BEB289-85EB-5F84-B033-9C79C270512D}"/>
              </a:ext>
            </a:extLst>
          </p:cNvPr>
          <p:cNvGrpSpPr/>
          <p:nvPr/>
        </p:nvGrpSpPr>
        <p:grpSpPr>
          <a:xfrm>
            <a:off x="6416040" y="4507732"/>
            <a:ext cx="1066800" cy="457200"/>
            <a:chOff x="5715000" y="3124200"/>
            <a:chExt cx="1066800" cy="45720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B04E17E-C2EC-C7AE-4B92-74477E560C5A}"/>
                </a:ext>
              </a:extLst>
            </p:cNvPr>
            <p:cNvCxnSpPr/>
            <p:nvPr/>
          </p:nvCxnSpPr>
          <p:spPr>
            <a:xfrm flipH="1">
              <a:off x="5715000" y="3124200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C47AE2A-DE26-8EE5-61C3-20EE4CCC9CD2}"/>
                </a:ext>
              </a:extLst>
            </p:cNvPr>
            <p:cNvCxnSpPr/>
            <p:nvPr/>
          </p:nvCxnSpPr>
          <p:spPr>
            <a:xfrm>
              <a:off x="6248400" y="3124200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A719EF3-4A6B-ADC1-0C05-6483081BD71B}"/>
                </a:ext>
              </a:extLst>
            </p:cNvPr>
            <p:cNvCxnSpPr/>
            <p:nvPr/>
          </p:nvCxnSpPr>
          <p:spPr>
            <a:xfrm flipH="1">
              <a:off x="6248400" y="3124200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CE95793-7BD5-EAC7-809C-37D4B67E179D}"/>
              </a:ext>
            </a:extLst>
          </p:cNvPr>
          <p:cNvSpPr/>
          <p:nvPr/>
        </p:nvSpPr>
        <p:spPr>
          <a:xfrm>
            <a:off x="7292360" y="5722835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E234FD-220E-D6D2-5801-A2D0D4448CA4}"/>
              </a:ext>
            </a:extLst>
          </p:cNvPr>
          <p:cNvSpPr/>
          <p:nvPr/>
        </p:nvSpPr>
        <p:spPr>
          <a:xfrm>
            <a:off x="5649271" y="4884608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5C9DA0-0D3C-8910-4306-BAF4977799B0}"/>
              </a:ext>
            </a:extLst>
          </p:cNvPr>
          <p:cNvGrpSpPr/>
          <p:nvPr/>
        </p:nvGrpSpPr>
        <p:grpSpPr>
          <a:xfrm>
            <a:off x="6198084" y="4950208"/>
            <a:ext cx="1509932" cy="429064"/>
            <a:chOff x="5486400" y="3533336"/>
            <a:chExt cx="1509932" cy="42906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8F216C8-5678-A9A3-2283-D6838266C42E}"/>
                </a:ext>
              </a:extLst>
            </p:cNvPr>
            <p:cNvSpPr/>
            <p:nvPr/>
          </p:nvSpPr>
          <p:spPr>
            <a:xfrm>
              <a:off x="5486400" y="353377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2000C57-C896-43FD-0DC2-6C7476CB08B7}"/>
                </a:ext>
              </a:extLst>
            </p:cNvPr>
            <p:cNvSpPr/>
            <p:nvPr/>
          </p:nvSpPr>
          <p:spPr>
            <a:xfrm>
              <a:off x="6019800" y="3581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-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6827897-17C6-A998-5C4C-194A9B2570EE}"/>
                </a:ext>
              </a:extLst>
            </p:cNvPr>
            <p:cNvSpPr/>
            <p:nvPr/>
          </p:nvSpPr>
          <p:spPr>
            <a:xfrm>
              <a:off x="6539132" y="3533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A0F60B-BB18-61C2-FD66-12B49968949F}"/>
              </a:ext>
            </a:extLst>
          </p:cNvPr>
          <p:cNvCxnSpPr/>
          <p:nvPr/>
        </p:nvCxnSpPr>
        <p:spPr>
          <a:xfrm flipH="1">
            <a:off x="6425564" y="5327542"/>
            <a:ext cx="0" cy="4572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CFC494-67D7-604E-5F07-33246F2EA6EF}"/>
              </a:ext>
            </a:extLst>
          </p:cNvPr>
          <p:cNvCxnSpPr/>
          <p:nvPr/>
        </p:nvCxnSpPr>
        <p:spPr>
          <a:xfrm>
            <a:off x="5863803" y="4497134"/>
            <a:ext cx="14068" cy="45134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0F5DEBC-59E4-B3C7-7BD4-32327EEC3A6A}"/>
              </a:ext>
            </a:extLst>
          </p:cNvPr>
          <p:cNvSpPr/>
          <p:nvPr/>
        </p:nvSpPr>
        <p:spPr>
          <a:xfrm>
            <a:off x="6178134" y="3307816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97749-707C-AD44-F342-48FFF8F39FEA}"/>
              </a:ext>
            </a:extLst>
          </p:cNvPr>
          <p:cNvCxnSpPr/>
          <p:nvPr/>
        </p:nvCxnSpPr>
        <p:spPr>
          <a:xfrm>
            <a:off x="1201095" y="4695690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CBA5CE-D8A5-4DC9-C7F2-E296BC2A42AF}"/>
              </a:ext>
            </a:extLst>
          </p:cNvPr>
          <p:cNvCxnSpPr/>
          <p:nvPr/>
        </p:nvCxnSpPr>
        <p:spPr>
          <a:xfrm>
            <a:off x="1500084" y="5215839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89EA01-266E-D6BC-0E38-18673E078099}"/>
              </a:ext>
            </a:extLst>
          </p:cNvPr>
          <p:cNvCxnSpPr/>
          <p:nvPr/>
        </p:nvCxnSpPr>
        <p:spPr>
          <a:xfrm>
            <a:off x="1201095" y="5722835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32DBA8-71D5-6AC3-2A13-8F953EECA97D}"/>
              </a:ext>
            </a:extLst>
          </p:cNvPr>
          <p:cNvCxnSpPr/>
          <p:nvPr/>
        </p:nvCxnSpPr>
        <p:spPr>
          <a:xfrm>
            <a:off x="833860" y="6284590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BFF2F10-F777-5B56-144B-02DE5A6225F4}"/>
              </a:ext>
            </a:extLst>
          </p:cNvPr>
          <p:cNvSpPr/>
          <p:nvPr/>
        </p:nvSpPr>
        <p:spPr>
          <a:xfrm>
            <a:off x="1565382" y="6461844"/>
            <a:ext cx="2432830" cy="416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Rightmost Derivation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3C2E8A-DB4C-99F7-907B-4F183C15EC6E}"/>
              </a:ext>
            </a:extLst>
          </p:cNvPr>
          <p:cNvSpPr/>
          <p:nvPr/>
        </p:nvSpPr>
        <p:spPr>
          <a:xfrm>
            <a:off x="5111005" y="6007644"/>
            <a:ext cx="314347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C00000"/>
                </a:solidFill>
              </a:rPr>
              <a:t>Parse Tree</a:t>
            </a:r>
          </a:p>
        </p:txBody>
      </p:sp>
    </p:spTree>
    <p:extLst>
      <p:ext uri="{BB962C8B-B14F-4D97-AF65-F5344CB8AC3E}">
        <p14:creationId xmlns:p14="http://schemas.microsoft.com/office/powerpoint/2010/main" val="402415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dur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dur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dur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dur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dur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19" grpId="0"/>
      <p:bldP spid="26" grpId="0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2495-1F04-8CF4-5B43-16D113FC251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Exercise: 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3B73F-FCFB-80B5-4028-6098A8FD628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Perform leftmost derivation and draw parse tree.</a:t>
            </a:r>
          </a:p>
          <a:p>
            <a:pPr marL="0" indent="0" defTabSz="465138">
              <a:buFont typeface="Arial" panose="020B0604020202020204" pitchFamily="34" charset="0"/>
              <a:buNone/>
            </a:pPr>
            <a:r>
              <a:rPr lang="en-US">
                <a:latin typeface="+mj-lt"/>
              </a:rPr>
              <a:t>	S</a:t>
            </a:r>
            <a:r>
              <a:rPr lang="en-US">
                <a:latin typeface="+mj-lt"/>
                <a:sym typeface="Wingdings" panose="05000000000000000000" pitchFamily="2" charset="2"/>
              </a:rPr>
              <a:t>A1B</a:t>
            </a:r>
          </a:p>
          <a:p>
            <a:pPr marL="457200" indent="0">
              <a:buFont typeface="Arial" panose="020B0604020202020204" pitchFamily="34" charset="0"/>
              <a:buNone/>
            </a:pPr>
            <a:r>
              <a:rPr lang="en-US">
                <a:latin typeface="+mj-lt"/>
                <a:sym typeface="Wingdings" panose="05000000000000000000" pitchFamily="2" charset="2"/>
              </a:rPr>
              <a:t>A0A | </a:t>
            </a:r>
            <a:r>
              <a:rPr lang="en-US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457200" indent="0">
              <a:buFont typeface="Arial" panose="020B0604020202020204" pitchFamily="34" charset="0"/>
              <a:buNone/>
            </a:pPr>
            <a:r>
              <a:rPr lang="en-US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B0B | 1B | 𝜖 </a:t>
            </a:r>
          </a:p>
          <a:p>
            <a:pPr marL="45720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C00000"/>
                </a:solidFill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Output string: 1001</a:t>
            </a:r>
          </a:p>
          <a:p>
            <a:pPr marL="465138" indent="-415925">
              <a:buFont typeface="+mj-lt"/>
              <a:buAutoNum type="arabicPeriod" startAt="2"/>
            </a:pPr>
            <a:r>
              <a:rPr lang="en-US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Perform leftmost derivation and draw parse tree.</a:t>
            </a:r>
          </a:p>
          <a:p>
            <a:pPr marL="49213" indent="0">
              <a:buFont typeface="Arial" panose="020B0604020202020204" pitchFamily="34" charset="0"/>
              <a:buNone/>
            </a:pPr>
            <a:r>
              <a:rPr lang="en-US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      S0S1 | 01   </a:t>
            </a:r>
            <a:r>
              <a:rPr lang="en-US">
                <a:solidFill>
                  <a:srgbClr val="C00000"/>
                </a:solidFill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Output string: 000111</a:t>
            </a:r>
            <a:endParaRPr lang="en-US">
              <a:latin typeface="+mj-lt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pPr marL="506413" indent="-457200">
              <a:buFont typeface="+mj-lt"/>
              <a:buAutoNum type="arabicPeriod" startAt="3"/>
            </a:pPr>
            <a:r>
              <a:rPr lang="en-US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Perform rightmost derivation and draw parse tree.</a:t>
            </a:r>
          </a:p>
          <a:p>
            <a:pPr marL="457200" indent="0">
              <a:buFont typeface="Arial" panose="020B0604020202020204" pitchFamily="34" charset="0"/>
              <a:buNone/>
            </a:pPr>
            <a:r>
              <a:rPr lang="en-US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EE+E | E*E | id | (E) | -E</a:t>
            </a: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>
                <a:solidFill>
                  <a:srgbClr val="C00000"/>
                </a:solidFill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Output string: id + id * id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94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BB84-0B41-E9AC-199D-A5D677E5508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B2730-43B5-ABF5-B01B-A847C1B5365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Ambiguity, is a word, phrase, or statement which contains </a:t>
            </a:r>
            <a:r>
              <a:rPr lang="en-US">
                <a:solidFill>
                  <a:srgbClr val="C00000"/>
                </a:solidFill>
              </a:rPr>
              <a:t>more than one meaning</a:t>
            </a:r>
            <a:r>
              <a:rPr lang="en-US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27927-8B09-7B8D-EEC6-2854FC85B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560" y="3331972"/>
            <a:ext cx="2244726" cy="2959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BDEF2D-21BD-8BD4-1BCC-C2F8D996DCF4}"/>
              </a:ext>
            </a:extLst>
          </p:cNvPr>
          <p:cNvSpPr/>
          <p:nvPr/>
        </p:nvSpPr>
        <p:spPr>
          <a:xfrm>
            <a:off x="131180" y="3312921"/>
            <a:ext cx="1647825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Chip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EC221D-5D82-D4C0-7D5D-A42511F5C214}"/>
              </a:ext>
            </a:extLst>
          </p:cNvPr>
          <p:cNvCxnSpPr/>
          <p:nvPr/>
        </p:nvCxnSpPr>
        <p:spPr>
          <a:xfrm flipH="1">
            <a:off x="1331330" y="2777934"/>
            <a:ext cx="1296595" cy="925512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DC07EC-F5CA-45BE-D149-E16238D4E28A}"/>
              </a:ext>
            </a:extLst>
          </p:cNvPr>
          <p:cNvCxnSpPr/>
          <p:nvPr/>
        </p:nvCxnSpPr>
        <p:spPr>
          <a:xfrm>
            <a:off x="1345617" y="3697096"/>
            <a:ext cx="1213261" cy="9842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2286E16-70F9-9232-88AE-01B806A94A07}"/>
              </a:ext>
            </a:extLst>
          </p:cNvPr>
          <p:cNvSpPr/>
          <p:nvPr/>
        </p:nvSpPr>
        <p:spPr>
          <a:xfrm>
            <a:off x="1657555" y="2239770"/>
            <a:ext cx="4800600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A long thin piece of potato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4A9785-FD0E-7248-9F04-9B7E0E724939}"/>
              </a:ext>
            </a:extLst>
          </p:cNvPr>
          <p:cNvSpPr/>
          <p:nvPr/>
        </p:nvSpPr>
        <p:spPr>
          <a:xfrm>
            <a:off x="1376530" y="4367769"/>
            <a:ext cx="4800600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A small piece of silicon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A881BE-20F9-0A29-5841-9EAA8F30C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793" y="2007674"/>
            <a:ext cx="1333495" cy="1305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AF9D6C-9117-A53C-22F0-E14A495572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049" y="4190808"/>
            <a:ext cx="1190616" cy="125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3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dur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dur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4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C35403-33A6-0C02-E52B-DCA77D49DB6D}"/>
              </a:ext>
            </a:extLst>
          </p:cNvPr>
          <p:cNvSpPr txBox="1"/>
          <p:nvPr/>
        </p:nvSpPr>
        <p:spPr>
          <a:xfrm>
            <a:off x="635000" y="944880"/>
            <a:ext cx="11064240" cy="234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A grammar that produces more than one parse tree for some sentence is said to be ambiguous.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latin typeface="Palatino Linotype" panose="02040502050505030304" pitchFamily="18" charset="0"/>
              </a:rPr>
              <a:t>A</a:t>
            </a:r>
            <a:r>
              <a:rPr lang="en-US" sz="25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n ambiguous grammar is one that produces more than one leftmost derivation or more than one rightmost derivation for the same sentence. </a:t>
            </a:r>
            <a:endParaRPr lang="en-IN" sz="2500" dirty="0">
              <a:latin typeface="Palatino Linotype" panose="0204050205050503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EE80CA-4E9D-F602-939D-FD2BF9E5E932}"/>
              </a:ext>
            </a:extLst>
          </p:cNvPr>
          <p:cNvSpPr txBox="1">
            <a:spLocks/>
          </p:cNvSpPr>
          <p:nvPr/>
        </p:nvSpPr>
        <p:spPr>
          <a:xfrm>
            <a:off x="274320" y="233680"/>
            <a:ext cx="510032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Ambiguity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680CF-F4FC-2A97-DE9F-40CF9E226A6E}"/>
              </a:ext>
            </a:extLst>
          </p:cNvPr>
          <p:cNvSpPr txBox="1"/>
          <p:nvPr/>
        </p:nvSpPr>
        <p:spPr>
          <a:xfrm>
            <a:off x="274320" y="3429000"/>
            <a:ext cx="11572240" cy="1764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Sometimes an ambiguous grammar can be rewritten to eliminate the ambiguity.</a:t>
            </a:r>
          </a:p>
          <a:p>
            <a:pPr>
              <a:lnSpc>
                <a:spcPct val="150000"/>
              </a:lnSpc>
            </a:pPr>
            <a:endParaRPr lang="en-US" sz="2500" dirty="0">
              <a:solidFill>
                <a:srgbClr val="000000"/>
              </a:solidFill>
              <a:latin typeface="Palatino Linotype" panose="020405020505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000000"/>
                </a:solidFill>
                <a:latin typeface="Palatino Linotype" panose="02040502050505030304" pitchFamily="18" charset="0"/>
              </a:rPr>
              <a:t>Grammar for Conditional Statement</a:t>
            </a:r>
            <a:endParaRPr lang="en-IN" sz="2500" dirty="0">
              <a:latin typeface="Palatino Linotype" panose="020405020505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000BE-B94F-C26D-9E74-2ABBCCDBC1EC}"/>
              </a:ext>
            </a:extLst>
          </p:cNvPr>
          <p:cNvSpPr txBox="1"/>
          <p:nvPr/>
        </p:nvSpPr>
        <p:spPr>
          <a:xfrm>
            <a:off x="2824480" y="5289872"/>
            <a:ext cx="803656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i="1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stmt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-&gt; 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if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expr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then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r>
              <a:rPr lang="en-US" sz="2500" i="1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stmt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endParaRPr lang="en-US" sz="2500" i="1" dirty="0">
              <a:latin typeface="Palatino Linotype" panose="02040502050505030304" pitchFamily="18" charset="0"/>
            </a:endParaRPr>
          </a:p>
          <a:p>
            <a:r>
              <a:rPr lang="en-US" sz="2500" i="1" dirty="0">
                <a:solidFill>
                  <a:srgbClr val="000000"/>
                </a:solidFill>
                <a:latin typeface="Palatino Linotype" panose="02040502050505030304" pitchFamily="18" charset="0"/>
              </a:rPr>
              <a:t>              |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if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expr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then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r>
              <a:rPr lang="en-US" sz="2500" i="1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stmt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else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r>
              <a:rPr lang="en-US" sz="2500" i="1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stmt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endParaRPr lang="en-US" sz="2500" i="1" dirty="0">
              <a:latin typeface="Palatino Linotype" panose="02040502050505030304" pitchFamily="18" charset="0"/>
            </a:endParaRPr>
          </a:p>
          <a:p>
            <a:r>
              <a:rPr lang="en-US" sz="2500" i="1" dirty="0">
                <a:solidFill>
                  <a:srgbClr val="000000"/>
                </a:solidFill>
                <a:latin typeface="Palatino Linotype" panose="02040502050505030304" pitchFamily="18" charset="0"/>
              </a:rPr>
              <a:t>               |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other</a:t>
            </a:r>
            <a:endParaRPr lang="en-IN" sz="2500" b="1" i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710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42326-5297-AE49-2DD3-1252AD058BB3}"/>
              </a:ext>
            </a:extLst>
          </p:cNvPr>
          <p:cNvSpPr txBox="1"/>
          <p:nvPr/>
        </p:nvSpPr>
        <p:spPr>
          <a:xfrm>
            <a:off x="467360" y="295255"/>
            <a:ext cx="11196320" cy="118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According to this grammar, the compound conditional statement  </a:t>
            </a:r>
          </a:p>
          <a:p>
            <a:pPr>
              <a:lnSpc>
                <a:spcPct val="150000"/>
              </a:lnSpc>
            </a:pP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if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E1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then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S1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else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if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E2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then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S2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else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S3</a:t>
            </a:r>
            <a:endParaRPr lang="en-IN" sz="2500" i="1" dirty="0">
              <a:latin typeface="Palatino Linotype" panose="02040502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183E1-B0FE-102B-1A5D-1F9772FD0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052" y="1882695"/>
            <a:ext cx="7683895" cy="30926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396967-CE84-846C-C701-50E802995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370" y="1211089"/>
            <a:ext cx="480127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6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54DED7-3EF6-455B-6614-47E3DA52F6B6}"/>
              </a:ext>
            </a:extLst>
          </p:cNvPr>
          <p:cNvSpPr txBox="1"/>
          <p:nvPr/>
        </p:nvSpPr>
        <p:spPr>
          <a:xfrm>
            <a:off x="304800" y="115054"/>
            <a:ext cx="11061700" cy="118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if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E1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then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if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E2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then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S1 </a:t>
            </a:r>
            <a:r>
              <a:rPr lang="en-US" sz="2500" b="1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else</a:t>
            </a:r>
            <a:r>
              <a:rPr lang="en-US" sz="2500" i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S2     </a:t>
            </a:r>
            <a:r>
              <a:rPr lang="en-US" sz="25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has two parse trees.  So the Previous grammar is ambiguous</a:t>
            </a:r>
            <a:endParaRPr lang="en-IN" sz="2500" i="1" dirty="0">
              <a:latin typeface="Palatino Linotype" panose="02040502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6C4D4-DCED-D5B2-C4CE-472CBA1F1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20" y="846772"/>
            <a:ext cx="7343140" cy="5751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365EB4-5F29-AEBF-7145-7B262440A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5" y="2348169"/>
            <a:ext cx="480127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8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38D3F-61C9-0DEA-35DB-51620456EFD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Ambiguity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9ED84-4FC3-FD46-0241-4A52F2DB5D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In formal language grammar, ambiguity would arise if identical string can occur on the RHS of two or more productions.</a:t>
                </a:r>
              </a:p>
              <a:p>
                <a:r>
                  <a:rPr lang="en-US">
                    <a:solidFill>
                      <a:srgbClr val="0E47A1"/>
                    </a:solidFill>
                  </a:rPr>
                  <a:t>Grammar: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solidFill>
                      <a:srgbClr val="0E47A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1→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E47A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α</m:t>
                    </m:r>
                  </m:oMath>
                </a14:m>
                <a:endParaRPr lang="en-US">
                  <a:solidFill>
                    <a:srgbClr val="0E47A1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solidFill>
                      <a:srgbClr val="0E47A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2→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E47A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α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itchFamily="2" charset="2"/>
                      </a:rPr>
                      <m:t>α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 can be derived from either N1 or N2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9ED84-4FC3-FD46-0241-4A52F2DB5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2072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5A2AE48-EE02-4C8C-42F0-F9B1D0BFD7D4}"/>
                  </a:ext>
                </a:extLst>
              </p:cNvPr>
              <p:cNvSpPr/>
              <p:nvPr/>
            </p:nvSpPr>
            <p:spPr>
              <a:xfrm>
                <a:off x="6236904" y="1870097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200" b="1" i="1" baseline="-2500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2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5A2AE48-EE02-4C8C-42F0-F9B1D0BFD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904" y="1870097"/>
                <a:ext cx="6858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6DB3F26-8CBC-F2B9-7132-678FD27BA5A7}"/>
                  </a:ext>
                </a:extLst>
              </p:cNvPr>
              <p:cNvSpPr/>
              <p:nvPr/>
            </p:nvSpPr>
            <p:spPr>
              <a:xfrm>
                <a:off x="7570404" y="1875639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200" b="1" i="1" baseline="-2500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2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6DB3F26-8CBC-F2B9-7132-678FD27BA5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404" y="1875639"/>
                <a:ext cx="685800" cy="685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BDA2351-9A99-3FFD-9CCC-5ADC78725BB9}"/>
                  </a:ext>
                </a:extLst>
              </p:cNvPr>
              <p:cNvSpPr/>
              <p:nvPr/>
            </p:nvSpPr>
            <p:spPr>
              <a:xfrm>
                <a:off x="6943486" y="2873166"/>
                <a:ext cx="685800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𝜶</m:t>
                      </m:r>
                    </m:oMath>
                  </m:oMathPara>
                </a14:m>
                <a:endParaRPr lang="en-US" sz="24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BDA2351-9A99-3FFD-9CCC-5ADC78725B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486" y="2873166"/>
                <a:ext cx="685800" cy="685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FAEC15-0B63-AC61-69FF-09D60D9C0308}"/>
              </a:ext>
            </a:extLst>
          </p:cNvPr>
          <p:cNvCxnSpPr/>
          <p:nvPr/>
        </p:nvCxnSpPr>
        <p:spPr>
          <a:xfrm>
            <a:off x="6546554" y="2379944"/>
            <a:ext cx="533400" cy="6858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F245CD-20D4-A329-1F50-CEB2114BF471}"/>
              </a:ext>
            </a:extLst>
          </p:cNvPr>
          <p:cNvCxnSpPr/>
          <p:nvPr/>
        </p:nvCxnSpPr>
        <p:spPr>
          <a:xfrm flipH="1">
            <a:off x="7189404" y="2382715"/>
            <a:ext cx="533400" cy="68025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Callout 13">
                <a:extLst>
                  <a:ext uri="{FF2B5EF4-FFF2-40B4-BE49-F238E27FC236}">
                    <a16:creationId xmlns:a16="http://schemas.microsoft.com/office/drawing/2014/main" id="{F90A74BE-A7A9-4DEF-E619-21E614C5937E}"/>
                  </a:ext>
                </a:extLst>
              </p:cNvPr>
              <p:cNvSpPr/>
              <p:nvPr/>
            </p:nvSpPr>
            <p:spPr>
              <a:xfrm>
                <a:off x="8425922" y="1998944"/>
                <a:ext cx="2382982" cy="874222"/>
              </a:xfrm>
              <a:prstGeom prst="wedgeEllipseCallout">
                <a:avLst>
                  <a:gd name="adj1" fmla="val -95593"/>
                  <a:gd name="adj2" fmla="val 90921"/>
                </a:avLst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Replaced by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baseline="-25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baseline="-25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>
                    <a:solidFill>
                      <a:schemeClr val="bg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9" name="Oval Callout 13">
                <a:extLst>
                  <a:ext uri="{FF2B5EF4-FFF2-40B4-BE49-F238E27FC236}">
                    <a16:creationId xmlns:a16="http://schemas.microsoft.com/office/drawing/2014/main" id="{F90A74BE-A7A9-4DEF-E619-21E614C59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922" y="1998944"/>
                <a:ext cx="2382982" cy="874222"/>
              </a:xfrm>
              <a:prstGeom prst="wedgeEllipseCallout">
                <a:avLst>
                  <a:gd name="adj1" fmla="val -95593"/>
                  <a:gd name="adj2" fmla="val 90921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56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dur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dur="50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6D21-9FB3-1A39-F7DF-222E9823E58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IN"/>
              <a:t>Ambiguous grammar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6B017-0946-44C9-E157-9B24EB194F8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Ambiguous grammar is one that produces more than one leftmost or more then one rightmost derivation for the same sentence.</a:t>
            </a:r>
          </a:p>
          <a:p>
            <a:r>
              <a:rPr lang="en-IN" dirty="0">
                <a:solidFill>
                  <a:srgbClr val="0E47A1"/>
                </a:solidFill>
              </a:rPr>
              <a:t>Grammar: S</a:t>
            </a:r>
            <a:r>
              <a:rPr lang="en-IN" dirty="0">
                <a:solidFill>
                  <a:srgbClr val="0E47A1"/>
                </a:solidFill>
                <a:sym typeface="Wingdings" panose="05000000000000000000" pitchFamily="2" charset="2"/>
              </a:rPr>
              <a:t>S+S | S*S | (S) | a		Output string: </a:t>
            </a:r>
            <a:r>
              <a:rPr lang="en-IN" dirty="0" err="1">
                <a:solidFill>
                  <a:srgbClr val="0E47A1"/>
                </a:solidFill>
                <a:sym typeface="Wingdings" panose="05000000000000000000" pitchFamily="2" charset="2"/>
              </a:rPr>
              <a:t>a+a</a:t>
            </a:r>
            <a:r>
              <a:rPr lang="en-IN" dirty="0">
                <a:solidFill>
                  <a:srgbClr val="0E47A1"/>
                </a:solidFill>
                <a:sym typeface="Wingdings" panose="05000000000000000000" pitchFamily="2" charset="2"/>
              </a:rPr>
              <a:t>*a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ym typeface="Wingdings" panose="05000000000000000000" pitchFamily="2" charset="2"/>
              </a:rPr>
              <a:t>	    S					   	    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ym typeface="Wingdings" panose="05000000000000000000" pitchFamily="2" charset="2"/>
              </a:rPr>
              <a:t>	S*S						S+S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ym typeface="Wingdings" panose="05000000000000000000" pitchFamily="2" charset="2"/>
              </a:rPr>
              <a:t>	S+S*S					</a:t>
            </a:r>
            <a:r>
              <a:rPr lang="en-IN" dirty="0" err="1">
                <a:sym typeface="Wingdings" panose="05000000000000000000" pitchFamily="2" charset="2"/>
              </a:rPr>
              <a:t>a+S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ym typeface="Wingdings" panose="05000000000000000000" pitchFamily="2" charset="2"/>
              </a:rPr>
              <a:t>	</a:t>
            </a:r>
            <a:r>
              <a:rPr lang="en-IN" dirty="0" err="1">
                <a:sym typeface="Wingdings" panose="05000000000000000000" pitchFamily="2" charset="2"/>
              </a:rPr>
              <a:t>a+S</a:t>
            </a:r>
            <a:r>
              <a:rPr lang="en-IN" dirty="0">
                <a:sym typeface="Wingdings" panose="05000000000000000000" pitchFamily="2" charset="2"/>
              </a:rPr>
              <a:t>*S					</a:t>
            </a:r>
            <a:r>
              <a:rPr lang="en-IN" dirty="0" err="1">
                <a:sym typeface="Wingdings" panose="05000000000000000000" pitchFamily="2" charset="2"/>
              </a:rPr>
              <a:t>a+S</a:t>
            </a:r>
            <a:r>
              <a:rPr lang="en-IN" dirty="0">
                <a:sym typeface="Wingdings" panose="05000000000000000000" pitchFamily="2" charset="2"/>
              </a:rPr>
              <a:t>*S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ym typeface="Wingdings" panose="05000000000000000000" pitchFamily="2" charset="2"/>
              </a:rPr>
              <a:t>	</a:t>
            </a:r>
            <a:r>
              <a:rPr lang="en-IN" dirty="0" err="1">
                <a:sym typeface="Wingdings" panose="05000000000000000000" pitchFamily="2" charset="2"/>
              </a:rPr>
              <a:t>a+a</a:t>
            </a:r>
            <a:r>
              <a:rPr lang="en-IN" dirty="0">
                <a:sym typeface="Wingdings" panose="05000000000000000000" pitchFamily="2" charset="2"/>
              </a:rPr>
              <a:t>*S					</a:t>
            </a:r>
            <a:r>
              <a:rPr lang="en-IN" dirty="0" err="1">
                <a:sym typeface="Wingdings" panose="05000000000000000000" pitchFamily="2" charset="2"/>
              </a:rPr>
              <a:t>a+a</a:t>
            </a:r>
            <a:r>
              <a:rPr lang="en-IN" dirty="0">
                <a:sym typeface="Wingdings" panose="05000000000000000000" pitchFamily="2" charset="2"/>
              </a:rPr>
              <a:t>*S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ym typeface="Wingdings" panose="05000000000000000000" pitchFamily="2" charset="2"/>
              </a:rPr>
              <a:t>	</a:t>
            </a:r>
            <a:r>
              <a:rPr lang="en-IN" dirty="0" err="1">
                <a:sym typeface="Wingdings" panose="05000000000000000000" pitchFamily="2" charset="2"/>
              </a:rPr>
              <a:t>a+a</a:t>
            </a:r>
            <a:r>
              <a:rPr lang="en-IN" dirty="0">
                <a:sym typeface="Wingdings" panose="05000000000000000000" pitchFamily="2" charset="2"/>
              </a:rPr>
              <a:t>*a					</a:t>
            </a:r>
            <a:r>
              <a:rPr lang="en-IN" dirty="0" err="1">
                <a:sym typeface="Wingdings" panose="05000000000000000000" pitchFamily="2" charset="2"/>
              </a:rPr>
              <a:t>a+a</a:t>
            </a:r>
            <a:r>
              <a:rPr lang="en-IN" dirty="0">
                <a:sym typeface="Wingdings" panose="05000000000000000000" pitchFamily="2" charset="2"/>
              </a:rPr>
              <a:t>*a</a:t>
            </a:r>
          </a:p>
          <a:p>
            <a:r>
              <a:rPr lang="en-US" dirty="0"/>
              <a:t>Here, Two leftmost derivation for string </a:t>
            </a:r>
            <a:r>
              <a:rPr lang="en-US" dirty="0" err="1"/>
              <a:t>a+a</a:t>
            </a:r>
            <a:r>
              <a:rPr lang="en-US" dirty="0"/>
              <a:t>*a is possible hence, above grammar is ambiguous.</a:t>
            </a:r>
            <a:endParaRPr lang="en-IN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5A9840-4F16-5C22-3A43-C7E66E385460}"/>
              </a:ext>
            </a:extLst>
          </p:cNvPr>
          <p:cNvCxnSpPr/>
          <p:nvPr/>
        </p:nvCxnSpPr>
        <p:spPr>
          <a:xfrm flipV="1">
            <a:off x="1408628" y="3663189"/>
            <a:ext cx="288748" cy="166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EDBB39-EEBD-0AC9-37E6-03D8FF673F02}"/>
              </a:ext>
            </a:extLst>
          </p:cNvPr>
          <p:cNvCxnSpPr/>
          <p:nvPr/>
        </p:nvCxnSpPr>
        <p:spPr>
          <a:xfrm>
            <a:off x="1408628" y="4175479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DD1FF-1F26-331F-1813-205B4094FD3F}"/>
              </a:ext>
            </a:extLst>
          </p:cNvPr>
          <p:cNvCxnSpPr/>
          <p:nvPr/>
        </p:nvCxnSpPr>
        <p:spPr>
          <a:xfrm>
            <a:off x="1762725" y="4669859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15B85D-2FD3-E459-6167-6F44FCB90659}"/>
              </a:ext>
            </a:extLst>
          </p:cNvPr>
          <p:cNvCxnSpPr/>
          <p:nvPr/>
        </p:nvCxnSpPr>
        <p:spPr>
          <a:xfrm>
            <a:off x="2067525" y="5228301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99EBAB-ED89-7187-E7DC-8783F6305E8E}"/>
              </a:ext>
            </a:extLst>
          </p:cNvPr>
          <p:cNvCxnSpPr>
            <a:cxnSpLocks/>
          </p:cNvCxnSpPr>
          <p:nvPr/>
        </p:nvCxnSpPr>
        <p:spPr>
          <a:xfrm>
            <a:off x="7663450" y="1257252"/>
            <a:ext cx="3810795" cy="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8A0930-3E1A-FC99-C485-9AF3CA3BCD2D}"/>
              </a:ext>
            </a:extLst>
          </p:cNvPr>
          <p:cNvCxnSpPr>
            <a:cxnSpLocks/>
          </p:cNvCxnSpPr>
          <p:nvPr/>
        </p:nvCxnSpPr>
        <p:spPr>
          <a:xfrm>
            <a:off x="472163" y="1719368"/>
            <a:ext cx="3732513" cy="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F9DF5E-ACBB-726A-990F-F87E9F01B769}"/>
              </a:ext>
            </a:extLst>
          </p:cNvPr>
          <p:cNvGrpSpPr/>
          <p:nvPr/>
        </p:nvGrpSpPr>
        <p:grpSpPr>
          <a:xfrm>
            <a:off x="3671276" y="2900221"/>
            <a:ext cx="1066800" cy="457200"/>
            <a:chOff x="6248400" y="2338172"/>
            <a:chExt cx="1066800" cy="45720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873BEA0-E0C2-84F0-9763-618DEF8E5B50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4741577-59B9-E7D0-087B-012C68B3DA2F}"/>
                </a:ext>
              </a:extLst>
            </p:cNvPr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688DBD1-4446-E4A4-C1DA-F89D04B157BC}"/>
                </a:ext>
              </a:extLst>
            </p:cNvPr>
            <p:cNvCxnSpPr/>
            <p:nvPr/>
          </p:nvCxnSpPr>
          <p:spPr>
            <a:xfrm flipH="1"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BB70FF-9FD9-6675-E950-74CF4BA28E9B}"/>
              </a:ext>
            </a:extLst>
          </p:cNvPr>
          <p:cNvSpPr/>
          <p:nvPr/>
        </p:nvSpPr>
        <p:spPr>
          <a:xfrm>
            <a:off x="3976076" y="4835513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B87B0B-7845-ADE2-DCAA-B130364B0801}"/>
              </a:ext>
            </a:extLst>
          </p:cNvPr>
          <p:cNvGrpSpPr/>
          <p:nvPr/>
        </p:nvGrpSpPr>
        <p:grpSpPr>
          <a:xfrm>
            <a:off x="3442676" y="3262382"/>
            <a:ext cx="1509932" cy="457200"/>
            <a:chOff x="6019800" y="2743200"/>
            <a:chExt cx="1509932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956C86-0643-658B-4E48-36D0AAB6F3D0}"/>
                </a:ext>
              </a:extLst>
            </p:cNvPr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29265A-AF5C-8D55-FFF1-D5F650848981}"/>
                </a:ext>
              </a:extLst>
            </p:cNvPr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50E1402-08DF-3511-807E-CD6783D2D553}"/>
                </a:ext>
              </a:extLst>
            </p:cNvPr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748DE5-4BD2-38AB-AE15-F30FB2046E06}"/>
              </a:ext>
            </a:extLst>
          </p:cNvPr>
          <p:cNvCxnSpPr/>
          <p:nvPr/>
        </p:nvCxnSpPr>
        <p:spPr>
          <a:xfrm flipH="1">
            <a:off x="3137876" y="4448249"/>
            <a:ext cx="0" cy="4754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6CDC88-C258-E64B-A6BF-262E16F0FDB9}"/>
              </a:ext>
            </a:extLst>
          </p:cNvPr>
          <p:cNvGrpSpPr/>
          <p:nvPr/>
        </p:nvGrpSpPr>
        <p:grpSpPr>
          <a:xfrm>
            <a:off x="3137876" y="3686249"/>
            <a:ext cx="1066800" cy="457200"/>
            <a:chOff x="5715000" y="3124200"/>
            <a:chExt cx="1066800" cy="457200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E89C161-9079-3842-50B8-D9F1BBCBE94D}"/>
                </a:ext>
              </a:extLst>
            </p:cNvPr>
            <p:cNvCxnSpPr/>
            <p:nvPr/>
          </p:nvCxnSpPr>
          <p:spPr>
            <a:xfrm flipH="1">
              <a:off x="5715000" y="3124200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BDBEEB0-E1DD-B484-BE4A-6AF36015C8D2}"/>
                </a:ext>
              </a:extLst>
            </p:cNvPr>
            <p:cNvCxnSpPr/>
            <p:nvPr/>
          </p:nvCxnSpPr>
          <p:spPr>
            <a:xfrm>
              <a:off x="6248400" y="3124200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A629B41-B197-BABF-706A-07A36D0FB073}"/>
                </a:ext>
              </a:extLst>
            </p:cNvPr>
            <p:cNvCxnSpPr/>
            <p:nvPr/>
          </p:nvCxnSpPr>
          <p:spPr>
            <a:xfrm flipH="1">
              <a:off x="6248400" y="3124200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A737B6D4-1D77-440D-61AF-8E29CD2009C8}"/>
              </a:ext>
            </a:extLst>
          </p:cNvPr>
          <p:cNvSpPr/>
          <p:nvPr/>
        </p:nvSpPr>
        <p:spPr>
          <a:xfrm>
            <a:off x="2909276" y="485783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2F999E-AA4A-EB56-11AF-2C9894A7908D}"/>
              </a:ext>
            </a:extLst>
          </p:cNvPr>
          <p:cNvSpPr/>
          <p:nvPr/>
        </p:nvSpPr>
        <p:spPr>
          <a:xfrm>
            <a:off x="4509476" y="4082897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5DC3A5-AA4E-9AF0-A14B-D75A722E2C13}"/>
              </a:ext>
            </a:extLst>
          </p:cNvPr>
          <p:cNvCxnSpPr/>
          <p:nvPr/>
        </p:nvCxnSpPr>
        <p:spPr>
          <a:xfrm flipH="1">
            <a:off x="4204676" y="4448249"/>
            <a:ext cx="0" cy="4754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9A208C-A191-08B1-F055-F1631D816D6F}"/>
              </a:ext>
            </a:extLst>
          </p:cNvPr>
          <p:cNvCxnSpPr/>
          <p:nvPr/>
        </p:nvCxnSpPr>
        <p:spPr>
          <a:xfrm rot="120000">
            <a:off x="4724008" y="3671518"/>
            <a:ext cx="14068" cy="47193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0ECCA8F-2026-6BB9-621C-55099795E788}"/>
              </a:ext>
            </a:extLst>
          </p:cNvPr>
          <p:cNvSpPr/>
          <p:nvPr/>
        </p:nvSpPr>
        <p:spPr>
          <a:xfrm>
            <a:off x="3966770" y="2485675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A42ACB-94BD-628A-DAE5-F9724831ED1A}"/>
              </a:ext>
            </a:extLst>
          </p:cNvPr>
          <p:cNvGrpSpPr/>
          <p:nvPr/>
        </p:nvGrpSpPr>
        <p:grpSpPr>
          <a:xfrm>
            <a:off x="2914038" y="4047274"/>
            <a:ext cx="1509932" cy="457200"/>
            <a:chOff x="6019800" y="2743200"/>
            <a:chExt cx="1509932" cy="457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7516BED-E74A-FA1E-8C73-66D3FAD1C55E}"/>
                </a:ext>
              </a:extLst>
            </p:cNvPr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15713FA-7CF8-7AEF-6685-5B142A127E95}"/>
                </a:ext>
              </a:extLst>
            </p:cNvPr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121E667-960D-9267-6B97-E9D8D569BB8C}"/>
                </a:ext>
              </a:extLst>
            </p:cNvPr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89B951-0FEF-50BB-9945-792EE1AC38E0}"/>
              </a:ext>
            </a:extLst>
          </p:cNvPr>
          <p:cNvGrpSpPr/>
          <p:nvPr/>
        </p:nvGrpSpPr>
        <p:grpSpPr>
          <a:xfrm>
            <a:off x="9000495" y="2894032"/>
            <a:ext cx="1066800" cy="457200"/>
            <a:chOff x="6248400" y="2338172"/>
            <a:chExt cx="1066800" cy="457200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C8F3359-DBEA-24BC-F07C-FCA3A26FE41D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75416A1-6DDC-8D5F-4C9B-1BE1C57A7426}"/>
                </a:ext>
              </a:extLst>
            </p:cNvPr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335DCD0-608F-2CB2-95F7-DE2520340EDA}"/>
                </a:ext>
              </a:extLst>
            </p:cNvPr>
            <p:cNvCxnSpPr/>
            <p:nvPr/>
          </p:nvCxnSpPr>
          <p:spPr>
            <a:xfrm flipH="1"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FD9F4E2-9D91-3FCD-5A48-E5599C7796E8}"/>
              </a:ext>
            </a:extLst>
          </p:cNvPr>
          <p:cNvSpPr/>
          <p:nvPr/>
        </p:nvSpPr>
        <p:spPr>
          <a:xfrm>
            <a:off x="9319583" y="4843612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F48AD8-D69A-4E80-1091-499C1D589484}"/>
              </a:ext>
            </a:extLst>
          </p:cNvPr>
          <p:cNvGrpSpPr/>
          <p:nvPr/>
        </p:nvGrpSpPr>
        <p:grpSpPr>
          <a:xfrm>
            <a:off x="8771895" y="3256193"/>
            <a:ext cx="1509932" cy="457200"/>
            <a:chOff x="6019800" y="2743200"/>
            <a:chExt cx="1509932" cy="4572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66EBF3C-4F8B-7C63-204B-11637FEFE590}"/>
                </a:ext>
              </a:extLst>
            </p:cNvPr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CB8761-9453-68ED-8862-BC62B73D6FD3}"/>
                </a:ext>
              </a:extLst>
            </p:cNvPr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998DF53-8345-BB78-D67D-F74C3D609F42}"/>
                </a:ext>
              </a:extLst>
            </p:cNvPr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5B3CA2-F90D-BE71-B1A2-10F9965C26D4}"/>
              </a:ext>
            </a:extLst>
          </p:cNvPr>
          <p:cNvCxnSpPr/>
          <p:nvPr/>
        </p:nvCxnSpPr>
        <p:spPr>
          <a:xfrm flipH="1">
            <a:off x="10638815" y="4484924"/>
            <a:ext cx="0" cy="4572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FD98B59-B950-CFA2-C08C-48A9A80E82B1}"/>
              </a:ext>
            </a:extLst>
          </p:cNvPr>
          <p:cNvGrpSpPr/>
          <p:nvPr/>
        </p:nvGrpSpPr>
        <p:grpSpPr>
          <a:xfrm>
            <a:off x="9533895" y="3679402"/>
            <a:ext cx="1066800" cy="457200"/>
            <a:chOff x="5715000" y="3124200"/>
            <a:chExt cx="1066800" cy="457200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5337658-67DA-3D05-7F4F-4F8356D9457B}"/>
                </a:ext>
              </a:extLst>
            </p:cNvPr>
            <p:cNvCxnSpPr/>
            <p:nvPr/>
          </p:nvCxnSpPr>
          <p:spPr>
            <a:xfrm flipH="1">
              <a:off x="5715000" y="3124200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F975FBD-2DCB-CD89-A21E-53197803D377}"/>
                </a:ext>
              </a:extLst>
            </p:cNvPr>
            <p:cNvCxnSpPr/>
            <p:nvPr/>
          </p:nvCxnSpPr>
          <p:spPr>
            <a:xfrm>
              <a:off x="6248400" y="3124200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4DACE11-3573-93E0-873D-90145E003A86}"/>
                </a:ext>
              </a:extLst>
            </p:cNvPr>
            <p:cNvCxnSpPr/>
            <p:nvPr/>
          </p:nvCxnSpPr>
          <p:spPr>
            <a:xfrm flipH="1">
              <a:off x="6248400" y="3124200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C7F787F-DCFB-D822-D059-B72078CB4835}"/>
              </a:ext>
            </a:extLst>
          </p:cNvPr>
          <p:cNvSpPr/>
          <p:nvPr/>
        </p:nvSpPr>
        <p:spPr>
          <a:xfrm>
            <a:off x="10410215" y="4894505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B96696-67FF-4DCF-9FA4-656B7E64BDD6}"/>
              </a:ext>
            </a:extLst>
          </p:cNvPr>
          <p:cNvSpPr/>
          <p:nvPr/>
        </p:nvSpPr>
        <p:spPr>
          <a:xfrm>
            <a:off x="8767126" y="4056278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8316208-43E5-7C1A-E423-F93ED41ECB5F}"/>
              </a:ext>
            </a:extLst>
          </p:cNvPr>
          <p:cNvGrpSpPr/>
          <p:nvPr/>
        </p:nvGrpSpPr>
        <p:grpSpPr>
          <a:xfrm>
            <a:off x="9315939" y="4121878"/>
            <a:ext cx="1509932" cy="429064"/>
            <a:chOff x="5486400" y="3533336"/>
            <a:chExt cx="1509932" cy="42906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64967AB-AD97-8124-00BB-760DAE031691}"/>
                </a:ext>
              </a:extLst>
            </p:cNvPr>
            <p:cNvSpPr/>
            <p:nvPr/>
          </p:nvSpPr>
          <p:spPr>
            <a:xfrm>
              <a:off x="5486400" y="353377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0AE998-61C7-134C-CB16-96824565F7B8}"/>
                </a:ext>
              </a:extLst>
            </p:cNvPr>
            <p:cNvSpPr/>
            <p:nvPr/>
          </p:nvSpPr>
          <p:spPr>
            <a:xfrm>
              <a:off x="6019800" y="3581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A7E7DE8-FD9F-7FEA-21DB-477F81CD9EDC}"/>
                </a:ext>
              </a:extLst>
            </p:cNvPr>
            <p:cNvSpPr/>
            <p:nvPr/>
          </p:nvSpPr>
          <p:spPr>
            <a:xfrm>
              <a:off x="6539132" y="3533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A20EC6A-3285-554B-631B-C4435184F51D}"/>
              </a:ext>
            </a:extLst>
          </p:cNvPr>
          <p:cNvCxnSpPr/>
          <p:nvPr/>
        </p:nvCxnSpPr>
        <p:spPr>
          <a:xfrm flipH="1">
            <a:off x="9543419" y="4499212"/>
            <a:ext cx="0" cy="4572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165E761-793B-F3D0-5984-98DDDFB54D6C}"/>
              </a:ext>
            </a:extLst>
          </p:cNvPr>
          <p:cNvCxnSpPr>
            <a:stCxn id="39" idx="2"/>
          </p:cNvCxnSpPr>
          <p:nvPr/>
        </p:nvCxnSpPr>
        <p:spPr>
          <a:xfrm flipH="1">
            <a:off x="9000495" y="3637193"/>
            <a:ext cx="0" cy="5327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624F42D1-6ED3-B762-17AC-0019CB3A5DBE}"/>
              </a:ext>
            </a:extLst>
          </p:cNvPr>
          <p:cNvSpPr/>
          <p:nvPr/>
        </p:nvSpPr>
        <p:spPr>
          <a:xfrm>
            <a:off x="9295989" y="2479486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2FA052A-8C08-F2A9-D729-A9163C340CD7}"/>
              </a:ext>
            </a:extLst>
          </p:cNvPr>
          <p:cNvCxnSpPr/>
          <p:nvPr/>
        </p:nvCxnSpPr>
        <p:spPr>
          <a:xfrm flipH="1">
            <a:off x="6107084" y="2276956"/>
            <a:ext cx="0" cy="2872874"/>
          </a:xfrm>
          <a:prstGeom prst="line">
            <a:avLst/>
          </a:prstGeom>
          <a:ln>
            <a:solidFill>
              <a:srgbClr val="0E47A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5E3D643-F587-4F10-7102-5501E70E8325}"/>
              </a:ext>
            </a:extLst>
          </p:cNvPr>
          <p:cNvCxnSpPr/>
          <p:nvPr/>
        </p:nvCxnSpPr>
        <p:spPr>
          <a:xfrm>
            <a:off x="6925374" y="3658726"/>
            <a:ext cx="2514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B475E86-E7AD-FFAD-B1B0-B8C59D37976E}"/>
              </a:ext>
            </a:extLst>
          </p:cNvPr>
          <p:cNvCxnSpPr/>
          <p:nvPr/>
        </p:nvCxnSpPr>
        <p:spPr>
          <a:xfrm>
            <a:off x="7258214" y="4169942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BB7A3D5-AC3F-BDC0-725E-3CBB16047324}"/>
              </a:ext>
            </a:extLst>
          </p:cNvPr>
          <p:cNvCxnSpPr/>
          <p:nvPr/>
        </p:nvCxnSpPr>
        <p:spPr>
          <a:xfrm>
            <a:off x="7258214" y="4669859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1D8BF65-2C2B-CF6A-C2F7-B67F9FFBA458}"/>
              </a:ext>
            </a:extLst>
          </p:cNvPr>
          <p:cNvCxnSpPr/>
          <p:nvPr/>
        </p:nvCxnSpPr>
        <p:spPr>
          <a:xfrm>
            <a:off x="7563014" y="5238830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82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  <p:bldP spid="25" grpId="0"/>
      <p:bldP spid="28" grpId="0"/>
      <p:bldP spid="37" grpId="0"/>
      <p:bldP spid="47" grpId="0"/>
      <p:bldP spid="48" grpId="0"/>
      <p:bldP spid="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FC03-5CCC-F11B-FFE5-B52297E9888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Exercise: Ambiguous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A5D5-9DDA-F45A-A535-E7B1D33CAB66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Check Ambiguity in following grammars: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S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 aS | Sa | </a:t>
            </a: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𝜖  (</a:t>
            </a:r>
            <a:r>
              <a:rPr lang="en-US"/>
              <a:t>output </a:t>
            </a: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string: aaaa)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S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 aSbS | bSaS | </a:t>
            </a: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𝜖  (</a:t>
            </a:r>
            <a:r>
              <a:rPr lang="en-US"/>
              <a:t>output </a:t>
            </a: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string: abab)</a:t>
            </a:r>
          </a:p>
          <a:p>
            <a:pPr marL="457200" indent="-457200">
              <a:buFont typeface="+mj-lt"/>
              <a:buAutoNum type="arabicPeriod"/>
            </a:pP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S</a:t>
            </a:r>
            <a:r>
              <a:rPr lang="en-US" sz="2000">
                <a:ea typeface="Cambria Math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 SS+ | SS* | a (</a:t>
            </a:r>
            <a:r>
              <a:rPr lang="en-US"/>
              <a:t>output </a:t>
            </a: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string: aa+a*)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&lt;exp&gt; </a:t>
            </a:r>
            <a:r>
              <a:rPr lang="en-US" sz="2000" b="1"/>
              <a:t>→</a:t>
            </a:r>
            <a:r>
              <a:rPr lang="en-US"/>
              <a:t> &lt;exp&gt; + &lt;term&gt; | &lt;term&gt;</a:t>
            </a:r>
          </a:p>
          <a:p>
            <a:pPr marL="0" indent="465138">
              <a:buFont typeface="Arial" panose="020B0604020202020204" pitchFamily="34" charset="0"/>
              <a:buNone/>
            </a:pPr>
            <a:r>
              <a:rPr lang="en-US"/>
              <a:t>&lt;term&gt; </a:t>
            </a:r>
            <a:r>
              <a:rPr lang="en-US" sz="2000" b="1"/>
              <a:t>→</a:t>
            </a:r>
            <a:r>
              <a:rPr lang="en-US"/>
              <a:t> &lt;term&gt; * &lt;letter&gt; | &lt;letter&gt; </a:t>
            </a:r>
          </a:p>
          <a:p>
            <a:pPr marL="0" indent="465138">
              <a:buFont typeface="Arial" panose="020B0604020202020204" pitchFamily="34" charset="0"/>
              <a:buNone/>
            </a:pPr>
            <a:r>
              <a:rPr lang="en-US"/>
              <a:t>&lt;letter&gt; </a:t>
            </a:r>
            <a:r>
              <a:rPr lang="en-US" sz="2000" b="1"/>
              <a:t>→</a:t>
            </a:r>
            <a:r>
              <a:rPr lang="en-US"/>
              <a:t> a|b|c|…|z  </a:t>
            </a: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(</a:t>
            </a:r>
            <a:r>
              <a:rPr lang="en-US"/>
              <a:t>output </a:t>
            </a:r>
            <a:r>
              <a:rPr lang="en-US">
                <a:ea typeface="Cambria Math" panose="02040503050406030204" pitchFamily="18" charset="0"/>
                <a:sym typeface="Wingdings" panose="05000000000000000000" pitchFamily="2" charset="2"/>
              </a:rPr>
              <a:t>string: a+b*c)</a:t>
            </a:r>
            <a:r>
              <a:rPr lang="en-US"/>
              <a:t> 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/>
              <a:t>Prove that the CFG with productions: S 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/>
              <a:t> a | Sa | bSS | SSb | SbS  is ambiguous (Hint: consider output string yourself)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3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C09D-6852-0387-B957-FFD712613E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Left recursion &amp; Left factoring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8673B-8FF7-5F56-F296-269B183347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66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05C7-600E-6AEF-D5FB-3418D47C9D7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Left recursion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FD5C8-0752-5670-E56E-71642E1351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3291996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dirty="0"/>
                  <a:t>A grammar is said to be </a:t>
                </a:r>
                <a:r>
                  <a:rPr lang="en-US" dirty="0">
                    <a:solidFill>
                      <a:srgbClr val="C00000"/>
                    </a:solidFill>
                  </a:rPr>
                  <a:t>left recursive </a:t>
                </a:r>
                <a:r>
                  <a:rPr lang="en-US" dirty="0"/>
                  <a:t>if it has a non terminal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there is a derivation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some string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Top-down parsing methods cannot handle left-recursive grammars, so a transformation is needed to eliminate left  recursion.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FD5C8-0752-5670-E56E-71642E135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3291996"/>
              </a:xfrm>
              <a:prstGeom prst="rect">
                <a:avLst/>
              </a:prstGeom>
              <a:blipFill>
                <a:blip r:embed="rId2"/>
                <a:stretch>
                  <a:fillRect l="-920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FC7793-DC4B-B4C9-CEF4-E7218DD97DDB}"/>
                  </a:ext>
                </a:extLst>
              </p:cNvPr>
              <p:cNvSpPr/>
              <p:nvPr/>
            </p:nvSpPr>
            <p:spPr>
              <a:xfrm>
                <a:off x="2631375" y="4473597"/>
                <a:ext cx="2133600" cy="1143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</m:oMath>
                  </m:oMathPara>
                </a14:m>
                <a:endParaRPr lang="en-US" sz="2400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FC7793-DC4B-B4C9-CEF4-E7218DD97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75" y="4473597"/>
                <a:ext cx="21336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7D9D87-B747-9312-397E-ED7417B812A7}"/>
              </a:ext>
            </a:extLst>
          </p:cNvPr>
          <p:cNvCxnSpPr/>
          <p:nvPr/>
        </p:nvCxnSpPr>
        <p:spPr>
          <a:xfrm>
            <a:off x="4931663" y="5127492"/>
            <a:ext cx="1666875" cy="0"/>
          </a:xfrm>
          <a:prstGeom prst="straightConnector1">
            <a:avLst/>
          </a:prstGeom>
          <a:ln w="698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C790555-FC16-1B27-FEBC-73EB37D27C1D}"/>
                  </a:ext>
                </a:extLst>
              </p:cNvPr>
              <p:cNvSpPr/>
              <p:nvPr/>
            </p:nvSpPr>
            <p:spPr>
              <a:xfrm>
                <a:off x="6427090" y="4615521"/>
                <a:ext cx="2133600" cy="7239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400" dirty="0">
                    <a:solidFill>
                      <a:srgbClr val="0E47A1"/>
                    </a:solidFill>
                    <a:latin typeface="+mj-lt"/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C790555-FC16-1B27-FEBC-73EB37D27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90" y="4615521"/>
                <a:ext cx="21336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27996A-EA19-09E8-A2D5-E9CF103688A1}"/>
                  </a:ext>
                </a:extLst>
              </p:cNvPr>
              <p:cNvSpPr/>
              <p:nvPr/>
            </p:nvSpPr>
            <p:spPr>
              <a:xfrm>
                <a:off x="7666578" y="4860658"/>
                <a:ext cx="854774" cy="3095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2400" dirty="0">
                    <a:solidFill>
                      <a:srgbClr val="C00000"/>
                    </a:solidFill>
                  </a:rPr>
                  <a:t>β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sz="24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27996A-EA19-09E8-A2D5-E9CF103688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578" y="4860658"/>
                <a:ext cx="854774" cy="309564"/>
              </a:xfrm>
              <a:prstGeom prst="rect">
                <a:avLst/>
              </a:prstGeom>
              <a:blipFill>
                <a:blip r:embed="rId5"/>
                <a:stretch>
                  <a:fillRect t="-39216" b="-686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9E887B-BE64-2BC6-9B65-D7CA067FB0F8}"/>
                  </a:ext>
                </a:extLst>
              </p:cNvPr>
              <p:cNvSpPr/>
              <p:nvPr/>
            </p:nvSpPr>
            <p:spPr>
              <a:xfrm>
                <a:off x="6646158" y="5396573"/>
                <a:ext cx="95726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+mj-lt"/>
                    <a:sym typeface="Wingdings" panose="05000000000000000000" pitchFamily="2" charset="2"/>
                  </a:rPr>
                  <a:t></a:t>
                </a:r>
                <a:endParaRPr lang="en-US" sz="24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9E887B-BE64-2BC6-9B65-D7CA067FB0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158" y="5396573"/>
                <a:ext cx="957266" cy="457200"/>
              </a:xfrm>
              <a:prstGeom prst="rect">
                <a:avLst/>
              </a:prstGeom>
              <a:blipFill>
                <a:blip r:embed="rId6"/>
                <a:stretch>
                  <a:fillRect t="-12000" b="-29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9B5EBD-0564-45DC-C974-F280824F176A}"/>
                  </a:ext>
                </a:extLst>
              </p:cNvPr>
              <p:cNvSpPr/>
              <p:nvPr/>
            </p:nvSpPr>
            <p:spPr>
              <a:xfrm>
                <a:off x="7343858" y="5377521"/>
                <a:ext cx="95726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sz="2400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9B5EBD-0564-45DC-C974-F280824F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858" y="5377521"/>
                <a:ext cx="957266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DCF2D7-AC57-218D-B2F7-8451DF76A3DC}"/>
                  </a:ext>
                </a:extLst>
              </p:cNvPr>
              <p:cNvSpPr/>
              <p:nvPr/>
            </p:nvSpPr>
            <p:spPr>
              <a:xfrm>
                <a:off x="7603424" y="5372757"/>
                <a:ext cx="95726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 | </m:t>
                    </m:r>
                  </m:oMath>
                </a14:m>
                <a:r>
                  <a:rPr lang="en-US" sz="2400" dirty="0">
                    <a:solidFill>
                      <a:srgbClr val="0E47A1"/>
                    </a:solidFill>
                    <a:latin typeface="+mj-lt"/>
                    <a:ea typeface="Cambria Math" panose="02040503050406030204" pitchFamily="18" charset="0"/>
                  </a:rPr>
                  <a:t>𝜖</a:t>
                </a:r>
                <a:endParaRPr lang="en-US" sz="2400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DCF2D7-AC57-218D-B2F7-8451DF76A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24" y="5372757"/>
                <a:ext cx="957266" cy="457200"/>
              </a:xfrm>
              <a:prstGeom prst="rect">
                <a:avLst/>
              </a:prstGeom>
              <a:blipFill>
                <a:blip r:embed="rId8"/>
                <a:stretch>
                  <a:fillRect t="-13333" b="-2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37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3754-EF85-1EB1-308F-032A372DBC9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Examples: Left recursion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7A532-31A3-81A6-4CEB-7C532261AAC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E+T | 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E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E’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+TE’ | 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T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T*F | 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T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FT’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*FT’ | ε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XX%Y</a:t>
            </a:r>
            <a:r>
              <a:rPr lang="en-US">
                <a:solidFill>
                  <a:srgbClr val="0E47A1"/>
                </a:solidFill>
              </a:rPr>
              <a:t> | Z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X</a:t>
            </a:r>
            <a:r>
              <a:rPr lang="en-US">
                <a:sym typeface="Wingdings" panose="05000000000000000000" pitchFamily="2" charset="2"/>
              </a:rPr>
              <a:t>Z</a:t>
            </a:r>
            <a:r>
              <a:rPr lang="en-US"/>
              <a:t>X’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X’</a:t>
            </a:r>
            <a:r>
              <a:rPr lang="en-US">
                <a:sym typeface="Wingdings" panose="05000000000000000000" pitchFamily="2" charset="2"/>
              </a:rPr>
              <a:t>%YX</a:t>
            </a:r>
            <a:r>
              <a:rPr lang="en-US"/>
              <a:t>’ | ε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13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8DF7-255F-DC09-EB8A-70EC8FCEDBF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Exercise: Left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1CEE-F5CD-2DD5-96B6-DB910B74D45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/>
              <a:t>A</a:t>
            </a:r>
            <a:r>
              <a:rPr lang="en-US">
                <a:sym typeface="Wingdings" panose="05000000000000000000" pitchFamily="2" charset="2"/>
              </a:rPr>
              <a:t>Abd | Aa | 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       BBe | b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>
                <a:sym typeface="Wingdings" panose="05000000000000000000" pitchFamily="2" charset="2"/>
              </a:rPr>
              <a:t>AAB | AC | a | b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>
                <a:sym typeface="Wingdings" panose="05000000000000000000" pitchFamily="2" charset="2"/>
              </a:rPr>
              <a:t>SA | B</a:t>
            </a:r>
          </a:p>
          <a:p>
            <a:pPr marL="45720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AABC | Acd | a | aa</a:t>
            </a:r>
          </a:p>
          <a:p>
            <a:pPr marL="45720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BBee | b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>
                <a:sym typeface="Wingdings" panose="05000000000000000000" pitchFamily="2" charset="2"/>
              </a:rPr>
              <a:t>ExpExp+term | Exp-term | term</a:t>
            </a:r>
          </a:p>
          <a:p>
            <a:pPr marL="45720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5637-68E1-947F-09F0-8D1C39D0E66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Left factoring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6C235-2CFB-4A50-30F3-12FA686AC6A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Left factoring is a grammar transformation that is useful for producing a grammar suitable for predictive parsing.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F74A5-0BC7-8628-85D0-9F25B23FDF16}"/>
              </a:ext>
            </a:extLst>
          </p:cNvPr>
          <p:cNvSpPr txBox="1"/>
          <p:nvPr/>
        </p:nvSpPr>
        <p:spPr>
          <a:xfrm>
            <a:off x="1248534" y="1859339"/>
            <a:ext cx="101640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E47A1"/>
                </a:solidFill>
              </a:rPr>
              <a:t>S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aAB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 | 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aCD</a:t>
            </a:r>
            <a:endParaRPr lang="en-US" dirty="0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aS</a:t>
            </a:r>
            <a:r>
              <a:rPr lang="en-US" dirty="0">
                <a:sym typeface="Wingdings" panose="05000000000000000000" pitchFamily="2" charset="2"/>
              </a:rPr>
              <a:t>’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		S’AB | CD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47A1"/>
                </a:solidFill>
              </a:rPr>
              <a:t>A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E47A1"/>
                </a:solidFill>
              </a:rPr>
              <a:t> </a:t>
            </a:r>
            <a:r>
              <a:rPr lang="en-US" dirty="0" err="1">
                <a:solidFill>
                  <a:srgbClr val="0E47A1"/>
                </a:solidFill>
              </a:rPr>
              <a:t>xByA</a:t>
            </a:r>
            <a:r>
              <a:rPr lang="en-US" dirty="0">
                <a:solidFill>
                  <a:srgbClr val="0E47A1"/>
                </a:solidFill>
              </a:rPr>
              <a:t> | </a:t>
            </a:r>
            <a:r>
              <a:rPr lang="en-US" dirty="0" err="1">
                <a:solidFill>
                  <a:srgbClr val="0E47A1"/>
                </a:solidFill>
              </a:rPr>
              <a:t>xByAzA</a:t>
            </a:r>
            <a:r>
              <a:rPr lang="en-US" dirty="0">
                <a:solidFill>
                  <a:srgbClr val="0E47A1"/>
                </a:solidFill>
              </a:rPr>
              <a:t> | 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A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xByAA</a:t>
            </a:r>
            <a:r>
              <a:rPr lang="en-US" dirty="0"/>
              <a:t>’ | a</a:t>
            </a:r>
          </a:p>
          <a:p>
            <a:pPr marL="0" indent="0">
              <a:buNone/>
            </a:pPr>
            <a:r>
              <a:rPr lang="en-US" dirty="0"/>
              <a:t>			A’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Є | </a:t>
            </a:r>
            <a:r>
              <a:rPr lang="en-US" dirty="0" err="1"/>
              <a:t>zA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A 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aAB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 | 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aA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 |a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</a:t>
            </a:r>
            <a:r>
              <a:rPr lang="en-US" dirty="0" err="1">
                <a:sym typeface="Wingdings" panose="05000000000000000000" pitchFamily="2" charset="2"/>
              </a:rPr>
              <a:t>aA</a:t>
            </a:r>
            <a:r>
              <a:rPr lang="en-US" dirty="0">
                <a:sym typeface="Wingdings" panose="05000000000000000000" pitchFamily="2" charset="2"/>
              </a:rPr>
              <a:t>’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		A’AB | A |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		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F6F03-1AE1-19DA-D3E5-FE15080ADE71}"/>
              </a:ext>
            </a:extLst>
          </p:cNvPr>
          <p:cNvSpPr txBox="1"/>
          <p:nvPr/>
        </p:nvSpPr>
        <p:spPr>
          <a:xfrm>
            <a:off x="7254240" y="4075330"/>
            <a:ext cx="1615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/>
              <a:t>A</a:t>
            </a:r>
            <a:r>
              <a:rPr lang="en-US" dirty="0" err="1">
                <a:sym typeface="Wingdings" panose="05000000000000000000" pitchFamily="2" charset="2"/>
              </a:rPr>
              <a:t>aA</a:t>
            </a:r>
            <a:r>
              <a:rPr lang="en-US" dirty="0">
                <a:sym typeface="Wingdings" panose="05000000000000000000" pitchFamily="2" charset="2"/>
              </a:rPr>
              <a:t>’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A’AA’’ | 𝜖</a:t>
            </a:r>
          </a:p>
          <a:p>
            <a:pPr marL="0" indent="0">
              <a:buNone/>
            </a:pPr>
            <a:r>
              <a:rPr lang="en-US" dirty="0"/>
              <a:t>A’’</a:t>
            </a:r>
            <a:r>
              <a:rPr lang="en-US" dirty="0">
                <a:sym typeface="Wingdings" panose="05000000000000000000" pitchFamily="2" charset="2"/>
              </a:rPr>
              <a:t>B |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D766EB8-76F1-9163-4FB1-9ECBD03A7985}"/>
              </a:ext>
            </a:extLst>
          </p:cNvPr>
          <p:cNvSpPr/>
          <p:nvPr/>
        </p:nvSpPr>
        <p:spPr>
          <a:xfrm>
            <a:off x="5781040" y="4307840"/>
            <a:ext cx="1219200" cy="223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445C96-798D-D9A4-1805-552C1D6834D8}"/>
              </a:ext>
            </a:extLst>
          </p:cNvPr>
          <p:cNvCxnSpPr/>
          <p:nvPr/>
        </p:nvCxnSpPr>
        <p:spPr>
          <a:xfrm>
            <a:off x="4480560" y="4663440"/>
            <a:ext cx="5791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49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8D63-9B03-43F5-3518-03F5A0C45EA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4461B-7930-AC31-F17D-A615DE57D04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/>
              <a:t>S</a:t>
            </a:r>
            <a:r>
              <a:rPr lang="en-US">
                <a:sym typeface="Wingdings" panose="05000000000000000000" pitchFamily="2" charset="2"/>
              </a:rPr>
              <a:t>iEtS | iEtSeS | a</a:t>
            </a:r>
          </a:p>
          <a:p>
            <a:pPr marL="457200" indent="-457200">
              <a:buFont typeface="+mj-lt"/>
              <a:buAutoNum type="arabicPeriod"/>
            </a:pPr>
            <a:r>
              <a:rPr lang="en-US">
                <a:sym typeface="Wingdings" panose="05000000000000000000" pitchFamily="2" charset="2"/>
              </a:rPr>
              <a:t>A ad | a | ab | abc | x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27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D029-A9E8-9530-67E1-E5E3C381B44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E399-47E0-E5AF-E2CC-CA2C909B957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Parsing is a technique that takes input string and produces output either a </a:t>
            </a:r>
            <a:r>
              <a:rPr lang="en-US" dirty="0">
                <a:solidFill>
                  <a:srgbClr val="C00000"/>
                </a:solidFill>
              </a:rPr>
              <a:t>parse tree </a:t>
            </a:r>
            <a:r>
              <a:rPr lang="en-US" dirty="0"/>
              <a:t>if string is valid sentence of grammar, or an </a:t>
            </a:r>
            <a:r>
              <a:rPr lang="en-US" dirty="0">
                <a:solidFill>
                  <a:srgbClr val="C00000"/>
                </a:solidFill>
              </a:rPr>
              <a:t>error message </a:t>
            </a:r>
            <a:r>
              <a:rPr lang="en-US" dirty="0"/>
              <a:t>indicating that string is not a valid.</a:t>
            </a:r>
          </a:p>
          <a:p>
            <a:r>
              <a:rPr lang="en-US" dirty="0"/>
              <a:t>Types of parsing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E47A1"/>
                </a:solidFill>
              </a:rPr>
              <a:t>Top down parsing</a:t>
            </a:r>
            <a:r>
              <a:rPr lang="en-US" dirty="0">
                <a:solidFill>
                  <a:srgbClr val="0E47A1"/>
                </a:solidFill>
              </a:rPr>
              <a:t>: </a:t>
            </a:r>
            <a:r>
              <a:rPr lang="en-US" dirty="0"/>
              <a:t>In top down parsing parser build parse tree from top to bottom.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E47A1"/>
                </a:solidFill>
              </a:rPr>
              <a:t>Bottom up parsing</a:t>
            </a:r>
            <a:r>
              <a:rPr lang="en-US" dirty="0">
                <a:solidFill>
                  <a:srgbClr val="0E47A1"/>
                </a:solidFill>
              </a:rPr>
              <a:t>: </a:t>
            </a:r>
            <a:r>
              <a:rPr lang="en-US" dirty="0"/>
              <a:t>Bottom up parser starts from leaves and work up to the root.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5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879F-9881-6524-3EC7-C1487CCE409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Classification of 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0E3328-9451-D6AB-3558-299B2130C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482" y="1015430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FE63D-C608-0409-1DDF-2BFEFFDB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675" y="2109992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B2B38-3848-FB84-A9AC-81DBE9B0B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688" y="2113027"/>
            <a:ext cx="3258632" cy="45720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39D1FC-D467-27AE-7C83-521E9636A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675" y="2832129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8C79D-82F0-7058-154E-F4E564C4F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177" y="3488880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F5F9B-2EC8-50D3-7BFF-74F40D5C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0460" y="3798126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4C94D-2818-A3FE-B37A-2B82DAE9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102" y="2824784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5CDEDA-0BBD-4CA4-2981-8E323EF1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345" y="5650454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66C8E9-2975-E9CA-1F60-B5E6A3BE5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418" y="4975965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8F5670-0702-3790-AD06-A772204D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3089" y="4323416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88470355-3447-8C80-EE9A-971266B18AF3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4040857" y="1444055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37C53050-11F1-8571-871F-12C894D99EAD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217920" y="1444055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0669553A-D8FC-837E-053A-63B12C7079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29022" y="2546562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C5FFCB2F-434C-EE6E-9AA0-AAC50C5474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23400" y="3059687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ACE5BD7-41F5-6096-704C-C1D00F15C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516" y="5338883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BBA172-509F-5603-1587-44F4A23E9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8857" y="4657561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450111-EE37-8145-9B12-357185DD5B35}"/>
              </a:ext>
            </a:extLst>
          </p:cNvPr>
          <p:cNvSpPr/>
          <p:nvPr/>
        </p:nvSpPr>
        <p:spPr>
          <a:xfrm>
            <a:off x="2023385" y="2036827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F860E1-7590-339A-907E-05BFE01CDCF2}"/>
              </a:ext>
            </a:extLst>
          </p:cNvPr>
          <p:cNvSpPr/>
          <p:nvPr/>
        </p:nvSpPr>
        <p:spPr>
          <a:xfrm>
            <a:off x="6451390" y="2036827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D1C86606-528A-4A38-A16F-1EE5C172A0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14042" y="3990204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5E04B8C1-BE65-456D-72BE-26E480EB08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48783" y="4887079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BDAB6DD8-00D3-13E0-95A4-8F54E5FEB7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34228" y="5666122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5D1CD3-992A-07CC-94C6-E4412B0BA55B}"/>
              </a:ext>
            </a:extLst>
          </p:cNvPr>
          <p:cNvCxnSpPr/>
          <p:nvPr/>
        </p:nvCxnSpPr>
        <p:spPr>
          <a:xfrm flipH="1" flipV="1">
            <a:off x="3648783" y="4493612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406D4E64-40EB-AABC-0D3D-5E000C2364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93082" y="2586589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79505781-B245-44D5-7655-BCB6FF6F3E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7460" y="3099714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8CB15535-F31B-EF6E-F89B-AE8D7DF45B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78102" y="403023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6C79E3C2-8FA7-7381-894E-C40F2C2352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30089" y="4493612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8ABC1F32-7B91-F75A-15AA-B27B4D0BED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46924" y="5171985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EBC714-4B3F-F46F-7BA9-B51407C36904}"/>
              </a:ext>
            </a:extLst>
          </p:cNvPr>
          <p:cNvCxnSpPr/>
          <p:nvPr/>
        </p:nvCxnSpPr>
        <p:spPr>
          <a:xfrm flipV="1">
            <a:off x="8128079" y="4197159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9F306E77-D45E-2FCB-BD7B-CA614FB6E4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08728" y="5862485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9136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10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972C6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A800-6E5D-424F-F450-5C11DE3B973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D5A5F-CE0B-440C-F1D4-66F0AE62FE39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11929641" cy="1934620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 backtracking, expansion of nonterminal symbol we choose one alternative and if any mismatch occurs then we try another alternative. </a:t>
            </a:r>
          </a:p>
          <a:p>
            <a:r>
              <a:rPr lang="en-US">
                <a:solidFill>
                  <a:srgbClr val="0E47A1"/>
                </a:solidFill>
              </a:rPr>
              <a:t>Grammar: S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 cAd		Input string: cad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	        A ab | 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DE5072-6995-F94F-04A5-E9DDE8B82222}"/>
              </a:ext>
            </a:extLst>
          </p:cNvPr>
          <p:cNvGrpSpPr/>
          <p:nvPr/>
        </p:nvGrpSpPr>
        <p:grpSpPr>
          <a:xfrm>
            <a:off x="1430442" y="3728063"/>
            <a:ext cx="1066800" cy="457200"/>
            <a:chOff x="6248400" y="2338172"/>
            <a:chExt cx="1066800" cy="4572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C9104C0-F3C6-4F76-5796-407C5D118B56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67F0D93-85D2-B2E5-C3CB-8DE04E212D23}"/>
                </a:ext>
              </a:extLst>
            </p:cNvPr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C868DAA-F367-E801-58DD-0E90558DB15E}"/>
                </a:ext>
              </a:extLst>
            </p:cNvPr>
            <p:cNvCxnSpPr/>
            <p:nvPr/>
          </p:nvCxnSpPr>
          <p:spPr>
            <a:xfrm flipH="1"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84E2FDC-E48F-AEA1-A9D4-62D4F6960121}"/>
              </a:ext>
            </a:extLst>
          </p:cNvPr>
          <p:cNvGrpSpPr/>
          <p:nvPr/>
        </p:nvGrpSpPr>
        <p:grpSpPr>
          <a:xfrm>
            <a:off x="1201842" y="4090224"/>
            <a:ext cx="1509932" cy="457200"/>
            <a:chOff x="6019800" y="2743200"/>
            <a:chExt cx="1509932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719D1C-82C4-F2E9-0DF9-18B158EAF992}"/>
                </a:ext>
              </a:extLst>
            </p:cNvPr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84428C-93B9-F10C-1CB1-543414D3565E}"/>
                </a:ext>
              </a:extLst>
            </p:cNvPr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C83A57-76A3-226E-5157-CD6F30BBD5C6}"/>
                </a:ext>
              </a:extLst>
            </p:cNvPr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d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55EB7FC-CF45-73DE-DDAB-3653D661D7D1}"/>
              </a:ext>
            </a:extLst>
          </p:cNvPr>
          <p:cNvSpPr/>
          <p:nvPr/>
        </p:nvSpPr>
        <p:spPr>
          <a:xfrm>
            <a:off x="1725936" y="3313517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750CA7-F7FC-8A08-4CC3-21BF66E275C9}"/>
              </a:ext>
            </a:extLst>
          </p:cNvPr>
          <p:cNvGrpSpPr/>
          <p:nvPr/>
        </p:nvGrpSpPr>
        <p:grpSpPr>
          <a:xfrm>
            <a:off x="4888414" y="3692769"/>
            <a:ext cx="1050758" cy="457200"/>
            <a:chOff x="6248400" y="2338172"/>
            <a:chExt cx="1050758" cy="45720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C24FAB-4F08-9F09-A4A9-D0DC611C10C8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843AC9D-3C6A-E5D5-A8B9-CDFFFFE33D97}"/>
                </a:ext>
              </a:extLst>
            </p:cNvPr>
            <p:cNvCxnSpPr/>
            <p:nvPr/>
          </p:nvCxnSpPr>
          <p:spPr>
            <a:xfrm>
              <a:off x="6765758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BD6F07-E0F8-1703-2AFC-FC28B37EA215}"/>
                </a:ext>
              </a:extLst>
            </p:cNvPr>
            <p:cNvCxnSpPr/>
            <p:nvPr/>
          </p:nvCxnSpPr>
          <p:spPr>
            <a:xfrm flipH="1">
              <a:off x="6773378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E563A5F-9A8C-F971-7343-BA671757A4D8}"/>
              </a:ext>
            </a:extLst>
          </p:cNvPr>
          <p:cNvSpPr/>
          <p:nvPr/>
        </p:nvSpPr>
        <p:spPr>
          <a:xfrm>
            <a:off x="4659814" y="405493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4BD724-87DD-CD81-5AE1-73E0063502D6}"/>
              </a:ext>
            </a:extLst>
          </p:cNvPr>
          <p:cNvSpPr/>
          <p:nvPr/>
        </p:nvSpPr>
        <p:spPr>
          <a:xfrm>
            <a:off x="5193214" y="4131130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CD7025-12FE-6839-12ED-C9E60CBE515F}"/>
              </a:ext>
            </a:extLst>
          </p:cNvPr>
          <p:cNvSpPr/>
          <p:nvPr/>
        </p:nvSpPr>
        <p:spPr>
          <a:xfrm>
            <a:off x="5712546" y="4083066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C2A1B6-1D9B-CF0B-BE35-7FD112925674}"/>
              </a:ext>
            </a:extLst>
          </p:cNvPr>
          <p:cNvSpPr/>
          <p:nvPr/>
        </p:nvSpPr>
        <p:spPr>
          <a:xfrm>
            <a:off x="5192480" y="3307047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277E5A-47D2-EEC3-801D-BA4BBD44C553}"/>
              </a:ext>
            </a:extLst>
          </p:cNvPr>
          <p:cNvCxnSpPr/>
          <p:nvPr/>
        </p:nvCxnSpPr>
        <p:spPr>
          <a:xfrm flipH="1">
            <a:off x="5117014" y="4535503"/>
            <a:ext cx="342900" cy="3810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D2F87B-E2E1-5877-4DC6-D88A426BAB63}"/>
              </a:ext>
            </a:extLst>
          </p:cNvPr>
          <p:cNvCxnSpPr/>
          <p:nvPr/>
        </p:nvCxnSpPr>
        <p:spPr>
          <a:xfrm>
            <a:off x="5443872" y="4535503"/>
            <a:ext cx="333586" cy="3810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3521EA7-CFD8-A2A6-042A-583F5E61C173}"/>
              </a:ext>
            </a:extLst>
          </p:cNvPr>
          <p:cNvSpPr/>
          <p:nvPr/>
        </p:nvSpPr>
        <p:spPr>
          <a:xfrm>
            <a:off x="4835814" y="4883552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91B523-7F50-BE79-492D-7C2AB9633DCA}"/>
              </a:ext>
            </a:extLst>
          </p:cNvPr>
          <p:cNvSpPr/>
          <p:nvPr/>
        </p:nvSpPr>
        <p:spPr>
          <a:xfrm>
            <a:off x="5624005" y="4895088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A1C6A5-CC6A-0131-C667-C3DFC68C4D15}"/>
              </a:ext>
            </a:extLst>
          </p:cNvPr>
          <p:cNvGrpSpPr/>
          <p:nvPr/>
        </p:nvGrpSpPr>
        <p:grpSpPr>
          <a:xfrm>
            <a:off x="8004957" y="3736845"/>
            <a:ext cx="1050758" cy="457200"/>
            <a:chOff x="6248400" y="2338172"/>
            <a:chExt cx="1050758" cy="45720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B24F0AF-D93D-C89A-CC83-46BBD505250F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20D232C-5571-0B95-B961-11CED7394D3B}"/>
                </a:ext>
              </a:extLst>
            </p:cNvPr>
            <p:cNvCxnSpPr/>
            <p:nvPr/>
          </p:nvCxnSpPr>
          <p:spPr>
            <a:xfrm>
              <a:off x="6765758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4E71910-8233-C0B8-D7D3-53A091F7E373}"/>
                </a:ext>
              </a:extLst>
            </p:cNvPr>
            <p:cNvCxnSpPr/>
            <p:nvPr/>
          </p:nvCxnSpPr>
          <p:spPr>
            <a:xfrm flipH="1">
              <a:off x="6773378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914B2A5-D466-6AF2-EBE1-61176F2FCE4F}"/>
              </a:ext>
            </a:extLst>
          </p:cNvPr>
          <p:cNvSpPr/>
          <p:nvPr/>
        </p:nvSpPr>
        <p:spPr>
          <a:xfrm>
            <a:off x="7776357" y="4099006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ECF2D4-2169-46F1-444F-DE2F9BB69D71}"/>
              </a:ext>
            </a:extLst>
          </p:cNvPr>
          <p:cNvSpPr/>
          <p:nvPr/>
        </p:nvSpPr>
        <p:spPr>
          <a:xfrm>
            <a:off x="8261631" y="4175206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AD4D59-387E-8ECB-18C7-65EB100D6FC7}"/>
              </a:ext>
            </a:extLst>
          </p:cNvPr>
          <p:cNvSpPr/>
          <p:nvPr/>
        </p:nvSpPr>
        <p:spPr>
          <a:xfrm>
            <a:off x="8829089" y="4127142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A27E78-D00C-D0E7-E592-3E68B1E46082}"/>
              </a:ext>
            </a:extLst>
          </p:cNvPr>
          <p:cNvSpPr/>
          <p:nvPr/>
        </p:nvSpPr>
        <p:spPr>
          <a:xfrm>
            <a:off x="8300451" y="3322299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28C6E8-5D43-900F-E236-BB0624FB539E}"/>
              </a:ext>
            </a:extLst>
          </p:cNvPr>
          <p:cNvSpPr/>
          <p:nvPr/>
        </p:nvSpPr>
        <p:spPr>
          <a:xfrm>
            <a:off x="8300314" y="4917852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F54CFB2-9ECB-0A01-C10E-C13C2ED3C040}"/>
              </a:ext>
            </a:extLst>
          </p:cNvPr>
          <p:cNvCxnSpPr/>
          <p:nvPr/>
        </p:nvCxnSpPr>
        <p:spPr>
          <a:xfrm>
            <a:off x="8542923" y="4508142"/>
            <a:ext cx="7801" cy="4572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C62BF3AC-CDBD-3DDA-C4E9-80FF9680EA5D}"/>
              </a:ext>
            </a:extLst>
          </p:cNvPr>
          <p:cNvCxnSpPr>
            <a:stCxn id="24" idx="3"/>
          </p:cNvCxnSpPr>
          <p:nvPr/>
        </p:nvCxnSpPr>
        <p:spPr>
          <a:xfrm flipH="1" flipV="1">
            <a:off x="5624005" y="4431180"/>
            <a:ext cx="457200" cy="654408"/>
          </a:xfrm>
          <a:prstGeom prst="curvedConnector4">
            <a:avLst>
              <a:gd name="adj1" fmla="val -50000"/>
              <a:gd name="adj2" fmla="val 64555"/>
            </a:avLst>
          </a:prstGeom>
          <a:ln w="254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1F003EF-5E8C-950E-5265-858AFE3C7F9B}"/>
              </a:ext>
            </a:extLst>
          </p:cNvPr>
          <p:cNvSpPr/>
          <p:nvPr/>
        </p:nvSpPr>
        <p:spPr>
          <a:xfrm>
            <a:off x="8625258" y="4946799"/>
            <a:ext cx="1536530" cy="3711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Parsing done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530AA1-C320-CF97-93EA-DE605DFDCA68}"/>
              </a:ext>
            </a:extLst>
          </p:cNvPr>
          <p:cNvSpPr/>
          <p:nvPr/>
        </p:nvSpPr>
        <p:spPr>
          <a:xfrm>
            <a:off x="3519519" y="4231504"/>
            <a:ext cx="1863485" cy="640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E47A1"/>
                </a:solidFill>
              </a:rPr>
              <a:t>Make prediction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BBCBAB-10DB-0E79-024E-924B1DC6EB82}"/>
              </a:ext>
            </a:extLst>
          </p:cNvPr>
          <p:cNvSpPr/>
          <p:nvPr/>
        </p:nvSpPr>
        <p:spPr>
          <a:xfrm>
            <a:off x="5504688" y="4912874"/>
            <a:ext cx="1863485" cy="640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Backtrack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075C60-4D25-9CD9-C2A2-E45C9B38B1CA}"/>
              </a:ext>
            </a:extLst>
          </p:cNvPr>
          <p:cNvSpPr/>
          <p:nvPr/>
        </p:nvSpPr>
        <p:spPr>
          <a:xfrm>
            <a:off x="6628559" y="4282236"/>
            <a:ext cx="1863485" cy="640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E47A1"/>
                </a:solidFill>
              </a:rPr>
              <a:t>Make prediction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86DF033-816D-B2C6-9CCF-B93F0B121A86}"/>
              </a:ext>
            </a:extLst>
          </p:cNvPr>
          <p:cNvCxnSpPr/>
          <p:nvPr/>
        </p:nvCxnSpPr>
        <p:spPr>
          <a:xfrm>
            <a:off x="173621" y="2798065"/>
            <a:ext cx="118872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2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dur="5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mph" presetSubtype="2" dur="2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dur="5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mph" presetSubtype="2" dur="2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18" grpId="1"/>
      <p:bldP spid="19" grpId="0"/>
      <p:bldP spid="20" grpId="0"/>
      <p:bldP spid="23" grpId="0"/>
      <p:bldP spid="24" grpId="0"/>
      <p:bldP spid="29" grpId="0"/>
      <p:bldP spid="30" grpId="0"/>
      <p:bldP spid="30" grpId="1"/>
      <p:bldP spid="31" grpId="0"/>
      <p:bldP spid="32" grpId="0"/>
      <p:bldP spid="33" grpId="0"/>
      <p:bldP spid="36" grpId="0"/>
      <p:bldP spid="37" grpId="0"/>
      <p:bldP spid="38" grpId="0"/>
      <p:bldP spid="3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678A-31A0-E19A-438C-DD791C89383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D8E4-1851-0DF3-8EEA-28F392ECC58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/>
              <a:t>E</a:t>
            </a:r>
            <a:r>
              <a:rPr lang="en-US">
                <a:sym typeface="Wingdings" panose="05000000000000000000" pitchFamily="2" charset="2"/>
              </a:rPr>
              <a:t> 5+T | 3-T</a:t>
            </a: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T V | V*V | V+V</a:t>
            </a: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V a | b</a:t>
            </a: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String: 3-a+b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57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A935F25D-97AA-8040-F4D2-8E20C5F9154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453119-196A-2FD0-2A6B-0C726F3CE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026" y="996596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32FF1-9936-5C5F-1E5D-BB8A1EEED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219" y="2091158"/>
            <a:ext cx="1985963" cy="43657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61B38-88E9-0E59-2E55-3F221F518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232" y="2094193"/>
            <a:ext cx="3258632" cy="45720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8B143-188E-2456-D3F7-DEA9BCAED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219" y="2813295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44E2D-B416-4A47-4CA4-17B087D40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721" y="3470046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acktracking (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FC20FB-22EF-F367-A0F5-F073DB20F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1004" y="3779292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8A8C03-FC8B-207C-7A96-39E008BCB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646" y="2805950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7109F9-3DA5-AAB7-CD46-BEA9D6BD4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6889" y="5631620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E05B1C-7313-95AE-799F-16966354A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962" y="4957131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4BD89D-9A38-7035-0F14-6D6E16E2F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633" y="4304582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BEC9A8EF-23DE-CDA2-C60D-F6DFAEE1FBFF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3821401" y="1425221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7ECF7EFD-0476-64B0-E882-38A2E5D4C77B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5998464" y="1425221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025307DA-D645-010B-3CA5-C485A1CE65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09566" y="2527728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5A2D3B7B-F1DE-A171-BD05-C981F282EC5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03944" y="304085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87006B4-E3DB-936E-3C23-06CD999B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060" y="5320049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2E54AC-9026-4719-3326-4D1E82EA6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401" y="4638727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EB174D-6AD0-C664-F29A-3DF48CA7B0DC}"/>
              </a:ext>
            </a:extLst>
          </p:cNvPr>
          <p:cNvSpPr/>
          <p:nvPr/>
        </p:nvSpPr>
        <p:spPr>
          <a:xfrm>
            <a:off x="1803929" y="2017993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CEB853-CED9-E5C2-1896-872058694ACF}"/>
              </a:ext>
            </a:extLst>
          </p:cNvPr>
          <p:cNvSpPr/>
          <p:nvPr/>
        </p:nvSpPr>
        <p:spPr>
          <a:xfrm>
            <a:off x="6231934" y="2017993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36BA5801-C185-D4D1-F2E5-A7CB1CD9E8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94586" y="397137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7EF2D8B7-01A5-F801-0457-D64BD0930A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327" y="486824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8C407BCF-15F4-BAFC-8B1F-E020FCECF0A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4772" y="5647288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EA2337-66BD-638D-5AD9-F44D97890A4C}"/>
              </a:ext>
            </a:extLst>
          </p:cNvPr>
          <p:cNvCxnSpPr/>
          <p:nvPr/>
        </p:nvCxnSpPr>
        <p:spPr>
          <a:xfrm flipH="1" flipV="1">
            <a:off x="3429327" y="4474778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688D02A5-65E9-4773-E3FC-5281CB0F84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3626" y="2567755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DC133D9A-B48A-40A6-55BC-2A1C8EDEC7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68004" y="308088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F0DF4E6F-A262-DEC9-6F0A-0E55B5A500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58646" y="4011397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47366C70-A104-D514-4DC2-1572CBEEB2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0633" y="447477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329D3590-E209-100A-F823-86F8C2FBCA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27468" y="515315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D430E8-0076-F9D0-92F8-8FCEC69DE9D7}"/>
              </a:ext>
            </a:extLst>
          </p:cNvPr>
          <p:cNvCxnSpPr/>
          <p:nvPr/>
        </p:nvCxnSpPr>
        <p:spPr>
          <a:xfrm flipV="1">
            <a:off x="7908623" y="4178325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D8DCBE4E-31BF-2EF5-49EE-5A94DB7CA21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9272" y="584365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4997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972C6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061C-2196-13A6-3CC9-2DE6F6AE43A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LL(1) parser (predictive parser)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F9EC-5EB6-BDE7-2697-B5944044C75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LL(1) is non recursive top down parser.</a:t>
            </a:r>
          </a:p>
          <a:p>
            <a:pPr marL="914400" indent="-457200">
              <a:buFont typeface="+mj-lt"/>
              <a:buAutoNum type="arabicPeriod"/>
            </a:pPr>
            <a:r>
              <a:rPr lang="en-US"/>
              <a:t>First </a:t>
            </a:r>
            <a:r>
              <a:rPr lang="en-US" b="1">
                <a:solidFill>
                  <a:srgbClr val="C00000"/>
                </a:solidFill>
              </a:rPr>
              <a:t>L</a:t>
            </a:r>
            <a:r>
              <a:rPr lang="en-US"/>
              <a:t> indicates input is scanned from left to right. </a:t>
            </a:r>
          </a:p>
          <a:p>
            <a:pPr marL="914400" indent="-457200">
              <a:buFont typeface="+mj-lt"/>
              <a:buAutoNum type="arabicPeriod"/>
            </a:pPr>
            <a:r>
              <a:rPr lang="en-US"/>
              <a:t>The second </a:t>
            </a:r>
            <a:r>
              <a:rPr lang="en-US" b="1">
                <a:solidFill>
                  <a:srgbClr val="C00000"/>
                </a:solidFill>
              </a:rPr>
              <a:t>L</a:t>
            </a:r>
            <a:r>
              <a:rPr lang="en-US"/>
              <a:t> means it uses leftmost derivation for input string </a:t>
            </a:r>
          </a:p>
          <a:p>
            <a:pPr marL="914400" indent="-457200">
              <a:buFont typeface="+mj-lt"/>
              <a:buAutoNum type="arabicPeriod"/>
            </a:pPr>
            <a:r>
              <a:rPr lang="en-US"/>
              <a:t> </a:t>
            </a:r>
            <a:r>
              <a:rPr lang="en-US" b="1">
                <a:solidFill>
                  <a:srgbClr val="C00000"/>
                </a:solidFill>
              </a:rPr>
              <a:t>1</a:t>
            </a:r>
            <a:r>
              <a:rPr lang="en-US"/>
              <a:t> means it uses only input symbol to predict the parsing process.</a:t>
            </a: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B88EA5-11CC-ED4D-9C1C-45D82BB84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264" y="4265631"/>
            <a:ext cx="1285875" cy="99949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Predictive parsing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EAEAD1-B3FD-C9B6-169C-1B7D3D7D9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613" y="5698496"/>
            <a:ext cx="1781176" cy="432211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table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231A6-DA4D-0EB5-65D9-D8D5B1F4B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023" y="3395045"/>
            <a:ext cx="838200" cy="33718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D0586B-DC70-18DD-9480-9B661D4FD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989" y="4563466"/>
            <a:ext cx="1085850" cy="3403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</a:p>
        </p:txBody>
      </p:sp>
      <p:cxnSp>
        <p:nvCxnSpPr>
          <p:cNvPr id="8" name="AutoShape 14">
            <a:extLst>
              <a:ext uri="{FF2B5EF4-FFF2-40B4-BE49-F238E27FC236}">
                <a16:creationId xmlns:a16="http://schemas.microsoft.com/office/drawing/2014/main" id="{C875D191-7AAF-214D-67A3-CECC04F055F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591108" y="3732231"/>
            <a:ext cx="0" cy="53340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15">
            <a:extLst>
              <a:ext uri="{FF2B5EF4-FFF2-40B4-BE49-F238E27FC236}">
                <a16:creationId xmlns:a16="http://schemas.microsoft.com/office/drawing/2014/main" id="{305BE947-5E5C-FFAC-CA76-2C189D36405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275276" y="4765376"/>
            <a:ext cx="657225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6">
            <a:extLst>
              <a:ext uri="{FF2B5EF4-FFF2-40B4-BE49-F238E27FC236}">
                <a16:creationId xmlns:a16="http://schemas.microsoft.com/office/drawing/2014/main" id="{9FFE0E5B-45AB-F5B7-95B5-7957DEE70A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23139" y="4716501"/>
            <a:ext cx="70485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B18FB-BF4C-E181-A7D7-F26BE8D4E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727" y="4578443"/>
            <a:ext cx="914400" cy="3800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Stack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CA35374-51B3-C995-9FB0-DC2FE7133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47809"/>
              </p:ext>
            </p:extLst>
          </p:nvPr>
        </p:nvGraphicFramePr>
        <p:xfrm>
          <a:off x="4803913" y="3373867"/>
          <a:ext cx="1485901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4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11C227D-39D6-A212-9285-7029B17B5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256722"/>
              </p:ext>
            </p:extLst>
          </p:nvPr>
        </p:nvGraphicFramePr>
        <p:xfrm>
          <a:off x="3867544" y="4023696"/>
          <a:ext cx="381000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E6784F-7B0B-757C-D44D-07D2D246C91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580201" y="5265121"/>
            <a:ext cx="1" cy="43337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41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D1841-37A1-9C9F-A3B4-81D1F6A007E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LL(1) parsing (predictive parsing)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2EDF-FA0A-022C-DBDD-66C26661881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Steps to construct LL(1) parser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Remove left recursion / Perform left factoring (if any).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Compute FIRST and FOLLOW of non terminals.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Construct predictive parsing table.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Parse the input string using parsing table.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8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FF04-3F8A-D5F3-8FAA-A8F44F962AD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compute first of non terminal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18370-ACB1-F4F4-05B7-C30954201B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is terminal,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 ∈</m:t>
                    </m:r>
                  </m:oMath>
                </a14:m>
                <a:r>
                  <a:rPr lang="en-US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/>
                  <a:t>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nonterminal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….</m:t>
                    </m:r>
                    <m:r>
                      <a:rPr lang="en-US" i="1" err="1">
                        <a:latin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 err="1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is a production, then 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 if for some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, a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𝑌𝑖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, and </a:t>
                </a:r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𝜖 is in all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),………,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b>
                    </m:sSub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);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that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𝜖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. If 𝜖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err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 err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=1,2,…..,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then add 𝜖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.</a:t>
                </a:r>
              </a:p>
              <a:p>
                <a:pPr marL="457200" indent="0">
                  <a:buFont typeface="Arial" panose="020B0604020202020204" pitchFamily="34" charset="0"/>
                  <a:buNone/>
                </a:pPr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Everything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is surely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does not derive 𝜖, then we do nothing more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, but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𝜖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, then we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and so on.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18370-ACB1-F4F4-05B7-C30954201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25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9556-FC81-7B68-DE35-3DAF757D9D4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compute first of non terminal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74F18D-E585-E95A-3316-F69F6CA186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/>
                  <a:t>Simplification of Rule 3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……..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/>
                  <a:t> , </a:t>
                </a:r>
              </a:p>
              <a:p>
                <a:r>
                  <a:rPr lang="en-US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:r>
                  <a:rPr lang="en-US">
                    <a:solidFill>
                      <a:srgbClr val="C00000"/>
                    </a:solidFill>
                  </a:rPr>
                  <a:t>does not derives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:r>
                  <a:rPr lang="en-US">
                    <a:solidFill>
                      <a:srgbClr val="C00000"/>
                    </a:solidFill>
                  </a:rPr>
                  <a:t>derives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r>
                  <a:rPr lang="en-US">
                    <a:solidFill>
                      <a:srgbClr val="0E47A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&amp; Y</a:t>
                </a:r>
                <a:r>
                  <a:rPr lang="en-US" baseline="-25000">
                    <a:solidFill>
                      <a:srgbClr val="C00000"/>
                    </a:solidFill>
                  </a:rPr>
                  <a:t>2 </a:t>
                </a:r>
                <a:r>
                  <a:rPr lang="en-US">
                    <a:solidFill>
                      <a:srgbClr val="C00000"/>
                    </a:solidFill>
                  </a:rPr>
                  <a:t>derives ∈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398463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, Y</a:t>
                </a:r>
                <a:r>
                  <a:rPr lang="en-US" baseline="-25000">
                    <a:solidFill>
                      <a:srgbClr val="C00000"/>
                    </a:solidFill>
                  </a:rPr>
                  <a:t>2 </a:t>
                </a:r>
                <a:r>
                  <a:rPr lang="en-US">
                    <a:solidFill>
                      <a:srgbClr val="C00000"/>
                    </a:solidFill>
                  </a:rPr>
                  <a:t>&amp; Y</a:t>
                </a:r>
                <a:r>
                  <a:rPr lang="en-US" baseline="-25000">
                    <a:solidFill>
                      <a:srgbClr val="C00000"/>
                    </a:solidFill>
                  </a:rPr>
                  <a:t>3 </a:t>
                </a:r>
                <a:r>
                  <a:rPr lang="en-US">
                    <a:solidFill>
                      <a:srgbClr val="C00000"/>
                    </a:solidFill>
                  </a:rPr>
                  <a:t>derives ∈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E47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E47A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E47A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)−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, Y</a:t>
                </a:r>
                <a:r>
                  <a:rPr lang="en-US" baseline="-25000">
                    <a:solidFill>
                      <a:srgbClr val="C00000"/>
                    </a:solidFill>
                  </a:rPr>
                  <a:t>2 </a:t>
                </a:r>
                <a:r>
                  <a:rPr lang="en-US">
                    <a:solidFill>
                      <a:srgbClr val="C00000"/>
                    </a:solidFill>
                  </a:rPr>
                  <a:t>, Y</a:t>
                </a:r>
                <a:r>
                  <a:rPr lang="en-US" baseline="-25000">
                    <a:solidFill>
                      <a:srgbClr val="C00000"/>
                    </a:solidFill>
                  </a:rPr>
                  <a:t>3 </a:t>
                </a:r>
                <a:r>
                  <a:rPr lang="en-US">
                    <a:solidFill>
                      <a:srgbClr val="C00000"/>
                    </a:solidFill>
                  </a:rPr>
                  <a:t>…..Y</a:t>
                </a:r>
                <a:r>
                  <a:rPr lang="en-US" baseline="-25000">
                    <a:solidFill>
                      <a:srgbClr val="C00000"/>
                    </a:solidFill>
                  </a:rPr>
                  <a:t>K</a:t>
                </a:r>
                <a:r>
                  <a:rPr lang="en-US">
                    <a:solidFill>
                      <a:srgbClr val="C00000"/>
                    </a:solidFill>
                  </a:rPr>
                  <a:t> </a:t>
                </a:r>
                <a:r>
                  <a:rPr lang="en-US"/>
                  <a:t>all derives ∈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/>
              </a:p>
              <a:p>
                <a:pPr marL="293688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…………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>
                    <a:solidFill>
                      <a:srgbClr val="C00000"/>
                    </a:solidFill>
                  </a:rPr>
                  <a:t>(note: if all non terminals derives ∈ then add ∈ to FIRST(A))</a:t>
                </a:r>
                <a:endParaRPr lang="en-US" sz="200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74F18D-E585-E95A-3316-F69F6CA18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074" t="-2072" r="-562" b="-111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79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E88B8-3464-FE9D-C673-258EF1EE42F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compute FOLLOW of non terminal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08E177-8E04-8679-4CB2-2BDAD62A54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$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𝑓𝑜𝑙𝑙𝑜𝑤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 (</m:t>
                    </m:r>
                  </m:oMath>
                </a14:m>
                <a:r>
                  <a:rPr lang="en-US" dirty="0"/>
                  <a:t>S is start symbol)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everything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except for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𝜖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placed in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there is a production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or a production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contains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then everything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𝑂𝐿𝐿𝑂𝑊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𝐹𝑂𝐿𝐿𝑂𝑊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08E177-8E04-8679-4CB2-2BDAD62A5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10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90CD-2212-0456-8714-4CF8411D68D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How to apply rules to find FOLLOW of non terminal?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FE013AA-B50F-DED4-F6D4-BF8AA462893B}"/>
                  </a:ext>
                </a:extLst>
              </p:cNvPr>
              <p:cNvSpPr/>
              <p:nvPr/>
            </p:nvSpPr>
            <p:spPr>
              <a:xfrm>
                <a:off x="3587291" y="1104552"/>
                <a:ext cx="1981200" cy="488158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FE013AA-B50F-DED4-F6D4-BF8AA462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291" y="1104552"/>
                <a:ext cx="1981200" cy="4881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8D6988C-12D1-AC00-0CA5-A5516DCEA375}"/>
                  </a:ext>
                </a:extLst>
              </p:cNvPr>
              <p:cNvSpPr/>
              <p:nvPr/>
            </p:nvSpPr>
            <p:spPr>
              <a:xfrm>
                <a:off x="5669455" y="2135469"/>
                <a:ext cx="198120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𝑝𝑟𝑒𝑠𝑒𝑛𝑡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8D6988C-12D1-AC00-0CA5-A5516DCEA3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455" y="2135469"/>
                <a:ext cx="1981200" cy="484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1F3915D-3BF9-2963-1313-94044AC1F132}"/>
                  </a:ext>
                </a:extLst>
              </p:cNvPr>
              <p:cNvSpPr/>
              <p:nvPr/>
            </p:nvSpPr>
            <p:spPr>
              <a:xfrm>
                <a:off x="1478880" y="2136495"/>
                <a:ext cx="198120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𝑎𝑏𝑠𝑒𝑛𝑡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1F3915D-3BF9-2963-1313-94044AC1F1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80" y="2136495"/>
                <a:ext cx="1981200" cy="4846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413ED3-A1DE-655D-F10C-0499A0844A79}"/>
                  </a:ext>
                </a:extLst>
              </p:cNvPr>
              <p:cNvSpPr/>
              <p:nvPr/>
            </p:nvSpPr>
            <p:spPr>
              <a:xfrm>
                <a:off x="1478880" y="3155820"/>
                <a:ext cx="198120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413ED3-A1DE-655D-F10C-0499A0844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80" y="3155820"/>
                <a:ext cx="1981200" cy="4846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AABB59C-6FCC-0798-B60D-425EEC56B2F4}"/>
                  </a:ext>
                </a:extLst>
              </p:cNvPr>
              <p:cNvSpPr/>
              <p:nvPr/>
            </p:nvSpPr>
            <p:spPr>
              <a:xfrm>
                <a:off x="3922746" y="3140105"/>
                <a:ext cx="1984248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terminal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AABB59C-6FCC-0798-B60D-425EEC56B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746" y="3140105"/>
                <a:ext cx="1984248" cy="4846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B4D7CC-4D41-1E3F-01AC-7A20F5D917C1}"/>
                  </a:ext>
                </a:extLst>
              </p:cNvPr>
              <p:cNvSpPr/>
              <p:nvPr/>
            </p:nvSpPr>
            <p:spPr>
              <a:xfrm>
                <a:off x="7156665" y="3155980"/>
                <a:ext cx="198120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𝑁𝑜𝑛𝑡𝑒𝑟𝑚𝑖𝑛𝑎𝑙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B4D7CC-4D41-1E3F-01AC-7A20F5D917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665" y="3155980"/>
                <a:ext cx="1981200" cy="484632"/>
              </a:xfrm>
              <a:prstGeom prst="rect">
                <a:avLst/>
              </a:prstGeom>
              <a:blipFill>
                <a:blip r:embed="rId7"/>
                <a:stretch>
                  <a:fillRect l="-608"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BD8D52-A1B7-A8EC-399A-8A2BFE4600E2}"/>
                  </a:ext>
                </a:extLst>
              </p:cNvPr>
              <p:cNvSpPr/>
              <p:nvPr/>
            </p:nvSpPr>
            <p:spPr>
              <a:xfrm>
                <a:off x="3913640" y="4162319"/>
                <a:ext cx="1984248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BD8D52-A1B7-A8EC-399A-8A2BFE460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640" y="4162319"/>
                <a:ext cx="1984248" cy="4846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E43D8E-D14A-F38D-90FC-645A52074917}"/>
                  </a:ext>
                </a:extLst>
              </p:cNvPr>
              <p:cNvSpPr/>
              <p:nvPr/>
            </p:nvSpPr>
            <p:spPr>
              <a:xfrm>
                <a:off x="8384241" y="4176574"/>
                <a:ext cx="1984248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derives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en-US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  <a:sym typeface="Wingdings" panose="05000000000000000000" pitchFamily="2" charset="2"/>
                  </a:rPr>
                  <a:t>𝜖</a:t>
                </a:r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E43D8E-D14A-F38D-90FC-645A52074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241" y="4176574"/>
                <a:ext cx="1984248" cy="484632"/>
              </a:xfrm>
              <a:prstGeom prst="rect">
                <a:avLst/>
              </a:prstGeom>
              <a:blipFill>
                <a:blip r:embed="rId9"/>
                <a:stretch>
                  <a:fillRect b="-2381"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C7ABAAF-696C-542A-37FB-84E4FD46E449}"/>
                  </a:ext>
                </a:extLst>
              </p:cNvPr>
              <p:cNvSpPr/>
              <p:nvPr/>
            </p:nvSpPr>
            <p:spPr>
              <a:xfrm>
                <a:off x="6010392" y="4176574"/>
                <a:ext cx="214884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does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not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derives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en-US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  <a:sym typeface="Wingdings" panose="05000000000000000000" pitchFamily="2" charset="2"/>
                  </a:rPr>
                  <a:t>𝜖</a:t>
                </a:r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C7ABAAF-696C-542A-37FB-84E4FD46E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392" y="4176574"/>
                <a:ext cx="2148840" cy="484632"/>
              </a:xfrm>
              <a:prstGeom prst="rect">
                <a:avLst/>
              </a:prstGeom>
              <a:blipFill>
                <a:blip r:embed="rId10"/>
                <a:stretch>
                  <a:fillRect l="-281" r="-1966" b="-2381"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B11602-5805-4683-4140-13B3197D792C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2469480" y="2621127"/>
            <a:ext cx="0" cy="534693"/>
          </a:xfrm>
          <a:prstGeom prst="straightConnector1">
            <a:avLst/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970A6FB-398A-55C2-93B7-030E47713914}"/>
                  </a:ext>
                </a:extLst>
              </p:cNvPr>
              <p:cNvSpPr/>
              <p:nvPr/>
            </p:nvSpPr>
            <p:spPr>
              <a:xfrm>
                <a:off x="6010392" y="5169081"/>
                <a:ext cx="214884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970A6FB-398A-55C2-93B7-030E47713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392" y="5169081"/>
                <a:ext cx="2148840" cy="4846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0C068E-CD6A-4BEE-323F-C6B751AAC36F}"/>
                  </a:ext>
                </a:extLst>
              </p:cNvPr>
              <p:cNvSpPr/>
              <p:nvPr/>
            </p:nvSpPr>
            <p:spPr>
              <a:xfrm>
                <a:off x="8384241" y="5161306"/>
                <a:ext cx="1984248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2+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0C068E-CD6A-4BEE-323F-C6B751AAC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241" y="5161306"/>
                <a:ext cx="1984248" cy="4846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401A1-A185-8627-D157-81EE1A3328D0}"/>
              </a:ext>
            </a:extLst>
          </p:cNvPr>
          <p:cNvCxnSpPr/>
          <p:nvPr/>
        </p:nvCxnSpPr>
        <p:spPr>
          <a:xfrm flipH="1">
            <a:off x="4934021" y="3612037"/>
            <a:ext cx="0" cy="534693"/>
          </a:xfrm>
          <a:prstGeom prst="straightConnector1">
            <a:avLst/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671BA4-EFC7-5B9E-55CF-3D386CD8C23A}"/>
              </a:ext>
            </a:extLst>
          </p:cNvPr>
          <p:cNvCxnSpPr/>
          <p:nvPr/>
        </p:nvCxnSpPr>
        <p:spPr>
          <a:xfrm flipH="1">
            <a:off x="7046712" y="4661206"/>
            <a:ext cx="0" cy="502920"/>
          </a:xfrm>
          <a:prstGeom prst="straightConnector1">
            <a:avLst/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5A611D-E73D-F681-8C1B-6DE00E0076A5}"/>
              </a:ext>
            </a:extLst>
          </p:cNvPr>
          <p:cNvCxnSpPr/>
          <p:nvPr/>
        </p:nvCxnSpPr>
        <p:spPr>
          <a:xfrm flipH="1">
            <a:off x="9376365" y="4658386"/>
            <a:ext cx="0" cy="502920"/>
          </a:xfrm>
          <a:prstGeom prst="straightConnector1">
            <a:avLst/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8">
            <a:extLst>
              <a:ext uri="{FF2B5EF4-FFF2-40B4-BE49-F238E27FC236}">
                <a16:creationId xmlns:a16="http://schemas.microsoft.com/office/drawing/2014/main" id="{06D8682A-F704-2A8C-01CE-2FBE4B284CF2}"/>
              </a:ext>
            </a:extLst>
          </p:cNvPr>
          <p:cNvCxnSpPr/>
          <p:nvPr/>
        </p:nvCxnSpPr>
        <p:spPr>
          <a:xfrm rot="5400000">
            <a:off x="3243650" y="817015"/>
            <a:ext cx="566928" cy="2103120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9">
            <a:extLst>
              <a:ext uri="{FF2B5EF4-FFF2-40B4-BE49-F238E27FC236}">
                <a16:creationId xmlns:a16="http://schemas.microsoft.com/office/drawing/2014/main" id="{5873684C-325B-DF4A-F9A8-96F1233389C6}"/>
              </a:ext>
            </a:extLst>
          </p:cNvPr>
          <p:cNvCxnSpPr/>
          <p:nvPr/>
        </p:nvCxnSpPr>
        <p:spPr>
          <a:xfrm rot="16200000" flipH="1">
            <a:off x="5358201" y="816630"/>
            <a:ext cx="548640" cy="2103120"/>
          </a:xfrm>
          <a:prstGeom prst="bentConnector3">
            <a:avLst>
              <a:gd name="adj1" fmla="val 499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20">
            <a:extLst>
              <a:ext uri="{FF2B5EF4-FFF2-40B4-BE49-F238E27FC236}">
                <a16:creationId xmlns:a16="http://schemas.microsoft.com/office/drawing/2014/main" id="{CD0088F8-6D52-5695-A779-D6C8F91C0EBA}"/>
              </a:ext>
            </a:extLst>
          </p:cNvPr>
          <p:cNvCxnSpPr/>
          <p:nvPr/>
        </p:nvCxnSpPr>
        <p:spPr>
          <a:xfrm rot="5400000">
            <a:off x="5550225" y="2008218"/>
            <a:ext cx="530352" cy="1737360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1">
            <a:extLst>
              <a:ext uri="{FF2B5EF4-FFF2-40B4-BE49-F238E27FC236}">
                <a16:creationId xmlns:a16="http://schemas.microsoft.com/office/drawing/2014/main" id="{6996D5FD-6115-1409-A8B4-D547CBB84433}"/>
              </a:ext>
            </a:extLst>
          </p:cNvPr>
          <p:cNvCxnSpPr/>
          <p:nvPr/>
        </p:nvCxnSpPr>
        <p:spPr>
          <a:xfrm rot="16200000" flipH="1">
            <a:off x="7150426" y="2145631"/>
            <a:ext cx="530352" cy="1463040"/>
          </a:xfrm>
          <a:prstGeom prst="bentConnector3">
            <a:avLst>
              <a:gd name="adj1" fmla="val 49693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2">
            <a:extLst>
              <a:ext uri="{FF2B5EF4-FFF2-40B4-BE49-F238E27FC236}">
                <a16:creationId xmlns:a16="http://schemas.microsoft.com/office/drawing/2014/main" id="{2571012C-48FC-EE3F-0C7F-472CA7E4316D}"/>
              </a:ext>
            </a:extLst>
          </p:cNvPr>
          <p:cNvCxnSpPr/>
          <p:nvPr/>
        </p:nvCxnSpPr>
        <p:spPr>
          <a:xfrm rot="5400000">
            <a:off x="7322556" y="3334128"/>
            <a:ext cx="530352" cy="1143000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3">
            <a:extLst>
              <a:ext uri="{FF2B5EF4-FFF2-40B4-BE49-F238E27FC236}">
                <a16:creationId xmlns:a16="http://schemas.microsoft.com/office/drawing/2014/main" id="{30D74EA6-62E8-41DA-04D1-E4BF10B5BB5F}"/>
              </a:ext>
            </a:extLst>
          </p:cNvPr>
          <p:cNvCxnSpPr/>
          <p:nvPr/>
        </p:nvCxnSpPr>
        <p:spPr>
          <a:xfrm rot="16200000" flipH="1">
            <a:off x="8511276" y="3288756"/>
            <a:ext cx="530352" cy="1234440"/>
          </a:xfrm>
          <a:prstGeom prst="bentConnector3">
            <a:avLst>
              <a:gd name="adj1" fmla="val 5029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2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3A9A4-DA09-0946-8254-681E45208FC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construct predictive parsing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AA2BBD-EB56-BB68-F3B3-AAF5AA7DF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For each production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 of the grammar, do steps 2 and 3.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For each terminal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for each terminal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en-US" dirty="0"/>
                  <a:t>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,$]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Make each undefined entry of M be error.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AA2BBD-EB56-BB68-F3B3-AAF5AA7DF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11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D1841-37A1-9C9F-A3B4-81D1F6A007E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Steps to construct LL(1) parsing (predictive parsing)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2EDF-FA0A-022C-DBDD-66C26661881B}"/>
              </a:ext>
            </a:extLst>
          </p:cNvPr>
          <p:cNvSpPr txBox="1">
            <a:spLocks/>
          </p:cNvSpPr>
          <p:nvPr/>
        </p:nvSpPr>
        <p:spPr>
          <a:xfrm>
            <a:off x="131179" y="545804"/>
            <a:ext cx="11929641" cy="6035196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Remove left recursion / Perform left factoring (if any).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Compute </a:t>
            </a:r>
            <a:r>
              <a:rPr lang="en-US" sz="2000" b="1" dirty="0">
                <a:solidFill>
                  <a:srgbClr val="0070C0"/>
                </a:solidFill>
              </a:rPr>
              <a:t>FIRST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FF0000"/>
                </a:solidFill>
              </a:rPr>
              <a:t>FOLLOW</a:t>
            </a:r>
            <a:r>
              <a:rPr lang="en-US" sz="2000" dirty="0"/>
              <a:t> of non terminals.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/>
              <a:t>a. </a:t>
            </a:r>
            <a:r>
              <a:rPr lang="en-US" sz="2000" b="1" dirty="0">
                <a:solidFill>
                  <a:srgbClr val="0070C0"/>
                </a:solidFill>
              </a:rPr>
              <a:t>FIRST</a:t>
            </a:r>
          </a:p>
          <a:p>
            <a:pPr marL="1428750" lvl="2" indent="-514350">
              <a:lnSpc>
                <a:spcPct val="100000"/>
              </a:lnSpc>
              <a:buFont typeface="+mj-lt"/>
              <a:buAutoNum type="romanLcPeriod"/>
            </a:pPr>
            <a:r>
              <a:rPr lang="en-US" dirty="0"/>
              <a:t>If S-&gt; </a:t>
            </a:r>
            <a:r>
              <a:rPr lang="en-US" dirty="0" err="1"/>
              <a:t>aSBc</a:t>
            </a:r>
            <a:r>
              <a:rPr lang="en-US" dirty="0"/>
              <a:t>, B-&gt; </a:t>
            </a:r>
            <a:r>
              <a:rPr lang="el-GR" dirty="0"/>
              <a:t>ε</a:t>
            </a:r>
            <a:r>
              <a:rPr lang="en-US" dirty="0"/>
              <a:t>  then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(S) ={a},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(B)={</a:t>
            </a:r>
            <a:r>
              <a:rPr lang="el-GR" dirty="0"/>
              <a:t>ε</a:t>
            </a:r>
            <a:r>
              <a:rPr lang="en-US" dirty="0"/>
              <a:t>}</a:t>
            </a:r>
          </a:p>
          <a:p>
            <a:pPr marL="1428750" lvl="2" indent="-514350">
              <a:lnSpc>
                <a:spcPct val="100000"/>
              </a:lnSpc>
              <a:buFont typeface="+mj-lt"/>
              <a:buAutoNum type="romanLcPeriod"/>
            </a:pPr>
            <a:r>
              <a:rPr lang="en-US" dirty="0"/>
              <a:t>If A-&gt;</a:t>
            </a:r>
            <a:r>
              <a:rPr lang="en-US" dirty="0" err="1"/>
              <a:t>Bxy</a:t>
            </a:r>
            <a:r>
              <a:rPr lang="en-US" dirty="0"/>
              <a:t>, B-&gt;MN,M-&gt;z   then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(A)=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(B)=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(M)={z}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/>
              <a:t>b. </a:t>
            </a:r>
            <a:r>
              <a:rPr lang="en-US" sz="2000" b="1" dirty="0">
                <a:solidFill>
                  <a:srgbClr val="FF0000"/>
                </a:solidFill>
              </a:rPr>
              <a:t>FOLLOW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/>
              <a:t>        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000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Construct predictive parsing table.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Parse the input string using parsing table.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A58522-A317-620F-1F6E-BFEA26B39E08}"/>
                  </a:ext>
                </a:extLst>
              </p:cNvPr>
              <p:cNvSpPr txBox="1"/>
              <p:nvPr/>
            </p:nvSpPr>
            <p:spPr>
              <a:xfrm>
                <a:off x="725538" y="2799715"/>
                <a:ext cx="11335282" cy="16927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US" sz="2000" dirty="0">
                    <a:latin typeface="Palatino Linotype" panose="02040502050505030304" pitchFamily="18" charset="0"/>
                  </a:rPr>
                  <a:t>Place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$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𝑓𝑜𝑙𝑙𝑜𝑤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. (</m:t>
                    </m:r>
                  </m:oMath>
                </a14:m>
                <a:r>
                  <a:rPr lang="en-US" sz="2000" dirty="0">
                    <a:latin typeface="Palatino Linotype" panose="02040502050505030304" pitchFamily="18" charset="0"/>
                  </a:rPr>
                  <a:t>S is start symbol)</a:t>
                </a:r>
              </a:p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US" sz="2000" dirty="0">
                    <a:latin typeface="Palatino Linotype" panose="02040502050505030304" pitchFamily="18" charset="0"/>
                  </a:rPr>
                  <a:t>If Terminal found on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FOLLOW(NT), 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then add that terminal as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FOLLOW(NT) 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= Terminal</a:t>
                </a:r>
              </a:p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US" sz="2000" dirty="0">
                    <a:latin typeface="Palatino Linotype" panose="02040502050505030304" pitchFamily="18" charset="0"/>
                  </a:rPr>
                  <a:t>If No symbol as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(NT), then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(NT) =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 on LHS)</a:t>
                </a:r>
              </a:p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US" sz="2000" dirty="0">
                    <a:latin typeface="Palatino Linotype" panose="02040502050505030304" pitchFamily="18" charset="0"/>
                  </a:rPr>
                  <a:t>If NT found as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(NT) then, Find </a:t>
                </a:r>
                <a:r>
                  <a:rPr lang="en-US" sz="2000" b="1" dirty="0">
                    <a:solidFill>
                      <a:srgbClr val="0070C0"/>
                    </a:solidFill>
                    <a:latin typeface="Palatino Linotype" panose="02040502050505030304" pitchFamily="18" charset="0"/>
                  </a:rPr>
                  <a:t>FIRST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(NT) then  apply </a:t>
                </a:r>
                <a:r>
                  <a:rPr lang="el-GR" sz="2000" dirty="0">
                    <a:latin typeface="Palatino Linotype" panose="02040502050505030304" pitchFamily="18" charset="0"/>
                  </a:rPr>
                  <a:t>ε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 and find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 on LHS)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A58522-A317-620F-1F6E-BFEA26B39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38" y="2799715"/>
                <a:ext cx="11335282" cy="1692771"/>
              </a:xfrm>
              <a:prstGeom prst="rect">
                <a:avLst/>
              </a:prstGeom>
              <a:blipFill>
                <a:blip r:embed="rId2"/>
                <a:stretch>
                  <a:fillRect t="-4317" r="-592" b="-17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2D773D7-4175-0DF6-E315-D4F6FCE72459}"/>
              </a:ext>
            </a:extLst>
          </p:cNvPr>
          <p:cNvSpPr txBox="1"/>
          <p:nvPr/>
        </p:nvSpPr>
        <p:spPr>
          <a:xfrm>
            <a:off x="725539" y="4823220"/>
            <a:ext cx="11335282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romanLcPeriod"/>
            </a:pPr>
            <a:r>
              <a:rPr lang="en-US" sz="2000" dirty="0">
                <a:latin typeface="Palatino Linotype" panose="02040502050505030304" pitchFamily="18" charset="0"/>
              </a:rPr>
              <a:t>For each N.T, if </a:t>
            </a:r>
            <a:r>
              <a:rPr lang="en-US" sz="20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FIRST</a:t>
            </a:r>
            <a:r>
              <a:rPr lang="en-US" sz="2000" dirty="0">
                <a:latin typeface="Palatino Linotype" panose="02040502050505030304" pitchFamily="18" charset="0"/>
              </a:rPr>
              <a:t>(NT) is not </a:t>
            </a:r>
            <a:r>
              <a:rPr lang="el-GR" sz="2000" dirty="0">
                <a:latin typeface="Palatino Linotype" panose="02040502050505030304" pitchFamily="18" charset="0"/>
              </a:rPr>
              <a:t>ε</a:t>
            </a:r>
            <a:r>
              <a:rPr lang="en-US" sz="2000" dirty="0">
                <a:latin typeface="Palatino Linotype" panose="02040502050505030304" pitchFamily="18" charset="0"/>
              </a:rPr>
              <a:t> then for each symbols of </a:t>
            </a:r>
            <a:r>
              <a:rPr lang="en-US" sz="20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FIRST</a:t>
            </a:r>
            <a:r>
              <a:rPr lang="en-US" sz="2000" dirty="0">
                <a:latin typeface="Palatino Linotype" panose="02040502050505030304" pitchFamily="18" charset="0"/>
              </a:rPr>
              <a:t>(NT</a:t>
            </a:r>
            <a:r>
              <a:rPr lang="en-US" sz="2000" b="1" baseline="-25000" dirty="0">
                <a:solidFill>
                  <a:schemeClr val="accent6">
                    <a:lumMod val="50000"/>
                  </a:schemeClr>
                </a:solidFill>
                <a:latin typeface="Palatino Linotype" panose="02040502050505030304" pitchFamily="18" charset="0"/>
              </a:rPr>
              <a:t>RHS</a:t>
            </a:r>
            <a:r>
              <a:rPr lang="en-US" sz="2000" dirty="0">
                <a:latin typeface="Palatino Linotype" panose="02040502050505030304" pitchFamily="18" charset="0"/>
              </a:rPr>
              <a:t>) update its production in the parsing table.</a:t>
            </a:r>
          </a:p>
          <a:p>
            <a:pPr marL="457200" indent="-457200" algn="just">
              <a:buFont typeface="+mj-lt"/>
              <a:buAutoNum type="romanLcPeriod"/>
            </a:pPr>
            <a:r>
              <a:rPr lang="en-US" sz="2000" dirty="0">
                <a:latin typeface="Palatino Linotype" panose="02040502050505030304" pitchFamily="18" charset="0"/>
              </a:rPr>
              <a:t>If </a:t>
            </a:r>
            <a:r>
              <a:rPr lang="en-US" sz="20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FIRST</a:t>
            </a:r>
            <a:r>
              <a:rPr lang="en-US" sz="2000" dirty="0">
                <a:latin typeface="Palatino Linotype" panose="02040502050505030304" pitchFamily="18" charset="0"/>
              </a:rPr>
              <a:t>(NT) is </a:t>
            </a:r>
            <a:r>
              <a:rPr lang="el-GR" sz="2000" dirty="0">
                <a:latin typeface="Palatino Linotype" panose="02040502050505030304" pitchFamily="18" charset="0"/>
              </a:rPr>
              <a:t>ε</a:t>
            </a:r>
            <a:r>
              <a:rPr lang="en-US" sz="2000" dirty="0">
                <a:latin typeface="Palatino Linotype" panose="02040502050505030304" pitchFamily="18" charset="0"/>
              </a:rPr>
              <a:t>, the for each symbols of </a:t>
            </a:r>
            <a:r>
              <a:rPr lang="en-US" sz="2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FOLLOW</a:t>
            </a:r>
            <a:r>
              <a:rPr lang="en-US" sz="2000" dirty="0">
                <a:latin typeface="Palatino Linotype" panose="02040502050505030304" pitchFamily="18" charset="0"/>
              </a:rPr>
              <a:t>(NT</a:t>
            </a:r>
            <a:r>
              <a:rPr lang="en-US" sz="2000" b="1" baseline="-25000" dirty="0">
                <a:solidFill>
                  <a:schemeClr val="accent6">
                    <a:lumMod val="50000"/>
                  </a:schemeClr>
                </a:solidFill>
                <a:latin typeface="Palatino Linotype" panose="02040502050505030304" pitchFamily="18" charset="0"/>
              </a:rPr>
              <a:t>LHS</a:t>
            </a:r>
            <a:r>
              <a:rPr lang="en-US" sz="2000" dirty="0">
                <a:latin typeface="Palatino Linotype" panose="02040502050505030304" pitchFamily="18" charset="0"/>
              </a:rPr>
              <a:t>) update its production in the parsing table.</a:t>
            </a:r>
          </a:p>
          <a:p>
            <a:pPr marL="457200" indent="-457200" algn="just">
              <a:buFont typeface="+mj-lt"/>
              <a:buAutoNum type="romanLcPeriod"/>
            </a:pPr>
            <a:r>
              <a:rPr lang="en-US" sz="2000" dirty="0">
                <a:latin typeface="Palatino Linotype" panose="02040502050505030304" pitchFamily="18" charset="0"/>
              </a:rPr>
              <a:t>Make each undefined entry of Parsing Table as error.</a:t>
            </a:r>
          </a:p>
        </p:txBody>
      </p:sp>
    </p:spTree>
    <p:extLst>
      <p:ext uri="{BB962C8B-B14F-4D97-AF65-F5344CB8AC3E}">
        <p14:creationId xmlns:p14="http://schemas.microsoft.com/office/powerpoint/2010/main" val="2158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4AAF-2BF6-A340-40DD-7661AD66E54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8531-A59F-2CE1-B60B-49FF93250164}"/>
              </a:ext>
            </a:extLst>
          </p:cNvPr>
          <p:cNvSpPr txBox="1"/>
          <p:nvPr/>
        </p:nvSpPr>
        <p:spPr>
          <a:xfrm>
            <a:off x="190500" y="990600"/>
            <a:ext cx="11733276" cy="5509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US" sz="2200">
              <a:latin typeface="+mj-lt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200">
              <a:latin typeface="+mj-lt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>
                <a:latin typeface="+mj-lt"/>
              </a:rPr>
              <a:t>Step 1: Not required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>
                <a:latin typeface="+mj-lt"/>
              </a:rPr>
              <a:t>Step 2: Compute FIRST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>
                <a:solidFill>
                  <a:srgbClr val="0E47A1"/>
                </a:solidFill>
                <a:latin typeface="+mj-lt"/>
              </a:rPr>
              <a:t>First(S)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 b="1" err="1">
                <a:latin typeface="+mj-lt"/>
                <a:sym typeface="Wingdings" panose="05000000000000000000" pitchFamily="2" charset="2"/>
              </a:rPr>
              <a:t>S</a:t>
            </a:r>
            <a:r>
              <a:rPr lang="en-US" sz="2000" b="1" err="1">
                <a:latin typeface="+mj-lt"/>
                <a:sym typeface="Wingdings" panose="05000000000000000000" pitchFamily="2" charset="2"/>
              </a:rPr>
              <a:t>aBa</a:t>
            </a:r>
            <a:endParaRPr lang="en-US" sz="2200" b="1">
              <a:latin typeface="+mj-lt"/>
              <a:sym typeface="Wingdings" panose="05000000000000000000" pitchFamily="2" charset="2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200">
              <a:solidFill>
                <a:schemeClr val="accent1">
                  <a:lumMod val="75000"/>
                </a:schemeClr>
              </a:solidFill>
              <a:latin typeface="+mj-lt"/>
              <a:sym typeface="Wingdings" panose="05000000000000000000" pitchFamily="2" charset="2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>
                <a:solidFill>
                  <a:srgbClr val="0E47A1"/>
                </a:solidFill>
                <a:latin typeface="+mj-lt"/>
              </a:rPr>
              <a:t>First(B)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 b="1" err="1">
                <a:latin typeface="+mj-lt"/>
                <a:sym typeface="Wingdings" panose="05000000000000000000" pitchFamily="2" charset="2"/>
              </a:rPr>
              <a:t>B</a:t>
            </a:r>
            <a:r>
              <a:rPr lang="en-US" sz="2000" b="1" err="1"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200" b="1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b="1">
                <a:solidFill>
                  <a:schemeClr val="accent1">
                    <a:lumMod val="75000"/>
                  </a:schemeClr>
                </a:solidFill>
                <a:latin typeface="+mj-lt"/>
                <a:sym typeface="Wingdings" panose="05000000000000000000" pitchFamily="2" charset="2"/>
              </a:rPr>
              <a:t>	</a:t>
            </a:r>
            <a:r>
              <a:rPr lang="en-US" sz="2200">
                <a:solidFill>
                  <a:schemeClr val="accent1">
                    <a:lumMod val="75000"/>
                  </a:schemeClr>
                </a:solidFill>
                <a:latin typeface="+mj-lt"/>
                <a:sym typeface="Wingdings" panose="05000000000000000000" pitchFamily="2" charset="2"/>
              </a:rPr>
              <a:t>				</a:t>
            </a:r>
            <a:r>
              <a:rPr lang="en-US" sz="2200" b="1">
                <a:latin typeface="+mj-lt"/>
                <a:sym typeface="Wingdings" panose="05000000000000000000" pitchFamily="2" charset="2"/>
              </a:rPr>
              <a:t>B</a:t>
            </a:r>
            <a:r>
              <a:rPr lang="en-US" sz="2200" b="1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sz="2200" b="1">
              <a:latin typeface="+mj-lt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200">
              <a:solidFill>
                <a:schemeClr val="accent1">
                  <a:lumMod val="75000"/>
                </a:schemeClr>
              </a:solidFill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2AFB4-7509-E2BB-3DB4-F8FDE5E0B807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3A9A3F-3004-6E31-DAC4-E2A0916BA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018874"/>
              </p:ext>
            </p:extLst>
          </p:nvPr>
        </p:nvGraphicFramePr>
        <p:xfrm>
          <a:off x="3635542" y="2776077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urved Connector 7">
            <a:extLst>
              <a:ext uri="{FF2B5EF4-FFF2-40B4-BE49-F238E27FC236}">
                <a16:creationId xmlns:a16="http://schemas.microsoft.com/office/drawing/2014/main" id="{2143FD68-EE9D-3EDC-6071-3611976893E0}"/>
              </a:ext>
            </a:extLst>
          </p:cNvPr>
          <p:cNvCxnSpPr/>
          <p:nvPr/>
        </p:nvCxnSpPr>
        <p:spPr>
          <a:xfrm rot="5400000" flipH="1" flipV="1">
            <a:off x="4408074" y="227799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8">
            <a:extLst>
              <a:ext uri="{FF2B5EF4-FFF2-40B4-BE49-F238E27FC236}">
                <a16:creationId xmlns:a16="http://schemas.microsoft.com/office/drawing/2014/main" id="{0A40D554-9459-D645-F9AA-F00C43BF969B}"/>
              </a:ext>
            </a:extLst>
          </p:cNvPr>
          <p:cNvCxnSpPr/>
          <p:nvPr/>
        </p:nvCxnSpPr>
        <p:spPr>
          <a:xfrm rot="16200000" flipH="1" flipV="1">
            <a:off x="4420629" y="303106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97AD34-ACEB-15BF-64E4-B9F8F4F7E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0566238"/>
                  </p:ext>
                </p:extLst>
              </p:nvPr>
            </p:nvGraphicFramePr>
            <p:xfrm>
              <a:off x="3635542" y="3153363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97AD34-ACEB-15BF-64E4-B9F8F4F7E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0566238"/>
                  </p:ext>
                </p:extLst>
              </p:nvPr>
            </p:nvGraphicFramePr>
            <p:xfrm>
              <a:off x="3635542" y="3153363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549AB0-278D-A05F-2369-F5D94ECB8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15506"/>
              </p:ext>
            </p:extLst>
          </p:nvPr>
        </p:nvGraphicFramePr>
        <p:xfrm>
          <a:off x="5738856" y="5137372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Curved Connector 11">
            <a:extLst>
              <a:ext uri="{FF2B5EF4-FFF2-40B4-BE49-F238E27FC236}">
                <a16:creationId xmlns:a16="http://schemas.microsoft.com/office/drawing/2014/main" id="{0A8209B2-9C44-90F3-4530-3070EEEEC60E}"/>
              </a:ext>
            </a:extLst>
          </p:cNvPr>
          <p:cNvCxnSpPr/>
          <p:nvPr/>
        </p:nvCxnSpPr>
        <p:spPr>
          <a:xfrm rot="5400000" flipH="1" flipV="1">
            <a:off x="6511388" y="4639294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2">
            <a:extLst>
              <a:ext uri="{FF2B5EF4-FFF2-40B4-BE49-F238E27FC236}">
                <a16:creationId xmlns:a16="http://schemas.microsoft.com/office/drawing/2014/main" id="{6BCA9427-5DC8-E774-A230-650D2F359847}"/>
              </a:ext>
            </a:extLst>
          </p:cNvPr>
          <p:cNvCxnSpPr/>
          <p:nvPr/>
        </p:nvCxnSpPr>
        <p:spPr>
          <a:xfrm rot="16200000" flipH="1" flipV="1">
            <a:off x="6523943" y="539235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F8D6061-1301-590A-6C37-AD2F512429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71455"/>
                  </p:ext>
                </p:extLst>
              </p:nvPr>
            </p:nvGraphicFramePr>
            <p:xfrm>
              <a:off x="5738856" y="5507611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F8D6061-1301-590A-6C37-AD2F512429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71455"/>
                  </p:ext>
                </p:extLst>
              </p:nvPr>
            </p:nvGraphicFramePr>
            <p:xfrm>
              <a:off x="5738856" y="5507611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000" t="-9091" r="-2000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00B2DD-D7F8-0AFB-C7CB-2A53AEFE2F6A}"/>
                  </a:ext>
                </a:extLst>
              </p:cNvPr>
              <p:cNvSpPr/>
              <p:nvPr/>
            </p:nvSpPr>
            <p:spPr>
              <a:xfrm>
                <a:off x="6397697" y="2807923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00B2DD-D7F8-0AFB-C7CB-2A53AEFE2F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697" y="2807923"/>
                <a:ext cx="2116570" cy="741680"/>
              </a:xfrm>
              <a:prstGeom prst="rect">
                <a:avLst/>
              </a:prstGeom>
              <a:blipFill>
                <a:blip r:embed="rId4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D0F067A-4B79-D0F6-E362-0D332B2AA82C}"/>
                  </a:ext>
                </a:extLst>
              </p:cNvPr>
              <p:cNvSpPr/>
              <p:nvPr/>
            </p:nvSpPr>
            <p:spPr>
              <a:xfrm>
                <a:off x="7000556" y="5606718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D0F067A-4B79-D0F6-E362-0D332B2AA8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556" y="5606718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280F9A62-B8D9-2395-2331-7CD5E43B56AA}"/>
              </a:ext>
            </a:extLst>
          </p:cNvPr>
          <p:cNvSpPr/>
          <p:nvPr/>
        </p:nvSpPr>
        <p:spPr>
          <a:xfrm>
            <a:off x="3616266" y="6073039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FIRST(B)={ b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06390-392E-8C8C-FAA0-AF4A92789735}"/>
              </a:ext>
            </a:extLst>
          </p:cNvPr>
          <p:cNvSpPr/>
          <p:nvPr/>
        </p:nvSpPr>
        <p:spPr>
          <a:xfrm>
            <a:off x="4831406" y="6076306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 , </a:t>
            </a:r>
            <a:r>
              <a:rPr lang="en-US" b="1">
                <a:solidFill>
                  <a:srgbClr val="0E47A1"/>
                </a:solidFill>
                <a:latin typeface="+mj-lt"/>
                <a:ea typeface="Cambria Math" panose="02040503050406030204" pitchFamily="18" charset="0"/>
              </a:rPr>
              <a:t>𝜖</a:t>
            </a:r>
            <a:r>
              <a:rPr lang="en-US" b="1">
                <a:solidFill>
                  <a:srgbClr val="0E47A1"/>
                </a:solidFill>
                <a:latin typeface="+mj-lt"/>
              </a:rPr>
              <a:t> }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AF0AB89-F412-37D6-63A4-770C03B74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060277"/>
              </p:ext>
            </p:extLst>
          </p:nvPr>
        </p:nvGraphicFramePr>
        <p:xfrm>
          <a:off x="10023694" y="146392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812B4CB-C037-00A7-556A-0F7A37DD7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974421"/>
              </p:ext>
            </p:extLst>
          </p:nvPr>
        </p:nvGraphicFramePr>
        <p:xfrm>
          <a:off x="10023695" y="183305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a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F34F5EE-D4EC-A956-1E45-BC3615220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519821"/>
              </p:ext>
            </p:extLst>
          </p:nvPr>
        </p:nvGraphicFramePr>
        <p:xfrm>
          <a:off x="10023694" y="220383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{b,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8ACC8942-0A1F-5C24-EA55-01B0E10BCD72}"/>
              </a:ext>
            </a:extLst>
          </p:cNvPr>
          <p:cNvSpPr/>
          <p:nvPr/>
        </p:nvSpPr>
        <p:spPr>
          <a:xfrm>
            <a:off x="10638525" y="1906518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8882B6D-5FBD-5161-A656-352948ABA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89091"/>
              </p:ext>
            </p:extLst>
          </p:nvPr>
        </p:nvGraphicFramePr>
        <p:xfrm>
          <a:off x="964506" y="5042688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Curved Connector 23">
            <a:extLst>
              <a:ext uri="{FF2B5EF4-FFF2-40B4-BE49-F238E27FC236}">
                <a16:creationId xmlns:a16="http://schemas.microsoft.com/office/drawing/2014/main" id="{DFAF2273-63F4-4BE4-BBC1-809DC1D2E0BF}"/>
              </a:ext>
            </a:extLst>
          </p:cNvPr>
          <p:cNvCxnSpPr/>
          <p:nvPr/>
        </p:nvCxnSpPr>
        <p:spPr>
          <a:xfrm rot="5400000" flipH="1" flipV="1">
            <a:off x="1737038" y="454600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4">
            <a:extLst>
              <a:ext uri="{FF2B5EF4-FFF2-40B4-BE49-F238E27FC236}">
                <a16:creationId xmlns:a16="http://schemas.microsoft.com/office/drawing/2014/main" id="{AF4A4563-B366-3F38-8215-F0BBD0B07141}"/>
              </a:ext>
            </a:extLst>
          </p:cNvPr>
          <p:cNvCxnSpPr/>
          <p:nvPr/>
        </p:nvCxnSpPr>
        <p:spPr>
          <a:xfrm rot="16200000" flipH="1" flipV="1">
            <a:off x="1749593" y="531357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DD8C1F93-7951-5DB3-7F7E-A0BDECC683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734270"/>
                  </p:ext>
                </p:extLst>
              </p:nvPr>
            </p:nvGraphicFramePr>
            <p:xfrm>
              <a:off x="964506" y="543588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DD8C1F93-7951-5DB3-7F7E-A0BDECC683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734270"/>
                  </p:ext>
                </p:extLst>
              </p:nvPr>
            </p:nvGraphicFramePr>
            <p:xfrm>
              <a:off x="964506" y="543588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2299" t="-9091" r="-2299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2F2B6A2-ACF6-B4C7-C622-95723B56CEE7}"/>
                  </a:ext>
                </a:extLst>
              </p:cNvPr>
              <p:cNvSpPr/>
              <p:nvPr/>
            </p:nvSpPr>
            <p:spPr>
              <a:xfrm>
                <a:off x="2844852" y="5263160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2F2B6A2-ACF6-B4C7-C622-95723B56C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52" y="5263160"/>
                <a:ext cx="2116570" cy="741680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4C28B787-F235-1036-6A84-B4ACAC55F31A}"/>
              </a:ext>
            </a:extLst>
          </p:cNvPr>
          <p:cNvSpPr/>
          <p:nvPr/>
        </p:nvSpPr>
        <p:spPr>
          <a:xfrm>
            <a:off x="10659400" y="228526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115F93-89F2-DB33-3A3E-B1370F5A686D}"/>
              </a:ext>
            </a:extLst>
          </p:cNvPr>
          <p:cNvSpPr/>
          <p:nvPr/>
        </p:nvSpPr>
        <p:spPr>
          <a:xfrm>
            <a:off x="5155596" y="3496828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FIRST(S)={ a } </a:t>
            </a:r>
          </a:p>
        </p:txBody>
      </p:sp>
    </p:spTree>
    <p:extLst>
      <p:ext uri="{BB962C8B-B14F-4D97-AF65-F5344CB8AC3E}">
        <p14:creationId xmlns:p14="http://schemas.microsoft.com/office/powerpoint/2010/main" val="217280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0" grpId="0" animBg="1"/>
      <p:bldP spid="25" grpId="0"/>
      <p:bldP spid="26" grpId="0" animBg="1"/>
      <p:bldP spid="2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4791-EDB7-0BE3-A267-3BB6CA06695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E3783-18E3-6BB6-2639-943AEA3472C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Follow(B)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SaBa 	</a:t>
            </a:r>
            <a:r>
              <a:rPr lang="en-US">
                <a:sym typeface="Wingdings" panose="05000000000000000000" pitchFamily="2" charset="2"/>
              </a:rPr>
              <a:t>			</a:t>
            </a:r>
            <a:r>
              <a:rPr lang="en-US" b="1">
                <a:sym typeface="Wingdings" panose="05000000000000000000" pitchFamily="2" charset="2"/>
              </a:rPr>
              <a:t>BbB</a:t>
            </a:r>
            <a:r>
              <a:rPr lang="en-US" sz="3200" b="1">
                <a:sym typeface="Wingdings" panose="05000000000000000000" pitchFamily="2" charset="2"/>
              </a:rPr>
              <a:t> </a:t>
            </a:r>
            <a:endParaRPr lang="en-US">
              <a:sym typeface="Wingdings" panose="05000000000000000000" pitchFamily="2" charset="2"/>
            </a:endParaRP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FF855-4C2F-8AFB-4B72-FE82A08B8C0B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BA6D8-587F-8E0F-0236-02363C2FA5E0}"/>
              </a:ext>
            </a:extLst>
          </p:cNvPr>
          <p:cNvSpPr/>
          <p:nvPr/>
        </p:nvSpPr>
        <p:spPr>
          <a:xfrm>
            <a:off x="3963738" y="6033260"/>
            <a:ext cx="2318698" cy="491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Follow(B)={ a 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32AB5F-A1F3-390E-AAF2-22F278825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942617"/>
              </p:ext>
            </p:extLst>
          </p:nvPr>
        </p:nvGraphicFramePr>
        <p:xfrm>
          <a:off x="5314731" y="4875601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C7A7ADE-FAC6-D899-25BA-2CE9EBBA599B}"/>
              </a:ext>
            </a:extLst>
          </p:cNvPr>
          <p:cNvSpPr/>
          <p:nvPr/>
        </p:nvSpPr>
        <p:spPr>
          <a:xfrm>
            <a:off x="3783048" y="3141219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Follow(S)={ $ }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776FCA-1C53-BA4A-9163-6D5FCE0AE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982984"/>
              </p:ext>
            </p:extLst>
          </p:nvPr>
        </p:nvGraphicFramePr>
        <p:xfrm>
          <a:off x="9649133" y="1207586"/>
          <a:ext cx="20574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AF78CE-9D99-2364-8C49-00B06241B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842022"/>
              </p:ext>
            </p:extLst>
          </p:nvPr>
        </p:nvGraphicFramePr>
        <p:xfrm>
          <a:off x="787906" y="4838233"/>
          <a:ext cx="2651760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BDC1533-2577-3414-9342-3AB2158593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894114"/>
                  </p:ext>
                </p:extLst>
              </p:nvPr>
            </p:nvGraphicFramePr>
            <p:xfrm>
              <a:off x="5314731" y="5269736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BDC1533-2577-3414-9342-3AB2158593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894114"/>
                  </p:ext>
                </p:extLst>
              </p:nvPr>
            </p:nvGraphicFramePr>
            <p:xfrm>
              <a:off x="5314731" y="5269736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677" r="-102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2F9BC07-E1D7-89B2-65F1-B9BFA703C0C4}"/>
              </a:ext>
            </a:extLst>
          </p:cNvPr>
          <p:cNvSpPr/>
          <p:nvPr/>
        </p:nvSpPr>
        <p:spPr>
          <a:xfrm>
            <a:off x="7379128" y="4889287"/>
            <a:ext cx="2270005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Follow(A)=follow(B)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883D8E55-C1B2-7569-DF84-B372BBAF4BB6}"/>
              </a:ext>
            </a:extLst>
          </p:cNvPr>
          <p:cNvCxnSpPr/>
          <p:nvPr/>
        </p:nvCxnSpPr>
        <p:spPr>
          <a:xfrm rot="5400000" flipH="1" flipV="1">
            <a:off x="6369085" y="4052641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2D5ECDF1-5453-98DE-985B-ACDDB204D9B3}"/>
              </a:ext>
            </a:extLst>
          </p:cNvPr>
          <p:cNvCxnSpPr/>
          <p:nvPr/>
        </p:nvCxnSpPr>
        <p:spPr>
          <a:xfrm rot="16200000" flipH="1" flipV="1">
            <a:off x="6369085" y="4811266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38FF5C2F-65C5-3913-6909-2A312A8FAD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826578"/>
                  </p:ext>
                </p:extLst>
              </p:nvPr>
            </p:nvGraphicFramePr>
            <p:xfrm>
              <a:off x="787906" y="5237775"/>
              <a:ext cx="2651760" cy="393192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38FF5C2F-65C5-3913-6909-2A312A8FAD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826578"/>
                  </p:ext>
                </p:extLst>
              </p:nvPr>
            </p:nvGraphicFramePr>
            <p:xfrm>
              <a:off x="787906" y="5237775"/>
              <a:ext cx="2651760" cy="393192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231" r="-200000" b="-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231" r="-2299" b="-1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AFA98B-5E6D-7FEA-BEBB-E427D78ADCE3}"/>
                  </a:ext>
                </a:extLst>
              </p:cNvPr>
              <p:cNvSpPr/>
              <p:nvPr/>
            </p:nvSpPr>
            <p:spPr>
              <a:xfrm>
                <a:off x="3159850" y="5119125"/>
                <a:ext cx="1903577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First(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)−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  <a:p>
                <a:pPr algn="ctr"/>
                <a:endParaRPr lang="en-US">
                  <a:solidFill>
                    <a:srgbClr val="C00000"/>
                  </a:solidFill>
                </a:endParaRPr>
              </a:p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AFA98B-5E6D-7FEA-BEBB-E427D78AD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850" y="5119125"/>
                <a:ext cx="1903577" cy="741680"/>
              </a:xfrm>
              <a:prstGeom prst="rect">
                <a:avLst/>
              </a:prstGeom>
              <a:blipFill>
                <a:blip r:embed="rId4"/>
                <a:stretch>
                  <a:fillRect t="-347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A335E351-36FD-B17B-4C6D-F69B8D17D768}"/>
              </a:ext>
            </a:extLst>
          </p:cNvPr>
          <p:cNvCxnSpPr/>
          <p:nvPr/>
        </p:nvCxnSpPr>
        <p:spPr>
          <a:xfrm rot="5400000" flipH="1" flipV="1">
            <a:off x="2865353" y="4590349"/>
            <a:ext cx="12700" cy="475488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CBE9568B-FEB1-7B2E-EF55-1482F3D496C7}"/>
              </a:ext>
            </a:extLst>
          </p:cNvPr>
          <p:cNvCxnSpPr/>
          <p:nvPr/>
        </p:nvCxnSpPr>
        <p:spPr>
          <a:xfrm rot="16200000" flipH="1" flipV="1">
            <a:off x="2865353" y="5393223"/>
            <a:ext cx="12700" cy="475488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9367517-7836-31F6-8D1D-8671697C0062}"/>
              </a:ext>
            </a:extLst>
          </p:cNvPr>
          <p:cNvSpPr/>
          <p:nvPr/>
        </p:nvSpPr>
        <p:spPr>
          <a:xfrm>
            <a:off x="2960060" y="2523687"/>
            <a:ext cx="3322376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</a:rPr>
              <a:t>Rule 1: Place $ in FOLLOW(S)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672C6A-F8EF-7314-EE0F-51A33A1C7292}"/>
              </a:ext>
            </a:extLst>
          </p:cNvPr>
          <p:cNvSpPr/>
          <p:nvPr/>
        </p:nvSpPr>
        <p:spPr>
          <a:xfrm>
            <a:off x="10898164" y="1638985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5432F4-A103-AC47-3306-05E9C1DB6F3E}"/>
              </a:ext>
            </a:extLst>
          </p:cNvPr>
          <p:cNvSpPr/>
          <p:nvPr/>
        </p:nvSpPr>
        <p:spPr>
          <a:xfrm>
            <a:off x="10877551" y="203011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3D5775-37B4-9E7B-AD25-3C6EA0F37B86}"/>
              </a:ext>
            </a:extLst>
          </p:cNvPr>
          <p:cNvSpPr/>
          <p:nvPr/>
        </p:nvSpPr>
        <p:spPr>
          <a:xfrm>
            <a:off x="5403782" y="6078559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33751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5" grpId="0"/>
      <p:bldP spid="18" grpId="0"/>
      <p:bldP spid="19" grpId="0" animBg="1"/>
      <p:bldP spid="20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CCC5-A653-978A-4C67-17990195E17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35AE-BB55-DBFF-4E76-158E547E48C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SaBa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a=FIRST(aBa)={ a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M[S,a]=S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aBa</a:t>
            </a:r>
            <a:endParaRPr lang="en-US"/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B444A-0398-F381-E96D-DD9B5771DEAE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B71CF0-AFD8-79C3-A83E-3891DC050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41950"/>
              </p:ext>
            </p:extLst>
          </p:nvPr>
        </p:nvGraphicFramePr>
        <p:xfrm>
          <a:off x="9653016" y="1182169"/>
          <a:ext cx="20574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1F9A91-E721-06C5-0C97-F1BAE8BAB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634278"/>
              </p:ext>
            </p:extLst>
          </p:nvPr>
        </p:nvGraphicFramePr>
        <p:xfrm>
          <a:off x="381000" y="2684904"/>
          <a:ext cx="3200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aBa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D4387D-BCFF-92D0-4D53-047EC1FC36E8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D4387D-BCFF-92D0-4D53-047EC1FC3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AAD6F39-A9BA-0CCC-EA96-FBBA0CEE6A2A}"/>
              </a:ext>
            </a:extLst>
          </p:cNvPr>
          <p:cNvSpPr/>
          <p:nvPr/>
        </p:nvSpPr>
        <p:spPr>
          <a:xfrm>
            <a:off x="931024" y="3511296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8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72E0-8097-9ECF-7809-B64B71D1604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D3C5F-3152-C416-FF7F-FCFF43B5DB9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BbB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a=FIRST(bB)={ b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M[B,b]=B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bB</a:t>
            </a:r>
            <a:endParaRPr lang="en-US"/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EE299-D3C1-0059-2816-A03E544E82ED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521D1F-F0AF-F921-51E2-09AA9AE1F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13099"/>
              </p:ext>
            </p:extLst>
          </p:nvPr>
        </p:nvGraphicFramePr>
        <p:xfrm>
          <a:off x="9653016" y="1182169"/>
          <a:ext cx="20574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07ACB4-726C-E8FB-0F87-7D00FDDA2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09057"/>
              </p:ext>
            </p:extLst>
          </p:nvPr>
        </p:nvGraphicFramePr>
        <p:xfrm>
          <a:off x="381000" y="2684904"/>
          <a:ext cx="3200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aBa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D74E33-E79F-8A6E-F889-A01DAE18C766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D74E33-E79F-8A6E-F889-A01DAE18C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734C760-864D-9B62-EA11-2ECF874FA4B1}"/>
              </a:ext>
            </a:extLst>
          </p:cNvPr>
          <p:cNvSpPr/>
          <p:nvPr/>
        </p:nvSpPr>
        <p:spPr>
          <a:xfrm>
            <a:off x="1774231" y="3870588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6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7A86-504D-E5BB-3B9F-374C3EE4EC5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5DB09-358B-8EB2-521D-B671475EE98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 defTabSz="11430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B</a:t>
            </a:r>
            <a:r>
              <a:rPr lang="en-US" b="1">
                <a:solidFill>
                  <a:srgbClr val="0E47A1"/>
                </a:solidFill>
              </a:rPr>
              <a:t>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b=FOLLOW(B)={ a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M[B,a]=B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40B559-BD08-A153-F3C3-4FADF69D1E6D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51A72C-B41F-51FF-FD47-6AC9B9911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155072"/>
              </p:ext>
            </p:extLst>
          </p:nvPr>
        </p:nvGraphicFramePr>
        <p:xfrm>
          <a:off x="9653016" y="1182169"/>
          <a:ext cx="20574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69E17A-07C9-E232-3F7B-F0469EBC2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842212"/>
              </p:ext>
            </p:extLst>
          </p:nvPr>
        </p:nvGraphicFramePr>
        <p:xfrm>
          <a:off x="381000" y="2684904"/>
          <a:ext cx="3200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aBa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ϵ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C51414E-3821-A158-9B8B-1B5B1A424B96}"/>
              </a:ext>
            </a:extLst>
          </p:cNvPr>
          <p:cNvSpPr/>
          <p:nvPr/>
        </p:nvSpPr>
        <p:spPr>
          <a:xfrm>
            <a:off x="963834" y="3870588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340D767-DB9F-2A6A-E300-CD1A5B7CF196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340D767-DB9F-2A6A-E300-CD1A5B7C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3F26C1A-8C4D-E6EF-5C7F-B0CA55E72974}"/>
              </a:ext>
            </a:extLst>
          </p:cNvPr>
          <p:cNvSpPr/>
          <p:nvPr/>
        </p:nvSpPr>
        <p:spPr>
          <a:xfrm>
            <a:off x="1779640" y="3483141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8D552C-54F0-938F-3C52-D5DAC019FD76}"/>
              </a:ext>
            </a:extLst>
          </p:cNvPr>
          <p:cNvSpPr/>
          <p:nvPr/>
        </p:nvSpPr>
        <p:spPr>
          <a:xfrm>
            <a:off x="2652769" y="3461011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68DAFD-2047-ABF4-1C2B-377A9041E3A9}"/>
              </a:ext>
            </a:extLst>
          </p:cNvPr>
          <p:cNvSpPr/>
          <p:nvPr/>
        </p:nvSpPr>
        <p:spPr>
          <a:xfrm>
            <a:off x="2633505" y="3853632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2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19A4-CBA6-7631-62EC-6F0B095B029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ADFF6-4F45-AA66-6D09-DD353E7AD59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1: Not required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</a:rPr>
              <a:t>First(S)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SaB</a:t>
            </a:r>
            <a:r>
              <a:rPr lang="en-US" b="1" dirty="0">
                <a:sym typeface="Wingdings" panose="05000000000000000000" pitchFamily="2" charset="2"/>
              </a:rPr>
              <a:t> 	</a:t>
            </a:r>
            <a:r>
              <a:rPr lang="en-US" dirty="0">
                <a:sym typeface="Wingdings" panose="05000000000000000000" pitchFamily="2" charset="2"/>
              </a:rPr>
              <a:t>				</a:t>
            </a:r>
            <a:r>
              <a:rPr lang="en-US" b="1" dirty="0">
                <a:sym typeface="Wingdings" panose="05000000000000000000" pitchFamily="2" charset="2"/>
              </a:rPr>
              <a:t>S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D90F4-8C50-6E0E-4566-4FE009097CA4}"/>
              </a:ext>
            </a:extLst>
          </p:cNvPr>
          <p:cNvSpPr/>
          <p:nvPr/>
        </p:nvSpPr>
        <p:spPr>
          <a:xfrm>
            <a:off x="60190" y="927702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5DFBAD-7A32-5AA7-EFC8-C57EC44FB0CC}"/>
              </a:ext>
            </a:extLst>
          </p:cNvPr>
          <p:cNvGraphicFramePr>
            <a:graphicFrameLocks noGrp="1"/>
          </p:cNvGraphicFramePr>
          <p:nvPr/>
        </p:nvGraphicFramePr>
        <p:xfrm>
          <a:off x="5405030" y="4730980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urved Connector 7">
            <a:extLst>
              <a:ext uri="{FF2B5EF4-FFF2-40B4-BE49-F238E27FC236}">
                <a16:creationId xmlns:a16="http://schemas.microsoft.com/office/drawing/2014/main" id="{677982F4-ADE8-557E-3794-480FDD7F09CA}"/>
              </a:ext>
            </a:extLst>
          </p:cNvPr>
          <p:cNvCxnSpPr/>
          <p:nvPr/>
        </p:nvCxnSpPr>
        <p:spPr>
          <a:xfrm rot="5400000" flipH="1" flipV="1">
            <a:off x="6177562" y="423290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8">
            <a:extLst>
              <a:ext uri="{FF2B5EF4-FFF2-40B4-BE49-F238E27FC236}">
                <a16:creationId xmlns:a16="http://schemas.microsoft.com/office/drawing/2014/main" id="{46BC0589-B6AB-0DE7-57C2-2A09BA50774E}"/>
              </a:ext>
            </a:extLst>
          </p:cNvPr>
          <p:cNvCxnSpPr/>
          <p:nvPr/>
        </p:nvCxnSpPr>
        <p:spPr>
          <a:xfrm rot="16200000" flipH="1" flipV="1">
            <a:off x="6190117" y="498596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BB079EE-2DAC-D811-DA8D-D278893FCC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BB079EE-2DAC-D811-DA8D-D278893FCC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8000" t="-9091" r="-200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144CA42-24E3-2221-D346-64A7EEE5F230}"/>
                  </a:ext>
                </a:extLst>
              </p:cNvPr>
              <p:cNvSpPr/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144CA42-24E3-2221-D346-64A7EEE5F2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blipFill>
                <a:blip r:embed="rId3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6331B73-B7F4-18F8-C159-7884039EA89D}"/>
              </a:ext>
            </a:extLst>
          </p:cNvPr>
          <p:cNvSpPr/>
          <p:nvPr/>
        </p:nvSpPr>
        <p:spPr>
          <a:xfrm>
            <a:off x="3282440" y="5666647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FIRST(S)={ a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7D08A9-1E87-1C2E-22DB-B4C961F3AFC4}"/>
              </a:ext>
            </a:extLst>
          </p:cNvPr>
          <p:cNvSpPr/>
          <p:nvPr/>
        </p:nvSpPr>
        <p:spPr>
          <a:xfrm>
            <a:off x="4497580" y="5669914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, </a:t>
            </a:r>
            <a:r>
              <a:rPr lang="en-US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</a:t>
            </a:r>
            <a:r>
              <a:rPr lang="en-US" b="1">
                <a:solidFill>
                  <a:srgbClr val="0E47A1"/>
                </a:solidFill>
              </a:rPr>
              <a:t> 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903E565-EED6-822E-7350-AA563E7E1F8E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24973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3203FEA-5C97-6C33-C48A-9E4E0D604ECC}"/>
              </a:ext>
            </a:extLst>
          </p:cNvPr>
          <p:cNvGraphicFramePr>
            <a:graphicFrameLocks noGrp="1"/>
          </p:cNvGraphicFramePr>
          <p:nvPr/>
        </p:nvGraphicFramePr>
        <p:xfrm>
          <a:off x="7437650" y="286648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a,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AC65C74-2793-5519-16F6-67CD16A71014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32372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{b,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F635AA4-63B1-94E1-076A-F4DC72581831}"/>
              </a:ext>
            </a:extLst>
          </p:cNvPr>
          <p:cNvSpPr/>
          <p:nvPr/>
        </p:nvSpPr>
        <p:spPr>
          <a:xfrm>
            <a:off x="8030593" y="295090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92E6B26-04B1-DB9E-4729-12DEDF1E413D}"/>
              </a:ext>
            </a:extLst>
          </p:cNvPr>
          <p:cNvGraphicFramePr>
            <a:graphicFrameLocks noGrp="1"/>
          </p:cNvGraphicFramePr>
          <p:nvPr/>
        </p:nvGraphicFramePr>
        <p:xfrm>
          <a:off x="630680" y="4636296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Curved Connector 18">
            <a:extLst>
              <a:ext uri="{FF2B5EF4-FFF2-40B4-BE49-F238E27FC236}">
                <a16:creationId xmlns:a16="http://schemas.microsoft.com/office/drawing/2014/main" id="{8F04240D-A307-F774-042E-8B31AEB2C51A}"/>
              </a:ext>
            </a:extLst>
          </p:cNvPr>
          <p:cNvCxnSpPr/>
          <p:nvPr/>
        </p:nvCxnSpPr>
        <p:spPr>
          <a:xfrm rot="5400000" flipH="1" flipV="1">
            <a:off x="1403212" y="4133486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9">
            <a:extLst>
              <a:ext uri="{FF2B5EF4-FFF2-40B4-BE49-F238E27FC236}">
                <a16:creationId xmlns:a16="http://schemas.microsoft.com/office/drawing/2014/main" id="{DCF6ADAD-68F9-2D0A-4376-0E2684F9BAE2}"/>
              </a:ext>
            </a:extLst>
          </p:cNvPr>
          <p:cNvCxnSpPr/>
          <p:nvPr/>
        </p:nvCxnSpPr>
        <p:spPr>
          <a:xfrm rot="16200000" flipH="1" flipV="1">
            <a:off x="1415767" y="490718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E2EDD671-ADE7-4E6C-AAF3-3B85E54C0C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E2EDD671-ADE7-4E6C-AAF3-3B85E54C0C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C36231E-CF96-7F7F-A64E-A77467435A12}"/>
                  </a:ext>
                </a:extLst>
              </p:cNvPr>
              <p:cNvSpPr/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C36231E-CF96-7F7F-A64E-A77467435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5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531A779-3FE5-1631-DB07-A7E0BFF64ABE}"/>
              </a:ext>
            </a:extLst>
          </p:cNvPr>
          <p:cNvGraphicFramePr>
            <a:graphicFrameLocks noGrp="1"/>
          </p:cNvGraphicFramePr>
          <p:nvPr/>
        </p:nvGraphicFramePr>
        <p:xfrm>
          <a:off x="7437648" y="360633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{c,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14A9D4DB-8CA7-C86C-C706-5D83EB5B275D}"/>
              </a:ext>
            </a:extLst>
          </p:cNvPr>
          <p:cNvSpPr/>
          <p:nvPr/>
        </p:nvSpPr>
        <p:spPr>
          <a:xfrm>
            <a:off x="8069104" y="330615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02E842-A07D-37FB-26C0-9DC44B6F3FF9}"/>
              </a:ext>
            </a:extLst>
          </p:cNvPr>
          <p:cNvSpPr/>
          <p:nvPr/>
        </p:nvSpPr>
        <p:spPr>
          <a:xfrm>
            <a:off x="8030594" y="369188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8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 animBg="1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1EEA-1CE7-595B-F0CC-EDAFC9AAF38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0F715-4A8F-85EA-79E5-EE925670408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1: Not required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First(B)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BbC 	</a:t>
            </a:r>
            <a:r>
              <a:rPr lang="en-US">
                <a:sym typeface="Wingdings" panose="05000000000000000000" pitchFamily="2" charset="2"/>
              </a:rPr>
              <a:t>				</a:t>
            </a:r>
            <a:r>
              <a:rPr lang="en-US" b="1">
                <a:sym typeface="Wingdings" panose="05000000000000000000" pitchFamily="2" charset="2"/>
              </a:rPr>
              <a:t>B</a:t>
            </a:r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4F7AA4-5380-EE33-C080-6D779BDDAB36}"/>
              </a:ext>
            </a:extLst>
          </p:cNvPr>
          <p:cNvSpPr/>
          <p:nvPr/>
        </p:nvSpPr>
        <p:spPr>
          <a:xfrm>
            <a:off x="60190" y="927702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9277AF-B79F-D55B-2C4F-7A2318773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30225"/>
              </p:ext>
            </p:extLst>
          </p:nvPr>
        </p:nvGraphicFramePr>
        <p:xfrm>
          <a:off x="5405030" y="4730980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urved Connector 7">
            <a:extLst>
              <a:ext uri="{FF2B5EF4-FFF2-40B4-BE49-F238E27FC236}">
                <a16:creationId xmlns:a16="http://schemas.microsoft.com/office/drawing/2014/main" id="{7D9F5749-5868-6C1E-214C-8354975CB0DD}"/>
              </a:ext>
            </a:extLst>
          </p:cNvPr>
          <p:cNvCxnSpPr/>
          <p:nvPr/>
        </p:nvCxnSpPr>
        <p:spPr>
          <a:xfrm rot="5400000" flipH="1" flipV="1">
            <a:off x="6177562" y="423290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8">
            <a:extLst>
              <a:ext uri="{FF2B5EF4-FFF2-40B4-BE49-F238E27FC236}">
                <a16:creationId xmlns:a16="http://schemas.microsoft.com/office/drawing/2014/main" id="{1D0C6E61-D23E-4D19-024E-0A87B1373D70}"/>
              </a:ext>
            </a:extLst>
          </p:cNvPr>
          <p:cNvCxnSpPr/>
          <p:nvPr/>
        </p:nvCxnSpPr>
        <p:spPr>
          <a:xfrm rot="16200000" flipH="1" flipV="1">
            <a:off x="6190117" y="498596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070BFA8-ADDF-0162-ED14-4ACFBA8459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070BFA8-ADDF-0162-ED14-4ACFBA8459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8000" t="-9091" r="-200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1209B9-3457-6D35-9523-7700E7F96997}"/>
                  </a:ext>
                </a:extLst>
              </p:cNvPr>
              <p:cNvSpPr/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1209B9-3457-6D35-9523-7700E7F969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blipFill>
                <a:blip r:embed="rId3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09C148E-9C18-DDC5-6B0A-4790504ACEF3}"/>
              </a:ext>
            </a:extLst>
          </p:cNvPr>
          <p:cNvSpPr/>
          <p:nvPr/>
        </p:nvSpPr>
        <p:spPr>
          <a:xfrm>
            <a:off x="3282440" y="5666647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FIRST(B)={ b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41D4A-04CC-3A5D-5C06-9BA352F74A2C}"/>
              </a:ext>
            </a:extLst>
          </p:cNvPr>
          <p:cNvSpPr/>
          <p:nvPr/>
        </p:nvSpPr>
        <p:spPr>
          <a:xfrm>
            <a:off x="4497580" y="5669914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, </a:t>
            </a:r>
            <a:r>
              <a:rPr lang="en-US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</a:t>
            </a:r>
            <a:r>
              <a:rPr lang="en-US" b="1">
                <a:solidFill>
                  <a:srgbClr val="0E47A1"/>
                </a:solidFill>
              </a:rPr>
              <a:t> 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99E04F-EBEC-AB3E-314D-614B1C2FD5D2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24973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9CFBA4E-85C8-E3D5-DE2C-2A9250A46C9E}"/>
              </a:ext>
            </a:extLst>
          </p:cNvPr>
          <p:cNvGraphicFramePr>
            <a:graphicFrameLocks noGrp="1"/>
          </p:cNvGraphicFramePr>
          <p:nvPr/>
        </p:nvGraphicFramePr>
        <p:xfrm>
          <a:off x="7437650" y="286648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a,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2E0E0C0-1B52-E34F-3600-CFED97E40A02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32372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{b,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9996CEA-DBD9-49F4-767E-9E6468C6C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980054"/>
              </p:ext>
            </p:extLst>
          </p:nvPr>
        </p:nvGraphicFramePr>
        <p:xfrm>
          <a:off x="630680" y="4636296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Curved Connector 18">
            <a:extLst>
              <a:ext uri="{FF2B5EF4-FFF2-40B4-BE49-F238E27FC236}">
                <a16:creationId xmlns:a16="http://schemas.microsoft.com/office/drawing/2014/main" id="{53D0BD36-096E-D914-1165-2994FF240B21}"/>
              </a:ext>
            </a:extLst>
          </p:cNvPr>
          <p:cNvCxnSpPr/>
          <p:nvPr/>
        </p:nvCxnSpPr>
        <p:spPr>
          <a:xfrm rot="5400000" flipH="1" flipV="1">
            <a:off x="1403212" y="4133486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9">
            <a:extLst>
              <a:ext uri="{FF2B5EF4-FFF2-40B4-BE49-F238E27FC236}">
                <a16:creationId xmlns:a16="http://schemas.microsoft.com/office/drawing/2014/main" id="{41418CB9-9810-D3D8-7535-CFAB342AA5F7}"/>
              </a:ext>
            </a:extLst>
          </p:cNvPr>
          <p:cNvCxnSpPr/>
          <p:nvPr/>
        </p:nvCxnSpPr>
        <p:spPr>
          <a:xfrm rot="16200000" flipH="1" flipV="1">
            <a:off x="1415767" y="490718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A7544DEC-D120-26D3-59D7-3BA87219DD2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A7544DEC-D120-26D3-59D7-3BA87219DD2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0BC849-DEEE-49E5-4BAC-C9C0A9188966}"/>
                  </a:ext>
                </a:extLst>
              </p:cNvPr>
              <p:cNvSpPr/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0BC849-DEEE-49E5-4BAC-C9C0A91889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5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1121259-26A7-285D-266B-FF163D5115D0}"/>
              </a:ext>
            </a:extLst>
          </p:cNvPr>
          <p:cNvGraphicFramePr>
            <a:graphicFrameLocks noGrp="1"/>
          </p:cNvGraphicFramePr>
          <p:nvPr/>
        </p:nvGraphicFramePr>
        <p:xfrm>
          <a:off x="7437648" y="360633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{c,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5EE3539-1E76-A3D0-7944-DE4121A816ED}"/>
              </a:ext>
            </a:extLst>
          </p:cNvPr>
          <p:cNvSpPr/>
          <p:nvPr/>
        </p:nvSpPr>
        <p:spPr>
          <a:xfrm>
            <a:off x="8030594" y="332110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B4D56C-241D-B0C2-2F83-E52489A7781D}"/>
              </a:ext>
            </a:extLst>
          </p:cNvPr>
          <p:cNvSpPr/>
          <p:nvPr/>
        </p:nvSpPr>
        <p:spPr>
          <a:xfrm>
            <a:off x="8030594" y="369188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9" grpId="0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B962-CEDD-B913-AF1B-C062C266FBB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A2FC-F262-A7EE-8C94-B6863EE6A0E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Step 1: Not required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E47A1"/>
                </a:solidFill>
              </a:rPr>
              <a:t>First(C)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CcS</a:t>
            </a:r>
            <a:r>
              <a:rPr lang="en-US" b="1" dirty="0">
                <a:sym typeface="Wingdings" panose="05000000000000000000" pitchFamily="2" charset="2"/>
              </a:rPr>
              <a:t> 	</a:t>
            </a:r>
            <a:r>
              <a:rPr lang="en-US" dirty="0">
                <a:sym typeface="Wingdings" panose="05000000000000000000" pitchFamily="2" charset="2"/>
              </a:rPr>
              <a:t>				C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B4F2C-5B13-3D9F-6641-0120DFD74293}"/>
              </a:ext>
            </a:extLst>
          </p:cNvPr>
          <p:cNvSpPr/>
          <p:nvPr/>
        </p:nvSpPr>
        <p:spPr>
          <a:xfrm>
            <a:off x="60190" y="927702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2ED63C-EF8C-72AD-6776-F6817ECBE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16101"/>
              </p:ext>
            </p:extLst>
          </p:nvPr>
        </p:nvGraphicFramePr>
        <p:xfrm>
          <a:off x="5405030" y="4730980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urved Connector 7">
            <a:extLst>
              <a:ext uri="{FF2B5EF4-FFF2-40B4-BE49-F238E27FC236}">
                <a16:creationId xmlns:a16="http://schemas.microsoft.com/office/drawing/2014/main" id="{21EA7585-D09D-B273-2959-93B126BFDC37}"/>
              </a:ext>
            </a:extLst>
          </p:cNvPr>
          <p:cNvCxnSpPr/>
          <p:nvPr/>
        </p:nvCxnSpPr>
        <p:spPr>
          <a:xfrm rot="5400000" flipH="1" flipV="1">
            <a:off x="6177562" y="423290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8">
            <a:extLst>
              <a:ext uri="{FF2B5EF4-FFF2-40B4-BE49-F238E27FC236}">
                <a16:creationId xmlns:a16="http://schemas.microsoft.com/office/drawing/2014/main" id="{B8355E33-0345-7DBC-3AAD-31BC8713DED6}"/>
              </a:ext>
            </a:extLst>
          </p:cNvPr>
          <p:cNvCxnSpPr/>
          <p:nvPr/>
        </p:nvCxnSpPr>
        <p:spPr>
          <a:xfrm rot="16200000" flipH="1" flipV="1">
            <a:off x="6190117" y="498596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02B50EC-0E32-9E0D-DF1E-5D7D400850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02B50EC-0E32-9E0D-DF1E-5D7D400850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8000" t="-9091" r="-200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CCC2F19-E178-F0BB-43F5-94FC16E13958}"/>
                  </a:ext>
                </a:extLst>
              </p:cNvPr>
              <p:cNvSpPr/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CCC2F19-E178-F0BB-43F5-94FC16E139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blipFill>
                <a:blip r:embed="rId3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C4D3D95-45CA-B2A2-8B9B-FECF46815559}"/>
              </a:ext>
            </a:extLst>
          </p:cNvPr>
          <p:cNvSpPr/>
          <p:nvPr/>
        </p:nvSpPr>
        <p:spPr>
          <a:xfrm>
            <a:off x="3282440" y="5666647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FIRST(B)={ c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AB576-98C4-D6CC-9961-450F61776B66}"/>
              </a:ext>
            </a:extLst>
          </p:cNvPr>
          <p:cNvSpPr/>
          <p:nvPr/>
        </p:nvSpPr>
        <p:spPr>
          <a:xfrm>
            <a:off x="4497580" y="5669914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, </a:t>
            </a:r>
            <a:r>
              <a:rPr lang="en-US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</a:t>
            </a:r>
            <a:r>
              <a:rPr lang="en-US" b="1">
                <a:solidFill>
                  <a:srgbClr val="0E47A1"/>
                </a:solidFill>
              </a:rPr>
              <a:t> 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4E61E69-95D5-8BF8-481D-F1B0AF910B03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24973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5FE690A-82DD-A53F-6D03-20A3C987C934}"/>
              </a:ext>
            </a:extLst>
          </p:cNvPr>
          <p:cNvGraphicFramePr>
            <a:graphicFrameLocks noGrp="1"/>
          </p:cNvGraphicFramePr>
          <p:nvPr/>
        </p:nvGraphicFramePr>
        <p:xfrm>
          <a:off x="7437650" y="286648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a,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684D5F5-8BC9-FF7C-4237-ED2DA2CE650A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32372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{b,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4639FA1-36D7-9ECF-5E4B-BDFCE3505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866448"/>
              </p:ext>
            </p:extLst>
          </p:nvPr>
        </p:nvGraphicFramePr>
        <p:xfrm>
          <a:off x="630680" y="4636296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Curved Connector 18">
            <a:extLst>
              <a:ext uri="{FF2B5EF4-FFF2-40B4-BE49-F238E27FC236}">
                <a16:creationId xmlns:a16="http://schemas.microsoft.com/office/drawing/2014/main" id="{04C3EBB4-66D2-8111-6578-459BCDC73C99}"/>
              </a:ext>
            </a:extLst>
          </p:cNvPr>
          <p:cNvCxnSpPr/>
          <p:nvPr/>
        </p:nvCxnSpPr>
        <p:spPr>
          <a:xfrm rot="5400000" flipH="1" flipV="1">
            <a:off x="1403212" y="4133486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9">
            <a:extLst>
              <a:ext uri="{FF2B5EF4-FFF2-40B4-BE49-F238E27FC236}">
                <a16:creationId xmlns:a16="http://schemas.microsoft.com/office/drawing/2014/main" id="{669C7F7B-CAA4-5353-E51B-31E69414E539}"/>
              </a:ext>
            </a:extLst>
          </p:cNvPr>
          <p:cNvCxnSpPr/>
          <p:nvPr/>
        </p:nvCxnSpPr>
        <p:spPr>
          <a:xfrm rot="16200000" flipH="1" flipV="1">
            <a:off x="1415767" y="490718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22528912-1526-3872-2368-DB4A81426F3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22528912-1526-3872-2368-DB4A81426F3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FD9A044-ABC7-E053-CFE0-10F5C9371103}"/>
                  </a:ext>
                </a:extLst>
              </p:cNvPr>
              <p:cNvSpPr/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FD9A044-ABC7-E053-CFE0-10F5C9371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5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C1B0F73-55FE-80F6-8C9A-295C4E1A50D0}"/>
              </a:ext>
            </a:extLst>
          </p:cNvPr>
          <p:cNvGraphicFramePr>
            <a:graphicFrameLocks noGrp="1"/>
          </p:cNvGraphicFramePr>
          <p:nvPr/>
        </p:nvGraphicFramePr>
        <p:xfrm>
          <a:off x="7437648" y="360633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{c,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93E401C-2177-67C3-1187-993A72EBBAA1}"/>
              </a:ext>
            </a:extLst>
          </p:cNvPr>
          <p:cNvSpPr/>
          <p:nvPr/>
        </p:nvSpPr>
        <p:spPr>
          <a:xfrm>
            <a:off x="8030594" y="369188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3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9" grpId="0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4D9B2CAF-3BD7-C0B5-4D33-54B5E62677D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0D50-613B-76B1-9117-C7C2280328B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2: Compute FOLLOW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</a:rPr>
              <a:t>Follow(S)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CcS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BbC</a:t>
            </a:r>
            <a:r>
              <a:rPr lang="en-US" b="1" dirty="0">
                <a:sym typeface="Wingdings" panose="05000000000000000000" pitchFamily="2" charset="2"/>
              </a:rPr>
              <a:t> 					</a:t>
            </a:r>
            <a:r>
              <a:rPr lang="en-US" b="1" dirty="0" err="1">
                <a:sym typeface="Wingdings" panose="05000000000000000000" pitchFamily="2" charset="2"/>
              </a:rPr>
              <a:t>SaB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BAFBF-F1BE-8B83-E4D3-5D56CC0123AE}"/>
              </a:ext>
            </a:extLst>
          </p:cNvPr>
          <p:cNvSpPr/>
          <p:nvPr/>
        </p:nvSpPr>
        <p:spPr>
          <a:xfrm>
            <a:off x="5227209" y="3415030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={$}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8C80CA-0CB7-F022-A4D3-C5ADDAC72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434716"/>
              </p:ext>
            </p:extLst>
          </p:nvPr>
        </p:nvGraphicFramePr>
        <p:xfrm>
          <a:off x="1317938" y="2805320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DF1AF3F-95FE-F841-29C1-9A2DD697A899}"/>
              </a:ext>
            </a:extLst>
          </p:cNvPr>
          <p:cNvSpPr/>
          <p:nvPr/>
        </p:nvSpPr>
        <p:spPr>
          <a:xfrm>
            <a:off x="3981314" y="1689619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Follow(S)={ $ }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3A16ED-4248-B1E7-78B6-96698FE00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347001"/>
              </p:ext>
            </p:extLst>
          </p:nvPr>
        </p:nvGraphicFramePr>
        <p:xfrm>
          <a:off x="10003421" y="3850993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C533FA7-7CAE-B200-F15B-A04DDD964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4375703"/>
                  </p:ext>
                </p:extLst>
              </p:nvPr>
            </p:nvGraphicFramePr>
            <p:xfrm>
              <a:off x="1317938" y="3199455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C533FA7-7CAE-B200-F15B-A04DDD964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4375703"/>
                  </p:ext>
                </p:extLst>
              </p:nvPr>
            </p:nvGraphicFramePr>
            <p:xfrm>
              <a:off x="1317938" y="3199455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677" r="-102299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98987DB-2048-2B62-54AF-21D4E2470BA0}"/>
              </a:ext>
            </a:extLst>
          </p:cNvPr>
          <p:cNvSpPr/>
          <p:nvPr/>
        </p:nvSpPr>
        <p:spPr>
          <a:xfrm>
            <a:off x="3382335" y="2819006"/>
            <a:ext cx="2270005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Follow(A)=follow(B)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1B3BC8E6-484F-3211-0FA8-8E2ECB7F11D6}"/>
              </a:ext>
            </a:extLst>
          </p:cNvPr>
          <p:cNvCxnSpPr/>
          <p:nvPr/>
        </p:nvCxnSpPr>
        <p:spPr>
          <a:xfrm rot="5400000" flipH="1" flipV="1">
            <a:off x="2372292" y="1982360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5DFF72BB-5349-85AE-386D-C9104AD31591}"/>
              </a:ext>
            </a:extLst>
          </p:cNvPr>
          <p:cNvCxnSpPr/>
          <p:nvPr/>
        </p:nvCxnSpPr>
        <p:spPr>
          <a:xfrm rot="16200000" flipH="1" flipV="1">
            <a:off x="2372292" y="2740985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63F7727-B6FF-089D-59D5-3DD4CA98ADA4}"/>
              </a:ext>
            </a:extLst>
          </p:cNvPr>
          <p:cNvSpPr/>
          <p:nvPr/>
        </p:nvSpPr>
        <p:spPr>
          <a:xfrm>
            <a:off x="3314869" y="1156452"/>
            <a:ext cx="3322376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</a:rPr>
              <a:t>Rule 1: Place $ in FOLLOW(S)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CC0F8-281A-3CC3-A215-14452FCE06D4}"/>
              </a:ext>
            </a:extLst>
          </p:cNvPr>
          <p:cNvSpPr/>
          <p:nvPr/>
        </p:nvSpPr>
        <p:spPr>
          <a:xfrm>
            <a:off x="8739169" y="2073602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D80F49-E8B1-FEF6-D7A0-B9A17FBADFDE}"/>
              </a:ext>
            </a:extLst>
          </p:cNvPr>
          <p:cNvSpPr/>
          <p:nvPr/>
        </p:nvSpPr>
        <p:spPr>
          <a:xfrm>
            <a:off x="11293138" y="428157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31F574-6FDD-AFFB-43F6-A923A8423D8B}"/>
              </a:ext>
            </a:extLst>
          </p:cNvPr>
          <p:cNvSpPr/>
          <p:nvPr/>
        </p:nvSpPr>
        <p:spPr>
          <a:xfrm>
            <a:off x="10341130" y="2022646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375A2-2AD3-8610-2A30-286409912016}"/>
              </a:ext>
            </a:extLst>
          </p:cNvPr>
          <p:cNvSpPr/>
          <p:nvPr/>
        </p:nvSpPr>
        <p:spPr>
          <a:xfrm>
            <a:off x="3456633" y="3416702"/>
            <a:ext cx="2121408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Follow(S)=Follow(C)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C4F0AC7-4516-D4A0-33B2-4347B53CD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596985"/>
              </p:ext>
            </p:extLst>
          </p:nvPr>
        </p:nvGraphicFramePr>
        <p:xfrm>
          <a:off x="847733" y="5227945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864B039E-EC1E-3D26-1FE6-66312D4EB6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0102847"/>
                  </p:ext>
                </p:extLst>
              </p:nvPr>
            </p:nvGraphicFramePr>
            <p:xfrm>
              <a:off x="847733" y="5622080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864B039E-EC1E-3D26-1FE6-66312D4EB6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0102847"/>
                  </p:ext>
                </p:extLst>
              </p:nvPr>
            </p:nvGraphicFramePr>
            <p:xfrm>
              <a:off x="847733" y="5622080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677" r="-102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FE48A846-5D32-7580-5066-59F484A9346D}"/>
              </a:ext>
            </a:extLst>
          </p:cNvPr>
          <p:cNvSpPr/>
          <p:nvPr/>
        </p:nvSpPr>
        <p:spPr>
          <a:xfrm>
            <a:off x="2912130" y="5241631"/>
            <a:ext cx="2270005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Follow(A)=follow(B)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C079D12C-2F9C-FAC0-A551-6991B2C5ADBA}"/>
              </a:ext>
            </a:extLst>
          </p:cNvPr>
          <p:cNvCxnSpPr/>
          <p:nvPr/>
        </p:nvCxnSpPr>
        <p:spPr>
          <a:xfrm rot="5400000" flipH="1" flipV="1">
            <a:off x="1902087" y="4404985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DE2BE875-B009-268C-08FC-90E51000C2E9}"/>
              </a:ext>
            </a:extLst>
          </p:cNvPr>
          <p:cNvCxnSpPr/>
          <p:nvPr/>
        </p:nvCxnSpPr>
        <p:spPr>
          <a:xfrm rot="16200000" flipH="1" flipV="1">
            <a:off x="1902087" y="5163610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1CE50C1-3396-652D-3562-A6B49B48B7E8}"/>
              </a:ext>
            </a:extLst>
          </p:cNvPr>
          <p:cNvSpPr/>
          <p:nvPr/>
        </p:nvSpPr>
        <p:spPr>
          <a:xfrm>
            <a:off x="3003513" y="5897544"/>
            <a:ext cx="2121408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Follow(C)=Follow(B)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8F1B55-5892-F066-0043-C3BAA265FE34}"/>
              </a:ext>
            </a:extLst>
          </p:cNvPr>
          <p:cNvSpPr/>
          <p:nvPr/>
        </p:nvSpPr>
        <p:spPr>
          <a:xfrm>
            <a:off x="4797142" y="5918690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={$}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7E456B4-3D29-C94A-C323-4F0719B21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910478"/>
              </p:ext>
            </p:extLst>
          </p:nvPr>
        </p:nvGraphicFramePr>
        <p:xfrm>
          <a:off x="6013892" y="5180271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DD519D2-BB99-D5FA-D63A-F51B2BD92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605185"/>
                  </p:ext>
                </p:extLst>
              </p:nvPr>
            </p:nvGraphicFramePr>
            <p:xfrm>
              <a:off x="6013892" y="5574406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DD519D2-BB99-D5FA-D63A-F51B2BD92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605185"/>
                  </p:ext>
                </p:extLst>
              </p:nvPr>
            </p:nvGraphicFramePr>
            <p:xfrm>
              <a:off x="6013892" y="5574406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677" r="-102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08364614-E8FD-7415-4DCE-BFAC32F7D93D}"/>
              </a:ext>
            </a:extLst>
          </p:cNvPr>
          <p:cNvSpPr/>
          <p:nvPr/>
        </p:nvSpPr>
        <p:spPr>
          <a:xfrm>
            <a:off x="7961559" y="5226486"/>
            <a:ext cx="2270005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Follow(A)=follow(B)</a:t>
            </a: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6AF79FBC-941E-C050-A33D-EBC4DFAC1228}"/>
              </a:ext>
            </a:extLst>
          </p:cNvPr>
          <p:cNvCxnSpPr/>
          <p:nvPr/>
        </p:nvCxnSpPr>
        <p:spPr>
          <a:xfrm rot="5400000" flipH="1" flipV="1">
            <a:off x="7068246" y="4357311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0F65BF1B-C5AD-088E-CE16-6C279E38E223}"/>
              </a:ext>
            </a:extLst>
          </p:cNvPr>
          <p:cNvCxnSpPr/>
          <p:nvPr/>
        </p:nvCxnSpPr>
        <p:spPr>
          <a:xfrm rot="16200000" flipH="1" flipV="1">
            <a:off x="7068246" y="5115936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F6C4BFA-E323-12C8-DCCC-C3F2C355AD26}"/>
              </a:ext>
            </a:extLst>
          </p:cNvPr>
          <p:cNvSpPr/>
          <p:nvPr/>
        </p:nvSpPr>
        <p:spPr>
          <a:xfrm>
            <a:off x="8084143" y="5952625"/>
            <a:ext cx="2121408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Follow(B)=Follow(S)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AD56BB-9344-392F-083C-621AAD3F5FE4}"/>
              </a:ext>
            </a:extLst>
          </p:cNvPr>
          <p:cNvSpPr/>
          <p:nvPr/>
        </p:nvSpPr>
        <p:spPr>
          <a:xfrm>
            <a:off x="9827561" y="5938895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={$}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8D93D9-5472-369C-08AD-13BEC3612103}"/>
              </a:ext>
            </a:extLst>
          </p:cNvPr>
          <p:cNvSpPr/>
          <p:nvPr/>
        </p:nvSpPr>
        <p:spPr>
          <a:xfrm>
            <a:off x="11269744" y="464990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E2A767-7CFE-A426-6A07-CBF9B3D27650}"/>
              </a:ext>
            </a:extLst>
          </p:cNvPr>
          <p:cNvSpPr/>
          <p:nvPr/>
        </p:nvSpPr>
        <p:spPr>
          <a:xfrm>
            <a:off x="11245088" y="5016683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B0E020-69DC-3317-6EB5-6559341EB466}"/>
              </a:ext>
            </a:extLst>
          </p:cNvPr>
          <p:cNvSpPr/>
          <p:nvPr/>
        </p:nvSpPr>
        <p:spPr>
          <a:xfrm>
            <a:off x="4760685" y="4547412"/>
            <a:ext cx="838200" cy="346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7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2" presetClass="exit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2" presetClass="exit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4" grpId="0" animBg="1"/>
      <p:bldP spid="16" grpId="0"/>
      <p:bldP spid="19" grpId="0"/>
      <p:bldP spid="22" grpId="0"/>
      <p:bldP spid="23" grpId="0"/>
      <p:bldP spid="26" grpId="0"/>
      <p:bldP spid="29" grpId="0"/>
      <p:bldP spid="30" grpId="0"/>
      <p:bldP spid="31" grpId="0" animBg="1"/>
      <p:bldP spid="32" grpId="0" animBg="1"/>
      <p:bldP spid="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79C9-2816-2F17-9836-FB2E0687A29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BB7E7-69F6-4130-C8F2-C216D23AA2FC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SaB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a=FIRST(aB)={ a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M[S,a]=S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aB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21C1D0-EDF6-283E-9DEB-6297D6A44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55277"/>
              </p:ext>
            </p:extLst>
          </p:nvPr>
        </p:nvGraphicFramePr>
        <p:xfrm>
          <a:off x="381000" y="2959070"/>
          <a:ext cx="36034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688A34-44B1-E8C4-56D2-AAD3CF729E11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688A34-44B1-E8C4-56D2-AAD3CF729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7909532-E9C3-DA88-E134-FA04B83FE6FE}"/>
              </a:ext>
            </a:extLst>
          </p:cNvPr>
          <p:cNvSpPr/>
          <p:nvPr/>
        </p:nvSpPr>
        <p:spPr>
          <a:xfrm>
            <a:off x="795250" y="3750425"/>
            <a:ext cx="792109" cy="295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B9CFA8-A910-81AD-2014-CAAFDC118F2E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383CD8-6E22-D980-C846-80A1D7FCFA37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C07A-2F2D-6CA3-A3B6-461D2247647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D81A-049D-EC87-3E1C-A32ACBD2155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S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b=FOLLOW(S)={ $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M[S,$]=S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 sz="20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3EAB76-1729-7D65-213B-7160A7B10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133676"/>
              </p:ext>
            </p:extLst>
          </p:nvPr>
        </p:nvGraphicFramePr>
        <p:xfrm>
          <a:off x="381000" y="2959070"/>
          <a:ext cx="36034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0FDA881-D711-99A5-A1EC-3C09630611D1}"/>
              </a:ext>
            </a:extLst>
          </p:cNvPr>
          <p:cNvSpPr/>
          <p:nvPr/>
        </p:nvSpPr>
        <p:spPr>
          <a:xfrm>
            <a:off x="3298231" y="3756907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F28C23-2817-692A-9271-58467CC11D55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EC7C92-9129-C432-6B0F-539CE18E5F3A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69DA569-CCBB-D1C8-6BF7-1DF7D9031114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69DA569-CCBB-D1C8-6BF7-1DF7D9031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84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4F4D-6A0A-F996-2654-CE813EB989A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1DD39-433A-4793-5294-75DCAC6D9A7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BbC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a=FIRST(bC)={ b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M[B,b]=B</a:t>
            </a:r>
            <a:r>
              <a:rPr lang="en-US" sz="2000">
                <a:sym typeface="Wingdings" panose="05000000000000000000" pitchFamily="2" charset="2"/>
              </a:rPr>
              <a:t>bC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332A20-230F-0757-9818-3C980D151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764383"/>
              </p:ext>
            </p:extLst>
          </p:nvPr>
        </p:nvGraphicFramePr>
        <p:xfrm>
          <a:off x="381000" y="2959070"/>
          <a:ext cx="36034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bC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4DD844E-B0D9-DBE8-19FA-20202746511B}"/>
              </a:ext>
            </a:extLst>
          </p:cNvPr>
          <p:cNvSpPr/>
          <p:nvPr/>
        </p:nvSpPr>
        <p:spPr>
          <a:xfrm>
            <a:off x="1681568" y="4144073"/>
            <a:ext cx="750735" cy="254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43B6C-A2DB-D234-E4DB-E1B7A34A6C9F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30CBB9-91E8-FF19-A6FD-D89E99014733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726323-0ECD-7459-CDE0-4E4A37F16DD4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726323-0ECD-7459-CDE0-4E4A37F16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56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0F32-7158-6BB2-011F-43680702DA4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0F25-0373-CDE6-0A0D-A00B089060DE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B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b=FOLLOW(B)={ $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M[B,$]=B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 sz="20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A557E2-4979-4C56-12C5-E04A0DC86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44935"/>
              </p:ext>
            </p:extLst>
          </p:nvPr>
        </p:nvGraphicFramePr>
        <p:xfrm>
          <a:off x="381000" y="2959070"/>
          <a:ext cx="36034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bC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B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53CD86C-BFF8-B4B0-04F7-42EA522070CC}"/>
              </a:ext>
            </a:extLst>
          </p:cNvPr>
          <p:cNvSpPr/>
          <p:nvPr/>
        </p:nvSpPr>
        <p:spPr>
          <a:xfrm>
            <a:off x="3284652" y="4158130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1A487-B97F-CBD2-3726-F05A3542822F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E4DF61-AB25-3D4A-1677-1FEC5E927C4F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81D9746-C4CA-5437-CC9C-758007009927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81D9746-C4CA-5437-CC9C-758007009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92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E9A8-605D-78EF-A2FA-29012C89B6B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1370-92AF-3800-6761-0BDF7102700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CcS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a=FIRST(cS)={ c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M[C,c]=C</a:t>
            </a:r>
            <a:r>
              <a:rPr lang="en-US" sz="2000">
                <a:sym typeface="Wingdings" panose="05000000000000000000" pitchFamily="2" charset="2"/>
              </a:rPr>
              <a:t>cS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0265F3-2E3F-F476-3F99-4AD6D692C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232911"/>
              </p:ext>
            </p:extLst>
          </p:nvPr>
        </p:nvGraphicFramePr>
        <p:xfrm>
          <a:off x="381000" y="2959070"/>
          <a:ext cx="3660351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bC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B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cS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F05E9C8-3D50-6A28-6CA0-C51788B6DCF4}"/>
              </a:ext>
            </a:extLst>
          </p:cNvPr>
          <p:cNvSpPr/>
          <p:nvPr/>
        </p:nvSpPr>
        <p:spPr>
          <a:xfrm>
            <a:off x="2522816" y="4491545"/>
            <a:ext cx="750735" cy="254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9F93D-564F-5A88-BB9B-9A351C9415DF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8D1768-8265-B5BA-8612-388624454823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A4FE25-7C30-616C-81CD-7280EE40278C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A4FE25-7C30-616C-81CD-7280EE402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11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9D61-ED82-1631-7BE1-09B801D62E5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672E5-6F43-8EBF-0E6E-2EECF3AE644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C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b=FOLLOW(C)={ $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M[C,$]=C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 sz="20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44D103-FF83-EE9D-76DB-6A42D0ACA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137917"/>
              </p:ext>
            </p:extLst>
          </p:nvPr>
        </p:nvGraphicFramePr>
        <p:xfrm>
          <a:off x="381000" y="2959070"/>
          <a:ext cx="3660351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B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cS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910053A-5548-7873-FD97-BE1DF82539C1}"/>
              </a:ext>
            </a:extLst>
          </p:cNvPr>
          <p:cNvSpPr/>
          <p:nvPr/>
        </p:nvSpPr>
        <p:spPr>
          <a:xfrm>
            <a:off x="3356396" y="4473665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69F622-7C23-746C-45AD-CAAB9E6A3A90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AC97A4-876B-728D-2D9B-4AC08A0023B9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D6E412-2CC8-71BC-01E1-9E87B8B0344D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D6E412-2CC8-71BC-01E1-9E87B8B034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7FD14E86-9EE1-8C47-6067-D89FB4790808}"/>
              </a:ext>
            </a:extLst>
          </p:cNvPr>
          <p:cNvSpPr/>
          <p:nvPr/>
        </p:nvSpPr>
        <p:spPr>
          <a:xfrm>
            <a:off x="1727091" y="3743799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7AB313-CADA-B226-D544-E996E8B1DEA1}"/>
              </a:ext>
            </a:extLst>
          </p:cNvPr>
          <p:cNvSpPr/>
          <p:nvPr/>
        </p:nvSpPr>
        <p:spPr>
          <a:xfrm>
            <a:off x="2560827" y="3747325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3B7B1-E7E1-95B4-32AE-3264D4070219}"/>
              </a:ext>
            </a:extLst>
          </p:cNvPr>
          <p:cNvSpPr/>
          <p:nvPr/>
        </p:nvSpPr>
        <p:spPr>
          <a:xfrm>
            <a:off x="2560827" y="4131373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B8E3F1-FDE4-3A90-FD8E-A9E4EDE94259}"/>
              </a:ext>
            </a:extLst>
          </p:cNvPr>
          <p:cNvSpPr/>
          <p:nvPr/>
        </p:nvSpPr>
        <p:spPr>
          <a:xfrm>
            <a:off x="837224" y="4111401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6F1F66-AD01-2AE4-3C32-07D065441F48}"/>
              </a:ext>
            </a:extLst>
          </p:cNvPr>
          <p:cNvSpPr/>
          <p:nvPr/>
        </p:nvSpPr>
        <p:spPr>
          <a:xfrm>
            <a:off x="838323" y="4462335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40CC9-7F9E-837D-115A-61E2AD01F374}"/>
              </a:ext>
            </a:extLst>
          </p:cNvPr>
          <p:cNvSpPr/>
          <p:nvPr/>
        </p:nvSpPr>
        <p:spPr>
          <a:xfrm>
            <a:off x="1686916" y="4495479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8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00FD-373D-9CC1-5F7D-470F49E61AD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17855-9432-1356-B609-734D2DFD14B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</a:t>
            </a:r>
            <a:r>
              <a:rPr lang="en-US" sz="200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E+T | 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T</a:t>
            </a:r>
            <a:r>
              <a:rPr lang="en-US" sz="200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T*F | 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</a:t>
            </a:r>
            <a:r>
              <a:rPr lang="en-US" sz="200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(E) | id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1: Remove left recursion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E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E’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+TE’ | 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T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FT’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*FT’ | 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F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(E) | id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2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F6CC-BD5E-2376-3816-637C5F03B41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307BE-6B86-5879-138F-27F6C968208B}"/>
              </a:ext>
            </a:extLst>
          </p:cNvPr>
          <p:cNvSpPr txBox="1">
            <a:spLocks/>
          </p:cNvSpPr>
          <p:nvPr/>
        </p:nvSpPr>
        <p:spPr>
          <a:xfrm>
            <a:off x="131179" y="841521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E</a:t>
            </a:r>
            <a:r>
              <a:rPr lang="en-US" b="1">
                <a:sym typeface="Wingdings" panose="05000000000000000000" pitchFamily="2" charset="2"/>
              </a:rPr>
              <a:t>TE’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TFT’</a:t>
            </a: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First(F)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F(E) 	</a:t>
            </a:r>
            <a:r>
              <a:rPr lang="en-US">
                <a:sym typeface="Wingdings" panose="05000000000000000000" pitchFamily="2" charset="2"/>
              </a:rPr>
              <a:t>				</a:t>
            </a:r>
            <a:r>
              <a:rPr lang="en-US" b="1">
                <a:sym typeface="Wingdings" panose="05000000000000000000" pitchFamily="2" charset="2"/>
              </a:rPr>
              <a:t>Fid</a:t>
            </a: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1DB83-D5DD-C744-8066-2E2CCF651640}"/>
              </a:ext>
            </a:extLst>
          </p:cNvPr>
          <p:cNvSpPr/>
          <p:nvPr/>
        </p:nvSpPr>
        <p:spPr>
          <a:xfrm>
            <a:off x="10410971" y="977929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  <a:latin typeface="+mj-lt"/>
              </a:rPr>
              <a:t>E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E’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F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(E) | id</a:t>
            </a:r>
          </a:p>
          <a:p>
            <a:endParaRPr lang="en-US" b="1">
              <a:solidFill>
                <a:srgbClr val="0E47A1"/>
              </a:solidFill>
              <a:latin typeface="+mj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6D6B52-6E35-D38E-16B5-3B19EF0A6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503579"/>
              </p:ext>
            </p:extLst>
          </p:nvPr>
        </p:nvGraphicFramePr>
        <p:xfrm>
          <a:off x="2660199" y="1484252"/>
          <a:ext cx="211696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29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68DD66-0E9E-3CA2-8634-8E1AC66C8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516169"/>
              </p:ext>
            </p:extLst>
          </p:nvPr>
        </p:nvGraphicFramePr>
        <p:xfrm>
          <a:off x="2660199" y="1855092"/>
          <a:ext cx="211696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29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Y</a:t>
                      </a:r>
                      <a:r>
                        <a:rPr lang="en-US" baseline="-2500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  <a:r>
                        <a:rPr lang="en-US" baseline="-2500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9174B-B47B-6BFC-CD08-6BB781FDFD52}"/>
              </a:ext>
            </a:extLst>
          </p:cNvPr>
          <p:cNvSpPr/>
          <p:nvPr/>
        </p:nvSpPr>
        <p:spPr>
          <a:xfrm>
            <a:off x="4863275" y="1496167"/>
            <a:ext cx="1905000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+mj-lt"/>
              </a:rPr>
              <a:t>Rule 3</a:t>
            </a:r>
          </a:p>
          <a:p>
            <a:pPr algn="ctr"/>
            <a:r>
              <a:rPr lang="en-US">
                <a:solidFill>
                  <a:srgbClr val="C00000"/>
                </a:solidFill>
                <a:latin typeface="+mj-lt"/>
              </a:rPr>
              <a:t>First(A)=First(Y1)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ADEABE-A24B-35AA-B80D-F09CE9A29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505859"/>
              </p:ext>
            </p:extLst>
          </p:nvPr>
        </p:nvGraphicFramePr>
        <p:xfrm>
          <a:off x="2657856" y="3451384"/>
          <a:ext cx="211931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29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2B7FE4-B2C1-BF61-27B4-96B5FC278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87847"/>
              </p:ext>
            </p:extLst>
          </p:nvPr>
        </p:nvGraphicFramePr>
        <p:xfrm>
          <a:off x="2657856" y="3822224"/>
          <a:ext cx="211931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29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Y</a:t>
                      </a:r>
                      <a:r>
                        <a:rPr lang="en-US" baseline="-2500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  <a:r>
                        <a:rPr lang="en-US" baseline="-2500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D0353FB-6415-AA4E-48CA-5CCC9A0BFD77}"/>
              </a:ext>
            </a:extLst>
          </p:cNvPr>
          <p:cNvSpPr/>
          <p:nvPr/>
        </p:nvSpPr>
        <p:spPr>
          <a:xfrm>
            <a:off x="4889271" y="3451384"/>
            <a:ext cx="1905000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+mj-lt"/>
              </a:rPr>
              <a:t>Rule 3</a:t>
            </a:r>
          </a:p>
          <a:p>
            <a:pPr algn="ctr"/>
            <a:r>
              <a:rPr lang="en-US">
                <a:solidFill>
                  <a:srgbClr val="C00000"/>
                </a:solidFill>
                <a:latin typeface="+mj-lt"/>
              </a:rPr>
              <a:t>First(A)=First(Y1)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190CC3-2AFF-A239-6D75-62E4C8391A2D}"/>
              </a:ext>
            </a:extLst>
          </p:cNvPr>
          <p:cNvSpPr/>
          <p:nvPr/>
        </p:nvSpPr>
        <p:spPr>
          <a:xfrm>
            <a:off x="3427790" y="2199356"/>
            <a:ext cx="2729751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FIRST(E)=FIRST(T)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A3E5C4-9CAA-EDD4-857B-D16E4A2CDD85}"/>
              </a:ext>
            </a:extLst>
          </p:cNvPr>
          <p:cNvSpPr/>
          <p:nvPr/>
        </p:nvSpPr>
        <p:spPr>
          <a:xfrm>
            <a:off x="3391602" y="4150357"/>
            <a:ext cx="2729751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FIRST(T)=FIRST(F)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B163D63F-3E7E-7994-18AB-ED7C2A4C35F3}"/>
              </a:ext>
            </a:extLst>
          </p:cNvPr>
          <p:cNvCxnSpPr/>
          <p:nvPr/>
        </p:nvCxnSpPr>
        <p:spPr>
          <a:xfrm rot="5400000" flipH="1" flipV="1">
            <a:off x="3352049" y="96954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573BBED1-39B8-C37E-4399-53B1413F2EA9}"/>
              </a:ext>
            </a:extLst>
          </p:cNvPr>
          <p:cNvCxnSpPr/>
          <p:nvPr/>
        </p:nvCxnSpPr>
        <p:spPr>
          <a:xfrm rot="16200000" flipH="1" flipV="1">
            <a:off x="3351157" y="171172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1F35AD1E-060B-F594-A90E-65D0F048EBEA}"/>
              </a:ext>
            </a:extLst>
          </p:cNvPr>
          <p:cNvCxnSpPr/>
          <p:nvPr/>
        </p:nvCxnSpPr>
        <p:spPr>
          <a:xfrm rot="5400000" flipH="1" flipV="1">
            <a:off x="3329638" y="2940476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4223183E-8CA5-E85C-0A90-F10256BA4AF4}"/>
              </a:ext>
            </a:extLst>
          </p:cNvPr>
          <p:cNvCxnSpPr/>
          <p:nvPr/>
        </p:nvCxnSpPr>
        <p:spPr>
          <a:xfrm rot="16200000" flipH="1" flipV="1">
            <a:off x="3328746" y="368264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71AFC6D-55DA-1828-F86E-6DEDA5D66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48270"/>
              </p:ext>
            </p:extLst>
          </p:nvPr>
        </p:nvGraphicFramePr>
        <p:xfrm>
          <a:off x="1204655" y="5148387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31B76189-A710-6838-6237-A113BD2726A6}"/>
              </a:ext>
            </a:extLst>
          </p:cNvPr>
          <p:cNvCxnSpPr/>
          <p:nvPr/>
        </p:nvCxnSpPr>
        <p:spPr>
          <a:xfrm rot="5400000" flipH="1" flipV="1">
            <a:off x="1977187" y="465030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803699F2-2528-E941-D197-6944CD8A9C50}"/>
              </a:ext>
            </a:extLst>
          </p:cNvPr>
          <p:cNvCxnSpPr/>
          <p:nvPr/>
        </p:nvCxnSpPr>
        <p:spPr>
          <a:xfrm rot="16200000" flipH="1" flipV="1">
            <a:off x="1989742" y="540337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0637EFBF-FE2A-5863-7DC9-4E7D0CFB2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577421"/>
                  </p:ext>
                </p:extLst>
              </p:nvPr>
            </p:nvGraphicFramePr>
            <p:xfrm>
              <a:off x="1204655" y="5525673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0637EFBF-FE2A-5863-7DC9-4E7D0CFB2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577421"/>
                  </p:ext>
                </p:extLst>
              </p:nvPr>
            </p:nvGraphicFramePr>
            <p:xfrm>
              <a:off x="1204655" y="5525673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2734BCE-AC7D-BC54-7C38-C9F95F3D0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39618"/>
              </p:ext>
            </p:extLst>
          </p:nvPr>
        </p:nvGraphicFramePr>
        <p:xfrm>
          <a:off x="5738856" y="5137372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DFB9DF37-507C-5180-15F2-144CB36DD743}"/>
              </a:ext>
            </a:extLst>
          </p:cNvPr>
          <p:cNvCxnSpPr/>
          <p:nvPr/>
        </p:nvCxnSpPr>
        <p:spPr>
          <a:xfrm rot="5400000" flipH="1" flipV="1">
            <a:off x="6511388" y="4639294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83D2D2A0-48C0-E686-ED5B-C4334BC24998}"/>
              </a:ext>
            </a:extLst>
          </p:cNvPr>
          <p:cNvCxnSpPr/>
          <p:nvPr/>
        </p:nvCxnSpPr>
        <p:spPr>
          <a:xfrm rot="16200000" flipH="1" flipV="1">
            <a:off x="6523943" y="539235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7D7D92C6-74AB-E429-AE7C-A95E9D013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15660"/>
                  </p:ext>
                </p:extLst>
              </p:nvPr>
            </p:nvGraphicFramePr>
            <p:xfrm>
              <a:off x="5738856" y="5507611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7D7D92C6-74AB-E429-AE7C-A95E9D013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15660"/>
                  </p:ext>
                </p:extLst>
              </p:nvPr>
            </p:nvGraphicFramePr>
            <p:xfrm>
              <a:off x="5738856" y="5507611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000" t="-9091" r="-2000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29E92ED-543A-0C66-FFBE-37FB078D31C4}"/>
                  </a:ext>
                </a:extLst>
              </p:cNvPr>
              <p:cNvSpPr/>
              <p:nvPr/>
            </p:nvSpPr>
            <p:spPr>
              <a:xfrm>
                <a:off x="2754000" y="5487619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29E92ED-543A-0C66-FFBE-37FB078D3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000" y="5487619"/>
                <a:ext cx="2116570" cy="741680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6F7A902-65E0-839C-4FA5-41CA4579DC0C}"/>
                  </a:ext>
                </a:extLst>
              </p:cNvPr>
              <p:cNvSpPr/>
              <p:nvPr/>
            </p:nvSpPr>
            <p:spPr>
              <a:xfrm>
                <a:off x="6966353" y="5535215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6F7A902-65E0-839C-4FA5-41CA4579DC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53" y="5535215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5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4C42C18A-B2C2-46D7-99A5-1BE61E500A3F}"/>
              </a:ext>
            </a:extLst>
          </p:cNvPr>
          <p:cNvSpPr/>
          <p:nvPr/>
        </p:nvSpPr>
        <p:spPr>
          <a:xfrm>
            <a:off x="3616266" y="6073039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FIRST(F)={ (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6FA7E5-FD39-B18C-5BE3-253CE6708DB5}"/>
              </a:ext>
            </a:extLst>
          </p:cNvPr>
          <p:cNvSpPr/>
          <p:nvPr/>
        </p:nvSpPr>
        <p:spPr>
          <a:xfrm>
            <a:off x="4831406" y="6076306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 , id }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653DC91-F070-AF5F-FB9A-A6B4B35FB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887416"/>
              </p:ext>
            </p:extLst>
          </p:nvPr>
        </p:nvGraphicFramePr>
        <p:xfrm>
          <a:off x="10394442" y="280895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94DBF5A-B452-3683-02BD-A2C0E5FCD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318837"/>
              </p:ext>
            </p:extLst>
          </p:nvPr>
        </p:nvGraphicFramePr>
        <p:xfrm>
          <a:off x="10394443" y="317808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81CB705-2E19-FECE-CA4A-AF8EB9E5D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710726"/>
              </p:ext>
            </p:extLst>
          </p:nvPr>
        </p:nvGraphicFramePr>
        <p:xfrm>
          <a:off x="10394442" y="35488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3F5CB06-B701-FC20-68FD-5DB069AE0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938840"/>
              </p:ext>
            </p:extLst>
          </p:nvPr>
        </p:nvGraphicFramePr>
        <p:xfrm>
          <a:off x="10394443" y="392159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031CECC-A6E0-CA49-19DE-6EB48DBF2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58437"/>
              </p:ext>
            </p:extLst>
          </p:nvPr>
        </p:nvGraphicFramePr>
        <p:xfrm>
          <a:off x="10394442" y="42887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855F4C29-D728-70BC-D4AE-FB5016BC4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86382"/>
              </p:ext>
            </p:extLst>
          </p:nvPr>
        </p:nvGraphicFramePr>
        <p:xfrm>
          <a:off x="10394443" y="4665091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16AA66AC-B5AF-2017-2D96-549B8C910294}"/>
              </a:ext>
            </a:extLst>
          </p:cNvPr>
          <p:cNvSpPr/>
          <p:nvPr/>
        </p:nvSpPr>
        <p:spPr>
          <a:xfrm>
            <a:off x="11012000" y="4731021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BEF8CF-7B39-FC3A-03AC-61C779EDCE88}"/>
              </a:ext>
            </a:extLst>
          </p:cNvPr>
          <p:cNvSpPr/>
          <p:nvPr/>
        </p:nvSpPr>
        <p:spPr>
          <a:xfrm>
            <a:off x="11038413" y="3982456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C4F1B0-CC43-84AF-CE68-6537E6F47501}"/>
              </a:ext>
            </a:extLst>
          </p:cNvPr>
          <p:cNvSpPr/>
          <p:nvPr/>
        </p:nvSpPr>
        <p:spPr>
          <a:xfrm>
            <a:off x="11018236" y="3238360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C4D656-764E-F326-ED6C-9CE258EA18DC}"/>
              </a:ext>
            </a:extLst>
          </p:cNvPr>
          <p:cNvSpPr/>
          <p:nvPr/>
        </p:nvSpPr>
        <p:spPr>
          <a:xfrm>
            <a:off x="5368422" y="4243714"/>
            <a:ext cx="121462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= {(, id }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4657EA-A2EA-4653-E65A-1D3A7121B7EB}"/>
              </a:ext>
            </a:extLst>
          </p:cNvPr>
          <p:cNvSpPr/>
          <p:nvPr/>
        </p:nvSpPr>
        <p:spPr>
          <a:xfrm>
            <a:off x="5418583" y="2295421"/>
            <a:ext cx="121462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= {(, id }</a:t>
            </a:r>
          </a:p>
        </p:txBody>
      </p:sp>
    </p:spTree>
    <p:extLst>
      <p:ext uri="{BB962C8B-B14F-4D97-AF65-F5344CB8AC3E}">
        <p14:creationId xmlns:p14="http://schemas.microsoft.com/office/powerpoint/2010/main" val="342522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25" grpId="0"/>
      <p:bldP spid="26" grpId="0"/>
      <p:bldP spid="27" grpId="0"/>
      <p:bldP spid="28" grpId="0"/>
      <p:bldP spid="35" grpId="0" animBg="1"/>
      <p:bldP spid="36" grpId="0" animBg="1"/>
      <p:bldP spid="37" grpId="0" animBg="1"/>
      <p:bldP spid="38" grpId="0"/>
      <p:bldP spid="3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9FE7-BC28-3E3B-B94F-C7C5BD33CB6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ADE91-F913-7D6B-47C2-AC0AFC4C132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First(E’)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E’</a:t>
            </a:r>
            <a:r>
              <a:rPr lang="en-US" b="1">
                <a:sym typeface="Wingdings" panose="05000000000000000000" pitchFamily="2" charset="2"/>
              </a:rPr>
              <a:t>+TE’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E’</a:t>
            </a:r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/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FE0838C3-A811-DEFA-9DC3-8A894312CDB9}"/>
              </a:ext>
            </a:extLst>
          </p:cNvPr>
          <p:cNvCxnSpPr/>
          <p:nvPr/>
        </p:nvCxnSpPr>
        <p:spPr>
          <a:xfrm rot="5400000" flipH="1" flipV="1">
            <a:off x="3272136" y="194788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4DB17CEC-8BAD-E1B7-7B94-3F49932EF37D}"/>
              </a:ext>
            </a:extLst>
          </p:cNvPr>
          <p:cNvCxnSpPr/>
          <p:nvPr/>
        </p:nvCxnSpPr>
        <p:spPr>
          <a:xfrm rot="16200000" flipH="1" flipV="1">
            <a:off x="3284691" y="270094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CE10F45-AC7E-0618-C009-6F279CB1B0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9604" y="281680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solidFill>
                              <a:srgbClr val="C00000"/>
                            </a:solidFill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CE10F45-AC7E-0618-C009-6F279CB1B0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9604" y="281680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448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45560AB-0D8E-40DB-FF71-568270B69B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490250"/>
              <a:ext cx="1591056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800" b="1" i="1" kern="120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45560AB-0D8E-40DB-FF71-568270B69B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490250"/>
              <a:ext cx="1591056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677" r="-2299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B29653D2-9668-ED55-2E37-AB2F3DF45D50}"/>
              </a:ext>
            </a:extLst>
          </p:cNvPr>
          <p:cNvCxnSpPr/>
          <p:nvPr/>
        </p:nvCxnSpPr>
        <p:spPr>
          <a:xfrm rot="5400000" flipH="1" flipV="1">
            <a:off x="3256332" y="399217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74A41343-252D-669C-C15D-E5950E7148BC}"/>
              </a:ext>
            </a:extLst>
          </p:cNvPr>
          <p:cNvCxnSpPr/>
          <p:nvPr/>
        </p:nvCxnSpPr>
        <p:spPr>
          <a:xfrm rot="16200000" flipH="1" flipV="1">
            <a:off x="3268887" y="474523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F295C51-BC90-A37C-FB08-227EDB4125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860489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solidFill>
                              <a:srgbClr val="C00000"/>
                            </a:solidFill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F295C51-BC90-A37C-FB08-227EDB4125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860489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5D9EEA-7376-3D4E-1FE8-33217F9C608D}"/>
                  </a:ext>
                </a:extLst>
              </p:cNvPr>
              <p:cNvSpPr/>
              <p:nvPr/>
            </p:nvSpPr>
            <p:spPr>
              <a:xfrm>
                <a:off x="5189422" y="2374086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5D9EEA-7376-3D4E-1FE8-33217F9C6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422" y="2374086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2E7478-6C95-8885-5447-83B728C27539}"/>
                  </a:ext>
                </a:extLst>
              </p:cNvPr>
              <p:cNvSpPr/>
              <p:nvPr/>
            </p:nvSpPr>
            <p:spPr>
              <a:xfrm>
                <a:off x="4131137" y="4469762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2E7478-6C95-8885-5447-83B728C275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137" y="4469762"/>
                <a:ext cx="2116570" cy="741680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18B59C7-D285-0B25-90F2-E4A68985829C}"/>
              </a:ext>
            </a:extLst>
          </p:cNvPr>
          <p:cNvSpPr/>
          <p:nvPr/>
        </p:nvSpPr>
        <p:spPr>
          <a:xfrm>
            <a:off x="3276600" y="5964517"/>
            <a:ext cx="17526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FIRST(E’)={ 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DE748A-723D-A30A-4121-EAD2D9D6D004}"/>
              </a:ext>
            </a:extLst>
          </p:cNvPr>
          <p:cNvSpPr/>
          <p:nvPr/>
        </p:nvSpPr>
        <p:spPr>
          <a:xfrm>
            <a:off x="4716543" y="5858563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, </a:t>
            </a:r>
            <a:r>
              <a:rPr lang="en-US" sz="2200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 </a:t>
            </a:r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6185604-FB8A-CAB6-8FB1-454F84B1042E}"/>
              </a:ext>
            </a:extLst>
          </p:cNvPr>
          <p:cNvGraphicFramePr>
            <a:graphicFrameLocks noGrp="1"/>
          </p:cNvGraphicFramePr>
          <p:nvPr/>
        </p:nvGraphicFramePr>
        <p:xfrm>
          <a:off x="2499605" y="2445206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2EB33B-9001-7BDB-0E31-27FEB1EB2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203825"/>
              </p:ext>
            </p:extLst>
          </p:nvPr>
        </p:nvGraphicFramePr>
        <p:xfrm>
          <a:off x="10394442" y="280895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7C8782A-3F68-4574-044F-F72B54E7F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152618"/>
              </p:ext>
            </p:extLst>
          </p:nvPr>
        </p:nvGraphicFramePr>
        <p:xfrm>
          <a:off x="10394443" y="317808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EBF861E-371C-040E-8ECD-3AFA81916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123969"/>
              </p:ext>
            </p:extLst>
          </p:nvPr>
        </p:nvGraphicFramePr>
        <p:xfrm>
          <a:off x="10394442" y="35488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77397B6-44DB-B91C-0C62-CFAC4EFEB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776585"/>
              </p:ext>
            </p:extLst>
          </p:nvPr>
        </p:nvGraphicFramePr>
        <p:xfrm>
          <a:off x="10394443" y="392159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7F6F819-F113-1C6A-ECD4-06673EC52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634362"/>
              </p:ext>
            </p:extLst>
          </p:nvPr>
        </p:nvGraphicFramePr>
        <p:xfrm>
          <a:off x="10394442" y="42887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76C3EDC-DD4D-A510-D350-0BEF2F9D2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911519"/>
              </p:ext>
            </p:extLst>
          </p:nvPr>
        </p:nvGraphicFramePr>
        <p:xfrm>
          <a:off x="10394443" y="4665091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27A1D7B5-9482-84E0-4911-A1C5082A42BA}"/>
              </a:ext>
            </a:extLst>
          </p:cNvPr>
          <p:cNvSpPr/>
          <p:nvPr/>
        </p:nvSpPr>
        <p:spPr>
          <a:xfrm>
            <a:off x="10410971" y="977929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  <a:latin typeface="+mj-lt"/>
              </a:rPr>
              <a:t>E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E’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F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(E) | id</a:t>
            </a:r>
          </a:p>
          <a:p>
            <a:endParaRPr lang="en-US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D15A6D-0588-5CCB-1C41-F4D891535397}"/>
              </a:ext>
            </a:extLst>
          </p:cNvPr>
          <p:cNvSpPr/>
          <p:nvPr/>
        </p:nvSpPr>
        <p:spPr>
          <a:xfrm>
            <a:off x="11029994" y="3626523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8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B47A-F2A2-0877-441F-035AA6083C8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B41C-8C72-4F75-63E8-1A609F1A989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First(T’)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T’</a:t>
            </a:r>
            <a:r>
              <a:rPr lang="en-US" b="1">
                <a:sym typeface="Wingdings" panose="05000000000000000000" pitchFamily="2" charset="2"/>
              </a:rPr>
              <a:t>*FT’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T’</a:t>
            </a:r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ABEC9B36-1819-F4C6-F1B9-F91370AECAF2}"/>
              </a:ext>
            </a:extLst>
          </p:cNvPr>
          <p:cNvCxnSpPr/>
          <p:nvPr/>
        </p:nvCxnSpPr>
        <p:spPr>
          <a:xfrm rot="5400000" flipH="1" flipV="1">
            <a:off x="3272136" y="194788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028A3D9C-217C-A8E2-22AD-1A74584FA100}"/>
              </a:ext>
            </a:extLst>
          </p:cNvPr>
          <p:cNvCxnSpPr/>
          <p:nvPr/>
        </p:nvCxnSpPr>
        <p:spPr>
          <a:xfrm rot="16200000" flipH="1" flipV="1">
            <a:off x="3284691" y="270094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B138A3-5AB0-5BAE-882B-DC1799D7B2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9604" y="281680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solidFill>
                              <a:srgbClr val="C00000"/>
                            </a:solidFill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B138A3-5AB0-5BAE-882B-DC1799D7B2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9604" y="281680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448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37D91F6-0760-4165-0A94-303062B6EA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079757"/>
                  </p:ext>
                </p:extLst>
              </p:nvPr>
            </p:nvGraphicFramePr>
            <p:xfrm>
              <a:off x="2483800" y="4490250"/>
              <a:ext cx="1591056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800" b="1" i="1" kern="120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37D91F6-0760-4165-0A94-303062B6EA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079757"/>
                  </p:ext>
                </p:extLst>
              </p:nvPr>
            </p:nvGraphicFramePr>
            <p:xfrm>
              <a:off x="2483800" y="4490250"/>
              <a:ext cx="1591056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677" r="-2299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84192CAA-27D1-638E-F36C-9CF6A0826243}"/>
              </a:ext>
            </a:extLst>
          </p:cNvPr>
          <p:cNvCxnSpPr/>
          <p:nvPr/>
        </p:nvCxnSpPr>
        <p:spPr>
          <a:xfrm rot="5400000" flipH="1" flipV="1">
            <a:off x="3256332" y="399217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4D21D0F7-F45E-5BB9-61AE-B111C42AFF7D}"/>
              </a:ext>
            </a:extLst>
          </p:cNvPr>
          <p:cNvCxnSpPr/>
          <p:nvPr/>
        </p:nvCxnSpPr>
        <p:spPr>
          <a:xfrm rot="16200000" flipH="1" flipV="1">
            <a:off x="3268887" y="474523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A3AB60F-A263-586F-D922-35ED79E109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860489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solidFill>
                              <a:srgbClr val="C00000"/>
                            </a:solidFill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A3AB60F-A263-586F-D922-35ED79E109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860489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85F7A8-05A0-5D42-82FD-F961B661B1B9}"/>
                  </a:ext>
                </a:extLst>
              </p:cNvPr>
              <p:cNvSpPr/>
              <p:nvPr/>
            </p:nvSpPr>
            <p:spPr>
              <a:xfrm>
                <a:off x="5189422" y="2374086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85F7A8-05A0-5D42-82FD-F961B661B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422" y="2374086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1982A2-C8C6-80DA-5AE5-873179AD75DE}"/>
                  </a:ext>
                </a:extLst>
              </p:cNvPr>
              <p:cNvSpPr/>
              <p:nvPr/>
            </p:nvSpPr>
            <p:spPr>
              <a:xfrm>
                <a:off x="4131137" y="4469762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1982A2-C8C6-80DA-5AE5-873179AD75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137" y="4469762"/>
                <a:ext cx="2116570" cy="741680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4536710-482F-4D09-6183-43763A83ACB1}"/>
              </a:ext>
            </a:extLst>
          </p:cNvPr>
          <p:cNvSpPr/>
          <p:nvPr/>
        </p:nvSpPr>
        <p:spPr>
          <a:xfrm>
            <a:off x="3276600" y="5964517"/>
            <a:ext cx="17526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FIRST(T’)={ 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18B1C8-8865-A300-5EED-67AAF33A3C45}"/>
              </a:ext>
            </a:extLst>
          </p:cNvPr>
          <p:cNvSpPr/>
          <p:nvPr/>
        </p:nvSpPr>
        <p:spPr>
          <a:xfrm>
            <a:off x="4716543" y="5858563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, </a:t>
            </a:r>
            <a:r>
              <a:rPr lang="en-US" sz="2200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 </a:t>
            </a:r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23F67D3-6888-40FF-7F63-9905F8CD8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489932"/>
              </p:ext>
            </p:extLst>
          </p:nvPr>
        </p:nvGraphicFramePr>
        <p:xfrm>
          <a:off x="2499605" y="2445206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BBF1830-A60E-1CC9-70D2-C057E1556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234965"/>
              </p:ext>
            </p:extLst>
          </p:nvPr>
        </p:nvGraphicFramePr>
        <p:xfrm>
          <a:off x="10394442" y="280895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BA000F7-00A8-4618-E443-DECBB8B36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080794"/>
              </p:ext>
            </p:extLst>
          </p:nvPr>
        </p:nvGraphicFramePr>
        <p:xfrm>
          <a:off x="10394443" y="317808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15550C2-0FC4-B74C-B5C1-096400CF7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62338"/>
              </p:ext>
            </p:extLst>
          </p:nvPr>
        </p:nvGraphicFramePr>
        <p:xfrm>
          <a:off x="10394442" y="35488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E815116-65CE-8A20-91F3-EFD4C8979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851266"/>
              </p:ext>
            </p:extLst>
          </p:nvPr>
        </p:nvGraphicFramePr>
        <p:xfrm>
          <a:off x="10394443" y="392159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421B9DF-59B2-749C-6799-B38F8F4A1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76610"/>
              </p:ext>
            </p:extLst>
          </p:nvPr>
        </p:nvGraphicFramePr>
        <p:xfrm>
          <a:off x="10394442" y="42887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/>
                        <a:t>{ *,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23AE981-9D4B-6CA4-4FFE-511AF2239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88681"/>
              </p:ext>
            </p:extLst>
          </p:nvPr>
        </p:nvGraphicFramePr>
        <p:xfrm>
          <a:off x="10394443" y="4665091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52CCED7-A6DA-F6C2-9F23-7971054A8C21}"/>
              </a:ext>
            </a:extLst>
          </p:cNvPr>
          <p:cNvSpPr/>
          <p:nvPr/>
        </p:nvSpPr>
        <p:spPr>
          <a:xfrm>
            <a:off x="10410971" y="977929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  <a:latin typeface="+mj-lt"/>
              </a:rPr>
              <a:t>E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E’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F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(E) | id</a:t>
            </a:r>
          </a:p>
          <a:p>
            <a:endParaRPr lang="en-US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02A8A-A575-8635-0EA3-8D31AA1458D7}"/>
              </a:ext>
            </a:extLst>
          </p:cNvPr>
          <p:cNvSpPr/>
          <p:nvPr/>
        </p:nvSpPr>
        <p:spPr>
          <a:xfrm>
            <a:off x="10956842" y="4376581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9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AD1B-37CA-6F78-8D60-E36AFA2644C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00C79-6238-F150-298D-D898A2B95C8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F(E)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96F7EF-0480-BADB-BDBF-89FEB7B343A6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DC41C8-9FDC-3263-5BAE-C64441D53665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636853-AB94-DFA7-2FC0-283B2D32FE8C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899AB4-9E69-B141-F1FF-BEBA378E61A3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8A5B04-3B17-79EC-D393-9F81E5BF126E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A819F3-2E29-E1C1-CD0B-45681080B58B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997889F-4D54-8440-56C8-84F467E8F1CE}"/>
              </a:ext>
            </a:extLst>
          </p:cNvPr>
          <p:cNvSpPr/>
          <p:nvPr/>
        </p:nvSpPr>
        <p:spPr>
          <a:xfrm>
            <a:off x="2208783" y="1611552"/>
            <a:ext cx="3322376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</a:rPr>
              <a:t>Rule 1: Place $ in FOLLOW(E)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4F7E68-13C2-16E1-46B4-782BA6892296}"/>
              </a:ext>
            </a:extLst>
          </p:cNvPr>
          <p:cNvSpPr/>
          <p:nvPr/>
        </p:nvSpPr>
        <p:spPr>
          <a:xfrm>
            <a:off x="2450066" y="5562600"/>
            <a:ext cx="2057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FOLLOW(E)={ $,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1D01EE-CBD7-179B-0CF9-5E28CCFF677F}"/>
              </a:ext>
            </a:extLst>
          </p:cNvPr>
          <p:cNvGraphicFramePr>
            <a:graphicFrameLocks noGrp="1"/>
          </p:cNvGraphicFramePr>
          <p:nvPr/>
        </p:nvGraphicFramePr>
        <p:xfrm>
          <a:off x="1218212" y="3472180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984BCED-950A-CCB4-E415-0C68AD3E3E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8211" y="3843020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984BCED-950A-CCB4-E415-0C68AD3E3E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8211" y="3843020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4C4E091C-61C3-116D-3D50-5174B531A00D}"/>
              </a:ext>
            </a:extLst>
          </p:cNvPr>
          <p:cNvSpPr/>
          <p:nvPr/>
        </p:nvSpPr>
        <p:spPr>
          <a:xfrm>
            <a:off x="3478766" y="3461585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14DD222A-80AD-9194-CDAE-CE9A64CD5FB8}"/>
              </a:ext>
            </a:extLst>
          </p:cNvPr>
          <p:cNvCxnSpPr/>
          <p:nvPr/>
        </p:nvCxnSpPr>
        <p:spPr>
          <a:xfrm rot="5400000" flipH="1" flipV="1">
            <a:off x="3340449" y="3245738"/>
            <a:ext cx="12700" cy="475488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36134852-34F4-A85E-BB94-ECB494E5192A}"/>
              </a:ext>
            </a:extLst>
          </p:cNvPr>
          <p:cNvCxnSpPr/>
          <p:nvPr/>
        </p:nvCxnSpPr>
        <p:spPr>
          <a:xfrm rot="16200000" flipH="1" flipV="1">
            <a:off x="3340449" y="3974589"/>
            <a:ext cx="12700" cy="475488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02BDE-E73A-DECF-8D38-B21F1EC89AC1}"/>
              </a:ext>
            </a:extLst>
          </p:cNvPr>
          <p:cNvSpPr/>
          <p:nvPr/>
        </p:nvSpPr>
        <p:spPr>
          <a:xfrm>
            <a:off x="4126854" y="5451838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)</a:t>
            </a:r>
            <a:r>
              <a:rPr lang="en-US" sz="2200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  <a:endParaRPr lang="en-US" sz="2200">
              <a:solidFill>
                <a:srgbClr val="0E47A1"/>
              </a:solidFill>
              <a:sym typeface="Wingdings" panose="05000000000000000000" pitchFamily="2" charset="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ED09A0-D5D6-9CBB-2B6F-CEE4EDC90527}"/>
              </a:ext>
            </a:extLst>
          </p:cNvPr>
          <p:cNvSpPr/>
          <p:nvPr/>
        </p:nvSpPr>
        <p:spPr>
          <a:xfrm>
            <a:off x="7920818" y="2938841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AFD036-F556-F7EB-969A-510A4D7C348A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46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7" grpId="0"/>
      <p:bldP spid="1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F5CE-88FD-7AB8-C146-06A39D9BA5A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89B93-2F0F-FE1D-96CB-B3C20435B67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FOLLOW(E’)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ETE’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E’+TE’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CF68F4-2D63-9E6E-F2ED-2DBB39F4D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099911"/>
              </p:ext>
            </p:extLst>
          </p:nvPr>
        </p:nvGraphicFramePr>
        <p:xfrm>
          <a:off x="6270027" y="2217963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4CA349-ABEF-7C4C-0C00-8EF29F39E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674409"/>
              </p:ext>
            </p:extLst>
          </p:nvPr>
        </p:nvGraphicFramePr>
        <p:xfrm>
          <a:off x="6270029" y="2585333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B5E607-7B51-0D2E-599B-3D6461F3E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570160"/>
              </p:ext>
            </p:extLst>
          </p:nvPr>
        </p:nvGraphicFramePr>
        <p:xfrm>
          <a:off x="6270027" y="2963431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F77162-934C-A49F-556C-318D32FD3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888462"/>
              </p:ext>
            </p:extLst>
          </p:nvPr>
        </p:nvGraphicFramePr>
        <p:xfrm>
          <a:off x="6270027" y="334114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ABFD4-F6A6-A51C-0396-E9DBAA4F4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618791"/>
              </p:ext>
            </p:extLst>
          </p:nvPr>
        </p:nvGraphicFramePr>
        <p:xfrm>
          <a:off x="6270027" y="3718598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028C2D-D800-2046-57F3-5776D0B1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452515"/>
              </p:ext>
            </p:extLst>
          </p:nvPr>
        </p:nvGraphicFramePr>
        <p:xfrm>
          <a:off x="6270027" y="4096696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C9D4BFA-BB8E-4F3D-F526-BAB42929B91B}"/>
              </a:ext>
            </a:extLst>
          </p:cNvPr>
          <p:cNvSpPr/>
          <p:nvPr/>
        </p:nvSpPr>
        <p:spPr>
          <a:xfrm>
            <a:off x="2979723" y="5673574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FOLLOW(E’)={ $,)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3AC969-A333-9C82-BB74-7404D677C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056481"/>
              </p:ext>
            </p:extLst>
          </p:nvPr>
        </p:nvGraphicFramePr>
        <p:xfrm>
          <a:off x="1569909" y="2461254"/>
          <a:ext cx="212140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571C296-983E-4087-5760-BF1854BC0D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602847"/>
                  </p:ext>
                </p:extLst>
              </p:nvPr>
            </p:nvGraphicFramePr>
            <p:xfrm>
              <a:off x="1569908" y="2832094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571C296-983E-4087-5760-BF1854BC0D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602847"/>
                  </p:ext>
                </p:extLst>
              </p:nvPr>
            </p:nvGraphicFramePr>
            <p:xfrm>
              <a:off x="1569908" y="2832094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677" r="-102299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A8962270-66B7-FB85-14D1-945583F0DC18}"/>
              </a:ext>
            </a:extLst>
          </p:cNvPr>
          <p:cNvSpPr/>
          <p:nvPr/>
        </p:nvSpPr>
        <p:spPr>
          <a:xfrm>
            <a:off x="3830463" y="245065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392D2177-3705-C790-2E68-E88FF9DC7C83}"/>
              </a:ext>
            </a:extLst>
          </p:cNvPr>
          <p:cNvCxnSpPr/>
          <p:nvPr/>
        </p:nvCxnSpPr>
        <p:spPr>
          <a:xfrm rot="5400000" flipH="1" flipV="1">
            <a:off x="2649456" y="1631944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48977E3-2902-E985-9999-FB72CCEA1333}"/>
              </a:ext>
            </a:extLst>
          </p:cNvPr>
          <p:cNvCxnSpPr/>
          <p:nvPr/>
        </p:nvCxnSpPr>
        <p:spPr>
          <a:xfrm rot="16200000" flipH="1" flipV="1">
            <a:off x="2644189" y="2379974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30D8662-62A0-EB64-9207-C3E066CCE021}"/>
              </a:ext>
            </a:extLst>
          </p:cNvPr>
          <p:cNvSpPr/>
          <p:nvPr/>
        </p:nvSpPr>
        <p:spPr>
          <a:xfrm>
            <a:off x="7953068" y="3025462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02263B-8369-4579-E6CE-B4CB806B1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268036"/>
              </p:ext>
            </p:extLst>
          </p:nvPr>
        </p:nvGraphicFramePr>
        <p:xfrm>
          <a:off x="1539426" y="4372115"/>
          <a:ext cx="212140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46B85007-3E3A-4367-668F-21BC53FB7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96447"/>
                  </p:ext>
                </p:extLst>
              </p:nvPr>
            </p:nvGraphicFramePr>
            <p:xfrm>
              <a:off x="1539425" y="4742955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46B85007-3E3A-4367-668F-21BC53FB7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96447"/>
                  </p:ext>
                </p:extLst>
              </p:nvPr>
            </p:nvGraphicFramePr>
            <p:xfrm>
              <a:off x="1539425" y="4742955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836" r="-1022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D7002EEF-59B0-6F75-CB06-9EA16F63589F}"/>
              </a:ext>
            </a:extLst>
          </p:cNvPr>
          <p:cNvSpPr/>
          <p:nvPr/>
        </p:nvSpPr>
        <p:spPr>
          <a:xfrm>
            <a:off x="3799980" y="436152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63AED879-0784-DABD-FF11-79B6F91DBD9F}"/>
              </a:ext>
            </a:extLst>
          </p:cNvPr>
          <p:cNvCxnSpPr/>
          <p:nvPr/>
        </p:nvCxnSpPr>
        <p:spPr>
          <a:xfrm rot="5400000" flipH="1" flipV="1">
            <a:off x="2618973" y="3542805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D3C43F19-F84E-9DE2-95B0-50CFACE376D2}"/>
              </a:ext>
            </a:extLst>
          </p:cNvPr>
          <p:cNvCxnSpPr/>
          <p:nvPr/>
        </p:nvCxnSpPr>
        <p:spPr>
          <a:xfrm rot="16200000" flipH="1" flipV="1">
            <a:off x="2613706" y="4290835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EC61581-F6A9-F40A-E1D2-CC771CCFD23E}"/>
              </a:ext>
            </a:extLst>
          </p:cNvPr>
          <p:cNvSpPr/>
          <p:nvPr/>
        </p:nvSpPr>
        <p:spPr>
          <a:xfrm>
            <a:off x="7437649" y="711201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690C0A-5976-5044-A38B-7EB97590391B}"/>
              </a:ext>
            </a:extLst>
          </p:cNvPr>
          <p:cNvSpPr/>
          <p:nvPr/>
        </p:nvSpPr>
        <p:spPr>
          <a:xfrm>
            <a:off x="4748918" y="5579147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631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 animBg="1"/>
      <p:bldP spid="19" grpId="0"/>
      <p:bldP spid="2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A05A-F892-D866-6FB8-0150010D8E7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DD2F8-09B8-AE99-DF72-2CD232A3C2F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ETE’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446749-3EDF-6F22-FF6B-C52E7ADE18BE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826766-7290-8EFD-942B-1FA8EF5CE1EF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CBFA72-7FDF-F81E-8F5D-D3E507D8D4F2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E30A9F-9B0D-862B-85F8-5C40C5D10420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C0D7F9-6AF3-C5BC-3FFF-CE1C59438645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A39BEE-EA8B-7C62-FFDD-B177436F0344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61EE4E5-2339-65E4-0147-F006A10733E3}"/>
              </a:ext>
            </a:extLst>
          </p:cNvPr>
          <p:cNvSpPr/>
          <p:nvPr/>
        </p:nvSpPr>
        <p:spPr>
          <a:xfrm>
            <a:off x="2979723" y="5952973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FOLLOW(T)={ +,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D019912-A052-539A-6720-9EBDD042C39E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AE64E61-745F-9CBA-4B52-FA0D0118428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1800" b="1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AE64E61-745F-9CBA-4B52-FA0D0118428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A58D44B-18B9-A751-E0F7-1DA9343A8A55}"/>
              </a:ext>
            </a:extLst>
          </p:cNvPr>
          <p:cNvSpPr/>
          <p:nvPr/>
        </p:nvSpPr>
        <p:spPr>
          <a:xfrm>
            <a:off x="4857814" y="5858546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$, )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4AE193D-01EC-CB40-F7EF-BE7A9D1CBDD8}"/>
              </a:ext>
            </a:extLst>
          </p:cNvPr>
          <p:cNvGraphicFramePr>
            <a:graphicFrameLocks noGrp="1"/>
          </p:cNvGraphicFramePr>
          <p:nvPr/>
        </p:nvGraphicFramePr>
        <p:xfrm>
          <a:off x="1539426" y="4651514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B331304-8C07-D9D9-3F22-6ACC300CB2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1800" b="1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B331304-8C07-D9D9-3F22-6ACC300CB2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677" r="-20000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677" r="-2299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825C472A-02E1-D317-CD1B-F81CC7FA136E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BC41CA3D-4F6C-2212-C806-6064B1E58FF2}"/>
              </a:ext>
            </a:extLst>
          </p:cNvPr>
          <p:cNvCxnSpPr/>
          <p:nvPr/>
        </p:nvCxnSpPr>
        <p:spPr>
          <a:xfrm rot="5400000" flipH="1" flipV="1">
            <a:off x="2582109" y="3858129"/>
            <a:ext cx="12700" cy="155448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C3248C7D-7036-0548-656B-11417274981C}"/>
              </a:ext>
            </a:extLst>
          </p:cNvPr>
          <p:cNvCxnSpPr/>
          <p:nvPr/>
        </p:nvCxnSpPr>
        <p:spPr>
          <a:xfrm rot="16200000" flipH="1" flipV="1">
            <a:off x="2599694" y="4614514"/>
            <a:ext cx="12700" cy="155448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477E763-AF5B-9FB7-077A-122B8C145F31}"/>
              </a:ext>
            </a:extLst>
          </p:cNvPr>
          <p:cNvSpPr/>
          <p:nvPr/>
        </p:nvSpPr>
        <p:spPr>
          <a:xfrm>
            <a:off x="3814562" y="272659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F0C32D5-FD5C-2CFB-6CB4-793757FB70CF}"/>
              </a:ext>
            </a:extLst>
          </p:cNvPr>
          <p:cNvCxnSpPr/>
          <p:nvPr/>
        </p:nvCxnSpPr>
        <p:spPr>
          <a:xfrm rot="5400000" flipH="1" flipV="1">
            <a:off x="3644932" y="2501874"/>
            <a:ext cx="12700" cy="475488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9CF40E45-71F6-A8F3-393F-A948EFC9DF81}"/>
              </a:ext>
            </a:extLst>
          </p:cNvPr>
          <p:cNvCxnSpPr/>
          <p:nvPr/>
        </p:nvCxnSpPr>
        <p:spPr>
          <a:xfrm rot="16200000" flipH="1" flipV="1">
            <a:off x="3648868" y="3245624"/>
            <a:ext cx="12700" cy="475488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081C1D1-4819-7C19-E7AD-CC6EE7476A17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50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EDA7-88E8-08C2-934A-CCF48680CED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ECEF-8C06-2993-A07F-2E5844A1DF9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E’+TE’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CD09A6-40FA-ACF6-515F-8DFFEFE27784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708F67-54C5-FACF-619C-25663D455C2D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E65C88-452B-3B5E-E493-966B155C215B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63C65D-570D-40BF-DF33-84AF244C3306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ACE7B7-B6C4-E6B5-1633-EB00EB02FF4D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8C241DE-6A86-A0FA-3FFC-1E183115D141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71A3DE5-06E9-96B1-93AB-F8172D56772E}"/>
              </a:ext>
            </a:extLst>
          </p:cNvPr>
          <p:cNvSpPr/>
          <p:nvPr/>
        </p:nvSpPr>
        <p:spPr>
          <a:xfrm>
            <a:off x="2979723" y="5952973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FOLLOW(T)={ +,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6BA45F-C8A5-5F85-C0C8-0661A645539F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0DEF87E-4BD0-E645-58B3-8F99D2855C1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0DEF87E-4BD0-E645-58B3-8F99D2855C1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2CD5DD4-A51F-1D77-8DB1-CA0CC9A291D0}"/>
              </a:ext>
            </a:extLst>
          </p:cNvPr>
          <p:cNvSpPr/>
          <p:nvPr/>
        </p:nvSpPr>
        <p:spPr>
          <a:xfrm>
            <a:off x="4857814" y="5858546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$, 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64C20F-D8B4-9C86-A344-26E80AADBAD6}"/>
              </a:ext>
            </a:extLst>
          </p:cNvPr>
          <p:cNvSpPr/>
          <p:nvPr/>
        </p:nvSpPr>
        <p:spPr>
          <a:xfrm>
            <a:off x="7951299" y="3685736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75469C-A442-29BA-1A86-C27205CEE10D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4EA04BF8-919A-3A74-DAB6-3B91188E9DB2}"/>
              </a:ext>
            </a:extLst>
          </p:cNvPr>
          <p:cNvCxnSpPr/>
          <p:nvPr/>
        </p:nvCxnSpPr>
        <p:spPr>
          <a:xfrm rot="5400000" flipH="1" flipV="1">
            <a:off x="2665903" y="3818877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FA6B0BB7-8CFF-A02F-83FF-3CE95DECEE68}"/>
              </a:ext>
            </a:extLst>
          </p:cNvPr>
          <p:cNvCxnSpPr/>
          <p:nvPr/>
        </p:nvCxnSpPr>
        <p:spPr>
          <a:xfrm rot="16200000" flipH="1" flipV="1">
            <a:off x="2655910" y="4553609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25E9E66-EB12-CF69-7BC4-4093540DDFFA}"/>
              </a:ext>
            </a:extLst>
          </p:cNvPr>
          <p:cNvSpPr/>
          <p:nvPr/>
        </p:nvSpPr>
        <p:spPr>
          <a:xfrm>
            <a:off x="3814562" y="272659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F3146465-4156-F857-C1A5-BB06F77D3B2A}"/>
              </a:ext>
            </a:extLst>
          </p:cNvPr>
          <p:cNvCxnSpPr/>
          <p:nvPr/>
        </p:nvCxnSpPr>
        <p:spPr>
          <a:xfrm rot="5400000" flipH="1" flipV="1">
            <a:off x="3718020" y="2459983"/>
            <a:ext cx="12700" cy="54864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D3416A9-C56E-AD6F-521F-06004E84C2C0}"/>
              </a:ext>
            </a:extLst>
          </p:cNvPr>
          <p:cNvCxnSpPr/>
          <p:nvPr/>
        </p:nvCxnSpPr>
        <p:spPr>
          <a:xfrm rot="16200000" flipH="1" flipV="1">
            <a:off x="3698274" y="3209048"/>
            <a:ext cx="12700" cy="5486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303A7A7-C47B-C48A-EC2F-62255FC3AD12}"/>
              </a:ext>
            </a:extLst>
          </p:cNvPr>
          <p:cNvGraphicFramePr>
            <a:graphicFrameLocks noGrp="1"/>
          </p:cNvGraphicFramePr>
          <p:nvPr/>
        </p:nvGraphicFramePr>
        <p:xfrm>
          <a:off x="1572409" y="4646897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8A766BD9-8DE0-E2DF-B1E2-C048052651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2408" y="5017737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8A766BD9-8DE0-E2DF-B1E2-C048052651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2408" y="5017737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836" r="-20113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836" r="-344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732D6E20-DD71-DD47-AF04-308554E71E73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4971A6-1F7E-45A9-F35D-F2B8A7B15B90}"/>
              </a:ext>
            </a:extLst>
          </p:cNvPr>
          <p:cNvSpPr/>
          <p:nvPr/>
        </p:nvSpPr>
        <p:spPr>
          <a:xfrm>
            <a:off x="4812554" y="5782345"/>
            <a:ext cx="1542986" cy="7620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82491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8" grpId="0"/>
      <p:bldP spid="2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F0A2-E9AD-6A67-C413-7537D51917A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B426C-61E6-2D1F-AFAA-A0801C52D9F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FOLLOW(T’)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TFT’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T’*FT’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AD1AE1-995A-B716-5E68-D310BC7C7836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177F9D-9ABC-4F50-5B24-AD6B94324BE1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3C3580-CAE0-D3AA-918C-442941DB8240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DBB53C-EFC3-B768-019A-318601F934F5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6FAE1A-6655-3848-09F5-1A3EE8C6328D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854A4E3-9C0D-8113-CCA0-0449222F8784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B402482-9C3F-7B06-D3D4-4748C8A910B8}"/>
              </a:ext>
            </a:extLst>
          </p:cNvPr>
          <p:cNvSpPr/>
          <p:nvPr/>
        </p:nvSpPr>
        <p:spPr>
          <a:xfrm>
            <a:off x="2979722" y="5952973"/>
            <a:ext cx="2430477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FOLLOW(T’)={+ $,)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688D22-5A1A-E7AC-D201-1BE50F319F2B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12140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F72372E-6AB8-861C-2B71-F44EB7B6B8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F72372E-6AB8-861C-2B71-F44EB7B6B8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677" r="-102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959FF04-346F-1393-0A66-0169DFE0F6F8}"/>
              </a:ext>
            </a:extLst>
          </p:cNvPr>
          <p:cNvSpPr/>
          <p:nvPr/>
        </p:nvSpPr>
        <p:spPr>
          <a:xfrm>
            <a:off x="3830463" y="2730058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B24CADDE-6307-3E7C-5497-79316E34CA78}"/>
              </a:ext>
            </a:extLst>
          </p:cNvPr>
          <p:cNvCxnSpPr/>
          <p:nvPr/>
        </p:nvCxnSpPr>
        <p:spPr>
          <a:xfrm rot="5400000" flipH="1" flipV="1">
            <a:off x="2649456" y="1911343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A99F3073-F632-535B-4C13-90E7C182F7CC}"/>
              </a:ext>
            </a:extLst>
          </p:cNvPr>
          <p:cNvCxnSpPr/>
          <p:nvPr/>
        </p:nvCxnSpPr>
        <p:spPr>
          <a:xfrm rot="16200000" flipH="1" flipV="1">
            <a:off x="2644189" y="2659373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D14AE3F-D979-D01D-9DC6-0757A83B567E}"/>
              </a:ext>
            </a:extLst>
          </p:cNvPr>
          <p:cNvSpPr/>
          <p:nvPr/>
        </p:nvSpPr>
        <p:spPr>
          <a:xfrm>
            <a:off x="7908893" y="4060320"/>
            <a:ext cx="733651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B347E18-87C8-0587-7640-AE093545BE28}"/>
              </a:ext>
            </a:extLst>
          </p:cNvPr>
          <p:cNvGraphicFramePr>
            <a:graphicFrameLocks noGrp="1"/>
          </p:cNvGraphicFramePr>
          <p:nvPr/>
        </p:nvGraphicFramePr>
        <p:xfrm>
          <a:off x="1539426" y="4651514"/>
          <a:ext cx="212140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E23EF3F8-8901-1389-18A8-30659FA4F1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E23EF3F8-8901-1389-18A8-30659FA4F1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677" r="-102299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056BF579-88AF-6199-31C1-D72BF6B4C9CD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33A01B5-F79C-5A39-4194-42675A3AE1AA}"/>
              </a:ext>
            </a:extLst>
          </p:cNvPr>
          <p:cNvCxnSpPr/>
          <p:nvPr/>
        </p:nvCxnSpPr>
        <p:spPr>
          <a:xfrm rot="5400000" flipH="1" flipV="1">
            <a:off x="2618973" y="3822204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78643525-CDF4-0EEA-0B11-A03FFE71CAB7}"/>
              </a:ext>
            </a:extLst>
          </p:cNvPr>
          <p:cNvCxnSpPr/>
          <p:nvPr/>
        </p:nvCxnSpPr>
        <p:spPr>
          <a:xfrm rot="16200000" flipH="1" flipV="1">
            <a:off x="2613706" y="4570234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013BEB1-FC7F-C504-16C5-D63F61E44049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E466A8-EAC5-4F97-41EB-2B548DD70741}"/>
              </a:ext>
            </a:extLst>
          </p:cNvPr>
          <p:cNvSpPr/>
          <p:nvPr/>
        </p:nvSpPr>
        <p:spPr>
          <a:xfrm>
            <a:off x="4900020" y="5858546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109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 animBg="1"/>
      <p:bldP spid="19" grpId="0"/>
      <p:bldP spid="2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2D48-A5F2-510D-6606-89C790B0AB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83223-ECFF-B813-4DD7-CF4CD8B5A31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FOLLOW(F)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TFT’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A8730E-79E7-6954-AA56-FC76B7DE739A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751E60-3635-8FBA-EF75-7A0DFE17D4A0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5143EC-9F8A-5946-03C4-537A47219C3D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5D525C-670B-A683-6163-149B1DB06922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3CC772-912A-AAE4-8958-33F80E7BC269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72A2B7-4026-DC68-ED74-831766CBA3BF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EDA39FB-22B7-C63F-F011-12699CDE01BE}"/>
              </a:ext>
            </a:extLst>
          </p:cNvPr>
          <p:cNvSpPr/>
          <p:nvPr/>
        </p:nvSpPr>
        <p:spPr>
          <a:xfrm>
            <a:off x="2979723" y="5952973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FOLLOW(F)={ *,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CC9ADFD-4CB6-B0A6-F541-F6E5A8800215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B6FF780-AA80-B80C-A824-2497650C0A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B6FF780-AA80-B80C-A824-2497650C0A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F1623A43-77F7-D724-4B14-27D34EFB7E20}"/>
              </a:ext>
            </a:extLst>
          </p:cNvPr>
          <p:cNvSpPr/>
          <p:nvPr/>
        </p:nvSpPr>
        <p:spPr>
          <a:xfrm>
            <a:off x="4857814" y="5858546"/>
            <a:ext cx="1009586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 + ,$ , )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D14D4ED-5238-2B90-A4BC-D110D34D3E7A}"/>
              </a:ext>
            </a:extLst>
          </p:cNvPr>
          <p:cNvGraphicFramePr>
            <a:graphicFrameLocks noGrp="1"/>
          </p:cNvGraphicFramePr>
          <p:nvPr/>
        </p:nvGraphicFramePr>
        <p:xfrm>
          <a:off x="1539426" y="4651514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0C6D3107-1EA2-2CDA-3E4D-04836E63AA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0C6D3107-1EA2-2CDA-3E4D-04836E63AA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677" r="-20000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677" r="-2299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0351C28-27DD-7F32-9BD0-D34F455F11DA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E71770F-0DE0-5318-59AB-BCE4492394B1}"/>
              </a:ext>
            </a:extLst>
          </p:cNvPr>
          <p:cNvCxnSpPr/>
          <p:nvPr/>
        </p:nvCxnSpPr>
        <p:spPr>
          <a:xfrm rot="5400000" flipH="1" flipV="1">
            <a:off x="2612986" y="3862442"/>
            <a:ext cx="12700" cy="1572768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16BA1D8B-6F6B-F4A4-0E50-C803656360F2}"/>
              </a:ext>
            </a:extLst>
          </p:cNvPr>
          <p:cNvCxnSpPr/>
          <p:nvPr/>
        </p:nvCxnSpPr>
        <p:spPr>
          <a:xfrm rot="16200000" flipH="1" flipV="1">
            <a:off x="2613435" y="4590185"/>
            <a:ext cx="12700" cy="1572768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48C4536-C452-78E1-67F3-E862504FDBA9}"/>
              </a:ext>
            </a:extLst>
          </p:cNvPr>
          <p:cNvSpPr/>
          <p:nvPr/>
        </p:nvSpPr>
        <p:spPr>
          <a:xfrm>
            <a:off x="3814562" y="272659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7F5479A6-65E6-A7C4-EFD1-96490910DEC3}"/>
              </a:ext>
            </a:extLst>
          </p:cNvPr>
          <p:cNvCxnSpPr/>
          <p:nvPr/>
        </p:nvCxnSpPr>
        <p:spPr>
          <a:xfrm rot="5400000" flipH="1" flipV="1">
            <a:off x="3657989" y="2458620"/>
            <a:ext cx="12700" cy="54864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E68FC2D4-464F-A1F9-9C74-47A4EFFDC515}"/>
              </a:ext>
            </a:extLst>
          </p:cNvPr>
          <p:cNvCxnSpPr/>
          <p:nvPr/>
        </p:nvCxnSpPr>
        <p:spPr>
          <a:xfrm rot="16200000" flipH="1" flipV="1">
            <a:off x="3672737" y="3209048"/>
            <a:ext cx="12700" cy="5486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90B8EDA-4952-BFF1-0178-8ECF2FE9E668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94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1032-54B9-9650-3B00-7081B88D815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B0600-C7F4-245A-5EAE-5E98A60DCB7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FOLLOW(F)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T’*FT’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F7DCAA-0890-22F7-804D-7348CB72C338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9A3864-D022-5798-F09F-033F3A50E1D8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00534E-0D65-109D-62BF-0223BF1B21ED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A95400-10B6-BB7E-0728-4D617A66961A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7DBF2B-2BC6-62F9-446D-36D312EA6F41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E70B38-5E63-638F-C50A-1B6D057C3241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5633C69-9A90-7B80-1433-81A778F471DA}"/>
              </a:ext>
            </a:extLst>
          </p:cNvPr>
          <p:cNvSpPr/>
          <p:nvPr/>
        </p:nvSpPr>
        <p:spPr>
          <a:xfrm>
            <a:off x="2979723" y="5952973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FOLLOW(F)={ *,+,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DE4B9A-8DAF-4B71-F508-B29D62CB801F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92DB598-E942-61AA-3153-44457F1FE0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92DB598-E942-61AA-3153-44457F1FE0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B0D90B6-F433-2EFB-2693-7315922A8D64}"/>
              </a:ext>
            </a:extLst>
          </p:cNvPr>
          <p:cNvSpPr/>
          <p:nvPr/>
        </p:nvSpPr>
        <p:spPr>
          <a:xfrm>
            <a:off x="4857814" y="5858546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$, 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34DF11-1B73-A0CF-E1DC-7687E47A943B}"/>
              </a:ext>
            </a:extLst>
          </p:cNvPr>
          <p:cNvSpPr/>
          <p:nvPr/>
        </p:nvSpPr>
        <p:spPr>
          <a:xfrm>
            <a:off x="7890981" y="4407536"/>
            <a:ext cx="830453" cy="311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64586-FFE8-FA82-31B8-6BE187BDD961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72542F3B-BA6F-521A-E82D-3EA0426894EC}"/>
              </a:ext>
            </a:extLst>
          </p:cNvPr>
          <p:cNvCxnSpPr/>
          <p:nvPr/>
        </p:nvCxnSpPr>
        <p:spPr>
          <a:xfrm rot="5400000" flipH="1" flipV="1">
            <a:off x="2665903" y="3806474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485FE7E-778C-30E1-6597-189981244E1C}"/>
              </a:ext>
            </a:extLst>
          </p:cNvPr>
          <p:cNvCxnSpPr/>
          <p:nvPr/>
        </p:nvCxnSpPr>
        <p:spPr>
          <a:xfrm rot="16200000" flipH="1" flipV="1">
            <a:off x="2655910" y="4570234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E3E6A-DF6D-FEA2-D45C-3629D032491F}"/>
              </a:ext>
            </a:extLst>
          </p:cNvPr>
          <p:cNvSpPr/>
          <p:nvPr/>
        </p:nvSpPr>
        <p:spPr>
          <a:xfrm>
            <a:off x="3814562" y="272659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4B5714A1-F2A9-BDFE-BF1B-34B6407CD470}"/>
              </a:ext>
            </a:extLst>
          </p:cNvPr>
          <p:cNvCxnSpPr/>
          <p:nvPr/>
        </p:nvCxnSpPr>
        <p:spPr>
          <a:xfrm rot="5400000" flipH="1" flipV="1">
            <a:off x="3698274" y="2472683"/>
            <a:ext cx="12700" cy="54864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267FF57-FF3C-29B7-8264-3B45CB1994B9}"/>
              </a:ext>
            </a:extLst>
          </p:cNvPr>
          <p:cNvCxnSpPr/>
          <p:nvPr/>
        </p:nvCxnSpPr>
        <p:spPr>
          <a:xfrm rot="16200000" flipH="1" flipV="1">
            <a:off x="3698274" y="3209048"/>
            <a:ext cx="12700" cy="5486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4F730D2-BA9B-70BA-5A57-B1AE92C66A93}"/>
              </a:ext>
            </a:extLst>
          </p:cNvPr>
          <p:cNvGraphicFramePr>
            <a:graphicFrameLocks noGrp="1"/>
          </p:cNvGraphicFramePr>
          <p:nvPr/>
        </p:nvGraphicFramePr>
        <p:xfrm>
          <a:off x="1572409" y="4646897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E88F94E4-A177-F68B-7C70-0F1B01AC9E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2408" y="5017737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E88F94E4-A177-F68B-7C70-0F1B01AC9E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2408" y="5017737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836" r="-20113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836" r="-344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20281AF-CC24-A7AF-9994-CF9B7008B833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47BB6A-3796-1B30-488B-EA6CDC463038}"/>
              </a:ext>
            </a:extLst>
          </p:cNvPr>
          <p:cNvSpPr/>
          <p:nvPr/>
        </p:nvSpPr>
        <p:spPr>
          <a:xfrm>
            <a:off x="4812554" y="5782345"/>
            <a:ext cx="1542986" cy="7620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860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8" grpId="0"/>
      <p:bldP spid="2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E5DB-DBE5-6E81-11B1-31289D43B8A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001CA-AEB6-9D61-421C-7F25038A227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</a:t>
            </a:r>
            <a:r>
              <a:rPr lang="en-US" sz="220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a=FIRST(TE’)={ (,id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M[E,(]=E</a:t>
            </a:r>
            <a:r>
              <a:rPr lang="en-US">
                <a:sym typeface="Wingdings" panose="05000000000000000000" pitchFamily="2" charset="2"/>
              </a:rPr>
              <a:t>TE’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M[E,id]=E</a:t>
            </a:r>
            <a:r>
              <a:rPr lang="en-US">
                <a:sym typeface="Wingdings" panose="05000000000000000000" pitchFamily="2" charset="2"/>
              </a:rPr>
              <a:t>TE’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9A48CF-8C0C-85CD-4F3E-A2FAEA07D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367926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5B801E-9E30-915C-E5BF-EF7B4AA78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53471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A4A81F-4949-1968-B8A6-AA7EF2A49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753343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5E15B8-1B11-0132-8127-6FBD57357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288065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557136-1959-275B-DE4D-C53AB5EDE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268142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0829F1-A040-22DE-756C-258CFE9F9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442763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2F5C130-986B-8DF1-479C-1B3176709118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2F5C130-986B-8DF1-479C-1B31767091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35EBAE-A26A-2094-A8C5-6FDBE2F83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283213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159DA69-8540-B705-73CF-2B3795C36EF2}"/>
              </a:ext>
            </a:extLst>
          </p:cNvPr>
          <p:cNvSpPr/>
          <p:nvPr/>
        </p:nvSpPr>
        <p:spPr>
          <a:xfrm>
            <a:off x="3793671" y="2418094"/>
            <a:ext cx="609600" cy="19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95FE8-41F0-0F8E-869A-3A16EE66A9A5}"/>
              </a:ext>
            </a:extLst>
          </p:cNvPr>
          <p:cNvSpPr/>
          <p:nvPr/>
        </p:nvSpPr>
        <p:spPr>
          <a:xfrm>
            <a:off x="876300" y="2377509"/>
            <a:ext cx="723900" cy="282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83BEA6-BD8D-2714-D370-A605AA5C7614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92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103E-A924-AA97-3669-C8699788357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DE812-DFB5-45F1-9B68-F5C1A36F05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E’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+</a:t>
            </a:r>
            <a:r>
              <a:rPr lang="en-US">
                <a:solidFill>
                  <a:srgbClr val="0E47A1"/>
                </a:solidFill>
              </a:rPr>
              <a:t>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a=FIRST(+TE’)={ +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M[E’,+]=E’</a:t>
            </a:r>
            <a:r>
              <a:rPr lang="en-US">
                <a:sym typeface="Wingdings" panose="05000000000000000000" pitchFamily="2" charset="2"/>
              </a:rPr>
              <a:t>+TE’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CB40B2-65CF-8787-0925-52E611605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843238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007F95-5B22-BE2F-1C43-8F964FF19319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007F95-5B22-BE2F-1C43-8F964FF19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16DCCF8-8AE9-B067-DD3B-F96111403B4B}"/>
              </a:ext>
            </a:extLst>
          </p:cNvPr>
          <p:cNvSpPr/>
          <p:nvPr/>
        </p:nvSpPr>
        <p:spPr>
          <a:xfrm>
            <a:off x="1752600" y="2741526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5775BD-CD19-5CA7-CB2A-3D6E535AB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40925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C8011A-D8B6-E803-F3B4-55B1B7B0B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923207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E6316B-C752-E6C9-4287-CED335E4F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574569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78F955-70BB-C86D-078A-6CD0D8947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2418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B139F7C-B616-8D6A-C8FF-0C4AEF440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135697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31835DF-DAA7-E0AD-1C5B-1485E9AAF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56475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404EEA07-E84A-99D0-EA94-D5C9EED91D69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59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52DB-FF0C-E373-360C-B8B490F1084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8E27-9D7B-E6FE-4E5E-59D36FA5333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E’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b=FOLLOW(E’)={ $,)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M[E’,$]=E’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M[E’,)]=E’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7077FD-A023-7479-47DD-76D3C0AE2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041758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47AF8E-5D00-8985-CE47-9A6ECF7A39B1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47AF8E-5D00-8985-CE47-9A6ECF7A3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35BC452-3CEF-1F3C-F9FA-B08378766E68}"/>
              </a:ext>
            </a:extLst>
          </p:cNvPr>
          <p:cNvSpPr/>
          <p:nvPr/>
        </p:nvSpPr>
        <p:spPr>
          <a:xfrm>
            <a:off x="4645740" y="2750050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13CED8-44C2-24BA-8394-3FFD481A2C42}"/>
              </a:ext>
            </a:extLst>
          </p:cNvPr>
          <p:cNvSpPr/>
          <p:nvPr/>
        </p:nvSpPr>
        <p:spPr>
          <a:xfrm>
            <a:off x="5552905" y="2737201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3C6BEF-C6A6-BC66-C3D0-79EB063A3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153170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37F4BD-B023-CB62-EE41-130E2C532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455313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47CB8B-5636-8FA5-C2E1-F2CB1E2C4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863247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7AD8F8-0D03-0841-7259-D2C09F511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965966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08D9FA7-CB17-506E-6712-BC54D5775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82898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15EF66A-396B-505D-E76C-3ABBC016C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59898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797903D-C23F-6434-1242-3DF9E261324D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18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4B14-C530-303D-13BC-9F340CCA4D9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10B4C-FAAA-7335-5458-5D886765384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TFT’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a=FIRST(FT’)={ (,id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M[T,(]=T</a:t>
            </a:r>
            <a:r>
              <a:rPr lang="en-US">
                <a:sym typeface="Wingdings" panose="05000000000000000000" pitchFamily="2" charset="2"/>
              </a:rPr>
              <a:t>FT’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M[T,id]=T</a:t>
            </a:r>
            <a:r>
              <a:rPr lang="en-US">
                <a:sym typeface="Wingdings" panose="05000000000000000000" pitchFamily="2" charset="2"/>
              </a:rPr>
              <a:t>FT’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C5AEE-CB12-3A0E-193C-D7381B6B1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399325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7B6794F-023D-B858-482E-7CE38CC3BB47}"/>
              </a:ext>
            </a:extLst>
          </p:cNvPr>
          <p:cNvSpPr/>
          <p:nvPr/>
        </p:nvSpPr>
        <p:spPr>
          <a:xfrm>
            <a:off x="3754692" y="3138433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96D5B1-3B67-4C71-7F38-658BDAAF1E83}"/>
              </a:ext>
            </a:extLst>
          </p:cNvPr>
          <p:cNvSpPr/>
          <p:nvPr/>
        </p:nvSpPr>
        <p:spPr>
          <a:xfrm>
            <a:off x="929148" y="311576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45E599-ADDD-0A0D-A360-561CF45AF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429366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77DB7E-5152-E437-23AB-2B0E54015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65789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375E41A-687D-9515-D3A7-269501A17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923490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711D1F-15ED-7E6A-E366-EE8346D48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264766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2BD2EBC-F4F2-AAB7-AB46-B898EE890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701533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A7B14E1-C234-3A9F-7D91-C48E22489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60597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5FF74A3-BA67-DBC6-6FED-99561AB37D90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088DC20-0D9E-AD4A-53BE-F8DF31242A64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088DC20-0D9E-AD4A-53BE-F8DF31242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87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18EB-87EF-2A66-CD6F-27A04920605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2118F-C9C5-8002-5DF7-5FBE7E16B94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T’*FT’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a=FIRST(*FT’)={ *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M[T’,*]=T’</a:t>
            </a:r>
            <a:r>
              <a:rPr lang="en-US">
                <a:sym typeface="Wingdings" panose="05000000000000000000" pitchFamily="2" charset="2"/>
              </a:rPr>
              <a:t>*FT’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4BF7B3-EA7B-70FE-3266-DCB211A1C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69226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4C6E9FB-84D3-5BF2-886D-7858A768607F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4C6E9FB-84D3-5BF2-886D-7858A7686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995B151-B00E-ECFB-4C43-56ACCB72BE0E}"/>
              </a:ext>
            </a:extLst>
          </p:cNvPr>
          <p:cNvSpPr/>
          <p:nvPr/>
        </p:nvSpPr>
        <p:spPr>
          <a:xfrm>
            <a:off x="2757948" y="3490468"/>
            <a:ext cx="838200" cy="290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5951C6-88F9-13AB-E878-B3F618F02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187885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84A7B3-5237-6A04-5AE2-F85AA7E71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84346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9FCC47-11D6-F0E5-379B-17979F4FC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06614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7888FE-59EF-512C-0C5E-D103918AB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65612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9B4E09A-0C01-6469-B2B1-EE2AC6641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483154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3E8F8DE-0CED-0B5D-92D9-681E4E155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010114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9DB6504-90BA-B73C-F822-1914845A8C75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81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6E84-BB66-3B63-16DE-D86ED07E2B4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63DBC-C805-8E49-9D24-0E5AFB86CF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T’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b=FOLLOW(T’)={ +,$,)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M[T’,+]=T’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M[T’,$]=T’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M[T’,)]=T’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2B77D1-A26C-614C-4F9A-5F4593F50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951317"/>
              </p:ext>
            </p:extLst>
          </p:nvPr>
        </p:nvGraphicFramePr>
        <p:xfrm>
          <a:off x="259194" y="136221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30BEA0-8FBB-7C40-9A6D-23A8EA1BE169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30BEA0-8FBB-7C40-9A6D-23A8EA1BE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0DE8241-BBBD-1DB9-76B5-6DC17EE26333}"/>
              </a:ext>
            </a:extLst>
          </p:cNvPr>
          <p:cNvSpPr/>
          <p:nvPr/>
        </p:nvSpPr>
        <p:spPr>
          <a:xfrm>
            <a:off x="1836042" y="326337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3E0B5-25A4-B9E1-FB88-EAC5879A6A51}"/>
              </a:ext>
            </a:extLst>
          </p:cNvPr>
          <p:cNvSpPr/>
          <p:nvPr/>
        </p:nvSpPr>
        <p:spPr>
          <a:xfrm>
            <a:off x="5574896" y="326337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837E4C-0AD7-D7E9-3B97-FF2013042842}"/>
              </a:ext>
            </a:extLst>
          </p:cNvPr>
          <p:cNvSpPr/>
          <p:nvPr/>
        </p:nvSpPr>
        <p:spPr>
          <a:xfrm>
            <a:off x="4741616" y="3265306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085466-8BFD-5270-F920-040EE75BA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49979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0868D6-DDCD-8302-F634-546DD2600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44060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8861EB-BBDA-32D8-E598-961A5CC3F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37196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786CCBD-6535-5608-9B56-69497999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163367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36271C8-53F7-A23C-BB59-DF1505688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00901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5F4FD1C-F16B-623A-278D-C45A74A8C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0874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B82CC173-88B4-2FFF-2C05-B98A744FAC6D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05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AF1B-46A6-47CF-E005-9FC262CFF3D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B932E-AD5D-D6DE-5992-4DFEB5CA7C6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F(E)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a=FIRST((E))={ (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M[F,(]=F</a:t>
            </a:r>
            <a:r>
              <a:rPr lang="en-US">
                <a:sym typeface="Wingdings" panose="05000000000000000000" pitchFamily="2" charset="2"/>
              </a:rPr>
              <a:t>(E)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5C2C38-93D1-B358-E5D5-78A2F46FE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440256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F(E)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3B7EEDF-8703-9732-0C4D-64D30270BDD0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3B7EEDF-8703-9732-0C4D-64D30270B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0772D8A-77ED-3DC9-809B-865DB7175097}"/>
              </a:ext>
            </a:extLst>
          </p:cNvPr>
          <p:cNvSpPr/>
          <p:nvPr/>
        </p:nvSpPr>
        <p:spPr>
          <a:xfrm>
            <a:off x="3725196" y="3859784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625223-4BEC-2A38-EB8C-4B4646EF0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709589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B5A3D0-DAAE-8417-7782-505325FEC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366500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101474-6248-2A67-C0EC-24CA27ED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69956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B6D907-4D24-F0D2-A0C2-506C2906B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10992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E25FB3A-1601-B5FD-ACE0-B66436D4D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664174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C9868B-54E5-738D-C327-F11A29599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387411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7693A33-AC77-3533-0F47-7B4DFC142012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01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60BA-A038-6AEE-E2A6-ABE94AA3A11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D31AA-36B0-1380-B167-63ADA50B09A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Fid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a=FIRST(id)={ id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M[F,id]=F</a:t>
            </a:r>
            <a:r>
              <a:rPr lang="en-US">
                <a:sym typeface="Wingdings" panose="05000000000000000000" pitchFamily="2" charset="2"/>
              </a:rPr>
              <a:t>id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19ABD2-A7C3-19E8-C038-00647069F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225310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Fid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F(E)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8099515-E34C-4E87-E0EC-DED87D630326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8099515-E34C-4E87-E0EC-DED87D6303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9A57AAE-1CEA-1EAF-CC63-17B11A8CDB4E}"/>
              </a:ext>
            </a:extLst>
          </p:cNvPr>
          <p:cNvSpPr/>
          <p:nvPr/>
        </p:nvSpPr>
        <p:spPr>
          <a:xfrm>
            <a:off x="897192" y="3864723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3FE6D7-D69D-E35C-AB03-9321359E3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59334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1766DD-92D8-1BE7-EA65-11F07973F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481036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47D626-24B9-4D56-0B2D-2D56B81DF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688399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79EDD13-FF47-ABB1-0B7D-AEB994100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26131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173529-3253-EFA6-0ADC-BAC9F132B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027998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AE6111F-7C42-F8BC-DCBA-8E624AD04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767627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413A0B5-399F-4A83-87E6-2959A13FED7D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99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0C20-9257-0A8D-74AB-4B7C5E46597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4A215-9217-BF1C-EB9B-96418D3F5A49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Step 4: Make each undefined entry of table be Error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C47B6F-3CD1-1DCC-4D5C-E0D4F0C23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871214"/>
              </p:ext>
            </p:extLst>
          </p:nvPr>
        </p:nvGraphicFramePr>
        <p:xfrm>
          <a:off x="391668" y="1442997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/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/>
                        <a:t>Input</a:t>
                      </a:r>
                      <a:r>
                        <a:rPr lang="en-US" baseline="0"/>
                        <a:t> Symbol</a:t>
                      </a:r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Fid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F(E)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98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C8EE-FAA8-4BC3-8E6D-42B77680AD4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C953D-C156-9142-1DAC-CDCEDA6F865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5: Parse the string : </a:t>
            </a:r>
            <a:r>
              <a:rPr lang="en-US" dirty="0">
                <a:solidFill>
                  <a:srgbClr val="0E47A1"/>
                </a:solidFill>
              </a:rPr>
              <a:t>id + id * id $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050E13-0DF3-0527-C8D1-519C96CF0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567656"/>
              </p:ext>
            </p:extLst>
          </p:nvPr>
        </p:nvGraphicFramePr>
        <p:xfrm>
          <a:off x="1058636" y="1575708"/>
          <a:ext cx="400172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STACK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INPUT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482B56-A6D5-67AD-6502-2A8B399D9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955043"/>
              </p:ext>
            </p:extLst>
          </p:nvPr>
        </p:nvGraphicFramePr>
        <p:xfrm>
          <a:off x="1058636" y="194654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+id*id$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F86533-9358-0A2E-7130-BC88C3175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053909"/>
              </p:ext>
            </p:extLst>
          </p:nvPr>
        </p:nvGraphicFramePr>
        <p:xfrm>
          <a:off x="1058636" y="231738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 err="1"/>
                        <a:t>+id*id$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E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TE’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196296-5542-74C7-43FB-7D8991826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935256"/>
              </p:ext>
            </p:extLst>
          </p:nvPr>
        </p:nvGraphicFramePr>
        <p:xfrm>
          <a:off x="1058636" y="269838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b="0"/>
                        <a:t>T’E’$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+id*id$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FT’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1DF8F6-D66A-5DB7-E850-3567EC209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2657"/>
              </p:ext>
            </p:extLst>
          </p:nvPr>
        </p:nvGraphicFramePr>
        <p:xfrm>
          <a:off x="1058636" y="307938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 err="1"/>
                        <a:t>T’E’$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+id*id$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/>
                        <a:t>F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id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A2317A-E1BD-C3A6-7D34-55D977E73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341001"/>
              </p:ext>
            </p:extLst>
          </p:nvPr>
        </p:nvGraphicFramePr>
        <p:xfrm>
          <a:off x="1058636" y="346038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T’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+</a:t>
                      </a:r>
                      <a:r>
                        <a:rPr lang="en-US" b="0"/>
                        <a:t>id*id$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F3DC1A-23D3-3C37-6C3D-1B6ABE845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543357"/>
              </p:ext>
            </p:extLst>
          </p:nvPr>
        </p:nvGraphicFramePr>
        <p:xfrm>
          <a:off x="1058636" y="4202974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+</a:t>
                      </a:r>
                      <a:r>
                        <a:rPr lang="en-US" b="0"/>
                        <a:t>TE’$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+</a:t>
                      </a:r>
                      <a:r>
                        <a:rPr lang="en-US" b="0"/>
                        <a:t>id*id$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E’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+TE’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1B0C62-D792-EECB-97F6-8DBE40E65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877187"/>
              </p:ext>
            </p:extLst>
          </p:nvPr>
        </p:nvGraphicFramePr>
        <p:xfrm>
          <a:off x="1058634" y="3823475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E’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+</a:t>
                      </a:r>
                      <a:r>
                        <a:rPr lang="en-US" b="0"/>
                        <a:t>id*id$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T’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9232EB-1FCF-82CB-938D-9B3DC8A32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85703"/>
              </p:ext>
            </p:extLst>
          </p:nvPr>
        </p:nvGraphicFramePr>
        <p:xfrm>
          <a:off x="5446288" y="4971876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 err="1"/>
                        <a:t>T’E’$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/>
                        <a:t>F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id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5201C4-1F81-D42F-E3D8-2121A28AB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819110"/>
              </p:ext>
            </p:extLst>
          </p:nvPr>
        </p:nvGraphicFramePr>
        <p:xfrm>
          <a:off x="1058636" y="457290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AEB4D70-51A2-4067-B4A5-77F001D7E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863173"/>
              </p:ext>
            </p:extLst>
          </p:nvPr>
        </p:nvGraphicFramePr>
        <p:xfrm>
          <a:off x="5446288" y="5351965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T’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49B3ADB-3399-1587-6E3C-2A72873C5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67890"/>
              </p:ext>
            </p:extLst>
          </p:nvPr>
        </p:nvGraphicFramePr>
        <p:xfrm>
          <a:off x="1058634" y="4953464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b="0"/>
                        <a:t>T’E’$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FT’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420F490-EF2B-546B-C649-064D602F4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861607"/>
              </p:ext>
            </p:extLst>
          </p:nvPr>
        </p:nvGraphicFramePr>
        <p:xfrm>
          <a:off x="5449446" y="5714119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E’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T’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D3BC37E-922C-B496-2D0A-EFEE137C6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018579"/>
              </p:ext>
            </p:extLst>
          </p:nvPr>
        </p:nvGraphicFramePr>
        <p:xfrm>
          <a:off x="5449446" y="460211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b="0"/>
                        <a:t>T’E’$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BCF1654-751B-CB27-A646-A183A842C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112567"/>
              </p:ext>
            </p:extLst>
          </p:nvPr>
        </p:nvGraphicFramePr>
        <p:xfrm>
          <a:off x="5446288" y="6072450"/>
          <a:ext cx="400173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E’</a:t>
                      </a:r>
                      <a:r>
                        <a:rPr lang="en-US" b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 b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2A59DE7-E1FA-66FF-D2F9-A7C54D86C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75919"/>
              </p:ext>
            </p:extLst>
          </p:nvPr>
        </p:nvGraphicFramePr>
        <p:xfrm>
          <a:off x="1058634" y="6083169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*</a:t>
                      </a:r>
                      <a:r>
                        <a:rPr lang="en-US" b="0"/>
                        <a:t>FT’E’$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*</a:t>
                      </a:r>
                      <a:r>
                        <a:rPr lang="en-US" b="0"/>
                        <a:t>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*FT’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0CBD7C3-9724-165A-F2B9-9AD60F431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95724"/>
              </p:ext>
            </p:extLst>
          </p:nvPr>
        </p:nvGraphicFramePr>
        <p:xfrm>
          <a:off x="1058634" y="5700402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T’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*</a:t>
                      </a:r>
                      <a:r>
                        <a:rPr lang="en-US" b="0"/>
                        <a:t>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1E24FE9-054B-F8B8-ADDB-DAD79A911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15567"/>
              </p:ext>
            </p:extLst>
          </p:nvPr>
        </p:nvGraphicFramePr>
        <p:xfrm>
          <a:off x="1058634" y="5320574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 err="1"/>
                        <a:t>T’E’$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/>
                        <a:t>F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id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AFDF2179-A268-880F-7E72-FE7CBED4372A}"/>
              </a:ext>
            </a:extLst>
          </p:cNvPr>
          <p:cNvSpPr/>
          <p:nvPr/>
        </p:nvSpPr>
        <p:spPr>
          <a:xfrm>
            <a:off x="1198136" y="233952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5F1BF6-49B5-5E30-F447-8E952A69911D}"/>
              </a:ext>
            </a:extLst>
          </p:cNvPr>
          <p:cNvSpPr/>
          <p:nvPr/>
        </p:nvSpPr>
        <p:spPr>
          <a:xfrm>
            <a:off x="2307336" y="2365839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489B95-2DA9-8560-AC40-EDED214D2ACC}"/>
              </a:ext>
            </a:extLst>
          </p:cNvPr>
          <p:cNvSpPr/>
          <p:nvPr/>
        </p:nvSpPr>
        <p:spPr>
          <a:xfrm>
            <a:off x="3948045" y="237660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C33920-1348-8788-0D4D-8D3F222DE47C}"/>
              </a:ext>
            </a:extLst>
          </p:cNvPr>
          <p:cNvSpPr/>
          <p:nvPr/>
        </p:nvSpPr>
        <p:spPr>
          <a:xfrm>
            <a:off x="1235713" y="271864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FF005-158B-4D6B-DA70-48C069045253}"/>
              </a:ext>
            </a:extLst>
          </p:cNvPr>
          <p:cNvSpPr/>
          <p:nvPr/>
        </p:nvSpPr>
        <p:spPr>
          <a:xfrm>
            <a:off x="2344913" y="2770710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59D9F4-9692-460C-D6DF-E226CB56ABBF}"/>
              </a:ext>
            </a:extLst>
          </p:cNvPr>
          <p:cNvSpPr/>
          <p:nvPr/>
        </p:nvSpPr>
        <p:spPr>
          <a:xfrm>
            <a:off x="3959864" y="2755715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FA2EF1-7F22-F847-3D5A-05E0A6376B4C}"/>
              </a:ext>
            </a:extLst>
          </p:cNvPr>
          <p:cNvSpPr/>
          <p:nvPr/>
        </p:nvSpPr>
        <p:spPr>
          <a:xfrm>
            <a:off x="1275478" y="312933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C09708-4D28-C546-A109-553811685483}"/>
              </a:ext>
            </a:extLst>
          </p:cNvPr>
          <p:cNvSpPr/>
          <p:nvPr/>
        </p:nvSpPr>
        <p:spPr>
          <a:xfrm>
            <a:off x="2384678" y="3139320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D8B5E3-657B-C899-41EC-A176C5B6E57D}"/>
              </a:ext>
            </a:extLst>
          </p:cNvPr>
          <p:cNvSpPr/>
          <p:nvPr/>
        </p:nvSpPr>
        <p:spPr>
          <a:xfrm>
            <a:off x="3999629" y="316641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0B691E-F31E-DE26-2325-2434B28EF9CE}"/>
              </a:ext>
            </a:extLst>
          </p:cNvPr>
          <p:cNvSpPr/>
          <p:nvPr/>
        </p:nvSpPr>
        <p:spPr>
          <a:xfrm>
            <a:off x="1368213" y="3504531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9B5A49-57C6-8308-7E29-319480391B34}"/>
              </a:ext>
            </a:extLst>
          </p:cNvPr>
          <p:cNvSpPr/>
          <p:nvPr/>
        </p:nvSpPr>
        <p:spPr>
          <a:xfrm>
            <a:off x="2477413" y="3514512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AE6BA4-0813-FCA9-64BB-E76DDDF5C043}"/>
              </a:ext>
            </a:extLst>
          </p:cNvPr>
          <p:cNvSpPr/>
          <p:nvPr/>
        </p:nvSpPr>
        <p:spPr>
          <a:xfrm>
            <a:off x="1351884" y="3847405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8A2B6F-A06A-4927-FF54-031151541934}"/>
              </a:ext>
            </a:extLst>
          </p:cNvPr>
          <p:cNvSpPr/>
          <p:nvPr/>
        </p:nvSpPr>
        <p:spPr>
          <a:xfrm>
            <a:off x="2461084" y="3886594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2B7550-D356-6867-D648-9B5464E19574}"/>
              </a:ext>
            </a:extLst>
          </p:cNvPr>
          <p:cNvSpPr/>
          <p:nvPr/>
        </p:nvSpPr>
        <p:spPr>
          <a:xfrm>
            <a:off x="4076035" y="3884478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AE494A-32B7-C346-1529-EABA58F9FFA8}"/>
              </a:ext>
            </a:extLst>
          </p:cNvPr>
          <p:cNvSpPr/>
          <p:nvPr/>
        </p:nvSpPr>
        <p:spPr>
          <a:xfrm>
            <a:off x="1198136" y="4239896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300F7C-1E9E-16E6-8033-28C39C040B40}"/>
              </a:ext>
            </a:extLst>
          </p:cNvPr>
          <p:cNvSpPr/>
          <p:nvPr/>
        </p:nvSpPr>
        <p:spPr>
          <a:xfrm>
            <a:off x="2307336" y="4266206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FA5224-14E0-847D-130B-FE4A8FEBEE35}"/>
              </a:ext>
            </a:extLst>
          </p:cNvPr>
          <p:cNvSpPr/>
          <p:nvPr/>
        </p:nvSpPr>
        <p:spPr>
          <a:xfrm>
            <a:off x="3922287" y="4276969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617C1-84C9-326F-6285-573420AC06B4}"/>
              </a:ext>
            </a:extLst>
          </p:cNvPr>
          <p:cNvSpPr/>
          <p:nvPr/>
        </p:nvSpPr>
        <p:spPr>
          <a:xfrm>
            <a:off x="1235713" y="459909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290E1-33ED-88E4-51F9-A400DA94F280}"/>
              </a:ext>
            </a:extLst>
          </p:cNvPr>
          <p:cNvSpPr/>
          <p:nvPr/>
        </p:nvSpPr>
        <p:spPr>
          <a:xfrm>
            <a:off x="2344913" y="4651167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DCB173-0812-301B-2630-4DB295C96591}"/>
              </a:ext>
            </a:extLst>
          </p:cNvPr>
          <p:cNvSpPr/>
          <p:nvPr/>
        </p:nvSpPr>
        <p:spPr>
          <a:xfrm>
            <a:off x="1198136" y="4996437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CF3C85-50E5-3F02-8ADD-D23D31D8DD2E}"/>
              </a:ext>
            </a:extLst>
          </p:cNvPr>
          <p:cNvSpPr/>
          <p:nvPr/>
        </p:nvSpPr>
        <p:spPr>
          <a:xfrm>
            <a:off x="2307336" y="5022747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E21681-C15C-E1AA-F2AE-90C5D35F1783}"/>
              </a:ext>
            </a:extLst>
          </p:cNvPr>
          <p:cNvSpPr/>
          <p:nvPr/>
        </p:nvSpPr>
        <p:spPr>
          <a:xfrm>
            <a:off x="3922287" y="5033510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345767-5974-BB68-687C-FAA7EDDCE1CC}"/>
              </a:ext>
            </a:extLst>
          </p:cNvPr>
          <p:cNvSpPr/>
          <p:nvPr/>
        </p:nvSpPr>
        <p:spPr>
          <a:xfrm>
            <a:off x="1225846" y="5370688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A55407-6B7D-53AB-E546-9AFDA4767415}"/>
              </a:ext>
            </a:extLst>
          </p:cNvPr>
          <p:cNvSpPr/>
          <p:nvPr/>
        </p:nvSpPr>
        <p:spPr>
          <a:xfrm>
            <a:off x="2307336" y="5382250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0B7238F-2FA1-A9E0-48A6-347792332159}"/>
              </a:ext>
            </a:extLst>
          </p:cNvPr>
          <p:cNvSpPr/>
          <p:nvPr/>
        </p:nvSpPr>
        <p:spPr>
          <a:xfrm>
            <a:off x="3922287" y="5414214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CBF0C7-C989-AB5A-2A54-D81FFB2F4900}"/>
              </a:ext>
            </a:extLst>
          </p:cNvPr>
          <p:cNvSpPr/>
          <p:nvPr/>
        </p:nvSpPr>
        <p:spPr>
          <a:xfrm>
            <a:off x="1287355" y="5723060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804556-7DBF-1060-63F0-5CA77391F620}"/>
              </a:ext>
            </a:extLst>
          </p:cNvPr>
          <p:cNvSpPr/>
          <p:nvPr/>
        </p:nvSpPr>
        <p:spPr>
          <a:xfrm>
            <a:off x="2396555" y="5775128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8C2746-1DE0-8677-AC6A-C3BACD8CB7BC}"/>
              </a:ext>
            </a:extLst>
          </p:cNvPr>
          <p:cNvSpPr/>
          <p:nvPr/>
        </p:nvSpPr>
        <p:spPr>
          <a:xfrm>
            <a:off x="1231578" y="6104898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C8B89-99F7-5E51-A80C-10BE244C1C10}"/>
              </a:ext>
            </a:extLst>
          </p:cNvPr>
          <p:cNvSpPr/>
          <p:nvPr/>
        </p:nvSpPr>
        <p:spPr>
          <a:xfrm>
            <a:off x="2340778" y="6156966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A3553E-009F-EFB5-D708-C38596CA2F56}"/>
              </a:ext>
            </a:extLst>
          </p:cNvPr>
          <p:cNvSpPr/>
          <p:nvPr/>
        </p:nvSpPr>
        <p:spPr>
          <a:xfrm>
            <a:off x="3955729" y="6141971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B3401B-7C46-B652-6B93-75BD651EBC19}"/>
              </a:ext>
            </a:extLst>
          </p:cNvPr>
          <p:cNvSpPr/>
          <p:nvPr/>
        </p:nvSpPr>
        <p:spPr>
          <a:xfrm>
            <a:off x="5567763" y="464101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E3032D-5CA6-B658-20A3-371648B1DF25}"/>
              </a:ext>
            </a:extLst>
          </p:cNvPr>
          <p:cNvSpPr/>
          <p:nvPr/>
        </p:nvSpPr>
        <p:spPr>
          <a:xfrm>
            <a:off x="6676963" y="4667322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EFCD14-E2EF-0EAF-667C-E6E890E88C1B}"/>
              </a:ext>
            </a:extLst>
          </p:cNvPr>
          <p:cNvSpPr/>
          <p:nvPr/>
        </p:nvSpPr>
        <p:spPr>
          <a:xfrm>
            <a:off x="5632732" y="5032558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4FC410E-DAE5-CB5A-6E92-D3818C6586E6}"/>
              </a:ext>
            </a:extLst>
          </p:cNvPr>
          <p:cNvSpPr/>
          <p:nvPr/>
        </p:nvSpPr>
        <p:spPr>
          <a:xfrm>
            <a:off x="6741932" y="5035639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052A5F-45E9-CABC-104D-F0C3BF059FED}"/>
              </a:ext>
            </a:extLst>
          </p:cNvPr>
          <p:cNvSpPr/>
          <p:nvPr/>
        </p:nvSpPr>
        <p:spPr>
          <a:xfrm>
            <a:off x="8356883" y="5045000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519A87-B3AC-20AD-F1FF-FF5D0426311D}"/>
              </a:ext>
            </a:extLst>
          </p:cNvPr>
          <p:cNvSpPr/>
          <p:nvPr/>
        </p:nvSpPr>
        <p:spPr>
          <a:xfrm>
            <a:off x="5690986" y="537622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60B3FB-1961-5F2A-A169-792CC7FEA523}"/>
              </a:ext>
            </a:extLst>
          </p:cNvPr>
          <p:cNvSpPr/>
          <p:nvPr/>
        </p:nvSpPr>
        <p:spPr>
          <a:xfrm>
            <a:off x="6800186" y="5428290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A48CE3B-6112-3DAB-50FA-A85ACBC6BCC0}"/>
              </a:ext>
            </a:extLst>
          </p:cNvPr>
          <p:cNvSpPr/>
          <p:nvPr/>
        </p:nvSpPr>
        <p:spPr>
          <a:xfrm>
            <a:off x="8415137" y="5413295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6E7DF4-957E-B2DD-3317-0BB956399A4A}"/>
              </a:ext>
            </a:extLst>
          </p:cNvPr>
          <p:cNvSpPr/>
          <p:nvPr/>
        </p:nvSpPr>
        <p:spPr>
          <a:xfrm>
            <a:off x="5674657" y="5753367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22FF373-7EA6-6370-A818-83134C9BF29E}"/>
              </a:ext>
            </a:extLst>
          </p:cNvPr>
          <p:cNvSpPr/>
          <p:nvPr/>
        </p:nvSpPr>
        <p:spPr>
          <a:xfrm>
            <a:off x="6800186" y="5772777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07F866A-8C41-BF36-44F0-8D4837D13B06}"/>
              </a:ext>
            </a:extLst>
          </p:cNvPr>
          <p:cNvSpPr/>
          <p:nvPr/>
        </p:nvSpPr>
        <p:spPr>
          <a:xfrm>
            <a:off x="8415137" y="5757782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453902B-1999-CFFD-07E1-037704E5F41F}"/>
              </a:ext>
            </a:extLst>
          </p:cNvPr>
          <p:cNvSpPr/>
          <p:nvPr/>
        </p:nvSpPr>
        <p:spPr>
          <a:xfrm>
            <a:off x="5753016" y="6094447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CEAD9E-DF80-671B-2BD7-3D8C64B0099E}"/>
              </a:ext>
            </a:extLst>
          </p:cNvPr>
          <p:cNvSpPr/>
          <p:nvPr/>
        </p:nvSpPr>
        <p:spPr>
          <a:xfrm>
            <a:off x="6862216" y="6146515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4C2886-899B-36E3-0098-B482D3B4CF16}"/>
              </a:ext>
            </a:extLst>
          </p:cNvPr>
          <p:cNvSpPr/>
          <p:nvPr/>
        </p:nvSpPr>
        <p:spPr>
          <a:xfrm>
            <a:off x="8477167" y="6131520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A391AA55-1488-2CC2-6C11-B8522A4E7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475756"/>
              </p:ext>
            </p:extLst>
          </p:nvPr>
        </p:nvGraphicFramePr>
        <p:xfrm>
          <a:off x="7177181" y="1087038"/>
          <a:ext cx="4652456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1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9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/>
                        <a:t>NT</a:t>
                      </a:r>
                    </a:p>
                  </a:txBody>
                  <a:tcPr marL="45720" marR="0" marT="0" marB="0"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/>
                        <a:t>Input</a:t>
                      </a:r>
                      <a:r>
                        <a:rPr lang="en-US" baseline="0"/>
                        <a:t> Symbol</a:t>
                      </a:r>
                      <a:endParaRPr lang="en-US"/>
                    </a:p>
                  </a:txBody>
                  <a:tcPr marL="45720" marR="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Fid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F(E)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60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D72A-57C7-5199-8384-7E904701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71" y="0"/>
            <a:ext cx="10515600" cy="1325563"/>
          </a:xfrm>
        </p:spPr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98CC2-40BD-37C4-F1BE-C648B39B9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771"/>
            <a:ext cx="10515600" cy="55880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dirty="0"/>
              <a:t>Construct parsing table for the following grammar:</a:t>
            </a:r>
          </a:p>
          <a:p>
            <a:pPr marL="0" indent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S</a:t>
            </a:r>
            <a:r>
              <a:rPr lang="en-IN" sz="2800" spc="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MS UI Gothic"/>
                <a:cs typeface="MS UI Gothic"/>
              </a:rPr>
              <a:t>-&gt;</a:t>
            </a:r>
            <a:r>
              <a:rPr lang="en-IN" sz="2800" spc="-168" dirty="0">
                <a:solidFill>
                  <a:prstClr val="black"/>
                </a:solidFill>
                <a:latin typeface="MS UI Gothic"/>
                <a:cs typeface="MS UI Gothic"/>
              </a:rPr>
              <a:t> </a:t>
            </a:r>
            <a:r>
              <a:rPr lang="en-IN" sz="2800" spc="13" dirty="0" err="1">
                <a:solidFill>
                  <a:prstClr val="black"/>
                </a:solidFill>
                <a:latin typeface="Calibri"/>
                <a:cs typeface="Calibri"/>
              </a:rPr>
              <a:t>aABb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  </a:t>
            </a:r>
          </a:p>
          <a:p>
            <a:pPr marL="0" indent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lang="en-IN" sz="28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MS UI Gothic"/>
                <a:cs typeface="MS UI Gothic"/>
              </a:rPr>
              <a:t>-&gt;</a:t>
            </a:r>
            <a:r>
              <a:rPr lang="en-IN" sz="2800" spc="-168" dirty="0">
                <a:solidFill>
                  <a:prstClr val="black"/>
                </a:solidFill>
                <a:latin typeface="MS UI Gothic"/>
                <a:cs typeface="MS UI Gothic"/>
              </a:rPr>
              <a:t> 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c</a:t>
            </a:r>
            <a:r>
              <a:rPr lang="en-IN" sz="28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|</a:t>
            </a:r>
            <a:r>
              <a:rPr lang="en-IN" sz="28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€  </a:t>
            </a:r>
          </a:p>
          <a:p>
            <a:pPr marL="0" indent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r>
              <a:rPr lang="en-IN" sz="28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MS UI Gothic"/>
                <a:cs typeface="MS UI Gothic"/>
              </a:rPr>
              <a:t>-&gt;</a:t>
            </a:r>
            <a:r>
              <a:rPr lang="en-IN" sz="2800" spc="-168" dirty="0">
                <a:solidFill>
                  <a:prstClr val="black"/>
                </a:solidFill>
                <a:latin typeface="MS UI Gothic"/>
                <a:cs typeface="MS UI Gothic"/>
              </a:rPr>
              <a:t> </a:t>
            </a:r>
            <a:r>
              <a:rPr lang="en-IN" sz="2800" spc="18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 |</a:t>
            </a:r>
            <a:r>
              <a:rPr lang="en-IN" sz="28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18" dirty="0">
                <a:solidFill>
                  <a:prstClr val="black"/>
                </a:solidFill>
                <a:latin typeface="Calibri"/>
                <a:cs typeface="Calibri"/>
              </a:rPr>
              <a:t>€</a:t>
            </a:r>
            <a:endParaRPr lang="en-IN" sz="28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2"/>
            </a:pPr>
            <a:r>
              <a:rPr lang="en-IN" dirty="0"/>
              <a:t>Construct parsing table for the following grammar:</a:t>
            </a:r>
          </a:p>
          <a:p>
            <a:pPr marL="537845" marR="333057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5" dirty="0">
                <a:latin typeface="Calibri"/>
                <a:cs typeface="Calibri"/>
              </a:rPr>
              <a:t>S</a:t>
            </a:r>
            <a:r>
              <a:rPr lang="en-IN" sz="2800" spc="10" dirty="0">
                <a:latin typeface="Calibri"/>
                <a:cs typeface="Calibri"/>
              </a:rPr>
              <a:t> </a:t>
            </a:r>
            <a:r>
              <a:rPr lang="en-IN" sz="2800" spc="-15" dirty="0">
                <a:latin typeface="MS UI Gothic"/>
                <a:cs typeface="MS UI Gothic"/>
              </a:rPr>
              <a:t>-&gt;</a:t>
            </a:r>
            <a:r>
              <a:rPr lang="en-IN" sz="2800" spc="-190" dirty="0">
                <a:latin typeface="MS UI Gothic"/>
                <a:cs typeface="MS UI Gothic"/>
              </a:rPr>
              <a:t> </a:t>
            </a:r>
            <a:r>
              <a:rPr lang="en-IN" sz="2800" spc="15" dirty="0" err="1">
                <a:latin typeface="Calibri"/>
                <a:cs typeface="Calibri"/>
              </a:rPr>
              <a:t>AaA</a:t>
            </a:r>
            <a:r>
              <a:rPr lang="en-IN" sz="2800" spc="20" dirty="0" err="1">
                <a:latin typeface="Calibri"/>
                <a:cs typeface="Calibri"/>
              </a:rPr>
              <a:t>b</a:t>
            </a:r>
            <a:r>
              <a:rPr lang="en-IN" sz="2800" spc="25" dirty="0">
                <a:latin typeface="Calibri"/>
                <a:cs typeface="Calibri"/>
              </a:rPr>
              <a:t> </a:t>
            </a:r>
            <a:r>
              <a:rPr lang="en-IN" sz="2800" spc="15" dirty="0">
                <a:latin typeface="Calibri"/>
                <a:cs typeface="Calibri"/>
              </a:rPr>
              <a:t>|</a:t>
            </a:r>
            <a:r>
              <a:rPr lang="en-IN" sz="2800" spc="5" dirty="0">
                <a:latin typeface="Calibri"/>
                <a:cs typeface="Calibri"/>
              </a:rPr>
              <a:t> </a:t>
            </a:r>
            <a:r>
              <a:rPr lang="en-IN" sz="2800" spc="15" dirty="0" err="1">
                <a:latin typeface="Calibri"/>
                <a:cs typeface="Calibri"/>
              </a:rPr>
              <a:t>BbBa</a:t>
            </a:r>
            <a:r>
              <a:rPr lang="en-IN" sz="2800" spc="15" dirty="0">
                <a:latin typeface="Calibri"/>
                <a:cs typeface="Calibri"/>
              </a:rPr>
              <a:t>  </a:t>
            </a:r>
          </a:p>
          <a:p>
            <a:pPr marL="537845" marR="333057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5" dirty="0">
                <a:latin typeface="Calibri"/>
                <a:cs typeface="Calibri"/>
              </a:rPr>
              <a:t>A</a:t>
            </a:r>
            <a:r>
              <a:rPr lang="en-IN" sz="2800" spc="5" dirty="0">
                <a:latin typeface="Calibri"/>
                <a:cs typeface="Calibri"/>
              </a:rPr>
              <a:t> </a:t>
            </a:r>
            <a:r>
              <a:rPr lang="en-IN" sz="2800" spc="-15" dirty="0">
                <a:latin typeface="MS UI Gothic"/>
                <a:cs typeface="MS UI Gothic"/>
              </a:rPr>
              <a:t>-&gt;</a:t>
            </a:r>
            <a:r>
              <a:rPr lang="en-IN" sz="2800" spc="-190" dirty="0">
                <a:latin typeface="MS UI Gothic"/>
                <a:cs typeface="MS UI Gothic"/>
              </a:rPr>
              <a:t> </a:t>
            </a:r>
            <a:r>
              <a:rPr lang="en-IN" sz="2800" spc="20" dirty="0">
                <a:latin typeface="Calibri"/>
                <a:cs typeface="Calibri"/>
              </a:rPr>
              <a:t>€</a:t>
            </a:r>
            <a:endParaRPr lang="en-IN" sz="2800" dirty="0">
              <a:latin typeface="Calibri"/>
              <a:cs typeface="Calibri"/>
            </a:endParaRPr>
          </a:p>
          <a:p>
            <a:pPr marL="53784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20" dirty="0">
                <a:latin typeface="Calibri"/>
                <a:cs typeface="Calibri"/>
              </a:rPr>
              <a:t>B </a:t>
            </a:r>
            <a:r>
              <a:rPr lang="en-IN" sz="2800" spc="-15" dirty="0">
                <a:latin typeface="MS UI Gothic"/>
                <a:cs typeface="MS UI Gothic"/>
              </a:rPr>
              <a:t>-&gt;</a:t>
            </a:r>
            <a:r>
              <a:rPr lang="en-IN" sz="2800" spc="-190" dirty="0">
                <a:latin typeface="MS UI Gothic"/>
                <a:cs typeface="MS UI Gothic"/>
              </a:rPr>
              <a:t> </a:t>
            </a:r>
            <a:r>
              <a:rPr lang="en-IN" sz="2800" spc="20" dirty="0">
                <a:latin typeface="Calibri"/>
                <a:cs typeface="Calibri"/>
              </a:rPr>
              <a:t>€</a:t>
            </a:r>
            <a:endParaRPr lang="en-IN" spc="20" dirty="0">
              <a:latin typeface="Calibri"/>
              <a:cs typeface="Calibri"/>
            </a:endParaRPr>
          </a:p>
          <a:p>
            <a:pPr marL="536575" indent="-536575" algn="l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"/>
            </a:pPr>
            <a:r>
              <a:rPr lang="en-IN" dirty="0"/>
              <a:t>Construct parsing table for the following grammar:</a:t>
            </a:r>
          </a:p>
          <a:p>
            <a:pPr marL="537845" marR="121539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10" dirty="0"/>
              <a:t>S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95" dirty="0">
                <a:latin typeface="MS UI Gothic"/>
                <a:cs typeface="MS UI Gothic"/>
              </a:rPr>
              <a:t> </a:t>
            </a:r>
            <a:r>
              <a:rPr lang="en-IN" spc="5" dirty="0"/>
              <a:t>A</a:t>
            </a:r>
            <a:r>
              <a:rPr lang="en-IN" spc="10" dirty="0"/>
              <a:t>B</a:t>
            </a:r>
            <a:r>
              <a:rPr lang="en-IN" spc="20" dirty="0"/>
              <a:t> </a:t>
            </a:r>
            <a:r>
              <a:rPr lang="en-IN" spc="10" dirty="0"/>
              <a:t>|</a:t>
            </a:r>
            <a:r>
              <a:rPr lang="en-IN" spc="15" dirty="0" err="1"/>
              <a:t>e</a:t>
            </a:r>
            <a:r>
              <a:rPr lang="en-IN" spc="5" dirty="0" err="1"/>
              <a:t>Da</a:t>
            </a:r>
            <a:r>
              <a:rPr lang="en-IN" spc="5" dirty="0"/>
              <a:t>  </a:t>
            </a:r>
          </a:p>
          <a:p>
            <a:pPr marL="537845" marR="121539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5" dirty="0"/>
              <a:t>A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95" dirty="0">
                <a:latin typeface="MS UI Gothic"/>
                <a:cs typeface="MS UI Gothic"/>
              </a:rPr>
              <a:t> </a:t>
            </a:r>
            <a:r>
              <a:rPr lang="en-IN" spc="10" dirty="0"/>
              <a:t>ab</a:t>
            </a:r>
            <a:r>
              <a:rPr lang="en-IN" spc="5" dirty="0"/>
              <a:t> |c</a:t>
            </a:r>
          </a:p>
          <a:p>
            <a:pPr marL="53784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10" dirty="0"/>
              <a:t>B</a:t>
            </a:r>
            <a:r>
              <a:rPr lang="en-IN" spc="5" dirty="0"/>
              <a:t>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95" dirty="0">
                <a:latin typeface="MS UI Gothic"/>
                <a:cs typeface="MS UI Gothic"/>
              </a:rPr>
              <a:t> </a:t>
            </a:r>
            <a:r>
              <a:rPr lang="en-IN" spc="5" dirty="0" err="1"/>
              <a:t>d</a:t>
            </a:r>
            <a:r>
              <a:rPr lang="en-IN" spc="10" dirty="0" err="1"/>
              <a:t>C</a:t>
            </a:r>
            <a:endParaRPr lang="en-IN" spc="10" dirty="0"/>
          </a:p>
          <a:p>
            <a:pPr marL="537845" marR="149288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10" dirty="0"/>
              <a:t>C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80" dirty="0">
                <a:latin typeface="MS UI Gothic"/>
                <a:cs typeface="MS UI Gothic"/>
              </a:rPr>
              <a:t> </a:t>
            </a:r>
            <a:r>
              <a:rPr lang="en-IN" spc="15" dirty="0" err="1"/>
              <a:t>e</a:t>
            </a:r>
            <a:r>
              <a:rPr lang="en-IN" spc="10" dirty="0" err="1"/>
              <a:t>C</a:t>
            </a:r>
            <a:r>
              <a:rPr lang="en-IN" spc="-15" dirty="0"/>
              <a:t> </a:t>
            </a:r>
            <a:r>
              <a:rPr lang="en-IN" spc="10" dirty="0"/>
              <a:t>| </a:t>
            </a:r>
            <a:r>
              <a:rPr lang="en-IN" spc="5" dirty="0"/>
              <a:t>€  </a:t>
            </a:r>
          </a:p>
          <a:p>
            <a:pPr marL="537845" marR="149288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5" dirty="0"/>
              <a:t>D</a:t>
            </a:r>
            <a:r>
              <a:rPr lang="en-IN" spc="10" dirty="0"/>
              <a:t>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95" dirty="0">
                <a:latin typeface="MS UI Gothic"/>
                <a:cs typeface="MS UI Gothic"/>
              </a:rPr>
              <a:t> </a:t>
            </a:r>
            <a:r>
              <a:rPr lang="en-IN" spc="10" dirty="0" err="1"/>
              <a:t>fD</a:t>
            </a:r>
            <a:r>
              <a:rPr lang="en-IN" dirty="0"/>
              <a:t> </a:t>
            </a:r>
            <a:r>
              <a:rPr lang="en-IN" spc="10" dirty="0"/>
              <a:t>| €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5350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049" y="845264"/>
            <a:ext cx="6871377" cy="596193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>
              <a:lnSpc>
                <a:spcPct val="150000"/>
              </a:lnSpc>
              <a:spcBef>
                <a:spcPts val="124"/>
              </a:spcBef>
            </a:pPr>
            <a:r>
              <a:rPr lang="en-IN" sz="28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Solution to</a:t>
            </a:r>
            <a:r>
              <a:rPr sz="28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28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Ex</a:t>
            </a:r>
            <a:r>
              <a:rPr lang="en-IN" sz="28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:</a:t>
            </a:r>
            <a:r>
              <a:rPr sz="28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6858" y="1598406"/>
            <a:ext cx="10856686" cy="4819295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676311" marR="4893870" algn="just" defTabSz="806867">
              <a:lnSpc>
                <a:spcPct val="150000"/>
              </a:lnSpc>
              <a:spcBef>
                <a:spcPts val="115"/>
              </a:spcBef>
            </a:pP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6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aABb  A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6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  B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6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|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50000"/>
              </a:lnSpc>
              <a:spcBef>
                <a:spcPts val="653"/>
              </a:spcBef>
            </a:pP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Step: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1: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No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left recursion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in the 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grammar,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hence no modification </a:t>
            </a:r>
            <a:r>
              <a:rPr sz="280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required.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459"/>
              </a:spcBef>
            </a:pP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2: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</a:t>
            </a:r>
            <a:r>
              <a:rPr sz="28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499"/>
              </a:spcBef>
            </a:pP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First(S)</a:t>
            </a:r>
            <a:r>
              <a:rPr sz="2800" spc="-4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{a}</a:t>
            </a:r>
          </a:p>
          <a:p>
            <a:pPr marL="11206" defTabSz="806867">
              <a:lnSpc>
                <a:spcPct val="150000"/>
              </a:lnSpc>
              <a:spcBef>
                <a:spcPts val="485"/>
              </a:spcBef>
            </a:pP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</a:t>
            </a:r>
            <a:r>
              <a:rPr sz="2800" spc="-4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{c,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€}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499"/>
              </a:spcBef>
            </a:pP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First(B)</a:t>
            </a:r>
            <a:r>
              <a:rPr sz="28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{d,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€}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2514" y="283029"/>
            <a:ext cx="11146972" cy="4818616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 marR="652217" defTabSz="806867">
              <a:lnSpc>
                <a:spcPct val="125000"/>
              </a:lnSpc>
            </a:pP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3: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</a:t>
            </a:r>
            <a:r>
              <a:rPr sz="28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 </a:t>
            </a:r>
            <a:r>
              <a:rPr sz="280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Follow(S)</a:t>
            </a:r>
            <a:r>
              <a:rPr sz="28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800" spc="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{$}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25000"/>
              </a:lnSpc>
            </a:pP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Follow(A)</a:t>
            </a:r>
            <a:r>
              <a:rPr sz="28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First(Bb)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First(B)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{d,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€)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algn="just" defTabSz="806867">
              <a:lnSpc>
                <a:spcPct val="125000"/>
              </a:lnSpc>
            </a:pP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Since it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contains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€,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continue FIRST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rule. </a:t>
            </a:r>
            <a:r>
              <a:rPr sz="280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First(Bb)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First(B)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-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U </a:t>
            </a:r>
            <a:r>
              <a:rPr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(b)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{d, b} </a:t>
            </a:r>
            <a:r>
              <a:rPr sz="280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Follow(A)</a:t>
            </a:r>
            <a:r>
              <a:rPr sz="28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800" spc="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{d,b}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algn="just" defTabSz="806867">
              <a:lnSpc>
                <a:spcPct val="125000"/>
              </a:lnSpc>
            </a:pP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Follow(B)=</a:t>
            </a:r>
            <a:r>
              <a:rPr sz="2800" spc="-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5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{b}</a:t>
            </a:r>
            <a:endParaRPr lang="en-IN" sz="2800" spc="53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algn="just" defTabSz="806867">
              <a:lnSpc>
                <a:spcPct val="125000"/>
              </a:lnSpc>
            </a:pP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 4: Parsing Table</a:t>
            </a:r>
          </a:p>
          <a:p>
            <a:pPr marL="11206" algn="just" defTabSz="806867">
              <a:lnSpc>
                <a:spcPct val="125000"/>
              </a:lnSpc>
            </a:pP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 is LL(1)</a:t>
            </a:r>
          </a:p>
          <a:p>
            <a:pPr marL="11206" algn="just" defTabSz="806867">
              <a:lnSpc>
                <a:spcPct val="125000"/>
              </a:lnSpc>
            </a:pP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Example String: </a:t>
            </a:r>
            <a:r>
              <a:rPr lang="en-US" sz="2800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acdb</a:t>
            </a: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$	H/w string: </a:t>
            </a:r>
            <a:r>
              <a:rPr lang="en-US" sz="2800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adb</a:t>
            </a: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$</a:t>
            </a:r>
          </a:p>
          <a:p>
            <a:pPr marL="11206" algn="just" defTabSz="806867">
              <a:lnSpc>
                <a:spcPct val="125000"/>
              </a:lnSpc>
            </a:pPr>
            <a:endParaRPr lang="en-IN"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963705D5-5BFB-0788-FD43-FD24AF72A395}"/>
              </a:ext>
            </a:extLst>
          </p:cNvPr>
          <p:cNvGraphicFramePr>
            <a:graphicFrameLocks noGrp="1"/>
          </p:cNvGraphicFramePr>
          <p:nvPr/>
        </p:nvGraphicFramePr>
        <p:xfrm>
          <a:off x="2275225" y="4868091"/>
          <a:ext cx="6607517" cy="1706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2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8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0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0" dirty="0" err="1">
                          <a:latin typeface="Palatino Linotype" panose="02040502050505030304" pitchFamily="18" charset="0"/>
                          <a:cs typeface="Calibri"/>
                        </a:rPr>
                        <a:t>aABb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8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28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0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0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0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28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0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5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0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5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8065" y="329868"/>
            <a:ext cx="3786867" cy="443899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 defTabSz="806867">
              <a:spcBef>
                <a:spcPts val="101"/>
              </a:spcBef>
            </a:pP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Example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String: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acdb$</a:t>
            </a:r>
            <a:endParaRPr sz="280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7213" y="982456"/>
          <a:ext cx="10922616" cy="195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9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1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9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4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 err="1">
                          <a:latin typeface="Palatino Linotype" panose="02040502050505030304" pitchFamily="18" charset="0"/>
                          <a:cs typeface="Calibri"/>
                        </a:rPr>
                        <a:t>aABb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4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4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4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47126" y="3228584"/>
          <a:ext cx="10797386" cy="3304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15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Stack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Input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Action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Push</a:t>
                      </a:r>
                      <a:r>
                        <a:rPr sz="2000" spc="-10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sz="2000" spc="-10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into</a:t>
                      </a:r>
                      <a:r>
                        <a:rPr sz="2000" spc="-15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Stack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$S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000" spc="2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25" dirty="0" err="1">
                          <a:latin typeface="Palatino Linotype" panose="02040502050505030304" pitchFamily="18" charset="0"/>
                          <a:cs typeface="Calibri"/>
                        </a:rPr>
                        <a:t>aABb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74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$bBAa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Pop</a:t>
                      </a:r>
                      <a:r>
                        <a:rPr sz="2000" spc="-30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$bBA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000" spc="1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74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$bBc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Pop</a:t>
                      </a:r>
                      <a:r>
                        <a:rPr sz="2000" spc="-35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$bB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000" spc="2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74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$bd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Pop</a:t>
                      </a:r>
                      <a:r>
                        <a:rPr sz="2000" spc="-35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$b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Pop</a:t>
                      </a:r>
                      <a:r>
                        <a:rPr sz="2000" spc="-35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Accept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846" y="542990"/>
            <a:ext cx="4283449" cy="508284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>
              <a:spcBef>
                <a:spcPts val="124"/>
              </a:spcBef>
            </a:pPr>
            <a:r>
              <a:rPr lang="en-IN"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Solution to</a:t>
            </a:r>
            <a:r>
              <a:rPr sz="32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Ex</a:t>
            </a:r>
            <a:r>
              <a:rPr lang="en-IN"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:</a:t>
            </a:r>
            <a:r>
              <a:rPr sz="32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3200" spc="18" dirty="0">
                <a:solidFill>
                  <a:srgbClr val="FF0000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4845" y="1240373"/>
            <a:ext cx="11515725" cy="5360879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676311" marR="4592416" defTabSz="806867">
              <a:lnSpc>
                <a:spcPct val="150000"/>
              </a:lnSpc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 </a:t>
            </a:r>
            <a:r>
              <a:rPr lang="en-IN"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72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 </a:t>
            </a:r>
            <a:r>
              <a:rPr sz="2800" spc="4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BbBa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 </a:t>
            </a:r>
            <a:endParaRPr lang="en-IN" sz="2800" spc="4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marR="4592416" defTabSz="806867">
              <a:lnSpc>
                <a:spcPct val="150000"/>
              </a:lnSpc>
            </a:pP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 </a:t>
            </a:r>
            <a:r>
              <a:rPr lang="en-IN"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72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defTabSz="806867">
              <a:lnSpc>
                <a:spcPct val="150000"/>
              </a:lnSpc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72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287"/>
              </a:spcBef>
            </a:pP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Step: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1: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No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left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recursion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in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the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grammar,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hence</a:t>
            </a:r>
            <a:r>
              <a:rPr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no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modification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required.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3899855" defTabSz="806867">
              <a:lnSpc>
                <a:spcPct val="150000"/>
              </a:lnSpc>
              <a:spcBef>
                <a:spcPts val="13"/>
              </a:spcBef>
            </a:pP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2: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 of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 </a:t>
            </a:r>
            <a:r>
              <a:rPr sz="24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First(S)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First(AaAb)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U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First(BbBa) </a:t>
            </a:r>
            <a:r>
              <a:rPr sz="2400" spc="-41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First(AaAb)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€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3138375" defTabSz="806867">
              <a:lnSpc>
                <a:spcPct val="150000"/>
              </a:lnSpc>
              <a:spcBef>
                <a:spcPts val="9"/>
              </a:spcBef>
            </a:pP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Since </a:t>
            </a:r>
            <a:r>
              <a:rPr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it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contains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€,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continue FIRST </a:t>
            </a:r>
            <a:r>
              <a:rPr sz="24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rule </a:t>
            </a:r>
            <a:r>
              <a:rPr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First(AaAb)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- € U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First(aAb)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{a} </a:t>
            </a:r>
            <a:r>
              <a:rPr sz="2400" spc="-41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Similarly:</a:t>
            </a:r>
            <a:r>
              <a:rPr sz="24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First(BbBa)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{b}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278"/>
              </a:spcBef>
            </a:pP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First(S)</a:t>
            </a:r>
            <a:r>
              <a:rPr sz="2400" spc="-4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{a,b}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23646" y="1598406"/>
            <a:ext cx="8489497" cy="3431736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 marR="4483" defTabSz="806867">
              <a:lnSpc>
                <a:spcPct val="120400"/>
              </a:lnSpc>
            </a:pP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sz="203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3:</a:t>
            </a:r>
            <a:r>
              <a:rPr sz="203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</a:t>
            </a:r>
            <a:r>
              <a:rPr sz="203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sz="203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</a:t>
            </a:r>
            <a:r>
              <a:rPr sz="203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 </a:t>
            </a:r>
            <a:r>
              <a:rPr sz="203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Follow(S)</a:t>
            </a:r>
            <a:r>
              <a:rPr sz="203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{$}</a:t>
            </a:r>
            <a:endParaRPr lang="en-IN" sz="2030" spc="4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20400"/>
              </a:lnSpc>
            </a:pP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Follow(A)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lang="en-US" sz="203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</a:t>
            </a:r>
            <a:r>
              <a:rPr lang="en-US" sz="2030" spc="-4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aAb</a:t>
            </a:r>
            <a:r>
              <a:rPr lang="en-US" sz="203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)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a </a:t>
            </a:r>
            <a:r>
              <a:rPr lang="en-US" sz="203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4483" defTabSz="806867">
              <a:lnSpc>
                <a:spcPct val="120400"/>
              </a:lnSpc>
            </a:pP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Follow(A)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 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</a:t>
            </a:r>
            <a:r>
              <a:rPr lang="en-US" sz="2030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a,b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}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4483" defTabSz="806867">
              <a:lnSpc>
                <a:spcPct val="120400"/>
              </a:lnSpc>
            </a:pPr>
            <a:endParaRPr lang="en-US" sz="2030" spc="4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20400"/>
              </a:lnSpc>
            </a:pP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Similarly,</a:t>
            </a:r>
          </a:p>
          <a:p>
            <a:pPr marL="11206" marR="4483" defTabSz="806867">
              <a:lnSpc>
                <a:spcPct val="120400"/>
              </a:lnSpc>
            </a:pPr>
            <a:r>
              <a:rPr lang="en-US" sz="2030" spc="-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Follow(B)</a:t>
            </a:r>
            <a:r>
              <a:rPr lang="en-US" sz="2030" spc="-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03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</a:t>
            </a:r>
            <a:r>
              <a:rPr lang="en-US" sz="2030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a,b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}</a:t>
            </a:r>
          </a:p>
          <a:p>
            <a:pPr marL="11206" marR="4483" defTabSz="806867">
              <a:lnSpc>
                <a:spcPct val="120400"/>
              </a:lnSpc>
            </a:pP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4:Construction</a:t>
            </a:r>
            <a:r>
              <a:rPr lang="en-US" sz="24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Parsing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Table: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is</a:t>
            </a:r>
            <a:r>
              <a:rPr lang="en-US"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LL(1)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20400"/>
              </a:lnSpc>
            </a:pPr>
            <a:endParaRPr lang="en-US" sz="203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20400"/>
              </a:lnSpc>
            </a:pPr>
            <a:endParaRPr sz="203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3646" y="2785308"/>
            <a:ext cx="2557743" cy="32540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 defTabSz="806867">
              <a:spcBef>
                <a:spcPts val="101"/>
              </a:spcBef>
            </a:pPr>
            <a:r>
              <a:rPr sz="2030" dirty="0">
                <a:solidFill>
                  <a:prstClr val="black"/>
                </a:solidFill>
                <a:latin typeface="Calibri"/>
                <a:cs typeface="Calibri"/>
              </a:rPr>
              <a:t>Follow(A)</a:t>
            </a:r>
            <a:r>
              <a:rPr sz="2030" spc="-4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030" spc="-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030" spc="-4" dirty="0">
                <a:solidFill>
                  <a:prstClr val="black"/>
                </a:solidFill>
                <a:latin typeface="Calibri"/>
                <a:cs typeface="Calibri"/>
              </a:rPr>
              <a:t>First(b)</a:t>
            </a:r>
            <a:r>
              <a:rPr sz="2030" spc="-3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030" spc="-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Calibri"/>
                <a:cs typeface="Calibri"/>
              </a:rPr>
              <a:t>{b}</a:t>
            </a:r>
            <a:endParaRPr sz="203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BFDA74DF-48CB-8769-17EA-21ADFAC7B54B}"/>
              </a:ext>
            </a:extLst>
          </p:cNvPr>
          <p:cNvGraphicFramePr>
            <a:graphicFrameLocks noGrp="1"/>
          </p:cNvGraphicFramePr>
          <p:nvPr/>
        </p:nvGraphicFramePr>
        <p:xfrm>
          <a:off x="2445960" y="4471418"/>
          <a:ext cx="7699524" cy="2161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4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5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400" spc="1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5" dirty="0" err="1">
                          <a:latin typeface="Palatino Linotype" panose="02040502050505030304" pitchFamily="18" charset="0"/>
                          <a:cs typeface="Calibri"/>
                        </a:rPr>
                        <a:t>AaAb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 err="1">
                          <a:latin typeface="Palatino Linotype" panose="02040502050505030304" pitchFamily="18" charset="0"/>
                          <a:cs typeface="Calibri"/>
                        </a:rPr>
                        <a:t>BbBa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66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800" spc="5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073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800" spc="5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073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262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40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80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</a:p>
                  </a:txBody>
                  <a:tcPr marL="0" marR="0" marT="2185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40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80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</a:p>
                  </a:txBody>
                  <a:tcPr marL="0" marR="0" marT="2185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3017" y="626174"/>
            <a:ext cx="4283449" cy="508284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>
              <a:spcBef>
                <a:spcPts val="124"/>
              </a:spcBef>
            </a:pPr>
            <a:r>
              <a:rPr lang="en-IN"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Solution to </a:t>
            </a:r>
            <a:r>
              <a:rPr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Ex</a:t>
            </a:r>
            <a:r>
              <a:rPr lang="en-IN"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:</a:t>
            </a:r>
            <a:r>
              <a:rPr sz="32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3200" spc="18" dirty="0">
                <a:solidFill>
                  <a:srgbClr val="FF0000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3817" y="1137150"/>
            <a:ext cx="10739212" cy="5345770"/>
          </a:xfrm>
          <a:prstGeom prst="rect">
            <a:avLst/>
          </a:prstGeom>
        </p:spPr>
        <p:txBody>
          <a:bodyPr vert="horz" wrap="square" lIns="0" tIns="56590" rIns="0" bIns="0" rtlCol="0">
            <a:spAutoFit/>
          </a:bodyPr>
          <a:lstStyle/>
          <a:p>
            <a:pPr marL="676311" marR="4666378" defTabSz="806867">
              <a:spcBef>
                <a:spcPts val="446"/>
              </a:spcBef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50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lang="en-IN"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</a:t>
            </a:r>
            <a:r>
              <a:rPr sz="2800" spc="18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</a:t>
            </a:r>
            <a:r>
              <a:rPr sz="2800" spc="4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</a:t>
            </a:r>
            <a:r>
              <a:rPr sz="2800" spc="9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 </a:t>
            </a:r>
            <a:endParaRPr lang="en-IN" sz="2800" spc="9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marR="4666378" defTabSz="806867">
              <a:spcBef>
                <a:spcPts val="446"/>
              </a:spcBef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50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|c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defTabSz="806867"/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50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dC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marR="4888267" defTabSz="806867">
              <a:spcBef>
                <a:spcPts val="172"/>
              </a:spcBef>
            </a:pP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50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  </a:t>
            </a:r>
            <a:endParaRPr lang="en-IN" sz="2800" spc="9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marR="4888267" defTabSz="806867">
              <a:spcBef>
                <a:spcPts val="172"/>
              </a:spcBef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41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fD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defTabSz="806867">
              <a:spcBef>
                <a:spcPts val="35"/>
              </a:spcBef>
            </a:pP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/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Step: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1: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No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left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recursion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in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the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grammar,</a:t>
            </a:r>
            <a:r>
              <a:rPr sz="24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hence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no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modification</a:t>
            </a:r>
            <a:r>
              <a:rPr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required.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28"/>
              </a:spcBef>
            </a:pPr>
            <a:r>
              <a:rPr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2:</a:t>
            </a:r>
            <a:r>
              <a:rPr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</a:t>
            </a:r>
            <a:r>
              <a:rPr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37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First(S)</a:t>
            </a:r>
            <a:r>
              <a:rPr sz="24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{a,c,e}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28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</a:t>
            </a:r>
            <a:r>
              <a:rPr sz="24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{a,c}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37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First(B)</a:t>
            </a:r>
            <a:r>
              <a:rPr sz="2400" spc="-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{d}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28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First(C)</a:t>
            </a:r>
            <a:r>
              <a:rPr sz="24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{e,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28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First(D)</a:t>
            </a:r>
            <a:r>
              <a:rPr sz="24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{f,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878114" y="645288"/>
            <a:ext cx="10297886" cy="5077981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11206"/>
            <a:r>
              <a:rPr sz="2400" spc="13" dirty="0">
                <a:latin typeface="Palatino Linotype" panose="02040502050505030304" pitchFamily="18" charset="0"/>
              </a:rPr>
              <a:t>Step</a:t>
            </a:r>
            <a:r>
              <a:rPr sz="2400" spc="-18" dirty="0">
                <a:latin typeface="Palatino Linotype" panose="02040502050505030304" pitchFamily="18" charset="0"/>
              </a:rPr>
              <a:t> </a:t>
            </a:r>
            <a:r>
              <a:rPr sz="2400" spc="4" dirty="0">
                <a:latin typeface="Palatino Linotype" panose="02040502050505030304" pitchFamily="18" charset="0"/>
              </a:rPr>
              <a:t>3:</a:t>
            </a:r>
            <a:r>
              <a:rPr sz="2400" spc="-26" dirty="0">
                <a:latin typeface="Palatino Linotype" panose="02040502050505030304" pitchFamily="18" charset="0"/>
              </a:rPr>
              <a:t> </a:t>
            </a:r>
            <a:r>
              <a:rPr sz="2400" spc="13" dirty="0">
                <a:latin typeface="Palatino Linotype" panose="02040502050505030304" pitchFamily="18" charset="0"/>
              </a:rPr>
              <a:t>Calculation</a:t>
            </a:r>
            <a:r>
              <a:rPr sz="2400" spc="9" dirty="0">
                <a:latin typeface="Palatino Linotype" panose="02040502050505030304" pitchFamily="18" charset="0"/>
              </a:rPr>
              <a:t> </a:t>
            </a:r>
            <a:r>
              <a:rPr sz="2400" spc="13" dirty="0">
                <a:latin typeface="Palatino Linotype" panose="02040502050505030304" pitchFamily="18" charset="0"/>
              </a:rPr>
              <a:t>of</a:t>
            </a:r>
            <a:r>
              <a:rPr sz="2400" spc="-9" dirty="0">
                <a:latin typeface="Palatino Linotype" panose="02040502050505030304" pitchFamily="18" charset="0"/>
              </a:rPr>
              <a:t> </a:t>
            </a:r>
            <a:r>
              <a:rPr sz="2400" spc="18" dirty="0">
                <a:latin typeface="Palatino Linotype" panose="02040502050505030304" pitchFamily="18" charset="0"/>
              </a:rPr>
              <a:t>Follow</a:t>
            </a:r>
            <a:r>
              <a:rPr sz="2400" spc="-18" dirty="0">
                <a:latin typeface="Palatino Linotype" panose="02040502050505030304" pitchFamily="18" charset="0"/>
              </a:rPr>
              <a:t> </a:t>
            </a:r>
            <a:r>
              <a:rPr sz="2400" spc="13" dirty="0">
                <a:latin typeface="Palatino Linotype" panose="02040502050505030304" pitchFamily="18" charset="0"/>
              </a:rPr>
              <a:t>Set</a:t>
            </a:r>
            <a:endParaRPr sz="2400" dirty="0">
              <a:latin typeface="Palatino Linotype" panose="02040502050505030304" pitchFamily="18" charset="0"/>
            </a:endParaRPr>
          </a:p>
          <a:p>
            <a:pPr marL="11206" marR="1803682">
              <a:lnSpc>
                <a:spcPct val="111600"/>
              </a:lnSpc>
              <a:spcBef>
                <a:spcPts val="13"/>
              </a:spcBef>
            </a:pPr>
            <a:r>
              <a:rPr sz="2400" spc="-9" dirty="0">
                <a:latin typeface="Palatino Linotype" panose="02040502050505030304" pitchFamily="18" charset="0"/>
              </a:rPr>
              <a:t>Follow(S)</a:t>
            </a:r>
            <a:r>
              <a:rPr sz="2400" spc="-18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</a:t>
            </a:r>
            <a:r>
              <a:rPr sz="2400" spc="-35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{$} </a:t>
            </a:r>
            <a:r>
              <a:rPr sz="2400" spc="-415" dirty="0">
                <a:latin typeface="Palatino Linotype" panose="02040502050505030304" pitchFamily="18" charset="0"/>
              </a:rPr>
              <a:t> </a:t>
            </a:r>
            <a:endParaRPr lang="en-IN" sz="2400" spc="-415" dirty="0">
              <a:latin typeface="Palatino Linotype" panose="02040502050505030304" pitchFamily="18" charset="0"/>
            </a:endParaRPr>
          </a:p>
          <a:p>
            <a:pPr marL="11206" marR="1803682">
              <a:lnSpc>
                <a:spcPct val="111600"/>
              </a:lnSpc>
              <a:spcBef>
                <a:spcPts val="13"/>
              </a:spcBef>
            </a:pPr>
            <a:r>
              <a:rPr sz="2400" spc="-13" dirty="0">
                <a:latin typeface="Palatino Linotype" panose="02040502050505030304" pitchFamily="18" charset="0"/>
              </a:rPr>
              <a:t>S</a:t>
            </a:r>
            <a:r>
              <a:rPr lang="en-IN" sz="2400" spc="-13" dirty="0"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400" spc="-13" dirty="0">
                <a:latin typeface="Palatino Linotype" panose="02040502050505030304" pitchFamily="18" charset="0"/>
              </a:rPr>
              <a:t>AB</a:t>
            </a:r>
            <a:endParaRPr sz="2400" dirty="0">
              <a:latin typeface="Palatino Linotype" panose="02040502050505030304" pitchFamily="18" charset="0"/>
              <a:cs typeface="MS UI Gothic"/>
            </a:endParaRPr>
          </a:p>
          <a:p>
            <a:pPr marL="11206" marR="656139">
              <a:lnSpc>
                <a:spcPts val="2550"/>
              </a:lnSpc>
              <a:spcBef>
                <a:spcPts val="79"/>
              </a:spcBef>
            </a:pPr>
            <a:r>
              <a:rPr sz="2400" spc="-9" dirty="0">
                <a:latin typeface="Palatino Linotype" panose="02040502050505030304" pitchFamily="18" charset="0"/>
              </a:rPr>
              <a:t>Follow(A)</a:t>
            </a:r>
            <a:r>
              <a:rPr sz="2400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 </a:t>
            </a:r>
            <a:r>
              <a:rPr sz="2400" spc="-13" dirty="0">
                <a:latin typeface="Palatino Linotype" panose="02040502050505030304" pitchFamily="18" charset="0"/>
              </a:rPr>
              <a:t>First(B)</a:t>
            </a:r>
            <a:r>
              <a:rPr sz="2400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</a:t>
            </a:r>
            <a:r>
              <a:rPr sz="2400" spc="-13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{d} </a:t>
            </a:r>
            <a:r>
              <a:rPr sz="2400" dirty="0">
                <a:latin typeface="Palatino Linotype" panose="02040502050505030304" pitchFamily="18" charset="0"/>
              </a:rPr>
              <a:t> </a:t>
            </a:r>
            <a:r>
              <a:rPr sz="2400" spc="-9" dirty="0">
                <a:latin typeface="Palatino Linotype" panose="02040502050505030304" pitchFamily="18" charset="0"/>
              </a:rPr>
              <a:t>Follow(B)</a:t>
            </a:r>
            <a:r>
              <a:rPr sz="2400" spc="4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</a:t>
            </a:r>
            <a:r>
              <a:rPr sz="2400" spc="-18" dirty="0">
                <a:latin typeface="Palatino Linotype" panose="02040502050505030304" pitchFamily="18" charset="0"/>
              </a:rPr>
              <a:t> </a:t>
            </a:r>
            <a:r>
              <a:rPr sz="2400" spc="-9" dirty="0">
                <a:latin typeface="Palatino Linotype" panose="02040502050505030304" pitchFamily="18" charset="0"/>
              </a:rPr>
              <a:t>Follow(S)</a:t>
            </a:r>
            <a:r>
              <a:rPr sz="2400" spc="4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</a:t>
            </a:r>
            <a:r>
              <a:rPr sz="2400" spc="-26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{$}</a:t>
            </a:r>
            <a:endParaRPr lang="en-IN" sz="2400" spc="-4" dirty="0">
              <a:latin typeface="Palatino Linotype" panose="02040502050505030304" pitchFamily="18" charset="0"/>
            </a:endParaRPr>
          </a:p>
          <a:p>
            <a:pPr marL="11206" defTabSz="806867">
              <a:spcBef>
                <a:spcPts val="353"/>
              </a:spcBef>
            </a:pPr>
            <a:r>
              <a:rPr lang="en-US"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</a:t>
            </a:r>
            <a:r>
              <a:rPr lang="en-US"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lang="en-US" sz="2400" spc="-22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eDA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262232" defTabSz="806867">
              <a:lnSpc>
                <a:spcPct val="111600"/>
              </a:lnSpc>
            </a:pP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Follow(D)</a:t>
            </a:r>
            <a:r>
              <a:rPr lang="en-US"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{a} </a:t>
            </a:r>
            <a:r>
              <a:rPr lang="en-US" sz="2400" spc="-41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262232" defTabSz="806867">
              <a:lnSpc>
                <a:spcPct val="111600"/>
              </a:lnSpc>
            </a:pP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lang="en-US" sz="2400" spc="-18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dC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35861" defTabSz="806867">
              <a:lnSpc>
                <a:spcPct val="111600"/>
              </a:lnSpc>
              <a:spcBef>
                <a:spcPts val="9"/>
              </a:spcBef>
            </a:pP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Follow(C)</a:t>
            </a:r>
            <a:r>
              <a:rPr lang="en-US"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Follow(B)</a:t>
            </a:r>
            <a:r>
              <a:rPr lang="en-US"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{$} </a:t>
            </a:r>
            <a:r>
              <a:rPr lang="en-US" sz="2400" spc="-41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35861" defTabSz="806867">
              <a:lnSpc>
                <a:spcPct val="111600"/>
              </a:lnSpc>
              <a:spcBef>
                <a:spcPts val="9"/>
              </a:spcBef>
            </a:pP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</a:t>
            </a: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lang="en-US" sz="2400" spc="-18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eC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36421" defTabSz="806867">
              <a:lnSpc>
                <a:spcPts val="2550"/>
              </a:lnSpc>
              <a:spcBef>
                <a:spcPts val="124"/>
              </a:spcBef>
            </a:pP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Follow(C)</a:t>
            </a:r>
            <a:r>
              <a:rPr lang="en-US"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Follow(C)</a:t>
            </a:r>
            <a:r>
              <a:rPr lang="en-US"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{$} </a:t>
            </a:r>
            <a:r>
              <a:rPr lang="en-US" sz="2400" spc="-41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36421" defTabSz="806867">
              <a:lnSpc>
                <a:spcPts val="2550"/>
              </a:lnSpc>
              <a:spcBef>
                <a:spcPts val="124"/>
              </a:spcBef>
            </a:pP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lang="en-US" sz="2400" spc="-13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fD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37"/>
              </a:spcBef>
            </a:pP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Follow(D)</a:t>
            </a:r>
            <a:r>
              <a:rPr lang="en-US"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Follow(D)</a:t>
            </a:r>
            <a:r>
              <a:rPr lang="en-US"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{a}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656139">
              <a:lnSpc>
                <a:spcPts val="2550"/>
              </a:lnSpc>
              <a:spcBef>
                <a:spcPts val="79"/>
              </a:spcBef>
            </a:pPr>
            <a:endParaRPr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8FCEA43C-0293-61CF-6244-5E9E23156FDA}"/>
              </a:ext>
            </a:extLst>
          </p:cNvPr>
          <p:cNvGraphicFramePr>
            <a:graphicFrameLocks noGrp="1"/>
          </p:cNvGraphicFramePr>
          <p:nvPr/>
        </p:nvGraphicFramePr>
        <p:xfrm>
          <a:off x="5000170" y="3381830"/>
          <a:ext cx="6850740" cy="3171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65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57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e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f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274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AB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AB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 err="1">
                          <a:latin typeface="Palatino Linotype" panose="02040502050505030304" pitchFamily="18" charset="0"/>
                          <a:cs typeface="Calibri"/>
                        </a:rPr>
                        <a:t>eDa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733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ab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166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 err="1">
                          <a:latin typeface="Palatino Linotype" panose="02040502050505030304" pitchFamily="18" charset="0"/>
                          <a:cs typeface="Calibri"/>
                        </a:rPr>
                        <a:t>dC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733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 err="1">
                          <a:latin typeface="Palatino Linotype" panose="02040502050505030304" pitchFamily="18" charset="0"/>
                          <a:cs typeface="Calibri"/>
                        </a:rPr>
                        <a:t>eC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801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801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733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 err="1">
                          <a:latin typeface="Palatino Linotype" panose="02040502050505030304" pitchFamily="18" charset="0"/>
                          <a:cs typeface="Calibri"/>
                        </a:rPr>
                        <a:t>fD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66523A7-2CFC-B2F8-14F4-9A5E82ECFDCB}"/>
              </a:ext>
            </a:extLst>
          </p:cNvPr>
          <p:cNvSpPr txBox="1"/>
          <p:nvPr/>
        </p:nvSpPr>
        <p:spPr>
          <a:xfrm>
            <a:off x="7358743" y="2814946"/>
            <a:ext cx="2708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Palatino Linotype" panose="02040502050505030304" pitchFamily="18" charset="0"/>
                <a:cs typeface="Calibri"/>
              </a:rPr>
              <a:t>Parsing</a:t>
            </a:r>
            <a:r>
              <a:rPr lang="en-IN" sz="2800" spc="-22" dirty="0">
                <a:solidFill>
                  <a:srgbClr val="FF0000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8" dirty="0">
                <a:solidFill>
                  <a:srgbClr val="FF0000"/>
                </a:solidFill>
                <a:latin typeface="Palatino Linotype" panose="02040502050505030304" pitchFamily="18" charset="0"/>
                <a:cs typeface="Calibri"/>
              </a:rPr>
              <a:t>Table</a:t>
            </a:r>
            <a:endParaRPr lang="en-IN" sz="2800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52E-99F7-D321-53CD-B48CD06A526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51EAE0-C6E1-DD1D-6ADC-2CCD626CB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5558" y="1035778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55CB41-9170-E0B2-37D3-BF9F56A09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751" y="2130340"/>
            <a:ext cx="1985963" cy="43657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2D62BF-FC21-D0E1-0C66-6B0A09957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764" y="2133375"/>
            <a:ext cx="3258632" cy="45720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4938A-2F38-5D50-EF7A-32C93AF5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751" y="2852477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84A717-E2A8-A5E3-E278-A4C69395F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253" y="3509228"/>
            <a:ext cx="2413626" cy="1004732"/>
          </a:xfrm>
          <a:prstGeom prst="rect">
            <a:avLst/>
          </a:prstGeom>
          <a:solidFill>
            <a:srgbClr val="0972C6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5ABB2-121E-6D88-9476-F6DA79A5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0536" y="3818474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5E0AE-16A7-0EEE-D368-7BD65193B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178" y="2845132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30B5E9-74C3-A8B2-FEC0-357E2F501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6421" y="5670802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EB8F6A-D3E1-A0EE-5BC8-C6206DEB2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9494" y="4996313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FEF42A-F466-B4F7-5CCF-A5234C958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3165" y="4343764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043B0AE1-5F36-C642-593A-D3160A0CCA80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4000933" y="1464403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757E006F-B739-A881-B811-7E5E0F201A51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177996" y="1464403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E1D6909A-0C7A-8AE3-6C8D-45C6FE0A17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89098" y="2566910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1E9499C4-CABF-519F-2DC2-DDECD93BD2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83476" y="308003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CA6B4BF-7BD0-C81F-9559-9E214146B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592" y="5359231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D86D4E-2800-DDB3-8469-11496C084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8933" y="4677909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D99CD0-31AC-4C8D-8B06-BBA17DBBFB16}"/>
              </a:ext>
            </a:extLst>
          </p:cNvPr>
          <p:cNvSpPr/>
          <p:nvPr/>
        </p:nvSpPr>
        <p:spPr>
          <a:xfrm>
            <a:off x="1983461" y="2057175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AC60F7-9E40-6B9B-8D8F-5C3014A0B8E1}"/>
              </a:ext>
            </a:extLst>
          </p:cNvPr>
          <p:cNvSpPr/>
          <p:nvPr/>
        </p:nvSpPr>
        <p:spPr>
          <a:xfrm>
            <a:off x="6411466" y="2057175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1738D847-F0C8-5B8C-81A8-5B2514BF7B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74118" y="4010552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2B39BD88-4415-9FFF-E166-D1AD6C4DD4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08859" y="4907427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F33E6BE4-A9A7-A76F-0240-C02D26ED65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94304" y="5686470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D68BFA-EB32-E35F-0CF0-3124DFBDEDD8}"/>
              </a:ext>
            </a:extLst>
          </p:cNvPr>
          <p:cNvCxnSpPr/>
          <p:nvPr/>
        </p:nvCxnSpPr>
        <p:spPr>
          <a:xfrm flipH="1" flipV="1">
            <a:off x="3608859" y="4513960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0C8681C9-03B5-F2FC-D7F9-7A0FCD1356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53158" y="2606937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49A584AE-4913-F5DD-40D2-30102908F4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47536" y="3120062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26C451B1-B155-3C07-7D7F-D97A72669B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38178" y="4050579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0DC79F73-DDC4-E213-9DEF-8A22CC077A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90165" y="451396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8D9CA8DB-A678-DEFF-6379-80C82521CE8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07000" y="5192333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C37EBD-CE77-2184-1307-6FF67B175C51}"/>
              </a:ext>
            </a:extLst>
          </p:cNvPr>
          <p:cNvCxnSpPr/>
          <p:nvPr/>
        </p:nvCxnSpPr>
        <p:spPr>
          <a:xfrm flipV="1">
            <a:off x="8088155" y="4217507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1B10EBEF-65AD-952A-8388-718B0E937A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68804" y="5882833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238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42D4-DBE6-B8D9-6D7C-F50CC31DCAD8}"/>
              </a:ext>
            </a:extLst>
          </p:cNvPr>
          <p:cNvSpPr txBox="1">
            <a:spLocks/>
          </p:cNvSpPr>
          <p:nvPr/>
        </p:nvSpPr>
        <p:spPr>
          <a:xfrm>
            <a:off x="400050" y="152244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377AD-B241-122D-362B-BA6AD97AC0F4}"/>
              </a:ext>
            </a:extLst>
          </p:cNvPr>
          <p:cNvSpPr txBox="1">
            <a:spLocks/>
          </p:cNvSpPr>
          <p:nvPr/>
        </p:nvSpPr>
        <p:spPr>
          <a:xfrm>
            <a:off x="721518" y="1048231"/>
            <a:ext cx="10615613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A top down parsing that executes a set of </a:t>
            </a:r>
            <a:r>
              <a:rPr lang="en-US" dirty="0">
                <a:solidFill>
                  <a:srgbClr val="000099"/>
                </a:solidFill>
              </a:rPr>
              <a:t>recursive procedure to process the input without backtracking </a:t>
            </a:r>
            <a:r>
              <a:rPr lang="en-US" dirty="0"/>
              <a:t>is called recursive descent parser.</a:t>
            </a:r>
          </a:p>
          <a:p>
            <a:pPr>
              <a:lnSpc>
                <a:spcPct val="100000"/>
              </a:lnSpc>
            </a:pPr>
            <a:r>
              <a:rPr lang="en-US" dirty="0"/>
              <a:t>There is </a:t>
            </a:r>
            <a:r>
              <a:rPr lang="en-US" dirty="0">
                <a:solidFill>
                  <a:srgbClr val="FF0000"/>
                </a:solidFill>
              </a:rPr>
              <a:t>a procedure for each non terminal in the grammar.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</a:rPr>
              <a:t>Consider RHS of any production rule as definition of the procedure.</a:t>
            </a:r>
          </a:p>
          <a:p>
            <a:pPr>
              <a:lnSpc>
                <a:spcPct val="100000"/>
              </a:lnSpc>
            </a:pPr>
            <a:r>
              <a:rPr lang="en-US" dirty="0"/>
              <a:t>As it reads expected input symbol, it advances input pointer to next input position.</a:t>
            </a:r>
          </a:p>
          <a:p>
            <a:pPr>
              <a:lnSpc>
                <a:spcPct val="100000"/>
              </a:lnSpc>
            </a:pPr>
            <a:r>
              <a:rPr lang="en-US" dirty="0"/>
              <a:t>The term </a:t>
            </a:r>
            <a:r>
              <a:rPr lang="en-US" dirty="0">
                <a:solidFill>
                  <a:srgbClr val="FF0000"/>
                </a:solidFill>
              </a:rPr>
              <a:t>descent</a:t>
            </a:r>
            <a:r>
              <a:rPr lang="en-US" dirty="0"/>
              <a:t> refers to </a:t>
            </a:r>
            <a:r>
              <a:rPr lang="en-US" dirty="0">
                <a:solidFill>
                  <a:srgbClr val="000099"/>
                </a:solidFill>
              </a:rPr>
              <a:t>the direction in which the parse tree is built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It builds the parse tree from the root to the leaf.</a:t>
            </a:r>
          </a:p>
        </p:txBody>
      </p:sp>
    </p:spTree>
    <p:extLst>
      <p:ext uri="{BB962C8B-B14F-4D97-AF65-F5344CB8AC3E}">
        <p14:creationId xmlns:p14="http://schemas.microsoft.com/office/powerpoint/2010/main" val="264019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97A0-6559-3747-F594-F125287A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9A262-F452-5886-421B-E8AB442A2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6A6508-2239-34FB-3B0B-9E3418FB3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97" t="44312" r="24355" b="18662"/>
          <a:stretch/>
        </p:blipFill>
        <p:spPr>
          <a:xfrm>
            <a:off x="838200" y="1825624"/>
            <a:ext cx="10515599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643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AE76-D334-344D-EBAF-4AAD07F3CC3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Recursive descent parsing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7E8F38-5481-88BD-594F-05B7ACC87095}"/>
              </a:ext>
            </a:extLst>
          </p:cNvPr>
          <p:cNvSpPr/>
          <p:nvPr/>
        </p:nvSpPr>
        <p:spPr>
          <a:xfrm>
            <a:off x="1039843" y="914399"/>
            <a:ext cx="3116081" cy="490560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E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If lookahead=num 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Match(num);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T();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If </a:t>
            </a:r>
            <a:r>
              <a:rPr lang="en-US" err="1">
                <a:solidFill>
                  <a:schemeClr val="tx1"/>
                </a:solidFill>
                <a:latin typeface="+mj-lt"/>
              </a:rPr>
              <a:t>lookahead=$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Declare success;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  <a:p>
            <a:pPr algn="ctr"/>
            <a:endParaRPr lang="en-US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E788E-7E34-965C-6742-6B5A4B138ED8}"/>
              </a:ext>
            </a:extLst>
          </p:cNvPr>
          <p:cNvSpPr/>
          <p:nvPr/>
        </p:nvSpPr>
        <p:spPr>
          <a:xfrm>
            <a:off x="4155924" y="914398"/>
            <a:ext cx="3124200" cy="490560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T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If lookahead=’*’ 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Match(‘*’);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If lookahead=num 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Match(num);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T();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}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Else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Error();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 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NULL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D4CA7D-535F-1B99-44D4-1501CECA803E}"/>
              </a:ext>
            </a:extLst>
          </p:cNvPr>
          <p:cNvSpPr/>
          <p:nvPr/>
        </p:nvSpPr>
        <p:spPr>
          <a:xfrm>
            <a:off x="7272806" y="908935"/>
            <a:ext cx="2738828" cy="206286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</a:rPr>
              <a:t>Proceduce </a:t>
            </a:r>
            <a:r>
              <a:rPr lang="en-US">
                <a:solidFill>
                  <a:schemeClr val="tx1"/>
                </a:solidFill>
                <a:latin typeface="+mj-lt"/>
              </a:rPr>
              <a:t>Match(token t)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225425"/>
            <a:r>
              <a:rPr lang="en-US">
                <a:solidFill>
                  <a:schemeClr val="tx1"/>
                </a:solidFill>
                <a:latin typeface="+mj-lt"/>
              </a:rPr>
              <a:t>	If lookahead=t</a:t>
            </a:r>
          </a:p>
          <a:p>
            <a:pPr defTabSz="225425"/>
            <a:r>
              <a:rPr lang="en-US">
                <a:solidFill>
                  <a:schemeClr val="tx1"/>
                </a:solidFill>
                <a:latin typeface="+mj-lt"/>
              </a:rPr>
              <a:t>	l</a:t>
            </a:r>
            <a:r>
              <a:rPr lang="en-US" err="1">
                <a:solidFill>
                  <a:schemeClr val="tx1"/>
                </a:solidFill>
                <a:latin typeface="+mj-lt"/>
              </a:rPr>
              <a:t>ookahead=next_token</a:t>
            </a:r>
            <a:r>
              <a:rPr lang="en-US">
                <a:solidFill>
                  <a:schemeClr val="tx1"/>
                </a:solidFill>
                <a:latin typeface="+mj-lt"/>
              </a:rPr>
              <a:t>;</a:t>
            </a:r>
          </a:p>
          <a:p>
            <a:pPr defTabSz="225425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225425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A22E0-3EF1-1FF8-E878-06972CA450E9}"/>
              </a:ext>
            </a:extLst>
          </p:cNvPr>
          <p:cNvSpPr/>
          <p:nvPr/>
        </p:nvSpPr>
        <p:spPr>
          <a:xfrm>
            <a:off x="7272806" y="2971800"/>
            <a:ext cx="2738828" cy="17526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Error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	Print(“Error”);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8E853-C9EA-D32A-1B26-37B980CF04A7}"/>
              </a:ext>
            </a:extLst>
          </p:cNvPr>
          <p:cNvSpPr/>
          <p:nvPr/>
        </p:nvSpPr>
        <p:spPr>
          <a:xfrm>
            <a:off x="7280124" y="4724400"/>
            <a:ext cx="2730321" cy="109560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</a:rPr>
              <a:t>	</a:t>
            </a:r>
          </a:p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</a:rPr>
              <a:t>	E</a:t>
            </a:r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</a:t>
            </a:r>
          </a:p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	T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69583D-268F-A7DF-8B5A-1344E045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850399"/>
              </p:ext>
            </p:extLst>
          </p:nvPr>
        </p:nvGraphicFramePr>
        <p:xfrm>
          <a:off x="2035447" y="5889009"/>
          <a:ext cx="255957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9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954974-B177-EE3A-FE63-842309668ABF}"/>
              </a:ext>
            </a:extLst>
          </p:cNvPr>
          <p:cNvCxnSpPr/>
          <p:nvPr/>
        </p:nvCxnSpPr>
        <p:spPr>
          <a:xfrm flipH="1" flipV="1">
            <a:off x="2353987" y="6140671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1429AD-27AF-74D0-C794-E9ADB751A178}"/>
              </a:ext>
            </a:extLst>
          </p:cNvPr>
          <p:cNvCxnSpPr/>
          <p:nvPr/>
        </p:nvCxnSpPr>
        <p:spPr>
          <a:xfrm flipH="1">
            <a:off x="2264664" y="117423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4493A9-97E5-D21A-E371-DF88D63524B3}"/>
              </a:ext>
            </a:extLst>
          </p:cNvPr>
          <p:cNvCxnSpPr/>
          <p:nvPr/>
        </p:nvCxnSpPr>
        <p:spPr>
          <a:xfrm flipH="1">
            <a:off x="3407664" y="17526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68ABD2-0879-34C0-1F5F-49DC8C0E1B5F}"/>
              </a:ext>
            </a:extLst>
          </p:cNvPr>
          <p:cNvCxnSpPr/>
          <p:nvPr/>
        </p:nvCxnSpPr>
        <p:spPr>
          <a:xfrm flipH="1">
            <a:off x="3587546" y="22860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77C8E9-6E64-ADBC-D7A8-CA5FEA4E1DFA}"/>
              </a:ext>
            </a:extLst>
          </p:cNvPr>
          <p:cNvCxnSpPr/>
          <p:nvPr/>
        </p:nvCxnSpPr>
        <p:spPr>
          <a:xfrm flipH="1">
            <a:off x="9798919" y="111177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85F13B-935B-ED8E-142A-EA282C416018}"/>
              </a:ext>
            </a:extLst>
          </p:cNvPr>
          <p:cNvCxnSpPr/>
          <p:nvPr/>
        </p:nvCxnSpPr>
        <p:spPr>
          <a:xfrm flipH="1">
            <a:off x="9053337" y="1667656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B875A3-A4ED-7CF4-82E7-7E124F8E0905}"/>
              </a:ext>
            </a:extLst>
          </p:cNvPr>
          <p:cNvCxnSpPr/>
          <p:nvPr/>
        </p:nvCxnSpPr>
        <p:spPr>
          <a:xfrm flipH="1">
            <a:off x="9849245" y="19812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1AB17F-0BB2-2216-EDDC-12D8C1F2B77D}"/>
              </a:ext>
            </a:extLst>
          </p:cNvPr>
          <p:cNvCxnSpPr/>
          <p:nvPr/>
        </p:nvCxnSpPr>
        <p:spPr>
          <a:xfrm flipH="1" flipV="1">
            <a:off x="2994817" y="6140671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BFFF5D-2F54-6371-F6A7-F58E1E660396}"/>
              </a:ext>
            </a:extLst>
          </p:cNvPr>
          <p:cNvCxnSpPr/>
          <p:nvPr/>
        </p:nvCxnSpPr>
        <p:spPr>
          <a:xfrm flipH="1">
            <a:off x="2645664" y="25908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5E6116-4EAA-6AE5-629D-A5BA73EE2200}"/>
              </a:ext>
            </a:extLst>
          </p:cNvPr>
          <p:cNvCxnSpPr/>
          <p:nvPr/>
        </p:nvCxnSpPr>
        <p:spPr>
          <a:xfrm flipH="1">
            <a:off x="5465064" y="117423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003406-86E0-8DB2-1D24-77FDFF2765A0}"/>
              </a:ext>
            </a:extLst>
          </p:cNvPr>
          <p:cNvCxnSpPr/>
          <p:nvPr/>
        </p:nvCxnSpPr>
        <p:spPr>
          <a:xfrm flipH="1">
            <a:off x="6308263" y="17526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B77D63-C647-E68E-870F-7B3B06E3546F}"/>
              </a:ext>
            </a:extLst>
          </p:cNvPr>
          <p:cNvCxnSpPr/>
          <p:nvPr/>
        </p:nvCxnSpPr>
        <p:spPr>
          <a:xfrm flipH="1">
            <a:off x="6341366" y="2272259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47834-F82E-3D72-EE6D-3C8C0E6D129A}"/>
              </a:ext>
            </a:extLst>
          </p:cNvPr>
          <p:cNvCxnSpPr/>
          <p:nvPr/>
        </p:nvCxnSpPr>
        <p:spPr>
          <a:xfrm flipH="1">
            <a:off x="9781251" y="111177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B681AA-6E28-DCB6-D9C4-CDA27BE0FFE2}"/>
              </a:ext>
            </a:extLst>
          </p:cNvPr>
          <p:cNvCxnSpPr/>
          <p:nvPr/>
        </p:nvCxnSpPr>
        <p:spPr>
          <a:xfrm flipH="1">
            <a:off x="9053337" y="1667656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D97363-F357-2112-278E-406668CDA894}"/>
              </a:ext>
            </a:extLst>
          </p:cNvPr>
          <p:cNvCxnSpPr/>
          <p:nvPr/>
        </p:nvCxnSpPr>
        <p:spPr>
          <a:xfrm flipH="1">
            <a:off x="9819352" y="19812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7EFEB8-86A4-F68C-0A8E-E5580D526054}"/>
              </a:ext>
            </a:extLst>
          </p:cNvPr>
          <p:cNvCxnSpPr/>
          <p:nvPr/>
        </p:nvCxnSpPr>
        <p:spPr>
          <a:xfrm flipH="1" flipV="1">
            <a:off x="3604417" y="6140671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124319C-5E7B-421C-A8C4-2FCA364B2F35}"/>
              </a:ext>
            </a:extLst>
          </p:cNvPr>
          <p:cNvCxnSpPr/>
          <p:nvPr/>
        </p:nvCxnSpPr>
        <p:spPr>
          <a:xfrm flipH="1">
            <a:off x="6964440" y="2570723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CE94D8-4FE1-6DD5-899C-C8982BD2BCD0}"/>
              </a:ext>
            </a:extLst>
          </p:cNvPr>
          <p:cNvCxnSpPr/>
          <p:nvPr/>
        </p:nvCxnSpPr>
        <p:spPr>
          <a:xfrm flipH="1">
            <a:off x="7029756" y="3107871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C75E7F-E158-1FEC-7B31-C77953A968E9}"/>
              </a:ext>
            </a:extLst>
          </p:cNvPr>
          <p:cNvCxnSpPr/>
          <p:nvPr/>
        </p:nvCxnSpPr>
        <p:spPr>
          <a:xfrm flipH="1">
            <a:off x="9798919" y="111177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4360B1-FC5A-0A75-E190-C4B081148D5C}"/>
              </a:ext>
            </a:extLst>
          </p:cNvPr>
          <p:cNvCxnSpPr/>
          <p:nvPr/>
        </p:nvCxnSpPr>
        <p:spPr>
          <a:xfrm flipH="1">
            <a:off x="9053337" y="1667656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189D3C1-CA69-F790-0FE3-67598247372C}"/>
              </a:ext>
            </a:extLst>
          </p:cNvPr>
          <p:cNvCxnSpPr/>
          <p:nvPr/>
        </p:nvCxnSpPr>
        <p:spPr>
          <a:xfrm flipH="1">
            <a:off x="9849245" y="19812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1CD796-FD52-0B85-5319-97A87E82E508}"/>
              </a:ext>
            </a:extLst>
          </p:cNvPr>
          <p:cNvCxnSpPr/>
          <p:nvPr/>
        </p:nvCxnSpPr>
        <p:spPr>
          <a:xfrm flipH="1" flipV="1">
            <a:off x="4284706" y="6169699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F2B140-07B6-B19F-D47D-535A832E9532}"/>
              </a:ext>
            </a:extLst>
          </p:cNvPr>
          <p:cNvCxnSpPr/>
          <p:nvPr/>
        </p:nvCxnSpPr>
        <p:spPr>
          <a:xfrm flipH="1">
            <a:off x="6109644" y="34290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466868-98E6-651A-DCEA-5F5E04624F85}"/>
              </a:ext>
            </a:extLst>
          </p:cNvPr>
          <p:cNvCxnSpPr/>
          <p:nvPr/>
        </p:nvCxnSpPr>
        <p:spPr>
          <a:xfrm flipH="1">
            <a:off x="5465064" y="117423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CB78914-B109-6E39-BD41-827718FA43DA}"/>
              </a:ext>
            </a:extLst>
          </p:cNvPr>
          <p:cNvCxnSpPr/>
          <p:nvPr/>
        </p:nvCxnSpPr>
        <p:spPr>
          <a:xfrm flipH="1">
            <a:off x="6323256" y="17526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73DE78-04E4-3987-11C3-3E91CAF9089B}"/>
              </a:ext>
            </a:extLst>
          </p:cNvPr>
          <p:cNvCxnSpPr/>
          <p:nvPr/>
        </p:nvCxnSpPr>
        <p:spPr>
          <a:xfrm flipH="1">
            <a:off x="5241464" y="50292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AE83BB-BD9D-628F-4FEE-C903E79D97B5}"/>
              </a:ext>
            </a:extLst>
          </p:cNvPr>
          <p:cNvCxnSpPr/>
          <p:nvPr/>
        </p:nvCxnSpPr>
        <p:spPr>
          <a:xfrm flipH="1">
            <a:off x="5831074" y="52578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90B0632-DAC8-AFDD-C3F9-62F1929FFB6E}"/>
              </a:ext>
            </a:extLst>
          </p:cNvPr>
          <p:cNvCxnSpPr/>
          <p:nvPr/>
        </p:nvCxnSpPr>
        <p:spPr>
          <a:xfrm flipH="1">
            <a:off x="3131596" y="36576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136A1D-8713-67F8-4E67-AE639B24B228}"/>
              </a:ext>
            </a:extLst>
          </p:cNvPr>
          <p:cNvCxnSpPr/>
          <p:nvPr/>
        </p:nvCxnSpPr>
        <p:spPr>
          <a:xfrm flipH="1">
            <a:off x="3774924" y="41910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28BE073-A8A2-230B-8213-FE3E5C985604}"/>
              </a:ext>
            </a:extLst>
          </p:cNvPr>
          <p:cNvSpPr/>
          <p:nvPr/>
        </p:nvSpPr>
        <p:spPr>
          <a:xfrm>
            <a:off x="1127106" y="1079112"/>
            <a:ext cx="1638300" cy="183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C8EC9D-D8DA-3F94-2059-9797070D6FCE}"/>
              </a:ext>
            </a:extLst>
          </p:cNvPr>
          <p:cNvSpPr/>
          <p:nvPr/>
        </p:nvSpPr>
        <p:spPr>
          <a:xfrm>
            <a:off x="8276257" y="5029200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err="1">
                <a:solidFill>
                  <a:srgbClr val="0E47A1"/>
                </a:solidFill>
                <a:latin typeface="+mj-lt"/>
              </a:rPr>
              <a:t>num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393A22-E2F3-0776-8942-1C1A164A1576}"/>
              </a:ext>
            </a:extLst>
          </p:cNvPr>
          <p:cNvSpPr/>
          <p:nvPr/>
        </p:nvSpPr>
        <p:spPr>
          <a:xfrm>
            <a:off x="8709009" y="5033571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382591-7294-9309-E1A2-FA8BA08BD9BC}"/>
              </a:ext>
            </a:extLst>
          </p:cNvPr>
          <p:cNvSpPr/>
          <p:nvPr/>
        </p:nvSpPr>
        <p:spPr>
          <a:xfrm>
            <a:off x="8456943" y="5334000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err="1">
                <a:solidFill>
                  <a:srgbClr val="0E47A1"/>
                </a:solidFill>
                <a:latin typeface="+mj-lt"/>
              </a:rPr>
              <a:t>num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BCA623-12CD-A7EB-F20B-16F248F538CF}"/>
              </a:ext>
            </a:extLst>
          </p:cNvPr>
          <p:cNvSpPr/>
          <p:nvPr/>
        </p:nvSpPr>
        <p:spPr>
          <a:xfrm>
            <a:off x="8057030" y="5437663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*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0EBE64-98C4-3CA5-2DBF-C2DFFE34798B}"/>
              </a:ext>
            </a:extLst>
          </p:cNvPr>
          <p:cNvSpPr/>
          <p:nvPr/>
        </p:nvSpPr>
        <p:spPr>
          <a:xfrm>
            <a:off x="8816524" y="5338371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2D05C2-495E-DC28-4255-72435A53F9DA}"/>
              </a:ext>
            </a:extLst>
          </p:cNvPr>
          <p:cNvSpPr/>
          <p:nvPr/>
        </p:nvSpPr>
        <p:spPr>
          <a:xfrm>
            <a:off x="9078506" y="5319568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| </a:t>
            </a:r>
            <a:r>
              <a:rPr lang="en-US" sz="2200">
                <a:solidFill>
                  <a:srgbClr val="0E47A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91B79B-9B3A-9A17-56C1-ADF5B8FE9FE5}"/>
              </a:ext>
            </a:extLst>
          </p:cNvPr>
          <p:cNvSpPr/>
          <p:nvPr/>
        </p:nvSpPr>
        <p:spPr>
          <a:xfrm>
            <a:off x="4255678" y="1074384"/>
            <a:ext cx="1638300" cy="183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A19F90-55B5-7618-D6DB-35E9E5E3432D}"/>
              </a:ext>
            </a:extLst>
          </p:cNvPr>
          <p:cNvSpPr/>
          <p:nvPr/>
        </p:nvSpPr>
        <p:spPr>
          <a:xfrm>
            <a:off x="4681834" y="5900311"/>
            <a:ext cx="1356610" cy="3595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>
                <a:solidFill>
                  <a:srgbClr val="00B050"/>
                </a:solidFill>
                <a:latin typeface="+mj-lt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153032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38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3EE9-994F-A663-7C5C-0E190C39A23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Recursive descent parsing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40A41-8D49-B3C8-FC22-9359FA7EF2EE}"/>
              </a:ext>
            </a:extLst>
          </p:cNvPr>
          <p:cNvSpPr/>
          <p:nvPr/>
        </p:nvSpPr>
        <p:spPr>
          <a:xfrm>
            <a:off x="487081" y="955611"/>
            <a:ext cx="3116081" cy="490560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E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If lookahead=num 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Match(num);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T();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If </a:t>
            </a:r>
            <a:r>
              <a:rPr lang="en-US" err="1">
                <a:solidFill>
                  <a:schemeClr val="tx1"/>
                </a:solidFill>
                <a:latin typeface="+mj-lt"/>
              </a:rPr>
              <a:t>lookahead=$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Declare success;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  <a:p>
            <a:pPr algn="ctr"/>
            <a:endParaRPr lang="en-US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359FCF-4C42-2432-930D-EE8988AD46DE}"/>
              </a:ext>
            </a:extLst>
          </p:cNvPr>
          <p:cNvSpPr/>
          <p:nvPr/>
        </p:nvSpPr>
        <p:spPr>
          <a:xfrm>
            <a:off x="3603162" y="955610"/>
            <a:ext cx="3124200" cy="490560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T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If lookahead=’*’ 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Match(‘*’);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If lookahead=num 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Match(num);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T();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}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Else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Error();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 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NULL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8B646-39F7-F66F-FF3E-91FAC394B772}"/>
              </a:ext>
            </a:extLst>
          </p:cNvPr>
          <p:cNvSpPr/>
          <p:nvPr/>
        </p:nvSpPr>
        <p:spPr>
          <a:xfrm>
            <a:off x="6727361" y="996781"/>
            <a:ext cx="2730321" cy="201623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dirty="0" err="1">
                <a:solidFill>
                  <a:schemeClr val="tx1"/>
                </a:solidFill>
                <a:latin typeface="+mj-lt"/>
              </a:rPr>
              <a:t>Proceduce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Match(token t)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225425"/>
            <a:r>
              <a:rPr lang="en-US" dirty="0">
                <a:solidFill>
                  <a:schemeClr val="tx1"/>
                </a:solidFill>
                <a:latin typeface="+mj-lt"/>
              </a:rPr>
              <a:t>	If lookahead=t</a:t>
            </a:r>
          </a:p>
          <a:p>
            <a:pPr defTabSz="225425"/>
            <a:r>
              <a:rPr lang="en-US" dirty="0">
                <a:solidFill>
                  <a:schemeClr val="tx1"/>
                </a:solidFill>
                <a:latin typeface="+mj-lt"/>
              </a:rPr>
              <a:t>	lookahead=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next_token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;</a:t>
            </a:r>
          </a:p>
          <a:p>
            <a:pPr defTabSz="225425"/>
            <a:r>
              <a:rPr lang="en-US" dirty="0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225425"/>
            <a:r>
              <a:rPr lang="en-US" dirty="0">
                <a:solidFill>
                  <a:schemeClr val="tx1"/>
                </a:solidFill>
                <a:latin typeface="+mj-lt"/>
              </a:rPr>
              <a:t>		Error();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96D38-D703-D990-4BF6-B7C5D943045E}"/>
              </a:ext>
            </a:extLst>
          </p:cNvPr>
          <p:cNvSpPr/>
          <p:nvPr/>
        </p:nvSpPr>
        <p:spPr>
          <a:xfrm>
            <a:off x="6718855" y="3013012"/>
            <a:ext cx="2738828" cy="17526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Procedure Error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	Print(“Error”);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A161F-38BB-4A66-2E63-3AD4B5F02855}"/>
              </a:ext>
            </a:extLst>
          </p:cNvPr>
          <p:cNvSpPr/>
          <p:nvPr/>
        </p:nvSpPr>
        <p:spPr>
          <a:xfrm>
            <a:off x="6727362" y="4765612"/>
            <a:ext cx="2743200" cy="109560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</a:rPr>
              <a:t>	</a:t>
            </a:r>
          </a:p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</a:rPr>
              <a:t>	E</a:t>
            </a:r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</a:t>
            </a:r>
          </a:p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	T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180675-F752-4C74-FE9E-509FF750E07D}"/>
              </a:ext>
            </a:extLst>
          </p:cNvPr>
          <p:cNvCxnSpPr/>
          <p:nvPr/>
        </p:nvCxnSpPr>
        <p:spPr>
          <a:xfrm flipH="1">
            <a:off x="1711902" y="121544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36345F2-44A4-4C21-3889-04B438690512}"/>
              </a:ext>
            </a:extLst>
          </p:cNvPr>
          <p:cNvSpPr/>
          <p:nvPr/>
        </p:nvSpPr>
        <p:spPr>
          <a:xfrm>
            <a:off x="7723495" y="5070412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err="1">
                <a:solidFill>
                  <a:srgbClr val="0E47A1"/>
                </a:solidFill>
                <a:latin typeface="+mj-lt"/>
              </a:rPr>
              <a:t>num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D1B1B-FE90-381F-A92E-54FDD4E1F7F6}"/>
              </a:ext>
            </a:extLst>
          </p:cNvPr>
          <p:cNvSpPr/>
          <p:nvPr/>
        </p:nvSpPr>
        <p:spPr>
          <a:xfrm>
            <a:off x="8156247" y="5074783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695E8C-47E0-C3CF-8F27-7A977A6EEE91}"/>
              </a:ext>
            </a:extLst>
          </p:cNvPr>
          <p:cNvSpPr/>
          <p:nvPr/>
        </p:nvSpPr>
        <p:spPr>
          <a:xfrm>
            <a:off x="7904181" y="5375212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err="1">
                <a:solidFill>
                  <a:srgbClr val="0E47A1"/>
                </a:solidFill>
                <a:latin typeface="+mj-lt"/>
              </a:rPr>
              <a:t>num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03FD88-923B-9663-A834-4D11AA5D1C0A}"/>
              </a:ext>
            </a:extLst>
          </p:cNvPr>
          <p:cNvSpPr/>
          <p:nvPr/>
        </p:nvSpPr>
        <p:spPr>
          <a:xfrm>
            <a:off x="7504268" y="5478875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CFB83-1812-CFF7-3A8A-D205B8C5BE32}"/>
              </a:ext>
            </a:extLst>
          </p:cNvPr>
          <p:cNvSpPr/>
          <p:nvPr/>
        </p:nvSpPr>
        <p:spPr>
          <a:xfrm>
            <a:off x="8263762" y="5379583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C34303-41EF-EEA7-E7B5-C0F83FFD5C7A}"/>
              </a:ext>
            </a:extLst>
          </p:cNvPr>
          <p:cNvSpPr/>
          <p:nvPr/>
        </p:nvSpPr>
        <p:spPr>
          <a:xfrm>
            <a:off x="8525744" y="5360780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| </a:t>
            </a:r>
            <a:r>
              <a:rPr lang="en-US" sz="2200">
                <a:solidFill>
                  <a:srgbClr val="0E47A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51A365-ABAC-F1BB-0A58-7CEB55BBCF27}"/>
              </a:ext>
            </a:extLst>
          </p:cNvPr>
          <p:cNvSpPr/>
          <p:nvPr/>
        </p:nvSpPr>
        <p:spPr>
          <a:xfrm>
            <a:off x="4129072" y="5941523"/>
            <a:ext cx="1356610" cy="3595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>
                <a:solidFill>
                  <a:srgbClr val="00B050"/>
                </a:solidFill>
                <a:latin typeface="+mj-lt"/>
              </a:rPr>
              <a:t>Success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63A65FE-6C1E-6DB0-1B63-100586D1A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09967"/>
              </p:ext>
            </p:extLst>
          </p:nvPr>
        </p:nvGraphicFramePr>
        <p:xfrm>
          <a:off x="5447576" y="5949896"/>
          <a:ext cx="255957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9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F8A263-D1EB-F880-991D-3B9848B16616}"/>
              </a:ext>
            </a:extLst>
          </p:cNvPr>
          <p:cNvCxnSpPr/>
          <p:nvPr/>
        </p:nvCxnSpPr>
        <p:spPr>
          <a:xfrm flipH="1" flipV="1">
            <a:off x="5766116" y="6201558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D630F6-A240-157A-1DF9-794AB3D7C383}"/>
              </a:ext>
            </a:extLst>
          </p:cNvPr>
          <p:cNvCxnSpPr/>
          <p:nvPr/>
        </p:nvCxnSpPr>
        <p:spPr>
          <a:xfrm flipH="1" flipV="1">
            <a:off x="6406946" y="6201558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80AB8A2-824E-BEAD-70BE-29D58F002C52}"/>
              </a:ext>
            </a:extLst>
          </p:cNvPr>
          <p:cNvSpPr/>
          <p:nvPr/>
        </p:nvSpPr>
        <p:spPr>
          <a:xfrm>
            <a:off x="8070577" y="5975389"/>
            <a:ext cx="1356610" cy="3595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>
                <a:solidFill>
                  <a:srgbClr val="FF0000"/>
                </a:solidFill>
                <a:latin typeface="+mj-lt"/>
              </a:rPr>
              <a:t>Error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36FE25-A075-A7A4-F74E-AC16D64370E7}"/>
              </a:ext>
            </a:extLst>
          </p:cNvPr>
          <p:cNvCxnSpPr/>
          <p:nvPr/>
        </p:nvCxnSpPr>
        <p:spPr>
          <a:xfrm flipH="1">
            <a:off x="2931102" y="17938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FE769E-8998-478D-DC89-AC31F9446687}"/>
              </a:ext>
            </a:extLst>
          </p:cNvPr>
          <p:cNvCxnSpPr/>
          <p:nvPr/>
        </p:nvCxnSpPr>
        <p:spPr>
          <a:xfrm flipH="1">
            <a:off x="2931102" y="23272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64CF27-172D-EFA3-3A6E-7ABBA831E734}"/>
              </a:ext>
            </a:extLst>
          </p:cNvPr>
          <p:cNvCxnSpPr/>
          <p:nvPr/>
        </p:nvCxnSpPr>
        <p:spPr>
          <a:xfrm flipH="1">
            <a:off x="9246157" y="121544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4E7651-0922-7758-1A83-715B19032FFF}"/>
              </a:ext>
            </a:extLst>
          </p:cNvPr>
          <p:cNvCxnSpPr/>
          <p:nvPr/>
        </p:nvCxnSpPr>
        <p:spPr>
          <a:xfrm flipH="1">
            <a:off x="8432405" y="1714976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2C17FC-472A-730D-24ED-A59F8228BC5B}"/>
              </a:ext>
            </a:extLst>
          </p:cNvPr>
          <p:cNvCxnSpPr/>
          <p:nvPr/>
        </p:nvCxnSpPr>
        <p:spPr>
          <a:xfrm flipH="1">
            <a:off x="9290732" y="20224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1F6149-82C2-17A2-253C-0ADB4A77AF59}"/>
              </a:ext>
            </a:extLst>
          </p:cNvPr>
          <p:cNvCxnSpPr/>
          <p:nvPr/>
        </p:nvCxnSpPr>
        <p:spPr>
          <a:xfrm flipH="1">
            <a:off x="2092902" y="26320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6829D0-48EC-3E55-D4EE-E354C8366EB1}"/>
              </a:ext>
            </a:extLst>
          </p:cNvPr>
          <p:cNvCxnSpPr/>
          <p:nvPr/>
        </p:nvCxnSpPr>
        <p:spPr>
          <a:xfrm flipH="1">
            <a:off x="4912302" y="121544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1C9189-7960-5BFC-31D0-2C507059D0BF}"/>
              </a:ext>
            </a:extLst>
          </p:cNvPr>
          <p:cNvCxnSpPr/>
          <p:nvPr/>
        </p:nvCxnSpPr>
        <p:spPr>
          <a:xfrm flipH="1">
            <a:off x="5766116" y="1765775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7F9335-1BCB-0235-9889-28F2CF82C6D7}"/>
              </a:ext>
            </a:extLst>
          </p:cNvPr>
          <p:cNvCxnSpPr/>
          <p:nvPr/>
        </p:nvCxnSpPr>
        <p:spPr>
          <a:xfrm flipH="1">
            <a:off x="4673916" y="50704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A79D14-CFDF-5D6A-CDB3-55EA7E92001E}"/>
              </a:ext>
            </a:extLst>
          </p:cNvPr>
          <p:cNvCxnSpPr/>
          <p:nvPr/>
        </p:nvCxnSpPr>
        <p:spPr>
          <a:xfrm flipH="1">
            <a:off x="5251523" y="5343847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7DDDB3-A608-7EA2-1797-C53A721329B6}"/>
              </a:ext>
            </a:extLst>
          </p:cNvPr>
          <p:cNvCxnSpPr/>
          <p:nvPr/>
        </p:nvCxnSpPr>
        <p:spPr>
          <a:xfrm flipH="1">
            <a:off x="2550102" y="36988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6B1B5E5-AC2A-18F6-6E7C-CD200620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057355"/>
              </p:ext>
            </p:extLst>
          </p:nvPr>
        </p:nvGraphicFramePr>
        <p:xfrm>
          <a:off x="1482685" y="5930221"/>
          <a:ext cx="255957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9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DD461E-114E-2322-10AE-23AC7B044DA0}"/>
              </a:ext>
            </a:extLst>
          </p:cNvPr>
          <p:cNvCxnSpPr/>
          <p:nvPr/>
        </p:nvCxnSpPr>
        <p:spPr>
          <a:xfrm flipH="1">
            <a:off x="1559501" y="4787383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1BE1EA-D2E7-F72E-676A-1A2ACFDE0244}"/>
              </a:ext>
            </a:extLst>
          </p:cNvPr>
          <p:cNvCxnSpPr/>
          <p:nvPr/>
        </p:nvCxnSpPr>
        <p:spPr>
          <a:xfrm flipH="1">
            <a:off x="2388630" y="50704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F5334D-68B1-F3E5-EF42-BF3F0042D4B1}"/>
              </a:ext>
            </a:extLst>
          </p:cNvPr>
          <p:cNvCxnSpPr/>
          <p:nvPr/>
        </p:nvCxnSpPr>
        <p:spPr>
          <a:xfrm flipH="1">
            <a:off x="8335244" y="350287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9F097C4-FD03-8CF7-DA0E-3328301DEA87}"/>
              </a:ext>
            </a:extLst>
          </p:cNvPr>
          <p:cNvCxnSpPr/>
          <p:nvPr/>
        </p:nvCxnSpPr>
        <p:spPr>
          <a:xfrm flipH="1">
            <a:off x="9088731" y="4047154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30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E40C-6635-F25D-AEED-511B39E4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1B7D-6146-FDC8-6FDD-72CCC2602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Write down the algorithm using Recursive procedures to implement the following Grammar.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E → TE′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E′ → +TE′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T → FT′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T′ →∗ FT′|</a:t>
            </a:r>
            <a:r>
              <a:rPr lang="el-GR" b="0" i="0" dirty="0">
                <a:solidFill>
                  <a:srgbClr val="000000"/>
                </a:solidFill>
                <a:effectLst/>
              </a:rPr>
              <a:t>ε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F → (E)|id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2761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3D167E2-7E84-740F-257A-AF7409339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32143"/>
            <a:ext cx="12183500" cy="500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9105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7594-715D-E82B-E7DF-AF98A5F5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09059"/>
          </a:xfrm>
        </p:spPr>
        <p:txBody>
          <a:bodyPr/>
          <a:lstStyle/>
          <a:p>
            <a:r>
              <a:rPr lang="en-IN" dirty="0"/>
              <a:t>Solution: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C1BC84-08CE-A6FB-C927-86E46FEA3C69}"/>
              </a:ext>
            </a:extLst>
          </p:cNvPr>
          <p:cNvCxnSpPr>
            <a:cxnSpLocks/>
          </p:cNvCxnSpPr>
          <p:nvPr/>
        </p:nvCxnSpPr>
        <p:spPr>
          <a:xfrm>
            <a:off x="3371669" y="956299"/>
            <a:ext cx="0" cy="521791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045A7-8D88-D40E-E291-74486E642B09}"/>
              </a:ext>
            </a:extLst>
          </p:cNvPr>
          <p:cNvCxnSpPr>
            <a:cxnSpLocks/>
          </p:cNvCxnSpPr>
          <p:nvPr/>
        </p:nvCxnSpPr>
        <p:spPr>
          <a:xfrm>
            <a:off x="8163066" y="1173271"/>
            <a:ext cx="0" cy="521791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A4EB46-64CB-AB39-617A-5B3BB4333C16}"/>
              </a:ext>
            </a:extLst>
          </p:cNvPr>
          <p:cNvSpPr txBox="1"/>
          <p:nvPr/>
        </p:nvSpPr>
        <p:spPr>
          <a:xfrm>
            <a:off x="60901" y="827314"/>
            <a:ext cx="2974689" cy="28007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E()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</a:t>
            </a:r>
            <a:r>
              <a:rPr lang="en-IN" sz="2200" dirty="0">
                <a:latin typeface="Palatino Linotype" panose="02040502050505030304" pitchFamily="18" charset="0"/>
              </a:rPr>
              <a:t>      T()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E’()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if lookahead = $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declare success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else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	Error()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}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48400-E257-AAAF-28D2-72C465686518}"/>
              </a:ext>
            </a:extLst>
          </p:cNvPr>
          <p:cNvSpPr txBox="1"/>
          <p:nvPr/>
        </p:nvSpPr>
        <p:spPr>
          <a:xfrm>
            <a:off x="71860" y="4437140"/>
            <a:ext cx="2974689" cy="14465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T()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</a:t>
            </a:r>
            <a:r>
              <a:rPr lang="en-IN" sz="2200" dirty="0">
                <a:latin typeface="Palatino Linotype" panose="02040502050505030304" pitchFamily="18" charset="0"/>
              </a:rPr>
              <a:t>      F()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T’()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}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93B795-23FA-C953-DC50-2BA68B40438C}"/>
              </a:ext>
            </a:extLst>
          </p:cNvPr>
          <p:cNvSpPr txBox="1"/>
          <p:nvPr/>
        </p:nvSpPr>
        <p:spPr>
          <a:xfrm>
            <a:off x="3602452" y="822741"/>
            <a:ext cx="4027708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E’()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     </a:t>
            </a:r>
            <a:r>
              <a:rPr lang="en-IN" sz="2200" dirty="0">
                <a:latin typeface="Palatino Linotype" panose="02040502050505030304" pitchFamily="18" charset="0"/>
              </a:rPr>
              <a:t>if lookahead = +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{     match(+)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 T()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 E’()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}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else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	NULL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}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D8C03-12AF-2640-55C1-5ADF59F637E8}"/>
              </a:ext>
            </a:extLst>
          </p:cNvPr>
          <p:cNvSpPr txBox="1"/>
          <p:nvPr/>
        </p:nvSpPr>
        <p:spPr>
          <a:xfrm>
            <a:off x="8499572" y="822741"/>
            <a:ext cx="3428267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T’()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     </a:t>
            </a:r>
            <a:r>
              <a:rPr lang="en-IN" sz="2200" dirty="0">
                <a:latin typeface="Palatino Linotype" panose="02040502050505030304" pitchFamily="18" charset="0"/>
              </a:rPr>
              <a:t>if lookahead = *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{     match(*)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 F()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 T’()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}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else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	NULL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}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7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B034-2890-849E-DBE1-BA48F470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1657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ABC14C-8769-FAE4-8B00-D36E57C29C9B}"/>
              </a:ext>
            </a:extLst>
          </p:cNvPr>
          <p:cNvCxnSpPr>
            <a:cxnSpLocks/>
          </p:cNvCxnSpPr>
          <p:nvPr/>
        </p:nvCxnSpPr>
        <p:spPr>
          <a:xfrm>
            <a:off x="4492172" y="921657"/>
            <a:ext cx="0" cy="587103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B0E5C8-5BA7-70BF-1E58-F925F0BCE8D6}"/>
              </a:ext>
            </a:extLst>
          </p:cNvPr>
          <p:cNvSpPr txBox="1"/>
          <p:nvPr/>
        </p:nvSpPr>
        <p:spPr>
          <a:xfrm>
            <a:off x="243840" y="921657"/>
            <a:ext cx="3948319" cy="5170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F()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If lookahead == id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{    match(id)  }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Else if lookahead == ‘(‘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{       match(‘(‘)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          E()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          if lookahead == ‘)’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                       match(‘)’)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	else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		Error()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}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Else  {   Error()     }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}</a:t>
            </a:r>
          </a:p>
          <a:p>
            <a:endParaRPr lang="en-IN" sz="2200" dirty="0">
              <a:latin typeface="Palatino Linotype" panose="0204050205050503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C72FC2-FE31-9394-4F98-6B3F4117D4D1}"/>
              </a:ext>
            </a:extLst>
          </p:cNvPr>
          <p:cNvSpPr/>
          <p:nvPr/>
        </p:nvSpPr>
        <p:spPr>
          <a:xfrm>
            <a:off x="5040801" y="1003414"/>
            <a:ext cx="4621359" cy="24255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22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Proceduce</a:t>
            </a:r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 Match(token t)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{</a:t>
            </a:r>
          </a:p>
          <a:p>
            <a:pPr defTabSz="225425"/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If lookahead=t</a:t>
            </a:r>
          </a:p>
          <a:p>
            <a:pPr defTabSz="225425"/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lookahead=</a:t>
            </a:r>
            <a:r>
              <a:rPr lang="en-US" sz="22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next_token</a:t>
            </a:r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;</a:t>
            </a:r>
          </a:p>
          <a:p>
            <a:pPr defTabSz="225425"/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Else</a:t>
            </a:r>
          </a:p>
          <a:p>
            <a:pPr defTabSz="225425"/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	Error();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B7B59-7442-13C7-CADC-5CFE0B8BBF4D}"/>
              </a:ext>
            </a:extLst>
          </p:cNvPr>
          <p:cNvSpPr/>
          <p:nvPr/>
        </p:nvSpPr>
        <p:spPr>
          <a:xfrm>
            <a:off x="5040801" y="4042193"/>
            <a:ext cx="3796745" cy="205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Procedure Error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{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Print(“Error”);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297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22979</TotalTime>
  <Words>9623</Words>
  <Application>Microsoft Office PowerPoint</Application>
  <PresentationFormat>Widescreen</PresentationFormat>
  <Paragraphs>2587</Paragraphs>
  <Slides>92</Slides>
  <Notes>2</Notes>
  <HiddenSlides>9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0" baseType="lpstr">
      <vt:lpstr>MS UI Gothic</vt:lpstr>
      <vt:lpstr>Arial</vt:lpstr>
      <vt:lpstr>Calibri</vt:lpstr>
      <vt:lpstr>Cambria Math</vt:lpstr>
      <vt:lpstr>Palatino Linotype</vt:lpstr>
      <vt:lpstr>Wingdings</vt:lpstr>
      <vt:lpstr>Wingdings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Derivation &amp; Ambiguity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Left recursion &amp; Left factoring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Solution to Ex: 1</vt:lpstr>
      <vt:lpstr>PowerPoint Presentation</vt:lpstr>
      <vt:lpstr>PowerPoint Presentation</vt:lpstr>
      <vt:lpstr>Solution to Ex: 2</vt:lpstr>
      <vt:lpstr>PowerPoint Presentation</vt:lpstr>
      <vt:lpstr>Solution to Ex: 3</vt:lpstr>
      <vt:lpstr>PowerPoint Presentation</vt:lpstr>
      <vt:lpstr>PowerPoint Presentation</vt:lpstr>
      <vt:lpstr>PowerPoint Presentation</vt:lpstr>
      <vt:lpstr>Cont.,</vt:lpstr>
      <vt:lpstr>PowerPoint Presentation</vt:lpstr>
      <vt:lpstr>PowerPoint Presentation</vt:lpstr>
      <vt:lpstr>Example 2</vt:lpstr>
      <vt:lpstr>PowerPoint Presentation</vt:lpstr>
      <vt:lpstr>Solution:</vt:lpstr>
      <vt:lpstr>Cont…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680</cp:revision>
  <dcterms:created xsi:type="dcterms:W3CDTF">2020-07-30T09:53:05Z</dcterms:created>
  <dcterms:modified xsi:type="dcterms:W3CDTF">2024-07-30T17:41:28Z</dcterms:modified>
</cp:coreProperties>
</file>