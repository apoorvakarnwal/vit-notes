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84" r:id="rId2"/>
    <p:sldId id="325" r:id="rId3"/>
    <p:sldId id="285" r:id="rId4"/>
    <p:sldId id="311" r:id="rId5"/>
    <p:sldId id="332" r:id="rId6"/>
    <p:sldId id="334" r:id="rId7"/>
    <p:sldId id="331" r:id="rId8"/>
    <p:sldId id="309" r:id="rId9"/>
    <p:sldId id="326" r:id="rId10"/>
    <p:sldId id="286" r:id="rId11"/>
    <p:sldId id="287" r:id="rId12"/>
    <p:sldId id="328" r:id="rId13"/>
    <p:sldId id="329" r:id="rId14"/>
    <p:sldId id="330" r:id="rId15"/>
    <p:sldId id="338" r:id="rId16"/>
    <p:sldId id="335" r:id="rId17"/>
    <p:sldId id="337" r:id="rId18"/>
    <p:sldId id="336" r:id="rId19"/>
    <p:sldId id="265" r:id="rId20"/>
    <p:sldId id="327" r:id="rId21"/>
    <p:sldId id="339" r:id="rId22"/>
    <p:sldId id="289" r:id="rId23"/>
    <p:sldId id="290" r:id="rId24"/>
    <p:sldId id="294" r:id="rId25"/>
    <p:sldId id="340" r:id="rId26"/>
    <p:sldId id="341" r:id="rId27"/>
    <p:sldId id="342" r:id="rId28"/>
    <p:sldId id="324" r:id="rId29"/>
    <p:sldId id="295" r:id="rId30"/>
    <p:sldId id="296" r:id="rId31"/>
    <p:sldId id="343" r:id="rId32"/>
    <p:sldId id="350" r:id="rId33"/>
    <p:sldId id="344" r:id="rId34"/>
    <p:sldId id="288" r:id="rId35"/>
    <p:sldId id="347" r:id="rId36"/>
    <p:sldId id="348" r:id="rId37"/>
    <p:sldId id="346" r:id="rId38"/>
    <p:sldId id="297" r:id="rId39"/>
    <p:sldId id="298" r:id="rId40"/>
    <p:sldId id="299" r:id="rId41"/>
    <p:sldId id="351" r:id="rId42"/>
    <p:sldId id="352" r:id="rId43"/>
    <p:sldId id="300" r:id="rId44"/>
    <p:sldId id="301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9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07:54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0 24575,'0'8'0,"0"32"0,-8 71 0,6-99 0,-1 0 0,0 0 0,0 0 0,-1 0 0,-1-1 0,0 0 0,0 0 0,-1 0 0,-1-1 0,-8 12 0,8-14-151,1 1-1,0 0 0,1 0 0,0 0 1,0 0-1,1 1 0,1 0 1,-4 12-1,3-2-6674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07:54.7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07:55.7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24575,'7'0'0,"-1"1"0,1 0 0,-1 0 0,1 0 0,-1 1 0,1 0 0,-1 1 0,0-1 0,0 1 0,7 4 0,6 6 0,30 24 0,-11-6 0,-27-24 0,-1 1 0,0 1 0,-1 0 0,0 0 0,-1 1 0,0 0 0,0 0 0,-1 1 0,0 0 0,9 21 0,1 2 0,32 47 0,-7-13 0,-14-23 0,-18-31 0,0 1 0,-2 1 0,12 26 0,-18-36-151,0 1-1,1-1 0,0 1 0,0-1 1,0 0-1,1 0 0,0 0 1,8 9-1,5-1-6674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07:57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24575,'11'1'0,"0"1"0,-1 0 0,0 1 0,1 0 0,-1 0 0,0 1 0,10 5 0,17 7 0,-8-8 0,0-1 0,34 4 0,-38-6 0,13-1-91,0-2 0,44-2 0,-47 0-1001,-14 0-5734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07:58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1037 1 24575,'-20'0'0,"0"0"0,1 1 0,-1 1 0,0 1 0,-23 6 0,19 0 0,0 0 0,-43 25 0,-41 34 0,63-39 0,-60 45 0,-109 98 0,161-126 0,21-20 0,-53 59 0,75-73 0,1 0 0,0 1 0,1 0 0,1 0 0,0 1 0,0 0 0,1 0 0,-5 20 0,7-19 0,2-3 0,-1-1 0,-1 1 0,0-1 0,0 1 0,-11 17 0,-4 8-1365,10-14-5461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07:59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24575,'1'0'0,"0"0"0,0 1 0,0-1 0,0 0 0,0 1 0,0-1 0,0 1 0,0-1 0,0 1 0,0 0 0,-1-1 0,1 1 0,0 0 0,0 0 0,-1-1 0,1 1 0,-1 0 0,1 0 0,-1 0 0,1 1 0,9 20 0,-3-1 0,0 0 0,-2 1 0,4 40 0,-2 70 0,-1-14 0,6 59-1365,-11-154-5461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08:56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24575,'5'3'0,"0"1"0,0-1 0,0 0 0,1 0 0,-1 0 0,1-1 0,0 0 0,10 3 0,13 5 0,-21-7 0,11 6 0,1-1 0,0-1 0,34 7 0,-38-11 0,0 1 0,16 6 0,-32-10 0,1 0 0,-1 0 0,0 1 0,0-1 0,0 0 0,0 0 0,0 1 0,0-1 0,0 0 0,0 1 0,0-1 0,0 0 0,0 1 0,0-1 0,0 0 0,-1 0 0,1 1 0,0-1 0,0 0 0,0 0 0,0 1 0,0-1 0,0 0 0,-1 0 0,1 1 0,0-1 0,0 0 0,0 0 0,-1 0 0,1 1 0,0-1 0,0 0 0,-1 0 0,1 0 0,0 0 0,-1 1 0,-13 11 0,11-10 0,-7 7 0,0 1 0,1 0 0,0 1 0,0 0 0,1 0 0,1 1 0,0-1 0,0 2 0,1-1 0,-7 25 0,3-7 0,-12 44 0,19-64 0,1 1 0,1 0 0,0 1 0,0 19 0,1-28 0,1-1 0,-1 0 0,0 0 0,1 1 0,-1-1 0,1 0 0,0 0 0,-1 1 0,1-1 0,0 0 0,0 0 0,1 0 0,-1 0 0,0 0 0,1-1 0,-1 1 0,1 0 0,0 0 0,-1-1 0,1 0 0,0 1 0,0-1 0,0 0 0,0 0 0,0 1 0,0-2 0,0 1 0,0 0 0,4 1 0,5-1 0,0 1 0,1-1 0,-1-1 0,0 0 0,12-2 0,13 1 0,-31 1 0,0 1 0,0-1 0,-1 1 0,1 0 0,0 0 0,-1 1 0,1-1 0,-1 1 0,1 0 0,-1 0 0,0 1 0,0-1 0,0 1 0,7 6 0,-6-4 0,0 0 0,-1 0 0,0 1 0,0-1 0,-1 1 0,1 0 0,-1 0 0,0 0 0,3 13 0,-3-10 0,-1 1 0,0 0 0,0 0 0,-1 0 0,-1 1 0,1-1 0,-2 0 0,1 0 0,-2 0 0,1 0 0,-1 0 0,-1 0 0,1 0 0,-7 12 0,7-18 0,0 0 0,-1-1 0,1 1 0,-1 0 0,0-1 0,0 0 0,0 0 0,0 0 0,-1 0 0,1 0 0,-1-1 0,0 0 0,0 1 0,0-1 0,0-1 0,0 1 0,0 0 0,0-1 0,-1 0 0,-5 1 0,-9 0 0,1-1 0,-1 0 0,-31-4 0,11 1 0,18 2 0,12 0 0,0 0 0,1-1 0,-1 1 0,-10-3 0,17 2 0,-1 0 0,1 0 0,0 1 0,-1-1 0,1 0 0,0-1 0,0 1 0,0 0 0,0-1 0,0 1 0,0-1 0,0 0 0,1 1 0,-1-1 0,1 0 0,-1 0 0,1 0 0,-1 0 0,0-4 0,-3-6 20,1 0 0,0 0 0,1-1 0,0 1 0,0-15 0,-1-63-1505,4 70-5341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08:57.8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24575,'2'0'0,"0"1"0,0 0 0,0 0 0,0 1 0,0-1 0,0 0 0,0 1 0,0-1 0,0 1 0,-1-1 0,3 3 0,3 3 0,8 5 0,-1 1 0,0 1 0,17 20 0,-24-23 0,0-1 0,0 1 0,-1-1 0,-1 2 0,0-1 0,6 18 0,-5-6 0,2 0 0,0-1 0,12 21 0,33 74 0,-23-46 0,-24-60 0,1 0 0,0 0 0,0-1 0,1 0 0,1 0 0,0-1 0,0 0 0,1 0 0,11 7 0,-8-4 0,-1 0 0,-1 0 0,0 1 0,15 22 0,-8-9 0,-15-22-136,0 0-1,1-1 1,-1 0-1,1 0 1,0 0-1,0 0 1,0 0-1,0-1 0,8 4 1,5 2-6690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09:07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380 2 24575,'-87'-1'0,"-97"3"0,180-2 0,1 1 0,0-1 0,0 1 0,0 0 0,0 0 0,0 0 0,0 1 0,0-1 0,0 1 0,0 0 0,1-1 0,-1 1 0,1 0 0,-1 1 0,1-1 0,0 0 0,0 1 0,0-1 0,0 1 0,0 0 0,0-1 0,1 1 0,-2 5 0,-3 6 0,1 0 0,1 1 0,-5 27 0,4-18 0,-1 13 0,0 1 0,3-1 0,1 1 0,5 61 0,-3-93 0,1 0 0,0 0 0,1-1 0,-1 1 0,1-1 0,0 1 0,1-1 0,-1 0 0,1 0 0,0 0 0,0 0 0,1-1 0,7 9 0,3 1 0,1-1 0,28 19 0,-12-10 0,-21-14-91,1 0 0,0-1 0,0 0 0,1-1 0,0 0 0,0-1 0,0 0 0,1-1 0,0-1 0,0 0 0,0 0 0,0-1 0,0-1 0,14 0 0,-9-2-6735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09:21.5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490 1748 24575,'92'0'0,"105"-1"0,-190 1 0,0-1 0,0 1 0,0-2 0,-1 1 0,1-1 0,0 0 0,0 0 0,-1-1 0,1 0 0,-1 0 0,0 0 0,6-5 0,-6 3 0,0-1 0,0 1 0,-1-1 0,1 0 0,-2 0 0,1-1 0,-1 1 0,0-1 0,0 0 0,4-12 0,41-123 0,-40 112 0,34-138 0,-32 118 0,28-145 0,-34 151 0,-3-80 0,-2 113 0,-1-3 0,0 0 0,-1 0 0,0 1 0,-6-17 0,-22-53 0,8 22 0,13 38 0,-1 1 0,-1 0 0,-24-35 0,3 5 0,14 23 0,-1 0 0,-1 2 0,-1 0 0,-1 2 0,-47-42 0,11 14 0,33 30 0,0 1 0,-1 1 0,-31-19 0,31 24 0,16 9 0,-1 0 0,0 0 0,-1 2 0,0-1 0,0 1 0,0 1 0,-19-4 0,-54-11 0,63 13 0,-1 1 0,0 1 0,-24-1 0,-87 5 96,61 1-1557,53-1-5365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09:24.1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254 0 24575,'-6'8'0,"-1"-1"0,-8 15 0,-8 10 0,4-10 0,2 1 0,0 0 0,2 1 0,1 1 0,-13 29 0,24-47 0,0 0 0,-1 0 0,0 0 0,0 0 0,-1 0 0,0-1 0,0 0 0,0 0 0,-1 0 0,0-1 0,-9 7 0,12-10 0,0 0 0,0 0 0,0 0 0,0 0 0,1 1 0,-1-1 0,-2 4 0,5-6 0,-1 1 0,1 0 0,0 0 0,-1 0 0,1-1 0,0 1 0,-1 0 0,1 0 0,0 0 0,0 0 0,0 0 0,0 0 0,0-1 0,0 1 0,0 0 0,0 0 0,0 0 0,0 0 0,0 0 0,1 0 0,-1 0 0,0-1 0,1 1 0,-1 0 0,0 0 0,1 0 0,-1-1 0,2 2 0,2 4 0,1-1 0,0 1 0,10 7 0,-8-7 0,-1 0 0,9 10 0,-5-4 0,-2 1 0,0 1 0,0-1 0,-1 1 0,-1 0 0,-1 1 0,0-1 0,0 1 0,-1 0 0,-1 0 0,-1 1 0,0-1 0,-1 23 0,-2 75-1365,1-92-5461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10:14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0 24575,'0'8'0,"0"32"0,-8 71 0,6-99 0,-1 0 0,0 0 0,0 0 0,-1 0 0,-1-1 0,0 0 0,0 0 0,-1 0 0,-1-1 0,-8 12 0,8-14-151,1 1-1,0 0 0,1 0 0,0 0 1,0 0-1,1 1 0,1 0 1,-4 12-1,3-2-6674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10:14.2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10:14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24575,'7'0'0,"-1"1"0,1 0 0,-1 0 0,1 0 0,-1 1 0,1 0 0,-1 1 0,0-1 0,0 1 0,7 4 0,6 6 0,30 24 0,-11-6 0,-27-24 0,-1 1 0,0 1 0,-1 0 0,0 0 0,-1 1 0,0 0 0,0 0 0,-1 1 0,0 0 0,9 21 0,1 2 0,32 47 0,-7-13 0,-14-23 0,-18-31 0,0 1 0,-2 1 0,12 26 0,-18-36-151,0 1-1,1-1 0,0 1 0,0-1 1,0 0-1,1 0 0,0 0 1,8 9-1,5-1-6674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10:14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24575,'11'1'0,"0"1"0,-1 0 0,0 1 0,1 0 0,-1 0 0,0 1 0,10 5 0,17 7 0,-8-8 0,0-1 0,34 4 0,-38-6 0,13-1-91,0-2 0,44-2 0,-47 0-1001,-14 0-5734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10:14.2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1037 1 24575,'-20'0'0,"0"0"0,1 1 0,-1 1 0,0 1 0,-23 6 0,19 0 0,0 0 0,-43 25 0,-41 34 0,63-39 0,-60 45 0,-109 98 0,161-126 0,21-20 0,-53 59 0,75-73 0,1 0 0,0 1 0,1 0 0,1 0 0,0 1 0,0 0 0,1 0 0,-5 20 0,7-19 0,2-3 0,-1-1 0,-1 1 0,0-1 0,0 1 0,-11 17 0,-4 8-1365,10-14-5461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10:14.2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24575,'1'0'0,"0"0"0,0 1 0,0-1 0,0 0 0,0 1 0,0-1 0,0 1 0,0-1 0,0 1 0,0 0 0,-1-1 0,1 1 0,0 0 0,0 0 0,-1-1 0,1 1 0,-1 0 0,1 0 0,-1 0 0,1 1 0,9 20 0,-3-1 0,0 0 0,-2 1 0,4 40 0,-2 70 0,-1-14 0,6 59-1365,-11-154-5461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10:14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24575,'5'3'0,"0"1"0,0-1 0,0 0 0,1 0 0,-1 0 0,1-1 0,0 0 0,10 3 0,13 5 0,-21-7 0,11 6 0,1-1 0,0-1 0,34 7 0,-38-11 0,0 1 0,16 6 0,-32-10 0,1 0 0,-1 0 0,0 1 0,0-1 0,0 0 0,0 0 0,0 1 0,0-1 0,0 0 0,0 1 0,0-1 0,0 0 0,0 1 0,0-1 0,0 0 0,-1 0 0,1 1 0,0-1 0,0 0 0,0 0 0,0 1 0,0-1 0,0 0 0,-1 0 0,1 1 0,0-1 0,0 0 0,0 0 0,-1 0 0,1 1 0,0-1 0,0 0 0,-1 0 0,1 0 0,0 0 0,-1 1 0,-13 11 0,11-10 0,-7 7 0,0 1 0,1 0 0,0 1 0,0 0 0,1 0 0,1 1 0,0-1 0,0 2 0,1-1 0,-7 25 0,3-7 0,-12 44 0,19-64 0,1 1 0,1 0 0,0 1 0,0 19 0,1-28 0,1-1 0,-1 0 0,0 0 0,1 1 0,-1-1 0,1 0 0,0 0 0,-1 1 0,1-1 0,0 0 0,0 0 0,1 0 0,-1 0 0,0 0 0,1-1 0,-1 1 0,1 0 0,0 0 0,-1-1 0,1 0 0,0 1 0,0-1 0,0 0 0,0 0 0,0 1 0,0-2 0,0 1 0,0 0 0,4 1 0,5-1 0,0 1 0,1-1 0,-1-1 0,0 0 0,12-2 0,13 1 0,-31 1 0,0 1 0,0-1 0,-1 1 0,1 0 0,0 0 0,-1 1 0,1-1 0,-1 1 0,1 0 0,-1 0 0,0 1 0,0-1 0,0 1 0,7 6 0,-6-4 0,0 0 0,-1 0 0,0 1 0,0-1 0,-1 1 0,1 0 0,-1 0 0,0 0 0,3 13 0,-3-10 0,-1 1 0,0 0 0,0 0 0,-1 0 0,-1 1 0,1-1 0,-2 0 0,1 0 0,-2 0 0,1 0 0,-1 0 0,-1 0 0,1 0 0,-7 12 0,7-18 0,0 0 0,-1-1 0,1 1 0,-1 0 0,0-1 0,0 0 0,0 0 0,0 0 0,-1 0 0,1 0 0,-1-1 0,0 0 0,0 1 0,0-1 0,0-1 0,0 1 0,0 0 0,0-1 0,-1 0 0,-5 1 0,-9 0 0,1-1 0,-1 0 0,-31-4 0,11 1 0,18 2 0,12 0 0,0 0 0,1-1 0,-1 1 0,-10-3 0,17 2 0,-1 0 0,1 0 0,0 1 0,-1-1 0,1 0 0,0-1 0,0 1 0,0 0 0,0-1 0,0 1 0,0-1 0,0 0 0,1 1 0,-1-1 0,1 0 0,-1 0 0,1 0 0,-1 0 0,0-4 0,-3-6 20,1 0 0,0 0 0,1-1 0,0 1 0,0-15 0,-1-63-1505,4 70-5341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10:14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24575,'2'0'0,"0"1"0,0 0 0,0 0 0,0 1 0,0-1 0,0 0 0,0 1 0,0-1 0,0 1 0,-1-1 0,3 3 0,3 3 0,8 5 0,-1 1 0,0 1 0,17 20 0,-24-23 0,0-1 0,0 1 0,-1-1 0,-1 2 0,0-1 0,6 18 0,-5-6 0,2 0 0,0-1 0,12 21 0,33 74 0,-23-46 0,-24-60 0,1 0 0,0 0 0,0-1 0,1 0 0,1 0 0,0-1 0,0 0 0,1 0 0,11 7 0,-8-4 0,-1 0 0,-1 0 0,0 1 0,15 22 0,-8-9 0,-15-22-136,0 0-1,1-1 1,-1 0-1,1 0 1,0 0-1,0 0 1,0 0-1,0-1 0,8 4 1,5 2-6690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10:14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380 2 24575,'-87'-1'0,"-97"3"0,180-2 0,1 1 0,0-1 0,0 1 0,0 0 0,0 0 0,0 0 0,0 1 0,0-1 0,0 1 0,0 0 0,1-1 0,-1 1 0,1 0 0,-1 1 0,1-1 0,0 0 0,0 1 0,0-1 0,0 1 0,0 0 0,0-1 0,1 1 0,-2 5 0,-3 6 0,1 0 0,1 1 0,-5 27 0,4-18 0,-1 13 0,0 1 0,3-1 0,1 1 0,5 61 0,-3-93 0,1 0 0,0 0 0,1-1 0,-1 1 0,1-1 0,0 1 0,1-1 0,-1 0 0,1 0 0,0 0 0,0 0 0,1-1 0,7 9 0,3 1 0,1-1 0,28 19 0,-12-10 0,-21-14-91,1 0 0,0-1 0,0 0 0,1-1 0,0 0 0,0-1 0,0 0 0,1-1 0,0-1 0,0 0 0,0 0 0,0-1 0,0-1 0,14 0 0,-9-2-6735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10:30.3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1607 1 24575,'-919'0'0,"906"0"0,1 1 0,0 0 0,0 1 0,-1 0 0,1 1 0,1 1 0,-1 0 0,0 0 0,1 1 0,-19 12 0,10-4 0,1 2 0,0 0 0,1 0 0,-24 29 0,5-1 0,1 1 0,-54 90 0,10-12 0,34-36 0,40-72 0,0 0 0,1 0 0,1 1 0,-4 21 0,-29 167 0,33-187 0,-22 81 0,17-69 0,1 0 0,1 0 0,-4 42 0,12 188 0,0-248 0,0 0 0,1-1 0,0 1 0,0-1 0,1 0 0,1 1 0,8 16 0,-4-12 0,1 0 0,1-1 0,21 24 0,-8-11 0,-9-10 0,17 15 0,-25-26 0,0 0 0,0-1 0,0 0 0,1 0 0,0 0 0,12 4 0,5 1-455,0-2 0,34 7 0,-40-12-6371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10:32.5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265 0 24575,'4'0'0,"0"1"0,1 0 0,-1-1 0,0 1 0,0 1 0,0-1 0,0 1 0,0-1 0,0 1 0,0 0 0,0 0 0,-1 1 0,1-1 0,-1 1 0,0 0 0,0 0 0,0 0 0,0 0 0,5 7 0,-1 2 0,1 0 0,-2 0 0,0 0 0,9 25 0,10 21 0,-17-41 0,-1 0 0,9 28 0,-16-44 0,1 2 0,0 1 0,0 0 0,-1-1 0,1 1 0,-1 0 0,0 5 0,0-8 0,-1 0 0,1 0 0,0 0 0,0 0 0,-1 0 0,1 0 0,-1 0 0,1 0 0,-1 0 0,1 0 0,-1-1 0,0 1 0,1 0 0,-1 0 0,0 0 0,0-1 0,0 1 0,0-1 0,1 1 0,-1 0 0,0-1 0,0 1 0,0-1 0,0 0 0,0 1 0,0-1 0,-2 0 0,-9 3 0,0-2 0,-1 0 0,1 0 0,0-2 0,-20-1 0,-3 0 0,-172 0-98,140 2-1169,44 0-5559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10:34.116"/>
    </inkml:context>
    <inkml:brush xml:id="br0">
      <inkml:brushProperty name="width" value="0.05" units="cm"/>
      <inkml:brushProperty name="height" value="0.05" units="cm"/>
      <inkml:brushProperty name="color" value="#006600"/>
    </inkml:brush>
  </inkml:definitions>
  <inkml:trace contextRef="#ctx0" brushRef="#br0">1 1 24575,'1100'0'-1365,"-1079"0"-5461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10:41.352"/>
    </inkml:context>
    <inkml:brush xml:id="br0">
      <inkml:brushProperty name="width" value="0.05" units="cm"/>
      <inkml:brushProperty name="height" value="0.05" units="cm"/>
      <inkml:brushProperty name="color" value="#006600"/>
    </inkml:brush>
  </inkml:definitions>
  <inkml:trace contextRef="#ctx0" brushRef="#br0">0 1 24575,'3'0'0,"0"1"0,-1-1 0,1 1 0,0 0 0,-1 0 0,1 0 0,-1 0 0,1 1 0,-1-1 0,0 1 0,1-1 0,-1 1 0,0 0 0,0 0 0,0 0 0,0 0 0,1 3 0,6 6 0,13 23 0,-22-33 0,32 58 0,-22-37 0,2 0 0,24 33 0,-31-48-116,3 3-300,0 0-1,12 11 1,-7-10-6410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9T07:10:42.331"/>
    </inkml:context>
    <inkml:brush xml:id="br0">
      <inkml:brushProperty name="width" value="0.05" units="cm"/>
      <inkml:brushProperty name="height" value="0.05" units="cm"/>
      <inkml:brushProperty name="color" value="#006600"/>
    </inkml:brush>
  </inkml:definitions>
  <inkml:trace contextRef="#ctx0" brushRef="#br0">253 1 24575,'-13'0'0,"-1"0"0,1 1 0,-21 4 0,30-4 0,-1 1 0,1-1 0,0 1 0,0 0 0,0 0 0,0 0 0,0 0 0,0 1 0,1-1 0,-1 1 0,1 0 0,0 0 0,0 1 0,-4 4 0,-5 12 0,0 0 0,2 1 0,0 0 0,-11 39 0,-15 30 0,26-69-1365,3-3-5461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65BBB-9053-4FB2-B204-6D5C221D5451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192C4-1362-4BBE-9949-F6525E953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3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192C4-1362-4BBE-9949-F6525E95393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34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192C4-1362-4BBE-9949-F6525E95393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571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5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6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9C8CFCD6-D300-4021-B6CE-49872693289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26" Type="http://schemas.openxmlformats.org/officeDocument/2006/relationships/customXml" Target="../ink/ink13.xml"/><Relationship Id="rId39" Type="http://schemas.openxmlformats.org/officeDocument/2006/relationships/image" Target="../media/image16.png"/><Relationship Id="rId21" Type="http://schemas.openxmlformats.org/officeDocument/2006/relationships/customXml" Target="../ink/ink10.xml"/><Relationship Id="rId34" Type="http://schemas.openxmlformats.org/officeDocument/2006/relationships/customXml" Target="../ink/ink21.xml"/><Relationship Id="rId42" Type="http://schemas.openxmlformats.org/officeDocument/2006/relationships/customXml" Target="../ink/ink25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29" Type="http://schemas.openxmlformats.org/officeDocument/2006/relationships/customXml" Target="../ink/ink16.xml"/><Relationship Id="rId41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32" Type="http://schemas.openxmlformats.org/officeDocument/2006/relationships/customXml" Target="../ink/ink19.xml"/><Relationship Id="rId37" Type="http://schemas.openxmlformats.org/officeDocument/2006/relationships/image" Target="../media/image15.png"/><Relationship Id="rId40" Type="http://schemas.openxmlformats.org/officeDocument/2006/relationships/customXml" Target="../ink/ink24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customXml" Target="../ink/ink15.xml"/><Relationship Id="rId36" Type="http://schemas.openxmlformats.org/officeDocument/2006/relationships/customXml" Target="../ink/ink22.xml"/><Relationship Id="rId10" Type="http://schemas.openxmlformats.org/officeDocument/2006/relationships/image" Target="../media/image6.png"/><Relationship Id="rId19" Type="http://schemas.openxmlformats.org/officeDocument/2006/relationships/customXml" Target="../ink/ink9.xml"/><Relationship Id="rId31" Type="http://schemas.openxmlformats.org/officeDocument/2006/relationships/customXml" Target="../ink/ink18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4.xml"/><Relationship Id="rId30" Type="http://schemas.openxmlformats.org/officeDocument/2006/relationships/customXml" Target="../ink/ink17.xml"/><Relationship Id="rId35" Type="http://schemas.openxmlformats.org/officeDocument/2006/relationships/image" Target="../media/image14.png"/><Relationship Id="rId43" Type="http://schemas.openxmlformats.org/officeDocument/2006/relationships/image" Target="../media/image18.png"/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20.xml"/><Relationship Id="rId38" Type="http://schemas.openxmlformats.org/officeDocument/2006/relationships/customXml" Target="../ink/ink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6077" y="2354485"/>
            <a:ext cx="9144000" cy="695782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C00000"/>
                </a:solidFill>
              </a:rPr>
              <a:t>Module 3 – Semantic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E9D9A3-143B-CA9E-5133-28E2689CB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362" y="5740399"/>
            <a:ext cx="963221" cy="10160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40A81E03-F6C4-6A62-833B-80B85358E8A0}"/>
              </a:ext>
            </a:extLst>
          </p:cNvPr>
          <p:cNvSpPr txBox="1">
            <a:spLocks/>
          </p:cNvSpPr>
          <p:nvPr/>
        </p:nvSpPr>
        <p:spPr>
          <a:xfrm>
            <a:off x="1408946" y="665914"/>
            <a:ext cx="9144000" cy="79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dirty="0">
                <a:solidFill>
                  <a:srgbClr val="000099"/>
                </a:solidFill>
              </a:rPr>
              <a:t>BCSE307L – Compiler Design</a:t>
            </a:r>
          </a:p>
        </p:txBody>
      </p:sp>
      <p:pic>
        <p:nvPicPr>
          <p:cNvPr id="1026" name="Picture 2" descr="Semantic Analysis: Working and Techniques | Analytics Steps">
            <a:extLst>
              <a:ext uri="{FF2B5EF4-FFF2-40B4-BE49-F238E27FC236}">
                <a16:creationId xmlns:a16="http://schemas.microsoft.com/office/drawing/2014/main" id="{76C84C9A-2796-D7BA-58E0-1F7890544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0893" y="3643882"/>
            <a:ext cx="4417219" cy="260451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6203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59870-162A-51AD-0C90-DAC43DAA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3BE4D-6FD6-D1A1-7FBA-927706BFA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99"/>
                </a:solidFill>
              </a:rPr>
              <a:t>Syntax Directed Definition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99"/>
                </a:solidFill>
              </a:rPr>
              <a:t>Evaluation Order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99"/>
                </a:solidFill>
              </a:rPr>
              <a:t>Applications of Syntax Directed Translation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99"/>
                </a:solidFill>
              </a:rPr>
              <a:t>Syntax Directed Translation Schemes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99"/>
                </a:solidFill>
              </a:rPr>
              <a:t>Implementation of L-attributed Syntax Directed Definition.</a:t>
            </a:r>
            <a:endParaRPr lang="en-IN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970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DFEC0-BF6B-159E-B1D0-6055750771BC}"/>
              </a:ext>
            </a:extLst>
          </p:cNvPr>
          <p:cNvSpPr txBox="1">
            <a:spLocks/>
          </p:cNvSpPr>
          <p:nvPr/>
        </p:nvSpPr>
        <p:spPr>
          <a:xfrm>
            <a:off x="57150" y="4839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Syntax-Directed Definitions (SDD)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F2829-9538-B527-E366-4DA8FDC3DD47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SDD </a:t>
            </a:r>
            <a:r>
              <a:rPr lang="en-US" dirty="0">
                <a:sym typeface="Wingdings" panose="05000000000000000000" pitchFamily="2" charset="2"/>
              </a:rPr>
              <a:t> CFG with semantic rules</a:t>
            </a:r>
            <a:endParaRPr lang="en-US" dirty="0"/>
          </a:p>
          <a:p>
            <a:r>
              <a:rPr lang="en-US" dirty="0"/>
              <a:t>A generalization of context free grammar in which </a:t>
            </a:r>
            <a:r>
              <a:rPr lang="en-US" dirty="0">
                <a:solidFill>
                  <a:srgbClr val="C00000"/>
                </a:solidFill>
              </a:rPr>
              <a:t>each grammar symbol has an associated set of attributes</a:t>
            </a:r>
            <a:r>
              <a:rPr lang="en-US" dirty="0"/>
              <a:t>.</a:t>
            </a:r>
          </a:p>
          <a:p>
            <a:r>
              <a:rPr lang="en-US" dirty="0"/>
              <a:t>In SDD, every </a:t>
            </a:r>
            <a:r>
              <a:rPr lang="en-US" dirty="0">
                <a:solidFill>
                  <a:srgbClr val="000099"/>
                </a:solidFill>
              </a:rPr>
              <a:t>non-terminals</a:t>
            </a:r>
            <a:r>
              <a:rPr lang="en-US" dirty="0"/>
              <a:t> can get </a:t>
            </a:r>
            <a:r>
              <a:rPr lang="en-US" dirty="0">
                <a:solidFill>
                  <a:srgbClr val="000099"/>
                </a:solidFill>
              </a:rPr>
              <a:t>zero </a:t>
            </a:r>
            <a:r>
              <a:rPr lang="en-US" dirty="0"/>
              <a:t>or</a:t>
            </a:r>
            <a:r>
              <a:rPr lang="en-US" dirty="0">
                <a:solidFill>
                  <a:srgbClr val="000099"/>
                </a:solidFill>
              </a:rPr>
              <a:t> more attributes.</a:t>
            </a:r>
          </a:p>
          <a:p>
            <a:r>
              <a:rPr lang="en-US" dirty="0"/>
              <a:t>The attributes can be a </a:t>
            </a:r>
            <a:r>
              <a:rPr lang="en-US" dirty="0">
                <a:solidFill>
                  <a:srgbClr val="FF0000"/>
                </a:solidFill>
              </a:rPr>
              <a:t>number, type, memory location, return type etc.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Types of attributes are:</a:t>
            </a:r>
          </a:p>
          <a:p>
            <a:pPr marL="914400" indent="-457200">
              <a:buFont typeface="+mj-lt"/>
              <a:buAutoNum type="arabicPeriod"/>
            </a:pPr>
            <a:r>
              <a:rPr lang="en-US" dirty="0">
                <a:solidFill>
                  <a:srgbClr val="006600"/>
                </a:solidFill>
              </a:rPr>
              <a:t>Synthesized attribute [Values can be evaluated from children]</a:t>
            </a:r>
          </a:p>
          <a:p>
            <a:pPr marL="1371600" lvl="1" indent="-457200"/>
            <a:r>
              <a:rPr lang="en-US" dirty="0">
                <a:solidFill>
                  <a:srgbClr val="006600"/>
                </a:solidFill>
              </a:rPr>
              <a:t>Ex: A </a:t>
            </a:r>
            <a:r>
              <a:rPr lang="en-US" dirty="0">
                <a:solidFill>
                  <a:srgbClr val="006600"/>
                </a:solidFill>
                <a:sym typeface="Wingdings" panose="05000000000000000000" pitchFamily="2" charset="2"/>
              </a:rPr>
              <a:t> BC {</a:t>
            </a:r>
            <a:r>
              <a:rPr lang="en-US" dirty="0" err="1">
                <a:solidFill>
                  <a:srgbClr val="006600"/>
                </a:solidFill>
                <a:sym typeface="Wingdings" panose="05000000000000000000" pitchFamily="2" charset="2"/>
              </a:rPr>
              <a:t>A.val</a:t>
            </a:r>
            <a:r>
              <a:rPr lang="en-US" dirty="0">
                <a:solidFill>
                  <a:srgbClr val="006600"/>
                </a:solidFill>
                <a:sym typeface="Wingdings" panose="05000000000000000000" pitchFamily="2" charset="2"/>
              </a:rPr>
              <a:t> = fun(</a:t>
            </a:r>
            <a:r>
              <a:rPr lang="en-US" dirty="0" err="1">
                <a:solidFill>
                  <a:srgbClr val="006600"/>
                </a:solidFill>
                <a:sym typeface="Wingdings" panose="05000000000000000000" pitchFamily="2" charset="2"/>
              </a:rPr>
              <a:t>B.val</a:t>
            </a:r>
            <a:r>
              <a:rPr lang="en-US" dirty="0">
                <a:solidFill>
                  <a:srgbClr val="006600"/>
                </a:solidFill>
                <a:sym typeface="Wingdings" panose="05000000000000000000" pitchFamily="2" charset="2"/>
              </a:rPr>
              <a:t>, C. Val}</a:t>
            </a:r>
            <a:endParaRPr lang="en-US" dirty="0">
              <a:solidFill>
                <a:srgbClr val="006600"/>
              </a:solidFill>
            </a:endParaRPr>
          </a:p>
          <a:p>
            <a:pPr marL="914400" indent="-457200">
              <a:buFont typeface="+mj-lt"/>
              <a:buAutoNum type="arabicPeriod"/>
            </a:pPr>
            <a:r>
              <a:rPr lang="en-US" dirty="0">
                <a:solidFill>
                  <a:srgbClr val="000099"/>
                </a:solidFill>
              </a:rPr>
              <a:t>Inherited attribute [Values can be evaluated from the parent or siblings]</a:t>
            </a:r>
          </a:p>
          <a:p>
            <a:pPr marL="1371600" lvl="1" indent="-457200"/>
            <a:r>
              <a:rPr lang="en-US" dirty="0">
                <a:solidFill>
                  <a:srgbClr val="000099"/>
                </a:solidFill>
              </a:rPr>
              <a:t>Ex: A </a:t>
            </a:r>
            <a:r>
              <a:rPr lang="en-US" dirty="0">
                <a:solidFill>
                  <a:srgbClr val="000099"/>
                </a:solidFill>
                <a:sym typeface="Wingdings" panose="05000000000000000000" pitchFamily="2" charset="2"/>
              </a:rPr>
              <a:t> BC	{</a:t>
            </a:r>
            <a:r>
              <a:rPr lang="en-US" dirty="0" err="1">
                <a:solidFill>
                  <a:srgbClr val="000099"/>
                </a:solidFill>
                <a:sym typeface="Wingdings" panose="05000000000000000000" pitchFamily="2" charset="2"/>
              </a:rPr>
              <a:t>B.val</a:t>
            </a:r>
            <a:r>
              <a:rPr lang="en-US" dirty="0">
                <a:solidFill>
                  <a:srgbClr val="000099"/>
                </a:solidFill>
                <a:sym typeface="Wingdings" panose="05000000000000000000" pitchFamily="2" charset="2"/>
              </a:rPr>
              <a:t> = </a:t>
            </a:r>
            <a:r>
              <a:rPr lang="en-US" dirty="0" err="1">
                <a:solidFill>
                  <a:srgbClr val="000099"/>
                </a:solidFill>
                <a:sym typeface="Wingdings" panose="05000000000000000000" pitchFamily="2" charset="2"/>
              </a:rPr>
              <a:t>A.val</a:t>
            </a:r>
            <a:endParaRPr lang="en-US" dirty="0">
              <a:solidFill>
                <a:srgbClr val="000099"/>
              </a:solidFill>
              <a:sym typeface="Wingdings" panose="05000000000000000000" pitchFamily="2" charset="2"/>
            </a:endParaRPr>
          </a:p>
          <a:p>
            <a:pPr marL="914400" lvl="1" indent="0">
              <a:buNone/>
            </a:pPr>
            <a:r>
              <a:rPr lang="en-US" dirty="0">
                <a:solidFill>
                  <a:srgbClr val="000099"/>
                </a:solidFill>
                <a:sym typeface="Wingdings" panose="05000000000000000000" pitchFamily="2" charset="2"/>
              </a:rPr>
              <a:t>			 </a:t>
            </a:r>
            <a:r>
              <a:rPr lang="en-US" dirty="0" err="1">
                <a:solidFill>
                  <a:srgbClr val="000099"/>
                </a:solidFill>
                <a:sym typeface="Wingdings" panose="05000000000000000000" pitchFamily="2" charset="2"/>
              </a:rPr>
              <a:t>C.val</a:t>
            </a:r>
            <a:r>
              <a:rPr lang="en-US" dirty="0">
                <a:solidFill>
                  <a:srgbClr val="000099"/>
                </a:solidFill>
                <a:sym typeface="Wingdings" panose="05000000000000000000" pitchFamily="2" charset="2"/>
              </a:rPr>
              <a:t> = </a:t>
            </a:r>
            <a:r>
              <a:rPr lang="en-US" dirty="0" err="1">
                <a:solidFill>
                  <a:srgbClr val="000099"/>
                </a:solidFill>
                <a:sym typeface="Wingdings" panose="05000000000000000000" pitchFamily="2" charset="2"/>
              </a:rPr>
              <a:t>B.val</a:t>
            </a:r>
            <a:r>
              <a:rPr lang="en-US" dirty="0">
                <a:solidFill>
                  <a:srgbClr val="000099"/>
                </a:solidFill>
                <a:sym typeface="Wingdings" panose="05000000000000000000" pitchFamily="2" charset="2"/>
              </a:rPr>
              <a:t>}</a:t>
            </a:r>
            <a:endParaRPr lang="en-US" dirty="0">
              <a:solidFill>
                <a:srgbClr val="000099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83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B5EBA-D7D2-D52A-A3BE-1793652E5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351"/>
            <a:ext cx="10515600" cy="851464"/>
          </a:xfrm>
        </p:spPr>
        <p:txBody>
          <a:bodyPr>
            <a:normAutofit/>
          </a:bodyPr>
          <a:lstStyle/>
          <a:p>
            <a:r>
              <a:rPr lang="en-IN" dirty="0"/>
              <a:t>Syntax Directed Translation Scheme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1F18B-F347-9631-1F3C-5A8DC682A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1347019"/>
            <a:ext cx="10515600" cy="516163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IN" dirty="0"/>
              <a:t>The Syntax directed translation scheme is a context free grammar</a:t>
            </a:r>
          </a:p>
          <a:p>
            <a:pPr>
              <a:lnSpc>
                <a:spcPct val="150000"/>
              </a:lnSpc>
            </a:pPr>
            <a:r>
              <a:rPr lang="en-IN" dirty="0"/>
              <a:t>It is used </a:t>
            </a:r>
            <a:r>
              <a:rPr lang="en-IN" dirty="0">
                <a:solidFill>
                  <a:srgbClr val="000099"/>
                </a:solidFill>
              </a:rPr>
              <a:t>to evaluate the order of semantic rules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r>
              <a:rPr lang="en-IN" dirty="0"/>
              <a:t>In translation scheme, </a:t>
            </a:r>
            <a:r>
              <a:rPr lang="en-IN" dirty="0">
                <a:solidFill>
                  <a:srgbClr val="000099"/>
                </a:solidFill>
              </a:rPr>
              <a:t>the semantic rules are embedded within the right side of the production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r>
              <a:rPr lang="en-IN" dirty="0"/>
              <a:t>The position at which the action to be executed is enclosed between braces, { }.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 position of a semantic action in a production body determines the order in which the action is executed.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000099"/>
                </a:solidFill>
              </a:rPr>
              <a:t>Ex1: </a:t>
            </a:r>
            <a:r>
              <a:rPr lang="de-DE" dirty="0">
                <a:solidFill>
                  <a:srgbClr val="000099"/>
                </a:solidFill>
              </a:rPr>
              <a:t>E </a:t>
            </a:r>
            <a:r>
              <a:rPr lang="de-DE" dirty="0">
                <a:solidFill>
                  <a:srgbClr val="000099"/>
                </a:solidFill>
                <a:sym typeface="Wingdings" panose="05000000000000000000" pitchFamily="2" charset="2"/>
              </a:rPr>
              <a:t></a:t>
            </a:r>
            <a:r>
              <a:rPr lang="de-DE" dirty="0">
                <a:solidFill>
                  <a:srgbClr val="000099"/>
                </a:solidFill>
              </a:rPr>
              <a:t> E</a:t>
            </a:r>
            <a:r>
              <a:rPr lang="de-DE" baseline="-25000" dirty="0">
                <a:solidFill>
                  <a:srgbClr val="000099"/>
                </a:solidFill>
              </a:rPr>
              <a:t>1</a:t>
            </a:r>
            <a:r>
              <a:rPr lang="de-DE" dirty="0">
                <a:solidFill>
                  <a:srgbClr val="000099"/>
                </a:solidFill>
              </a:rPr>
              <a:t> + {print `+`} T 	</a:t>
            </a:r>
            <a:r>
              <a:rPr lang="de-DE" dirty="0">
                <a:solidFill>
                  <a:srgbClr val="FF0000"/>
                </a:solidFill>
              </a:rPr>
              <a:t>Ex2: E </a:t>
            </a:r>
            <a:r>
              <a:rPr lang="de-DE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de-DE" dirty="0">
                <a:solidFill>
                  <a:srgbClr val="FF0000"/>
                </a:solidFill>
              </a:rPr>
              <a:t> E</a:t>
            </a:r>
            <a:r>
              <a:rPr lang="de-DE" baseline="-25000" dirty="0">
                <a:solidFill>
                  <a:srgbClr val="FF0000"/>
                </a:solidFill>
              </a:rPr>
              <a:t>1</a:t>
            </a:r>
            <a:r>
              <a:rPr lang="de-DE" dirty="0">
                <a:solidFill>
                  <a:srgbClr val="FF0000"/>
                </a:solidFill>
              </a:rPr>
              <a:t> + T {print `+`} 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373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245E7-60D4-E725-7A91-F6184E903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5" y="0"/>
            <a:ext cx="10515600" cy="1325563"/>
          </a:xfrm>
        </p:spPr>
        <p:txBody>
          <a:bodyPr/>
          <a:lstStyle/>
          <a:p>
            <a:r>
              <a:rPr lang="en-US" dirty="0"/>
              <a:t>Syntax-Directed Definitions and Translation Schemes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7C985-1DA6-02B4-8AE3-A5988C408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49" y="1450181"/>
            <a:ext cx="10810875" cy="517207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When we associate semantic rules with productions, we use two notations: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Syntax-Directed Definitions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Translation Schemes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solidFill>
                  <a:srgbClr val="FF0000"/>
                </a:solidFill>
              </a:rPr>
              <a:t>Syntax-Directed Definitions: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Give </a:t>
            </a:r>
            <a:r>
              <a:rPr lang="en-US" dirty="0">
                <a:solidFill>
                  <a:srgbClr val="000099"/>
                </a:solidFill>
              </a:rPr>
              <a:t>high-level specifications for translations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solidFill>
                  <a:srgbClr val="000099"/>
                </a:solidFill>
              </a:rPr>
              <a:t>Hide many implementation details such as the order of evaluation of semantic actions</a:t>
            </a:r>
            <a:r>
              <a:rPr lang="en-US" dirty="0"/>
              <a:t>.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We associate a production rule with a set of semantic actions, and we do not say when they will be evaluated.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solidFill>
                  <a:srgbClr val="006600"/>
                </a:solidFill>
              </a:rPr>
              <a:t>Translation Schemes: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solidFill>
                  <a:srgbClr val="000099"/>
                </a:solidFill>
              </a:rPr>
              <a:t>Indicate the order of evaluation of semantic actions </a:t>
            </a:r>
            <a:r>
              <a:rPr lang="en-US" dirty="0"/>
              <a:t>associated with a production rule.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In other words, translation schemes give a little bit of information about implementation details.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5741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195EE301-68E9-D465-E113-22AF57859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Syntax-Directed Translation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0028CF2A-18ED-41E6-0EC2-B6132727F7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Conceptually with both the syntax directed definition and translation scheme we</a:t>
            </a:r>
          </a:p>
          <a:p>
            <a:pPr lvl="1"/>
            <a:r>
              <a:rPr lang="en-US" altLang="en-US" sz="2000" dirty="0"/>
              <a:t>Parse the input token stream</a:t>
            </a:r>
          </a:p>
          <a:p>
            <a:pPr lvl="1"/>
            <a:r>
              <a:rPr lang="en-US" altLang="en-US" sz="2000" dirty="0"/>
              <a:t>Build the parse tree</a:t>
            </a:r>
          </a:p>
          <a:p>
            <a:pPr lvl="1"/>
            <a:r>
              <a:rPr lang="en-US" altLang="en-US" sz="2000" dirty="0"/>
              <a:t>Traverse the tree to evaluate the semantic rules at the parse tree nodes.</a:t>
            </a:r>
          </a:p>
          <a:p>
            <a:pPr lvl="1">
              <a:buFontTx/>
              <a:buNone/>
            </a:pPr>
            <a:endParaRPr lang="en-US" altLang="en-US" sz="2000" dirty="0"/>
          </a:p>
          <a:p>
            <a:pPr lvl="1">
              <a:buFontTx/>
              <a:buNone/>
            </a:pPr>
            <a:endParaRPr lang="en-US" altLang="en-US" sz="2000" dirty="0"/>
          </a:p>
          <a:p>
            <a:pPr lvl="1">
              <a:buFontTx/>
              <a:buNone/>
            </a:pPr>
            <a:r>
              <a:rPr lang="en-US" altLang="en-US" sz="2000" dirty="0"/>
              <a:t>Input string           parse tree           dependency graph                 evaluation order for 									      semantic rules</a:t>
            </a:r>
          </a:p>
          <a:p>
            <a:pPr lvl="1">
              <a:buFontTx/>
              <a:buNone/>
            </a:pPr>
            <a:endParaRPr lang="en-US" altLang="en-US" sz="2000" dirty="0"/>
          </a:p>
          <a:p>
            <a:pPr lvl="1">
              <a:buFontTx/>
              <a:buNone/>
            </a:pPr>
            <a:r>
              <a:rPr lang="en-US" altLang="en-US" sz="2000" dirty="0"/>
              <a:t>			Conceptual view of syntax directed translation </a:t>
            </a:r>
          </a:p>
        </p:txBody>
      </p:sp>
      <p:sp>
        <p:nvSpPr>
          <p:cNvPr id="9221" name="Line 4">
            <a:extLst>
              <a:ext uri="{FF2B5EF4-FFF2-40B4-BE49-F238E27FC236}">
                <a16:creationId xmlns:a16="http://schemas.microsoft.com/office/drawing/2014/main" id="{0B5E3F67-FDF7-8CBD-BB98-7A8D6E7AB2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2744" y="4545806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2" name="Line 6">
            <a:extLst>
              <a:ext uri="{FF2B5EF4-FFF2-40B4-BE49-F238E27FC236}">
                <a16:creationId xmlns:a16="http://schemas.microsoft.com/office/drawing/2014/main" id="{E06EB383-BF03-D170-93AD-56A27B7C8A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3319" y="4545806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3" name="Line 10">
            <a:extLst>
              <a:ext uri="{FF2B5EF4-FFF2-40B4-BE49-F238E27FC236}">
                <a16:creationId xmlns:a16="http://schemas.microsoft.com/office/drawing/2014/main" id="{D9264A6B-D1CF-F2EA-EB39-0DDE9B9BDF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9150" y="4545806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87E3A-BA59-E314-0055-1053F7505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S-attributed SDT Vs L-attributed SDT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9459957-34F5-87AA-EB22-EF05573CD04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454147"/>
          <a:ext cx="10515600" cy="4937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41106">
                  <a:extLst>
                    <a:ext uri="{9D8B030D-6E8A-4147-A177-3AD203B41FA5}">
                      <a16:colId xmlns:a16="http://schemas.microsoft.com/office/drawing/2014/main" val="2758295953"/>
                    </a:ext>
                  </a:extLst>
                </a:gridCol>
                <a:gridCol w="5474494">
                  <a:extLst>
                    <a:ext uri="{9D8B030D-6E8A-4147-A177-3AD203B41FA5}">
                      <a16:colId xmlns:a16="http://schemas.microsoft.com/office/drawing/2014/main" val="35399559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S-attributed SDT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L-attributed SDT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135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Uses only synthesized attribute</a:t>
                      </a:r>
                    </a:p>
                    <a:p>
                      <a:r>
                        <a:rPr lang="en-IN" sz="20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Ex. A 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BC</a:t>
                      </a:r>
                    </a:p>
                    <a:p>
                      <a:r>
                        <a:rPr lang="en-IN" sz="2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IN" sz="2000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A.val</a:t>
                      </a:r>
                      <a:r>
                        <a:rPr lang="en-IN" sz="2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=fun(</a:t>
                      </a:r>
                      <a:r>
                        <a:rPr lang="en-IN" sz="2000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B.val,C.val</a:t>
                      </a:r>
                      <a:r>
                        <a:rPr lang="en-IN" sz="2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)</a:t>
                      </a:r>
                      <a:endParaRPr lang="en-IN" sz="2000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Uses both synthesized attribute and inherited attribute. </a:t>
                      </a:r>
                      <a:r>
                        <a:rPr lang="en-IN" sz="2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Inherited attribute can inherit values from either parent or left siblings only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Ex: A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BCD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{B.V=A.V, C.V=B.V, D.V=C.V}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{C.V=D.V}</a:t>
                      </a:r>
                      <a:endParaRPr lang="en-IN" sz="2000" dirty="0">
                        <a:solidFill>
                          <a:srgbClr val="FF0000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864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Semantic actions are placed at the right end of the productions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Ex. A 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BC   </a:t>
                      </a:r>
                      <a:r>
                        <a:rPr lang="en-IN" sz="2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{…………}</a:t>
                      </a:r>
                    </a:p>
                    <a:p>
                      <a:endParaRPr lang="en-IN" sz="20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Semantic actions are placed anywhere on RHS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Ex: A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BC </a:t>
                      </a:r>
                      <a:r>
                        <a:rPr lang="en-IN" sz="2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{….}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 | </a:t>
                      </a:r>
                      <a:r>
                        <a:rPr lang="en-IN" sz="2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{….}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 BC | B </a:t>
                      </a:r>
                      <a:r>
                        <a:rPr lang="en-IN" sz="2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{….}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 C</a:t>
                      </a:r>
                    </a:p>
                    <a:p>
                      <a:endParaRPr lang="en-IN" sz="20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251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Attributes are evaluated using bottom-up parsing</a:t>
                      </a:r>
                    </a:p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Ex: </a:t>
                      </a:r>
                    </a:p>
                    <a:p>
                      <a:endParaRPr lang="en-IN" sz="20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By traversing parse tree </a:t>
                      </a:r>
                      <a:r>
                        <a:rPr lang="en-IN" sz="200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dept first</a:t>
                      </a:r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n-IN" sz="2000" dirty="0">
                          <a:solidFill>
                            <a:srgbClr val="006600"/>
                          </a:solidFill>
                          <a:latin typeface="Palatino Linotype" panose="02040502050505030304" pitchFamily="18" charset="0"/>
                        </a:rPr>
                        <a:t>left-&gt;right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269767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F08A50-52E0-7E88-E0BB-797ED2070EDD}"/>
              </a:ext>
            </a:extLst>
          </p:cNvPr>
          <p:cNvCxnSpPr/>
          <p:nvPr/>
        </p:nvCxnSpPr>
        <p:spPr>
          <a:xfrm>
            <a:off x="6007894" y="3593303"/>
            <a:ext cx="119300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07441F8-8B76-F0EA-2DEF-F9FEB7857DE7}"/>
              </a:ext>
            </a:extLst>
          </p:cNvPr>
          <p:cNvGrpSpPr/>
          <p:nvPr/>
        </p:nvGrpSpPr>
        <p:grpSpPr>
          <a:xfrm>
            <a:off x="2321752" y="5479478"/>
            <a:ext cx="673920" cy="837720"/>
            <a:chOff x="2321752" y="5850956"/>
            <a:chExt cx="673920" cy="83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28CBD16-94A7-C7C6-B879-C5E347C53F0F}"/>
                    </a:ext>
                  </a:extLst>
                </p14:cNvPr>
                <p14:cNvContentPartPr/>
                <p14:nvPr/>
              </p14:nvContentPartPr>
              <p14:xfrm>
                <a:off x="2750512" y="5850956"/>
                <a:ext cx="43200" cy="147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28CBD16-94A7-C7C6-B879-C5E347C53F0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741872" y="5841956"/>
                  <a:ext cx="60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C0843C9-71A7-EFC8-2C39-05A588B9F0EF}"/>
                    </a:ext>
                  </a:extLst>
                </p14:cNvPr>
                <p14:cNvContentPartPr/>
                <p14:nvPr/>
              </p14:nvContentPartPr>
              <p14:xfrm>
                <a:off x="2749792" y="6007916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C0843C9-71A7-EFC8-2C39-05A588B9F0E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741152" y="59992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D06DE8E-2EFF-E5DD-97A4-ABAFC8D4F7D9}"/>
                    </a:ext>
                  </a:extLst>
                </p14:cNvPr>
                <p14:cNvContentPartPr/>
                <p14:nvPr/>
              </p14:nvContentPartPr>
              <p14:xfrm>
                <a:off x="2807032" y="5850956"/>
                <a:ext cx="188640" cy="225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D06DE8E-2EFF-E5DD-97A4-ABAFC8D4F7D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98392" y="5841956"/>
                  <a:ext cx="2062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FFC20E9-94C2-CC41-47C9-C9234945AD7C}"/>
                    </a:ext>
                  </a:extLst>
                </p14:cNvPr>
                <p14:cNvContentPartPr/>
                <p14:nvPr/>
              </p14:nvContentPartPr>
              <p14:xfrm>
                <a:off x="2764552" y="5957876"/>
                <a:ext cx="176760" cy="29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FFC20E9-94C2-CC41-47C9-C9234945AD7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55552" y="5948876"/>
                  <a:ext cx="1944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884726C-6E8D-8365-3EE4-52A1691D6F6F}"/>
                    </a:ext>
                  </a:extLst>
                </p14:cNvPr>
                <p14:cNvContentPartPr/>
                <p14:nvPr/>
              </p14:nvContentPartPr>
              <p14:xfrm>
                <a:off x="2448472" y="6107636"/>
                <a:ext cx="373680" cy="312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884726C-6E8D-8365-3EE4-52A1691D6F6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39472" y="6098996"/>
                  <a:ext cx="3913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8E1E78B-6836-F1F2-E092-5DD36205B7C4}"/>
                    </a:ext>
                  </a:extLst>
                </p14:cNvPr>
                <p14:cNvContentPartPr/>
                <p14:nvPr/>
              </p14:nvContentPartPr>
              <p14:xfrm>
                <a:off x="2321752" y="6393476"/>
                <a:ext cx="29160" cy="220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8E1E78B-6836-F1F2-E092-5DD36205B7C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12752" y="6384836"/>
                  <a:ext cx="468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0554022-3F4B-0400-536F-D22558AFABB5}"/>
                    </a:ext>
                  </a:extLst>
                </p14:cNvPr>
                <p14:cNvContentPartPr/>
                <p14:nvPr/>
              </p14:nvContentPartPr>
              <p14:xfrm>
                <a:off x="2328592" y="6393476"/>
                <a:ext cx="144720" cy="295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0554022-3F4B-0400-536F-D22558AFABB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319952" y="6384836"/>
                  <a:ext cx="162360" cy="31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460ABD1-7C37-9FF4-96E9-BA4388D21DDD}"/>
                  </a:ext>
                </a:extLst>
              </p14:cNvPr>
              <p14:cNvContentPartPr/>
              <p14:nvPr/>
            </p14:nvContentPartPr>
            <p14:xfrm>
              <a:off x="2921512" y="5743358"/>
              <a:ext cx="189360" cy="2696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460ABD1-7C37-9FF4-96E9-BA4388D21DD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12872" y="5734718"/>
                <a:ext cx="20700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8383F6D-0785-44E5-52F0-14165D4396A1}"/>
                  </a:ext>
                </a:extLst>
              </p14:cNvPr>
              <p14:cNvContentPartPr/>
              <p14:nvPr/>
            </p14:nvContentPartPr>
            <p14:xfrm>
              <a:off x="3042112" y="6064118"/>
              <a:ext cx="136800" cy="2307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8383F6D-0785-44E5-52F0-14165D4396A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033472" y="6055478"/>
                <a:ext cx="154440" cy="24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1885C72C-6559-F800-6D78-9F9CCF1BBAC1}"/>
              </a:ext>
            </a:extLst>
          </p:cNvPr>
          <p:cNvGrpSpPr/>
          <p:nvPr/>
        </p:nvGrpSpPr>
        <p:grpSpPr>
          <a:xfrm>
            <a:off x="3088192" y="5422238"/>
            <a:ext cx="391680" cy="764640"/>
            <a:chOff x="3088192" y="5793716"/>
            <a:chExt cx="391680" cy="76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B8B1D38-B86F-CA74-31CC-8592B3268CC4}"/>
                    </a:ext>
                  </a:extLst>
                </p14:cNvPr>
                <p14:cNvContentPartPr/>
                <p14:nvPr/>
              </p14:nvContentPartPr>
              <p14:xfrm>
                <a:off x="3088192" y="5928716"/>
                <a:ext cx="391680" cy="629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B8B1D38-B86F-CA74-31CC-8592B3268CC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079192" y="5920076"/>
                  <a:ext cx="40932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34384FE-1792-0200-42A7-38CDF8F4BC7C}"/>
                    </a:ext>
                  </a:extLst>
                </p14:cNvPr>
                <p14:cNvContentPartPr/>
                <p14:nvPr/>
              </p14:nvContentPartPr>
              <p14:xfrm>
                <a:off x="3094312" y="5793716"/>
                <a:ext cx="91800" cy="282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34384FE-1792-0200-42A7-38CDF8F4BC7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085672" y="5784716"/>
                  <a:ext cx="10944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C3A549D-F127-081B-6DAE-6A0DD0979996}"/>
              </a:ext>
            </a:extLst>
          </p:cNvPr>
          <p:cNvGrpSpPr/>
          <p:nvPr/>
        </p:nvGrpSpPr>
        <p:grpSpPr>
          <a:xfrm>
            <a:off x="7152468" y="5471738"/>
            <a:ext cx="673920" cy="837720"/>
            <a:chOff x="2321752" y="5850956"/>
            <a:chExt cx="673920" cy="83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160816C-A290-A359-3EBD-57D2A6F48C48}"/>
                    </a:ext>
                  </a:extLst>
                </p14:cNvPr>
                <p14:cNvContentPartPr/>
                <p14:nvPr/>
              </p14:nvContentPartPr>
              <p14:xfrm>
                <a:off x="2750512" y="5850956"/>
                <a:ext cx="43200" cy="147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160816C-A290-A359-3EBD-57D2A6F48C4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741872" y="5841956"/>
                  <a:ext cx="60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81419AF-FAB5-0825-964F-86209FA71B05}"/>
                    </a:ext>
                  </a:extLst>
                </p14:cNvPr>
                <p14:cNvContentPartPr/>
                <p14:nvPr/>
              </p14:nvContentPartPr>
              <p14:xfrm>
                <a:off x="2749792" y="6007916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81419AF-FAB5-0825-964F-86209FA71B0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741152" y="59992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67471EC-AB45-DDA2-8E91-B79AD924EA61}"/>
                    </a:ext>
                  </a:extLst>
                </p14:cNvPr>
                <p14:cNvContentPartPr/>
                <p14:nvPr/>
              </p14:nvContentPartPr>
              <p14:xfrm>
                <a:off x="2807032" y="5850956"/>
                <a:ext cx="188640" cy="225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67471EC-AB45-DDA2-8E91-B79AD924EA6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98392" y="5841956"/>
                  <a:ext cx="2062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30DB388-FCD9-301B-C709-5C903833CF84}"/>
                    </a:ext>
                  </a:extLst>
                </p14:cNvPr>
                <p14:cNvContentPartPr/>
                <p14:nvPr/>
              </p14:nvContentPartPr>
              <p14:xfrm>
                <a:off x="2764552" y="5957876"/>
                <a:ext cx="176760" cy="29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30DB388-FCD9-301B-C709-5C903833CF8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55552" y="5948876"/>
                  <a:ext cx="1944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82B3310-A2E8-2E1B-4EA9-E92962305EA1}"/>
                    </a:ext>
                  </a:extLst>
                </p14:cNvPr>
                <p14:cNvContentPartPr/>
                <p14:nvPr/>
              </p14:nvContentPartPr>
              <p14:xfrm>
                <a:off x="2448472" y="6107636"/>
                <a:ext cx="373680" cy="312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82B3310-A2E8-2E1B-4EA9-E92962305EA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39472" y="6098996"/>
                  <a:ext cx="3913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11E5BA8-9417-3D1F-1307-DCEC8163F167}"/>
                    </a:ext>
                  </a:extLst>
                </p14:cNvPr>
                <p14:cNvContentPartPr/>
                <p14:nvPr/>
              </p14:nvContentPartPr>
              <p14:xfrm>
                <a:off x="2321752" y="6393476"/>
                <a:ext cx="29160" cy="220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11E5BA8-9417-3D1F-1307-DCEC8163F16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12752" y="6384836"/>
                  <a:ext cx="468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A7CAA65-5221-0285-A226-1F51AD57AAE3}"/>
                    </a:ext>
                  </a:extLst>
                </p14:cNvPr>
                <p14:cNvContentPartPr/>
                <p14:nvPr/>
              </p14:nvContentPartPr>
              <p14:xfrm>
                <a:off x="2328592" y="6393476"/>
                <a:ext cx="144720" cy="295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A7CAA65-5221-0285-A226-1F51AD57AAE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319952" y="6384836"/>
                  <a:ext cx="162360" cy="31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43B09A7-2CAA-167B-1245-778FE6E52E92}"/>
                  </a:ext>
                </a:extLst>
              </p14:cNvPr>
              <p14:cNvContentPartPr/>
              <p14:nvPr/>
            </p14:nvContentPartPr>
            <p14:xfrm>
              <a:off x="7752228" y="5735618"/>
              <a:ext cx="189360" cy="2696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43B09A7-2CAA-167B-1245-778FE6E52E9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43588" y="5726978"/>
                <a:ext cx="20700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06D7F5E-7109-E2A9-C4A2-63B528FF86E8}"/>
                  </a:ext>
                </a:extLst>
              </p14:cNvPr>
              <p14:cNvContentPartPr/>
              <p14:nvPr/>
            </p14:nvContentPartPr>
            <p14:xfrm>
              <a:off x="7872828" y="6056378"/>
              <a:ext cx="136800" cy="2307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06D7F5E-7109-E2A9-C4A2-63B528FF86E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864188" y="6047738"/>
                <a:ext cx="15444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40491DB-8BFF-F7EF-D241-54223A98DC0F}"/>
                  </a:ext>
                </a:extLst>
              </p14:cNvPr>
              <p14:cNvContentPartPr/>
              <p14:nvPr/>
            </p14:nvContentPartPr>
            <p14:xfrm>
              <a:off x="6943792" y="5543558"/>
              <a:ext cx="578880" cy="6145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40491DB-8BFF-F7EF-D241-54223A98DC0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934792" y="5534918"/>
                <a:ext cx="596520" cy="63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E739EF6-DCC1-6868-53B4-AE6BC2103C5B}"/>
                  </a:ext>
                </a:extLst>
              </p14:cNvPr>
              <p14:cNvContentPartPr/>
              <p14:nvPr/>
            </p14:nvContentPartPr>
            <p14:xfrm>
              <a:off x="6926872" y="6086438"/>
              <a:ext cx="160560" cy="1170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E739EF6-DCC1-6868-53B4-AE6BC2103C5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917872" y="6077438"/>
                <a:ext cx="17820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C55562B-BE01-0356-3D3C-FD6048F88906}"/>
                  </a:ext>
                </a:extLst>
              </p14:cNvPr>
              <p14:cNvContentPartPr/>
              <p14:nvPr/>
            </p14:nvContentPartPr>
            <p14:xfrm>
              <a:off x="7415032" y="6314678"/>
              <a:ext cx="403920" cy="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C55562B-BE01-0356-3D3C-FD6048F8890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406392" y="6306038"/>
                <a:ext cx="42156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CB7947FC-783C-14EC-8D2C-2F94CECB9B27}"/>
              </a:ext>
            </a:extLst>
          </p:cNvPr>
          <p:cNvGrpSpPr/>
          <p:nvPr/>
        </p:nvGrpSpPr>
        <p:grpSpPr>
          <a:xfrm>
            <a:off x="7731472" y="6221798"/>
            <a:ext cx="91080" cy="221760"/>
            <a:chOff x="7731472" y="6593276"/>
            <a:chExt cx="91080" cy="22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CDB7497-8A8D-12F8-C233-8DFF68365F5B}"/>
                    </a:ext>
                  </a:extLst>
                </p14:cNvPr>
                <p14:cNvContentPartPr/>
                <p14:nvPr/>
              </p14:nvContentPartPr>
              <p14:xfrm>
                <a:off x="7736512" y="6593276"/>
                <a:ext cx="79200" cy="104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CDB7497-8A8D-12F8-C233-8DFF68365F5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27512" y="6584636"/>
                  <a:ext cx="968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25A4C94-00B3-32DE-E2A5-35C345D121CA}"/>
                    </a:ext>
                  </a:extLst>
                </p14:cNvPr>
                <p14:cNvContentPartPr/>
                <p14:nvPr/>
              </p14:nvContentPartPr>
              <p14:xfrm>
                <a:off x="7731472" y="6700556"/>
                <a:ext cx="91080" cy="114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25A4C94-00B3-32DE-E2A5-35C345D121C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22832" y="6691916"/>
                  <a:ext cx="108720" cy="132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4519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DA792-F674-E015-4E06-7F0B3D7BB15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1. S-attributed SDT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F59A9-26D6-49CB-8C47-861D0AF4A776}"/>
              </a:ext>
            </a:extLst>
          </p:cNvPr>
          <p:cNvSpPr txBox="1">
            <a:spLocks/>
          </p:cNvSpPr>
          <p:nvPr/>
        </p:nvSpPr>
        <p:spPr>
          <a:xfrm>
            <a:off x="131180" y="711201"/>
            <a:ext cx="11929641" cy="5984567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dirty="0"/>
              <a:t>Value of synthesized attribute at a node can be computed from the value of attributes at the </a:t>
            </a:r>
            <a:r>
              <a:rPr lang="en-US" sz="2000" dirty="0">
                <a:solidFill>
                  <a:srgbClr val="C00000"/>
                </a:solidFill>
              </a:rPr>
              <a:t>children of that node </a:t>
            </a:r>
            <a:r>
              <a:rPr lang="en-US" sz="2000" dirty="0"/>
              <a:t>in the parse tree.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A syntax directed definition that uses synthesized attribute exclusively is said to be </a:t>
            </a:r>
            <a:r>
              <a:rPr lang="en-US" sz="2000" dirty="0">
                <a:solidFill>
                  <a:srgbClr val="C00000"/>
                </a:solidFill>
              </a:rPr>
              <a:t>S-attribute definition</a:t>
            </a:r>
            <a:r>
              <a:rPr lang="en-US" sz="20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99"/>
                </a:solidFill>
              </a:rPr>
              <a:t>Example: Syntax directed definition of simple desk calculator which evaluates expressions terminated by an </a:t>
            </a:r>
            <a:r>
              <a:rPr lang="en-US" sz="2000" dirty="0" err="1">
                <a:solidFill>
                  <a:srgbClr val="000099"/>
                </a:solidFill>
              </a:rPr>
              <a:t>endmarker</a:t>
            </a:r>
            <a:r>
              <a:rPr lang="en-US" sz="2000" dirty="0">
                <a:solidFill>
                  <a:srgbClr val="000099"/>
                </a:solidFill>
              </a:rPr>
              <a:t>, n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3DBF71-106E-9C30-79BB-7B27A22DF1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0881224"/>
              </p:ext>
            </p:extLst>
          </p:nvPr>
        </p:nvGraphicFramePr>
        <p:xfrm>
          <a:off x="3728434" y="2644009"/>
          <a:ext cx="5029200" cy="381000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088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1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Production 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Semantic rules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L 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E </a:t>
                      </a:r>
                      <a:r>
                        <a:rPr lang="en-US" sz="1800" b="0" baseline="0" dirty="0">
                          <a:effectLst/>
                          <a:latin typeface="Palatino Linotype" panose="02040502050505030304" pitchFamily="18" charset="0"/>
                        </a:rPr>
                        <a:t>n</a:t>
                      </a:r>
                      <a:endParaRPr lang="en-US" sz="1800" b="0" baseline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Print (E.val)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+T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E.val = E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.val + T.val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E.val = T.val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*F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T.val = T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.val * F.val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T.val = F.val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(E)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F.val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 = </a:t>
                      </a: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E.val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digit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F.val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 = </a:t>
                      </a: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digit.lexval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7B49040-EE12-A5B1-89ED-44DAEA5C50CE}"/>
              </a:ext>
            </a:extLst>
          </p:cNvPr>
          <p:cNvSpPr/>
          <p:nvPr/>
        </p:nvSpPr>
        <p:spPr>
          <a:xfrm>
            <a:off x="6111791" y="3178329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F07A84-8400-4A05-64E0-DD356A9C0625}"/>
              </a:ext>
            </a:extLst>
          </p:cNvPr>
          <p:cNvSpPr/>
          <p:nvPr/>
        </p:nvSpPr>
        <p:spPr>
          <a:xfrm>
            <a:off x="6008991" y="3625912"/>
            <a:ext cx="24035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9E84F3-2A16-ACB0-9E82-2E7E12DFB03E}"/>
              </a:ext>
            </a:extLst>
          </p:cNvPr>
          <p:cNvSpPr/>
          <p:nvPr/>
        </p:nvSpPr>
        <p:spPr>
          <a:xfrm>
            <a:off x="6019350" y="4119226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A89789-5972-7079-61EB-3B64F85AF962}"/>
              </a:ext>
            </a:extLst>
          </p:cNvPr>
          <p:cNvSpPr/>
          <p:nvPr/>
        </p:nvSpPr>
        <p:spPr>
          <a:xfrm>
            <a:off x="6111791" y="4608536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221C08-F4C7-4F45-05DC-D806353FEC73}"/>
              </a:ext>
            </a:extLst>
          </p:cNvPr>
          <p:cNvSpPr/>
          <p:nvPr/>
        </p:nvSpPr>
        <p:spPr>
          <a:xfrm>
            <a:off x="6128120" y="5069193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744F89-49E4-1215-4BFC-57046E26DCDA}"/>
              </a:ext>
            </a:extLst>
          </p:cNvPr>
          <p:cNvSpPr/>
          <p:nvPr/>
        </p:nvSpPr>
        <p:spPr>
          <a:xfrm>
            <a:off x="5890334" y="5573579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260E63-DD84-837A-1862-C2CC90C82D26}"/>
              </a:ext>
            </a:extLst>
          </p:cNvPr>
          <p:cNvSpPr/>
          <p:nvPr/>
        </p:nvSpPr>
        <p:spPr>
          <a:xfrm>
            <a:off x="6008991" y="6034236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95B72C00-DB03-156D-9848-15F6431EB7E2}"/>
              </a:ext>
            </a:extLst>
          </p:cNvPr>
          <p:cNvSpPr/>
          <p:nvPr/>
        </p:nvSpPr>
        <p:spPr>
          <a:xfrm>
            <a:off x="9108281" y="4424026"/>
            <a:ext cx="3014663" cy="1340980"/>
          </a:xfrm>
          <a:prstGeom prst="wedgeEllipseCallout">
            <a:avLst>
              <a:gd name="adj1" fmla="val -82972"/>
              <a:gd name="adj2" fmla="val 7627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Palatino Linotype" panose="02040502050505030304" pitchFamily="18" charset="0"/>
              </a:rPr>
              <a:t>an integer value returned by lexical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Palatino Linotype" panose="02040502050505030304" pitchFamily="18" charset="0"/>
              </a:rPr>
              <a:t>analyzer</a:t>
            </a:r>
            <a:endParaRPr lang="en-IN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10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A9A13-47D4-DAEA-E538-BDA9257E4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18256"/>
            <a:ext cx="12192000" cy="824708"/>
          </a:xfrm>
        </p:spPr>
        <p:txBody>
          <a:bodyPr>
            <a:normAutofit/>
          </a:bodyPr>
          <a:lstStyle/>
          <a:p>
            <a:r>
              <a:rPr lang="en-US" dirty="0"/>
              <a:t>Evaluating an SDD at the Nodes of a Parse Tree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1368F-4F40-7739-6CB2-C0B64F918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43" y="1178719"/>
            <a:ext cx="11764528" cy="5614081"/>
          </a:xfrm>
        </p:spPr>
        <p:txBody>
          <a:bodyPr>
            <a:normAutofit/>
          </a:bodyPr>
          <a:lstStyle/>
          <a:p>
            <a:r>
              <a:rPr lang="en-US" dirty="0"/>
              <a:t>The rules of an SDD are applied by </a:t>
            </a:r>
            <a:r>
              <a:rPr lang="en-US" dirty="0">
                <a:solidFill>
                  <a:srgbClr val="FF0000"/>
                </a:solidFill>
              </a:rPr>
              <a:t>first constructing a parse tree </a:t>
            </a:r>
            <a:r>
              <a:rPr lang="en-US" dirty="0"/>
              <a:t>and then </a:t>
            </a:r>
            <a:r>
              <a:rPr lang="en-US" dirty="0">
                <a:solidFill>
                  <a:srgbClr val="000099"/>
                </a:solidFill>
              </a:rPr>
              <a:t>using the rules to evaluate all of the attributes at each of the nodes of the parse tree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rgbClr val="000099"/>
                </a:solidFill>
              </a:rPr>
              <a:t>A parse tree, showing the value(s) of its attribute(s) is call</a:t>
            </a:r>
            <a:r>
              <a:rPr lang="en-US" dirty="0"/>
              <a:t>ed an </a:t>
            </a:r>
            <a:r>
              <a:rPr lang="en-US" dirty="0">
                <a:solidFill>
                  <a:srgbClr val="FF0000"/>
                </a:solidFill>
              </a:rPr>
              <a:t>annotated parse tree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rgbClr val="0E47A1"/>
                </a:solidFill>
              </a:rPr>
              <a:t>Each of the nodes for the non-terminals has attribute, </a:t>
            </a:r>
            <a:r>
              <a:rPr lang="en-US" i="1" dirty="0" err="1">
                <a:solidFill>
                  <a:srgbClr val="0E47A1"/>
                </a:solidFill>
              </a:rPr>
              <a:t>val</a:t>
            </a:r>
            <a:r>
              <a:rPr lang="en-US" dirty="0">
                <a:solidFill>
                  <a:srgbClr val="0E47A1"/>
                </a:solidFill>
              </a:rPr>
              <a:t> computed in a bottom-up order</a:t>
            </a:r>
          </a:p>
        </p:txBody>
      </p:sp>
    </p:spTree>
    <p:extLst>
      <p:ext uri="{BB962C8B-B14F-4D97-AF65-F5344CB8AC3E}">
        <p14:creationId xmlns:p14="http://schemas.microsoft.com/office/powerpoint/2010/main" val="140251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EEBC7-AE07-AC4A-E097-89F6C2B02CB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Synthesized attributes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B29649-0858-198A-A1A6-C32D4DA0A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759" y="1336461"/>
            <a:ext cx="561975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7C6D54-E50E-009C-F1C4-8CB50A4E1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582" y="1926735"/>
            <a:ext cx="1038225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E.val=19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005C9-E756-BF14-D8B0-1DCC16DE2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913" y="1718104"/>
            <a:ext cx="561975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6A0401-2022-D63F-E90A-3575B376F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3557" y="2638730"/>
            <a:ext cx="561975" cy="257175"/>
          </a:xfrm>
          <a:prstGeom prst="rect">
            <a:avLst/>
          </a:prstGeom>
          <a:solidFill>
            <a:srgbClr val="FFFFFF"/>
          </a:solidFill>
          <a:ln w="25400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cxnSp>
        <p:nvCxnSpPr>
          <p:cNvPr id="7" name="AutoShape 7">
            <a:extLst>
              <a:ext uri="{FF2B5EF4-FFF2-40B4-BE49-F238E27FC236}">
                <a16:creationId xmlns:a16="http://schemas.microsoft.com/office/drawing/2014/main" id="{8066F8EE-1186-0CA5-BD38-C971C4EB9AA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158832" y="1718104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8">
            <a:extLst>
              <a:ext uri="{FF2B5EF4-FFF2-40B4-BE49-F238E27FC236}">
                <a16:creationId xmlns:a16="http://schemas.microsoft.com/office/drawing/2014/main" id="{D9C74936-3381-FEDF-8942-803DE976429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144546" y="2335928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9">
            <a:extLst>
              <a:ext uri="{FF2B5EF4-FFF2-40B4-BE49-F238E27FC236}">
                <a16:creationId xmlns:a16="http://schemas.microsoft.com/office/drawing/2014/main" id="{9FA84469-9380-F42C-4A6A-1E131E6E115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54746" y="1724145"/>
            <a:ext cx="676275" cy="18097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10">
            <a:extLst>
              <a:ext uri="{FF2B5EF4-FFF2-40B4-BE49-F238E27FC236}">
                <a16:creationId xmlns:a16="http://schemas.microsoft.com/office/drawing/2014/main" id="{8CB54096-9747-634E-F8E4-B8B65134A3B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44084" y="2328522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1">
            <a:extLst>
              <a:ext uri="{FF2B5EF4-FFF2-40B4-BE49-F238E27FC236}">
                <a16:creationId xmlns:a16="http://schemas.microsoft.com/office/drawing/2014/main" id="{86A54DF6-8C19-1467-1160-B418A06F74E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896771" y="2330705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Rectangle 13">
            <a:extLst>
              <a:ext uri="{FF2B5EF4-FFF2-40B4-BE49-F238E27FC236}">
                <a16:creationId xmlns:a16="http://schemas.microsoft.com/office/drawing/2014/main" id="{75C3F8BE-002C-162A-E3D7-CEAB3A771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0327" y="3410430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T.val=15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6B736F7D-45A9-EDEA-70F4-BE0374A31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846" y="2797430"/>
            <a:ext cx="1123979" cy="427288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E.val=15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D9294727-06D4-E1F1-401C-CE355D30F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749" y="4191032"/>
            <a:ext cx="457201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cxnSp>
        <p:nvCxnSpPr>
          <p:cNvPr id="15" name="AutoShape 16">
            <a:extLst>
              <a:ext uri="{FF2B5EF4-FFF2-40B4-BE49-F238E27FC236}">
                <a16:creationId xmlns:a16="http://schemas.microsoft.com/office/drawing/2014/main" id="{BA374E49-7A7A-2015-39C7-658553EAA15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916349" y="3173668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7">
            <a:extLst>
              <a:ext uri="{FF2B5EF4-FFF2-40B4-BE49-F238E27FC236}">
                <a16:creationId xmlns:a16="http://schemas.microsoft.com/office/drawing/2014/main" id="{9D0A8697-F7E9-9F0D-A737-BD61AD9E470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922501" y="3802138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AutoShape 18">
            <a:extLst>
              <a:ext uri="{FF2B5EF4-FFF2-40B4-BE49-F238E27FC236}">
                <a16:creationId xmlns:a16="http://schemas.microsoft.com/office/drawing/2014/main" id="{F37B5B7A-2988-4F15-4EEB-88DBBDEE54D4}"/>
              </a:ext>
            </a:extLst>
          </p:cNvPr>
          <p:cNvCxnSpPr>
            <a:cxnSpLocks noChangeShapeType="1"/>
            <a:stCxn id="12" idx="2"/>
            <a:endCxn id="20" idx="0"/>
          </p:cNvCxnSpPr>
          <p:nvPr/>
        </p:nvCxnSpPr>
        <p:spPr bwMode="auto">
          <a:xfrm flipH="1">
            <a:off x="1097163" y="3802138"/>
            <a:ext cx="827782" cy="518061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AutoShape 19">
            <a:extLst>
              <a:ext uri="{FF2B5EF4-FFF2-40B4-BE49-F238E27FC236}">
                <a16:creationId xmlns:a16="http://schemas.microsoft.com/office/drawing/2014/main" id="{3D9CF448-F4F9-EB36-2D41-1E50DC51DD7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24945" y="3816886"/>
            <a:ext cx="729863" cy="51575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Rectangle 21">
            <a:extLst>
              <a:ext uri="{FF2B5EF4-FFF2-40B4-BE49-F238E27FC236}">
                <a16:creationId xmlns:a16="http://schemas.microsoft.com/office/drawing/2014/main" id="{99B69FC7-0610-857F-C23D-CDD48A132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59450"/>
            <a:ext cx="2179604" cy="4476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F.val=3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20" name="Rectangle 22">
            <a:extLst>
              <a:ext uri="{FF2B5EF4-FFF2-40B4-BE49-F238E27FC236}">
                <a16:creationId xmlns:a16="http://schemas.microsoft.com/office/drawing/2014/main" id="{17319B10-D5BA-B7E2-FBF0-9F6BC0FAA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775" y="4320199"/>
            <a:ext cx="1116775" cy="28098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T.val=3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ADF6EF52-B629-02F6-E8A2-C885C6F1E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651948"/>
            <a:ext cx="2247961" cy="32108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digit.lexval=3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cxnSp>
        <p:nvCxnSpPr>
          <p:cNvPr id="22" name="AutoShape 24">
            <a:extLst>
              <a:ext uri="{FF2B5EF4-FFF2-40B4-BE49-F238E27FC236}">
                <a16:creationId xmlns:a16="http://schemas.microsoft.com/office/drawing/2014/main" id="{4B93A514-4696-0EF5-4E29-474E3AD2177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06134" y="4651823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25">
            <a:extLst>
              <a:ext uri="{FF2B5EF4-FFF2-40B4-BE49-F238E27FC236}">
                <a16:creationId xmlns:a16="http://schemas.microsoft.com/office/drawing/2014/main" id="{ED8501E6-E597-D9C0-C93A-566775F7D85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06134" y="5375723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Rectangle 31">
            <a:extLst>
              <a:ext uri="{FF2B5EF4-FFF2-40B4-BE49-F238E27FC236}">
                <a16:creationId xmlns:a16="http://schemas.microsoft.com/office/drawing/2014/main" id="{42A2E208-3F1D-0FFD-ABBF-AD7970D99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1021" y="3377578"/>
            <a:ext cx="938213" cy="32704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F.val=4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25" name="Rectangle 32">
            <a:extLst>
              <a:ext uri="{FF2B5EF4-FFF2-40B4-BE49-F238E27FC236}">
                <a16:creationId xmlns:a16="http://schemas.microsoft.com/office/drawing/2014/main" id="{F70D6213-A32D-ED1C-D284-28D3641B1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564" y="2736592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T.val=4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26" name="Rectangle 33">
            <a:extLst>
              <a:ext uri="{FF2B5EF4-FFF2-40B4-BE49-F238E27FC236}">
                <a16:creationId xmlns:a16="http://schemas.microsoft.com/office/drawing/2014/main" id="{09CEE455-363E-FCED-0369-B9A814EDD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9762" y="4127163"/>
            <a:ext cx="1676400" cy="48131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digit.lexval=4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cxnSp>
        <p:nvCxnSpPr>
          <p:cNvPr id="27" name="AutoShape 34">
            <a:extLst>
              <a:ext uri="{FF2B5EF4-FFF2-40B4-BE49-F238E27FC236}">
                <a16:creationId xmlns:a16="http://schemas.microsoft.com/office/drawing/2014/main" id="{3264A7DD-DA72-AB66-B0B5-7070CCB6609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348336" y="3101353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35">
            <a:extLst>
              <a:ext uri="{FF2B5EF4-FFF2-40B4-BE49-F238E27FC236}">
                <a16:creationId xmlns:a16="http://schemas.microsoft.com/office/drawing/2014/main" id="{CFA4B771-AD06-2F3A-2A57-5100AFB5E24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337888" y="3816886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Rectangle 27">
            <a:extLst>
              <a:ext uri="{FF2B5EF4-FFF2-40B4-BE49-F238E27FC236}">
                <a16:creationId xmlns:a16="http://schemas.microsoft.com/office/drawing/2014/main" id="{A811733C-31C3-C7BC-85E7-BA57BC00A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9709" y="4317894"/>
            <a:ext cx="1229190" cy="4476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F.val=5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30" name="Rectangle 28">
            <a:extLst>
              <a:ext uri="{FF2B5EF4-FFF2-40B4-BE49-F238E27FC236}">
                <a16:creationId xmlns:a16="http://schemas.microsoft.com/office/drawing/2014/main" id="{2C771F89-0390-5C9D-8985-A8E0663CD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5832" y="5041794"/>
            <a:ext cx="16573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digit.lexval=5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cxnSp>
        <p:nvCxnSpPr>
          <p:cNvPr id="31" name="AutoShape 29">
            <a:extLst>
              <a:ext uri="{FF2B5EF4-FFF2-40B4-BE49-F238E27FC236}">
                <a16:creationId xmlns:a16="http://schemas.microsoft.com/office/drawing/2014/main" id="{2BAF3800-8740-9D83-7B4F-142DAF98851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684304" y="4741753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2" name="Content Placeholder 3">
            <a:extLst>
              <a:ext uri="{FF2B5EF4-FFF2-40B4-BE49-F238E27FC236}">
                <a16:creationId xmlns:a16="http://schemas.microsoft.com/office/drawing/2014/main" id="{D8D9BF0C-DD17-1C93-4CA6-DD4A0C507F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6597941"/>
              </p:ext>
            </p:extLst>
          </p:nvPr>
        </p:nvGraphicFramePr>
        <p:xfrm>
          <a:off x="8529181" y="1118048"/>
          <a:ext cx="3472007" cy="3946716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324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7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Production 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Semantic rules 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L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r>
                        <a:rPr lang="en-US" sz="1800" baseline="-25000" err="1">
                          <a:effectLst/>
                          <a:latin typeface="Palatino Linotype" panose="02040502050505030304" pitchFamily="18" charset="0"/>
                        </a:rPr>
                        <a:t>n</a:t>
                      </a:r>
                      <a:endParaRPr lang="en-US" sz="1800" baseline="-250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Print (E.val)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+T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E.Val = E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.val + T.val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E.Val = T.val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*F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T.Val = T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.val * F.val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T.Val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 = </a:t>
                      </a: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F.val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(E)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F.Val = E.val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digit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F.Val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 = digit . </a:t>
                      </a: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lexval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3EA09D1D-8C3C-B6F2-CFFC-C263461F70CA}"/>
              </a:ext>
            </a:extLst>
          </p:cNvPr>
          <p:cNvSpPr/>
          <p:nvPr/>
        </p:nvSpPr>
        <p:spPr>
          <a:xfrm>
            <a:off x="538775" y="6370151"/>
            <a:ext cx="3914675" cy="26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Annotated parse tree for 3*5+4n</a:t>
            </a:r>
          </a:p>
        </p:txBody>
      </p:sp>
      <p:sp>
        <p:nvSpPr>
          <p:cNvPr id="34" name="Oval Callout 71">
            <a:extLst>
              <a:ext uri="{FF2B5EF4-FFF2-40B4-BE49-F238E27FC236}">
                <a16:creationId xmlns:a16="http://schemas.microsoft.com/office/drawing/2014/main" id="{3CE3CFB8-5860-562A-3956-88C1AFFA2946}"/>
              </a:ext>
            </a:extLst>
          </p:cNvPr>
          <p:cNvSpPr/>
          <p:nvPr/>
        </p:nvSpPr>
        <p:spPr>
          <a:xfrm>
            <a:off x="6116237" y="5375723"/>
            <a:ext cx="4713688" cy="1377278"/>
          </a:xfrm>
          <a:prstGeom prst="wedgeEllipseCallout">
            <a:avLst>
              <a:gd name="adj1" fmla="val -67941"/>
              <a:gd name="adj2" fmla="val -90245"/>
            </a:avLst>
          </a:prstGeom>
          <a:noFill/>
          <a:ln>
            <a:solidFill>
              <a:srgbClr val="0E47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parse tree showing the value of the attributes at each node is called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Palatino Linotype" panose="02040502050505030304" pitchFamily="18" charset="0"/>
              </a:rPr>
              <a:t>Annotated parse tree</a:t>
            </a: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BA003887-83AF-8683-B382-C30555A95EBA}"/>
              </a:ext>
            </a:extLst>
          </p:cNvPr>
          <p:cNvSpPr/>
          <p:nvPr/>
        </p:nvSpPr>
        <p:spPr>
          <a:xfrm>
            <a:off x="4922210" y="1106074"/>
            <a:ext cx="609706" cy="5206094"/>
          </a:xfrm>
          <a:prstGeom prst="rightBrac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8B682ED-361E-CCE3-1EB5-C08174D4803A}"/>
              </a:ext>
            </a:extLst>
          </p:cNvPr>
          <p:cNvSpPr/>
          <p:nvPr/>
        </p:nvSpPr>
        <p:spPr>
          <a:xfrm>
            <a:off x="5531916" y="3101353"/>
            <a:ext cx="2997265" cy="12312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The process of computing the attribute values at the node is called </a:t>
            </a:r>
            <a:r>
              <a:rPr lang="en-US">
                <a:solidFill>
                  <a:srgbClr val="C00000"/>
                </a:solidFill>
                <a:latin typeface="Palatino Linotype" panose="02040502050505030304" pitchFamily="18" charset="0"/>
              </a:rPr>
              <a:t>annotating</a:t>
            </a: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 or </a:t>
            </a:r>
            <a:r>
              <a:rPr lang="en-US">
                <a:solidFill>
                  <a:srgbClr val="C00000"/>
                </a:solidFill>
                <a:latin typeface="Palatino Linotype" panose="02040502050505030304" pitchFamily="18" charset="0"/>
              </a:rPr>
              <a:t>decorating the parse tree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1D91F53-1AF5-F9AE-97DA-4F707FDAACF4}"/>
              </a:ext>
            </a:extLst>
          </p:cNvPr>
          <p:cNvSpPr/>
          <p:nvPr/>
        </p:nvSpPr>
        <p:spPr>
          <a:xfrm>
            <a:off x="0" y="649548"/>
            <a:ext cx="119372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FF0000"/>
                </a:solidFill>
                <a:latin typeface="Palatino Linotype" panose="02040502050505030304" pitchFamily="18" charset="0"/>
              </a:rPr>
              <a:t>String: 3*5+4n;</a:t>
            </a:r>
          </a:p>
        </p:txBody>
      </p:sp>
    </p:spTree>
    <p:extLst>
      <p:ext uri="{BB962C8B-B14F-4D97-AF65-F5344CB8AC3E}">
        <p14:creationId xmlns:p14="http://schemas.microsoft.com/office/powerpoint/2010/main" val="863399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12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24" grpId="0" animBg="1"/>
      <p:bldP spid="25" grpId="0" animBg="1"/>
      <p:bldP spid="26" grpId="0" animBg="1"/>
      <p:bldP spid="29" grpId="0" animBg="1"/>
      <p:bldP spid="30" grpId="0" animBg="1"/>
      <p:bldP spid="33" grpId="0"/>
      <p:bldP spid="34" grpId="0" animBg="1"/>
      <p:bldP spid="34" grpId="1" animBg="1"/>
      <p:bldP spid="35" grpId="0" animBg="1"/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B4B1-9C3A-05D6-B323-44B7F2BBF8F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E7BE1-A6D8-36E4-6F8E-9481C3FC0368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Draw Annotated Parse tree for following using the SDD: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(3+4)*(5+6)n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1*2*3*(4+5)n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(9+8*(7+6)+5)*4n</a:t>
            </a:r>
          </a:p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0F0736-65FB-2A7E-F575-EC585DEF3C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6291077"/>
              </p:ext>
            </p:extLst>
          </p:nvPr>
        </p:nvGraphicFramePr>
        <p:xfrm>
          <a:off x="7695897" y="1626867"/>
          <a:ext cx="3472007" cy="3946716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324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7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Production 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Semantic rules 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L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r>
                        <a:rPr lang="en-US" sz="1800" baseline="-25000" err="1">
                          <a:effectLst/>
                          <a:latin typeface="Palatino Linotype" panose="02040502050505030304" pitchFamily="18" charset="0"/>
                        </a:rPr>
                        <a:t>n</a:t>
                      </a:r>
                      <a:endParaRPr lang="en-US" sz="1800" baseline="-250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Print (E.val)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+T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E.Val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 = E</a:t>
                      </a:r>
                      <a:r>
                        <a:rPr lang="en-US" sz="1800" baseline="-25000" dirty="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.val + </a:t>
                      </a: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T.val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E.Val = T.val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*F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T.Val = T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.val * F.val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T.Val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 = </a:t>
                      </a: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F.val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(E)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F.Val = E.val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digit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F.Val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 = digit . </a:t>
                      </a: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lexval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2744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E475-436C-F58B-23D4-6A3F2B69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Solution1 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BE48399-7D19-E43F-D052-7D0BE6E86A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011" y="470220"/>
            <a:ext cx="6136776" cy="6113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600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E475-436C-F58B-23D4-6A3F2B69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Solution2 </a:t>
            </a: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A5A4A9B-D607-8E4D-F5DB-4C0D322F0D7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628" y="510608"/>
            <a:ext cx="7681685" cy="6052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118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E475-436C-F58B-23D4-6A3F2B69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Solution3 </a:t>
            </a:r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7C21CC0-54DE-AACE-CE9B-45C616969F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857" y="541110"/>
            <a:ext cx="8333685" cy="6193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5671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EE3A2-044C-472E-4532-16427405C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Orders for SDD's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92EC2-D054-641F-E6D3-88B0F13EB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“Dependency graphs" are a useful tool for </a:t>
            </a:r>
            <a:r>
              <a:rPr lang="en-US" dirty="0">
                <a:solidFill>
                  <a:srgbClr val="000099"/>
                </a:solidFill>
              </a:rPr>
              <a:t>determining an evaluation order for the attribute instances in a given parse tree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Semantic rules set up </a:t>
            </a:r>
            <a:r>
              <a:rPr lang="en-US" dirty="0">
                <a:solidFill>
                  <a:srgbClr val="FF0000"/>
                </a:solidFill>
              </a:rPr>
              <a:t>dependencies between attributes</a:t>
            </a:r>
            <a:r>
              <a:rPr lang="en-US" dirty="0"/>
              <a:t> which can be represented by a dependency graph. </a:t>
            </a:r>
          </a:p>
          <a:p>
            <a:pPr>
              <a:lnSpc>
                <a:spcPct val="150000"/>
              </a:lnSpc>
            </a:pPr>
            <a:r>
              <a:rPr lang="en-US" dirty="0"/>
              <a:t>While an annotated parse tree shows the values of attributes, a dependency graph helps us determine how those values can be computed.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3877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8A714F24-5F34-CCBD-951D-B2C3490588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268" y="136525"/>
            <a:ext cx="10515600" cy="1325563"/>
          </a:xfrm>
        </p:spPr>
        <p:txBody>
          <a:bodyPr/>
          <a:lstStyle/>
          <a:p>
            <a:r>
              <a:rPr lang="en-US" altLang="en-US" dirty="0"/>
              <a:t>Dependency Graph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D3A8E15A-3A82-EFBA-2C6C-9ACFF32E0B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7219" y="1335881"/>
            <a:ext cx="10746581" cy="54435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en-US" sz="2400" dirty="0"/>
              <a:t>Directed Graph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Shows </a:t>
            </a:r>
            <a:r>
              <a:rPr lang="en-US" altLang="en-US" sz="2400" dirty="0">
                <a:solidFill>
                  <a:srgbClr val="FF0000"/>
                </a:solidFill>
              </a:rPr>
              <a:t>interdependencies between attributes</a:t>
            </a:r>
            <a:r>
              <a:rPr lang="en-US" altLang="en-US" sz="2400" dirty="0"/>
              <a:t>.</a:t>
            </a:r>
          </a:p>
          <a:p>
            <a:pPr>
              <a:lnSpc>
                <a:spcPct val="110000"/>
              </a:lnSpc>
            </a:pPr>
            <a:r>
              <a:rPr lang="en-US" altLang="en-US" sz="2400" dirty="0">
                <a:solidFill>
                  <a:srgbClr val="000099"/>
                </a:solidFill>
              </a:rPr>
              <a:t>If an attribute b at a node depends on an attribute c, then the semantic rule for b at that node must be evaluated after the semantic rule that defines c. 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Construction: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Put each semantic rule into the form b=f(c</a:t>
            </a:r>
            <a:r>
              <a:rPr lang="en-US" altLang="en-US" baseline="-25000" dirty="0"/>
              <a:t>1</a:t>
            </a:r>
            <a:r>
              <a:rPr lang="en-US" altLang="en-US" dirty="0"/>
              <a:t>,…,c</a:t>
            </a:r>
            <a:r>
              <a:rPr lang="en-US" altLang="en-US" baseline="-25000" dirty="0"/>
              <a:t>k</a:t>
            </a:r>
            <a:r>
              <a:rPr lang="en-US" altLang="en-US" dirty="0"/>
              <a:t>) by introducing dummy synthesized attribute b for every semantic rule that consists of a procedure call.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 E.g.,</a:t>
            </a:r>
          </a:p>
          <a:p>
            <a:pPr lvl="2">
              <a:lnSpc>
                <a:spcPct val="110000"/>
              </a:lnSpc>
            </a:pPr>
            <a:r>
              <a:rPr lang="en-US" altLang="en-US" sz="2400" b="1" dirty="0">
                <a:solidFill>
                  <a:srgbClr val="000099"/>
                </a:solidFill>
              </a:rPr>
              <a:t>L </a:t>
            </a:r>
            <a:r>
              <a:rPr lang="en-US" altLang="en-US" sz="2400" b="1" dirty="0">
                <a:solidFill>
                  <a:srgbClr val="000099"/>
                </a:solidFill>
                <a:sym typeface="Symbol" panose="05050102010706020507" pitchFamily="18" charset="2"/>
              </a:rPr>
              <a:t> E n		 </a:t>
            </a:r>
            <a:r>
              <a:rPr lang="en-US" altLang="en-US" sz="2400" b="1" i="1" dirty="0">
                <a:solidFill>
                  <a:srgbClr val="000099"/>
                </a:solidFill>
                <a:sym typeface="Symbol" panose="05050102010706020507" pitchFamily="18" charset="2"/>
              </a:rPr>
              <a:t>print</a:t>
            </a:r>
            <a:r>
              <a:rPr lang="en-US" altLang="en-US" sz="2400" b="1" dirty="0">
                <a:solidFill>
                  <a:srgbClr val="000099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dirty="0" err="1">
                <a:solidFill>
                  <a:srgbClr val="000099"/>
                </a:solidFill>
                <a:sym typeface="Symbol" panose="05050102010706020507" pitchFamily="18" charset="2"/>
              </a:rPr>
              <a:t>E.</a:t>
            </a:r>
            <a:r>
              <a:rPr lang="en-US" altLang="en-US" sz="2400" b="1" i="1" dirty="0" err="1">
                <a:solidFill>
                  <a:srgbClr val="000099"/>
                </a:solidFill>
                <a:sym typeface="Symbol" panose="05050102010706020507" pitchFamily="18" charset="2"/>
              </a:rPr>
              <a:t>val</a:t>
            </a:r>
            <a:r>
              <a:rPr lang="en-US" altLang="en-US" sz="2400" b="1" dirty="0">
                <a:solidFill>
                  <a:srgbClr val="000099"/>
                </a:solidFill>
                <a:sym typeface="Symbol" panose="05050102010706020507" pitchFamily="18" charset="2"/>
              </a:rPr>
              <a:t>)</a:t>
            </a:r>
          </a:p>
          <a:p>
            <a:pPr lvl="2">
              <a:lnSpc>
                <a:spcPct val="110000"/>
              </a:lnSpc>
            </a:pPr>
            <a:r>
              <a:rPr lang="en-US" altLang="en-US" sz="2400" b="1" dirty="0">
                <a:solidFill>
                  <a:srgbClr val="000099"/>
                </a:solidFill>
                <a:sym typeface="Symbol" panose="05050102010706020507" pitchFamily="18" charset="2"/>
              </a:rPr>
              <a:t>Becomes: 	</a:t>
            </a:r>
            <a:r>
              <a:rPr lang="en-US" altLang="en-US" sz="2400" b="1" i="1" dirty="0">
                <a:solidFill>
                  <a:srgbClr val="000099"/>
                </a:solidFill>
                <a:sym typeface="Symbol" panose="05050102010706020507" pitchFamily="18" charset="2"/>
              </a:rPr>
              <a:t>dummy = print</a:t>
            </a:r>
            <a:r>
              <a:rPr lang="en-US" altLang="en-US" sz="2400" b="1" dirty="0">
                <a:solidFill>
                  <a:srgbClr val="000099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dirty="0" err="1">
                <a:solidFill>
                  <a:srgbClr val="000099"/>
                </a:solidFill>
                <a:sym typeface="Symbol" panose="05050102010706020507" pitchFamily="18" charset="2"/>
              </a:rPr>
              <a:t>E.</a:t>
            </a:r>
            <a:r>
              <a:rPr lang="en-US" altLang="en-US" sz="2400" b="1" i="1" dirty="0" err="1">
                <a:solidFill>
                  <a:srgbClr val="000099"/>
                </a:solidFill>
                <a:sym typeface="Symbol" panose="05050102010706020507" pitchFamily="18" charset="2"/>
              </a:rPr>
              <a:t>val</a:t>
            </a:r>
            <a:r>
              <a:rPr lang="en-US" altLang="en-US" sz="2400" b="1" dirty="0">
                <a:solidFill>
                  <a:srgbClr val="000099"/>
                </a:solidFill>
                <a:sym typeface="Symbol" panose="05050102010706020507" pitchFamily="18" charset="2"/>
              </a:rPr>
              <a:t>)</a:t>
            </a:r>
          </a:p>
          <a:p>
            <a:pPr lvl="2">
              <a:lnSpc>
                <a:spcPct val="110000"/>
              </a:lnSpc>
              <a:buFontTx/>
              <a:buNone/>
            </a:pPr>
            <a:endParaRPr lang="en-US" altLang="en-US" sz="2400" b="1" dirty="0">
              <a:sym typeface="Symbol" panose="05050102010706020507" pitchFamily="18" charset="2"/>
            </a:endParaRPr>
          </a:p>
          <a:p>
            <a:pPr lvl="1">
              <a:lnSpc>
                <a:spcPct val="110000"/>
              </a:lnSpc>
            </a:pPr>
            <a:r>
              <a:rPr lang="en-US" altLang="en-US" dirty="0"/>
              <a:t>The graph has a node for each attribute and an edge to the node for b from the node for c if attribute b depends on attribute 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01CA1E1B-71CF-F1C9-C642-3ADE20B68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Dependency Graph Construction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1655EF62-9C00-CB33-77D0-6A1B048D3A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en-US" dirty="0"/>
              <a:t>Example</a:t>
            </a:r>
          </a:p>
          <a:p>
            <a:r>
              <a:rPr lang="en-US" altLang="en-US" u="sng" dirty="0"/>
              <a:t>Production	</a:t>
            </a:r>
            <a:r>
              <a:rPr lang="en-US" altLang="en-US" dirty="0"/>
              <a:t>		</a:t>
            </a:r>
            <a:r>
              <a:rPr lang="en-US" altLang="en-US" u="sng" dirty="0"/>
              <a:t>Semantic Rule</a:t>
            </a:r>
          </a:p>
          <a:p>
            <a:pPr>
              <a:buFontTx/>
              <a:buNone/>
            </a:pPr>
            <a:r>
              <a:rPr lang="en-US" altLang="en-US" dirty="0"/>
              <a:t>      E→E1 + E2		</a:t>
            </a:r>
            <a:r>
              <a:rPr lang="en-US" altLang="en-US" dirty="0" err="1">
                <a:solidFill>
                  <a:srgbClr val="FF0000"/>
                </a:solidFill>
              </a:rPr>
              <a:t>E.val</a:t>
            </a:r>
            <a:r>
              <a:rPr lang="en-US" altLang="en-US" dirty="0">
                <a:solidFill>
                  <a:srgbClr val="FF0000"/>
                </a:solidFill>
              </a:rPr>
              <a:t> = E1.val + E2.val</a:t>
            </a:r>
          </a:p>
          <a:p>
            <a:pPr>
              <a:buFontTx/>
              <a:buNone/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en-US" dirty="0"/>
              <a:t>					  E  </a:t>
            </a:r>
            <a:r>
              <a:rPr lang="en-US" altLang="en-US" sz="3200" dirty="0"/>
              <a:t>.</a:t>
            </a:r>
            <a:r>
              <a:rPr lang="en-US" altLang="en-US" dirty="0"/>
              <a:t> </a:t>
            </a:r>
            <a:r>
              <a:rPr lang="en-US" altLang="en-US" dirty="0" err="1"/>
              <a:t>val</a:t>
            </a:r>
            <a:endParaRPr lang="en-US" altLang="en-US" dirty="0"/>
          </a:p>
          <a:p>
            <a:pPr>
              <a:buFontTx/>
              <a:buNone/>
            </a:pPr>
            <a:endParaRPr lang="en-US" altLang="en-US" sz="3200" dirty="0"/>
          </a:p>
          <a:p>
            <a:pPr>
              <a:buFontTx/>
              <a:buNone/>
            </a:pPr>
            <a:r>
              <a:rPr lang="en-US" altLang="en-US" sz="3200" dirty="0"/>
              <a:t>			 	</a:t>
            </a:r>
          </a:p>
          <a:p>
            <a:pPr>
              <a:buFontTx/>
              <a:buNone/>
            </a:pPr>
            <a:r>
              <a:rPr lang="en-US" altLang="en-US" dirty="0"/>
              <a:t> 				E1. </a:t>
            </a:r>
            <a:r>
              <a:rPr lang="en-US" altLang="en-US" dirty="0" err="1"/>
              <a:t>val</a:t>
            </a:r>
            <a:r>
              <a:rPr lang="en-US" altLang="en-US" dirty="0"/>
              <a:t>	   +	E2 . Val</a:t>
            </a:r>
          </a:p>
          <a:p>
            <a:endParaRPr lang="en-US" altLang="en-US" dirty="0"/>
          </a:p>
          <a:p>
            <a:r>
              <a:rPr lang="en-US" altLang="en-US" dirty="0" err="1"/>
              <a:t>E.val</a:t>
            </a:r>
            <a:r>
              <a:rPr lang="en-US" altLang="en-US" dirty="0"/>
              <a:t> is synthesized from E1.val and E2.val</a:t>
            </a:r>
          </a:p>
          <a:p>
            <a:r>
              <a:rPr lang="en-US" altLang="en-US" dirty="0"/>
              <a:t>The dotted lines represent the parse tree that is not part of the dependency graph.</a:t>
            </a:r>
          </a:p>
          <a:p>
            <a:pPr>
              <a:buFontTx/>
              <a:buNone/>
            </a:pPr>
            <a:endParaRPr lang="en-US" altLang="en-US" sz="3200" dirty="0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2D4DE39C-7C37-6FAD-E6D7-86A659FBB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C5A4F2-C4A7-4D20-A2DC-7B19D0918050}" type="slidenum">
              <a:rPr lang="en-US" altLang="en-US" sz="8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800"/>
          </a:p>
        </p:txBody>
      </p:sp>
      <p:cxnSp>
        <p:nvCxnSpPr>
          <p:cNvPr id="27653" name="Straight Connector 7">
            <a:extLst>
              <a:ext uri="{FF2B5EF4-FFF2-40B4-BE49-F238E27FC236}">
                <a16:creationId xmlns:a16="http://schemas.microsoft.com/office/drawing/2014/main" id="{B3D2AF11-158B-EA5F-1F4C-AE642C30E79A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3976687" y="3576637"/>
            <a:ext cx="838200" cy="76200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4" name="Straight Connector 9">
            <a:extLst>
              <a:ext uri="{FF2B5EF4-FFF2-40B4-BE49-F238E27FC236}">
                <a16:creationId xmlns:a16="http://schemas.microsoft.com/office/drawing/2014/main" id="{8BF32E57-0A42-DB71-5A59-7B5BC39C00A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14887" y="3576637"/>
            <a:ext cx="838200" cy="76200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5" name="Straight Connector 11">
            <a:extLst>
              <a:ext uri="{FF2B5EF4-FFF2-40B4-BE49-F238E27FC236}">
                <a16:creationId xmlns:a16="http://schemas.microsoft.com/office/drawing/2014/main" id="{098D00DA-2B62-25A2-9C51-59D42C99281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395788" y="3995738"/>
            <a:ext cx="838200" cy="3175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6" name="Straight Arrow Connector 15">
            <a:extLst>
              <a:ext uri="{FF2B5EF4-FFF2-40B4-BE49-F238E27FC236}">
                <a16:creationId xmlns:a16="http://schemas.microsoft.com/office/drawing/2014/main" id="{257EB260-9847-5C61-7132-C352E7748A8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205287" y="3664744"/>
            <a:ext cx="1028700" cy="751682"/>
          </a:xfrm>
          <a:prstGeom prst="straightConnector1">
            <a:avLst/>
          </a:prstGeom>
          <a:noFill/>
          <a:ln w="9525" algn="ctr">
            <a:solidFill>
              <a:srgbClr val="CC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7" name="Straight Arrow Connector 17">
            <a:extLst>
              <a:ext uri="{FF2B5EF4-FFF2-40B4-BE49-F238E27FC236}">
                <a16:creationId xmlns:a16="http://schemas.microsoft.com/office/drawing/2014/main" id="{97A1F6BB-73CC-3671-1D56-FDC08B5AADA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335586" y="3664744"/>
            <a:ext cx="760414" cy="663972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13D7FC1-F79A-FFD5-19BB-A1B36A39F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285" y="1481852"/>
            <a:ext cx="4361047" cy="1240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826EC36-33F1-7573-FA8C-F4D911B357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Dependency Graph Construction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102BA0F9-A928-8CF0-4220-31D0AF31DA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Wingdings" panose="05000000000000000000" pitchFamily="2" charset="2"/>
              <a:buNone/>
            </a:pPr>
            <a:r>
              <a:rPr lang="en-US" altLang="en-US" dirty="0"/>
              <a:t>for each node </a:t>
            </a:r>
            <a:r>
              <a:rPr lang="en-US" altLang="en-US" i="1" dirty="0"/>
              <a:t>n</a:t>
            </a:r>
            <a:r>
              <a:rPr lang="en-US" altLang="en-US" dirty="0"/>
              <a:t> in the parse tree do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en-US" dirty="0"/>
              <a:t>	for each attribute a of the grammar symbol at </a:t>
            </a:r>
            <a:r>
              <a:rPr lang="en-US" altLang="en-US" i="1" dirty="0"/>
              <a:t>n </a:t>
            </a:r>
            <a:r>
              <a:rPr lang="en-US" altLang="en-US" dirty="0"/>
              <a:t>do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en-US" dirty="0"/>
              <a:t>		construct a node in the dependency graph for a</a:t>
            </a:r>
          </a:p>
          <a:p>
            <a:pPr algn="l">
              <a:buFont typeface="Wingdings" panose="05000000000000000000" pitchFamily="2" charset="2"/>
              <a:buNone/>
            </a:pPr>
            <a:endParaRPr lang="en-US" altLang="en-US" dirty="0"/>
          </a:p>
          <a:p>
            <a:pPr algn="l">
              <a:buFont typeface="Wingdings" panose="05000000000000000000" pitchFamily="2" charset="2"/>
              <a:buNone/>
            </a:pPr>
            <a:r>
              <a:rPr lang="en-US" altLang="en-US" dirty="0"/>
              <a:t>for each node </a:t>
            </a:r>
            <a:r>
              <a:rPr lang="en-US" altLang="en-US" i="1" dirty="0"/>
              <a:t>n </a:t>
            </a:r>
            <a:r>
              <a:rPr lang="en-US" altLang="en-US" dirty="0"/>
              <a:t>in the parse tree do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en-US" dirty="0"/>
              <a:t>	for each semantic rule </a:t>
            </a:r>
            <a:r>
              <a:rPr lang="en-US" altLang="en-US" i="1" dirty="0"/>
              <a:t>b = f(c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,…,</a:t>
            </a:r>
            <a:r>
              <a:rPr lang="en-US" altLang="en-US" i="1" dirty="0" err="1"/>
              <a:t>c</a:t>
            </a:r>
            <a:r>
              <a:rPr lang="en-US" altLang="en-US" i="1" baseline="-25000" dirty="0" err="1"/>
              <a:t>n</a:t>
            </a:r>
            <a:r>
              <a:rPr lang="en-US" altLang="en-US" i="1" dirty="0"/>
              <a:t>)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en-US" dirty="0"/>
              <a:t>		associated with the production used at </a:t>
            </a:r>
            <a:r>
              <a:rPr lang="en-US" altLang="en-US" i="1" dirty="0"/>
              <a:t>n</a:t>
            </a:r>
            <a:r>
              <a:rPr lang="en-US" altLang="en-US" dirty="0"/>
              <a:t> do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en-US" dirty="0"/>
              <a:t>			for </a:t>
            </a:r>
            <a:r>
              <a:rPr lang="en-US" altLang="en-US" dirty="0" err="1"/>
              <a:t>i</a:t>
            </a:r>
            <a:r>
              <a:rPr lang="en-US" altLang="en-US" dirty="0"/>
              <a:t>= 1 to n do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en-US" dirty="0"/>
              <a:t>				construct an edge from the node </a:t>
            </a:r>
            <a:r>
              <a:rPr lang="en-US" altLang="en-US" i="1" dirty="0"/>
              <a:t>c</a:t>
            </a:r>
            <a:r>
              <a:rPr lang="en-US" altLang="en-US" i="1" baseline="-25000" dirty="0"/>
              <a:t>i</a:t>
            </a:r>
            <a:r>
              <a:rPr lang="en-US" altLang="en-US" dirty="0"/>
              <a:t> to the node </a:t>
            </a:r>
            <a:r>
              <a:rPr lang="en-US" altLang="en-US" i="1" dirty="0"/>
              <a:t>b</a:t>
            </a:r>
          </a:p>
          <a:p>
            <a:pPr algn="l">
              <a:buFontTx/>
              <a:buNone/>
            </a:pPr>
            <a:endParaRPr lang="en-US" altLang="en-US" dirty="0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258DE1AB-141D-C5B9-FB2E-7EA067491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097D4F-63A4-498D-BDA8-FA1D8E55FFE5}" type="slidenum">
              <a:rPr lang="en-US" altLang="en-US" sz="8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4">
            <a:extLst>
              <a:ext uri="{FF2B5EF4-FFF2-40B4-BE49-F238E27FC236}">
                <a16:creationId xmlns:a16="http://schemas.microsoft.com/office/drawing/2014/main" id="{F3C669C5-7170-9B08-B360-E9015AB54C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7" y="32146"/>
            <a:ext cx="10515600" cy="1325563"/>
          </a:xfrm>
        </p:spPr>
        <p:txBody>
          <a:bodyPr/>
          <a:lstStyle/>
          <a:p>
            <a:r>
              <a:rPr lang="en-US" altLang="en-US" dirty="0"/>
              <a:t>Dependency Graph</a:t>
            </a:r>
          </a:p>
        </p:txBody>
      </p:sp>
      <p:sp>
        <p:nvSpPr>
          <p:cNvPr id="21509" name="Text Box 7">
            <a:extLst>
              <a:ext uri="{FF2B5EF4-FFF2-40B4-BE49-F238E27FC236}">
                <a16:creationId xmlns:a16="http://schemas.microsoft.com/office/drawing/2014/main" id="{57410E56-722F-195B-66E0-77537263A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8387" y="1424782"/>
            <a:ext cx="592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Palatino Linotype" panose="02040502050505030304" pitchFamily="18" charset="0"/>
              </a:rPr>
              <a:t>L   </a:t>
            </a:r>
          </a:p>
        </p:txBody>
      </p:sp>
      <p:sp>
        <p:nvSpPr>
          <p:cNvPr id="21510" name="Text Box 8">
            <a:extLst>
              <a:ext uri="{FF2B5EF4-FFF2-40B4-BE49-F238E27FC236}">
                <a16:creationId xmlns:a16="http://schemas.microsoft.com/office/drawing/2014/main" id="{486502FC-1AAA-5FA4-8C33-EAEEFDE07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6788" y="2339181"/>
            <a:ext cx="2498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Palatino Linotype" panose="02040502050505030304" pitchFamily="18" charset="0"/>
              </a:rPr>
              <a:t>E.val=17          n </a:t>
            </a:r>
            <a:endParaRPr lang="en-US" altLang="en-US" b="1">
              <a:latin typeface="Palatino Linotype" panose="02040502050505030304" pitchFamily="18" charset="0"/>
            </a:endParaRPr>
          </a:p>
        </p:txBody>
      </p:sp>
      <p:sp>
        <p:nvSpPr>
          <p:cNvPr id="21511" name="Text Box 9">
            <a:extLst>
              <a:ext uri="{FF2B5EF4-FFF2-40B4-BE49-F238E27FC236}">
                <a16:creationId xmlns:a16="http://schemas.microsoft.com/office/drawing/2014/main" id="{64F4F839-B7C1-EB61-6934-254E521D7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9388" y="3177381"/>
            <a:ext cx="5241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Palatino Linotype" panose="02040502050505030304" pitchFamily="18" charset="0"/>
              </a:rPr>
              <a:t>E.val=5                  +                   T.val=12</a:t>
            </a:r>
          </a:p>
        </p:txBody>
      </p:sp>
      <p:sp>
        <p:nvSpPr>
          <p:cNvPr id="21512" name="Text Box 10">
            <a:extLst>
              <a:ext uri="{FF2B5EF4-FFF2-40B4-BE49-F238E27FC236}">
                <a16:creationId xmlns:a16="http://schemas.microsoft.com/office/drawing/2014/main" id="{03E36851-791A-A5B7-623D-C9A8983AB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9388" y="3939381"/>
            <a:ext cx="6088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 err="1">
                <a:latin typeface="Palatino Linotype" panose="02040502050505030304" pitchFamily="18" charset="0"/>
              </a:rPr>
              <a:t>T.val</a:t>
            </a:r>
            <a:r>
              <a:rPr lang="en-US" altLang="en-US" dirty="0">
                <a:latin typeface="Palatino Linotype" panose="02040502050505030304" pitchFamily="18" charset="0"/>
              </a:rPr>
              <a:t>=5                          </a:t>
            </a:r>
            <a:r>
              <a:rPr lang="en-US" altLang="en-US" dirty="0" err="1">
                <a:latin typeface="Palatino Linotype" panose="02040502050505030304" pitchFamily="18" charset="0"/>
              </a:rPr>
              <a:t>T.val</a:t>
            </a:r>
            <a:r>
              <a:rPr lang="en-US" altLang="en-US" dirty="0">
                <a:latin typeface="Palatino Linotype" panose="02040502050505030304" pitchFamily="18" charset="0"/>
              </a:rPr>
              <a:t>=3     *       </a:t>
            </a:r>
            <a:r>
              <a:rPr lang="en-US" altLang="en-US" dirty="0" err="1">
                <a:latin typeface="Palatino Linotype" panose="02040502050505030304" pitchFamily="18" charset="0"/>
              </a:rPr>
              <a:t>F.val</a:t>
            </a:r>
            <a:r>
              <a:rPr lang="en-US" altLang="en-US" dirty="0">
                <a:latin typeface="Palatino Linotype" panose="02040502050505030304" pitchFamily="18" charset="0"/>
              </a:rPr>
              <a:t>=4</a:t>
            </a:r>
          </a:p>
        </p:txBody>
      </p:sp>
      <p:sp>
        <p:nvSpPr>
          <p:cNvPr id="21513" name="Text Box 11">
            <a:extLst>
              <a:ext uri="{FF2B5EF4-FFF2-40B4-BE49-F238E27FC236}">
                <a16:creationId xmlns:a16="http://schemas.microsoft.com/office/drawing/2014/main" id="{0B136D87-A2BA-9FF7-5B9E-F23B9847C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9387" y="4701381"/>
            <a:ext cx="68232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 err="1">
                <a:latin typeface="Palatino Linotype" panose="02040502050505030304" pitchFamily="18" charset="0"/>
              </a:rPr>
              <a:t>F.val</a:t>
            </a:r>
            <a:r>
              <a:rPr lang="en-US" altLang="en-US" dirty="0">
                <a:latin typeface="Palatino Linotype" panose="02040502050505030304" pitchFamily="18" charset="0"/>
              </a:rPr>
              <a:t>=5                          </a:t>
            </a:r>
            <a:r>
              <a:rPr lang="en-US" altLang="en-US" dirty="0" err="1">
                <a:latin typeface="Palatino Linotype" panose="02040502050505030304" pitchFamily="18" charset="0"/>
              </a:rPr>
              <a:t>F.val</a:t>
            </a:r>
            <a:r>
              <a:rPr lang="en-US" altLang="en-US" dirty="0">
                <a:latin typeface="Palatino Linotype" panose="02040502050505030304" pitchFamily="18" charset="0"/>
              </a:rPr>
              <a:t>=3            </a:t>
            </a:r>
            <a:r>
              <a:rPr lang="en-US" altLang="en-US" dirty="0" err="1">
                <a:latin typeface="Palatino Linotype" panose="02040502050505030304" pitchFamily="18" charset="0"/>
              </a:rPr>
              <a:t>digit.lexval</a:t>
            </a:r>
            <a:r>
              <a:rPr lang="en-US" altLang="en-US" dirty="0">
                <a:latin typeface="Palatino Linotype" panose="02040502050505030304" pitchFamily="18" charset="0"/>
              </a:rPr>
              <a:t>=4</a:t>
            </a:r>
          </a:p>
        </p:txBody>
      </p:sp>
      <p:sp>
        <p:nvSpPr>
          <p:cNvPr id="21514" name="Text Box 12">
            <a:extLst>
              <a:ext uri="{FF2B5EF4-FFF2-40B4-BE49-F238E27FC236}">
                <a16:creationId xmlns:a16="http://schemas.microsoft.com/office/drawing/2014/main" id="{EF32468C-0E07-DB8A-35F4-E947A6869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9388" y="5539581"/>
            <a:ext cx="50733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 err="1">
                <a:latin typeface="Palatino Linotype" panose="02040502050505030304" pitchFamily="18" charset="0"/>
              </a:rPr>
              <a:t>digit.lexval</a:t>
            </a:r>
            <a:r>
              <a:rPr lang="en-US" altLang="en-US" dirty="0">
                <a:latin typeface="Palatino Linotype" panose="02040502050505030304" pitchFamily="18" charset="0"/>
              </a:rPr>
              <a:t>=5                </a:t>
            </a:r>
            <a:r>
              <a:rPr lang="en-US" altLang="en-US" dirty="0" err="1">
                <a:latin typeface="Palatino Linotype" panose="02040502050505030304" pitchFamily="18" charset="0"/>
              </a:rPr>
              <a:t>digit.lexval</a:t>
            </a:r>
            <a:r>
              <a:rPr lang="en-US" altLang="en-US" dirty="0">
                <a:latin typeface="Palatino Linotype" panose="02040502050505030304" pitchFamily="18" charset="0"/>
              </a:rPr>
              <a:t>=3</a:t>
            </a:r>
          </a:p>
        </p:txBody>
      </p:sp>
      <p:sp>
        <p:nvSpPr>
          <p:cNvPr id="21515" name="Line 15">
            <a:extLst>
              <a:ext uri="{FF2B5EF4-FFF2-40B4-BE49-F238E27FC236}">
                <a16:creationId xmlns:a16="http://schemas.microsoft.com/office/drawing/2014/main" id="{6612419B-2E19-F7C5-C201-C7C6C8110E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2787" y="2796381"/>
            <a:ext cx="1981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latin typeface="Palatino Linotype" panose="02040502050505030304" pitchFamily="18" charset="0"/>
            </a:endParaRPr>
          </a:p>
        </p:txBody>
      </p:sp>
      <p:sp>
        <p:nvSpPr>
          <p:cNvPr id="21516" name="Line 17">
            <a:extLst>
              <a:ext uri="{FF2B5EF4-FFF2-40B4-BE49-F238E27FC236}">
                <a16:creationId xmlns:a16="http://schemas.microsoft.com/office/drawing/2014/main" id="{65FAB617-AD53-5F11-AB2C-3BF55BE31421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3987" y="2796381"/>
            <a:ext cx="1905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latin typeface="Palatino Linotype" panose="02040502050505030304" pitchFamily="18" charset="0"/>
            </a:endParaRPr>
          </a:p>
        </p:txBody>
      </p:sp>
      <p:sp>
        <p:nvSpPr>
          <p:cNvPr id="21517" name="Line 18">
            <a:extLst>
              <a:ext uri="{FF2B5EF4-FFF2-40B4-BE49-F238E27FC236}">
                <a16:creationId xmlns:a16="http://schemas.microsoft.com/office/drawing/2014/main" id="{653563CD-7F4B-594D-1889-B9A709BF6A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6587" y="3634581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latin typeface="Palatino Linotype" panose="02040502050505030304" pitchFamily="18" charset="0"/>
            </a:endParaRPr>
          </a:p>
        </p:txBody>
      </p:sp>
      <p:sp>
        <p:nvSpPr>
          <p:cNvPr id="21518" name="Line 19">
            <a:extLst>
              <a:ext uri="{FF2B5EF4-FFF2-40B4-BE49-F238E27FC236}">
                <a16:creationId xmlns:a16="http://schemas.microsoft.com/office/drawing/2014/main" id="{B1D9D499-D077-5E4C-A742-06EEE240B5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6587" y="5234781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latin typeface="Palatino Linotype" panose="02040502050505030304" pitchFamily="18" charset="0"/>
            </a:endParaRPr>
          </a:p>
        </p:txBody>
      </p:sp>
      <p:sp>
        <p:nvSpPr>
          <p:cNvPr id="21519" name="Line 20">
            <a:extLst>
              <a:ext uri="{FF2B5EF4-FFF2-40B4-BE49-F238E27FC236}">
                <a16:creationId xmlns:a16="http://schemas.microsoft.com/office/drawing/2014/main" id="{A38DB029-EC53-9985-D160-1753F28914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6587" y="4472781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latin typeface="Palatino Linotype" panose="02040502050505030304" pitchFamily="18" charset="0"/>
            </a:endParaRPr>
          </a:p>
        </p:txBody>
      </p:sp>
      <p:sp>
        <p:nvSpPr>
          <p:cNvPr id="21520" name="Line 21">
            <a:extLst>
              <a:ext uri="{FF2B5EF4-FFF2-40B4-BE49-F238E27FC236}">
                <a16:creationId xmlns:a16="http://schemas.microsoft.com/office/drawing/2014/main" id="{14729707-E696-46FC-E935-1FE3C9EE679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2187" y="5234781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latin typeface="Palatino Linotype" panose="02040502050505030304" pitchFamily="18" charset="0"/>
            </a:endParaRPr>
          </a:p>
        </p:txBody>
      </p:sp>
      <p:sp>
        <p:nvSpPr>
          <p:cNvPr id="21521" name="Line 22">
            <a:extLst>
              <a:ext uri="{FF2B5EF4-FFF2-40B4-BE49-F238E27FC236}">
                <a16:creationId xmlns:a16="http://schemas.microsoft.com/office/drawing/2014/main" id="{B805EEC4-CD4D-6B03-5825-6E410B4AAE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93387" y="4472781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latin typeface="Palatino Linotype" panose="02040502050505030304" pitchFamily="18" charset="0"/>
            </a:endParaRPr>
          </a:p>
        </p:txBody>
      </p:sp>
      <p:sp>
        <p:nvSpPr>
          <p:cNvPr id="21522" name="Line 23">
            <a:extLst>
              <a:ext uri="{FF2B5EF4-FFF2-40B4-BE49-F238E27FC236}">
                <a16:creationId xmlns:a16="http://schemas.microsoft.com/office/drawing/2014/main" id="{17E4CF07-0FA0-FA3B-352F-297BA8304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2187" y="4396581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latin typeface="Palatino Linotype" panose="02040502050505030304" pitchFamily="18" charset="0"/>
            </a:endParaRPr>
          </a:p>
        </p:txBody>
      </p:sp>
      <p:sp>
        <p:nvSpPr>
          <p:cNvPr id="21523" name="Line 24">
            <a:extLst>
              <a:ext uri="{FF2B5EF4-FFF2-40B4-BE49-F238E27FC236}">
                <a16:creationId xmlns:a16="http://schemas.microsoft.com/office/drawing/2014/main" id="{E1CC0343-5735-6027-8059-6C3A5584AD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12187" y="3634581"/>
            <a:ext cx="1066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latin typeface="Palatino Linotype" panose="02040502050505030304" pitchFamily="18" charset="0"/>
            </a:endParaRPr>
          </a:p>
        </p:txBody>
      </p:sp>
      <p:sp>
        <p:nvSpPr>
          <p:cNvPr id="21524" name="Line 25">
            <a:extLst>
              <a:ext uri="{FF2B5EF4-FFF2-40B4-BE49-F238E27FC236}">
                <a16:creationId xmlns:a16="http://schemas.microsoft.com/office/drawing/2014/main" id="{636FED9A-9769-1C50-3E89-A50C1BE5B686}"/>
              </a:ext>
            </a:extLst>
          </p:cNvPr>
          <p:cNvSpPr>
            <a:spLocks noChangeShapeType="1"/>
          </p:cNvSpPr>
          <p:nvPr/>
        </p:nvSpPr>
        <p:spPr bwMode="auto">
          <a:xfrm>
            <a:off x="9678987" y="3634581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latin typeface="Palatino Linotype" panose="02040502050505030304" pitchFamily="18" charset="0"/>
            </a:endParaRPr>
          </a:p>
        </p:txBody>
      </p:sp>
      <p:sp>
        <p:nvSpPr>
          <p:cNvPr id="21525" name="Line 28">
            <a:extLst>
              <a:ext uri="{FF2B5EF4-FFF2-40B4-BE49-F238E27FC236}">
                <a16:creationId xmlns:a16="http://schemas.microsoft.com/office/drawing/2014/main" id="{8E327BDF-529D-9C1A-DFD6-8D82879B6D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86712" y="1805781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latin typeface="Palatino Linotype" panose="02040502050505030304" pitchFamily="18" charset="0"/>
            </a:endParaRPr>
          </a:p>
        </p:txBody>
      </p:sp>
      <p:sp>
        <p:nvSpPr>
          <p:cNvPr id="21526" name="Line 31">
            <a:extLst>
              <a:ext uri="{FF2B5EF4-FFF2-40B4-BE49-F238E27FC236}">
                <a16:creationId xmlns:a16="http://schemas.microsoft.com/office/drawing/2014/main" id="{3169D142-463C-71B8-D206-86F4919D0FD7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8112" y="279638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latin typeface="Palatino Linotype" panose="02040502050505030304" pitchFamily="18" charset="0"/>
            </a:endParaRPr>
          </a:p>
        </p:txBody>
      </p:sp>
      <p:sp>
        <p:nvSpPr>
          <p:cNvPr id="21527" name="Line 32">
            <a:extLst>
              <a:ext uri="{FF2B5EF4-FFF2-40B4-BE49-F238E27FC236}">
                <a16:creationId xmlns:a16="http://schemas.microsoft.com/office/drawing/2014/main" id="{98072AE0-C995-9A52-A381-A129BD235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3112" y="3710781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latin typeface="Palatino Linotype" panose="02040502050505030304" pitchFamily="18" charset="0"/>
            </a:endParaRPr>
          </a:p>
        </p:txBody>
      </p:sp>
      <p:cxnSp>
        <p:nvCxnSpPr>
          <p:cNvPr id="21528" name="Straight Connector 26">
            <a:extLst>
              <a:ext uri="{FF2B5EF4-FFF2-40B4-BE49-F238E27FC236}">
                <a16:creationId xmlns:a16="http://schemas.microsoft.com/office/drawing/2014/main" id="{AEA43902-3AEB-D6D3-7767-17E454F929FD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8786812" y="1920081"/>
            <a:ext cx="533400" cy="3048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D048E-6422-8253-32FE-9F9C4B089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5" y="1357708"/>
            <a:ext cx="4640261" cy="40280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rgbClr val="000099"/>
                </a:solidFill>
              </a:rPr>
              <a:t>Dependency graph for the annotated parse tree constructed for the input 5+3*4</a:t>
            </a:r>
            <a:endParaRPr lang="en-US" altLang="en-US" sz="1600" dirty="0">
              <a:solidFill>
                <a:srgbClr val="000099"/>
              </a:solidFill>
              <a:latin typeface="Palatino Linotype" panose="0204050205050503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rgbClr val="000099"/>
              </a:solidFill>
            </a:endParaRPr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6D7FE761-64C2-0916-F73F-A18FDBBE73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2343966"/>
              </p:ext>
            </p:extLst>
          </p:nvPr>
        </p:nvGraphicFramePr>
        <p:xfrm>
          <a:off x="636442" y="2795133"/>
          <a:ext cx="3472007" cy="3946716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324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7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Production 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Semantic rules 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L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r>
                        <a:rPr lang="en-US" sz="1800" baseline="-25000" err="1">
                          <a:effectLst/>
                          <a:latin typeface="Palatino Linotype" panose="02040502050505030304" pitchFamily="18" charset="0"/>
                        </a:rPr>
                        <a:t>n</a:t>
                      </a:r>
                      <a:endParaRPr lang="en-US" sz="1800" baseline="-250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Print (E.val)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+T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E.Val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 = E</a:t>
                      </a:r>
                      <a:r>
                        <a:rPr lang="en-US" sz="1800" baseline="-25000" dirty="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.val + </a:t>
                      </a: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T.val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E.Val = T.val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*F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T.Val = T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.val * F.val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T.Val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 = </a:t>
                      </a: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F.val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(E)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F.Val = E.val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digit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F.Val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 = digit . </a:t>
                      </a: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lexval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79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/>
      <p:bldP spid="21510" grpId="0"/>
      <p:bldP spid="21511" grpId="0"/>
      <p:bldP spid="21512" grpId="0"/>
      <p:bldP spid="21513" grpId="0"/>
      <p:bldP spid="21514" grpId="0"/>
      <p:bldP spid="21515" grpId="0" animBg="1"/>
      <p:bldP spid="21516" grpId="0" animBg="1"/>
      <p:bldP spid="21517" grpId="0" animBg="1"/>
      <p:bldP spid="21518" grpId="0" animBg="1"/>
      <p:bldP spid="21519" grpId="0" animBg="1"/>
      <p:bldP spid="21520" grpId="0" animBg="1"/>
      <p:bldP spid="21521" grpId="0" animBg="1"/>
      <p:bldP spid="21522" grpId="0" animBg="1"/>
      <p:bldP spid="21523" grpId="0" animBg="1"/>
      <p:bldP spid="21524" grpId="0" animBg="1"/>
      <p:bldP spid="21525" grpId="0" animBg="1"/>
      <p:bldP spid="21526" grpId="0" animBg="1"/>
      <p:bldP spid="215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4FD43-3B20-FB4B-CD2E-823B9E7FE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058650" cy="910432"/>
          </a:xfrm>
        </p:spPr>
        <p:txBody>
          <a:bodyPr/>
          <a:lstStyle/>
          <a:p>
            <a:r>
              <a:rPr lang="en-IN" dirty="0"/>
              <a:t>Example – </a:t>
            </a:r>
            <a:r>
              <a:rPr lang="en-IN" sz="3600" dirty="0">
                <a:solidFill>
                  <a:srgbClr val="000099"/>
                </a:solidFill>
              </a:rPr>
              <a:t>synthesized and inherited attribute</a:t>
            </a:r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2D19D-5E02-CF4F-EAAE-6FE0F93F5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0C9B3F-7959-2015-240A-F4BC2E90B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50" y="1034715"/>
            <a:ext cx="4382675" cy="31515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AF076C-4E41-E24B-6279-4DD85E4ECBA3}"/>
              </a:ext>
            </a:extLst>
          </p:cNvPr>
          <p:cNvSpPr txBox="1"/>
          <p:nvPr/>
        </p:nvSpPr>
        <p:spPr>
          <a:xfrm>
            <a:off x="5906096" y="1230115"/>
            <a:ext cx="46611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99"/>
                </a:solidFill>
                <a:highlight>
                  <a:srgbClr val="FFFF00"/>
                </a:highlight>
                <a:latin typeface="Palatino Linotype" panose="02040502050505030304" pitchFamily="18" charset="0"/>
              </a:rPr>
              <a:t>Construct Annotated parse tree for 3 * 5</a:t>
            </a:r>
            <a:endParaRPr lang="en-IN" sz="2000" dirty="0">
              <a:solidFill>
                <a:srgbClr val="000099"/>
              </a:solidFill>
              <a:highlight>
                <a:srgbClr val="FFFF00"/>
              </a:highlight>
              <a:latin typeface="Palatino Linotype" panose="0204050205050503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D89D49-F06D-E636-3E30-68736DA12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541" y="1931652"/>
            <a:ext cx="6032234" cy="467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231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70F5-27A2-A527-D993-DB0014C0E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dirty="0"/>
              <a:t>Example for dependency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8CAF8-3FCD-016E-0FE5-6861056DF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99EE8D-F2BD-401A-D968-04FC4685C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61" y="1184734"/>
            <a:ext cx="4382675" cy="31515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A52A06-EAF3-71C0-C3DF-DA204C56C5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947" t="37291" r="22157" b="15313"/>
          <a:stretch/>
        </p:blipFill>
        <p:spPr>
          <a:xfrm>
            <a:off x="5043488" y="2803357"/>
            <a:ext cx="6572250" cy="369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11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9F2D3-80A1-EC3B-3DC5-8E3D80BEEAD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2. L-attributed SDT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6376F-BBD2-ADDD-A66F-22C1135FAF5F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787387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Uses both </a:t>
            </a:r>
            <a:r>
              <a:rPr lang="en-IN" dirty="0">
                <a:solidFill>
                  <a:srgbClr val="006600"/>
                </a:solidFill>
              </a:rPr>
              <a:t>synthesized attribute</a:t>
            </a:r>
            <a:r>
              <a:rPr lang="en-IN" dirty="0"/>
              <a:t> and </a:t>
            </a:r>
            <a:r>
              <a:rPr lang="en-IN" dirty="0">
                <a:solidFill>
                  <a:srgbClr val="000099"/>
                </a:solidFill>
              </a:rPr>
              <a:t>inherited attribute</a:t>
            </a:r>
          </a:p>
          <a:p>
            <a:r>
              <a:rPr lang="en-US" dirty="0"/>
              <a:t>An inherited value at a node in a parse tree is computed from the value of attributes at the </a:t>
            </a:r>
            <a:r>
              <a:rPr lang="en-US" dirty="0">
                <a:solidFill>
                  <a:srgbClr val="C00000"/>
                </a:solidFill>
              </a:rPr>
              <a:t>parent and/or only left siblings </a:t>
            </a:r>
            <a:r>
              <a:rPr lang="en-US" dirty="0"/>
              <a:t>of the node.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Symbol T is associated with a </a:t>
            </a:r>
            <a:r>
              <a:rPr lang="en-US" dirty="0">
                <a:solidFill>
                  <a:srgbClr val="006600"/>
                </a:solidFill>
              </a:rPr>
              <a:t>synthesized attribute, type</a:t>
            </a:r>
            <a:r>
              <a:rPr lang="en-US" dirty="0"/>
              <a:t>.</a:t>
            </a:r>
          </a:p>
          <a:p>
            <a:r>
              <a:rPr lang="en-US" dirty="0"/>
              <a:t>Symbol L is associated with an </a:t>
            </a:r>
            <a:r>
              <a:rPr lang="en-US" dirty="0">
                <a:solidFill>
                  <a:srgbClr val="C00000"/>
                </a:solidFill>
              </a:rPr>
              <a:t>inherited attribute, in</a:t>
            </a:r>
            <a:r>
              <a:rPr lang="en-US" i="1" dirty="0"/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5619EC-2986-2213-BEAF-BE187844A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084669"/>
              </p:ext>
            </p:extLst>
          </p:nvPr>
        </p:nvGraphicFramePr>
        <p:xfrm>
          <a:off x="3909060" y="2459740"/>
          <a:ext cx="5198654" cy="243840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439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Production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Semantic rules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D → T 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L.in = T.type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2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T → int	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T.type = integer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T → real	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T.type = real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L → L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 , id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</a:rPr>
                        <a:t>L</a:t>
                      </a:r>
                      <a:r>
                        <a:rPr lang="en-US" sz="1800" baseline="-25000" dirty="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</a:rPr>
                        <a:t>.in=L.in,   </a:t>
                      </a:r>
                      <a:r>
                        <a:rPr lang="en-US" sz="1800" dirty="0" err="1">
                          <a:effectLst/>
                          <a:latin typeface="Palatino Linotype" panose="02040502050505030304" pitchFamily="18" charset="0"/>
                        </a:rPr>
                        <a:t>addtype</a:t>
                      </a: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</a:rPr>
                        <a:t>(</a:t>
                      </a:r>
                      <a:r>
                        <a:rPr lang="en-US" sz="1800" dirty="0" err="1">
                          <a:effectLst/>
                          <a:latin typeface="Palatino Linotype" panose="02040502050505030304" pitchFamily="18" charset="0"/>
                        </a:rPr>
                        <a:t>id.entry,L.in</a:t>
                      </a: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</a:rPr>
                        <a:t>)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</a:rPr>
                        <a:t>L → id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 err="1">
                          <a:effectLst/>
                          <a:latin typeface="Palatino Linotype" panose="02040502050505030304" pitchFamily="18" charset="0"/>
                        </a:rPr>
                        <a:t>addtype</a:t>
                      </a: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</a:rPr>
                        <a:t>(</a:t>
                      </a:r>
                      <a:r>
                        <a:rPr lang="en-US" sz="1800" dirty="0" err="1">
                          <a:effectLst/>
                          <a:latin typeface="Palatino Linotype" panose="02040502050505030304" pitchFamily="18" charset="0"/>
                        </a:rPr>
                        <a:t>id.entry,L.in</a:t>
                      </a: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</a:rPr>
                        <a:t>)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6E27475-4257-7F5B-33C2-612CC30B5E91}"/>
              </a:ext>
            </a:extLst>
          </p:cNvPr>
          <p:cNvSpPr/>
          <p:nvPr/>
        </p:nvSpPr>
        <p:spPr>
          <a:xfrm>
            <a:off x="5427615" y="291694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3184C8-E9A4-2E41-E8D3-31F9DAB8FC2A}"/>
              </a:ext>
            </a:extLst>
          </p:cNvPr>
          <p:cNvSpPr/>
          <p:nvPr/>
        </p:nvSpPr>
        <p:spPr>
          <a:xfrm>
            <a:off x="5420124" y="3312688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56059-6EA7-9616-D7CB-CAE0C093391B}"/>
              </a:ext>
            </a:extLst>
          </p:cNvPr>
          <p:cNvSpPr/>
          <p:nvPr/>
        </p:nvSpPr>
        <p:spPr>
          <a:xfrm>
            <a:off x="5412867" y="375514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AB038F-A8D5-6DB9-2636-B2776FEC168D}"/>
              </a:ext>
            </a:extLst>
          </p:cNvPr>
          <p:cNvSpPr/>
          <p:nvPr/>
        </p:nvSpPr>
        <p:spPr>
          <a:xfrm>
            <a:off x="5358105" y="4132107"/>
            <a:ext cx="3505926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7D7FC4-D298-F609-F5B9-D4358033FA5F}"/>
              </a:ext>
            </a:extLst>
          </p:cNvPr>
          <p:cNvSpPr/>
          <p:nvPr/>
        </p:nvSpPr>
        <p:spPr>
          <a:xfrm>
            <a:off x="5358013" y="4550669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0DAE52-7E85-F990-5FE3-4A934C01CE5B}"/>
              </a:ext>
            </a:extLst>
          </p:cNvPr>
          <p:cNvSpPr/>
          <p:nvPr/>
        </p:nvSpPr>
        <p:spPr>
          <a:xfrm>
            <a:off x="2804160" y="4974340"/>
            <a:ext cx="8125097" cy="4424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99"/>
                </a:solidFill>
                <a:latin typeface="Palatino Linotype" panose="02040502050505030304" pitchFamily="18" charset="0"/>
              </a:rPr>
              <a:t>Syntax directed definition with inherited attribute L.in</a:t>
            </a: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D9504985-3AA5-9EAF-2D60-085177A9496B}"/>
              </a:ext>
            </a:extLst>
          </p:cNvPr>
          <p:cNvSpPr/>
          <p:nvPr/>
        </p:nvSpPr>
        <p:spPr>
          <a:xfrm>
            <a:off x="9107714" y="3221740"/>
            <a:ext cx="3084286" cy="1030950"/>
          </a:xfrm>
          <a:prstGeom prst="wedgeEllipseCallout">
            <a:avLst>
              <a:gd name="adj1" fmla="val -64004"/>
              <a:gd name="adj2" fmla="val 4390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the type being assigned to every identifier</a:t>
            </a:r>
            <a:endParaRPr lang="en-IN" dirty="0">
              <a:latin typeface="Palatino Linotype" panose="02040502050505030304" pitchFamily="18" charset="0"/>
            </a:endParaRPr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BAB47164-C8B2-4D81-BDAE-5884D13A5703}"/>
              </a:ext>
            </a:extLst>
          </p:cNvPr>
          <p:cNvSpPr/>
          <p:nvPr/>
        </p:nvSpPr>
        <p:spPr>
          <a:xfrm>
            <a:off x="670558" y="3276371"/>
            <a:ext cx="3084286" cy="1030950"/>
          </a:xfrm>
          <a:prstGeom prst="wedgeEllipseCallout">
            <a:avLst>
              <a:gd name="adj1" fmla="val 181061"/>
              <a:gd name="adj2" fmla="val 374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a lexical value that points to a symbol-table object</a:t>
            </a:r>
            <a:endParaRPr lang="en-IN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06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42038-A113-B888-51AD-8A382BE1CBC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Example: L-attributed SDT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FA9D8F1-9830-5EE5-D70B-05A590DB2F5D}"/>
              </a:ext>
            </a:extLst>
          </p:cNvPr>
          <p:cNvSpPr txBox="1">
            <a:spLocks/>
          </p:cNvSpPr>
          <p:nvPr/>
        </p:nvSpPr>
        <p:spPr>
          <a:xfrm>
            <a:off x="131180" y="863445"/>
            <a:ext cx="7184019" cy="50815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b="1" dirty="0">
                <a:solidFill>
                  <a:srgbClr val="0E47A1"/>
                </a:solidFill>
              </a:rPr>
              <a:t>Example: Pass real data types to all identifier id1,id2,id3</a:t>
            </a:r>
          </a:p>
          <a:p>
            <a:endParaRPr lang="en-US" dirty="0">
              <a:solidFill>
                <a:srgbClr val="0E47A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0FBDFC-1417-DB89-D834-2827F2453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589896"/>
              </p:ext>
            </p:extLst>
          </p:nvPr>
        </p:nvGraphicFramePr>
        <p:xfrm>
          <a:off x="336874" y="2029808"/>
          <a:ext cx="3854012" cy="2653726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356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7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Production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Semantic rules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D → T 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L.in = T.type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2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T → int	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 err="1">
                          <a:effectLst/>
                          <a:latin typeface="Palatino Linotype" panose="02040502050505030304" pitchFamily="18" charset="0"/>
                        </a:rPr>
                        <a:t>T.type</a:t>
                      </a: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</a:rPr>
                        <a:t> = integer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T → real	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T.type = real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L → L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 , id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L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.in = L.in,   addtype(id.entry,L.in)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L → id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 err="1">
                          <a:effectLst/>
                          <a:latin typeface="Palatino Linotype" panose="02040502050505030304" pitchFamily="18" charset="0"/>
                        </a:rPr>
                        <a:t>addtype</a:t>
                      </a: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</a:rPr>
                        <a:t>(</a:t>
                      </a:r>
                      <a:r>
                        <a:rPr lang="en-US" sz="1800" dirty="0" err="1">
                          <a:effectLst/>
                          <a:latin typeface="Palatino Linotype" panose="02040502050505030304" pitchFamily="18" charset="0"/>
                        </a:rPr>
                        <a:t>id.entry,L.in</a:t>
                      </a: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</a:rPr>
                        <a:t>)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557735D-CB91-2EEC-870B-0C1E68044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985" y="1630637"/>
            <a:ext cx="1038225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6" name="AutoShape 10">
            <a:extLst>
              <a:ext uri="{FF2B5EF4-FFF2-40B4-BE49-F238E27FC236}">
                <a16:creationId xmlns:a16="http://schemas.microsoft.com/office/drawing/2014/main" id="{1D26ACEB-4E11-192F-9934-448A17E9CC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631895" y="2034769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AutoShape 11">
            <a:extLst>
              <a:ext uri="{FF2B5EF4-FFF2-40B4-BE49-F238E27FC236}">
                <a16:creationId xmlns:a16="http://schemas.microsoft.com/office/drawing/2014/main" id="{8ED84725-1E9E-9DC0-0DD0-04CF063F1A5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384582" y="2036952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Rectangle 14">
            <a:extLst>
              <a:ext uri="{FF2B5EF4-FFF2-40B4-BE49-F238E27FC236}">
                <a16:creationId xmlns:a16="http://schemas.microsoft.com/office/drawing/2014/main" id="{3A73CDE2-329C-670E-3DDD-8CEA64AB4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1473" y="2530613"/>
            <a:ext cx="1355054" cy="427288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T.type=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+mj-lt"/>
              </a:rPr>
              <a:t>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9" name="Rectangle 32">
            <a:extLst>
              <a:ext uri="{FF2B5EF4-FFF2-40B4-BE49-F238E27FC236}">
                <a16:creationId xmlns:a16="http://schemas.microsoft.com/office/drawing/2014/main" id="{3B7F4ED7-4FF4-F26B-2F7C-124858C3B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0808" y="2443020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</a:t>
            </a: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1BBC846C-F467-E39E-9FA6-89F02A0FB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5558" y="3121596"/>
            <a:ext cx="1105757" cy="39733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0E47A1"/>
                </a:solidFill>
                <a:effectLst/>
                <a:latin typeface="+mj-lt"/>
              </a:rPr>
              <a:t>real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0E47A1"/>
              </a:solidFill>
              <a:effectLst/>
              <a:latin typeface="+mj-lt"/>
            </a:endParaRPr>
          </a:p>
        </p:txBody>
      </p:sp>
      <p:cxnSp>
        <p:nvCxnSpPr>
          <p:cNvPr id="11" name="AutoShape 16">
            <a:extLst>
              <a:ext uri="{FF2B5EF4-FFF2-40B4-BE49-F238E27FC236}">
                <a16:creationId xmlns:a16="http://schemas.microsoft.com/office/drawing/2014/main" id="{4A9E6FE7-AD5D-B41B-B633-AC775C893B8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278102" y="2929078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Rectangle 14">
            <a:extLst>
              <a:ext uri="{FF2B5EF4-FFF2-40B4-BE49-F238E27FC236}">
                <a16:creationId xmlns:a16="http://schemas.microsoft.com/office/drawing/2014/main" id="{67B3215F-9B8B-FE22-0A31-AC1334931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203" y="2522617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3" name="Rectangle 32">
            <a:extLst>
              <a:ext uri="{FF2B5EF4-FFF2-40B4-BE49-F238E27FC236}">
                <a16:creationId xmlns:a16="http://schemas.microsoft.com/office/drawing/2014/main" id="{1799593E-6F2A-A1DD-9B36-81C9FD195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7388" y="2462689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L.in=real</a:t>
            </a:r>
          </a:p>
        </p:txBody>
      </p:sp>
      <p:cxnSp>
        <p:nvCxnSpPr>
          <p:cNvPr id="14" name="Curved Connector 15">
            <a:extLst>
              <a:ext uri="{FF2B5EF4-FFF2-40B4-BE49-F238E27FC236}">
                <a16:creationId xmlns:a16="http://schemas.microsoft.com/office/drawing/2014/main" id="{93E83063-A4D0-4FDD-8CE8-ADC237477C1B}"/>
              </a:ext>
            </a:extLst>
          </p:cNvPr>
          <p:cNvCxnSpPr/>
          <p:nvPr/>
        </p:nvCxnSpPr>
        <p:spPr>
          <a:xfrm rot="5400000" flipH="1" flipV="1">
            <a:off x="6238044" y="2977468"/>
            <a:ext cx="600129" cy="288255"/>
          </a:xfrm>
          <a:prstGeom prst="curvedConnector4">
            <a:avLst>
              <a:gd name="adj1" fmla="val -16952"/>
              <a:gd name="adj2" fmla="val 189538"/>
            </a:avLst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0209BBB-31D5-9BD4-0E1B-4ED88231F089}"/>
              </a:ext>
            </a:extLst>
          </p:cNvPr>
          <p:cNvCxnSpPr/>
          <p:nvPr/>
        </p:nvCxnSpPr>
        <p:spPr>
          <a:xfrm>
            <a:off x="7406527" y="2670517"/>
            <a:ext cx="1436961" cy="18456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AutoShape 10">
            <a:extLst>
              <a:ext uri="{FF2B5EF4-FFF2-40B4-BE49-F238E27FC236}">
                <a16:creationId xmlns:a16="http://schemas.microsoft.com/office/drawing/2014/main" id="{1F09675E-BBBE-3403-7BAD-20FE1D3611A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966851" y="2925513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AutoShape 11">
            <a:extLst>
              <a:ext uri="{FF2B5EF4-FFF2-40B4-BE49-F238E27FC236}">
                <a16:creationId xmlns:a16="http://schemas.microsoft.com/office/drawing/2014/main" id="{987ADEB9-3767-6131-5766-F1CEA5FEFFE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719538" y="2927696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Rectangle 13">
            <a:extLst>
              <a:ext uri="{FF2B5EF4-FFF2-40B4-BE49-F238E27FC236}">
                <a16:creationId xmlns:a16="http://schemas.microsoft.com/office/drawing/2014/main" id="{935A6951-A67B-C5C2-CFFC-B50CB2204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2233" y="3184549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19" name="AutoShape 16">
            <a:extLst>
              <a:ext uri="{FF2B5EF4-FFF2-40B4-BE49-F238E27FC236}">
                <a16:creationId xmlns:a16="http://schemas.microsoft.com/office/drawing/2014/main" id="{460E9BB1-EF25-FAC5-5F70-5FF51CD5073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958255" y="2947787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Rectangle 32">
            <a:extLst>
              <a:ext uri="{FF2B5EF4-FFF2-40B4-BE49-F238E27FC236}">
                <a16:creationId xmlns:a16="http://schemas.microsoft.com/office/drawing/2014/main" id="{AB9293C2-DCF6-EC22-A16D-75203D23E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394" y="3394421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</a:t>
            </a:r>
            <a:r>
              <a:rPr kumimoji="0" lang="en-US" altLang="en-US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</a:t>
            </a:r>
          </a:p>
        </p:txBody>
      </p:sp>
      <p:sp>
        <p:nvSpPr>
          <p:cNvPr id="21" name="Rectangle 32">
            <a:extLst>
              <a:ext uri="{FF2B5EF4-FFF2-40B4-BE49-F238E27FC236}">
                <a16:creationId xmlns:a16="http://schemas.microsoft.com/office/drawing/2014/main" id="{46BAE0AF-8005-17EB-C195-174F141E4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3422" y="3401643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L.in=real</a:t>
            </a:r>
          </a:p>
        </p:txBody>
      </p:sp>
      <p:sp>
        <p:nvSpPr>
          <p:cNvPr id="22" name="Rectangle 32">
            <a:extLst>
              <a:ext uri="{FF2B5EF4-FFF2-40B4-BE49-F238E27FC236}">
                <a16:creationId xmlns:a16="http://schemas.microsoft.com/office/drawing/2014/main" id="{A72A8E0A-D7A2-A78E-F23B-F0663C7E2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0286" y="3359762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E47A1"/>
                </a:solidFill>
                <a:effectLst/>
                <a:latin typeface="+mj-lt"/>
              </a:rPr>
              <a:t>id</a:t>
            </a:r>
          </a:p>
        </p:txBody>
      </p:sp>
      <p:cxnSp>
        <p:nvCxnSpPr>
          <p:cNvPr id="23" name="AutoShape 10">
            <a:extLst>
              <a:ext uri="{FF2B5EF4-FFF2-40B4-BE49-F238E27FC236}">
                <a16:creationId xmlns:a16="http://schemas.microsoft.com/office/drawing/2014/main" id="{E6E82DC9-6B54-AF8B-15AB-8D55731F7AF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19538" y="3874285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11">
            <a:extLst>
              <a:ext uri="{FF2B5EF4-FFF2-40B4-BE49-F238E27FC236}">
                <a16:creationId xmlns:a16="http://schemas.microsoft.com/office/drawing/2014/main" id="{B945DA0C-F057-03C9-6912-9931EFFBD4C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472225" y="3876468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Rectangle 13">
            <a:extLst>
              <a:ext uri="{FF2B5EF4-FFF2-40B4-BE49-F238E27FC236}">
                <a16:creationId xmlns:a16="http://schemas.microsoft.com/office/drawing/2014/main" id="{E0270CF8-44AC-70A1-D4C2-FC8C1DDF4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4920" y="4133321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26" name="AutoShape 16">
            <a:extLst>
              <a:ext uri="{FF2B5EF4-FFF2-40B4-BE49-F238E27FC236}">
                <a16:creationId xmlns:a16="http://schemas.microsoft.com/office/drawing/2014/main" id="{1BEB7A5B-1DA0-7927-A274-76CA3C59F22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725690" y="3867063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Rectangle 32">
            <a:extLst>
              <a:ext uri="{FF2B5EF4-FFF2-40B4-BE49-F238E27FC236}">
                <a16:creationId xmlns:a16="http://schemas.microsoft.com/office/drawing/2014/main" id="{2AD183AD-A873-4CCC-D1FA-C451FEB34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878" y="4373844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</a:t>
            </a:r>
            <a:r>
              <a:rPr kumimoji="0" lang="en-US" altLang="en-US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</a:t>
            </a:r>
          </a:p>
        </p:txBody>
      </p:sp>
      <p:sp>
        <p:nvSpPr>
          <p:cNvPr id="28" name="Rectangle 32">
            <a:extLst>
              <a:ext uri="{FF2B5EF4-FFF2-40B4-BE49-F238E27FC236}">
                <a16:creationId xmlns:a16="http://schemas.microsoft.com/office/drawing/2014/main" id="{3BDBA50A-672E-6EE8-977E-A70CC3B65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1360" y="4351033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L.in=real</a:t>
            </a:r>
          </a:p>
        </p:txBody>
      </p:sp>
      <p:sp>
        <p:nvSpPr>
          <p:cNvPr id="29" name="Rectangle 32">
            <a:extLst>
              <a:ext uri="{FF2B5EF4-FFF2-40B4-BE49-F238E27FC236}">
                <a16:creationId xmlns:a16="http://schemas.microsoft.com/office/drawing/2014/main" id="{2D7DDDE5-8F91-7045-F3E1-9E67E86B5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6342" y="4306601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id</a:t>
            </a:r>
          </a:p>
        </p:txBody>
      </p:sp>
      <p:sp>
        <p:nvSpPr>
          <p:cNvPr id="30" name="Rectangle 13">
            <a:extLst>
              <a:ext uri="{FF2B5EF4-FFF2-40B4-BE49-F238E27FC236}">
                <a16:creationId xmlns:a16="http://schemas.microsoft.com/office/drawing/2014/main" id="{8BFF1FFE-7D1B-56B8-4B61-B9E2DC543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203" y="5031029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31" name="AutoShape 16">
            <a:extLst>
              <a:ext uri="{FF2B5EF4-FFF2-40B4-BE49-F238E27FC236}">
                <a16:creationId xmlns:a16="http://schemas.microsoft.com/office/drawing/2014/main" id="{90B0B83E-9AB1-A529-A82C-864D8AF07B7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472225" y="4794267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Curved Connector 33">
            <a:extLst>
              <a:ext uri="{FF2B5EF4-FFF2-40B4-BE49-F238E27FC236}">
                <a16:creationId xmlns:a16="http://schemas.microsoft.com/office/drawing/2014/main" id="{57ACC325-7134-6A24-D222-6C8137F9BC61}"/>
              </a:ext>
            </a:extLst>
          </p:cNvPr>
          <p:cNvCxnSpPr>
            <a:endCxn id="20" idx="0"/>
          </p:cNvCxnSpPr>
          <p:nvPr/>
        </p:nvCxnSpPr>
        <p:spPr>
          <a:xfrm rot="10800000" flipV="1">
            <a:off x="7663218" y="2790881"/>
            <a:ext cx="1395325" cy="603540"/>
          </a:xfrm>
          <a:prstGeom prst="curvedConnector2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5A0DF38-3621-F8C7-78B9-95CFC62CF0E2}"/>
              </a:ext>
            </a:extLst>
          </p:cNvPr>
          <p:cNvCxnSpPr/>
          <p:nvPr/>
        </p:nvCxnSpPr>
        <p:spPr>
          <a:xfrm>
            <a:off x="8503325" y="3605135"/>
            <a:ext cx="1436961" cy="18456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5">
            <a:extLst>
              <a:ext uri="{FF2B5EF4-FFF2-40B4-BE49-F238E27FC236}">
                <a16:creationId xmlns:a16="http://schemas.microsoft.com/office/drawing/2014/main" id="{944970D8-1156-4203-C181-54408E314448}"/>
              </a:ext>
            </a:extLst>
          </p:cNvPr>
          <p:cNvCxnSpPr/>
          <p:nvPr/>
        </p:nvCxnSpPr>
        <p:spPr>
          <a:xfrm rot="10800000" flipV="1">
            <a:off x="6238297" y="3770303"/>
            <a:ext cx="1395325" cy="603540"/>
          </a:xfrm>
          <a:prstGeom prst="curvedConnector2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D12EB1C-4145-32D6-B927-20AACFE49533}"/>
              </a:ext>
            </a:extLst>
          </p:cNvPr>
          <p:cNvCxnSpPr/>
          <p:nvPr/>
        </p:nvCxnSpPr>
        <p:spPr>
          <a:xfrm>
            <a:off x="7209208" y="4553959"/>
            <a:ext cx="1436961" cy="18456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7">
            <a:extLst>
              <a:ext uri="{FF2B5EF4-FFF2-40B4-BE49-F238E27FC236}">
                <a16:creationId xmlns:a16="http://schemas.microsoft.com/office/drawing/2014/main" id="{6B7C988C-AB67-647D-4ACD-D2AF77B7D90D}"/>
              </a:ext>
            </a:extLst>
          </p:cNvPr>
          <p:cNvCxnSpPr/>
          <p:nvPr/>
        </p:nvCxnSpPr>
        <p:spPr>
          <a:xfrm rot="5400000" flipH="1" flipV="1">
            <a:off x="6647620" y="4794018"/>
            <a:ext cx="600129" cy="288255"/>
          </a:xfrm>
          <a:prstGeom prst="curvedConnector4">
            <a:avLst>
              <a:gd name="adj1" fmla="val -16952"/>
              <a:gd name="adj2" fmla="val 199771"/>
            </a:avLst>
          </a:prstGeom>
          <a:ln w="22225">
            <a:solidFill>
              <a:srgbClr val="C00000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2">
            <a:extLst>
              <a:ext uri="{FF2B5EF4-FFF2-40B4-BE49-F238E27FC236}">
                <a16:creationId xmlns:a16="http://schemas.microsoft.com/office/drawing/2014/main" id="{D4A0904B-F70F-1B37-C56D-83639863B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1957" y="3359762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0E47A1"/>
                </a:solidFill>
                <a:effectLst/>
                <a:latin typeface="+mj-lt"/>
              </a:rPr>
              <a:t>id3</a:t>
            </a:r>
          </a:p>
        </p:txBody>
      </p:sp>
      <p:sp>
        <p:nvSpPr>
          <p:cNvPr id="38" name="Rectangle 32">
            <a:extLst>
              <a:ext uri="{FF2B5EF4-FFF2-40B4-BE49-F238E27FC236}">
                <a16:creationId xmlns:a16="http://schemas.microsoft.com/office/drawing/2014/main" id="{D98FBDF7-EF8D-9B00-C4D7-94F919566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6371" y="4294206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0E47A1"/>
                </a:solidFill>
                <a:effectLst/>
                <a:latin typeface="+mj-lt"/>
              </a:rPr>
              <a:t>id2</a:t>
            </a:r>
          </a:p>
        </p:txBody>
      </p:sp>
      <p:sp>
        <p:nvSpPr>
          <p:cNvPr id="39" name="Rectangle 32">
            <a:extLst>
              <a:ext uri="{FF2B5EF4-FFF2-40B4-BE49-F238E27FC236}">
                <a16:creationId xmlns:a16="http://schemas.microsoft.com/office/drawing/2014/main" id="{9C1EC636-557E-98CD-E014-FAB916E76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7555" y="5038460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0E47A1"/>
                </a:solidFill>
                <a:effectLst/>
                <a:latin typeface="+mj-lt"/>
              </a:rPr>
              <a:t>id1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F2570E3-C05F-C8D2-7A25-EE0D4FF1633E}"/>
              </a:ext>
            </a:extLst>
          </p:cNvPr>
          <p:cNvSpPr/>
          <p:nvPr/>
        </p:nvSpPr>
        <p:spPr>
          <a:xfrm>
            <a:off x="6743815" y="5849782"/>
            <a:ext cx="164689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rgbClr val="0E47A1"/>
                </a:solidFill>
                <a:latin typeface="+mj-lt"/>
              </a:rPr>
              <a:t>D</a:t>
            </a:r>
            <a:r>
              <a:rPr lang="en-US" sz="2200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TL</a:t>
            </a:r>
            <a:endParaRPr lang="en-US" sz="220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EF501C5-0F70-266D-0DE2-DEBC2F83895E}"/>
              </a:ext>
            </a:extLst>
          </p:cNvPr>
          <p:cNvSpPr/>
          <p:nvPr/>
        </p:nvSpPr>
        <p:spPr>
          <a:xfrm>
            <a:off x="7128272" y="5848244"/>
            <a:ext cx="164689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</a:pPr>
            <a:r>
              <a:rPr lang="en-US" sz="2200">
                <a:solidFill>
                  <a:srgbClr val="0E47A1"/>
                </a:solidFill>
                <a:latin typeface="+mj-lt"/>
              </a:rPr>
              <a:t>L → L</a:t>
            </a:r>
            <a:r>
              <a:rPr lang="en-US" sz="2200" baseline="-25000">
                <a:solidFill>
                  <a:srgbClr val="0E47A1"/>
                </a:solidFill>
                <a:latin typeface="+mj-lt"/>
              </a:rPr>
              <a:t>1</a:t>
            </a:r>
            <a:r>
              <a:rPr lang="en-US" sz="2200">
                <a:solidFill>
                  <a:srgbClr val="0E47A1"/>
                </a:solidFill>
                <a:latin typeface="+mj-lt"/>
              </a:rPr>
              <a:t> , id</a:t>
            </a:r>
            <a:endParaRPr lang="en-US" sz="2200">
              <a:solidFill>
                <a:srgbClr val="0E47A1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F9AC8B0-55CF-1C9F-C6C2-3F26E4A2384C}"/>
              </a:ext>
            </a:extLst>
          </p:cNvPr>
          <p:cNvSpPr/>
          <p:nvPr/>
        </p:nvSpPr>
        <p:spPr>
          <a:xfrm>
            <a:off x="7138182" y="5849013"/>
            <a:ext cx="164689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</a:pPr>
            <a:r>
              <a:rPr lang="en-US" sz="2200">
                <a:solidFill>
                  <a:srgbClr val="0E47A1"/>
                </a:solidFill>
                <a:latin typeface="+mj-lt"/>
              </a:rPr>
              <a:t>L →  id</a:t>
            </a:r>
            <a:endParaRPr lang="en-US" sz="2200">
              <a:solidFill>
                <a:srgbClr val="0E47A1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013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dur="5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9" grpId="1" animBg="1"/>
      <p:bldP spid="10" grpId="0" animBg="1"/>
      <p:bldP spid="12" grpId="0" animBg="1"/>
      <p:bldP spid="12" grpId="1" animBg="1"/>
      <p:bldP spid="13" grpId="0" animBg="1"/>
      <p:bldP spid="18" grpId="0" animBg="1"/>
      <p:bldP spid="20" grpId="0" animBg="1"/>
      <p:bldP spid="20" grpId="1" animBg="1"/>
      <p:bldP spid="21" grpId="0" animBg="1"/>
      <p:bldP spid="22" grpId="0" animBg="1"/>
      <p:bldP spid="25" grpId="0" animBg="1"/>
      <p:bldP spid="27" grpId="0" animBg="1"/>
      <p:bldP spid="27" grpId="1" animBg="1"/>
      <p:bldP spid="28" grpId="0" animBg="1"/>
      <p:bldP spid="29" grpId="0" animBg="1"/>
      <p:bldP spid="30" grpId="0" animBg="1"/>
      <p:bldP spid="37" grpId="0" animBg="1"/>
      <p:bldP spid="38" grpId="0" animBg="1"/>
      <p:bldP spid="39" grpId="0" animBg="1"/>
      <p:bldP spid="40" grpId="0"/>
      <p:bldP spid="40" grpId="1"/>
      <p:bldP spid="41" grpId="0"/>
      <p:bldP spid="41" grpId="1"/>
      <p:bldP spid="42" grpId="0"/>
      <p:bldP spid="42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1D38D-720E-DF96-AC9A-E5F4C709AD1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Evaluation order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B7366F-8610-E486-8B42-0EBAE13FAD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1288913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/>
                  <a:t>A topological sort of a directed acyclic graph is any ordering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,……….., 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of the nodes of the graph such that edges go from nodes earlier in the ordering to later nodes.</a:t>
                </a: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err="1">
                        <a:latin typeface="Cambria Math" panose="02040503050406030204" pitchFamily="18" charset="0"/>
                        <a:sym typeface="Wingdings" pitchFamily="2" charset="2"/>
                      </a:rPr>
                      <m:t>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an edge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aseline="-25000"/>
                  <a:t> </a:t>
                </a:r>
                <a:r>
                  <a:rPr lang="en-US">
                    <a:sym typeface="Wingdings" panose="05000000000000000000" pitchFamily="2" charset="2"/>
                  </a:rPr>
                  <a:t>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baseline="-25000"/>
                  <a:t> </a:t>
                </a:r>
                <a:r>
                  <a:rPr lang="en-US"/>
                  <a:t>then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aseline="-25000"/>
                  <a:t> </a:t>
                </a:r>
                <a:r>
                  <a:rPr lang="en-US">
                    <a:sym typeface="Wingdings" panose="05000000000000000000" pitchFamily="2" charset="2"/>
                  </a:rPr>
                  <a:t>appears before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baseline="-25000"/>
                  <a:t> </a:t>
                </a:r>
                <a:r>
                  <a:rPr lang="en-US"/>
                  <a:t>in the ordering.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B7366F-8610-E486-8B42-0EBAE13FA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1288913"/>
              </a:xfrm>
              <a:prstGeom prst="rect">
                <a:avLst/>
              </a:prstGeom>
              <a:blipFill>
                <a:blip r:embed="rId2"/>
                <a:stretch>
                  <a:fillRect l="-920" t="-9005" r="-1074" b="-791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9F1C23F-710D-EDB1-1AE9-17A755C17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6603" y="2564352"/>
            <a:ext cx="1038225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5" name="AutoShape 10">
            <a:extLst>
              <a:ext uri="{FF2B5EF4-FFF2-40B4-BE49-F238E27FC236}">
                <a16:creationId xmlns:a16="http://schemas.microsoft.com/office/drawing/2014/main" id="{9673E081-8245-95ED-DEA5-01FF5F27784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14513" y="2968484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AutoShape 11">
            <a:extLst>
              <a:ext uri="{FF2B5EF4-FFF2-40B4-BE49-F238E27FC236}">
                <a16:creationId xmlns:a16="http://schemas.microsoft.com/office/drawing/2014/main" id="{1AB20337-97A7-0E35-E704-C2184C191C6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267200" y="2970667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Rectangle 14">
            <a:extLst>
              <a:ext uri="{FF2B5EF4-FFF2-40B4-BE49-F238E27FC236}">
                <a16:creationId xmlns:a16="http://schemas.microsoft.com/office/drawing/2014/main" id="{A15D9957-1C8E-DF7A-62DE-E43DD049C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4091" y="3464328"/>
            <a:ext cx="1355054" cy="427288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T.type=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+mj-lt"/>
              </a:rPr>
              <a:t>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016632EA-EDC4-E453-E934-C76AD982D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4698" y="4055311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real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+mj-lt"/>
            </a:endParaRPr>
          </a:p>
        </p:txBody>
      </p:sp>
      <p:cxnSp>
        <p:nvCxnSpPr>
          <p:cNvPr id="9" name="AutoShape 16">
            <a:extLst>
              <a:ext uri="{FF2B5EF4-FFF2-40B4-BE49-F238E27FC236}">
                <a16:creationId xmlns:a16="http://schemas.microsoft.com/office/drawing/2014/main" id="{1AA544E4-9C9E-8E09-9214-974C1254870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160720" y="3862793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Rectangle 32">
            <a:extLst>
              <a:ext uri="{FF2B5EF4-FFF2-40B4-BE49-F238E27FC236}">
                <a16:creationId xmlns:a16="http://schemas.microsoft.com/office/drawing/2014/main" id="{E672DDB5-E171-BA74-4F31-15C888D65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0006" y="3396404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L.in=real</a:t>
            </a:r>
          </a:p>
        </p:txBody>
      </p:sp>
      <p:cxnSp>
        <p:nvCxnSpPr>
          <p:cNvPr id="11" name="AutoShape 10">
            <a:extLst>
              <a:ext uri="{FF2B5EF4-FFF2-40B4-BE49-F238E27FC236}">
                <a16:creationId xmlns:a16="http://schemas.microsoft.com/office/drawing/2014/main" id="{5F07E4C6-A310-9876-9F6E-C8F769AFA4E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49469" y="3859228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11">
            <a:extLst>
              <a:ext uri="{FF2B5EF4-FFF2-40B4-BE49-F238E27FC236}">
                <a16:creationId xmlns:a16="http://schemas.microsoft.com/office/drawing/2014/main" id="{79FD7528-CBA7-1619-8297-500711B575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602156" y="3861411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Rectangle 13">
            <a:extLst>
              <a:ext uri="{FF2B5EF4-FFF2-40B4-BE49-F238E27FC236}">
                <a16:creationId xmlns:a16="http://schemas.microsoft.com/office/drawing/2014/main" id="{A60290E0-2C5C-9C54-EA7B-F77353839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4851" y="4118264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14" name="AutoShape 16">
            <a:extLst>
              <a:ext uri="{FF2B5EF4-FFF2-40B4-BE49-F238E27FC236}">
                <a16:creationId xmlns:a16="http://schemas.microsoft.com/office/drawing/2014/main" id="{98203991-2DD9-167E-1FBB-FEE17575A4F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840873" y="3881502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Rectangle 32">
            <a:extLst>
              <a:ext uri="{FF2B5EF4-FFF2-40B4-BE49-F238E27FC236}">
                <a16:creationId xmlns:a16="http://schemas.microsoft.com/office/drawing/2014/main" id="{1799C78E-D334-8F50-1448-B7670F587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40" y="4335358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L.in=real</a:t>
            </a:r>
          </a:p>
        </p:txBody>
      </p:sp>
      <p:cxnSp>
        <p:nvCxnSpPr>
          <p:cNvPr id="16" name="AutoShape 10">
            <a:extLst>
              <a:ext uri="{FF2B5EF4-FFF2-40B4-BE49-F238E27FC236}">
                <a16:creationId xmlns:a16="http://schemas.microsoft.com/office/drawing/2014/main" id="{2D9C100B-7904-B02C-8C59-7E28991FF92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602156" y="4808000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AutoShape 11">
            <a:extLst>
              <a:ext uri="{FF2B5EF4-FFF2-40B4-BE49-F238E27FC236}">
                <a16:creationId xmlns:a16="http://schemas.microsoft.com/office/drawing/2014/main" id="{1BA7C90A-EDCA-5623-3311-1236BD3C8AC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354843" y="4810183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AutoShape 16">
            <a:extLst>
              <a:ext uri="{FF2B5EF4-FFF2-40B4-BE49-F238E27FC236}">
                <a16:creationId xmlns:a16="http://schemas.microsoft.com/office/drawing/2014/main" id="{009D3C36-3841-C5D6-3651-94F5B342E5E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608308" y="4800778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Rectangle 32">
            <a:extLst>
              <a:ext uri="{FF2B5EF4-FFF2-40B4-BE49-F238E27FC236}">
                <a16:creationId xmlns:a16="http://schemas.microsoft.com/office/drawing/2014/main" id="{84C8894D-F67E-6180-2132-41C3B9D55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978" y="5284748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L.in=real</a:t>
            </a:r>
          </a:p>
        </p:txBody>
      </p:sp>
      <p:cxnSp>
        <p:nvCxnSpPr>
          <p:cNvPr id="20" name="AutoShape 16">
            <a:extLst>
              <a:ext uri="{FF2B5EF4-FFF2-40B4-BE49-F238E27FC236}">
                <a16:creationId xmlns:a16="http://schemas.microsoft.com/office/drawing/2014/main" id="{40159E98-5F01-D112-3153-0FCB13BAAB8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354843" y="5727982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Rectangle 32">
            <a:extLst>
              <a:ext uri="{FF2B5EF4-FFF2-40B4-BE49-F238E27FC236}">
                <a16:creationId xmlns:a16="http://schemas.microsoft.com/office/drawing/2014/main" id="{BD41F1A5-1567-03DC-31A7-848AB6CB3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4575" y="4293477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id3</a:t>
            </a:r>
          </a:p>
        </p:txBody>
      </p:sp>
      <p:sp>
        <p:nvSpPr>
          <p:cNvPr id="22" name="Rectangle 32">
            <a:extLst>
              <a:ext uri="{FF2B5EF4-FFF2-40B4-BE49-F238E27FC236}">
                <a16:creationId xmlns:a16="http://schemas.microsoft.com/office/drawing/2014/main" id="{47AC639C-DE26-773A-4704-C5D81EF44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8989" y="5227921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id2</a:t>
            </a:r>
          </a:p>
        </p:txBody>
      </p:sp>
      <p:sp>
        <p:nvSpPr>
          <p:cNvPr id="23" name="Rectangle 32">
            <a:extLst>
              <a:ext uri="{FF2B5EF4-FFF2-40B4-BE49-F238E27FC236}">
                <a16:creationId xmlns:a16="http://schemas.microsoft.com/office/drawing/2014/main" id="{5DD82D21-E54E-08B2-9327-BD4D0E46D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0173" y="5972175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id1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315E13E-B499-D7DF-D06A-6B0AE1B12B89}"/>
              </a:ext>
            </a:extLst>
          </p:cNvPr>
          <p:cNvCxnSpPr/>
          <p:nvPr/>
        </p:nvCxnSpPr>
        <p:spPr>
          <a:xfrm>
            <a:off x="5173266" y="3595521"/>
            <a:ext cx="1436961" cy="18456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0BF4E62C-E161-F6BA-30FC-2530544BC324}"/>
              </a:ext>
            </a:extLst>
          </p:cNvPr>
          <p:cNvCxnSpPr/>
          <p:nvPr/>
        </p:nvCxnSpPr>
        <p:spPr>
          <a:xfrm rot="10800000" flipV="1">
            <a:off x="5429957" y="3715885"/>
            <a:ext cx="1395325" cy="603540"/>
          </a:xfrm>
          <a:prstGeom prst="curvedConnector2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5EE7232-D085-A439-88DE-89BDD484F356}"/>
              </a:ext>
            </a:extLst>
          </p:cNvPr>
          <p:cNvCxnSpPr/>
          <p:nvPr/>
        </p:nvCxnSpPr>
        <p:spPr>
          <a:xfrm>
            <a:off x="6270064" y="4530139"/>
            <a:ext cx="1436961" cy="18456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9EB1A7FB-C440-7F7A-EE27-DE063701889E}"/>
              </a:ext>
            </a:extLst>
          </p:cNvPr>
          <p:cNvCxnSpPr/>
          <p:nvPr/>
        </p:nvCxnSpPr>
        <p:spPr>
          <a:xfrm rot="10800000" flipV="1">
            <a:off x="4005036" y="4695307"/>
            <a:ext cx="1395325" cy="603540"/>
          </a:xfrm>
          <a:prstGeom prst="curvedConnector2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CAC8B66-ED04-2724-DEDA-BEEBBDA927DE}"/>
              </a:ext>
            </a:extLst>
          </p:cNvPr>
          <p:cNvCxnSpPr/>
          <p:nvPr/>
        </p:nvCxnSpPr>
        <p:spPr>
          <a:xfrm>
            <a:off x="4975947" y="5527950"/>
            <a:ext cx="1436961" cy="18456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CD02C690-06BB-207F-4834-340928547E3E}"/>
              </a:ext>
            </a:extLst>
          </p:cNvPr>
          <p:cNvCxnSpPr/>
          <p:nvPr/>
        </p:nvCxnSpPr>
        <p:spPr>
          <a:xfrm rot="5400000" flipH="1" flipV="1">
            <a:off x="4414359" y="5719022"/>
            <a:ext cx="600129" cy="288255"/>
          </a:xfrm>
          <a:prstGeom prst="curvedConnector4">
            <a:avLst>
              <a:gd name="adj1" fmla="val -16952"/>
              <a:gd name="adj2" fmla="val 199771"/>
            </a:avLst>
          </a:prstGeom>
          <a:ln w="22225">
            <a:solidFill>
              <a:srgbClr val="C00000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13">
            <a:extLst>
              <a:ext uri="{FF2B5EF4-FFF2-40B4-BE49-F238E27FC236}">
                <a16:creationId xmlns:a16="http://schemas.microsoft.com/office/drawing/2014/main" id="{0B4F683E-9A4B-CD17-C8F0-22C3857FB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7538" y="5100328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0695C9D-7A00-8F6F-B747-60A9880580D6}"/>
              </a:ext>
            </a:extLst>
          </p:cNvPr>
          <p:cNvSpPr/>
          <p:nvPr/>
        </p:nvSpPr>
        <p:spPr>
          <a:xfrm>
            <a:off x="3534698" y="3464328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+mj-lt"/>
              </a:rPr>
              <a:t>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2604AB9-5EB1-D163-1B9F-FC31FB5C0DF5}"/>
              </a:ext>
            </a:extLst>
          </p:cNvPr>
          <p:cNvSpPr/>
          <p:nvPr/>
        </p:nvSpPr>
        <p:spPr>
          <a:xfrm>
            <a:off x="7754155" y="3386506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+mj-lt"/>
              </a:rPr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4A502FE-5761-37BE-0B08-CCB4886C2BBD}"/>
              </a:ext>
            </a:extLst>
          </p:cNvPr>
          <p:cNvSpPr/>
          <p:nvPr/>
        </p:nvSpPr>
        <p:spPr>
          <a:xfrm>
            <a:off x="4799736" y="4114808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+mj-lt"/>
              </a:rPr>
              <a:t>3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8D64FB0-AB93-80EF-9A79-BCBA96DBC2A6}"/>
              </a:ext>
            </a:extLst>
          </p:cNvPr>
          <p:cNvSpPr/>
          <p:nvPr/>
        </p:nvSpPr>
        <p:spPr>
          <a:xfrm>
            <a:off x="8475600" y="4226620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+mj-lt"/>
              </a:rPr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6E05374-3680-36EA-6746-C0CCFBFA0F8E}"/>
              </a:ext>
            </a:extLst>
          </p:cNvPr>
          <p:cNvSpPr/>
          <p:nvPr/>
        </p:nvSpPr>
        <p:spPr>
          <a:xfrm>
            <a:off x="3541612" y="5327574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+mj-lt"/>
              </a:rPr>
              <a:t>5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3F7D87D-422C-95AB-B1E6-9BDDDF55C50E}"/>
              </a:ext>
            </a:extLst>
          </p:cNvPr>
          <p:cNvSpPr/>
          <p:nvPr/>
        </p:nvSpPr>
        <p:spPr>
          <a:xfrm>
            <a:off x="7095165" y="5239147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+mj-lt"/>
              </a:rPr>
              <a:t>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C1C5CB6-76BB-9D5F-40BE-922C9C3054CB}"/>
              </a:ext>
            </a:extLst>
          </p:cNvPr>
          <p:cNvSpPr/>
          <p:nvPr/>
        </p:nvSpPr>
        <p:spPr>
          <a:xfrm>
            <a:off x="3701825" y="6027742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+mj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2624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10" grpId="0" animBg="1"/>
      <p:bldP spid="13" grpId="0" animBg="1"/>
      <p:bldP spid="15" grpId="0" animBg="1"/>
      <p:bldP spid="19" grpId="0" animBg="1"/>
      <p:bldP spid="21" grpId="0" animBg="1"/>
      <p:bldP spid="22" grpId="0" animBg="1"/>
      <p:bldP spid="23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A8E9A-42C2-5842-E3D8-5B71CD496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71550"/>
          </a:xfrm>
        </p:spPr>
        <p:txBody>
          <a:bodyPr/>
          <a:lstStyle/>
          <a:p>
            <a:r>
              <a:rPr lang="en-IN" dirty="0"/>
              <a:t>Dependency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7F692-9A4F-A4C8-FD5A-2E18A682F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423" y="971551"/>
            <a:ext cx="10515600" cy="4351338"/>
          </a:xfrm>
        </p:spPr>
        <p:txBody>
          <a:bodyPr/>
          <a:lstStyle/>
          <a:p>
            <a:r>
              <a:rPr lang="en-US" dirty="0"/>
              <a:t>Dependency graph for a declaration real id</a:t>
            </a:r>
            <a:r>
              <a:rPr lang="en-US" baseline="-25000" dirty="0"/>
              <a:t>1</a:t>
            </a:r>
            <a:r>
              <a:rPr lang="en-US" dirty="0"/>
              <a:t>,id</a:t>
            </a:r>
            <a:r>
              <a:rPr lang="en-US" baseline="-25000" dirty="0"/>
              <a:t>2</a:t>
            </a:r>
            <a:r>
              <a:rPr lang="en-US" dirty="0"/>
              <a:t>,id</a:t>
            </a:r>
            <a:r>
              <a:rPr lang="en-US" baseline="-25000" dirty="0"/>
              <a:t>3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155579-EDEC-C851-D1E9-824C75387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849" y="2625213"/>
            <a:ext cx="5925572" cy="42228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0E3512-1BED-2DB9-B569-100020A03333}"/>
              </a:ext>
            </a:extLst>
          </p:cNvPr>
          <p:cNvSpPr txBox="1"/>
          <p:nvPr/>
        </p:nvSpPr>
        <p:spPr>
          <a:xfrm>
            <a:off x="327423" y="1650719"/>
            <a:ext cx="61607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Palatino Linotype" panose="02040502050505030304" pitchFamily="18" charset="0"/>
              </a:rPr>
              <a:t>Numbers 1 through 10 represent the nodes of the dependency graph.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Palatino Linotype" panose="02040502050505030304" pitchFamily="18" charset="0"/>
              </a:rPr>
              <a:t>Nodes 1, 2, and 3 represent the attribute entry associated with each of the leaves labeled id.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Palatino Linotype" panose="02040502050505030304" pitchFamily="18" charset="0"/>
              </a:rPr>
              <a:t>Nodes 6, 8, and 10 are the dummy attributes that represent the application of the function </a:t>
            </a:r>
            <a:r>
              <a:rPr lang="en-US" dirty="0" err="1">
                <a:latin typeface="Palatino Linotype" panose="02040502050505030304" pitchFamily="18" charset="0"/>
              </a:rPr>
              <a:t>addType</a:t>
            </a:r>
            <a:r>
              <a:rPr lang="en-US" dirty="0">
                <a:latin typeface="Palatino Linotype" panose="02040502050505030304" pitchFamily="18" charset="0"/>
              </a:rPr>
              <a:t> to a type and one of these entry values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Palatino Linotype" panose="02040502050505030304" pitchFamily="18" charset="0"/>
              </a:rPr>
              <a:t>Node 4 represents the attribute T:type, and is actually where attribute evaluation begins.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Palatino Linotype" panose="02040502050505030304" pitchFamily="18" charset="0"/>
              </a:rPr>
              <a:t>This type is then passed to nodes 5, 7, and 9 representing L:inh associated with each of the occurrences of the nonterminal L</a:t>
            </a:r>
            <a:endParaRPr lang="en-IN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74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0099-88D4-E469-97EB-3093D235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E80B8-9A8C-806E-5FE0-E8037A882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881"/>
            <a:ext cx="10515600" cy="4351338"/>
          </a:xfrm>
        </p:spPr>
        <p:txBody>
          <a:bodyPr/>
          <a:lstStyle/>
          <a:p>
            <a:r>
              <a:rPr lang="en-US" dirty="0"/>
              <a:t>For the SDD given, give annotated parse trees for the following expressions:</a:t>
            </a:r>
          </a:p>
          <a:p>
            <a:pPr marL="457200" lvl="1" indent="0">
              <a:buNone/>
            </a:pPr>
            <a:r>
              <a:rPr lang="en-US" dirty="0"/>
              <a:t>int a, b, 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776D93-24A9-75D5-E653-788763241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248" y="2292642"/>
            <a:ext cx="5508408" cy="276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35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7639-EC9B-337C-A9F7-B3E3BC0B4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</a:t>
            </a:r>
          </a:p>
        </p:txBody>
      </p:sp>
      <p:pic>
        <p:nvPicPr>
          <p:cNvPr id="1026" name="Picture 2" descr="5 2 2-1">
            <a:extLst>
              <a:ext uri="{FF2B5EF4-FFF2-40B4-BE49-F238E27FC236}">
                <a16:creationId xmlns:a16="http://schemas.microsoft.com/office/drawing/2014/main" id="{12CC7217-9800-BE8E-ADAE-F0995ED93C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74" y="1027906"/>
            <a:ext cx="7889081" cy="55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57842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674A8-E8D1-3F86-DFF3-ED7604949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SDT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475D0-13AB-0880-DE8A-CAE4ABF42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839"/>
            <a:ext cx="10515600" cy="4702124"/>
          </a:xfrm>
        </p:spPr>
        <p:txBody>
          <a:bodyPr>
            <a:normAutofit/>
          </a:bodyPr>
          <a:lstStyle/>
          <a:p>
            <a:r>
              <a:rPr lang="en-IN" dirty="0"/>
              <a:t>Creating Syntax Tree</a:t>
            </a:r>
          </a:p>
          <a:p>
            <a:r>
              <a:rPr lang="en-IN" dirty="0"/>
              <a:t>Conversion from Infix to Postfix</a:t>
            </a:r>
          </a:p>
          <a:p>
            <a:r>
              <a:rPr lang="en-IN" dirty="0"/>
              <a:t>Conversion from Infix to Prefix</a:t>
            </a:r>
          </a:p>
          <a:p>
            <a:r>
              <a:rPr lang="en-IN" dirty="0"/>
              <a:t>Executing Arithmetic Expression</a:t>
            </a:r>
          </a:p>
          <a:p>
            <a:r>
              <a:rPr lang="en-IN" dirty="0"/>
              <a:t>Conversion from Binary to Decimal</a:t>
            </a:r>
          </a:p>
          <a:p>
            <a:r>
              <a:rPr lang="en-IN" dirty="0"/>
              <a:t>Counting No. of Reductions</a:t>
            </a:r>
          </a:p>
          <a:p>
            <a:r>
              <a:rPr lang="en-IN" dirty="0"/>
              <a:t>Generating Intermediate Code</a:t>
            </a:r>
          </a:p>
          <a:p>
            <a:r>
              <a:rPr lang="en-IN" dirty="0"/>
              <a:t>Type Checking</a:t>
            </a:r>
          </a:p>
          <a:p>
            <a:r>
              <a:rPr lang="en-IN" dirty="0"/>
              <a:t>Storing Type information into Symbol Table.</a:t>
            </a:r>
          </a:p>
        </p:txBody>
      </p:sp>
    </p:spTree>
    <p:extLst>
      <p:ext uri="{BB962C8B-B14F-4D97-AF65-F5344CB8AC3E}">
        <p14:creationId xmlns:p14="http://schemas.microsoft.com/office/powerpoint/2010/main" val="3040579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50E3-8B0A-741D-2D43-82C6A87DC2A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Construction of syntax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9D9EF-77BA-2454-B9FB-3FC0C1E34912}"/>
              </a:ext>
            </a:extLst>
          </p:cNvPr>
          <p:cNvSpPr txBox="1">
            <a:spLocks/>
          </p:cNvSpPr>
          <p:nvPr/>
        </p:nvSpPr>
        <p:spPr>
          <a:xfrm>
            <a:off x="131181" y="863444"/>
            <a:ext cx="11420264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Following functions are used to create the nodes of the syntax tree.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800" b="1" dirty="0" err="1">
                <a:solidFill>
                  <a:srgbClr val="C00000"/>
                </a:solidFill>
              </a:rPr>
              <a:t>Mknode</a:t>
            </a:r>
            <a:r>
              <a:rPr lang="en-US" sz="2800" b="1" dirty="0">
                <a:solidFill>
                  <a:srgbClr val="C00000"/>
                </a:solidFill>
              </a:rPr>
              <a:t> (</a:t>
            </a:r>
            <a:r>
              <a:rPr lang="en-US" sz="2800" b="1" dirty="0" err="1">
                <a:solidFill>
                  <a:srgbClr val="C00000"/>
                </a:solidFill>
              </a:rPr>
              <a:t>op,left,right</a:t>
            </a:r>
            <a:r>
              <a:rPr lang="en-US" sz="2800" b="1" dirty="0">
                <a:solidFill>
                  <a:srgbClr val="C00000"/>
                </a:solidFill>
              </a:rPr>
              <a:t>): </a:t>
            </a:r>
            <a:r>
              <a:rPr lang="en-US" sz="2800" dirty="0"/>
              <a:t>creates an operator node with label </a:t>
            </a:r>
            <a:r>
              <a:rPr lang="en-US" sz="2800" dirty="0">
                <a:solidFill>
                  <a:srgbClr val="000099"/>
                </a:solidFill>
              </a:rPr>
              <a:t>op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800" dirty="0"/>
              <a:t>and two fields containing </a:t>
            </a:r>
            <a:r>
              <a:rPr lang="en-US" sz="2800" dirty="0">
                <a:solidFill>
                  <a:srgbClr val="000099"/>
                </a:solidFill>
              </a:rPr>
              <a:t>pointers to left and right</a:t>
            </a:r>
            <a:r>
              <a:rPr lang="en-US" sz="2800" dirty="0"/>
              <a:t>.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800" b="1" dirty="0" err="1">
                <a:solidFill>
                  <a:srgbClr val="C00000"/>
                </a:solidFill>
              </a:rPr>
              <a:t>Mkleaf</a:t>
            </a:r>
            <a:r>
              <a:rPr lang="en-US" sz="2800" b="1" dirty="0">
                <a:solidFill>
                  <a:srgbClr val="C00000"/>
                </a:solidFill>
              </a:rPr>
              <a:t> (id, entry): </a:t>
            </a:r>
            <a:r>
              <a:rPr lang="en-US" sz="2800" dirty="0"/>
              <a:t>creates an identifier node with label </a:t>
            </a:r>
            <a:r>
              <a:rPr lang="en-US" sz="2800" dirty="0">
                <a:solidFill>
                  <a:srgbClr val="000099"/>
                </a:solidFill>
              </a:rPr>
              <a:t>id</a:t>
            </a:r>
            <a:r>
              <a:rPr lang="en-US" sz="2800" dirty="0">
                <a:solidFill>
                  <a:srgbClr val="0E47A1"/>
                </a:solidFill>
              </a:rPr>
              <a:t> </a:t>
            </a:r>
            <a:r>
              <a:rPr lang="en-US" sz="2800" dirty="0"/>
              <a:t>and a field containing </a:t>
            </a:r>
            <a:r>
              <a:rPr lang="en-US" sz="2800" dirty="0">
                <a:solidFill>
                  <a:srgbClr val="000099"/>
                </a:solidFill>
              </a:rPr>
              <a:t>entry</a:t>
            </a:r>
            <a:r>
              <a:rPr lang="en-US" sz="2800" dirty="0"/>
              <a:t>, a pointer to the symbol table entry for the identifier.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800" b="1" dirty="0" err="1">
                <a:solidFill>
                  <a:srgbClr val="C00000"/>
                </a:solidFill>
              </a:rPr>
              <a:t>Mkleaf</a:t>
            </a:r>
            <a:r>
              <a:rPr lang="en-US" sz="2800" b="1" dirty="0">
                <a:solidFill>
                  <a:srgbClr val="C00000"/>
                </a:solidFill>
              </a:rPr>
              <a:t> (num, </a:t>
            </a:r>
            <a:r>
              <a:rPr lang="en-US" sz="2800" b="1" dirty="0" err="1">
                <a:solidFill>
                  <a:srgbClr val="C00000"/>
                </a:solidFill>
              </a:rPr>
              <a:t>val</a:t>
            </a:r>
            <a:r>
              <a:rPr lang="en-US" sz="2800" b="1" dirty="0">
                <a:solidFill>
                  <a:srgbClr val="C00000"/>
                </a:solidFill>
              </a:rPr>
              <a:t>): </a:t>
            </a:r>
            <a:r>
              <a:rPr lang="en-US" sz="2800" dirty="0"/>
              <a:t>creates a number node with label </a:t>
            </a:r>
            <a:r>
              <a:rPr lang="en-US" sz="2800" dirty="0">
                <a:solidFill>
                  <a:srgbClr val="000099"/>
                </a:solidFill>
              </a:rPr>
              <a:t>num</a:t>
            </a:r>
            <a:r>
              <a:rPr lang="en-US" sz="2800" dirty="0"/>
              <a:t> and a field containing </a:t>
            </a:r>
            <a:r>
              <a:rPr lang="en-US" sz="2800" dirty="0" err="1">
                <a:solidFill>
                  <a:srgbClr val="0E47A1"/>
                </a:solidFill>
              </a:rPr>
              <a:t>val</a:t>
            </a:r>
            <a:r>
              <a:rPr lang="en-US" sz="2800" dirty="0"/>
              <a:t>, the value of the number.</a:t>
            </a:r>
          </a:p>
          <a:p>
            <a:r>
              <a:rPr lang="en-US" sz="3200" dirty="0"/>
              <a:t>Note:</a:t>
            </a:r>
          </a:p>
          <a:p>
            <a:pPr marL="0" indent="0">
              <a:buNone/>
            </a:pPr>
            <a:r>
              <a:rPr lang="en-US" sz="3200" dirty="0"/>
              <a:t>	X </a:t>
            </a:r>
            <a:r>
              <a:rPr lang="en-US" sz="3200" dirty="0">
                <a:sym typeface="Wingdings" panose="05000000000000000000" pitchFamily="2" charset="2"/>
              </a:rPr>
              <a:t> YZ {action/rules} the rules associated with X will 	evaluated after executing the actions of Y &amp; Z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42197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AD33B-6142-E864-638F-57832A0BEF4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Construction of syntax tree for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4D935-6E04-0290-F064-469F5B665656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691075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Example:</a:t>
            </a:r>
            <a:r>
              <a:rPr lang="en-US" dirty="0"/>
              <a:t> construct syntax tree for a-4+c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P1: </a:t>
            </a:r>
            <a:r>
              <a:rPr lang="en-US" dirty="0" err="1"/>
              <a:t>mkleaf</a:t>
            </a:r>
            <a:r>
              <a:rPr lang="en-US" dirty="0"/>
              <a:t>(id, entry for a);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P2: </a:t>
            </a:r>
            <a:r>
              <a:rPr lang="en-US" dirty="0" err="1"/>
              <a:t>mkleaf</a:t>
            </a:r>
            <a:r>
              <a:rPr lang="en-US" dirty="0"/>
              <a:t>(num, 4);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P3: </a:t>
            </a:r>
            <a:r>
              <a:rPr lang="en-US" dirty="0" err="1"/>
              <a:t>mknode</a:t>
            </a:r>
            <a:r>
              <a:rPr lang="en-US" dirty="0"/>
              <a:t>(‘-‘,p1,p2);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P4: </a:t>
            </a:r>
            <a:r>
              <a:rPr lang="en-US" dirty="0" err="1"/>
              <a:t>mkleaf</a:t>
            </a:r>
            <a:r>
              <a:rPr lang="en-US" dirty="0"/>
              <a:t>(id, entry for c);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P5: </a:t>
            </a:r>
            <a:r>
              <a:rPr lang="en-US" dirty="0" err="1"/>
              <a:t>mknode</a:t>
            </a:r>
            <a:r>
              <a:rPr lang="en-US" dirty="0"/>
              <a:t>(‘+’,p3,p4);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8D8B72-8BE5-92C8-3AE5-6541C2398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337755"/>
              </p:ext>
            </p:extLst>
          </p:nvPr>
        </p:nvGraphicFramePr>
        <p:xfrm>
          <a:off x="6428018" y="4312920"/>
          <a:ext cx="137160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AA8725-080F-EB26-F72B-4EE2731C5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173635"/>
              </p:ext>
            </p:extLst>
          </p:nvPr>
        </p:nvGraphicFramePr>
        <p:xfrm>
          <a:off x="8961668" y="4308004"/>
          <a:ext cx="137160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Num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B3BA6D-6F07-9016-1FD9-2AB9EEFB7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055725"/>
              </p:ext>
            </p:extLst>
          </p:nvPr>
        </p:nvGraphicFramePr>
        <p:xfrm>
          <a:off x="10009418" y="2867783"/>
          <a:ext cx="137160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42E037-D404-B41F-894E-054D4DA2F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528745"/>
              </p:ext>
            </p:extLst>
          </p:nvPr>
        </p:nvGraphicFramePr>
        <p:xfrm>
          <a:off x="7799618" y="2877902"/>
          <a:ext cx="1253931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58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159C4B5C-F1F5-79A1-8B64-652FF8EF7FD8}"/>
              </a:ext>
            </a:extLst>
          </p:cNvPr>
          <p:cNvSpPr/>
          <p:nvPr/>
        </p:nvSpPr>
        <p:spPr>
          <a:xfrm>
            <a:off x="5520992" y="4226888"/>
            <a:ext cx="609600" cy="614516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P1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DD1ED5-E644-051D-BDA6-58220315C552}"/>
              </a:ext>
            </a:extLst>
          </p:cNvPr>
          <p:cNvSpPr/>
          <p:nvPr/>
        </p:nvSpPr>
        <p:spPr>
          <a:xfrm>
            <a:off x="8203355" y="4178382"/>
            <a:ext cx="609600" cy="614516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P2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C916C51-987F-260D-A87F-1B3283ABD9CA}"/>
              </a:ext>
            </a:extLst>
          </p:cNvPr>
          <p:cNvSpPr/>
          <p:nvPr/>
        </p:nvSpPr>
        <p:spPr>
          <a:xfrm>
            <a:off x="6843749" y="2745945"/>
            <a:ext cx="609600" cy="614516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P3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2BD560-455C-95F8-BE43-F0B54B52C7C6}"/>
              </a:ext>
            </a:extLst>
          </p:cNvPr>
          <p:cNvSpPr/>
          <p:nvPr/>
        </p:nvSpPr>
        <p:spPr>
          <a:xfrm>
            <a:off x="9285518" y="2759956"/>
            <a:ext cx="609600" cy="614516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P4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A8EDCE-EF9C-97BD-C1E6-B729F5D06086}"/>
              </a:ext>
            </a:extLst>
          </p:cNvPr>
          <p:cNvSpPr/>
          <p:nvPr/>
        </p:nvSpPr>
        <p:spPr>
          <a:xfrm>
            <a:off x="8121783" y="1333746"/>
            <a:ext cx="609600" cy="614516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P5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8F3742F-5436-5513-1FE9-2BE1237BA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55554"/>
              </p:ext>
            </p:extLst>
          </p:nvPr>
        </p:nvGraphicFramePr>
        <p:xfrm>
          <a:off x="8994714" y="1455584"/>
          <a:ext cx="1253931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58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9476F7-CD77-DDF0-9994-6888B4F06A04}"/>
              </a:ext>
            </a:extLst>
          </p:cNvPr>
          <p:cNvCxnSpPr/>
          <p:nvPr/>
        </p:nvCxnSpPr>
        <p:spPr>
          <a:xfrm flipH="1">
            <a:off x="7453349" y="4534146"/>
            <a:ext cx="0" cy="46457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D53E877-B3F1-2886-963B-6D3C87278F6F}"/>
              </a:ext>
            </a:extLst>
          </p:cNvPr>
          <p:cNvSpPr/>
          <p:nvPr/>
        </p:nvSpPr>
        <p:spPr>
          <a:xfrm>
            <a:off x="6468746" y="4972173"/>
            <a:ext cx="196920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Entry for 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990B06-DA6E-7934-BA27-E34901ABCE59}"/>
              </a:ext>
            </a:extLst>
          </p:cNvPr>
          <p:cNvCxnSpPr/>
          <p:nvPr/>
        </p:nvCxnSpPr>
        <p:spPr>
          <a:xfrm flipH="1">
            <a:off x="11076218" y="3111050"/>
            <a:ext cx="0" cy="46457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3CF6BBA-DC96-C1DA-CA1C-DB5B81F0B2CB}"/>
              </a:ext>
            </a:extLst>
          </p:cNvPr>
          <p:cNvSpPr/>
          <p:nvPr/>
        </p:nvSpPr>
        <p:spPr>
          <a:xfrm>
            <a:off x="10091615" y="3549077"/>
            <a:ext cx="196920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Entry for c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777049B-2225-72AD-C39A-7CA9F4374239}"/>
              </a:ext>
            </a:extLst>
          </p:cNvPr>
          <p:cNvCxnSpPr>
            <a:endCxn id="4" idx="0"/>
          </p:cNvCxnSpPr>
          <p:nvPr/>
        </p:nvCxnSpPr>
        <p:spPr>
          <a:xfrm flipH="1">
            <a:off x="7113818" y="3238623"/>
            <a:ext cx="1324134" cy="107429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FA5DA95-5D33-3B62-D2CF-AE4ED9EA9FCD}"/>
              </a:ext>
            </a:extLst>
          </p:cNvPr>
          <p:cNvCxnSpPr/>
          <p:nvPr/>
        </p:nvCxnSpPr>
        <p:spPr>
          <a:xfrm>
            <a:off x="8784221" y="3248742"/>
            <a:ext cx="1137629" cy="106993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90B7738-042F-CF30-A44E-543EA73C3924}"/>
              </a:ext>
            </a:extLst>
          </p:cNvPr>
          <p:cNvCxnSpPr>
            <a:endCxn id="7" idx="0"/>
          </p:cNvCxnSpPr>
          <p:nvPr/>
        </p:nvCxnSpPr>
        <p:spPr>
          <a:xfrm flipH="1">
            <a:off x="8426583" y="1830316"/>
            <a:ext cx="1136377" cy="1047586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C7CFE9-36B3-6712-4A8A-EC6B00A21108}"/>
              </a:ext>
            </a:extLst>
          </p:cNvPr>
          <p:cNvCxnSpPr/>
          <p:nvPr/>
        </p:nvCxnSpPr>
        <p:spPr>
          <a:xfrm>
            <a:off x="10009418" y="1823311"/>
            <a:ext cx="1086163" cy="1062375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22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5" grpId="0"/>
      <p:bldP spid="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7D68-3DB2-85FD-7B0B-974A7EDB9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SDT to build syntax tree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6FE8765-2D22-76F3-4BDB-B422C8AB11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2033658"/>
              </p:ext>
            </p:extLst>
          </p:nvPr>
        </p:nvGraphicFramePr>
        <p:xfrm>
          <a:off x="581025" y="1690688"/>
          <a:ext cx="596265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2075">
                  <a:extLst>
                    <a:ext uri="{9D8B030D-6E8A-4147-A177-3AD203B41FA5}">
                      <a16:colId xmlns:a16="http://schemas.microsoft.com/office/drawing/2014/main" val="3111607664"/>
                    </a:ext>
                  </a:extLst>
                </a:gridCol>
                <a:gridCol w="4600575">
                  <a:extLst>
                    <a:ext uri="{9D8B030D-6E8A-4147-A177-3AD203B41FA5}">
                      <a16:colId xmlns:a16="http://schemas.microsoft.com/office/drawing/2014/main" val="1782031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Prodn</a:t>
                      </a:r>
                      <a:r>
                        <a:rPr lang="en-US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.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Semantic rules/action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657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E 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E1 + T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{</a:t>
                      </a:r>
                      <a:r>
                        <a:rPr lang="en-IN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E.nptr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 = </a:t>
                      </a:r>
                      <a:r>
                        <a:rPr lang="en-IN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mknode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(</a:t>
                      </a:r>
                      <a:r>
                        <a:rPr lang="en-US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‘+’, E1.nptr, </a:t>
                      </a:r>
                      <a:r>
                        <a:rPr lang="en-US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T.nptr</a:t>
                      </a:r>
                      <a:r>
                        <a:rPr lang="en-US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);}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361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E 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T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{E. </a:t>
                      </a:r>
                      <a:r>
                        <a:rPr lang="en-US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nptr</a:t>
                      </a:r>
                      <a:r>
                        <a:rPr lang="en-US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 = </a:t>
                      </a:r>
                      <a:r>
                        <a:rPr lang="en-US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T.nptr</a:t>
                      </a:r>
                      <a:r>
                        <a:rPr lang="en-US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;}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957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T1 *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{</a:t>
                      </a:r>
                      <a:r>
                        <a:rPr lang="en-IN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T.nptr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 = </a:t>
                      </a:r>
                      <a:r>
                        <a:rPr lang="en-IN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mknode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(</a:t>
                      </a:r>
                      <a:r>
                        <a:rPr lang="en-US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‘*’, T1.nptr, </a:t>
                      </a:r>
                      <a:r>
                        <a:rPr lang="en-US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F.nptr</a:t>
                      </a:r>
                      <a:r>
                        <a:rPr lang="en-US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);}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893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F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{T. </a:t>
                      </a:r>
                      <a:r>
                        <a:rPr lang="en-US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nptr</a:t>
                      </a:r>
                      <a:r>
                        <a:rPr lang="en-US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 = </a:t>
                      </a:r>
                      <a:r>
                        <a:rPr lang="en-US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F.nptr</a:t>
                      </a:r>
                      <a:r>
                        <a:rPr lang="en-US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;}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700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F 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id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{</a:t>
                      </a:r>
                      <a:r>
                        <a:rPr lang="en-IN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F.nptr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 = </a:t>
                      </a:r>
                      <a:r>
                        <a:rPr lang="en-IN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mkleaf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(</a:t>
                      </a:r>
                      <a:r>
                        <a:rPr lang="en-US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id, </a:t>
                      </a:r>
                      <a:r>
                        <a:rPr lang="en-US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id.entry</a:t>
                      </a:r>
                      <a:r>
                        <a:rPr lang="en-US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);}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4830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16E7EDE-9C13-3714-41F4-525B630F1D61}"/>
              </a:ext>
            </a:extLst>
          </p:cNvPr>
          <p:cNvSpPr txBox="1"/>
          <p:nvPr/>
        </p:nvSpPr>
        <p:spPr>
          <a:xfrm>
            <a:off x="757238" y="4470625"/>
            <a:ext cx="4277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99"/>
                </a:solidFill>
                <a:latin typeface="Palatino Linotype" panose="02040502050505030304" pitchFamily="18" charset="0"/>
              </a:rPr>
              <a:t>Example: Input string a + b * c</a:t>
            </a:r>
            <a:endParaRPr lang="en-IN" sz="2400" dirty="0">
              <a:solidFill>
                <a:srgbClr val="000099"/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D231F5-653D-7CF3-29F0-2C42224B48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524"/>
          <a:stretch/>
        </p:blipFill>
        <p:spPr>
          <a:xfrm>
            <a:off x="7648575" y="1885275"/>
            <a:ext cx="3962400" cy="4829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62AB9D-8ED3-E981-65B2-60C4CE25CC9D}"/>
              </a:ext>
            </a:extLst>
          </p:cNvPr>
          <p:cNvSpPr txBox="1"/>
          <p:nvPr/>
        </p:nvSpPr>
        <p:spPr>
          <a:xfrm>
            <a:off x="7634514" y="1444171"/>
            <a:ext cx="27858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Palatino Linotype" panose="02040502050505030304" pitchFamily="18" charset="0"/>
              </a:rPr>
              <a:t>Step1: Build parse Tree</a:t>
            </a:r>
          </a:p>
        </p:txBody>
      </p:sp>
    </p:spTree>
    <p:extLst>
      <p:ext uri="{BB962C8B-B14F-4D97-AF65-F5344CB8AC3E}">
        <p14:creationId xmlns:p14="http://schemas.microsoft.com/office/powerpoint/2010/main" val="119060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4A9E9-C1BB-07AD-1B97-D625B01F7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C21D5FF-BE0E-5395-C48F-B06AB85298E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37745"/>
          <a:stretch/>
        </p:blipFill>
        <p:spPr>
          <a:xfrm>
            <a:off x="293915" y="1530106"/>
            <a:ext cx="5630885" cy="5327894"/>
          </a:xfr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0DC7DE3-5BDA-6FE2-05F4-9DBAA9225EFD}"/>
              </a:ext>
            </a:extLst>
          </p:cNvPr>
          <p:cNvSpPr txBox="1"/>
          <p:nvPr/>
        </p:nvSpPr>
        <p:spPr>
          <a:xfrm>
            <a:off x="645885" y="1125508"/>
            <a:ext cx="40525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Palatino Linotype" panose="02040502050505030304" pitchFamily="18" charset="0"/>
              </a:rPr>
              <a:t>Step2: Build Annotated parse Tree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5AF509-FF68-EB8B-06A9-78F3D9298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800" y="2171524"/>
            <a:ext cx="5868219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7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4A9E9-C1BB-07AD-1B97-D625B01F7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C21D5FF-BE0E-5395-C48F-B06AB85298E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37745"/>
          <a:stretch/>
        </p:blipFill>
        <p:spPr>
          <a:xfrm>
            <a:off x="293915" y="1530106"/>
            <a:ext cx="5630885" cy="5327894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E04F4C-B174-8CDA-3781-46C6D5848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201" y="1959429"/>
            <a:ext cx="5496174" cy="44667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C90CC7C-9492-714F-D3B2-A10ABF3C2A41}"/>
              </a:ext>
            </a:extLst>
          </p:cNvPr>
          <p:cNvSpPr txBox="1"/>
          <p:nvPr/>
        </p:nvSpPr>
        <p:spPr>
          <a:xfrm>
            <a:off x="7634514" y="1444171"/>
            <a:ext cx="22584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Palatino Linotype" panose="02040502050505030304" pitchFamily="18" charset="0"/>
              </a:rPr>
              <a:t>Step3: Syntax Tree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DC7DE3-5BDA-6FE2-05F4-9DBAA9225EFD}"/>
              </a:ext>
            </a:extLst>
          </p:cNvPr>
          <p:cNvSpPr txBox="1"/>
          <p:nvPr/>
        </p:nvSpPr>
        <p:spPr>
          <a:xfrm>
            <a:off x="645885" y="1125508"/>
            <a:ext cx="40525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Palatino Linotype" panose="02040502050505030304" pitchFamily="18" charset="0"/>
              </a:rPr>
              <a:t>Step2: Build Annotated parse Tree</a:t>
            </a:r>
          </a:p>
        </p:txBody>
      </p:sp>
    </p:spTree>
    <p:extLst>
      <p:ext uri="{BB962C8B-B14F-4D97-AF65-F5344CB8AC3E}">
        <p14:creationId xmlns:p14="http://schemas.microsoft.com/office/powerpoint/2010/main" val="49636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E1930-C63F-9E4C-E874-E1101EF3649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12485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3200" dirty="0"/>
              <a:t>Syntax directed definition to translates arithmetic expressions</a:t>
            </a:r>
          </a:p>
          <a:p>
            <a:r>
              <a:rPr lang="en-US" sz="3200" dirty="0">
                <a:solidFill>
                  <a:srgbClr val="000099"/>
                </a:solidFill>
              </a:rPr>
              <a:t>Infix to postfix notation (Simple)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F717D3-DEFD-8FC7-2AC8-9B1B4149BA66}"/>
              </a:ext>
            </a:extLst>
          </p:cNvPr>
          <p:cNvSpPr/>
          <p:nvPr/>
        </p:nvSpPr>
        <p:spPr>
          <a:xfrm>
            <a:off x="5815584" y="177785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5AFFF7-22EB-4E41-5C57-7E2A41B6FDDA}"/>
              </a:ext>
            </a:extLst>
          </p:cNvPr>
          <p:cNvSpPr/>
          <p:nvPr/>
        </p:nvSpPr>
        <p:spPr>
          <a:xfrm>
            <a:off x="5803787" y="219124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A98142-B6A5-17B8-C1BB-264A9079F2E9}"/>
              </a:ext>
            </a:extLst>
          </p:cNvPr>
          <p:cNvSpPr/>
          <p:nvPr/>
        </p:nvSpPr>
        <p:spPr>
          <a:xfrm>
            <a:off x="5806737" y="260462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B28431-D071-1E93-CAFB-C94DB9A81764}"/>
              </a:ext>
            </a:extLst>
          </p:cNvPr>
          <p:cNvSpPr/>
          <p:nvPr/>
        </p:nvSpPr>
        <p:spPr>
          <a:xfrm>
            <a:off x="5797887" y="301801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CEB386-E8C7-CC87-CF89-4E8932B4A020}"/>
              </a:ext>
            </a:extLst>
          </p:cNvPr>
          <p:cNvSpPr/>
          <p:nvPr/>
        </p:nvSpPr>
        <p:spPr>
          <a:xfrm>
            <a:off x="5800837" y="343139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47BF4E-08E9-475D-BDAE-F5D788B544DB}"/>
              </a:ext>
            </a:extLst>
          </p:cNvPr>
          <p:cNvSpPr/>
          <p:nvPr/>
        </p:nvSpPr>
        <p:spPr>
          <a:xfrm>
            <a:off x="5786087" y="384478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4155BC-7958-FF15-83FE-4DD9EE1A5117}"/>
              </a:ext>
            </a:extLst>
          </p:cNvPr>
          <p:cNvSpPr/>
          <p:nvPr/>
        </p:nvSpPr>
        <p:spPr>
          <a:xfrm>
            <a:off x="5789037" y="425816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E2BCFF-062C-1B0C-DDE1-424EF94C8C90}"/>
              </a:ext>
            </a:extLst>
          </p:cNvPr>
          <p:cNvSpPr/>
          <p:nvPr/>
        </p:nvSpPr>
        <p:spPr>
          <a:xfrm>
            <a:off x="5791987" y="467155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0DD9C1-C4FB-9562-4D18-E5B3D5E316D4}"/>
              </a:ext>
            </a:extLst>
          </p:cNvPr>
          <p:cNvSpPr/>
          <p:nvPr/>
        </p:nvSpPr>
        <p:spPr>
          <a:xfrm>
            <a:off x="5794939" y="508493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32CEA9-A646-F261-7B18-B0D23C58E928}"/>
              </a:ext>
            </a:extLst>
          </p:cNvPr>
          <p:cNvSpPr/>
          <p:nvPr/>
        </p:nvSpPr>
        <p:spPr>
          <a:xfrm>
            <a:off x="5794937" y="549832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1F7B31-2997-4EC3-D8EA-6B1FA0E310F2}"/>
              </a:ext>
            </a:extLst>
          </p:cNvPr>
          <p:cNvSpPr/>
          <p:nvPr/>
        </p:nvSpPr>
        <p:spPr>
          <a:xfrm>
            <a:off x="5797889" y="5911702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F9CF3A-30A4-2995-97E4-03225A115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970" y="1133124"/>
            <a:ext cx="7116168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962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E1930-C63F-9E4C-E874-E1101EF3649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12485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3200" dirty="0"/>
              <a:t>Syntax directed definition to translates arithmetic expressions</a:t>
            </a:r>
          </a:p>
          <a:p>
            <a:r>
              <a:rPr lang="en-US" sz="3200" dirty="0">
                <a:solidFill>
                  <a:srgbClr val="000099"/>
                </a:solidFill>
              </a:rPr>
              <a:t>Infix to postfix notation (Simple)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F717D3-DEFD-8FC7-2AC8-9B1B4149BA66}"/>
              </a:ext>
            </a:extLst>
          </p:cNvPr>
          <p:cNvSpPr/>
          <p:nvPr/>
        </p:nvSpPr>
        <p:spPr>
          <a:xfrm>
            <a:off x="5815584" y="177785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5AFFF7-22EB-4E41-5C57-7E2A41B6FDDA}"/>
              </a:ext>
            </a:extLst>
          </p:cNvPr>
          <p:cNvSpPr/>
          <p:nvPr/>
        </p:nvSpPr>
        <p:spPr>
          <a:xfrm>
            <a:off x="5803787" y="219124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A98142-B6A5-17B8-C1BB-264A9079F2E9}"/>
              </a:ext>
            </a:extLst>
          </p:cNvPr>
          <p:cNvSpPr/>
          <p:nvPr/>
        </p:nvSpPr>
        <p:spPr>
          <a:xfrm>
            <a:off x="5806737" y="260462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B28431-D071-1E93-CAFB-C94DB9A81764}"/>
              </a:ext>
            </a:extLst>
          </p:cNvPr>
          <p:cNvSpPr/>
          <p:nvPr/>
        </p:nvSpPr>
        <p:spPr>
          <a:xfrm>
            <a:off x="5797887" y="301801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CEB386-E8C7-CC87-CF89-4E8932B4A020}"/>
              </a:ext>
            </a:extLst>
          </p:cNvPr>
          <p:cNvSpPr/>
          <p:nvPr/>
        </p:nvSpPr>
        <p:spPr>
          <a:xfrm>
            <a:off x="5800837" y="343139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47BF4E-08E9-475D-BDAE-F5D788B544DB}"/>
              </a:ext>
            </a:extLst>
          </p:cNvPr>
          <p:cNvSpPr/>
          <p:nvPr/>
        </p:nvSpPr>
        <p:spPr>
          <a:xfrm>
            <a:off x="5786087" y="384478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4155BC-7958-FF15-83FE-4DD9EE1A5117}"/>
              </a:ext>
            </a:extLst>
          </p:cNvPr>
          <p:cNvSpPr/>
          <p:nvPr/>
        </p:nvSpPr>
        <p:spPr>
          <a:xfrm>
            <a:off x="4635713" y="441056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E2BCFF-062C-1B0C-DDE1-424EF94C8C90}"/>
              </a:ext>
            </a:extLst>
          </p:cNvPr>
          <p:cNvSpPr/>
          <p:nvPr/>
        </p:nvSpPr>
        <p:spPr>
          <a:xfrm>
            <a:off x="5791987" y="467155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0DD9C1-C4FB-9562-4D18-E5B3D5E316D4}"/>
              </a:ext>
            </a:extLst>
          </p:cNvPr>
          <p:cNvSpPr/>
          <p:nvPr/>
        </p:nvSpPr>
        <p:spPr>
          <a:xfrm>
            <a:off x="5794939" y="508493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32CEA9-A646-F261-7B18-B0D23C58E928}"/>
              </a:ext>
            </a:extLst>
          </p:cNvPr>
          <p:cNvSpPr/>
          <p:nvPr/>
        </p:nvSpPr>
        <p:spPr>
          <a:xfrm>
            <a:off x="5794937" y="549832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1F7B31-2997-4EC3-D8EA-6B1FA0E310F2}"/>
              </a:ext>
            </a:extLst>
          </p:cNvPr>
          <p:cNvSpPr/>
          <p:nvPr/>
        </p:nvSpPr>
        <p:spPr>
          <a:xfrm>
            <a:off x="5797889" y="5911702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F9CF3A-30A4-2995-97E4-03225A115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57" y="1124857"/>
            <a:ext cx="5203312" cy="36709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335B56-458A-EE7A-0B1B-DB07E7001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924" y="700880"/>
            <a:ext cx="3915321" cy="6096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30DCE96-5BAE-2469-E192-20FC680C5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949" y="1499531"/>
            <a:ext cx="3650296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469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E1930-C63F-9E4C-E874-E1101EF3649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12485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3200" dirty="0"/>
              <a:t>Syntax directed definition to translates arithmetic expressions</a:t>
            </a:r>
          </a:p>
          <a:p>
            <a:r>
              <a:rPr lang="en-US" sz="3200" dirty="0">
                <a:solidFill>
                  <a:srgbClr val="000099"/>
                </a:solidFill>
              </a:rPr>
              <a:t>Infix to postfix notation (Simple)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F717D3-DEFD-8FC7-2AC8-9B1B4149BA66}"/>
              </a:ext>
            </a:extLst>
          </p:cNvPr>
          <p:cNvSpPr/>
          <p:nvPr/>
        </p:nvSpPr>
        <p:spPr>
          <a:xfrm>
            <a:off x="5815584" y="177785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5AFFF7-22EB-4E41-5C57-7E2A41B6FDDA}"/>
              </a:ext>
            </a:extLst>
          </p:cNvPr>
          <p:cNvSpPr/>
          <p:nvPr/>
        </p:nvSpPr>
        <p:spPr>
          <a:xfrm>
            <a:off x="5803787" y="219124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A98142-B6A5-17B8-C1BB-264A9079F2E9}"/>
              </a:ext>
            </a:extLst>
          </p:cNvPr>
          <p:cNvSpPr/>
          <p:nvPr/>
        </p:nvSpPr>
        <p:spPr>
          <a:xfrm>
            <a:off x="5806737" y="260462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B28431-D071-1E93-CAFB-C94DB9A81764}"/>
              </a:ext>
            </a:extLst>
          </p:cNvPr>
          <p:cNvSpPr/>
          <p:nvPr/>
        </p:nvSpPr>
        <p:spPr>
          <a:xfrm>
            <a:off x="5797887" y="301801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CEB386-E8C7-CC87-CF89-4E8932B4A020}"/>
              </a:ext>
            </a:extLst>
          </p:cNvPr>
          <p:cNvSpPr/>
          <p:nvPr/>
        </p:nvSpPr>
        <p:spPr>
          <a:xfrm>
            <a:off x="5800837" y="343139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47BF4E-08E9-475D-BDAE-F5D788B544DB}"/>
              </a:ext>
            </a:extLst>
          </p:cNvPr>
          <p:cNvSpPr/>
          <p:nvPr/>
        </p:nvSpPr>
        <p:spPr>
          <a:xfrm>
            <a:off x="5786087" y="384478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4155BC-7958-FF15-83FE-4DD9EE1A5117}"/>
              </a:ext>
            </a:extLst>
          </p:cNvPr>
          <p:cNvSpPr/>
          <p:nvPr/>
        </p:nvSpPr>
        <p:spPr>
          <a:xfrm>
            <a:off x="4635713" y="441056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E2BCFF-062C-1B0C-DDE1-424EF94C8C90}"/>
              </a:ext>
            </a:extLst>
          </p:cNvPr>
          <p:cNvSpPr/>
          <p:nvPr/>
        </p:nvSpPr>
        <p:spPr>
          <a:xfrm>
            <a:off x="5791987" y="467155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0DD9C1-C4FB-9562-4D18-E5B3D5E316D4}"/>
              </a:ext>
            </a:extLst>
          </p:cNvPr>
          <p:cNvSpPr/>
          <p:nvPr/>
        </p:nvSpPr>
        <p:spPr>
          <a:xfrm>
            <a:off x="5794939" y="508493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32CEA9-A646-F261-7B18-B0D23C58E928}"/>
              </a:ext>
            </a:extLst>
          </p:cNvPr>
          <p:cNvSpPr/>
          <p:nvPr/>
        </p:nvSpPr>
        <p:spPr>
          <a:xfrm>
            <a:off x="5794937" y="549832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1F7B31-2997-4EC3-D8EA-6B1FA0E310F2}"/>
              </a:ext>
            </a:extLst>
          </p:cNvPr>
          <p:cNvSpPr/>
          <p:nvPr/>
        </p:nvSpPr>
        <p:spPr>
          <a:xfrm>
            <a:off x="5797889" y="5911702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F9CF3A-30A4-2995-97E4-03225A115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57" y="1124857"/>
            <a:ext cx="5203312" cy="36709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335B56-458A-EE7A-0B1B-DB07E7001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924" y="700880"/>
            <a:ext cx="3915321" cy="6096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A498148-DD59-1737-696C-0D74E436D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709" y="1468265"/>
            <a:ext cx="5858693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764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E1930-C63F-9E4C-E874-E1101EF3649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12485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3200" dirty="0"/>
              <a:t>Syntax directed definition to translates arithmetic expressions</a:t>
            </a:r>
          </a:p>
          <a:p>
            <a:r>
              <a:rPr lang="en-US" sz="3200" dirty="0">
                <a:solidFill>
                  <a:srgbClr val="000099"/>
                </a:solidFill>
              </a:rPr>
              <a:t>Infix to prefix notation 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0F7F3706-B6AE-98B9-1BD6-6AAC9B5F09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5152772"/>
              </p:ext>
            </p:extLst>
          </p:nvPr>
        </p:nvGraphicFramePr>
        <p:xfrm>
          <a:off x="3529584" y="1320655"/>
          <a:ext cx="5638800" cy="495300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2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Production 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Semantic rules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L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Print(E.val)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E+T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E.val=’+’ E.val T.val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E-T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E.val=’-‘ E.val T.val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E.val= T.val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T*F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T.val=’*’ T.val F.val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T/F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T.val=’/’ T.val F.val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F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T.val= F.val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F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F^P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F.val=’^’ F.val P.val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F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P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F.val= P.val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P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(E)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P.val= E.val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 err="1">
                          <a:effectLst/>
                          <a:latin typeface="Palatino Linotype" panose="02040502050505030304" pitchFamily="18" charset="0"/>
                        </a:rPr>
                        <a:t>P</a:t>
                      </a:r>
                      <a:r>
                        <a:rPr lang="en-US" sz="1800" dirty="0" err="1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dirty="0" err="1">
                          <a:effectLst/>
                          <a:latin typeface="Palatino Linotype" panose="02040502050505030304" pitchFamily="18" charset="0"/>
                        </a:rPr>
                        <a:t>digit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 err="1">
                          <a:effectLst/>
                          <a:latin typeface="Palatino Linotype" panose="02040502050505030304" pitchFamily="18" charset="0"/>
                        </a:rPr>
                        <a:t>P.val</a:t>
                      </a: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</a:rPr>
                        <a:t>=</a:t>
                      </a:r>
                      <a:r>
                        <a:rPr lang="en-US" sz="1800" dirty="0" err="1">
                          <a:effectLst/>
                          <a:latin typeface="Palatino Linotype" panose="02040502050505030304" pitchFamily="18" charset="0"/>
                        </a:rPr>
                        <a:t>digit.lexval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0F717D3-DEFD-8FC7-2AC8-9B1B4149BA66}"/>
              </a:ext>
            </a:extLst>
          </p:cNvPr>
          <p:cNvSpPr/>
          <p:nvPr/>
        </p:nvSpPr>
        <p:spPr>
          <a:xfrm>
            <a:off x="5815584" y="177785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5AFFF7-22EB-4E41-5C57-7E2A41B6FDDA}"/>
              </a:ext>
            </a:extLst>
          </p:cNvPr>
          <p:cNvSpPr/>
          <p:nvPr/>
        </p:nvSpPr>
        <p:spPr>
          <a:xfrm>
            <a:off x="5803787" y="219124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A98142-B6A5-17B8-C1BB-264A9079F2E9}"/>
              </a:ext>
            </a:extLst>
          </p:cNvPr>
          <p:cNvSpPr/>
          <p:nvPr/>
        </p:nvSpPr>
        <p:spPr>
          <a:xfrm>
            <a:off x="5806737" y="260462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B28431-D071-1E93-CAFB-C94DB9A81764}"/>
              </a:ext>
            </a:extLst>
          </p:cNvPr>
          <p:cNvSpPr/>
          <p:nvPr/>
        </p:nvSpPr>
        <p:spPr>
          <a:xfrm>
            <a:off x="5797887" y="301801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CEB386-E8C7-CC87-CF89-4E8932B4A020}"/>
              </a:ext>
            </a:extLst>
          </p:cNvPr>
          <p:cNvSpPr/>
          <p:nvPr/>
        </p:nvSpPr>
        <p:spPr>
          <a:xfrm>
            <a:off x="5800837" y="343139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47BF4E-08E9-475D-BDAE-F5D788B544DB}"/>
              </a:ext>
            </a:extLst>
          </p:cNvPr>
          <p:cNvSpPr/>
          <p:nvPr/>
        </p:nvSpPr>
        <p:spPr>
          <a:xfrm>
            <a:off x="5786087" y="384478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4155BC-7958-FF15-83FE-4DD9EE1A5117}"/>
              </a:ext>
            </a:extLst>
          </p:cNvPr>
          <p:cNvSpPr/>
          <p:nvPr/>
        </p:nvSpPr>
        <p:spPr>
          <a:xfrm>
            <a:off x="5789037" y="425816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E2BCFF-062C-1B0C-DDE1-424EF94C8C90}"/>
              </a:ext>
            </a:extLst>
          </p:cNvPr>
          <p:cNvSpPr/>
          <p:nvPr/>
        </p:nvSpPr>
        <p:spPr>
          <a:xfrm>
            <a:off x="5791987" y="467155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0DD9C1-C4FB-9562-4D18-E5B3D5E316D4}"/>
              </a:ext>
            </a:extLst>
          </p:cNvPr>
          <p:cNvSpPr/>
          <p:nvPr/>
        </p:nvSpPr>
        <p:spPr>
          <a:xfrm>
            <a:off x="5794939" y="508493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32CEA9-A646-F261-7B18-B0D23C58E928}"/>
              </a:ext>
            </a:extLst>
          </p:cNvPr>
          <p:cNvSpPr/>
          <p:nvPr/>
        </p:nvSpPr>
        <p:spPr>
          <a:xfrm>
            <a:off x="5794937" y="549832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1F7B31-2997-4EC3-D8EA-6B1FA0E310F2}"/>
              </a:ext>
            </a:extLst>
          </p:cNvPr>
          <p:cNvSpPr/>
          <p:nvPr/>
        </p:nvSpPr>
        <p:spPr>
          <a:xfrm>
            <a:off x="5797889" y="5911702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47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E2999-240D-9F3F-A25B-73459A485B9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3600"/>
              <a:t>Bottom up evaluation of S-attributed definitions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83D49-1B67-799A-9770-9D2E1DA1A5CB}"/>
              </a:ext>
            </a:extLst>
          </p:cNvPr>
          <p:cNvSpPr txBox="1">
            <a:spLocks/>
          </p:cNvSpPr>
          <p:nvPr/>
        </p:nvSpPr>
        <p:spPr>
          <a:xfrm>
            <a:off x="131180" y="863445"/>
            <a:ext cx="11929641" cy="244668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S-attributed definition is one such class of syntax directed definition with synthesized attributes only.</a:t>
            </a:r>
          </a:p>
          <a:p>
            <a:r>
              <a:rPr lang="en-US" dirty="0"/>
              <a:t>Synthesized attributes can be evaluated using bottom up parser only.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Synthesized attributes on the parser stack</a:t>
            </a:r>
          </a:p>
          <a:p>
            <a:r>
              <a:rPr lang="en-US" dirty="0"/>
              <a:t>Consider the production </a:t>
            </a:r>
            <a:r>
              <a:rPr lang="en-US" dirty="0">
                <a:solidFill>
                  <a:srgbClr val="C00000"/>
                </a:solidFill>
              </a:rPr>
              <a:t>A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XYZ </a:t>
            </a:r>
            <a:r>
              <a:rPr lang="en-US" dirty="0">
                <a:sym typeface="Wingdings" panose="05000000000000000000" pitchFamily="2" charset="2"/>
              </a:rPr>
              <a:t>and associated semantic action is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A.a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=f(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X.x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Y.y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Z.z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)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E343794-280F-2510-DA89-0A4FB5BE70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3488909"/>
                  </p:ext>
                </p:extLst>
              </p:nvPr>
            </p:nvGraphicFramePr>
            <p:xfrm>
              <a:off x="2782824" y="3889248"/>
              <a:ext cx="1600200" cy="148336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7742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59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State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Value 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E343794-280F-2510-DA89-0A4FB5BE70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3488909"/>
                  </p:ext>
                </p:extLst>
              </p:nvPr>
            </p:nvGraphicFramePr>
            <p:xfrm>
              <a:off x="2782824" y="3889248"/>
              <a:ext cx="1600200" cy="148336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7742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59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State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Value 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87" t="-108197" r="-10944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118" t="-108197" r="-2206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87" t="-208197" r="-10944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118" t="-208197" r="-2206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87" t="-308197" r="-10944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118" t="-308197" r="-2206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136278B-4EB6-7D6B-0EF2-6E19FC4D53A0}"/>
              </a:ext>
            </a:extLst>
          </p:cNvPr>
          <p:cNvCxnSpPr/>
          <p:nvPr/>
        </p:nvCxnSpPr>
        <p:spPr>
          <a:xfrm>
            <a:off x="2033016" y="5184648"/>
            <a:ext cx="749808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FBC1776-3780-5333-208E-5CB6070067A1}"/>
              </a:ext>
            </a:extLst>
          </p:cNvPr>
          <p:cNvSpPr/>
          <p:nvPr/>
        </p:nvSpPr>
        <p:spPr>
          <a:xfrm>
            <a:off x="1411221" y="4956048"/>
            <a:ext cx="882396" cy="416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top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7AEEEA-DA23-0135-6E23-0A3ACBC9E1F0}"/>
              </a:ext>
            </a:extLst>
          </p:cNvPr>
          <p:cNvSpPr/>
          <p:nvPr/>
        </p:nvSpPr>
        <p:spPr>
          <a:xfrm>
            <a:off x="2505075" y="5422681"/>
            <a:ext cx="2155698" cy="416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Before 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EC0FC3F-226F-3A30-ED3A-681ED434D9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3948425"/>
                  </p:ext>
                </p:extLst>
              </p:nvPr>
            </p:nvGraphicFramePr>
            <p:xfrm>
              <a:off x="7863648" y="3822482"/>
              <a:ext cx="1600200" cy="148336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7742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59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State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Value 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EC0FC3F-226F-3A30-ED3A-681ED434D9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3948425"/>
                  </p:ext>
                </p:extLst>
              </p:nvPr>
            </p:nvGraphicFramePr>
            <p:xfrm>
              <a:off x="7863648" y="3822482"/>
              <a:ext cx="1600200" cy="148336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7742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59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State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Value 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1" t="-108197" r="-107813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4853" t="-108197" r="-1471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5D7B66F-C15D-36A3-CC9F-54AB645B6746}"/>
              </a:ext>
            </a:extLst>
          </p:cNvPr>
          <p:cNvCxnSpPr/>
          <p:nvPr/>
        </p:nvCxnSpPr>
        <p:spPr>
          <a:xfrm>
            <a:off x="7113840" y="4346448"/>
            <a:ext cx="749808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96B7F5F-30A9-8BBD-ED0C-96C6AC4AF60C}"/>
              </a:ext>
            </a:extLst>
          </p:cNvPr>
          <p:cNvSpPr/>
          <p:nvPr/>
        </p:nvSpPr>
        <p:spPr>
          <a:xfrm>
            <a:off x="6483561" y="4131273"/>
            <a:ext cx="882396" cy="416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top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9D6615-CA2F-2D89-6B3A-79EE8A127935}"/>
              </a:ext>
            </a:extLst>
          </p:cNvPr>
          <p:cNvSpPr/>
          <p:nvPr/>
        </p:nvSpPr>
        <p:spPr>
          <a:xfrm>
            <a:off x="7585899" y="5404902"/>
            <a:ext cx="2155698" cy="416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After reduction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D10F1A-4D18-7D2B-E09C-5B5DB37D9360}"/>
              </a:ext>
            </a:extLst>
          </p:cNvPr>
          <p:cNvCxnSpPr/>
          <p:nvPr/>
        </p:nvCxnSpPr>
        <p:spPr>
          <a:xfrm>
            <a:off x="2033016" y="4808729"/>
            <a:ext cx="749808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A385340-F160-1736-BAF9-6966E8646B76}"/>
              </a:ext>
            </a:extLst>
          </p:cNvPr>
          <p:cNvSpPr/>
          <p:nvPr/>
        </p:nvSpPr>
        <p:spPr>
          <a:xfrm>
            <a:off x="1329576" y="4580129"/>
            <a:ext cx="882396" cy="416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top-1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22AF0A-715B-9696-4870-EFFEB169FF25}"/>
              </a:ext>
            </a:extLst>
          </p:cNvPr>
          <p:cNvCxnSpPr/>
          <p:nvPr/>
        </p:nvCxnSpPr>
        <p:spPr>
          <a:xfrm>
            <a:off x="2023874" y="4437525"/>
            <a:ext cx="749808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B673017-4C67-5B5A-9EAA-C908DC5E5AC5}"/>
              </a:ext>
            </a:extLst>
          </p:cNvPr>
          <p:cNvSpPr/>
          <p:nvPr/>
        </p:nvSpPr>
        <p:spPr>
          <a:xfrm>
            <a:off x="1304105" y="4208925"/>
            <a:ext cx="882396" cy="416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top-2 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4D676CC7-D075-10F8-7AE8-B379269C02C1}"/>
              </a:ext>
            </a:extLst>
          </p:cNvPr>
          <p:cNvSpPr/>
          <p:nvPr/>
        </p:nvSpPr>
        <p:spPr>
          <a:xfrm>
            <a:off x="5221224" y="4625485"/>
            <a:ext cx="1892616" cy="183244"/>
          </a:xfrm>
          <a:prstGeom prst="right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76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/>
      <p:bldP spid="13" grpId="0"/>
      <p:bldP spid="15" grpId="0"/>
      <p:bldP spid="1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8619-B231-D215-C000-318B773B288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3600"/>
              <a:t>Bottom up evaluation of S-attributed definitions</a:t>
            </a:r>
            <a:endParaRPr lang="en-US"/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7FCEB8E1-B80F-6698-0A17-BEFFA04EA9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0187135"/>
              </p:ext>
            </p:extLst>
          </p:nvPr>
        </p:nvGraphicFramePr>
        <p:xfrm>
          <a:off x="1472311" y="1009106"/>
          <a:ext cx="3971216" cy="381000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146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4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</a:rPr>
                        <a:t>Production 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</a:rPr>
                        <a:t>Semantic rules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</a:rPr>
                        <a:t>L </a:t>
                      </a:r>
                      <a:r>
                        <a:rPr lang="en-US" sz="1800" baseline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err="1">
                          <a:effectLst/>
                        </a:rPr>
                        <a:t>E</a:t>
                      </a:r>
                      <a:r>
                        <a:rPr lang="en-US" sz="1800" baseline="-25000" err="1">
                          <a:effectLst/>
                        </a:rPr>
                        <a:t>n</a:t>
                      </a:r>
                      <a:endParaRPr lang="en-US" sz="1800" baseline="-25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</a:rPr>
                        <a:t>Print (val[top])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</a:rPr>
                        <a:t>E </a:t>
                      </a:r>
                      <a:r>
                        <a:rPr lang="en-US" sz="1800" baseline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</a:rPr>
                        <a:t>E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r>
                        <a:rPr lang="en-US" sz="1800" baseline="0">
                          <a:effectLst/>
                        </a:rPr>
                        <a:t>+T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val[top]=val[top-2] + val[top]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</a:rPr>
                        <a:t>E </a:t>
                      </a:r>
                      <a:r>
                        <a:rPr lang="en-US" sz="1800" baseline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</a:rPr>
                        <a:t>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</a:rPr>
                        <a:t>T </a:t>
                      </a:r>
                      <a:r>
                        <a:rPr lang="en-US" sz="1800" baseline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</a:rPr>
                        <a:t>T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r>
                        <a:rPr lang="en-US" sz="1800" baseline="0">
                          <a:effectLst/>
                        </a:rPr>
                        <a:t>*F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val[top]=val[top-2] * val[top]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</a:rPr>
                        <a:t>T </a:t>
                      </a:r>
                      <a:r>
                        <a:rPr lang="en-US" sz="1800" baseline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</a:rPr>
                        <a:t>F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</a:rPr>
                        <a:t>F </a:t>
                      </a:r>
                      <a:r>
                        <a:rPr lang="en-US" sz="1800" baseline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</a:rPr>
                        <a:t>(E)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[top]=</a:t>
                      </a:r>
                      <a:r>
                        <a:rPr lang="en-US" sz="1800" baseline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lang="en-US" sz="1800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[top-1]</a:t>
                      </a:r>
                      <a:endParaRPr lang="en-US" sz="1800" baseline="0" err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</a:rPr>
                        <a:t>F </a:t>
                      </a:r>
                      <a:r>
                        <a:rPr lang="en-US" sz="1800" baseline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</a:rPr>
                        <a:t>digit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A9751A-CD55-60F9-19C1-BD1184658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462068"/>
              </p:ext>
            </p:extLst>
          </p:nvPr>
        </p:nvGraphicFramePr>
        <p:xfrm>
          <a:off x="5779008" y="100910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aseline="0">
                          <a:effectLst/>
                        </a:rPr>
                        <a:t>Input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aseline="0">
                          <a:effectLst/>
                        </a:rPr>
                        <a:t>State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Val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Production Used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A178DF-5F90-3BF2-9FE5-D75166193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238334"/>
              </p:ext>
            </p:extLst>
          </p:nvPr>
        </p:nvGraphicFramePr>
        <p:xfrm>
          <a:off x="5779008" y="140534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3*5</a:t>
                      </a:r>
                      <a:r>
                        <a:rPr lang="en-US" sz="2000" baseline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883FAF-0F2D-EC38-E739-1FFF92653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355624"/>
              </p:ext>
            </p:extLst>
          </p:nvPr>
        </p:nvGraphicFramePr>
        <p:xfrm>
          <a:off x="5779008" y="180158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*5</a:t>
                      </a:r>
                      <a:r>
                        <a:rPr lang="en-US" sz="2000" baseline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7C04A81-0CEE-ECC0-FBBD-DB26BCD455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844523"/>
              </p:ext>
            </p:extLst>
          </p:nvPr>
        </p:nvGraphicFramePr>
        <p:xfrm>
          <a:off x="5779008" y="219782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*5</a:t>
                      </a:r>
                      <a:r>
                        <a:rPr lang="en-US" sz="2000" baseline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err="1"/>
                        <a:t>F</a:t>
                      </a:r>
                      <a:r>
                        <a:rPr lang="en-US" sz="2000" b="0" err="1">
                          <a:sym typeface="Wingdings" panose="05000000000000000000" pitchFamily="2" charset="2"/>
                        </a:rPr>
                        <a:t>digit</a:t>
                      </a:r>
                      <a:endParaRPr lang="en-US" sz="20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7BEB67F-7E37-4EBD-3992-1EC195B73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472168"/>
              </p:ext>
            </p:extLst>
          </p:nvPr>
        </p:nvGraphicFramePr>
        <p:xfrm>
          <a:off x="5779008" y="259406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*5</a:t>
                      </a:r>
                      <a:r>
                        <a:rPr lang="en-US" sz="2000" baseline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T</a:t>
                      </a:r>
                      <a:r>
                        <a:rPr lang="en-US" sz="2000" b="0">
                          <a:sym typeface="Wingdings" panose="05000000000000000000" pitchFamily="2" charset="2"/>
                        </a:rPr>
                        <a:t>F</a:t>
                      </a:r>
                      <a:endParaRPr lang="en-US" sz="20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4DE5CB3-AD29-DE9A-BB79-1D315913F5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995926"/>
              </p:ext>
            </p:extLst>
          </p:nvPr>
        </p:nvGraphicFramePr>
        <p:xfrm>
          <a:off x="5779008" y="299030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5</a:t>
                      </a:r>
                      <a:r>
                        <a:rPr lang="en-US" sz="2000" baseline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T*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4126B78-5109-D284-036A-52B31E783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746807"/>
              </p:ext>
            </p:extLst>
          </p:nvPr>
        </p:nvGraphicFramePr>
        <p:xfrm>
          <a:off x="5779008" y="338654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T*5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3,5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D83FF0A-0C43-58A6-ADE6-370016706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650824"/>
              </p:ext>
            </p:extLst>
          </p:nvPr>
        </p:nvGraphicFramePr>
        <p:xfrm>
          <a:off x="5779008" y="378278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T*F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3,5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0" err="1"/>
                        <a:t>F</a:t>
                      </a:r>
                      <a:r>
                        <a:rPr lang="en-US" sz="2000" b="0" err="1">
                          <a:sym typeface="Wingdings" panose="05000000000000000000" pitchFamily="2" charset="2"/>
                        </a:rPr>
                        <a:t>digit</a:t>
                      </a:r>
                      <a:endParaRPr lang="en-US" sz="20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5D537BC-3979-3401-3960-4040D860E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933642"/>
              </p:ext>
            </p:extLst>
          </p:nvPr>
        </p:nvGraphicFramePr>
        <p:xfrm>
          <a:off x="5779008" y="417902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T</a:t>
                      </a:r>
                      <a:r>
                        <a:rPr lang="en-US" sz="2000" b="0">
                          <a:sym typeface="Wingdings" panose="05000000000000000000" pitchFamily="2" charset="2"/>
                        </a:rPr>
                        <a:t>T</a:t>
                      </a:r>
                      <a:r>
                        <a:rPr lang="en-US" sz="2000" b="0" baseline="-2500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2000" b="0">
                          <a:sym typeface="Wingdings" panose="05000000000000000000" pitchFamily="2" charset="2"/>
                        </a:rPr>
                        <a:t>*F</a:t>
                      </a:r>
                      <a:endParaRPr lang="en-US" sz="20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D3CFB73-D72D-B655-BEE0-5E1996BBE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214037"/>
              </p:ext>
            </p:extLst>
          </p:nvPr>
        </p:nvGraphicFramePr>
        <p:xfrm>
          <a:off x="5779008" y="457526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E</a:t>
                      </a:r>
                      <a:r>
                        <a:rPr lang="en-US" sz="2000" b="0">
                          <a:sym typeface="Wingdings" panose="05000000000000000000" pitchFamily="2" charset="2"/>
                        </a:rPr>
                        <a:t>T</a:t>
                      </a:r>
                      <a:endParaRPr lang="en-US" sz="20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87C8974-D8FA-492B-DADA-EC57A95BC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610237"/>
              </p:ext>
            </p:extLst>
          </p:nvPr>
        </p:nvGraphicFramePr>
        <p:xfrm>
          <a:off x="5779008" y="497150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baseline="0"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 err="1">
                          <a:effectLst/>
                        </a:rPr>
                        <a:t>E</a:t>
                      </a:r>
                      <a:r>
                        <a:rPr lang="en-US" sz="2000" b="1" baseline="0" err="1">
                          <a:effectLst/>
                        </a:rPr>
                        <a:t>n</a:t>
                      </a:r>
                      <a:endParaRPr lang="en-US" sz="2000" b="1" baseline="0"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83F3FC6-3CCF-96BB-BEF5-C040E5D72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733964"/>
              </p:ext>
            </p:extLst>
          </p:nvPr>
        </p:nvGraphicFramePr>
        <p:xfrm>
          <a:off x="5779008" y="536774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0" baseline="0"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0" baseline="0">
                          <a:effectLst/>
                        </a:rPr>
                        <a:t>L </a:t>
                      </a:r>
                      <a:r>
                        <a:rPr lang="en-US" sz="2000" b="0" baseline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000" b="0" baseline="0" err="1">
                          <a:effectLst/>
                        </a:rPr>
                        <a:t>E</a:t>
                      </a:r>
                      <a:r>
                        <a:rPr lang="en-US" sz="2000" b="0" baseline="-25000" err="1">
                          <a:effectLst/>
                        </a:rPr>
                        <a:t>n</a:t>
                      </a:r>
                      <a:endParaRPr lang="en-US" sz="2000" b="0" baseline="-25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C015EE6C-23A2-8D44-F42D-BDB2390BC3D3}"/>
              </a:ext>
            </a:extLst>
          </p:cNvPr>
          <p:cNvSpPr/>
          <p:nvPr/>
        </p:nvSpPr>
        <p:spPr>
          <a:xfrm>
            <a:off x="6769608" y="1853293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DEB3C0-3E97-8012-7410-C54F705F5B0C}"/>
              </a:ext>
            </a:extLst>
          </p:cNvPr>
          <p:cNvSpPr/>
          <p:nvPr/>
        </p:nvSpPr>
        <p:spPr>
          <a:xfrm>
            <a:off x="7556102" y="184404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ED375C-0D71-89A5-0CFB-6EE6B942F3D0}"/>
              </a:ext>
            </a:extLst>
          </p:cNvPr>
          <p:cNvSpPr/>
          <p:nvPr/>
        </p:nvSpPr>
        <p:spPr>
          <a:xfrm>
            <a:off x="5995361" y="184404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DC9F0B-B3FE-F747-A9BC-F646742D4233}"/>
              </a:ext>
            </a:extLst>
          </p:cNvPr>
          <p:cNvSpPr/>
          <p:nvPr/>
        </p:nvSpPr>
        <p:spPr>
          <a:xfrm>
            <a:off x="8674608" y="2242456"/>
            <a:ext cx="990600" cy="310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130BEA-397B-31A8-64E4-E130DEBA812F}"/>
              </a:ext>
            </a:extLst>
          </p:cNvPr>
          <p:cNvSpPr/>
          <p:nvPr/>
        </p:nvSpPr>
        <p:spPr>
          <a:xfrm>
            <a:off x="6758722" y="2249533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D2FDF8-7A9B-25FA-7EBE-B48A9D60678D}"/>
              </a:ext>
            </a:extLst>
          </p:cNvPr>
          <p:cNvSpPr/>
          <p:nvPr/>
        </p:nvSpPr>
        <p:spPr>
          <a:xfrm>
            <a:off x="7545216" y="224028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EEFD2B-751A-26FF-12F7-82132353E48B}"/>
              </a:ext>
            </a:extLst>
          </p:cNvPr>
          <p:cNvSpPr/>
          <p:nvPr/>
        </p:nvSpPr>
        <p:spPr>
          <a:xfrm>
            <a:off x="5984475" y="224028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449903-4BFE-C25E-AF43-B51383E5B2E0}"/>
              </a:ext>
            </a:extLst>
          </p:cNvPr>
          <p:cNvSpPr/>
          <p:nvPr/>
        </p:nvSpPr>
        <p:spPr>
          <a:xfrm>
            <a:off x="8674608" y="2638696"/>
            <a:ext cx="990600" cy="310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FCED16-832C-4A1A-0224-46C8F5AB58C6}"/>
              </a:ext>
            </a:extLst>
          </p:cNvPr>
          <p:cNvSpPr/>
          <p:nvPr/>
        </p:nvSpPr>
        <p:spPr>
          <a:xfrm>
            <a:off x="6758722" y="2645773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9B818E-5099-87EB-8035-1E010921F494}"/>
              </a:ext>
            </a:extLst>
          </p:cNvPr>
          <p:cNvSpPr/>
          <p:nvPr/>
        </p:nvSpPr>
        <p:spPr>
          <a:xfrm>
            <a:off x="7545216" y="263652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68C8BF-7F8A-088F-F2FA-FC9D6B06E147}"/>
              </a:ext>
            </a:extLst>
          </p:cNvPr>
          <p:cNvSpPr/>
          <p:nvPr/>
        </p:nvSpPr>
        <p:spPr>
          <a:xfrm>
            <a:off x="5984475" y="263652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C4D896-4C54-CBB5-074A-F6086F8C6170}"/>
              </a:ext>
            </a:extLst>
          </p:cNvPr>
          <p:cNvSpPr/>
          <p:nvPr/>
        </p:nvSpPr>
        <p:spPr>
          <a:xfrm>
            <a:off x="6753279" y="3055619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22D4F9-A83D-3E3F-DDBE-0E9DE64625B0}"/>
              </a:ext>
            </a:extLst>
          </p:cNvPr>
          <p:cNvSpPr/>
          <p:nvPr/>
        </p:nvSpPr>
        <p:spPr>
          <a:xfrm>
            <a:off x="7539773" y="304636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A229A2-1DB0-6661-9C39-E3CCD10CC988}"/>
              </a:ext>
            </a:extLst>
          </p:cNvPr>
          <p:cNvSpPr/>
          <p:nvPr/>
        </p:nvSpPr>
        <p:spPr>
          <a:xfrm>
            <a:off x="5979032" y="304636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B39977-5FE2-6DDC-4149-B7B4751B4E5B}"/>
              </a:ext>
            </a:extLst>
          </p:cNvPr>
          <p:cNvSpPr/>
          <p:nvPr/>
        </p:nvSpPr>
        <p:spPr>
          <a:xfrm>
            <a:off x="6785937" y="3433899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03E509-29BC-FED8-CF18-81023DBF7014}"/>
              </a:ext>
            </a:extLst>
          </p:cNvPr>
          <p:cNvSpPr/>
          <p:nvPr/>
        </p:nvSpPr>
        <p:spPr>
          <a:xfrm>
            <a:off x="7572431" y="342464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94E120-8C4A-A882-1DA8-2E3CB1F601B8}"/>
              </a:ext>
            </a:extLst>
          </p:cNvPr>
          <p:cNvSpPr/>
          <p:nvPr/>
        </p:nvSpPr>
        <p:spPr>
          <a:xfrm>
            <a:off x="6011690" y="342464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FCD107-6265-DE26-801C-5412B09A4B74}"/>
              </a:ext>
            </a:extLst>
          </p:cNvPr>
          <p:cNvSpPr/>
          <p:nvPr/>
        </p:nvSpPr>
        <p:spPr>
          <a:xfrm>
            <a:off x="8647394" y="3821977"/>
            <a:ext cx="990600" cy="310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6280206-C175-C413-A44D-D21ECF64FDAE}"/>
              </a:ext>
            </a:extLst>
          </p:cNvPr>
          <p:cNvSpPr/>
          <p:nvPr/>
        </p:nvSpPr>
        <p:spPr>
          <a:xfrm>
            <a:off x="6731508" y="3829054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7B9757-2429-0873-571D-C1E00E0F4BB6}"/>
              </a:ext>
            </a:extLst>
          </p:cNvPr>
          <p:cNvSpPr/>
          <p:nvPr/>
        </p:nvSpPr>
        <p:spPr>
          <a:xfrm>
            <a:off x="7518002" y="3819802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2E2804C-05AB-D24F-3AA7-29549BEF0932}"/>
              </a:ext>
            </a:extLst>
          </p:cNvPr>
          <p:cNvSpPr/>
          <p:nvPr/>
        </p:nvSpPr>
        <p:spPr>
          <a:xfrm>
            <a:off x="5957261" y="3819802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0A2AD2-BA5D-1042-8B9C-8DD2A13B09F6}"/>
              </a:ext>
            </a:extLst>
          </p:cNvPr>
          <p:cNvSpPr/>
          <p:nvPr/>
        </p:nvSpPr>
        <p:spPr>
          <a:xfrm>
            <a:off x="8696379" y="4210050"/>
            <a:ext cx="990600" cy="310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B4BD84E-00BD-457C-213A-79D8BC17E0DF}"/>
              </a:ext>
            </a:extLst>
          </p:cNvPr>
          <p:cNvSpPr/>
          <p:nvPr/>
        </p:nvSpPr>
        <p:spPr>
          <a:xfrm>
            <a:off x="6780493" y="421712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578DD24-3E2C-684E-791F-1F521CA77348}"/>
              </a:ext>
            </a:extLst>
          </p:cNvPr>
          <p:cNvSpPr/>
          <p:nvPr/>
        </p:nvSpPr>
        <p:spPr>
          <a:xfrm>
            <a:off x="7566987" y="4207875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668463-6269-16CD-2185-87494BD3DA4C}"/>
              </a:ext>
            </a:extLst>
          </p:cNvPr>
          <p:cNvSpPr/>
          <p:nvPr/>
        </p:nvSpPr>
        <p:spPr>
          <a:xfrm>
            <a:off x="6006246" y="4207875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BAA8AE4-A3E3-45B4-3BAC-5FA6E1B5AC6D}"/>
              </a:ext>
            </a:extLst>
          </p:cNvPr>
          <p:cNvSpPr/>
          <p:nvPr/>
        </p:nvSpPr>
        <p:spPr>
          <a:xfrm>
            <a:off x="8723593" y="4603022"/>
            <a:ext cx="990600" cy="310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BA64232-219A-2D11-6A0F-8AF357A7F406}"/>
              </a:ext>
            </a:extLst>
          </p:cNvPr>
          <p:cNvSpPr/>
          <p:nvPr/>
        </p:nvSpPr>
        <p:spPr>
          <a:xfrm>
            <a:off x="6807707" y="4610099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C249215-26C1-548F-C4B3-4F3EB40E93FB}"/>
              </a:ext>
            </a:extLst>
          </p:cNvPr>
          <p:cNvSpPr/>
          <p:nvPr/>
        </p:nvSpPr>
        <p:spPr>
          <a:xfrm>
            <a:off x="7594201" y="460084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DECF813-2603-1917-EF87-4D417A8B20FF}"/>
              </a:ext>
            </a:extLst>
          </p:cNvPr>
          <p:cNvSpPr/>
          <p:nvPr/>
        </p:nvSpPr>
        <p:spPr>
          <a:xfrm>
            <a:off x="6033460" y="460084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86C0033-96C5-594A-F2C2-8FBF55627846}"/>
              </a:ext>
            </a:extLst>
          </p:cNvPr>
          <p:cNvSpPr/>
          <p:nvPr/>
        </p:nvSpPr>
        <p:spPr>
          <a:xfrm>
            <a:off x="6791378" y="503899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4E7FE9E-8A47-F637-627E-AC2D7475197C}"/>
              </a:ext>
            </a:extLst>
          </p:cNvPr>
          <p:cNvSpPr/>
          <p:nvPr/>
        </p:nvSpPr>
        <p:spPr>
          <a:xfrm>
            <a:off x="7577872" y="5029745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D65B060-29CB-5A39-17FE-CFC0D891CE80}"/>
              </a:ext>
            </a:extLst>
          </p:cNvPr>
          <p:cNvSpPr/>
          <p:nvPr/>
        </p:nvSpPr>
        <p:spPr>
          <a:xfrm>
            <a:off x="8723592" y="5408566"/>
            <a:ext cx="990600" cy="310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A3D161B-71A1-4A90-124F-C7E1953FA471}"/>
              </a:ext>
            </a:extLst>
          </p:cNvPr>
          <p:cNvSpPr/>
          <p:nvPr/>
        </p:nvSpPr>
        <p:spPr>
          <a:xfrm>
            <a:off x="6807706" y="5415643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8E7F106-F109-08C4-E9C4-80BE07CFBB1A}"/>
              </a:ext>
            </a:extLst>
          </p:cNvPr>
          <p:cNvSpPr/>
          <p:nvPr/>
        </p:nvSpPr>
        <p:spPr>
          <a:xfrm>
            <a:off x="7594200" y="540639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6C8AC1B-48BA-4CAB-15A6-3E9EF003B86C}"/>
              </a:ext>
            </a:extLst>
          </p:cNvPr>
          <p:cNvCxnSpPr/>
          <p:nvPr/>
        </p:nvCxnSpPr>
        <p:spPr>
          <a:xfrm>
            <a:off x="6033460" y="1723753"/>
            <a:ext cx="964748" cy="26969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4FBA678-9926-31A0-712C-11D878BD15CE}"/>
              </a:ext>
            </a:extLst>
          </p:cNvPr>
          <p:cNvCxnSpPr/>
          <p:nvPr/>
        </p:nvCxnSpPr>
        <p:spPr>
          <a:xfrm>
            <a:off x="6118502" y="2835729"/>
            <a:ext cx="964748" cy="23621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0A68C85-9593-F63D-E4B7-5A6A2A3AC067}"/>
              </a:ext>
            </a:extLst>
          </p:cNvPr>
          <p:cNvCxnSpPr/>
          <p:nvPr/>
        </p:nvCxnSpPr>
        <p:spPr>
          <a:xfrm>
            <a:off x="6183818" y="3235369"/>
            <a:ext cx="964748" cy="26969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7916A8AE-6FDE-4649-730C-650BC64D1E02}"/>
              </a:ext>
            </a:extLst>
          </p:cNvPr>
          <p:cNvSpPr/>
          <p:nvPr/>
        </p:nvSpPr>
        <p:spPr>
          <a:xfrm>
            <a:off x="1530143" y="4915989"/>
            <a:ext cx="3742680" cy="8975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Implementation of a desk calculator with bottom  up parser 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3C4EF12-1D78-FC7A-52ED-874B4608E745}"/>
              </a:ext>
            </a:extLst>
          </p:cNvPr>
          <p:cNvSpPr/>
          <p:nvPr/>
        </p:nvSpPr>
        <p:spPr>
          <a:xfrm>
            <a:off x="6103165" y="5789571"/>
            <a:ext cx="3742680" cy="4686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Move made by translator</a:t>
            </a:r>
          </a:p>
        </p:txBody>
      </p:sp>
    </p:spTree>
    <p:extLst>
      <p:ext uri="{BB962C8B-B14F-4D97-AF65-F5344CB8AC3E}">
        <p14:creationId xmlns:p14="http://schemas.microsoft.com/office/powerpoint/2010/main" val="285140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xit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3" grpId="0"/>
      <p:bldP spid="5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C6161-8392-6F80-41C8-E3CE79A18F7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L-Attributed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2E0799-0694-AC51-FF3A-B18E631799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A syntax directed definition is L-attributed if each inherited attribute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1&lt;=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on the right side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depends only on:</a:t>
                </a:r>
              </a:p>
              <a:p>
                <a:pPr marL="1001712" lvl="1" indent="-457200">
                  <a:buFont typeface="+mj-lt"/>
                  <a:buAutoNum type="arabicPeriod"/>
                </a:pPr>
                <a:r>
                  <a:rPr lang="en-US" dirty="0"/>
                  <a:t>The attributes of the symbols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baseline="-25000" dirty="0"/>
                  <a:t>j</a:t>
                </a:r>
                <a:r>
                  <a:rPr lang="en-US" i="1" baseline="-10000" dirty="0"/>
                  <a:t>-</a:t>
                </a:r>
                <a:r>
                  <a:rPr lang="en-US" i="1" baseline="-25000" dirty="0"/>
                  <a:t>1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the left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in the production and</a:t>
                </a:r>
              </a:p>
              <a:p>
                <a:pPr marL="1001712" lvl="1" indent="-457200">
                  <a:buFont typeface="+mj-lt"/>
                  <a:buAutoNum type="arabicPeriod"/>
                </a:pPr>
                <a:r>
                  <a:rPr lang="en-US" dirty="0"/>
                  <a:t>The inherited attribute of A.</a:t>
                </a:r>
              </a:p>
              <a:p>
                <a:r>
                  <a:rPr lang="en-US" dirty="0"/>
                  <a:t>Example: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Above syntax directed definition is </a:t>
                </a:r>
                <a:r>
                  <a:rPr lang="en-US" i="1" dirty="0">
                    <a:solidFill>
                      <a:srgbClr val="C00000"/>
                    </a:solidFill>
                  </a:rPr>
                  <a:t>not L-attributed </a:t>
                </a:r>
                <a:r>
                  <a:rPr lang="en-US" dirty="0"/>
                  <a:t>because the inherited attribute </a:t>
                </a:r>
                <a:r>
                  <a:rPr lang="en-US" dirty="0" err="1"/>
                  <a:t>Q.i</a:t>
                </a:r>
                <a:r>
                  <a:rPr lang="en-US" dirty="0"/>
                  <a:t> of the grammar symbol Q depends on the attribute R.s of the grammar symbol to its right.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2E0799-0694-AC51-FF3A-B18E63179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920" t="-2072" r="-1074" b="-101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31D38E-B6C5-BF95-67C0-93F8928C3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599121"/>
              </p:ext>
            </p:extLst>
          </p:nvPr>
        </p:nvGraphicFramePr>
        <p:xfrm>
          <a:off x="6047232" y="2367280"/>
          <a:ext cx="3757865" cy="267411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78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solidFill>
                            <a:srgbClr val="0E47A1"/>
                          </a:solidFill>
                          <a:effectLst/>
                        </a:rPr>
                        <a:t>Production</a:t>
                      </a:r>
                      <a:endParaRPr lang="en-US" sz="2200">
                        <a:solidFill>
                          <a:srgbClr val="0E47A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solidFill>
                            <a:srgbClr val="0E47A1"/>
                          </a:solidFill>
                          <a:effectLst/>
                        </a:rPr>
                        <a:t>Semantic Rules</a:t>
                      </a:r>
                      <a:endParaRPr lang="en-US" sz="2200">
                        <a:solidFill>
                          <a:srgbClr val="0E47A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dirty="0">
                          <a:effectLst/>
                        </a:rPr>
                        <a:t>A</a:t>
                      </a:r>
                      <a:r>
                        <a:rPr lang="en-US" sz="2200" dirty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200" dirty="0">
                          <a:effectLst/>
                        </a:rPr>
                        <a:t>LM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err="1">
                          <a:effectLst/>
                        </a:rPr>
                        <a:t>L.i:=l(A.i)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err="1">
                          <a:effectLst/>
                        </a:rPr>
                        <a:t>M.i=m(L.s)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</a:rPr>
                        <a:t>A.s=f(M.s)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</a:rPr>
                        <a:t>A</a:t>
                      </a:r>
                      <a:r>
                        <a:rPr lang="en-US" sz="220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200">
                          <a:effectLst/>
                        </a:rPr>
                        <a:t>QR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</a:rPr>
                        <a:t> 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dirty="0" err="1">
                          <a:effectLst/>
                        </a:rPr>
                        <a:t>R.i</a:t>
                      </a:r>
                      <a:r>
                        <a:rPr lang="en-US" sz="2200" dirty="0">
                          <a:effectLst/>
                        </a:rPr>
                        <a:t>=r(</a:t>
                      </a:r>
                      <a:r>
                        <a:rPr lang="en-US" sz="2200" dirty="0" err="1">
                          <a:effectLst/>
                        </a:rPr>
                        <a:t>A.i</a:t>
                      </a:r>
                      <a:r>
                        <a:rPr lang="en-US" sz="2200" dirty="0">
                          <a:effectLst/>
                        </a:rPr>
                        <a:t>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dirty="0" err="1">
                          <a:effectLst/>
                        </a:rPr>
                        <a:t>Q.i</a:t>
                      </a:r>
                      <a:r>
                        <a:rPr lang="en-US" sz="2200" dirty="0">
                          <a:effectLst/>
                        </a:rPr>
                        <a:t>=q(R.s)</a:t>
                      </a: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sym typeface="Webdings" panose="05030102010509060703" pitchFamily="18" charset="2"/>
                        </a:rPr>
                        <a:t>  </a:t>
                      </a:r>
                      <a:r>
                        <a:rPr lang="en-US" sz="2200" dirty="0">
                          <a:effectLst/>
                        </a:rPr>
                        <a:t>A.s=f(Q.s)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3717A5BB-00A1-AD58-6A40-DFD6B63D3402}"/>
              </a:ext>
            </a:extLst>
          </p:cNvPr>
          <p:cNvCxnSpPr/>
          <p:nvPr/>
        </p:nvCxnSpPr>
        <p:spPr>
          <a:xfrm rot="5400000" flipV="1">
            <a:off x="3630220" y="3553883"/>
            <a:ext cx="12700" cy="68580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1189F877-D46E-4727-EED9-78A1F03B75F8}"/>
              </a:ext>
            </a:extLst>
          </p:cNvPr>
          <p:cNvCxnSpPr/>
          <p:nvPr/>
        </p:nvCxnSpPr>
        <p:spPr>
          <a:xfrm rot="5400000" flipV="1">
            <a:off x="3720443" y="3479937"/>
            <a:ext cx="12700" cy="86868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6DA2D39F-8E6A-D8B5-EA40-60264C48946D}"/>
              </a:ext>
            </a:extLst>
          </p:cNvPr>
          <p:cNvCxnSpPr/>
          <p:nvPr/>
        </p:nvCxnSpPr>
        <p:spPr>
          <a:xfrm rot="5400000" flipV="1">
            <a:off x="3811882" y="3408367"/>
            <a:ext cx="12700" cy="105156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6D35B558-FD2D-C881-8B5B-9C301290514E}"/>
              </a:ext>
            </a:extLst>
          </p:cNvPr>
          <p:cNvCxnSpPr/>
          <p:nvPr/>
        </p:nvCxnSpPr>
        <p:spPr>
          <a:xfrm rot="16200000" flipV="1">
            <a:off x="4193869" y="3251501"/>
            <a:ext cx="12700" cy="50292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F9D59EA0-E35B-AE75-7C82-4B0EC06CC626}"/>
              </a:ext>
            </a:extLst>
          </p:cNvPr>
          <p:cNvCxnSpPr/>
          <p:nvPr/>
        </p:nvCxnSpPr>
        <p:spPr>
          <a:xfrm rot="16200000" flipV="1">
            <a:off x="4273757" y="3362402"/>
            <a:ext cx="12700" cy="32004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BE2B0F24-32DA-9FD0-B4F4-86E4178D4013}"/>
              </a:ext>
            </a:extLst>
          </p:cNvPr>
          <p:cNvCxnSpPr/>
          <p:nvPr/>
        </p:nvCxnSpPr>
        <p:spPr>
          <a:xfrm rot="5400000" flipV="1">
            <a:off x="4166831" y="3685964"/>
            <a:ext cx="12700" cy="50292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610F38D-F731-F9B2-8520-41BB2FCC04DB}"/>
              </a:ext>
            </a:extLst>
          </p:cNvPr>
          <p:cNvSpPr/>
          <p:nvPr/>
        </p:nvSpPr>
        <p:spPr>
          <a:xfrm>
            <a:off x="2396747" y="4404189"/>
            <a:ext cx="3048001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0E47A1"/>
                </a:solidFill>
              </a:rPr>
              <a:t>L- Attributed</a:t>
            </a:r>
            <a:r>
              <a:rPr lang="en-US" sz="3200" b="1">
                <a:solidFill>
                  <a:srgbClr val="0E47A1"/>
                </a:solidFill>
                <a:sym typeface="Webdings" panose="05030102010509060703" pitchFamily="18" charset="2"/>
              </a:rPr>
              <a:t></a:t>
            </a:r>
            <a:r>
              <a:rPr lang="en-US" sz="2600" b="1">
                <a:solidFill>
                  <a:srgbClr val="0E47A1"/>
                </a:solidFill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2696DA-887F-1BF8-9DD1-A1FBDAE0E45D}"/>
              </a:ext>
            </a:extLst>
          </p:cNvPr>
          <p:cNvSpPr/>
          <p:nvPr/>
        </p:nvSpPr>
        <p:spPr>
          <a:xfrm>
            <a:off x="2202792" y="4404189"/>
            <a:ext cx="3048001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C00000"/>
                </a:solidFill>
              </a:rPr>
              <a:t>Not L- Attributed</a:t>
            </a:r>
            <a:r>
              <a:rPr lang="en-US" sz="3200" b="1">
                <a:solidFill>
                  <a:srgbClr val="C00000"/>
                </a:solidFill>
                <a:sym typeface="Webdings" panose="05030102010509060703" pitchFamily="18" charset="2"/>
              </a:rPr>
              <a:t></a:t>
            </a:r>
            <a:r>
              <a:rPr lang="en-US" sz="2600" b="1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ED4B84-B985-35C4-3C57-2CDADBDA2954}"/>
              </a:ext>
            </a:extLst>
          </p:cNvPr>
          <p:cNvSpPr/>
          <p:nvPr/>
        </p:nvSpPr>
        <p:spPr>
          <a:xfrm>
            <a:off x="2784864" y="3389376"/>
            <a:ext cx="20574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>
                <a:solidFill>
                  <a:schemeClr val="tx1"/>
                </a:solidFill>
              </a:rPr>
              <a:t>A</a:t>
            </a:r>
            <a:r>
              <a:rPr lang="en-US" sz="3600">
                <a:solidFill>
                  <a:schemeClr val="tx1"/>
                </a:solidFill>
                <a:sym typeface="Wingdings" panose="05000000000000000000" pitchFamily="2" charset="2"/>
              </a:rPr>
              <a:t>XYZ</a:t>
            </a:r>
            <a:endParaRPr lang="en-US" sz="360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EB6FB6-17A9-998E-0A0A-ED1C3DD38FD3}"/>
              </a:ext>
            </a:extLst>
          </p:cNvPr>
          <p:cNvSpPr/>
          <p:nvPr/>
        </p:nvSpPr>
        <p:spPr>
          <a:xfrm>
            <a:off x="7571232" y="4347318"/>
            <a:ext cx="1219200" cy="304800"/>
          </a:xfrm>
          <a:prstGeom prst="rect">
            <a:avLst/>
          </a:prstGeom>
          <a:solidFill>
            <a:srgbClr val="0972C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52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dur="5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dur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dur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dur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1" grpId="2"/>
      <p:bldP spid="11" grpId="3"/>
      <p:bldP spid="12" grpId="0"/>
      <p:bldP spid="12" grpId="1"/>
      <p:bldP spid="13" grpId="0"/>
      <p:bldP spid="13" grpId="1"/>
      <p:bldP spid="1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C6161-8392-6F80-41C8-E3CE79A18F7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L-Attributed definitions</a:t>
            </a:r>
          </a:p>
        </p:txBody>
      </p:sp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EE62C624-F737-AD2E-C615-989DAED017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6964024"/>
              </p:ext>
            </p:extLst>
          </p:nvPr>
        </p:nvGraphicFramePr>
        <p:xfrm>
          <a:off x="2098363" y="1394440"/>
          <a:ext cx="1455327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5327">
                  <a:extLst>
                    <a:ext uri="{9D8B030D-6E8A-4147-A177-3AD203B41FA5}">
                      <a16:colId xmlns:a16="http://schemas.microsoft.com/office/drawing/2014/main" val="31116076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Production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657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FT’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361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T’  *FT1’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957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l-G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ε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893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F 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digit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483024"/>
                  </a:ext>
                </a:extLst>
              </a:tr>
            </a:tbl>
          </a:graphicData>
        </a:graphic>
      </p:graphicFrame>
      <p:graphicFrame>
        <p:nvGraphicFramePr>
          <p:cNvPr id="16" name="Table 4">
            <a:extLst>
              <a:ext uri="{FF2B5EF4-FFF2-40B4-BE49-F238E27FC236}">
                <a16:creationId xmlns:a16="http://schemas.microsoft.com/office/drawing/2014/main" id="{95A549B9-617A-3E4E-DCAB-4DCA320E51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6804841"/>
              </p:ext>
            </p:extLst>
          </p:nvPr>
        </p:nvGraphicFramePr>
        <p:xfrm>
          <a:off x="453136" y="3525044"/>
          <a:ext cx="5962650" cy="2667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2075">
                  <a:extLst>
                    <a:ext uri="{9D8B030D-6E8A-4147-A177-3AD203B41FA5}">
                      <a16:colId xmlns:a16="http://schemas.microsoft.com/office/drawing/2014/main" val="3111607664"/>
                    </a:ext>
                  </a:extLst>
                </a:gridCol>
                <a:gridCol w="4600575">
                  <a:extLst>
                    <a:ext uri="{9D8B030D-6E8A-4147-A177-3AD203B41FA5}">
                      <a16:colId xmlns:a16="http://schemas.microsoft.com/office/drawing/2014/main" val="1782031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Prodn</a:t>
                      </a:r>
                      <a:r>
                        <a:rPr lang="en-US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.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Semantic rules/action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657163"/>
                  </a:ext>
                </a:extLst>
              </a:tr>
              <a:tr h="246856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FT’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361878"/>
                  </a:ext>
                </a:extLst>
              </a:tr>
              <a:tr h="226074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T’  *FT1’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957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l-G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ε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893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F 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digit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48302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29A3E63-C8D5-BE84-2D89-6FF68B82BE2E}"/>
              </a:ext>
            </a:extLst>
          </p:cNvPr>
          <p:cNvSpPr txBox="1"/>
          <p:nvPr/>
        </p:nvSpPr>
        <p:spPr>
          <a:xfrm>
            <a:off x="342598" y="874145"/>
            <a:ext cx="4966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Annotate the given grammar to perform 3*5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91D4B24-2ED2-2BEF-A03B-591E8AE99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977" y="1185280"/>
            <a:ext cx="4408845" cy="50680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8C76CF-504C-988D-5EFE-12BF67E6699A}"/>
              </a:ext>
            </a:extLst>
          </p:cNvPr>
          <p:cNvSpPr txBox="1"/>
          <p:nvPr/>
        </p:nvSpPr>
        <p:spPr>
          <a:xfrm>
            <a:off x="1797627" y="5822712"/>
            <a:ext cx="2462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 err="1">
                <a:solidFill>
                  <a:srgbClr val="000099"/>
                </a:solidFill>
                <a:latin typeface="Palatino Linotype" panose="02040502050505030304" pitchFamily="18" charset="0"/>
              </a:rPr>
              <a:t>F.val</a:t>
            </a:r>
            <a:r>
              <a:rPr lang="en-IN" dirty="0">
                <a:solidFill>
                  <a:srgbClr val="000099"/>
                </a:solidFill>
                <a:latin typeface="Palatino Linotype" panose="02040502050505030304" pitchFamily="18" charset="0"/>
              </a:rPr>
              <a:t> = </a:t>
            </a:r>
            <a:r>
              <a:rPr lang="en-IN" dirty="0" err="1">
                <a:solidFill>
                  <a:srgbClr val="000099"/>
                </a:solidFill>
                <a:latin typeface="Palatino Linotype" panose="02040502050505030304" pitchFamily="18" charset="0"/>
              </a:rPr>
              <a:t>digit.lexval</a:t>
            </a:r>
            <a:endParaRPr lang="en-IN" dirty="0">
              <a:solidFill>
                <a:srgbClr val="000099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80B72B-EE19-F4B0-33DC-4D1CE9E89BC7}"/>
              </a:ext>
            </a:extLst>
          </p:cNvPr>
          <p:cNvSpPr txBox="1"/>
          <p:nvPr/>
        </p:nvSpPr>
        <p:spPr>
          <a:xfrm>
            <a:off x="1908161" y="4027581"/>
            <a:ext cx="2462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99"/>
                </a:solidFill>
                <a:latin typeface="Palatino Linotype" panose="02040502050505030304" pitchFamily="18" charset="0"/>
              </a:rPr>
              <a:t>T’.</a:t>
            </a:r>
            <a:r>
              <a:rPr lang="en-IN" dirty="0" err="1">
                <a:solidFill>
                  <a:srgbClr val="000099"/>
                </a:solidFill>
                <a:latin typeface="Palatino Linotype" panose="02040502050505030304" pitchFamily="18" charset="0"/>
              </a:rPr>
              <a:t>i</a:t>
            </a:r>
            <a:r>
              <a:rPr lang="en-IN" dirty="0">
                <a:solidFill>
                  <a:srgbClr val="000099"/>
                </a:solidFill>
                <a:latin typeface="Palatino Linotype" panose="02040502050505030304" pitchFamily="18" charset="0"/>
              </a:rPr>
              <a:t> = </a:t>
            </a:r>
            <a:r>
              <a:rPr lang="en-IN" dirty="0" err="1">
                <a:solidFill>
                  <a:srgbClr val="000099"/>
                </a:solidFill>
                <a:latin typeface="Palatino Linotype" panose="02040502050505030304" pitchFamily="18" charset="0"/>
              </a:rPr>
              <a:t>F.val</a:t>
            </a:r>
            <a:endParaRPr lang="en-IN" dirty="0">
              <a:solidFill>
                <a:srgbClr val="000099"/>
              </a:solidFill>
              <a:latin typeface="Palatino Linotype" panose="02040502050505030304" pitchFamily="18" charset="0"/>
            </a:endParaRPr>
          </a:p>
          <a:p>
            <a:r>
              <a:rPr lang="en-IN" dirty="0" err="1">
                <a:solidFill>
                  <a:srgbClr val="000099"/>
                </a:solidFill>
                <a:latin typeface="Palatino Linotype" panose="02040502050505030304" pitchFamily="18" charset="0"/>
              </a:rPr>
              <a:t>T.Val</a:t>
            </a:r>
            <a:r>
              <a:rPr lang="en-IN" dirty="0">
                <a:solidFill>
                  <a:srgbClr val="000099"/>
                </a:solidFill>
                <a:latin typeface="Palatino Linotype" panose="02040502050505030304" pitchFamily="18" charset="0"/>
              </a:rPr>
              <a:t> = T’.s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38B37-CC76-6FCD-F5CD-6DE3BFE0A953}"/>
              </a:ext>
            </a:extLst>
          </p:cNvPr>
          <p:cNvSpPr txBox="1"/>
          <p:nvPr/>
        </p:nvSpPr>
        <p:spPr>
          <a:xfrm>
            <a:off x="1887378" y="4819043"/>
            <a:ext cx="2462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99"/>
                </a:solidFill>
                <a:latin typeface="Palatino Linotype" panose="02040502050505030304" pitchFamily="18" charset="0"/>
              </a:rPr>
              <a:t>T’.</a:t>
            </a:r>
            <a:r>
              <a:rPr lang="en-IN" dirty="0" err="1">
                <a:solidFill>
                  <a:srgbClr val="000099"/>
                </a:solidFill>
                <a:latin typeface="Palatino Linotype" panose="02040502050505030304" pitchFamily="18" charset="0"/>
              </a:rPr>
              <a:t>i</a:t>
            </a:r>
            <a:r>
              <a:rPr lang="en-IN" dirty="0">
                <a:solidFill>
                  <a:srgbClr val="000099"/>
                </a:solidFill>
                <a:latin typeface="Palatino Linotype" panose="02040502050505030304" pitchFamily="18" charset="0"/>
              </a:rPr>
              <a:t> = T’.</a:t>
            </a:r>
            <a:r>
              <a:rPr lang="en-IN" dirty="0" err="1">
                <a:solidFill>
                  <a:srgbClr val="000099"/>
                </a:solidFill>
                <a:latin typeface="Palatino Linotype" panose="02040502050505030304" pitchFamily="18" charset="0"/>
              </a:rPr>
              <a:t>i</a:t>
            </a:r>
            <a:r>
              <a:rPr lang="en-IN" dirty="0">
                <a:solidFill>
                  <a:srgbClr val="000099"/>
                </a:solidFill>
                <a:latin typeface="Palatino Linotype" panose="02040502050505030304" pitchFamily="18" charset="0"/>
              </a:rPr>
              <a:t> * </a:t>
            </a:r>
            <a:r>
              <a:rPr lang="en-IN" dirty="0" err="1">
                <a:solidFill>
                  <a:srgbClr val="000099"/>
                </a:solidFill>
                <a:latin typeface="Palatino Linotype" panose="02040502050505030304" pitchFamily="18" charset="0"/>
              </a:rPr>
              <a:t>F.val</a:t>
            </a:r>
            <a:endParaRPr lang="en-IN" dirty="0">
              <a:solidFill>
                <a:srgbClr val="000099"/>
              </a:solidFill>
              <a:latin typeface="Palatino Linotype" panose="02040502050505030304" pitchFamily="18" charset="0"/>
            </a:endParaRPr>
          </a:p>
          <a:p>
            <a:r>
              <a:rPr lang="en-IN" dirty="0">
                <a:solidFill>
                  <a:srgbClr val="000099"/>
                </a:solidFill>
                <a:latin typeface="Palatino Linotype" panose="02040502050505030304" pitchFamily="18" charset="0"/>
              </a:rPr>
              <a:t>T’.s = T1’.s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A50ECF-3ED2-BCC0-984F-356475999173}"/>
              </a:ext>
            </a:extLst>
          </p:cNvPr>
          <p:cNvSpPr txBox="1"/>
          <p:nvPr/>
        </p:nvSpPr>
        <p:spPr>
          <a:xfrm>
            <a:off x="1887378" y="5425839"/>
            <a:ext cx="2462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srgbClr val="000099"/>
                </a:solidFill>
                <a:latin typeface="Palatino Linotype" panose="02040502050505030304" pitchFamily="18" charset="0"/>
              </a:rPr>
              <a:t>T’.s = T’.</a:t>
            </a:r>
            <a:r>
              <a:rPr lang="en-IN" dirty="0" err="1">
                <a:solidFill>
                  <a:srgbClr val="000099"/>
                </a:solidFill>
                <a:latin typeface="Palatino Linotype" panose="02040502050505030304" pitchFamily="18" charset="0"/>
              </a:rPr>
              <a:t>i</a:t>
            </a:r>
            <a:endParaRPr lang="en-IN" dirty="0">
              <a:solidFill>
                <a:srgbClr val="000099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2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C6161-8392-6F80-41C8-E3CE79A18F7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L-Attributed definitions</a:t>
            </a:r>
          </a:p>
        </p:txBody>
      </p:sp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EE62C624-F737-AD2E-C615-989DAED017AD}"/>
              </a:ext>
            </a:extLst>
          </p:cNvPr>
          <p:cNvGraphicFramePr>
            <a:graphicFrameLocks/>
          </p:cNvGraphicFramePr>
          <p:nvPr/>
        </p:nvGraphicFramePr>
        <p:xfrm>
          <a:off x="2098363" y="1394440"/>
          <a:ext cx="1455327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5327">
                  <a:extLst>
                    <a:ext uri="{9D8B030D-6E8A-4147-A177-3AD203B41FA5}">
                      <a16:colId xmlns:a16="http://schemas.microsoft.com/office/drawing/2014/main" val="31116076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Production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657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FT’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361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T’  *FT’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957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l-G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ε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893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F 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digit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483024"/>
                  </a:ext>
                </a:extLst>
              </a:tr>
            </a:tbl>
          </a:graphicData>
        </a:graphic>
      </p:graphicFrame>
      <p:graphicFrame>
        <p:nvGraphicFramePr>
          <p:cNvPr id="16" name="Table 4">
            <a:extLst>
              <a:ext uri="{FF2B5EF4-FFF2-40B4-BE49-F238E27FC236}">
                <a16:creationId xmlns:a16="http://schemas.microsoft.com/office/drawing/2014/main" id="{95A549B9-617A-3E4E-DCAB-4DCA320E51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768457"/>
              </p:ext>
            </p:extLst>
          </p:nvPr>
        </p:nvGraphicFramePr>
        <p:xfrm>
          <a:off x="432354" y="3919899"/>
          <a:ext cx="4648801" cy="2661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1947">
                  <a:extLst>
                    <a:ext uri="{9D8B030D-6E8A-4147-A177-3AD203B41FA5}">
                      <a16:colId xmlns:a16="http://schemas.microsoft.com/office/drawing/2014/main" val="3111607664"/>
                    </a:ext>
                  </a:extLst>
                </a:gridCol>
                <a:gridCol w="3586854">
                  <a:extLst>
                    <a:ext uri="{9D8B030D-6E8A-4147-A177-3AD203B41FA5}">
                      <a16:colId xmlns:a16="http://schemas.microsoft.com/office/drawing/2014/main" val="1782031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Prodn</a:t>
                      </a:r>
                      <a:r>
                        <a:rPr lang="en-US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.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Semantic rules/action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657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FT’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T’.</a:t>
                      </a:r>
                      <a:r>
                        <a:rPr lang="en-IN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i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 = </a:t>
                      </a:r>
                      <a:r>
                        <a:rPr lang="en-IN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F.val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r>
                        <a:rPr lang="en-IN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T.Val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 = T’.s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361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T’  *FT’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T’.</a:t>
                      </a:r>
                      <a:r>
                        <a:rPr lang="en-IN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i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 = T’.</a:t>
                      </a:r>
                      <a:r>
                        <a:rPr lang="en-IN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i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 * </a:t>
                      </a:r>
                      <a:r>
                        <a:rPr lang="en-IN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F.val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T’.s = T1’.s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957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l-G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ε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T’.s = T’.</a:t>
                      </a:r>
                      <a:r>
                        <a:rPr lang="en-IN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i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893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F 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digit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F.val</a:t>
                      </a:r>
                      <a:r>
                        <a:rPr lang="en-IN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 = </a:t>
                      </a:r>
                      <a:r>
                        <a:rPr lang="en-IN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digit.lexval</a:t>
                      </a:r>
                      <a:endParaRPr lang="en-IN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48302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29A3E63-C8D5-BE84-2D89-6FF68B82BE2E}"/>
              </a:ext>
            </a:extLst>
          </p:cNvPr>
          <p:cNvSpPr txBox="1"/>
          <p:nvPr/>
        </p:nvSpPr>
        <p:spPr>
          <a:xfrm>
            <a:off x="342598" y="874145"/>
            <a:ext cx="4966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Annotate the given grammar to perform 3*5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A02A30-E776-D152-CD07-714D764CE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182" y="874145"/>
            <a:ext cx="6504709" cy="570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D765A6-FCE6-3935-9C1A-6247A5E88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7" y="294837"/>
            <a:ext cx="11536385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6814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296F3-94E2-5820-A6B6-55199559F3A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3600" dirty="0"/>
              <a:t>Example: Translation scheme (</a:t>
            </a:r>
            <a:r>
              <a:rPr lang="en-US" sz="3600" dirty="0">
                <a:solidFill>
                  <a:schemeClr val="tx1"/>
                </a:solidFill>
              </a:rPr>
              <a:t>Infix to postfix notation</a:t>
            </a:r>
            <a:r>
              <a:rPr lang="en-US" sz="36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6D34B2-9C5A-BEBC-8821-83B8C23302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39500" y="860878"/>
                <a:ext cx="7189853" cy="136548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E</a:t>
                </a:r>
                <a:r>
                  <a:rPr lang="en-US" dirty="0">
                    <a:sym typeface="Wingdings" panose="05000000000000000000" pitchFamily="2" charset="2"/>
                  </a:rPr>
                  <a:t></a:t>
                </a:r>
                <a:r>
                  <a:rPr lang="en-US" dirty="0"/>
                  <a:t>TR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R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b="1" i="1" dirty="0" err="1">
                    <a:sym typeface="Wingdings" panose="05000000000000000000" pitchFamily="2" charset="2"/>
                  </a:rPr>
                  <a:t>addop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𝑃𝑟𝑖𝑛𝑡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r>
                              <a:rPr lang="en-US" i="1" err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𝑎𝑑𝑑𝑜𝑝</m:t>
                            </m:r>
                            <m:r>
                              <a:rPr lang="en-US" i="1" err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.</m:t>
                            </m:r>
                            <m:r>
                              <a:rPr lang="en-US" i="1" err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𝑙𝑒𝑥𝑒𝑚𝑒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R1 |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𝜖</a:t>
                </a: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T </a:t>
                </a:r>
                <a:r>
                  <a:rPr lang="en-US" b="1" i="1" dirty="0">
                    <a:sym typeface="Wingdings" panose="05000000000000000000" pitchFamily="2" charset="2"/>
                  </a:rPr>
                  <a:t>num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𝑃𝑟𝑖𝑛𝑡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𝑛𝑢𝑚</m:t>
                            </m:r>
                            <m:r>
                              <a:rPr lang="en-US" i="1" err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.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𝑣𝑎𝑙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6D34B2-9C5A-BEBC-8821-83B8C2330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500" y="860878"/>
                <a:ext cx="7189853" cy="1365485"/>
              </a:xfrm>
              <a:prstGeom prst="rect">
                <a:avLst/>
              </a:prstGeom>
              <a:blipFill>
                <a:blip r:embed="rId2"/>
                <a:stretch>
                  <a:fillRect l="-1781" t="-8482" b="-223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9F71792-F47D-F572-AED1-FCB52AB71A23}"/>
              </a:ext>
            </a:extLst>
          </p:cNvPr>
          <p:cNvSpPr/>
          <p:nvPr/>
        </p:nvSpPr>
        <p:spPr>
          <a:xfrm>
            <a:off x="-96478" y="883123"/>
            <a:ext cx="2313317" cy="511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C00000"/>
                </a:solidFill>
              </a:rPr>
              <a:t>String: 9-5+2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02AE76-C7D5-E663-A62A-F0C683DC5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8478" y="1537622"/>
            <a:ext cx="1038225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6" name="AutoShape 10">
            <a:extLst>
              <a:ext uri="{FF2B5EF4-FFF2-40B4-BE49-F238E27FC236}">
                <a16:creationId xmlns:a16="http://schemas.microsoft.com/office/drawing/2014/main" id="{0D805F48-FD7D-3615-B226-955B3028301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66388" y="1941754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AutoShape 11">
            <a:extLst>
              <a:ext uri="{FF2B5EF4-FFF2-40B4-BE49-F238E27FC236}">
                <a16:creationId xmlns:a16="http://schemas.microsoft.com/office/drawing/2014/main" id="{228A6B49-1EE5-E786-63A5-6420309887B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819075" y="1943937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Rectangle 14">
            <a:extLst>
              <a:ext uri="{FF2B5EF4-FFF2-40B4-BE49-F238E27FC236}">
                <a16:creationId xmlns:a16="http://schemas.microsoft.com/office/drawing/2014/main" id="{12745057-64FF-68B5-2868-DD7B0A7EE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4940" y="2429602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9" name="Rectangle 32">
            <a:extLst>
              <a:ext uri="{FF2B5EF4-FFF2-40B4-BE49-F238E27FC236}">
                <a16:creationId xmlns:a16="http://schemas.microsoft.com/office/drawing/2014/main" id="{0CD04F51-FBE6-D39D-C9AC-A0A8061DA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8028" y="2352979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</a:t>
            </a:r>
          </a:p>
        </p:txBody>
      </p:sp>
      <p:cxnSp>
        <p:nvCxnSpPr>
          <p:cNvPr id="10" name="AutoShape 10">
            <a:extLst>
              <a:ext uri="{FF2B5EF4-FFF2-40B4-BE49-F238E27FC236}">
                <a16:creationId xmlns:a16="http://schemas.microsoft.com/office/drawing/2014/main" id="{704D4142-8541-69E9-BD27-3D5601F8FEB6}"/>
              </a:ext>
            </a:extLst>
          </p:cNvPr>
          <p:cNvCxnSpPr>
            <a:cxnSpLocks noChangeShapeType="1"/>
            <a:endCxn id="13" idx="0"/>
          </p:cNvCxnSpPr>
          <p:nvPr/>
        </p:nvCxnSpPr>
        <p:spPr bwMode="auto">
          <a:xfrm>
            <a:off x="4319796" y="2702462"/>
            <a:ext cx="2054188" cy="601843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1">
            <a:extLst>
              <a:ext uri="{FF2B5EF4-FFF2-40B4-BE49-F238E27FC236}">
                <a16:creationId xmlns:a16="http://schemas.microsoft.com/office/drawing/2014/main" id="{4F2D5C53-05AC-C2E6-51A3-45895170C030}"/>
              </a:ext>
            </a:extLst>
          </p:cNvPr>
          <p:cNvCxnSpPr>
            <a:cxnSpLocks noChangeShapeType="1"/>
            <a:endCxn id="12" idx="0"/>
          </p:cNvCxnSpPr>
          <p:nvPr/>
        </p:nvCxnSpPr>
        <p:spPr bwMode="auto">
          <a:xfrm flipH="1">
            <a:off x="3016498" y="2704645"/>
            <a:ext cx="1303761" cy="48566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Rectangle 14">
            <a:extLst>
              <a:ext uri="{FF2B5EF4-FFF2-40B4-BE49-F238E27FC236}">
                <a16:creationId xmlns:a16="http://schemas.microsoft.com/office/drawing/2014/main" id="{5B0C3115-4255-94E1-3788-4622855EE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8348" y="3190310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>
                <a:latin typeface="+mj-lt"/>
              </a:rPr>
              <a:t>-</a:t>
            </a:r>
            <a:endParaRPr kumimoji="0" lang="en-US" altLang="en-US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3" name="Rectangle 32">
            <a:extLst>
              <a:ext uri="{FF2B5EF4-FFF2-40B4-BE49-F238E27FC236}">
                <a16:creationId xmlns:a16="http://schemas.microsoft.com/office/drawing/2014/main" id="{CDF0458C-F2E0-9CA2-8ECB-497E8853E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5161" y="3304305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</a:t>
            </a:r>
          </a:p>
        </p:txBody>
      </p:sp>
      <p:cxnSp>
        <p:nvCxnSpPr>
          <p:cNvPr id="14" name="AutoShape 10">
            <a:extLst>
              <a:ext uri="{FF2B5EF4-FFF2-40B4-BE49-F238E27FC236}">
                <a16:creationId xmlns:a16="http://schemas.microsoft.com/office/drawing/2014/main" id="{7B444D87-DC39-02D1-44A9-11122DBC160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678478" y="4434633"/>
            <a:ext cx="0" cy="756658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Rectangle 32">
            <a:extLst>
              <a:ext uri="{FF2B5EF4-FFF2-40B4-BE49-F238E27FC236}">
                <a16:creationId xmlns:a16="http://schemas.microsoft.com/office/drawing/2014/main" id="{95C904E3-5520-7F45-4CC2-32385027F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9655" y="5150883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mbria Math" panose="02040503050406030204" pitchFamily="18" charset="0"/>
              </a:rPr>
              <a:t>𝜖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521D42-81ED-1313-6EB3-1B2E521F1411}"/>
              </a:ext>
            </a:extLst>
          </p:cNvPr>
          <p:cNvCxnSpPr/>
          <p:nvPr/>
        </p:nvCxnSpPr>
        <p:spPr>
          <a:xfrm flipH="1">
            <a:off x="1236504" y="2781604"/>
            <a:ext cx="469643" cy="54639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5C5791-A3C7-6145-B922-8B9D38A59584}"/>
              </a:ext>
            </a:extLst>
          </p:cNvPr>
          <p:cNvCxnSpPr/>
          <p:nvPr/>
        </p:nvCxnSpPr>
        <p:spPr>
          <a:xfrm>
            <a:off x="1777500" y="2781604"/>
            <a:ext cx="439339" cy="49787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4">
            <a:extLst>
              <a:ext uri="{FF2B5EF4-FFF2-40B4-BE49-F238E27FC236}">
                <a16:creationId xmlns:a16="http://schemas.microsoft.com/office/drawing/2014/main" id="{AF419D67-E366-DE60-864E-32FBC71AC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608" y="3327999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18159AD7-D3B2-61A0-938E-751078D58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6406" y="3339162"/>
            <a:ext cx="1104285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{Print(9)}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+mj-lt"/>
            </a:endParaRPr>
          </a:p>
        </p:txBody>
      </p:sp>
      <p:cxnSp>
        <p:nvCxnSpPr>
          <p:cNvPr id="20" name="AutoShape 11">
            <a:extLst>
              <a:ext uri="{FF2B5EF4-FFF2-40B4-BE49-F238E27FC236}">
                <a16:creationId xmlns:a16="http://schemas.microsoft.com/office/drawing/2014/main" id="{BBB5E7F5-A962-7647-C62E-5909089BB10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533688" y="2699406"/>
            <a:ext cx="792203" cy="599097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Rectangle 14">
            <a:extLst>
              <a:ext uri="{FF2B5EF4-FFF2-40B4-BE49-F238E27FC236}">
                <a16:creationId xmlns:a16="http://schemas.microsoft.com/office/drawing/2014/main" id="{89FA7E3A-CA86-E264-34EE-78DF1140F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7590" y="3308980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22" name="AutoShape 10">
            <a:extLst>
              <a:ext uri="{FF2B5EF4-FFF2-40B4-BE49-F238E27FC236}">
                <a16:creationId xmlns:a16="http://schemas.microsoft.com/office/drawing/2014/main" id="{6B734812-9E44-3E4A-4DD1-C64802E0E06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20258" y="2702461"/>
            <a:ext cx="519242" cy="625538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Rectangle 14">
            <a:extLst>
              <a:ext uri="{FF2B5EF4-FFF2-40B4-BE49-F238E27FC236}">
                <a16:creationId xmlns:a16="http://schemas.microsoft.com/office/drawing/2014/main" id="{3BB7B3DD-62A5-A436-7738-A0BF64795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1835" y="3330311"/>
            <a:ext cx="1104285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{Print(-)}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+mj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2CB685-E6D8-A4BB-79C4-ACA12B1D3358}"/>
              </a:ext>
            </a:extLst>
          </p:cNvPr>
          <p:cNvCxnSpPr/>
          <p:nvPr/>
        </p:nvCxnSpPr>
        <p:spPr>
          <a:xfrm flipH="1">
            <a:off x="3025175" y="3644025"/>
            <a:ext cx="469643" cy="54639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365827-31C6-98AD-9128-AEBF07F891A9}"/>
              </a:ext>
            </a:extLst>
          </p:cNvPr>
          <p:cNvCxnSpPr/>
          <p:nvPr/>
        </p:nvCxnSpPr>
        <p:spPr>
          <a:xfrm>
            <a:off x="3566171" y="3644025"/>
            <a:ext cx="439339" cy="49787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14">
            <a:extLst>
              <a:ext uri="{FF2B5EF4-FFF2-40B4-BE49-F238E27FC236}">
                <a16:creationId xmlns:a16="http://schemas.microsoft.com/office/drawing/2014/main" id="{83356C52-5887-33BC-F032-677205190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7279" y="4190420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224EFB16-5AF4-ECF9-D3C9-8269ACCEA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5077" y="4201583"/>
            <a:ext cx="1104285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{Print(5)}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+mj-lt"/>
            </a:endParaRPr>
          </a:p>
        </p:txBody>
      </p:sp>
      <p:cxnSp>
        <p:nvCxnSpPr>
          <p:cNvPr id="28" name="AutoShape 10">
            <a:extLst>
              <a:ext uri="{FF2B5EF4-FFF2-40B4-BE49-F238E27FC236}">
                <a16:creationId xmlns:a16="http://schemas.microsoft.com/office/drawing/2014/main" id="{A265E395-0DC3-09E4-1D09-48FFC3BDF78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73433" y="3692170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1">
            <a:extLst>
              <a:ext uri="{FF2B5EF4-FFF2-40B4-BE49-F238E27FC236}">
                <a16:creationId xmlns:a16="http://schemas.microsoft.com/office/drawing/2014/main" id="{0E82D94A-10D7-E89D-932E-12918D6F1FC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226120" y="3694353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Rectangle 14">
            <a:extLst>
              <a:ext uri="{FF2B5EF4-FFF2-40B4-BE49-F238E27FC236}">
                <a16:creationId xmlns:a16="http://schemas.microsoft.com/office/drawing/2014/main" id="{15222252-38B1-C3EC-93EC-1F941EF4C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985" y="4180018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>
                <a:latin typeface="+mj-lt"/>
              </a:rPr>
              <a:t>+</a:t>
            </a:r>
            <a:endParaRPr kumimoji="0" lang="en-US" altLang="en-US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31" name="Rectangle 32">
            <a:extLst>
              <a:ext uri="{FF2B5EF4-FFF2-40B4-BE49-F238E27FC236}">
                <a16:creationId xmlns:a16="http://schemas.microsoft.com/office/drawing/2014/main" id="{A3B22F96-AB94-8E6D-82BD-C65DD5F6C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073" y="4103395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</a:t>
            </a:r>
          </a:p>
        </p:txBody>
      </p:sp>
      <p:cxnSp>
        <p:nvCxnSpPr>
          <p:cNvPr id="32" name="AutoShape 11">
            <a:extLst>
              <a:ext uri="{FF2B5EF4-FFF2-40B4-BE49-F238E27FC236}">
                <a16:creationId xmlns:a16="http://schemas.microsoft.com/office/drawing/2014/main" id="{F73A3E85-76F2-3922-AACC-0ECFF14D971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687325" y="3689114"/>
            <a:ext cx="792203" cy="599097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Rectangle 14">
            <a:extLst>
              <a:ext uri="{FF2B5EF4-FFF2-40B4-BE49-F238E27FC236}">
                <a16:creationId xmlns:a16="http://schemas.microsoft.com/office/drawing/2014/main" id="{6EFAB4CC-A558-C696-7511-F57879040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1227" y="4298688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34" name="AutoShape 10">
            <a:extLst>
              <a:ext uri="{FF2B5EF4-FFF2-40B4-BE49-F238E27FC236}">
                <a16:creationId xmlns:a16="http://schemas.microsoft.com/office/drawing/2014/main" id="{0686B129-7EBE-ED68-4226-E14585477CD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73895" y="3692169"/>
            <a:ext cx="519242" cy="625538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Rectangle 14">
            <a:extLst>
              <a:ext uri="{FF2B5EF4-FFF2-40B4-BE49-F238E27FC236}">
                <a16:creationId xmlns:a16="http://schemas.microsoft.com/office/drawing/2014/main" id="{797EF118-492D-485E-E9C5-D0367842E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472" y="4320019"/>
            <a:ext cx="1104285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{Print(+)}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+mj-lt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4942EF9-8429-5CC4-19D9-36996EC27925}"/>
              </a:ext>
            </a:extLst>
          </p:cNvPr>
          <p:cNvCxnSpPr/>
          <p:nvPr/>
        </p:nvCxnSpPr>
        <p:spPr>
          <a:xfrm flipH="1">
            <a:off x="5178812" y="4633733"/>
            <a:ext cx="469643" cy="54639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FC63DD8-CD0A-EC9D-F880-37E913DFFD7C}"/>
              </a:ext>
            </a:extLst>
          </p:cNvPr>
          <p:cNvCxnSpPr/>
          <p:nvPr/>
        </p:nvCxnSpPr>
        <p:spPr>
          <a:xfrm>
            <a:off x="5719808" y="4633733"/>
            <a:ext cx="439339" cy="49787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14">
            <a:extLst>
              <a:ext uri="{FF2B5EF4-FFF2-40B4-BE49-F238E27FC236}">
                <a16:creationId xmlns:a16="http://schemas.microsoft.com/office/drawing/2014/main" id="{1914D235-A750-0D6F-867F-7737B69EE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0916" y="5180128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39" name="Rectangle 14">
            <a:extLst>
              <a:ext uri="{FF2B5EF4-FFF2-40B4-BE49-F238E27FC236}">
                <a16:creationId xmlns:a16="http://schemas.microsoft.com/office/drawing/2014/main" id="{96F2B956-C39D-BFAF-36CC-60BC298F8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714" y="5150545"/>
            <a:ext cx="1062965" cy="421527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{Print(2)}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+mj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228AAA8-E59A-649D-0166-E0F8F1011420}"/>
              </a:ext>
            </a:extLst>
          </p:cNvPr>
          <p:cNvSpPr/>
          <p:nvPr/>
        </p:nvSpPr>
        <p:spPr>
          <a:xfrm>
            <a:off x="5670775" y="5773952"/>
            <a:ext cx="2155768" cy="511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C00000"/>
                </a:solidFill>
              </a:rPr>
              <a:t>Postfix=95-2+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1619C9-0CA8-45CA-31D7-550684B779BA}"/>
              </a:ext>
            </a:extLst>
          </p:cNvPr>
          <p:cNvSpPr/>
          <p:nvPr/>
        </p:nvSpPr>
        <p:spPr>
          <a:xfrm>
            <a:off x="1496406" y="5597422"/>
            <a:ext cx="3987068" cy="893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E47A1"/>
                </a:solidFill>
              </a:rPr>
              <a:t>Now, Perform Depth first traversal</a:t>
            </a:r>
          </a:p>
        </p:txBody>
      </p:sp>
    </p:spTree>
    <p:extLst>
      <p:ext uri="{BB962C8B-B14F-4D97-AF65-F5344CB8AC3E}">
        <p14:creationId xmlns:p14="http://schemas.microsoft.com/office/powerpoint/2010/main" val="48573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2" grpId="0" animBg="1"/>
      <p:bldP spid="13" grpId="0" animBg="1"/>
      <p:bldP spid="15" grpId="0" animBg="1"/>
      <p:bldP spid="18" grpId="0" animBg="1"/>
      <p:bldP spid="19" grpId="0" animBg="1"/>
      <p:bldP spid="21" grpId="0" animBg="1"/>
      <p:bldP spid="23" grpId="0" animBg="1"/>
      <p:bldP spid="26" grpId="0" animBg="1"/>
      <p:bldP spid="27" grpId="0" animBg="1"/>
      <p:bldP spid="30" grpId="0" animBg="1"/>
      <p:bldP spid="31" grpId="0" animBg="1"/>
      <p:bldP spid="33" grpId="0" animBg="1"/>
      <p:bldP spid="35" grpId="0" animBg="1"/>
      <p:bldP spid="38" grpId="0" animBg="1"/>
      <p:bldP spid="39" grpId="0" animBg="1"/>
      <p:bldP spid="40" grpId="0"/>
      <p:bldP spid="4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24908</TotalTime>
  <Words>3456</Words>
  <Application>Microsoft Office PowerPoint</Application>
  <PresentationFormat>Widescreen</PresentationFormat>
  <Paragraphs>574</Paragraphs>
  <Slides>44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Arial</vt:lpstr>
      <vt:lpstr>Calibri</vt:lpstr>
      <vt:lpstr>Cambria Math</vt:lpstr>
      <vt:lpstr>Palatino Linotype</vt:lpstr>
      <vt:lpstr>Symbol</vt:lpstr>
      <vt:lpstr>Webdings</vt:lpstr>
      <vt:lpstr>Wingdings</vt:lpstr>
      <vt:lpstr>Office Theme</vt:lpstr>
      <vt:lpstr>PowerPoint Presentation</vt:lpstr>
      <vt:lpstr>Contents </vt:lpstr>
      <vt:lpstr>PowerPoint Presentation</vt:lpstr>
      <vt:lpstr>Syntax Directed Translation Scheme</vt:lpstr>
      <vt:lpstr>Syntax-Directed Definitions and Translation Schemes</vt:lpstr>
      <vt:lpstr>Syntax-Directed Translation</vt:lpstr>
      <vt:lpstr>S-attributed SDT Vs L-attributed SDT </vt:lpstr>
      <vt:lpstr>PowerPoint Presentation</vt:lpstr>
      <vt:lpstr>Evaluating an SDD at the Nodes of a Parse Tree</vt:lpstr>
      <vt:lpstr>PowerPoint Presentation</vt:lpstr>
      <vt:lpstr>PowerPoint Presentation</vt:lpstr>
      <vt:lpstr>Solution1 </vt:lpstr>
      <vt:lpstr>Solution2 </vt:lpstr>
      <vt:lpstr>Solution3 </vt:lpstr>
      <vt:lpstr>Evaluation Orders for SDD's</vt:lpstr>
      <vt:lpstr>Dependency Graph</vt:lpstr>
      <vt:lpstr>Dependency Graph Construction</vt:lpstr>
      <vt:lpstr>Dependency Graph Construction</vt:lpstr>
      <vt:lpstr>Dependency Graph</vt:lpstr>
      <vt:lpstr>Example – synthesized and inherited attribute</vt:lpstr>
      <vt:lpstr>Example for dependency graph</vt:lpstr>
      <vt:lpstr>PowerPoint Presentation</vt:lpstr>
      <vt:lpstr>PowerPoint Presentation</vt:lpstr>
      <vt:lpstr>PowerPoint Presentation</vt:lpstr>
      <vt:lpstr>Dependency graph</vt:lpstr>
      <vt:lpstr>Exercise</vt:lpstr>
      <vt:lpstr>Solution </vt:lpstr>
      <vt:lpstr>Applications of SDT</vt:lpstr>
      <vt:lpstr>PowerPoint Presentation</vt:lpstr>
      <vt:lpstr>PowerPoint Presentation</vt:lpstr>
      <vt:lpstr>SDT to build syntax tree</vt:lpstr>
      <vt:lpstr>Cont…</vt:lpstr>
      <vt:lpstr>Cont…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Logic And Algebraic Structures</dc:title>
  <dc:creator>HP</dc:creator>
  <cp:lastModifiedBy>Arumuga Arun R</cp:lastModifiedBy>
  <cp:revision>746</cp:revision>
  <dcterms:created xsi:type="dcterms:W3CDTF">2020-07-30T09:53:05Z</dcterms:created>
  <dcterms:modified xsi:type="dcterms:W3CDTF">2024-09-24T11:38:41Z</dcterms:modified>
</cp:coreProperties>
</file>