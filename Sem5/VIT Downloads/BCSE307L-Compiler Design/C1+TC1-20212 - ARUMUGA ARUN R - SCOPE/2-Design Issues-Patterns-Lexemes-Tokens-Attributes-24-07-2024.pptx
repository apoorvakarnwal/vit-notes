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6"/>
  </p:notesMasterIdLst>
  <p:sldIdLst>
    <p:sldId id="284" r:id="rId2"/>
    <p:sldId id="708" r:id="rId3"/>
    <p:sldId id="497" r:id="rId4"/>
    <p:sldId id="498" r:id="rId5"/>
    <p:sldId id="756" r:id="rId6"/>
    <p:sldId id="755" r:id="rId7"/>
    <p:sldId id="757" r:id="rId8"/>
    <p:sldId id="758" r:id="rId9"/>
    <p:sldId id="759" r:id="rId10"/>
    <p:sldId id="844" r:id="rId11"/>
    <p:sldId id="845" r:id="rId12"/>
    <p:sldId id="846" r:id="rId13"/>
    <p:sldId id="760" r:id="rId14"/>
    <p:sldId id="761" r:id="rId15"/>
    <p:sldId id="762" r:id="rId16"/>
    <p:sldId id="763" r:id="rId17"/>
    <p:sldId id="764" r:id="rId18"/>
    <p:sldId id="797" r:id="rId19"/>
    <p:sldId id="765" r:id="rId20"/>
    <p:sldId id="766" r:id="rId21"/>
    <p:sldId id="767" r:id="rId22"/>
    <p:sldId id="847" r:id="rId23"/>
    <p:sldId id="798" r:id="rId24"/>
    <p:sldId id="848" r:id="rId25"/>
    <p:sldId id="768" r:id="rId26"/>
    <p:sldId id="769" r:id="rId27"/>
    <p:sldId id="770" r:id="rId28"/>
    <p:sldId id="771" r:id="rId29"/>
    <p:sldId id="772" r:id="rId30"/>
    <p:sldId id="773" r:id="rId31"/>
    <p:sldId id="774" r:id="rId32"/>
    <p:sldId id="775" r:id="rId33"/>
    <p:sldId id="776" r:id="rId34"/>
    <p:sldId id="777" r:id="rId35"/>
    <p:sldId id="849" r:id="rId36"/>
    <p:sldId id="778" r:id="rId37"/>
    <p:sldId id="779" r:id="rId38"/>
    <p:sldId id="850" r:id="rId39"/>
    <p:sldId id="799" r:id="rId40"/>
    <p:sldId id="780" r:id="rId41"/>
    <p:sldId id="781" r:id="rId42"/>
    <p:sldId id="851" r:id="rId43"/>
    <p:sldId id="782" r:id="rId44"/>
    <p:sldId id="783" r:id="rId4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789" autoAdjust="0"/>
    <p:restoredTop sz="74966" autoAdjust="0"/>
  </p:normalViewPr>
  <p:slideViewPr>
    <p:cSldViewPr snapToGrid="0">
      <p:cViewPr varScale="1">
        <p:scale>
          <a:sx n="58" d="100"/>
          <a:sy n="58" d="100"/>
        </p:scale>
        <p:origin x="240" y="9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4565BBB-9053-4FB2-B204-6D5C221D5451}" type="datetimeFigureOut">
              <a:rPr lang="en-IN" smtClean="0"/>
              <a:t>27/11/24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1B192C4-1362-4BBE-9949-F6525E953936}" type="slidenum">
              <a:rPr lang="en-IN" smtClean="0"/>
              <a:t>‹#›</a:t>
            </a:fld>
            <a:endParaRPr lang="en-IN"/>
          </a:p>
        </p:txBody>
      </p:sp>
    </p:spTree>
    <p:extLst>
      <p:ext uri="{BB962C8B-B14F-4D97-AF65-F5344CB8AC3E}">
        <p14:creationId xmlns:p14="http://schemas.microsoft.com/office/powerpoint/2010/main" val="1240359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1B192C4-1362-4BBE-9949-F6525E953936}" type="slidenum">
              <a:rPr lang="en-IN" smtClean="0"/>
              <a:t>3</a:t>
            </a:fld>
            <a:endParaRPr lang="en-IN"/>
          </a:p>
        </p:txBody>
      </p:sp>
    </p:spTree>
    <p:extLst>
      <p:ext uri="{BB962C8B-B14F-4D97-AF65-F5344CB8AC3E}">
        <p14:creationId xmlns:p14="http://schemas.microsoft.com/office/powerpoint/2010/main" val="23342504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i="0" dirty="0">
                <a:solidFill>
                  <a:srgbClr val="000000"/>
                </a:solidFill>
                <a:effectLst/>
                <a:latin typeface="T37"/>
              </a:rPr>
              <a:t>For instance, the lexical analyzer may keep track of the </a:t>
            </a:r>
            <a:r>
              <a:rPr lang="en-US" sz="1800" b="1" i="0" u="sng" dirty="0">
                <a:solidFill>
                  <a:srgbClr val="000000"/>
                </a:solidFill>
                <a:effectLst/>
                <a:latin typeface="T37"/>
              </a:rPr>
              <a:t>number  of newline characters seen</a:t>
            </a:r>
            <a:r>
              <a:rPr lang="en-US" sz="1800" b="0" i="0" dirty="0">
                <a:solidFill>
                  <a:srgbClr val="000000"/>
                </a:solidFill>
                <a:effectLst/>
                <a:latin typeface="T37"/>
              </a:rPr>
              <a:t>, so it can associate a line number with each error</a:t>
            </a:r>
            <a:br>
              <a:rPr lang="en-US" sz="1800" b="0" i="0" dirty="0">
                <a:solidFill>
                  <a:srgbClr val="000000"/>
                </a:solidFill>
                <a:effectLst/>
                <a:latin typeface="T37"/>
              </a:rPr>
            </a:br>
            <a:r>
              <a:rPr lang="en-US" sz="1800" b="0" i="0" dirty="0">
                <a:solidFill>
                  <a:srgbClr val="000000"/>
                </a:solidFill>
                <a:effectLst/>
                <a:latin typeface="T37"/>
              </a:rPr>
              <a:t>message. In some compilers, the lexical analyzer makes a copy of the source program with the error messages inserted at the appropriate positions. If the</a:t>
            </a:r>
            <a:br>
              <a:rPr lang="en-US" sz="1800" b="0" i="0" dirty="0">
                <a:solidFill>
                  <a:srgbClr val="000000"/>
                </a:solidFill>
                <a:effectLst/>
                <a:latin typeface="T37"/>
              </a:rPr>
            </a:br>
            <a:r>
              <a:rPr lang="en-US" sz="1800" b="0" i="0" dirty="0">
                <a:solidFill>
                  <a:srgbClr val="000000"/>
                </a:solidFill>
                <a:effectLst/>
                <a:latin typeface="T37"/>
              </a:rPr>
              <a:t>source program uses a macro-preprocessor, the </a:t>
            </a:r>
            <a:r>
              <a:rPr lang="en-US" sz="1800" b="1" i="0" u="sng" dirty="0">
                <a:solidFill>
                  <a:srgbClr val="000000"/>
                </a:solidFill>
                <a:effectLst/>
                <a:latin typeface="T37"/>
              </a:rPr>
              <a:t>expansion of macros </a:t>
            </a:r>
            <a:r>
              <a:rPr lang="en-US" sz="1800" b="0" i="0" dirty="0">
                <a:solidFill>
                  <a:srgbClr val="000000"/>
                </a:solidFill>
                <a:effectLst/>
                <a:latin typeface="T37"/>
              </a:rPr>
              <a:t>may also be performed by the lexical analyzer</a:t>
            </a:r>
            <a:r>
              <a:rPr lang="en-US" dirty="0"/>
              <a:t> </a:t>
            </a:r>
            <a:br>
              <a:rPr lang="en-US" dirty="0"/>
            </a:br>
            <a:endParaRPr lang="en-IN" dirty="0"/>
          </a:p>
        </p:txBody>
      </p:sp>
      <p:sp>
        <p:nvSpPr>
          <p:cNvPr id="4" name="Slide Number Placeholder 3"/>
          <p:cNvSpPr>
            <a:spLocks noGrp="1"/>
          </p:cNvSpPr>
          <p:nvPr>
            <p:ph type="sldNum" sz="quarter" idx="5"/>
          </p:nvPr>
        </p:nvSpPr>
        <p:spPr/>
        <p:txBody>
          <a:bodyPr/>
          <a:lstStyle/>
          <a:p>
            <a:fld id="{81B192C4-1362-4BBE-9949-F6525E953936}" type="slidenum">
              <a:rPr lang="en-IN" smtClean="0"/>
              <a:t>6</a:t>
            </a:fld>
            <a:endParaRPr lang="en-IN"/>
          </a:p>
        </p:txBody>
      </p:sp>
    </p:spTree>
    <p:extLst>
      <p:ext uri="{BB962C8B-B14F-4D97-AF65-F5344CB8AC3E}">
        <p14:creationId xmlns:p14="http://schemas.microsoft.com/office/powerpoint/2010/main" val="893984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i="0" dirty="0">
                <a:solidFill>
                  <a:srgbClr val="000000"/>
                </a:solidFill>
                <a:effectLst/>
                <a:latin typeface="T37"/>
              </a:rPr>
              <a:t>For example, a parser that had to deal with comments and whitespace as syntactic units would be considerably more complex than one that can assume comments and whitespace have already been removed by the lexical analyzer.</a:t>
            </a:r>
            <a:r>
              <a:rPr lang="en-US" dirty="0"/>
              <a:t> </a:t>
            </a:r>
          </a:p>
          <a:p>
            <a:endParaRPr lang="en-US" dirty="0"/>
          </a:p>
          <a:p>
            <a:r>
              <a:rPr lang="en-US" sz="1800" b="0" i="0" dirty="0">
                <a:solidFill>
                  <a:srgbClr val="000000"/>
                </a:solidFill>
                <a:effectLst/>
                <a:latin typeface="T37"/>
              </a:rPr>
              <a:t>Input-device-</a:t>
            </a:r>
            <a:r>
              <a:rPr lang="en-US" sz="1800" b="0" i="0" dirty="0" err="1">
                <a:solidFill>
                  <a:srgbClr val="000000"/>
                </a:solidFill>
                <a:effectLst/>
                <a:latin typeface="T37"/>
              </a:rPr>
              <a:t>specic</a:t>
            </a:r>
            <a:r>
              <a:rPr lang="en-US" sz="1800" b="0" i="0" dirty="0">
                <a:solidFill>
                  <a:srgbClr val="000000"/>
                </a:solidFill>
                <a:effectLst/>
                <a:latin typeface="T37"/>
              </a:rPr>
              <a:t> peculiarities can be restricted to the lexical analyzer.</a:t>
            </a:r>
            <a:br>
              <a:rPr lang="en-US" dirty="0"/>
            </a:br>
            <a:br>
              <a:rPr lang="en-US" dirty="0"/>
            </a:br>
            <a:endParaRPr lang="en-IN" dirty="0"/>
          </a:p>
        </p:txBody>
      </p:sp>
      <p:sp>
        <p:nvSpPr>
          <p:cNvPr id="4" name="Slide Number Placeholder 3"/>
          <p:cNvSpPr>
            <a:spLocks noGrp="1"/>
          </p:cNvSpPr>
          <p:nvPr>
            <p:ph type="sldNum" sz="quarter" idx="5"/>
          </p:nvPr>
        </p:nvSpPr>
        <p:spPr/>
        <p:txBody>
          <a:bodyPr/>
          <a:lstStyle/>
          <a:p>
            <a:fld id="{81B192C4-1362-4BBE-9949-F6525E953936}" type="slidenum">
              <a:rPr lang="en-IN" smtClean="0"/>
              <a:t>7</a:t>
            </a:fld>
            <a:endParaRPr lang="en-IN"/>
          </a:p>
        </p:txBody>
      </p:sp>
    </p:spTree>
    <p:extLst>
      <p:ext uri="{BB962C8B-B14F-4D97-AF65-F5344CB8AC3E}">
        <p14:creationId xmlns:p14="http://schemas.microsoft.com/office/powerpoint/2010/main" val="30962638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i="0" dirty="0">
                <a:solidFill>
                  <a:srgbClr val="000000"/>
                </a:solidFill>
                <a:effectLst/>
                <a:latin typeface="T37"/>
              </a:rPr>
              <a:t>1. One token for each keyword. The pattern for a keyword is the same as the keyword itself.</a:t>
            </a:r>
            <a:br>
              <a:rPr lang="en-US" sz="1800" b="0" i="0" dirty="0">
                <a:solidFill>
                  <a:srgbClr val="000000"/>
                </a:solidFill>
                <a:effectLst/>
                <a:latin typeface="T37"/>
              </a:rPr>
            </a:br>
            <a:r>
              <a:rPr lang="en-US" sz="1800" b="0" i="0" dirty="0">
                <a:solidFill>
                  <a:srgbClr val="000000"/>
                </a:solidFill>
                <a:effectLst/>
                <a:latin typeface="T37"/>
              </a:rPr>
              <a:t>2. Tokens for the operators, either individually or in classes such as the token </a:t>
            </a:r>
            <a:r>
              <a:rPr lang="en-US" sz="1800" b="0" i="0" dirty="0">
                <a:solidFill>
                  <a:srgbClr val="000000"/>
                </a:solidFill>
                <a:effectLst/>
                <a:latin typeface="T25"/>
              </a:rPr>
              <a:t>comparison </a:t>
            </a:r>
            <a:r>
              <a:rPr lang="en-US" sz="1800" b="0" i="0" dirty="0">
                <a:solidFill>
                  <a:srgbClr val="000000"/>
                </a:solidFill>
                <a:effectLst/>
                <a:latin typeface="T37"/>
              </a:rPr>
              <a:t>mentioned in Fig. 3.2.</a:t>
            </a:r>
            <a:br>
              <a:rPr lang="en-US" sz="1800" b="0" i="0" dirty="0">
                <a:solidFill>
                  <a:srgbClr val="000000"/>
                </a:solidFill>
                <a:effectLst/>
                <a:latin typeface="T37"/>
              </a:rPr>
            </a:br>
            <a:r>
              <a:rPr lang="en-US" sz="1800" b="0" i="0" dirty="0">
                <a:solidFill>
                  <a:srgbClr val="000000"/>
                </a:solidFill>
                <a:effectLst/>
                <a:latin typeface="T37"/>
              </a:rPr>
              <a:t>3. One token representing all identifiers.</a:t>
            </a:r>
            <a:br>
              <a:rPr lang="en-US" sz="1800" b="0" i="0" dirty="0">
                <a:solidFill>
                  <a:srgbClr val="000000"/>
                </a:solidFill>
                <a:effectLst/>
                <a:latin typeface="T37"/>
              </a:rPr>
            </a:br>
            <a:r>
              <a:rPr lang="en-US" sz="1800" b="0" i="0" dirty="0">
                <a:solidFill>
                  <a:srgbClr val="000000"/>
                </a:solidFill>
                <a:effectLst/>
                <a:latin typeface="T37"/>
              </a:rPr>
              <a:t>4. One or more tokens representing constants, such as numbers and literal strings.</a:t>
            </a:r>
            <a:br>
              <a:rPr lang="en-US" sz="1800" b="0" i="0" dirty="0">
                <a:solidFill>
                  <a:srgbClr val="000000"/>
                </a:solidFill>
                <a:effectLst/>
                <a:latin typeface="T37"/>
              </a:rPr>
            </a:br>
            <a:r>
              <a:rPr lang="en-US" sz="1800" b="0" i="0" dirty="0">
                <a:solidFill>
                  <a:srgbClr val="000000"/>
                </a:solidFill>
                <a:effectLst/>
                <a:latin typeface="T37"/>
              </a:rPr>
              <a:t>5. Tokens for each punctuation symbol, such as left and right parentheses, comma, and semicolon</a:t>
            </a:r>
            <a:r>
              <a:rPr lang="en-US" dirty="0"/>
              <a:t> </a:t>
            </a:r>
            <a:br>
              <a:rPr lang="en-US" dirty="0"/>
            </a:br>
            <a:endParaRPr lang="en-IN" dirty="0"/>
          </a:p>
        </p:txBody>
      </p:sp>
      <p:sp>
        <p:nvSpPr>
          <p:cNvPr id="4" name="Slide Number Placeholder 3"/>
          <p:cNvSpPr>
            <a:spLocks noGrp="1"/>
          </p:cNvSpPr>
          <p:nvPr>
            <p:ph type="sldNum" sz="quarter" idx="5"/>
          </p:nvPr>
        </p:nvSpPr>
        <p:spPr/>
        <p:txBody>
          <a:bodyPr/>
          <a:lstStyle/>
          <a:p>
            <a:fld id="{81B192C4-1362-4BBE-9949-F6525E953936}" type="slidenum">
              <a:rPr lang="en-IN" smtClean="0"/>
              <a:t>9</a:t>
            </a:fld>
            <a:endParaRPr lang="en-IN"/>
          </a:p>
        </p:txBody>
      </p:sp>
    </p:spTree>
    <p:extLst>
      <p:ext uri="{BB962C8B-B14F-4D97-AF65-F5344CB8AC3E}">
        <p14:creationId xmlns:p14="http://schemas.microsoft.com/office/powerpoint/2010/main" val="35324826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dirty="0">
                <a:solidFill>
                  <a:srgbClr val="000000"/>
                </a:solidFill>
                <a:effectLst/>
                <a:latin typeface="Palatino Linotype" panose="02040502050505030304" pitchFamily="18" charset="0"/>
              </a:rPr>
              <a:t>For example, the pattern for token number matches both 0 and 1, but it is extremely important for the code generator to know which lexeme was found in the source program </a:t>
            </a:r>
            <a:endParaRPr lang="en-US" sz="1200" dirty="0">
              <a:solidFill>
                <a:srgbClr val="000000"/>
              </a:solidFill>
              <a:latin typeface="Palatino Linotype" panose="02040502050505030304" pitchFamily="18" charset="0"/>
            </a:endParaRPr>
          </a:p>
          <a:p>
            <a:endParaRPr lang="en-IN" dirty="0"/>
          </a:p>
        </p:txBody>
      </p:sp>
      <p:sp>
        <p:nvSpPr>
          <p:cNvPr id="4" name="Slide Number Placeholder 3"/>
          <p:cNvSpPr>
            <a:spLocks noGrp="1"/>
          </p:cNvSpPr>
          <p:nvPr>
            <p:ph type="sldNum" sz="quarter" idx="5"/>
          </p:nvPr>
        </p:nvSpPr>
        <p:spPr/>
        <p:txBody>
          <a:bodyPr/>
          <a:lstStyle/>
          <a:p>
            <a:fld id="{81B192C4-1362-4BBE-9949-F6525E953936}" type="slidenum">
              <a:rPr lang="en-IN" smtClean="0"/>
              <a:t>11</a:t>
            </a:fld>
            <a:endParaRPr lang="en-IN"/>
          </a:p>
        </p:txBody>
      </p:sp>
    </p:spTree>
    <p:extLst>
      <p:ext uri="{BB962C8B-B14F-4D97-AF65-F5344CB8AC3E}">
        <p14:creationId xmlns:p14="http://schemas.microsoft.com/office/powerpoint/2010/main" val="1554844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i="0" dirty="0">
                <a:solidFill>
                  <a:srgbClr val="000000"/>
                </a:solidFill>
                <a:effectLst/>
                <a:latin typeface="T37"/>
              </a:rPr>
              <a:t>In C, single-character operators like </a:t>
            </a:r>
            <a:r>
              <a:rPr lang="en-US" sz="1800" b="0" i="0" dirty="0">
                <a:solidFill>
                  <a:srgbClr val="000000"/>
                </a:solidFill>
                <a:effectLst/>
                <a:latin typeface="T25"/>
              </a:rPr>
              <a:t>-</a:t>
            </a:r>
            <a:r>
              <a:rPr lang="en-US" sz="1800" b="0" i="0" dirty="0">
                <a:solidFill>
                  <a:srgbClr val="000000"/>
                </a:solidFill>
                <a:effectLst/>
                <a:latin typeface="T37"/>
              </a:rPr>
              <a:t>, </a:t>
            </a:r>
            <a:r>
              <a:rPr lang="en-US" sz="1800" b="0" i="0" dirty="0">
                <a:solidFill>
                  <a:srgbClr val="000000"/>
                </a:solidFill>
                <a:effectLst/>
                <a:latin typeface="T25"/>
              </a:rPr>
              <a:t>=</a:t>
            </a:r>
            <a:r>
              <a:rPr lang="en-US" sz="1800" b="0" i="0" dirty="0">
                <a:solidFill>
                  <a:srgbClr val="000000"/>
                </a:solidFill>
                <a:effectLst/>
                <a:latin typeface="T37"/>
              </a:rPr>
              <a:t>, or </a:t>
            </a:r>
            <a:r>
              <a:rPr lang="en-US" sz="1800" b="0" i="0" dirty="0">
                <a:solidFill>
                  <a:srgbClr val="000000"/>
                </a:solidFill>
                <a:effectLst/>
                <a:latin typeface="T25"/>
              </a:rPr>
              <a:t>&lt; </a:t>
            </a:r>
            <a:r>
              <a:rPr lang="en-US" sz="1800" b="0" i="0" dirty="0">
                <a:solidFill>
                  <a:srgbClr val="000000"/>
                </a:solidFill>
                <a:effectLst/>
                <a:latin typeface="T37"/>
              </a:rPr>
              <a:t>could also be the beginning of a two-character operator like </a:t>
            </a:r>
            <a:r>
              <a:rPr lang="en-US" sz="1800" b="0" i="0" dirty="0">
                <a:solidFill>
                  <a:srgbClr val="000000"/>
                </a:solidFill>
                <a:effectLst/>
                <a:latin typeface="T25"/>
              </a:rPr>
              <a:t>-&gt;</a:t>
            </a:r>
            <a:r>
              <a:rPr lang="en-US" sz="1800" b="0" i="0" dirty="0">
                <a:solidFill>
                  <a:srgbClr val="000000"/>
                </a:solidFill>
                <a:effectLst/>
                <a:latin typeface="T37"/>
              </a:rPr>
              <a:t>, </a:t>
            </a:r>
            <a:r>
              <a:rPr lang="en-US" sz="1800" b="0" i="0" dirty="0">
                <a:solidFill>
                  <a:srgbClr val="000000"/>
                </a:solidFill>
                <a:effectLst/>
                <a:latin typeface="T25"/>
              </a:rPr>
              <a:t>==</a:t>
            </a:r>
            <a:r>
              <a:rPr lang="en-US" sz="1800" b="0" i="0" dirty="0">
                <a:solidFill>
                  <a:srgbClr val="000000"/>
                </a:solidFill>
                <a:effectLst/>
                <a:latin typeface="T37"/>
              </a:rPr>
              <a:t>, or </a:t>
            </a:r>
            <a:r>
              <a:rPr lang="en-US" sz="1800" b="0" i="0" dirty="0">
                <a:solidFill>
                  <a:srgbClr val="000000"/>
                </a:solidFill>
                <a:effectLst/>
                <a:latin typeface="T25"/>
              </a:rPr>
              <a:t>&lt;=</a:t>
            </a:r>
            <a:r>
              <a:rPr lang="en-US" sz="1800" b="0" i="0" dirty="0">
                <a:solidFill>
                  <a:srgbClr val="000000"/>
                </a:solidFill>
                <a:effectLst/>
                <a:latin typeface="T37"/>
              </a:rPr>
              <a:t>. </a:t>
            </a:r>
          </a:p>
          <a:p>
            <a:r>
              <a:rPr lang="en-US" sz="1800" b="0" i="0" dirty="0">
                <a:solidFill>
                  <a:srgbClr val="000000"/>
                </a:solidFill>
                <a:effectLst/>
                <a:latin typeface="T37"/>
              </a:rPr>
              <a:t>Thus, we shall introduce a two-buffer scheme that handles large lookaheads safely. </a:t>
            </a:r>
          </a:p>
          <a:p>
            <a:r>
              <a:rPr lang="en-US" sz="1800" b="0" i="0" dirty="0">
                <a:solidFill>
                  <a:srgbClr val="000000"/>
                </a:solidFill>
                <a:effectLst/>
                <a:latin typeface="T37"/>
              </a:rPr>
              <a:t>We then consider an improvement involving “sentinels" that saves time checking for the ends of buffers.</a:t>
            </a:r>
            <a:r>
              <a:rPr lang="en-US" dirty="0"/>
              <a:t> </a:t>
            </a:r>
            <a:br>
              <a:rPr lang="en-US" dirty="0"/>
            </a:br>
            <a:endParaRPr lang="en-IN" dirty="0"/>
          </a:p>
        </p:txBody>
      </p:sp>
      <p:sp>
        <p:nvSpPr>
          <p:cNvPr id="4" name="Slide Number Placeholder 3"/>
          <p:cNvSpPr>
            <a:spLocks noGrp="1"/>
          </p:cNvSpPr>
          <p:nvPr>
            <p:ph type="sldNum" sz="quarter" idx="5"/>
          </p:nvPr>
        </p:nvSpPr>
        <p:spPr/>
        <p:txBody>
          <a:bodyPr/>
          <a:lstStyle/>
          <a:p>
            <a:fld id="{81B192C4-1362-4BBE-9949-F6525E953936}" type="slidenum">
              <a:rPr lang="en-IN" smtClean="0"/>
              <a:t>13</a:t>
            </a:fld>
            <a:endParaRPr lang="en-IN"/>
          </a:p>
        </p:txBody>
      </p:sp>
    </p:spTree>
    <p:extLst>
      <p:ext uri="{BB962C8B-B14F-4D97-AF65-F5344CB8AC3E}">
        <p14:creationId xmlns:p14="http://schemas.microsoft.com/office/powerpoint/2010/main" val="12587979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1B192C4-1362-4BBE-9949-F6525E953936}" type="slidenum">
              <a:rPr lang="en-IN" smtClean="0"/>
              <a:t>22</a:t>
            </a:fld>
            <a:endParaRPr lang="en-IN"/>
          </a:p>
        </p:txBody>
      </p:sp>
    </p:spTree>
    <p:extLst>
      <p:ext uri="{BB962C8B-B14F-4D97-AF65-F5344CB8AC3E}">
        <p14:creationId xmlns:p14="http://schemas.microsoft.com/office/powerpoint/2010/main" val="40052059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1B192C4-1362-4BBE-9949-F6525E953936}" type="slidenum">
              <a:rPr lang="en-IN" smtClean="0"/>
              <a:t>30</a:t>
            </a:fld>
            <a:endParaRPr lang="en-IN"/>
          </a:p>
        </p:txBody>
      </p:sp>
    </p:spTree>
    <p:extLst>
      <p:ext uri="{BB962C8B-B14F-4D97-AF65-F5344CB8AC3E}">
        <p14:creationId xmlns:p14="http://schemas.microsoft.com/office/powerpoint/2010/main" val="37630735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r>
              <a:rPr lang="en-US"/>
              <a:t>Fall 2006</a:t>
            </a:r>
            <a:endParaRPr lang="en-IN"/>
          </a:p>
        </p:txBody>
      </p:sp>
      <p:sp>
        <p:nvSpPr>
          <p:cNvPr id="5" name="Footer Placeholder 4"/>
          <p:cNvSpPr>
            <a:spLocks noGrp="1"/>
          </p:cNvSpPr>
          <p:nvPr>
            <p:ph type="ftr" sz="quarter" idx="11"/>
          </p:nvPr>
        </p:nvSpPr>
        <p:spPr/>
        <p:txBody>
          <a:bodyPr/>
          <a:lstStyle/>
          <a:p>
            <a:r>
              <a:rPr lang="en-IN"/>
              <a:t>Costas Busch - RPI</a:t>
            </a:r>
          </a:p>
        </p:txBody>
      </p:sp>
      <p:sp>
        <p:nvSpPr>
          <p:cNvPr id="6" name="Slide Number Placeholder 5"/>
          <p:cNvSpPr>
            <a:spLocks noGrp="1"/>
          </p:cNvSpPr>
          <p:nvPr>
            <p:ph type="sldNum" sz="quarter" idx="12"/>
          </p:nvPr>
        </p:nvSpPr>
        <p:spPr/>
        <p:txBody>
          <a:bodyPr/>
          <a:lstStyle/>
          <a:p>
            <a:fld id="{9C8CFCD6-D300-4021-B6CE-498726932892}" type="slidenum">
              <a:rPr lang="en-IN" smtClean="0"/>
              <a:t>‹#›</a:t>
            </a:fld>
            <a:endParaRPr lang="en-IN"/>
          </a:p>
        </p:txBody>
      </p:sp>
    </p:spTree>
    <p:extLst>
      <p:ext uri="{BB962C8B-B14F-4D97-AF65-F5344CB8AC3E}">
        <p14:creationId xmlns:p14="http://schemas.microsoft.com/office/powerpoint/2010/main" val="33942542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IN"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r>
              <a:rPr lang="en-US"/>
              <a:t>Fall 2006</a:t>
            </a:r>
            <a:endParaRPr lang="en-IN"/>
          </a:p>
        </p:txBody>
      </p:sp>
      <p:sp>
        <p:nvSpPr>
          <p:cNvPr id="5" name="Footer Placeholder 4"/>
          <p:cNvSpPr>
            <a:spLocks noGrp="1"/>
          </p:cNvSpPr>
          <p:nvPr>
            <p:ph type="ftr" sz="quarter" idx="11"/>
          </p:nvPr>
        </p:nvSpPr>
        <p:spPr/>
        <p:txBody>
          <a:bodyPr/>
          <a:lstStyle/>
          <a:p>
            <a:r>
              <a:rPr lang="en-IN"/>
              <a:t>Costas Busch - RPI</a:t>
            </a:r>
          </a:p>
        </p:txBody>
      </p:sp>
      <p:sp>
        <p:nvSpPr>
          <p:cNvPr id="6" name="Slide Number Placeholder 5"/>
          <p:cNvSpPr>
            <a:spLocks noGrp="1"/>
          </p:cNvSpPr>
          <p:nvPr>
            <p:ph type="sldNum" sz="quarter" idx="12"/>
          </p:nvPr>
        </p:nvSpPr>
        <p:spPr/>
        <p:txBody>
          <a:bodyPr/>
          <a:lstStyle/>
          <a:p>
            <a:fld id="{9C8CFCD6-D300-4021-B6CE-498726932892}" type="slidenum">
              <a:rPr lang="en-IN" smtClean="0"/>
              <a:t>‹#›</a:t>
            </a:fld>
            <a:endParaRPr lang="en-IN"/>
          </a:p>
        </p:txBody>
      </p:sp>
    </p:spTree>
    <p:extLst>
      <p:ext uri="{BB962C8B-B14F-4D97-AF65-F5344CB8AC3E}">
        <p14:creationId xmlns:p14="http://schemas.microsoft.com/office/powerpoint/2010/main" val="33851138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Fall 2006</a:t>
            </a:r>
            <a:endParaRPr lang="en-IN"/>
          </a:p>
        </p:txBody>
      </p:sp>
      <p:sp>
        <p:nvSpPr>
          <p:cNvPr id="5" name="Footer Placeholder 4"/>
          <p:cNvSpPr>
            <a:spLocks noGrp="1"/>
          </p:cNvSpPr>
          <p:nvPr>
            <p:ph type="ftr" sz="quarter" idx="11"/>
          </p:nvPr>
        </p:nvSpPr>
        <p:spPr/>
        <p:txBody>
          <a:bodyPr/>
          <a:lstStyle/>
          <a:p>
            <a:r>
              <a:rPr lang="en-IN"/>
              <a:t>Costas Busch - RPI</a:t>
            </a:r>
          </a:p>
        </p:txBody>
      </p:sp>
      <p:sp>
        <p:nvSpPr>
          <p:cNvPr id="6" name="Slide Number Placeholder 5"/>
          <p:cNvSpPr>
            <a:spLocks noGrp="1"/>
          </p:cNvSpPr>
          <p:nvPr>
            <p:ph type="sldNum" sz="quarter" idx="12"/>
          </p:nvPr>
        </p:nvSpPr>
        <p:spPr/>
        <p:txBody>
          <a:bodyPr/>
          <a:lstStyle/>
          <a:p>
            <a:fld id="{9C8CFCD6-D300-4021-B6CE-498726932892}" type="slidenum">
              <a:rPr lang="en-IN" smtClean="0"/>
              <a:t>‹#›</a:t>
            </a:fld>
            <a:endParaRPr lang="en-IN"/>
          </a:p>
        </p:txBody>
      </p:sp>
    </p:spTree>
    <p:extLst>
      <p:ext uri="{BB962C8B-B14F-4D97-AF65-F5344CB8AC3E}">
        <p14:creationId xmlns:p14="http://schemas.microsoft.com/office/powerpoint/2010/main" val="38820233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r>
              <a:rPr lang="en-US"/>
              <a:t>Fall 2006</a:t>
            </a:r>
            <a:endParaRPr lang="en-IN"/>
          </a:p>
        </p:txBody>
      </p:sp>
      <p:sp>
        <p:nvSpPr>
          <p:cNvPr id="6" name="Footer Placeholder 5"/>
          <p:cNvSpPr>
            <a:spLocks noGrp="1"/>
          </p:cNvSpPr>
          <p:nvPr>
            <p:ph type="ftr" sz="quarter" idx="11"/>
          </p:nvPr>
        </p:nvSpPr>
        <p:spPr/>
        <p:txBody>
          <a:bodyPr/>
          <a:lstStyle/>
          <a:p>
            <a:r>
              <a:rPr lang="en-IN"/>
              <a:t>Costas Busch - RPI</a:t>
            </a:r>
          </a:p>
        </p:txBody>
      </p:sp>
      <p:sp>
        <p:nvSpPr>
          <p:cNvPr id="7" name="Slide Number Placeholder 6"/>
          <p:cNvSpPr>
            <a:spLocks noGrp="1"/>
          </p:cNvSpPr>
          <p:nvPr>
            <p:ph type="sldNum" sz="quarter" idx="12"/>
          </p:nvPr>
        </p:nvSpPr>
        <p:spPr/>
        <p:txBody>
          <a:bodyPr/>
          <a:lstStyle/>
          <a:p>
            <a:fld id="{9C8CFCD6-D300-4021-B6CE-498726932892}" type="slidenum">
              <a:rPr lang="en-IN" smtClean="0"/>
              <a:t>‹#›</a:t>
            </a:fld>
            <a:endParaRPr lang="en-IN"/>
          </a:p>
        </p:txBody>
      </p:sp>
    </p:spTree>
    <p:extLst>
      <p:ext uri="{BB962C8B-B14F-4D97-AF65-F5344CB8AC3E}">
        <p14:creationId xmlns:p14="http://schemas.microsoft.com/office/powerpoint/2010/main" val="3670175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r>
              <a:rPr lang="en-US"/>
              <a:t>Fall 2006</a:t>
            </a:r>
            <a:endParaRPr lang="en-IN"/>
          </a:p>
        </p:txBody>
      </p:sp>
      <p:sp>
        <p:nvSpPr>
          <p:cNvPr id="8" name="Footer Placeholder 7"/>
          <p:cNvSpPr>
            <a:spLocks noGrp="1"/>
          </p:cNvSpPr>
          <p:nvPr>
            <p:ph type="ftr" sz="quarter" idx="11"/>
          </p:nvPr>
        </p:nvSpPr>
        <p:spPr/>
        <p:txBody>
          <a:bodyPr/>
          <a:lstStyle/>
          <a:p>
            <a:r>
              <a:rPr lang="en-IN"/>
              <a:t>Costas Busch - RPI</a:t>
            </a:r>
          </a:p>
        </p:txBody>
      </p:sp>
      <p:sp>
        <p:nvSpPr>
          <p:cNvPr id="9" name="Slide Number Placeholder 8"/>
          <p:cNvSpPr>
            <a:spLocks noGrp="1"/>
          </p:cNvSpPr>
          <p:nvPr>
            <p:ph type="sldNum" sz="quarter" idx="12"/>
          </p:nvPr>
        </p:nvSpPr>
        <p:spPr/>
        <p:txBody>
          <a:bodyPr/>
          <a:lstStyle/>
          <a:p>
            <a:fld id="{9C8CFCD6-D300-4021-B6CE-498726932892}" type="slidenum">
              <a:rPr lang="en-IN" smtClean="0"/>
              <a:t>‹#›</a:t>
            </a:fld>
            <a:endParaRPr lang="en-IN"/>
          </a:p>
        </p:txBody>
      </p:sp>
    </p:spTree>
    <p:extLst>
      <p:ext uri="{BB962C8B-B14F-4D97-AF65-F5344CB8AC3E}">
        <p14:creationId xmlns:p14="http://schemas.microsoft.com/office/powerpoint/2010/main" val="23236885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r>
              <a:rPr lang="en-US"/>
              <a:t>Fall 2006</a:t>
            </a:r>
            <a:endParaRPr lang="en-IN"/>
          </a:p>
        </p:txBody>
      </p:sp>
      <p:sp>
        <p:nvSpPr>
          <p:cNvPr id="4" name="Footer Placeholder 3"/>
          <p:cNvSpPr>
            <a:spLocks noGrp="1"/>
          </p:cNvSpPr>
          <p:nvPr>
            <p:ph type="ftr" sz="quarter" idx="11"/>
          </p:nvPr>
        </p:nvSpPr>
        <p:spPr/>
        <p:txBody>
          <a:bodyPr/>
          <a:lstStyle/>
          <a:p>
            <a:r>
              <a:rPr lang="en-IN"/>
              <a:t>Costas Busch - RPI</a:t>
            </a:r>
          </a:p>
        </p:txBody>
      </p:sp>
      <p:sp>
        <p:nvSpPr>
          <p:cNvPr id="5" name="Slide Number Placeholder 4"/>
          <p:cNvSpPr>
            <a:spLocks noGrp="1"/>
          </p:cNvSpPr>
          <p:nvPr>
            <p:ph type="sldNum" sz="quarter" idx="12"/>
          </p:nvPr>
        </p:nvSpPr>
        <p:spPr/>
        <p:txBody>
          <a:bodyPr/>
          <a:lstStyle/>
          <a:p>
            <a:fld id="{9C8CFCD6-D300-4021-B6CE-498726932892}" type="slidenum">
              <a:rPr lang="en-IN" smtClean="0"/>
              <a:t>‹#›</a:t>
            </a:fld>
            <a:endParaRPr lang="en-IN"/>
          </a:p>
        </p:txBody>
      </p:sp>
    </p:spTree>
    <p:extLst>
      <p:ext uri="{BB962C8B-B14F-4D97-AF65-F5344CB8AC3E}">
        <p14:creationId xmlns:p14="http://schemas.microsoft.com/office/powerpoint/2010/main" val="41278181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Fall 2006</a:t>
            </a:r>
            <a:endParaRPr lang="en-IN"/>
          </a:p>
        </p:txBody>
      </p:sp>
      <p:sp>
        <p:nvSpPr>
          <p:cNvPr id="3" name="Footer Placeholder 2"/>
          <p:cNvSpPr>
            <a:spLocks noGrp="1"/>
          </p:cNvSpPr>
          <p:nvPr>
            <p:ph type="ftr" sz="quarter" idx="11"/>
          </p:nvPr>
        </p:nvSpPr>
        <p:spPr/>
        <p:txBody>
          <a:bodyPr/>
          <a:lstStyle/>
          <a:p>
            <a:r>
              <a:rPr lang="en-IN"/>
              <a:t>Costas Busch - RPI</a:t>
            </a:r>
          </a:p>
        </p:txBody>
      </p:sp>
      <p:sp>
        <p:nvSpPr>
          <p:cNvPr id="4" name="Slide Number Placeholder 3"/>
          <p:cNvSpPr>
            <a:spLocks noGrp="1"/>
          </p:cNvSpPr>
          <p:nvPr>
            <p:ph type="sldNum" sz="quarter" idx="12"/>
          </p:nvPr>
        </p:nvSpPr>
        <p:spPr/>
        <p:txBody>
          <a:bodyPr/>
          <a:lstStyle/>
          <a:p>
            <a:fld id="{9C8CFCD6-D300-4021-B6CE-498726932892}" type="slidenum">
              <a:rPr lang="en-IN" smtClean="0"/>
              <a:t>‹#›</a:t>
            </a:fld>
            <a:endParaRPr lang="en-IN"/>
          </a:p>
        </p:txBody>
      </p:sp>
    </p:spTree>
    <p:extLst>
      <p:ext uri="{BB962C8B-B14F-4D97-AF65-F5344CB8AC3E}">
        <p14:creationId xmlns:p14="http://schemas.microsoft.com/office/powerpoint/2010/main" val="2760186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Fall 2006</a:t>
            </a:r>
            <a:endParaRPr lang="en-IN"/>
          </a:p>
        </p:txBody>
      </p:sp>
      <p:sp>
        <p:nvSpPr>
          <p:cNvPr id="6" name="Footer Placeholder 5"/>
          <p:cNvSpPr>
            <a:spLocks noGrp="1"/>
          </p:cNvSpPr>
          <p:nvPr>
            <p:ph type="ftr" sz="quarter" idx="11"/>
          </p:nvPr>
        </p:nvSpPr>
        <p:spPr/>
        <p:txBody>
          <a:bodyPr/>
          <a:lstStyle/>
          <a:p>
            <a:r>
              <a:rPr lang="en-IN"/>
              <a:t>Costas Busch - RPI</a:t>
            </a:r>
          </a:p>
        </p:txBody>
      </p:sp>
      <p:sp>
        <p:nvSpPr>
          <p:cNvPr id="7" name="Slide Number Placeholder 6"/>
          <p:cNvSpPr>
            <a:spLocks noGrp="1"/>
          </p:cNvSpPr>
          <p:nvPr>
            <p:ph type="sldNum" sz="quarter" idx="12"/>
          </p:nvPr>
        </p:nvSpPr>
        <p:spPr/>
        <p:txBody>
          <a:bodyPr/>
          <a:lstStyle/>
          <a:p>
            <a:fld id="{9C8CFCD6-D300-4021-B6CE-498726932892}" type="slidenum">
              <a:rPr lang="en-IN" smtClean="0"/>
              <a:t>‹#›</a:t>
            </a:fld>
            <a:endParaRPr lang="en-IN"/>
          </a:p>
        </p:txBody>
      </p:sp>
    </p:spTree>
    <p:extLst>
      <p:ext uri="{BB962C8B-B14F-4D97-AF65-F5344CB8AC3E}">
        <p14:creationId xmlns:p14="http://schemas.microsoft.com/office/powerpoint/2010/main" val="25734580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Fall 2006</a:t>
            </a:r>
            <a:endParaRPr lang="en-IN"/>
          </a:p>
        </p:txBody>
      </p:sp>
      <p:sp>
        <p:nvSpPr>
          <p:cNvPr id="6" name="Footer Placeholder 5"/>
          <p:cNvSpPr>
            <a:spLocks noGrp="1"/>
          </p:cNvSpPr>
          <p:nvPr>
            <p:ph type="ftr" sz="quarter" idx="11"/>
          </p:nvPr>
        </p:nvSpPr>
        <p:spPr/>
        <p:txBody>
          <a:bodyPr/>
          <a:lstStyle/>
          <a:p>
            <a:r>
              <a:rPr lang="en-IN"/>
              <a:t>Costas Busch - RPI</a:t>
            </a:r>
          </a:p>
        </p:txBody>
      </p:sp>
      <p:sp>
        <p:nvSpPr>
          <p:cNvPr id="7" name="Slide Number Placeholder 6"/>
          <p:cNvSpPr>
            <a:spLocks noGrp="1"/>
          </p:cNvSpPr>
          <p:nvPr>
            <p:ph type="sldNum" sz="quarter" idx="12"/>
          </p:nvPr>
        </p:nvSpPr>
        <p:spPr/>
        <p:txBody>
          <a:bodyPr/>
          <a:lstStyle/>
          <a:p>
            <a:fld id="{9C8CFCD6-D300-4021-B6CE-498726932892}" type="slidenum">
              <a:rPr lang="en-IN" smtClean="0"/>
              <a:t>‹#›</a:t>
            </a:fld>
            <a:endParaRPr lang="en-IN"/>
          </a:p>
        </p:txBody>
      </p:sp>
    </p:spTree>
    <p:extLst>
      <p:ext uri="{BB962C8B-B14F-4D97-AF65-F5344CB8AC3E}">
        <p14:creationId xmlns:p14="http://schemas.microsoft.com/office/powerpoint/2010/main" val="42658663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r>
              <a:rPr lang="en-US"/>
              <a:t>Fall 2006</a:t>
            </a:r>
            <a:endParaRPr lang="en-IN"/>
          </a:p>
        </p:txBody>
      </p:sp>
      <p:sp>
        <p:nvSpPr>
          <p:cNvPr id="5" name="Footer Placeholder 4"/>
          <p:cNvSpPr>
            <a:spLocks noGrp="1"/>
          </p:cNvSpPr>
          <p:nvPr>
            <p:ph type="ftr" sz="quarter" idx="11"/>
          </p:nvPr>
        </p:nvSpPr>
        <p:spPr/>
        <p:txBody>
          <a:bodyPr/>
          <a:lstStyle/>
          <a:p>
            <a:r>
              <a:rPr lang="en-IN"/>
              <a:t>Costas Busch - RPI</a:t>
            </a:r>
          </a:p>
        </p:txBody>
      </p:sp>
      <p:sp>
        <p:nvSpPr>
          <p:cNvPr id="6" name="Slide Number Placeholder 5"/>
          <p:cNvSpPr>
            <a:spLocks noGrp="1"/>
          </p:cNvSpPr>
          <p:nvPr>
            <p:ph type="sldNum" sz="quarter" idx="12"/>
          </p:nvPr>
        </p:nvSpPr>
        <p:spPr/>
        <p:txBody>
          <a:bodyPr/>
          <a:lstStyle/>
          <a:p>
            <a:fld id="{9C8CFCD6-D300-4021-B6CE-498726932892}" type="slidenum">
              <a:rPr lang="en-IN" smtClean="0"/>
              <a:t>‹#›</a:t>
            </a:fld>
            <a:endParaRPr lang="en-IN"/>
          </a:p>
        </p:txBody>
      </p:sp>
    </p:spTree>
    <p:extLst>
      <p:ext uri="{BB962C8B-B14F-4D97-AF65-F5344CB8AC3E}">
        <p14:creationId xmlns:p14="http://schemas.microsoft.com/office/powerpoint/2010/main" val="30055723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r>
              <a:rPr lang="en-US"/>
              <a:t>Fall 2006</a:t>
            </a:r>
            <a:endParaRPr lang="en-IN"/>
          </a:p>
        </p:txBody>
      </p:sp>
      <p:sp>
        <p:nvSpPr>
          <p:cNvPr id="5" name="Footer Placeholder 4"/>
          <p:cNvSpPr>
            <a:spLocks noGrp="1"/>
          </p:cNvSpPr>
          <p:nvPr>
            <p:ph type="ftr" sz="quarter" idx="11"/>
          </p:nvPr>
        </p:nvSpPr>
        <p:spPr/>
        <p:txBody>
          <a:bodyPr/>
          <a:lstStyle/>
          <a:p>
            <a:r>
              <a:rPr lang="en-IN"/>
              <a:t>Costas Busch - RPI</a:t>
            </a:r>
          </a:p>
        </p:txBody>
      </p:sp>
      <p:sp>
        <p:nvSpPr>
          <p:cNvPr id="6" name="Slide Number Placeholder 5"/>
          <p:cNvSpPr>
            <a:spLocks noGrp="1"/>
          </p:cNvSpPr>
          <p:nvPr>
            <p:ph type="sldNum" sz="quarter" idx="12"/>
          </p:nvPr>
        </p:nvSpPr>
        <p:spPr/>
        <p:txBody>
          <a:bodyPr/>
          <a:lstStyle/>
          <a:p>
            <a:fld id="{9C8CFCD6-D300-4021-B6CE-498726932892}" type="slidenum">
              <a:rPr lang="en-IN" smtClean="0"/>
              <a:t>‹#›</a:t>
            </a:fld>
            <a:endParaRPr lang="en-IN"/>
          </a:p>
        </p:txBody>
      </p:sp>
    </p:spTree>
    <p:extLst>
      <p:ext uri="{BB962C8B-B14F-4D97-AF65-F5344CB8AC3E}">
        <p14:creationId xmlns:p14="http://schemas.microsoft.com/office/powerpoint/2010/main" val="35798607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Palatino Linotype" panose="02040502050505030304" pitchFamily="18" charset="0"/>
              </a:defRPr>
            </a:lvl1pPr>
          </a:lstStyle>
          <a:p>
            <a:r>
              <a:rPr lang="en-US"/>
              <a:t>Fall 2006</a:t>
            </a:r>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Palatino Linotype" panose="02040502050505030304" pitchFamily="18" charset="0"/>
              </a:defRPr>
            </a:lvl1pPr>
          </a:lstStyle>
          <a:p>
            <a:r>
              <a:rPr lang="en-IN"/>
              <a:t>Costas Busch - RPI</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Palatino Linotype" panose="02040502050505030304" pitchFamily="18" charset="0"/>
              </a:defRPr>
            </a:lvl1pPr>
          </a:lstStyle>
          <a:p>
            <a:fld id="{9C8CFCD6-D300-4021-B6CE-498726932892}" type="slidenum">
              <a:rPr lang="en-IN" smtClean="0"/>
              <a:pPr/>
              <a:t>‹#›</a:t>
            </a:fld>
            <a:endParaRPr lang="en-IN"/>
          </a:p>
        </p:txBody>
      </p:sp>
    </p:spTree>
    <p:extLst>
      <p:ext uri="{BB962C8B-B14F-4D97-AF65-F5344CB8AC3E}">
        <p14:creationId xmlns:p14="http://schemas.microsoft.com/office/powerpoint/2010/main" val="42865786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4400" kern="1200">
          <a:solidFill>
            <a:srgbClr val="C00000"/>
          </a:solidFill>
          <a:latin typeface="Palatino Linotype" panose="02040502050505030304" pitchFamily="18" charset="0"/>
          <a:ea typeface="+mj-ea"/>
          <a:cs typeface="+mj-cs"/>
        </a:defRPr>
      </a:lvl1pPr>
    </p:titleStyle>
    <p:bodyStyle>
      <a:lvl1pPr marL="228600" indent="-228600" algn="just"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Palatino Linotype" panose="02040502050505030304" pitchFamily="18" charset="0"/>
          <a:ea typeface="+mn-ea"/>
          <a:cs typeface="+mn-cs"/>
        </a:defRPr>
      </a:lvl1pPr>
      <a:lvl2pPr marL="685800" indent="-228600" algn="just"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Palatino Linotype" panose="02040502050505030304" pitchFamily="18" charset="0"/>
          <a:ea typeface="+mn-ea"/>
          <a:cs typeface="+mn-cs"/>
        </a:defRPr>
      </a:lvl2pPr>
      <a:lvl3pPr marL="1143000" indent="-228600" algn="just"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Palatino Linotype" panose="02040502050505030304" pitchFamily="18" charset="0"/>
          <a:ea typeface="+mn-ea"/>
          <a:cs typeface="+mn-cs"/>
        </a:defRPr>
      </a:lvl3pPr>
      <a:lvl4pPr marL="1600200" indent="-228600" algn="just"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alatino Linotype" panose="02040502050505030304" pitchFamily="18" charset="0"/>
          <a:ea typeface="+mn-ea"/>
          <a:cs typeface="+mn-cs"/>
        </a:defRPr>
      </a:lvl4pPr>
      <a:lvl5pPr marL="2057400" indent="-228600" algn="just"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410.png"/><Relationship Id="rId2" Type="http://schemas.openxmlformats.org/officeDocument/2006/relationships/image" Target="../media/image310.png"/><Relationship Id="rId1" Type="http://schemas.openxmlformats.org/officeDocument/2006/relationships/slideLayout" Target="../slideLayouts/slideLayout7.xml"/><Relationship Id="rId5" Type="http://schemas.openxmlformats.org/officeDocument/2006/relationships/image" Target="../media/image610.png"/><Relationship Id="rId4" Type="http://schemas.openxmlformats.org/officeDocument/2006/relationships/image" Target="../media/image510.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8.png"/><Relationship Id="rId3" Type="http://schemas.openxmlformats.org/officeDocument/2006/relationships/image" Target="../media/image810.png"/><Relationship Id="rId7" Type="http://schemas.openxmlformats.org/officeDocument/2006/relationships/image" Target="../media/image12.png"/><Relationship Id="rId12"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11.png"/><Relationship Id="rId11" Type="http://schemas.openxmlformats.org/officeDocument/2006/relationships/image" Target="../media/image16.png"/><Relationship Id="rId5" Type="http://schemas.openxmlformats.org/officeDocument/2006/relationships/image" Target="../media/image10.png"/><Relationship Id="rId15" Type="http://schemas.openxmlformats.org/officeDocument/2006/relationships/image" Target="../media/image20.png"/><Relationship Id="rId10" Type="http://schemas.openxmlformats.org/officeDocument/2006/relationships/image" Target="../media/image15.png"/><Relationship Id="rId4" Type="http://schemas.openxmlformats.org/officeDocument/2006/relationships/image" Target="../media/image910.png"/><Relationship Id="rId9" Type="http://schemas.openxmlformats.org/officeDocument/2006/relationships/image" Target="../media/image14.png"/><Relationship Id="rId14" Type="http://schemas.openxmlformats.org/officeDocument/2006/relationships/image" Target="../media/image19.png"/></Relationships>
</file>

<file path=ppt/slides/_rels/slide31.xml.rels><?xml version="1.0" encoding="UTF-8" standalone="yes"?>
<Relationships xmlns="http://schemas.openxmlformats.org/package/2006/relationships"><Relationship Id="rId8" Type="http://schemas.openxmlformats.org/officeDocument/2006/relationships/image" Target="../media/image27.png"/><Relationship Id="rId13" Type="http://schemas.openxmlformats.org/officeDocument/2006/relationships/image" Target="../media/image32.png"/><Relationship Id="rId3" Type="http://schemas.openxmlformats.org/officeDocument/2006/relationships/image" Target="../media/image22.png"/><Relationship Id="rId7" Type="http://schemas.openxmlformats.org/officeDocument/2006/relationships/image" Target="../media/image26.png"/><Relationship Id="rId12" Type="http://schemas.openxmlformats.org/officeDocument/2006/relationships/image" Target="../media/image31.png"/><Relationship Id="rId2" Type="http://schemas.openxmlformats.org/officeDocument/2006/relationships/image" Target="../media/image21.png"/><Relationship Id="rId1" Type="http://schemas.openxmlformats.org/officeDocument/2006/relationships/slideLayout" Target="../slideLayouts/slideLayout7.xml"/><Relationship Id="rId6" Type="http://schemas.openxmlformats.org/officeDocument/2006/relationships/image" Target="../media/image25.png"/><Relationship Id="rId11" Type="http://schemas.openxmlformats.org/officeDocument/2006/relationships/image" Target="../media/image30.png"/><Relationship Id="rId5" Type="http://schemas.openxmlformats.org/officeDocument/2006/relationships/image" Target="../media/image24.png"/><Relationship Id="rId10" Type="http://schemas.openxmlformats.org/officeDocument/2006/relationships/image" Target="../media/image29.png"/><Relationship Id="rId4" Type="http://schemas.openxmlformats.org/officeDocument/2006/relationships/image" Target="../media/image23.png"/><Relationship Id="rId9" Type="http://schemas.openxmlformats.org/officeDocument/2006/relationships/image" Target="../media/image28.png"/></Relationships>
</file>

<file path=ppt/slides/_rels/slide32.xml.rels><?xml version="1.0" encoding="UTF-8" standalone="yes"?>
<Relationships xmlns="http://schemas.openxmlformats.org/package/2006/relationships"><Relationship Id="rId8" Type="http://schemas.openxmlformats.org/officeDocument/2006/relationships/image" Target="../media/image39.png"/><Relationship Id="rId13" Type="http://schemas.openxmlformats.org/officeDocument/2006/relationships/image" Target="../media/image44.png"/><Relationship Id="rId3" Type="http://schemas.openxmlformats.org/officeDocument/2006/relationships/image" Target="../media/image34.png"/><Relationship Id="rId7" Type="http://schemas.openxmlformats.org/officeDocument/2006/relationships/image" Target="../media/image38.png"/><Relationship Id="rId12" Type="http://schemas.openxmlformats.org/officeDocument/2006/relationships/image" Target="../media/image43.png"/><Relationship Id="rId2" Type="http://schemas.openxmlformats.org/officeDocument/2006/relationships/image" Target="../media/image33.png"/><Relationship Id="rId1" Type="http://schemas.openxmlformats.org/officeDocument/2006/relationships/slideLayout" Target="../slideLayouts/slideLayout7.xml"/><Relationship Id="rId6" Type="http://schemas.openxmlformats.org/officeDocument/2006/relationships/image" Target="../media/image37.png"/><Relationship Id="rId11" Type="http://schemas.openxmlformats.org/officeDocument/2006/relationships/image" Target="../media/image42.png"/><Relationship Id="rId5" Type="http://schemas.openxmlformats.org/officeDocument/2006/relationships/image" Target="../media/image36.png"/><Relationship Id="rId10" Type="http://schemas.openxmlformats.org/officeDocument/2006/relationships/image" Target="../media/image41.png"/><Relationship Id="rId4" Type="http://schemas.openxmlformats.org/officeDocument/2006/relationships/image" Target="../media/image35.png"/><Relationship Id="rId9" Type="http://schemas.openxmlformats.org/officeDocument/2006/relationships/image" Target="../media/image40.png"/><Relationship Id="rId14" Type="http://schemas.openxmlformats.org/officeDocument/2006/relationships/image" Target="../media/image45.png"/></Relationships>
</file>

<file path=ppt/slides/_rels/slide33.xml.rels><?xml version="1.0" encoding="UTF-8" standalone="yes"?>
<Relationships xmlns="http://schemas.openxmlformats.org/package/2006/relationships"><Relationship Id="rId8" Type="http://schemas.openxmlformats.org/officeDocument/2006/relationships/image" Target="../media/image52.png"/><Relationship Id="rId13" Type="http://schemas.openxmlformats.org/officeDocument/2006/relationships/image" Target="../media/image57.png"/><Relationship Id="rId3" Type="http://schemas.openxmlformats.org/officeDocument/2006/relationships/image" Target="../media/image47.png"/><Relationship Id="rId7" Type="http://schemas.openxmlformats.org/officeDocument/2006/relationships/image" Target="../media/image51.png"/><Relationship Id="rId12" Type="http://schemas.openxmlformats.org/officeDocument/2006/relationships/image" Target="../media/image56.png"/><Relationship Id="rId2" Type="http://schemas.openxmlformats.org/officeDocument/2006/relationships/image" Target="../media/image46.png"/><Relationship Id="rId16" Type="http://schemas.openxmlformats.org/officeDocument/2006/relationships/image" Target="../media/image60.png"/><Relationship Id="rId1" Type="http://schemas.openxmlformats.org/officeDocument/2006/relationships/slideLayout" Target="../slideLayouts/slideLayout7.xml"/><Relationship Id="rId6" Type="http://schemas.openxmlformats.org/officeDocument/2006/relationships/image" Target="../media/image50.png"/><Relationship Id="rId11" Type="http://schemas.openxmlformats.org/officeDocument/2006/relationships/image" Target="../media/image55.png"/><Relationship Id="rId5" Type="http://schemas.openxmlformats.org/officeDocument/2006/relationships/image" Target="../media/image49.png"/><Relationship Id="rId15" Type="http://schemas.openxmlformats.org/officeDocument/2006/relationships/image" Target="../media/image59.png"/><Relationship Id="rId10" Type="http://schemas.openxmlformats.org/officeDocument/2006/relationships/image" Target="../media/image54.png"/><Relationship Id="rId4" Type="http://schemas.openxmlformats.org/officeDocument/2006/relationships/image" Target="../media/image48.png"/><Relationship Id="rId9" Type="http://schemas.openxmlformats.org/officeDocument/2006/relationships/image" Target="../media/image53.png"/><Relationship Id="rId14" Type="http://schemas.openxmlformats.org/officeDocument/2006/relationships/image" Target="../media/image58.png"/></Relationships>
</file>

<file path=ppt/slides/_rels/slide34.xml.rels><?xml version="1.0" encoding="UTF-8" standalone="yes"?>
<Relationships xmlns="http://schemas.openxmlformats.org/package/2006/relationships"><Relationship Id="rId8" Type="http://schemas.openxmlformats.org/officeDocument/2006/relationships/image" Target="../media/image67.png"/><Relationship Id="rId3" Type="http://schemas.openxmlformats.org/officeDocument/2006/relationships/image" Target="../media/image62.png"/><Relationship Id="rId7" Type="http://schemas.openxmlformats.org/officeDocument/2006/relationships/image" Target="../media/image66.png"/><Relationship Id="rId2" Type="http://schemas.openxmlformats.org/officeDocument/2006/relationships/image" Target="../media/image61.png"/><Relationship Id="rId1" Type="http://schemas.openxmlformats.org/officeDocument/2006/relationships/slideLayout" Target="../slideLayouts/slideLayout7.xml"/><Relationship Id="rId6" Type="http://schemas.openxmlformats.org/officeDocument/2006/relationships/image" Target="../media/image65.png"/><Relationship Id="rId5" Type="http://schemas.openxmlformats.org/officeDocument/2006/relationships/image" Target="../media/image64.png"/><Relationship Id="rId4" Type="http://schemas.openxmlformats.org/officeDocument/2006/relationships/image" Target="../media/image63.png"/></Relationships>
</file>

<file path=ppt/slides/_rels/slide3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7.xml"/><Relationship Id="rId4" Type="http://schemas.openxmlformats.org/officeDocument/2006/relationships/image" Target="../media/image71.png"/></Relationships>
</file>

<file path=ppt/slides/_rels/slide4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8" Type="http://schemas.openxmlformats.org/officeDocument/2006/relationships/image" Target="../media/image78.png"/><Relationship Id="rId3" Type="http://schemas.openxmlformats.org/officeDocument/2006/relationships/image" Target="../media/image730.png"/><Relationship Id="rId7" Type="http://schemas.openxmlformats.org/officeDocument/2006/relationships/image" Target="../media/image77.png"/><Relationship Id="rId2" Type="http://schemas.openxmlformats.org/officeDocument/2006/relationships/image" Target="../media/image720.png"/><Relationship Id="rId1" Type="http://schemas.openxmlformats.org/officeDocument/2006/relationships/slideLayout" Target="../slideLayouts/slideLayout7.xml"/><Relationship Id="rId6" Type="http://schemas.openxmlformats.org/officeDocument/2006/relationships/image" Target="../media/image76.png"/><Relationship Id="rId5" Type="http://schemas.openxmlformats.org/officeDocument/2006/relationships/image" Target="../media/image75.png"/><Relationship Id="rId4" Type="http://schemas.openxmlformats.org/officeDocument/2006/relationships/image" Target="../media/image74.png"/><Relationship Id="rId9" Type="http://schemas.openxmlformats.org/officeDocument/2006/relationships/image" Target="../media/image8.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148705" y="2719843"/>
            <a:ext cx="9144000" cy="1655762"/>
          </a:xfrm>
        </p:spPr>
        <p:txBody>
          <a:bodyPr>
            <a:normAutofit/>
          </a:bodyPr>
          <a:lstStyle/>
          <a:p>
            <a:r>
              <a:rPr lang="en-IN" sz="4600" b="1" dirty="0">
                <a:solidFill>
                  <a:srgbClr val="C00000"/>
                </a:solidFill>
              </a:rPr>
              <a:t>BCSE307L – COMPILER DESIGN</a:t>
            </a:r>
          </a:p>
        </p:txBody>
      </p:sp>
    </p:spTree>
    <p:extLst>
      <p:ext uri="{BB962C8B-B14F-4D97-AF65-F5344CB8AC3E}">
        <p14:creationId xmlns:p14="http://schemas.microsoft.com/office/powerpoint/2010/main" val="42620369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F15808-A4D0-1DCE-4975-C31A5D20E821}"/>
              </a:ext>
            </a:extLst>
          </p:cNvPr>
          <p:cNvSpPr>
            <a:spLocks noGrp="1"/>
          </p:cNvSpPr>
          <p:nvPr>
            <p:ph type="title"/>
          </p:nvPr>
        </p:nvSpPr>
        <p:spPr>
          <a:xfrm>
            <a:off x="838200" y="234335"/>
            <a:ext cx="10515600" cy="893404"/>
          </a:xfrm>
        </p:spPr>
        <p:txBody>
          <a:bodyPr/>
          <a:lstStyle/>
          <a:p>
            <a:r>
              <a:rPr lang="en-US" dirty="0"/>
              <a:t>Course Outcomes</a:t>
            </a:r>
            <a:endParaRPr lang="en-IN" dirty="0"/>
          </a:p>
        </p:txBody>
      </p:sp>
      <p:sp>
        <p:nvSpPr>
          <p:cNvPr id="3" name="Content Placeholder 2">
            <a:extLst>
              <a:ext uri="{FF2B5EF4-FFF2-40B4-BE49-F238E27FC236}">
                <a16:creationId xmlns:a16="http://schemas.microsoft.com/office/drawing/2014/main" id="{F5CC7AFF-9422-C088-BBE7-58F38C518F0C}"/>
              </a:ext>
            </a:extLst>
          </p:cNvPr>
          <p:cNvSpPr>
            <a:spLocks noGrp="1"/>
          </p:cNvSpPr>
          <p:nvPr>
            <p:ph idx="1"/>
          </p:nvPr>
        </p:nvSpPr>
        <p:spPr>
          <a:xfrm>
            <a:off x="838200" y="1258528"/>
            <a:ext cx="10515600" cy="4518817"/>
          </a:xfrm>
        </p:spPr>
        <p:txBody>
          <a:bodyPr>
            <a:normAutofit/>
          </a:bodyPr>
          <a:lstStyle/>
          <a:p>
            <a:pPr marL="514350" lvl="0" indent="-514350">
              <a:buFont typeface="+mj-lt"/>
              <a:buAutoNum type="arabicPeriod"/>
            </a:pPr>
            <a:r>
              <a:rPr lang="en-US" dirty="0"/>
              <a:t>Apply the skills on devising, selecting, and using tools and techniques towards compiler design </a:t>
            </a:r>
          </a:p>
          <a:p>
            <a:pPr marL="514350" lvl="0" indent="-514350">
              <a:buFont typeface="+mj-lt"/>
              <a:buAutoNum type="arabicPeriod"/>
            </a:pPr>
            <a:r>
              <a:rPr lang="en-US" dirty="0"/>
              <a:t>Develop language specifications using context free grammars (CFG). </a:t>
            </a:r>
          </a:p>
          <a:p>
            <a:pPr marL="514350" lvl="0" indent="-514350">
              <a:buFont typeface="+mj-lt"/>
              <a:buAutoNum type="arabicPeriod"/>
            </a:pPr>
            <a:r>
              <a:rPr lang="en-US" dirty="0"/>
              <a:t>Apply the ideas, the techniques, and the knowledge acquired for the purpose of developing software systems. </a:t>
            </a:r>
          </a:p>
          <a:p>
            <a:pPr marL="514350" lvl="0" indent="-514350">
              <a:buFont typeface="+mj-lt"/>
              <a:buAutoNum type="arabicPeriod"/>
            </a:pPr>
            <a:r>
              <a:rPr lang="en-US" dirty="0"/>
              <a:t>Constructing symbol tables and generating intermediate code. </a:t>
            </a:r>
          </a:p>
          <a:p>
            <a:pPr marL="514350" lvl="0" indent="-514350">
              <a:buFont typeface="+mj-lt"/>
              <a:buAutoNum type="arabicPeriod"/>
            </a:pPr>
            <a:r>
              <a:rPr lang="en-US" dirty="0"/>
              <a:t>Obtain insights on compiler optimization and code generation</a:t>
            </a:r>
            <a:endParaRPr lang="en-IN" dirty="0"/>
          </a:p>
        </p:txBody>
      </p:sp>
    </p:spTree>
    <p:extLst>
      <p:ext uri="{BB962C8B-B14F-4D97-AF65-F5344CB8AC3E}">
        <p14:creationId xmlns:p14="http://schemas.microsoft.com/office/powerpoint/2010/main" val="7936621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A24CFE-7D5D-803D-11F0-E00E70B86703}"/>
              </a:ext>
            </a:extLst>
          </p:cNvPr>
          <p:cNvSpPr>
            <a:spLocks noGrp="1"/>
          </p:cNvSpPr>
          <p:nvPr>
            <p:ph type="title"/>
          </p:nvPr>
        </p:nvSpPr>
        <p:spPr>
          <a:xfrm>
            <a:off x="838200" y="138984"/>
            <a:ext cx="10515600" cy="736088"/>
          </a:xfrm>
        </p:spPr>
        <p:txBody>
          <a:bodyPr/>
          <a:lstStyle/>
          <a:p>
            <a:r>
              <a:rPr lang="en-IN" dirty="0"/>
              <a:t>Syllabus</a:t>
            </a:r>
          </a:p>
        </p:txBody>
      </p:sp>
      <p:sp>
        <p:nvSpPr>
          <p:cNvPr id="3" name="Content Placeholder 2">
            <a:extLst>
              <a:ext uri="{FF2B5EF4-FFF2-40B4-BE49-F238E27FC236}">
                <a16:creationId xmlns:a16="http://schemas.microsoft.com/office/drawing/2014/main" id="{B95FEACA-8421-C39E-AFD4-95A3CEED514E}"/>
              </a:ext>
            </a:extLst>
          </p:cNvPr>
          <p:cNvSpPr>
            <a:spLocks noGrp="1"/>
          </p:cNvSpPr>
          <p:nvPr>
            <p:ph idx="1"/>
          </p:nvPr>
        </p:nvSpPr>
        <p:spPr>
          <a:xfrm>
            <a:off x="838200" y="875072"/>
            <a:ext cx="10515600" cy="5982928"/>
          </a:xfrm>
        </p:spPr>
        <p:txBody>
          <a:bodyPr>
            <a:normAutofit/>
          </a:bodyPr>
          <a:lstStyle/>
          <a:p>
            <a:r>
              <a:rPr lang="en-US" sz="2000" b="1" i="0" u="none" strike="noStrike" baseline="0" dirty="0">
                <a:solidFill>
                  <a:srgbClr val="0070C0"/>
                </a:solidFill>
              </a:rPr>
              <a:t>Module: 1 Introduction to Compilation and Lexical Analysis </a:t>
            </a:r>
            <a:r>
              <a:rPr lang="en-IN" sz="2000" b="1" i="0" u="none" strike="noStrike" baseline="0" dirty="0">
                <a:solidFill>
                  <a:srgbClr val="0070C0"/>
                </a:solidFill>
              </a:rPr>
              <a:t>7 hours </a:t>
            </a:r>
            <a:endParaRPr lang="en-US" sz="2000" b="1" i="0" u="none" strike="noStrike" baseline="0" dirty="0">
              <a:solidFill>
                <a:srgbClr val="0070C0"/>
              </a:solidFill>
            </a:endParaRPr>
          </a:p>
          <a:p>
            <a:pPr lvl="1"/>
            <a:r>
              <a:rPr lang="en-US" sz="2000" b="0" i="0" u="none" strike="noStrike" baseline="0" dirty="0">
                <a:solidFill>
                  <a:srgbClr val="000000"/>
                </a:solidFill>
              </a:rPr>
              <a:t>Introduction to LLVM - Structure and Phases of a Compiler-Design Issues-Patterns Lexemes-Tokens-Attributes-Specification of Tokens-Extended Regular Expression- Regular expression to Deterministic Finite Automata (Direct method) - Lex - A Lexical Analyzer Generator</a:t>
            </a:r>
          </a:p>
          <a:p>
            <a:r>
              <a:rPr lang="en-IN" sz="2000" b="1" i="0" u="none" strike="noStrike" baseline="0" dirty="0">
                <a:solidFill>
                  <a:srgbClr val="0070C0"/>
                </a:solidFill>
              </a:rPr>
              <a:t>Module: 2 Syntax Analysis 8 hours </a:t>
            </a:r>
            <a:endParaRPr lang="en-IN" sz="2000" dirty="0">
              <a:solidFill>
                <a:srgbClr val="0070C0"/>
              </a:solidFill>
            </a:endParaRPr>
          </a:p>
          <a:p>
            <a:pPr lvl="1"/>
            <a:r>
              <a:rPr lang="it-IT" sz="2000" b="0" i="0" u="none" strike="noStrike" baseline="0" dirty="0">
                <a:solidFill>
                  <a:srgbClr val="000000"/>
                </a:solidFill>
              </a:rPr>
              <a:t>Role of Parser- Parse Tree - Elimination of Ambiguity – Top Down Parsing – Recursive Descent Parsing - LL (1) Grammars – Shift Reduce Parsers- Operator Precedence Parsing - LR Parsers, Construction of SLR Parser Tables and Parsing- CLR Parsing- LALR Parsing</a:t>
            </a:r>
          </a:p>
          <a:p>
            <a:r>
              <a:rPr lang="en-US" sz="2000" b="1" i="0" u="none" strike="noStrike" baseline="0" dirty="0">
                <a:solidFill>
                  <a:srgbClr val="0070C0"/>
                </a:solidFill>
              </a:rPr>
              <a:t>Module: 3 Semantic Analysis 5 hours </a:t>
            </a:r>
            <a:endParaRPr lang="en-US" sz="2000" dirty="0">
              <a:solidFill>
                <a:srgbClr val="0070C0"/>
              </a:solidFill>
            </a:endParaRPr>
          </a:p>
          <a:p>
            <a:pPr lvl="1"/>
            <a:r>
              <a:rPr lang="en-US" sz="2000" b="0" i="0" u="none" strike="noStrike" baseline="0" dirty="0">
                <a:solidFill>
                  <a:srgbClr val="000000"/>
                </a:solidFill>
              </a:rPr>
              <a:t>Syntax Directed Definition – Evaluation Order - Applications of Syntax Directed Translation - Syntax Directed Translation Schemes - Implementation of L-attributed Syntax Directed Definition</a:t>
            </a:r>
          </a:p>
          <a:p>
            <a:r>
              <a:rPr lang="en-US" sz="2000" b="1" i="0" u="none" strike="noStrike" baseline="0" dirty="0">
                <a:solidFill>
                  <a:srgbClr val="0070C0"/>
                </a:solidFill>
              </a:rPr>
              <a:t>Module: 4 Intermediate Code Generation 5 hours </a:t>
            </a:r>
          </a:p>
          <a:p>
            <a:pPr lvl="1"/>
            <a:r>
              <a:rPr lang="en-US" sz="2000" b="0" i="0" u="none" strike="noStrike" baseline="0" dirty="0">
                <a:solidFill>
                  <a:srgbClr val="000000"/>
                </a:solidFill>
              </a:rPr>
              <a:t>Variants of Syntax trees - Three Address Code- Types – Declarations - Procedures - Assignment Statements - Translation of Expressions - Control Flow - Back Patching- Switch Case Statements.</a:t>
            </a:r>
            <a:endParaRPr lang="en-IN" sz="2000" dirty="0"/>
          </a:p>
        </p:txBody>
      </p:sp>
    </p:spTree>
    <p:extLst>
      <p:ext uri="{BB962C8B-B14F-4D97-AF65-F5344CB8AC3E}">
        <p14:creationId xmlns:p14="http://schemas.microsoft.com/office/powerpoint/2010/main" val="13177278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A24CFE-7D5D-803D-11F0-E00E70B86703}"/>
              </a:ext>
            </a:extLst>
          </p:cNvPr>
          <p:cNvSpPr>
            <a:spLocks noGrp="1"/>
          </p:cNvSpPr>
          <p:nvPr>
            <p:ph type="title"/>
          </p:nvPr>
        </p:nvSpPr>
        <p:spPr>
          <a:xfrm>
            <a:off x="838200" y="138984"/>
            <a:ext cx="10515600" cy="736088"/>
          </a:xfrm>
        </p:spPr>
        <p:txBody>
          <a:bodyPr/>
          <a:lstStyle/>
          <a:p>
            <a:r>
              <a:rPr lang="en-IN" dirty="0"/>
              <a:t>Cont..</a:t>
            </a:r>
          </a:p>
        </p:txBody>
      </p:sp>
      <p:sp>
        <p:nvSpPr>
          <p:cNvPr id="3" name="Content Placeholder 2">
            <a:extLst>
              <a:ext uri="{FF2B5EF4-FFF2-40B4-BE49-F238E27FC236}">
                <a16:creationId xmlns:a16="http://schemas.microsoft.com/office/drawing/2014/main" id="{B95FEACA-8421-C39E-AFD4-95A3CEED514E}"/>
              </a:ext>
            </a:extLst>
          </p:cNvPr>
          <p:cNvSpPr>
            <a:spLocks noGrp="1"/>
          </p:cNvSpPr>
          <p:nvPr>
            <p:ph idx="1"/>
          </p:nvPr>
        </p:nvSpPr>
        <p:spPr>
          <a:xfrm>
            <a:off x="838200" y="875072"/>
            <a:ext cx="10515600" cy="5982928"/>
          </a:xfrm>
        </p:spPr>
        <p:txBody>
          <a:bodyPr>
            <a:normAutofit/>
          </a:bodyPr>
          <a:lstStyle/>
          <a:p>
            <a:r>
              <a:rPr lang="en-US" sz="2000" b="0" i="0" u="none" strike="noStrike" baseline="0" dirty="0">
                <a:solidFill>
                  <a:srgbClr val="0070C0"/>
                </a:solidFill>
              </a:rPr>
              <a:t> </a:t>
            </a:r>
            <a:r>
              <a:rPr lang="en-US" sz="2000" b="1" i="0" u="none" strike="noStrike" baseline="0" dirty="0">
                <a:solidFill>
                  <a:srgbClr val="0070C0"/>
                </a:solidFill>
              </a:rPr>
              <a:t>Module: 5 Code Optimization 6 hours </a:t>
            </a:r>
            <a:endParaRPr lang="en-US" sz="2000" dirty="0">
              <a:solidFill>
                <a:srgbClr val="0070C0"/>
              </a:solidFill>
            </a:endParaRPr>
          </a:p>
          <a:p>
            <a:pPr lvl="1"/>
            <a:r>
              <a:rPr lang="en-US" sz="2000" b="0" i="0" u="none" strike="noStrike" baseline="0" dirty="0">
                <a:solidFill>
                  <a:srgbClr val="000000"/>
                </a:solidFill>
              </a:rPr>
              <a:t>Loop optimizations- Principal Sources of Optimization -Introduction to Data Flow Analysis - Basic Blocks - Optimization of Basic Blocks - Peephole Optimization- The DAG Representation of Basic Blocks -Loops in Flow Graphs - Machine Independent Optimization Implementation of a naïve code generator for a virtual Machine- Security checking of virtual machine code</a:t>
            </a:r>
          </a:p>
          <a:p>
            <a:r>
              <a:rPr lang="en-US" sz="2000" b="1" i="0" u="none" strike="noStrike" baseline="0" dirty="0">
                <a:solidFill>
                  <a:srgbClr val="0070C0"/>
                </a:solidFill>
              </a:rPr>
              <a:t>Module: 6 Code Generation 5 hours </a:t>
            </a:r>
            <a:r>
              <a:rPr lang="en-US" sz="2000" dirty="0">
                <a:solidFill>
                  <a:srgbClr val="0070C0"/>
                </a:solidFill>
              </a:rPr>
              <a:t> </a:t>
            </a:r>
          </a:p>
          <a:p>
            <a:pPr lvl="1"/>
            <a:r>
              <a:rPr lang="en-US" sz="2000" b="0" i="0" u="none" strike="noStrike" baseline="0" dirty="0">
                <a:solidFill>
                  <a:srgbClr val="000000"/>
                </a:solidFill>
              </a:rPr>
              <a:t>Issues in the design of a code generator- Target Machine- Next-Use Information – Register Allocation and Assignment- Runtime Organization- Activation Records.</a:t>
            </a:r>
          </a:p>
          <a:p>
            <a:r>
              <a:rPr lang="en-US" sz="2000" b="1" i="0" u="none" strike="noStrike" baseline="0" dirty="0">
                <a:solidFill>
                  <a:srgbClr val="0070C0"/>
                </a:solidFill>
              </a:rPr>
              <a:t>Module: 7 </a:t>
            </a:r>
            <a:r>
              <a:rPr lang="en-IN" sz="2000" b="1" i="0" u="none" strike="noStrike" baseline="0" dirty="0">
                <a:solidFill>
                  <a:srgbClr val="0070C0"/>
                </a:solidFill>
              </a:rPr>
              <a:t>Parallelism 7 hours </a:t>
            </a:r>
            <a:endParaRPr lang="en-IN" sz="2000" dirty="0">
              <a:solidFill>
                <a:srgbClr val="0070C0"/>
              </a:solidFill>
            </a:endParaRPr>
          </a:p>
          <a:p>
            <a:pPr lvl="1"/>
            <a:r>
              <a:rPr lang="en-US" sz="2000" b="0" i="0" u="none" strike="noStrike" baseline="0" dirty="0">
                <a:solidFill>
                  <a:srgbClr val="000000"/>
                </a:solidFill>
              </a:rPr>
              <a:t>Parallelization- Automatic Parallelization- Optimizations for Cache Locality and Vectorization- Domain Specific Languages-Compilation- Instruction Scheduling and Software Pipelining- Impact of Language Design and Architecture Evolution on Compilers Static Single Assignment</a:t>
            </a:r>
          </a:p>
          <a:p>
            <a:r>
              <a:rPr lang="en-US" sz="2000" b="1" i="0" u="none" strike="noStrike" baseline="0" dirty="0">
                <a:solidFill>
                  <a:srgbClr val="0070C0"/>
                </a:solidFill>
              </a:rPr>
              <a:t>Module: 8 Contemporary Issues 2 hours </a:t>
            </a:r>
            <a:endParaRPr lang="en-IN" sz="2000" dirty="0">
              <a:solidFill>
                <a:srgbClr val="0070C0"/>
              </a:solidFill>
            </a:endParaRPr>
          </a:p>
        </p:txBody>
      </p:sp>
    </p:spTree>
    <p:extLst>
      <p:ext uri="{BB962C8B-B14F-4D97-AF65-F5344CB8AC3E}">
        <p14:creationId xmlns:p14="http://schemas.microsoft.com/office/powerpoint/2010/main" val="12000583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81A758-A530-F454-DF44-B022DC32B315}"/>
              </a:ext>
            </a:extLst>
          </p:cNvPr>
          <p:cNvSpPr>
            <a:spLocks noGrp="1"/>
          </p:cNvSpPr>
          <p:nvPr>
            <p:ph type="ctrTitle"/>
          </p:nvPr>
        </p:nvSpPr>
        <p:spPr/>
        <p:txBody>
          <a:bodyPr/>
          <a:lstStyle/>
          <a:p>
            <a:r>
              <a:rPr lang="en-US" dirty="0"/>
              <a:t>Token, Pattern &amp; Lexemes</a:t>
            </a:r>
            <a:endParaRPr lang="en-IN" dirty="0"/>
          </a:p>
        </p:txBody>
      </p:sp>
    </p:spTree>
    <p:extLst>
      <p:ext uri="{BB962C8B-B14F-4D97-AF65-F5344CB8AC3E}">
        <p14:creationId xmlns:p14="http://schemas.microsoft.com/office/powerpoint/2010/main" val="7401717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419564-FE35-67DB-0941-5FBDADD05193}"/>
              </a:ext>
            </a:extLst>
          </p:cNvPr>
          <p:cNvSpPr txBox="1">
            <a:spLocks/>
          </p:cNvSpPr>
          <p:nvPr/>
        </p:nvSpPr>
        <p:spPr>
          <a:xfrm>
            <a:off x="0" y="1"/>
            <a:ext cx="12192000" cy="711200"/>
          </a:xfrm>
          <a:prstGeom prst="rect">
            <a:avLst/>
          </a:prstGeom>
        </p:spPr>
        <p:txBody>
          <a:bodyPr/>
          <a:lstStyle>
            <a:lvl1pPr algn="l" defTabSz="914400" rtl="0" eaLnBrk="1" latinLnBrk="0" hangingPunct="1">
              <a:lnSpc>
                <a:spcPct val="90000"/>
              </a:lnSpc>
              <a:spcBef>
                <a:spcPct val="0"/>
              </a:spcBef>
              <a:buNone/>
              <a:defRPr sz="4400" kern="1200">
                <a:solidFill>
                  <a:srgbClr val="C00000"/>
                </a:solidFill>
                <a:latin typeface="Palatino Linotype" panose="02040502050505030304" pitchFamily="18" charset="0"/>
                <a:ea typeface="+mj-ea"/>
                <a:cs typeface="+mj-cs"/>
              </a:defRPr>
            </a:lvl1pPr>
          </a:lstStyle>
          <a:p>
            <a:r>
              <a:rPr lang="en-US"/>
              <a:t>Interaction of scanner &amp; parser</a:t>
            </a:r>
          </a:p>
        </p:txBody>
      </p:sp>
      <p:sp>
        <p:nvSpPr>
          <p:cNvPr id="3" name="Content Placeholder 2">
            <a:extLst>
              <a:ext uri="{FF2B5EF4-FFF2-40B4-BE49-F238E27FC236}">
                <a16:creationId xmlns:a16="http://schemas.microsoft.com/office/drawing/2014/main" id="{74688CC6-F22D-FA5B-4E33-F18C395B5C57}"/>
              </a:ext>
            </a:extLst>
          </p:cNvPr>
          <p:cNvSpPr txBox="1">
            <a:spLocks/>
          </p:cNvSpPr>
          <p:nvPr/>
        </p:nvSpPr>
        <p:spPr>
          <a:xfrm>
            <a:off x="131179" y="3740203"/>
            <a:ext cx="11929641" cy="2733698"/>
          </a:xfrm>
          <a:prstGeom prst="rect">
            <a:avLst/>
          </a:prstGeom>
        </p:spPr>
        <p:txBody>
          <a:bodyPr/>
          <a:lstStyle>
            <a:lvl1pPr marL="228600" indent="-228600" algn="just"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Palatino Linotype" panose="02040502050505030304" pitchFamily="18" charset="0"/>
                <a:ea typeface="+mn-ea"/>
                <a:cs typeface="+mn-cs"/>
              </a:defRPr>
            </a:lvl1pPr>
            <a:lvl2pPr marL="685800" indent="-228600" algn="just"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Palatino Linotype" panose="02040502050505030304" pitchFamily="18" charset="0"/>
                <a:ea typeface="+mn-ea"/>
                <a:cs typeface="+mn-cs"/>
              </a:defRPr>
            </a:lvl2pPr>
            <a:lvl3pPr marL="1143000" indent="-228600" algn="just"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Palatino Linotype" panose="02040502050505030304" pitchFamily="18" charset="0"/>
                <a:ea typeface="+mn-ea"/>
                <a:cs typeface="+mn-cs"/>
              </a:defRPr>
            </a:lvl3pPr>
            <a:lvl4pPr marL="1600200" indent="-228600" algn="just"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alatino Linotype" panose="02040502050505030304" pitchFamily="18" charset="0"/>
                <a:ea typeface="+mn-ea"/>
                <a:cs typeface="+mn-cs"/>
              </a:defRPr>
            </a:lvl4pPr>
            <a:lvl5pPr marL="2057400" indent="-228600" algn="just"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4000"/>
              </a:lnSpc>
            </a:pPr>
            <a:r>
              <a:rPr lang="en-US" sz="2700" dirty="0"/>
              <a:t>Upon receiving a </a:t>
            </a:r>
            <a:r>
              <a:rPr lang="en-US" sz="2700" b="1" dirty="0">
                <a:solidFill>
                  <a:srgbClr val="C00000"/>
                </a:solidFill>
              </a:rPr>
              <a:t>“Get next token” </a:t>
            </a:r>
            <a:r>
              <a:rPr lang="en-US" sz="2700" dirty="0"/>
              <a:t>command from parser, the lexical analyzer reads the input character until it can identify the next token.</a:t>
            </a:r>
          </a:p>
          <a:p>
            <a:pPr>
              <a:lnSpc>
                <a:spcPct val="114000"/>
              </a:lnSpc>
            </a:pPr>
            <a:r>
              <a:rPr lang="en-US" sz="2700" dirty="0"/>
              <a:t>Lexical analyzer also stripping out comments and white space in the form of blanks, tabs, and newline characters from the source program.</a:t>
            </a:r>
          </a:p>
          <a:p>
            <a:pPr>
              <a:lnSpc>
                <a:spcPct val="114000"/>
              </a:lnSpc>
            </a:pPr>
            <a:r>
              <a:rPr lang="en-US" sz="2700" dirty="0"/>
              <a:t>Another task is correlating error messages generated by the compiler with the source program</a:t>
            </a:r>
          </a:p>
          <a:p>
            <a:endParaRPr lang="en-US" sz="2700" dirty="0"/>
          </a:p>
        </p:txBody>
      </p:sp>
      <p:sp>
        <p:nvSpPr>
          <p:cNvPr id="4" name="Rectangle 3">
            <a:extLst>
              <a:ext uri="{FF2B5EF4-FFF2-40B4-BE49-F238E27FC236}">
                <a16:creationId xmlns:a16="http://schemas.microsoft.com/office/drawing/2014/main" id="{533DB7EA-BC10-7E5E-F2CE-8C571DA628C2}"/>
              </a:ext>
            </a:extLst>
          </p:cNvPr>
          <p:cNvSpPr>
            <a:spLocks noChangeArrowheads="1"/>
          </p:cNvSpPr>
          <p:nvPr/>
        </p:nvSpPr>
        <p:spPr bwMode="auto">
          <a:xfrm>
            <a:off x="4146091" y="1300003"/>
            <a:ext cx="1537837" cy="686117"/>
          </a:xfrm>
          <a:prstGeom prst="rect">
            <a:avLst/>
          </a:prstGeom>
          <a:solidFill>
            <a:srgbClr val="0E47A1"/>
          </a:solidFill>
          <a:ln w="9525">
            <a:solidFill>
              <a:schemeClr val="tx1"/>
            </a:solidFill>
            <a:miter lim="800000"/>
          </a:ln>
        </p:spPr>
        <p:txBody>
          <a:bodyPr rot="0" vert="horz" wrap="square" lIns="91440" tIns="45720" rIns="91440" bIns="45720" anchor="t" anchorCtr="0" upright="1">
            <a:noAutofit/>
          </a:bodyPr>
          <a:lstStyle/>
          <a:p>
            <a:pPr marL="0" marR="0" algn="ctr">
              <a:lnSpc>
                <a:spcPct val="115000"/>
              </a:lnSpc>
              <a:spcBef>
                <a:spcPct val="0"/>
              </a:spcBef>
              <a:spcAft>
                <a:spcPts val="1000"/>
              </a:spcAft>
            </a:pPr>
            <a:r>
              <a:rPr lang="en-US">
                <a:solidFill>
                  <a:schemeClr val="bg1"/>
                </a:solidFill>
                <a:effectLst/>
                <a:latin typeface="+mj-lt"/>
                <a:ea typeface="Calibri" panose="020F0502020204030204" pitchFamily="34" charset="0"/>
                <a:cs typeface="Times New Roman" panose="02020603050405020304" pitchFamily="18" charset="0"/>
              </a:rPr>
              <a:t>Lexical Analyzer</a:t>
            </a:r>
          </a:p>
        </p:txBody>
      </p:sp>
      <p:sp>
        <p:nvSpPr>
          <p:cNvPr id="5" name="Rectangle 4">
            <a:extLst>
              <a:ext uri="{FF2B5EF4-FFF2-40B4-BE49-F238E27FC236}">
                <a16:creationId xmlns:a16="http://schemas.microsoft.com/office/drawing/2014/main" id="{AC3D1AB2-4728-4F72-D1C0-95727D2724A4}"/>
              </a:ext>
            </a:extLst>
          </p:cNvPr>
          <p:cNvSpPr>
            <a:spLocks noChangeArrowheads="1"/>
          </p:cNvSpPr>
          <p:nvPr/>
        </p:nvSpPr>
        <p:spPr bwMode="auto">
          <a:xfrm>
            <a:off x="5074700" y="2899945"/>
            <a:ext cx="1843011" cy="537500"/>
          </a:xfrm>
          <a:prstGeom prst="rect">
            <a:avLst/>
          </a:prstGeom>
          <a:solidFill>
            <a:srgbClr val="0E47A1"/>
          </a:solidFill>
          <a:ln w="9525">
            <a:solidFill>
              <a:schemeClr val="tx1"/>
            </a:solidFill>
            <a:miter lim="800000"/>
          </a:ln>
        </p:spPr>
        <p:txBody>
          <a:bodyPr rot="0" vert="horz" wrap="square" lIns="91440" tIns="45720" rIns="91440" bIns="45720" anchor="t" anchorCtr="0" upright="1">
            <a:noAutofit/>
          </a:bodyPr>
          <a:lstStyle/>
          <a:p>
            <a:pPr marL="0" marR="0" algn="ctr">
              <a:lnSpc>
                <a:spcPct val="115000"/>
              </a:lnSpc>
              <a:spcBef>
                <a:spcPct val="0"/>
              </a:spcBef>
              <a:spcAft>
                <a:spcPts val="1000"/>
              </a:spcAft>
            </a:pPr>
            <a:r>
              <a:rPr lang="en-US">
                <a:solidFill>
                  <a:schemeClr val="bg1"/>
                </a:solidFill>
                <a:effectLst/>
                <a:latin typeface="+mj-lt"/>
                <a:ea typeface="Calibri" panose="020F0502020204030204" pitchFamily="34" charset="0"/>
                <a:cs typeface="Times New Roman" panose="02020603050405020304" pitchFamily="18" charset="0"/>
              </a:rPr>
              <a:t>Symbol Table</a:t>
            </a:r>
          </a:p>
        </p:txBody>
      </p:sp>
      <p:sp>
        <p:nvSpPr>
          <p:cNvPr id="6" name="Rectangle 5">
            <a:extLst>
              <a:ext uri="{FF2B5EF4-FFF2-40B4-BE49-F238E27FC236}">
                <a16:creationId xmlns:a16="http://schemas.microsoft.com/office/drawing/2014/main" id="{EE66D2AE-6F0A-54CF-F53A-75E628B2E184}"/>
              </a:ext>
            </a:extLst>
          </p:cNvPr>
          <p:cNvSpPr>
            <a:spLocks noChangeArrowheads="1"/>
          </p:cNvSpPr>
          <p:nvPr/>
        </p:nvSpPr>
        <p:spPr bwMode="auto">
          <a:xfrm>
            <a:off x="6581447" y="1303541"/>
            <a:ext cx="1070317" cy="686116"/>
          </a:xfrm>
          <a:prstGeom prst="rect">
            <a:avLst/>
          </a:prstGeom>
          <a:solidFill>
            <a:srgbClr val="0E47A1"/>
          </a:solidFill>
          <a:ln w="9525">
            <a:solidFill>
              <a:schemeClr val="tx1"/>
            </a:solidFill>
            <a:miter lim="800000"/>
          </a:ln>
        </p:spPr>
        <p:txBody>
          <a:bodyPr rot="0" vert="horz" wrap="square" lIns="91440" tIns="182880" rIns="91440" bIns="91440" anchor="t" anchorCtr="0" upright="1">
            <a:noAutofit/>
          </a:bodyPr>
          <a:lstStyle/>
          <a:p>
            <a:pPr marL="0" marR="0" algn="ctr">
              <a:lnSpc>
                <a:spcPct val="115000"/>
              </a:lnSpc>
              <a:spcBef>
                <a:spcPct val="0"/>
              </a:spcBef>
              <a:spcAft>
                <a:spcPts val="1000"/>
              </a:spcAft>
            </a:pPr>
            <a:r>
              <a:rPr lang="en-US">
                <a:solidFill>
                  <a:schemeClr val="bg1"/>
                </a:solidFill>
                <a:effectLst/>
                <a:latin typeface="+mj-lt"/>
                <a:ea typeface="Calibri" panose="020F0502020204030204" pitchFamily="34" charset="0"/>
                <a:cs typeface="Times New Roman" panose="02020603050405020304" pitchFamily="18" charset="0"/>
              </a:rPr>
              <a:t>Parser</a:t>
            </a:r>
          </a:p>
        </p:txBody>
      </p:sp>
      <p:cxnSp>
        <p:nvCxnSpPr>
          <p:cNvPr id="7" name="AutoShape 7">
            <a:extLst>
              <a:ext uri="{FF2B5EF4-FFF2-40B4-BE49-F238E27FC236}">
                <a16:creationId xmlns:a16="http://schemas.microsoft.com/office/drawing/2014/main" id="{D07B4664-EF3F-11A5-C614-EF5D2A766BC8}"/>
              </a:ext>
            </a:extLst>
          </p:cNvPr>
          <p:cNvCxnSpPr>
            <a:cxnSpLocks noChangeShapeType="1"/>
          </p:cNvCxnSpPr>
          <p:nvPr/>
        </p:nvCxnSpPr>
        <p:spPr bwMode="auto">
          <a:xfrm>
            <a:off x="5672480" y="1765996"/>
            <a:ext cx="914400" cy="0"/>
          </a:xfrm>
          <a:prstGeom prst="straightConnector1">
            <a:avLst/>
          </a:prstGeom>
          <a:noFill/>
          <a:ln w="25400">
            <a:solidFill>
              <a:srgbClr val="0E47A1"/>
            </a:solidFill>
            <a:round/>
            <a:headEnd type="arrow"/>
            <a:tailEnd type="none" w="med" len="med"/>
          </a:ln>
          <a:extLst>
            <a:ext uri="{909E8E84-426E-40DD-AFC4-6F175D3DCCD1}">
              <a14:hiddenFill xmlns:a14="http://schemas.microsoft.com/office/drawing/2010/main">
                <a:noFill/>
              </a14:hiddenFill>
            </a:ext>
          </a:extLst>
        </p:spPr>
      </p:cxnSp>
      <p:cxnSp>
        <p:nvCxnSpPr>
          <p:cNvPr id="8" name="AutoShape 11">
            <a:extLst>
              <a:ext uri="{FF2B5EF4-FFF2-40B4-BE49-F238E27FC236}">
                <a16:creationId xmlns:a16="http://schemas.microsoft.com/office/drawing/2014/main" id="{3F0F7A17-8BAA-E5A5-78DC-7AF8AE4BC159}"/>
              </a:ext>
            </a:extLst>
          </p:cNvPr>
          <p:cNvCxnSpPr>
            <a:cxnSpLocks noChangeShapeType="1"/>
            <a:stCxn id="4" idx="2"/>
          </p:cNvCxnSpPr>
          <p:nvPr/>
        </p:nvCxnSpPr>
        <p:spPr bwMode="auto">
          <a:xfrm>
            <a:off x="4915010" y="1986120"/>
            <a:ext cx="477355" cy="914260"/>
          </a:xfrm>
          <a:prstGeom prst="straightConnector1">
            <a:avLst/>
          </a:prstGeom>
          <a:noFill/>
          <a:ln w="25400">
            <a:solidFill>
              <a:srgbClr val="0E47A1"/>
            </a:solidFill>
            <a:round/>
            <a:headEnd type="arrow" w="med" len="med"/>
            <a:tailEnd type="arrow" w="med" len="med"/>
          </a:ln>
          <a:extLst>
            <a:ext uri="{909E8E84-426E-40DD-AFC4-6F175D3DCCD1}">
              <a14:hiddenFill xmlns:a14="http://schemas.microsoft.com/office/drawing/2010/main">
                <a:noFill/>
              </a14:hiddenFill>
            </a:ext>
          </a:extLst>
        </p:spPr>
      </p:cxnSp>
      <p:cxnSp>
        <p:nvCxnSpPr>
          <p:cNvPr id="9" name="AutoShape 12">
            <a:extLst>
              <a:ext uri="{FF2B5EF4-FFF2-40B4-BE49-F238E27FC236}">
                <a16:creationId xmlns:a16="http://schemas.microsoft.com/office/drawing/2014/main" id="{7A2372A6-E22D-9165-A8FD-288917FA7528}"/>
              </a:ext>
            </a:extLst>
          </p:cNvPr>
          <p:cNvCxnSpPr>
            <a:cxnSpLocks noChangeShapeType="1"/>
            <a:stCxn id="6" idx="2"/>
          </p:cNvCxnSpPr>
          <p:nvPr/>
        </p:nvCxnSpPr>
        <p:spPr bwMode="auto">
          <a:xfrm flipH="1">
            <a:off x="6589559" y="1989657"/>
            <a:ext cx="527047" cy="910723"/>
          </a:xfrm>
          <a:prstGeom prst="straightConnector1">
            <a:avLst/>
          </a:prstGeom>
          <a:noFill/>
          <a:ln w="25400">
            <a:solidFill>
              <a:srgbClr val="0E47A1"/>
            </a:solidFill>
            <a:round/>
            <a:headEnd type="arrow" w="med" len="med"/>
            <a:tailEnd type="arrow" w="med" len="med"/>
          </a:ln>
          <a:extLst>
            <a:ext uri="{909E8E84-426E-40DD-AFC4-6F175D3DCCD1}">
              <a14:hiddenFill xmlns:a14="http://schemas.microsoft.com/office/drawing/2010/main">
                <a:noFill/>
              </a14:hiddenFill>
            </a:ext>
          </a:extLst>
        </p:spPr>
      </p:cxnSp>
      <p:sp>
        <p:nvSpPr>
          <p:cNvPr id="10" name="Rectangle 9">
            <a:extLst>
              <a:ext uri="{FF2B5EF4-FFF2-40B4-BE49-F238E27FC236}">
                <a16:creationId xmlns:a16="http://schemas.microsoft.com/office/drawing/2014/main" id="{58BB4517-8914-E6F5-DAE4-F7F9C91E24A6}"/>
              </a:ext>
            </a:extLst>
          </p:cNvPr>
          <p:cNvSpPr>
            <a:spLocks noChangeArrowheads="1"/>
          </p:cNvSpPr>
          <p:nvPr/>
        </p:nvSpPr>
        <p:spPr bwMode="auto">
          <a:xfrm>
            <a:off x="5729180" y="985360"/>
            <a:ext cx="813570" cy="353821"/>
          </a:xfrm>
          <a:prstGeom prst="rect">
            <a:avLst/>
          </a:prstGeom>
          <a:solidFill>
            <a:srgbClr val="FFFFFF"/>
          </a:solidFill>
          <a:ln w="9525">
            <a:solidFill>
              <a:schemeClr val="bg1">
                <a:lumMod val="100000"/>
                <a:lumOff val="0"/>
              </a:schemeClr>
            </a:solidFill>
            <a:miter lim="800000"/>
          </a:ln>
        </p:spPr>
        <p:txBody>
          <a:bodyPr rot="0" vert="horz" wrap="square" lIns="91440" tIns="45720" rIns="91440" bIns="45720" anchor="t" anchorCtr="0" upright="1">
            <a:noAutofit/>
          </a:bodyPr>
          <a:lstStyle/>
          <a:p>
            <a:pPr marL="0" marR="0" algn="ctr">
              <a:lnSpc>
                <a:spcPct val="115000"/>
              </a:lnSpc>
              <a:spcBef>
                <a:spcPct val="0"/>
              </a:spcBef>
              <a:spcAft>
                <a:spcPts val="1000"/>
              </a:spcAft>
            </a:pPr>
            <a:r>
              <a:rPr lang="en-US">
                <a:effectLst/>
                <a:latin typeface="+mj-lt"/>
                <a:ea typeface="Calibri" panose="020F0502020204030204" pitchFamily="34" charset="0"/>
                <a:cs typeface="Times New Roman" panose="02020603050405020304" pitchFamily="18" charset="0"/>
              </a:rPr>
              <a:t>Token</a:t>
            </a:r>
          </a:p>
        </p:txBody>
      </p:sp>
      <p:sp>
        <p:nvSpPr>
          <p:cNvPr id="11" name="Rectangle 10">
            <a:extLst>
              <a:ext uri="{FF2B5EF4-FFF2-40B4-BE49-F238E27FC236}">
                <a16:creationId xmlns:a16="http://schemas.microsoft.com/office/drawing/2014/main" id="{7130B284-8BFB-BFED-EEC7-ACD22241A17C}"/>
              </a:ext>
            </a:extLst>
          </p:cNvPr>
          <p:cNvSpPr>
            <a:spLocks noChangeArrowheads="1"/>
          </p:cNvSpPr>
          <p:nvPr/>
        </p:nvSpPr>
        <p:spPr bwMode="auto">
          <a:xfrm>
            <a:off x="5416685" y="2010583"/>
            <a:ext cx="1497126" cy="400780"/>
          </a:xfrm>
          <a:prstGeom prst="rect">
            <a:avLst/>
          </a:prstGeom>
          <a:noFill/>
          <a:ln w="9525">
            <a:noFill/>
            <a:miter lim="800000"/>
          </a:ln>
        </p:spPr>
        <p:txBody>
          <a:bodyPr rot="0" vert="horz" wrap="square" lIns="0" tIns="0" rIns="0" bIns="0" anchor="t" anchorCtr="0" upright="1">
            <a:noAutofit/>
          </a:bodyPr>
          <a:lstStyle/>
          <a:p>
            <a:pPr marL="0" marR="0" algn="ctr">
              <a:lnSpc>
                <a:spcPct val="115000"/>
              </a:lnSpc>
              <a:spcBef>
                <a:spcPct val="0"/>
              </a:spcBef>
              <a:spcAft>
                <a:spcPts val="1000"/>
              </a:spcAft>
            </a:pPr>
            <a:r>
              <a:rPr lang="en-US" b="1">
                <a:solidFill>
                  <a:srgbClr val="C00000"/>
                </a:solidFill>
                <a:effectLst/>
                <a:latin typeface="+mj-lt"/>
                <a:ea typeface="Calibri" panose="020F0502020204030204" pitchFamily="34" charset="0"/>
                <a:cs typeface="Times New Roman" panose="02020603050405020304" pitchFamily="18" charset="0"/>
              </a:rPr>
              <a:t>Get next token</a:t>
            </a:r>
          </a:p>
        </p:txBody>
      </p:sp>
      <p:sp>
        <p:nvSpPr>
          <p:cNvPr id="12" name="Rectangle 11">
            <a:extLst>
              <a:ext uri="{FF2B5EF4-FFF2-40B4-BE49-F238E27FC236}">
                <a16:creationId xmlns:a16="http://schemas.microsoft.com/office/drawing/2014/main" id="{4D14EB80-5916-EFEE-D423-30335E816CD0}"/>
              </a:ext>
            </a:extLst>
          </p:cNvPr>
          <p:cNvSpPr>
            <a:spLocks noChangeArrowheads="1"/>
          </p:cNvSpPr>
          <p:nvPr/>
        </p:nvSpPr>
        <p:spPr bwMode="auto">
          <a:xfrm>
            <a:off x="2499480" y="1285021"/>
            <a:ext cx="1127439" cy="775824"/>
          </a:xfrm>
          <a:prstGeom prst="rect">
            <a:avLst/>
          </a:prstGeom>
          <a:solidFill>
            <a:srgbClr val="FFFFFF"/>
          </a:solidFill>
          <a:ln w="9525">
            <a:solidFill>
              <a:schemeClr val="bg1">
                <a:lumMod val="100000"/>
                <a:lumOff val="0"/>
              </a:schemeClr>
            </a:solidFill>
            <a:miter lim="800000"/>
          </a:ln>
        </p:spPr>
        <p:txBody>
          <a:bodyPr rot="0" vert="horz" wrap="square" lIns="91440" tIns="45720" rIns="91440" bIns="45720" anchor="t" anchorCtr="0" upright="1">
            <a:noAutofit/>
          </a:bodyPr>
          <a:lstStyle/>
          <a:p>
            <a:pPr marL="0" marR="0" algn="ctr">
              <a:lnSpc>
                <a:spcPct val="115000"/>
              </a:lnSpc>
              <a:spcBef>
                <a:spcPct val="0"/>
              </a:spcBef>
              <a:spcAft>
                <a:spcPts val="1000"/>
              </a:spcAft>
            </a:pPr>
            <a:r>
              <a:rPr lang="en-US">
                <a:effectLst/>
                <a:latin typeface="+mj-lt"/>
                <a:ea typeface="Calibri" panose="020F0502020204030204" pitchFamily="34" charset="0"/>
                <a:cs typeface="Times New Roman" panose="02020603050405020304" pitchFamily="18" charset="0"/>
              </a:rPr>
              <a:t>Source Program</a:t>
            </a:r>
          </a:p>
        </p:txBody>
      </p:sp>
      <p:cxnSp>
        <p:nvCxnSpPr>
          <p:cNvPr id="13" name="Straight Arrow Connector 12">
            <a:extLst>
              <a:ext uri="{FF2B5EF4-FFF2-40B4-BE49-F238E27FC236}">
                <a16:creationId xmlns:a16="http://schemas.microsoft.com/office/drawing/2014/main" id="{C0723652-DFEA-B0E1-5BB5-A667A6006A0F}"/>
              </a:ext>
            </a:extLst>
          </p:cNvPr>
          <p:cNvCxnSpPr/>
          <p:nvPr/>
        </p:nvCxnSpPr>
        <p:spPr>
          <a:xfrm>
            <a:off x="3516101" y="1646601"/>
            <a:ext cx="633521" cy="0"/>
          </a:xfrm>
          <a:prstGeom prst="straightConnector1">
            <a:avLst/>
          </a:prstGeom>
          <a:ln w="25400">
            <a:solidFill>
              <a:srgbClr val="0E47A1"/>
            </a:solidFill>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3F520AB6-0A9A-1859-799E-3DBD502473E9}"/>
              </a:ext>
            </a:extLst>
          </p:cNvPr>
          <p:cNvCxnSpPr/>
          <p:nvPr/>
        </p:nvCxnSpPr>
        <p:spPr>
          <a:xfrm>
            <a:off x="7650096" y="1646599"/>
            <a:ext cx="633521" cy="0"/>
          </a:xfrm>
          <a:prstGeom prst="straightConnector1">
            <a:avLst/>
          </a:prstGeom>
          <a:ln w="25400">
            <a:solidFill>
              <a:srgbClr val="0E47A1"/>
            </a:solidFill>
            <a:tailEnd type="arrow"/>
          </a:ln>
        </p:spPr>
        <p:style>
          <a:lnRef idx="1">
            <a:schemeClr val="accent1"/>
          </a:lnRef>
          <a:fillRef idx="0">
            <a:schemeClr val="accent1"/>
          </a:fillRef>
          <a:effectRef idx="0">
            <a:schemeClr val="accent1"/>
          </a:effectRef>
          <a:fontRef idx="minor">
            <a:schemeClr val="tx1"/>
          </a:fontRef>
        </p:style>
      </p:cxnSp>
      <p:cxnSp>
        <p:nvCxnSpPr>
          <p:cNvPr id="15" name="AutoShape 7">
            <a:extLst>
              <a:ext uri="{FF2B5EF4-FFF2-40B4-BE49-F238E27FC236}">
                <a16:creationId xmlns:a16="http://schemas.microsoft.com/office/drawing/2014/main" id="{BA44DCAD-0303-B3E7-FFD6-6CE6E31893EE}"/>
              </a:ext>
            </a:extLst>
          </p:cNvPr>
          <p:cNvCxnSpPr>
            <a:cxnSpLocks noChangeShapeType="1"/>
          </p:cNvCxnSpPr>
          <p:nvPr/>
        </p:nvCxnSpPr>
        <p:spPr bwMode="auto">
          <a:xfrm rot="10800000">
            <a:off x="5682260" y="1473518"/>
            <a:ext cx="914400" cy="0"/>
          </a:xfrm>
          <a:prstGeom prst="straightConnector1">
            <a:avLst/>
          </a:prstGeom>
          <a:noFill/>
          <a:ln w="25400">
            <a:solidFill>
              <a:srgbClr val="0E47A1"/>
            </a:solidFill>
            <a:round/>
            <a:headEnd type="arrow"/>
            <a:tailEnd type="none" w="med" len="med"/>
          </a:ln>
          <a:extLst>
            <a:ext uri="{909E8E84-426E-40DD-AFC4-6F175D3DCCD1}">
              <a14:hiddenFill xmlns:a14="http://schemas.microsoft.com/office/drawing/2010/main">
                <a:noFill/>
              </a14:hiddenFill>
            </a:ext>
          </a:extLst>
        </p:spPr>
      </p:cxnSp>
      <p:cxnSp>
        <p:nvCxnSpPr>
          <p:cNvPr id="16" name="Straight Connector 15">
            <a:extLst>
              <a:ext uri="{FF2B5EF4-FFF2-40B4-BE49-F238E27FC236}">
                <a16:creationId xmlns:a16="http://schemas.microsoft.com/office/drawing/2014/main" id="{319BB61B-2B2C-CE6B-9630-2FE22DC6D0FE}"/>
              </a:ext>
            </a:extLst>
          </p:cNvPr>
          <p:cNvCxnSpPr/>
          <p:nvPr/>
        </p:nvCxnSpPr>
        <p:spPr>
          <a:xfrm>
            <a:off x="205190" y="3620808"/>
            <a:ext cx="11887200" cy="0"/>
          </a:xfrm>
          <a:prstGeom prst="line">
            <a:avLst/>
          </a:prstGeom>
          <a:ln w="12700">
            <a:solidFill>
              <a:srgbClr val="0E47A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961983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dur="50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dur="50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par>
                                <p:cTn id="13" presetID="10" presetClass="entr" presetSubtype="0" dur="500"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dur="500" fill="hold" grpId="0" nodeType="click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fade">
                                      <p:cBhvr>
                                        <p:cTn id="20" dur="500"/>
                                        <p:tgtEl>
                                          <p:spTgt spid="6"/>
                                        </p:tgtEl>
                                      </p:cBhvr>
                                    </p:animEffect>
                                  </p:childTnLst>
                                </p:cTn>
                              </p:par>
                              <p:par>
                                <p:cTn id="21" presetID="10" presetClass="entr" presetSubtype="0" dur="500" fill="hold" nodeType="with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500"/>
                                        <p:tgtEl>
                                          <p:spTgt spid="7"/>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dur="500" fill="hold" grpId="0" nodeType="click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500"/>
                                        <p:tgtEl>
                                          <p:spTgt spid="11"/>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dur="500" fill="hold" nodeType="click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500"/>
                                        <p:tgtEl>
                                          <p:spTgt spid="15"/>
                                        </p:tgtEl>
                                      </p:cBhvr>
                                    </p:animEffect>
                                  </p:childTnLst>
                                </p:cTn>
                              </p:par>
                              <p:par>
                                <p:cTn id="34" presetID="10" presetClass="entr" presetSubtype="0" dur="500" fill="hold" grpId="0" nodeType="withEffect">
                                  <p:stCondLst>
                                    <p:cond delay="0"/>
                                  </p:stCondLst>
                                  <p:childTnLst>
                                    <p:set>
                                      <p:cBhvr>
                                        <p:cTn id="35" dur="1" fill="hold">
                                          <p:stCondLst>
                                            <p:cond delay="0"/>
                                          </p:stCondLst>
                                        </p:cTn>
                                        <p:tgtEl>
                                          <p:spTgt spid="10"/>
                                        </p:tgtEl>
                                        <p:attrNameLst>
                                          <p:attrName>style.visibility</p:attrName>
                                        </p:attrNameLst>
                                      </p:cBhvr>
                                      <p:to>
                                        <p:strVal val="visible"/>
                                      </p:to>
                                    </p:set>
                                    <p:animEffect transition="in" filter="fade">
                                      <p:cBhvr>
                                        <p:cTn id="36" dur="500"/>
                                        <p:tgtEl>
                                          <p:spTgt spid="10"/>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dur="500" fill="hold" nodeType="clickEffect">
                                  <p:stCondLst>
                                    <p:cond delay="0"/>
                                  </p:stCondLst>
                                  <p:childTnLst>
                                    <p:set>
                                      <p:cBhvr>
                                        <p:cTn id="40" dur="1" fill="hold">
                                          <p:stCondLst>
                                            <p:cond delay="0"/>
                                          </p:stCondLst>
                                        </p:cTn>
                                        <p:tgtEl>
                                          <p:spTgt spid="8"/>
                                        </p:tgtEl>
                                        <p:attrNameLst>
                                          <p:attrName>style.visibility</p:attrName>
                                        </p:attrNameLst>
                                      </p:cBhvr>
                                      <p:to>
                                        <p:strVal val="visible"/>
                                      </p:to>
                                    </p:set>
                                    <p:animEffect transition="in" filter="fade">
                                      <p:cBhvr>
                                        <p:cTn id="41" dur="500"/>
                                        <p:tgtEl>
                                          <p:spTgt spid="8"/>
                                        </p:tgtEl>
                                      </p:cBhvr>
                                    </p:animEffect>
                                  </p:childTnLst>
                                </p:cTn>
                              </p:par>
                              <p:par>
                                <p:cTn id="42" presetID="10" presetClass="entr" presetSubtype="0" dur="500" fill="hold" nodeType="withEffect">
                                  <p:stCondLst>
                                    <p:cond delay="0"/>
                                  </p:stCondLst>
                                  <p:childTnLst>
                                    <p:set>
                                      <p:cBhvr>
                                        <p:cTn id="43" dur="1" fill="hold">
                                          <p:stCondLst>
                                            <p:cond delay="0"/>
                                          </p:stCondLst>
                                        </p:cTn>
                                        <p:tgtEl>
                                          <p:spTgt spid="9"/>
                                        </p:tgtEl>
                                        <p:attrNameLst>
                                          <p:attrName>style.visibility</p:attrName>
                                        </p:attrNameLst>
                                      </p:cBhvr>
                                      <p:to>
                                        <p:strVal val="visible"/>
                                      </p:to>
                                    </p:set>
                                    <p:animEffect transition="in" filter="fade">
                                      <p:cBhvr>
                                        <p:cTn id="44" dur="500"/>
                                        <p:tgtEl>
                                          <p:spTgt spid="9"/>
                                        </p:tgtEl>
                                      </p:cBhvr>
                                    </p:animEffect>
                                  </p:childTnLst>
                                </p:cTn>
                              </p:par>
                              <p:par>
                                <p:cTn id="45" presetID="10" presetClass="entr" presetSubtype="0" dur="500" fill="hold" grpId="0" nodeType="withEffect">
                                  <p:stCondLst>
                                    <p:cond delay="0"/>
                                  </p:stCondLst>
                                  <p:childTnLst>
                                    <p:set>
                                      <p:cBhvr>
                                        <p:cTn id="46" dur="1" fill="hold">
                                          <p:stCondLst>
                                            <p:cond delay="0"/>
                                          </p:stCondLst>
                                        </p:cTn>
                                        <p:tgtEl>
                                          <p:spTgt spid="5"/>
                                        </p:tgtEl>
                                        <p:attrNameLst>
                                          <p:attrName>style.visibility</p:attrName>
                                        </p:attrNameLst>
                                      </p:cBhvr>
                                      <p:to>
                                        <p:strVal val="visible"/>
                                      </p:to>
                                    </p:set>
                                    <p:animEffect transition="in" filter="fade">
                                      <p:cBhvr>
                                        <p:cTn id="47" dur="500"/>
                                        <p:tgtEl>
                                          <p:spTgt spid="5"/>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dur="500" fill="hold" nodeType="clickEffect">
                                  <p:stCondLst>
                                    <p:cond delay="0"/>
                                  </p:stCondLst>
                                  <p:childTnLst>
                                    <p:set>
                                      <p:cBhvr>
                                        <p:cTn id="51" dur="1" fill="hold">
                                          <p:stCondLst>
                                            <p:cond delay="0"/>
                                          </p:stCondLst>
                                        </p:cTn>
                                        <p:tgtEl>
                                          <p:spTgt spid="14"/>
                                        </p:tgtEl>
                                        <p:attrNameLst>
                                          <p:attrName>style.visibility</p:attrName>
                                        </p:attrNameLst>
                                      </p:cBhvr>
                                      <p:to>
                                        <p:strVal val="visible"/>
                                      </p:to>
                                    </p:set>
                                    <p:animEffect transition="in" filter="fade">
                                      <p:cBhvr>
                                        <p:cTn id="52" dur="500"/>
                                        <p:tgtEl>
                                          <p:spTgt spid="14"/>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dur="500" fill="hold" nodeType="clickEffect">
                                  <p:stCondLst>
                                    <p:cond delay="0"/>
                                  </p:stCondLst>
                                  <p:childTnLst>
                                    <p:set>
                                      <p:cBhvr>
                                        <p:cTn id="56" dur="1" fill="hold">
                                          <p:stCondLst>
                                            <p:cond delay="0"/>
                                          </p:stCondLst>
                                        </p:cTn>
                                        <p:tgtEl>
                                          <p:spTgt spid="16"/>
                                        </p:tgtEl>
                                        <p:attrNameLst>
                                          <p:attrName>style.visibility</p:attrName>
                                        </p:attrNameLst>
                                      </p:cBhvr>
                                      <p:to>
                                        <p:strVal val="visible"/>
                                      </p:to>
                                    </p:set>
                                    <p:animEffect transition="in" filter="wipe(left)">
                                      <p:cBhvr>
                                        <p:cTn id="57" dur="500"/>
                                        <p:tgtEl>
                                          <p:spTgt spid="16"/>
                                        </p:tgtEl>
                                      </p:cBhvr>
                                    </p:animEffect>
                                  </p:childTnLst>
                                </p:cTn>
                              </p:par>
                            </p:childTnLst>
                          </p:cTn>
                        </p:par>
                      </p:childTnLst>
                    </p:cTn>
                  </p:par>
                  <p:par>
                    <p:cTn id="58" fill="hold">
                      <p:stCondLst>
                        <p:cond delay="indefinite"/>
                      </p:stCondLst>
                      <p:childTnLst>
                        <p:par>
                          <p:cTn id="59" fill="hold">
                            <p:stCondLst>
                              <p:cond delay="0"/>
                            </p:stCondLst>
                            <p:childTnLst>
                              <p:par>
                                <p:cTn id="60" presetID="1" presetClass="entr" presetSubtype="0" dur="1" fill="hold" nodeType="clickEffect">
                                  <p:stCondLst>
                                    <p:cond delay="0"/>
                                  </p:stCondLst>
                                  <p:childTnLst>
                                    <p:set>
                                      <p:cBhvr>
                                        <p:cTn id="61"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1" presetClass="entr" presetSubtype="0" dur="1" fill="hold" nodeType="clickEffect">
                                  <p:stCondLst>
                                    <p:cond delay="0"/>
                                  </p:stCondLst>
                                  <p:childTnLst>
                                    <p:set>
                                      <p:cBhvr>
                                        <p:cTn id="65"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1" presetClass="entr" presetSubtype="0" fill="hold" nodeType="clickEffect">
                                  <p:stCondLst>
                                    <p:cond delay="0"/>
                                  </p:stCondLst>
                                  <p:childTnLst>
                                    <p:set>
                                      <p:cBhvr>
                                        <p:cTn id="69"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10" grpId="0" animBg="1"/>
      <p:bldP spid="11" grpId="0"/>
      <p:bldP spid="1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B9E558-7FEF-81E9-8571-7B79F1A2E431}"/>
              </a:ext>
            </a:extLst>
          </p:cNvPr>
          <p:cNvSpPr txBox="1">
            <a:spLocks/>
          </p:cNvSpPr>
          <p:nvPr/>
        </p:nvSpPr>
        <p:spPr>
          <a:xfrm>
            <a:off x="0" y="1"/>
            <a:ext cx="12192000" cy="711200"/>
          </a:xfrm>
          <a:prstGeom prst="rect">
            <a:avLst/>
          </a:prstGeom>
        </p:spPr>
        <p:txBody>
          <a:bodyPr/>
          <a:lstStyle>
            <a:lvl1pPr algn="l" defTabSz="914400" rtl="0" eaLnBrk="1" latinLnBrk="0" hangingPunct="1">
              <a:lnSpc>
                <a:spcPct val="90000"/>
              </a:lnSpc>
              <a:spcBef>
                <a:spcPct val="0"/>
              </a:spcBef>
              <a:buNone/>
              <a:defRPr sz="4400" kern="1200">
                <a:solidFill>
                  <a:srgbClr val="C00000"/>
                </a:solidFill>
                <a:latin typeface="Palatino Linotype" panose="02040502050505030304" pitchFamily="18" charset="0"/>
                <a:ea typeface="+mj-ea"/>
                <a:cs typeface="+mj-cs"/>
              </a:defRPr>
            </a:lvl1pPr>
          </a:lstStyle>
          <a:p>
            <a:r>
              <a:rPr lang="en-US"/>
              <a:t>Why to separate lexical analysis &amp; parsing?</a:t>
            </a:r>
          </a:p>
        </p:txBody>
      </p:sp>
      <p:sp>
        <p:nvSpPr>
          <p:cNvPr id="3" name="Content Placeholder 2">
            <a:extLst>
              <a:ext uri="{FF2B5EF4-FFF2-40B4-BE49-F238E27FC236}">
                <a16:creationId xmlns:a16="http://schemas.microsoft.com/office/drawing/2014/main" id="{3B9C81E3-C433-DEF7-4959-A55C030F1428}"/>
              </a:ext>
            </a:extLst>
          </p:cNvPr>
          <p:cNvSpPr txBox="1">
            <a:spLocks/>
          </p:cNvSpPr>
          <p:nvPr/>
        </p:nvSpPr>
        <p:spPr>
          <a:xfrm>
            <a:off x="131180" y="863444"/>
            <a:ext cx="11929641" cy="5590565"/>
          </a:xfrm>
          <a:prstGeom prst="rect">
            <a:avLst/>
          </a:prstGeom>
        </p:spPr>
        <p:txBody>
          <a:bodyPr/>
          <a:lstStyle>
            <a:lvl1pPr marL="228600" indent="-228600" algn="just"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Palatino Linotype" panose="02040502050505030304" pitchFamily="18" charset="0"/>
                <a:ea typeface="+mn-ea"/>
                <a:cs typeface="+mn-cs"/>
              </a:defRPr>
            </a:lvl1pPr>
            <a:lvl2pPr marL="685800" indent="-228600" algn="just"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Palatino Linotype" panose="02040502050505030304" pitchFamily="18" charset="0"/>
                <a:ea typeface="+mn-ea"/>
                <a:cs typeface="+mn-cs"/>
              </a:defRPr>
            </a:lvl2pPr>
            <a:lvl3pPr marL="1143000" indent="-228600" algn="just"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Palatino Linotype" panose="02040502050505030304" pitchFamily="18" charset="0"/>
                <a:ea typeface="+mn-ea"/>
                <a:cs typeface="+mn-cs"/>
              </a:defRPr>
            </a:lvl3pPr>
            <a:lvl4pPr marL="1600200" indent="-228600" algn="just"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alatino Linotype" panose="02040502050505030304" pitchFamily="18" charset="0"/>
                <a:ea typeface="+mn-ea"/>
                <a:cs typeface="+mn-cs"/>
              </a:defRPr>
            </a:lvl4pPr>
            <a:lvl5pPr marL="2057400" indent="-228600" algn="just"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514350">
              <a:lnSpc>
                <a:spcPct val="200000"/>
              </a:lnSpc>
              <a:buFont typeface="+mj-lt"/>
              <a:buAutoNum type="arabicPeriod"/>
            </a:pPr>
            <a:r>
              <a:rPr lang="en-US" dirty="0"/>
              <a:t>Simplicity in </a:t>
            </a:r>
            <a:r>
              <a:rPr lang="en-US" dirty="0">
                <a:solidFill>
                  <a:srgbClr val="C00000"/>
                </a:solidFill>
              </a:rPr>
              <a:t>design.</a:t>
            </a:r>
          </a:p>
          <a:p>
            <a:pPr marL="514350" indent="-514350">
              <a:lnSpc>
                <a:spcPct val="200000"/>
              </a:lnSpc>
              <a:buFont typeface="+mj-lt"/>
              <a:buAutoNum type="arabicPeriod"/>
            </a:pPr>
            <a:r>
              <a:rPr lang="en-US" altLang="en-US" dirty="0"/>
              <a:t>Improves compiler </a:t>
            </a:r>
            <a:r>
              <a:rPr lang="en-US" altLang="en-US" dirty="0">
                <a:solidFill>
                  <a:srgbClr val="C00000"/>
                </a:solidFill>
              </a:rPr>
              <a:t>efficiency.</a:t>
            </a:r>
          </a:p>
          <a:p>
            <a:pPr marL="514350" indent="-514350">
              <a:lnSpc>
                <a:spcPct val="200000"/>
              </a:lnSpc>
              <a:spcAft>
                <a:spcPts val="600"/>
              </a:spcAft>
              <a:buFont typeface="+mj-lt"/>
              <a:buAutoNum type="arabicPeriod"/>
            </a:pPr>
            <a:r>
              <a:rPr lang="en-US" altLang="en-US" dirty="0"/>
              <a:t>Enhance compiler </a:t>
            </a:r>
            <a:r>
              <a:rPr lang="en-US" altLang="en-US" dirty="0">
                <a:solidFill>
                  <a:srgbClr val="C00000"/>
                </a:solidFill>
              </a:rPr>
              <a:t>portability.</a:t>
            </a:r>
          </a:p>
          <a:p>
            <a:pPr>
              <a:lnSpc>
                <a:spcPct val="200000"/>
              </a:lnSpc>
            </a:pPr>
            <a:endParaRPr lang="en-US" dirty="0"/>
          </a:p>
        </p:txBody>
      </p:sp>
    </p:spTree>
    <p:extLst>
      <p:ext uri="{BB962C8B-B14F-4D97-AF65-F5344CB8AC3E}">
        <p14:creationId xmlns:p14="http://schemas.microsoft.com/office/powerpoint/2010/main" val="29428649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dur="1"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dur="1"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dur="1"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3">
            <a:extLst>
              <a:ext uri="{FF2B5EF4-FFF2-40B4-BE49-F238E27FC236}">
                <a16:creationId xmlns:a16="http://schemas.microsoft.com/office/drawing/2014/main" id="{B986819D-3678-AD69-B5DB-7393C7F5C4DC}"/>
              </a:ext>
            </a:extLst>
          </p:cNvPr>
          <p:cNvSpPr txBox="1">
            <a:spLocks/>
          </p:cNvSpPr>
          <p:nvPr/>
        </p:nvSpPr>
        <p:spPr>
          <a:xfrm>
            <a:off x="0" y="1"/>
            <a:ext cx="12192000" cy="711200"/>
          </a:xfrm>
          <a:prstGeom prst="rect">
            <a:avLst/>
          </a:prstGeom>
        </p:spPr>
        <p:txBody>
          <a:bodyPr/>
          <a:lstStyle>
            <a:lvl1pPr algn="l" defTabSz="914400" rtl="0" eaLnBrk="1" latinLnBrk="0" hangingPunct="1">
              <a:lnSpc>
                <a:spcPct val="90000"/>
              </a:lnSpc>
              <a:spcBef>
                <a:spcPct val="0"/>
              </a:spcBef>
              <a:buNone/>
              <a:defRPr sz="4400" kern="1200">
                <a:solidFill>
                  <a:srgbClr val="C00000"/>
                </a:solidFill>
                <a:latin typeface="Palatino Linotype" panose="02040502050505030304" pitchFamily="18" charset="0"/>
                <a:ea typeface="+mj-ea"/>
                <a:cs typeface="+mj-cs"/>
              </a:defRPr>
            </a:lvl1pPr>
          </a:lstStyle>
          <a:p>
            <a:r>
              <a:rPr lang="en-US"/>
              <a:t>Token, Pattern &amp; Lexemes</a:t>
            </a:r>
          </a:p>
        </p:txBody>
      </p:sp>
      <p:sp>
        <p:nvSpPr>
          <p:cNvPr id="3" name="Content Placeholder 4">
            <a:extLst>
              <a:ext uri="{FF2B5EF4-FFF2-40B4-BE49-F238E27FC236}">
                <a16:creationId xmlns:a16="http://schemas.microsoft.com/office/drawing/2014/main" id="{CEFFCD52-D9E9-BD6A-F1D2-D3ABA9E82FFA}"/>
              </a:ext>
            </a:extLst>
          </p:cNvPr>
          <p:cNvSpPr txBox="1">
            <a:spLocks/>
          </p:cNvSpPr>
          <p:nvPr/>
        </p:nvSpPr>
        <p:spPr>
          <a:xfrm>
            <a:off x="131180" y="863444"/>
            <a:ext cx="5499599" cy="5590565"/>
          </a:xfrm>
          <a:prstGeom prst="rect">
            <a:avLst/>
          </a:prstGeom>
        </p:spPr>
        <p:txBody>
          <a:bodyPr/>
          <a:lstStyle>
            <a:lvl1pPr marL="228600" indent="-228600" algn="just"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Palatino Linotype" panose="02040502050505030304" pitchFamily="18" charset="0"/>
                <a:ea typeface="+mn-ea"/>
                <a:cs typeface="+mn-cs"/>
              </a:defRPr>
            </a:lvl1pPr>
            <a:lvl2pPr marL="685800" indent="-228600" algn="just"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Palatino Linotype" panose="02040502050505030304" pitchFamily="18" charset="0"/>
                <a:ea typeface="+mn-ea"/>
                <a:cs typeface="+mn-cs"/>
              </a:defRPr>
            </a:lvl2pPr>
            <a:lvl3pPr marL="1143000" indent="-228600" algn="just"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Palatino Linotype" panose="02040502050505030304" pitchFamily="18" charset="0"/>
                <a:ea typeface="+mn-ea"/>
                <a:cs typeface="+mn-cs"/>
              </a:defRPr>
            </a:lvl3pPr>
            <a:lvl4pPr marL="1600200" indent="-228600" algn="just"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alatino Linotype" panose="02040502050505030304" pitchFamily="18" charset="0"/>
                <a:ea typeface="+mn-ea"/>
                <a:cs typeface="+mn-cs"/>
              </a:defRPr>
            </a:lvl4pPr>
            <a:lvl5pPr marL="2057400" indent="-228600" algn="just"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Font typeface="Arial" panose="020B0604020202020204" pitchFamily="34" charset="0"/>
              <a:buNone/>
            </a:pPr>
            <a:endParaRPr lang="en-US" b="1" dirty="0">
              <a:solidFill>
                <a:srgbClr val="0E47A1"/>
              </a:solidFill>
            </a:endParaRPr>
          </a:p>
          <a:p>
            <a:pPr marL="0" indent="0">
              <a:lnSpc>
                <a:spcPct val="114000"/>
              </a:lnSpc>
              <a:buFont typeface="Arial" panose="020B0604020202020204" pitchFamily="34" charset="0"/>
              <a:buNone/>
            </a:pPr>
            <a:r>
              <a:rPr lang="en-US" dirty="0"/>
              <a:t>Sequence of character having a collective meaning is known as </a:t>
            </a:r>
            <a:r>
              <a:rPr lang="en-US" b="1" dirty="0"/>
              <a:t>token</a:t>
            </a:r>
            <a:r>
              <a:rPr lang="en-US" dirty="0"/>
              <a:t>.</a:t>
            </a:r>
          </a:p>
          <a:p>
            <a:pPr marL="0" indent="0">
              <a:lnSpc>
                <a:spcPct val="114000"/>
              </a:lnSpc>
              <a:buFont typeface="Arial" panose="020B0604020202020204" pitchFamily="34" charset="0"/>
              <a:buNone/>
            </a:pPr>
            <a:r>
              <a:rPr lang="en-US" dirty="0"/>
              <a:t>Categories of Tokens:</a:t>
            </a:r>
          </a:p>
          <a:p>
            <a:pPr marL="1257300" defTabSz="571500">
              <a:lnSpc>
                <a:spcPct val="114000"/>
              </a:lnSpc>
              <a:buFont typeface="+mj-lt"/>
              <a:buAutoNum type="arabicPeriod"/>
            </a:pPr>
            <a:r>
              <a:rPr lang="en-US" dirty="0"/>
              <a:t>Identifier</a:t>
            </a:r>
          </a:p>
          <a:p>
            <a:pPr marL="1257300" defTabSz="571500">
              <a:lnSpc>
                <a:spcPct val="114000"/>
              </a:lnSpc>
              <a:buFont typeface="+mj-lt"/>
              <a:buAutoNum type="arabicPeriod"/>
            </a:pPr>
            <a:r>
              <a:rPr lang="en-US" dirty="0"/>
              <a:t>Keyword</a:t>
            </a:r>
          </a:p>
          <a:p>
            <a:pPr marL="1257300" defTabSz="571500">
              <a:lnSpc>
                <a:spcPct val="114000"/>
              </a:lnSpc>
              <a:buFont typeface="+mj-lt"/>
              <a:buAutoNum type="arabicPeriod"/>
            </a:pPr>
            <a:r>
              <a:rPr lang="en-US" dirty="0"/>
              <a:t>Operator</a:t>
            </a:r>
          </a:p>
          <a:p>
            <a:pPr marL="1257300" defTabSz="571500">
              <a:lnSpc>
                <a:spcPct val="114000"/>
              </a:lnSpc>
              <a:buFont typeface="+mj-lt"/>
              <a:buAutoNum type="arabicPeriod"/>
            </a:pPr>
            <a:r>
              <a:rPr lang="en-US" dirty="0"/>
              <a:t>Special symbol</a:t>
            </a:r>
          </a:p>
          <a:p>
            <a:pPr marL="1257300" defTabSz="571500">
              <a:lnSpc>
                <a:spcPct val="114000"/>
              </a:lnSpc>
              <a:buFont typeface="+mj-lt"/>
              <a:buAutoNum type="arabicPeriod"/>
            </a:pPr>
            <a:r>
              <a:rPr lang="en-US" dirty="0"/>
              <a:t>Constant</a:t>
            </a:r>
          </a:p>
          <a:p>
            <a:endParaRPr lang="en-US" dirty="0"/>
          </a:p>
        </p:txBody>
      </p:sp>
      <p:sp>
        <p:nvSpPr>
          <p:cNvPr id="4" name="Content Placeholder 4">
            <a:extLst>
              <a:ext uri="{FF2B5EF4-FFF2-40B4-BE49-F238E27FC236}">
                <a16:creationId xmlns:a16="http://schemas.microsoft.com/office/drawing/2014/main" id="{799E5CF6-904E-22AD-0150-5561B1E97190}"/>
              </a:ext>
            </a:extLst>
          </p:cNvPr>
          <p:cNvSpPr txBox="1"/>
          <p:nvPr/>
        </p:nvSpPr>
        <p:spPr>
          <a:xfrm>
            <a:off x="6315412" y="863444"/>
            <a:ext cx="5499599" cy="5590565"/>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rgbClr val="0E47A1"/>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rgbClr val="0E47A1"/>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rgbClr val="0E47A1"/>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rgbClr val="0E47A1"/>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rgbClr val="0E47A1"/>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indent="0">
              <a:lnSpc>
                <a:spcPct val="114000"/>
              </a:lnSpc>
              <a:buNone/>
            </a:pPr>
            <a:endParaRPr lang="en-US" sz="2400"/>
          </a:p>
          <a:p>
            <a:pPr marL="0" lvl="1" indent="0">
              <a:lnSpc>
                <a:spcPct val="114000"/>
              </a:lnSpc>
              <a:buNone/>
            </a:pPr>
            <a:r>
              <a:rPr lang="en-US" sz="2400"/>
              <a:t>The </a:t>
            </a:r>
            <a:r>
              <a:rPr lang="en-US" sz="2400">
                <a:solidFill>
                  <a:srgbClr val="C00000"/>
                </a:solidFill>
              </a:rPr>
              <a:t>set of rules </a:t>
            </a:r>
            <a:r>
              <a:rPr lang="en-US" sz="2400"/>
              <a:t>called </a:t>
            </a:r>
            <a:r>
              <a:rPr lang="en-US" sz="2400" b="1"/>
              <a:t>pattern</a:t>
            </a:r>
            <a:r>
              <a:rPr lang="en-US" sz="2400" i="1"/>
              <a:t> </a:t>
            </a:r>
            <a:r>
              <a:rPr lang="en-US" sz="2400"/>
              <a:t>associated with a token.</a:t>
            </a:r>
            <a:r>
              <a:rPr lang="en-US" altLang="zh-TW" sz="2400"/>
              <a:t> </a:t>
            </a:r>
          </a:p>
          <a:p>
            <a:pPr marL="0" lvl="1" indent="0">
              <a:lnSpc>
                <a:spcPct val="114000"/>
              </a:lnSpc>
              <a:buNone/>
            </a:pPr>
            <a:r>
              <a:rPr lang="en-US" altLang="zh-TW" sz="2400"/>
              <a:t>Example: </a:t>
            </a:r>
            <a:r>
              <a:rPr lang="en-US" altLang="zh-TW" sz="2400">
                <a:latin typeface="Times New Roman" panose="02020603050405020304" pitchFamily="18" charset="0"/>
              </a:rPr>
              <a:t>“</a:t>
            </a:r>
            <a:r>
              <a:rPr lang="en-US" altLang="zh-TW" sz="2400" i="1">
                <a:latin typeface="Times New Roman" panose="02020603050405020304" pitchFamily="18" charset="0"/>
              </a:rPr>
              <a:t>non-empty sequence of digits</a:t>
            </a:r>
            <a:r>
              <a:rPr lang="en-US" altLang="zh-TW" sz="2400">
                <a:latin typeface="Times New Roman" panose="02020603050405020304" pitchFamily="18" charset="0"/>
              </a:rPr>
              <a:t>”,  “</a:t>
            </a:r>
            <a:r>
              <a:rPr lang="en-US" altLang="zh-TW" sz="2400" i="1">
                <a:latin typeface="Times New Roman" panose="02020603050405020304" pitchFamily="18" charset="0"/>
              </a:rPr>
              <a:t>letter followed by letters and digits”</a:t>
            </a:r>
            <a:r>
              <a:rPr lang="en-US" altLang="zh-TW" sz="2400"/>
              <a:t> </a:t>
            </a:r>
          </a:p>
          <a:p>
            <a:pPr marL="0" indent="0">
              <a:lnSpc>
                <a:spcPct val="114000"/>
              </a:lnSpc>
              <a:buNone/>
            </a:pPr>
            <a:endParaRPr lang="en-US"/>
          </a:p>
          <a:p>
            <a:pPr marL="0" indent="0">
              <a:lnSpc>
                <a:spcPct val="114000"/>
              </a:lnSpc>
              <a:buNone/>
            </a:pPr>
            <a:endParaRPr lang="en-US"/>
          </a:p>
          <a:p>
            <a:pPr marL="0" indent="0">
              <a:lnSpc>
                <a:spcPct val="114000"/>
              </a:lnSpc>
              <a:buNone/>
            </a:pPr>
            <a:r>
              <a:rPr lang="en-US"/>
              <a:t>The </a:t>
            </a:r>
            <a:r>
              <a:rPr lang="en-US">
                <a:solidFill>
                  <a:srgbClr val="C00000"/>
                </a:solidFill>
              </a:rPr>
              <a:t>sequence of character </a:t>
            </a:r>
            <a:r>
              <a:rPr lang="en-US"/>
              <a:t>in a source program </a:t>
            </a:r>
            <a:r>
              <a:rPr lang="en-US">
                <a:solidFill>
                  <a:srgbClr val="C00000"/>
                </a:solidFill>
              </a:rPr>
              <a:t>matched with a pattern </a:t>
            </a:r>
            <a:r>
              <a:rPr lang="en-US"/>
              <a:t>for a </a:t>
            </a:r>
            <a:r>
              <a:rPr lang="en-US">
                <a:solidFill>
                  <a:srgbClr val="C00000"/>
                </a:solidFill>
              </a:rPr>
              <a:t>token</a:t>
            </a:r>
            <a:r>
              <a:rPr lang="en-US"/>
              <a:t> is called lexeme.</a:t>
            </a:r>
          </a:p>
          <a:p>
            <a:pPr marL="0" lvl="1" indent="0">
              <a:lnSpc>
                <a:spcPct val="114000"/>
              </a:lnSpc>
              <a:buNone/>
            </a:pPr>
            <a:r>
              <a:rPr lang="en-US" altLang="zh-TW" sz="2400"/>
              <a:t>Example:  Rate,  DIET, </a:t>
            </a:r>
            <a:r>
              <a:rPr lang="en-US" sz="2400"/>
              <a:t>count, Flag</a:t>
            </a:r>
            <a:endParaRPr lang="en-US" altLang="zh-TW" sz="2400"/>
          </a:p>
          <a:p>
            <a:endParaRPr lang="en-US"/>
          </a:p>
        </p:txBody>
      </p:sp>
      <p:cxnSp>
        <p:nvCxnSpPr>
          <p:cNvPr id="5" name="Straight Connector 4">
            <a:extLst>
              <a:ext uri="{FF2B5EF4-FFF2-40B4-BE49-F238E27FC236}">
                <a16:creationId xmlns:a16="http://schemas.microsoft.com/office/drawing/2014/main" id="{2B5176BF-D973-7AD6-04FF-41AB7B2AEC81}"/>
              </a:ext>
            </a:extLst>
          </p:cNvPr>
          <p:cNvCxnSpPr/>
          <p:nvPr/>
        </p:nvCxnSpPr>
        <p:spPr>
          <a:xfrm>
            <a:off x="207930" y="1371616"/>
            <a:ext cx="5577840" cy="0"/>
          </a:xfrm>
          <a:prstGeom prst="line">
            <a:avLst/>
          </a:prstGeom>
          <a:ln>
            <a:solidFill>
              <a:srgbClr val="0E47A1"/>
            </a:solidFill>
          </a:ln>
        </p:spPr>
        <p:style>
          <a:lnRef idx="2">
            <a:schemeClr val="accent6"/>
          </a:lnRef>
          <a:fillRef idx="0">
            <a:schemeClr val="accent6"/>
          </a:fillRef>
          <a:effectRef idx="1">
            <a:schemeClr val="accent6"/>
          </a:effectRef>
          <a:fontRef idx="minor">
            <a:schemeClr val="tx1"/>
          </a:fontRef>
        </p:style>
      </p:cxnSp>
      <p:sp>
        <p:nvSpPr>
          <p:cNvPr id="6" name="Rectangle 5">
            <a:extLst>
              <a:ext uri="{FF2B5EF4-FFF2-40B4-BE49-F238E27FC236}">
                <a16:creationId xmlns:a16="http://schemas.microsoft.com/office/drawing/2014/main" id="{A526B78A-5270-CCF7-75EC-6AA8DCE63765}"/>
              </a:ext>
            </a:extLst>
          </p:cNvPr>
          <p:cNvSpPr/>
          <p:nvPr/>
        </p:nvSpPr>
        <p:spPr>
          <a:xfrm>
            <a:off x="215951" y="908593"/>
            <a:ext cx="1901607" cy="461665"/>
          </a:xfrm>
          <a:prstGeom prst="rect">
            <a:avLst/>
          </a:prstGeom>
          <a:solidFill>
            <a:srgbClr val="0E47A1"/>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wrap="square">
            <a:spAutoFit/>
          </a:bodyPr>
          <a:lstStyle/>
          <a:p>
            <a:pPr algn="ctr"/>
            <a:r>
              <a:rPr lang="en-US" sz="2400" b="1"/>
              <a:t>Token</a:t>
            </a:r>
          </a:p>
        </p:txBody>
      </p:sp>
      <p:cxnSp>
        <p:nvCxnSpPr>
          <p:cNvPr id="7" name="Straight Connector 6">
            <a:extLst>
              <a:ext uri="{FF2B5EF4-FFF2-40B4-BE49-F238E27FC236}">
                <a16:creationId xmlns:a16="http://schemas.microsoft.com/office/drawing/2014/main" id="{01FCA7C5-EC5B-5890-EB66-54581E920923}"/>
              </a:ext>
            </a:extLst>
          </p:cNvPr>
          <p:cNvCxnSpPr/>
          <p:nvPr/>
        </p:nvCxnSpPr>
        <p:spPr>
          <a:xfrm>
            <a:off x="6260378" y="1312796"/>
            <a:ext cx="5760720" cy="0"/>
          </a:xfrm>
          <a:prstGeom prst="line">
            <a:avLst/>
          </a:prstGeom>
          <a:ln>
            <a:solidFill>
              <a:srgbClr val="0E47A1"/>
            </a:solidFill>
          </a:ln>
        </p:spPr>
        <p:style>
          <a:lnRef idx="2">
            <a:schemeClr val="accent6"/>
          </a:lnRef>
          <a:fillRef idx="0">
            <a:schemeClr val="accent6"/>
          </a:fillRef>
          <a:effectRef idx="1">
            <a:schemeClr val="accent6"/>
          </a:effectRef>
          <a:fontRef idx="minor">
            <a:schemeClr val="tx1"/>
          </a:fontRef>
        </p:style>
      </p:cxnSp>
      <p:sp>
        <p:nvSpPr>
          <p:cNvPr id="8" name="Rectangle 7">
            <a:extLst>
              <a:ext uri="{FF2B5EF4-FFF2-40B4-BE49-F238E27FC236}">
                <a16:creationId xmlns:a16="http://schemas.microsoft.com/office/drawing/2014/main" id="{AE0FF952-D4E2-AF62-01F3-C2319A3B51D3}"/>
              </a:ext>
            </a:extLst>
          </p:cNvPr>
          <p:cNvSpPr/>
          <p:nvPr/>
        </p:nvSpPr>
        <p:spPr>
          <a:xfrm>
            <a:off x="6252357" y="849773"/>
            <a:ext cx="1901607" cy="461665"/>
          </a:xfrm>
          <a:prstGeom prst="rect">
            <a:avLst/>
          </a:prstGeom>
          <a:solidFill>
            <a:srgbClr val="0E47A1"/>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wrap="square">
            <a:spAutoFit/>
          </a:bodyPr>
          <a:lstStyle/>
          <a:p>
            <a:pPr algn="ctr"/>
            <a:r>
              <a:rPr lang="en-US" sz="2400" b="1"/>
              <a:t>Pattern</a:t>
            </a:r>
          </a:p>
        </p:txBody>
      </p:sp>
      <p:cxnSp>
        <p:nvCxnSpPr>
          <p:cNvPr id="9" name="Straight Connector 8">
            <a:extLst>
              <a:ext uri="{FF2B5EF4-FFF2-40B4-BE49-F238E27FC236}">
                <a16:creationId xmlns:a16="http://schemas.microsoft.com/office/drawing/2014/main" id="{998A2A5A-E46A-DE19-8C84-6B596A9F375F}"/>
              </a:ext>
            </a:extLst>
          </p:cNvPr>
          <p:cNvCxnSpPr/>
          <p:nvPr/>
        </p:nvCxnSpPr>
        <p:spPr>
          <a:xfrm>
            <a:off x="6260378" y="4122255"/>
            <a:ext cx="5760720" cy="0"/>
          </a:xfrm>
          <a:prstGeom prst="line">
            <a:avLst/>
          </a:prstGeom>
          <a:ln>
            <a:solidFill>
              <a:srgbClr val="0E47A1"/>
            </a:solidFill>
          </a:ln>
        </p:spPr>
        <p:style>
          <a:lnRef idx="2">
            <a:schemeClr val="accent6"/>
          </a:lnRef>
          <a:fillRef idx="0">
            <a:schemeClr val="accent6"/>
          </a:fillRef>
          <a:effectRef idx="1">
            <a:schemeClr val="accent6"/>
          </a:effectRef>
          <a:fontRef idx="minor">
            <a:schemeClr val="tx1"/>
          </a:fontRef>
        </p:style>
      </p:cxnSp>
      <p:sp>
        <p:nvSpPr>
          <p:cNvPr id="10" name="Rectangle 9">
            <a:extLst>
              <a:ext uri="{FF2B5EF4-FFF2-40B4-BE49-F238E27FC236}">
                <a16:creationId xmlns:a16="http://schemas.microsoft.com/office/drawing/2014/main" id="{5E81440F-0D43-C4C6-FCC0-6A1AE25BE719}"/>
              </a:ext>
            </a:extLst>
          </p:cNvPr>
          <p:cNvSpPr/>
          <p:nvPr/>
        </p:nvSpPr>
        <p:spPr>
          <a:xfrm>
            <a:off x="6268399" y="3659232"/>
            <a:ext cx="1901607" cy="461665"/>
          </a:xfrm>
          <a:prstGeom prst="rect">
            <a:avLst/>
          </a:prstGeom>
          <a:solidFill>
            <a:srgbClr val="0E47A1"/>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wrap="square">
            <a:spAutoFit/>
          </a:bodyPr>
          <a:lstStyle/>
          <a:p>
            <a:pPr algn="ctr"/>
            <a:r>
              <a:rPr lang="en-US" sz="2400" b="1"/>
              <a:t>Lexemes</a:t>
            </a:r>
          </a:p>
        </p:txBody>
      </p:sp>
      <p:sp>
        <p:nvSpPr>
          <p:cNvPr id="11" name="Rectangle 10">
            <a:extLst>
              <a:ext uri="{FF2B5EF4-FFF2-40B4-BE49-F238E27FC236}">
                <a16:creationId xmlns:a16="http://schemas.microsoft.com/office/drawing/2014/main" id="{24D70FF6-711E-E794-A480-B14201D4406E}"/>
              </a:ext>
            </a:extLst>
          </p:cNvPr>
          <p:cNvSpPr/>
          <p:nvPr/>
        </p:nvSpPr>
        <p:spPr>
          <a:xfrm>
            <a:off x="7587916" y="5662863"/>
            <a:ext cx="2871537" cy="385011"/>
          </a:xfrm>
          <a:prstGeom prst="rect">
            <a:avLst/>
          </a:prstGeom>
          <a:solidFill>
            <a:srgbClr val="0E47A1">
              <a:alpha val="3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Curved Connector 12">
            <a:extLst>
              <a:ext uri="{FF2B5EF4-FFF2-40B4-BE49-F238E27FC236}">
                <a16:creationId xmlns:a16="http://schemas.microsoft.com/office/drawing/2014/main" id="{32711F05-3225-4C1F-8829-0A6AF49AB5F4}"/>
              </a:ext>
            </a:extLst>
          </p:cNvPr>
          <p:cNvCxnSpPr/>
          <p:nvPr/>
        </p:nvCxnSpPr>
        <p:spPr>
          <a:xfrm rot="5400000" flipH="1" flipV="1">
            <a:off x="8849034" y="5196488"/>
            <a:ext cx="583408" cy="349342"/>
          </a:xfrm>
          <a:prstGeom prst="curvedConnector3">
            <a:avLst>
              <a:gd name="adj1" fmla="val 27959"/>
            </a:avLst>
          </a:prstGeom>
          <a:ln w="25400">
            <a:solidFill>
              <a:schemeClr val="tx2">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3" name="Curved Connector 13">
            <a:extLst>
              <a:ext uri="{FF2B5EF4-FFF2-40B4-BE49-F238E27FC236}">
                <a16:creationId xmlns:a16="http://schemas.microsoft.com/office/drawing/2014/main" id="{3CABEB1A-19A1-387D-F045-05335E5887BD}"/>
              </a:ext>
            </a:extLst>
          </p:cNvPr>
          <p:cNvCxnSpPr/>
          <p:nvPr/>
        </p:nvCxnSpPr>
        <p:spPr>
          <a:xfrm rot="5400000" flipH="1" flipV="1">
            <a:off x="8097541" y="3744553"/>
            <a:ext cx="1645306" cy="441091"/>
          </a:xfrm>
          <a:prstGeom prst="curvedConnector3">
            <a:avLst>
              <a:gd name="adj1" fmla="val 50000"/>
            </a:avLst>
          </a:prstGeom>
          <a:ln w="25400">
            <a:solidFill>
              <a:schemeClr val="tx2">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4" name="Curved Connector 14">
            <a:extLst>
              <a:ext uri="{FF2B5EF4-FFF2-40B4-BE49-F238E27FC236}">
                <a16:creationId xmlns:a16="http://schemas.microsoft.com/office/drawing/2014/main" id="{A416BECC-BE9B-D3A5-2556-196E68E4DE04}"/>
              </a:ext>
            </a:extLst>
          </p:cNvPr>
          <p:cNvCxnSpPr/>
          <p:nvPr/>
        </p:nvCxnSpPr>
        <p:spPr>
          <a:xfrm rot="10800000" flipV="1">
            <a:off x="2749603" y="2581618"/>
            <a:ext cx="3502754" cy="270456"/>
          </a:xfrm>
          <a:prstGeom prst="curvedConnector3">
            <a:avLst>
              <a:gd name="adj1" fmla="val 41176"/>
            </a:avLst>
          </a:prstGeom>
          <a:ln w="25400">
            <a:solidFill>
              <a:schemeClr val="tx2">
                <a:lumMod val="75000"/>
              </a:schemeClr>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205366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dur="50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par>
                                <p:cTn id="8" presetID="22" presetClass="entr" presetSubtype="8" dur="50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wipe(left)">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dur="1"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dur="1"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dur="1"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dur="1"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dur="1"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dur="1" fill="hold"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dur="1" fill="hold" nodeType="click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22" presetClass="entr" presetSubtype="8" dur="500" fill="hold" grpId="0" nodeType="clickEffect">
                                  <p:stCondLst>
                                    <p:cond delay="0"/>
                                  </p:stCondLst>
                                  <p:childTnLst>
                                    <p:set>
                                      <p:cBhvr>
                                        <p:cTn id="42" dur="1" fill="hold">
                                          <p:stCondLst>
                                            <p:cond delay="0"/>
                                          </p:stCondLst>
                                        </p:cTn>
                                        <p:tgtEl>
                                          <p:spTgt spid="8"/>
                                        </p:tgtEl>
                                        <p:attrNameLst>
                                          <p:attrName>style.visibility</p:attrName>
                                        </p:attrNameLst>
                                      </p:cBhvr>
                                      <p:to>
                                        <p:strVal val="visible"/>
                                      </p:to>
                                    </p:set>
                                    <p:animEffect transition="in" filter="wipe(left)">
                                      <p:cBhvr>
                                        <p:cTn id="43" dur="500"/>
                                        <p:tgtEl>
                                          <p:spTgt spid="8"/>
                                        </p:tgtEl>
                                      </p:cBhvr>
                                    </p:animEffect>
                                  </p:childTnLst>
                                </p:cTn>
                              </p:par>
                              <p:par>
                                <p:cTn id="44" presetID="22" presetClass="entr" presetSubtype="8" dur="500" fill="hold" nodeType="withEffect">
                                  <p:stCondLst>
                                    <p:cond delay="0"/>
                                  </p:stCondLst>
                                  <p:childTnLst>
                                    <p:set>
                                      <p:cBhvr>
                                        <p:cTn id="45" dur="1" fill="hold">
                                          <p:stCondLst>
                                            <p:cond delay="0"/>
                                          </p:stCondLst>
                                        </p:cTn>
                                        <p:tgtEl>
                                          <p:spTgt spid="7"/>
                                        </p:tgtEl>
                                        <p:attrNameLst>
                                          <p:attrName>style.visibility</p:attrName>
                                        </p:attrNameLst>
                                      </p:cBhvr>
                                      <p:to>
                                        <p:strVal val="visible"/>
                                      </p:to>
                                    </p:set>
                                    <p:animEffect transition="in" filter="wipe(left)">
                                      <p:cBhvr>
                                        <p:cTn id="46" dur="500"/>
                                        <p:tgtEl>
                                          <p:spTgt spid="7"/>
                                        </p:tgtEl>
                                      </p:cBhvr>
                                    </p:animEffect>
                                  </p:childTnLst>
                                </p:cTn>
                              </p:par>
                            </p:childTnLst>
                          </p:cTn>
                        </p:par>
                      </p:childTnLst>
                    </p:cTn>
                  </p:par>
                  <p:par>
                    <p:cTn id="47" fill="hold">
                      <p:stCondLst>
                        <p:cond delay="indefinite"/>
                      </p:stCondLst>
                      <p:childTnLst>
                        <p:par>
                          <p:cTn id="48" fill="hold">
                            <p:stCondLst>
                              <p:cond delay="0"/>
                            </p:stCondLst>
                            <p:childTnLst>
                              <p:par>
                                <p:cTn id="49" presetID="1" presetClass="entr" presetSubtype="0" dur="1" fill="hold" nodeType="clickEffect">
                                  <p:stCondLst>
                                    <p:cond delay="0"/>
                                  </p:stCondLst>
                                  <p:childTnLst>
                                    <p:set>
                                      <p:cBhvr>
                                        <p:cTn id="5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dur="1" fill="hold" nodeType="clickEffect">
                                  <p:stCondLst>
                                    <p:cond delay="0"/>
                                  </p:stCondLst>
                                  <p:childTnLst>
                                    <p:set>
                                      <p:cBhvr>
                                        <p:cTn id="5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22" presetClass="entr" presetSubtype="8" dur="500" fill="hold" grpId="0" nodeType="clickEffect">
                                  <p:stCondLst>
                                    <p:cond delay="0"/>
                                  </p:stCondLst>
                                  <p:childTnLst>
                                    <p:set>
                                      <p:cBhvr>
                                        <p:cTn id="58" dur="1" fill="hold">
                                          <p:stCondLst>
                                            <p:cond delay="0"/>
                                          </p:stCondLst>
                                        </p:cTn>
                                        <p:tgtEl>
                                          <p:spTgt spid="10"/>
                                        </p:tgtEl>
                                        <p:attrNameLst>
                                          <p:attrName>style.visibility</p:attrName>
                                        </p:attrNameLst>
                                      </p:cBhvr>
                                      <p:to>
                                        <p:strVal val="visible"/>
                                      </p:to>
                                    </p:set>
                                    <p:animEffect transition="in" filter="wipe(left)">
                                      <p:cBhvr>
                                        <p:cTn id="59" dur="500"/>
                                        <p:tgtEl>
                                          <p:spTgt spid="10"/>
                                        </p:tgtEl>
                                      </p:cBhvr>
                                    </p:animEffect>
                                  </p:childTnLst>
                                </p:cTn>
                              </p:par>
                              <p:par>
                                <p:cTn id="60" presetID="22" presetClass="entr" presetSubtype="8" dur="500" fill="hold" nodeType="withEffect">
                                  <p:stCondLst>
                                    <p:cond delay="0"/>
                                  </p:stCondLst>
                                  <p:childTnLst>
                                    <p:set>
                                      <p:cBhvr>
                                        <p:cTn id="61" dur="1" fill="hold">
                                          <p:stCondLst>
                                            <p:cond delay="0"/>
                                          </p:stCondLst>
                                        </p:cTn>
                                        <p:tgtEl>
                                          <p:spTgt spid="9"/>
                                        </p:tgtEl>
                                        <p:attrNameLst>
                                          <p:attrName>style.visibility</p:attrName>
                                        </p:attrNameLst>
                                      </p:cBhvr>
                                      <p:to>
                                        <p:strVal val="visible"/>
                                      </p:to>
                                    </p:set>
                                    <p:animEffect transition="in" filter="wipe(left)">
                                      <p:cBhvr>
                                        <p:cTn id="62" dur="500"/>
                                        <p:tgtEl>
                                          <p:spTgt spid="9"/>
                                        </p:tgtEl>
                                      </p:cBhvr>
                                    </p:animEffect>
                                  </p:childTnLst>
                                </p:cTn>
                              </p:par>
                            </p:childTnLst>
                          </p:cTn>
                        </p:par>
                      </p:childTnLst>
                    </p:cTn>
                  </p:par>
                  <p:par>
                    <p:cTn id="63" fill="hold">
                      <p:stCondLst>
                        <p:cond delay="indefinite"/>
                      </p:stCondLst>
                      <p:childTnLst>
                        <p:par>
                          <p:cTn id="64" fill="hold">
                            <p:stCondLst>
                              <p:cond delay="0"/>
                            </p:stCondLst>
                            <p:childTnLst>
                              <p:par>
                                <p:cTn id="65" presetID="1" presetClass="entr" presetSubtype="0" dur="1" fill="hold" nodeType="clickEffect">
                                  <p:stCondLst>
                                    <p:cond delay="0"/>
                                  </p:stCondLst>
                                  <p:childTnLst>
                                    <p:set>
                                      <p:cBhvr>
                                        <p:cTn id="6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dur="1" fill="hold" nodeType="clickEffect">
                                  <p:stCondLst>
                                    <p:cond delay="0"/>
                                  </p:stCondLst>
                                  <p:childTnLst>
                                    <p:set>
                                      <p:cBhvr>
                                        <p:cTn id="7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22" presetClass="entr" presetSubtype="4" dur="500" fill="hold" grpId="0" nodeType="clickEffect">
                                  <p:stCondLst>
                                    <p:cond delay="0"/>
                                  </p:stCondLst>
                                  <p:childTnLst>
                                    <p:set>
                                      <p:cBhvr>
                                        <p:cTn id="74" dur="1" fill="hold">
                                          <p:stCondLst>
                                            <p:cond delay="0"/>
                                          </p:stCondLst>
                                        </p:cTn>
                                        <p:tgtEl>
                                          <p:spTgt spid="11"/>
                                        </p:tgtEl>
                                        <p:attrNameLst>
                                          <p:attrName>style.visibility</p:attrName>
                                        </p:attrNameLst>
                                      </p:cBhvr>
                                      <p:to>
                                        <p:strVal val="visible"/>
                                      </p:to>
                                    </p:set>
                                    <p:animEffect transition="in" filter="wipe(down)">
                                      <p:cBhvr>
                                        <p:cTn id="75" dur="500"/>
                                        <p:tgtEl>
                                          <p:spTgt spid="11"/>
                                        </p:tgtEl>
                                      </p:cBhvr>
                                    </p:animEffect>
                                  </p:childTnLst>
                                </p:cTn>
                              </p:par>
                            </p:childTnLst>
                          </p:cTn>
                        </p:par>
                      </p:childTnLst>
                    </p:cTn>
                  </p:par>
                  <p:par>
                    <p:cTn id="76" fill="hold">
                      <p:stCondLst>
                        <p:cond delay="indefinite"/>
                      </p:stCondLst>
                      <p:childTnLst>
                        <p:par>
                          <p:cTn id="77" fill="hold">
                            <p:stCondLst>
                              <p:cond delay="0"/>
                            </p:stCondLst>
                            <p:childTnLst>
                              <p:par>
                                <p:cTn id="78" presetID="22" presetClass="entr" presetSubtype="4" dur="500" fill="hold" nodeType="clickEffect">
                                  <p:stCondLst>
                                    <p:cond delay="0"/>
                                  </p:stCondLst>
                                  <p:childTnLst>
                                    <p:set>
                                      <p:cBhvr>
                                        <p:cTn id="79" dur="1" fill="hold">
                                          <p:stCondLst>
                                            <p:cond delay="0"/>
                                          </p:stCondLst>
                                        </p:cTn>
                                        <p:tgtEl>
                                          <p:spTgt spid="12"/>
                                        </p:tgtEl>
                                        <p:attrNameLst>
                                          <p:attrName>style.visibility</p:attrName>
                                        </p:attrNameLst>
                                      </p:cBhvr>
                                      <p:to>
                                        <p:strVal val="visible"/>
                                      </p:to>
                                    </p:set>
                                    <p:animEffect transition="in" filter="wipe(down)">
                                      <p:cBhvr>
                                        <p:cTn id="80" dur="500"/>
                                        <p:tgtEl>
                                          <p:spTgt spid="12"/>
                                        </p:tgtEl>
                                      </p:cBhvr>
                                    </p:animEffect>
                                  </p:childTnLst>
                                </p:cTn>
                              </p:par>
                            </p:childTnLst>
                          </p:cTn>
                        </p:par>
                      </p:childTnLst>
                    </p:cTn>
                  </p:par>
                  <p:par>
                    <p:cTn id="81" fill="hold">
                      <p:stCondLst>
                        <p:cond delay="indefinite"/>
                      </p:stCondLst>
                      <p:childTnLst>
                        <p:par>
                          <p:cTn id="82" fill="hold">
                            <p:stCondLst>
                              <p:cond delay="0"/>
                            </p:stCondLst>
                            <p:childTnLst>
                              <p:par>
                                <p:cTn id="83" presetID="22" presetClass="entr" presetSubtype="4" dur="500" fill="hold" nodeType="clickEffect">
                                  <p:stCondLst>
                                    <p:cond delay="0"/>
                                  </p:stCondLst>
                                  <p:childTnLst>
                                    <p:set>
                                      <p:cBhvr>
                                        <p:cTn id="84" dur="1" fill="hold">
                                          <p:stCondLst>
                                            <p:cond delay="0"/>
                                          </p:stCondLst>
                                        </p:cTn>
                                        <p:tgtEl>
                                          <p:spTgt spid="13"/>
                                        </p:tgtEl>
                                        <p:attrNameLst>
                                          <p:attrName>style.visibility</p:attrName>
                                        </p:attrNameLst>
                                      </p:cBhvr>
                                      <p:to>
                                        <p:strVal val="visible"/>
                                      </p:to>
                                    </p:set>
                                    <p:animEffect transition="in" filter="wipe(down)">
                                      <p:cBhvr>
                                        <p:cTn id="85" dur="500"/>
                                        <p:tgtEl>
                                          <p:spTgt spid="13"/>
                                        </p:tgtEl>
                                      </p:cBhvr>
                                    </p:animEffect>
                                  </p:childTnLst>
                                </p:cTn>
                              </p:par>
                            </p:childTnLst>
                          </p:cTn>
                        </p:par>
                      </p:childTnLst>
                    </p:cTn>
                  </p:par>
                  <p:par>
                    <p:cTn id="86" fill="hold">
                      <p:stCondLst>
                        <p:cond delay="indefinite"/>
                      </p:stCondLst>
                      <p:childTnLst>
                        <p:par>
                          <p:cTn id="87" fill="hold">
                            <p:stCondLst>
                              <p:cond delay="0"/>
                            </p:stCondLst>
                            <p:childTnLst>
                              <p:par>
                                <p:cTn id="88" presetID="22" presetClass="entr" presetSubtype="2" dur="500" fill="hold" nodeType="clickEffect">
                                  <p:stCondLst>
                                    <p:cond delay="0"/>
                                  </p:stCondLst>
                                  <p:childTnLst>
                                    <p:set>
                                      <p:cBhvr>
                                        <p:cTn id="89" dur="1" fill="hold">
                                          <p:stCondLst>
                                            <p:cond delay="0"/>
                                          </p:stCondLst>
                                        </p:cTn>
                                        <p:tgtEl>
                                          <p:spTgt spid="14"/>
                                        </p:tgtEl>
                                        <p:attrNameLst>
                                          <p:attrName>style.visibility</p:attrName>
                                        </p:attrNameLst>
                                      </p:cBhvr>
                                      <p:to>
                                        <p:strVal val="visible"/>
                                      </p:to>
                                    </p:set>
                                    <p:animEffect transition="in" filter="wipe(right)">
                                      <p:cBhvr>
                                        <p:cTn id="90"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10" grpId="0" animBg="1"/>
      <p:bldP spid="11"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FBC554-45F2-99BA-B5DE-8C8D18F7A779}"/>
              </a:ext>
            </a:extLst>
          </p:cNvPr>
          <p:cNvSpPr txBox="1">
            <a:spLocks/>
          </p:cNvSpPr>
          <p:nvPr/>
        </p:nvSpPr>
        <p:spPr>
          <a:xfrm>
            <a:off x="0" y="1"/>
            <a:ext cx="12192000" cy="711200"/>
          </a:xfrm>
          <a:prstGeom prst="rect">
            <a:avLst/>
          </a:prstGeom>
        </p:spPr>
        <p:txBody>
          <a:bodyPr/>
          <a:lstStyle>
            <a:lvl1pPr algn="l" defTabSz="914400" rtl="0" eaLnBrk="1" latinLnBrk="0" hangingPunct="1">
              <a:lnSpc>
                <a:spcPct val="90000"/>
              </a:lnSpc>
              <a:spcBef>
                <a:spcPct val="0"/>
              </a:spcBef>
              <a:buNone/>
              <a:defRPr sz="4400" kern="1200">
                <a:solidFill>
                  <a:srgbClr val="C00000"/>
                </a:solidFill>
                <a:latin typeface="Palatino Linotype" panose="02040502050505030304" pitchFamily="18" charset="0"/>
                <a:ea typeface="+mj-ea"/>
                <a:cs typeface="+mj-cs"/>
              </a:defRPr>
            </a:lvl1pPr>
          </a:lstStyle>
          <a:p>
            <a:r>
              <a:rPr lang="en-US"/>
              <a:t>Example: Token, Pattern &amp; Lexemes</a:t>
            </a:r>
          </a:p>
        </p:txBody>
      </p:sp>
      <p:sp>
        <p:nvSpPr>
          <p:cNvPr id="16" name="TextBox 15">
            <a:extLst>
              <a:ext uri="{FF2B5EF4-FFF2-40B4-BE49-F238E27FC236}">
                <a16:creationId xmlns:a16="http://schemas.microsoft.com/office/drawing/2014/main" id="{F4809BE3-CBEB-0557-7C76-C6B9A8E0153B}"/>
              </a:ext>
            </a:extLst>
          </p:cNvPr>
          <p:cNvSpPr txBox="1"/>
          <p:nvPr/>
        </p:nvSpPr>
        <p:spPr>
          <a:xfrm>
            <a:off x="1477926" y="756923"/>
            <a:ext cx="10834577" cy="1815882"/>
          </a:xfrm>
          <a:prstGeom prst="rect">
            <a:avLst/>
          </a:prstGeom>
          <a:noFill/>
        </p:spPr>
        <p:txBody>
          <a:bodyPr wrap="square" rtlCol="0">
            <a:spAutoFit/>
          </a:bodyPr>
          <a:lstStyle/>
          <a:p>
            <a:r>
              <a:rPr lang="en-US" sz="2800" dirty="0">
                <a:latin typeface="Palatino Linotype" panose="02040502050505030304" pitchFamily="18" charset="0"/>
              </a:rPr>
              <a:t>C code:</a:t>
            </a:r>
          </a:p>
          <a:p>
            <a:r>
              <a:rPr lang="en-US" sz="2800" dirty="0">
                <a:latin typeface="Palatino Linotype" panose="02040502050505030304" pitchFamily="18" charset="0"/>
              </a:rPr>
              <a:t>               </a:t>
            </a:r>
            <a:r>
              <a:rPr lang="en-US" sz="2800" b="1" dirty="0" err="1">
                <a:solidFill>
                  <a:srgbClr val="0070C0"/>
                </a:solidFill>
                <a:latin typeface="Palatino Linotype" panose="02040502050505030304" pitchFamily="18" charset="0"/>
              </a:rPr>
              <a:t>printf</a:t>
            </a:r>
            <a:r>
              <a:rPr lang="en-US" sz="2800" b="1" dirty="0">
                <a:solidFill>
                  <a:srgbClr val="0070C0"/>
                </a:solidFill>
                <a:latin typeface="Palatino Linotype" panose="02040502050505030304" pitchFamily="18" charset="0"/>
              </a:rPr>
              <a:t>("Total = %d\n", score);</a:t>
            </a:r>
            <a:endParaRPr lang="en-US" sz="2800" dirty="0">
              <a:latin typeface="Palatino Linotype" panose="02040502050505030304" pitchFamily="18" charset="0"/>
            </a:endParaRPr>
          </a:p>
          <a:p>
            <a:pPr marL="457200" indent="-457200">
              <a:buFont typeface="Wingdings" panose="05000000000000000000" pitchFamily="2" charset="2"/>
              <a:buChar char="§"/>
            </a:pPr>
            <a:r>
              <a:rPr lang="en-US" sz="2800" dirty="0" err="1">
                <a:latin typeface="Palatino Linotype" panose="02040502050505030304" pitchFamily="18" charset="0"/>
              </a:rPr>
              <a:t>printf</a:t>
            </a:r>
            <a:r>
              <a:rPr lang="en-US" sz="2800" dirty="0">
                <a:latin typeface="Palatino Linotype" panose="02040502050505030304" pitchFamily="18" charset="0"/>
              </a:rPr>
              <a:t> and score are </a:t>
            </a:r>
            <a:r>
              <a:rPr lang="en-US" sz="2800" b="1" dirty="0">
                <a:solidFill>
                  <a:srgbClr val="FF0000"/>
                </a:solidFill>
                <a:latin typeface="Palatino Linotype" panose="02040502050505030304" pitchFamily="18" charset="0"/>
              </a:rPr>
              <a:t>lexemes</a:t>
            </a:r>
            <a:r>
              <a:rPr lang="en-US" sz="2800" dirty="0">
                <a:latin typeface="Palatino Linotype" panose="02040502050505030304" pitchFamily="18" charset="0"/>
              </a:rPr>
              <a:t> matching the </a:t>
            </a:r>
            <a:r>
              <a:rPr lang="en-US" sz="2800" dirty="0">
                <a:solidFill>
                  <a:srgbClr val="FF0000"/>
                </a:solidFill>
                <a:latin typeface="Palatino Linotype" panose="02040502050505030304" pitchFamily="18" charset="0"/>
              </a:rPr>
              <a:t>pattern</a:t>
            </a:r>
            <a:r>
              <a:rPr lang="en-US" sz="2800" dirty="0">
                <a:latin typeface="Palatino Linotype" panose="02040502050505030304" pitchFamily="18" charset="0"/>
              </a:rPr>
              <a:t> for </a:t>
            </a:r>
            <a:r>
              <a:rPr lang="en-US" sz="2800" dirty="0">
                <a:solidFill>
                  <a:srgbClr val="FF0000"/>
                </a:solidFill>
                <a:latin typeface="Palatino Linotype" panose="02040502050505030304" pitchFamily="18" charset="0"/>
              </a:rPr>
              <a:t>token id</a:t>
            </a:r>
            <a:r>
              <a:rPr lang="en-US" sz="2800" dirty="0">
                <a:latin typeface="Palatino Linotype" panose="02040502050505030304" pitchFamily="18" charset="0"/>
              </a:rPr>
              <a:t>,</a:t>
            </a:r>
          </a:p>
          <a:p>
            <a:pPr marL="457200" indent="-457200">
              <a:buFont typeface="Wingdings" panose="05000000000000000000" pitchFamily="2" charset="2"/>
              <a:buChar char="§"/>
            </a:pPr>
            <a:r>
              <a:rPr lang="en-US" sz="2800" dirty="0">
                <a:latin typeface="Palatino Linotype" panose="02040502050505030304" pitchFamily="18" charset="0"/>
              </a:rPr>
              <a:t>"Total = %d\n" is a </a:t>
            </a:r>
            <a:r>
              <a:rPr lang="en-US" sz="2800" dirty="0">
                <a:solidFill>
                  <a:srgbClr val="FF0000"/>
                </a:solidFill>
                <a:latin typeface="Palatino Linotype" panose="02040502050505030304" pitchFamily="18" charset="0"/>
              </a:rPr>
              <a:t>lexeme</a:t>
            </a:r>
            <a:r>
              <a:rPr lang="en-US" sz="2800" dirty="0">
                <a:latin typeface="Palatino Linotype" panose="02040502050505030304" pitchFamily="18" charset="0"/>
              </a:rPr>
              <a:t> matching literal</a:t>
            </a:r>
            <a:endParaRPr lang="en-IN" sz="2800" dirty="0">
              <a:latin typeface="Palatino Linotype" panose="02040502050505030304" pitchFamily="18" charset="0"/>
            </a:endParaRPr>
          </a:p>
        </p:txBody>
      </p:sp>
      <p:pic>
        <p:nvPicPr>
          <p:cNvPr id="19" name="Picture 18">
            <a:extLst>
              <a:ext uri="{FF2B5EF4-FFF2-40B4-BE49-F238E27FC236}">
                <a16:creationId xmlns:a16="http://schemas.microsoft.com/office/drawing/2014/main" id="{99571D62-1E9C-3132-82D9-06B9BC3F68AD}"/>
              </a:ext>
            </a:extLst>
          </p:cNvPr>
          <p:cNvPicPr>
            <a:picLocks noChangeAspect="1"/>
          </p:cNvPicPr>
          <p:nvPr/>
        </p:nvPicPr>
        <p:blipFill>
          <a:blip r:embed="rId3"/>
          <a:stretch>
            <a:fillRect/>
          </a:stretch>
        </p:blipFill>
        <p:spPr>
          <a:xfrm>
            <a:off x="2457893" y="3542492"/>
            <a:ext cx="9299944" cy="3113489"/>
          </a:xfrm>
          <a:prstGeom prst="rect">
            <a:avLst/>
          </a:prstGeom>
        </p:spPr>
      </p:pic>
      <p:sp>
        <p:nvSpPr>
          <p:cNvPr id="23" name="TextBox 22">
            <a:extLst>
              <a:ext uri="{FF2B5EF4-FFF2-40B4-BE49-F238E27FC236}">
                <a16:creationId xmlns:a16="http://schemas.microsoft.com/office/drawing/2014/main" id="{3F833522-FBE9-8434-50E0-0B7163796A3E}"/>
              </a:ext>
            </a:extLst>
          </p:cNvPr>
          <p:cNvSpPr txBox="1"/>
          <p:nvPr/>
        </p:nvSpPr>
        <p:spPr>
          <a:xfrm>
            <a:off x="583023" y="2852448"/>
            <a:ext cx="11323674" cy="1187569"/>
          </a:xfrm>
          <a:prstGeom prst="rect">
            <a:avLst/>
          </a:prstGeom>
          <a:noFill/>
        </p:spPr>
        <p:txBody>
          <a:bodyPr wrap="square">
            <a:spAutoFit/>
          </a:bodyPr>
          <a:lstStyle/>
          <a:p>
            <a:pPr algn="just">
              <a:lnSpc>
                <a:spcPct val="150000"/>
              </a:lnSpc>
            </a:pPr>
            <a:r>
              <a:rPr lang="en-US" sz="2500" dirty="0">
                <a:solidFill>
                  <a:schemeClr val="accent4">
                    <a:lumMod val="50000"/>
                  </a:schemeClr>
                </a:solidFill>
                <a:latin typeface="Palatino Linotype" panose="02040502050505030304" pitchFamily="18" charset="0"/>
              </a:rPr>
              <a:t>In many programming languages, the following classes cover most or all of</a:t>
            </a:r>
          </a:p>
          <a:p>
            <a:pPr algn="just">
              <a:lnSpc>
                <a:spcPct val="150000"/>
              </a:lnSpc>
            </a:pPr>
            <a:r>
              <a:rPr lang="en-US" sz="2500" dirty="0">
                <a:solidFill>
                  <a:schemeClr val="accent4">
                    <a:lumMod val="50000"/>
                  </a:schemeClr>
                </a:solidFill>
                <a:latin typeface="Palatino Linotype" panose="02040502050505030304" pitchFamily="18" charset="0"/>
              </a:rPr>
              <a:t>the tokens:</a:t>
            </a:r>
            <a:endParaRPr lang="en-IN" sz="2500" dirty="0">
              <a:solidFill>
                <a:schemeClr val="accent4">
                  <a:lumMod val="50000"/>
                </a:schemeClr>
              </a:solidFill>
              <a:latin typeface="Palatino Linotype" panose="02040502050505030304" pitchFamily="18" charset="0"/>
            </a:endParaRPr>
          </a:p>
        </p:txBody>
      </p:sp>
    </p:spTree>
    <p:extLst>
      <p:ext uri="{BB962C8B-B14F-4D97-AF65-F5344CB8AC3E}">
        <p14:creationId xmlns:p14="http://schemas.microsoft.com/office/powerpoint/2010/main" val="12579849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FBC554-45F2-99BA-B5DE-8C8D18F7A779}"/>
              </a:ext>
            </a:extLst>
          </p:cNvPr>
          <p:cNvSpPr txBox="1">
            <a:spLocks/>
          </p:cNvSpPr>
          <p:nvPr/>
        </p:nvSpPr>
        <p:spPr>
          <a:xfrm>
            <a:off x="0" y="1"/>
            <a:ext cx="12192000" cy="711200"/>
          </a:xfrm>
          <a:prstGeom prst="rect">
            <a:avLst/>
          </a:prstGeom>
        </p:spPr>
        <p:txBody>
          <a:bodyPr/>
          <a:lstStyle>
            <a:lvl1pPr algn="l" defTabSz="914400" rtl="0" eaLnBrk="1" latinLnBrk="0" hangingPunct="1">
              <a:lnSpc>
                <a:spcPct val="90000"/>
              </a:lnSpc>
              <a:spcBef>
                <a:spcPct val="0"/>
              </a:spcBef>
              <a:buNone/>
              <a:defRPr sz="4400" kern="1200">
                <a:solidFill>
                  <a:srgbClr val="C00000"/>
                </a:solidFill>
                <a:latin typeface="Palatino Linotype" panose="02040502050505030304" pitchFamily="18" charset="0"/>
                <a:ea typeface="+mj-ea"/>
                <a:cs typeface="+mj-cs"/>
              </a:defRPr>
            </a:lvl1pPr>
          </a:lstStyle>
          <a:p>
            <a:r>
              <a:rPr lang="en-US" dirty="0"/>
              <a:t>Example: Token, Pattern &amp; Lexemes</a:t>
            </a:r>
          </a:p>
        </p:txBody>
      </p:sp>
      <p:sp>
        <p:nvSpPr>
          <p:cNvPr id="3" name="Content Placeholder 2">
            <a:extLst>
              <a:ext uri="{FF2B5EF4-FFF2-40B4-BE49-F238E27FC236}">
                <a16:creationId xmlns:a16="http://schemas.microsoft.com/office/drawing/2014/main" id="{485E5085-2049-5320-B6A9-3BB3E180F040}"/>
              </a:ext>
            </a:extLst>
          </p:cNvPr>
          <p:cNvSpPr txBox="1">
            <a:spLocks/>
          </p:cNvSpPr>
          <p:nvPr/>
        </p:nvSpPr>
        <p:spPr>
          <a:xfrm>
            <a:off x="131180" y="863444"/>
            <a:ext cx="11929641" cy="5590565"/>
          </a:xfrm>
          <a:prstGeom prst="rect">
            <a:avLst/>
          </a:prstGeom>
        </p:spPr>
        <p:txBody>
          <a:bodyPr/>
          <a:lstStyle>
            <a:lvl1pPr marL="228600" indent="-228600" algn="just"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Palatino Linotype" panose="02040502050505030304" pitchFamily="18" charset="0"/>
                <a:ea typeface="+mn-ea"/>
                <a:cs typeface="+mn-cs"/>
              </a:defRPr>
            </a:lvl1pPr>
            <a:lvl2pPr marL="685800" indent="-228600" algn="just"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Palatino Linotype" panose="02040502050505030304" pitchFamily="18" charset="0"/>
                <a:ea typeface="+mn-ea"/>
                <a:cs typeface="+mn-cs"/>
              </a:defRPr>
            </a:lvl2pPr>
            <a:lvl3pPr marL="1143000" indent="-228600" algn="just"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Palatino Linotype" panose="02040502050505030304" pitchFamily="18" charset="0"/>
                <a:ea typeface="+mn-ea"/>
                <a:cs typeface="+mn-cs"/>
              </a:defRPr>
            </a:lvl3pPr>
            <a:lvl4pPr marL="1600200" indent="-228600" algn="just"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alatino Linotype" panose="02040502050505030304" pitchFamily="18" charset="0"/>
                <a:ea typeface="+mn-ea"/>
                <a:cs typeface="+mn-cs"/>
              </a:defRPr>
            </a:lvl4pPr>
            <a:lvl5pPr marL="2057400" indent="-228600" algn="just"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dirty="0"/>
              <a:t>Example: total = sum + 45</a:t>
            </a:r>
          </a:p>
          <a:p>
            <a:pPr marL="0" indent="0">
              <a:buFont typeface="Arial" panose="020B0604020202020204" pitchFamily="34" charset="0"/>
              <a:buNone/>
            </a:pPr>
            <a:r>
              <a:rPr lang="en-US" b="1" dirty="0">
                <a:solidFill>
                  <a:srgbClr val="0E47A1"/>
                </a:solidFill>
              </a:rPr>
              <a:t>Tokens:</a:t>
            </a:r>
          </a:p>
          <a:p>
            <a:pPr marL="0" indent="0">
              <a:buFont typeface="Arial" panose="020B0604020202020204" pitchFamily="34" charset="0"/>
              <a:buNone/>
            </a:pPr>
            <a:r>
              <a:rPr lang="en-US" dirty="0"/>
              <a:t>	</a:t>
            </a:r>
            <a:r>
              <a:rPr lang="en-US" sz="2600" dirty="0"/>
              <a:t>total 		</a:t>
            </a:r>
          </a:p>
          <a:p>
            <a:pPr marL="0" indent="0">
              <a:buFont typeface="Arial" panose="020B0604020202020204" pitchFamily="34" charset="0"/>
              <a:buNone/>
            </a:pPr>
            <a:r>
              <a:rPr lang="en-US" sz="2600" dirty="0"/>
              <a:t>	= 	</a:t>
            </a:r>
          </a:p>
          <a:p>
            <a:pPr marL="0" indent="0">
              <a:buFont typeface="Arial" panose="020B0604020202020204" pitchFamily="34" charset="0"/>
              <a:buNone/>
            </a:pPr>
            <a:r>
              <a:rPr lang="en-US" sz="2600" dirty="0"/>
              <a:t>	sum 	</a:t>
            </a:r>
          </a:p>
          <a:p>
            <a:pPr marL="0" indent="0">
              <a:buFont typeface="Arial" panose="020B0604020202020204" pitchFamily="34" charset="0"/>
              <a:buNone/>
            </a:pPr>
            <a:r>
              <a:rPr lang="en-US" sz="2600" dirty="0"/>
              <a:t>	+ 	</a:t>
            </a:r>
          </a:p>
          <a:p>
            <a:pPr marL="0" indent="0">
              <a:buFont typeface="Arial" panose="020B0604020202020204" pitchFamily="34" charset="0"/>
              <a:buNone/>
            </a:pPr>
            <a:r>
              <a:rPr lang="en-US" sz="2600" dirty="0"/>
              <a:t>	45</a:t>
            </a:r>
          </a:p>
          <a:p>
            <a:pPr marL="0" indent="0">
              <a:buFont typeface="Arial" panose="020B0604020202020204" pitchFamily="34" charset="0"/>
              <a:buNone/>
            </a:pPr>
            <a:endParaRPr lang="en-US" b="1" dirty="0">
              <a:solidFill>
                <a:schemeClr val="accent1">
                  <a:lumMod val="75000"/>
                </a:schemeClr>
              </a:solidFill>
            </a:endParaRPr>
          </a:p>
          <a:p>
            <a:pPr marL="0" indent="0">
              <a:buFont typeface="Arial" panose="020B0604020202020204" pitchFamily="34" charset="0"/>
              <a:buNone/>
            </a:pPr>
            <a:r>
              <a:rPr lang="en-US" b="1" dirty="0">
                <a:solidFill>
                  <a:srgbClr val="0E47A1"/>
                </a:solidFill>
              </a:rPr>
              <a:t>Lexemes</a:t>
            </a:r>
          </a:p>
          <a:p>
            <a:pPr marL="0" indent="0">
              <a:buFont typeface="Arial" panose="020B0604020202020204" pitchFamily="34" charset="0"/>
              <a:buNone/>
            </a:pPr>
            <a:r>
              <a:rPr lang="en-US" b="1" dirty="0">
                <a:solidFill>
                  <a:schemeClr val="accent1">
                    <a:lumMod val="75000"/>
                  </a:schemeClr>
                </a:solidFill>
              </a:rPr>
              <a:t>	</a:t>
            </a:r>
            <a:r>
              <a:rPr lang="en-US" dirty="0"/>
              <a:t>Lexemes of identifier: total, sum</a:t>
            </a:r>
          </a:p>
          <a:p>
            <a:pPr marL="0" indent="0">
              <a:buFont typeface="Arial" panose="020B0604020202020204" pitchFamily="34" charset="0"/>
              <a:buNone/>
            </a:pPr>
            <a:r>
              <a:rPr lang="en-US" dirty="0"/>
              <a:t>	Lexemes of operator: =, +</a:t>
            </a:r>
          </a:p>
          <a:p>
            <a:pPr marL="0" indent="0">
              <a:buFont typeface="Arial" panose="020B0604020202020204" pitchFamily="34" charset="0"/>
              <a:buNone/>
            </a:pPr>
            <a:r>
              <a:rPr lang="en-US" dirty="0"/>
              <a:t>	Lexemes of constant: 45</a:t>
            </a:r>
          </a:p>
          <a:p>
            <a:endParaRPr lang="en-US" dirty="0"/>
          </a:p>
        </p:txBody>
      </p:sp>
      <p:sp>
        <p:nvSpPr>
          <p:cNvPr id="4" name="Rectangle 3">
            <a:extLst>
              <a:ext uri="{FF2B5EF4-FFF2-40B4-BE49-F238E27FC236}">
                <a16:creationId xmlns:a16="http://schemas.microsoft.com/office/drawing/2014/main" id="{D182599D-1E0E-9C78-ABDF-10ECF54291BF}"/>
              </a:ext>
            </a:extLst>
          </p:cNvPr>
          <p:cNvSpPr/>
          <p:nvPr/>
        </p:nvSpPr>
        <p:spPr>
          <a:xfrm>
            <a:off x="2587677" y="1959842"/>
            <a:ext cx="1524000" cy="304800"/>
          </a:xfrm>
          <a:prstGeom prst="rect">
            <a:avLst/>
          </a:prstGeom>
          <a:solidFill>
            <a:srgbClr val="0E47A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Identifier1</a:t>
            </a:r>
          </a:p>
        </p:txBody>
      </p:sp>
      <p:cxnSp>
        <p:nvCxnSpPr>
          <p:cNvPr id="5" name="Straight Arrow Connector 4">
            <a:extLst>
              <a:ext uri="{FF2B5EF4-FFF2-40B4-BE49-F238E27FC236}">
                <a16:creationId xmlns:a16="http://schemas.microsoft.com/office/drawing/2014/main" id="{75E15D6B-B5BD-84EF-3030-CCBACC1726EF}"/>
              </a:ext>
            </a:extLst>
          </p:cNvPr>
          <p:cNvCxnSpPr>
            <a:stCxn id="4" idx="1"/>
          </p:cNvCxnSpPr>
          <p:nvPr/>
        </p:nvCxnSpPr>
        <p:spPr>
          <a:xfrm flipH="1">
            <a:off x="1749477" y="2112242"/>
            <a:ext cx="838200" cy="0"/>
          </a:xfrm>
          <a:prstGeom prst="straightConnector1">
            <a:avLst/>
          </a:prstGeom>
          <a:ln w="25400">
            <a:solidFill>
              <a:srgbClr val="0E47A1"/>
            </a:solidFill>
            <a:tailEnd type="arrow"/>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C874AFD8-90F2-3FF0-0072-1E10E306A8C4}"/>
              </a:ext>
            </a:extLst>
          </p:cNvPr>
          <p:cNvSpPr/>
          <p:nvPr/>
        </p:nvSpPr>
        <p:spPr>
          <a:xfrm>
            <a:off x="2587677" y="2435824"/>
            <a:ext cx="1524000" cy="304800"/>
          </a:xfrm>
          <a:prstGeom prst="rect">
            <a:avLst/>
          </a:prstGeom>
          <a:solidFill>
            <a:srgbClr val="0E47A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Operator1</a:t>
            </a:r>
          </a:p>
        </p:txBody>
      </p:sp>
      <p:cxnSp>
        <p:nvCxnSpPr>
          <p:cNvPr id="7" name="Straight Arrow Connector 6">
            <a:extLst>
              <a:ext uri="{FF2B5EF4-FFF2-40B4-BE49-F238E27FC236}">
                <a16:creationId xmlns:a16="http://schemas.microsoft.com/office/drawing/2014/main" id="{8BCEEA28-0248-5FFA-9979-9CAE9F7C247A}"/>
              </a:ext>
            </a:extLst>
          </p:cNvPr>
          <p:cNvCxnSpPr>
            <a:stCxn id="6" idx="1"/>
          </p:cNvCxnSpPr>
          <p:nvPr/>
        </p:nvCxnSpPr>
        <p:spPr>
          <a:xfrm flipH="1">
            <a:off x="1749477" y="2588224"/>
            <a:ext cx="838200" cy="0"/>
          </a:xfrm>
          <a:prstGeom prst="straightConnector1">
            <a:avLst/>
          </a:prstGeom>
          <a:ln w="25400">
            <a:solidFill>
              <a:srgbClr val="0E47A1"/>
            </a:solidFill>
            <a:tailEnd type="arrow"/>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226B7694-532C-1734-1A92-DF8505DFB643}"/>
              </a:ext>
            </a:extLst>
          </p:cNvPr>
          <p:cNvSpPr/>
          <p:nvPr/>
        </p:nvSpPr>
        <p:spPr>
          <a:xfrm>
            <a:off x="2587677" y="2937520"/>
            <a:ext cx="1524000" cy="304800"/>
          </a:xfrm>
          <a:prstGeom prst="rect">
            <a:avLst/>
          </a:prstGeom>
          <a:solidFill>
            <a:srgbClr val="0E47A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Identifier2</a:t>
            </a:r>
          </a:p>
        </p:txBody>
      </p:sp>
      <p:cxnSp>
        <p:nvCxnSpPr>
          <p:cNvPr id="9" name="Straight Arrow Connector 8">
            <a:extLst>
              <a:ext uri="{FF2B5EF4-FFF2-40B4-BE49-F238E27FC236}">
                <a16:creationId xmlns:a16="http://schemas.microsoft.com/office/drawing/2014/main" id="{8343B8AB-891B-3B8F-AA15-7A38940F55A5}"/>
              </a:ext>
            </a:extLst>
          </p:cNvPr>
          <p:cNvCxnSpPr>
            <a:stCxn id="8" idx="1"/>
          </p:cNvCxnSpPr>
          <p:nvPr/>
        </p:nvCxnSpPr>
        <p:spPr>
          <a:xfrm flipH="1">
            <a:off x="1749477" y="3089920"/>
            <a:ext cx="838200" cy="0"/>
          </a:xfrm>
          <a:prstGeom prst="straightConnector1">
            <a:avLst/>
          </a:prstGeom>
          <a:ln w="25400">
            <a:solidFill>
              <a:srgbClr val="0E47A1"/>
            </a:solidFill>
            <a:tailEnd type="arrow"/>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4887BFFF-AED9-8E92-78FC-C63BDEFB9180}"/>
              </a:ext>
            </a:extLst>
          </p:cNvPr>
          <p:cNvSpPr/>
          <p:nvPr/>
        </p:nvSpPr>
        <p:spPr>
          <a:xfrm>
            <a:off x="2587677" y="3413287"/>
            <a:ext cx="1524000" cy="304800"/>
          </a:xfrm>
          <a:prstGeom prst="rect">
            <a:avLst/>
          </a:prstGeom>
          <a:solidFill>
            <a:srgbClr val="0E47A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Operator2</a:t>
            </a:r>
          </a:p>
        </p:txBody>
      </p:sp>
      <p:cxnSp>
        <p:nvCxnSpPr>
          <p:cNvPr id="11" name="Straight Arrow Connector 10">
            <a:extLst>
              <a:ext uri="{FF2B5EF4-FFF2-40B4-BE49-F238E27FC236}">
                <a16:creationId xmlns:a16="http://schemas.microsoft.com/office/drawing/2014/main" id="{0D48819B-0967-3767-E626-465FD3857D0A}"/>
              </a:ext>
            </a:extLst>
          </p:cNvPr>
          <p:cNvCxnSpPr/>
          <p:nvPr/>
        </p:nvCxnSpPr>
        <p:spPr>
          <a:xfrm flipH="1">
            <a:off x="1749477" y="3565687"/>
            <a:ext cx="838200" cy="0"/>
          </a:xfrm>
          <a:prstGeom prst="straightConnector1">
            <a:avLst/>
          </a:prstGeom>
          <a:ln w="25400">
            <a:solidFill>
              <a:srgbClr val="0E47A1"/>
            </a:solidFill>
            <a:tailEnd type="arrow"/>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8F22959B-8429-64B5-6A4B-311E3126AF31}"/>
              </a:ext>
            </a:extLst>
          </p:cNvPr>
          <p:cNvSpPr/>
          <p:nvPr/>
        </p:nvSpPr>
        <p:spPr>
          <a:xfrm>
            <a:off x="2587677" y="3914140"/>
            <a:ext cx="1524000" cy="304800"/>
          </a:xfrm>
          <a:prstGeom prst="rect">
            <a:avLst/>
          </a:prstGeom>
          <a:solidFill>
            <a:srgbClr val="0E47A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Constant1</a:t>
            </a:r>
          </a:p>
        </p:txBody>
      </p:sp>
      <p:cxnSp>
        <p:nvCxnSpPr>
          <p:cNvPr id="13" name="Straight Arrow Connector 12">
            <a:extLst>
              <a:ext uri="{FF2B5EF4-FFF2-40B4-BE49-F238E27FC236}">
                <a16:creationId xmlns:a16="http://schemas.microsoft.com/office/drawing/2014/main" id="{DEF11C07-F829-5FD2-9DC1-25BC3898C08C}"/>
              </a:ext>
            </a:extLst>
          </p:cNvPr>
          <p:cNvCxnSpPr/>
          <p:nvPr/>
        </p:nvCxnSpPr>
        <p:spPr>
          <a:xfrm flipH="1">
            <a:off x="1749477" y="4066540"/>
            <a:ext cx="838200" cy="0"/>
          </a:xfrm>
          <a:prstGeom prst="straightConnector1">
            <a:avLst/>
          </a:prstGeom>
          <a:ln w="25400">
            <a:solidFill>
              <a:srgbClr val="0E47A1"/>
            </a:solidFill>
            <a:tailEnd type="arrow"/>
          </a:ln>
        </p:spPr>
        <p:style>
          <a:lnRef idx="1">
            <a:schemeClr val="accent1"/>
          </a:lnRef>
          <a:fillRef idx="0">
            <a:schemeClr val="accent1"/>
          </a:fillRef>
          <a:effectRef idx="0">
            <a:schemeClr val="accent1"/>
          </a:effectRef>
          <a:fontRef idx="minor">
            <a:schemeClr val="tx1"/>
          </a:fontRef>
        </p:style>
      </p:cxnSp>
      <p:sp>
        <p:nvSpPr>
          <p:cNvPr id="14" name="Right Brace 13">
            <a:extLst>
              <a:ext uri="{FF2B5EF4-FFF2-40B4-BE49-F238E27FC236}">
                <a16:creationId xmlns:a16="http://schemas.microsoft.com/office/drawing/2014/main" id="{E5C6D387-A792-9AEC-ED61-7C195D21B2CE}"/>
              </a:ext>
            </a:extLst>
          </p:cNvPr>
          <p:cNvSpPr/>
          <p:nvPr/>
        </p:nvSpPr>
        <p:spPr>
          <a:xfrm>
            <a:off x="4112119" y="1515356"/>
            <a:ext cx="666732" cy="2743200"/>
          </a:xfrm>
          <a:prstGeom prst="rightBrace">
            <a:avLst/>
          </a:prstGeom>
          <a:ln w="25400">
            <a:solidFill>
              <a:srgbClr val="0E47A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5" name="Rectangle 14">
            <a:extLst>
              <a:ext uri="{FF2B5EF4-FFF2-40B4-BE49-F238E27FC236}">
                <a16:creationId xmlns:a16="http://schemas.microsoft.com/office/drawing/2014/main" id="{DA808A19-9A8B-5F21-824D-354265BABC02}"/>
              </a:ext>
            </a:extLst>
          </p:cNvPr>
          <p:cNvSpPr/>
          <p:nvPr/>
        </p:nvSpPr>
        <p:spPr>
          <a:xfrm>
            <a:off x="4858414" y="2625014"/>
            <a:ext cx="1416854" cy="523883"/>
          </a:xfrm>
          <a:prstGeom prst="rect">
            <a:avLst/>
          </a:prstGeom>
          <a:solidFill>
            <a:srgbClr val="0E47A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a:t>Tokens</a:t>
            </a:r>
          </a:p>
        </p:txBody>
      </p:sp>
    </p:spTree>
    <p:extLst>
      <p:ext uri="{BB962C8B-B14F-4D97-AF65-F5344CB8AC3E}">
        <p14:creationId xmlns:p14="http://schemas.microsoft.com/office/powerpoint/2010/main" val="4798743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dur="1"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dur="1"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dur="1"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dur="1"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dur="1"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dur="1"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dur="1"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22" presetClass="entr" presetSubtype="2" dur="500"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wipe(right)">
                                      <p:cBhvr>
                                        <p:cTn id="25" dur="500"/>
                                        <p:tgtEl>
                                          <p:spTgt spid="5"/>
                                        </p:tgtEl>
                                      </p:cBhvr>
                                    </p:animEffect>
                                  </p:childTnLst>
                                </p:cTn>
                              </p:par>
                              <p:par>
                                <p:cTn id="26" presetID="22" presetClass="entr" presetSubtype="2" dur="500" fill="hold" grpId="0" nodeType="withEffect">
                                  <p:stCondLst>
                                    <p:cond delay="0"/>
                                  </p:stCondLst>
                                  <p:childTnLst>
                                    <p:set>
                                      <p:cBhvr>
                                        <p:cTn id="27" dur="1" fill="hold">
                                          <p:stCondLst>
                                            <p:cond delay="0"/>
                                          </p:stCondLst>
                                        </p:cTn>
                                        <p:tgtEl>
                                          <p:spTgt spid="4"/>
                                        </p:tgtEl>
                                        <p:attrNameLst>
                                          <p:attrName>style.visibility</p:attrName>
                                        </p:attrNameLst>
                                      </p:cBhvr>
                                      <p:to>
                                        <p:strVal val="visible"/>
                                      </p:to>
                                    </p:set>
                                    <p:animEffect transition="in" filter="wipe(right)">
                                      <p:cBhvr>
                                        <p:cTn id="28" dur="500"/>
                                        <p:tgtEl>
                                          <p:spTgt spid="4"/>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2" dur="500" fill="hold" nodeType="clickEffect">
                                  <p:stCondLst>
                                    <p:cond delay="0"/>
                                  </p:stCondLst>
                                  <p:childTnLst>
                                    <p:set>
                                      <p:cBhvr>
                                        <p:cTn id="32" dur="1" fill="hold">
                                          <p:stCondLst>
                                            <p:cond delay="0"/>
                                          </p:stCondLst>
                                        </p:cTn>
                                        <p:tgtEl>
                                          <p:spTgt spid="7"/>
                                        </p:tgtEl>
                                        <p:attrNameLst>
                                          <p:attrName>style.visibility</p:attrName>
                                        </p:attrNameLst>
                                      </p:cBhvr>
                                      <p:to>
                                        <p:strVal val="visible"/>
                                      </p:to>
                                    </p:set>
                                    <p:animEffect transition="in" filter="wipe(right)">
                                      <p:cBhvr>
                                        <p:cTn id="33" dur="500"/>
                                        <p:tgtEl>
                                          <p:spTgt spid="7"/>
                                        </p:tgtEl>
                                      </p:cBhvr>
                                    </p:animEffect>
                                  </p:childTnLst>
                                </p:cTn>
                              </p:par>
                              <p:par>
                                <p:cTn id="34" presetID="22" presetClass="entr" presetSubtype="2" dur="500" fill="hold" grpId="0" nodeType="withEffect">
                                  <p:stCondLst>
                                    <p:cond delay="0"/>
                                  </p:stCondLst>
                                  <p:childTnLst>
                                    <p:set>
                                      <p:cBhvr>
                                        <p:cTn id="35" dur="1" fill="hold">
                                          <p:stCondLst>
                                            <p:cond delay="0"/>
                                          </p:stCondLst>
                                        </p:cTn>
                                        <p:tgtEl>
                                          <p:spTgt spid="6"/>
                                        </p:tgtEl>
                                        <p:attrNameLst>
                                          <p:attrName>style.visibility</p:attrName>
                                        </p:attrNameLst>
                                      </p:cBhvr>
                                      <p:to>
                                        <p:strVal val="visible"/>
                                      </p:to>
                                    </p:set>
                                    <p:animEffect transition="in" filter="wipe(right)">
                                      <p:cBhvr>
                                        <p:cTn id="36" dur="500"/>
                                        <p:tgtEl>
                                          <p:spTgt spid="6"/>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2" dur="500" fill="hold" nodeType="clickEffect">
                                  <p:stCondLst>
                                    <p:cond delay="0"/>
                                  </p:stCondLst>
                                  <p:childTnLst>
                                    <p:set>
                                      <p:cBhvr>
                                        <p:cTn id="40" dur="1" fill="hold">
                                          <p:stCondLst>
                                            <p:cond delay="0"/>
                                          </p:stCondLst>
                                        </p:cTn>
                                        <p:tgtEl>
                                          <p:spTgt spid="9"/>
                                        </p:tgtEl>
                                        <p:attrNameLst>
                                          <p:attrName>style.visibility</p:attrName>
                                        </p:attrNameLst>
                                      </p:cBhvr>
                                      <p:to>
                                        <p:strVal val="visible"/>
                                      </p:to>
                                    </p:set>
                                    <p:animEffect transition="in" filter="wipe(right)">
                                      <p:cBhvr>
                                        <p:cTn id="41" dur="500"/>
                                        <p:tgtEl>
                                          <p:spTgt spid="9"/>
                                        </p:tgtEl>
                                      </p:cBhvr>
                                    </p:animEffect>
                                  </p:childTnLst>
                                </p:cTn>
                              </p:par>
                              <p:par>
                                <p:cTn id="42" presetID="22" presetClass="entr" presetSubtype="2" dur="500" fill="hold" grpId="0" nodeType="withEffect">
                                  <p:stCondLst>
                                    <p:cond delay="0"/>
                                  </p:stCondLst>
                                  <p:childTnLst>
                                    <p:set>
                                      <p:cBhvr>
                                        <p:cTn id="43" dur="1" fill="hold">
                                          <p:stCondLst>
                                            <p:cond delay="0"/>
                                          </p:stCondLst>
                                        </p:cTn>
                                        <p:tgtEl>
                                          <p:spTgt spid="8"/>
                                        </p:tgtEl>
                                        <p:attrNameLst>
                                          <p:attrName>style.visibility</p:attrName>
                                        </p:attrNameLst>
                                      </p:cBhvr>
                                      <p:to>
                                        <p:strVal val="visible"/>
                                      </p:to>
                                    </p:set>
                                    <p:animEffect transition="in" filter="wipe(right)">
                                      <p:cBhvr>
                                        <p:cTn id="44" dur="500"/>
                                        <p:tgtEl>
                                          <p:spTgt spid="8"/>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2" dur="500" fill="hold" nodeType="clickEffect">
                                  <p:stCondLst>
                                    <p:cond delay="0"/>
                                  </p:stCondLst>
                                  <p:childTnLst>
                                    <p:set>
                                      <p:cBhvr>
                                        <p:cTn id="48" dur="1" fill="hold">
                                          <p:stCondLst>
                                            <p:cond delay="0"/>
                                          </p:stCondLst>
                                        </p:cTn>
                                        <p:tgtEl>
                                          <p:spTgt spid="11"/>
                                        </p:tgtEl>
                                        <p:attrNameLst>
                                          <p:attrName>style.visibility</p:attrName>
                                        </p:attrNameLst>
                                      </p:cBhvr>
                                      <p:to>
                                        <p:strVal val="visible"/>
                                      </p:to>
                                    </p:set>
                                    <p:animEffect transition="in" filter="wipe(right)">
                                      <p:cBhvr>
                                        <p:cTn id="49" dur="500"/>
                                        <p:tgtEl>
                                          <p:spTgt spid="11"/>
                                        </p:tgtEl>
                                      </p:cBhvr>
                                    </p:animEffect>
                                  </p:childTnLst>
                                </p:cTn>
                              </p:par>
                              <p:par>
                                <p:cTn id="50" presetID="22" presetClass="entr" presetSubtype="2" dur="500" fill="hold" grpId="0" nodeType="withEffect">
                                  <p:stCondLst>
                                    <p:cond delay="0"/>
                                  </p:stCondLst>
                                  <p:childTnLst>
                                    <p:set>
                                      <p:cBhvr>
                                        <p:cTn id="51" dur="1" fill="hold">
                                          <p:stCondLst>
                                            <p:cond delay="0"/>
                                          </p:stCondLst>
                                        </p:cTn>
                                        <p:tgtEl>
                                          <p:spTgt spid="10"/>
                                        </p:tgtEl>
                                        <p:attrNameLst>
                                          <p:attrName>style.visibility</p:attrName>
                                        </p:attrNameLst>
                                      </p:cBhvr>
                                      <p:to>
                                        <p:strVal val="visible"/>
                                      </p:to>
                                    </p:set>
                                    <p:animEffect transition="in" filter="wipe(right)">
                                      <p:cBhvr>
                                        <p:cTn id="52" dur="500"/>
                                        <p:tgtEl>
                                          <p:spTgt spid="10"/>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2" dur="500" fill="hold" grpId="0" nodeType="clickEffect">
                                  <p:stCondLst>
                                    <p:cond delay="0"/>
                                  </p:stCondLst>
                                  <p:childTnLst>
                                    <p:set>
                                      <p:cBhvr>
                                        <p:cTn id="56" dur="1" fill="hold">
                                          <p:stCondLst>
                                            <p:cond delay="0"/>
                                          </p:stCondLst>
                                        </p:cTn>
                                        <p:tgtEl>
                                          <p:spTgt spid="12"/>
                                        </p:tgtEl>
                                        <p:attrNameLst>
                                          <p:attrName>style.visibility</p:attrName>
                                        </p:attrNameLst>
                                      </p:cBhvr>
                                      <p:to>
                                        <p:strVal val="visible"/>
                                      </p:to>
                                    </p:set>
                                    <p:animEffect transition="in" filter="wipe(right)">
                                      <p:cBhvr>
                                        <p:cTn id="57" dur="500"/>
                                        <p:tgtEl>
                                          <p:spTgt spid="12"/>
                                        </p:tgtEl>
                                      </p:cBhvr>
                                    </p:animEffect>
                                  </p:childTnLst>
                                </p:cTn>
                              </p:par>
                              <p:par>
                                <p:cTn id="58" presetID="22" presetClass="entr" presetSubtype="2" dur="500" fill="hold" nodeType="withEffect">
                                  <p:stCondLst>
                                    <p:cond delay="0"/>
                                  </p:stCondLst>
                                  <p:childTnLst>
                                    <p:set>
                                      <p:cBhvr>
                                        <p:cTn id="59" dur="1" fill="hold">
                                          <p:stCondLst>
                                            <p:cond delay="0"/>
                                          </p:stCondLst>
                                        </p:cTn>
                                        <p:tgtEl>
                                          <p:spTgt spid="13"/>
                                        </p:tgtEl>
                                        <p:attrNameLst>
                                          <p:attrName>style.visibility</p:attrName>
                                        </p:attrNameLst>
                                      </p:cBhvr>
                                      <p:to>
                                        <p:strVal val="visible"/>
                                      </p:to>
                                    </p:set>
                                    <p:animEffect transition="in" filter="wipe(right)">
                                      <p:cBhvr>
                                        <p:cTn id="60" dur="500"/>
                                        <p:tgtEl>
                                          <p:spTgt spid="13"/>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4" dur="500" fill="hold" grpId="0" nodeType="clickEffect">
                                  <p:stCondLst>
                                    <p:cond delay="0"/>
                                  </p:stCondLst>
                                  <p:childTnLst>
                                    <p:set>
                                      <p:cBhvr>
                                        <p:cTn id="64" dur="1" fill="hold">
                                          <p:stCondLst>
                                            <p:cond delay="0"/>
                                          </p:stCondLst>
                                        </p:cTn>
                                        <p:tgtEl>
                                          <p:spTgt spid="14"/>
                                        </p:tgtEl>
                                        <p:attrNameLst>
                                          <p:attrName>style.visibility</p:attrName>
                                        </p:attrNameLst>
                                      </p:cBhvr>
                                      <p:to>
                                        <p:strVal val="visible"/>
                                      </p:to>
                                    </p:set>
                                    <p:animEffect transition="in" filter="wipe(down)">
                                      <p:cBhvr>
                                        <p:cTn id="65" dur="500"/>
                                        <p:tgtEl>
                                          <p:spTgt spid="14"/>
                                        </p:tgtEl>
                                      </p:cBhvr>
                                    </p:animEffect>
                                  </p:childTnLst>
                                </p:cTn>
                              </p:par>
                              <p:par>
                                <p:cTn id="66" presetID="22" presetClass="entr" presetSubtype="4" dur="500" fill="hold" grpId="0" nodeType="withEffect">
                                  <p:stCondLst>
                                    <p:cond delay="0"/>
                                  </p:stCondLst>
                                  <p:childTnLst>
                                    <p:set>
                                      <p:cBhvr>
                                        <p:cTn id="67" dur="1" fill="hold">
                                          <p:stCondLst>
                                            <p:cond delay="0"/>
                                          </p:stCondLst>
                                        </p:cTn>
                                        <p:tgtEl>
                                          <p:spTgt spid="15"/>
                                        </p:tgtEl>
                                        <p:attrNameLst>
                                          <p:attrName>style.visibility</p:attrName>
                                        </p:attrNameLst>
                                      </p:cBhvr>
                                      <p:to>
                                        <p:strVal val="visible"/>
                                      </p:to>
                                    </p:set>
                                    <p:animEffect transition="in" filter="wipe(down)">
                                      <p:cBhvr>
                                        <p:cTn id="68" dur="500"/>
                                        <p:tgtEl>
                                          <p:spTgt spid="15"/>
                                        </p:tgtEl>
                                      </p:cBhvr>
                                    </p:animEffect>
                                  </p:childTnLst>
                                </p:cTn>
                              </p:par>
                            </p:childTnLst>
                          </p:cTn>
                        </p:par>
                      </p:childTnLst>
                    </p:cTn>
                  </p:par>
                  <p:par>
                    <p:cTn id="69" fill="hold">
                      <p:stCondLst>
                        <p:cond delay="indefinite"/>
                      </p:stCondLst>
                      <p:childTnLst>
                        <p:par>
                          <p:cTn id="70" fill="hold">
                            <p:stCondLst>
                              <p:cond delay="0"/>
                            </p:stCondLst>
                            <p:childTnLst>
                              <p:par>
                                <p:cTn id="71" presetID="1" presetClass="entr" presetSubtype="0" dur="1" fill="hold" nodeType="clickEffect">
                                  <p:stCondLst>
                                    <p:cond delay="0"/>
                                  </p:stCondLst>
                                  <p:childTnLst>
                                    <p:set>
                                      <p:cBhvr>
                                        <p:cTn id="7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dur="1" fill="hold" nodeType="clickEffect">
                                  <p:stCondLst>
                                    <p:cond delay="0"/>
                                  </p:stCondLst>
                                  <p:childTnLst>
                                    <p:set>
                                      <p:cBhvr>
                                        <p:cTn id="7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dur="1" fill="hold" nodeType="clickEffect">
                                  <p:stCondLst>
                                    <p:cond delay="0"/>
                                  </p:stCondLst>
                                  <p:childTnLst>
                                    <p:set>
                                      <p:cBhvr>
                                        <p:cTn id="8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dur="1" fill="hold" nodeType="clickEffect">
                                  <p:stCondLst>
                                    <p:cond delay="0"/>
                                  </p:stCondLst>
                                  <p:childTnLst>
                                    <p:set>
                                      <p:cBhvr>
                                        <p:cTn id="84"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8" grpId="0" animBg="1"/>
      <p:bldP spid="10" grpId="0" animBg="1"/>
      <p:bldP spid="12" grpId="0" animBg="1"/>
      <p:bldP spid="14" grpId="0" animBg="1"/>
      <p:bldP spid="1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9D6F42-76B6-15E6-EF85-22CEBB1DCA90}"/>
              </a:ext>
            </a:extLst>
          </p:cNvPr>
          <p:cNvSpPr txBox="1">
            <a:spLocks/>
          </p:cNvSpPr>
          <p:nvPr/>
        </p:nvSpPr>
        <p:spPr>
          <a:xfrm>
            <a:off x="0" y="1"/>
            <a:ext cx="12192000" cy="711200"/>
          </a:xfrm>
          <a:prstGeom prst="rect">
            <a:avLst/>
          </a:prstGeom>
        </p:spPr>
        <p:txBody>
          <a:bodyPr/>
          <a:lstStyle>
            <a:lvl1pPr algn="l" defTabSz="914400" rtl="0" eaLnBrk="1" latinLnBrk="0" hangingPunct="1">
              <a:lnSpc>
                <a:spcPct val="90000"/>
              </a:lnSpc>
              <a:spcBef>
                <a:spcPct val="0"/>
              </a:spcBef>
              <a:buNone/>
              <a:defRPr sz="4400" kern="1200">
                <a:solidFill>
                  <a:srgbClr val="C00000"/>
                </a:solidFill>
                <a:latin typeface="Palatino Linotype" panose="02040502050505030304" pitchFamily="18" charset="0"/>
                <a:ea typeface="+mj-ea"/>
                <a:cs typeface="+mj-cs"/>
              </a:defRPr>
            </a:lvl1pPr>
          </a:lstStyle>
          <a:p>
            <a:r>
              <a:rPr lang="en-US" dirty="0"/>
              <a:t>Attributes of Tokens</a:t>
            </a:r>
          </a:p>
        </p:txBody>
      </p:sp>
      <p:sp>
        <p:nvSpPr>
          <p:cNvPr id="3" name="TextBox 2">
            <a:extLst>
              <a:ext uri="{FF2B5EF4-FFF2-40B4-BE49-F238E27FC236}">
                <a16:creationId xmlns:a16="http://schemas.microsoft.com/office/drawing/2014/main" id="{36B8778C-CC97-23D3-E32B-A367FD4A1B3D}"/>
              </a:ext>
            </a:extLst>
          </p:cNvPr>
          <p:cNvSpPr txBox="1"/>
          <p:nvPr/>
        </p:nvSpPr>
        <p:spPr>
          <a:xfrm>
            <a:off x="222069" y="763452"/>
            <a:ext cx="11795760" cy="5804218"/>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Ø"/>
            </a:pPr>
            <a:r>
              <a:rPr lang="en-US" sz="2500" dirty="0">
                <a:latin typeface="Palatino Linotype" panose="02040502050505030304" pitchFamily="18" charset="0"/>
              </a:rPr>
              <a:t>When more than one lexeme can match a pattern, the lexical analyzer must provide the subsequent compiler phases additional information about the particular lexeme that matched.</a:t>
            </a:r>
          </a:p>
          <a:p>
            <a:pPr marL="285750" indent="-285750" algn="just">
              <a:lnSpc>
                <a:spcPct val="150000"/>
              </a:lnSpc>
              <a:buFont typeface="Wingdings" panose="05000000000000000000" pitchFamily="2" charset="2"/>
              <a:buChar char="Ø"/>
            </a:pPr>
            <a:r>
              <a:rPr lang="en-US" sz="2500" b="1" i="0" u="sng" dirty="0">
                <a:solidFill>
                  <a:srgbClr val="000000"/>
                </a:solidFill>
                <a:effectLst/>
                <a:latin typeface="Palatino Linotype" panose="02040502050505030304" pitchFamily="18" charset="0"/>
              </a:rPr>
              <a:t>For example, </a:t>
            </a:r>
            <a:r>
              <a:rPr lang="en-US" sz="2500" b="0" i="0" dirty="0">
                <a:solidFill>
                  <a:schemeClr val="accent6">
                    <a:lumMod val="50000"/>
                  </a:schemeClr>
                </a:solidFill>
                <a:effectLst/>
                <a:latin typeface="Palatino Linotype" panose="02040502050505030304" pitchFamily="18" charset="0"/>
              </a:rPr>
              <a:t>the pattern for token number matches both 0 and 1</a:t>
            </a:r>
          </a:p>
          <a:p>
            <a:pPr marL="285750" indent="-285750" algn="just">
              <a:lnSpc>
                <a:spcPct val="150000"/>
              </a:lnSpc>
              <a:buFont typeface="Wingdings" panose="05000000000000000000" pitchFamily="2" charset="2"/>
              <a:buChar char="Ø"/>
            </a:pPr>
            <a:r>
              <a:rPr lang="en-US" sz="2500" dirty="0">
                <a:latin typeface="Palatino Linotype" panose="02040502050505030304" pitchFamily="18" charset="0"/>
              </a:rPr>
              <a:t>Thus, in many cases the lexical analyzer returns to the parser not only a token name, but an attribute value that describes the lexeme represented by the token;</a:t>
            </a:r>
          </a:p>
          <a:p>
            <a:pPr marL="285750" indent="-285750" algn="just">
              <a:lnSpc>
                <a:spcPct val="150000"/>
              </a:lnSpc>
              <a:buFont typeface="Wingdings" panose="05000000000000000000" pitchFamily="2" charset="2"/>
              <a:buChar char="Ø"/>
            </a:pPr>
            <a:r>
              <a:rPr lang="en-US" sz="2500" b="0" i="0" dirty="0">
                <a:solidFill>
                  <a:srgbClr val="000000"/>
                </a:solidFill>
                <a:effectLst/>
                <a:latin typeface="Palatino Linotype" panose="02040502050505030304" pitchFamily="18" charset="0"/>
              </a:rPr>
              <a:t>Normally, information about an identi</a:t>
            </a:r>
            <a:r>
              <a:rPr lang="en-US" sz="2500" dirty="0">
                <a:solidFill>
                  <a:srgbClr val="000000"/>
                </a:solidFill>
                <a:latin typeface="Palatino Linotype" panose="02040502050505030304" pitchFamily="18" charset="0"/>
              </a:rPr>
              <a:t>fier </a:t>
            </a:r>
            <a:r>
              <a:rPr lang="en-US" sz="2500" b="0" i="0" dirty="0">
                <a:solidFill>
                  <a:srgbClr val="000000"/>
                </a:solidFill>
                <a:effectLst/>
                <a:latin typeface="Palatino Linotype" panose="02040502050505030304" pitchFamily="18" charset="0"/>
              </a:rPr>
              <a:t>e.g., </a:t>
            </a:r>
            <a:r>
              <a:rPr lang="en-US" sz="2500" b="1" i="0" dirty="0">
                <a:solidFill>
                  <a:srgbClr val="C00000"/>
                </a:solidFill>
                <a:effectLst/>
                <a:latin typeface="Palatino Linotype" panose="02040502050505030304" pitchFamily="18" charset="0"/>
              </a:rPr>
              <a:t>its lexeme, its type, and the location at which it is first found is kept in the symbol table</a:t>
            </a:r>
            <a:r>
              <a:rPr lang="en-US" sz="2500" b="0" i="0" dirty="0">
                <a:solidFill>
                  <a:srgbClr val="000000"/>
                </a:solidFill>
                <a:effectLst/>
                <a:latin typeface="Palatino Linotype" panose="02040502050505030304" pitchFamily="18" charset="0"/>
              </a:rPr>
              <a:t>. Thus, the appropriate attribute value for an identifier is a pointer to the symbol-table entry for that identifier. </a:t>
            </a:r>
            <a:endParaRPr lang="en-IN" sz="2500" dirty="0">
              <a:latin typeface="Palatino Linotype" panose="02040502050505030304" pitchFamily="18" charset="0"/>
            </a:endParaRPr>
          </a:p>
        </p:txBody>
      </p:sp>
      <p:sp>
        <p:nvSpPr>
          <p:cNvPr id="4" name="TextBox 3">
            <a:extLst>
              <a:ext uri="{FF2B5EF4-FFF2-40B4-BE49-F238E27FC236}">
                <a16:creationId xmlns:a16="http://schemas.microsoft.com/office/drawing/2014/main" id="{2AD9BF4E-E632-3F73-EEF6-65E65D99E127}"/>
              </a:ext>
            </a:extLst>
          </p:cNvPr>
          <p:cNvSpPr txBox="1"/>
          <p:nvPr/>
        </p:nvSpPr>
        <p:spPr>
          <a:xfrm>
            <a:off x="326571" y="862149"/>
            <a:ext cx="11691258" cy="5804218"/>
          </a:xfrm>
          <a:prstGeom prst="rect">
            <a:avLst/>
          </a:prstGeom>
          <a:solidFill>
            <a:schemeClr val="accent5">
              <a:lumMod val="50000"/>
            </a:schemeClr>
          </a:solidFill>
        </p:spPr>
        <p:txBody>
          <a:bodyPr wrap="square" rtlCol="0">
            <a:spAutoFit/>
          </a:bodyPr>
          <a:lstStyle/>
          <a:p>
            <a:pPr algn="just">
              <a:lnSpc>
                <a:spcPct val="150000"/>
              </a:lnSpc>
            </a:pPr>
            <a:r>
              <a:rPr lang="en-US" sz="2500" b="0" i="0" dirty="0">
                <a:solidFill>
                  <a:schemeClr val="bg1"/>
                </a:solidFill>
                <a:effectLst/>
                <a:latin typeface="Palatino Linotype" panose="02040502050505030304" pitchFamily="18" charset="0"/>
              </a:rPr>
              <a:t>The token names and associated attribute values for the Fortran statement</a:t>
            </a:r>
            <a:br>
              <a:rPr lang="en-US" sz="2500" b="0" i="0" dirty="0">
                <a:solidFill>
                  <a:schemeClr val="bg1"/>
                </a:solidFill>
                <a:effectLst/>
                <a:latin typeface="Palatino Linotype" panose="02040502050505030304" pitchFamily="18" charset="0"/>
              </a:rPr>
            </a:br>
            <a:r>
              <a:rPr lang="en-US" sz="2500" b="1" i="0" dirty="0">
                <a:effectLst/>
                <a:highlight>
                  <a:srgbClr val="FFFF00"/>
                </a:highlight>
                <a:latin typeface="Palatino Linotype" panose="02040502050505030304" pitchFamily="18" charset="0"/>
              </a:rPr>
              <a:t>E = M * C ** 2</a:t>
            </a:r>
          </a:p>
          <a:p>
            <a:pPr algn="just">
              <a:lnSpc>
                <a:spcPct val="150000"/>
              </a:lnSpc>
            </a:pPr>
            <a:r>
              <a:rPr lang="en-US" sz="2500" b="0" i="0" dirty="0">
                <a:solidFill>
                  <a:schemeClr val="bg1"/>
                </a:solidFill>
                <a:effectLst/>
                <a:latin typeface="Palatino Linotype" panose="02040502050505030304" pitchFamily="18" charset="0"/>
              </a:rPr>
              <a:t>are written below as a sequence of pairs.</a:t>
            </a:r>
          </a:p>
          <a:p>
            <a:pPr algn="just">
              <a:lnSpc>
                <a:spcPct val="150000"/>
              </a:lnSpc>
            </a:pPr>
            <a:r>
              <a:rPr lang="en-US" sz="2500" b="0" i="0" dirty="0">
                <a:solidFill>
                  <a:schemeClr val="bg1"/>
                </a:solidFill>
                <a:effectLst/>
                <a:latin typeface="Palatino Linotype" panose="02040502050505030304" pitchFamily="18" charset="0"/>
              </a:rPr>
              <a:t>&lt;id, pointer to symbol-table entry for E&gt;</a:t>
            </a:r>
          </a:p>
          <a:p>
            <a:pPr algn="just">
              <a:lnSpc>
                <a:spcPct val="150000"/>
              </a:lnSpc>
            </a:pPr>
            <a:r>
              <a:rPr lang="en-US" sz="2500" b="0" i="0" dirty="0">
                <a:solidFill>
                  <a:schemeClr val="bg1"/>
                </a:solidFill>
                <a:effectLst/>
                <a:latin typeface="Palatino Linotype" panose="02040502050505030304" pitchFamily="18" charset="0"/>
              </a:rPr>
              <a:t>&lt;assign op&gt;</a:t>
            </a:r>
          </a:p>
          <a:p>
            <a:pPr algn="just">
              <a:lnSpc>
                <a:spcPct val="150000"/>
              </a:lnSpc>
            </a:pPr>
            <a:r>
              <a:rPr lang="en-US" sz="2500" b="0" i="0" dirty="0">
                <a:solidFill>
                  <a:schemeClr val="bg1"/>
                </a:solidFill>
                <a:effectLst/>
                <a:latin typeface="Palatino Linotype" panose="02040502050505030304" pitchFamily="18" charset="0"/>
              </a:rPr>
              <a:t>&lt;id, pointer to symbol-table entry for M&gt;</a:t>
            </a:r>
          </a:p>
          <a:p>
            <a:pPr algn="just">
              <a:lnSpc>
                <a:spcPct val="150000"/>
              </a:lnSpc>
            </a:pPr>
            <a:r>
              <a:rPr lang="en-US" sz="2500" b="0" i="0" dirty="0">
                <a:solidFill>
                  <a:schemeClr val="bg1"/>
                </a:solidFill>
                <a:effectLst/>
                <a:latin typeface="Palatino Linotype" panose="02040502050505030304" pitchFamily="18" charset="0"/>
              </a:rPr>
              <a:t>&lt;</a:t>
            </a:r>
            <a:r>
              <a:rPr lang="en-US" sz="2500" b="0" i="0" dirty="0" err="1">
                <a:solidFill>
                  <a:schemeClr val="bg1"/>
                </a:solidFill>
                <a:effectLst/>
                <a:latin typeface="Palatino Linotype" panose="02040502050505030304" pitchFamily="18" charset="0"/>
              </a:rPr>
              <a:t>mult</a:t>
            </a:r>
            <a:r>
              <a:rPr lang="en-US" sz="2500" b="0" i="0" dirty="0">
                <a:solidFill>
                  <a:schemeClr val="bg1"/>
                </a:solidFill>
                <a:effectLst/>
                <a:latin typeface="Palatino Linotype" panose="02040502050505030304" pitchFamily="18" charset="0"/>
              </a:rPr>
              <a:t> op&gt;</a:t>
            </a:r>
          </a:p>
          <a:p>
            <a:pPr algn="just">
              <a:lnSpc>
                <a:spcPct val="150000"/>
              </a:lnSpc>
            </a:pPr>
            <a:r>
              <a:rPr lang="en-US" sz="2500" b="0" i="0" dirty="0">
                <a:solidFill>
                  <a:schemeClr val="bg1"/>
                </a:solidFill>
                <a:effectLst/>
                <a:latin typeface="Palatino Linotype" panose="02040502050505030304" pitchFamily="18" charset="0"/>
              </a:rPr>
              <a:t>&lt;id, pointer to symbol-table entry for C&gt;</a:t>
            </a:r>
          </a:p>
          <a:p>
            <a:pPr algn="just">
              <a:lnSpc>
                <a:spcPct val="150000"/>
              </a:lnSpc>
            </a:pPr>
            <a:r>
              <a:rPr lang="en-US" sz="2500" b="0" i="0" dirty="0">
                <a:solidFill>
                  <a:schemeClr val="bg1"/>
                </a:solidFill>
                <a:effectLst/>
                <a:latin typeface="Palatino Linotype" panose="02040502050505030304" pitchFamily="18" charset="0"/>
              </a:rPr>
              <a:t>&lt;exp op&gt;</a:t>
            </a:r>
          </a:p>
          <a:p>
            <a:pPr algn="just">
              <a:lnSpc>
                <a:spcPct val="150000"/>
              </a:lnSpc>
            </a:pPr>
            <a:r>
              <a:rPr lang="en-US" sz="2500" b="0" i="0" dirty="0">
                <a:solidFill>
                  <a:schemeClr val="bg1"/>
                </a:solidFill>
                <a:effectLst/>
                <a:latin typeface="Palatino Linotype" panose="02040502050505030304" pitchFamily="18" charset="0"/>
              </a:rPr>
              <a:t>&lt;number, integer value 2&gt;</a:t>
            </a:r>
            <a:endParaRPr lang="en-IN" sz="2500" dirty="0">
              <a:solidFill>
                <a:schemeClr val="bg1"/>
              </a:solidFill>
              <a:latin typeface="Palatino Linotype" panose="02040502050505030304" pitchFamily="18" charset="0"/>
            </a:endParaRPr>
          </a:p>
        </p:txBody>
      </p:sp>
    </p:spTree>
    <p:extLst>
      <p:ext uri="{BB962C8B-B14F-4D97-AF65-F5344CB8AC3E}">
        <p14:creationId xmlns:p14="http://schemas.microsoft.com/office/powerpoint/2010/main" val="9552101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B8C53BC-C5FC-AEB6-BDCA-FC951FC35C20}"/>
              </a:ext>
            </a:extLst>
          </p:cNvPr>
          <p:cNvPicPr>
            <a:picLocks noChangeAspect="1"/>
          </p:cNvPicPr>
          <p:nvPr/>
        </p:nvPicPr>
        <p:blipFill>
          <a:blip r:embed="rId2"/>
          <a:stretch>
            <a:fillRect/>
          </a:stretch>
        </p:blipFill>
        <p:spPr>
          <a:xfrm>
            <a:off x="270782" y="209419"/>
            <a:ext cx="11451318" cy="3317552"/>
          </a:xfrm>
          <a:prstGeom prst="rect">
            <a:avLst/>
          </a:prstGeom>
        </p:spPr>
      </p:pic>
      <p:sp>
        <p:nvSpPr>
          <p:cNvPr id="4" name="Rectangle 1">
            <a:extLst>
              <a:ext uri="{FF2B5EF4-FFF2-40B4-BE49-F238E27FC236}">
                <a16:creationId xmlns:a16="http://schemas.microsoft.com/office/drawing/2014/main" id="{EC391679-19FA-FEB9-F710-F2B3E0A2F728}"/>
              </a:ext>
            </a:extLst>
          </p:cNvPr>
          <p:cNvSpPr>
            <a:spLocks noChangeArrowheads="1"/>
          </p:cNvSpPr>
          <p:nvPr/>
        </p:nvSpPr>
        <p:spPr bwMode="auto">
          <a:xfrm>
            <a:off x="365760" y="3788767"/>
            <a:ext cx="11678194" cy="2239203"/>
          </a:xfrm>
          <a:prstGeom prst="rect">
            <a:avLst/>
          </a:prstGeom>
          <a:solidFill>
            <a:srgbClr val="F7F7F7"/>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25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&lt;float&gt; &lt;id, </a:t>
            </a:r>
            <a:r>
              <a:rPr kumimoji="0" lang="en-US" altLang="en-US" sz="2500" b="0" i="0" u="none" strike="noStrike" cap="none" normalizeH="0" baseline="0" dirty="0" err="1">
                <a:ln>
                  <a:noFill/>
                </a:ln>
                <a:solidFill>
                  <a:srgbClr val="333333"/>
                </a:solidFill>
                <a:effectLst/>
                <a:latin typeface="Times New Roman" panose="02020603050405020304" pitchFamily="18" charset="0"/>
                <a:cs typeface="Times New Roman" panose="02020603050405020304" pitchFamily="18" charset="0"/>
              </a:rPr>
              <a:t>limitedSquaare</a:t>
            </a:r>
            <a:r>
              <a:rPr kumimoji="0" lang="en-US" altLang="en-US" sz="25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&gt; &lt;(&gt; &lt;id, x&gt; &lt;)&gt; &lt;{&gt; </a:t>
            </a: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25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&lt;float&gt; &lt;id, x&gt; </a:t>
            </a: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25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&lt;return&gt; &lt;(&gt; &lt;id, x&gt; &lt;op,"&lt;="&gt; &lt;num, -10.0&gt; &lt;op, "||"&gt; &lt;id, x&gt; &lt;op, "&gt;="&gt; &lt;num, 10.0&gt; &lt;)&gt; &lt;op, "?"&gt; &lt;num, 100&gt; &lt;op, ":"&gt; &lt;id, x&gt; &lt;op, "*"&gt; &lt;id, x&gt; &lt;}&gt;</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p:txBody>
      </p:sp>
      <p:pic>
        <p:nvPicPr>
          <p:cNvPr id="5" name="Picture 4">
            <a:extLst>
              <a:ext uri="{FF2B5EF4-FFF2-40B4-BE49-F238E27FC236}">
                <a16:creationId xmlns:a16="http://schemas.microsoft.com/office/drawing/2014/main" id="{6E961D74-9ECD-AE6E-1715-6C61AA7C5B52}"/>
              </a:ext>
            </a:extLst>
          </p:cNvPr>
          <p:cNvPicPr>
            <a:picLocks noChangeAspect="1"/>
          </p:cNvPicPr>
          <p:nvPr/>
        </p:nvPicPr>
        <p:blipFill>
          <a:blip r:embed="rId3"/>
          <a:stretch>
            <a:fillRect/>
          </a:stretch>
        </p:blipFill>
        <p:spPr>
          <a:xfrm>
            <a:off x="156752" y="3994103"/>
            <a:ext cx="12069226" cy="2256474"/>
          </a:xfrm>
          <a:prstGeom prst="rect">
            <a:avLst/>
          </a:prstGeom>
        </p:spPr>
      </p:pic>
    </p:spTree>
    <p:extLst>
      <p:ext uri="{BB962C8B-B14F-4D97-AF65-F5344CB8AC3E}">
        <p14:creationId xmlns:p14="http://schemas.microsoft.com/office/powerpoint/2010/main" val="1603034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additive="base">
                                        <p:cTn id="15" dur="500" fill="hold"/>
                                        <p:tgtEl>
                                          <p:spTgt spid="4"/>
                                        </p:tgtEl>
                                        <p:attrNameLst>
                                          <p:attrName>ppt_x</p:attrName>
                                        </p:attrNameLst>
                                      </p:cBhvr>
                                      <p:tavLst>
                                        <p:tav tm="0">
                                          <p:val>
                                            <p:strVal val="#ppt_x"/>
                                          </p:val>
                                        </p:tav>
                                        <p:tav tm="100000">
                                          <p:val>
                                            <p:strVal val="#ppt_x"/>
                                          </p:val>
                                        </p:tav>
                                      </p:tavLst>
                                    </p:anim>
                                    <p:anim calcmode="lin" valueType="num">
                                      <p:cBhvr additive="base">
                                        <p:cTn id="1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5A569B-16B4-69C3-68E8-F4CD28116242}"/>
              </a:ext>
            </a:extLst>
          </p:cNvPr>
          <p:cNvSpPr txBox="1">
            <a:spLocks/>
          </p:cNvSpPr>
          <p:nvPr/>
        </p:nvSpPr>
        <p:spPr>
          <a:xfrm>
            <a:off x="0" y="1"/>
            <a:ext cx="12192000" cy="711200"/>
          </a:xfrm>
          <a:prstGeom prst="rect">
            <a:avLst/>
          </a:prstGeom>
        </p:spPr>
        <p:txBody>
          <a:bodyPr/>
          <a:lstStyle>
            <a:lvl1pPr algn="l" defTabSz="914400" rtl="0" eaLnBrk="1" latinLnBrk="0" hangingPunct="1">
              <a:lnSpc>
                <a:spcPct val="90000"/>
              </a:lnSpc>
              <a:spcBef>
                <a:spcPct val="0"/>
              </a:spcBef>
              <a:buNone/>
              <a:defRPr sz="4400" kern="1200">
                <a:solidFill>
                  <a:srgbClr val="C00000"/>
                </a:solidFill>
                <a:latin typeface="Palatino Linotype" panose="02040502050505030304" pitchFamily="18" charset="0"/>
                <a:ea typeface="+mj-ea"/>
                <a:cs typeface="+mj-cs"/>
              </a:defRPr>
            </a:lvl1pPr>
          </a:lstStyle>
          <a:p>
            <a:r>
              <a:rPr lang="en-US" dirty="0"/>
              <a:t>Input buffering</a:t>
            </a:r>
          </a:p>
        </p:txBody>
      </p:sp>
      <p:sp>
        <p:nvSpPr>
          <p:cNvPr id="3" name="Content Placeholder 2">
            <a:extLst>
              <a:ext uri="{FF2B5EF4-FFF2-40B4-BE49-F238E27FC236}">
                <a16:creationId xmlns:a16="http://schemas.microsoft.com/office/drawing/2014/main" id="{8BFCB155-82F7-F203-55B6-A99178C18946}"/>
              </a:ext>
            </a:extLst>
          </p:cNvPr>
          <p:cNvSpPr txBox="1">
            <a:spLocks/>
          </p:cNvSpPr>
          <p:nvPr/>
        </p:nvSpPr>
        <p:spPr>
          <a:xfrm>
            <a:off x="131180" y="863444"/>
            <a:ext cx="11929641" cy="5590565"/>
          </a:xfrm>
          <a:prstGeom prst="rect">
            <a:avLst/>
          </a:prstGeom>
        </p:spPr>
        <p:txBody>
          <a:bodyPr/>
          <a:lstStyle>
            <a:lvl1pPr marL="228600" indent="-228600" algn="just"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Palatino Linotype" panose="02040502050505030304" pitchFamily="18" charset="0"/>
                <a:ea typeface="+mn-ea"/>
                <a:cs typeface="+mn-cs"/>
              </a:defRPr>
            </a:lvl1pPr>
            <a:lvl2pPr marL="685800" indent="-228600" algn="just"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Palatino Linotype" panose="02040502050505030304" pitchFamily="18" charset="0"/>
                <a:ea typeface="+mn-ea"/>
                <a:cs typeface="+mn-cs"/>
              </a:defRPr>
            </a:lvl2pPr>
            <a:lvl3pPr marL="1143000" indent="-228600" algn="just"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Palatino Linotype" panose="02040502050505030304" pitchFamily="18" charset="0"/>
                <a:ea typeface="+mn-ea"/>
                <a:cs typeface="+mn-cs"/>
              </a:defRPr>
            </a:lvl3pPr>
            <a:lvl4pPr marL="1600200" indent="-228600" algn="just"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alatino Linotype" panose="02040502050505030304" pitchFamily="18" charset="0"/>
                <a:ea typeface="+mn-ea"/>
                <a:cs typeface="+mn-cs"/>
              </a:defRPr>
            </a:lvl4pPr>
            <a:lvl5pPr marL="2057400" indent="-228600" algn="just"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There are mainly two techniques for input buffering:</a:t>
            </a:r>
          </a:p>
          <a:p>
            <a:pPr marL="914400" indent="-457200">
              <a:buFont typeface="+mj-lt"/>
              <a:buAutoNum type="arabicPeriod"/>
            </a:pPr>
            <a:r>
              <a:rPr lang="en-US" dirty="0">
                <a:solidFill>
                  <a:srgbClr val="0E47A1"/>
                </a:solidFill>
              </a:rPr>
              <a:t>Buffer pairs</a:t>
            </a:r>
          </a:p>
          <a:p>
            <a:pPr marL="914400" indent="-457200">
              <a:buFont typeface="+mj-lt"/>
              <a:buAutoNum type="arabicPeriod"/>
            </a:pPr>
            <a:r>
              <a:rPr lang="en-US" dirty="0">
                <a:solidFill>
                  <a:srgbClr val="0E47A1"/>
                </a:solidFill>
              </a:rPr>
              <a:t>Sentinels</a:t>
            </a:r>
          </a:p>
          <a:p>
            <a:pPr marL="457200" indent="0">
              <a:buFont typeface="Arial" panose="020B0604020202020204" pitchFamily="34" charset="0"/>
              <a:buNone/>
            </a:pPr>
            <a:endParaRPr lang="en-US" dirty="0">
              <a:solidFill>
                <a:srgbClr val="0E47A1"/>
              </a:solidFill>
            </a:endParaRPr>
          </a:p>
          <a:p>
            <a:pPr marL="457200" indent="0">
              <a:buFont typeface="Arial" panose="020B0604020202020204" pitchFamily="34" charset="0"/>
              <a:buNone/>
            </a:pPr>
            <a:endParaRPr lang="en-US" dirty="0">
              <a:solidFill>
                <a:srgbClr val="0E47A1"/>
              </a:solidFill>
            </a:endParaRPr>
          </a:p>
          <a:p>
            <a:r>
              <a:rPr lang="en-US" dirty="0"/>
              <a:t>The lexical analysis scans the input string from left to right one character at a time.</a:t>
            </a:r>
          </a:p>
          <a:p>
            <a:r>
              <a:rPr lang="en-US" dirty="0"/>
              <a:t>Buffer divided into two N-character halves, where N is the number of character on one disk block.</a:t>
            </a:r>
          </a:p>
          <a:p>
            <a:endParaRPr lang="en-US" dirty="0"/>
          </a:p>
        </p:txBody>
      </p:sp>
      <p:sp>
        <p:nvSpPr>
          <p:cNvPr id="4" name="Rectangle 3">
            <a:extLst>
              <a:ext uri="{FF2B5EF4-FFF2-40B4-BE49-F238E27FC236}">
                <a16:creationId xmlns:a16="http://schemas.microsoft.com/office/drawing/2014/main" id="{F485BD84-40A8-710F-F7DF-3957AA2251BA}"/>
              </a:ext>
            </a:extLst>
          </p:cNvPr>
          <p:cNvSpPr>
            <a:spLocks noChangeArrowheads="1"/>
          </p:cNvSpPr>
          <p:nvPr/>
        </p:nvSpPr>
        <p:spPr bwMode="auto">
          <a:xfrm>
            <a:off x="3540963" y="5217603"/>
            <a:ext cx="2362200" cy="392121"/>
          </a:xfrm>
          <a:prstGeom prst="rect">
            <a:avLst/>
          </a:prstGeom>
          <a:solidFill>
            <a:srgbClr val="FFFFFF"/>
          </a:solidFill>
          <a:ln w="22225">
            <a:solidFill>
              <a:srgbClr val="0E47A1"/>
            </a:solidFill>
            <a:miter lim="800000"/>
          </a:ln>
        </p:spPr>
        <p:txBody>
          <a:bodyPr rot="0" vert="horz" wrap="square" lIns="91440" tIns="45720" rIns="91440" bIns="45720" anchor="t" anchorCtr="0" upright="1">
            <a:noAutofit/>
          </a:bodyPr>
          <a:lstStyle/>
          <a:p>
            <a:pPr marL="0" marR="0">
              <a:lnSpc>
                <a:spcPct val="115000"/>
              </a:lnSpc>
              <a:spcBef>
                <a:spcPct val="0"/>
              </a:spcBef>
              <a:spcAft>
                <a:spcPts val="1000"/>
              </a:spcAft>
            </a:pPr>
            <a:r>
              <a:rPr lang="en-US" dirty="0">
                <a:effectLst/>
                <a:latin typeface="+mj-lt"/>
                <a:ea typeface="Calibri" panose="020F0502020204030204" pitchFamily="34" charset="0"/>
                <a:cs typeface="Times New Roman" panose="02020603050405020304" pitchFamily="18" charset="0"/>
              </a:rPr>
              <a:t>:  :  : E :  : = :  : Mi : * :  :</a:t>
            </a:r>
          </a:p>
        </p:txBody>
      </p:sp>
      <p:sp>
        <p:nvSpPr>
          <p:cNvPr id="5" name="Rectangle 4">
            <a:extLst>
              <a:ext uri="{FF2B5EF4-FFF2-40B4-BE49-F238E27FC236}">
                <a16:creationId xmlns:a16="http://schemas.microsoft.com/office/drawing/2014/main" id="{318C4FA0-5142-8E7E-0F11-F1FD62248D5B}"/>
              </a:ext>
            </a:extLst>
          </p:cNvPr>
          <p:cNvSpPr>
            <a:spLocks noChangeArrowheads="1"/>
          </p:cNvSpPr>
          <p:nvPr/>
        </p:nvSpPr>
        <p:spPr bwMode="auto">
          <a:xfrm>
            <a:off x="5903163" y="5217603"/>
            <a:ext cx="2362200" cy="392121"/>
          </a:xfrm>
          <a:prstGeom prst="rect">
            <a:avLst/>
          </a:prstGeom>
          <a:solidFill>
            <a:srgbClr val="FFFFFF"/>
          </a:solidFill>
          <a:ln w="22225">
            <a:solidFill>
              <a:srgbClr val="0E47A1"/>
            </a:solidFill>
            <a:miter lim="800000"/>
          </a:ln>
        </p:spPr>
        <p:txBody>
          <a:bodyPr rot="0" vert="horz" wrap="square" lIns="91440" tIns="45720" rIns="91440" bIns="45720" anchor="t" anchorCtr="0" upright="1">
            <a:noAutofit/>
          </a:bodyPr>
          <a:lstStyle/>
          <a:p>
            <a:pPr marL="0" marR="0">
              <a:lnSpc>
                <a:spcPct val="115000"/>
              </a:lnSpc>
              <a:spcBef>
                <a:spcPct val="0"/>
              </a:spcBef>
              <a:spcAft>
                <a:spcPts val="1000"/>
              </a:spcAft>
            </a:pPr>
            <a:r>
              <a:rPr lang="en-US">
                <a:effectLst/>
                <a:latin typeface="+mj-lt"/>
                <a:ea typeface="Calibri" panose="020F0502020204030204" pitchFamily="34" charset="0"/>
                <a:cs typeface="Times New Roman" panose="02020603050405020304" pitchFamily="18" charset="0"/>
              </a:rPr>
              <a:t>: C: * : * : 2 :  </a:t>
            </a:r>
            <a:r>
              <a:rPr lang="en-US" b="1" i="1" err="1">
                <a:effectLst/>
                <a:latin typeface="+mj-lt"/>
                <a:ea typeface="Calibri" panose="020F0502020204030204" pitchFamily="34" charset="0"/>
                <a:cs typeface="Times New Roman" panose="02020603050405020304" pitchFamily="18" charset="0"/>
              </a:rPr>
              <a:t>eof</a:t>
            </a:r>
            <a:r>
              <a:rPr lang="en-US">
                <a:effectLst/>
                <a:latin typeface="+mj-lt"/>
                <a:ea typeface="Calibri" panose="020F0502020204030204" pitchFamily="34" charset="0"/>
                <a:cs typeface="Times New Roman" panose="02020603050405020304" pitchFamily="18" charset="0"/>
              </a:rPr>
              <a:t> :  :  :</a:t>
            </a:r>
          </a:p>
        </p:txBody>
      </p:sp>
      <p:cxnSp>
        <p:nvCxnSpPr>
          <p:cNvPr id="6" name="Straight Connector 5">
            <a:extLst>
              <a:ext uri="{FF2B5EF4-FFF2-40B4-BE49-F238E27FC236}">
                <a16:creationId xmlns:a16="http://schemas.microsoft.com/office/drawing/2014/main" id="{E7CF1E20-4036-3B10-4475-13C3D9E2FC33}"/>
              </a:ext>
            </a:extLst>
          </p:cNvPr>
          <p:cNvCxnSpPr/>
          <p:nvPr/>
        </p:nvCxnSpPr>
        <p:spPr>
          <a:xfrm>
            <a:off x="139201" y="2945250"/>
            <a:ext cx="11887200" cy="0"/>
          </a:xfrm>
          <a:prstGeom prst="line">
            <a:avLst/>
          </a:prstGeom>
          <a:ln>
            <a:solidFill>
              <a:srgbClr val="0E47A1"/>
            </a:solidFill>
          </a:ln>
        </p:spPr>
        <p:style>
          <a:lnRef idx="2">
            <a:schemeClr val="accent6"/>
          </a:lnRef>
          <a:fillRef idx="0">
            <a:schemeClr val="accent6"/>
          </a:fillRef>
          <a:effectRef idx="1">
            <a:schemeClr val="accent6"/>
          </a:effectRef>
          <a:fontRef idx="minor">
            <a:schemeClr val="tx1"/>
          </a:fontRef>
        </p:style>
      </p:cxnSp>
      <p:sp>
        <p:nvSpPr>
          <p:cNvPr id="7" name="Rectangle 6">
            <a:extLst>
              <a:ext uri="{FF2B5EF4-FFF2-40B4-BE49-F238E27FC236}">
                <a16:creationId xmlns:a16="http://schemas.microsoft.com/office/drawing/2014/main" id="{E4311432-4F2A-AC16-8443-B12E617D7FDD}"/>
              </a:ext>
            </a:extLst>
          </p:cNvPr>
          <p:cNvSpPr/>
          <p:nvPr/>
        </p:nvSpPr>
        <p:spPr>
          <a:xfrm>
            <a:off x="131180" y="2485390"/>
            <a:ext cx="1901607" cy="461665"/>
          </a:xfrm>
          <a:prstGeom prst="rect">
            <a:avLst/>
          </a:prstGeom>
          <a:solidFill>
            <a:srgbClr val="0E47A1"/>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wrap="square">
            <a:spAutoFit/>
          </a:bodyPr>
          <a:lstStyle/>
          <a:p>
            <a:pPr algn="ctr"/>
            <a:r>
              <a:rPr lang="en-US" sz="2400" b="1"/>
              <a:t>Buffer Pair</a:t>
            </a:r>
          </a:p>
        </p:txBody>
      </p:sp>
    </p:spTree>
    <p:extLst>
      <p:ext uri="{BB962C8B-B14F-4D97-AF65-F5344CB8AC3E}">
        <p14:creationId xmlns:p14="http://schemas.microsoft.com/office/powerpoint/2010/main" val="31246964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dur="1"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dur="1"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dur="1"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2" presetClass="entr" presetSubtype="8" dur="50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wipe(left)">
                                      <p:cBhvr>
                                        <p:cTn id="19" dur="500"/>
                                        <p:tgtEl>
                                          <p:spTgt spid="7"/>
                                        </p:tgtEl>
                                      </p:cBhvr>
                                    </p:animEffect>
                                  </p:childTnLst>
                                </p:cTn>
                              </p:par>
                              <p:par>
                                <p:cTn id="20" presetID="22" presetClass="entr" presetSubtype="8" dur="500" fill="hold" nodeType="with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left)">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dur="1"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dur="1"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22" presetClass="entr" presetSubtype="8" dur="500" fill="hold" grpId="0" nodeType="clickEffect">
                                  <p:stCondLst>
                                    <p:cond delay="0"/>
                                  </p:stCondLst>
                                  <p:childTnLst>
                                    <p:set>
                                      <p:cBhvr>
                                        <p:cTn id="34" dur="1" fill="hold">
                                          <p:stCondLst>
                                            <p:cond delay="0"/>
                                          </p:stCondLst>
                                        </p:cTn>
                                        <p:tgtEl>
                                          <p:spTgt spid="4"/>
                                        </p:tgtEl>
                                        <p:attrNameLst>
                                          <p:attrName>style.visibility</p:attrName>
                                        </p:attrNameLst>
                                      </p:cBhvr>
                                      <p:to>
                                        <p:strVal val="visible"/>
                                      </p:to>
                                    </p:set>
                                    <p:animEffect transition="in" filter="wipe(left)">
                                      <p:cBhvr>
                                        <p:cTn id="35" dur="500"/>
                                        <p:tgtEl>
                                          <p:spTgt spid="4"/>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dur="500" fill="hold" grpId="0" nodeType="clickEffect">
                                  <p:stCondLst>
                                    <p:cond delay="0"/>
                                  </p:stCondLst>
                                  <p:childTnLst>
                                    <p:set>
                                      <p:cBhvr>
                                        <p:cTn id="39" dur="1" fill="hold">
                                          <p:stCondLst>
                                            <p:cond delay="0"/>
                                          </p:stCondLst>
                                        </p:cTn>
                                        <p:tgtEl>
                                          <p:spTgt spid="5"/>
                                        </p:tgtEl>
                                        <p:attrNameLst>
                                          <p:attrName>style.visibility</p:attrName>
                                        </p:attrNameLst>
                                      </p:cBhvr>
                                      <p:to>
                                        <p:strVal val="visible"/>
                                      </p:to>
                                    </p:set>
                                    <p:animEffect transition="in" filter="wipe(left)">
                                      <p:cBhvr>
                                        <p:cTn id="4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D24C60-A08B-544B-C216-FF5757F410DB}"/>
              </a:ext>
            </a:extLst>
          </p:cNvPr>
          <p:cNvSpPr txBox="1">
            <a:spLocks/>
          </p:cNvSpPr>
          <p:nvPr/>
        </p:nvSpPr>
        <p:spPr>
          <a:xfrm>
            <a:off x="0" y="1"/>
            <a:ext cx="12192000" cy="711200"/>
          </a:xfrm>
          <a:prstGeom prst="rect">
            <a:avLst/>
          </a:prstGeom>
        </p:spPr>
        <p:txBody>
          <a:bodyPr/>
          <a:lstStyle>
            <a:lvl1pPr algn="l" defTabSz="914400" rtl="0" eaLnBrk="1" latinLnBrk="0" hangingPunct="1">
              <a:lnSpc>
                <a:spcPct val="90000"/>
              </a:lnSpc>
              <a:spcBef>
                <a:spcPct val="0"/>
              </a:spcBef>
              <a:buNone/>
              <a:defRPr sz="4400" kern="1200">
                <a:solidFill>
                  <a:srgbClr val="C00000"/>
                </a:solidFill>
                <a:latin typeface="Palatino Linotype" panose="02040502050505030304" pitchFamily="18" charset="0"/>
                <a:ea typeface="+mj-ea"/>
                <a:cs typeface="+mj-cs"/>
              </a:defRPr>
            </a:lvl1pPr>
          </a:lstStyle>
          <a:p>
            <a:r>
              <a:rPr lang="en-US"/>
              <a:t>Buffer pairs</a:t>
            </a:r>
          </a:p>
        </p:txBody>
      </p:sp>
      <p:sp>
        <p:nvSpPr>
          <p:cNvPr id="3" name="Content Placeholder 2">
            <a:extLst>
              <a:ext uri="{FF2B5EF4-FFF2-40B4-BE49-F238E27FC236}">
                <a16:creationId xmlns:a16="http://schemas.microsoft.com/office/drawing/2014/main" id="{D5994D1C-6128-70C5-6756-3F6C74585756}"/>
              </a:ext>
            </a:extLst>
          </p:cNvPr>
          <p:cNvSpPr txBox="1">
            <a:spLocks/>
          </p:cNvSpPr>
          <p:nvPr/>
        </p:nvSpPr>
        <p:spPr>
          <a:xfrm>
            <a:off x="131179" y="2173088"/>
            <a:ext cx="11929641" cy="3431453"/>
          </a:xfrm>
          <a:prstGeom prst="rect">
            <a:avLst/>
          </a:prstGeom>
        </p:spPr>
        <p:txBody>
          <a:bodyPr/>
          <a:lstStyle>
            <a:lvl1pPr marL="228600" indent="-228600" algn="just"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Palatino Linotype" panose="02040502050505030304" pitchFamily="18" charset="0"/>
                <a:ea typeface="+mn-ea"/>
                <a:cs typeface="+mn-cs"/>
              </a:defRPr>
            </a:lvl1pPr>
            <a:lvl2pPr marL="685800" indent="-228600" algn="just"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Palatino Linotype" panose="02040502050505030304" pitchFamily="18" charset="0"/>
                <a:ea typeface="+mn-ea"/>
                <a:cs typeface="+mn-cs"/>
              </a:defRPr>
            </a:lvl2pPr>
            <a:lvl3pPr marL="1143000" indent="-228600" algn="just"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Palatino Linotype" panose="02040502050505030304" pitchFamily="18" charset="0"/>
                <a:ea typeface="+mn-ea"/>
                <a:cs typeface="+mn-cs"/>
              </a:defRPr>
            </a:lvl3pPr>
            <a:lvl4pPr marL="1600200" indent="-228600" algn="just"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alatino Linotype" panose="02040502050505030304" pitchFamily="18" charset="0"/>
                <a:ea typeface="+mn-ea"/>
                <a:cs typeface="+mn-cs"/>
              </a:defRPr>
            </a:lvl4pPr>
            <a:lvl5pPr marL="2057400" indent="-228600" algn="just"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Pointer </a:t>
            </a:r>
            <a:r>
              <a:rPr lang="en-US" i="1" dirty="0">
                <a:solidFill>
                  <a:srgbClr val="0E47A1"/>
                </a:solidFill>
              </a:rPr>
              <a:t>Lexeme Begin</a:t>
            </a:r>
            <a:r>
              <a:rPr lang="en-US" dirty="0"/>
              <a:t>, marks the beginning of the current lexeme.</a:t>
            </a:r>
          </a:p>
          <a:p>
            <a:r>
              <a:rPr lang="en-US" dirty="0"/>
              <a:t>Pointer</a:t>
            </a:r>
            <a:r>
              <a:rPr lang="en-US" i="1" dirty="0"/>
              <a:t> </a:t>
            </a:r>
            <a:r>
              <a:rPr lang="en-US" i="1" dirty="0">
                <a:solidFill>
                  <a:srgbClr val="0E47A1"/>
                </a:solidFill>
              </a:rPr>
              <a:t>Forward</a:t>
            </a:r>
            <a:r>
              <a:rPr lang="en-US" i="1" dirty="0"/>
              <a:t>, </a:t>
            </a:r>
            <a:r>
              <a:rPr lang="en-US" dirty="0"/>
              <a:t>scans ahead until a pattern match is found.</a:t>
            </a:r>
          </a:p>
          <a:p>
            <a:r>
              <a:rPr lang="en-US" dirty="0"/>
              <a:t>Once the next lexeme is determined, </a:t>
            </a:r>
            <a:r>
              <a:rPr lang="en-US" i="1" dirty="0"/>
              <a:t>forward</a:t>
            </a:r>
            <a:r>
              <a:rPr lang="en-US" dirty="0"/>
              <a:t> is set to character at its right end.</a:t>
            </a:r>
          </a:p>
          <a:p>
            <a:r>
              <a:rPr lang="en-US" dirty="0"/>
              <a:t>Lexeme Begin is set to the character immediately after the lexeme just found.</a:t>
            </a:r>
          </a:p>
          <a:p>
            <a:r>
              <a:rPr lang="en-US" dirty="0"/>
              <a:t>If forward pointer is at the end of first buffer half then second is filled with N input character.</a:t>
            </a:r>
          </a:p>
          <a:p>
            <a:r>
              <a:rPr lang="en-US" dirty="0"/>
              <a:t>If forward pointer is at the end of second buffer half then first is filled with N input character.</a:t>
            </a:r>
          </a:p>
          <a:p>
            <a:endParaRPr lang="en-US" dirty="0"/>
          </a:p>
        </p:txBody>
      </p:sp>
      <p:sp>
        <p:nvSpPr>
          <p:cNvPr id="4" name="Rectangle 3">
            <a:extLst>
              <a:ext uri="{FF2B5EF4-FFF2-40B4-BE49-F238E27FC236}">
                <a16:creationId xmlns:a16="http://schemas.microsoft.com/office/drawing/2014/main" id="{705E1CFD-F3F8-806E-BFFE-B6413C9704ED}"/>
              </a:ext>
            </a:extLst>
          </p:cNvPr>
          <p:cNvSpPr>
            <a:spLocks noChangeArrowheads="1"/>
          </p:cNvSpPr>
          <p:nvPr/>
        </p:nvSpPr>
        <p:spPr bwMode="auto">
          <a:xfrm>
            <a:off x="3684450" y="628560"/>
            <a:ext cx="2362200" cy="392121"/>
          </a:xfrm>
          <a:prstGeom prst="rect">
            <a:avLst/>
          </a:prstGeom>
          <a:solidFill>
            <a:srgbClr val="FFFFFF"/>
          </a:solidFill>
          <a:ln w="22225">
            <a:solidFill>
              <a:srgbClr val="0E47A1"/>
            </a:solidFill>
            <a:miter lim="800000"/>
          </a:ln>
        </p:spPr>
        <p:txBody>
          <a:bodyPr rot="0" vert="horz" wrap="square" lIns="91440" tIns="45720" rIns="91440" bIns="45720" anchor="t" anchorCtr="0" upright="1">
            <a:noAutofit/>
          </a:bodyPr>
          <a:lstStyle/>
          <a:p>
            <a:pPr marL="0" marR="0">
              <a:lnSpc>
                <a:spcPct val="115000"/>
              </a:lnSpc>
              <a:spcBef>
                <a:spcPct val="0"/>
              </a:spcBef>
              <a:spcAft>
                <a:spcPts val="1000"/>
              </a:spcAft>
            </a:pPr>
            <a:r>
              <a:rPr lang="en-US">
                <a:effectLst/>
                <a:latin typeface="Calibri" panose="020F0502020204030204" pitchFamily="34" charset="0"/>
                <a:ea typeface="Calibri" panose="020F0502020204030204" pitchFamily="34" charset="0"/>
                <a:cs typeface="Times New Roman" panose="02020603050405020304" pitchFamily="18" charset="0"/>
              </a:rPr>
              <a:t>:  :  : E :  : = :  : </a:t>
            </a:r>
            <a:r>
              <a:rPr lang="en-US" b="1" err="1">
                <a:solidFill>
                  <a:srgbClr val="0E47A1"/>
                </a:solidFill>
                <a:effectLst/>
                <a:latin typeface="Calibri" panose="020F0502020204030204" pitchFamily="34" charset="0"/>
                <a:ea typeface="Calibri" panose="020F0502020204030204" pitchFamily="34" charset="0"/>
                <a:cs typeface="Times New Roman" panose="02020603050405020304" pitchFamily="18" charset="0"/>
              </a:rPr>
              <a:t>Mi</a:t>
            </a:r>
            <a:r>
              <a:rPr lang="en-US">
                <a:solidFill>
                  <a:srgbClr val="0E47A1"/>
                </a:solidFill>
                <a:effectLst/>
                <a:latin typeface="Calibri" panose="020F0502020204030204" pitchFamily="34" charset="0"/>
                <a:ea typeface="Calibri" panose="020F0502020204030204" pitchFamily="34" charset="0"/>
                <a:cs typeface="Times New Roman" panose="02020603050405020304" pitchFamily="18" charset="0"/>
              </a:rPr>
              <a:t> </a:t>
            </a:r>
            <a:r>
              <a:rPr lang="en-US">
                <a:effectLst/>
                <a:latin typeface="Calibri" panose="020F0502020204030204" pitchFamily="34" charset="0"/>
                <a:ea typeface="Calibri" panose="020F0502020204030204" pitchFamily="34" charset="0"/>
                <a:cs typeface="Times New Roman" panose="02020603050405020304" pitchFamily="18" charset="0"/>
              </a:rPr>
              <a:t>: * :  :</a:t>
            </a:r>
          </a:p>
        </p:txBody>
      </p:sp>
      <p:sp>
        <p:nvSpPr>
          <p:cNvPr id="5" name="Rectangle 4">
            <a:extLst>
              <a:ext uri="{FF2B5EF4-FFF2-40B4-BE49-F238E27FC236}">
                <a16:creationId xmlns:a16="http://schemas.microsoft.com/office/drawing/2014/main" id="{BC94BB9E-B816-A020-1823-C0082BE7B2D6}"/>
              </a:ext>
            </a:extLst>
          </p:cNvPr>
          <p:cNvSpPr>
            <a:spLocks noChangeArrowheads="1"/>
          </p:cNvSpPr>
          <p:nvPr/>
        </p:nvSpPr>
        <p:spPr bwMode="auto">
          <a:xfrm>
            <a:off x="6046650" y="626649"/>
            <a:ext cx="2362200" cy="392121"/>
          </a:xfrm>
          <a:prstGeom prst="rect">
            <a:avLst/>
          </a:prstGeom>
          <a:solidFill>
            <a:srgbClr val="FFFFFF"/>
          </a:solidFill>
          <a:ln w="22225">
            <a:solidFill>
              <a:srgbClr val="0E47A1"/>
            </a:solidFill>
            <a:miter lim="800000"/>
          </a:ln>
        </p:spPr>
        <p:txBody>
          <a:bodyPr rot="0" vert="horz" wrap="square" lIns="91440" tIns="45720" rIns="91440" bIns="45720" anchor="t" anchorCtr="0" upright="1">
            <a:noAutofit/>
          </a:bodyPr>
          <a:lstStyle/>
          <a:p>
            <a:pPr marL="0" marR="0">
              <a:lnSpc>
                <a:spcPct val="115000"/>
              </a:lnSpc>
              <a:spcBef>
                <a:spcPct val="0"/>
              </a:spcBef>
              <a:spcAft>
                <a:spcPts val="1000"/>
              </a:spcAft>
            </a:pPr>
            <a:r>
              <a:rPr lang="en-US">
                <a:effectLst/>
                <a:latin typeface="Calibri" panose="020F0502020204030204" pitchFamily="34" charset="0"/>
                <a:ea typeface="Calibri" panose="020F0502020204030204" pitchFamily="34" charset="0"/>
                <a:cs typeface="Times New Roman" panose="02020603050405020304" pitchFamily="18" charset="0"/>
              </a:rPr>
              <a:t>: C: * : * : 2 :  </a:t>
            </a:r>
            <a:r>
              <a:rPr lang="en-US" b="1" i="1" err="1">
                <a:effectLst/>
                <a:latin typeface="Calibri" panose="020F0502020204030204" pitchFamily="34" charset="0"/>
                <a:ea typeface="Calibri" panose="020F0502020204030204" pitchFamily="34" charset="0"/>
                <a:cs typeface="Times New Roman" panose="02020603050405020304" pitchFamily="18" charset="0"/>
              </a:rPr>
              <a:t>eof</a:t>
            </a:r>
            <a:r>
              <a:rPr lang="en-US">
                <a:effectLst/>
                <a:latin typeface="Calibri" panose="020F0502020204030204" pitchFamily="34" charset="0"/>
                <a:ea typeface="Calibri" panose="020F0502020204030204" pitchFamily="34" charset="0"/>
                <a:cs typeface="Times New Roman" panose="02020603050405020304" pitchFamily="18" charset="0"/>
              </a:rPr>
              <a:t> :  :  :</a:t>
            </a:r>
          </a:p>
        </p:txBody>
      </p:sp>
      <p:grpSp>
        <p:nvGrpSpPr>
          <p:cNvPr id="6" name="Group 5">
            <a:extLst>
              <a:ext uri="{FF2B5EF4-FFF2-40B4-BE49-F238E27FC236}">
                <a16:creationId xmlns:a16="http://schemas.microsoft.com/office/drawing/2014/main" id="{B1D83053-91E2-8A7D-F9AE-88C3614B21FD}"/>
              </a:ext>
            </a:extLst>
          </p:cNvPr>
          <p:cNvGrpSpPr/>
          <p:nvPr/>
        </p:nvGrpSpPr>
        <p:grpSpPr>
          <a:xfrm>
            <a:off x="4865550" y="1018764"/>
            <a:ext cx="1390589" cy="640107"/>
            <a:chOff x="3325508" y="1517615"/>
            <a:chExt cx="1390589" cy="640107"/>
          </a:xfrm>
        </p:grpSpPr>
        <p:sp>
          <p:nvSpPr>
            <p:cNvPr id="7" name="Rectangle 6">
              <a:extLst>
                <a:ext uri="{FF2B5EF4-FFF2-40B4-BE49-F238E27FC236}">
                  <a16:creationId xmlns:a16="http://schemas.microsoft.com/office/drawing/2014/main" id="{40BE7507-3E31-72DC-3795-1ECAE222FF01}"/>
                </a:ext>
              </a:extLst>
            </p:cNvPr>
            <p:cNvSpPr>
              <a:spLocks noChangeArrowheads="1"/>
            </p:cNvSpPr>
            <p:nvPr/>
          </p:nvSpPr>
          <p:spPr bwMode="auto">
            <a:xfrm>
              <a:off x="3325508" y="1765601"/>
              <a:ext cx="1390589" cy="392121"/>
            </a:xfrm>
            <a:prstGeom prst="rect">
              <a:avLst/>
            </a:prstGeom>
            <a:solidFill>
              <a:srgbClr val="FFFFFF"/>
            </a:solidFill>
            <a:ln w="9525">
              <a:solidFill>
                <a:schemeClr val="bg1">
                  <a:lumMod val="100000"/>
                  <a:lumOff val="0"/>
                </a:schemeClr>
              </a:solidFill>
              <a:miter lim="800000"/>
            </a:ln>
          </p:spPr>
          <p:txBody>
            <a:bodyPr rot="0" vert="horz" wrap="square" lIns="91440" tIns="45720" rIns="91440" bIns="45720" anchor="t" anchorCtr="0" upright="1">
              <a:noAutofit/>
            </a:bodyPr>
            <a:lstStyle/>
            <a:p>
              <a:pPr marL="0" marR="0">
                <a:lnSpc>
                  <a:spcPct val="115000"/>
                </a:lnSpc>
                <a:spcBef>
                  <a:spcPct val="0"/>
                </a:spcBef>
                <a:spcAft>
                  <a:spcPts val="1000"/>
                </a:spcAft>
              </a:pPr>
              <a:r>
                <a:rPr lang="en-US">
                  <a:effectLst/>
                  <a:latin typeface="Calibri" panose="020F0502020204030204" pitchFamily="34" charset="0"/>
                  <a:ea typeface="Calibri" panose="020F0502020204030204" pitchFamily="34" charset="0"/>
                  <a:cs typeface="Times New Roman" panose="02020603050405020304" pitchFamily="18" charset="0"/>
                </a:rPr>
                <a:t>       </a:t>
              </a:r>
              <a:r>
                <a:rPr lang="en-US" i="1">
                  <a:effectLst/>
                  <a:latin typeface="+mj-lt"/>
                  <a:ea typeface="Calibri" panose="020F0502020204030204" pitchFamily="34" charset="0"/>
                  <a:cs typeface="Times New Roman" panose="02020603050405020304" pitchFamily="18" charset="0"/>
                </a:rPr>
                <a:t>forward</a:t>
              </a:r>
            </a:p>
          </p:txBody>
        </p:sp>
        <p:cxnSp>
          <p:nvCxnSpPr>
            <p:cNvPr id="8" name="Straight Arrow Connector 7">
              <a:extLst>
                <a:ext uri="{FF2B5EF4-FFF2-40B4-BE49-F238E27FC236}">
                  <a16:creationId xmlns:a16="http://schemas.microsoft.com/office/drawing/2014/main" id="{882B6AFA-5E08-2413-0828-AC7BBD72CCC0}"/>
                </a:ext>
              </a:extLst>
            </p:cNvPr>
            <p:cNvCxnSpPr/>
            <p:nvPr/>
          </p:nvCxnSpPr>
          <p:spPr>
            <a:xfrm flipH="1" flipV="1">
              <a:off x="3776750" y="1517615"/>
              <a:ext cx="0" cy="302884"/>
            </a:xfrm>
            <a:prstGeom prst="straightConnector1">
              <a:avLst/>
            </a:prstGeom>
            <a:ln w="25400">
              <a:solidFill>
                <a:srgbClr val="C00000"/>
              </a:solidFill>
              <a:tailEnd type="arrow"/>
            </a:ln>
          </p:spPr>
          <p:style>
            <a:lnRef idx="1">
              <a:schemeClr val="accent1"/>
            </a:lnRef>
            <a:fillRef idx="0">
              <a:schemeClr val="accent1"/>
            </a:fillRef>
            <a:effectRef idx="0">
              <a:schemeClr val="accent1"/>
            </a:effectRef>
            <a:fontRef idx="minor">
              <a:schemeClr val="tx1"/>
            </a:fontRef>
          </p:style>
        </p:cxnSp>
      </p:grpSp>
      <p:grpSp>
        <p:nvGrpSpPr>
          <p:cNvPr id="9" name="Group 8">
            <a:extLst>
              <a:ext uri="{FF2B5EF4-FFF2-40B4-BE49-F238E27FC236}">
                <a16:creationId xmlns:a16="http://schemas.microsoft.com/office/drawing/2014/main" id="{582CAD4F-905A-9275-E4AF-8C6D05C3F67F}"/>
              </a:ext>
            </a:extLst>
          </p:cNvPr>
          <p:cNvGrpSpPr/>
          <p:nvPr/>
        </p:nvGrpSpPr>
        <p:grpSpPr>
          <a:xfrm>
            <a:off x="4002335" y="1011747"/>
            <a:ext cx="2359356" cy="1014223"/>
            <a:chOff x="2462293" y="1509972"/>
            <a:chExt cx="2359356" cy="1014223"/>
          </a:xfrm>
        </p:grpSpPr>
        <p:sp>
          <p:nvSpPr>
            <p:cNvPr id="10" name="Rectangle 9">
              <a:extLst>
                <a:ext uri="{FF2B5EF4-FFF2-40B4-BE49-F238E27FC236}">
                  <a16:creationId xmlns:a16="http://schemas.microsoft.com/office/drawing/2014/main" id="{3DDF1DE8-218D-1AA5-54DA-C1DDFD1F4D22}"/>
                </a:ext>
              </a:extLst>
            </p:cNvPr>
            <p:cNvSpPr>
              <a:spLocks noChangeArrowheads="1"/>
            </p:cNvSpPr>
            <p:nvPr/>
          </p:nvSpPr>
          <p:spPr bwMode="auto">
            <a:xfrm>
              <a:off x="2462293" y="2098438"/>
              <a:ext cx="2359356" cy="425757"/>
            </a:xfrm>
            <a:prstGeom prst="rect">
              <a:avLst/>
            </a:prstGeom>
            <a:solidFill>
              <a:srgbClr val="FFFFFF"/>
            </a:solidFill>
            <a:ln w="9525">
              <a:solidFill>
                <a:schemeClr val="bg1">
                  <a:lumMod val="100000"/>
                  <a:lumOff val="0"/>
                </a:schemeClr>
              </a:solidFill>
              <a:miter lim="800000"/>
            </a:ln>
          </p:spPr>
          <p:txBody>
            <a:bodyPr rot="0" vert="horz" wrap="square" lIns="91440" tIns="45720" rIns="91440" bIns="45720" anchor="t" anchorCtr="0" upright="1">
              <a:noAutofit/>
            </a:bodyPr>
            <a:lstStyle/>
            <a:p>
              <a:pPr marL="0" marR="0">
                <a:lnSpc>
                  <a:spcPct val="115000"/>
                </a:lnSpc>
                <a:spcBef>
                  <a:spcPct val="0"/>
                </a:spcBef>
                <a:spcAft>
                  <a:spcPts val="1000"/>
                </a:spcAft>
              </a:pPr>
              <a:r>
                <a:rPr lang="en-US">
                  <a:effectLst/>
                  <a:latin typeface="+mj-lt"/>
                  <a:ea typeface="Calibri" panose="020F0502020204030204" pitchFamily="34" charset="0"/>
                  <a:cs typeface="Times New Roman" panose="02020603050405020304" pitchFamily="18" charset="0"/>
                </a:rPr>
                <a:t>      </a:t>
              </a:r>
              <a:r>
                <a:rPr lang="en-US" i="1">
                  <a:effectLst/>
                  <a:latin typeface="+mj-lt"/>
                  <a:ea typeface="Calibri" panose="020F0502020204030204" pitchFamily="34" charset="0"/>
                  <a:cs typeface="Times New Roman" panose="02020603050405020304" pitchFamily="18" charset="0"/>
                </a:rPr>
                <a:t>lexeme_beginnig</a:t>
              </a:r>
            </a:p>
          </p:txBody>
        </p:sp>
        <p:cxnSp>
          <p:nvCxnSpPr>
            <p:cNvPr id="11" name="Straight Arrow Connector 10">
              <a:extLst>
                <a:ext uri="{FF2B5EF4-FFF2-40B4-BE49-F238E27FC236}">
                  <a16:creationId xmlns:a16="http://schemas.microsoft.com/office/drawing/2014/main" id="{B064A112-A4A5-0048-EF23-5D744F047706}"/>
                </a:ext>
              </a:extLst>
            </p:cNvPr>
            <p:cNvCxnSpPr/>
            <p:nvPr/>
          </p:nvCxnSpPr>
          <p:spPr>
            <a:xfrm flipH="1" flipV="1">
              <a:off x="3624350" y="1509972"/>
              <a:ext cx="0" cy="647124"/>
            </a:xfrm>
            <a:prstGeom prst="straightConnector1">
              <a:avLst/>
            </a:prstGeom>
            <a:ln w="25400">
              <a:solidFill>
                <a:srgbClr val="C00000"/>
              </a:solidFill>
              <a:tailEnd type="arrow"/>
            </a:ln>
          </p:spPr>
          <p:style>
            <a:lnRef idx="1">
              <a:schemeClr val="accent1"/>
            </a:lnRef>
            <a:fillRef idx="0">
              <a:schemeClr val="accent1"/>
            </a:fillRef>
            <a:effectRef idx="0">
              <a:schemeClr val="accent1"/>
            </a:effectRef>
            <a:fontRef idx="minor">
              <a:schemeClr val="tx1"/>
            </a:fontRef>
          </p:style>
        </p:cxnSp>
      </p:grpSp>
      <p:sp>
        <p:nvSpPr>
          <p:cNvPr id="15" name="Rectangle 14">
            <a:extLst>
              <a:ext uri="{FF2B5EF4-FFF2-40B4-BE49-F238E27FC236}">
                <a16:creationId xmlns:a16="http://schemas.microsoft.com/office/drawing/2014/main" id="{42F89807-4F17-7456-6ABA-05D4E5685D01}"/>
              </a:ext>
            </a:extLst>
          </p:cNvPr>
          <p:cNvSpPr>
            <a:spLocks noChangeArrowheads="1"/>
          </p:cNvSpPr>
          <p:nvPr/>
        </p:nvSpPr>
        <p:spPr bwMode="auto">
          <a:xfrm>
            <a:off x="6046650" y="625449"/>
            <a:ext cx="2362200" cy="391446"/>
          </a:xfrm>
          <a:prstGeom prst="rect">
            <a:avLst/>
          </a:prstGeom>
          <a:solidFill>
            <a:srgbClr val="FFFFFF"/>
          </a:solidFill>
          <a:ln w="22225">
            <a:solidFill>
              <a:srgbClr val="0E47A1"/>
            </a:solidFill>
            <a:miter lim="800000"/>
          </a:ln>
        </p:spPr>
        <p:txBody>
          <a:bodyPr rot="0" vert="horz" wrap="square" lIns="91440" tIns="45720" rIns="91440" bIns="45720" anchor="t" anchorCtr="0" upright="1">
            <a:noAutofit/>
          </a:bodyPr>
          <a:lstStyle/>
          <a:p>
            <a:pPr marL="0" marR="0">
              <a:lnSpc>
                <a:spcPct val="115000"/>
              </a:lnSpc>
              <a:spcBef>
                <a:spcPct val="0"/>
              </a:spcBef>
              <a:spcAft>
                <a:spcPts val="1000"/>
              </a:spcAft>
            </a:pPr>
            <a:r>
              <a:rPr lang="en-US">
                <a:effectLst/>
                <a:latin typeface="Calibri" panose="020F0502020204030204" pitchFamily="34" charset="0"/>
                <a:ea typeface="Calibri" panose="020F0502020204030204" pitchFamily="34" charset="0"/>
                <a:cs typeface="Times New Roman" panose="02020603050405020304" pitchFamily="18" charset="0"/>
              </a:rPr>
              <a:t>: C: * : * : 2 :  </a:t>
            </a:r>
            <a:r>
              <a:rPr lang="en-US" b="1" i="1" err="1">
                <a:effectLst/>
                <a:latin typeface="Calibri" panose="020F0502020204030204" pitchFamily="34" charset="0"/>
                <a:ea typeface="Calibri" panose="020F0502020204030204" pitchFamily="34" charset="0"/>
                <a:cs typeface="Times New Roman" panose="02020603050405020304" pitchFamily="18" charset="0"/>
              </a:rPr>
              <a:t>eof</a:t>
            </a:r>
            <a:r>
              <a:rPr lang="en-US">
                <a:effectLst/>
                <a:latin typeface="Calibri" panose="020F0502020204030204" pitchFamily="34" charset="0"/>
                <a:ea typeface="Calibri" panose="020F0502020204030204" pitchFamily="34" charset="0"/>
                <a:cs typeface="Times New Roman" panose="02020603050405020304" pitchFamily="18" charset="0"/>
              </a:rPr>
              <a:t> :  :  :</a:t>
            </a:r>
          </a:p>
        </p:txBody>
      </p:sp>
      <p:sp>
        <p:nvSpPr>
          <p:cNvPr id="25" name="Rectangle 24">
            <a:extLst>
              <a:ext uri="{FF2B5EF4-FFF2-40B4-BE49-F238E27FC236}">
                <a16:creationId xmlns:a16="http://schemas.microsoft.com/office/drawing/2014/main" id="{130FCF8C-564D-F513-4327-4CFCF1436C06}"/>
              </a:ext>
            </a:extLst>
          </p:cNvPr>
          <p:cNvSpPr>
            <a:spLocks noChangeArrowheads="1"/>
          </p:cNvSpPr>
          <p:nvPr/>
        </p:nvSpPr>
        <p:spPr bwMode="auto">
          <a:xfrm>
            <a:off x="6759297" y="1250222"/>
            <a:ext cx="1390589" cy="392121"/>
          </a:xfrm>
          <a:prstGeom prst="rect">
            <a:avLst/>
          </a:prstGeom>
          <a:solidFill>
            <a:srgbClr val="FFFFFF"/>
          </a:solidFill>
          <a:ln w="9525">
            <a:solidFill>
              <a:schemeClr val="bg1">
                <a:lumMod val="100000"/>
                <a:lumOff val="0"/>
              </a:schemeClr>
            </a:solidFill>
            <a:miter lim="800000"/>
          </a:ln>
        </p:spPr>
        <p:txBody>
          <a:bodyPr rot="0" vert="horz" wrap="square" lIns="91440" tIns="45720" rIns="91440" bIns="45720" anchor="t" anchorCtr="0" upright="1">
            <a:noAutofit/>
          </a:bodyPr>
          <a:lstStyle/>
          <a:p>
            <a:pPr marL="0" marR="0">
              <a:lnSpc>
                <a:spcPct val="115000"/>
              </a:lnSpc>
              <a:spcBef>
                <a:spcPct val="0"/>
              </a:spcBef>
              <a:spcAft>
                <a:spcPts val="1000"/>
              </a:spcAft>
            </a:pPr>
            <a:r>
              <a:rPr lang="en-US" dirty="0">
                <a:effectLst/>
                <a:latin typeface="+mj-lt"/>
                <a:ea typeface="Calibri" panose="020F0502020204030204" pitchFamily="34" charset="0"/>
                <a:cs typeface="Times New Roman" panose="02020603050405020304" pitchFamily="18" charset="0"/>
              </a:rPr>
              <a:t>       </a:t>
            </a:r>
            <a:r>
              <a:rPr lang="en-US" i="1" dirty="0">
                <a:effectLst/>
                <a:latin typeface="+mj-lt"/>
                <a:ea typeface="Calibri" panose="020F0502020204030204" pitchFamily="34" charset="0"/>
                <a:cs typeface="Times New Roman" panose="02020603050405020304" pitchFamily="18" charset="0"/>
              </a:rPr>
              <a:t>forward</a:t>
            </a:r>
          </a:p>
        </p:txBody>
      </p:sp>
      <p:cxnSp>
        <p:nvCxnSpPr>
          <p:cNvPr id="27" name="Straight Arrow Connector 26">
            <a:extLst>
              <a:ext uri="{FF2B5EF4-FFF2-40B4-BE49-F238E27FC236}">
                <a16:creationId xmlns:a16="http://schemas.microsoft.com/office/drawing/2014/main" id="{41859139-67B1-8DCB-192E-4F360AB670D5}"/>
              </a:ext>
            </a:extLst>
          </p:cNvPr>
          <p:cNvCxnSpPr>
            <a:cxnSpLocks/>
          </p:cNvCxnSpPr>
          <p:nvPr/>
        </p:nvCxnSpPr>
        <p:spPr>
          <a:xfrm flipH="1" flipV="1">
            <a:off x="7439734" y="991155"/>
            <a:ext cx="0" cy="302884"/>
          </a:xfrm>
          <a:prstGeom prst="straightConnector1">
            <a:avLst/>
          </a:prstGeom>
          <a:ln w="25400">
            <a:solidFill>
              <a:srgbClr val="C0000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385368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dur="50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down)">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dur="1"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22" presetClass="entr" presetSubtype="4" dur="500" fill="hold"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wipe(down)">
                                      <p:cBhvr>
                                        <p:cTn id="16" dur="500"/>
                                        <p:tgtEl>
                                          <p:spTgt spid="6"/>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dur="1" fill="hold" nodeType="click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dur="1" fill="hold"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dur="1" fill="hold" nodeType="clickEffect">
                                  <p:stCondLst>
                                    <p:cond delay="0"/>
                                  </p:stCondLst>
                                  <p:childTnLst>
                                    <p:set>
                                      <p:cBhvr>
                                        <p:cTn id="2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42" presetClass="path" presetSubtype="0" dur="2000" accel="50000" decel="50000" fill="hold" nodeType="clickEffect">
                                  <p:stCondLst>
                                    <p:cond delay="0"/>
                                  </p:stCondLst>
                                  <p:childTnLst>
                                    <p:animMotion origin="layout" path="M -0.00625 -0.00209 L 0.03711 0.00509 " pathEditMode="relative" rAng="0" ptsTypes="AA">
                                      <p:cBhvr>
                                        <p:cTn id="32" dur="2000" fill="hold"/>
                                        <p:tgtEl>
                                          <p:spTgt spid="9"/>
                                        </p:tgtEl>
                                        <p:attrNameLst>
                                          <p:attrName>ppt_x</p:attrName>
                                          <p:attrName>ppt_y</p:attrName>
                                        </p:attrNameLst>
                                      </p:cBhvr>
                                      <p:rCtr x="2161" y="347"/>
                                    </p:animMotion>
                                  </p:childTnLst>
                                </p:cTn>
                              </p:par>
                            </p:childTnLst>
                          </p:cTn>
                        </p:par>
                      </p:childTnLst>
                    </p:cTn>
                  </p:par>
                  <p:par>
                    <p:cTn id="33" fill="hold">
                      <p:stCondLst>
                        <p:cond delay="indefinite"/>
                      </p:stCondLst>
                      <p:childTnLst>
                        <p:par>
                          <p:cTn id="34" fill="hold">
                            <p:stCondLst>
                              <p:cond delay="0"/>
                            </p:stCondLst>
                            <p:childTnLst>
                              <p:par>
                                <p:cTn id="35" presetID="1" presetClass="entr" presetSubtype="0" dur="1" fill="hold" nodeType="clickEffect">
                                  <p:stCondLst>
                                    <p:cond delay="0"/>
                                  </p:stCondLst>
                                  <p:childTnLst>
                                    <p:set>
                                      <p:cBhvr>
                                        <p:cTn id="3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42" presetClass="path" presetSubtype="0" dur="2000" accel="50000" decel="50000" fill="hold" nodeType="clickEffect">
                                  <p:stCondLst>
                                    <p:cond delay="0"/>
                                  </p:stCondLst>
                                  <p:childTnLst>
                                    <p:animMotion origin="layout" path="M 2.08333E-7 1.11111E-6 L 0.05703 -0.0007 " pathEditMode="relative" rAng="0" ptsTypes="AA">
                                      <p:cBhvr>
                                        <p:cTn id="40" dur="2000" fill="hold"/>
                                        <p:tgtEl>
                                          <p:spTgt spid="6"/>
                                        </p:tgtEl>
                                        <p:attrNameLst>
                                          <p:attrName>ppt_x</p:attrName>
                                          <p:attrName>ppt_y</p:attrName>
                                        </p:attrNameLst>
                                      </p:cBhvr>
                                      <p:rCtr x="2852" y="-46"/>
                                    </p:animMotion>
                                  </p:childTnLst>
                                </p:cTn>
                              </p:par>
                            </p:childTnLst>
                          </p:cTn>
                        </p:par>
                      </p:childTnLst>
                    </p:cTn>
                  </p:par>
                  <p:par>
                    <p:cTn id="41" fill="hold">
                      <p:stCondLst>
                        <p:cond delay="indefinite"/>
                      </p:stCondLst>
                      <p:childTnLst>
                        <p:par>
                          <p:cTn id="42" fill="hold">
                            <p:stCondLst>
                              <p:cond delay="0"/>
                            </p:stCondLst>
                            <p:childTnLst>
                              <p:par>
                                <p:cTn id="43" presetID="1" presetClass="emph" presetSubtype="2" dur="2000" fill="hold" nodeType="clickEffect">
                                  <p:stCondLst>
                                    <p:cond delay="0"/>
                                  </p:stCondLst>
                                  <p:childTnLst>
                                    <p:animClr clrSpc="rgb" dir="cw">
                                      <p:cBhvr>
                                        <p:cTn id="44" dur="2000" fill="hold"/>
                                        <p:tgtEl>
                                          <p:spTgt spid="5"/>
                                        </p:tgtEl>
                                        <p:attrNameLst>
                                          <p:attrName>fillcolor</p:attrName>
                                        </p:attrNameLst>
                                      </p:cBhvr>
                                      <p:to>
                                        <a:srgbClr val="03A9F5"/>
                                      </p:to>
                                    </p:animClr>
                                    <p:set>
                                      <p:cBhvr>
                                        <p:cTn id="45" dur="2000" fill="hold"/>
                                        <p:tgtEl>
                                          <p:spTgt spid="5"/>
                                        </p:tgtEl>
                                        <p:attrNameLst>
                                          <p:attrName>fill.type</p:attrName>
                                        </p:attrNameLst>
                                      </p:cBhvr>
                                      <p:to>
                                        <p:strVal val="solid"/>
                                      </p:to>
                                    </p:set>
                                    <p:set>
                                      <p:cBhvr>
                                        <p:cTn id="46" dur="2000" fill="hold"/>
                                        <p:tgtEl>
                                          <p:spTgt spid="5"/>
                                        </p:tgtEl>
                                        <p:attrNameLst>
                                          <p:attrName>fill.on</p:attrName>
                                        </p:attrNameLst>
                                      </p:cBhvr>
                                      <p:to>
                                        <p:strVal val="tru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dur="1" fill="hold" nodeType="clickEffect">
                                  <p:stCondLst>
                                    <p:cond delay="0"/>
                                  </p:stCondLst>
                                  <p:childTnLst>
                                    <p:set>
                                      <p:cBhvr>
                                        <p:cTn id="5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xit" presetSubtype="0" dur="1" fill="hold" nodeType="clickEffect">
                                  <p:stCondLst>
                                    <p:cond delay="0"/>
                                  </p:stCondLst>
                                  <p:childTnLst>
                                    <p:set>
                                      <p:cBhvr>
                                        <p:cTn id="54" dur="1" fill="hold">
                                          <p:stCondLst>
                                            <p:cond delay="0"/>
                                          </p:stCondLst>
                                        </p:cTn>
                                        <p:tgtEl>
                                          <p:spTgt spid="6"/>
                                        </p:tgtEl>
                                        <p:attrNameLst>
                                          <p:attrName>style.visibility</p:attrName>
                                        </p:attrNameLst>
                                      </p:cBhvr>
                                      <p:to>
                                        <p:strVal val="hidden"/>
                                      </p:to>
                                    </p:set>
                                  </p:childTnLst>
                                </p:cTn>
                              </p:par>
                            </p:childTnLst>
                          </p:cTn>
                        </p:par>
                      </p:childTnLst>
                    </p:cTn>
                  </p:par>
                  <p:par>
                    <p:cTn id="55" fill="hold">
                      <p:stCondLst>
                        <p:cond delay="indefinite"/>
                      </p:stCondLst>
                      <p:childTnLst>
                        <p:par>
                          <p:cTn id="56" fill="hold">
                            <p:stCondLst>
                              <p:cond delay="0"/>
                            </p:stCondLst>
                            <p:childTnLst>
                              <p:par>
                                <p:cTn id="57" presetID="1" presetClass="emph" presetSubtype="2" dur="2000" fill="hold" grpId="0" nodeType="clickEffect">
                                  <p:stCondLst>
                                    <p:cond delay="0"/>
                                  </p:stCondLst>
                                  <p:childTnLst>
                                    <p:animClr clrSpc="rgb" dir="cw">
                                      <p:cBhvr>
                                        <p:cTn id="58" dur="2000" fill="hold"/>
                                        <p:tgtEl>
                                          <p:spTgt spid="4"/>
                                        </p:tgtEl>
                                        <p:attrNameLst>
                                          <p:attrName>fillcolor</p:attrName>
                                        </p:attrNameLst>
                                      </p:cBhvr>
                                      <p:to>
                                        <a:srgbClr val="03A9F5"/>
                                      </p:to>
                                    </p:animClr>
                                    <p:set>
                                      <p:cBhvr>
                                        <p:cTn id="59" dur="2000" fill="hold"/>
                                        <p:tgtEl>
                                          <p:spTgt spid="4"/>
                                        </p:tgtEl>
                                        <p:attrNameLst>
                                          <p:attrName>fill.type</p:attrName>
                                        </p:attrNameLst>
                                      </p:cBhvr>
                                      <p:to>
                                        <p:strVal val="solid"/>
                                      </p:to>
                                    </p:set>
                                    <p:set>
                                      <p:cBhvr>
                                        <p:cTn id="60" dur="2000" fill="hold"/>
                                        <p:tgtEl>
                                          <p:spTgt spid="4"/>
                                        </p:tgtEl>
                                        <p:attrNameLst>
                                          <p:attrName>fill.on</p:attrName>
                                        </p:attrNameLst>
                                      </p:cBhvr>
                                      <p:to>
                                        <p:strVal val="true"/>
                                      </p:to>
                                    </p:set>
                                  </p:childTnLst>
                                </p:cTn>
                              </p:par>
                              <p:par>
                                <p:cTn id="61" presetID="1" presetClass="entr" presetSubtype="0" dur="1" fill="hold" nodeType="withEffect">
                                  <p:stCondLst>
                                    <p:cond delay="0"/>
                                  </p:stCondLst>
                                  <p:childTnLst>
                                    <p:set>
                                      <p:cBhvr>
                                        <p:cTn id="62" dur="1" fill="hold">
                                          <p:stCondLst>
                                            <p:cond delay="0"/>
                                          </p:stCondLst>
                                        </p:cTn>
                                        <p:tgtEl>
                                          <p:spTgt spid="15"/>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25"/>
                                        </p:tgtEl>
                                        <p:attrNameLst>
                                          <p:attrName>style.visibility</p:attrName>
                                        </p:attrNameLst>
                                      </p:cBhvr>
                                      <p:to>
                                        <p:strVal val="visible"/>
                                      </p:to>
                                    </p:set>
                                    <p:anim calcmode="lin" valueType="num">
                                      <p:cBhvr additive="base">
                                        <p:cTn id="67" dur="500" fill="hold"/>
                                        <p:tgtEl>
                                          <p:spTgt spid="25"/>
                                        </p:tgtEl>
                                        <p:attrNameLst>
                                          <p:attrName>ppt_x</p:attrName>
                                        </p:attrNameLst>
                                      </p:cBhvr>
                                      <p:tavLst>
                                        <p:tav tm="0">
                                          <p:val>
                                            <p:strVal val="#ppt_x"/>
                                          </p:val>
                                        </p:tav>
                                        <p:tav tm="100000">
                                          <p:val>
                                            <p:strVal val="#ppt_x"/>
                                          </p:val>
                                        </p:tav>
                                      </p:tavLst>
                                    </p:anim>
                                    <p:anim calcmode="lin" valueType="num">
                                      <p:cBhvr additive="base">
                                        <p:cTn id="68" dur="500" fill="hold"/>
                                        <p:tgtEl>
                                          <p:spTgt spid="25"/>
                                        </p:tgtEl>
                                        <p:attrNameLst>
                                          <p:attrName>ppt_y</p:attrName>
                                        </p:attrNameLst>
                                      </p:cBhvr>
                                      <p:tavLst>
                                        <p:tav tm="0">
                                          <p:val>
                                            <p:strVal val="1+#ppt_h/2"/>
                                          </p:val>
                                        </p:tav>
                                        <p:tav tm="100000">
                                          <p:val>
                                            <p:strVal val="#ppt_y"/>
                                          </p:val>
                                        </p:tav>
                                      </p:tavLst>
                                    </p:anim>
                                  </p:childTnLst>
                                </p:cTn>
                              </p:par>
                              <p:par>
                                <p:cTn id="69" presetID="2" presetClass="entr" presetSubtype="4" fill="hold" nodeType="withEffect">
                                  <p:stCondLst>
                                    <p:cond delay="0"/>
                                  </p:stCondLst>
                                  <p:childTnLst>
                                    <p:set>
                                      <p:cBhvr>
                                        <p:cTn id="70" dur="1" fill="hold">
                                          <p:stCondLst>
                                            <p:cond delay="0"/>
                                          </p:stCondLst>
                                        </p:cTn>
                                        <p:tgtEl>
                                          <p:spTgt spid="27"/>
                                        </p:tgtEl>
                                        <p:attrNameLst>
                                          <p:attrName>style.visibility</p:attrName>
                                        </p:attrNameLst>
                                      </p:cBhvr>
                                      <p:to>
                                        <p:strVal val="visible"/>
                                      </p:to>
                                    </p:set>
                                    <p:anim calcmode="lin" valueType="num">
                                      <p:cBhvr additive="base">
                                        <p:cTn id="71" dur="500" fill="hold"/>
                                        <p:tgtEl>
                                          <p:spTgt spid="27"/>
                                        </p:tgtEl>
                                        <p:attrNameLst>
                                          <p:attrName>ppt_x</p:attrName>
                                        </p:attrNameLst>
                                      </p:cBhvr>
                                      <p:tavLst>
                                        <p:tav tm="0">
                                          <p:val>
                                            <p:strVal val="#ppt_x"/>
                                          </p:val>
                                        </p:tav>
                                        <p:tav tm="100000">
                                          <p:val>
                                            <p:strVal val="#ppt_x"/>
                                          </p:val>
                                        </p:tav>
                                      </p:tavLst>
                                    </p:anim>
                                    <p:anim calcmode="lin" valueType="num">
                                      <p:cBhvr additive="base">
                                        <p:cTn id="72"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25"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266EA7-2A1F-204F-657A-876B1B730F69}"/>
              </a:ext>
            </a:extLst>
          </p:cNvPr>
          <p:cNvSpPr txBox="1">
            <a:spLocks/>
          </p:cNvSpPr>
          <p:nvPr/>
        </p:nvSpPr>
        <p:spPr>
          <a:xfrm>
            <a:off x="0" y="1"/>
            <a:ext cx="12192000" cy="711200"/>
          </a:xfrm>
          <a:prstGeom prst="rect">
            <a:avLst/>
          </a:prstGeom>
        </p:spPr>
        <p:txBody>
          <a:bodyPr/>
          <a:lstStyle>
            <a:lvl1pPr algn="l" defTabSz="914400" rtl="0" eaLnBrk="1" latinLnBrk="0" hangingPunct="1">
              <a:lnSpc>
                <a:spcPct val="90000"/>
              </a:lnSpc>
              <a:spcBef>
                <a:spcPct val="0"/>
              </a:spcBef>
              <a:buNone/>
              <a:defRPr sz="4400" kern="1200">
                <a:solidFill>
                  <a:srgbClr val="C00000"/>
                </a:solidFill>
                <a:latin typeface="Palatino Linotype" panose="02040502050505030304" pitchFamily="18" charset="0"/>
                <a:ea typeface="+mj-ea"/>
                <a:cs typeface="+mj-cs"/>
              </a:defRPr>
            </a:lvl1pPr>
          </a:lstStyle>
          <a:p>
            <a:r>
              <a:rPr lang="en-US"/>
              <a:t>Buffer pairs</a:t>
            </a:r>
          </a:p>
        </p:txBody>
      </p:sp>
      <p:sp>
        <p:nvSpPr>
          <p:cNvPr id="3" name="Content Placeholder 2">
            <a:extLst>
              <a:ext uri="{FF2B5EF4-FFF2-40B4-BE49-F238E27FC236}">
                <a16:creationId xmlns:a16="http://schemas.microsoft.com/office/drawing/2014/main" id="{7F8E09A0-9187-6746-A88C-A1664A8673DF}"/>
              </a:ext>
            </a:extLst>
          </p:cNvPr>
          <p:cNvSpPr txBox="1">
            <a:spLocks/>
          </p:cNvSpPr>
          <p:nvPr/>
        </p:nvSpPr>
        <p:spPr>
          <a:xfrm>
            <a:off x="131180" y="2192501"/>
            <a:ext cx="11929641" cy="4261508"/>
          </a:xfrm>
          <a:prstGeom prst="rect">
            <a:avLst/>
          </a:prstGeom>
        </p:spPr>
        <p:txBody>
          <a:bodyPr/>
          <a:lstStyle>
            <a:lvl1pPr marL="228600" indent="-228600" algn="just"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Palatino Linotype" panose="02040502050505030304" pitchFamily="18" charset="0"/>
                <a:ea typeface="+mn-ea"/>
                <a:cs typeface="+mn-cs"/>
              </a:defRPr>
            </a:lvl1pPr>
            <a:lvl2pPr marL="685800" indent="-228600" algn="just"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Palatino Linotype" panose="02040502050505030304" pitchFamily="18" charset="0"/>
                <a:ea typeface="+mn-ea"/>
                <a:cs typeface="+mn-cs"/>
              </a:defRPr>
            </a:lvl2pPr>
            <a:lvl3pPr marL="1143000" indent="-228600" algn="just"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Palatino Linotype" panose="02040502050505030304" pitchFamily="18" charset="0"/>
                <a:ea typeface="+mn-ea"/>
                <a:cs typeface="+mn-cs"/>
              </a:defRPr>
            </a:lvl3pPr>
            <a:lvl4pPr marL="1600200" indent="-228600" algn="just"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alatino Linotype" panose="02040502050505030304" pitchFamily="18" charset="0"/>
                <a:ea typeface="+mn-ea"/>
                <a:cs typeface="+mn-cs"/>
              </a:defRPr>
            </a:lvl4pPr>
            <a:lvl5pPr marL="2057400" indent="-228600" algn="just"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dirty="0">
                <a:solidFill>
                  <a:srgbClr val="0E47A1"/>
                </a:solidFill>
              </a:rPr>
              <a:t>Code to advance forward pointer</a:t>
            </a:r>
          </a:p>
          <a:p>
            <a:pPr marL="0" indent="0">
              <a:buFont typeface="Arial" panose="020B0604020202020204" pitchFamily="34" charset="0"/>
              <a:buNone/>
            </a:pPr>
            <a:r>
              <a:rPr lang="en-US" b="1" i="1" dirty="0"/>
              <a:t>	</a:t>
            </a:r>
            <a:r>
              <a:rPr lang="en-US" sz="2400" b="1" i="1" dirty="0"/>
              <a:t>if</a:t>
            </a:r>
            <a:r>
              <a:rPr lang="en-US" sz="2400" i="1" dirty="0"/>
              <a:t> forward at end of first half </a:t>
            </a:r>
            <a:r>
              <a:rPr lang="en-US" sz="2400" b="1" i="1" dirty="0"/>
              <a:t>then begin</a:t>
            </a:r>
            <a:endParaRPr lang="en-US" sz="2400" dirty="0"/>
          </a:p>
          <a:p>
            <a:pPr marL="0" indent="0">
              <a:buFont typeface="Arial" panose="020B0604020202020204" pitchFamily="34" charset="0"/>
              <a:buNone/>
            </a:pPr>
            <a:r>
              <a:rPr lang="en-US" sz="2400" b="1" i="1" dirty="0"/>
              <a:t>		</a:t>
            </a:r>
            <a:r>
              <a:rPr lang="en-US" sz="2400" i="1" dirty="0"/>
              <a:t>reload second half;</a:t>
            </a:r>
            <a:endParaRPr lang="en-US" sz="2400" dirty="0"/>
          </a:p>
          <a:p>
            <a:pPr marL="0" indent="0">
              <a:buFont typeface="Arial" panose="020B0604020202020204" pitchFamily="34" charset="0"/>
              <a:buNone/>
            </a:pPr>
            <a:r>
              <a:rPr lang="en-US" sz="2400" b="1" i="1" dirty="0"/>
              <a:t>		</a:t>
            </a:r>
            <a:r>
              <a:rPr lang="en-US" sz="2400" i="1" dirty="0"/>
              <a:t>forward := forward + 1;</a:t>
            </a:r>
            <a:endParaRPr lang="en-US" sz="2400" dirty="0"/>
          </a:p>
          <a:p>
            <a:pPr marL="0" indent="0">
              <a:buFont typeface="Arial" panose="020B0604020202020204" pitchFamily="34" charset="0"/>
              <a:buNone/>
            </a:pPr>
            <a:r>
              <a:rPr lang="en-US" sz="2400" b="1" i="1" dirty="0"/>
              <a:t>	end</a:t>
            </a:r>
            <a:endParaRPr lang="en-US" sz="2400" dirty="0"/>
          </a:p>
          <a:p>
            <a:pPr marL="0" indent="0">
              <a:buFont typeface="Arial" panose="020B0604020202020204" pitchFamily="34" charset="0"/>
              <a:buNone/>
            </a:pPr>
            <a:r>
              <a:rPr lang="en-US" sz="2400" b="1" i="1" dirty="0"/>
              <a:t>	else if </a:t>
            </a:r>
            <a:r>
              <a:rPr lang="en-US" sz="2400" i="1" dirty="0"/>
              <a:t>forward</a:t>
            </a:r>
            <a:r>
              <a:rPr lang="en-US" sz="2400" b="1" i="1" dirty="0"/>
              <a:t> </a:t>
            </a:r>
            <a:r>
              <a:rPr lang="en-US" sz="2400" i="1" dirty="0"/>
              <a:t>at end of second half</a:t>
            </a:r>
            <a:r>
              <a:rPr lang="en-US" sz="2400" b="1" i="1" dirty="0"/>
              <a:t> then begin</a:t>
            </a:r>
            <a:endParaRPr lang="en-US" sz="2400" dirty="0"/>
          </a:p>
          <a:p>
            <a:pPr marL="0" indent="0">
              <a:buFont typeface="Arial" panose="020B0604020202020204" pitchFamily="34" charset="0"/>
              <a:buNone/>
            </a:pPr>
            <a:r>
              <a:rPr lang="en-US" sz="2400" b="1" i="1" dirty="0"/>
              <a:t>		</a:t>
            </a:r>
            <a:r>
              <a:rPr lang="en-US" sz="2400" i="1" dirty="0"/>
              <a:t>reload first half;</a:t>
            </a:r>
            <a:endParaRPr lang="en-US" sz="2400" dirty="0"/>
          </a:p>
          <a:p>
            <a:pPr marL="0" indent="0">
              <a:buFont typeface="Arial" panose="020B0604020202020204" pitchFamily="34" charset="0"/>
              <a:buNone/>
            </a:pPr>
            <a:r>
              <a:rPr lang="en-US" sz="2400" i="1" dirty="0"/>
              <a:t>		move forward to beginning of first half;</a:t>
            </a:r>
            <a:endParaRPr lang="en-US" sz="2400" dirty="0"/>
          </a:p>
          <a:p>
            <a:pPr marL="0" indent="0">
              <a:buFont typeface="Arial" panose="020B0604020202020204" pitchFamily="34" charset="0"/>
              <a:buNone/>
            </a:pPr>
            <a:r>
              <a:rPr lang="en-US" sz="2400" b="1" i="1" dirty="0"/>
              <a:t>	end</a:t>
            </a:r>
            <a:endParaRPr lang="en-US" sz="2400" dirty="0"/>
          </a:p>
          <a:p>
            <a:pPr marL="0" indent="0">
              <a:buFont typeface="Arial" panose="020B0604020202020204" pitchFamily="34" charset="0"/>
              <a:buNone/>
            </a:pPr>
            <a:r>
              <a:rPr lang="en-US" sz="2400" b="1" i="1" dirty="0"/>
              <a:t>	else </a:t>
            </a:r>
            <a:r>
              <a:rPr lang="en-US" sz="2400" i="1" dirty="0"/>
              <a:t>forward := forward + 1;</a:t>
            </a:r>
            <a:endParaRPr lang="en-US" sz="2400" dirty="0"/>
          </a:p>
          <a:p>
            <a:endParaRPr lang="en-US" dirty="0"/>
          </a:p>
        </p:txBody>
      </p:sp>
      <p:sp>
        <p:nvSpPr>
          <p:cNvPr id="4" name="Rectangle 3">
            <a:extLst>
              <a:ext uri="{FF2B5EF4-FFF2-40B4-BE49-F238E27FC236}">
                <a16:creationId xmlns:a16="http://schemas.microsoft.com/office/drawing/2014/main" id="{43D80E88-64B9-60C3-7164-1C417C417B9D}"/>
              </a:ext>
            </a:extLst>
          </p:cNvPr>
          <p:cNvSpPr>
            <a:spLocks noChangeArrowheads="1"/>
          </p:cNvSpPr>
          <p:nvPr/>
        </p:nvSpPr>
        <p:spPr bwMode="auto">
          <a:xfrm>
            <a:off x="3780702" y="934280"/>
            <a:ext cx="2362200" cy="392121"/>
          </a:xfrm>
          <a:prstGeom prst="rect">
            <a:avLst/>
          </a:prstGeom>
          <a:solidFill>
            <a:srgbClr val="FFFFFF"/>
          </a:solidFill>
          <a:ln w="22225">
            <a:solidFill>
              <a:srgbClr val="0E47A1"/>
            </a:solidFill>
            <a:miter lim="800000"/>
          </a:ln>
        </p:spPr>
        <p:txBody>
          <a:bodyPr rot="0" vert="horz" wrap="square" lIns="91440" tIns="45720" rIns="91440" bIns="45720" anchor="t" anchorCtr="0" upright="1">
            <a:noAutofit/>
          </a:bodyPr>
          <a:lstStyle/>
          <a:p>
            <a:pPr marL="0" marR="0">
              <a:lnSpc>
                <a:spcPct val="115000"/>
              </a:lnSpc>
              <a:spcBef>
                <a:spcPct val="0"/>
              </a:spcBef>
              <a:spcAft>
                <a:spcPts val="1000"/>
              </a:spcAft>
            </a:pPr>
            <a:r>
              <a:rPr lang="en-US" dirty="0">
                <a:effectLst/>
                <a:latin typeface="Calibri" panose="020F0502020204030204" pitchFamily="34" charset="0"/>
                <a:ea typeface="Calibri" panose="020F0502020204030204" pitchFamily="34" charset="0"/>
                <a:cs typeface="Times New Roman" panose="02020603050405020304" pitchFamily="18" charset="0"/>
              </a:rPr>
              <a:t>:  :  : E :  : = :  : Mi : * :  :</a:t>
            </a:r>
          </a:p>
        </p:txBody>
      </p:sp>
      <p:sp>
        <p:nvSpPr>
          <p:cNvPr id="5" name="Rectangle 4">
            <a:extLst>
              <a:ext uri="{FF2B5EF4-FFF2-40B4-BE49-F238E27FC236}">
                <a16:creationId xmlns:a16="http://schemas.microsoft.com/office/drawing/2014/main" id="{CBCAF111-4FA8-A6E2-12D0-3CC56528F3EF}"/>
              </a:ext>
            </a:extLst>
          </p:cNvPr>
          <p:cNvSpPr>
            <a:spLocks noChangeArrowheads="1"/>
          </p:cNvSpPr>
          <p:nvPr/>
        </p:nvSpPr>
        <p:spPr bwMode="auto">
          <a:xfrm>
            <a:off x="6137263" y="941673"/>
            <a:ext cx="2362200" cy="393192"/>
          </a:xfrm>
          <a:prstGeom prst="rect">
            <a:avLst/>
          </a:prstGeom>
          <a:solidFill>
            <a:srgbClr val="FFFFFF"/>
          </a:solidFill>
          <a:ln w="22225">
            <a:solidFill>
              <a:srgbClr val="0E47A1"/>
            </a:solidFill>
            <a:miter lim="800000"/>
          </a:ln>
        </p:spPr>
        <p:txBody>
          <a:bodyPr rot="0" vert="horz" wrap="square" lIns="91440" tIns="45720" rIns="91440" bIns="45720" anchor="t" anchorCtr="0" upright="1">
            <a:noAutofit/>
          </a:bodyPr>
          <a:lstStyle/>
          <a:p>
            <a:pPr marL="0" marR="0">
              <a:lnSpc>
                <a:spcPct val="115000"/>
              </a:lnSpc>
              <a:spcBef>
                <a:spcPct val="0"/>
              </a:spcBef>
              <a:spcAft>
                <a:spcPts val="1000"/>
              </a:spcAft>
            </a:pPr>
            <a:r>
              <a:rPr lang="en-US">
                <a:effectLst/>
                <a:latin typeface="Calibri" panose="020F0502020204030204" pitchFamily="34" charset="0"/>
                <a:ea typeface="Calibri" panose="020F0502020204030204" pitchFamily="34" charset="0"/>
                <a:cs typeface="Times New Roman" panose="02020603050405020304" pitchFamily="18" charset="0"/>
              </a:rPr>
              <a:t>: C: * : * : 2 :  </a:t>
            </a:r>
            <a:r>
              <a:rPr lang="en-US" b="1" i="1" err="1">
                <a:effectLst/>
                <a:latin typeface="Calibri" panose="020F0502020204030204" pitchFamily="34" charset="0"/>
                <a:ea typeface="Calibri" panose="020F0502020204030204" pitchFamily="34" charset="0"/>
                <a:cs typeface="Times New Roman" panose="02020603050405020304" pitchFamily="18" charset="0"/>
              </a:rPr>
              <a:t>eof</a:t>
            </a:r>
            <a:r>
              <a:rPr lang="en-US">
                <a:effectLst/>
                <a:latin typeface="Calibri" panose="020F0502020204030204" pitchFamily="34" charset="0"/>
                <a:ea typeface="Calibri" panose="020F0502020204030204" pitchFamily="34" charset="0"/>
                <a:cs typeface="Times New Roman" panose="02020603050405020304" pitchFamily="18" charset="0"/>
              </a:rPr>
              <a:t> :  :  :</a:t>
            </a:r>
          </a:p>
        </p:txBody>
      </p:sp>
      <p:grpSp>
        <p:nvGrpSpPr>
          <p:cNvPr id="6" name="Group 5">
            <a:extLst>
              <a:ext uri="{FF2B5EF4-FFF2-40B4-BE49-F238E27FC236}">
                <a16:creationId xmlns:a16="http://schemas.microsoft.com/office/drawing/2014/main" id="{BFEFE550-3F10-CBF1-517A-34BC3B08F162}"/>
              </a:ext>
            </a:extLst>
          </p:cNvPr>
          <p:cNvGrpSpPr/>
          <p:nvPr/>
        </p:nvGrpSpPr>
        <p:grpSpPr>
          <a:xfrm>
            <a:off x="5348753" y="1333142"/>
            <a:ext cx="1367250" cy="575145"/>
            <a:chOff x="3410011" y="1553069"/>
            <a:chExt cx="1367250" cy="575145"/>
          </a:xfrm>
        </p:grpSpPr>
        <p:sp>
          <p:nvSpPr>
            <p:cNvPr id="7" name="Rectangle 6">
              <a:extLst>
                <a:ext uri="{FF2B5EF4-FFF2-40B4-BE49-F238E27FC236}">
                  <a16:creationId xmlns:a16="http://schemas.microsoft.com/office/drawing/2014/main" id="{B81522B9-548E-4FED-EDE7-17ECE3C92D80}"/>
                </a:ext>
              </a:extLst>
            </p:cNvPr>
            <p:cNvSpPr>
              <a:spLocks noChangeArrowheads="1"/>
            </p:cNvSpPr>
            <p:nvPr/>
          </p:nvSpPr>
          <p:spPr bwMode="auto">
            <a:xfrm>
              <a:off x="3410011" y="1720096"/>
              <a:ext cx="1367250" cy="408118"/>
            </a:xfrm>
            <a:prstGeom prst="rect">
              <a:avLst/>
            </a:prstGeom>
            <a:solidFill>
              <a:srgbClr val="FFFFFF"/>
            </a:solidFill>
            <a:ln w="9525">
              <a:solidFill>
                <a:schemeClr val="bg1">
                  <a:lumMod val="100000"/>
                  <a:lumOff val="0"/>
                </a:schemeClr>
              </a:solidFill>
              <a:miter lim="800000"/>
            </a:ln>
          </p:spPr>
          <p:txBody>
            <a:bodyPr rot="0" vert="horz" wrap="square" lIns="91440" tIns="45720" rIns="91440" bIns="45720" anchor="t" anchorCtr="0" upright="1">
              <a:noAutofit/>
            </a:bodyPr>
            <a:lstStyle/>
            <a:p>
              <a:pPr marL="0" marR="0">
                <a:lnSpc>
                  <a:spcPct val="115000"/>
                </a:lnSpc>
                <a:spcBef>
                  <a:spcPct val="0"/>
                </a:spcBef>
                <a:spcAft>
                  <a:spcPts val="1000"/>
                </a:spcAft>
              </a:pPr>
              <a:r>
                <a:rPr lang="en-US">
                  <a:effectLst/>
                  <a:latin typeface="+mj-lt"/>
                  <a:ea typeface="Calibri" panose="020F0502020204030204" pitchFamily="34" charset="0"/>
                  <a:cs typeface="Times New Roman" panose="02020603050405020304" pitchFamily="18" charset="0"/>
                </a:rPr>
                <a:t>       </a:t>
              </a:r>
              <a:r>
                <a:rPr lang="en-US" i="1">
                  <a:effectLst/>
                  <a:latin typeface="+mj-lt"/>
                  <a:ea typeface="Calibri" panose="020F0502020204030204" pitchFamily="34" charset="0"/>
                  <a:cs typeface="Times New Roman" panose="02020603050405020304" pitchFamily="18" charset="0"/>
                </a:rPr>
                <a:t>forward</a:t>
              </a:r>
            </a:p>
          </p:txBody>
        </p:sp>
        <p:cxnSp>
          <p:nvCxnSpPr>
            <p:cNvPr id="8" name="Straight Arrow Connector 7">
              <a:extLst>
                <a:ext uri="{FF2B5EF4-FFF2-40B4-BE49-F238E27FC236}">
                  <a16:creationId xmlns:a16="http://schemas.microsoft.com/office/drawing/2014/main" id="{0C0C56C6-7EAA-A6BD-7BA4-D10DA4CB92B1}"/>
                </a:ext>
              </a:extLst>
            </p:cNvPr>
            <p:cNvCxnSpPr/>
            <p:nvPr/>
          </p:nvCxnSpPr>
          <p:spPr>
            <a:xfrm flipH="1" flipV="1">
              <a:off x="4201496" y="1553069"/>
              <a:ext cx="0" cy="302884"/>
            </a:xfrm>
            <a:prstGeom prst="straightConnector1">
              <a:avLst/>
            </a:prstGeom>
            <a:ln w="25400">
              <a:solidFill>
                <a:srgbClr val="0E47A1"/>
              </a:solidFill>
              <a:tailEnd type="arrow"/>
            </a:ln>
          </p:spPr>
          <p:style>
            <a:lnRef idx="1">
              <a:schemeClr val="accent1"/>
            </a:lnRef>
            <a:fillRef idx="0">
              <a:schemeClr val="accent1"/>
            </a:fillRef>
            <a:effectRef idx="0">
              <a:schemeClr val="accent1"/>
            </a:effectRef>
            <a:fontRef idx="minor">
              <a:schemeClr val="tx1"/>
            </a:fontRef>
          </p:style>
        </p:cxnSp>
      </p:grpSp>
      <p:cxnSp>
        <p:nvCxnSpPr>
          <p:cNvPr id="9" name="Straight Arrow Connector 8">
            <a:extLst>
              <a:ext uri="{FF2B5EF4-FFF2-40B4-BE49-F238E27FC236}">
                <a16:creationId xmlns:a16="http://schemas.microsoft.com/office/drawing/2014/main" id="{F818DC30-9994-E5DA-8DBD-85852338A4BD}"/>
              </a:ext>
            </a:extLst>
          </p:cNvPr>
          <p:cNvCxnSpPr/>
          <p:nvPr/>
        </p:nvCxnSpPr>
        <p:spPr>
          <a:xfrm flipH="1" flipV="1">
            <a:off x="5536802" y="1326401"/>
            <a:ext cx="0" cy="647124"/>
          </a:xfrm>
          <a:prstGeom prst="straightConnector1">
            <a:avLst/>
          </a:prstGeom>
          <a:ln w="25400">
            <a:solidFill>
              <a:srgbClr val="0E47A1"/>
            </a:solidFill>
            <a:tailEnd type="arrow"/>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69B2476A-EA75-230A-4C60-AE75AC214B7E}"/>
              </a:ext>
            </a:extLst>
          </p:cNvPr>
          <p:cNvSpPr>
            <a:spLocks noChangeArrowheads="1"/>
          </p:cNvSpPr>
          <p:nvPr/>
        </p:nvSpPr>
        <p:spPr bwMode="auto">
          <a:xfrm>
            <a:off x="4395594" y="1855002"/>
            <a:ext cx="2359356" cy="425757"/>
          </a:xfrm>
          <a:prstGeom prst="rect">
            <a:avLst/>
          </a:prstGeom>
          <a:solidFill>
            <a:srgbClr val="FFFFFF"/>
          </a:solidFill>
          <a:ln w="9525">
            <a:solidFill>
              <a:schemeClr val="bg1">
                <a:lumMod val="100000"/>
                <a:lumOff val="0"/>
              </a:schemeClr>
            </a:solidFill>
            <a:miter lim="800000"/>
          </a:ln>
        </p:spPr>
        <p:txBody>
          <a:bodyPr rot="0" vert="horz" wrap="square" lIns="91440" tIns="45720" rIns="91440" bIns="45720" anchor="t" anchorCtr="0" upright="1">
            <a:noAutofit/>
          </a:bodyPr>
          <a:lstStyle/>
          <a:p>
            <a:pPr marL="0" marR="0">
              <a:lnSpc>
                <a:spcPct val="115000"/>
              </a:lnSpc>
              <a:spcBef>
                <a:spcPct val="0"/>
              </a:spcBef>
              <a:spcAft>
                <a:spcPts val="1000"/>
              </a:spcAft>
            </a:pPr>
            <a:r>
              <a:rPr lang="en-US">
                <a:effectLst/>
                <a:latin typeface="+mj-lt"/>
                <a:ea typeface="Calibri" panose="020F0502020204030204" pitchFamily="34" charset="0"/>
                <a:cs typeface="Times New Roman" panose="02020603050405020304" pitchFamily="18" charset="0"/>
              </a:rPr>
              <a:t>      </a:t>
            </a:r>
            <a:r>
              <a:rPr lang="en-US" i="1">
                <a:effectLst/>
                <a:latin typeface="+mj-lt"/>
                <a:ea typeface="Calibri" panose="020F0502020204030204" pitchFamily="34" charset="0"/>
                <a:cs typeface="Times New Roman" panose="02020603050405020304" pitchFamily="18" charset="0"/>
              </a:rPr>
              <a:t>lexeme_beginnig</a:t>
            </a:r>
          </a:p>
        </p:txBody>
      </p:sp>
      <p:grpSp>
        <p:nvGrpSpPr>
          <p:cNvPr id="11" name="Group 10">
            <a:extLst>
              <a:ext uri="{FF2B5EF4-FFF2-40B4-BE49-F238E27FC236}">
                <a16:creationId xmlns:a16="http://schemas.microsoft.com/office/drawing/2014/main" id="{E2191D63-9EFA-5BC3-72BD-54C1E4E042F1}"/>
              </a:ext>
            </a:extLst>
          </p:cNvPr>
          <p:cNvGrpSpPr/>
          <p:nvPr/>
        </p:nvGrpSpPr>
        <p:grpSpPr>
          <a:xfrm>
            <a:off x="7929277" y="1317831"/>
            <a:ext cx="1390589" cy="581663"/>
            <a:chOff x="6021129" y="1510336"/>
            <a:chExt cx="1390589" cy="581663"/>
          </a:xfrm>
        </p:grpSpPr>
        <p:sp>
          <p:nvSpPr>
            <p:cNvPr id="12" name="Rectangle 11">
              <a:extLst>
                <a:ext uri="{FF2B5EF4-FFF2-40B4-BE49-F238E27FC236}">
                  <a16:creationId xmlns:a16="http://schemas.microsoft.com/office/drawing/2014/main" id="{DA74C6A4-1877-E8A8-7F98-BF502B6A4079}"/>
                </a:ext>
              </a:extLst>
            </p:cNvPr>
            <p:cNvSpPr>
              <a:spLocks noChangeArrowheads="1"/>
            </p:cNvSpPr>
            <p:nvPr/>
          </p:nvSpPr>
          <p:spPr bwMode="auto">
            <a:xfrm>
              <a:off x="6021129" y="1699878"/>
              <a:ext cx="1390589" cy="392121"/>
            </a:xfrm>
            <a:prstGeom prst="rect">
              <a:avLst/>
            </a:prstGeom>
            <a:solidFill>
              <a:srgbClr val="FFFFFF"/>
            </a:solidFill>
            <a:ln w="9525">
              <a:solidFill>
                <a:schemeClr val="bg1">
                  <a:lumMod val="100000"/>
                  <a:lumOff val="0"/>
                </a:schemeClr>
              </a:solidFill>
              <a:miter lim="800000"/>
            </a:ln>
          </p:spPr>
          <p:txBody>
            <a:bodyPr rot="0" vert="horz" wrap="square" lIns="91440" tIns="45720" rIns="91440" bIns="45720" anchor="t" anchorCtr="0" upright="1">
              <a:noAutofit/>
            </a:bodyPr>
            <a:lstStyle/>
            <a:p>
              <a:pPr marL="0" marR="0">
                <a:lnSpc>
                  <a:spcPct val="115000"/>
                </a:lnSpc>
                <a:spcBef>
                  <a:spcPct val="0"/>
                </a:spcBef>
                <a:spcAft>
                  <a:spcPts val="1000"/>
                </a:spcAft>
              </a:pPr>
              <a:r>
                <a:rPr lang="en-US">
                  <a:effectLst/>
                  <a:latin typeface="+mj-lt"/>
                  <a:ea typeface="Calibri" panose="020F0502020204030204" pitchFamily="34" charset="0"/>
                  <a:cs typeface="Times New Roman" panose="02020603050405020304" pitchFamily="18" charset="0"/>
                </a:rPr>
                <a:t>       </a:t>
              </a:r>
              <a:r>
                <a:rPr lang="en-US" i="1">
                  <a:effectLst/>
                  <a:latin typeface="+mj-lt"/>
                  <a:ea typeface="Calibri" panose="020F0502020204030204" pitchFamily="34" charset="0"/>
                  <a:cs typeface="Times New Roman" panose="02020603050405020304" pitchFamily="18" charset="0"/>
                </a:rPr>
                <a:t>forward</a:t>
              </a:r>
            </a:p>
          </p:txBody>
        </p:sp>
        <p:cxnSp>
          <p:nvCxnSpPr>
            <p:cNvPr id="13" name="Straight Arrow Connector 12">
              <a:extLst>
                <a:ext uri="{FF2B5EF4-FFF2-40B4-BE49-F238E27FC236}">
                  <a16:creationId xmlns:a16="http://schemas.microsoft.com/office/drawing/2014/main" id="{39130A09-8C21-B079-7FBD-A4B366C1A07F}"/>
                </a:ext>
              </a:extLst>
            </p:cNvPr>
            <p:cNvCxnSpPr/>
            <p:nvPr/>
          </p:nvCxnSpPr>
          <p:spPr>
            <a:xfrm flipH="1" flipV="1">
              <a:off x="6591316" y="1510336"/>
              <a:ext cx="0" cy="302884"/>
            </a:xfrm>
            <a:prstGeom prst="straightConnector1">
              <a:avLst/>
            </a:prstGeom>
            <a:ln w="25400">
              <a:solidFill>
                <a:srgbClr val="0E47A1"/>
              </a:solidFill>
              <a:tailEnd type="arrow"/>
            </a:ln>
          </p:spPr>
          <p:style>
            <a:lnRef idx="1">
              <a:schemeClr val="accent1"/>
            </a:lnRef>
            <a:fillRef idx="0">
              <a:schemeClr val="accent1"/>
            </a:fillRef>
            <a:effectRef idx="0">
              <a:schemeClr val="accent1"/>
            </a:effectRef>
            <a:fontRef idx="minor">
              <a:schemeClr val="tx1"/>
            </a:fontRef>
          </p:style>
        </p:cxnSp>
      </p:grpSp>
      <p:sp>
        <p:nvSpPr>
          <p:cNvPr id="14" name="Rectangle 13">
            <a:extLst>
              <a:ext uri="{FF2B5EF4-FFF2-40B4-BE49-F238E27FC236}">
                <a16:creationId xmlns:a16="http://schemas.microsoft.com/office/drawing/2014/main" id="{D3A29531-6C03-8786-C47F-5D51D552E569}"/>
              </a:ext>
            </a:extLst>
          </p:cNvPr>
          <p:cNvSpPr>
            <a:spLocks noChangeArrowheads="1"/>
          </p:cNvSpPr>
          <p:nvPr/>
        </p:nvSpPr>
        <p:spPr bwMode="auto">
          <a:xfrm>
            <a:off x="4114089" y="1507373"/>
            <a:ext cx="1390589" cy="392121"/>
          </a:xfrm>
          <a:prstGeom prst="rect">
            <a:avLst/>
          </a:prstGeom>
          <a:solidFill>
            <a:srgbClr val="FFFFFF"/>
          </a:solidFill>
          <a:ln w="9525">
            <a:solidFill>
              <a:schemeClr val="bg1">
                <a:lumMod val="100000"/>
                <a:lumOff val="0"/>
              </a:schemeClr>
            </a:solidFill>
            <a:miter lim="800000"/>
          </a:ln>
        </p:spPr>
        <p:txBody>
          <a:bodyPr rot="0" vert="horz" wrap="square" lIns="91440" tIns="45720" rIns="91440" bIns="45720" anchor="t" anchorCtr="0" upright="1">
            <a:noAutofit/>
          </a:bodyPr>
          <a:lstStyle/>
          <a:p>
            <a:pPr marL="0" marR="0">
              <a:lnSpc>
                <a:spcPct val="115000"/>
              </a:lnSpc>
              <a:spcBef>
                <a:spcPct val="0"/>
              </a:spcBef>
              <a:spcAft>
                <a:spcPts val="1000"/>
              </a:spcAft>
            </a:pPr>
            <a:r>
              <a:rPr lang="en-US">
                <a:effectLst/>
                <a:latin typeface="+mj-lt"/>
                <a:ea typeface="Calibri" panose="020F0502020204030204" pitchFamily="34" charset="0"/>
                <a:cs typeface="Times New Roman" panose="02020603050405020304" pitchFamily="18" charset="0"/>
              </a:rPr>
              <a:t>       </a:t>
            </a:r>
            <a:r>
              <a:rPr lang="en-US" i="1">
                <a:effectLst/>
                <a:latin typeface="+mj-lt"/>
                <a:ea typeface="Calibri" panose="020F0502020204030204" pitchFamily="34" charset="0"/>
                <a:cs typeface="Times New Roman" panose="02020603050405020304" pitchFamily="18" charset="0"/>
              </a:rPr>
              <a:t>forward</a:t>
            </a:r>
          </a:p>
        </p:txBody>
      </p:sp>
      <p:cxnSp>
        <p:nvCxnSpPr>
          <p:cNvPr id="15" name="Straight Arrow Connector 14">
            <a:extLst>
              <a:ext uri="{FF2B5EF4-FFF2-40B4-BE49-F238E27FC236}">
                <a16:creationId xmlns:a16="http://schemas.microsoft.com/office/drawing/2014/main" id="{150EC996-9C04-38FE-B8BE-B2F9375A72EC}"/>
              </a:ext>
            </a:extLst>
          </p:cNvPr>
          <p:cNvCxnSpPr/>
          <p:nvPr/>
        </p:nvCxnSpPr>
        <p:spPr>
          <a:xfrm flipH="1" flipV="1">
            <a:off x="4798580" y="1317831"/>
            <a:ext cx="0" cy="302884"/>
          </a:xfrm>
          <a:prstGeom prst="straightConnector1">
            <a:avLst/>
          </a:prstGeom>
          <a:ln w="25400">
            <a:solidFill>
              <a:srgbClr val="0E47A1"/>
            </a:solidFill>
            <a:tailEnd type="arrow"/>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C5B333E6-AD98-0A69-42D3-007EB8160AF5}"/>
              </a:ext>
            </a:extLst>
          </p:cNvPr>
          <p:cNvSpPr>
            <a:spLocks noChangeArrowheads="1"/>
          </p:cNvSpPr>
          <p:nvPr/>
        </p:nvSpPr>
        <p:spPr bwMode="auto">
          <a:xfrm>
            <a:off x="6137263" y="937961"/>
            <a:ext cx="2362200" cy="391469"/>
          </a:xfrm>
          <a:prstGeom prst="rect">
            <a:avLst/>
          </a:prstGeom>
          <a:solidFill>
            <a:srgbClr val="FFFFFF"/>
          </a:solidFill>
          <a:ln w="22225">
            <a:solidFill>
              <a:srgbClr val="0E47A1"/>
            </a:solidFill>
            <a:miter lim="800000"/>
          </a:ln>
        </p:spPr>
        <p:txBody>
          <a:bodyPr rot="0" vert="horz" wrap="square" lIns="91440" tIns="45720" rIns="91440" bIns="45720" anchor="t" anchorCtr="0" upright="1">
            <a:noAutofit/>
          </a:bodyPr>
          <a:lstStyle/>
          <a:p>
            <a:pPr marL="0" marR="0">
              <a:lnSpc>
                <a:spcPct val="115000"/>
              </a:lnSpc>
              <a:spcBef>
                <a:spcPct val="0"/>
              </a:spcBef>
              <a:spcAft>
                <a:spcPts val="1000"/>
              </a:spcAft>
            </a:pPr>
            <a:r>
              <a:rPr lang="en-US">
                <a:effectLst/>
                <a:latin typeface="Calibri" panose="020F0502020204030204" pitchFamily="34" charset="0"/>
                <a:ea typeface="Calibri" panose="020F0502020204030204" pitchFamily="34" charset="0"/>
                <a:cs typeface="Times New Roman" panose="02020603050405020304" pitchFamily="18" charset="0"/>
              </a:rPr>
              <a:t>: C: * : * : 2 :  </a:t>
            </a:r>
            <a:r>
              <a:rPr lang="en-US" b="1" i="1" err="1">
                <a:effectLst/>
                <a:latin typeface="Calibri" panose="020F0502020204030204" pitchFamily="34" charset="0"/>
                <a:ea typeface="Calibri" panose="020F0502020204030204" pitchFamily="34" charset="0"/>
                <a:cs typeface="Times New Roman" panose="02020603050405020304" pitchFamily="18" charset="0"/>
              </a:rPr>
              <a:t>eof</a:t>
            </a:r>
            <a:r>
              <a:rPr lang="en-US">
                <a:effectLst/>
                <a:latin typeface="Calibri" panose="020F0502020204030204" pitchFamily="34" charset="0"/>
                <a:ea typeface="Calibri" panose="020F0502020204030204" pitchFamily="34" charset="0"/>
                <a:cs typeface="Times New Roman" panose="02020603050405020304" pitchFamily="18" charset="0"/>
              </a:rPr>
              <a:t> :  :  :</a:t>
            </a:r>
          </a:p>
        </p:txBody>
      </p:sp>
    </p:spTree>
    <p:extLst>
      <p:ext uri="{BB962C8B-B14F-4D97-AF65-F5344CB8AC3E}">
        <p14:creationId xmlns:p14="http://schemas.microsoft.com/office/powerpoint/2010/main" val="4754960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dur="1"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4" dur="50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down)">
                                      <p:cBhvr>
                                        <p:cTn id="11" dur="500"/>
                                        <p:tgtEl>
                                          <p:spTgt spid="6"/>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dur="1" fill="hold" nodeType="clickEffect">
                                  <p:stCondLst>
                                    <p:cond delay="0"/>
                                  </p:stCondLst>
                                  <p:childTnLst>
                                    <p:set>
                                      <p:cBhvr>
                                        <p:cTn id="15"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mph" presetSubtype="2" dur="2000" fill="hold" grpId="0" nodeType="clickEffect">
                                  <p:stCondLst>
                                    <p:cond delay="0"/>
                                  </p:stCondLst>
                                  <p:childTnLst>
                                    <p:animClr clrSpc="rgb" dir="cw">
                                      <p:cBhvr>
                                        <p:cTn id="19" dur="2000" fill="hold"/>
                                        <p:tgtEl>
                                          <p:spTgt spid="5"/>
                                        </p:tgtEl>
                                        <p:attrNameLst>
                                          <p:attrName>fillcolor</p:attrName>
                                        </p:attrNameLst>
                                      </p:cBhvr>
                                      <p:to>
                                        <a:srgbClr val="03A9F5"/>
                                      </p:to>
                                    </p:animClr>
                                    <p:set>
                                      <p:cBhvr>
                                        <p:cTn id="20" dur="2000" fill="hold"/>
                                        <p:tgtEl>
                                          <p:spTgt spid="5"/>
                                        </p:tgtEl>
                                        <p:attrNameLst>
                                          <p:attrName>fill.type</p:attrName>
                                        </p:attrNameLst>
                                      </p:cBhvr>
                                      <p:to>
                                        <p:strVal val="solid"/>
                                      </p:to>
                                    </p:set>
                                    <p:set>
                                      <p:cBhvr>
                                        <p:cTn id="21" dur="2000" fill="hold"/>
                                        <p:tgtEl>
                                          <p:spTgt spid="5"/>
                                        </p:tgtEl>
                                        <p:attrNameLst>
                                          <p:attrName>fill.on</p:attrName>
                                        </p:attrNameLst>
                                      </p:cBhvr>
                                      <p:to>
                                        <p:strVal val="tru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dur="1" fill="hold" nodeType="click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childTnLst>
                                </p:cTn>
                              </p:par>
                              <p:par>
                                <p:cTn id="26" presetID="1" presetClass="entr" presetSubtype="0" dur="1" fill="hold" nodeType="with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42" presetClass="path" presetSubtype="0" dur="2000" accel="50000" decel="50000" fill="hold" nodeType="clickEffect">
                                  <p:stCondLst>
                                    <p:cond delay="0"/>
                                  </p:stCondLst>
                                  <p:childTnLst>
                                    <p:animMotion origin="layout" path="M -1.66667E-06 -2.59259E-06 L 0.03034 -2.59259E-06" pathEditMode="relative" rAng="0" ptsTypes="AA">
                                      <p:cBhvr>
                                        <p:cTn id="31" dur="2000" fill="hold"/>
                                        <p:tgtEl>
                                          <p:spTgt spid="6"/>
                                        </p:tgtEl>
                                        <p:attrNameLst>
                                          <p:attrName>ppt_x</p:attrName>
                                          <p:attrName>ppt_y</p:attrName>
                                        </p:attrNameLst>
                                      </p:cBhvr>
                                      <p:rCtr x="1510" y="0"/>
                                    </p:animMotion>
                                  </p:childTnLst>
                                </p:cTn>
                              </p:par>
                            </p:childTnLst>
                          </p:cTn>
                        </p:par>
                      </p:childTnLst>
                    </p:cTn>
                  </p:par>
                  <p:par>
                    <p:cTn id="32" fill="hold">
                      <p:stCondLst>
                        <p:cond delay="indefinite"/>
                      </p:stCondLst>
                      <p:childTnLst>
                        <p:par>
                          <p:cTn id="33" fill="hold">
                            <p:stCondLst>
                              <p:cond delay="0"/>
                            </p:stCondLst>
                            <p:childTnLst>
                              <p:par>
                                <p:cTn id="34" presetID="1" presetClass="entr" presetSubtype="0" dur="1" fill="hold" nodeType="clickEffect">
                                  <p:stCondLst>
                                    <p:cond delay="0"/>
                                  </p:stCondLst>
                                  <p:childTnLst>
                                    <p:set>
                                      <p:cBhvr>
                                        <p:cTn id="35"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xit" presetSubtype="0" dur="1" fill="hold" nodeType="clickEffect">
                                  <p:stCondLst>
                                    <p:cond delay="0"/>
                                  </p:stCondLst>
                                  <p:childTnLst>
                                    <p:set>
                                      <p:cBhvr>
                                        <p:cTn id="39" dur="1" fill="hold">
                                          <p:stCondLst>
                                            <p:cond delay="0"/>
                                          </p:stCondLst>
                                        </p:cTn>
                                        <p:tgtEl>
                                          <p:spTgt spid="6"/>
                                        </p:tgtEl>
                                        <p:attrNameLst>
                                          <p:attrName>style.visibility</p:attrName>
                                        </p:attrNameLst>
                                      </p:cBhvr>
                                      <p:to>
                                        <p:strVal val="hidden"/>
                                      </p:to>
                                    </p:set>
                                  </p:childTnLst>
                                </p:cTn>
                              </p:par>
                              <p:par>
                                <p:cTn id="40" presetID="22" presetClass="entr" presetSubtype="4" dur="500" fill="hold" nodeType="with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wipe(down)">
                                      <p:cBhvr>
                                        <p:cTn id="42" dur="500"/>
                                        <p:tgtEl>
                                          <p:spTgt spid="11"/>
                                        </p:tgtEl>
                                      </p:cBhvr>
                                    </p:animEffect>
                                  </p:childTnLst>
                                </p:cTn>
                              </p:par>
                              <p:par>
                                <p:cTn id="43" presetID="1" presetClass="entr" presetSubtype="0" dur="1" fill="hold" grpId="0" nodeType="withEffect">
                                  <p:stCondLst>
                                    <p:cond delay="0"/>
                                  </p:stCondLst>
                                  <p:childTnLst>
                                    <p:set>
                                      <p:cBhvr>
                                        <p:cTn id="44" dur="1" fill="hold">
                                          <p:stCondLst>
                                            <p:cond delay="0"/>
                                          </p:stCondLst>
                                        </p:cTn>
                                        <p:tgtEl>
                                          <p:spTgt spid="16"/>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dur="1" fill="hold"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mph" presetSubtype="2" dur="2000" fill="hold" nodeType="clickEffect">
                                  <p:stCondLst>
                                    <p:cond delay="0"/>
                                  </p:stCondLst>
                                  <p:childTnLst>
                                    <p:animClr clrSpc="rgb" dir="cw">
                                      <p:cBhvr>
                                        <p:cTn id="52" dur="2000" fill="hold"/>
                                        <p:tgtEl>
                                          <p:spTgt spid="4"/>
                                        </p:tgtEl>
                                        <p:attrNameLst>
                                          <p:attrName>fillcolor</p:attrName>
                                        </p:attrNameLst>
                                      </p:cBhvr>
                                      <p:to>
                                        <a:srgbClr val="03A9F5"/>
                                      </p:to>
                                    </p:animClr>
                                    <p:set>
                                      <p:cBhvr>
                                        <p:cTn id="53" dur="2000" fill="hold"/>
                                        <p:tgtEl>
                                          <p:spTgt spid="4"/>
                                        </p:tgtEl>
                                        <p:attrNameLst>
                                          <p:attrName>fill.type</p:attrName>
                                        </p:attrNameLst>
                                      </p:cBhvr>
                                      <p:to>
                                        <p:strVal val="solid"/>
                                      </p:to>
                                    </p:set>
                                    <p:set>
                                      <p:cBhvr>
                                        <p:cTn id="54" dur="2000" fill="hold"/>
                                        <p:tgtEl>
                                          <p:spTgt spid="4"/>
                                        </p:tgtEl>
                                        <p:attrNameLst>
                                          <p:attrName>fill.on</p:attrName>
                                        </p:attrNameLst>
                                      </p:cBhvr>
                                      <p:to>
                                        <p:strVal val="tru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dur="1" fill="hold" nodeType="clickEffect">
                                  <p:stCondLst>
                                    <p:cond delay="0"/>
                                  </p:stCondLst>
                                  <p:childTnLst>
                                    <p:set>
                                      <p:cBhvr>
                                        <p:cTn id="58" dur="1" fill="hold">
                                          <p:stCondLst>
                                            <p:cond delay="0"/>
                                          </p:stCondLst>
                                        </p:cTn>
                                        <p:tgtEl>
                                          <p:spTgt spid="3">
                                            <p:txEl>
                                              <p:pRg st="7" end="7"/>
                                            </p:txEl>
                                          </p:spTgt>
                                        </p:tgtEl>
                                        <p:attrNameLst>
                                          <p:attrName>style.visibility</p:attrName>
                                        </p:attrNameLst>
                                      </p:cBhvr>
                                      <p:to>
                                        <p:strVal val="visible"/>
                                      </p:to>
                                    </p:set>
                                  </p:childTnLst>
                                </p:cTn>
                              </p:par>
                              <p:par>
                                <p:cTn id="59" presetID="1" presetClass="entr" presetSubtype="0" dur="1" fill="hold" nodeType="withEffect">
                                  <p:stCondLst>
                                    <p:cond delay="0"/>
                                  </p:stCondLst>
                                  <p:childTnLst>
                                    <p:set>
                                      <p:cBhvr>
                                        <p:cTn id="6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42" presetClass="path" presetSubtype="0" dur="2000" accel="50000" decel="50000" fill="hold" nodeType="clickEffect">
                                  <p:stCondLst>
                                    <p:cond delay="0"/>
                                  </p:stCondLst>
                                  <p:childTnLst>
                                    <p:animMotion origin="layout" path="M -1.875E-06 -7.40741E-07 L -0.41784 0.00185" pathEditMode="relative" rAng="0" ptsTypes="AA">
                                      <p:cBhvr>
                                        <p:cTn id="64" dur="2000" fill="hold"/>
                                        <p:tgtEl>
                                          <p:spTgt spid="11"/>
                                        </p:tgtEl>
                                        <p:attrNameLst>
                                          <p:attrName>ppt_x</p:attrName>
                                          <p:attrName>ppt_y</p:attrName>
                                        </p:attrNameLst>
                                      </p:cBhvr>
                                      <p:rCtr x="-20898" y="93"/>
                                    </p:animMotion>
                                  </p:childTnLst>
                                </p:cTn>
                              </p:par>
                            </p:childTnLst>
                          </p:cTn>
                        </p:par>
                      </p:childTnLst>
                    </p:cTn>
                  </p:par>
                  <p:par>
                    <p:cTn id="65" fill="hold">
                      <p:stCondLst>
                        <p:cond delay="indefinite"/>
                      </p:stCondLst>
                      <p:childTnLst>
                        <p:par>
                          <p:cTn id="66" fill="hold">
                            <p:stCondLst>
                              <p:cond delay="0"/>
                            </p:stCondLst>
                            <p:childTnLst>
                              <p:par>
                                <p:cTn id="67" presetID="1" presetClass="exit" presetSubtype="0" dur="1" fill="hold" nodeType="clickEffect">
                                  <p:stCondLst>
                                    <p:cond delay="0"/>
                                  </p:stCondLst>
                                  <p:childTnLst>
                                    <p:set>
                                      <p:cBhvr>
                                        <p:cTn id="68" dur="1" fill="hold">
                                          <p:stCondLst>
                                            <p:cond delay="0"/>
                                          </p:stCondLst>
                                        </p:cTn>
                                        <p:tgtEl>
                                          <p:spTgt spid="11"/>
                                        </p:tgtEl>
                                        <p:attrNameLst>
                                          <p:attrName>style.visibility</p:attrName>
                                        </p:attrNameLst>
                                      </p:cBhvr>
                                      <p:to>
                                        <p:strVal val="hidden"/>
                                      </p:to>
                                    </p:set>
                                  </p:childTnLst>
                                </p:cTn>
                              </p:par>
                              <p:par>
                                <p:cTn id="69" presetID="22" presetClass="entr" presetSubtype="4" dur="500" fill="hold" grpId="0" nodeType="withEffect">
                                  <p:stCondLst>
                                    <p:cond delay="0"/>
                                  </p:stCondLst>
                                  <p:childTnLst>
                                    <p:set>
                                      <p:cBhvr>
                                        <p:cTn id="70" dur="1" fill="hold">
                                          <p:stCondLst>
                                            <p:cond delay="0"/>
                                          </p:stCondLst>
                                        </p:cTn>
                                        <p:tgtEl>
                                          <p:spTgt spid="14"/>
                                        </p:tgtEl>
                                        <p:attrNameLst>
                                          <p:attrName>style.visibility</p:attrName>
                                        </p:attrNameLst>
                                      </p:cBhvr>
                                      <p:to>
                                        <p:strVal val="visible"/>
                                      </p:to>
                                    </p:set>
                                    <p:animEffect transition="in" filter="wipe(down)">
                                      <p:cBhvr>
                                        <p:cTn id="71" dur="500"/>
                                        <p:tgtEl>
                                          <p:spTgt spid="14"/>
                                        </p:tgtEl>
                                      </p:cBhvr>
                                    </p:animEffect>
                                  </p:childTnLst>
                                </p:cTn>
                              </p:par>
                              <p:par>
                                <p:cTn id="72" presetID="22" presetClass="entr" presetSubtype="4" dur="500" fill="hold" nodeType="withEffect">
                                  <p:stCondLst>
                                    <p:cond delay="0"/>
                                  </p:stCondLst>
                                  <p:childTnLst>
                                    <p:set>
                                      <p:cBhvr>
                                        <p:cTn id="73" dur="1" fill="hold">
                                          <p:stCondLst>
                                            <p:cond delay="0"/>
                                          </p:stCondLst>
                                        </p:cTn>
                                        <p:tgtEl>
                                          <p:spTgt spid="15"/>
                                        </p:tgtEl>
                                        <p:attrNameLst>
                                          <p:attrName>style.visibility</p:attrName>
                                        </p:attrNameLst>
                                      </p:cBhvr>
                                      <p:to>
                                        <p:strVal val="visible"/>
                                      </p:to>
                                    </p:set>
                                    <p:animEffect transition="in" filter="wipe(down)">
                                      <p:cBhvr>
                                        <p:cTn id="74" dur="500"/>
                                        <p:tgtEl>
                                          <p:spTgt spid="15"/>
                                        </p:tgtEl>
                                      </p:cBhvr>
                                    </p:animEffect>
                                  </p:childTnLst>
                                </p:cTn>
                              </p:par>
                            </p:childTnLst>
                          </p:cTn>
                        </p:par>
                      </p:childTnLst>
                    </p:cTn>
                  </p:par>
                  <p:par>
                    <p:cTn id="75" fill="hold">
                      <p:stCondLst>
                        <p:cond delay="indefinite"/>
                      </p:stCondLst>
                      <p:childTnLst>
                        <p:par>
                          <p:cTn id="76" fill="hold">
                            <p:stCondLst>
                              <p:cond delay="0"/>
                            </p:stCondLst>
                            <p:childTnLst>
                              <p:par>
                                <p:cTn id="77" presetID="1" presetClass="entr" presetSubtype="0" dur="1" fill="hold" nodeType="clickEffect">
                                  <p:stCondLst>
                                    <p:cond delay="0"/>
                                  </p:stCondLst>
                                  <p:childTnLst>
                                    <p:set>
                                      <p:cBhvr>
                                        <p:cTn id="7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4" grpId="0" animBg="1"/>
      <p:bldP spid="16"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9FAAD9-53D2-17E8-3BC2-93FD2FCDF2DF}"/>
              </a:ext>
            </a:extLst>
          </p:cNvPr>
          <p:cNvSpPr txBox="1">
            <a:spLocks/>
          </p:cNvSpPr>
          <p:nvPr/>
        </p:nvSpPr>
        <p:spPr>
          <a:xfrm>
            <a:off x="0" y="1"/>
            <a:ext cx="12192000" cy="711200"/>
          </a:xfrm>
          <a:prstGeom prst="rect">
            <a:avLst/>
          </a:prstGeom>
        </p:spPr>
        <p:txBody>
          <a:bodyPr/>
          <a:lstStyle>
            <a:lvl1pPr algn="l" defTabSz="914400" rtl="0" eaLnBrk="1" latinLnBrk="0" hangingPunct="1">
              <a:lnSpc>
                <a:spcPct val="90000"/>
              </a:lnSpc>
              <a:spcBef>
                <a:spcPct val="0"/>
              </a:spcBef>
              <a:buNone/>
              <a:defRPr sz="4400" kern="1200">
                <a:solidFill>
                  <a:srgbClr val="C00000"/>
                </a:solidFill>
                <a:latin typeface="Palatino Linotype" panose="02040502050505030304" pitchFamily="18" charset="0"/>
                <a:ea typeface="+mj-ea"/>
                <a:cs typeface="+mj-cs"/>
              </a:defRPr>
            </a:lvl1pPr>
          </a:lstStyle>
          <a:p>
            <a:r>
              <a:rPr lang="en-US"/>
              <a:t>Sentinels </a:t>
            </a:r>
          </a:p>
        </p:txBody>
      </p:sp>
      <p:sp>
        <p:nvSpPr>
          <p:cNvPr id="3" name="Content Placeholder 2">
            <a:extLst>
              <a:ext uri="{FF2B5EF4-FFF2-40B4-BE49-F238E27FC236}">
                <a16:creationId xmlns:a16="http://schemas.microsoft.com/office/drawing/2014/main" id="{C802B0D7-2B75-F763-0D07-1CB8BF6E4C2C}"/>
              </a:ext>
            </a:extLst>
          </p:cNvPr>
          <p:cNvSpPr txBox="1">
            <a:spLocks/>
          </p:cNvSpPr>
          <p:nvPr/>
        </p:nvSpPr>
        <p:spPr>
          <a:xfrm>
            <a:off x="131179" y="2709582"/>
            <a:ext cx="11929641" cy="3486220"/>
          </a:xfrm>
          <a:prstGeom prst="rect">
            <a:avLst/>
          </a:prstGeom>
        </p:spPr>
        <p:txBody>
          <a:bodyPr/>
          <a:lstStyle>
            <a:lvl1pPr marL="228600" indent="-228600" algn="just"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Palatino Linotype" panose="02040502050505030304" pitchFamily="18" charset="0"/>
                <a:ea typeface="+mn-ea"/>
                <a:cs typeface="+mn-cs"/>
              </a:defRPr>
            </a:lvl1pPr>
            <a:lvl2pPr marL="685800" indent="-228600" algn="just"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Palatino Linotype" panose="02040502050505030304" pitchFamily="18" charset="0"/>
                <a:ea typeface="+mn-ea"/>
                <a:cs typeface="+mn-cs"/>
              </a:defRPr>
            </a:lvl2pPr>
            <a:lvl3pPr marL="1143000" indent="-228600" algn="just"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Palatino Linotype" panose="02040502050505030304" pitchFamily="18" charset="0"/>
                <a:ea typeface="+mn-ea"/>
                <a:cs typeface="+mn-cs"/>
              </a:defRPr>
            </a:lvl3pPr>
            <a:lvl4pPr marL="1600200" indent="-228600" algn="just"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alatino Linotype" panose="02040502050505030304" pitchFamily="18" charset="0"/>
                <a:ea typeface="+mn-ea"/>
                <a:cs typeface="+mn-cs"/>
              </a:defRPr>
            </a:lvl4pPr>
            <a:lvl5pPr marL="2057400" indent="-228600" algn="just"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In buffer pairs we must check, each time we move the forward pointer that we have not moved off one of the buffers. </a:t>
            </a:r>
          </a:p>
          <a:p>
            <a:r>
              <a:rPr lang="en-US" dirty="0"/>
              <a:t>Thus, for each character read, we make two tests.</a:t>
            </a:r>
          </a:p>
          <a:p>
            <a:r>
              <a:rPr lang="en-US" dirty="0"/>
              <a:t>We can combine the buffer-end test with the test for the current character.</a:t>
            </a:r>
          </a:p>
          <a:p>
            <a:r>
              <a:rPr lang="en-US" dirty="0"/>
              <a:t>We can reduce the two tests to one if we extend each buffer to hold a sentinel character at the end. </a:t>
            </a:r>
          </a:p>
          <a:p>
            <a:r>
              <a:rPr lang="en-US" dirty="0"/>
              <a:t>The sentinel is a special character that cannot be part of the source program, and a natural choice is the character </a:t>
            </a:r>
            <a:r>
              <a:rPr lang="en-US" b="1" dirty="0">
                <a:solidFill>
                  <a:srgbClr val="C00000"/>
                </a:solidFill>
              </a:rPr>
              <a:t>EOF</a:t>
            </a:r>
            <a:r>
              <a:rPr lang="en-US" b="1" dirty="0"/>
              <a:t>.</a:t>
            </a:r>
            <a:endParaRPr lang="en-US" dirty="0"/>
          </a:p>
          <a:p>
            <a:endParaRPr lang="en-US" dirty="0"/>
          </a:p>
        </p:txBody>
      </p:sp>
      <p:sp>
        <p:nvSpPr>
          <p:cNvPr id="4" name="Rectangle 3">
            <a:extLst>
              <a:ext uri="{FF2B5EF4-FFF2-40B4-BE49-F238E27FC236}">
                <a16:creationId xmlns:a16="http://schemas.microsoft.com/office/drawing/2014/main" id="{760B29A0-EF56-C3A6-1EB9-EEA743703028}"/>
              </a:ext>
            </a:extLst>
          </p:cNvPr>
          <p:cNvSpPr>
            <a:spLocks noChangeArrowheads="1"/>
          </p:cNvSpPr>
          <p:nvPr/>
        </p:nvSpPr>
        <p:spPr bwMode="auto">
          <a:xfrm>
            <a:off x="3347566" y="1206996"/>
            <a:ext cx="2362200" cy="392121"/>
          </a:xfrm>
          <a:prstGeom prst="rect">
            <a:avLst/>
          </a:prstGeom>
          <a:solidFill>
            <a:srgbClr val="FFFFFF"/>
          </a:solidFill>
          <a:ln w="22225">
            <a:solidFill>
              <a:srgbClr val="0E47A1"/>
            </a:solidFill>
            <a:miter lim="800000"/>
          </a:ln>
        </p:spPr>
        <p:txBody>
          <a:bodyPr rot="0" vert="horz" wrap="square" lIns="91440" tIns="45720" rIns="91440" bIns="45720" anchor="t" anchorCtr="0" upright="1">
            <a:noAutofit/>
          </a:bodyPr>
          <a:lstStyle/>
          <a:p>
            <a:pPr>
              <a:lnSpc>
                <a:spcPct val="115000"/>
              </a:lnSpc>
              <a:spcAft>
                <a:spcPts val="1000"/>
              </a:spcAft>
            </a:pPr>
            <a:r>
              <a:rPr lang="en-US">
                <a:effectLst/>
                <a:latin typeface="Calibri" panose="020F0502020204030204" pitchFamily="34" charset="0"/>
                <a:ea typeface="Calibri" panose="020F0502020204030204" pitchFamily="34" charset="0"/>
                <a:cs typeface="Times New Roman" panose="02020603050405020304" pitchFamily="18" charset="0"/>
              </a:rPr>
              <a:t>:  : E :  : = :  : Mi : * : </a:t>
            </a:r>
            <a:r>
              <a:rPr lang="en-US" b="1" i="1" err="1">
                <a:latin typeface="Calibri" panose="020F0502020204030204" pitchFamily="34" charset="0"/>
                <a:ea typeface="Calibri" panose="020F0502020204030204" pitchFamily="34" charset="0"/>
                <a:cs typeface="Times New Roman" panose="02020603050405020304" pitchFamily="18" charset="0"/>
              </a:rPr>
              <a:t>eof </a:t>
            </a:r>
            <a:endParaRPr lang="en-US">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Rectangle 4">
            <a:extLst>
              <a:ext uri="{FF2B5EF4-FFF2-40B4-BE49-F238E27FC236}">
                <a16:creationId xmlns:a16="http://schemas.microsoft.com/office/drawing/2014/main" id="{81F8709D-3222-67EF-04AA-1395F3768DD5}"/>
              </a:ext>
            </a:extLst>
          </p:cNvPr>
          <p:cNvSpPr>
            <a:spLocks noChangeArrowheads="1"/>
          </p:cNvSpPr>
          <p:nvPr/>
        </p:nvSpPr>
        <p:spPr bwMode="auto">
          <a:xfrm>
            <a:off x="5709766" y="1207957"/>
            <a:ext cx="2362200" cy="392121"/>
          </a:xfrm>
          <a:prstGeom prst="rect">
            <a:avLst/>
          </a:prstGeom>
          <a:solidFill>
            <a:srgbClr val="FFFFFF"/>
          </a:solidFill>
          <a:ln w="22225">
            <a:solidFill>
              <a:srgbClr val="0E47A1"/>
            </a:solidFill>
            <a:miter lim="800000"/>
          </a:ln>
        </p:spPr>
        <p:txBody>
          <a:bodyPr rot="0" vert="horz" wrap="square" lIns="91440" tIns="45720" rIns="91440" bIns="45720" anchor="t" anchorCtr="0" upright="1">
            <a:noAutofit/>
          </a:bodyPr>
          <a:lstStyle/>
          <a:p>
            <a:pPr>
              <a:lnSpc>
                <a:spcPct val="115000"/>
              </a:lnSpc>
              <a:spcAft>
                <a:spcPts val="1000"/>
              </a:spcAft>
            </a:pPr>
            <a:r>
              <a:rPr lang="en-US">
                <a:effectLst/>
                <a:latin typeface="Calibri" panose="020F0502020204030204" pitchFamily="34" charset="0"/>
                <a:ea typeface="Calibri" panose="020F0502020204030204" pitchFamily="34" charset="0"/>
                <a:cs typeface="Times New Roman" panose="02020603050405020304" pitchFamily="18" charset="0"/>
              </a:rPr>
              <a:t>: C: * : * : 2 :  </a:t>
            </a:r>
            <a:r>
              <a:rPr lang="en-US" b="1" i="1" err="1">
                <a:effectLst/>
                <a:latin typeface="Calibri" panose="020F0502020204030204" pitchFamily="34" charset="0"/>
                <a:ea typeface="Calibri" panose="020F0502020204030204" pitchFamily="34" charset="0"/>
                <a:cs typeface="Times New Roman" panose="02020603050405020304" pitchFamily="18" charset="0"/>
              </a:rPr>
              <a:t>eof</a:t>
            </a:r>
            <a:r>
              <a:rPr lang="en-US">
                <a:effectLst/>
                <a:latin typeface="Calibri" panose="020F0502020204030204" pitchFamily="34" charset="0"/>
                <a:ea typeface="Calibri" panose="020F0502020204030204" pitchFamily="34" charset="0"/>
                <a:cs typeface="Times New Roman" panose="02020603050405020304" pitchFamily="18" charset="0"/>
              </a:rPr>
              <a:t> : : </a:t>
            </a:r>
            <a:r>
              <a:rPr lang="en-US" b="1" i="1" err="1">
                <a:latin typeface="Calibri" panose="020F0502020204030204" pitchFamily="34" charset="0"/>
                <a:ea typeface="Calibri" panose="020F0502020204030204" pitchFamily="34" charset="0"/>
                <a:cs typeface="Times New Roman" panose="02020603050405020304" pitchFamily="18" charset="0"/>
              </a:rPr>
              <a:t>eof</a:t>
            </a:r>
            <a:endParaRPr lang="en-US">
              <a:effectLst/>
              <a:latin typeface="Calibri" panose="020F0502020204030204" pitchFamily="34" charset="0"/>
              <a:ea typeface="Calibri" panose="020F0502020204030204" pitchFamily="34" charset="0"/>
              <a:cs typeface="Times New Roman" panose="02020603050405020304" pitchFamily="18" charset="0"/>
            </a:endParaRPr>
          </a:p>
        </p:txBody>
      </p:sp>
      <p:cxnSp>
        <p:nvCxnSpPr>
          <p:cNvPr id="6" name="AutoShape 5">
            <a:extLst>
              <a:ext uri="{FF2B5EF4-FFF2-40B4-BE49-F238E27FC236}">
                <a16:creationId xmlns:a16="http://schemas.microsoft.com/office/drawing/2014/main" id="{0C6A19B2-D02B-409B-8775-44B9EFDE81C6}"/>
              </a:ext>
            </a:extLst>
          </p:cNvPr>
          <p:cNvCxnSpPr>
            <a:cxnSpLocks noChangeShapeType="1"/>
          </p:cNvCxnSpPr>
          <p:nvPr/>
        </p:nvCxnSpPr>
        <p:spPr bwMode="auto">
          <a:xfrm flipH="1">
            <a:off x="6126635" y="2172210"/>
            <a:ext cx="313" cy="207123"/>
          </a:xfrm>
          <a:prstGeom prst="straightConnector1">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cxnSp>
      <p:cxnSp>
        <p:nvCxnSpPr>
          <p:cNvPr id="7" name="AutoShape 6">
            <a:extLst>
              <a:ext uri="{FF2B5EF4-FFF2-40B4-BE49-F238E27FC236}">
                <a16:creationId xmlns:a16="http://schemas.microsoft.com/office/drawing/2014/main" id="{52162365-1182-1DD6-6C7E-DB3F1D05C021}"/>
              </a:ext>
            </a:extLst>
          </p:cNvPr>
          <p:cNvCxnSpPr>
            <a:cxnSpLocks noChangeShapeType="1"/>
          </p:cNvCxnSpPr>
          <p:nvPr/>
        </p:nvCxnSpPr>
        <p:spPr bwMode="auto">
          <a:xfrm flipH="1">
            <a:off x="6522553" y="1838200"/>
            <a:ext cx="0" cy="75545"/>
          </a:xfrm>
          <a:prstGeom prst="straightConnector1">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cxnSp>
      <p:sp>
        <p:nvSpPr>
          <p:cNvPr id="8" name="Rectangle 7">
            <a:extLst>
              <a:ext uri="{FF2B5EF4-FFF2-40B4-BE49-F238E27FC236}">
                <a16:creationId xmlns:a16="http://schemas.microsoft.com/office/drawing/2014/main" id="{A0B5BC10-C5DD-D595-9763-770C693153DB}"/>
              </a:ext>
            </a:extLst>
          </p:cNvPr>
          <p:cNvSpPr>
            <a:spLocks noChangeArrowheads="1"/>
          </p:cNvSpPr>
          <p:nvPr/>
        </p:nvSpPr>
        <p:spPr bwMode="auto">
          <a:xfrm>
            <a:off x="6195571" y="1780089"/>
            <a:ext cx="1390589" cy="392121"/>
          </a:xfrm>
          <a:prstGeom prst="rect">
            <a:avLst/>
          </a:prstGeom>
          <a:solidFill>
            <a:srgbClr val="FFFFFF"/>
          </a:solidFill>
          <a:ln w="9525">
            <a:solidFill>
              <a:schemeClr val="bg1">
                <a:lumMod val="100000"/>
                <a:lumOff val="0"/>
              </a:schemeClr>
            </a:solidFill>
            <a:miter lim="800000"/>
          </a:ln>
        </p:spPr>
        <p:txBody>
          <a:bodyPr rot="0" vert="horz" wrap="square" lIns="91440" tIns="45720" rIns="91440" bIns="45720" anchor="t" anchorCtr="0" upright="1">
            <a:noAutofit/>
          </a:bodyPr>
          <a:lstStyle/>
          <a:p>
            <a:pPr marL="0" marR="0">
              <a:lnSpc>
                <a:spcPct val="115000"/>
              </a:lnSpc>
              <a:spcBef>
                <a:spcPct val="0"/>
              </a:spcBef>
              <a:spcAft>
                <a:spcPts val="1000"/>
              </a:spcAft>
            </a:pPr>
            <a:r>
              <a:rPr lang="en-US">
                <a:effectLst/>
                <a:latin typeface="Calibri" panose="020F0502020204030204" pitchFamily="34" charset="0"/>
                <a:ea typeface="Calibri" panose="020F0502020204030204" pitchFamily="34" charset="0"/>
                <a:cs typeface="Times New Roman" panose="02020603050405020304" pitchFamily="18" charset="0"/>
              </a:rPr>
              <a:t>       </a:t>
            </a:r>
            <a:r>
              <a:rPr lang="en-US" i="1">
                <a:effectLst/>
                <a:latin typeface="+mj-lt"/>
                <a:ea typeface="Calibri" panose="020F0502020204030204" pitchFamily="34" charset="0"/>
                <a:cs typeface="Times New Roman" panose="02020603050405020304" pitchFamily="18" charset="0"/>
              </a:rPr>
              <a:t>forward</a:t>
            </a:r>
          </a:p>
        </p:txBody>
      </p:sp>
      <p:sp>
        <p:nvSpPr>
          <p:cNvPr id="9" name="Rectangle 8">
            <a:extLst>
              <a:ext uri="{FF2B5EF4-FFF2-40B4-BE49-F238E27FC236}">
                <a16:creationId xmlns:a16="http://schemas.microsoft.com/office/drawing/2014/main" id="{DD50D68B-05FC-79F6-7519-9F54C603374F}"/>
              </a:ext>
            </a:extLst>
          </p:cNvPr>
          <p:cNvSpPr>
            <a:spLocks noChangeArrowheads="1"/>
          </p:cNvSpPr>
          <p:nvPr/>
        </p:nvSpPr>
        <p:spPr bwMode="auto">
          <a:xfrm>
            <a:off x="5470358" y="2137450"/>
            <a:ext cx="2359356" cy="425757"/>
          </a:xfrm>
          <a:prstGeom prst="rect">
            <a:avLst/>
          </a:prstGeom>
          <a:solidFill>
            <a:srgbClr val="FFFFFF"/>
          </a:solidFill>
          <a:ln w="9525">
            <a:solidFill>
              <a:schemeClr val="bg1">
                <a:lumMod val="100000"/>
                <a:lumOff val="0"/>
              </a:schemeClr>
            </a:solidFill>
            <a:miter lim="800000"/>
          </a:ln>
        </p:spPr>
        <p:txBody>
          <a:bodyPr rot="0" vert="horz" wrap="square" lIns="91440" tIns="45720" rIns="91440" bIns="45720" anchor="t" anchorCtr="0" upright="1">
            <a:noAutofit/>
          </a:bodyPr>
          <a:lstStyle/>
          <a:p>
            <a:pPr marL="0" marR="0">
              <a:lnSpc>
                <a:spcPct val="115000"/>
              </a:lnSpc>
              <a:spcBef>
                <a:spcPct val="0"/>
              </a:spcBef>
              <a:spcAft>
                <a:spcPts val="1000"/>
              </a:spcAft>
            </a:pPr>
            <a:r>
              <a:rPr lang="en-US">
                <a:effectLst/>
                <a:latin typeface="+mj-lt"/>
                <a:ea typeface="Calibri" panose="020F0502020204030204" pitchFamily="34" charset="0"/>
                <a:cs typeface="Times New Roman" panose="02020603050405020304" pitchFamily="18" charset="0"/>
              </a:rPr>
              <a:t>      </a:t>
            </a:r>
            <a:r>
              <a:rPr lang="en-US" i="1">
                <a:effectLst/>
                <a:latin typeface="+mj-lt"/>
                <a:ea typeface="Calibri" panose="020F0502020204030204" pitchFamily="34" charset="0"/>
                <a:cs typeface="Times New Roman" panose="02020603050405020304" pitchFamily="18" charset="0"/>
              </a:rPr>
              <a:t>lexeme_beginnig</a:t>
            </a:r>
          </a:p>
        </p:txBody>
      </p:sp>
      <p:cxnSp>
        <p:nvCxnSpPr>
          <p:cNvPr id="10" name="Straight Arrow Connector 9">
            <a:extLst>
              <a:ext uri="{FF2B5EF4-FFF2-40B4-BE49-F238E27FC236}">
                <a16:creationId xmlns:a16="http://schemas.microsoft.com/office/drawing/2014/main" id="{2795F76E-76E7-B361-1A08-9943189335C9}"/>
              </a:ext>
            </a:extLst>
          </p:cNvPr>
          <p:cNvCxnSpPr/>
          <p:nvPr/>
        </p:nvCxnSpPr>
        <p:spPr>
          <a:xfrm flipH="1" flipV="1">
            <a:off x="6765758" y="1590547"/>
            <a:ext cx="0" cy="302884"/>
          </a:xfrm>
          <a:prstGeom prst="straightConnector1">
            <a:avLst/>
          </a:prstGeom>
          <a:ln w="25400">
            <a:solidFill>
              <a:srgbClr val="0E47A1"/>
            </a:solidFill>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C0181A74-BFBE-93F9-7950-E0A2D72B7000}"/>
              </a:ext>
            </a:extLst>
          </p:cNvPr>
          <p:cNvCxnSpPr/>
          <p:nvPr/>
        </p:nvCxnSpPr>
        <p:spPr>
          <a:xfrm flipH="1" flipV="1">
            <a:off x="5927558" y="1614359"/>
            <a:ext cx="0" cy="647124"/>
          </a:xfrm>
          <a:prstGeom prst="straightConnector1">
            <a:avLst/>
          </a:prstGeom>
          <a:ln w="25400">
            <a:solidFill>
              <a:srgbClr val="0E47A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641598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dur="1"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dur="1"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dur="1"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dur="1"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dur="1"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86C2BE-E767-F8DE-AE69-610D10F39B2E}"/>
              </a:ext>
            </a:extLst>
          </p:cNvPr>
          <p:cNvSpPr txBox="1">
            <a:spLocks/>
          </p:cNvSpPr>
          <p:nvPr/>
        </p:nvSpPr>
        <p:spPr>
          <a:xfrm>
            <a:off x="0" y="1"/>
            <a:ext cx="12192000" cy="711200"/>
          </a:xfrm>
          <a:prstGeom prst="rect">
            <a:avLst/>
          </a:prstGeom>
        </p:spPr>
        <p:txBody>
          <a:bodyPr/>
          <a:lstStyle>
            <a:lvl1pPr algn="l" defTabSz="914400" rtl="0" eaLnBrk="1" latinLnBrk="0" hangingPunct="1">
              <a:lnSpc>
                <a:spcPct val="90000"/>
              </a:lnSpc>
              <a:spcBef>
                <a:spcPct val="0"/>
              </a:spcBef>
              <a:buNone/>
              <a:defRPr sz="4400" kern="1200">
                <a:solidFill>
                  <a:srgbClr val="C00000"/>
                </a:solidFill>
                <a:latin typeface="Palatino Linotype" panose="02040502050505030304" pitchFamily="18" charset="0"/>
                <a:ea typeface="+mj-ea"/>
                <a:cs typeface="+mj-cs"/>
              </a:defRPr>
            </a:lvl1pPr>
          </a:lstStyle>
          <a:p>
            <a:r>
              <a:rPr lang="en-US"/>
              <a:t>Sentinels </a:t>
            </a:r>
          </a:p>
        </p:txBody>
      </p:sp>
      <p:sp>
        <p:nvSpPr>
          <p:cNvPr id="3" name="Content Placeholder 2">
            <a:extLst>
              <a:ext uri="{FF2B5EF4-FFF2-40B4-BE49-F238E27FC236}">
                <a16:creationId xmlns:a16="http://schemas.microsoft.com/office/drawing/2014/main" id="{0A48F9F5-20B2-8FDF-00AD-0A9B4731DEE4}"/>
              </a:ext>
            </a:extLst>
          </p:cNvPr>
          <p:cNvSpPr txBox="1">
            <a:spLocks/>
          </p:cNvSpPr>
          <p:nvPr/>
        </p:nvSpPr>
        <p:spPr>
          <a:xfrm>
            <a:off x="86803" y="2178913"/>
            <a:ext cx="11929641" cy="4063735"/>
          </a:xfrm>
          <a:prstGeom prst="rect">
            <a:avLst/>
          </a:prstGeom>
        </p:spPr>
        <p:txBody>
          <a:bodyPr/>
          <a:lstStyle>
            <a:lvl1pPr marL="228600" indent="-228600" algn="just"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Palatino Linotype" panose="02040502050505030304" pitchFamily="18" charset="0"/>
                <a:ea typeface="+mn-ea"/>
                <a:cs typeface="+mn-cs"/>
              </a:defRPr>
            </a:lvl1pPr>
            <a:lvl2pPr marL="685800" indent="-228600" algn="just"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Palatino Linotype" panose="02040502050505030304" pitchFamily="18" charset="0"/>
                <a:ea typeface="+mn-ea"/>
                <a:cs typeface="+mn-cs"/>
              </a:defRPr>
            </a:lvl2pPr>
            <a:lvl3pPr marL="1143000" indent="-228600" algn="just"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Palatino Linotype" panose="02040502050505030304" pitchFamily="18" charset="0"/>
                <a:ea typeface="+mn-ea"/>
                <a:cs typeface="+mn-cs"/>
              </a:defRPr>
            </a:lvl3pPr>
            <a:lvl4pPr marL="1600200" indent="-228600" algn="just"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alatino Linotype" panose="02040502050505030304" pitchFamily="18" charset="0"/>
                <a:ea typeface="+mn-ea"/>
                <a:cs typeface="+mn-cs"/>
              </a:defRPr>
            </a:lvl4pPr>
            <a:lvl5pPr marL="2057400" indent="-228600" algn="just"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80000"/>
              </a:lnSpc>
              <a:buFont typeface="Arial" panose="020B0604020202020204" pitchFamily="34" charset="0"/>
              <a:buNone/>
            </a:pPr>
            <a:r>
              <a:rPr lang="en-US" sz="2000" i="1" dirty="0">
                <a:solidFill>
                  <a:srgbClr val="C00000"/>
                </a:solidFill>
                <a:ea typeface="ヒラギノ角ゴ Pro W3"/>
                <a:cs typeface="Times New Roman" panose="02020603050405020304" pitchFamily="18" charset="0"/>
              </a:rPr>
              <a:t>forward  := forward + 1;</a:t>
            </a:r>
            <a:endParaRPr lang="en-US" sz="2000" dirty="0">
              <a:solidFill>
                <a:srgbClr val="C00000"/>
              </a:solidFill>
              <a:ea typeface="ヒラギノ角ゴ Pro W3"/>
              <a:cs typeface="Times New Roman" panose="02020603050405020304" pitchFamily="18" charset="0"/>
            </a:endParaRPr>
          </a:p>
          <a:p>
            <a:pPr marL="0" indent="0">
              <a:lnSpc>
                <a:spcPct val="80000"/>
              </a:lnSpc>
              <a:buFont typeface="Arial" panose="020B0604020202020204" pitchFamily="34" charset="0"/>
              <a:buNone/>
            </a:pPr>
            <a:r>
              <a:rPr lang="en-US" sz="2000" b="1" i="1" dirty="0">
                <a:solidFill>
                  <a:srgbClr val="C00000"/>
                </a:solidFill>
                <a:ea typeface="ヒラギノ角ゴ Pro W3"/>
                <a:cs typeface="Times New Roman" panose="02020603050405020304" pitchFamily="18" charset="0"/>
              </a:rPr>
              <a:t>	if</a:t>
            </a:r>
            <a:r>
              <a:rPr lang="en-US" sz="2000" i="1" dirty="0">
                <a:solidFill>
                  <a:srgbClr val="C00000"/>
                </a:solidFill>
                <a:ea typeface="ヒラギノ角ゴ Pro W3"/>
                <a:cs typeface="Times New Roman" panose="02020603050405020304" pitchFamily="18" charset="0"/>
              </a:rPr>
              <a:t> forward  = </a:t>
            </a:r>
            <a:r>
              <a:rPr lang="en-US" sz="2000" i="1" dirty="0" err="1">
                <a:solidFill>
                  <a:srgbClr val="C00000"/>
                </a:solidFill>
                <a:ea typeface="ヒラギノ角ゴ Pro W3"/>
                <a:cs typeface="Times New Roman" panose="02020603050405020304" pitchFamily="18" charset="0"/>
              </a:rPr>
              <a:t>eof</a:t>
            </a:r>
            <a:r>
              <a:rPr lang="en-US" sz="2000" i="1" dirty="0">
                <a:solidFill>
                  <a:srgbClr val="C00000"/>
                </a:solidFill>
                <a:ea typeface="ヒラギノ角ゴ Pro W3"/>
                <a:cs typeface="Times New Roman" panose="02020603050405020304" pitchFamily="18" charset="0"/>
              </a:rPr>
              <a:t> </a:t>
            </a:r>
            <a:r>
              <a:rPr lang="en-US" sz="2000" b="1" i="1" dirty="0">
                <a:solidFill>
                  <a:srgbClr val="C00000"/>
                </a:solidFill>
                <a:ea typeface="ヒラギノ角ゴ Pro W3"/>
                <a:cs typeface="Times New Roman" panose="02020603050405020304" pitchFamily="18" charset="0"/>
              </a:rPr>
              <a:t>then begin</a:t>
            </a:r>
            <a:endParaRPr lang="en-US" sz="2000" dirty="0">
              <a:solidFill>
                <a:srgbClr val="C00000"/>
              </a:solidFill>
              <a:ea typeface="ヒラギノ角ゴ Pro W3"/>
              <a:cs typeface="Times New Roman" panose="02020603050405020304" pitchFamily="18" charset="0"/>
            </a:endParaRPr>
          </a:p>
          <a:p>
            <a:pPr marL="0" indent="0">
              <a:lnSpc>
                <a:spcPct val="80000"/>
              </a:lnSpc>
              <a:buFont typeface="Arial" panose="020B0604020202020204" pitchFamily="34" charset="0"/>
              <a:buNone/>
            </a:pPr>
            <a:r>
              <a:rPr lang="en-US" sz="2000" i="1" dirty="0">
                <a:solidFill>
                  <a:srgbClr val="000000"/>
                </a:solidFill>
                <a:ea typeface="ヒラギノ角ゴ Pro W3"/>
                <a:cs typeface="Times New Roman" panose="02020603050405020304" pitchFamily="18" charset="0"/>
              </a:rPr>
              <a:t>		</a:t>
            </a:r>
            <a:r>
              <a:rPr lang="en-US" sz="2000" b="1" i="1" dirty="0">
                <a:solidFill>
                  <a:srgbClr val="000000"/>
                </a:solidFill>
                <a:ea typeface="ヒラギノ角ゴ Pro W3"/>
                <a:cs typeface="Times New Roman" panose="02020603050405020304" pitchFamily="18" charset="0"/>
              </a:rPr>
              <a:t>if</a:t>
            </a:r>
            <a:r>
              <a:rPr lang="en-US" sz="2000" i="1" dirty="0">
                <a:solidFill>
                  <a:srgbClr val="000000"/>
                </a:solidFill>
                <a:ea typeface="ヒラギノ角ゴ Pro W3"/>
                <a:cs typeface="Times New Roman" panose="02020603050405020304" pitchFamily="18" charset="0"/>
              </a:rPr>
              <a:t> forward at end of first half </a:t>
            </a:r>
            <a:r>
              <a:rPr lang="en-US" sz="2000" b="1" i="1" dirty="0">
                <a:solidFill>
                  <a:srgbClr val="000000"/>
                </a:solidFill>
                <a:ea typeface="ヒラギノ角ゴ Pro W3"/>
                <a:cs typeface="Times New Roman" panose="02020603050405020304" pitchFamily="18" charset="0"/>
              </a:rPr>
              <a:t>then begin</a:t>
            </a:r>
            <a:endParaRPr lang="en-US" sz="2000" dirty="0">
              <a:solidFill>
                <a:srgbClr val="000000"/>
              </a:solidFill>
              <a:ea typeface="ヒラギノ角ゴ Pro W3"/>
              <a:cs typeface="Times New Roman" panose="02020603050405020304" pitchFamily="18" charset="0"/>
            </a:endParaRPr>
          </a:p>
          <a:p>
            <a:pPr marL="0" indent="0">
              <a:lnSpc>
                <a:spcPct val="80000"/>
              </a:lnSpc>
              <a:buFont typeface="Arial" panose="020B0604020202020204" pitchFamily="34" charset="0"/>
              <a:buNone/>
            </a:pPr>
            <a:r>
              <a:rPr lang="en-US" sz="2000" i="1" dirty="0">
                <a:solidFill>
                  <a:srgbClr val="000000"/>
                </a:solidFill>
                <a:ea typeface="ヒラギノ角ゴ Pro W3"/>
                <a:cs typeface="Times New Roman" panose="02020603050405020304" pitchFamily="18" charset="0"/>
              </a:rPr>
              <a:t>			reload second half;</a:t>
            </a:r>
            <a:endParaRPr lang="en-US" sz="2000" dirty="0">
              <a:solidFill>
                <a:srgbClr val="000000"/>
              </a:solidFill>
              <a:ea typeface="ヒラギノ角ゴ Pro W3"/>
              <a:cs typeface="Times New Roman" panose="02020603050405020304" pitchFamily="18" charset="0"/>
            </a:endParaRPr>
          </a:p>
          <a:p>
            <a:pPr marL="0" indent="0">
              <a:lnSpc>
                <a:spcPct val="80000"/>
              </a:lnSpc>
              <a:buFont typeface="Arial" panose="020B0604020202020204" pitchFamily="34" charset="0"/>
              <a:buNone/>
            </a:pPr>
            <a:r>
              <a:rPr lang="en-US" sz="2000" i="1" dirty="0">
                <a:solidFill>
                  <a:srgbClr val="000000"/>
                </a:solidFill>
                <a:ea typeface="ヒラギノ角ゴ Pro W3"/>
                <a:cs typeface="Times New Roman" panose="02020603050405020304" pitchFamily="18" charset="0"/>
              </a:rPr>
              <a:t>			forward  := forward + 1;</a:t>
            </a:r>
            <a:endParaRPr lang="en-US" sz="2000" dirty="0">
              <a:solidFill>
                <a:srgbClr val="000000"/>
              </a:solidFill>
              <a:ea typeface="ヒラギノ角ゴ Pro W3"/>
              <a:cs typeface="Times New Roman" panose="02020603050405020304" pitchFamily="18" charset="0"/>
            </a:endParaRPr>
          </a:p>
          <a:p>
            <a:pPr marL="0" indent="0">
              <a:lnSpc>
                <a:spcPct val="80000"/>
              </a:lnSpc>
              <a:buFont typeface="Arial" panose="020B0604020202020204" pitchFamily="34" charset="0"/>
              <a:buNone/>
            </a:pPr>
            <a:r>
              <a:rPr lang="en-US" sz="2000" i="1" dirty="0">
                <a:solidFill>
                  <a:srgbClr val="000000"/>
                </a:solidFill>
                <a:ea typeface="ヒラギノ角ゴ Pro W3"/>
                <a:cs typeface="Times New Roman" panose="02020603050405020304" pitchFamily="18" charset="0"/>
              </a:rPr>
              <a:t>		</a:t>
            </a:r>
            <a:r>
              <a:rPr lang="en-US" sz="2000" b="1" i="1" dirty="0">
                <a:solidFill>
                  <a:srgbClr val="000000"/>
                </a:solidFill>
                <a:ea typeface="ヒラギノ角ゴ Pro W3"/>
                <a:cs typeface="Times New Roman" panose="02020603050405020304" pitchFamily="18" charset="0"/>
              </a:rPr>
              <a:t>end</a:t>
            </a:r>
            <a:r>
              <a:rPr lang="en-US" sz="2000" i="1" dirty="0">
                <a:solidFill>
                  <a:srgbClr val="000000"/>
                </a:solidFill>
                <a:ea typeface="ヒラギノ角ゴ Pro W3"/>
                <a:cs typeface="Times New Roman" panose="02020603050405020304" pitchFamily="18" charset="0"/>
              </a:rPr>
              <a:t>	</a:t>
            </a:r>
            <a:endParaRPr lang="en-US" sz="2000" dirty="0">
              <a:solidFill>
                <a:srgbClr val="000000"/>
              </a:solidFill>
              <a:ea typeface="ヒラギノ角ゴ Pro W3"/>
              <a:cs typeface="Times New Roman" panose="02020603050405020304" pitchFamily="18" charset="0"/>
            </a:endParaRPr>
          </a:p>
          <a:p>
            <a:pPr marL="0" indent="0">
              <a:lnSpc>
                <a:spcPct val="80000"/>
              </a:lnSpc>
              <a:buFont typeface="Arial" panose="020B0604020202020204" pitchFamily="34" charset="0"/>
              <a:buNone/>
            </a:pPr>
            <a:r>
              <a:rPr lang="en-US" sz="2000" b="1" i="1" dirty="0">
                <a:solidFill>
                  <a:srgbClr val="000000"/>
                </a:solidFill>
                <a:ea typeface="ヒラギノ角ゴ Pro W3"/>
                <a:cs typeface="Times New Roman" panose="02020603050405020304" pitchFamily="18" charset="0"/>
              </a:rPr>
              <a:t>		else if</a:t>
            </a:r>
            <a:r>
              <a:rPr lang="en-US" sz="2000" i="1" dirty="0">
                <a:solidFill>
                  <a:srgbClr val="000000"/>
                </a:solidFill>
                <a:ea typeface="ヒラギノ角ゴ Pro W3"/>
                <a:cs typeface="Times New Roman" panose="02020603050405020304" pitchFamily="18" charset="0"/>
              </a:rPr>
              <a:t> forward at the second half </a:t>
            </a:r>
            <a:r>
              <a:rPr lang="en-US" sz="2000" b="1" i="1" dirty="0">
                <a:solidFill>
                  <a:srgbClr val="000000"/>
                </a:solidFill>
                <a:ea typeface="ヒラギノ角ゴ Pro W3"/>
                <a:cs typeface="Times New Roman" panose="02020603050405020304" pitchFamily="18" charset="0"/>
              </a:rPr>
              <a:t>then begin</a:t>
            </a:r>
            <a:endParaRPr lang="en-US" sz="2000" dirty="0">
              <a:solidFill>
                <a:srgbClr val="000000"/>
              </a:solidFill>
              <a:ea typeface="ヒラギノ角ゴ Pro W3"/>
              <a:cs typeface="Times New Roman" panose="02020603050405020304" pitchFamily="18" charset="0"/>
            </a:endParaRPr>
          </a:p>
          <a:p>
            <a:pPr marL="0" indent="0">
              <a:lnSpc>
                <a:spcPct val="80000"/>
              </a:lnSpc>
              <a:buFont typeface="Arial" panose="020B0604020202020204" pitchFamily="34" charset="0"/>
              <a:buNone/>
            </a:pPr>
            <a:r>
              <a:rPr lang="en-US" sz="2000" b="1" i="1" dirty="0">
                <a:solidFill>
                  <a:srgbClr val="000000"/>
                </a:solidFill>
                <a:ea typeface="ヒラギノ角ゴ Pro W3"/>
                <a:cs typeface="Times New Roman" panose="02020603050405020304" pitchFamily="18" charset="0"/>
              </a:rPr>
              <a:t>			</a:t>
            </a:r>
            <a:r>
              <a:rPr lang="en-US" sz="2000" i="1" dirty="0">
                <a:solidFill>
                  <a:srgbClr val="000000"/>
                </a:solidFill>
                <a:ea typeface="ヒラギノ角ゴ Pro W3"/>
                <a:cs typeface="Times New Roman" panose="02020603050405020304" pitchFamily="18" charset="0"/>
              </a:rPr>
              <a:t>reload first half;</a:t>
            </a:r>
            <a:endParaRPr lang="en-US" sz="2000" dirty="0">
              <a:solidFill>
                <a:srgbClr val="000000"/>
              </a:solidFill>
              <a:ea typeface="ヒラギノ角ゴ Pro W3"/>
              <a:cs typeface="Times New Roman" panose="02020603050405020304" pitchFamily="18" charset="0"/>
            </a:endParaRPr>
          </a:p>
          <a:p>
            <a:pPr marL="0" indent="0">
              <a:lnSpc>
                <a:spcPct val="80000"/>
              </a:lnSpc>
              <a:buFont typeface="Arial" panose="020B0604020202020204" pitchFamily="34" charset="0"/>
              <a:buNone/>
            </a:pPr>
            <a:r>
              <a:rPr lang="en-US" sz="2000" b="1" i="1" dirty="0">
                <a:solidFill>
                  <a:srgbClr val="000000"/>
                </a:solidFill>
                <a:ea typeface="ヒラギノ角ゴ Pro W3"/>
                <a:cs typeface="Times New Roman" panose="02020603050405020304" pitchFamily="18" charset="0"/>
              </a:rPr>
              <a:t>			</a:t>
            </a:r>
            <a:r>
              <a:rPr lang="en-US" sz="2000" i="1" dirty="0">
                <a:solidFill>
                  <a:srgbClr val="000000"/>
                </a:solidFill>
                <a:ea typeface="ヒラギノ角ゴ Pro W3"/>
                <a:cs typeface="Times New Roman" panose="02020603050405020304" pitchFamily="18" charset="0"/>
              </a:rPr>
              <a:t>move</a:t>
            </a:r>
            <a:r>
              <a:rPr lang="en-US" sz="2000" b="1" i="1" dirty="0">
                <a:solidFill>
                  <a:srgbClr val="000000"/>
                </a:solidFill>
                <a:ea typeface="ヒラギノ角ゴ Pro W3"/>
                <a:cs typeface="Times New Roman" panose="02020603050405020304" pitchFamily="18" charset="0"/>
              </a:rPr>
              <a:t> </a:t>
            </a:r>
            <a:r>
              <a:rPr lang="en-US" sz="2000" i="1" dirty="0">
                <a:solidFill>
                  <a:srgbClr val="000000"/>
                </a:solidFill>
                <a:ea typeface="ヒラギノ角ゴ Pro W3"/>
                <a:cs typeface="Times New Roman" panose="02020603050405020304" pitchFamily="18" charset="0"/>
              </a:rPr>
              <a:t>forward to beginning of first half;</a:t>
            </a:r>
            <a:endParaRPr lang="en-US" sz="2000" dirty="0">
              <a:solidFill>
                <a:srgbClr val="000000"/>
              </a:solidFill>
              <a:ea typeface="ヒラギノ角ゴ Pro W3"/>
              <a:cs typeface="Times New Roman" panose="02020603050405020304" pitchFamily="18" charset="0"/>
            </a:endParaRPr>
          </a:p>
          <a:p>
            <a:pPr marL="0" indent="0">
              <a:lnSpc>
                <a:spcPct val="80000"/>
              </a:lnSpc>
              <a:buFont typeface="Arial" panose="020B0604020202020204" pitchFamily="34" charset="0"/>
              <a:buNone/>
            </a:pPr>
            <a:r>
              <a:rPr lang="en-US" sz="2000" i="1" dirty="0">
                <a:solidFill>
                  <a:srgbClr val="000000"/>
                </a:solidFill>
                <a:ea typeface="ヒラギノ角ゴ Pro W3"/>
                <a:cs typeface="Times New Roman" panose="02020603050405020304" pitchFamily="18" charset="0"/>
              </a:rPr>
              <a:t>		</a:t>
            </a:r>
            <a:r>
              <a:rPr lang="en-US" sz="2000" b="1" i="1" dirty="0">
                <a:solidFill>
                  <a:srgbClr val="000000"/>
                </a:solidFill>
                <a:ea typeface="ヒラギノ角ゴ Pro W3"/>
                <a:cs typeface="Times New Roman" panose="02020603050405020304" pitchFamily="18" charset="0"/>
              </a:rPr>
              <a:t>end</a:t>
            </a:r>
            <a:endParaRPr lang="en-US" sz="2000" dirty="0">
              <a:solidFill>
                <a:srgbClr val="000000"/>
              </a:solidFill>
              <a:ea typeface="ヒラギノ角ゴ Pro W3"/>
              <a:cs typeface="Times New Roman" panose="02020603050405020304" pitchFamily="18" charset="0"/>
            </a:endParaRPr>
          </a:p>
          <a:p>
            <a:pPr marL="0" indent="0">
              <a:lnSpc>
                <a:spcPct val="80000"/>
              </a:lnSpc>
              <a:buFont typeface="Arial" panose="020B0604020202020204" pitchFamily="34" charset="0"/>
              <a:buNone/>
            </a:pPr>
            <a:r>
              <a:rPr lang="en-US" sz="2000" b="1" i="1" dirty="0">
                <a:solidFill>
                  <a:srgbClr val="000000"/>
                </a:solidFill>
                <a:ea typeface="ヒラギノ角ゴ Pro W3"/>
                <a:cs typeface="Times New Roman" panose="02020603050405020304" pitchFamily="18" charset="0"/>
              </a:rPr>
              <a:t>		else </a:t>
            </a:r>
            <a:r>
              <a:rPr lang="en-US" sz="2000" i="1" dirty="0">
                <a:solidFill>
                  <a:srgbClr val="000000"/>
                </a:solidFill>
                <a:ea typeface="ヒラギノ角ゴ Pro W3"/>
                <a:cs typeface="Times New Roman" panose="02020603050405020304" pitchFamily="18" charset="0"/>
              </a:rPr>
              <a:t>terminate lexical analysis;</a:t>
            </a:r>
            <a:endParaRPr lang="en-US" sz="2000" dirty="0">
              <a:solidFill>
                <a:srgbClr val="000000"/>
              </a:solidFill>
              <a:ea typeface="ヒラギノ角ゴ Pro W3"/>
              <a:cs typeface="Times New Roman" panose="02020603050405020304" pitchFamily="18" charset="0"/>
            </a:endParaRPr>
          </a:p>
          <a:p>
            <a:pPr marL="0" indent="0">
              <a:lnSpc>
                <a:spcPct val="80000"/>
              </a:lnSpc>
              <a:buFont typeface="Arial" panose="020B0604020202020204" pitchFamily="34" charset="0"/>
              <a:buNone/>
            </a:pPr>
            <a:r>
              <a:rPr lang="en-US" sz="2000" b="1" i="1" dirty="0">
                <a:ea typeface="Calibri" panose="020F0502020204030204" pitchFamily="34" charset="0"/>
                <a:cs typeface="Times New Roman" panose="02020603050405020304" pitchFamily="18" charset="0"/>
              </a:rPr>
              <a:t>	end</a:t>
            </a:r>
            <a:endParaRPr lang="en-US" sz="2000" dirty="0"/>
          </a:p>
          <a:p>
            <a:pPr>
              <a:lnSpc>
                <a:spcPct val="80000"/>
              </a:lnSpc>
            </a:pPr>
            <a:endParaRPr lang="en-US" sz="2000" dirty="0"/>
          </a:p>
        </p:txBody>
      </p:sp>
      <p:sp>
        <p:nvSpPr>
          <p:cNvPr id="4" name="Rectangle 3">
            <a:extLst>
              <a:ext uri="{FF2B5EF4-FFF2-40B4-BE49-F238E27FC236}">
                <a16:creationId xmlns:a16="http://schemas.microsoft.com/office/drawing/2014/main" id="{A4F82ECA-F4FD-E102-93EF-45BB9EC48568}"/>
              </a:ext>
            </a:extLst>
          </p:cNvPr>
          <p:cNvSpPr>
            <a:spLocks noChangeArrowheads="1"/>
          </p:cNvSpPr>
          <p:nvPr/>
        </p:nvSpPr>
        <p:spPr bwMode="auto">
          <a:xfrm>
            <a:off x="3556113" y="1034062"/>
            <a:ext cx="2362200" cy="392121"/>
          </a:xfrm>
          <a:prstGeom prst="rect">
            <a:avLst/>
          </a:prstGeom>
          <a:solidFill>
            <a:srgbClr val="FFFFFF"/>
          </a:solidFill>
          <a:ln w="22225">
            <a:solidFill>
              <a:srgbClr val="0E47A1"/>
            </a:solidFill>
            <a:miter lim="800000"/>
          </a:ln>
        </p:spPr>
        <p:txBody>
          <a:bodyPr rot="0" vert="horz" wrap="square" lIns="91440" tIns="45720" rIns="91440" bIns="45720" anchor="t" anchorCtr="0" upright="1">
            <a:noAutofit/>
          </a:bodyPr>
          <a:lstStyle/>
          <a:p>
            <a:pPr>
              <a:lnSpc>
                <a:spcPct val="115000"/>
              </a:lnSpc>
              <a:spcAft>
                <a:spcPts val="1000"/>
              </a:spcAft>
            </a:pPr>
            <a:r>
              <a:rPr lang="en-US">
                <a:effectLst/>
                <a:latin typeface="Calibri" panose="020F0502020204030204" pitchFamily="34" charset="0"/>
                <a:ea typeface="Calibri" panose="020F0502020204030204" pitchFamily="34" charset="0"/>
                <a:cs typeface="Times New Roman" panose="02020603050405020304" pitchFamily="18" charset="0"/>
              </a:rPr>
              <a:t>:  : E :  : = :  : Mi : * :</a:t>
            </a:r>
          </a:p>
        </p:txBody>
      </p:sp>
      <p:sp>
        <p:nvSpPr>
          <p:cNvPr id="5" name="Rectangle 4">
            <a:extLst>
              <a:ext uri="{FF2B5EF4-FFF2-40B4-BE49-F238E27FC236}">
                <a16:creationId xmlns:a16="http://schemas.microsoft.com/office/drawing/2014/main" id="{09D898C6-D3A2-3244-A4C3-979EA00EF1B7}"/>
              </a:ext>
            </a:extLst>
          </p:cNvPr>
          <p:cNvSpPr>
            <a:spLocks noChangeArrowheads="1"/>
          </p:cNvSpPr>
          <p:nvPr/>
        </p:nvSpPr>
        <p:spPr bwMode="auto">
          <a:xfrm>
            <a:off x="5918239" y="1034601"/>
            <a:ext cx="2362200" cy="392121"/>
          </a:xfrm>
          <a:prstGeom prst="rect">
            <a:avLst/>
          </a:prstGeom>
          <a:solidFill>
            <a:srgbClr val="FFFFFF"/>
          </a:solidFill>
          <a:ln w="22225">
            <a:solidFill>
              <a:srgbClr val="0E47A1"/>
            </a:solidFill>
            <a:miter lim="800000"/>
          </a:ln>
        </p:spPr>
        <p:txBody>
          <a:bodyPr rot="0" vert="horz" wrap="square" lIns="91440" tIns="45720" rIns="91440" bIns="45720" anchor="t" anchorCtr="0" upright="1">
            <a:noAutofit/>
          </a:bodyPr>
          <a:lstStyle/>
          <a:p>
            <a:pPr>
              <a:lnSpc>
                <a:spcPct val="115000"/>
              </a:lnSpc>
              <a:spcAft>
                <a:spcPts val="1000"/>
              </a:spcAft>
            </a:pPr>
            <a:r>
              <a:rPr lang="en-US">
                <a:effectLst/>
                <a:latin typeface="Calibri" panose="020F0502020204030204" pitchFamily="34" charset="0"/>
                <a:ea typeface="Calibri" panose="020F0502020204030204" pitchFamily="34" charset="0"/>
                <a:cs typeface="Times New Roman" panose="02020603050405020304" pitchFamily="18" charset="0"/>
              </a:rPr>
              <a:t>: C: * : * : 2 :  </a:t>
            </a:r>
            <a:r>
              <a:rPr lang="en-US" b="1" i="1" err="1">
                <a:effectLst/>
                <a:latin typeface="Calibri" panose="020F0502020204030204" pitchFamily="34" charset="0"/>
                <a:ea typeface="Calibri" panose="020F0502020204030204" pitchFamily="34" charset="0"/>
                <a:cs typeface="Times New Roman" panose="02020603050405020304" pitchFamily="18" charset="0"/>
              </a:rPr>
              <a:t>eof</a:t>
            </a:r>
            <a:r>
              <a:rPr lang="en-US">
                <a:effectLst/>
                <a:latin typeface="Calibri" panose="020F0502020204030204" pitchFamily="34" charset="0"/>
                <a:ea typeface="Calibri" panose="020F0502020204030204" pitchFamily="34" charset="0"/>
                <a:cs typeface="Times New Roman" panose="02020603050405020304" pitchFamily="18" charset="0"/>
              </a:rPr>
              <a:t> : : </a:t>
            </a:r>
            <a:r>
              <a:rPr lang="en-US" b="1" i="1" err="1">
                <a:latin typeface="Calibri" panose="020F0502020204030204" pitchFamily="34" charset="0"/>
                <a:ea typeface="Calibri" panose="020F0502020204030204" pitchFamily="34" charset="0"/>
                <a:cs typeface="Times New Roman" panose="02020603050405020304" pitchFamily="18" charset="0"/>
              </a:rPr>
              <a:t>eof</a:t>
            </a:r>
            <a:endParaRPr lang="en-US">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6" name="Rectangle 5">
            <a:extLst>
              <a:ext uri="{FF2B5EF4-FFF2-40B4-BE49-F238E27FC236}">
                <a16:creationId xmlns:a16="http://schemas.microsoft.com/office/drawing/2014/main" id="{011CC748-A8FB-3CE1-681E-4317352DCAC0}"/>
              </a:ext>
            </a:extLst>
          </p:cNvPr>
          <p:cNvSpPr>
            <a:spLocks noChangeArrowheads="1"/>
          </p:cNvSpPr>
          <p:nvPr/>
        </p:nvSpPr>
        <p:spPr bwMode="auto">
          <a:xfrm>
            <a:off x="4350158" y="1964516"/>
            <a:ext cx="2359356" cy="425757"/>
          </a:xfrm>
          <a:prstGeom prst="rect">
            <a:avLst/>
          </a:prstGeom>
          <a:solidFill>
            <a:srgbClr val="FFFFFF"/>
          </a:solidFill>
          <a:ln w="9525">
            <a:solidFill>
              <a:schemeClr val="bg1">
                <a:lumMod val="100000"/>
                <a:lumOff val="0"/>
              </a:schemeClr>
            </a:solidFill>
            <a:miter lim="800000"/>
          </a:ln>
        </p:spPr>
        <p:txBody>
          <a:bodyPr rot="0" vert="horz" wrap="square" lIns="91440" tIns="45720" rIns="91440" bIns="45720" anchor="t" anchorCtr="0" upright="1">
            <a:noAutofit/>
          </a:bodyPr>
          <a:lstStyle/>
          <a:p>
            <a:pPr marL="0" marR="0">
              <a:lnSpc>
                <a:spcPct val="115000"/>
              </a:lnSpc>
              <a:spcBef>
                <a:spcPct val="0"/>
              </a:spcBef>
              <a:spcAft>
                <a:spcPts val="1000"/>
              </a:spcAft>
            </a:pPr>
            <a:r>
              <a:rPr lang="en-US">
                <a:effectLst/>
                <a:latin typeface="Calibri" panose="020F0502020204030204" pitchFamily="34" charset="0"/>
                <a:ea typeface="Calibri" panose="020F0502020204030204" pitchFamily="34" charset="0"/>
                <a:cs typeface="Times New Roman" panose="02020603050405020304" pitchFamily="18" charset="0"/>
              </a:rPr>
              <a:t>      </a:t>
            </a:r>
            <a:r>
              <a:rPr lang="en-US" i="1">
                <a:effectLst/>
                <a:latin typeface="Calibri" panose="020F0502020204030204" pitchFamily="34" charset="0"/>
                <a:ea typeface="Calibri" panose="020F0502020204030204" pitchFamily="34" charset="0"/>
                <a:cs typeface="Times New Roman" panose="02020603050405020304" pitchFamily="18" charset="0"/>
              </a:rPr>
              <a:t>lexeme_beginnig</a:t>
            </a:r>
          </a:p>
        </p:txBody>
      </p:sp>
      <p:grpSp>
        <p:nvGrpSpPr>
          <p:cNvPr id="7" name="Group 6">
            <a:extLst>
              <a:ext uri="{FF2B5EF4-FFF2-40B4-BE49-F238E27FC236}">
                <a16:creationId xmlns:a16="http://schemas.microsoft.com/office/drawing/2014/main" id="{4ECF3E74-073C-27A5-ADB9-74C8F9640329}"/>
              </a:ext>
            </a:extLst>
          </p:cNvPr>
          <p:cNvGrpSpPr/>
          <p:nvPr/>
        </p:nvGrpSpPr>
        <p:grpSpPr>
          <a:xfrm>
            <a:off x="4661035" y="1417613"/>
            <a:ext cx="1390589" cy="581663"/>
            <a:chOff x="3206466" y="1510336"/>
            <a:chExt cx="1390589" cy="581663"/>
          </a:xfrm>
        </p:grpSpPr>
        <p:sp>
          <p:nvSpPr>
            <p:cNvPr id="8" name="Rectangle 7">
              <a:extLst>
                <a:ext uri="{FF2B5EF4-FFF2-40B4-BE49-F238E27FC236}">
                  <a16:creationId xmlns:a16="http://schemas.microsoft.com/office/drawing/2014/main" id="{A802F387-ECEF-A135-22D8-883ECB722CF0}"/>
                </a:ext>
              </a:extLst>
            </p:cNvPr>
            <p:cNvSpPr>
              <a:spLocks noChangeArrowheads="1"/>
            </p:cNvSpPr>
            <p:nvPr/>
          </p:nvSpPr>
          <p:spPr bwMode="auto">
            <a:xfrm>
              <a:off x="3206466" y="1699878"/>
              <a:ext cx="1390589" cy="392121"/>
            </a:xfrm>
            <a:prstGeom prst="rect">
              <a:avLst/>
            </a:prstGeom>
            <a:solidFill>
              <a:srgbClr val="FFFFFF"/>
            </a:solidFill>
            <a:ln w="9525">
              <a:solidFill>
                <a:schemeClr val="bg1">
                  <a:lumMod val="100000"/>
                  <a:lumOff val="0"/>
                </a:schemeClr>
              </a:solidFill>
              <a:miter lim="800000"/>
            </a:ln>
          </p:spPr>
          <p:txBody>
            <a:bodyPr rot="0" vert="horz" wrap="square" lIns="91440" tIns="45720" rIns="91440" bIns="45720" anchor="t" anchorCtr="0" upright="1">
              <a:noAutofit/>
            </a:bodyPr>
            <a:lstStyle/>
            <a:p>
              <a:pPr marL="0" marR="0">
                <a:lnSpc>
                  <a:spcPct val="115000"/>
                </a:lnSpc>
                <a:spcBef>
                  <a:spcPct val="0"/>
                </a:spcBef>
                <a:spcAft>
                  <a:spcPts val="1000"/>
                </a:spcAft>
              </a:pPr>
              <a:r>
                <a:rPr lang="en-US">
                  <a:effectLst/>
                  <a:latin typeface="Calibri" panose="020F0502020204030204" pitchFamily="34" charset="0"/>
                  <a:ea typeface="Calibri" panose="020F0502020204030204" pitchFamily="34" charset="0"/>
                  <a:cs typeface="Times New Roman" panose="02020603050405020304" pitchFamily="18" charset="0"/>
                </a:rPr>
                <a:t>       </a:t>
              </a:r>
              <a:r>
                <a:rPr lang="en-US" i="1">
                  <a:effectLst/>
                  <a:latin typeface="Calibri" panose="020F0502020204030204" pitchFamily="34" charset="0"/>
                  <a:ea typeface="Calibri" panose="020F0502020204030204" pitchFamily="34" charset="0"/>
                  <a:cs typeface="Times New Roman" panose="02020603050405020304" pitchFamily="18" charset="0"/>
                </a:rPr>
                <a:t>forward</a:t>
              </a:r>
            </a:p>
          </p:txBody>
        </p:sp>
        <p:cxnSp>
          <p:nvCxnSpPr>
            <p:cNvPr id="9" name="Straight Arrow Connector 8">
              <a:extLst>
                <a:ext uri="{FF2B5EF4-FFF2-40B4-BE49-F238E27FC236}">
                  <a16:creationId xmlns:a16="http://schemas.microsoft.com/office/drawing/2014/main" id="{B1F40704-B161-91E6-0234-C3EE4DC2A5BE}"/>
                </a:ext>
              </a:extLst>
            </p:cNvPr>
            <p:cNvCxnSpPr/>
            <p:nvPr/>
          </p:nvCxnSpPr>
          <p:spPr>
            <a:xfrm flipH="1" flipV="1">
              <a:off x="3776653" y="1510336"/>
              <a:ext cx="0" cy="302884"/>
            </a:xfrm>
            <a:prstGeom prst="straightConnector1">
              <a:avLst/>
            </a:prstGeom>
            <a:ln w="25400">
              <a:solidFill>
                <a:srgbClr val="0E47A1"/>
              </a:solidFill>
              <a:tailEnd type="arrow"/>
            </a:ln>
          </p:spPr>
          <p:style>
            <a:lnRef idx="1">
              <a:schemeClr val="accent1"/>
            </a:lnRef>
            <a:fillRef idx="0">
              <a:schemeClr val="accent1"/>
            </a:fillRef>
            <a:effectRef idx="0">
              <a:schemeClr val="accent1"/>
            </a:effectRef>
            <a:fontRef idx="minor">
              <a:schemeClr val="tx1"/>
            </a:fontRef>
          </p:style>
        </p:cxnSp>
      </p:grpSp>
      <p:cxnSp>
        <p:nvCxnSpPr>
          <p:cNvPr id="10" name="Straight Arrow Connector 9">
            <a:extLst>
              <a:ext uri="{FF2B5EF4-FFF2-40B4-BE49-F238E27FC236}">
                <a16:creationId xmlns:a16="http://schemas.microsoft.com/office/drawing/2014/main" id="{EDA1A36D-305F-0CBE-D103-5FABF18A2AFE}"/>
              </a:ext>
            </a:extLst>
          </p:cNvPr>
          <p:cNvCxnSpPr/>
          <p:nvPr/>
        </p:nvCxnSpPr>
        <p:spPr>
          <a:xfrm flipH="1" flipV="1">
            <a:off x="4907374" y="1441425"/>
            <a:ext cx="0" cy="647124"/>
          </a:xfrm>
          <a:prstGeom prst="straightConnector1">
            <a:avLst/>
          </a:prstGeom>
          <a:ln w="25400">
            <a:solidFill>
              <a:srgbClr val="0E47A1"/>
            </a:solidFill>
            <a:tailEnd type="arrow"/>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F6298525-0ABE-1F9A-6A59-4F792AA7963F}"/>
              </a:ext>
            </a:extLst>
          </p:cNvPr>
          <p:cNvSpPr/>
          <p:nvPr/>
        </p:nvSpPr>
        <p:spPr>
          <a:xfrm>
            <a:off x="5413156" y="1017216"/>
            <a:ext cx="598792" cy="3872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1" err="1">
                <a:solidFill>
                  <a:srgbClr val="0E47A1"/>
                </a:solidFill>
                <a:latin typeface="Calibri" panose="020F0502020204030204" pitchFamily="34" charset="0"/>
                <a:ea typeface="Calibri" panose="020F0502020204030204" pitchFamily="34" charset="0"/>
                <a:cs typeface="Times New Roman" panose="02020603050405020304" pitchFamily="18" charset="0"/>
              </a:rPr>
              <a:t>eof</a:t>
            </a:r>
            <a:endParaRPr lang="en-US">
              <a:solidFill>
                <a:srgbClr val="0E47A1"/>
              </a:solidFill>
            </a:endParaRPr>
          </a:p>
        </p:txBody>
      </p:sp>
      <p:grpSp>
        <p:nvGrpSpPr>
          <p:cNvPr id="12" name="Group 11">
            <a:extLst>
              <a:ext uri="{FF2B5EF4-FFF2-40B4-BE49-F238E27FC236}">
                <a16:creationId xmlns:a16="http://schemas.microsoft.com/office/drawing/2014/main" id="{1C2BC84D-63C8-AB8D-0E0A-353855BE1A33}"/>
              </a:ext>
            </a:extLst>
          </p:cNvPr>
          <p:cNvGrpSpPr/>
          <p:nvPr/>
        </p:nvGrpSpPr>
        <p:grpSpPr>
          <a:xfrm>
            <a:off x="5633219" y="1417426"/>
            <a:ext cx="1390589" cy="581663"/>
            <a:chOff x="3206466" y="1510336"/>
            <a:chExt cx="1390589" cy="581663"/>
          </a:xfrm>
        </p:grpSpPr>
        <p:sp>
          <p:nvSpPr>
            <p:cNvPr id="13" name="Rectangle 12">
              <a:extLst>
                <a:ext uri="{FF2B5EF4-FFF2-40B4-BE49-F238E27FC236}">
                  <a16:creationId xmlns:a16="http://schemas.microsoft.com/office/drawing/2014/main" id="{C4954E10-DA1E-7B28-6AA5-C18CCAE4D9F3}"/>
                </a:ext>
              </a:extLst>
            </p:cNvPr>
            <p:cNvSpPr>
              <a:spLocks noChangeArrowheads="1"/>
            </p:cNvSpPr>
            <p:nvPr/>
          </p:nvSpPr>
          <p:spPr bwMode="auto">
            <a:xfrm>
              <a:off x="3206466" y="1699878"/>
              <a:ext cx="1390589" cy="392121"/>
            </a:xfrm>
            <a:prstGeom prst="rect">
              <a:avLst/>
            </a:prstGeom>
            <a:solidFill>
              <a:srgbClr val="FFFFFF"/>
            </a:solidFill>
            <a:ln w="9525">
              <a:solidFill>
                <a:schemeClr val="bg1">
                  <a:lumMod val="100000"/>
                  <a:lumOff val="0"/>
                </a:schemeClr>
              </a:solidFill>
              <a:miter lim="800000"/>
            </a:ln>
          </p:spPr>
          <p:txBody>
            <a:bodyPr rot="0" vert="horz" wrap="square" lIns="91440" tIns="45720" rIns="91440" bIns="45720" anchor="t" anchorCtr="0" upright="1">
              <a:noAutofit/>
            </a:bodyPr>
            <a:lstStyle/>
            <a:p>
              <a:pPr marL="0" marR="0">
                <a:lnSpc>
                  <a:spcPct val="115000"/>
                </a:lnSpc>
                <a:spcBef>
                  <a:spcPct val="0"/>
                </a:spcBef>
                <a:spcAft>
                  <a:spcPts val="1000"/>
                </a:spcAft>
              </a:pPr>
              <a:r>
                <a:rPr lang="en-US">
                  <a:effectLst/>
                  <a:latin typeface="Calibri" panose="020F0502020204030204" pitchFamily="34" charset="0"/>
                  <a:ea typeface="Calibri" panose="020F0502020204030204" pitchFamily="34" charset="0"/>
                  <a:cs typeface="Times New Roman" panose="02020603050405020304" pitchFamily="18" charset="0"/>
                </a:rPr>
                <a:t>       </a:t>
              </a:r>
              <a:r>
                <a:rPr lang="en-US" i="1">
                  <a:effectLst/>
                  <a:latin typeface="Calibri" panose="020F0502020204030204" pitchFamily="34" charset="0"/>
                  <a:ea typeface="Calibri" panose="020F0502020204030204" pitchFamily="34" charset="0"/>
                  <a:cs typeface="Times New Roman" panose="02020603050405020304" pitchFamily="18" charset="0"/>
                </a:rPr>
                <a:t>forward</a:t>
              </a:r>
            </a:p>
          </p:txBody>
        </p:sp>
        <p:cxnSp>
          <p:nvCxnSpPr>
            <p:cNvPr id="14" name="Straight Arrow Connector 13">
              <a:extLst>
                <a:ext uri="{FF2B5EF4-FFF2-40B4-BE49-F238E27FC236}">
                  <a16:creationId xmlns:a16="http://schemas.microsoft.com/office/drawing/2014/main" id="{E99BBA6A-2D95-50BE-5626-5AB2D9AC1BE9}"/>
                </a:ext>
              </a:extLst>
            </p:cNvPr>
            <p:cNvCxnSpPr/>
            <p:nvPr/>
          </p:nvCxnSpPr>
          <p:spPr>
            <a:xfrm flipH="1" flipV="1">
              <a:off x="3776653" y="1510336"/>
              <a:ext cx="0" cy="302884"/>
            </a:xfrm>
            <a:prstGeom prst="straightConnector1">
              <a:avLst/>
            </a:prstGeom>
            <a:ln w="25400">
              <a:solidFill>
                <a:srgbClr val="0E47A1"/>
              </a:solidFill>
              <a:tailEnd type="arrow"/>
            </a:ln>
          </p:spPr>
          <p:style>
            <a:lnRef idx="1">
              <a:schemeClr val="accent1"/>
            </a:lnRef>
            <a:fillRef idx="0">
              <a:schemeClr val="accent1"/>
            </a:fillRef>
            <a:effectRef idx="0">
              <a:schemeClr val="accent1"/>
            </a:effectRef>
            <a:fontRef idx="minor">
              <a:schemeClr val="tx1"/>
            </a:fontRef>
          </p:style>
        </p:cxnSp>
      </p:grpSp>
      <p:grpSp>
        <p:nvGrpSpPr>
          <p:cNvPr id="15" name="Group 14">
            <a:extLst>
              <a:ext uri="{FF2B5EF4-FFF2-40B4-BE49-F238E27FC236}">
                <a16:creationId xmlns:a16="http://schemas.microsoft.com/office/drawing/2014/main" id="{1F34A297-A362-3118-8B3E-D6866344C624}"/>
              </a:ext>
            </a:extLst>
          </p:cNvPr>
          <p:cNvGrpSpPr/>
          <p:nvPr/>
        </p:nvGrpSpPr>
        <p:grpSpPr>
          <a:xfrm>
            <a:off x="7435329" y="1419287"/>
            <a:ext cx="1390589" cy="581663"/>
            <a:chOff x="3206466" y="1510336"/>
            <a:chExt cx="1390589" cy="581663"/>
          </a:xfrm>
        </p:grpSpPr>
        <p:sp>
          <p:nvSpPr>
            <p:cNvPr id="16" name="Rectangle 15">
              <a:extLst>
                <a:ext uri="{FF2B5EF4-FFF2-40B4-BE49-F238E27FC236}">
                  <a16:creationId xmlns:a16="http://schemas.microsoft.com/office/drawing/2014/main" id="{61E2843E-F762-D433-6965-ECF8C4686EAA}"/>
                </a:ext>
              </a:extLst>
            </p:cNvPr>
            <p:cNvSpPr>
              <a:spLocks noChangeArrowheads="1"/>
            </p:cNvSpPr>
            <p:nvPr/>
          </p:nvSpPr>
          <p:spPr bwMode="auto">
            <a:xfrm>
              <a:off x="3206466" y="1699878"/>
              <a:ext cx="1390589" cy="392121"/>
            </a:xfrm>
            <a:prstGeom prst="rect">
              <a:avLst/>
            </a:prstGeom>
            <a:solidFill>
              <a:srgbClr val="FFFFFF"/>
            </a:solidFill>
            <a:ln w="9525">
              <a:solidFill>
                <a:schemeClr val="bg1">
                  <a:lumMod val="100000"/>
                  <a:lumOff val="0"/>
                </a:schemeClr>
              </a:solidFill>
              <a:miter lim="800000"/>
            </a:ln>
          </p:spPr>
          <p:txBody>
            <a:bodyPr rot="0" vert="horz" wrap="square" lIns="91440" tIns="45720" rIns="91440" bIns="45720" anchor="t" anchorCtr="0" upright="1">
              <a:noAutofit/>
            </a:bodyPr>
            <a:lstStyle/>
            <a:p>
              <a:pPr marL="0" marR="0">
                <a:lnSpc>
                  <a:spcPct val="115000"/>
                </a:lnSpc>
                <a:spcBef>
                  <a:spcPct val="0"/>
                </a:spcBef>
                <a:spcAft>
                  <a:spcPts val="1000"/>
                </a:spcAft>
              </a:pPr>
              <a:r>
                <a:rPr lang="en-US">
                  <a:effectLst/>
                  <a:latin typeface="Calibri" panose="020F0502020204030204" pitchFamily="34" charset="0"/>
                  <a:ea typeface="Calibri" panose="020F0502020204030204" pitchFamily="34" charset="0"/>
                  <a:cs typeface="Times New Roman" panose="02020603050405020304" pitchFamily="18" charset="0"/>
                </a:rPr>
                <a:t>       </a:t>
              </a:r>
              <a:r>
                <a:rPr lang="en-US" i="1">
                  <a:effectLst/>
                  <a:latin typeface="Calibri" panose="020F0502020204030204" pitchFamily="34" charset="0"/>
                  <a:ea typeface="Calibri" panose="020F0502020204030204" pitchFamily="34" charset="0"/>
                  <a:cs typeface="Times New Roman" panose="02020603050405020304" pitchFamily="18" charset="0"/>
                </a:rPr>
                <a:t>forward</a:t>
              </a:r>
            </a:p>
          </p:txBody>
        </p:sp>
        <p:cxnSp>
          <p:nvCxnSpPr>
            <p:cNvPr id="17" name="Straight Arrow Connector 16">
              <a:extLst>
                <a:ext uri="{FF2B5EF4-FFF2-40B4-BE49-F238E27FC236}">
                  <a16:creationId xmlns:a16="http://schemas.microsoft.com/office/drawing/2014/main" id="{3EA253F2-793C-581C-FBCB-849FE8494A12}"/>
                </a:ext>
              </a:extLst>
            </p:cNvPr>
            <p:cNvCxnSpPr/>
            <p:nvPr/>
          </p:nvCxnSpPr>
          <p:spPr>
            <a:xfrm flipH="1" flipV="1">
              <a:off x="3776653" y="1510336"/>
              <a:ext cx="0" cy="302884"/>
            </a:xfrm>
            <a:prstGeom prst="straightConnector1">
              <a:avLst/>
            </a:prstGeom>
            <a:ln w="25400">
              <a:solidFill>
                <a:srgbClr val="0E47A1"/>
              </a:solidFill>
              <a:tailEnd type="arrow"/>
            </a:ln>
          </p:spPr>
          <p:style>
            <a:lnRef idx="1">
              <a:schemeClr val="accent1"/>
            </a:lnRef>
            <a:fillRef idx="0">
              <a:schemeClr val="accent1"/>
            </a:fillRef>
            <a:effectRef idx="0">
              <a:schemeClr val="accent1"/>
            </a:effectRef>
            <a:fontRef idx="minor">
              <a:schemeClr val="tx1"/>
            </a:fontRef>
          </p:style>
        </p:cxnSp>
      </p:grpSp>
      <p:sp>
        <p:nvSpPr>
          <p:cNvPr id="18" name="Rectangle 17">
            <a:extLst>
              <a:ext uri="{FF2B5EF4-FFF2-40B4-BE49-F238E27FC236}">
                <a16:creationId xmlns:a16="http://schemas.microsoft.com/office/drawing/2014/main" id="{47C4EA98-B5C8-DD00-DB49-4D13F50FBA9A}"/>
              </a:ext>
            </a:extLst>
          </p:cNvPr>
          <p:cNvSpPr>
            <a:spLocks noChangeArrowheads="1"/>
          </p:cNvSpPr>
          <p:nvPr/>
        </p:nvSpPr>
        <p:spPr bwMode="auto">
          <a:xfrm>
            <a:off x="5918239" y="1034063"/>
            <a:ext cx="2362200" cy="393192"/>
          </a:xfrm>
          <a:prstGeom prst="rect">
            <a:avLst/>
          </a:prstGeom>
          <a:solidFill>
            <a:srgbClr val="FFFFFF"/>
          </a:solidFill>
          <a:ln w="22225">
            <a:solidFill>
              <a:srgbClr val="0E47A1"/>
            </a:solidFill>
            <a:miter lim="800000"/>
          </a:ln>
        </p:spPr>
        <p:txBody>
          <a:bodyPr rot="0" vert="horz" wrap="square" lIns="91440" tIns="45720" rIns="91440" bIns="45720" anchor="t" anchorCtr="0" upright="1">
            <a:noAutofit/>
          </a:bodyPr>
          <a:lstStyle/>
          <a:p>
            <a:pPr>
              <a:lnSpc>
                <a:spcPct val="115000"/>
              </a:lnSpc>
              <a:spcAft>
                <a:spcPts val="1000"/>
              </a:spcAft>
            </a:pPr>
            <a:r>
              <a:rPr lang="en-US">
                <a:effectLst/>
                <a:latin typeface="Calibri" panose="020F0502020204030204" pitchFamily="34" charset="0"/>
                <a:ea typeface="Calibri" panose="020F0502020204030204" pitchFamily="34" charset="0"/>
                <a:cs typeface="Times New Roman" panose="02020603050405020304" pitchFamily="18" charset="0"/>
              </a:rPr>
              <a:t>: C: * : * : 2 :  </a:t>
            </a:r>
            <a:r>
              <a:rPr lang="en-US" b="1" i="1" err="1">
                <a:effectLst/>
                <a:latin typeface="Calibri" panose="020F0502020204030204" pitchFamily="34" charset="0"/>
                <a:ea typeface="Calibri" panose="020F0502020204030204" pitchFamily="34" charset="0"/>
                <a:cs typeface="Times New Roman" panose="02020603050405020304" pitchFamily="18" charset="0"/>
              </a:rPr>
              <a:t>eof</a:t>
            </a:r>
            <a:r>
              <a:rPr lang="en-US">
                <a:effectLst/>
                <a:latin typeface="Calibri" panose="020F0502020204030204" pitchFamily="34" charset="0"/>
                <a:ea typeface="Calibri" panose="020F0502020204030204" pitchFamily="34" charset="0"/>
                <a:cs typeface="Times New Roman" panose="02020603050405020304" pitchFamily="18" charset="0"/>
              </a:rPr>
              <a:t> : : </a:t>
            </a:r>
            <a:r>
              <a:rPr lang="en-US" b="1" i="1" err="1">
                <a:latin typeface="Calibri" panose="020F0502020204030204" pitchFamily="34" charset="0"/>
                <a:ea typeface="Calibri" panose="020F0502020204030204" pitchFamily="34" charset="0"/>
                <a:cs typeface="Times New Roman" panose="02020603050405020304" pitchFamily="18" charset="0"/>
              </a:rPr>
              <a:t>eof</a:t>
            </a:r>
            <a:endParaRPr lang="en-US">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9069286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dur="1"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2" presetClass="path" presetSubtype="0" dur="2000" accel="50000" decel="50000" fill="hold" nodeType="clickEffect">
                                  <p:stCondLst>
                                    <p:cond delay="0"/>
                                  </p:stCondLst>
                                  <p:childTnLst>
                                    <p:animMotion origin="layout" path="M -2.91667E-06 -4.07407E-06 L 0.04857 0.00186" pathEditMode="relative" rAng="0" ptsTypes="AA">
                                      <p:cBhvr>
                                        <p:cTn id="10" dur="2000" fill="hold"/>
                                        <p:tgtEl>
                                          <p:spTgt spid="7"/>
                                        </p:tgtEl>
                                        <p:attrNameLst>
                                          <p:attrName>ppt_x</p:attrName>
                                          <p:attrName>ppt_y</p:attrName>
                                        </p:attrNameLst>
                                      </p:cBhvr>
                                      <p:rCtr x="2422" y="93"/>
                                    </p:animMotion>
                                  </p:childTnLst>
                                </p:cTn>
                              </p:par>
                            </p:childTnLst>
                          </p:cTn>
                        </p:par>
                      </p:childTnLst>
                    </p:cTn>
                  </p:par>
                  <p:par>
                    <p:cTn id="11" fill="hold">
                      <p:stCondLst>
                        <p:cond delay="indefinite"/>
                      </p:stCondLst>
                      <p:childTnLst>
                        <p:par>
                          <p:cTn id="12" fill="hold">
                            <p:stCondLst>
                              <p:cond delay="0"/>
                            </p:stCondLst>
                            <p:childTnLst>
                              <p:par>
                                <p:cTn id="13" presetID="1" presetClass="entr" presetSubtype="0" dur="1"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dur="1"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dur="1"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mph" presetSubtype="2" dur="2000" fill="hold" nodeType="clickEffect">
                                  <p:stCondLst>
                                    <p:cond delay="0"/>
                                  </p:stCondLst>
                                  <p:childTnLst>
                                    <p:animClr clrSpc="rgb" dir="cw">
                                      <p:cBhvr>
                                        <p:cTn id="26" dur="2000" fill="hold"/>
                                        <p:tgtEl>
                                          <p:spTgt spid="5"/>
                                        </p:tgtEl>
                                        <p:attrNameLst>
                                          <p:attrName>fillcolor</p:attrName>
                                        </p:attrNameLst>
                                      </p:cBhvr>
                                      <p:to>
                                        <a:srgbClr val="03A9F5"/>
                                      </p:to>
                                    </p:animClr>
                                    <p:set>
                                      <p:cBhvr>
                                        <p:cTn id="27" dur="2000" fill="hold"/>
                                        <p:tgtEl>
                                          <p:spTgt spid="5"/>
                                        </p:tgtEl>
                                        <p:attrNameLst>
                                          <p:attrName>fill.type</p:attrName>
                                        </p:attrNameLst>
                                      </p:cBhvr>
                                      <p:to>
                                        <p:strVal val="solid"/>
                                      </p:to>
                                    </p:set>
                                    <p:set>
                                      <p:cBhvr>
                                        <p:cTn id="28" dur="2000" fill="hold"/>
                                        <p:tgtEl>
                                          <p:spTgt spid="5"/>
                                        </p:tgtEl>
                                        <p:attrNameLst>
                                          <p:attrName>fill.on</p:attrName>
                                        </p:attrNameLst>
                                      </p:cBhvr>
                                      <p:to>
                                        <p:strVal val="tru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dur="1" fill="hold" nodeType="clickEffect">
                                  <p:stCondLst>
                                    <p:cond delay="0"/>
                                  </p:stCondLst>
                                  <p:childTnLst>
                                    <p:set>
                                      <p:cBhvr>
                                        <p:cTn id="32" dur="1" fill="hold">
                                          <p:stCondLst>
                                            <p:cond delay="0"/>
                                          </p:stCondLst>
                                        </p:cTn>
                                        <p:tgtEl>
                                          <p:spTgt spid="3">
                                            <p:txEl>
                                              <p:pRg st="4" end="4"/>
                                            </p:txEl>
                                          </p:spTgt>
                                        </p:tgtEl>
                                        <p:attrNameLst>
                                          <p:attrName>style.visibility</p:attrName>
                                        </p:attrNameLst>
                                      </p:cBhvr>
                                      <p:to>
                                        <p:strVal val="visible"/>
                                      </p:to>
                                    </p:set>
                                  </p:childTnLst>
                                </p:cTn>
                              </p:par>
                              <p:par>
                                <p:cTn id="33" presetID="1" presetClass="entr" presetSubtype="0" dur="1" fill="hold" nodeType="with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xit" presetSubtype="0" dur="1" fill="hold" nodeType="clickEffect">
                                  <p:stCondLst>
                                    <p:cond delay="0"/>
                                  </p:stCondLst>
                                  <p:childTnLst>
                                    <p:set>
                                      <p:cBhvr>
                                        <p:cTn id="38" dur="1" fill="hold">
                                          <p:stCondLst>
                                            <p:cond delay="0"/>
                                          </p:stCondLst>
                                        </p:cTn>
                                        <p:tgtEl>
                                          <p:spTgt spid="7"/>
                                        </p:tgtEl>
                                        <p:attrNameLst>
                                          <p:attrName>style.visibility</p:attrName>
                                        </p:attrNameLst>
                                      </p:cBhvr>
                                      <p:to>
                                        <p:strVal val="hidden"/>
                                      </p:to>
                                    </p:set>
                                  </p:childTnLst>
                                </p:cTn>
                              </p:par>
                              <p:par>
                                <p:cTn id="39" presetID="22" presetClass="entr" presetSubtype="4" dur="500" fill="hold" nodeType="withEffect">
                                  <p:stCondLst>
                                    <p:cond delay="0"/>
                                  </p:stCondLst>
                                  <p:childTnLst>
                                    <p:set>
                                      <p:cBhvr>
                                        <p:cTn id="40" dur="1" fill="hold">
                                          <p:stCondLst>
                                            <p:cond delay="0"/>
                                          </p:stCondLst>
                                        </p:cTn>
                                        <p:tgtEl>
                                          <p:spTgt spid="12"/>
                                        </p:tgtEl>
                                        <p:attrNameLst>
                                          <p:attrName>style.visibility</p:attrName>
                                        </p:attrNameLst>
                                      </p:cBhvr>
                                      <p:to>
                                        <p:strVal val="visible"/>
                                      </p:to>
                                    </p:set>
                                    <p:animEffect transition="in" filter="wipe(down)">
                                      <p:cBhvr>
                                        <p:cTn id="41" dur="500"/>
                                        <p:tgtEl>
                                          <p:spTgt spid="12"/>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dur="1" fill="hold" nodeType="clickEffect">
                                  <p:stCondLst>
                                    <p:cond delay="0"/>
                                  </p:stCondLst>
                                  <p:childTnLst>
                                    <p:set>
                                      <p:cBhvr>
                                        <p:cTn id="45"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42" presetClass="path" presetSubtype="0" dur="2000" accel="50000" decel="50000" fill="hold" nodeType="clickEffect">
                                  <p:stCondLst>
                                    <p:cond delay="0"/>
                                  </p:stCondLst>
                                  <p:childTnLst>
                                    <p:animMotion origin="layout" path="M -4.16667E-07 -4.07407E-06 L 0.14792 0.00024" pathEditMode="relative" rAng="0" ptsTypes="AA">
                                      <p:cBhvr>
                                        <p:cTn id="49" dur="2000" fill="hold"/>
                                        <p:tgtEl>
                                          <p:spTgt spid="12"/>
                                        </p:tgtEl>
                                        <p:attrNameLst>
                                          <p:attrName>ppt_x</p:attrName>
                                          <p:attrName>ppt_y</p:attrName>
                                        </p:attrNameLst>
                                      </p:cBhvr>
                                      <p:rCtr x="7396" y="93"/>
                                    </p:animMotion>
                                  </p:childTnLst>
                                </p:cTn>
                              </p:par>
                              <p:par>
                                <p:cTn id="50" presetID="1" presetClass="entr" presetSubtype="0" dur="1"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dur="1" fill="hold" nodeType="clickEffect">
                                  <p:stCondLst>
                                    <p:cond delay="0"/>
                                  </p:stCondLst>
                                  <p:childTnLst>
                                    <p:set>
                                      <p:cBhvr>
                                        <p:cTn id="55"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1" presetClass="emph" presetSubtype="2" dur="2000" fill="hold" nodeType="clickEffect">
                                  <p:stCondLst>
                                    <p:cond delay="0"/>
                                  </p:stCondLst>
                                  <p:childTnLst>
                                    <p:animClr clrSpc="rgb" dir="cw">
                                      <p:cBhvr>
                                        <p:cTn id="59" dur="2000" fill="hold"/>
                                        <p:tgtEl>
                                          <p:spTgt spid="4"/>
                                        </p:tgtEl>
                                        <p:attrNameLst>
                                          <p:attrName>fillcolor</p:attrName>
                                        </p:attrNameLst>
                                      </p:cBhvr>
                                      <p:to>
                                        <a:srgbClr val="03A9F5"/>
                                      </p:to>
                                    </p:animClr>
                                    <p:set>
                                      <p:cBhvr>
                                        <p:cTn id="60" dur="2000" fill="hold"/>
                                        <p:tgtEl>
                                          <p:spTgt spid="4"/>
                                        </p:tgtEl>
                                        <p:attrNameLst>
                                          <p:attrName>fill.type</p:attrName>
                                        </p:attrNameLst>
                                      </p:cBhvr>
                                      <p:to>
                                        <p:strVal val="solid"/>
                                      </p:to>
                                    </p:set>
                                    <p:set>
                                      <p:cBhvr>
                                        <p:cTn id="61" dur="2000" fill="hold"/>
                                        <p:tgtEl>
                                          <p:spTgt spid="4"/>
                                        </p:tgtEl>
                                        <p:attrNameLst>
                                          <p:attrName>fill.on</p:attrName>
                                        </p:attrNameLst>
                                      </p:cBhvr>
                                      <p:to>
                                        <p:strVal val="true"/>
                                      </p:to>
                                    </p:set>
                                  </p:childTnLst>
                                </p:cTn>
                              </p:par>
                              <p:par>
                                <p:cTn id="62" presetID="1" presetClass="exit" presetSubtype="0" dur="1" fill="hold" nodeType="withEffect">
                                  <p:stCondLst>
                                    <p:cond delay="0"/>
                                  </p:stCondLst>
                                  <p:childTnLst>
                                    <p:set>
                                      <p:cBhvr>
                                        <p:cTn id="63" dur="1" fill="hold">
                                          <p:stCondLst>
                                            <p:cond delay="0"/>
                                          </p:stCondLst>
                                        </p:cTn>
                                        <p:tgtEl>
                                          <p:spTgt spid="12"/>
                                        </p:tgtEl>
                                        <p:attrNameLst>
                                          <p:attrName>style.visibility</p:attrName>
                                        </p:attrNameLst>
                                      </p:cBhvr>
                                      <p:to>
                                        <p:strVal val="hidden"/>
                                      </p:to>
                                    </p:set>
                                  </p:childTnLst>
                                </p:cTn>
                              </p:par>
                              <p:par>
                                <p:cTn id="64" presetID="1" presetClass="entr" presetSubtype="0" dur="1" fill="hold" nodeType="withEffect">
                                  <p:stCondLst>
                                    <p:cond delay="0"/>
                                  </p:stCondLst>
                                  <p:childTnLst>
                                    <p:set>
                                      <p:cBhvr>
                                        <p:cTn id="65" dur="1" fill="hold">
                                          <p:stCondLst>
                                            <p:cond delay="0"/>
                                          </p:stCondLst>
                                        </p:cTn>
                                        <p:tgtEl>
                                          <p:spTgt spid="15"/>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1" presetClass="entr" presetSubtype="0" dur="1" fill="hold" nodeType="clickEffect">
                                  <p:stCondLst>
                                    <p:cond delay="0"/>
                                  </p:stCondLst>
                                  <p:childTnLst>
                                    <p:set>
                                      <p:cBhvr>
                                        <p:cTn id="69" dur="1" fill="hold">
                                          <p:stCondLst>
                                            <p:cond delay="0"/>
                                          </p:stCondLst>
                                        </p:cTn>
                                        <p:tgtEl>
                                          <p:spTgt spid="3">
                                            <p:txEl>
                                              <p:pRg st="8" end="8"/>
                                            </p:txEl>
                                          </p:spTgt>
                                        </p:tgtEl>
                                        <p:attrNameLst>
                                          <p:attrName>style.visibility</p:attrName>
                                        </p:attrNameLst>
                                      </p:cBhvr>
                                      <p:to>
                                        <p:strVal val="visible"/>
                                      </p:to>
                                    </p:set>
                                  </p:childTnLst>
                                </p:cTn>
                              </p:par>
                              <p:par>
                                <p:cTn id="70" presetID="1" presetClass="entr" presetSubtype="0" dur="1" fill="hold" nodeType="withEffect">
                                  <p:stCondLst>
                                    <p:cond delay="0"/>
                                  </p:stCondLst>
                                  <p:childTnLst>
                                    <p:set>
                                      <p:cBhvr>
                                        <p:cTn id="71"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72" fill="hold">
                      <p:stCondLst>
                        <p:cond delay="indefinite"/>
                      </p:stCondLst>
                      <p:childTnLst>
                        <p:par>
                          <p:cTn id="73" fill="hold">
                            <p:stCondLst>
                              <p:cond delay="0"/>
                            </p:stCondLst>
                            <p:childTnLst>
                              <p:par>
                                <p:cTn id="74" presetID="42" presetClass="path" presetSubtype="0" dur="2000" accel="50000" decel="50000" fill="hold" nodeType="clickEffect">
                                  <p:stCondLst>
                                    <p:cond delay="0"/>
                                  </p:stCondLst>
                                  <p:childTnLst>
                                    <p:animMotion origin="layout" path="M 2.91667E-06 4.44444E-06 L -0.36029 0.0037" pathEditMode="relative" rAng="0" ptsTypes="AA">
                                      <p:cBhvr>
                                        <p:cTn id="75" dur="2000" fill="hold"/>
                                        <p:tgtEl>
                                          <p:spTgt spid="15"/>
                                        </p:tgtEl>
                                        <p:attrNameLst>
                                          <p:attrName>ppt_x</p:attrName>
                                          <p:attrName>ppt_y</p:attrName>
                                        </p:attrNameLst>
                                      </p:cBhvr>
                                      <p:rCtr x="-18021" y="185"/>
                                    </p:animMotion>
                                  </p:childTnLst>
                                </p:cTn>
                              </p:par>
                            </p:childTnLst>
                          </p:cTn>
                        </p:par>
                      </p:childTnLst>
                    </p:cTn>
                  </p:par>
                  <p:par>
                    <p:cTn id="76" fill="hold">
                      <p:stCondLst>
                        <p:cond delay="indefinite"/>
                      </p:stCondLst>
                      <p:childTnLst>
                        <p:par>
                          <p:cTn id="77" fill="hold">
                            <p:stCondLst>
                              <p:cond delay="0"/>
                            </p:stCondLst>
                            <p:childTnLst>
                              <p:par>
                                <p:cTn id="78" presetID="1" presetClass="entr" presetSubtype="0" dur="1" fill="hold" nodeType="clickEffect">
                                  <p:stCondLst>
                                    <p:cond delay="0"/>
                                  </p:stCondLst>
                                  <p:childTnLst>
                                    <p:set>
                                      <p:cBhvr>
                                        <p:cTn id="79"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80" fill="hold">
                      <p:stCondLst>
                        <p:cond delay="indefinite"/>
                      </p:stCondLst>
                      <p:childTnLst>
                        <p:par>
                          <p:cTn id="81" fill="hold">
                            <p:stCondLst>
                              <p:cond delay="0"/>
                            </p:stCondLst>
                            <p:childTnLst>
                              <p:par>
                                <p:cTn id="82" presetID="1" presetClass="entr" presetSubtype="0" dur="1" fill="hold" nodeType="clickEffect">
                                  <p:stCondLst>
                                    <p:cond delay="0"/>
                                  </p:stCondLst>
                                  <p:childTnLst>
                                    <p:set>
                                      <p:cBhvr>
                                        <p:cTn id="83"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921F25-1520-C586-0853-3F8452E61C7C}"/>
              </a:ext>
            </a:extLst>
          </p:cNvPr>
          <p:cNvSpPr>
            <a:spLocks noGrp="1"/>
          </p:cNvSpPr>
          <p:nvPr>
            <p:ph type="ctrTitle"/>
          </p:nvPr>
        </p:nvSpPr>
        <p:spPr/>
        <p:txBody>
          <a:bodyPr/>
          <a:lstStyle/>
          <a:p>
            <a:r>
              <a:rPr lang="en-US" dirty="0"/>
              <a:t>Specification of tokens</a:t>
            </a:r>
            <a:endParaRPr lang="en-IN" dirty="0"/>
          </a:p>
        </p:txBody>
      </p:sp>
    </p:spTree>
    <p:extLst>
      <p:ext uri="{BB962C8B-B14F-4D97-AF65-F5344CB8AC3E}">
        <p14:creationId xmlns:p14="http://schemas.microsoft.com/office/powerpoint/2010/main" val="17911750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B83F3C-3C9D-8DB2-80D4-855E7DC558AB}"/>
              </a:ext>
            </a:extLst>
          </p:cNvPr>
          <p:cNvSpPr txBox="1">
            <a:spLocks/>
          </p:cNvSpPr>
          <p:nvPr/>
        </p:nvSpPr>
        <p:spPr>
          <a:xfrm>
            <a:off x="0" y="1"/>
            <a:ext cx="12192000" cy="711200"/>
          </a:xfrm>
          <a:prstGeom prst="rect">
            <a:avLst/>
          </a:prstGeom>
        </p:spPr>
        <p:txBody>
          <a:bodyPr/>
          <a:lstStyle>
            <a:lvl1pPr algn="l" defTabSz="914400" rtl="0" eaLnBrk="1" latinLnBrk="0" hangingPunct="1">
              <a:lnSpc>
                <a:spcPct val="90000"/>
              </a:lnSpc>
              <a:spcBef>
                <a:spcPct val="0"/>
              </a:spcBef>
              <a:buNone/>
              <a:defRPr sz="4400" kern="1200">
                <a:solidFill>
                  <a:srgbClr val="C00000"/>
                </a:solidFill>
                <a:latin typeface="Palatino Linotype" panose="02040502050505030304" pitchFamily="18" charset="0"/>
                <a:ea typeface="+mj-ea"/>
                <a:cs typeface="+mj-cs"/>
              </a:defRPr>
            </a:lvl1pPr>
          </a:lstStyle>
          <a:p>
            <a:r>
              <a:rPr lang="en-US"/>
              <a:t>Strings and languages</a:t>
            </a:r>
          </a:p>
        </p:txBody>
      </p:sp>
      <p:graphicFrame>
        <p:nvGraphicFramePr>
          <p:cNvPr id="3" name="Content Placeholder 3">
            <a:extLst>
              <a:ext uri="{FF2B5EF4-FFF2-40B4-BE49-F238E27FC236}">
                <a16:creationId xmlns:a16="http://schemas.microsoft.com/office/drawing/2014/main" id="{44C23892-65E8-D32C-4C3F-927EB28EDA68}"/>
              </a:ext>
            </a:extLst>
          </p:cNvPr>
          <p:cNvGraphicFramePr/>
          <p:nvPr>
            <p:extLst>
              <p:ext uri="{D42A27DB-BD31-4B8C-83A1-F6EECF244321}">
                <p14:modId xmlns:p14="http://schemas.microsoft.com/office/powerpoint/2010/main" val="1902323528"/>
              </p:ext>
            </p:extLst>
          </p:nvPr>
        </p:nvGraphicFramePr>
        <p:xfrm>
          <a:off x="1828796" y="977365"/>
          <a:ext cx="8648701" cy="426720"/>
        </p:xfrm>
        <a:graphic>
          <a:graphicData uri="http://schemas.openxmlformats.org/drawingml/2006/table">
            <a:tbl>
              <a:tblPr firstRow="1" bandRow="1">
                <a:tableStyleId>{D7AC3CCA-C797-4891-BE02-D94E43425B78}</a:tableStyleId>
              </a:tblPr>
              <a:tblGrid>
                <a:gridCol w="2362200">
                  <a:extLst>
                    <a:ext uri="{9D8B030D-6E8A-4147-A177-3AD203B41FA5}">
                      <a16:colId xmlns:a16="http://schemas.microsoft.com/office/drawing/2014/main" val="20000"/>
                    </a:ext>
                  </a:extLst>
                </a:gridCol>
                <a:gridCol w="6286501">
                  <a:extLst>
                    <a:ext uri="{9D8B030D-6E8A-4147-A177-3AD203B41FA5}">
                      <a16:colId xmlns:a16="http://schemas.microsoft.com/office/drawing/2014/main" val="20001"/>
                    </a:ext>
                  </a:extLst>
                </a:gridCol>
              </a:tblGrid>
              <a:tr h="283817">
                <a:tc>
                  <a:txBody>
                    <a:bodyPr/>
                    <a:lstStyle/>
                    <a:p>
                      <a:pPr algn="ctr"/>
                      <a:r>
                        <a:rPr lang="en-US" sz="2200"/>
                        <a:t>Term</a:t>
                      </a:r>
                    </a:p>
                  </a:txBody>
                  <a:tcPr>
                    <a:noFill/>
                  </a:tcPr>
                </a:tc>
                <a:tc>
                  <a:txBody>
                    <a:bodyPr/>
                    <a:lstStyle/>
                    <a:p>
                      <a:pPr algn="ctr"/>
                      <a:r>
                        <a:rPr lang="en-US" sz="2200"/>
                        <a:t>Definition</a:t>
                      </a:r>
                    </a:p>
                  </a:txBody>
                  <a:tcPr>
                    <a:noFill/>
                  </a:tcPr>
                </a:tc>
                <a:extLst>
                  <a:ext uri="{0D108BD9-81ED-4DB2-BD59-A6C34878D82A}">
                    <a16:rowId xmlns:a16="http://schemas.microsoft.com/office/drawing/2014/main" val="10000"/>
                  </a:ext>
                </a:extLst>
              </a:tr>
            </a:tbl>
          </a:graphicData>
        </a:graphic>
      </p:graphicFrame>
      <p:graphicFrame>
        <p:nvGraphicFramePr>
          <p:cNvPr id="4" name="Content Placeholder 3">
            <a:extLst>
              <a:ext uri="{FF2B5EF4-FFF2-40B4-BE49-F238E27FC236}">
                <a16:creationId xmlns:a16="http://schemas.microsoft.com/office/drawing/2014/main" id="{AD56F242-9444-A502-C1DB-B81D3B2E5439}"/>
              </a:ext>
            </a:extLst>
          </p:cNvPr>
          <p:cNvGraphicFramePr/>
          <p:nvPr>
            <p:extLst>
              <p:ext uri="{D42A27DB-BD31-4B8C-83A1-F6EECF244321}">
                <p14:modId xmlns:p14="http://schemas.microsoft.com/office/powerpoint/2010/main" val="3002942388"/>
              </p:ext>
            </p:extLst>
          </p:nvPr>
        </p:nvGraphicFramePr>
        <p:xfrm>
          <a:off x="1828796" y="1405049"/>
          <a:ext cx="8648701" cy="1004062"/>
        </p:xfrm>
        <a:graphic>
          <a:graphicData uri="http://schemas.openxmlformats.org/drawingml/2006/table">
            <a:tbl>
              <a:tblPr firstRow="1" bandRow="1">
                <a:tableStyleId>{D7AC3CCA-C797-4891-BE02-D94E43425B78}</a:tableStyleId>
              </a:tblPr>
              <a:tblGrid>
                <a:gridCol w="2362200">
                  <a:extLst>
                    <a:ext uri="{9D8B030D-6E8A-4147-A177-3AD203B41FA5}">
                      <a16:colId xmlns:a16="http://schemas.microsoft.com/office/drawing/2014/main" val="20000"/>
                    </a:ext>
                  </a:extLst>
                </a:gridCol>
                <a:gridCol w="6286501">
                  <a:extLst>
                    <a:ext uri="{9D8B030D-6E8A-4147-A177-3AD203B41FA5}">
                      <a16:colId xmlns:a16="http://schemas.microsoft.com/office/drawing/2014/main" val="20001"/>
                    </a:ext>
                  </a:extLst>
                </a:gridCol>
              </a:tblGrid>
              <a:tr h="283817">
                <a:tc>
                  <a:txBody>
                    <a:bodyPr/>
                    <a:lstStyle/>
                    <a:p>
                      <a:pPr algn="ctr"/>
                      <a:r>
                        <a:rPr lang="en-US" sz="2000" b="0" i="1">
                          <a:latin typeface="+mj-lt"/>
                        </a:rPr>
                        <a:t>Prefix</a:t>
                      </a:r>
                      <a:r>
                        <a:rPr lang="en-US" sz="2000" b="0" i="1" baseline="0">
                          <a:latin typeface="+mj-lt"/>
                        </a:rPr>
                        <a:t> of s</a:t>
                      </a:r>
                      <a:endParaRPr lang="en-US" sz="2000" b="0" i="1">
                        <a:latin typeface="+mj-lt"/>
                      </a:endParaRPr>
                    </a:p>
                  </a:txBody>
                  <a:tcPr>
                    <a:noFill/>
                  </a:tcPr>
                </a:tc>
                <a:tc>
                  <a:txBody>
                    <a:bodyPr/>
                    <a:lstStyle/>
                    <a:p>
                      <a:pPr marL="0" marR="0" algn="just">
                        <a:lnSpc>
                          <a:spcPct val="115000"/>
                        </a:lnSpc>
                        <a:spcBef>
                          <a:spcPct val="0"/>
                        </a:spcBef>
                        <a:spcAft>
                          <a:spcPts val="600"/>
                        </a:spcAft>
                      </a:pPr>
                      <a:r>
                        <a:rPr lang="en-US" sz="1800" b="0">
                          <a:effectLst/>
                          <a:latin typeface="+mj-lt"/>
                          <a:ea typeface="Calibri" panose="020F0502020204030204" pitchFamily="34" charset="0"/>
                          <a:cs typeface="Times New Roman" panose="02020603050405020304" pitchFamily="18" charset="0"/>
                        </a:rPr>
                        <a:t>A string obtained by removing </a:t>
                      </a:r>
                      <a:r>
                        <a:rPr lang="en-US" sz="1800" b="1">
                          <a:solidFill>
                            <a:srgbClr val="0E47A1"/>
                          </a:solidFill>
                          <a:effectLst/>
                          <a:latin typeface="+mj-lt"/>
                          <a:ea typeface="Calibri" panose="020F0502020204030204" pitchFamily="34" charset="0"/>
                          <a:cs typeface="Times New Roman" panose="02020603050405020304" pitchFamily="18" charset="0"/>
                        </a:rPr>
                        <a:t>zero or more trailing symbol </a:t>
                      </a:r>
                      <a:r>
                        <a:rPr lang="en-US" sz="1800" b="0">
                          <a:effectLst/>
                          <a:latin typeface="+mj-lt"/>
                          <a:ea typeface="Calibri" panose="020F0502020204030204" pitchFamily="34" charset="0"/>
                          <a:cs typeface="Times New Roman" panose="02020603050405020304" pitchFamily="18" charset="0"/>
                        </a:rPr>
                        <a:t>of string S.</a:t>
                      </a:r>
                    </a:p>
                    <a:p>
                      <a:pPr marL="0" marR="0" algn="just">
                        <a:lnSpc>
                          <a:spcPct val="115000"/>
                        </a:lnSpc>
                        <a:spcBef>
                          <a:spcPct val="0"/>
                        </a:spcBef>
                        <a:spcAft>
                          <a:spcPts val="1000"/>
                        </a:spcAft>
                      </a:pPr>
                      <a:r>
                        <a:rPr lang="en-US" sz="1800" b="0" kern="1200">
                          <a:solidFill>
                            <a:schemeClr val="dk1"/>
                          </a:solidFill>
                          <a:effectLst/>
                          <a:latin typeface="+mj-lt"/>
                          <a:ea typeface="+mn-ea"/>
                          <a:cs typeface="+mn-cs"/>
                        </a:rPr>
                        <a:t>e.g., </a:t>
                      </a:r>
                      <a:r>
                        <a:rPr lang="en-US" sz="1800" b="0" kern="1200">
                          <a:solidFill>
                            <a:srgbClr val="C00000"/>
                          </a:solidFill>
                          <a:effectLst/>
                          <a:latin typeface="+mj-lt"/>
                          <a:ea typeface="+mn-ea"/>
                          <a:cs typeface="+mn-cs"/>
                        </a:rPr>
                        <a:t>ban</a:t>
                      </a:r>
                      <a:r>
                        <a:rPr lang="en-US" sz="1800" b="0" kern="1200">
                          <a:solidFill>
                            <a:schemeClr val="accent1">
                              <a:lumMod val="75000"/>
                            </a:schemeClr>
                          </a:solidFill>
                          <a:effectLst/>
                          <a:latin typeface="+mj-lt"/>
                          <a:ea typeface="+mn-ea"/>
                          <a:cs typeface="+mn-cs"/>
                        </a:rPr>
                        <a:t> </a:t>
                      </a:r>
                      <a:r>
                        <a:rPr lang="en-US" sz="1800" b="0" kern="1200">
                          <a:solidFill>
                            <a:schemeClr val="dk1"/>
                          </a:solidFill>
                          <a:effectLst/>
                          <a:latin typeface="+mj-lt"/>
                          <a:ea typeface="+mn-ea"/>
                          <a:cs typeface="+mn-cs"/>
                        </a:rPr>
                        <a:t>is prefix of </a:t>
                      </a:r>
                      <a:r>
                        <a:rPr lang="en-US" sz="1800" b="0" kern="1200">
                          <a:solidFill>
                            <a:srgbClr val="C00000"/>
                          </a:solidFill>
                          <a:effectLst/>
                          <a:latin typeface="+mj-lt"/>
                          <a:ea typeface="+mn-ea"/>
                          <a:cs typeface="+mn-cs"/>
                        </a:rPr>
                        <a:t>banana</a:t>
                      </a:r>
                      <a:r>
                        <a:rPr lang="en-US" sz="1800" b="0" kern="1200">
                          <a:solidFill>
                            <a:schemeClr val="dk1"/>
                          </a:solidFill>
                          <a:effectLst/>
                          <a:latin typeface="+mj-lt"/>
                          <a:ea typeface="+mn-ea"/>
                          <a:cs typeface="+mn-cs"/>
                        </a:rPr>
                        <a:t>.</a:t>
                      </a:r>
                      <a:endParaRPr lang="en-US" sz="1800" b="0">
                        <a:effectLst/>
                        <a:latin typeface="+mj-lt"/>
                        <a:ea typeface="Calibri" panose="020F0502020204030204" pitchFamily="34" charset="0"/>
                        <a:cs typeface="Times New Roman" panose="02020603050405020304" pitchFamily="18" charset="0"/>
                      </a:endParaRPr>
                    </a:p>
                  </a:txBody>
                  <a:tcPr marL="114300" marR="114300" marT="0" marB="0">
                    <a:noFill/>
                  </a:tcPr>
                </a:tc>
                <a:extLst>
                  <a:ext uri="{0D108BD9-81ED-4DB2-BD59-A6C34878D82A}">
                    <a16:rowId xmlns:a16="http://schemas.microsoft.com/office/drawing/2014/main" val="10000"/>
                  </a:ext>
                </a:extLst>
              </a:tr>
            </a:tbl>
          </a:graphicData>
        </a:graphic>
      </p:graphicFrame>
      <p:graphicFrame>
        <p:nvGraphicFramePr>
          <p:cNvPr id="5" name="Content Placeholder 3">
            <a:extLst>
              <a:ext uri="{FF2B5EF4-FFF2-40B4-BE49-F238E27FC236}">
                <a16:creationId xmlns:a16="http://schemas.microsoft.com/office/drawing/2014/main" id="{47EAA9F8-740E-F29D-E67D-CA738A4215FD}"/>
              </a:ext>
            </a:extLst>
          </p:cNvPr>
          <p:cNvGraphicFramePr/>
          <p:nvPr>
            <p:extLst>
              <p:ext uri="{D42A27DB-BD31-4B8C-83A1-F6EECF244321}">
                <p14:modId xmlns:p14="http://schemas.microsoft.com/office/powerpoint/2010/main" val="4150791571"/>
              </p:ext>
            </p:extLst>
          </p:nvPr>
        </p:nvGraphicFramePr>
        <p:xfrm>
          <a:off x="1828797" y="2428617"/>
          <a:ext cx="8648701" cy="1004062"/>
        </p:xfrm>
        <a:graphic>
          <a:graphicData uri="http://schemas.openxmlformats.org/drawingml/2006/table">
            <a:tbl>
              <a:tblPr firstRow="1" bandRow="1">
                <a:tableStyleId>{D7AC3CCA-C797-4891-BE02-D94E43425B78}</a:tableStyleId>
              </a:tblPr>
              <a:tblGrid>
                <a:gridCol w="2362200">
                  <a:extLst>
                    <a:ext uri="{9D8B030D-6E8A-4147-A177-3AD203B41FA5}">
                      <a16:colId xmlns:a16="http://schemas.microsoft.com/office/drawing/2014/main" val="20000"/>
                    </a:ext>
                  </a:extLst>
                </a:gridCol>
                <a:gridCol w="6286501">
                  <a:extLst>
                    <a:ext uri="{9D8B030D-6E8A-4147-A177-3AD203B41FA5}">
                      <a16:colId xmlns:a16="http://schemas.microsoft.com/office/drawing/2014/main" val="20001"/>
                    </a:ext>
                  </a:extLst>
                </a:gridCol>
              </a:tblGrid>
              <a:tr h="283817">
                <a:tc>
                  <a:txBody>
                    <a:bodyPr/>
                    <a:lstStyle/>
                    <a:p>
                      <a:pPr algn="ctr"/>
                      <a:r>
                        <a:rPr lang="en-US" sz="2000" b="0" i="1" kern="1200">
                          <a:solidFill>
                            <a:schemeClr val="dk1"/>
                          </a:solidFill>
                          <a:effectLst/>
                          <a:latin typeface="+mj-lt"/>
                          <a:ea typeface="+mn-ea"/>
                          <a:cs typeface="+mn-cs"/>
                        </a:rPr>
                        <a:t>Suffix of S</a:t>
                      </a:r>
                      <a:endParaRPr lang="en-US" sz="2000" b="0" i="1">
                        <a:latin typeface="+mj-lt"/>
                      </a:endParaRPr>
                    </a:p>
                  </a:txBody>
                  <a:tcPr>
                    <a:noFill/>
                  </a:tcPr>
                </a:tc>
                <a:tc>
                  <a:txBody>
                    <a:bodyPr/>
                    <a:lstStyle/>
                    <a:p>
                      <a:pPr marL="0" marR="0" algn="just">
                        <a:lnSpc>
                          <a:spcPct val="115000"/>
                        </a:lnSpc>
                        <a:spcBef>
                          <a:spcPct val="0"/>
                        </a:spcBef>
                        <a:spcAft>
                          <a:spcPct val="0"/>
                        </a:spcAft>
                      </a:pPr>
                      <a:r>
                        <a:rPr lang="en-US" sz="1800" b="0">
                          <a:effectLst/>
                          <a:latin typeface="+mj-lt"/>
                          <a:ea typeface="Calibri" panose="020F0502020204030204" pitchFamily="34" charset="0"/>
                          <a:cs typeface="Times New Roman" panose="02020603050405020304" pitchFamily="18" charset="0"/>
                        </a:rPr>
                        <a:t>A string obtained by removing </a:t>
                      </a:r>
                      <a:r>
                        <a:rPr lang="en-US" sz="1800" b="1">
                          <a:solidFill>
                            <a:srgbClr val="0E47A1"/>
                          </a:solidFill>
                          <a:effectLst/>
                          <a:latin typeface="+mj-lt"/>
                          <a:ea typeface="Calibri" panose="020F0502020204030204" pitchFamily="34" charset="0"/>
                          <a:cs typeface="Times New Roman" panose="02020603050405020304" pitchFamily="18" charset="0"/>
                        </a:rPr>
                        <a:t>zero or more leading symbol </a:t>
                      </a:r>
                      <a:r>
                        <a:rPr lang="en-US" sz="1800" b="0">
                          <a:effectLst/>
                          <a:latin typeface="+mj-lt"/>
                          <a:ea typeface="Calibri" panose="020F0502020204030204" pitchFamily="34" charset="0"/>
                          <a:cs typeface="Times New Roman" panose="02020603050405020304" pitchFamily="18" charset="0"/>
                        </a:rPr>
                        <a:t>of string S.</a:t>
                      </a:r>
                    </a:p>
                    <a:p>
                      <a:pPr marL="0" marR="0" algn="just">
                        <a:lnSpc>
                          <a:spcPct val="115000"/>
                        </a:lnSpc>
                        <a:spcBef>
                          <a:spcPts val="600"/>
                        </a:spcBef>
                        <a:spcAft>
                          <a:spcPts val="600"/>
                        </a:spcAft>
                      </a:pPr>
                      <a:r>
                        <a:rPr lang="en-US" sz="1800" b="0" kern="1200">
                          <a:solidFill>
                            <a:schemeClr val="dk1"/>
                          </a:solidFill>
                          <a:effectLst/>
                          <a:latin typeface="+mj-lt"/>
                          <a:ea typeface="+mn-ea"/>
                          <a:cs typeface="+mn-cs"/>
                        </a:rPr>
                        <a:t>e.g.,</a:t>
                      </a:r>
                      <a:r>
                        <a:rPr lang="en-US" sz="1800" b="0" kern="1200">
                          <a:solidFill>
                            <a:schemeClr val="accent1">
                              <a:lumMod val="75000"/>
                            </a:schemeClr>
                          </a:solidFill>
                          <a:effectLst/>
                          <a:latin typeface="+mj-lt"/>
                          <a:ea typeface="+mn-ea"/>
                          <a:cs typeface="+mn-cs"/>
                        </a:rPr>
                        <a:t> </a:t>
                      </a:r>
                      <a:r>
                        <a:rPr lang="en-US" sz="1800" b="0" kern="1200">
                          <a:solidFill>
                            <a:srgbClr val="C00000"/>
                          </a:solidFill>
                          <a:effectLst/>
                          <a:latin typeface="+mj-lt"/>
                          <a:ea typeface="+mn-ea"/>
                          <a:cs typeface="+mn-cs"/>
                        </a:rPr>
                        <a:t>nana</a:t>
                      </a:r>
                      <a:r>
                        <a:rPr lang="en-US" sz="1800" b="0" kern="1200">
                          <a:solidFill>
                            <a:schemeClr val="dk1"/>
                          </a:solidFill>
                          <a:effectLst/>
                          <a:latin typeface="+mj-lt"/>
                          <a:ea typeface="+mn-ea"/>
                          <a:cs typeface="+mn-cs"/>
                        </a:rPr>
                        <a:t> is suffix of </a:t>
                      </a:r>
                      <a:r>
                        <a:rPr lang="en-US" sz="1800" b="0" kern="1200">
                          <a:solidFill>
                            <a:srgbClr val="C00000"/>
                          </a:solidFill>
                          <a:effectLst/>
                          <a:latin typeface="+mj-lt"/>
                          <a:ea typeface="+mn-ea"/>
                          <a:cs typeface="+mn-cs"/>
                        </a:rPr>
                        <a:t>banana</a:t>
                      </a:r>
                      <a:r>
                        <a:rPr lang="en-US" sz="1800" b="0" kern="1200">
                          <a:solidFill>
                            <a:schemeClr val="dk1"/>
                          </a:solidFill>
                          <a:effectLst/>
                          <a:latin typeface="+mj-lt"/>
                          <a:ea typeface="+mn-ea"/>
                          <a:cs typeface="+mn-cs"/>
                        </a:rPr>
                        <a:t>.</a:t>
                      </a:r>
                      <a:endParaRPr lang="en-US" sz="1800" b="0">
                        <a:effectLst/>
                        <a:latin typeface="+mj-lt"/>
                        <a:ea typeface="Calibri" panose="020F0502020204030204" pitchFamily="34" charset="0"/>
                        <a:cs typeface="Times New Roman" panose="02020603050405020304" pitchFamily="18" charset="0"/>
                      </a:endParaRPr>
                    </a:p>
                  </a:txBody>
                  <a:tcPr marL="114300" marR="114300" marT="0" marB="0">
                    <a:noFill/>
                  </a:tcPr>
                </a:tc>
                <a:extLst>
                  <a:ext uri="{0D108BD9-81ED-4DB2-BD59-A6C34878D82A}">
                    <a16:rowId xmlns:a16="http://schemas.microsoft.com/office/drawing/2014/main" val="10000"/>
                  </a:ext>
                </a:extLst>
              </a:tr>
            </a:tbl>
          </a:graphicData>
        </a:graphic>
      </p:graphicFrame>
      <p:graphicFrame>
        <p:nvGraphicFramePr>
          <p:cNvPr id="6" name="Table 5">
            <a:extLst>
              <a:ext uri="{FF2B5EF4-FFF2-40B4-BE49-F238E27FC236}">
                <a16:creationId xmlns:a16="http://schemas.microsoft.com/office/drawing/2014/main" id="{A07EAEEC-FB88-E8D2-B0B6-3BAF16EFF056}"/>
              </a:ext>
            </a:extLst>
          </p:cNvPr>
          <p:cNvGraphicFramePr>
            <a:graphicFrameLocks noGrp="1"/>
          </p:cNvGraphicFramePr>
          <p:nvPr>
            <p:extLst>
              <p:ext uri="{D42A27DB-BD31-4B8C-83A1-F6EECF244321}">
                <p14:modId xmlns:p14="http://schemas.microsoft.com/office/powerpoint/2010/main" val="3490323064"/>
              </p:ext>
            </p:extLst>
          </p:nvPr>
        </p:nvGraphicFramePr>
        <p:xfrm>
          <a:off x="1828797" y="3451221"/>
          <a:ext cx="8648701" cy="688594"/>
        </p:xfrm>
        <a:graphic>
          <a:graphicData uri="http://schemas.openxmlformats.org/drawingml/2006/table">
            <a:tbl>
              <a:tblPr firstRow="1" bandRow="1">
                <a:tableStyleId>{D7AC3CCA-C797-4891-BE02-D94E43425B78}</a:tableStyleId>
              </a:tblPr>
              <a:tblGrid>
                <a:gridCol w="2362200">
                  <a:extLst>
                    <a:ext uri="{9D8B030D-6E8A-4147-A177-3AD203B41FA5}">
                      <a16:colId xmlns:a16="http://schemas.microsoft.com/office/drawing/2014/main" val="20000"/>
                    </a:ext>
                  </a:extLst>
                </a:gridCol>
                <a:gridCol w="6286501">
                  <a:extLst>
                    <a:ext uri="{9D8B030D-6E8A-4147-A177-3AD203B41FA5}">
                      <a16:colId xmlns:a16="http://schemas.microsoft.com/office/drawing/2014/main" val="20001"/>
                    </a:ext>
                  </a:extLst>
                </a:gridCol>
              </a:tblGrid>
              <a:tr h="677769">
                <a:tc>
                  <a:txBody>
                    <a:bodyPr/>
                    <a:lstStyle/>
                    <a:p>
                      <a:pPr algn="ctr"/>
                      <a:r>
                        <a:rPr lang="en-US" sz="2000" b="0" i="1" kern="1200">
                          <a:solidFill>
                            <a:schemeClr val="dk1"/>
                          </a:solidFill>
                          <a:effectLst/>
                          <a:latin typeface="+mj-lt"/>
                          <a:ea typeface="+mn-ea"/>
                          <a:cs typeface="+mn-cs"/>
                        </a:rPr>
                        <a:t>Sub string of S</a:t>
                      </a:r>
                      <a:endParaRPr lang="en-US" sz="2000" b="0" i="1">
                        <a:latin typeface="+mj-lt"/>
                      </a:endParaRPr>
                    </a:p>
                  </a:txBody>
                  <a:tcPr>
                    <a:noFill/>
                  </a:tcPr>
                </a:tc>
                <a:tc>
                  <a:txBody>
                    <a:bodyPr/>
                    <a:lstStyle/>
                    <a:p>
                      <a:pPr marL="0" marR="0" algn="just">
                        <a:lnSpc>
                          <a:spcPct val="115000"/>
                        </a:lnSpc>
                        <a:spcBef>
                          <a:spcPct val="0"/>
                        </a:spcBef>
                        <a:spcAft>
                          <a:spcPts val="600"/>
                        </a:spcAft>
                      </a:pPr>
                      <a:r>
                        <a:rPr lang="en-US" sz="1800" b="0">
                          <a:effectLst/>
                          <a:latin typeface="+mj-lt"/>
                          <a:ea typeface="Calibri" panose="020F0502020204030204" pitchFamily="34" charset="0"/>
                          <a:cs typeface="Times New Roman" panose="02020603050405020304" pitchFamily="18" charset="0"/>
                        </a:rPr>
                        <a:t>A string obtained by </a:t>
                      </a:r>
                      <a:r>
                        <a:rPr lang="en-US" sz="1800" b="1">
                          <a:solidFill>
                            <a:srgbClr val="0E47A1"/>
                          </a:solidFill>
                          <a:effectLst/>
                          <a:latin typeface="+mj-lt"/>
                          <a:ea typeface="Calibri" panose="020F0502020204030204" pitchFamily="34" charset="0"/>
                          <a:cs typeface="Times New Roman" panose="02020603050405020304" pitchFamily="18" charset="0"/>
                        </a:rPr>
                        <a:t>removing prefix and suffix</a:t>
                      </a:r>
                      <a:r>
                        <a:rPr lang="en-US" sz="1800" b="1">
                          <a:solidFill>
                            <a:schemeClr val="accent1">
                              <a:lumMod val="75000"/>
                            </a:schemeClr>
                          </a:solidFill>
                          <a:effectLst/>
                          <a:latin typeface="+mj-lt"/>
                          <a:ea typeface="Calibri" panose="020F0502020204030204" pitchFamily="34" charset="0"/>
                          <a:cs typeface="Times New Roman" panose="02020603050405020304" pitchFamily="18" charset="0"/>
                        </a:rPr>
                        <a:t> </a:t>
                      </a:r>
                      <a:r>
                        <a:rPr lang="en-US" sz="1800" b="0">
                          <a:effectLst/>
                          <a:latin typeface="+mj-lt"/>
                          <a:ea typeface="Calibri" panose="020F0502020204030204" pitchFamily="34" charset="0"/>
                          <a:cs typeface="Times New Roman" panose="02020603050405020304" pitchFamily="18" charset="0"/>
                        </a:rPr>
                        <a:t>from S.</a:t>
                      </a:r>
                    </a:p>
                    <a:p>
                      <a:pPr marL="0" marR="0" algn="just">
                        <a:lnSpc>
                          <a:spcPct val="115000"/>
                        </a:lnSpc>
                        <a:spcBef>
                          <a:spcPct val="0"/>
                        </a:spcBef>
                        <a:spcAft>
                          <a:spcPts val="600"/>
                        </a:spcAft>
                      </a:pPr>
                      <a:r>
                        <a:rPr lang="en-US" sz="1800" b="0" kern="1200">
                          <a:solidFill>
                            <a:schemeClr val="dk1"/>
                          </a:solidFill>
                          <a:effectLst/>
                          <a:latin typeface="+mj-lt"/>
                          <a:ea typeface="+mn-ea"/>
                          <a:cs typeface="+mn-cs"/>
                        </a:rPr>
                        <a:t>e.g., </a:t>
                      </a:r>
                      <a:r>
                        <a:rPr lang="en-US" sz="1800" b="0" kern="1200">
                          <a:solidFill>
                            <a:srgbClr val="C00000"/>
                          </a:solidFill>
                          <a:effectLst/>
                          <a:latin typeface="+mj-lt"/>
                          <a:ea typeface="+mn-ea"/>
                          <a:cs typeface="+mn-cs"/>
                        </a:rPr>
                        <a:t>nan</a:t>
                      </a:r>
                      <a:r>
                        <a:rPr lang="en-US" sz="1800" b="0" kern="1200">
                          <a:solidFill>
                            <a:schemeClr val="dk1"/>
                          </a:solidFill>
                          <a:effectLst/>
                          <a:latin typeface="+mj-lt"/>
                          <a:ea typeface="+mn-ea"/>
                          <a:cs typeface="+mn-cs"/>
                        </a:rPr>
                        <a:t> is substring of </a:t>
                      </a:r>
                      <a:r>
                        <a:rPr lang="en-US" sz="1800" b="0" kern="1200">
                          <a:solidFill>
                            <a:srgbClr val="C00000"/>
                          </a:solidFill>
                          <a:effectLst/>
                          <a:latin typeface="+mj-lt"/>
                          <a:ea typeface="+mn-ea"/>
                          <a:cs typeface="+mn-cs"/>
                        </a:rPr>
                        <a:t>banana</a:t>
                      </a:r>
                      <a:endParaRPr lang="en-US" sz="1800" b="0">
                        <a:solidFill>
                          <a:srgbClr val="C00000"/>
                        </a:solidFill>
                        <a:effectLst/>
                        <a:latin typeface="+mj-lt"/>
                        <a:ea typeface="Calibri" panose="020F0502020204030204" pitchFamily="34" charset="0"/>
                        <a:cs typeface="Times New Roman" panose="02020603050405020304" pitchFamily="18" charset="0"/>
                      </a:endParaRPr>
                    </a:p>
                  </a:txBody>
                  <a:tcPr marL="114300" marR="114300" marT="0" marB="0">
                    <a:noFill/>
                  </a:tcPr>
                </a:tc>
                <a:extLst>
                  <a:ext uri="{0D108BD9-81ED-4DB2-BD59-A6C34878D82A}">
                    <a16:rowId xmlns:a16="http://schemas.microsoft.com/office/drawing/2014/main" val="10000"/>
                  </a:ext>
                </a:extLst>
              </a:tr>
            </a:tbl>
          </a:graphicData>
        </a:graphic>
      </p:graphicFrame>
      <p:graphicFrame>
        <p:nvGraphicFramePr>
          <p:cNvPr id="7" name="Table 6">
            <a:extLst>
              <a:ext uri="{FF2B5EF4-FFF2-40B4-BE49-F238E27FC236}">
                <a16:creationId xmlns:a16="http://schemas.microsoft.com/office/drawing/2014/main" id="{71EFB80B-D865-0040-28AD-535F043F613D}"/>
              </a:ext>
            </a:extLst>
          </p:cNvPr>
          <p:cNvGraphicFramePr>
            <a:graphicFrameLocks noGrp="1"/>
          </p:cNvGraphicFramePr>
          <p:nvPr>
            <p:extLst>
              <p:ext uri="{D42A27DB-BD31-4B8C-83A1-F6EECF244321}">
                <p14:modId xmlns:p14="http://schemas.microsoft.com/office/powerpoint/2010/main" val="3492739973"/>
              </p:ext>
            </p:extLst>
          </p:nvPr>
        </p:nvGraphicFramePr>
        <p:xfrm>
          <a:off x="1828797" y="4159321"/>
          <a:ext cx="8648701" cy="927862"/>
        </p:xfrm>
        <a:graphic>
          <a:graphicData uri="http://schemas.openxmlformats.org/drawingml/2006/table">
            <a:tbl>
              <a:tblPr firstRow="1" bandRow="1">
                <a:tableStyleId>{D7AC3CCA-C797-4891-BE02-D94E43425B78}</a:tableStyleId>
              </a:tblPr>
              <a:tblGrid>
                <a:gridCol w="2362200">
                  <a:extLst>
                    <a:ext uri="{9D8B030D-6E8A-4147-A177-3AD203B41FA5}">
                      <a16:colId xmlns:a16="http://schemas.microsoft.com/office/drawing/2014/main" val="20000"/>
                    </a:ext>
                  </a:extLst>
                </a:gridCol>
                <a:gridCol w="6286501">
                  <a:extLst>
                    <a:ext uri="{9D8B030D-6E8A-4147-A177-3AD203B41FA5}">
                      <a16:colId xmlns:a16="http://schemas.microsoft.com/office/drawing/2014/main" val="20001"/>
                    </a:ext>
                  </a:extLst>
                </a:gridCol>
              </a:tblGrid>
              <a:tr h="283817">
                <a:tc>
                  <a:txBody>
                    <a:bodyPr/>
                    <a:lstStyle/>
                    <a:p>
                      <a:pPr algn="ctr"/>
                      <a:r>
                        <a:rPr lang="en-US" sz="2000" b="0" i="1" kern="1200">
                          <a:solidFill>
                            <a:schemeClr val="dk1"/>
                          </a:solidFill>
                          <a:effectLst/>
                          <a:latin typeface="+mn-lt"/>
                          <a:ea typeface="+mn-ea"/>
                          <a:cs typeface="+mn-cs"/>
                        </a:rPr>
                        <a:t>Proper prefix, suffix and substring of S</a:t>
                      </a:r>
                      <a:endParaRPr lang="en-US" sz="2000" b="0" i="1"/>
                    </a:p>
                  </a:txBody>
                  <a:tcPr>
                    <a:noFill/>
                  </a:tcPr>
                </a:tc>
                <a:tc>
                  <a:txBody>
                    <a:bodyPr/>
                    <a:lstStyle/>
                    <a:p>
                      <a:pPr marL="0" marR="0" algn="just">
                        <a:lnSpc>
                          <a:spcPct val="115000"/>
                        </a:lnSpc>
                        <a:spcBef>
                          <a:spcPct val="0"/>
                        </a:spcBef>
                        <a:spcAft>
                          <a:spcPts val="600"/>
                        </a:spcAft>
                      </a:pPr>
                      <a:r>
                        <a:rPr lang="en-US" sz="1800" b="0" dirty="0">
                          <a:solidFill>
                            <a:schemeClr val="accent1">
                              <a:lumMod val="75000"/>
                            </a:schemeClr>
                          </a:solidFill>
                          <a:effectLst/>
                          <a:latin typeface="Calibri" panose="020F0502020204030204" pitchFamily="34" charset="0"/>
                          <a:ea typeface="Calibri" panose="020F0502020204030204" pitchFamily="34" charset="0"/>
                          <a:cs typeface="Times New Roman" panose="02020603050405020304" pitchFamily="18" charset="0"/>
                        </a:rPr>
                        <a:t>The proper prefixes, suffixes, and substrings of a string s are those, prefixes, suffixes, and substrings, respectively, of s that are not </a:t>
                      </a:r>
                      <a:r>
                        <a:rPr lang="el-GR" sz="1800" b="0" dirty="0">
                          <a:solidFill>
                            <a:schemeClr val="accent1">
                              <a:lumMod val="75000"/>
                            </a:schemeClr>
                          </a:solidFill>
                          <a:effectLst/>
                          <a:latin typeface="Calibri" panose="020F0502020204030204" pitchFamily="34" charset="0"/>
                          <a:ea typeface="Calibri" panose="020F0502020204030204" pitchFamily="34" charset="0"/>
                          <a:cs typeface="Times New Roman" panose="02020603050405020304" pitchFamily="18" charset="0"/>
                        </a:rPr>
                        <a:t>ε</a:t>
                      </a:r>
                      <a:r>
                        <a:rPr lang="en-US" sz="1800" b="0" dirty="0">
                          <a:solidFill>
                            <a:schemeClr val="accent1">
                              <a:lumMod val="75000"/>
                            </a:schemeClr>
                          </a:solidFill>
                          <a:effectLst/>
                          <a:latin typeface="Calibri" panose="020F0502020204030204" pitchFamily="34" charset="0"/>
                          <a:ea typeface="Calibri" panose="020F0502020204030204" pitchFamily="34" charset="0"/>
                          <a:cs typeface="Times New Roman" panose="02020603050405020304" pitchFamily="18" charset="0"/>
                        </a:rPr>
                        <a:t> or not  equal to s itself</a:t>
                      </a:r>
                    </a:p>
                  </a:txBody>
                  <a:tcPr marL="114300" marR="114300" marT="0" marB="0">
                    <a:noFill/>
                  </a:tcPr>
                </a:tc>
                <a:extLst>
                  <a:ext uri="{0D108BD9-81ED-4DB2-BD59-A6C34878D82A}">
                    <a16:rowId xmlns:a16="http://schemas.microsoft.com/office/drawing/2014/main" val="10000"/>
                  </a:ext>
                </a:extLst>
              </a:tr>
            </a:tbl>
          </a:graphicData>
        </a:graphic>
      </p:graphicFrame>
      <p:graphicFrame>
        <p:nvGraphicFramePr>
          <p:cNvPr id="8" name="Table 7">
            <a:extLst>
              <a:ext uri="{FF2B5EF4-FFF2-40B4-BE49-F238E27FC236}">
                <a16:creationId xmlns:a16="http://schemas.microsoft.com/office/drawing/2014/main" id="{5900A111-5B52-A04E-6BAC-D87940EAC8C4}"/>
              </a:ext>
            </a:extLst>
          </p:cNvPr>
          <p:cNvGraphicFramePr>
            <a:graphicFrameLocks noGrp="1"/>
          </p:cNvGraphicFramePr>
          <p:nvPr>
            <p:extLst>
              <p:ext uri="{D42A27DB-BD31-4B8C-83A1-F6EECF244321}">
                <p14:modId xmlns:p14="http://schemas.microsoft.com/office/powerpoint/2010/main" val="2017464654"/>
              </p:ext>
            </p:extLst>
          </p:nvPr>
        </p:nvGraphicFramePr>
        <p:xfrm>
          <a:off x="1828796" y="5082432"/>
          <a:ext cx="8648701" cy="1004062"/>
        </p:xfrm>
        <a:graphic>
          <a:graphicData uri="http://schemas.openxmlformats.org/drawingml/2006/table">
            <a:tbl>
              <a:tblPr firstRow="1" bandRow="1">
                <a:tableStyleId>{D7AC3CCA-C797-4891-BE02-D94E43425B78}</a:tableStyleId>
              </a:tblPr>
              <a:tblGrid>
                <a:gridCol w="2362200">
                  <a:extLst>
                    <a:ext uri="{9D8B030D-6E8A-4147-A177-3AD203B41FA5}">
                      <a16:colId xmlns:a16="http://schemas.microsoft.com/office/drawing/2014/main" val="20000"/>
                    </a:ext>
                  </a:extLst>
                </a:gridCol>
                <a:gridCol w="6286501">
                  <a:extLst>
                    <a:ext uri="{9D8B030D-6E8A-4147-A177-3AD203B41FA5}">
                      <a16:colId xmlns:a16="http://schemas.microsoft.com/office/drawing/2014/main" val="20001"/>
                    </a:ext>
                  </a:extLst>
                </a:gridCol>
              </a:tblGrid>
              <a:tr h="283817">
                <a:tc>
                  <a:txBody>
                    <a:bodyPr/>
                    <a:lstStyle/>
                    <a:p>
                      <a:pPr algn="ctr"/>
                      <a:r>
                        <a:rPr lang="en-US" sz="2000" b="0" i="1" kern="1200">
                          <a:solidFill>
                            <a:schemeClr val="dk1"/>
                          </a:solidFill>
                          <a:effectLst/>
                          <a:latin typeface="+mj-lt"/>
                          <a:ea typeface="+mn-ea"/>
                          <a:cs typeface="+mn-cs"/>
                        </a:rPr>
                        <a:t>Subsequence of S</a:t>
                      </a:r>
                      <a:endParaRPr lang="en-US" sz="2000" b="0" i="1">
                        <a:latin typeface="+mj-lt"/>
                      </a:endParaRPr>
                    </a:p>
                  </a:txBody>
                  <a:tcPr>
                    <a:noFill/>
                  </a:tcPr>
                </a:tc>
                <a:tc>
                  <a:txBody>
                    <a:bodyPr/>
                    <a:lstStyle/>
                    <a:p>
                      <a:pPr marL="0" marR="0" algn="just">
                        <a:lnSpc>
                          <a:spcPct val="115000"/>
                        </a:lnSpc>
                        <a:spcBef>
                          <a:spcPct val="0"/>
                        </a:spcBef>
                        <a:spcAft>
                          <a:spcPts val="600"/>
                        </a:spcAft>
                      </a:pPr>
                      <a:r>
                        <a:rPr lang="en-US" sz="1800" b="0" dirty="0">
                          <a:effectLst/>
                          <a:latin typeface="+mj-lt"/>
                          <a:ea typeface="Calibri" panose="020F0502020204030204" pitchFamily="34" charset="0"/>
                          <a:cs typeface="Times New Roman" panose="02020603050405020304" pitchFamily="18" charset="0"/>
                        </a:rPr>
                        <a:t>A string obtained by removing </a:t>
                      </a:r>
                      <a:r>
                        <a:rPr lang="en-US" sz="1800" b="1" dirty="0">
                          <a:solidFill>
                            <a:srgbClr val="0E47A1"/>
                          </a:solidFill>
                          <a:effectLst/>
                          <a:latin typeface="+mj-lt"/>
                          <a:ea typeface="Calibri" panose="020F0502020204030204" pitchFamily="34" charset="0"/>
                          <a:cs typeface="Times New Roman" panose="02020603050405020304" pitchFamily="18" charset="0"/>
                        </a:rPr>
                        <a:t>zero or more not necessarily contiguous symbol</a:t>
                      </a:r>
                      <a:r>
                        <a:rPr lang="en-US" sz="1800" b="1" dirty="0">
                          <a:solidFill>
                            <a:schemeClr val="accent1">
                              <a:lumMod val="75000"/>
                            </a:schemeClr>
                          </a:solidFill>
                          <a:effectLst/>
                          <a:latin typeface="+mj-lt"/>
                          <a:ea typeface="Calibri" panose="020F0502020204030204" pitchFamily="34" charset="0"/>
                          <a:cs typeface="Times New Roman" panose="02020603050405020304" pitchFamily="18" charset="0"/>
                        </a:rPr>
                        <a:t> </a:t>
                      </a:r>
                      <a:r>
                        <a:rPr lang="en-US" sz="1800" b="0" dirty="0">
                          <a:effectLst/>
                          <a:latin typeface="+mj-lt"/>
                          <a:ea typeface="Calibri" panose="020F0502020204030204" pitchFamily="34" charset="0"/>
                          <a:cs typeface="Times New Roman" panose="02020603050405020304" pitchFamily="18" charset="0"/>
                        </a:rPr>
                        <a:t>from S.</a:t>
                      </a:r>
                    </a:p>
                    <a:p>
                      <a:pPr marL="0" marR="0" algn="just">
                        <a:lnSpc>
                          <a:spcPct val="115000"/>
                        </a:lnSpc>
                        <a:spcBef>
                          <a:spcPct val="0"/>
                        </a:spcBef>
                        <a:spcAft>
                          <a:spcPts val="600"/>
                        </a:spcAft>
                      </a:pPr>
                      <a:r>
                        <a:rPr lang="en-US" sz="1800" b="0" kern="1200" dirty="0">
                          <a:solidFill>
                            <a:schemeClr val="dk1"/>
                          </a:solidFill>
                          <a:effectLst/>
                          <a:latin typeface="+mj-lt"/>
                          <a:ea typeface="+mn-ea"/>
                          <a:cs typeface="+mn-cs"/>
                        </a:rPr>
                        <a:t>e.g., </a:t>
                      </a:r>
                      <a:r>
                        <a:rPr lang="en-US" sz="1800" b="0" kern="1200" dirty="0" err="1">
                          <a:solidFill>
                            <a:srgbClr val="C00000"/>
                          </a:solidFill>
                          <a:effectLst/>
                          <a:latin typeface="+mj-lt"/>
                          <a:ea typeface="+mn-ea"/>
                          <a:cs typeface="+mn-cs"/>
                        </a:rPr>
                        <a:t>baaa</a:t>
                      </a:r>
                      <a:r>
                        <a:rPr lang="en-US" sz="1800" b="0" kern="1200" dirty="0">
                          <a:solidFill>
                            <a:schemeClr val="dk1"/>
                          </a:solidFill>
                          <a:effectLst/>
                          <a:latin typeface="+mj-lt"/>
                          <a:ea typeface="+mn-ea"/>
                          <a:cs typeface="+mn-cs"/>
                        </a:rPr>
                        <a:t> is subsequence of </a:t>
                      </a:r>
                      <a:r>
                        <a:rPr lang="en-US" sz="1800" b="0" kern="1200" dirty="0">
                          <a:solidFill>
                            <a:srgbClr val="C00000"/>
                          </a:solidFill>
                          <a:effectLst/>
                          <a:latin typeface="+mj-lt"/>
                          <a:ea typeface="+mn-ea"/>
                          <a:cs typeface="+mn-cs"/>
                        </a:rPr>
                        <a:t>banana</a:t>
                      </a:r>
                      <a:r>
                        <a:rPr lang="en-US" sz="1800" b="0" kern="1200" dirty="0">
                          <a:solidFill>
                            <a:schemeClr val="dk1"/>
                          </a:solidFill>
                          <a:effectLst/>
                          <a:latin typeface="+mj-lt"/>
                          <a:ea typeface="+mn-ea"/>
                          <a:cs typeface="+mn-cs"/>
                        </a:rPr>
                        <a:t>.</a:t>
                      </a:r>
                      <a:endParaRPr lang="en-US" sz="1800" b="0" dirty="0">
                        <a:effectLst/>
                        <a:latin typeface="+mj-lt"/>
                        <a:ea typeface="Calibri" panose="020F0502020204030204" pitchFamily="34" charset="0"/>
                        <a:cs typeface="Times New Roman" panose="02020603050405020304" pitchFamily="18" charset="0"/>
                      </a:endParaRPr>
                    </a:p>
                  </a:txBody>
                  <a:tcPr marL="114300" marR="114300" marT="0" marB="0">
                    <a:no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11741101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dur="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dur="1"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dur="1"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dur="1"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dur="1"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dur="1"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216C15-0E64-3A1F-F815-4D1FAAFBCEA5}"/>
              </a:ext>
            </a:extLst>
          </p:cNvPr>
          <p:cNvSpPr txBox="1">
            <a:spLocks/>
          </p:cNvSpPr>
          <p:nvPr/>
        </p:nvSpPr>
        <p:spPr>
          <a:xfrm>
            <a:off x="0" y="1"/>
            <a:ext cx="12192000" cy="711200"/>
          </a:xfrm>
          <a:prstGeom prst="rect">
            <a:avLst/>
          </a:prstGeom>
        </p:spPr>
        <p:txBody>
          <a:bodyPr/>
          <a:lstStyle>
            <a:lvl1pPr algn="l" defTabSz="914400" rtl="0" eaLnBrk="1" latinLnBrk="0" hangingPunct="1">
              <a:lnSpc>
                <a:spcPct val="90000"/>
              </a:lnSpc>
              <a:spcBef>
                <a:spcPct val="0"/>
              </a:spcBef>
              <a:buNone/>
              <a:defRPr sz="4400" kern="1200">
                <a:solidFill>
                  <a:srgbClr val="C00000"/>
                </a:solidFill>
                <a:latin typeface="Palatino Linotype" panose="02040502050505030304" pitchFamily="18" charset="0"/>
                <a:ea typeface="+mj-ea"/>
                <a:cs typeface="+mj-cs"/>
              </a:defRPr>
            </a:lvl1pPr>
          </a:lstStyle>
          <a:p>
            <a:r>
              <a:rPr lang="en-US"/>
              <a:t>Exercise</a:t>
            </a:r>
          </a:p>
        </p:txBody>
      </p:sp>
      <p:sp>
        <p:nvSpPr>
          <p:cNvPr id="3" name="Content Placeholder 2">
            <a:extLst>
              <a:ext uri="{FF2B5EF4-FFF2-40B4-BE49-F238E27FC236}">
                <a16:creationId xmlns:a16="http://schemas.microsoft.com/office/drawing/2014/main" id="{F8B35962-8A99-00C5-3C9D-378F1DADB6C8}"/>
              </a:ext>
            </a:extLst>
          </p:cNvPr>
          <p:cNvSpPr txBox="1">
            <a:spLocks/>
          </p:cNvSpPr>
          <p:nvPr/>
        </p:nvSpPr>
        <p:spPr>
          <a:xfrm>
            <a:off x="131180" y="863444"/>
            <a:ext cx="11929641" cy="5590565"/>
          </a:xfrm>
          <a:prstGeom prst="rect">
            <a:avLst/>
          </a:prstGeom>
        </p:spPr>
        <p:txBody>
          <a:bodyPr/>
          <a:lstStyle>
            <a:lvl1pPr marL="228600" indent="-228600" algn="just"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Palatino Linotype" panose="02040502050505030304" pitchFamily="18" charset="0"/>
                <a:ea typeface="+mn-ea"/>
                <a:cs typeface="+mn-cs"/>
              </a:defRPr>
            </a:lvl1pPr>
            <a:lvl2pPr marL="685800" indent="-228600" algn="just"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Palatino Linotype" panose="02040502050505030304" pitchFamily="18" charset="0"/>
                <a:ea typeface="+mn-ea"/>
                <a:cs typeface="+mn-cs"/>
              </a:defRPr>
            </a:lvl2pPr>
            <a:lvl3pPr marL="1143000" indent="-228600" algn="just"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Palatino Linotype" panose="02040502050505030304" pitchFamily="18" charset="0"/>
                <a:ea typeface="+mn-ea"/>
                <a:cs typeface="+mn-cs"/>
              </a:defRPr>
            </a:lvl3pPr>
            <a:lvl4pPr marL="1600200" indent="-228600" algn="just"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alatino Linotype" panose="02040502050505030304" pitchFamily="18" charset="0"/>
                <a:ea typeface="+mn-ea"/>
                <a:cs typeface="+mn-cs"/>
              </a:defRPr>
            </a:lvl4pPr>
            <a:lvl5pPr marL="2057400" indent="-228600" algn="just"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Write prefix, suffix, substring, proper prefix, proper suffix and subsequence of following string:</a:t>
            </a:r>
          </a:p>
          <a:p>
            <a:pPr marL="0" indent="0" defTabSz="342900">
              <a:buFont typeface="Arial" panose="020B0604020202020204" pitchFamily="34" charset="0"/>
              <a:buNone/>
            </a:pPr>
            <a:r>
              <a:rPr lang="en-US"/>
              <a:t>	String: </a:t>
            </a:r>
            <a:r>
              <a:rPr lang="en-US">
                <a:solidFill>
                  <a:srgbClr val="C00000"/>
                </a:solidFill>
              </a:rPr>
              <a:t>Compiler</a:t>
            </a:r>
          </a:p>
          <a:p>
            <a:endParaRPr lang="en-US"/>
          </a:p>
        </p:txBody>
      </p:sp>
    </p:spTree>
    <p:extLst>
      <p:ext uri="{BB962C8B-B14F-4D97-AF65-F5344CB8AC3E}">
        <p14:creationId xmlns:p14="http://schemas.microsoft.com/office/powerpoint/2010/main" val="30868733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F415A4-2077-44F3-AAC4-F94DE26CF856}"/>
              </a:ext>
            </a:extLst>
          </p:cNvPr>
          <p:cNvSpPr txBox="1">
            <a:spLocks/>
          </p:cNvSpPr>
          <p:nvPr/>
        </p:nvSpPr>
        <p:spPr>
          <a:xfrm>
            <a:off x="0" y="1"/>
            <a:ext cx="12192000" cy="711200"/>
          </a:xfrm>
          <a:prstGeom prst="rect">
            <a:avLst/>
          </a:prstGeom>
        </p:spPr>
        <p:txBody>
          <a:bodyPr/>
          <a:lstStyle>
            <a:lvl1pPr algn="l" defTabSz="914400" rtl="0" eaLnBrk="1" latinLnBrk="0" hangingPunct="1">
              <a:lnSpc>
                <a:spcPct val="90000"/>
              </a:lnSpc>
              <a:spcBef>
                <a:spcPct val="0"/>
              </a:spcBef>
              <a:buNone/>
              <a:defRPr sz="4400" kern="1200">
                <a:solidFill>
                  <a:srgbClr val="C00000"/>
                </a:solidFill>
                <a:latin typeface="Palatino Linotype" panose="02040502050505030304" pitchFamily="18" charset="0"/>
                <a:ea typeface="+mj-ea"/>
                <a:cs typeface="+mj-cs"/>
              </a:defRPr>
            </a:lvl1pPr>
          </a:lstStyle>
          <a:p>
            <a:r>
              <a:rPr lang="en-US"/>
              <a:t>Operations on languages</a:t>
            </a:r>
          </a:p>
        </p:txBody>
      </p:sp>
      <p:graphicFrame>
        <p:nvGraphicFramePr>
          <p:cNvPr id="3" name="Content Placeholder 3">
            <a:extLst>
              <a:ext uri="{FF2B5EF4-FFF2-40B4-BE49-F238E27FC236}">
                <a16:creationId xmlns:a16="http://schemas.microsoft.com/office/drawing/2014/main" id="{C1CEF3A8-DBBA-F3EB-7C51-70805D046D69}"/>
              </a:ext>
            </a:extLst>
          </p:cNvPr>
          <p:cNvGraphicFramePr/>
          <p:nvPr/>
        </p:nvGraphicFramePr>
        <p:xfrm>
          <a:off x="1828801" y="990600"/>
          <a:ext cx="8648701" cy="426720"/>
        </p:xfrm>
        <a:graphic>
          <a:graphicData uri="http://schemas.openxmlformats.org/drawingml/2006/table">
            <a:tbl>
              <a:tblPr firstRow="1" bandRow="1">
                <a:tableStyleId>{D7AC3CCA-C797-4891-BE02-D94E43425B78}</a:tableStyleId>
              </a:tblPr>
              <a:tblGrid>
                <a:gridCol w="2362200">
                  <a:extLst>
                    <a:ext uri="{9D8B030D-6E8A-4147-A177-3AD203B41FA5}">
                      <a16:colId xmlns:a16="http://schemas.microsoft.com/office/drawing/2014/main" val="20000"/>
                    </a:ext>
                  </a:extLst>
                </a:gridCol>
                <a:gridCol w="6286501">
                  <a:extLst>
                    <a:ext uri="{9D8B030D-6E8A-4147-A177-3AD203B41FA5}">
                      <a16:colId xmlns:a16="http://schemas.microsoft.com/office/drawing/2014/main" val="20001"/>
                    </a:ext>
                  </a:extLst>
                </a:gridCol>
              </a:tblGrid>
              <a:tr h="283817">
                <a:tc>
                  <a:txBody>
                    <a:bodyPr/>
                    <a:lstStyle/>
                    <a:p>
                      <a:pPr algn="ctr"/>
                      <a:r>
                        <a:rPr lang="en-US" sz="2200"/>
                        <a:t>Operation</a:t>
                      </a:r>
                    </a:p>
                  </a:txBody>
                  <a:tcPr>
                    <a:noFill/>
                  </a:tcPr>
                </a:tc>
                <a:tc>
                  <a:txBody>
                    <a:bodyPr/>
                    <a:lstStyle/>
                    <a:p>
                      <a:pPr algn="ctr"/>
                      <a:r>
                        <a:rPr lang="en-US" sz="2200"/>
                        <a:t>Definition</a:t>
                      </a:r>
                    </a:p>
                  </a:txBody>
                  <a:tcPr>
                    <a:noFill/>
                  </a:tcPr>
                </a:tc>
                <a:extLst>
                  <a:ext uri="{0D108BD9-81ED-4DB2-BD59-A6C34878D82A}">
                    <a16:rowId xmlns:a16="http://schemas.microsoft.com/office/drawing/2014/main" val="10000"/>
                  </a:ext>
                </a:extLst>
              </a:tr>
            </a:tbl>
          </a:graphicData>
        </a:graphic>
      </p:graphicFrame>
      <mc:AlternateContent xmlns:mc="http://schemas.openxmlformats.org/markup-compatibility/2006" xmlns:a14="http://schemas.microsoft.com/office/drawing/2010/main">
        <mc:Choice Requires="a14">
          <p:graphicFrame>
            <p:nvGraphicFramePr>
              <p:cNvPr id="4" name="Content Placeholder 3">
                <a:extLst>
                  <a:ext uri="{FF2B5EF4-FFF2-40B4-BE49-F238E27FC236}">
                    <a16:creationId xmlns:a16="http://schemas.microsoft.com/office/drawing/2014/main" id="{CB97304E-9EEC-18B2-9019-5CDA8494EEC6}"/>
                  </a:ext>
                </a:extLst>
              </p:cNvPr>
              <p:cNvGraphicFramePr/>
              <p:nvPr>
                <p:extLst>
                  <p:ext uri="{D42A27DB-BD31-4B8C-83A1-F6EECF244321}">
                    <p14:modId xmlns:p14="http://schemas.microsoft.com/office/powerpoint/2010/main" val="901225035"/>
                  </p:ext>
                </p:extLst>
              </p:nvPr>
            </p:nvGraphicFramePr>
            <p:xfrm>
              <a:off x="1828800" y="1417320"/>
              <a:ext cx="8648701" cy="701040"/>
            </p:xfrm>
            <a:graphic>
              <a:graphicData uri="http://schemas.openxmlformats.org/drawingml/2006/table">
                <a:tbl>
                  <a:tblPr firstRow="1" bandRow="1">
                    <a:tableStyleId>{D7AC3CCA-C797-4891-BE02-D94E43425B78}</a:tableStyleId>
                  </a:tblPr>
                  <a:tblGrid>
                    <a:gridCol w="2362200">
                      <a:extLst>
                        <a:ext uri="{9D8B030D-6E8A-4147-A177-3AD203B41FA5}">
                          <a16:colId xmlns:a16="http://schemas.microsoft.com/office/drawing/2014/main" val="20000"/>
                        </a:ext>
                      </a:extLst>
                    </a:gridCol>
                    <a:gridCol w="6286501">
                      <a:extLst>
                        <a:ext uri="{9D8B030D-6E8A-4147-A177-3AD203B41FA5}">
                          <a16:colId xmlns:a16="http://schemas.microsoft.com/office/drawing/2014/main" val="20001"/>
                        </a:ext>
                      </a:extLst>
                    </a:gridCol>
                  </a:tblGrid>
                  <a:tr h="283817">
                    <a:tc>
                      <a:txBody>
                        <a:bodyPr/>
                        <a:lstStyle/>
                        <a:p>
                          <a:pPr algn="ctr"/>
                          <a:r>
                            <a:rPr lang="en-US" sz="2000" b="0" i="0">
                              <a:latin typeface="+mj-lt"/>
                            </a:rPr>
                            <a:t>Union of L and M</a:t>
                          </a:r>
                          <a:endParaRPr lang="en-US" sz="2000" b="0" i="1">
                            <a:latin typeface="+mj-lt"/>
                          </a:endParaRPr>
                        </a:p>
                        <a:p>
                          <a:pPr algn="ctr"/>
                          <a:r>
                            <a:rPr lang="en-US" sz="2000" b="0" i="0">
                              <a:latin typeface="+mj-lt"/>
                            </a:rPr>
                            <a:t>Written L</a:t>
                          </a:r>
                          <a:r>
                            <a:rPr lang="en-US" sz="2000" b="0" i="0" baseline="0">
                              <a:latin typeface="+mj-lt"/>
                            </a:rPr>
                            <a:t> U M</a:t>
                          </a:r>
                          <a:endParaRPr lang="en-US" sz="2000" b="0" i="1" baseline="0">
                            <a:latin typeface="+mj-lt"/>
                          </a:endParaRPr>
                        </a:p>
                      </a:txBody>
                      <a:tcPr anchor="ctr">
                        <a:noFill/>
                      </a:tcPr>
                    </a:tc>
                    <a:tc>
                      <a:txBody>
                        <a:bodyPr/>
                        <a:lstStyle/>
                        <a:p>
                          <a:pPr marL="0" marR="0" algn="ctr">
                            <a:lnSpc>
                              <a:spcPct val="115000"/>
                            </a:lnSpc>
                            <a:spcBef>
                              <a:spcPct val="0"/>
                            </a:spcBef>
                            <a:spcAft>
                              <a:spcPts val="1000"/>
                            </a:spcAft>
                          </a:pPr>
                          <a14:m>
                            <m:oMathPara xmlns:m="http://schemas.openxmlformats.org/officeDocument/2006/math">
                              <m:oMathParaPr>
                                <m:jc m:val="center"/>
                              </m:oMathParaPr>
                              <m:oMath xmlns:m="http://schemas.openxmlformats.org/officeDocument/2006/math">
                                <m:r>
                                  <a:rPr lang="en-US" sz="2000" b="0" i="1" kern="1200" smtClean="0">
                                    <a:solidFill>
                                      <a:schemeClr val="dk1"/>
                                    </a:solidFill>
                                    <a:effectLst/>
                                    <a:latin typeface="Cambria Math" panose="02040503050406030204" pitchFamily="18" charset="0"/>
                                    <a:ea typeface="+mn-ea"/>
                                    <a:cs typeface="+mn-cs"/>
                                  </a:rPr>
                                  <m:t>𝐿</m:t>
                                </m:r>
                                <m:r>
                                  <a:rPr lang="en-US" sz="2000" b="0" i="1" kern="1200" smtClean="0">
                                    <a:solidFill>
                                      <a:schemeClr val="dk1"/>
                                    </a:solidFill>
                                    <a:effectLst/>
                                    <a:latin typeface="Cambria Math" panose="02040503050406030204" pitchFamily="18" charset="0"/>
                                    <a:ea typeface="+mn-ea"/>
                                    <a:cs typeface="+mn-cs"/>
                                  </a:rPr>
                                  <m:t> </m:t>
                                </m:r>
                                <m:r>
                                  <a:rPr lang="en-US" sz="2000" b="0" i="1" kern="1200" smtClean="0">
                                    <a:solidFill>
                                      <a:schemeClr val="dk1"/>
                                    </a:solidFill>
                                    <a:effectLst/>
                                    <a:latin typeface="Cambria Math" panose="02040503050406030204" pitchFamily="18" charset="0"/>
                                    <a:ea typeface="+mn-ea"/>
                                    <a:cs typeface="+mn-cs"/>
                                  </a:rPr>
                                  <m:t>𝑈</m:t>
                                </m:r>
                                <m:r>
                                  <a:rPr lang="en-US" sz="2000" b="0" i="1" kern="1200" smtClean="0">
                                    <a:solidFill>
                                      <a:schemeClr val="dk1"/>
                                    </a:solidFill>
                                    <a:effectLst/>
                                    <a:latin typeface="Cambria Math" panose="02040503050406030204" pitchFamily="18" charset="0"/>
                                    <a:ea typeface="+mn-ea"/>
                                    <a:cs typeface="+mn-cs"/>
                                  </a:rPr>
                                  <m:t> </m:t>
                                </m:r>
                                <m:r>
                                  <a:rPr lang="en-US" sz="2000" b="0" i="1" kern="1200" smtClean="0">
                                    <a:solidFill>
                                      <a:schemeClr val="dk1"/>
                                    </a:solidFill>
                                    <a:effectLst/>
                                    <a:latin typeface="Cambria Math" panose="02040503050406030204" pitchFamily="18" charset="0"/>
                                    <a:ea typeface="+mn-ea"/>
                                    <a:cs typeface="+mn-cs"/>
                                  </a:rPr>
                                  <m:t>𝑀</m:t>
                                </m:r>
                                <m:r>
                                  <a:rPr lang="en-US" sz="2000" b="0" i="1" kern="1200" smtClean="0">
                                    <a:solidFill>
                                      <a:schemeClr val="dk1"/>
                                    </a:solidFill>
                                    <a:effectLst/>
                                    <a:latin typeface="Cambria Math" panose="02040503050406030204" pitchFamily="18" charset="0"/>
                                    <a:ea typeface="+mn-ea"/>
                                    <a:cs typeface="+mn-cs"/>
                                  </a:rPr>
                                  <m:t> = {</m:t>
                                </m:r>
                                <m:r>
                                  <a:rPr lang="en-US" sz="2000" b="0" i="1" kern="1200" smtClean="0">
                                    <a:solidFill>
                                      <a:schemeClr val="dk1"/>
                                    </a:solidFill>
                                    <a:effectLst/>
                                    <a:latin typeface="Cambria Math" panose="02040503050406030204" pitchFamily="18" charset="0"/>
                                    <a:ea typeface="+mn-ea"/>
                                    <a:cs typeface="+mn-cs"/>
                                  </a:rPr>
                                  <m:t>𝑠</m:t>
                                </m:r>
                                <m:r>
                                  <a:rPr lang="en-US" sz="2000" b="0" i="1" kern="1200" smtClean="0">
                                    <a:solidFill>
                                      <a:schemeClr val="dk1"/>
                                    </a:solidFill>
                                    <a:effectLst/>
                                    <a:latin typeface="Cambria Math" panose="02040503050406030204" pitchFamily="18" charset="0"/>
                                    <a:ea typeface="+mn-ea"/>
                                    <a:cs typeface="+mn-cs"/>
                                  </a:rPr>
                                  <m:t> | </m:t>
                                </m:r>
                                <m:r>
                                  <a:rPr lang="en-US" sz="2000" b="0" i="1" kern="1200" smtClean="0">
                                    <a:solidFill>
                                      <a:schemeClr val="dk1"/>
                                    </a:solidFill>
                                    <a:effectLst/>
                                    <a:latin typeface="Cambria Math" panose="02040503050406030204" pitchFamily="18" charset="0"/>
                                    <a:ea typeface="+mn-ea"/>
                                    <a:cs typeface="+mn-cs"/>
                                  </a:rPr>
                                  <m:t>𝑠</m:t>
                                </m:r>
                                <m:r>
                                  <a:rPr lang="en-US" sz="2000" b="0" i="1" kern="1200" smtClean="0">
                                    <a:solidFill>
                                      <a:schemeClr val="dk1"/>
                                    </a:solidFill>
                                    <a:effectLst/>
                                    <a:latin typeface="Cambria Math" panose="02040503050406030204" pitchFamily="18" charset="0"/>
                                    <a:ea typeface="+mn-ea"/>
                                    <a:cs typeface="+mn-cs"/>
                                  </a:rPr>
                                  <m:t> </m:t>
                                </m:r>
                                <m:r>
                                  <a:rPr lang="en-US" sz="2000" b="0" i="1" kern="1200" smtClean="0">
                                    <a:solidFill>
                                      <a:schemeClr val="dk1"/>
                                    </a:solidFill>
                                    <a:effectLst/>
                                    <a:latin typeface="Cambria Math" panose="02040503050406030204" pitchFamily="18" charset="0"/>
                                    <a:ea typeface="+mn-ea"/>
                                    <a:cs typeface="+mn-cs"/>
                                  </a:rPr>
                                  <m:t>𝑖𝑠</m:t>
                                </m:r>
                                <m:r>
                                  <a:rPr lang="en-US" sz="2000" b="0" i="1" kern="1200" smtClean="0">
                                    <a:solidFill>
                                      <a:schemeClr val="dk1"/>
                                    </a:solidFill>
                                    <a:effectLst/>
                                    <a:latin typeface="Cambria Math" panose="02040503050406030204" pitchFamily="18" charset="0"/>
                                    <a:ea typeface="+mn-ea"/>
                                    <a:cs typeface="+mn-cs"/>
                                  </a:rPr>
                                  <m:t> </m:t>
                                </m:r>
                                <m:r>
                                  <a:rPr lang="en-US" sz="2000" b="0" i="1" kern="1200" smtClean="0">
                                    <a:solidFill>
                                      <a:schemeClr val="dk1"/>
                                    </a:solidFill>
                                    <a:effectLst/>
                                    <a:latin typeface="Cambria Math" panose="02040503050406030204" pitchFamily="18" charset="0"/>
                                    <a:ea typeface="+mn-ea"/>
                                    <a:cs typeface="+mn-cs"/>
                                  </a:rPr>
                                  <m:t>𝑖𝑛</m:t>
                                </m:r>
                                <m:r>
                                  <a:rPr lang="en-US" sz="2000" b="0" i="1" kern="1200" smtClean="0">
                                    <a:solidFill>
                                      <a:schemeClr val="dk1"/>
                                    </a:solidFill>
                                    <a:effectLst/>
                                    <a:latin typeface="Cambria Math" panose="02040503050406030204" pitchFamily="18" charset="0"/>
                                    <a:ea typeface="+mn-ea"/>
                                    <a:cs typeface="+mn-cs"/>
                                  </a:rPr>
                                  <m:t> </m:t>
                                </m:r>
                                <m:r>
                                  <a:rPr lang="en-US" sz="2000" b="0" i="1" kern="1200" smtClean="0">
                                    <a:solidFill>
                                      <a:schemeClr val="dk1"/>
                                    </a:solidFill>
                                    <a:effectLst/>
                                    <a:latin typeface="Cambria Math" panose="02040503050406030204" pitchFamily="18" charset="0"/>
                                    <a:ea typeface="+mn-ea"/>
                                    <a:cs typeface="+mn-cs"/>
                                  </a:rPr>
                                  <m:t>𝐿</m:t>
                                </m:r>
                                <m:r>
                                  <a:rPr lang="en-US" sz="2000" b="0" i="1" kern="1200" smtClean="0">
                                    <a:solidFill>
                                      <a:schemeClr val="dk1"/>
                                    </a:solidFill>
                                    <a:effectLst/>
                                    <a:latin typeface="Cambria Math" panose="02040503050406030204" pitchFamily="18" charset="0"/>
                                    <a:ea typeface="+mn-ea"/>
                                    <a:cs typeface="+mn-cs"/>
                                  </a:rPr>
                                  <m:t> </m:t>
                                </m:r>
                                <m:r>
                                  <a:rPr lang="en-US" sz="2000" b="0" i="1" kern="1200" smtClean="0">
                                    <a:solidFill>
                                      <a:schemeClr val="dk1"/>
                                    </a:solidFill>
                                    <a:effectLst/>
                                    <a:latin typeface="Cambria Math" panose="02040503050406030204" pitchFamily="18" charset="0"/>
                                    <a:ea typeface="+mn-ea"/>
                                    <a:cs typeface="+mn-cs"/>
                                  </a:rPr>
                                  <m:t>𝑜𝑟</m:t>
                                </m:r>
                                <m:r>
                                  <a:rPr lang="en-US" sz="2000" b="0" i="1" kern="1200" smtClean="0">
                                    <a:solidFill>
                                      <a:schemeClr val="dk1"/>
                                    </a:solidFill>
                                    <a:effectLst/>
                                    <a:latin typeface="Cambria Math" panose="02040503050406030204" pitchFamily="18" charset="0"/>
                                    <a:ea typeface="+mn-ea"/>
                                    <a:cs typeface="+mn-cs"/>
                                  </a:rPr>
                                  <m:t> </m:t>
                                </m:r>
                                <m:r>
                                  <a:rPr lang="en-US" sz="2000" b="0" i="1" kern="1200" smtClean="0">
                                    <a:solidFill>
                                      <a:schemeClr val="dk1"/>
                                    </a:solidFill>
                                    <a:effectLst/>
                                    <a:latin typeface="Cambria Math" panose="02040503050406030204" pitchFamily="18" charset="0"/>
                                    <a:ea typeface="+mn-ea"/>
                                    <a:cs typeface="+mn-cs"/>
                                  </a:rPr>
                                  <m:t>𝑠</m:t>
                                </m:r>
                                <m:r>
                                  <a:rPr lang="en-US" sz="2000" b="0" i="1" kern="1200" smtClean="0">
                                    <a:solidFill>
                                      <a:schemeClr val="dk1"/>
                                    </a:solidFill>
                                    <a:effectLst/>
                                    <a:latin typeface="Cambria Math" panose="02040503050406030204" pitchFamily="18" charset="0"/>
                                    <a:ea typeface="+mn-ea"/>
                                    <a:cs typeface="+mn-cs"/>
                                  </a:rPr>
                                  <m:t> </m:t>
                                </m:r>
                                <m:r>
                                  <a:rPr lang="en-US" sz="2000" b="0" i="1" kern="1200" smtClean="0">
                                    <a:solidFill>
                                      <a:schemeClr val="dk1"/>
                                    </a:solidFill>
                                    <a:effectLst/>
                                    <a:latin typeface="Cambria Math" panose="02040503050406030204" pitchFamily="18" charset="0"/>
                                    <a:ea typeface="+mn-ea"/>
                                    <a:cs typeface="+mn-cs"/>
                                  </a:rPr>
                                  <m:t>𝑖𝑠</m:t>
                                </m:r>
                                <m:r>
                                  <a:rPr lang="en-US" sz="2000" b="0" i="1" kern="1200" smtClean="0">
                                    <a:solidFill>
                                      <a:schemeClr val="dk1"/>
                                    </a:solidFill>
                                    <a:effectLst/>
                                    <a:latin typeface="Cambria Math" panose="02040503050406030204" pitchFamily="18" charset="0"/>
                                    <a:ea typeface="+mn-ea"/>
                                    <a:cs typeface="+mn-cs"/>
                                  </a:rPr>
                                  <m:t> </m:t>
                                </m:r>
                                <m:r>
                                  <a:rPr lang="en-US" sz="2000" b="0" i="1" kern="1200" smtClean="0">
                                    <a:solidFill>
                                      <a:schemeClr val="dk1"/>
                                    </a:solidFill>
                                    <a:effectLst/>
                                    <a:latin typeface="Cambria Math" panose="02040503050406030204" pitchFamily="18" charset="0"/>
                                    <a:ea typeface="+mn-ea"/>
                                    <a:cs typeface="+mn-cs"/>
                                  </a:rPr>
                                  <m:t>𝑖𝑛</m:t>
                                </m:r>
                                <m:r>
                                  <a:rPr lang="en-US" sz="2000" b="0" i="1" kern="1200" smtClean="0">
                                    <a:solidFill>
                                      <a:schemeClr val="dk1"/>
                                    </a:solidFill>
                                    <a:effectLst/>
                                    <a:latin typeface="Cambria Math" panose="02040503050406030204" pitchFamily="18" charset="0"/>
                                    <a:ea typeface="+mn-ea"/>
                                    <a:cs typeface="+mn-cs"/>
                                  </a:rPr>
                                  <m:t> </m:t>
                                </m:r>
                                <m:r>
                                  <a:rPr lang="en-US" sz="2000" b="0" i="1" kern="1200" smtClean="0">
                                    <a:solidFill>
                                      <a:schemeClr val="dk1"/>
                                    </a:solidFill>
                                    <a:effectLst/>
                                    <a:latin typeface="Cambria Math" panose="02040503050406030204" pitchFamily="18" charset="0"/>
                                    <a:ea typeface="+mn-ea"/>
                                    <a:cs typeface="+mn-cs"/>
                                  </a:rPr>
                                  <m:t>𝑀</m:t>
                                </m:r>
                                <m:r>
                                  <a:rPr lang="en-US" sz="2000" b="0" i="1" kern="1200" smtClean="0">
                                    <a:solidFill>
                                      <a:schemeClr val="dk1"/>
                                    </a:solidFill>
                                    <a:effectLst/>
                                    <a:latin typeface="Cambria Math" panose="02040503050406030204" pitchFamily="18" charset="0"/>
                                    <a:ea typeface="+mn-ea"/>
                                    <a:cs typeface="+mn-cs"/>
                                  </a:rPr>
                                  <m:t> }</m:t>
                                </m:r>
                              </m:oMath>
                            </m:oMathPara>
                          </a14:m>
                          <a:endParaRPr lang="en-US" sz="2000" b="0">
                            <a:effectLst/>
                            <a:latin typeface="+mj-lt"/>
                            <a:ea typeface="Calibri" panose="020F0502020204030204" pitchFamily="34" charset="0"/>
                            <a:cs typeface="Times New Roman" panose="02020603050405020304" pitchFamily="18" charset="0"/>
                          </a:endParaRPr>
                        </a:p>
                      </a:txBody>
                      <a:tcPr marL="114300" marR="114300" marT="0" marB="0" anchor="ctr">
                        <a:noFill/>
                      </a:tcPr>
                    </a:tc>
                    <a:extLst>
                      <a:ext uri="{0D108BD9-81ED-4DB2-BD59-A6C34878D82A}">
                        <a16:rowId xmlns:a16="http://schemas.microsoft.com/office/drawing/2014/main" val="10000"/>
                      </a:ext>
                    </a:extLst>
                  </a:tr>
                </a:tbl>
              </a:graphicData>
            </a:graphic>
          </p:graphicFrame>
        </mc:Choice>
        <mc:Fallback xmlns="">
          <p:graphicFrame>
            <p:nvGraphicFramePr>
              <p:cNvPr id="4" name="Content Placeholder 3">
                <a:extLst>
                  <a:ext uri="{FF2B5EF4-FFF2-40B4-BE49-F238E27FC236}">
                    <a16:creationId xmlns:a16="http://schemas.microsoft.com/office/drawing/2014/main" id="{CB97304E-9EEC-18B2-9019-5CDA8494EEC6}"/>
                  </a:ext>
                </a:extLst>
              </p:cNvPr>
              <p:cNvGraphicFramePr/>
              <p:nvPr>
                <p:extLst>
                  <p:ext uri="{D42A27DB-BD31-4B8C-83A1-F6EECF244321}">
                    <p14:modId xmlns:p14="http://schemas.microsoft.com/office/powerpoint/2010/main" val="901225035"/>
                  </p:ext>
                </p:extLst>
              </p:nvPr>
            </p:nvGraphicFramePr>
            <p:xfrm>
              <a:off x="1828800" y="1417320"/>
              <a:ext cx="8648701" cy="701040"/>
            </p:xfrm>
            <a:graphic>
              <a:graphicData uri="http://schemas.openxmlformats.org/drawingml/2006/table">
                <a:tbl>
                  <a:tblPr firstRow="1" bandRow="1">
                    <a:tableStyleId>{D7AC3CCA-C797-4891-BE02-D94E43425B78}</a:tableStyleId>
                  </a:tblPr>
                  <a:tblGrid>
                    <a:gridCol w="2362200">
                      <a:extLst>
                        <a:ext uri="{9D8B030D-6E8A-4147-A177-3AD203B41FA5}">
                          <a16:colId xmlns:a16="http://schemas.microsoft.com/office/drawing/2014/main" val="20000"/>
                        </a:ext>
                      </a:extLst>
                    </a:gridCol>
                    <a:gridCol w="6286501">
                      <a:extLst>
                        <a:ext uri="{9D8B030D-6E8A-4147-A177-3AD203B41FA5}">
                          <a16:colId xmlns:a16="http://schemas.microsoft.com/office/drawing/2014/main" val="20001"/>
                        </a:ext>
                      </a:extLst>
                    </a:gridCol>
                  </a:tblGrid>
                  <a:tr h="701040">
                    <a:tc>
                      <a:txBody>
                        <a:bodyPr/>
                        <a:lstStyle/>
                        <a:p>
                          <a:pPr algn="ctr"/>
                          <a:r>
                            <a:rPr lang="en-US" sz="2000" b="0" i="0">
                              <a:latin typeface="+mj-lt"/>
                            </a:rPr>
                            <a:t>Union of L and M</a:t>
                          </a:r>
                          <a:endParaRPr lang="en-US" sz="2000" b="0" i="1">
                            <a:latin typeface="+mj-lt"/>
                          </a:endParaRPr>
                        </a:p>
                        <a:p>
                          <a:pPr algn="ctr"/>
                          <a:r>
                            <a:rPr lang="en-US" sz="2000" b="0" i="0">
                              <a:latin typeface="+mj-lt"/>
                            </a:rPr>
                            <a:t>Written L</a:t>
                          </a:r>
                          <a:r>
                            <a:rPr lang="en-US" sz="2000" b="0" i="0" baseline="0">
                              <a:latin typeface="+mj-lt"/>
                            </a:rPr>
                            <a:t> U M</a:t>
                          </a:r>
                          <a:endParaRPr lang="en-US" sz="2000" b="0" i="1" baseline="0">
                            <a:latin typeface="+mj-lt"/>
                          </a:endParaRPr>
                        </a:p>
                      </a:txBody>
                      <a:tcPr anchor="ctr">
                        <a:noFill/>
                      </a:tcPr>
                    </a:tc>
                    <a:tc>
                      <a:txBody>
                        <a:bodyPr/>
                        <a:lstStyle/>
                        <a:p>
                          <a:endParaRPr lang="en-US"/>
                        </a:p>
                      </a:txBody>
                      <a:tcPr marL="114300" marR="114300" marT="0" marB="0" anchor="ctr">
                        <a:blipFill>
                          <a:blip r:embed="rId2"/>
                          <a:stretch>
                            <a:fillRect l="-37827" t="-4310" r="-194" b="-14655"/>
                          </a:stretch>
                        </a:blipFill>
                      </a:tcPr>
                    </a:tc>
                    <a:extLst>
                      <a:ext uri="{0D108BD9-81ED-4DB2-BD59-A6C34878D82A}">
                        <a16:rowId xmlns:a16="http://schemas.microsoft.com/office/drawing/2014/main" val="10000"/>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5" name="Content Placeholder 3">
                <a:extLst>
                  <a:ext uri="{FF2B5EF4-FFF2-40B4-BE49-F238E27FC236}">
                    <a16:creationId xmlns:a16="http://schemas.microsoft.com/office/drawing/2014/main" id="{311F9390-A7B0-12F5-478D-F5BBB2888099}"/>
                  </a:ext>
                </a:extLst>
              </p:cNvPr>
              <p:cNvGraphicFramePr/>
              <p:nvPr>
                <p:extLst>
                  <p:ext uri="{D42A27DB-BD31-4B8C-83A1-F6EECF244321}">
                    <p14:modId xmlns:p14="http://schemas.microsoft.com/office/powerpoint/2010/main" val="1066641887"/>
                  </p:ext>
                </p:extLst>
              </p:nvPr>
            </p:nvGraphicFramePr>
            <p:xfrm>
              <a:off x="1828800" y="2118360"/>
              <a:ext cx="8648701" cy="1005840"/>
            </p:xfrm>
            <a:graphic>
              <a:graphicData uri="http://schemas.openxmlformats.org/drawingml/2006/table">
                <a:tbl>
                  <a:tblPr firstRow="1" bandRow="1">
                    <a:tableStyleId>{D7AC3CCA-C797-4891-BE02-D94E43425B78}</a:tableStyleId>
                  </a:tblPr>
                  <a:tblGrid>
                    <a:gridCol w="2362200">
                      <a:extLst>
                        <a:ext uri="{9D8B030D-6E8A-4147-A177-3AD203B41FA5}">
                          <a16:colId xmlns:a16="http://schemas.microsoft.com/office/drawing/2014/main" val="20000"/>
                        </a:ext>
                      </a:extLst>
                    </a:gridCol>
                    <a:gridCol w="6286501">
                      <a:extLst>
                        <a:ext uri="{9D8B030D-6E8A-4147-A177-3AD203B41FA5}">
                          <a16:colId xmlns:a16="http://schemas.microsoft.com/office/drawing/2014/main" val="20001"/>
                        </a:ext>
                      </a:extLst>
                    </a:gridCol>
                  </a:tblGrid>
                  <a:tr h="283817">
                    <a:tc>
                      <a:txBody>
                        <a:bodyPr/>
                        <a:lstStyle/>
                        <a:p>
                          <a:pPr algn="ctr"/>
                          <a:r>
                            <a:rPr lang="en-US" sz="2000" b="0" i="1">
                              <a:latin typeface="+mj-lt"/>
                            </a:rPr>
                            <a:t>Concatenation of L and M</a:t>
                          </a:r>
                        </a:p>
                        <a:p>
                          <a:pPr algn="ctr"/>
                          <a:r>
                            <a:rPr lang="en-US" sz="2000" b="0" i="1">
                              <a:latin typeface="+mj-lt"/>
                            </a:rPr>
                            <a:t>Written L</a:t>
                          </a:r>
                          <a:r>
                            <a:rPr lang="en-US" sz="2000" b="0" i="1" baseline="0">
                              <a:latin typeface="+mj-lt"/>
                            </a:rPr>
                            <a:t>M</a:t>
                          </a:r>
                          <a:endParaRPr lang="en-US" sz="2000" b="0" i="1">
                            <a:latin typeface="+mj-lt"/>
                          </a:endParaRPr>
                        </a:p>
                      </a:txBody>
                      <a:tcPr anchor="ctr">
                        <a:noFill/>
                      </a:tcPr>
                    </a:tc>
                    <a:tc>
                      <a:txBody>
                        <a:bodyPr/>
                        <a:lstStyle/>
                        <a:p>
                          <a:pPr marL="0" marR="0" algn="ctr">
                            <a:lnSpc>
                              <a:spcPct val="115000"/>
                            </a:lnSpc>
                            <a:spcBef>
                              <a:spcPct val="0"/>
                            </a:spcBef>
                            <a:spcAft>
                              <a:spcPct val="0"/>
                            </a:spcAft>
                          </a:pPr>
                          <a14:m>
                            <m:oMathPara xmlns:m="http://schemas.openxmlformats.org/officeDocument/2006/math">
                              <m:oMathParaPr>
                                <m:jc m:val="centerGroup"/>
                              </m:oMathParaPr>
                              <m:oMath xmlns:m="http://schemas.openxmlformats.org/officeDocument/2006/math">
                                <m:r>
                                  <a:rPr lang="en-US" sz="2000" b="0" i="1" kern="1200" smtClean="0">
                                    <a:solidFill>
                                      <a:schemeClr val="dk1"/>
                                    </a:solidFill>
                                    <a:effectLst/>
                                    <a:latin typeface="Cambria Math" panose="02040503050406030204" pitchFamily="18" charset="0"/>
                                    <a:ea typeface="+mn-ea"/>
                                    <a:cs typeface="+mn-cs"/>
                                  </a:rPr>
                                  <m:t>𝐿𝑀</m:t>
                                </m:r>
                                <m:r>
                                  <a:rPr lang="en-US" sz="2000" b="0" i="1" kern="1200" smtClean="0">
                                    <a:solidFill>
                                      <a:schemeClr val="dk1"/>
                                    </a:solidFill>
                                    <a:effectLst/>
                                    <a:latin typeface="Cambria Math" panose="02040503050406030204" pitchFamily="18" charset="0"/>
                                    <a:ea typeface="+mn-ea"/>
                                    <a:cs typeface="+mn-cs"/>
                                  </a:rPr>
                                  <m:t> = {</m:t>
                                </m:r>
                                <m:r>
                                  <a:rPr lang="en-US" sz="2000" b="0" i="1" kern="1200" err="1" smtClean="0">
                                    <a:solidFill>
                                      <a:schemeClr val="dk1"/>
                                    </a:solidFill>
                                    <a:effectLst/>
                                    <a:latin typeface="Cambria Math" panose="02040503050406030204" pitchFamily="18" charset="0"/>
                                    <a:ea typeface="+mn-ea"/>
                                    <a:cs typeface="+mn-cs"/>
                                  </a:rPr>
                                  <m:t>𝑠𝑡</m:t>
                                </m:r>
                                <m:r>
                                  <a:rPr lang="en-US" sz="2000" b="0" i="1" kern="1200" smtClean="0">
                                    <a:solidFill>
                                      <a:schemeClr val="dk1"/>
                                    </a:solidFill>
                                    <a:effectLst/>
                                    <a:latin typeface="Cambria Math" panose="02040503050406030204" pitchFamily="18" charset="0"/>
                                    <a:ea typeface="+mn-ea"/>
                                    <a:cs typeface="+mn-cs"/>
                                  </a:rPr>
                                  <m:t> | </m:t>
                                </m:r>
                                <m:r>
                                  <a:rPr lang="en-US" sz="2000" b="0" i="1" kern="1200" smtClean="0">
                                    <a:solidFill>
                                      <a:schemeClr val="dk1"/>
                                    </a:solidFill>
                                    <a:effectLst/>
                                    <a:latin typeface="Cambria Math" panose="02040503050406030204" pitchFamily="18" charset="0"/>
                                    <a:ea typeface="+mn-ea"/>
                                    <a:cs typeface="+mn-cs"/>
                                  </a:rPr>
                                  <m:t>𝑠</m:t>
                                </m:r>
                                <m:r>
                                  <a:rPr lang="en-US" sz="2000" b="0" i="1" kern="1200" smtClean="0">
                                    <a:solidFill>
                                      <a:schemeClr val="dk1"/>
                                    </a:solidFill>
                                    <a:effectLst/>
                                    <a:latin typeface="Cambria Math" panose="02040503050406030204" pitchFamily="18" charset="0"/>
                                    <a:ea typeface="+mn-ea"/>
                                    <a:cs typeface="+mn-cs"/>
                                  </a:rPr>
                                  <m:t> </m:t>
                                </m:r>
                                <m:r>
                                  <a:rPr lang="en-US" sz="2000" b="0" i="1" kern="1200" smtClean="0">
                                    <a:solidFill>
                                      <a:schemeClr val="dk1"/>
                                    </a:solidFill>
                                    <a:effectLst/>
                                    <a:latin typeface="Cambria Math" panose="02040503050406030204" pitchFamily="18" charset="0"/>
                                    <a:ea typeface="+mn-ea"/>
                                    <a:cs typeface="+mn-cs"/>
                                  </a:rPr>
                                  <m:t>𝑖𝑠</m:t>
                                </m:r>
                                <m:r>
                                  <a:rPr lang="en-US" sz="2000" b="0" i="1" kern="1200" smtClean="0">
                                    <a:solidFill>
                                      <a:schemeClr val="dk1"/>
                                    </a:solidFill>
                                    <a:effectLst/>
                                    <a:latin typeface="Cambria Math" panose="02040503050406030204" pitchFamily="18" charset="0"/>
                                    <a:ea typeface="+mn-ea"/>
                                    <a:cs typeface="+mn-cs"/>
                                  </a:rPr>
                                  <m:t> </m:t>
                                </m:r>
                                <m:r>
                                  <a:rPr lang="en-US" sz="2000" b="0" i="1" kern="1200" smtClean="0">
                                    <a:solidFill>
                                      <a:schemeClr val="dk1"/>
                                    </a:solidFill>
                                    <a:effectLst/>
                                    <a:latin typeface="Cambria Math" panose="02040503050406030204" pitchFamily="18" charset="0"/>
                                    <a:ea typeface="+mn-ea"/>
                                    <a:cs typeface="+mn-cs"/>
                                  </a:rPr>
                                  <m:t>𝑖𝑛</m:t>
                                </m:r>
                                <m:r>
                                  <a:rPr lang="en-US" sz="2000" b="0" i="1" kern="1200" smtClean="0">
                                    <a:solidFill>
                                      <a:schemeClr val="dk1"/>
                                    </a:solidFill>
                                    <a:effectLst/>
                                    <a:latin typeface="Cambria Math" panose="02040503050406030204" pitchFamily="18" charset="0"/>
                                    <a:ea typeface="+mn-ea"/>
                                    <a:cs typeface="+mn-cs"/>
                                  </a:rPr>
                                  <m:t> </m:t>
                                </m:r>
                                <m:r>
                                  <a:rPr lang="en-US" sz="2000" b="0" i="1" kern="1200" smtClean="0">
                                    <a:solidFill>
                                      <a:schemeClr val="dk1"/>
                                    </a:solidFill>
                                    <a:effectLst/>
                                    <a:latin typeface="Cambria Math" panose="02040503050406030204" pitchFamily="18" charset="0"/>
                                    <a:ea typeface="+mn-ea"/>
                                    <a:cs typeface="+mn-cs"/>
                                  </a:rPr>
                                  <m:t>𝐿</m:t>
                                </m:r>
                                <m:r>
                                  <a:rPr lang="en-US" sz="2000" b="0" i="1" kern="1200" smtClean="0">
                                    <a:solidFill>
                                      <a:schemeClr val="dk1"/>
                                    </a:solidFill>
                                    <a:effectLst/>
                                    <a:latin typeface="Cambria Math" panose="02040503050406030204" pitchFamily="18" charset="0"/>
                                    <a:ea typeface="+mn-ea"/>
                                    <a:cs typeface="+mn-cs"/>
                                  </a:rPr>
                                  <m:t> </m:t>
                                </m:r>
                                <m:r>
                                  <a:rPr lang="en-US" sz="2000" b="0" i="1" kern="1200" smtClean="0">
                                    <a:solidFill>
                                      <a:schemeClr val="dk1"/>
                                    </a:solidFill>
                                    <a:effectLst/>
                                    <a:latin typeface="Cambria Math" panose="02040503050406030204" pitchFamily="18" charset="0"/>
                                    <a:ea typeface="+mn-ea"/>
                                    <a:cs typeface="+mn-cs"/>
                                  </a:rPr>
                                  <m:t>𝑎𝑛𝑑</m:t>
                                </m:r>
                                <m:r>
                                  <a:rPr lang="en-US" sz="2000" b="0" i="1" kern="1200" smtClean="0">
                                    <a:solidFill>
                                      <a:schemeClr val="dk1"/>
                                    </a:solidFill>
                                    <a:effectLst/>
                                    <a:latin typeface="Cambria Math" panose="02040503050406030204" pitchFamily="18" charset="0"/>
                                    <a:ea typeface="+mn-ea"/>
                                    <a:cs typeface="+mn-cs"/>
                                  </a:rPr>
                                  <m:t> </m:t>
                                </m:r>
                                <m:r>
                                  <a:rPr lang="en-US" sz="2000" b="0" i="1" kern="1200" smtClean="0">
                                    <a:solidFill>
                                      <a:schemeClr val="dk1"/>
                                    </a:solidFill>
                                    <a:effectLst/>
                                    <a:latin typeface="Cambria Math" panose="02040503050406030204" pitchFamily="18" charset="0"/>
                                    <a:ea typeface="+mn-ea"/>
                                    <a:cs typeface="+mn-cs"/>
                                  </a:rPr>
                                  <m:t>𝑡</m:t>
                                </m:r>
                                <m:r>
                                  <a:rPr lang="en-US" sz="2000" b="0" i="1" kern="1200" smtClean="0">
                                    <a:solidFill>
                                      <a:schemeClr val="dk1"/>
                                    </a:solidFill>
                                    <a:effectLst/>
                                    <a:latin typeface="Cambria Math" panose="02040503050406030204" pitchFamily="18" charset="0"/>
                                    <a:ea typeface="+mn-ea"/>
                                    <a:cs typeface="+mn-cs"/>
                                  </a:rPr>
                                  <m:t> </m:t>
                                </m:r>
                                <m:r>
                                  <a:rPr lang="en-US" sz="2000" b="0" i="1" kern="1200" smtClean="0">
                                    <a:solidFill>
                                      <a:schemeClr val="dk1"/>
                                    </a:solidFill>
                                    <a:effectLst/>
                                    <a:latin typeface="Cambria Math" panose="02040503050406030204" pitchFamily="18" charset="0"/>
                                    <a:ea typeface="+mn-ea"/>
                                    <a:cs typeface="+mn-cs"/>
                                  </a:rPr>
                                  <m:t>𝑖𝑠</m:t>
                                </m:r>
                                <m:r>
                                  <a:rPr lang="en-US" sz="2000" b="0" i="1" kern="1200" smtClean="0">
                                    <a:solidFill>
                                      <a:schemeClr val="dk1"/>
                                    </a:solidFill>
                                    <a:effectLst/>
                                    <a:latin typeface="Cambria Math" panose="02040503050406030204" pitchFamily="18" charset="0"/>
                                    <a:ea typeface="+mn-ea"/>
                                    <a:cs typeface="+mn-cs"/>
                                  </a:rPr>
                                  <m:t> </m:t>
                                </m:r>
                                <m:r>
                                  <a:rPr lang="en-US" sz="2000" b="0" i="1" kern="1200" smtClean="0">
                                    <a:solidFill>
                                      <a:schemeClr val="dk1"/>
                                    </a:solidFill>
                                    <a:effectLst/>
                                    <a:latin typeface="Cambria Math" panose="02040503050406030204" pitchFamily="18" charset="0"/>
                                    <a:ea typeface="+mn-ea"/>
                                    <a:cs typeface="+mn-cs"/>
                                  </a:rPr>
                                  <m:t>𝑖𝑛</m:t>
                                </m:r>
                                <m:r>
                                  <a:rPr lang="en-US" sz="2000" b="0" i="1" kern="1200" smtClean="0">
                                    <a:solidFill>
                                      <a:schemeClr val="dk1"/>
                                    </a:solidFill>
                                    <a:effectLst/>
                                    <a:latin typeface="Cambria Math" panose="02040503050406030204" pitchFamily="18" charset="0"/>
                                    <a:ea typeface="+mn-ea"/>
                                    <a:cs typeface="+mn-cs"/>
                                  </a:rPr>
                                  <m:t> </m:t>
                                </m:r>
                                <m:r>
                                  <a:rPr lang="en-US" sz="2000" b="0" i="1" kern="1200" smtClean="0">
                                    <a:solidFill>
                                      <a:schemeClr val="dk1"/>
                                    </a:solidFill>
                                    <a:effectLst/>
                                    <a:latin typeface="Cambria Math" panose="02040503050406030204" pitchFamily="18" charset="0"/>
                                    <a:ea typeface="+mn-ea"/>
                                    <a:cs typeface="+mn-cs"/>
                                  </a:rPr>
                                  <m:t>𝑀</m:t>
                                </m:r>
                                <m:r>
                                  <a:rPr lang="en-US" sz="2000" b="0" i="1" kern="1200" smtClean="0">
                                    <a:solidFill>
                                      <a:schemeClr val="dk1"/>
                                    </a:solidFill>
                                    <a:effectLst/>
                                    <a:latin typeface="Cambria Math" panose="02040503050406030204" pitchFamily="18" charset="0"/>
                                    <a:ea typeface="+mn-ea"/>
                                    <a:cs typeface="+mn-cs"/>
                                  </a:rPr>
                                  <m:t> }</m:t>
                                </m:r>
                              </m:oMath>
                            </m:oMathPara>
                          </a14:m>
                          <a:endParaRPr lang="en-US" sz="2000" b="0">
                            <a:effectLst/>
                            <a:latin typeface="+mj-lt"/>
                            <a:ea typeface="Calibri" panose="020F0502020204030204" pitchFamily="34" charset="0"/>
                            <a:cs typeface="Times New Roman" panose="02020603050405020304" pitchFamily="18" charset="0"/>
                          </a:endParaRPr>
                        </a:p>
                      </a:txBody>
                      <a:tcPr marL="114300" marR="114300" marT="0" marB="0" anchor="ctr">
                        <a:noFill/>
                      </a:tcPr>
                    </a:tc>
                    <a:extLst>
                      <a:ext uri="{0D108BD9-81ED-4DB2-BD59-A6C34878D82A}">
                        <a16:rowId xmlns:a16="http://schemas.microsoft.com/office/drawing/2014/main" val="10000"/>
                      </a:ext>
                    </a:extLst>
                  </a:tr>
                </a:tbl>
              </a:graphicData>
            </a:graphic>
          </p:graphicFrame>
        </mc:Choice>
        <mc:Fallback xmlns="">
          <p:graphicFrame>
            <p:nvGraphicFramePr>
              <p:cNvPr id="5" name="Content Placeholder 3">
                <a:extLst>
                  <a:ext uri="{FF2B5EF4-FFF2-40B4-BE49-F238E27FC236}">
                    <a16:creationId xmlns:a16="http://schemas.microsoft.com/office/drawing/2014/main" id="{311F9390-A7B0-12F5-478D-F5BBB2888099}"/>
                  </a:ext>
                </a:extLst>
              </p:cNvPr>
              <p:cNvGraphicFramePr/>
              <p:nvPr>
                <p:extLst>
                  <p:ext uri="{D42A27DB-BD31-4B8C-83A1-F6EECF244321}">
                    <p14:modId xmlns:p14="http://schemas.microsoft.com/office/powerpoint/2010/main" val="1066641887"/>
                  </p:ext>
                </p:extLst>
              </p:nvPr>
            </p:nvGraphicFramePr>
            <p:xfrm>
              <a:off x="1828800" y="2118360"/>
              <a:ext cx="8648701" cy="1005840"/>
            </p:xfrm>
            <a:graphic>
              <a:graphicData uri="http://schemas.openxmlformats.org/drawingml/2006/table">
                <a:tbl>
                  <a:tblPr firstRow="1" bandRow="1">
                    <a:tableStyleId>{D7AC3CCA-C797-4891-BE02-D94E43425B78}</a:tableStyleId>
                  </a:tblPr>
                  <a:tblGrid>
                    <a:gridCol w="2362200">
                      <a:extLst>
                        <a:ext uri="{9D8B030D-6E8A-4147-A177-3AD203B41FA5}">
                          <a16:colId xmlns:a16="http://schemas.microsoft.com/office/drawing/2014/main" val="20000"/>
                        </a:ext>
                      </a:extLst>
                    </a:gridCol>
                    <a:gridCol w="6286501">
                      <a:extLst>
                        <a:ext uri="{9D8B030D-6E8A-4147-A177-3AD203B41FA5}">
                          <a16:colId xmlns:a16="http://schemas.microsoft.com/office/drawing/2014/main" val="20001"/>
                        </a:ext>
                      </a:extLst>
                    </a:gridCol>
                  </a:tblGrid>
                  <a:tr h="1005840">
                    <a:tc>
                      <a:txBody>
                        <a:bodyPr/>
                        <a:lstStyle/>
                        <a:p>
                          <a:pPr algn="ctr"/>
                          <a:r>
                            <a:rPr lang="en-US" sz="2000" b="0" i="1">
                              <a:latin typeface="+mj-lt"/>
                            </a:rPr>
                            <a:t>Concatenation of L and M</a:t>
                          </a:r>
                        </a:p>
                        <a:p>
                          <a:pPr algn="ctr"/>
                          <a:r>
                            <a:rPr lang="en-US" sz="2000" b="0" i="1">
                              <a:latin typeface="+mj-lt"/>
                            </a:rPr>
                            <a:t>Written L</a:t>
                          </a:r>
                          <a:r>
                            <a:rPr lang="en-US" sz="2000" b="0" i="1" baseline="0">
                              <a:latin typeface="+mj-lt"/>
                            </a:rPr>
                            <a:t>M</a:t>
                          </a:r>
                          <a:endParaRPr lang="en-US" sz="2000" b="0" i="1">
                            <a:latin typeface="+mj-lt"/>
                          </a:endParaRPr>
                        </a:p>
                      </a:txBody>
                      <a:tcPr anchor="ctr">
                        <a:noFill/>
                      </a:tcPr>
                    </a:tc>
                    <a:tc>
                      <a:txBody>
                        <a:bodyPr/>
                        <a:lstStyle/>
                        <a:p>
                          <a:endParaRPr lang="en-US"/>
                        </a:p>
                      </a:txBody>
                      <a:tcPr marL="114300" marR="114300" marT="0" marB="0" anchor="ctr">
                        <a:blipFill>
                          <a:blip r:embed="rId3"/>
                          <a:stretch>
                            <a:fillRect l="-37827" t="-3012" r="-194" b="-10241"/>
                          </a:stretch>
                        </a:blipFill>
                      </a:tcPr>
                    </a:tc>
                    <a:extLst>
                      <a:ext uri="{0D108BD9-81ED-4DB2-BD59-A6C34878D82A}">
                        <a16:rowId xmlns:a16="http://schemas.microsoft.com/office/drawing/2014/main" val="10000"/>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6" name="Table 5">
                <a:extLst>
                  <a:ext uri="{FF2B5EF4-FFF2-40B4-BE49-F238E27FC236}">
                    <a16:creationId xmlns:a16="http://schemas.microsoft.com/office/drawing/2014/main" id="{E8AE3292-42DA-5D37-784F-5B2CE024956E}"/>
                  </a:ext>
                </a:extLst>
              </p:cNvPr>
              <p:cNvGraphicFramePr>
                <a:graphicFrameLocks noGrp="1"/>
              </p:cNvGraphicFramePr>
              <p:nvPr>
                <p:extLst>
                  <p:ext uri="{D42A27DB-BD31-4B8C-83A1-F6EECF244321}">
                    <p14:modId xmlns:p14="http://schemas.microsoft.com/office/powerpoint/2010/main" val="1115516830"/>
                  </p:ext>
                </p:extLst>
              </p:nvPr>
            </p:nvGraphicFramePr>
            <p:xfrm>
              <a:off x="1828799" y="3122546"/>
              <a:ext cx="8648701" cy="701040"/>
            </p:xfrm>
            <a:graphic>
              <a:graphicData uri="http://schemas.openxmlformats.org/drawingml/2006/table">
                <a:tbl>
                  <a:tblPr firstRow="1" bandRow="1">
                    <a:tableStyleId>{D7AC3CCA-C797-4891-BE02-D94E43425B78}</a:tableStyleId>
                  </a:tblPr>
                  <a:tblGrid>
                    <a:gridCol w="2362200">
                      <a:extLst>
                        <a:ext uri="{9D8B030D-6E8A-4147-A177-3AD203B41FA5}">
                          <a16:colId xmlns:a16="http://schemas.microsoft.com/office/drawing/2014/main" val="20000"/>
                        </a:ext>
                      </a:extLst>
                    </a:gridCol>
                    <a:gridCol w="6286501">
                      <a:extLst>
                        <a:ext uri="{9D8B030D-6E8A-4147-A177-3AD203B41FA5}">
                          <a16:colId xmlns:a16="http://schemas.microsoft.com/office/drawing/2014/main" val="20001"/>
                        </a:ext>
                      </a:extLst>
                    </a:gridCol>
                  </a:tblGrid>
                  <a:tr h="283817">
                    <a:tc>
                      <a:txBody>
                        <a:bodyPr/>
                        <a:lstStyle/>
                        <a:p>
                          <a:pPr algn="ctr"/>
                          <a:r>
                            <a:rPr lang="en-US" sz="2000" b="0" i="0">
                              <a:latin typeface="+mj-lt"/>
                            </a:rPr>
                            <a:t>Kleene closure of L </a:t>
                          </a:r>
                          <a:endParaRPr lang="en-US" sz="2000" b="0" i="1">
                            <a:latin typeface="+mj-lt"/>
                          </a:endParaRPr>
                        </a:p>
                        <a:p>
                          <a:pPr algn="ctr"/>
                          <a:r>
                            <a:rPr lang="en-US" sz="2000" b="0" i="0">
                              <a:latin typeface="+mj-lt"/>
                            </a:rPr>
                            <a:t>Written L</a:t>
                          </a:r>
                          <a:r>
                            <a:rPr lang="en-US" sz="2000" b="0" i="0" baseline="30000">
                              <a:latin typeface="+mj-lt"/>
                            </a:rPr>
                            <a:t>∗</a:t>
                          </a:r>
                          <a:endParaRPr lang="en-US" sz="2000" b="0" i="1" baseline="30000">
                            <a:latin typeface="+mj-lt"/>
                          </a:endParaRPr>
                        </a:p>
                      </a:txBody>
                      <a:tcPr anchor="ctr">
                        <a:noFill/>
                      </a:tcPr>
                    </a:tc>
                    <a:tc>
                      <a:txBody>
                        <a:bodyPr/>
                        <a:lstStyle/>
                        <a:p>
                          <a:pPr marL="0" marR="0" algn="ctr">
                            <a:lnSpc>
                              <a:spcPct val="115000"/>
                            </a:lnSpc>
                            <a:spcBef>
                              <a:spcPct val="0"/>
                            </a:spcBef>
                            <a:spcAft>
                              <a:spcPts val="600"/>
                            </a:spcAft>
                          </a:pPr>
                          <a14:m>
                            <m:oMathPara xmlns:m="http://schemas.openxmlformats.org/officeDocument/2006/math">
                              <m:oMathParaPr>
                                <m:jc m:val="centerGroup"/>
                              </m:oMathParaPr>
                              <m:oMath xmlns:m="http://schemas.openxmlformats.org/officeDocument/2006/math">
                                <m:r>
                                  <a:rPr lang="en-US" sz="2000" b="0" i="1" kern="1200" smtClean="0">
                                    <a:solidFill>
                                      <a:schemeClr val="dk1"/>
                                    </a:solidFill>
                                    <a:effectLst/>
                                    <a:latin typeface="Cambria Math" panose="02040503050406030204" pitchFamily="18" charset="0"/>
                                    <a:ea typeface="+mn-ea"/>
                                    <a:cs typeface="+mn-cs"/>
                                  </a:rPr>
                                  <m:t>𝐿</m:t>
                                </m:r>
                                <m:r>
                                  <a:rPr lang="en-US" sz="2000" b="0" i="1" kern="1200" baseline="30000" smtClean="0">
                                    <a:solidFill>
                                      <a:schemeClr val="dk1"/>
                                    </a:solidFill>
                                    <a:effectLst/>
                                    <a:latin typeface="Cambria Math" panose="02040503050406030204" pitchFamily="18" charset="0"/>
                                    <a:ea typeface="+mn-ea"/>
                                    <a:cs typeface="+mn-cs"/>
                                  </a:rPr>
                                  <m:t>∗</m:t>
                                </m:r>
                                <m:r>
                                  <a:rPr lang="en-US" sz="2000" b="0" i="1" kern="1200" smtClean="0">
                                    <a:solidFill>
                                      <a:schemeClr val="dk1"/>
                                    </a:solidFill>
                                    <a:effectLst/>
                                    <a:latin typeface="Cambria Math" panose="02040503050406030204" pitchFamily="18" charset="0"/>
                                    <a:ea typeface="+mn-ea"/>
                                    <a:cs typeface="+mn-cs"/>
                                  </a:rPr>
                                  <m:t> </m:t>
                                </m:r>
                                <m:r>
                                  <a:rPr lang="en-US" sz="2000" b="0" i="1" kern="1200" smtClean="0">
                                    <a:solidFill>
                                      <a:schemeClr val="dk1"/>
                                    </a:solidFill>
                                    <a:effectLst/>
                                    <a:latin typeface="Cambria Math" panose="02040503050406030204" pitchFamily="18" charset="0"/>
                                    <a:ea typeface="+mn-ea"/>
                                    <a:cs typeface="+mn-cs"/>
                                  </a:rPr>
                                  <m:t>𝑑𝑒𝑛𝑜𝑡𝑒𝑠</m:t>
                                </m:r>
                                <m:r>
                                  <a:rPr lang="en-US" sz="2000" b="0" i="1" kern="1200" smtClean="0">
                                    <a:solidFill>
                                      <a:schemeClr val="dk1"/>
                                    </a:solidFill>
                                    <a:effectLst/>
                                    <a:latin typeface="Cambria Math" panose="02040503050406030204" pitchFamily="18" charset="0"/>
                                    <a:ea typeface="+mn-ea"/>
                                    <a:cs typeface="+mn-cs"/>
                                  </a:rPr>
                                  <m:t> “</m:t>
                                </m:r>
                                <m:r>
                                  <a:rPr lang="en-US" sz="2000" b="0" i="1" kern="1200" smtClean="0">
                                    <a:solidFill>
                                      <a:schemeClr val="dk1"/>
                                    </a:solidFill>
                                    <a:effectLst/>
                                    <a:latin typeface="Cambria Math" panose="02040503050406030204" pitchFamily="18" charset="0"/>
                                    <a:ea typeface="+mn-ea"/>
                                    <a:cs typeface="+mn-cs"/>
                                  </a:rPr>
                                  <m:t>𝑧𝑒𝑟𝑜</m:t>
                                </m:r>
                                <m:r>
                                  <a:rPr lang="en-US" sz="2000" b="0" i="1" kern="1200" smtClean="0">
                                    <a:solidFill>
                                      <a:schemeClr val="dk1"/>
                                    </a:solidFill>
                                    <a:effectLst/>
                                    <a:latin typeface="Cambria Math" panose="02040503050406030204" pitchFamily="18" charset="0"/>
                                    <a:ea typeface="+mn-ea"/>
                                    <a:cs typeface="+mn-cs"/>
                                  </a:rPr>
                                  <m:t> </m:t>
                                </m:r>
                                <m:r>
                                  <a:rPr lang="en-US" sz="2000" b="0" i="1" kern="1200" smtClean="0">
                                    <a:solidFill>
                                      <a:schemeClr val="dk1"/>
                                    </a:solidFill>
                                    <a:effectLst/>
                                    <a:latin typeface="Cambria Math" panose="02040503050406030204" pitchFamily="18" charset="0"/>
                                    <a:ea typeface="+mn-ea"/>
                                    <a:cs typeface="+mn-cs"/>
                                  </a:rPr>
                                  <m:t>𝑜𝑟</m:t>
                                </m:r>
                                <m:r>
                                  <a:rPr lang="en-US" sz="2000" b="0" i="1" kern="1200" smtClean="0">
                                    <a:solidFill>
                                      <a:schemeClr val="dk1"/>
                                    </a:solidFill>
                                    <a:effectLst/>
                                    <a:latin typeface="Cambria Math" panose="02040503050406030204" pitchFamily="18" charset="0"/>
                                    <a:ea typeface="+mn-ea"/>
                                    <a:cs typeface="+mn-cs"/>
                                  </a:rPr>
                                  <m:t> </m:t>
                                </m:r>
                                <m:r>
                                  <a:rPr lang="en-US" sz="2000" b="0" i="1" kern="1200" smtClean="0">
                                    <a:solidFill>
                                      <a:schemeClr val="dk1"/>
                                    </a:solidFill>
                                    <a:effectLst/>
                                    <a:latin typeface="Cambria Math" panose="02040503050406030204" pitchFamily="18" charset="0"/>
                                    <a:ea typeface="+mn-ea"/>
                                    <a:cs typeface="+mn-cs"/>
                                  </a:rPr>
                                  <m:t>𝑚𝑜𝑟𝑒</m:t>
                                </m:r>
                                <m:r>
                                  <a:rPr lang="en-US" sz="2000" b="0" i="1" kern="1200" smtClean="0">
                                    <a:solidFill>
                                      <a:schemeClr val="dk1"/>
                                    </a:solidFill>
                                    <a:effectLst/>
                                    <a:latin typeface="Cambria Math" panose="02040503050406030204" pitchFamily="18" charset="0"/>
                                    <a:ea typeface="+mn-ea"/>
                                    <a:cs typeface="+mn-cs"/>
                                  </a:rPr>
                                  <m:t> </m:t>
                                </m:r>
                                <m:r>
                                  <a:rPr lang="en-US" sz="2000" b="0" i="1" kern="1200" smtClean="0">
                                    <a:solidFill>
                                      <a:schemeClr val="dk1"/>
                                    </a:solidFill>
                                    <a:effectLst/>
                                    <a:latin typeface="Cambria Math" panose="02040503050406030204" pitchFamily="18" charset="0"/>
                                    <a:ea typeface="+mn-ea"/>
                                    <a:cs typeface="+mn-cs"/>
                                  </a:rPr>
                                  <m:t>𝑐𝑜𝑛𝑐𝑎𝑡𝑒𝑛𝑎𝑡𝑖𝑜𝑛</m:t>
                                </m:r>
                                <m:r>
                                  <a:rPr lang="en-US" sz="2000" b="0" i="1" kern="1200" smtClean="0">
                                    <a:solidFill>
                                      <a:schemeClr val="dk1"/>
                                    </a:solidFill>
                                    <a:effectLst/>
                                    <a:latin typeface="Cambria Math" panose="02040503050406030204" pitchFamily="18" charset="0"/>
                                    <a:ea typeface="+mn-ea"/>
                                    <a:cs typeface="+mn-cs"/>
                                  </a:rPr>
                                  <m:t> </m:t>
                                </m:r>
                                <m:r>
                                  <a:rPr lang="en-US" sz="2000" b="0" i="1" kern="1200" smtClean="0">
                                    <a:solidFill>
                                      <a:schemeClr val="dk1"/>
                                    </a:solidFill>
                                    <a:effectLst/>
                                    <a:latin typeface="Cambria Math" panose="02040503050406030204" pitchFamily="18" charset="0"/>
                                    <a:ea typeface="+mn-ea"/>
                                    <a:cs typeface="+mn-cs"/>
                                  </a:rPr>
                                  <m:t>𝑜𝑓</m:t>
                                </m:r>
                                <m:r>
                                  <a:rPr lang="en-US" sz="2000" b="0" i="1" kern="1200" smtClean="0">
                                    <a:solidFill>
                                      <a:schemeClr val="dk1"/>
                                    </a:solidFill>
                                    <a:effectLst/>
                                    <a:latin typeface="Cambria Math" panose="02040503050406030204" pitchFamily="18" charset="0"/>
                                    <a:ea typeface="+mn-ea"/>
                                    <a:cs typeface="+mn-cs"/>
                                  </a:rPr>
                                  <m:t>” </m:t>
                                </m:r>
                                <m:r>
                                  <a:rPr lang="en-US" sz="2000" b="0" i="1" kern="1200" smtClean="0">
                                    <a:solidFill>
                                      <a:schemeClr val="dk1"/>
                                    </a:solidFill>
                                    <a:effectLst/>
                                    <a:latin typeface="Cambria Math" panose="02040503050406030204" pitchFamily="18" charset="0"/>
                                    <a:ea typeface="+mn-ea"/>
                                    <a:cs typeface="+mn-cs"/>
                                  </a:rPr>
                                  <m:t>𝐿</m:t>
                                </m:r>
                                <m:r>
                                  <a:rPr lang="en-US" sz="2000" b="0" i="1" kern="1200" smtClean="0">
                                    <a:solidFill>
                                      <a:schemeClr val="dk1"/>
                                    </a:solidFill>
                                    <a:effectLst/>
                                    <a:latin typeface="Cambria Math" panose="02040503050406030204" pitchFamily="18" charset="0"/>
                                    <a:ea typeface="+mn-ea"/>
                                    <a:cs typeface="+mn-cs"/>
                                  </a:rPr>
                                  <m:t>.</m:t>
                                </m:r>
                              </m:oMath>
                            </m:oMathPara>
                          </a14:m>
                          <a:endParaRPr lang="en-US" sz="2000" b="0">
                            <a:solidFill>
                              <a:schemeClr val="accent1">
                                <a:lumMod val="75000"/>
                              </a:schemeClr>
                            </a:solidFill>
                            <a:effectLst/>
                            <a:latin typeface="+mj-lt"/>
                            <a:ea typeface="Calibri" panose="020F0502020204030204" pitchFamily="34" charset="0"/>
                            <a:cs typeface="Times New Roman" panose="02020603050405020304" pitchFamily="18" charset="0"/>
                          </a:endParaRPr>
                        </a:p>
                      </a:txBody>
                      <a:tcPr marL="114300" marR="114300" marT="0" marB="0" anchor="ctr">
                        <a:noFill/>
                      </a:tcPr>
                    </a:tc>
                    <a:extLst>
                      <a:ext uri="{0D108BD9-81ED-4DB2-BD59-A6C34878D82A}">
                        <a16:rowId xmlns:a16="http://schemas.microsoft.com/office/drawing/2014/main" val="10000"/>
                      </a:ext>
                    </a:extLst>
                  </a:tr>
                </a:tbl>
              </a:graphicData>
            </a:graphic>
          </p:graphicFrame>
        </mc:Choice>
        <mc:Fallback xmlns="">
          <p:graphicFrame>
            <p:nvGraphicFramePr>
              <p:cNvPr id="6" name="Table 5">
                <a:extLst>
                  <a:ext uri="{FF2B5EF4-FFF2-40B4-BE49-F238E27FC236}">
                    <a16:creationId xmlns:a16="http://schemas.microsoft.com/office/drawing/2014/main" id="{E8AE3292-42DA-5D37-784F-5B2CE024956E}"/>
                  </a:ext>
                </a:extLst>
              </p:cNvPr>
              <p:cNvGraphicFramePr>
                <a:graphicFrameLocks noGrp="1"/>
              </p:cNvGraphicFramePr>
              <p:nvPr>
                <p:extLst>
                  <p:ext uri="{D42A27DB-BD31-4B8C-83A1-F6EECF244321}">
                    <p14:modId xmlns:p14="http://schemas.microsoft.com/office/powerpoint/2010/main" val="1115516830"/>
                  </p:ext>
                </p:extLst>
              </p:nvPr>
            </p:nvGraphicFramePr>
            <p:xfrm>
              <a:off x="1828799" y="3122546"/>
              <a:ext cx="8648701" cy="701040"/>
            </p:xfrm>
            <a:graphic>
              <a:graphicData uri="http://schemas.openxmlformats.org/drawingml/2006/table">
                <a:tbl>
                  <a:tblPr firstRow="1" bandRow="1">
                    <a:tableStyleId>{D7AC3CCA-C797-4891-BE02-D94E43425B78}</a:tableStyleId>
                  </a:tblPr>
                  <a:tblGrid>
                    <a:gridCol w="2362200">
                      <a:extLst>
                        <a:ext uri="{9D8B030D-6E8A-4147-A177-3AD203B41FA5}">
                          <a16:colId xmlns:a16="http://schemas.microsoft.com/office/drawing/2014/main" val="20000"/>
                        </a:ext>
                      </a:extLst>
                    </a:gridCol>
                    <a:gridCol w="6286501">
                      <a:extLst>
                        <a:ext uri="{9D8B030D-6E8A-4147-A177-3AD203B41FA5}">
                          <a16:colId xmlns:a16="http://schemas.microsoft.com/office/drawing/2014/main" val="20001"/>
                        </a:ext>
                      </a:extLst>
                    </a:gridCol>
                  </a:tblGrid>
                  <a:tr h="701040">
                    <a:tc>
                      <a:txBody>
                        <a:bodyPr/>
                        <a:lstStyle/>
                        <a:p>
                          <a:pPr algn="ctr"/>
                          <a:r>
                            <a:rPr lang="en-US" sz="2000" b="0" i="0">
                              <a:latin typeface="+mj-lt"/>
                            </a:rPr>
                            <a:t>Kleene closure of L </a:t>
                          </a:r>
                          <a:endParaRPr lang="en-US" sz="2000" b="0" i="1">
                            <a:latin typeface="+mj-lt"/>
                          </a:endParaRPr>
                        </a:p>
                        <a:p>
                          <a:pPr algn="ctr"/>
                          <a:r>
                            <a:rPr lang="en-US" sz="2000" b="0" i="0">
                              <a:latin typeface="+mj-lt"/>
                            </a:rPr>
                            <a:t>Written L</a:t>
                          </a:r>
                          <a:r>
                            <a:rPr lang="en-US" sz="2000" b="0" i="0" baseline="30000">
                              <a:latin typeface="+mj-lt"/>
                            </a:rPr>
                            <a:t>∗</a:t>
                          </a:r>
                          <a:endParaRPr lang="en-US" sz="2000" b="0" i="1" baseline="30000">
                            <a:latin typeface="+mj-lt"/>
                          </a:endParaRPr>
                        </a:p>
                      </a:txBody>
                      <a:tcPr anchor="ctr">
                        <a:noFill/>
                      </a:tcPr>
                    </a:tc>
                    <a:tc>
                      <a:txBody>
                        <a:bodyPr/>
                        <a:lstStyle/>
                        <a:p>
                          <a:endParaRPr lang="en-US"/>
                        </a:p>
                      </a:txBody>
                      <a:tcPr marL="114300" marR="114300" marT="0" marB="0" anchor="ctr">
                        <a:blipFill>
                          <a:blip r:embed="rId4"/>
                          <a:stretch>
                            <a:fillRect l="-37694" t="-4310" r="-194" b="-14655"/>
                          </a:stretch>
                        </a:blipFill>
                      </a:tcPr>
                    </a:tc>
                    <a:extLst>
                      <a:ext uri="{0D108BD9-81ED-4DB2-BD59-A6C34878D82A}">
                        <a16:rowId xmlns:a16="http://schemas.microsoft.com/office/drawing/2014/main" val="10000"/>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7" name="Table 6">
                <a:extLst>
                  <a:ext uri="{FF2B5EF4-FFF2-40B4-BE49-F238E27FC236}">
                    <a16:creationId xmlns:a16="http://schemas.microsoft.com/office/drawing/2014/main" id="{55AAA38C-7BA6-2061-2C9C-ADF432EE8D1C}"/>
                  </a:ext>
                </a:extLst>
              </p:cNvPr>
              <p:cNvGraphicFramePr>
                <a:graphicFrameLocks noGrp="1"/>
              </p:cNvGraphicFramePr>
              <p:nvPr>
                <p:extLst>
                  <p:ext uri="{D42A27DB-BD31-4B8C-83A1-F6EECF244321}">
                    <p14:modId xmlns:p14="http://schemas.microsoft.com/office/powerpoint/2010/main" val="3943543869"/>
                  </p:ext>
                </p:extLst>
              </p:nvPr>
            </p:nvGraphicFramePr>
            <p:xfrm>
              <a:off x="1828799" y="3823586"/>
              <a:ext cx="8648701" cy="701040"/>
            </p:xfrm>
            <a:graphic>
              <a:graphicData uri="http://schemas.openxmlformats.org/drawingml/2006/table">
                <a:tbl>
                  <a:tblPr firstRow="1" bandRow="1">
                    <a:tableStyleId>{D7AC3CCA-C797-4891-BE02-D94E43425B78}</a:tableStyleId>
                  </a:tblPr>
                  <a:tblGrid>
                    <a:gridCol w="2362200">
                      <a:extLst>
                        <a:ext uri="{9D8B030D-6E8A-4147-A177-3AD203B41FA5}">
                          <a16:colId xmlns:a16="http://schemas.microsoft.com/office/drawing/2014/main" val="20000"/>
                        </a:ext>
                      </a:extLst>
                    </a:gridCol>
                    <a:gridCol w="6286501">
                      <a:extLst>
                        <a:ext uri="{9D8B030D-6E8A-4147-A177-3AD203B41FA5}">
                          <a16:colId xmlns:a16="http://schemas.microsoft.com/office/drawing/2014/main" val="20001"/>
                        </a:ext>
                      </a:extLst>
                    </a:gridCol>
                  </a:tblGrid>
                  <a:tr h="283817">
                    <a:tc>
                      <a:txBody>
                        <a:bodyPr/>
                        <a:lstStyle/>
                        <a:p>
                          <a:pPr algn="ctr"/>
                          <a:r>
                            <a:rPr lang="en-US" sz="2000" b="0" i="1"/>
                            <a:t>Positive closure of L </a:t>
                          </a:r>
                        </a:p>
                        <a:p>
                          <a:pPr algn="ctr"/>
                          <a:r>
                            <a:rPr lang="en-US" sz="2000" b="0" i="1"/>
                            <a:t>Written L</a:t>
                          </a:r>
                          <a:r>
                            <a:rPr lang="en-US" sz="2000" b="0" i="1" baseline="30000"/>
                            <a:t>+</a:t>
                          </a:r>
                        </a:p>
                      </a:txBody>
                      <a:tcPr anchor="ctr">
                        <a:noFill/>
                      </a:tcPr>
                    </a:tc>
                    <a:tc>
                      <a:txBody>
                        <a:bodyPr/>
                        <a:lstStyle/>
                        <a:p>
                          <a:pPr marL="0" marR="0" algn="ctr">
                            <a:lnSpc>
                              <a:spcPct val="115000"/>
                            </a:lnSpc>
                            <a:spcBef>
                              <a:spcPct val="0"/>
                            </a:spcBef>
                            <a:spcAft>
                              <a:spcPts val="600"/>
                            </a:spcAft>
                          </a:pPr>
                          <a14:m>
                            <m:oMathPara xmlns:m="http://schemas.openxmlformats.org/officeDocument/2006/math">
                              <m:oMathParaPr>
                                <m:jc m:val="centerGroup"/>
                              </m:oMathParaPr>
                              <m:oMath xmlns:m="http://schemas.openxmlformats.org/officeDocument/2006/math">
                                <m:r>
                                  <a:rPr lang="en-US" sz="2000" b="0" i="1" kern="1200" smtClean="0">
                                    <a:solidFill>
                                      <a:schemeClr val="dk1"/>
                                    </a:solidFill>
                                    <a:effectLst/>
                                    <a:latin typeface="Cambria Math" panose="02040503050406030204" pitchFamily="18" charset="0"/>
                                    <a:ea typeface="+mn-ea"/>
                                    <a:cs typeface="+mn-cs"/>
                                  </a:rPr>
                                  <m:t>𝐿</m:t>
                                </m:r>
                                <m:r>
                                  <a:rPr lang="en-US" sz="2000" b="0" i="1" baseline="30000" smtClean="0">
                                    <a:latin typeface="Cambria Math" panose="02040503050406030204" pitchFamily="18" charset="0"/>
                                  </a:rPr>
                                  <m:t>+</m:t>
                                </m:r>
                                <m:r>
                                  <a:rPr lang="en-US" sz="2000" b="0" i="1" kern="1200" smtClean="0">
                                    <a:solidFill>
                                      <a:schemeClr val="dk1"/>
                                    </a:solidFill>
                                    <a:effectLst/>
                                    <a:latin typeface="Cambria Math" panose="02040503050406030204" pitchFamily="18" charset="0"/>
                                    <a:ea typeface="+mn-ea"/>
                                    <a:cs typeface="+mn-cs"/>
                                  </a:rPr>
                                  <m:t> </m:t>
                                </m:r>
                                <m:r>
                                  <a:rPr lang="en-US" sz="2000" b="0" i="1" kern="1200" smtClean="0">
                                    <a:solidFill>
                                      <a:schemeClr val="dk1"/>
                                    </a:solidFill>
                                    <a:effectLst/>
                                    <a:latin typeface="Cambria Math" panose="02040503050406030204" pitchFamily="18" charset="0"/>
                                    <a:ea typeface="+mn-ea"/>
                                    <a:cs typeface="+mn-cs"/>
                                  </a:rPr>
                                  <m:t>𝑑𝑒𝑛𝑜𝑡𝑒𝑠</m:t>
                                </m:r>
                                <m:r>
                                  <a:rPr lang="en-US" sz="2000" b="0" i="1" kern="1200" smtClean="0">
                                    <a:solidFill>
                                      <a:schemeClr val="dk1"/>
                                    </a:solidFill>
                                    <a:effectLst/>
                                    <a:latin typeface="Cambria Math" panose="02040503050406030204" pitchFamily="18" charset="0"/>
                                    <a:ea typeface="+mn-ea"/>
                                    <a:cs typeface="+mn-cs"/>
                                  </a:rPr>
                                  <m:t> “</m:t>
                                </m:r>
                                <m:r>
                                  <a:rPr lang="en-US" sz="2000" b="0" i="1" kern="1200" smtClean="0">
                                    <a:solidFill>
                                      <a:schemeClr val="dk1"/>
                                    </a:solidFill>
                                    <a:effectLst/>
                                    <a:latin typeface="Cambria Math" panose="02040503050406030204" pitchFamily="18" charset="0"/>
                                    <a:ea typeface="+mn-ea"/>
                                    <a:cs typeface="+mn-cs"/>
                                  </a:rPr>
                                  <m:t>𝑜𝑛𝑒</m:t>
                                </m:r>
                                <m:r>
                                  <a:rPr lang="en-US" sz="2000" b="0" i="1" kern="1200" smtClean="0">
                                    <a:solidFill>
                                      <a:schemeClr val="dk1"/>
                                    </a:solidFill>
                                    <a:effectLst/>
                                    <a:latin typeface="Cambria Math" panose="02040503050406030204" pitchFamily="18" charset="0"/>
                                    <a:ea typeface="+mn-ea"/>
                                    <a:cs typeface="+mn-cs"/>
                                  </a:rPr>
                                  <m:t> </m:t>
                                </m:r>
                                <m:r>
                                  <a:rPr lang="en-US" sz="2000" b="0" i="1" kern="1200" smtClean="0">
                                    <a:solidFill>
                                      <a:schemeClr val="dk1"/>
                                    </a:solidFill>
                                    <a:effectLst/>
                                    <a:latin typeface="Cambria Math" panose="02040503050406030204" pitchFamily="18" charset="0"/>
                                    <a:ea typeface="+mn-ea"/>
                                    <a:cs typeface="+mn-cs"/>
                                  </a:rPr>
                                  <m:t>𝑜𝑟</m:t>
                                </m:r>
                                <m:r>
                                  <a:rPr lang="en-US" sz="2000" b="0" i="1" kern="1200" smtClean="0">
                                    <a:solidFill>
                                      <a:schemeClr val="dk1"/>
                                    </a:solidFill>
                                    <a:effectLst/>
                                    <a:latin typeface="Cambria Math" panose="02040503050406030204" pitchFamily="18" charset="0"/>
                                    <a:ea typeface="+mn-ea"/>
                                    <a:cs typeface="+mn-cs"/>
                                  </a:rPr>
                                  <m:t> </m:t>
                                </m:r>
                                <m:r>
                                  <a:rPr lang="en-US" sz="2000" b="0" i="1" kern="1200" smtClean="0">
                                    <a:solidFill>
                                      <a:schemeClr val="dk1"/>
                                    </a:solidFill>
                                    <a:effectLst/>
                                    <a:latin typeface="Cambria Math" panose="02040503050406030204" pitchFamily="18" charset="0"/>
                                    <a:ea typeface="+mn-ea"/>
                                    <a:cs typeface="+mn-cs"/>
                                  </a:rPr>
                                  <m:t>𝑚𝑜𝑟𝑒</m:t>
                                </m:r>
                                <m:r>
                                  <a:rPr lang="en-US" sz="2000" b="0" i="1" kern="1200" smtClean="0">
                                    <a:solidFill>
                                      <a:schemeClr val="dk1"/>
                                    </a:solidFill>
                                    <a:effectLst/>
                                    <a:latin typeface="Cambria Math" panose="02040503050406030204" pitchFamily="18" charset="0"/>
                                    <a:ea typeface="+mn-ea"/>
                                    <a:cs typeface="+mn-cs"/>
                                  </a:rPr>
                                  <m:t> </m:t>
                                </m:r>
                                <m:r>
                                  <a:rPr lang="en-US" sz="2000" b="0" i="1" kern="1200" smtClean="0">
                                    <a:solidFill>
                                      <a:schemeClr val="dk1"/>
                                    </a:solidFill>
                                    <a:effectLst/>
                                    <a:latin typeface="Cambria Math" panose="02040503050406030204" pitchFamily="18" charset="0"/>
                                    <a:ea typeface="+mn-ea"/>
                                    <a:cs typeface="+mn-cs"/>
                                  </a:rPr>
                                  <m:t>𝑐𝑜𝑛𝑐𝑎𝑡𝑒𝑛𝑎𝑡𝑖𝑜𝑛</m:t>
                                </m:r>
                                <m:r>
                                  <a:rPr lang="en-US" sz="2000" b="0" i="1" kern="1200" smtClean="0">
                                    <a:solidFill>
                                      <a:schemeClr val="dk1"/>
                                    </a:solidFill>
                                    <a:effectLst/>
                                    <a:latin typeface="Cambria Math" panose="02040503050406030204" pitchFamily="18" charset="0"/>
                                    <a:ea typeface="+mn-ea"/>
                                    <a:cs typeface="+mn-cs"/>
                                  </a:rPr>
                                  <m:t> </m:t>
                                </m:r>
                                <m:r>
                                  <a:rPr lang="en-US" sz="2000" b="0" i="1" kern="1200" smtClean="0">
                                    <a:solidFill>
                                      <a:schemeClr val="dk1"/>
                                    </a:solidFill>
                                    <a:effectLst/>
                                    <a:latin typeface="Cambria Math" panose="02040503050406030204" pitchFamily="18" charset="0"/>
                                    <a:ea typeface="+mn-ea"/>
                                    <a:cs typeface="+mn-cs"/>
                                  </a:rPr>
                                  <m:t>𝑜𝑓</m:t>
                                </m:r>
                                <m:r>
                                  <a:rPr lang="en-US" sz="2000" b="0" i="1" kern="1200" smtClean="0">
                                    <a:solidFill>
                                      <a:schemeClr val="dk1"/>
                                    </a:solidFill>
                                    <a:effectLst/>
                                    <a:latin typeface="Cambria Math" panose="02040503050406030204" pitchFamily="18" charset="0"/>
                                    <a:ea typeface="+mn-ea"/>
                                    <a:cs typeface="+mn-cs"/>
                                  </a:rPr>
                                  <m:t>” </m:t>
                                </m:r>
                                <m:r>
                                  <a:rPr lang="en-US" sz="2000" b="0" i="1" kern="1200" smtClean="0">
                                    <a:solidFill>
                                      <a:schemeClr val="dk1"/>
                                    </a:solidFill>
                                    <a:effectLst/>
                                    <a:latin typeface="Cambria Math" panose="02040503050406030204" pitchFamily="18" charset="0"/>
                                    <a:ea typeface="+mn-ea"/>
                                    <a:cs typeface="+mn-cs"/>
                                  </a:rPr>
                                  <m:t>𝐿</m:t>
                                </m:r>
                                <m:r>
                                  <a:rPr lang="en-US" sz="2000" b="0" i="1" kern="1200" smtClean="0">
                                    <a:solidFill>
                                      <a:schemeClr val="dk1"/>
                                    </a:solidFill>
                                    <a:effectLst/>
                                    <a:latin typeface="Cambria Math" panose="02040503050406030204" pitchFamily="18" charset="0"/>
                                    <a:ea typeface="+mn-ea"/>
                                    <a:cs typeface="+mn-cs"/>
                                  </a:rPr>
                                  <m:t>.</m:t>
                                </m:r>
                              </m:oMath>
                            </m:oMathPara>
                          </a14:m>
                          <a:endParaRPr lang="en-US" sz="2000" b="0">
                            <a:solidFill>
                              <a:schemeClr val="accent1">
                                <a:lumMod val="75000"/>
                              </a:schemeClr>
                            </a:solidFill>
                            <a:effectLst/>
                            <a:latin typeface="+mj-lt"/>
                            <a:ea typeface="Calibri" panose="020F0502020204030204" pitchFamily="34" charset="0"/>
                            <a:cs typeface="Times New Roman" panose="02020603050405020304" pitchFamily="18" charset="0"/>
                          </a:endParaRPr>
                        </a:p>
                      </a:txBody>
                      <a:tcPr marL="114300" marR="114300" marT="0" marB="0" anchor="ctr">
                        <a:noFill/>
                      </a:tcPr>
                    </a:tc>
                    <a:extLst>
                      <a:ext uri="{0D108BD9-81ED-4DB2-BD59-A6C34878D82A}">
                        <a16:rowId xmlns:a16="http://schemas.microsoft.com/office/drawing/2014/main" val="10000"/>
                      </a:ext>
                    </a:extLst>
                  </a:tr>
                </a:tbl>
              </a:graphicData>
            </a:graphic>
          </p:graphicFrame>
        </mc:Choice>
        <mc:Fallback xmlns="">
          <p:graphicFrame>
            <p:nvGraphicFramePr>
              <p:cNvPr id="7" name="Table 6">
                <a:extLst>
                  <a:ext uri="{FF2B5EF4-FFF2-40B4-BE49-F238E27FC236}">
                    <a16:creationId xmlns:a16="http://schemas.microsoft.com/office/drawing/2014/main" id="{55AAA38C-7BA6-2061-2C9C-ADF432EE8D1C}"/>
                  </a:ext>
                </a:extLst>
              </p:cNvPr>
              <p:cNvGraphicFramePr>
                <a:graphicFrameLocks noGrp="1"/>
              </p:cNvGraphicFramePr>
              <p:nvPr>
                <p:extLst>
                  <p:ext uri="{D42A27DB-BD31-4B8C-83A1-F6EECF244321}">
                    <p14:modId xmlns:p14="http://schemas.microsoft.com/office/powerpoint/2010/main" val="3943543869"/>
                  </p:ext>
                </p:extLst>
              </p:nvPr>
            </p:nvGraphicFramePr>
            <p:xfrm>
              <a:off x="1828799" y="3823586"/>
              <a:ext cx="8648701" cy="701040"/>
            </p:xfrm>
            <a:graphic>
              <a:graphicData uri="http://schemas.openxmlformats.org/drawingml/2006/table">
                <a:tbl>
                  <a:tblPr firstRow="1" bandRow="1">
                    <a:tableStyleId>{D7AC3CCA-C797-4891-BE02-D94E43425B78}</a:tableStyleId>
                  </a:tblPr>
                  <a:tblGrid>
                    <a:gridCol w="2362200">
                      <a:extLst>
                        <a:ext uri="{9D8B030D-6E8A-4147-A177-3AD203B41FA5}">
                          <a16:colId xmlns:a16="http://schemas.microsoft.com/office/drawing/2014/main" val="20000"/>
                        </a:ext>
                      </a:extLst>
                    </a:gridCol>
                    <a:gridCol w="6286501">
                      <a:extLst>
                        <a:ext uri="{9D8B030D-6E8A-4147-A177-3AD203B41FA5}">
                          <a16:colId xmlns:a16="http://schemas.microsoft.com/office/drawing/2014/main" val="20001"/>
                        </a:ext>
                      </a:extLst>
                    </a:gridCol>
                  </a:tblGrid>
                  <a:tr h="701040">
                    <a:tc>
                      <a:txBody>
                        <a:bodyPr/>
                        <a:lstStyle/>
                        <a:p>
                          <a:pPr algn="ctr"/>
                          <a:r>
                            <a:rPr lang="en-US" sz="2000" b="0" i="1"/>
                            <a:t>Positive closure of L </a:t>
                          </a:r>
                        </a:p>
                        <a:p>
                          <a:pPr algn="ctr"/>
                          <a:r>
                            <a:rPr lang="en-US" sz="2000" b="0" i="1"/>
                            <a:t>Written L</a:t>
                          </a:r>
                          <a:r>
                            <a:rPr lang="en-US" sz="2000" b="0" i="1" baseline="30000"/>
                            <a:t>+</a:t>
                          </a:r>
                        </a:p>
                      </a:txBody>
                      <a:tcPr anchor="ctr">
                        <a:noFill/>
                      </a:tcPr>
                    </a:tc>
                    <a:tc>
                      <a:txBody>
                        <a:bodyPr/>
                        <a:lstStyle/>
                        <a:p>
                          <a:endParaRPr lang="en-US"/>
                        </a:p>
                      </a:txBody>
                      <a:tcPr marL="114300" marR="114300" marT="0" marB="0" anchor="ctr">
                        <a:blipFill>
                          <a:blip r:embed="rId5"/>
                          <a:stretch>
                            <a:fillRect l="-37694" t="-4310" r="-194" b="-14655"/>
                          </a:stretch>
                        </a:blipFill>
                      </a:tcPr>
                    </a:tc>
                    <a:extLst>
                      <a:ext uri="{0D108BD9-81ED-4DB2-BD59-A6C34878D82A}">
                        <a16:rowId xmlns:a16="http://schemas.microsoft.com/office/drawing/2014/main" val="10000"/>
                      </a:ext>
                    </a:extLst>
                  </a:tr>
                </a:tbl>
              </a:graphicData>
            </a:graphic>
          </p:graphicFrame>
        </mc:Fallback>
      </mc:AlternateContent>
    </p:spTree>
    <p:extLst>
      <p:ext uri="{BB962C8B-B14F-4D97-AF65-F5344CB8AC3E}">
        <p14:creationId xmlns:p14="http://schemas.microsoft.com/office/powerpoint/2010/main" val="5434853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dur="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dur="1"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dur="1"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dur="1"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dur="1"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5AC211E-F196-2189-4770-DAB77BD7FE9C}"/>
              </a:ext>
            </a:extLst>
          </p:cNvPr>
          <p:cNvSpPr txBox="1"/>
          <p:nvPr/>
        </p:nvSpPr>
        <p:spPr>
          <a:xfrm>
            <a:off x="434884" y="194571"/>
            <a:ext cx="11322231" cy="1015663"/>
          </a:xfrm>
          <a:prstGeom prst="rect">
            <a:avLst/>
          </a:prstGeom>
          <a:noFill/>
        </p:spPr>
        <p:txBody>
          <a:bodyPr wrap="square">
            <a:spAutoFit/>
          </a:bodyPr>
          <a:lstStyle/>
          <a:p>
            <a:r>
              <a:rPr lang="en-US" sz="2000" b="1" i="0" dirty="0">
                <a:solidFill>
                  <a:srgbClr val="000000"/>
                </a:solidFill>
                <a:effectLst/>
                <a:latin typeface="Palatino Linotype" panose="02040502050505030304" pitchFamily="18" charset="0"/>
              </a:rPr>
              <a:t>Example:</a:t>
            </a:r>
          </a:p>
          <a:p>
            <a:r>
              <a:rPr lang="en-US" sz="2000" b="1" i="0" dirty="0">
                <a:solidFill>
                  <a:srgbClr val="000000"/>
                </a:solidFill>
                <a:effectLst/>
                <a:latin typeface="Palatino Linotype" panose="02040502050505030304" pitchFamily="18" charset="0"/>
              </a:rPr>
              <a:t>Let L be the set of letters {A,B,…..</a:t>
            </a:r>
            <a:r>
              <a:rPr lang="en-US" sz="2000" b="1" i="0" dirty="0" err="1">
                <a:solidFill>
                  <a:srgbClr val="000000"/>
                </a:solidFill>
                <a:effectLst/>
                <a:latin typeface="Palatino Linotype" panose="02040502050505030304" pitchFamily="18" charset="0"/>
              </a:rPr>
              <a:t>Z,a,b</a:t>
            </a:r>
            <a:r>
              <a:rPr lang="en-US" sz="2000" b="1" i="0" dirty="0">
                <a:solidFill>
                  <a:srgbClr val="000000"/>
                </a:solidFill>
                <a:effectLst/>
                <a:latin typeface="Palatino Linotype" panose="02040502050505030304" pitchFamily="18" charset="0"/>
              </a:rPr>
              <a:t>….z} and let D be the set of digits {0,1,…9}.</a:t>
            </a:r>
            <a:r>
              <a:rPr lang="en-US" sz="2000" b="1" dirty="0">
                <a:latin typeface="Palatino Linotype" panose="02040502050505030304" pitchFamily="18" charset="0"/>
              </a:rPr>
              <a:t> </a:t>
            </a:r>
            <a:br>
              <a:rPr lang="en-US" sz="2000" b="1" dirty="0">
                <a:latin typeface="Palatino Linotype" panose="02040502050505030304" pitchFamily="18" charset="0"/>
              </a:rPr>
            </a:br>
            <a:endParaRPr lang="en-IN" sz="2000" b="1" dirty="0">
              <a:latin typeface="Palatino Linotype" panose="02040502050505030304" pitchFamily="18" charset="0"/>
            </a:endParaRPr>
          </a:p>
        </p:txBody>
      </p:sp>
      <p:sp>
        <p:nvSpPr>
          <p:cNvPr id="5" name="TextBox 4">
            <a:extLst>
              <a:ext uri="{FF2B5EF4-FFF2-40B4-BE49-F238E27FC236}">
                <a16:creationId xmlns:a16="http://schemas.microsoft.com/office/drawing/2014/main" id="{9B80B943-1297-2E50-37E5-7729ADA55770}"/>
              </a:ext>
            </a:extLst>
          </p:cNvPr>
          <p:cNvSpPr txBox="1"/>
          <p:nvPr/>
        </p:nvSpPr>
        <p:spPr>
          <a:xfrm>
            <a:off x="434884" y="567171"/>
            <a:ext cx="4218273" cy="4584909"/>
          </a:xfrm>
          <a:prstGeom prst="rect">
            <a:avLst/>
          </a:prstGeom>
          <a:noFill/>
        </p:spPr>
        <p:txBody>
          <a:bodyPr wrap="square">
            <a:spAutoFit/>
          </a:bodyPr>
          <a:lstStyle/>
          <a:p>
            <a:pPr marL="342900" indent="-342900">
              <a:lnSpc>
                <a:spcPct val="250000"/>
              </a:lnSpc>
              <a:buAutoNum type="arabicPeriod"/>
            </a:pPr>
            <a:r>
              <a:rPr lang="en-IN" sz="2000" b="1" i="0" dirty="0">
                <a:solidFill>
                  <a:srgbClr val="FF0000"/>
                </a:solidFill>
                <a:effectLst/>
                <a:latin typeface="Palatino Linotype" panose="02040502050505030304" pitchFamily="18" charset="0"/>
              </a:rPr>
              <a:t>L </a:t>
            </a:r>
            <a:r>
              <a:rPr lang="en-IN" sz="2000" b="1" dirty="0">
                <a:solidFill>
                  <a:srgbClr val="FF0000"/>
                </a:solidFill>
                <a:latin typeface="Palatino Linotype" panose="02040502050505030304" pitchFamily="18" charset="0"/>
              </a:rPr>
              <a:t>U</a:t>
            </a:r>
            <a:r>
              <a:rPr lang="en-IN" sz="2000" b="1" i="0" dirty="0">
                <a:solidFill>
                  <a:srgbClr val="FF0000"/>
                </a:solidFill>
                <a:effectLst/>
                <a:latin typeface="Palatino Linotype" panose="02040502050505030304" pitchFamily="18" charset="0"/>
              </a:rPr>
              <a:t> D</a:t>
            </a:r>
            <a:r>
              <a:rPr lang="en-IN" sz="2000" b="1" dirty="0">
                <a:solidFill>
                  <a:srgbClr val="FF0000"/>
                </a:solidFill>
                <a:latin typeface="Palatino Linotype" panose="02040502050505030304" pitchFamily="18" charset="0"/>
              </a:rPr>
              <a:t> </a:t>
            </a:r>
          </a:p>
          <a:p>
            <a:pPr marL="342900" indent="-342900">
              <a:lnSpc>
                <a:spcPct val="250000"/>
              </a:lnSpc>
              <a:buAutoNum type="arabicPeriod"/>
            </a:pPr>
            <a:r>
              <a:rPr lang="en-IN" sz="2000" b="1" dirty="0">
                <a:solidFill>
                  <a:srgbClr val="FF0000"/>
                </a:solidFill>
                <a:latin typeface="Palatino Linotype" panose="02040502050505030304" pitchFamily="18" charset="0"/>
              </a:rPr>
              <a:t>LD</a:t>
            </a:r>
          </a:p>
          <a:p>
            <a:pPr marL="342900" indent="-342900">
              <a:lnSpc>
                <a:spcPct val="250000"/>
              </a:lnSpc>
              <a:buAutoNum type="arabicPeriod"/>
            </a:pPr>
            <a:r>
              <a:rPr lang="en-IN" sz="2000" b="1" dirty="0">
                <a:solidFill>
                  <a:srgbClr val="FF0000"/>
                </a:solidFill>
                <a:latin typeface="Palatino Linotype" panose="02040502050505030304" pitchFamily="18" charset="0"/>
              </a:rPr>
              <a:t>L</a:t>
            </a:r>
            <a:r>
              <a:rPr lang="en-IN" sz="2000" b="1" baseline="30000" dirty="0">
                <a:solidFill>
                  <a:srgbClr val="FF0000"/>
                </a:solidFill>
                <a:latin typeface="Palatino Linotype" panose="02040502050505030304" pitchFamily="18" charset="0"/>
              </a:rPr>
              <a:t>4</a:t>
            </a:r>
          </a:p>
          <a:p>
            <a:pPr marL="342900" indent="-342900">
              <a:lnSpc>
                <a:spcPct val="250000"/>
              </a:lnSpc>
              <a:buAutoNum type="arabicPeriod"/>
            </a:pPr>
            <a:r>
              <a:rPr lang="en-IN" sz="2000" b="1" dirty="0">
                <a:solidFill>
                  <a:srgbClr val="FF0000"/>
                </a:solidFill>
                <a:latin typeface="Palatino Linotype" panose="02040502050505030304" pitchFamily="18" charset="0"/>
              </a:rPr>
              <a:t>L</a:t>
            </a:r>
            <a:r>
              <a:rPr lang="en-IN" sz="2000" b="1" baseline="30000" dirty="0">
                <a:solidFill>
                  <a:srgbClr val="FF0000"/>
                </a:solidFill>
                <a:latin typeface="Palatino Linotype" panose="02040502050505030304" pitchFamily="18" charset="0"/>
              </a:rPr>
              <a:t>*</a:t>
            </a:r>
            <a:endParaRPr lang="en-IN" sz="2000" b="1" dirty="0">
              <a:solidFill>
                <a:srgbClr val="FF0000"/>
              </a:solidFill>
              <a:latin typeface="Palatino Linotype" panose="02040502050505030304" pitchFamily="18" charset="0"/>
            </a:endParaRPr>
          </a:p>
          <a:p>
            <a:pPr marL="342900" indent="-342900">
              <a:lnSpc>
                <a:spcPct val="250000"/>
              </a:lnSpc>
              <a:buAutoNum type="arabicPeriod"/>
            </a:pPr>
            <a:r>
              <a:rPr lang="en-IN" sz="2000" b="1" dirty="0">
                <a:solidFill>
                  <a:srgbClr val="FF0000"/>
                </a:solidFill>
                <a:latin typeface="Palatino Linotype" panose="02040502050505030304" pitchFamily="18" charset="0"/>
              </a:rPr>
              <a:t>L(LUD)*</a:t>
            </a:r>
          </a:p>
          <a:p>
            <a:pPr marL="342900" indent="-342900">
              <a:lnSpc>
                <a:spcPct val="250000"/>
              </a:lnSpc>
              <a:buAutoNum type="arabicPeriod"/>
            </a:pPr>
            <a:r>
              <a:rPr lang="en-IN" sz="2000" b="1" dirty="0">
                <a:solidFill>
                  <a:srgbClr val="FF0000"/>
                </a:solidFill>
                <a:latin typeface="Palatino Linotype" panose="02040502050505030304" pitchFamily="18" charset="0"/>
              </a:rPr>
              <a:t>D</a:t>
            </a:r>
            <a:r>
              <a:rPr lang="en-IN" sz="2000" b="1" baseline="30000" dirty="0">
                <a:solidFill>
                  <a:srgbClr val="FF0000"/>
                </a:solidFill>
                <a:latin typeface="Palatino Linotype" panose="02040502050505030304" pitchFamily="18" charset="0"/>
              </a:rPr>
              <a:t>+</a:t>
            </a:r>
          </a:p>
        </p:txBody>
      </p:sp>
      <p:sp>
        <p:nvSpPr>
          <p:cNvPr id="6" name="TextBox 5">
            <a:extLst>
              <a:ext uri="{FF2B5EF4-FFF2-40B4-BE49-F238E27FC236}">
                <a16:creationId xmlns:a16="http://schemas.microsoft.com/office/drawing/2014/main" id="{11F34D13-3F37-2AFE-00DE-017FE2888FB7}"/>
              </a:ext>
            </a:extLst>
          </p:cNvPr>
          <p:cNvSpPr txBox="1"/>
          <p:nvPr/>
        </p:nvSpPr>
        <p:spPr>
          <a:xfrm>
            <a:off x="1588169" y="898003"/>
            <a:ext cx="10168946" cy="707886"/>
          </a:xfrm>
          <a:prstGeom prst="rect">
            <a:avLst/>
          </a:prstGeom>
          <a:noFill/>
        </p:spPr>
        <p:txBody>
          <a:bodyPr wrap="square" rtlCol="0">
            <a:spAutoFit/>
          </a:bodyPr>
          <a:lstStyle/>
          <a:p>
            <a:r>
              <a:rPr lang="en-US" sz="2000" b="0" i="0" dirty="0">
                <a:solidFill>
                  <a:srgbClr val="000000"/>
                </a:solidFill>
                <a:effectLst/>
                <a:latin typeface="Palatino Linotype" panose="02040502050505030304" pitchFamily="18" charset="0"/>
              </a:rPr>
              <a:t>is the set of letters and digits | language with 62 strings of length one, each of which strings is either one letter or one digit.</a:t>
            </a:r>
            <a:r>
              <a:rPr lang="en-US" sz="2000" dirty="0">
                <a:latin typeface="Palatino Linotype" panose="02040502050505030304" pitchFamily="18" charset="0"/>
              </a:rPr>
              <a:t> </a:t>
            </a:r>
            <a:endParaRPr lang="en-IN" sz="2000" dirty="0">
              <a:latin typeface="Palatino Linotype" panose="02040502050505030304" pitchFamily="18" charset="0"/>
            </a:endParaRPr>
          </a:p>
        </p:txBody>
      </p:sp>
      <p:sp>
        <p:nvSpPr>
          <p:cNvPr id="7" name="TextBox 6">
            <a:extLst>
              <a:ext uri="{FF2B5EF4-FFF2-40B4-BE49-F238E27FC236}">
                <a16:creationId xmlns:a16="http://schemas.microsoft.com/office/drawing/2014/main" id="{EFC9A063-3C0A-E94A-F49D-3F3BFE82B41C}"/>
              </a:ext>
            </a:extLst>
          </p:cNvPr>
          <p:cNvSpPr txBox="1"/>
          <p:nvPr/>
        </p:nvSpPr>
        <p:spPr>
          <a:xfrm>
            <a:off x="1335577" y="1666251"/>
            <a:ext cx="10253239" cy="400110"/>
          </a:xfrm>
          <a:prstGeom prst="rect">
            <a:avLst/>
          </a:prstGeom>
          <a:noFill/>
        </p:spPr>
        <p:txBody>
          <a:bodyPr wrap="square" rtlCol="0">
            <a:spAutoFit/>
          </a:bodyPr>
          <a:lstStyle>
            <a:defPPr>
              <a:defRPr lang="en-US"/>
            </a:defPPr>
            <a:lvl1pPr>
              <a:defRPr sz="2000" b="0" i="0">
                <a:solidFill>
                  <a:srgbClr val="000000"/>
                </a:solidFill>
                <a:effectLst/>
                <a:latin typeface="Palatino Linotype" panose="02040502050505030304" pitchFamily="18" charset="0"/>
              </a:defRPr>
            </a:lvl1pPr>
          </a:lstStyle>
          <a:p>
            <a:r>
              <a:rPr lang="en-US" dirty="0"/>
              <a:t>is the set of 520 strings of length two, each consisting of one letter followed by one digit. </a:t>
            </a:r>
            <a:endParaRPr lang="en-IN" dirty="0"/>
          </a:p>
        </p:txBody>
      </p:sp>
      <p:sp>
        <p:nvSpPr>
          <p:cNvPr id="9" name="TextBox 8">
            <a:extLst>
              <a:ext uri="{FF2B5EF4-FFF2-40B4-BE49-F238E27FC236}">
                <a16:creationId xmlns:a16="http://schemas.microsoft.com/office/drawing/2014/main" id="{21B758B8-3924-0200-CB17-4C8D1382F100}"/>
              </a:ext>
            </a:extLst>
          </p:cNvPr>
          <p:cNvSpPr txBox="1"/>
          <p:nvPr/>
        </p:nvSpPr>
        <p:spPr>
          <a:xfrm>
            <a:off x="1266526" y="2427433"/>
            <a:ext cx="6097604" cy="369332"/>
          </a:xfrm>
          <a:prstGeom prst="rect">
            <a:avLst/>
          </a:prstGeom>
          <a:noFill/>
        </p:spPr>
        <p:txBody>
          <a:bodyPr wrap="square" rtlCol="0">
            <a:spAutoFit/>
          </a:bodyPr>
          <a:lstStyle>
            <a:defPPr>
              <a:defRPr lang="en-US"/>
            </a:defPPr>
            <a:lvl1pPr>
              <a:defRPr sz="2000" b="0" i="0">
                <a:solidFill>
                  <a:srgbClr val="000000"/>
                </a:solidFill>
                <a:effectLst/>
                <a:latin typeface="Palatino Linotype" panose="02040502050505030304" pitchFamily="18" charset="0"/>
              </a:defRPr>
            </a:lvl1pPr>
          </a:lstStyle>
          <a:p>
            <a:r>
              <a:rPr lang="en-US" dirty="0"/>
              <a:t>is the set of all 4-letter strings </a:t>
            </a:r>
            <a:endParaRPr lang="en-IN" dirty="0"/>
          </a:p>
        </p:txBody>
      </p:sp>
      <p:sp>
        <p:nvSpPr>
          <p:cNvPr id="11" name="TextBox 10">
            <a:extLst>
              <a:ext uri="{FF2B5EF4-FFF2-40B4-BE49-F238E27FC236}">
                <a16:creationId xmlns:a16="http://schemas.microsoft.com/office/drawing/2014/main" id="{128404F3-1F1F-D16B-5135-9132CD927413}"/>
              </a:ext>
            </a:extLst>
          </p:cNvPr>
          <p:cNvSpPr txBox="1"/>
          <p:nvPr/>
        </p:nvSpPr>
        <p:spPr>
          <a:xfrm>
            <a:off x="1171948" y="3188059"/>
            <a:ext cx="9117457" cy="369332"/>
          </a:xfrm>
          <a:prstGeom prst="rect">
            <a:avLst/>
          </a:prstGeom>
          <a:noFill/>
        </p:spPr>
        <p:txBody>
          <a:bodyPr wrap="square" rtlCol="0">
            <a:spAutoFit/>
          </a:bodyPr>
          <a:lstStyle>
            <a:defPPr>
              <a:defRPr lang="en-US"/>
            </a:defPPr>
            <a:lvl1pPr>
              <a:defRPr sz="2000" b="0" i="0">
                <a:solidFill>
                  <a:srgbClr val="000000"/>
                </a:solidFill>
                <a:effectLst/>
                <a:latin typeface="Palatino Linotype" panose="02040502050505030304" pitchFamily="18" charset="0"/>
              </a:defRPr>
            </a:lvl1pPr>
          </a:lstStyle>
          <a:p>
            <a:r>
              <a:rPr lang="en-US" dirty="0"/>
              <a:t>is the set of all strings of letters, including </a:t>
            </a:r>
            <a:r>
              <a:rPr lang="el-GR" dirty="0"/>
              <a:t>ε</a:t>
            </a:r>
            <a:r>
              <a:rPr lang="en-US" dirty="0"/>
              <a:t>, the empty string </a:t>
            </a:r>
            <a:endParaRPr lang="en-IN" dirty="0"/>
          </a:p>
        </p:txBody>
      </p:sp>
      <p:sp>
        <p:nvSpPr>
          <p:cNvPr id="13" name="TextBox 12">
            <a:extLst>
              <a:ext uri="{FF2B5EF4-FFF2-40B4-BE49-F238E27FC236}">
                <a16:creationId xmlns:a16="http://schemas.microsoft.com/office/drawing/2014/main" id="{B52EC503-B0A7-DE92-EA40-EAFDC434B3DB}"/>
              </a:ext>
            </a:extLst>
          </p:cNvPr>
          <p:cNvSpPr txBox="1"/>
          <p:nvPr/>
        </p:nvSpPr>
        <p:spPr>
          <a:xfrm>
            <a:off x="1970771" y="3929991"/>
            <a:ext cx="9442383" cy="400110"/>
          </a:xfrm>
          <a:prstGeom prst="rect">
            <a:avLst/>
          </a:prstGeom>
          <a:noFill/>
        </p:spPr>
        <p:txBody>
          <a:bodyPr wrap="square" rtlCol="0">
            <a:spAutoFit/>
          </a:bodyPr>
          <a:lstStyle>
            <a:defPPr>
              <a:defRPr lang="en-US"/>
            </a:defPPr>
            <a:lvl1pPr>
              <a:defRPr sz="2000" b="0" i="0">
                <a:solidFill>
                  <a:srgbClr val="000000"/>
                </a:solidFill>
                <a:effectLst/>
                <a:latin typeface="Palatino Linotype" panose="02040502050505030304" pitchFamily="18" charset="0"/>
              </a:defRPr>
            </a:lvl1pPr>
          </a:lstStyle>
          <a:p>
            <a:r>
              <a:rPr lang="en-US" dirty="0"/>
              <a:t>is the set of all strings of letters and digits beginning with a letter. </a:t>
            </a:r>
            <a:endParaRPr lang="en-IN" dirty="0"/>
          </a:p>
        </p:txBody>
      </p:sp>
      <p:sp>
        <p:nvSpPr>
          <p:cNvPr id="15" name="TextBox 14">
            <a:extLst>
              <a:ext uri="{FF2B5EF4-FFF2-40B4-BE49-F238E27FC236}">
                <a16:creationId xmlns:a16="http://schemas.microsoft.com/office/drawing/2014/main" id="{17A6F91F-CCCF-E4D8-3EA6-15707076920C}"/>
              </a:ext>
            </a:extLst>
          </p:cNvPr>
          <p:cNvSpPr txBox="1"/>
          <p:nvPr/>
        </p:nvSpPr>
        <p:spPr>
          <a:xfrm>
            <a:off x="1287458" y="4683103"/>
            <a:ext cx="7760698" cy="400110"/>
          </a:xfrm>
          <a:prstGeom prst="rect">
            <a:avLst/>
          </a:prstGeom>
          <a:noFill/>
        </p:spPr>
        <p:txBody>
          <a:bodyPr wrap="square" rtlCol="0">
            <a:spAutoFit/>
          </a:bodyPr>
          <a:lstStyle>
            <a:defPPr>
              <a:defRPr lang="en-US"/>
            </a:defPPr>
            <a:lvl1pPr>
              <a:defRPr sz="2000" b="0" i="0">
                <a:solidFill>
                  <a:srgbClr val="000000"/>
                </a:solidFill>
                <a:effectLst/>
                <a:latin typeface="Palatino Linotype" panose="02040502050505030304" pitchFamily="18" charset="0"/>
              </a:defRPr>
            </a:lvl1pPr>
          </a:lstStyle>
          <a:p>
            <a:r>
              <a:rPr lang="en-US" dirty="0"/>
              <a:t>is the set of all strings of one or more digits. </a:t>
            </a:r>
            <a:endParaRPr lang="en-IN" dirty="0"/>
          </a:p>
        </p:txBody>
      </p:sp>
    </p:spTree>
    <p:extLst>
      <p:ext uri="{BB962C8B-B14F-4D97-AF65-F5344CB8AC3E}">
        <p14:creationId xmlns:p14="http://schemas.microsoft.com/office/powerpoint/2010/main" val="26679702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9" grpId="0"/>
      <p:bldP spid="11" grpId="0"/>
      <p:bldP spid="13" grpId="0"/>
      <p:bldP spid="15"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FD83F-69D8-2C5F-4FBB-CF58BDF290B8}"/>
              </a:ext>
            </a:extLst>
          </p:cNvPr>
          <p:cNvSpPr>
            <a:spLocks noGrp="1"/>
          </p:cNvSpPr>
          <p:nvPr>
            <p:ph type="ctrTitle"/>
          </p:nvPr>
        </p:nvSpPr>
        <p:spPr/>
        <p:txBody>
          <a:bodyPr/>
          <a:lstStyle/>
          <a:p>
            <a:r>
              <a:rPr lang="en-US" dirty="0"/>
              <a:t>Regular Expression &amp; Regular Definition</a:t>
            </a:r>
            <a:endParaRPr lang="en-IN" dirty="0"/>
          </a:p>
        </p:txBody>
      </p:sp>
      <p:sp>
        <p:nvSpPr>
          <p:cNvPr id="3" name="Subtitle 2">
            <a:extLst>
              <a:ext uri="{FF2B5EF4-FFF2-40B4-BE49-F238E27FC236}">
                <a16:creationId xmlns:a16="http://schemas.microsoft.com/office/drawing/2014/main" id="{D814C4DD-08E9-D789-B962-A2C60E827C49}"/>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39145206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C86FF5-A487-2D37-7BBE-E512569B3DE5}"/>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B95F78E-4431-6F6C-721F-66F38A2BF169}"/>
              </a:ext>
            </a:extLst>
          </p:cNvPr>
          <p:cNvSpPr>
            <a:spLocks noGrp="1"/>
          </p:cNvSpPr>
          <p:nvPr>
            <p:ph idx="1"/>
          </p:nvPr>
        </p:nvSpPr>
        <p:spPr/>
        <p:txBody>
          <a:bodyPr/>
          <a:lstStyle/>
          <a:p>
            <a:pPr marL="0" indent="0">
              <a:buNone/>
            </a:pPr>
            <a:endParaRPr lang="en-US" dirty="0"/>
          </a:p>
          <a:p>
            <a:pPr marL="0" indent="0">
              <a:buNone/>
            </a:pPr>
            <a:r>
              <a:rPr lang="en-IN" dirty="0"/>
              <a:t>Regular Expression for representing the C language Identifiers :</a:t>
            </a:r>
          </a:p>
          <a:p>
            <a:pPr marL="0" indent="0">
              <a:buNone/>
            </a:pPr>
            <a:endParaRPr lang="en-IN" dirty="0"/>
          </a:p>
          <a:p>
            <a:pPr marL="0" indent="0">
              <a:buNone/>
            </a:pPr>
            <a:r>
              <a:rPr lang="en-IN" dirty="0"/>
              <a:t>		 </a:t>
            </a:r>
            <a:r>
              <a:rPr lang="en-IN" b="1" dirty="0">
                <a:solidFill>
                  <a:srgbClr val="00B050"/>
                </a:solidFill>
              </a:rPr>
              <a:t>letters_ (letter_ | digit ) *</a:t>
            </a:r>
          </a:p>
          <a:p>
            <a:pPr marL="0" indent="0">
              <a:buNone/>
            </a:pPr>
            <a:endParaRPr lang="en-IN" b="1" dirty="0">
              <a:solidFill>
                <a:srgbClr val="00B050"/>
              </a:solidFill>
            </a:endParaRPr>
          </a:p>
          <a:p>
            <a:pPr marL="0" indent="0">
              <a:buNone/>
            </a:pPr>
            <a:r>
              <a:rPr lang="en-IN" dirty="0"/>
              <a:t>|  -  union</a:t>
            </a:r>
          </a:p>
          <a:p>
            <a:pPr marL="0" indent="0">
              <a:buNone/>
            </a:pPr>
            <a:r>
              <a:rPr lang="en-IN" dirty="0"/>
              <a:t>* -  ‘ Zero or more occurrence of ’</a:t>
            </a:r>
          </a:p>
        </p:txBody>
      </p:sp>
    </p:spTree>
    <p:extLst>
      <p:ext uri="{BB962C8B-B14F-4D97-AF65-F5344CB8AC3E}">
        <p14:creationId xmlns:p14="http://schemas.microsoft.com/office/powerpoint/2010/main" val="35989153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571F15-7FDB-A9D8-BC3D-A058313F0205}"/>
              </a:ext>
            </a:extLst>
          </p:cNvPr>
          <p:cNvSpPr txBox="1">
            <a:spLocks/>
          </p:cNvSpPr>
          <p:nvPr/>
        </p:nvSpPr>
        <p:spPr>
          <a:xfrm>
            <a:off x="0" y="1"/>
            <a:ext cx="12192000" cy="711200"/>
          </a:xfrm>
          <a:prstGeom prst="rect">
            <a:avLst/>
          </a:prstGeom>
        </p:spPr>
        <p:txBody>
          <a:bodyPr/>
          <a:lstStyle>
            <a:lvl1pPr algn="l" defTabSz="914400" rtl="0" eaLnBrk="1" latinLnBrk="0" hangingPunct="1">
              <a:lnSpc>
                <a:spcPct val="90000"/>
              </a:lnSpc>
              <a:spcBef>
                <a:spcPct val="0"/>
              </a:spcBef>
              <a:buNone/>
              <a:defRPr sz="4400" kern="1200">
                <a:solidFill>
                  <a:srgbClr val="C00000"/>
                </a:solidFill>
                <a:latin typeface="Palatino Linotype" panose="02040502050505030304" pitchFamily="18" charset="0"/>
                <a:ea typeface="+mj-ea"/>
                <a:cs typeface="+mj-cs"/>
              </a:defRPr>
            </a:lvl1pPr>
          </a:lstStyle>
          <a:p>
            <a:r>
              <a:rPr lang="en-US"/>
              <a:t>Regular expression</a:t>
            </a:r>
          </a:p>
        </p:txBody>
      </p:sp>
      <p:sp>
        <p:nvSpPr>
          <p:cNvPr id="3" name="Content Placeholder 2">
            <a:extLst>
              <a:ext uri="{FF2B5EF4-FFF2-40B4-BE49-F238E27FC236}">
                <a16:creationId xmlns:a16="http://schemas.microsoft.com/office/drawing/2014/main" id="{4443AC20-F194-7BB1-D5CD-C537294359AD}"/>
              </a:ext>
            </a:extLst>
          </p:cNvPr>
          <p:cNvSpPr txBox="1">
            <a:spLocks/>
          </p:cNvSpPr>
          <p:nvPr/>
        </p:nvSpPr>
        <p:spPr>
          <a:xfrm>
            <a:off x="131180" y="863444"/>
            <a:ext cx="11929641" cy="5590565"/>
          </a:xfrm>
          <a:prstGeom prst="rect">
            <a:avLst/>
          </a:prstGeom>
        </p:spPr>
        <p:txBody>
          <a:bodyPr/>
          <a:lstStyle>
            <a:lvl1pPr marL="228600" indent="-228600" algn="just"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Palatino Linotype" panose="02040502050505030304" pitchFamily="18" charset="0"/>
                <a:ea typeface="+mn-ea"/>
                <a:cs typeface="+mn-cs"/>
              </a:defRPr>
            </a:lvl1pPr>
            <a:lvl2pPr marL="685800" indent="-228600" algn="just"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Palatino Linotype" panose="02040502050505030304" pitchFamily="18" charset="0"/>
                <a:ea typeface="+mn-ea"/>
                <a:cs typeface="+mn-cs"/>
              </a:defRPr>
            </a:lvl2pPr>
            <a:lvl3pPr marL="1143000" indent="-228600" algn="just"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Palatino Linotype" panose="02040502050505030304" pitchFamily="18" charset="0"/>
                <a:ea typeface="+mn-ea"/>
                <a:cs typeface="+mn-cs"/>
              </a:defRPr>
            </a:lvl3pPr>
            <a:lvl4pPr marL="1600200" indent="-228600" algn="just"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alatino Linotype" panose="02040502050505030304" pitchFamily="18" charset="0"/>
                <a:ea typeface="+mn-ea"/>
                <a:cs typeface="+mn-cs"/>
              </a:defRPr>
            </a:lvl4pPr>
            <a:lvl5pPr marL="2057400" indent="-228600" algn="just"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A regular expression is a sequence of characters that define a pattern.</a:t>
            </a:r>
          </a:p>
          <a:p>
            <a:pPr marL="0" indent="0">
              <a:buFont typeface="Arial" panose="020B0604020202020204" pitchFamily="34" charset="0"/>
              <a:buNone/>
            </a:pPr>
            <a:r>
              <a:rPr lang="en-US" b="1">
                <a:solidFill>
                  <a:srgbClr val="0E47A1"/>
                </a:solidFill>
              </a:rPr>
              <a:t>Notational shorthand's</a:t>
            </a:r>
            <a:endParaRPr lang="en-US" altLang="en-US" b="1">
              <a:solidFill>
                <a:srgbClr val="0E47A1"/>
              </a:solidFill>
            </a:endParaRPr>
          </a:p>
          <a:p>
            <a:pPr marL="457200" indent="-457200">
              <a:buFont typeface="+mj-lt"/>
              <a:buAutoNum type="arabicPeriod"/>
            </a:pPr>
            <a:r>
              <a:rPr lang="en-US" altLang="en-US"/>
              <a:t>One or more instances:  +</a:t>
            </a:r>
          </a:p>
          <a:p>
            <a:pPr marL="457200" indent="-457200">
              <a:buFont typeface="+mj-lt"/>
              <a:buAutoNum type="arabicPeriod"/>
            </a:pPr>
            <a:r>
              <a:rPr lang="en-US" altLang="en-US"/>
              <a:t>Zero or more instances:  *</a:t>
            </a:r>
          </a:p>
          <a:p>
            <a:pPr marL="457200" indent="-457200">
              <a:buFont typeface="+mj-lt"/>
              <a:buAutoNum type="arabicPeriod"/>
            </a:pPr>
            <a:r>
              <a:rPr lang="en-US" altLang="en-US"/>
              <a:t>Zero or one instances:  ?</a:t>
            </a:r>
          </a:p>
          <a:p>
            <a:pPr marL="457200" indent="-457200">
              <a:buFont typeface="+mj-lt"/>
              <a:buAutoNum type="arabicPeriod"/>
            </a:pPr>
            <a:r>
              <a:rPr lang="en-US" altLang="en-US"/>
              <a:t>Alphabets: </a:t>
            </a:r>
            <a:r>
              <a:rPr lang="el-GR" altLang="en-US"/>
              <a:t>Σ</a:t>
            </a:r>
            <a:endParaRPr lang="en-US" altLang="en-US"/>
          </a:p>
          <a:p>
            <a:endParaRPr lang="en-US" dirty="0"/>
          </a:p>
        </p:txBody>
      </p:sp>
    </p:spTree>
    <p:extLst>
      <p:ext uri="{BB962C8B-B14F-4D97-AF65-F5344CB8AC3E}">
        <p14:creationId xmlns:p14="http://schemas.microsoft.com/office/powerpoint/2010/main" val="6546121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dur="1"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dur="1"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dur="1"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dur="1"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dur="1"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dur="1"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78A039-33E0-D459-13B7-4F2892C2D85B}"/>
              </a:ext>
            </a:extLst>
          </p:cNvPr>
          <p:cNvSpPr txBox="1">
            <a:spLocks/>
          </p:cNvSpPr>
          <p:nvPr/>
        </p:nvSpPr>
        <p:spPr>
          <a:xfrm>
            <a:off x="0" y="1"/>
            <a:ext cx="12192000" cy="711200"/>
          </a:xfrm>
          <a:prstGeom prst="rect">
            <a:avLst/>
          </a:prstGeom>
        </p:spPr>
        <p:txBody>
          <a:bodyPr/>
          <a:lstStyle>
            <a:lvl1pPr algn="l" defTabSz="914400" rtl="0" eaLnBrk="1" latinLnBrk="0" hangingPunct="1">
              <a:lnSpc>
                <a:spcPct val="90000"/>
              </a:lnSpc>
              <a:spcBef>
                <a:spcPct val="0"/>
              </a:spcBef>
              <a:buNone/>
              <a:defRPr sz="4400" kern="1200">
                <a:solidFill>
                  <a:srgbClr val="C00000"/>
                </a:solidFill>
                <a:latin typeface="Palatino Linotype" panose="02040502050505030304" pitchFamily="18" charset="0"/>
                <a:ea typeface="+mj-ea"/>
                <a:cs typeface="+mj-cs"/>
              </a:defRPr>
            </a:lvl1pPr>
          </a:lstStyle>
          <a:p>
            <a:r>
              <a:rPr lang="en-US"/>
              <a:t>Rules to define regular expression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F6A3247-025D-B827-67BA-3E6C8343F081}"/>
                  </a:ext>
                </a:extLst>
              </p:cNvPr>
              <p:cNvSpPr txBox="1">
                <a:spLocks/>
              </p:cNvSpPr>
              <p:nvPr/>
            </p:nvSpPr>
            <p:spPr>
              <a:xfrm>
                <a:off x="131180" y="863444"/>
                <a:ext cx="11929641" cy="5590565"/>
              </a:xfrm>
              <a:prstGeom prst="rect">
                <a:avLst/>
              </a:prstGeom>
            </p:spPr>
            <p:txBody>
              <a:bodyPr/>
              <a:lstStyle>
                <a:lvl1pPr marL="228600" indent="-228600" algn="just"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Palatino Linotype" panose="02040502050505030304" pitchFamily="18" charset="0"/>
                    <a:ea typeface="+mn-ea"/>
                    <a:cs typeface="+mn-cs"/>
                  </a:defRPr>
                </a:lvl1pPr>
                <a:lvl2pPr marL="685800" indent="-228600" algn="just"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Palatino Linotype" panose="02040502050505030304" pitchFamily="18" charset="0"/>
                    <a:ea typeface="+mn-ea"/>
                    <a:cs typeface="+mn-cs"/>
                  </a:defRPr>
                </a:lvl2pPr>
                <a:lvl3pPr marL="1143000" indent="-228600" algn="just"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Palatino Linotype" panose="02040502050505030304" pitchFamily="18" charset="0"/>
                    <a:ea typeface="+mn-ea"/>
                    <a:cs typeface="+mn-cs"/>
                  </a:defRPr>
                </a:lvl3pPr>
                <a:lvl4pPr marL="1600200" indent="-228600" algn="just"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alatino Linotype" panose="02040502050505030304" pitchFamily="18" charset="0"/>
                    <a:ea typeface="+mn-ea"/>
                    <a:cs typeface="+mn-cs"/>
                  </a:defRPr>
                </a:lvl4pPr>
                <a:lvl5pPr marL="2057400" indent="-228600" algn="just"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buFont typeface="+mj-lt"/>
                  <a:buAutoNum type="arabicPeriod"/>
                </a:pPr>
                <a14:m>
                  <m:oMath xmlns:m="http://schemas.openxmlformats.org/officeDocument/2006/math">
                    <m:r>
                      <a:rPr lang="en-US" smtClean="0">
                        <a:latin typeface="Cambria Math" panose="02040503050406030204" pitchFamily="18" charset="0"/>
                        <a:ea typeface="Cambria Math" panose="02040503050406030204" pitchFamily="18" charset="0"/>
                      </a:rPr>
                      <m:t>∈ </m:t>
                    </m:r>
                  </m:oMath>
                </a14:m>
                <a:r>
                  <a:rPr lang="en-US" altLang="en-US" dirty="0">
                    <a:latin typeface="+mj-lt"/>
                  </a:rPr>
                  <a:t>is a regular expression that denotes </a:t>
                </a:r>
                <a14:m>
                  <m:oMath xmlns:m="http://schemas.openxmlformats.org/officeDocument/2006/math">
                    <m:r>
                      <a:rPr lang="en-US">
                        <a:latin typeface="Cambria Math" panose="02040503050406030204" pitchFamily="18" charset="0"/>
                        <a:ea typeface="Cambria Math" panose="02040503050406030204" pitchFamily="18" charset="0"/>
                      </a:rPr>
                      <m:t>{∈}</m:t>
                    </m:r>
                  </m:oMath>
                </a14:m>
                <a:r>
                  <a:rPr lang="en-US" altLang="en-US" dirty="0">
                    <a:latin typeface="+mj-lt"/>
                  </a:rPr>
                  <a:t>, the set containing empty string.</a:t>
                </a:r>
              </a:p>
              <a:p>
                <a:pPr marL="457200" indent="-457200">
                  <a:buFont typeface="+mj-lt"/>
                  <a:buAutoNum type="arabicPeriod"/>
                </a:pPr>
                <a:r>
                  <a:rPr lang="en-US" altLang="en-US" dirty="0">
                    <a:latin typeface="+mj-lt"/>
                  </a:rPr>
                  <a:t>If </a:t>
                </a:r>
                <a:r>
                  <a:rPr lang="en-US" dirty="0">
                    <a:latin typeface="+mj-lt"/>
                    <a:ea typeface="Cambria Math" panose="02040503050406030204" pitchFamily="18" charset="0"/>
                  </a:rPr>
                  <a:t> </a:t>
                </a:r>
                <a14:m>
                  <m:oMath xmlns:m="http://schemas.openxmlformats.org/officeDocument/2006/math">
                    <m:r>
                      <a:rPr lang="en-US" i="1">
                        <a:latin typeface="Cambria Math" panose="02040503050406030204" pitchFamily="18" charset="0"/>
                        <a:ea typeface="Cambria Math" panose="02040503050406030204" pitchFamily="18" charset="0"/>
                      </a:rPr>
                      <m:t>𝑎</m:t>
                    </m:r>
                  </m:oMath>
                </a14:m>
                <a:r>
                  <a:rPr lang="en-US" altLang="en-US" dirty="0">
                    <a:latin typeface="+mj-lt"/>
                  </a:rPr>
                  <a:t> is a symbol in </a:t>
                </a:r>
                <a14:m>
                  <m:oMath xmlns:m="http://schemas.openxmlformats.org/officeDocument/2006/math">
                    <m:r>
                      <a:rPr lang="el-GR" i="1">
                        <a:latin typeface="Cambria Math" panose="02040503050406030204" pitchFamily="18" charset="0"/>
                        <a:ea typeface="Cambria Math" panose="02040503050406030204" pitchFamily="18" charset="0"/>
                      </a:rPr>
                      <m:t>𝛴</m:t>
                    </m:r>
                    <m:r>
                      <a:rPr lang="el-GR" i="1">
                        <a:latin typeface="Cambria Math" panose="02040503050406030204" pitchFamily="18" charset="0"/>
                        <a:ea typeface="Cambria Math" panose="02040503050406030204" pitchFamily="18" charset="0"/>
                      </a:rPr>
                      <m:t> </m:t>
                    </m:r>
                  </m:oMath>
                </a14:m>
                <a:r>
                  <a:rPr lang="en-US" altLang="en-US" dirty="0">
                    <a:latin typeface="+mj-lt"/>
                    <a:ea typeface="MS Mincho" panose="02020609040205080304" pitchFamily="49" charset="-128"/>
                  </a:rPr>
                  <a:t>then </a:t>
                </a:r>
                <a14:m>
                  <m:oMath xmlns:m="http://schemas.openxmlformats.org/officeDocument/2006/math">
                    <m:r>
                      <a:rPr lang="en-US" altLang="en-US" i="1">
                        <a:latin typeface="Cambria Math" panose="02040503050406030204" pitchFamily="18" charset="0"/>
                        <a:ea typeface="MS Mincho" panose="02020609040205080304" pitchFamily="49" charset="-128"/>
                      </a:rPr>
                      <m:t>𝑎</m:t>
                    </m:r>
                  </m:oMath>
                </a14:m>
                <a:r>
                  <a:rPr lang="en-US" altLang="en-US" dirty="0">
                    <a:latin typeface="+mj-lt"/>
                    <a:ea typeface="MS Mincho" panose="02020609040205080304" pitchFamily="49" charset="-128"/>
                  </a:rPr>
                  <a:t> is a regular expression, </a:t>
                </a:r>
                <a14:m>
                  <m:oMath xmlns:m="http://schemas.openxmlformats.org/officeDocument/2006/math">
                    <m:r>
                      <a:rPr lang="en-US" altLang="en-US" i="1">
                        <a:latin typeface="Cambria Math" panose="02040503050406030204" pitchFamily="18" charset="0"/>
                        <a:ea typeface="MS Mincho" panose="02020609040205080304" pitchFamily="49" charset="-128"/>
                      </a:rPr>
                      <m:t>𝐿</m:t>
                    </m:r>
                    <m:d>
                      <m:dPr>
                        <m:ctrlPr>
                          <a:rPr lang="en-US" altLang="en-US" i="1">
                            <a:latin typeface="Cambria Math" panose="02040503050406030204" pitchFamily="18" charset="0"/>
                            <a:ea typeface="MS Mincho" panose="02020609040205080304" pitchFamily="49" charset="-128"/>
                          </a:rPr>
                        </m:ctrlPr>
                      </m:dPr>
                      <m:e>
                        <m:r>
                          <a:rPr lang="en-US" altLang="en-US" i="1">
                            <a:latin typeface="Cambria Math" panose="02040503050406030204" pitchFamily="18" charset="0"/>
                            <a:ea typeface="MS Mincho" panose="02020609040205080304" pitchFamily="49" charset="-128"/>
                          </a:rPr>
                          <m:t>𝑎</m:t>
                        </m:r>
                      </m:e>
                    </m:d>
                    <m:r>
                      <a:rPr lang="en-US" altLang="en-US" i="1">
                        <a:latin typeface="Cambria Math" panose="02040503050406030204" pitchFamily="18" charset="0"/>
                        <a:ea typeface="MS Mincho" panose="02020609040205080304" pitchFamily="49" charset="-128"/>
                      </a:rPr>
                      <m:t>={</m:t>
                    </m:r>
                    <m:r>
                      <a:rPr lang="en-US" altLang="en-US" i="1">
                        <a:latin typeface="Cambria Math" panose="02040503050406030204" pitchFamily="18" charset="0"/>
                        <a:ea typeface="MS Mincho" panose="02020609040205080304" pitchFamily="49" charset="-128"/>
                      </a:rPr>
                      <m:t>𝑎</m:t>
                    </m:r>
                    <m:r>
                      <a:rPr lang="en-US" altLang="en-US" i="1">
                        <a:latin typeface="Cambria Math" panose="02040503050406030204" pitchFamily="18" charset="0"/>
                        <a:ea typeface="MS Mincho" panose="02020609040205080304" pitchFamily="49" charset="-128"/>
                      </a:rPr>
                      <m:t>}</m:t>
                    </m:r>
                  </m:oMath>
                </a14:m>
                <a:endParaRPr lang="en-US" altLang="en-US" dirty="0">
                  <a:latin typeface="+mj-lt"/>
                  <a:ea typeface="MS Mincho" panose="02020609040205080304" pitchFamily="49" charset="-128"/>
                </a:endParaRPr>
              </a:p>
              <a:p>
                <a:pPr marL="457200" indent="-457200">
                  <a:buFont typeface="+mj-lt"/>
                  <a:buAutoNum type="arabicPeriod"/>
                </a:pPr>
                <a:r>
                  <a:rPr lang="en-US" altLang="en-US" dirty="0">
                    <a:latin typeface="+mj-lt"/>
                    <a:ea typeface="MS Mincho" panose="02020609040205080304" pitchFamily="49" charset="-128"/>
                  </a:rPr>
                  <a:t>Suppose </a:t>
                </a:r>
                <a14:m>
                  <m:oMath xmlns:m="http://schemas.openxmlformats.org/officeDocument/2006/math">
                    <m:r>
                      <a:rPr lang="en-US" altLang="en-US" i="1">
                        <a:latin typeface="Cambria Math" panose="02040503050406030204" pitchFamily="18" charset="0"/>
                        <a:ea typeface="MS Mincho" panose="02020609040205080304" pitchFamily="49" charset="-128"/>
                      </a:rPr>
                      <m:t>𝑟</m:t>
                    </m:r>
                  </m:oMath>
                </a14:m>
                <a:r>
                  <a:rPr lang="en-US" altLang="en-US" dirty="0">
                    <a:latin typeface="+mj-lt"/>
                    <a:ea typeface="MS Mincho" panose="02020609040205080304" pitchFamily="49" charset="-128"/>
                  </a:rPr>
                  <a:t>and </a:t>
                </a:r>
                <a14:m>
                  <m:oMath xmlns:m="http://schemas.openxmlformats.org/officeDocument/2006/math">
                    <m:r>
                      <a:rPr lang="en-US" altLang="en-US" i="1">
                        <a:latin typeface="Cambria Math" panose="02040503050406030204" pitchFamily="18" charset="0"/>
                        <a:ea typeface="MS Mincho" panose="02020609040205080304" pitchFamily="49" charset="-128"/>
                      </a:rPr>
                      <m:t>𝑠</m:t>
                    </m:r>
                    <m:r>
                      <a:rPr lang="en-US" altLang="en-US" b="0" i="1" smtClean="0">
                        <a:latin typeface="Cambria Math" panose="02040503050406030204" pitchFamily="18" charset="0"/>
                        <a:ea typeface="MS Mincho" panose="02020609040205080304" pitchFamily="49" charset="-128"/>
                      </a:rPr>
                      <m:t> </m:t>
                    </m:r>
                  </m:oMath>
                </a14:m>
                <a:r>
                  <a:rPr lang="en-US" altLang="en-US" dirty="0">
                    <a:latin typeface="+mj-lt"/>
                    <a:ea typeface="MS Mincho" panose="02020609040205080304" pitchFamily="49" charset="-128"/>
                  </a:rPr>
                  <a:t>are regular expression denoting the languages</a:t>
                </a:r>
                <a14:m>
                  <m:oMath xmlns:m="http://schemas.openxmlformats.org/officeDocument/2006/math">
                    <m:r>
                      <a:rPr lang="en-US" altLang="en-US">
                        <a:latin typeface="Cambria Math" panose="02040503050406030204" pitchFamily="18" charset="0"/>
                        <a:ea typeface="MS Mincho" panose="02020609040205080304" pitchFamily="49" charset="-128"/>
                      </a:rPr>
                      <m:t> </m:t>
                    </m:r>
                    <m:r>
                      <a:rPr lang="en-US" altLang="en-US" i="1">
                        <a:latin typeface="Cambria Math" panose="02040503050406030204" pitchFamily="18" charset="0"/>
                        <a:ea typeface="MS Mincho" panose="02020609040205080304" pitchFamily="49" charset="-128"/>
                      </a:rPr>
                      <m:t>𝐿</m:t>
                    </m:r>
                    <m:d>
                      <m:dPr>
                        <m:ctrlPr>
                          <a:rPr lang="en-US" altLang="en-US" i="1">
                            <a:latin typeface="Cambria Math" panose="02040503050406030204" pitchFamily="18" charset="0"/>
                            <a:ea typeface="MS Mincho" panose="02020609040205080304" pitchFamily="49" charset="-128"/>
                          </a:rPr>
                        </m:ctrlPr>
                      </m:dPr>
                      <m:e>
                        <m:r>
                          <a:rPr lang="en-US" altLang="en-US" i="1">
                            <a:latin typeface="Cambria Math" panose="02040503050406030204" pitchFamily="18" charset="0"/>
                            <a:ea typeface="MS Mincho" panose="02020609040205080304" pitchFamily="49" charset="-128"/>
                          </a:rPr>
                          <m:t>𝑟</m:t>
                        </m:r>
                      </m:e>
                    </m:d>
                  </m:oMath>
                </a14:m>
                <a:r>
                  <a:rPr lang="en-US" altLang="en-US" dirty="0">
                    <a:latin typeface="+mj-lt"/>
                    <a:ea typeface="MS Mincho" panose="02020609040205080304" pitchFamily="49" charset="-128"/>
                  </a:rPr>
                  <a:t> and </a:t>
                </a:r>
                <a14:m>
                  <m:oMath xmlns:m="http://schemas.openxmlformats.org/officeDocument/2006/math">
                    <m:r>
                      <a:rPr lang="en-US" altLang="en-US" i="1">
                        <a:latin typeface="Cambria Math" panose="02040503050406030204" pitchFamily="18" charset="0"/>
                        <a:ea typeface="MS Mincho" panose="02020609040205080304" pitchFamily="49" charset="-128"/>
                      </a:rPr>
                      <m:t>𝐿</m:t>
                    </m:r>
                    <m:d>
                      <m:dPr>
                        <m:ctrlPr>
                          <a:rPr lang="en-US" altLang="en-US" i="1">
                            <a:latin typeface="Cambria Math" panose="02040503050406030204" pitchFamily="18" charset="0"/>
                            <a:ea typeface="MS Mincho" panose="02020609040205080304" pitchFamily="49" charset="-128"/>
                          </a:rPr>
                        </m:ctrlPr>
                      </m:dPr>
                      <m:e>
                        <m:r>
                          <a:rPr lang="en-US" altLang="en-US" i="1">
                            <a:latin typeface="Cambria Math" panose="02040503050406030204" pitchFamily="18" charset="0"/>
                            <a:ea typeface="MS Mincho" panose="02020609040205080304" pitchFamily="49" charset="-128"/>
                          </a:rPr>
                          <m:t>𝑠</m:t>
                        </m:r>
                      </m:e>
                    </m:d>
                  </m:oMath>
                </a14:m>
                <a:r>
                  <a:rPr lang="en-US" altLang="en-US" dirty="0">
                    <a:latin typeface="+mj-lt"/>
                    <a:ea typeface="MS Mincho" panose="02020609040205080304" pitchFamily="49" charset="-128"/>
                  </a:rPr>
                  <a:t>. Then,</a:t>
                </a:r>
              </a:p>
              <a:p>
                <a:pPr marL="968375" indent="-457200" defTabSz="1085850">
                  <a:buFont typeface="+mj-lt"/>
                  <a:buAutoNum type="alphaLcPeriod"/>
                </a:pPr>
                <a14:m>
                  <m:oMath xmlns:m="http://schemas.openxmlformats.org/officeDocument/2006/math">
                    <m:d>
                      <m:dPr>
                        <m:ctrlPr>
                          <a:rPr lang="en-US" altLang="en-US" i="1">
                            <a:latin typeface="Cambria Math" panose="02040503050406030204" pitchFamily="18" charset="0"/>
                            <a:ea typeface="MS Mincho" panose="02020609040205080304" pitchFamily="49" charset="-128"/>
                          </a:rPr>
                        </m:ctrlPr>
                      </m:dPr>
                      <m:e>
                        <m:r>
                          <m:rPr>
                            <m:sty m:val="p"/>
                          </m:rPr>
                          <a:rPr lang="en-US" altLang="en-US">
                            <a:latin typeface="Cambria Math" panose="02040503050406030204" pitchFamily="18" charset="0"/>
                            <a:ea typeface="MS Mincho" panose="02020609040205080304" pitchFamily="49" charset="-128"/>
                          </a:rPr>
                          <m:t>r</m:t>
                        </m:r>
                      </m:e>
                    </m:d>
                    <m:r>
                      <a:rPr lang="en-US" altLang="en-US">
                        <a:latin typeface="Cambria Math" panose="02040503050406030204" pitchFamily="18" charset="0"/>
                        <a:ea typeface="MS Mincho" panose="02020609040205080304" pitchFamily="49" charset="-128"/>
                      </a:rPr>
                      <m:t>|</m:t>
                    </m:r>
                    <m:d>
                      <m:dPr>
                        <m:ctrlPr>
                          <a:rPr lang="en-US" altLang="en-US" i="1">
                            <a:latin typeface="Cambria Math" panose="02040503050406030204" pitchFamily="18" charset="0"/>
                            <a:ea typeface="MS Mincho" panose="02020609040205080304" pitchFamily="49" charset="-128"/>
                          </a:rPr>
                        </m:ctrlPr>
                      </m:dPr>
                      <m:e>
                        <m:r>
                          <m:rPr>
                            <m:sty m:val="p"/>
                          </m:rPr>
                          <a:rPr lang="en-US" altLang="en-US">
                            <a:latin typeface="Cambria Math" panose="02040503050406030204" pitchFamily="18" charset="0"/>
                            <a:ea typeface="MS Mincho" panose="02020609040205080304" pitchFamily="49" charset="-128"/>
                          </a:rPr>
                          <m:t>s</m:t>
                        </m:r>
                      </m:e>
                    </m:d>
                    <m:r>
                      <a:rPr lang="en-US" altLang="en-US">
                        <a:latin typeface="Cambria Math" panose="02040503050406030204" pitchFamily="18" charset="0"/>
                        <a:ea typeface="MS Mincho" panose="02020609040205080304" pitchFamily="49" charset="-128"/>
                      </a:rPr>
                      <m:t> </m:t>
                    </m:r>
                  </m:oMath>
                </a14:m>
                <a:r>
                  <a:rPr lang="en-US" altLang="en-US" dirty="0">
                    <a:latin typeface="+mj-lt"/>
                    <a:ea typeface="MS Mincho" panose="02020609040205080304" pitchFamily="49" charset="-128"/>
                  </a:rPr>
                  <a:t> is a regular expression denoting  </a:t>
                </a:r>
                <a14:m>
                  <m:oMath xmlns:m="http://schemas.openxmlformats.org/officeDocument/2006/math">
                    <m:r>
                      <m:rPr>
                        <m:sty m:val="p"/>
                      </m:rPr>
                      <a:rPr lang="en-US" altLang="en-US">
                        <a:latin typeface="Cambria Math" panose="02040503050406030204" pitchFamily="18" charset="0"/>
                        <a:ea typeface="MS Mincho" panose="02020609040205080304" pitchFamily="49" charset="-128"/>
                      </a:rPr>
                      <m:t>L</m:t>
                    </m:r>
                    <m:d>
                      <m:dPr>
                        <m:ctrlPr>
                          <a:rPr lang="en-US" altLang="en-US" i="1">
                            <a:latin typeface="Cambria Math" panose="02040503050406030204" pitchFamily="18" charset="0"/>
                            <a:ea typeface="MS Mincho" panose="02020609040205080304" pitchFamily="49" charset="-128"/>
                          </a:rPr>
                        </m:ctrlPr>
                      </m:dPr>
                      <m:e>
                        <m:r>
                          <m:rPr>
                            <m:sty m:val="p"/>
                          </m:rPr>
                          <a:rPr lang="en-US" altLang="en-US">
                            <a:latin typeface="Cambria Math" panose="02040503050406030204" pitchFamily="18" charset="0"/>
                            <a:ea typeface="MS Mincho" panose="02020609040205080304" pitchFamily="49" charset="-128"/>
                          </a:rPr>
                          <m:t>r</m:t>
                        </m:r>
                      </m:e>
                    </m:d>
                    <m:r>
                      <a:rPr lang="en-US" altLang="en-US">
                        <a:latin typeface="Cambria Math" panose="02040503050406030204" pitchFamily="18" charset="0"/>
                        <a:ea typeface="MS Mincho" panose="02020609040205080304" pitchFamily="49" charset="-128"/>
                      </a:rPr>
                      <m:t> </m:t>
                    </m:r>
                    <m:r>
                      <m:rPr>
                        <m:sty m:val="p"/>
                      </m:rPr>
                      <a:rPr lang="en-US" altLang="en-US">
                        <a:latin typeface="Cambria Math" panose="02040503050406030204" pitchFamily="18" charset="0"/>
                        <a:ea typeface="MS Mincho" panose="02020609040205080304" pitchFamily="49" charset="-128"/>
                      </a:rPr>
                      <m:t>U</m:t>
                    </m:r>
                    <m:r>
                      <a:rPr lang="en-US" altLang="en-US">
                        <a:latin typeface="Cambria Math" panose="02040503050406030204" pitchFamily="18" charset="0"/>
                        <a:ea typeface="MS Mincho" panose="02020609040205080304" pitchFamily="49" charset="-128"/>
                      </a:rPr>
                      <m:t> </m:t>
                    </m:r>
                    <m:r>
                      <m:rPr>
                        <m:sty m:val="p"/>
                      </m:rPr>
                      <a:rPr lang="en-US" altLang="en-US">
                        <a:latin typeface="Cambria Math" panose="02040503050406030204" pitchFamily="18" charset="0"/>
                        <a:ea typeface="MS Mincho" panose="02020609040205080304" pitchFamily="49" charset="-128"/>
                      </a:rPr>
                      <m:t>L</m:t>
                    </m:r>
                    <m:r>
                      <a:rPr lang="en-US" altLang="en-US">
                        <a:latin typeface="Cambria Math" panose="02040503050406030204" pitchFamily="18" charset="0"/>
                        <a:ea typeface="MS Mincho" panose="02020609040205080304" pitchFamily="49" charset="-128"/>
                      </a:rPr>
                      <m:t>(</m:t>
                    </m:r>
                    <m:r>
                      <m:rPr>
                        <m:sty m:val="p"/>
                      </m:rPr>
                      <a:rPr lang="en-US" altLang="en-US">
                        <a:latin typeface="Cambria Math" panose="02040503050406030204" pitchFamily="18" charset="0"/>
                        <a:ea typeface="MS Mincho" panose="02020609040205080304" pitchFamily="49" charset="-128"/>
                      </a:rPr>
                      <m:t>s</m:t>
                    </m:r>
                    <m:r>
                      <a:rPr lang="en-US" altLang="en-US">
                        <a:latin typeface="Cambria Math" panose="02040503050406030204" pitchFamily="18" charset="0"/>
                        <a:ea typeface="MS Mincho" panose="02020609040205080304" pitchFamily="49" charset="-128"/>
                      </a:rPr>
                      <m:t>)</m:t>
                    </m:r>
                  </m:oMath>
                </a14:m>
                <a:endParaRPr lang="en-US" altLang="en-US" dirty="0">
                  <a:latin typeface="+mj-lt"/>
                  <a:ea typeface="MS Mincho" panose="02020609040205080304" pitchFamily="49" charset="-128"/>
                </a:endParaRPr>
              </a:p>
              <a:p>
                <a:pPr marL="968375" indent="-457200">
                  <a:buFont typeface="+mj-lt"/>
                  <a:buAutoNum type="alphaLcPeriod"/>
                </a:pPr>
                <a14:m>
                  <m:oMath xmlns:m="http://schemas.openxmlformats.org/officeDocument/2006/math">
                    <m:d>
                      <m:dPr>
                        <m:ctrlPr>
                          <a:rPr lang="en-US" altLang="en-US" i="1">
                            <a:latin typeface="Cambria Math" panose="02040503050406030204" pitchFamily="18" charset="0"/>
                            <a:ea typeface="MS Mincho" panose="02020609040205080304" pitchFamily="49" charset="-128"/>
                          </a:rPr>
                        </m:ctrlPr>
                      </m:dPr>
                      <m:e>
                        <m:r>
                          <m:rPr>
                            <m:sty m:val="p"/>
                          </m:rPr>
                          <a:rPr lang="en-US" altLang="en-US">
                            <a:latin typeface="Cambria Math" panose="02040503050406030204" pitchFamily="18" charset="0"/>
                            <a:ea typeface="MS Mincho" panose="02020609040205080304" pitchFamily="49" charset="-128"/>
                          </a:rPr>
                          <m:t>r</m:t>
                        </m:r>
                      </m:e>
                    </m:d>
                    <m:d>
                      <m:dPr>
                        <m:ctrlPr>
                          <a:rPr lang="en-US" altLang="en-US" i="1">
                            <a:latin typeface="Cambria Math" panose="02040503050406030204" pitchFamily="18" charset="0"/>
                            <a:ea typeface="MS Mincho" panose="02020609040205080304" pitchFamily="49" charset="-128"/>
                          </a:rPr>
                        </m:ctrlPr>
                      </m:dPr>
                      <m:e>
                        <m:r>
                          <m:rPr>
                            <m:sty m:val="p"/>
                          </m:rPr>
                          <a:rPr lang="en-US" altLang="en-US">
                            <a:latin typeface="Cambria Math" panose="02040503050406030204" pitchFamily="18" charset="0"/>
                            <a:ea typeface="MS Mincho" panose="02020609040205080304" pitchFamily="49" charset="-128"/>
                          </a:rPr>
                          <m:t>s</m:t>
                        </m:r>
                      </m:e>
                    </m:d>
                  </m:oMath>
                </a14:m>
                <a:r>
                  <a:rPr lang="en-US" altLang="en-US" dirty="0">
                    <a:latin typeface="+mj-lt"/>
                    <a:ea typeface="MS Mincho" panose="02020609040205080304" pitchFamily="49" charset="-128"/>
                  </a:rPr>
                  <a:t> is a regular expression denoting </a:t>
                </a:r>
                <a14:m>
                  <m:oMath xmlns:m="http://schemas.openxmlformats.org/officeDocument/2006/math">
                    <m:r>
                      <a:rPr lang="en-US" altLang="en-US">
                        <a:latin typeface="Cambria Math" panose="02040503050406030204" pitchFamily="18" charset="0"/>
                        <a:ea typeface="MS Mincho" panose="02020609040205080304" pitchFamily="49" charset="-128"/>
                      </a:rPr>
                      <m:t> </m:t>
                    </m:r>
                    <m:r>
                      <m:rPr>
                        <m:sty m:val="p"/>
                      </m:rPr>
                      <a:rPr lang="en-US" altLang="en-US">
                        <a:latin typeface="Cambria Math" panose="02040503050406030204" pitchFamily="18" charset="0"/>
                        <a:ea typeface="MS Mincho" panose="02020609040205080304" pitchFamily="49" charset="-128"/>
                      </a:rPr>
                      <m:t>L</m:t>
                    </m:r>
                    <m:d>
                      <m:dPr>
                        <m:ctrlPr>
                          <a:rPr lang="en-US" altLang="en-US" i="1">
                            <a:latin typeface="Cambria Math" panose="02040503050406030204" pitchFamily="18" charset="0"/>
                            <a:ea typeface="MS Mincho" panose="02020609040205080304" pitchFamily="49" charset="-128"/>
                          </a:rPr>
                        </m:ctrlPr>
                      </m:dPr>
                      <m:e>
                        <m:r>
                          <m:rPr>
                            <m:sty m:val="p"/>
                          </m:rPr>
                          <a:rPr lang="en-US" altLang="en-US">
                            <a:latin typeface="Cambria Math" panose="02040503050406030204" pitchFamily="18" charset="0"/>
                            <a:ea typeface="MS Mincho" panose="02020609040205080304" pitchFamily="49" charset="-128"/>
                          </a:rPr>
                          <m:t>r</m:t>
                        </m:r>
                      </m:e>
                    </m:d>
                    <m:r>
                      <m:rPr>
                        <m:sty m:val="p"/>
                      </m:rPr>
                      <a:rPr lang="en-US" altLang="en-US">
                        <a:latin typeface="Cambria Math" panose="02040503050406030204" pitchFamily="18" charset="0"/>
                        <a:ea typeface="MS Mincho" panose="02020609040205080304" pitchFamily="49" charset="-128"/>
                      </a:rPr>
                      <m:t>L</m:t>
                    </m:r>
                    <m:d>
                      <m:dPr>
                        <m:ctrlPr>
                          <a:rPr lang="en-US" altLang="en-US" i="1">
                            <a:latin typeface="Cambria Math" panose="02040503050406030204" pitchFamily="18" charset="0"/>
                            <a:ea typeface="MS Mincho" panose="02020609040205080304" pitchFamily="49" charset="-128"/>
                          </a:rPr>
                        </m:ctrlPr>
                      </m:dPr>
                      <m:e>
                        <m:r>
                          <m:rPr>
                            <m:sty m:val="p"/>
                          </m:rPr>
                          <a:rPr lang="en-US" altLang="en-US">
                            <a:latin typeface="Cambria Math" panose="02040503050406030204" pitchFamily="18" charset="0"/>
                            <a:ea typeface="MS Mincho" panose="02020609040205080304" pitchFamily="49" charset="-128"/>
                          </a:rPr>
                          <m:t>s</m:t>
                        </m:r>
                      </m:e>
                    </m:d>
                  </m:oMath>
                </a14:m>
                <a:endParaRPr lang="en-US" altLang="en-US" dirty="0">
                  <a:latin typeface="+mj-lt"/>
                  <a:ea typeface="MS Mincho" panose="02020609040205080304" pitchFamily="49" charset="-128"/>
                </a:endParaRPr>
              </a:p>
              <a:p>
                <a:pPr marL="968375" indent="-457200">
                  <a:buFont typeface="+mj-lt"/>
                  <a:buAutoNum type="alphaLcPeriod"/>
                </a:pPr>
                <a14:m>
                  <m:oMath xmlns:m="http://schemas.openxmlformats.org/officeDocument/2006/math">
                    <m:d>
                      <m:dPr>
                        <m:ctrlPr>
                          <a:rPr lang="en-US" altLang="en-US" i="1">
                            <a:latin typeface="Cambria Math" panose="02040503050406030204" pitchFamily="18" charset="0"/>
                            <a:ea typeface="MS Mincho" panose="02020609040205080304" pitchFamily="49" charset="-128"/>
                          </a:rPr>
                        </m:ctrlPr>
                      </m:dPr>
                      <m:e>
                        <m:r>
                          <m:rPr>
                            <m:sty m:val="p"/>
                          </m:rPr>
                          <a:rPr lang="en-US" altLang="en-US">
                            <a:latin typeface="Cambria Math" panose="02040503050406030204" pitchFamily="18" charset="0"/>
                            <a:ea typeface="MS Mincho" panose="02020609040205080304" pitchFamily="49" charset="-128"/>
                          </a:rPr>
                          <m:t>r</m:t>
                        </m:r>
                      </m:e>
                    </m:d>
                  </m:oMath>
                </a14:m>
                <a:r>
                  <a:rPr lang="en-US" altLang="en-US" dirty="0">
                    <a:latin typeface="+mj-lt"/>
                    <a:ea typeface="MS Mincho" panose="02020609040205080304" pitchFamily="49" charset="-128"/>
                  </a:rPr>
                  <a:t>* is a regular expression denoting </a:t>
                </a:r>
                <a14:m>
                  <m:oMath xmlns:m="http://schemas.openxmlformats.org/officeDocument/2006/math">
                    <m:d>
                      <m:dPr>
                        <m:ctrlPr>
                          <a:rPr lang="en-US" altLang="en-US" i="1">
                            <a:latin typeface="Cambria Math" panose="02040503050406030204" pitchFamily="18" charset="0"/>
                            <a:ea typeface="MS Mincho" panose="02020609040205080304" pitchFamily="49" charset="-128"/>
                          </a:rPr>
                        </m:ctrlPr>
                      </m:dPr>
                      <m:e>
                        <m:r>
                          <m:rPr>
                            <m:sty m:val="p"/>
                          </m:rPr>
                          <a:rPr lang="en-US" altLang="en-US">
                            <a:latin typeface="Cambria Math" panose="02040503050406030204" pitchFamily="18" charset="0"/>
                            <a:ea typeface="MS Mincho" panose="02020609040205080304" pitchFamily="49" charset="-128"/>
                          </a:rPr>
                          <m:t>L</m:t>
                        </m:r>
                        <m:d>
                          <m:dPr>
                            <m:ctrlPr>
                              <a:rPr lang="en-US" altLang="en-US" i="1">
                                <a:latin typeface="Cambria Math" panose="02040503050406030204" pitchFamily="18" charset="0"/>
                                <a:ea typeface="MS Mincho" panose="02020609040205080304" pitchFamily="49" charset="-128"/>
                              </a:rPr>
                            </m:ctrlPr>
                          </m:dPr>
                          <m:e>
                            <m:r>
                              <m:rPr>
                                <m:sty m:val="p"/>
                              </m:rPr>
                              <a:rPr lang="en-US" altLang="en-US">
                                <a:latin typeface="Cambria Math" panose="02040503050406030204" pitchFamily="18" charset="0"/>
                                <a:ea typeface="MS Mincho" panose="02020609040205080304" pitchFamily="49" charset="-128"/>
                              </a:rPr>
                              <m:t>r</m:t>
                            </m:r>
                          </m:e>
                        </m:d>
                      </m:e>
                    </m:d>
                    <m:r>
                      <a:rPr lang="en-US" altLang="en-US" baseline="30000">
                        <a:latin typeface="Cambria Math" panose="02040503050406030204" pitchFamily="18" charset="0"/>
                        <a:ea typeface="MS Mincho" panose="02020609040205080304" pitchFamily="49" charset="-128"/>
                      </a:rPr>
                      <m:t>∗</m:t>
                    </m:r>
                  </m:oMath>
                </a14:m>
                <a:endParaRPr lang="en-US" altLang="en-US" baseline="30000" dirty="0">
                  <a:latin typeface="+mj-lt"/>
                  <a:ea typeface="MS Mincho" panose="02020609040205080304" pitchFamily="49" charset="-128"/>
                </a:endParaRPr>
              </a:p>
              <a:p>
                <a:pPr marL="968375" indent="-457200">
                  <a:buFont typeface="+mj-lt"/>
                  <a:buAutoNum type="alphaLcPeriod"/>
                </a:pPr>
                <a14:m>
                  <m:oMath xmlns:m="http://schemas.openxmlformats.org/officeDocument/2006/math">
                    <m:d>
                      <m:dPr>
                        <m:ctrlPr>
                          <a:rPr lang="en-US" altLang="en-US" i="1">
                            <a:latin typeface="Cambria Math" panose="02040503050406030204" pitchFamily="18" charset="0"/>
                            <a:ea typeface="MS Mincho" panose="02020609040205080304" pitchFamily="49" charset="-128"/>
                          </a:rPr>
                        </m:ctrlPr>
                      </m:dPr>
                      <m:e>
                        <m:r>
                          <m:rPr>
                            <m:sty m:val="p"/>
                          </m:rPr>
                          <a:rPr lang="en-US" altLang="en-US">
                            <a:latin typeface="Cambria Math" panose="02040503050406030204" pitchFamily="18" charset="0"/>
                            <a:ea typeface="MS Mincho" panose="02020609040205080304" pitchFamily="49" charset="-128"/>
                          </a:rPr>
                          <m:t>r</m:t>
                        </m:r>
                      </m:e>
                    </m:d>
                  </m:oMath>
                </a14:m>
                <a:r>
                  <a:rPr lang="en-US" altLang="en-US" dirty="0">
                    <a:latin typeface="+mj-lt"/>
                    <a:ea typeface="MS Mincho" panose="02020609040205080304" pitchFamily="49" charset="-128"/>
                  </a:rPr>
                  <a:t> is a regular expression denoting </a:t>
                </a:r>
                <a14:m>
                  <m:oMath xmlns:m="http://schemas.openxmlformats.org/officeDocument/2006/math">
                    <m:r>
                      <m:rPr>
                        <m:sty m:val="p"/>
                      </m:rPr>
                      <a:rPr lang="en-US" altLang="en-US">
                        <a:latin typeface="Cambria Math" panose="02040503050406030204" pitchFamily="18" charset="0"/>
                        <a:ea typeface="MS Mincho" panose="02020609040205080304" pitchFamily="49" charset="-128"/>
                      </a:rPr>
                      <m:t>L</m:t>
                    </m:r>
                    <m:r>
                      <a:rPr lang="en-US" altLang="en-US">
                        <a:latin typeface="Cambria Math" panose="02040503050406030204" pitchFamily="18" charset="0"/>
                        <a:ea typeface="MS Mincho" panose="02020609040205080304" pitchFamily="49" charset="-128"/>
                      </a:rPr>
                      <m:t>(</m:t>
                    </m:r>
                    <m:d>
                      <m:dPr>
                        <m:ctrlPr>
                          <a:rPr lang="en-US" altLang="en-US" i="1">
                            <a:latin typeface="Cambria Math" panose="02040503050406030204" pitchFamily="18" charset="0"/>
                            <a:ea typeface="MS Mincho" panose="02020609040205080304" pitchFamily="49" charset="-128"/>
                          </a:rPr>
                        </m:ctrlPr>
                      </m:dPr>
                      <m:e>
                        <m:r>
                          <m:rPr>
                            <m:sty m:val="p"/>
                          </m:rPr>
                          <a:rPr lang="en-US" altLang="en-US">
                            <a:latin typeface="Cambria Math" panose="02040503050406030204" pitchFamily="18" charset="0"/>
                            <a:ea typeface="MS Mincho" panose="02020609040205080304" pitchFamily="49" charset="-128"/>
                          </a:rPr>
                          <m:t>r</m:t>
                        </m:r>
                      </m:e>
                    </m:d>
                    <m:r>
                      <a:rPr lang="en-US" altLang="en-US">
                        <a:latin typeface="Cambria Math" panose="02040503050406030204" pitchFamily="18" charset="0"/>
                        <a:ea typeface="MS Mincho" panose="02020609040205080304" pitchFamily="49" charset="-128"/>
                      </a:rPr>
                      <m:t>)</m:t>
                    </m:r>
                  </m:oMath>
                </a14:m>
                <a:endParaRPr lang="en-US" altLang="en-US" baseline="30000" dirty="0">
                  <a:latin typeface="+mj-lt"/>
                </a:endParaRPr>
              </a:p>
              <a:p>
                <a:pPr marL="511175" indent="0">
                  <a:buFont typeface="Arial" panose="020B0604020202020204" pitchFamily="34" charset="0"/>
                  <a:buNone/>
                </a:pPr>
                <a:endParaRPr lang="en-US" altLang="en-US" baseline="30000" dirty="0">
                  <a:latin typeface="+mj-lt"/>
                </a:endParaRPr>
              </a:p>
              <a:p>
                <a:pPr marL="0" indent="0">
                  <a:buFont typeface="Arial" panose="020B0604020202020204" pitchFamily="34" charset="0"/>
                  <a:buNone/>
                </a:pPr>
                <a:r>
                  <a:rPr lang="en-US" altLang="en-US" dirty="0">
                    <a:latin typeface="+mj-lt"/>
                  </a:rPr>
                  <a:t>The language denoted by regular expression is said to be a </a:t>
                </a:r>
                <a:r>
                  <a:rPr lang="en-US" altLang="en-US" dirty="0">
                    <a:solidFill>
                      <a:srgbClr val="C00000"/>
                    </a:solidFill>
                    <a:latin typeface="+mj-lt"/>
                  </a:rPr>
                  <a:t>regular set</a:t>
                </a:r>
                <a:r>
                  <a:rPr lang="en-US" altLang="en-US" dirty="0">
                    <a:solidFill>
                      <a:schemeClr val="accent1">
                        <a:lumMod val="75000"/>
                      </a:schemeClr>
                    </a:solidFill>
                    <a:latin typeface="+mj-lt"/>
                  </a:rPr>
                  <a:t>.</a:t>
                </a:r>
              </a:p>
              <a:p>
                <a:endParaRPr lang="en-US" dirty="0"/>
              </a:p>
            </p:txBody>
          </p:sp>
        </mc:Choice>
        <mc:Fallback xmlns="">
          <p:sp>
            <p:nvSpPr>
              <p:cNvPr id="3" name="Content Placeholder 2">
                <a:extLst>
                  <a:ext uri="{FF2B5EF4-FFF2-40B4-BE49-F238E27FC236}">
                    <a16:creationId xmlns:a16="http://schemas.microsoft.com/office/drawing/2014/main" id="{AF6A3247-025D-B827-67BA-3E6C8343F081}"/>
                  </a:ext>
                </a:extLst>
              </p:cNvPr>
              <p:cNvSpPr txBox="1">
                <a:spLocks noRot="1" noChangeAspect="1" noMove="1" noResize="1" noEditPoints="1" noAdjustHandles="1" noChangeArrowheads="1" noChangeShapeType="1" noTextEdit="1"/>
              </p:cNvSpPr>
              <p:nvPr/>
            </p:nvSpPr>
            <p:spPr>
              <a:xfrm>
                <a:off x="131180" y="863444"/>
                <a:ext cx="11929641" cy="5590565"/>
              </a:xfrm>
              <a:prstGeom prst="rect">
                <a:avLst/>
              </a:prstGeom>
              <a:blipFill>
                <a:blip r:embed="rId2"/>
                <a:stretch>
                  <a:fillRect l="-1074" t="-1854" r="-1074"/>
                </a:stretch>
              </a:blipFill>
            </p:spPr>
            <p:txBody>
              <a:bodyPr/>
              <a:lstStyle/>
              <a:p>
                <a:r>
                  <a:rPr lang="en-IN">
                    <a:noFill/>
                  </a:rPr>
                  <a:t> </a:t>
                </a:r>
              </a:p>
            </p:txBody>
          </p:sp>
        </mc:Fallback>
      </mc:AlternateContent>
    </p:spTree>
    <p:extLst>
      <p:ext uri="{BB962C8B-B14F-4D97-AF65-F5344CB8AC3E}">
        <p14:creationId xmlns:p14="http://schemas.microsoft.com/office/powerpoint/2010/main" val="8938976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dur="1"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BA8E3-F163-F8F3-1FE6-9EF60419FD1F}"/>
              </a:ext>
            </a:extLst>
          </p:cNvPr>
          <p:cNvSpPr txBox="1">
            <a:spLocks/>
          </p:cNvSpPr>
          <p:nvPr/>
        </p:nvSpPr>
        <p:spPr>
          <a:xfrm>
            <a:off x="0" y="1"/>
            <a:ext cx="12192000" cy="711200"/>
          </a:xfrm>
          <a:prstGeom prst="rect">
            <a:avLst/>
          </a:prstGeom>
        </p:spPr>
        <p:txBody>
          <a:bodyPr/>
          <a:lstStyle>
            <a:lvl1pPr algn="l" defTabSz="914400" rtl="0" eaLnBrk="1" latinLnBrk="0" hangingPunct="1">
              <a:lnSpc>
                <a:spcPct val="90000"/>
              </a:lnSpc>
              <a:spcBef>
                <a:spcPct val="0"/>
              </a:spcBef>
              <a:buNone/>
              <a:defRPr sz="4400" kern="1200">
                <a:solidFill>
                  <a:srgbClr val="C00000"/>
                </a:solidFill>
                <a:latin typeface="Palatino Linotype" panose="02040502050505030304" pitchFamily="18" charset="0"/>
                <a:ea typeface="+mj-ea"/>
                <a:cs typeface="+mj-cs"/>
              </a:defRPr>
            </a:lvl1pPr>
          </a:lstStyle>
          <a:p>
            <a:r>
              <a:rPr lang="en-US"/>
              <a:t>Regular expression</a:t>
            </a:r>
          </a:p>
        </p:txBody>
      </p:sp>
      <p:sp>
        <p:nvSpPr>
          <p:cNvPr id="3" name="Content Placeholder 2">
            <a:extLst>
              <a:ext uri="{FF2B5EF4-FFF2-40B4-BE49-F238E27FC236}">
                <a16:creationId xmlns:a16="http://schemas.microsoft.com/office/drawing/2014/main" id="{E85DE03A-D0BD-63FC-947A-1095471176C4}"/>
              </a:ext>
            </a:extLst>
          </p:cNvPr>
          <p:cNvSpPr txBox="1">
            <a:spLocks/>
          </p:cNvSpPr>
          <p:nvPr/>
        </p:nvSpPr>
        <p:spPr>
          <a:xfrm>
            <a:off x="1525" y="571694"/>
            <a:ext cx="11929641" cy="5590565"/>
          </a:xfrm>
          <a:prstGeom prst="rect">
            <a:avLst/>
          </a:prstGeom>
        </p:spPr>
        <p:txBody>
          <a:bodyPr/>
          <a:lstStyle>
            <a:lvl1pPr marL="228600" indent="-228600" algn="just"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Palatino Linotype" panose="02040502050505030304" pitchFamily="18" charset="0"/>
                <a:ea typeface="+mn-ea"/>
                <a:cs typeface="+mn-cs"/>
              </a:defRPr>
            </a:lvl1pPr>
            <a:lvl2pPr marL="685800" indent="-228600" algn="just"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Palatino Linotype" panose="02040502050505030304" pitchFamily="18" charset="0"/>
                <a:ea typeface="+mn-ea"/>
                <a:cs typeface="+mn-cs"/>
              </a:defRPr>
            </a:lvl2pPr>
            <a:lvl3pPr marL="1143000" indent="-228600" algn="just"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Palatino Linotype" panose="02040502050505030304" pitchFamily="18" charset="0"/>
                <a:ea typeface="+mn-ea"/>
                <a:cs typeface="+mn-cs"/>
              </a:defRPr>
            </a:lvl3pPr>
            <a:lvl4pPr marL="1600200" indent="-228600" algn="just"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alatino Linotype" panose="02040502050505030304" pitchFamily="18" charset="0"/>
                <a:ea typeface="+mn-ea"/>
                <a:cs typeface="+mn-cs"/>
              </a:defRPr>
            </a:lvl4pPr>
            <a:lvl5pPr marL="2057400" indent="-228600" algn="just"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a:solidFill>
                  <a:srgbClr val="C00000"/>
                </a:solidFill>
              </a:rPr>
              <a:t>L</a:t>
            </a:r>
            <a:r>
              <a:rPr lang="en-US" b="1" baseline="-25000">
                <a:solidFill>
                  <a:srgbClr val="C00000"/>
                </a:solidFill>
              </a:rPr>
              <a:t> </a:t>
            </a:r>
            <a:r>
              <a:rPr lang="en-US" b="1">
                <a:solidFill>
                  <a:srgbClr val="C00000"/>
                </a:solidFill>
              </a:rPr>
              <a:t>= Zero or More Occurrences of a =</a:t>
            </a:r>
          </a:p>
          <a:p>
            <a:endParaRPr lang="en-US" b="1">
              <a:solidFill>
                <a:srgbClr val="C00000"/>
              </a:solidFill>
            </a:endParaRPr>
          </a:p>
          <a:p>
            <a:endParaRPr lang="en-US" b="1">
              <a:solidFill>
                <a:srgbClr val="C00000"/>
              </a:solidFill>
            </a:endParaRPr>
          </a:p>
          <a:p>
            <a:endParaRPr lang="en-US"/>
          </a:p>
        </p:txBody>
      </p:sp>
      <p:sp>
        <p:nvSpPr>
          <p:cNvPr id="4" name="Rectangle 3">
            <a:extLst>
              <a:ext uri="{FF2B5EF4-FFF2-40B4-BE49-F238E27FC236}">
                <a16:creationId xmlns:a16="http://schemas.microsoft.com/office/drawing/2014/main" id="{E7EB5A35-32AC-963B-ADFE-B03109B865A6}"/>
              </a:ext>
            </a:extLst>
          </p:cNvPr>
          <p:cNvSpPr/>
          <p:nvPr/>
        </p:nvSpPr>
        <p:spPr>
          <a:xfrm>
            <a:off x="398176" y="1385771"/>
            <a:ext cx="2971800" cy="3314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0000">
                <a:solidFill>
                  <a:srgbClr val="0E47A1"/>
                </a:solidFill>
              </a:rPr>
              <a:t>*</a:t>
            </a:r>
          </a:p>
        </p:txBody>
      </p:sp>
      <p:sp>
        <p:nvSpPr>
          <p:cNvPr id="5" name="Rectangle 4">
            <a:extLst>
              <a:ext uri="{FF2B5EF4-FFF2-40B4-BE49-F238E27FC236}">
                <a16:creationId xmlns:a16="http://schemas.microsoft.com/office/drawing/2014/main" id="{44B87BB1-F717-25EE-F2B5-EF8758A4A2AD}"/>
              </a:ext>
            </a:extLst>
          </p:cNvPr>
          <p:cNvSpPr/>
          <p:nvPr/>
        </p:nvSpPr>
        <p:spPr>
          <a:xfrm>
            <a:off x="4755545" y="711201"/>
            <a:ext cx="717966" cy="67457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600" b="1">
                <a:solidFill>
                  <a:srgbClr val="0E47A1"/>
                </a:solidFill>
                <a:latin typeface="+mj-lt"/>
              </a:rPr>
              <a:t>a*</a:t>
            </a:r>
            <a:endParaRPr lang="en-US" sz="2600" b="1" baseline="30000">
              <a:solidFill>
                <a:srgbClr val="0E47A1"/>
              </a:solidFill>
              <a:latin typeface="+mj-lt"/>
            </a:endParaRPr>
          </a:p>
        </p:txBody>
      </p:sp>
      <p:sp>
        <p:nvSpPr>
          <p:cNvPr id="6" name="Rectangle 5">
            <a:extLst>
              <a:ext uri="{FF2B5EF4-FFF2-40B4-BE49-F238E27FC236}">
                <a16:creationId xmlns:a16="http://schemas.microsoft.com/office/drawing/2014/main" id="{ED323258-5347-90FF-CD36-4E5403499882}"/>
              </a:ext>
            </a:extLst>
          </p:cNvPr>
          <p:cNvSpPr/>
          <p:nvPr/>
        </p:nvSpPr>
        <p:spPr>
          <a:xfrm>
            <a:off x="4559939" y="1966008"/>
            <a:ext cx="717966" cy="67457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600" b="1">
                <a:solidFill>
                  <a:srgbClr val="0E47A1"/>
                </a:solidFill>
                <a:latin typeface="+mj-lt"/>
              </a:rPr>
              <a:t>a</a:t>
            </a:r>
            <a:endParaRPr lang="en-US" sz="2600" b="1" baseline="30000">
              <a:solidFill>
                <a:srgbClr val="0E47A1"/>
              </a:solidFill>
              <a:latin typeface="+mj-lt"/>
            </a:endParaRPr>
          </a:p>
        </p:txBody>
      </p:sp>
      <p:sp>
        <p:nvSpPr>
          <p:cNvPr id="7" name="Rectangle 6">
            <a:extLst>
              <a:ext uri="{FF2B5EF4-FFF2-40B4-BE49-F238E27FC236}">
                <a16:creationId xmlns:a16="http://schemas.microsoft.com/office/drawing/2014/main" id="{FA62BA48-69F5-437A-276A-26A3FAF45DBA}"/>
              </a:ext>
            </a:extLst>
          </p:cNvPr>
          <p:cNvSpPr/>
          <p:nvPr/>
        </p:nvSpPr>
        <p:spPr>
          <a:xfrm>
            <a:off x="4500059" y="2692407"/>
            <a:ext cx="1022766" cy="67457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600" b="1">
                <a:solidFill>
                  <a:srgbClr val="0E47A1"/>
                </a:solidFill>
                <a:latin typeface="+mj-lt"/>
              </a:rPr>
              <a:t> aaa</a:t>
            </a:r>
            <a:endParaRPr lang="en-US" sz="2600" b="1" baseline="30000">
              <a:solidFill>
                <a:srgbClr val="0E47A1"/>
              </a:solidFill>
              <a:latin typeface="+mj-lt"/>
            </a:endParaRPr>
          </a:p>
        </p:txBody>
      </p:sp>
      <p:sp>
        <p:nvSpPr>
          <p:cNvPr id="8" name="Rectangle 7">
            <a:extLst>
              <a:ext uri="{FF2B5EF4-FFF2-40B4-BE49-F238E27FC236}">
                <a16:creationId xmlns:a16="http://schemas.microsoft.com/office/drawing/2014/main" id="{C3B31967-691A-7255-3372-3259B59A1A96}"/>
              </a:ext>
            </a:extLst>
          </p:cNvPr>
          <p:cNvSpPr/>
          <p:nvPr/>
        </p:nvSpPr>
        <p:spPr>
          <a:xfrm>
            <a:off x="4589295" y="2379493"/>
            <a:ext cx="717966" cy="609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600" b="1">
                <a:solidFill>
                  <a:srgbClr val="0E47A1"/>
                </a:solidFill>
                <a:latin typeface="+mj-lt"/>
              </a:rPr>
              <a:t> aa</a:t>
            </a:r>
            <a:endParaRPr lang="en-US" sz="2600" b="1" baseline="30000">
              <a:solidFill>
                <a:srgbClr val="0E47A1"/>
              </a:solidFill>
              <a:latin typeface="+mj-lt"/>
            </a:endParaRPr>
          </a:p>
        </p:txBody>
      </p:sp>
      <p:sp>
        <p:nvSpPr>
          <p:cNvPr id="9" name="Rectangle 8">
            <a:extLst>
              <a:ext uri="{FF2B5EF4-FFF2-40B4-BE49-F238E27FC236}">
                <a16:creationId xmlns:a16="http://schemas.microsoft.com/office/drawing/2014/main" id="{66D077E8-5D7E-7E29-5653-12A7E9C863E0}"/>
              </a:ext>
            </a:extLst>
          </p:cNvPr>
          <p:cNvSpPr/>
          <p:nvPr/>
        </p:nvSpPr>
        <p:spPr>
          <a:xfrm>
            <a:off x="4629349" y="3097148"/>
            <a:ext cx="981543" cy="609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600" b="1" err="1">
                <a:solidFill>
                  <a:srgbClr val="0E47A1"/>
                </a:solidFill>
                <a:latin typeface="+mj-lt"/>
              </a:rPr>
              <a:t>aaaa</a:t>
            </a:r>
            <a:endParaRPr lang="en-US" sz="2600" b="1" baseline="30000">
              <a:solidFill>
                <a:srgbClr val="0E47A1"/>
              </a:solidFill>
              <a:latin typeface="+mj-lt"/>
            </a:endParaRPr>
          </a:p>
        </p:txBody>
      </p:sp>
      <p:sp>
        <p:nvSpPr>
          <p:cNvPr id="10" name="Rectangle 9">
            <a:extLst>
              <a:ext uri="{FF2B5EF4-FFF2-40B4-BE49-F238E27FC236}">
                <a16:creationId xmlns:a16="http://schemas.microsoft.com/office/drawing/2014/main" id="{387F4327-FC7C-72DD-DDEC-75C2B65BF848}"/>
              </a:ext>
            </a:extLst>
          </p:cNvPr>
          <p:cNvSpPr/>
          <p:nvPr/>
        </p:nvSpPr>
        <p:spPr>
          <a:xfrm>
            <a:off x="4629349" y="3498758"/>
            <a:ext cx="1474889" cy="609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600" b="1" err="1">
                <a:solidFill>
                  <a:srgbClr val="0E47A1"/>
                </a:solidFill>
                <a:latin typeface="+mj-lt"/>
              </a:rPr>
              <a:t>aaaaa…..</a:t>
            </a:r>
            <a:endParaRPr lang="en-US" sz="2600" b="1" baseline="30000">
              <a:solidFill>
                <a:srgbClr val="0E47A1"/>
              </a:solidFill>
              <a:latin typeface="+mj-lt"/>
            </a:endParaRPr>
          </a:p>
        </p:txBody>
      </p:sp>
      <p:sp>
        <p:nvSpPr>
          <p:cNvPr id="11" name="Right Brace 10">
            <a:extLst>
              <a:ext uri="{FF2B5EF4-FFF2-40B4-BE49-F238E27FC236}">
                <a16:creationId xmlns:a16="http://schemas.microsoft.com/office/drawing/2014/main" id="{AF046639-40F0-1A07-9EF4-8FAD185C453C}"/>
              </a:ext>
            </a:extLst>
          </p:cNvPr>
          <p:cNvSpPr/>
          <p:nvPr/>
        </p:nvSpPr>
        <p:spPr>
          <a:xfrm>
            <a:off x="5966346" y="1932758"/>
            <a:ext cx="762000" cy="2142350"/>
          </a:xfrm>
          <a:prstGeom prst="rightBrace">
            <a:avLst/>
          </a:prstGeom>
          <a:ln w="25400">
            <a:solidFill>
              <a:srgbClr val="0E47A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srgbClr val="0E47A1"/>
              </a:solidFill>
              <a:latin typeface="+mj-lt"/>
            </a:endParaRPr>
          </a:p>
        </p:txBody>
      </p:sp>
      <p:sp>
        <p:nvSpPr>
          <p:cNvPr id="12" name="Rectangle 11">
            <a:extLst>
              <a:ext uri="{FF2B5EF4-FFF2-40B4-BE49-F238E27FC236}">
                <a16:creationId xmlns:a16="http://schemas.microsoft.com/office/drawing/2014/main" id="{DF79D54C-60AF-E3AB-7443-861E7F2D0117}"/>
              </a:ext>
            </a:extLst>
          </p:cNvPr>
          <p:cNvSpPr/>
          <p:nvPr/>
        </p:nvSpPr>
        <p:spPr>
          <a:xfrm>
            <a:off x="6728346" y="2767361"/>
            <a:ext cx="1728392" cy="5246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solidFill>
                  <a:srgbClr val="C00000"/>
                </a:solidFill>
                <a:latin typeface="+mj-lt"/>
              </a:rPr>
              <a:t>Infinite …..</a:t>
            </a:r>
          </a:p>
        </p:txBody>
      </p:sp>
      <p:cxnSp>
        <p:nvCxnSpPr>
          <p:cNvPr id="13" name="Curved Connector 12">
            <a:extLst>
              <a:ext uri="{FF2B5EF4-FFF2-40B4-BE49-F238E27FC236}">
                <a16:creationId xmlns:a16="http://schemas.microsoft.com/office/drawing/2014/main" id="{A95330A1-557B-CEC7-E372-6484E9569043}"/>
              </a:ext>
            </a:extLst>
          </p:cNvPr>
          <p:cNvCxnSpPr/>
          <p:nvPr/>
        </p:nvCxnSpPr>
        <p:spPr>
          <a:xfrm rot="10800000">
            <a:off x="5025892" y="1169973"/>
            <a:ext cx="1541726" cy="1828806"/>
          </a:xfrm>
          <a:prstGeom prst="curvedConnector2">
            <a:avLst/>
          </a:prstGeom>
          <a:ln w="25400">
            <a:solidFill>
              <a:srgbClr val="0E47A1"/>
            </a:solidFill>
            <a:tailEnd type="arrow"/>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8A6BD566-A4AF-8BAB-7963-3E47F399F835}"/>
              </a:ext>
            </a:extLst>
          </p:cNvPr>
          <p:cNvSpPr/>
          <p:nvPr/>
        </p:nvSpPr>
        <p:spPr>
          <a:xfrm>
            <a:off x="4546632" y="1624976"/>
            <a:ext cx="717966" cy="67457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600" b="1">
                <a:solidFill>
                  <a:srgbClr val="0E47A1"/>
                </a:solidFill>
                <a:latin typeface="+mj-lt"/>
                <a:ea typeface="Cambria Math" panose="02040503050406030204" pitchFamily="18" charset="0"/>
              </a:rPr>
              <a:t>𝜖</a:t>
            </a:r>
            <a:endParaRPr lang="en-US" sz="2600" b="1" baseline="30000">
              <a:solidFill>
                <a:srgbClr val="0E47A1"/>
              </a:solidFill>
              <a:latin typeface="+mj-lt"/>
            </a:endParaRPr>
          </a:p>
        </p:txBody>
      </p:sp>
    </p:spTree>
    <p:extLst>
      <p:ext uri="{BB962C8B-B14F-4D97-AF65-F5344CB8AC3E}">
        <p14:creationId xmlns:p14="http://schemas.microsoft.com/office/powerpoint/2010/main" val="31694891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dur="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dur="1"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dur="1"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dur="1"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dur="1"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dur="1"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dur="1"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dur="1"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22" presetClass="entr" presetSubtype="1" dur="500" fill="hold" grpId="0" nodeType="clickEffect">
                                  <p:stCondLst>
                                    <p:cond delay="0"/>
                                  </p:stCondLst>
                                  <p:childTnLst>
                                    <p:set>
                                      <p:cBhvr>
                                        <p:cTn id="38" dur="1" fill="hold">
                                          <p:stCondLst>
                                            <p:cond delay="0"/>
                                          </p:stCondLst>
                                        </p:cTn>
                                        <p:tgtEl>
                                          <p:spTgt spid="11"/>
                                        </p:tgtEl>
                                        <p:attrNameLst>
                                          <p:attrName>style.visibility</p:attrName>
                                        </p:attrNameLst>
                                      </p:cBhvr>
                                      <p:to>
                                        <p:strVal val="visible"/>
                                      </p:to>
                                    </p:set>
                                    <p:animEffect transition="in" filter="wipe(up)">
                                      <p:cBhvr>
                                        <p:cTn id="39" dur="500"/>
                                        <p:tgtEl>
                                          <p:spTgt spid="11"/>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dur="1" fill="hold" grpId="0" nodeType="clickEffect">
                                  <p:stCondLst>
                                    <p:cond delay="0"/>
                                  </p:stCondLst>
                                  <p:childTnLst>
                                    <p:set>
                                      <p:cBhvr>
                                        <p:cTn id="43" dur="1" fill="hold">
                                          <p:stCondLst>
                                            <p:cond delay="0"/>
                                          </p:stCondLst>
                                        </p:cTn>
                                        <p:tgtEl>
                                          <p:spTgt spid="12"/>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22" presetClass="entr" presetSubtype="4" dur="500" fill="hold" nodeType="clickEffect">
                                  <p:stCondLst>
                                    <p:cond delay="0"/>
                                  </p:stCondLst>
                                  <p:childTnLst>
                                    <p:set>
                                      <p:cBhvr>
                                        <p:cTn id="47" dur="1" fill="hold">
                                          <p:stCondLst>
                                            <p:cond delay="0"/>
                                          </p:stCondLst>
                                        </p:cTn>
                                        <p:tgtEl>
                                          <p:spTgt spid="13"/>
                                        </p:tgtEl>
                                        <p:attrNameLst>
                                          <p:attrName>style.visibility</p:attrName>
                                        </p:attrNameLst>
                                      </p:cBhvr>
                                      <p:to>
                                        <p:strVal val="visible"/>
                                      </p:to>
                                    </p:set>
                                    <p:animEffect transition="in" filter="wipe(down)">
                                      <p:cBhvr>
                                        <p:cTn id="48" dur="500"/>
                                        <p:tgtEl>
                                          <p:spTgt spid="13"/>
                                        </p:tgtEl>
                                      </p:cBhvr>
                                    </p:animEffect>
                                  </p:childTnLst>
                                </p:cTn>
                              </p:par>
                            </p:childTnLst>
                          </p:cTn>
                        </p:par>
                      </p:childTnLst>
                    </p:cTn>
                  </p:par>
                  <p:par>
                    <p:cTn id="49" fill="hold">
                      <p:stCondLst>
                        <p:cond delay="indefinite"/>
                      </p:stCondLst>
                      <p:childTnLst>
                        <p:par>
                          <p:cTn id="50" fill="hold">
                            <p:stCondLst>
                              <p:cond delay="0"/>
                            </p:stCondLst>
                            <p:childTnLst>
                              <p:par>
                                <p:cTn id="51" presetID="1" presetClass="entr" presetSubtype="0" dur="1" fill="hold" grpId="0" nodeType="clickEffect">
                                  <p:stCondLst>
                                    <p:cond delay="0"/>
                                  </p:stCondLst>
                                  <p:childTnLst>
                                    <p:set>
                                      <p:cBhvr>
                                        <p:cTn id="5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5" grpId="0"/>
      <p:bldP spid="6" grpId="0"/>
      <p:bldP spid="7" grpId="0"/>
      <p:bldP spid="8" grpId="0"/>
      <p:bldP spid="9" grpId="0"/>
      <p:bldP spid="10" grpId="0"/>
      <p:bldP spid="11" grpId="0" animBg="1"/>
      <p:bldP spid="12" grpId="0" animBg="1"/>
      <p:bldP spid="14"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872FEB-A7B4-F66A-2324-93D5D3B22081}"/>
              </a:ext>
            </a:extLst>
          </p:cNvPr>
          <p:cNvSpPr txBox="1">
            <a:spLocks/>
          </p:cNvSpPr>
          <p:nvPr/>
        </p:nvSpPr>
        <p:spPr>
          <a:xfrm>
            <a:off x="0" y="1"/>
            <a:ext cx="12192000" cy="711200"/>
          </a:xfrm>
          <a:prstGeom prst="rect">
            <a:avLst/>
          </a:prstGeom>
        </p:spPr>
        <p:txBody>
          <a:bodyPr/>
          <a:lstStyle>
            <a:lvl1pPr algn="l" defTabSz="914400" rtl="0" eaLnBrk="1" latinLnBrk="0" hangingPunct="1">
              <a:lnSpc>
                <a:spcPct val="90000"/>
              </a:lnSpc>
              <a:spcBef>
                <a:spcPct val="0"/>
              </a:spcBef>
              <a:buNone/>
              <a:defRPr sz="4400" kern="1200">
                <a:solidFill>
                  <a:srgbClr val="C00000"/>
                </a:solidFill>
                <a:latin typeface="Palatino Linotype" panose="02040502050505030304" pitchFamily="18" charset="0"/>
                <a:ea typeface="+mj-ea"/>
                <a:cs typeface="+mj-cs"/>
              </a:defRPr>
            </a:lvl1pPr>
          </a:lstStyle>
          <a:p>
            <a:r>
              <a:rPr lang="en-US"/>
              <a:t>Regular expression</a:t>
            </a:r>
          </a:p>
        </p:txBody>
      </p:sp>
      <p:sp>
        <p:nvSpPr>
          <p:cNvPr id="3" name="Content Placeholder 2">
            <a:extLst>
              <a:ext uri="{FF2B5EF4-FFF2-40B4-BE49-F238E27FC236}">
                <a16:creationId xmlns:a16="http://schemas.microsoft.com/office/drawing/2014/main" id="{DDDC4FCC-5A46-259A-EB22-FB1B4208B772}"/>
              </a:ext>
            </a:extLst>
          </p:cNvPr>
          <p:cNvSpPr txBox="1">
            <a:spLocks/>
          </p:cNvSpPr>
          <p:nvPr/>
        </p:nvSpPr>
        <p:spPr>
          <a:xfrm>
            <a:off x="131179" y="581951"/>
            <a:ext cx="11929641" cy="5590565"/>
          </a:xfrm>
          <a:prstGeom prst="rect">
            <a:avLst/>
          </a:prstGeom>
        </p:spPr>
        <p:txBody>
          <a:bodyPr/>
          <a:lstStyle>
            <a:lvl1pPr marL="228600" indent="-228600" algn="just"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Palatino Linotype" panose="02040502050505030304" pitchFamily="18" charset="0"/>
                <a:ea typeface="+mn-ea"/>
                <a:cs typeface="+mn-cs"/>
              </a:defRPr>
            </a:lvl1pPr>
            <a:lvl2pPr marL="685800" indent="-228600" algn="just"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Palatino Linotype" panose="02040502050505030304" pitchFamily="18" charset="0"/>
                <a:ea typeface="+mn-ea"/>
                <a:cs typeface="+mn-cs"/>
              </a:defRPr>
            </a:lvl2pPr>
            <a:lvl3pPr marL="1143000" indent="-228600" algn="just"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Palatino Linotype" panose="02040502050505030304" pitchFamily="18" charset="0"/>
                <a:ea typeface="+mn-ea"/>
                <a:cs typeface="+mn-cs"/>
              </a:defRPr>
            </a:lvl3pPr>
            <a:lvl4pPr marL="1600200" indent="-228600" algn="just"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alatino Linotype" panose="02040502050505030304" pitchFamily="18" charset="0"/>
                <a:ea typeface="+mn-ea"/>
                <a:cs typeface="+mn-cs"/>
              </a:defRPr>
            </a:lvl4pPr>
            <a:lvl5pPr marL="2057400" indent="-228600" algn="just"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solidFill>
                  <a:srgbClr val="C00000"/>
                </a:solidFill>
              </a:rPr>
              <a:t>L</a:t>
            </a:r>
            <a:r>
              <a:rPr lang="en-US" b="1" baseline="-25000" dirty="0">
                <a:solidFill>
                  <a:srgbClr val="C00000"/>
                </a:solidFill>
              </a:rPr>
              <a:t> </a:t>
            </a:r>
            <a:r>
              <a:rPr lang="en-US" b="1" dirty="0">
                <a:solidFill>
                  <a:srgbClr val="C00000"/>
                </a:solidFill>
              </a:rPr>
              <a:t>= One or More Occurrences of a = </a:t>
            </a:r>
          </a:p>
          <a:p>
            <a:endParaRPr lang="en-US" dirty="0"/>
          </a:p>
        </p:txBody>
      </p:sp>
      <p:sp>
        <p:nvSpPr>
          <p:cNvPr id="4" name="Rectangle 3">
            <a:extLst>
              <a:ext uri="{FF2B5EF4-FFF2-40B4-BE49-F238E27FC236}">
                <a16:creationId xmlns:a16="http://schemas.microsoft.com/office/drawing/2014/main" id="{5E57259B-9C33-77C0-829B-A1FAF146BB87}"/>
              </a:ext>
            </a:extLst>
          </p:cNvPr>
          <p:cNvSpPr/>
          <p:nvPr/>
        </p:nvSpPr>
        <p:spPr>
          <a:xfrm>
            <a:off x="249823" y="1176171"/>
            <a:ext cx="2971800" cy="3314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0000">
                <a:solidFill>
                  <a:srgbClr val="0E47A1"/>
                </a:solidFill>
              </a:rPr>
              <a:t>+</a:t>
            </a:r>
          </a:p>
        </p:txBody>
      </p:sp>
      <p:sp>
        <p:nvSpPr>
          <p:cNvPr id="5" name="Rectangle 4">
            <a:extLst>
              <a:ext uri="{FF2B5EF4-FFF2-40B4-BE49-F238E27FC236}">
                <a16:creationId xmlns:a16="http://schemas.microsoft.com/office/drawing/2014/main" id="{106E14BA-1B3B-580F-5D24-FF594C2CD7DC}"/>
              </a:ext>
            </a:extLst>
          </p:cNvPr>
          <p:cNvSpPr/>
          <p:nvPr/>
        </p:nvSpPr>
        <p:spPr>
          <a:xfrm>
            <a:off x="4565028" y="686487"/>
            <a:ext cx="717966" cy="67457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600" b="1">
                <a:solidFill>
                  <a:srgbClr val="0E47A1"/>
                </a:solidFill>
              </a:rPr>
              <a:t> a</a:t>
            </a:r>
            <a:r>
              <a:rPr lang="en-US" sz="2600" b="1" baseline="30000">
                <a:solidFill>
                  <a:srgbClr val="0E47A1"/>
                </a:solidFill>
              </a:rPr>
              <a:t>+</a:t>
            </a:r>
          </a:p>
        </p:txBody>
      </p:sp>
      <p:sp>
        <p:nvSpPr>
          <p:cNvPr id="6" name="Rectangle 5">
            <a:extLst>
              <a:ext uri="{FF2B5EF4-FFF2-40B4-BE49-F238E27FC236}">
                <a16:creationId xmlns:a16="http://schemas.microsoft.com/office/drawing/2014/main" id="{5AD54594-8D61-8C73-6D0A-0BD3842429E0}"/>
              </a:ext>
            </a:extLst>
          </p:cNvPr>
          <p:cNvSpPr/>
          <p:nvPr/>
        </p:nvSpPr>
        <p:spPr>
          <a:xfrm>
            <a:off x="4485797" y="1941294"/>
            <a:ext cx="717966" cy="67457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600" b="1">
                <a:solidFill>
                  <a:srgbClr val="0E47A1"/>
                </a:solidFill>
              </a:rPr>
              <a:t>a</a:t>
            </a:r>
            <a:endParaRPr lang="en-US" sz="2600" b="1" baseline="30000">
              <a:solidFill>
                <a:srgbClr val="0E47A1"/>
              </a:solidFill>
            </a:endParaRPr>
          </a:p>
        </p:txBody>
      </p:sp>
      <p:sp>
        <p:nvSpPr>
          <p:cNvPr id="7" name="Rectangle 6">
            <a:extLst>
              <a:ext uri="{FF2B5EF4-FFF2-40B4-BE49-F238E27FC236}">
                <a16:creationId xmlns:a16="http://schemas.microsoft.com/office/drawing/2014/main" id="{22C363A1-549E-BD85-600C-5514288283D8}"/>
              </a:ext>
            </a:extLst>
          </p:cNvPr>
          <p:cNvSpPr/>
          <p:nvPr/>
        </p:nvSpPr>
        <p:spPr>
          <a:xfrm>
            <a:off x="4425917" y="2667693"/>
            <a:ext cx="1022766" cy="67457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600" b="1">
                <a:solidFill>
                  <a:srgbClr val="0E47A1"/>
                </a:solidFill>
              </a:rPr>
              <a:t> aaa</a:t>
            </a:r>
            <a:endParaRPr lang="en-US" sz="2600" b="1" baseline="30000">
              <a:solidFill>
                <a:srgbClr val="0E47A1"/>
              </a:solidFill>
            </a:endParaRPr>
          </a:p>
        </p:txBody>
      </p:sp>
      <p:sp>
        <p:nvSpPr>
          <p:cNvPr id="8" name="Rectangle 7">
            <a:extLst>
              <a:ext uri="{FF2B5EF4-FFF2-40B4-BE49-F238E27FC236}">
                <a16:creationId xmlns:a16="http://schemas.microsoft.com/office/drawing/2014/main" id="{270B7D77-287C-E785-219B-5805C7CED3D6}"/>
              </a:ext>
            </a:extLst>
          </p:cNvPr>
          <p:cNvSpPr/>
          <p:nvPr/>
        </p:nvSpPr>
        <p:spPr>
          <a:xfrm>
            <a:off x="4515153" y="2354779"/>
            <a:ext cx="717966" cy="609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600" b="1">
                <a:solidFill>
                  <a:srgbClr val="0E47A1"/>
                </a:solidFill>
              </a:rPr>
              <a:t> aa</a:t>
            </a:r>
            <a:endParaRPr lang="en-US" sz="2600" b="1" baseline="30000">
              <a:solidFill>
                <a:srgbClr val="0E47A1"/>
              </a:solidFill>
            </a:endParaRPr>
          </a:p>
        </p:txBody>
      </p:sp>
      <p:sp>
        <p:nvSpPr>
          <p:cNvPr id="9" name="Rectangle 8">
            <a:extLst>
              <a:ext uri="{FF2B5EF4-FFF2-40B4-BE49-F238E27FC236}">
                <a16:creationId xmlns:a16="http://schemas.microsoft.com/office/drawing/2014/main" id="{3A644B0D-7F6D-F940-335B-4AA6DAFCA33F}"/>
              </a:ext>
            </a:extLst>
          </p:cNvPr>
          <p:cNvSpPr/>
          <p:nvPr/>
        </p:nvSpPr>
        <p:spPr>
          <a:xfrm>
            <a:off x="4555207" y="3072434"/>
            <a:ext cx="981543" cy="609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600" b="1" err="1">
                <a:solidFill>
                  <a:srgbClr val="0E47A1"/>
                </a:solidFill>
              </a:rPr>
              <a:t>aaaa</a:t>
            </a:r>
            <a:endParaRPr lang="en-US" sz="2600" b="1" baseline="30000">
              <a:solidFill>
                <a:srgbClr val="0E47A1"/>
              </a:solidFill>
            </a:endParaRPr>
          </a:p>
        </p:txBody>
      </p:sp>
      <p:sp>
        <p:nvSpPr>
          <p:cNvPr id="10" name="Rectangle 9">
            <a:extLst>
              <a:ext uri="{FF2B5EF4-FFF2-40B4-BE49-F238E27FC236}">
                <a16:creationId xmlns:a16="http://schemas.microsoft.com/office/drawing/2014/main" id="{5AAE491A-C316-AB81-09CC-88D1301849D1}"/>
              </a:ext>
            </a:extLst>
          </p:cNvPr>
          <p:cNvSpPr/>
          <p:nvPr/>
        </p:nvSpPr>
        <p:spPr>
          <a:xfrm>
            <a:off x="4555207" y="3474044"/>
            <a:ext cx="1474889" cy="609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600" b="1" err="1">
                <a:solidFill>
                  <a:srgbClr val="0E47A1"/>
                </a:solidFill>
              </a:rPr>
              <a:t>aaaaa…..</a:t>
            </a:r>
            <a:endParaRPr lang="en-US" sz="2600" b="1" baseline="30000">
              <a:solidFill>
                <a:srgbClr val="0E47A1"/>
              </a:solidFill>
            </a:endParaRPr>
          </a:p>
        </p:txBody>
      </p:sp>
      <p:sp>
        <p:nvSpPr>
          <p:cNvPr id="11" name="Right Brace 10">
            <a:extLst>
              <a:ext uri="{FF2B5EF4-FFF2-40B4-BE49-F238E27FC236}">
                <a16:creationId xmlns:a16="http://schemas.microsoft.com/office/drawing/2014/main" id="{01D54248-723A-3469-9228-456DD1F4B4DC}"/>
              </a:ext>
            </a:extLst>
          </p:cNvPr>
          <p:cNvSpPr/>
          <p:nvPr/>
        </p:nvSpPr>
        <p:spPr>
          <a:xfrm>
            <a:off x="5875579" y="1941294"/>
            <a:ext cx="762000" cy="2142350"/>
          </a:xfrm>
          <a:prstGeom prst="rightBrace">
            <a:avLst/>
          </a:prstGeom>
          <a:ln w="25400">
            <a:solidFill>
              <a:srgbClr val="0E47A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srgbClr val="0E47A1"/>
              </a:solidFill>
            </a:endParaRPr>
          </a:p>
        </p:txBody>
      </p:sp>
      <p:sp>
        <p:nvSpPr>
          <p:cNvPr id="12" name="Rectangle 11">
            <a:extLst>
              <a:ext uri="{FF2B5EF4-FFF2-40B4-BE49-F238E27FC236}">
                <a16:creationId xmlns:a16="http://schemas.microsoft.com/office/drawing/2014/main" id="{E9F1FA0F-9F62-3950-8A45-A3F93FE2BB3D}"/>
              </a:ext>
            </a:extLst>
          </p:cNvPr>
          <p:cNvSpPr/>
          <p:nvPr/>
        </p:nvSpPr>
        <p:spPr>
          <a:xfrm>
            <a:off x="6637579" y="2742647"/>
            <a:ext cx="1728392" cy="5246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solidFill>
                  <a:srgbClr val="C00000"/>
                </a:solidFill>
              </a:rPr>
              <a:t>Infinite …..</a:t>
            </a:r>
          </a:p>
        </p:txBody>
      </p:sp>
      <p:cxnSp>
        <p:nvCxnSpPr>
          <p:cNvPr id="13" name="Curved Connector 12">
            <a:extLst>
              <a:ext uri="{FF2B5EF4-FFF2-40B4-BE49-F238E27FC236}">
                <a16:creationId xmlns:a16="http://schemas.microsoft.com/office/drawing/2014/main" id="{0F808BEE-3555-A7F5-8EFD-3E173F0A6CCD}"/>
              </a:ext>
            </a:extLst>
          </p:cNvPr>
          <p:cNvCxnSpPr/>
          <p:nvPr/>
        </p:nvCxnSpPr>
        <p:spPr>
          <a:xfrm rot="10800000">
            <a:off x="4901875" y="1176172"/>
            <a:ext cx="1541726" cy="1828806"/>
          </a:xfrm>
          <a:prstGeom prst="curvedConnector2">
            <a:avLst/>
          </a:prstGeom>
          <a:ln w="25400">
            <a:solidFill>
              <a:srgbClr val="0E47A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96814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dur="1"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dur="1"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dur="1"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dur="1"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dur="1"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dur="1"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dur="1"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22" presetClass="entr" presetSubtype="1" dur="500" fill="hold" grpId="0" nodeType="click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wipe(up)">
                                      <p:cBhvr>
                                        <p:cTn id="35" dur="500"/>
                                        <p:tgtEl>
                                          <p:spTgt spid="11"/>
                                        </p:tgtEl>
                                      </p:cBhvr>
                                    </p:animEffect>
                                  </p:childTnLst>
                                </p:cTn>
                              </p:par>
                            </p:childTnLst>
                          </p:cTn>
                        </p:par>
                      </p:childTnLst>
                    </p:cTn>
                  </p:par>
                  <p:par>
                    <p:cTn id="36" fill="hold">
                      <p:stCondLst>
                        <p:cond delay="indefinite"/>
                      </p:stCondLst>
                      <p:childTnLst>
                        <p:par>
                          <p:cTn id="37" fill="hold">
                            <p:stCondLst>
                              <p:cond delay="0"/>
                            </p:stCondLst>
                            <p:childTnLst>
                              <p:par>
                                <p:cTn id="38" presetID="1" presetClass="entr" presetSubtype="0" dur="1" fill="hold" grpId="0" nodeType="clickEffect">
                                  <p:stCondLst>
                                    <p:cond delay="0"/>
                                  </p:stCondLst>
                                  <p:childTnLst>
                                    <p:set>
                                      <p:cBhvr>
                                        <p:cTn id="39" dur="1" fill="hold">
                                          <p:stCondLst>
                                            <p:cond delay="0"/>
                                          </p:stCondLst>
                                        </p:cTn>
                                        <p:tgtEl>
                                          <p:spTgt spid="12"/>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22" presetClass="entr" presetSubtype="4" dur="500" fill="hold" nodeType="clickEffect">
                                  <p:stCondLst>
                                    <p:cond delay="0"/>
                                  </p:stCondLst>
                                  <p:childTnLst>
                                    <p:set>
                                      <p:cBhvr>
                                        <p:cTn id="43" dur="1" fill="hold">
                                          <p:stCondLst>
                                            <p:cond delay="0"/>
                                          </p:stCondLst>
                                        </p:cTn>
                                        <p:tgtEl>
                                          <p:spTgt spid="13"/>
                                        </p:tgtEl>
                                        <p:attrNameLst>
                                          <p:attrName>style.visibility</p:attrName>
                                        </p:attrNameLst>
                                      </p:cBhvr>
                                      <p:to>
                                        <p:strVal val="visible"/>
                                      </p:to>
                                    </p:set>
                                    <p:animEffect transition="in" filter="wipe(down)">
                                      <p:cBhvr>
                                        <p:cTn id="44" dur="500"/>
                                        <p:tgtEl>
                                          <p:spTgt spid="13"/>
                                        </p:tgtEl>
                                      </p:cBhvr>
                                    </p:animEffect>
                                  </p:childTnLst>
                                </p:cTn>
                              </p:par>
                            </p:childTnLst>
                          </p:cTn>
                        </p:par>
                      </p:childTnLst>
                    </p:cTn>
                  </p:par>
                  <p:par>
                    <p:cTn id="45" fill="hold">
                      <p:stCondLst>
                        <p:cond delay="indefinite"/>
                      </p:stCondLst>
                      <p:childTnLst>
                        <p:par>
                          <p:cTn id="46" fill="hold">
                            <p:stCondLst>
                              <p:cond delay="0"/>
                            </p:stCondLst>
                            <p:childTnLst>
                              <p:par>
                                <p:cTn id="47" presetID="1" presetClass="entr" presetSubtype="0" dur="1" fill="hold" grpId="0" nodeType="clickEffect">
                                  <p:stCondLst>
                                    <p:cond delay="0"/>
                                  </p:stCondLst>
                                  <p:childTnLst>
                                    <p:set>
                                      <p:cBhvr>
                                        <p:cTn id="4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9" grpId="0"/>
      <p:bldP spid="10" grpId="0"/>
      <p:bldP spid="11" grpId="0" animBg="1"/>
      <p:bldP spid="12"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6DF238-DBAC-259F-2708-9DEDC7404A03}"/>
              </a:ext>
            </a:extLst>
          </p:cNvPr>
          <p:cNvSpPr txBox="1">
            <a:spLocks/>
          </p:cNvSpPr>
          <p:nvPr/>
        </p:nvSpPr>
        <p:spPr>
          <a:xfrm>
            <a:off x="0" y="1"/>
            <a:ext cx="12192000" cy="711200"/>
          </a:xfrm>
          <a:prstGeom prst="rect">
            <a:avLst/>
          </a:prstGeom>
        </p:spPr>
        <p:txBody>
          <a:bodyPr/>
          <a:lstStyle>
            <a:lvl1pPr algn="l" defTabSz="914400" rtl="0" eaLnBrk="1" latinLnBrk="0" hangingPunct="1">
              <a:lnSpc>
                <a:spcPct val="90000"/>
              </a:lnSpc>
              <a:spcBef>
                <a:spcPct val="0"/>
              </a:spcBef>
              <a:buNone/>
              <a:defRPr sz="4400" kern="1200">
                <a:solidFill>
                  <a:srgbClr val="C00000"/>
                </a:solidFill>
                <a:latin typeface="Palatino Linotype" panose="02040502050505030304" pitchFamily="18" charset="0"/>
                <a:ea typeface="+mj-ea"/>
                <a:cs typeface="+mj-cs"/>
              </a:defRPr>
            </a:lvl1pPr>
          </a:lstStyle>
          <a:p>
            <a:r>
              <a:rPr lang="en-US"/>
              <a:t>Precedence and associativity of operators</a:t>
            </a:r>
          </a:p>
        </p:txBody>
      </p:sp>
      <p:graphicFrame>
        <p:nvGraphicFramePr>
          <p:cNvPr id="3" name="Group 38">
            <a:extLst>
              <a:ext uri="{FF2B5EF4-FFF2-40B4-BE49-F238E27FC236}">
                <a16:creationId xmlns:a16="http://schemas.microsoft.com/office/drawing/2014/main" id="{C031E91C-ED38-AC87-3BFB-088DD027542F}"/>
              </a:ext>
            </a:extLst>
          </p:cNvPr>
          <p:cNvGraphicFramePr/>
          <p:nvPr>
            <p:extLst>
              <p:ext uri="{D42A27DB-BD31-4B8C-83A1-F6EECF244321}">
                <p14:modId xmlns:p14="http://schemas.microsoft.com/office/powerpoint/2010/main" val="1742269792"/>
              </p:ext>
            </p:extLst>
          </p:nvPr>
        </p:nvGraphicFramePr>
        <p:xfrm>
          <a:off x="1171832" y="1093573"/>
          <a:ext cx="9848336" cy="2187577"/>
        </p:xfrm>
        <a:graphic>
          <a:graphicData uri="http://schemas.openxmlformats.org/drawingml/2006/table">
            <a:tbl>
              <a:tblPr/>
              <a:tblGrid>
                <a:gridCol w="3187791">
                  <a:extLst>
                    <a:ext uri="{9D8B030D-6E8A-4147-A177-3AD203B41FA5}">
                      <a16:colId xmlns:a16="http://schemas.microsoft.com/office/drawing/2014/main" val="20000"/>
                    </a:ext>
                  </a:extLst>
                </a:gridCol>
                <a:gridCol w="3115600">
                  <a:extLst>
                    <a:ext uri="{9D8B030D-6E8A-4147-A177-3AD203B41FA5}">
                      <a16:colId xmlns:a16="http://schemas.microsoft.com/office/drawing/2014/main" val="20001"/>
                    </a:ext>
                  </a:extLst>
                </a:gridCol>
                <a:gridCol w="3544945">
                  <a:extLst>
                    <a:ext uri="{9D8B030D-6E8A-4147-A177-3AD203B41FA5}">
                      <a16:colId xmlns:a16="http://schemas.microsoft.com/office/drawing/2014/main" val="20002"/>
                    </a:ext>
                  </a:extLst>
                </a:gridCol>
              </a:tblGrid>
              <a:tr h="530131">
                <a:tc>
                  <a:txBody>
                    <a:bodyPr/>
                    <a:lstStyle>
                      <a:lvl1pPr eaLnBrk="0" hangingPunct="0">
                        <a:spcBef>
                          <a:spcPct val="20000"/>
                        </a:spcBef>
                        <a:buClr>
                          <a:schemeClr val="accent1"/>
                        </a:buClr>
                        <a:buSzPct val="65000"/>
                        <a:buFont typeface="Wingdings" panose="05000000000000000000" pitchFamily="2" charset="2"/>
                        <a:defRPr kumimoji="1" sz="2600">
                          <a:solidFill>
                            <a:schemeClr val="tx1"/>
                          </a:solidFill>
                          <a:latin typeface="Arial" panose="020B0604020202020204" pitchFamily="34" charset="0"/>
                          <a:ea typeface="新細明體" panose="02020500000000000000" pitchFamily="18" charset="-120"/>
                        </a:defRPr>
                      </a:lvl1pPr>
                      <a:lvl2pPr marL="742950" indent="-285750" eaLnBrk="0" hangingPunct="0">
                        <a:spcBef>
                          <a:spcPct val="20000"/>
                        </a:spcBef>
                        <a:buClr>
                          <a:schemeClr val="accent2"/>
                        </a:buClr>
                        <a:buSzPct val="60000"/>
                        <a:buFont typeface="Wingdings" panose="05000000000000000000" pitchFamily="2" charset="2"/>
                        <a:defRPr kumimoji="1" sz="2200">
                          <a:solidFill>
                            <a:schemeClr val="tx1"/>
                          </a:solidFill>
                          <a:latin typeface="Arial" panose="020B0604020202020204" pitchFamily="34" charset="0"/>
                          <a:ea typeface="新細明體" panose="02020500000000000000" pitchFamily="18" charset="-120"/>
                        </a:defRPr>
                      </a:lvl2pPr>
                      <a:lvl3pPr marL="1143000" indent="-228600" eaLnBrk="0" hangingPunct="0">
                        <a:spcBef>
                          <a:spcPct val="20000"/>
                        </a:spcBef>
                        <a:buClr>
                          <a:schemeClr val="accent1"/>
                        </a:buClr>
                        <a:buSzPct val="65000"/>
                        <a:buFont typeface="Wingdings" panose="05000000000000000000" pitchFamily="2" charset="2"/>
                        <a:defRPr kumimoji="1" sz="2000">
                          <a:solidFill>
                            <a:schemeClr val="tx1"/>
                          </a:solidFill>
                          <a:latin typeface="Arial" panose="020B0604020202020204" pitchFamily="34" charset="0"/>
                          <a:ea typeface="新細明體" panose="02020500000000000000" pitchFamily="18" charset="-120"/>
                        </a:defRPr>
                      </a:lvl3pPr>
                      <a:lvl4pPr marL="1600200" indent="-228600" eaLnBrk="0" hangingPunct="0">
                        <a:spcBef>
                          <a:spcPct val="20000"/>
                        </a:spcBef>
                        <a:buClr>
                          <a:schemeClr val="accent2"/>
                        </a:buClr>
                        <a:buSzPct val="70000"/>
                        <a:buFont typeface="Wingdings" panose="05000000000000000000" pitchFamily="2" charset="2"/>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spcBef>
                          <a:spcPct val="20000"/>
                        </a:spcBef>
                        <a:buClr>
                          <a:schemeClr val="accent1"/>
                        </a:buClr>
                        <a:buSzPct val="75000"/>
                        <a:buFont typeface="Wingdings" panose="05000000000000000000" pitchFamily="2" charset="2"/>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kumimoji="1">
                          <a:solidFill>
                            <a:schemeClr val="tx1"/>
                          </a:solidFill>
                          <a:latin typeface="Arial" panose="020B0604020202020204" pitchFamily="34" charset="0"/>
                          <a:ea typeface="新細明體" panose="02020500000000000000" pitchFamily="18" charset="-120"/>
                        </a:defRPr>
                      </a:lvl9pPr>
                    </a:lstStyle>
                    <a:p>
                      <a:pPr marL="0" marR="0" lvl="0" indent="0" algn="ctr" defTabSz="914400" rtl="0" eaLnBrk="1" fontAlgn="ctr"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TW" sz="2400" b="1" i="0" u="none" strike="noStrike" kern="900" cap="none" normalizeH="0" baseline="0">
                          <a:ln>
                            <a:noFill/>
                          </a:ln>
                          <a:solidFill>
                            <a:schemeClr val="tx1"/>
                          </a:solidFill>
                          <a:effectLst/>
                          <a:latin typeface="+mj-lt"/>
                          <a:ea typeface="新細明體" panose="02020500000000000000" pitchFamily="18" charset="-120"/>
                        </a:rPr>
                        <a:t>Operator</a:t>
                      </a:r>
                    </a:p>
                  </a:txBody>
                  <a:tcPr marL="90000" marR="90000" marT="46800" marB="468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65000"/>
                        <a:buFont typeface="Wingdings" panose="05000000000000000000" pitchFamily="2" charset="2"/>
                        <a:defRPr kumimoji="1" sz="2600">
                          <a:solidFill>
                            <a:schemeClr val="tx1"/>
                          </a:solidFill>
                          <a:latin typeface="Arial" panose="020B0604020202020204" pitchFamily="34" charset="0"/>
                          <a:ea typeface="新細明體" panose="02020500000000000000" pitchFamily="18" charset="-120"/>
                        </a:defRPr>
                      </a:lvl1pPr>
                      <a:lvl2pPr marL="742950" indent="-285750" eaLnBrk="0" hangingPunct="0">
                        <a:spcBef>
                          <a:spcPct val="20000"/>
                        </a:spcBef>
                        <a:buClr>
                          <a:schemeClr val="accent2"/>
                        </a:buClr>
                        <a:buSzPct val="60000"/>
                        <a:buFont typeface="Wingdings" panose="05000000000000000000" pitchFamily="2" charset="2"/>
                        <a:defRPr kumimoji="1" sz="2200">
                          <a:solidFill>
                            <a:schemeClr val="tx1"/>
                          </a:solidFill>
                          <a:latin typeface="Arial" panose="020B0604020202020204" pitchFamily="34" charset="0"/>
                          <a:ea typeface="新細明體" panose="02020500000000000000" pitchFamily="18" charset="-120"/>
                        </a:defRPr>
                      </a:lvl2pPr>
                      <a:lvl3pPr marL="1143000" indent="-228600" eaLnBrk="0" hangingPunct="0">
                        <a:spcBef>
                          <a:spcPct val="20000"/>
                        </a:spcBef>
                        <a:buClr>
                          <a:schemeClr val="accent1"/>
                        </a:buClr>
                        <a:buSzPct val="65000"/>
                        <a:buFont typeface="Wingdings" panose="05000000000000000000" pitchFamily="2" charset="2"/>
                        <a:defRPr kumimoji="1" sz="2000">
                          <a:solidFill>
                            <a:schemeClr val="tx1"/>
                          </a:solidFill>
                          <a:latin typeface="Arial" panose="020B0604020202020204" pitchFamily="34" charset="0"/>
                          <a:ea typeface="新細明體" panose="02020500000000000000" pitchFamily="18" charset="-120"/>
                        </a:defRPr>
                      </a:lvl3pPr>
                      <a:lvl4pPr marL="1600200" indent="-228600" eaLnBrk="0" hangingPunct="0">
                        <a:spcBef>
                          <a:spcPct val="20000"/>
                        </a:spcBef>
                        <a:buClr>
                          <a:schemeClr val="accent2"/>
                        </a:buClr>
                        <a:buSzPct val="70000"/>
                        <a:buFont typeface="Wingdings" panose="05000000000000000000" pitchFamily="2" charset="2"/>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spcBef>
                          <a:spcPct val="20000"/>
                        </a:spcBef>
                        <a:buClr>
                          <a:schemeClr val="accent1"/>
                        </a:buClr>
                        <a:buSzPct val="75000"/>
                        <a:buFont typeface="Wingdings" panose="05000000000000000000" pitchFamily="2" charset="2"/>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kumimoji="1">
                          <a:solidFill>
                            <a:schemeClr val="tx1"/>
                          </a:solidFill>
                          <a:latin typeface="Arial" panose="020B0604020202020204" pitchFamily="34" charset="0"/>
                          <a:ea typeface="新細明體" panose="02020500000000000000" pitchFamily="18" charset="-120"/>
                        </a:defRPr>
                      </a:lvl9pPr>
                    </a:lstStyle>
                    <a:p>
                      <a:pPr marL="0" marR="0" lvl="0" indent="0" algn="ctr" defTabSz="914400" rtl="0" eaLnBrk="1" fontAlgn="ctr"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TW" sz="2400" b="1" i="0" u="none" strike="noStrike" kern="900" cap="none" normalizeH="0" baseline="0">
                          <a:ln>
                            <a:noFill/>
                          </a:ln>
                          <a:solidFill>
                            <a:schemeClr val="tx1"/>
                          </a:solidFill>
                          <a:effectLst/>
                          <a:latin typeface="+mj-lt"/>
                          <a:ea typeface="新細明體" panose="02020500000000000000" pitchFamily="18" charset="-120"/>
                        </a:rPr>
                        <a:t>Precedence</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65000"/>
                        <a:buFont typeface="Wingdings" panose="05000000000000000000" pitchFamily="2" charset="2"/>
                        <a:defRPr kumimoji="1" sz="2600">
                          <a:solidFill>
                            <a:schemeClr val="tx1"/>
                          </a:solidFill>
                          <a:latin typeface="Arial" panose="020B0604020202020204" pitchFamily="34" charset="0"/>
                          <a:ea typeface="新細明體" panose="02020500000000000000" pitchFamily="18" charset="-120"/>
                        </a:defRPr>
                      </a:lvl1pPr>
                      <a:lvl2pPr marL="742950" indent="-285750" eaLnBrk="0" hangingPunct="0">
                        <a:spcBef>
                          <a:spcPct val="20000"/>
                        </a:spcBef>
                        <a:buClr>
                          <a:schemeClr val="accent2"/>
                        </a:buClr>
                        <a:buSzPct val="60000"/>
                        <a:buFont typeface="Wingdings" panose="05000000000000000000" pitchFamily="2" charset="2"/>
                        <a:defRPr kumimoji="1" sz="2200">
                          <a:solidFill>
                            <a:schemeClr val="tx1"/>
                          </a:solidFill>
                          <a:latin typeface="Arial" panose="020B0604020202020204" pitchFamily="34" charset="0"/>
                          <a:ea typeface="新細明體" panose="02020500000000000000" pitchFamily="18" charset="-120"/>
                        </a:defRPr>
                      </a:lvl2pPr>
                      <a:lvl3pPr marL="1143000" indent="-228600" eaLnBrk="0" hangingPunct="0">
                        <a:spcBef>
                          <a:spcPct val="20000"/>
                        </a:spcBef>
                        <a:buClr>
                          <a:schemeClr val="accent1"/>
                        </a:buClr>
                        <a:buSzPct val="65000"/>
                        <a:buFont typeface="Wingdings" panose="05000000000000000000" pitchFamily="2" charset="2"/>
                        <a:defRPr kumimoji="1" sz="2000">
                          <a:solidFill>
                            <a:schemeClr val="tx1"/>
                          </a:solidFill>
                          <a:latin typeface="Arial" panose="020B0604020202020204" pitchFamily="34" charset="0"/>
                          <a:ea typeface="新細明體" panose="02020500000000000000" pitchFamily="18" charset="-120"/>
                        </a:defRPr>
                      </a:lvl3pPr>
                      <a:lvl4pPr marL="1600200" indent="-228600" eaLnBrk="0" hangingPunct="0">
                        <a:spcBef>
                          <a:spcPct val="20000"/>
                        </a:spcBef>
                        <a:buClr>
                          <a:schemeClr val="accent2"/>
                        </a:buClr>
                        <a:buSzPct val="70000"/>
                        <a:buFont typeface="Wingdings" panose="05000000000000000000" pitchFamily="2" charset="2"/>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spcBef>
                          <a:spcPct val="20000"/>
                        </a:spcBef>
                        <a:buClr>
                          <a:schemeClr val="accent1"/>
                        </a:buClr>
                        <a:buSzPct val="75000"/>
                        <a:buFont typeface="Wingdings" panose="05000000000000000000" pitchFamily="2" charset="2"/>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kumimoji="1">
                          <a:solidFill>
                            <a:schemeClr val="tx1"/>
                          </a:solidFill>
                          <a:latin typeface="Arial" panose="020B0604020202020204" pitchFamily="34" charset="0"/>
                          <a:ea typeface="新細明體" panose="02020500000000000000" pitchFamily="18" charset="-120"/>
                        </a:defRPr>
                      </a:lvl9pPr>
                    </a:lstStyle>
                    <a:p>
                      <a:pPr marL="0" marR="0" lvl="0" indent="0" algn="ctr" defTabSz="914400" rtl="0" eaLnBrk="1" fontAlgn="ctr"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TW" sz="2400" b="1" i="0" u="none" strike="noStrike" kern="900" cap="none" normalizeH="0" baseline="0">
                          <a:ln>
                            <a:noFill/>
                          </a:ln>
                          <a:solidFill>
                            <a:schemeClr val="tx1"/>
                          </a:solidFill>
                          <a:effectLst/>
                          <a:latin typeface="+mj-lt"/>
                          <a:ea typeface="新細明體" panose="02020500000000000000" pitchFamily="18" charset="-120"/>
                        </a:rPr>
                        <a:t>Associative</a:t>
                      </a:r>
                    </a:p>
                  </a:txBody>
                  <a:tcPr marL="90000" marR="90000" marT="46800" marB="468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62610">
                <a:tc>
                  <a:txBody>
                    <a:bodyPr/>
                    <a:lstStyle>
                      <a:lvl1pPr eaLnBrk="0" hangingPunct="0">
                        <a:spcBef>
                          <a:spcPct val="20000"/>
                        </a:spcBef>
                        <a:buClr>
                          <a:schemeClr val="accent1"/>
                        </a:buClr>
                        <a:buSzPct val="65000"/>
                        <a:buFont typeface="Wingdings" panose="05000000000000000000" pitchFamily="2" charset="2"/>
                        <a:defRPr kumimoji="1" sz="2600">
                          <a:solidFill>
                            <a:schemeClr val="tx1"/>
                          </a:solidFill>
                          <a:latin typeface="Arial" panose="020B0604020202020204" pitchFamily="34" charset="0"/>
                          <a:ea typeface="新細明體" panose="02020500000000000000" pitchFamily="18" charset="-120"/>
                        </a:defRPr>
                      </a:lvl1pPr>
                      <a:lvl2pPr marL="742950" indent="-285750" eaLnBrk="0" hangingPunct="0">
                        <a:spcBef>
                          <a:spcPct val="20000"/>
                        </a:spcBef>
                        <a:buClr>
                          <a:schemeClr val="accent2"/>
                        </a:buClr>
                        <a:buSzPct val="60000"/>
                        <a:buFont typeface="Wingdings" panose="05000000000000000000" pitchFamily="2" charset="2"/>
                        <a:defRPr kumimoji="1" sz="2200">
                          <a:solidFill>
                            <a:schemeClr val="tx1"/>
                          </a:solidFill>
                          <a:latin typeface="Arial" panose="020B0604020202020204" pitchFamily="34" charset="0"/>
                          <a:ea typeface="新細明體" panose="02020500000000000000" pitchFamily="18" charset="-120"/>
                        </a:defRPr>
                      </a:lvl2pPr>
                      <a:lvl3pPr marL="1143000" indent="-228600" eaLnBrk="0" hangingPunct="0">
                        <a:spcBef>
                          <a:spcPct val="20000"/>
                        </a:spcBef>
                        <a:buClr>
                          <a:schemeClr val="accent1"/>
                        </a:buClr>
                        <a:buSzPct val="65000"/>
                        <a:buFont typeface="Wingdings" panose="05000000000000000000" pitchFamily="2" charset="2"/>
                        <a:defRPr kumimoji="1" sz="2000">
                          <a:solidFill>
                            <a:schemeClr val="tx1"/>
                          </a:solidFill>
                          <a:latin typeface="Arial" panose="020B0604020202020204" pitchFamily="34" charset="0"/>
                          <a:ea typeface="新細明體" panose="02020500000000000000" pitchFamily="18" charset="-120"/>
                        </a:defRPr>
                      </a:lvl3pPr>
                      <a:lvl4pPr marL="1600200" indent="-228600" eaLnBrk="0" hangingPunct="0">
                        <a:spcBef>
                          <a:spcPct val="20000"/>
                        </a:spcBef>
                        <a:buClr>
                          <a:schemeClr val="accent2"/>
                        </a:buClr>
                        <a:buSzPct val="70000"/>
                        <a:buFont typeface="Wingdings" panose="05000000000000000000" pitchFamily="2" charset="2"/>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spcBef>
                          <a:spcPct val="20000"/>
                        </a:spcBef>
                        <a:buClr>
                          <a:schemeClr val="accent1"/>
                        </a:buClr>
                        <a:buSzPct val="75000"/>
                        <a:buFont typeface="Wingdings" panose="05000000000000000000" pitchFamily="2" charset="2"/>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kumimoji="1">
                          <a:solidFill>
                            <a:schemeClr val="tx1"/>
                          </a:solidFill>
                          <a:latin typeface="Arial" panose="020B0604020202020204" pitchFamily="34" charset="0"/>
                          <a:ea typeface="新細明體" panose="02020500000000000000" pitchFamily="18" charset="-120"/>
                        </a:defRPr>
                      </a:lvl9pPr>
                    </a:lstStyle>
                    <a:p>
                      <a:pPr marL="0" marR="0" lvl="0" indent="0" algn="ctr" defTabSz="914400" rtl="0" eaLnBrk="1" fontAlgn="ctr"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TW" sz="2400" b="0" i="0" u="none" strike="noStrike" kern="900" cap="none" normalizeH="0" baseline="0" dirty="0">
                          <a:ln>
                            <a:noFill/>
                          </a:ln>
                          <a:solidFill>
                            <a:schemeClr val="tx1"/>
                          </a:solidFill>
                          <a:effectLst/>
                          <a:latin typeface="+mj-lt"/>
                          <a:ea typeface="新細明體" panose="02020500000000000000" pitchFamily="18" charset="-120"/>
                        </a:rPr>
                        <a:t>Kleene </a:t>
                      </a:r>
                      <a:r>
                        <a:rPr kumimoji="1" lang="en-US" altLang="zh-TW" sz="2400" b="1" i="0" u="none" strike="noStrike" kern="900" cap="none" normalizeH="0" baseline="0" dirty="0">
                          <a:ln>
                            <a:noFill/>
                          </a:ln>
                          <a:solidFill>
                            <a:schemeClr val="tx1"/>
                          </a:solidFill>
                          <a:effectLst/>
                          <a:latin typeface="+mj-lt"/>
                          <a:ea typeface="新細明體" panose="02020500000000000000" pitchFamily="18" charset="-120"/>
                        </a:rPr>
                        <a:t>*</a:t>
                      </a:r>
                    </a:p>
                  </a:txBody>
                  <a:tcPr marL="90000" marR="90000" marT="46800" marB="468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65000"/>
                        <a:buFont typeface="Wingdings" panose="05000000000000000000" pitchFamily="2" charset="2"/>
                        <a:defRPr kumimoji="1" sz="2600">
                          <a:solidFill>
                            <a:schemeClr val="tx1"/>
                          </a:solidFill>
                          <a:latin typeface="Arial" panose="020B0604020202020204" pitchFamily="34" charset="0"/>
                          <a:ea typeface="新細明體" panose="02020500000000000000" pitchFamily="18" charset="-120"/>
                        </a:defRPr>
                      </a:lvl1pPr>
                      <a:lvl2pPr marL="742950" indent="-285750" eaLnBrk="0" hangingPunct="0">
                        <a:spcBef>
                          <a:spcPct val="20000"/>
                        </a:spcBef>
                        <a:buClr>
                          <a:schemeClr val="accent2"/>
                        </a:buClr>
                        <a:buSzPct val="60000"/>
                        <a:buFont typeface="Wingdings" panose="05000000000000000000" pitchFamily="2" charset="2"/>
                        <a:defRPr kumimoji="1" sz="2200">
                          <a:solidFill>
                            <a:schemeClr val="tx1"/>
                          </a:solidFill>
                          <a:latin typeface="Arial" panose="020B0604020202020204" pitchFamily="34" charset="0"/>
                          <a:ea typeface="新細明體" panose="02020500000000000000" pitchFamily="18" charset="-120"/>
                        </a:defRPr>
                      </a:lvl2pPr>
                      <a:lvl3pPr marL="1143000" indent="-228600" eaLnBrk="0" hangingPunct="0">
                        <a:spcBef>
                          <a:spcPct val="20000"/>
                        </a:spcBef>
                        <a:buClr>
                          <a:schemeClr val="accent1"/>
                        </a:buClr>
                        <a:buSzPct val="65000"/>
                        <a:buFont typeface="Wingdings" panose="05000000000000000000" pitchFamily="2" charset="2"/>
                        <a:defRPr kumimoji="1" sz="2000">
                          <a:solidFill>
                            <a:schemeClr val="tx1"/>
                          </a:solidFill>
                          <a:latin typeface="Arial" panose="020B0604020202020204" pitchFamily="34" charset="0"/>
                          <a:ea typeface="新細明體" panose="02020500000000000000" pitchFamily="18" charset="-120"/>
                        </a:defRPr>
                      </a:lvl3pPr>
                      <a:lvl4pPr marL="1600200" indent="-228600" eaLnBrk="0" hangingPunct="0">
                        <a:spcBef>
                          <a:spcPct val="20000"/>
                        </a:spcBef>
                        <a:buClr>
                          <a:schemeClr val="accent2"/>
                        </a:buClr>
                        <a:buSzPct val="70000"/>
                        <a:buFont typeface="Wingdings" panose="05000000000000000000" pitchFamily="2" charset="2"/>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spcBef>
                          <a:spcPct val="20000"/>
                        </a:spcBef>
                        <a:buClr>
                          <a:schemeClr val="accent1"/>
                        </a:buClr>
                        <a:buSzPct val="75000"/>
                        <a:buFont typeface="Wingdings" panose="05000000000000000000" pitchFamily="2" charset="2"/>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kumimoji="1">
                          <a:solidFill>
                            <a:schemeClr val="tx1"/>
                          </a:solidFill>
                          <a:latin typeface="Arial" panose="020B0604020202020204" pitchFamily="34" charset="0"/>
                          <a:ea typeface="新細明體" panose="02020500000000000000" pitchFamily="18" charset="-120"/>
                        </a:defRPr>
                      </a:lvl9pPr>
                    </a:lstStyle>
                    <a:p>
                      <a:pPr marL="0" marR="0" lvl="0" indent="0" algn="ctr" defTabSz="914400" rtl="0" eaLnBrk="1" fontAlgn="ctr"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TW" sz="2400" b="0" i="0" u="none" strike="noStrike" kern="900" cap="none" normalizeH="0" baseline="0">
                          <a:ln>
                            <a:noFill/>
                          </a:ln>
                          <a:solidFill>
                            <a:schemeClr val="tx1"/>
                          </a:solidFill>
                          <a:effectLst/>
                          <a:latin typeface="+mj-lt"/>
                          <a:ea typeface="新細明體" panose="02020500000000000000" pitchFamily="18" charset="-120"/>
                        </a:rPr>
                        <a:t>1</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65000"/>
                        <a:buFont typeface="Wingdings" panose="05000000000000000000" pitchFamily="2" charset="2"/>
                        <a:defRPr kumimoji="1" sz="2600">
                          <a:solidFill>
                            <a:schemeClr val="tx1"/>
                          </a:solidFill>
                          <a:latin typeface="Arial" panose="020B0604020202020204" pitchFamily="34" charset="0"/>
                          <a:ea typeface="新細明體" panose="02020500000000000000" pitchFamily="18" charset="-120"/>
                        </a:defRPr>
                      </a:lvl1pPr>
                      <a:lvl2pPr marL="742950" indent="-285750" eaLnBrk="0" hangingPunct="0">
                        <a:spcBef>
                          <a:spcPct val="20000"/>
                        </a:spcBef>
                        <a:buClr>
                          <a:schemeClr val="accent2"/>
                        </a:buClr>
                        <a:buSzPct val="60000"/>
                        <a:buFont typeface="Wingdings" panose="05000000000000000000" pitchFamily="2" charset="2"/>
                        <a:defRPr kumimoji="1" sz="2200">
                          <a:solidFill>
                            <a:schemeClr val="tx1"/>
                          </a:solidFill>
                          <a:latin typeface="Arial" panose="020B0604020202020204" pitchFamily="34" charset="0"/>
                          <a:ea typeface="新細明體" panose="02020500000000000000" pitchFamily="18" charset="-120"/>
                        </a:defRPr>
                      </a:lvl2pPr>
                      <a:lvl3pPr marL="1143000" indent="-228600" eaLnBrk="0" hangingPunct="0">
                        <a:spcBef>
                          <a:spcPct val="20000"/>
                        </a:spcBef>
                        <a:buClr>
                          <a:schemeClr val="accent1"/>
                        </a:buClr>
                        <a:buSzPct val="65000"/>
                        <a:buFont typeface="Wingdings" panose="05000000000000000000" pitchFamily="2" charset="2"/>
                        <a:defRPr kumimoji="1" sz="2000">
                          <a:solidFill>
                            <a:schemeClr val="tx1"/>
                          </a:solidFill>
                          <a:latin typeface="Arial" panose="020B0604020202020204" pitchFamily="34" charset="0"/>
                          <a:ea typeface="新細明體" panose="02020500000000000000" pitchFamily="18" charset="-120"/>
                        </a:defRPr>
                      </a:lvl3pPr>
                      <a:lvl4pPr marL="1600200" indent="-228600" eaLnBrk="0" hangingPunct="0">
                        <a:spcBef>
                          <a:spcPct val="20000"/>
                        </a:spcBef>
                        <a:buClr>
                          <a:schemeClr val="accent2"/>
                        </a:buClr>
                        <a:buSzPct val="70000"/>
                        <a:buFont typeface="Wingdings" panose="05000000000000000000" pitchFamily="2" charset="2"/>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spcBef>
                          <a:spcPct val="20000"/>
                        </a:spcBef>
                        <a:buClr>
                          <a:schemeClr val="accent1"/>
                        </a:buClr>
                        <a:buSzPct val="75000"/>
                        <a:buFont typeface="Wingdings" panose="05000000000000000000" pitchFamily="2" charset="2"/>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kumimoji="1">
                          <a:solidFill>
                            <a:schemeClr val="tx1"/>
                          </a:solidFill>
                          <a:latin typeface="Arial" panose="020B0604020202020204" pitchFamily="34" charset="0"/>
                          <a:ea typeface="新細明體" panose="02020500000000000000" pitchFamily="18" charset="-120"/>
                        </a:defRPr>
                      </a:lvl9pPr>
                    </a:lstStyle>
                    <a:p>
                      <a:pPr marL="0" marR="0" lvl="0" indent="0" algn="ctr" defTabSz="914400" rtl="0" eaLnBrk="1" fontAlgn="ctr"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TW" sz="2400" b="0" i="0" u="none" strike="noStrike" kern="900" cap="none" normalizeH="0" baseline="0">
                          <a:ln>
                            <a:noFill/>
                          </a:ln>
                          <a:solidFill>
                            <a:schemeClr val="tx1"/>
                          </a:solidFill>
                          <a:effectLst/>
                          <a:latin typeface="+mj-lt"/>
                          <a:ea typeface="新細明體" panose="02020500000000000000" pitchFamily="18" charset="-120"/>
                        </a:rPr>
                        <a:t>left</a:t>
                      </a:r>
                    </a:p>
                  </a:txBody>
                  <a:tcPr marL="90000" marR="90000" marT="46800" marB="468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64705">
                <a:tc>
                  <a:txBody>
                    <a:bodyPr/>
                    <a:lstStyle>
                      <a:lvl1pPr eaLnBrk="0" hangingPunct="0">
                        <a:spcBef>
                          <a:spcPct val="20000"/>
                        </a:spcBef>
                        <a:buClr>
                          <a:schemeClr val="accent1"/>
                        </a:buClr>
                        <a:buSzPct val="65000"/>
                        <a:buFont typeface="Wingdings" panose="05000000000000000000" pitchFamily="2" charset="2"/>
                        <a:defRPr kumimoji="1" sz="2600">
                          <a:solidFill>
                            <a:schemeClr val="tx1"/>
                          </a:solidFill>
                          <a:latin typeface="Arial" panose="020B0604020202020204" pitchFamily="34" charset="0"/>
                          <a:ea typeface="新細明體" panose="02020500000000000000" pitchFamily="18" charset="-120"/>
                        </a:defRPr>
                      </a:lvl1pPr>
                      <a:lvl2pPr marL="742950" indent="-285750" eaLnBrk="0" hangingPunct="0">
                        <a:spcBef>
                          <a:spcPct val="20000"/>
                        </a:spcBef>
                        <a:buClr>
                          <a:schemeClr val="accent2"/>
                        </a:buClr>
                        <a:buSzPct val="60000"/>
                        <a:buFont typeface="Wingdings" panose="05000000000000000000" pitchFamily="2" charset="2"/>
                        <a:defRPr kumimoji="1" sz="2200">
                          <a:solidFill>
                            <a:schemeClr val="tx1"/>
                          </a:solidFill>
                          <a:latin typeface="Arial" panose="020B0604020202020204" pitchFamily="34" charset="0"/>
                          <a:ea typeface="新細明體" panose="02020500000000000000" pitchFamily="18" charset="-120"/>
                        </a:defRPr>
                      </a:lvl2pPr>
                      <a:lvl3pPr marL="1143000" indent="-228600" eaLnBrk="0" hangingPunct="0">
                        <a:spcBef>
                          <a:spcPct val="20000"/>
                        </a:spcBef>
                        <a:buClr>
                          <a:schemeClr val="accent1"/>
                        </a:buClr>
                        <a:buSzPct val="65000"/>
                        <a:buFont typeface="Wingdings" panose="05000000000000000000" pitchFamily="2" charset="2"/>
                        <a:defRPr kumimoji="1" sz="2000">
                          <a:solidFill>
                            <a:schemeClr val="tx1"/>
                          </a:solidFill>
                          <a:latin typeface="Arial" panose="020B0604020202020204" pitchFamily="34" charset="0"/>
                          <a:ea typeface="新細明體" panose="02020500000000000000" pitchFamily="18" charset="-120"/>
                        </a:defRPr>
                      </a:lvl3pPr>
                      <a:lvl4pPr marL="1600200" indent="-228600" eaLnBrk="0" hangingPunct="0">
                        <a:spcBef>
                          <a:spcPct val="20000"/>
                        </a:spcBef>
                        <a:buClr>
                          <a:schemeClr val="accent2"/>
                        </a:buClr>
                        <a:buSzPct val="70000"/>
                        <a:buFont typeface="Wingdings" panose="05000000000000000000" pitchFamily="2" charset="2"/>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spcBef>
                          <a:spcPct val="20000"/>
                        </a:spcBef>
                        <a:buClr>
                          <a:schemeClr val="accent1"/>
                        </a:buClr>
                        <a:buSzPct val="75000"/>
                        <a:buFont typeface="Wingdings" panose="05000000000000000000" pitchFamily="2" charset="2"/>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kumimoji="1">
                          <a:solidFill>
                            <a:schemeClr val="tx1"/>
                          </a:solidFill>
                          <a:latin typeface="Arial" panose="020B0604020202020204" pitchFamily="34" charset="0"/>
                          <a:ea typeface="新細明體" panose="02020500000000000000" pitchFamily="18" charset="-120"/>
                        </a:defRPr>
                      </a:lvl9pPr>
                    </a:lstStyle>
                    <a:p>
                      <a:pPr marL="0" marR="0" lvl="0" indent="0" algn="ctr" defTabSz="914400" rtl="0" eaLnBrk="1" fontAlgn="ctr"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TW" sz="2400" b="0" i="0" u="none" strike="noStrike" kern="900" cap="none" normalizeH="0" baseline="0">
                          <a:ln>
                            <a:noFill/>
                          </a:ln>
                          <a:solidFill>
                            <a:schemeClr val="tx1"/>
                          </a:solidFill>
                          <a:effectLst/>
                          <a:latin typeface="+mj-lt"/>
                          <a:ea typeface="新細明體" panose="02020500000000000000" pitchFamily="18" charset="-120"/>
                        </a:rPr>
                        <a:t>Concatenation</a:t>
                      </a:r>
                    </a:p>
                  </a:txBody>
                  <a:tcPr marL="90000" marR="90000" marT="46800" marB="468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65000"/>
                        <a:buFont typeface="Wingdings" panose="05000000000000000000" pitchFamily="2" charset="2"/>
                        <a:defRPr kumimoji="1" sz="2600">
                          <a:solidFill>
                            <a:schemeClr val="tx1"/>
                          </a:solidFill>
                          <a:latin typeface="Arial" panose="020B0604020202020204" pitchFamily="34" charset="0"/>
                          <a:ea typeface="新細明體" panose="02020500000000000000" pitchFamily="18" charset="-120"/>
                        </a:defRPr>
                      </a:lvl1pPr>
                      <a:lvl2pPr marL="742950" indent="-285750" eaLnBrk="0" hangingPunct="0">
                        <a:spcBef>
                          <a:spcPct val="20000"/>
                        </a:spcBef>
                        <a:buClr>
                          <a:schemeClr val="accent2"/>
                        </a:buClr>
                        <a:buSzPct val="60000"/>
                        <a:buFont typeface="Wingdings" panose="05000000000000000000" pitchFamily="2" charset="2"/>
                        <a:defRPr kumimoji="1" sz="2200">
                          <a:solidFill>
                            <a:schemeClr val="tx1"/>
                          </a:solidFill>
                          <a:latin typeface="Arial" panose="020B0604020202020204" pitchFamily="34" charset="0"/>
                          <a:ea typeface="新細明體" panose="02020500000000000000" pitchFamily="18" charset="-120"/>
                        </a:defRPr>
                      </a:lvl2pPr>
                      <a:lvl3pPr marL="1143000" indent="-228600" eaLnBrk="0" hangingPunct="0">
                        <a:spcBef>
                          <a:spcPct val="20000"/>
                        </a:spcBef>
                        <a:buClr>
                          <a:schemeClr val="accent1"/>
                        </a:buClr>
                        <a:buSzPct val="65000"/>
                        <a:buFont typeface="Wingdings" panose="05000000000000000000" pitchFamily="2" charset="2"/>
                        <a:defRPr kumimoji="1" sz="2000">
                          <a:solidFill>
                            <a:schemeClr val="tx1"/>
                          </a:solidFill>
                          <a:latin typeface="Arial" panose="020B0604020202020204" pitchFamily="34" charset="0"/>
                          <a:ea typeface="新細明體" panose="02020500000000000000" pitchFamily="18" charset="-120"/>
                        </a:defRPr>
                      </a:lvl3pPr>
                      <a:lvl4pPr marL="1600200" indent="-228600" eaLnBrk="0" hangingPunct="0">
                        <a:spcBef>
                          <a:spcPct val="20000"/>
                        </a:spcBef>
                        <a:buClr>
                          <a:schemeClr val="accent2"/>
                        </a:buClr>
                        <a:buSzPct val="70000"/>
                        <a:buFont typeface="Wingdings" panose="05000000000000000000" pitchFamily="2" charset="2"/>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spcBef>
                          <a:spcPct val="20000"/>
                        </a:spcBef>
                        <a:buClr>
                          <a:schemeClr val="accent1"/>
                        </a:buClr>
                        <a:buSzPct val="75000"/>
                        <a:buFont typeface="Wingdings" panose="05000000000000000000" pitchFamily="2" charset="2"/>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kumimoji="1">
                          <a:solidFill>
                            <a:schemeClr val="tx1"/>
                          </a:solidFill>
                          <a:latin typeface="Arial" panose="020B0604020202020204" pitchFamily="34" charset="0"/>
                          <a:ea typeface="新細明體" panose="02020500000000000000" pitchFamily="18" charset="-120"/>
                        </a:defRPr>
                      </a:lvl9pPr>
                    </a:lstStyle>
                    <a:p>
                      <a:pPr marL="0" marR="0" lvl="0" indent="0" algn="ctr" defTabSz="914400" rtl="0" eaLnBrk="1" fontAlgn="ctr"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TW" sz="2400" b="0" i="0" u="none" strike="noStrike" kern="900" cap="none" normalizeH="0" baseline="0">
                          <a:ln>
                            <a:noFill/>
                          </a:ln>
                          <a:solidFill>
                            <a:schemeClr val="tx1"/>
                          </a:solidFill>
                          <a:effectLst/>
                          <a:latin typeface="+mj-lt"/>
                          <a:ea typeface="新細明體" panose="02020500000000000000" pitchFamily="18" charset="-120"/>
                        </a:rPr>
                        <a:t>2</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65000"/>
                        <a:buFont typeface="Wingdings" panose="05000000000000000000" pitchFamily="2" charset="2"/>
                        <a:defRPr kumimoji="1" sz="2600">
                          <a:solidFill>
                            <a:schemeClr val="tx1"/>
                          </a:solidFill>
                          <a:latin typeface="Arial" panose="020B0604020202020204" pitchFamily="34" charset="0"/>
                          <a:ea typeface="新細明體" panose="02020500000000000000" pitchFamily="18" charset="-120"/>
                        </a:defRPr>
                      </a:lvl1pPr>
                      <a:lvl2pPr marL="742950" indent="-285750" eaLnBrk="0" hangingPunct="0">
                        <a:spcBef>
                          <a:spcPct val="20000"/>
                        </a:spcBef>
                        <a:buClr>
                          <a:schemeClr val="accent2"/>
                        </a:buClr>
                        <a:buSzPct val="60000"/>
                        <a:buFont typeface="Wingdings" panose="05000000000000000000" pitchFamily="2" charset="2"/>
                        <a:defRPr kumimoji="1" sz="2200">
                          <a:solidFill>
                            <a:schemeClr val="tx1"/>
                          </a:solidFill>
                          <a:latin typeface="Arial" panose="020B0604020202020204" pitchFamily="34" charset="0"/>
                          <a:ea typeface="新細明體" panose="02020500000000000000" pitchFamily="18" charset="-120"/>
                        </a:defRPr>
                      </a:lvl2pPr>
                      <a:lvl3pPr marL="1143000" indent="-228600" eaLnBrk="0" hangingPunct="0">
                        <a:spcBef>
                          <a:spcPct val="20000"/>
                        </a:spcBef>
                        <a:buClr>
                          <a:schemeClr val="accent1"/>
                        </a:buClr>
                        <a:buSzPct val="65000"/>
                        <a:buFont typeface="Wingdings" panose="05000000000000000000" pitchFamily="2" charset="2"/>
                        <a:defRPr kumimoji="1" sz="2000">
                          <a:solidFill>
                            <a:schemeClr val="tx1"/>
                          </a:solidFill>
                          <a:latin typeface="Arial" panose="020B0604020202020204" pitchFamily="34" charset="0"/>
                          <a:ea typeface="新細明體" panose="02020500000000000000" pitchFamily="18" charset="-120"/>
                        </a:defRPr>
                      </a:lvl3pPr>
                      <a:lvl4pPr marL="1600200" indent="-228600" eaLnBrk="0" hangingPunct="0">
                        <a:spcBef>
                          <a:spcPct val="20000"/>
                        </a:spcBef>
                        <a:buClr>
                          <a:schemeClr val="accent2"/>
                        </a:buClr>
                        <a:buSzPct val="70000"/>
                        <a:buFont typeface="Wingdings" panose="05000000000000000000" pitchFamily="2" charset="2"/>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spcBef>
                          <a:spcPct val="20000"/>
                        </a:spcBef>
                        <a:buClr>
                          <a:schemeClr val="accent1"/>
                        </a:buClr>
                        <a:buSzPct val="75000"/>
                        <a:buFont typeface="Wingdings" panose="05000000000000000000" pitchFamily="2" charset="2"/>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kumimoji="1">
                          <a:solidFill>
                            <a:schemeClr val="tx1"/>
                          </a:solidFill>
                          <a:latin typeface="Arial" panose="020B0604020202020204" pitchFamily="34" charset="0"/>
                          <a:ea typeface="新細明體" panose="02020500000000000000" pitchFamily="18" charset="-120"/>
                        </a:defRPr>
                      </a:lvl9pPr>
                    </a:lstStyle>
                    <a:p>
                      <a:pPr marL="0" marR="0" lvl="0" indent="0" algn="ctr" defTabSz="914400" rtl="0" eaLnBrk="1" fontAlgn="ctr"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TW" sz="2400" b="0" i="0" u="none" strike="noStrike" kern="900" cap="none" normalizeH="0" baseline="0">
                          <a:ln>
                            <a:noFill/>
                          </a:ln>
                          <a:solidFill>
                            <a:schemeClr val="tx1"/>
                          </a:solidFill>
                          <a:effectLst/>
                          <a:latin typeface="+mj-lt"/>
                          <a:ea typeface="新細明體" panose="02020500000000000000" pitchFamily="18" charset="-120"/>
                        </a:rPr>
                        <a:t>left</a:t>
                      </a:r>
                    </a:p>
                  </a:txBody>
                  <a:tcPr marL="90000" marR="90000" marT="46800" marB="468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30131">
                <a:tc>
                  <a:txBody>
                    <a:bodyPr/>
                    <a:lstStyle>
                      <a:lvl1pPr eaLnBrk="0" hangingPunct="0">
                        <a:spcBef>
                          <a:spcPct val="20000"/>
                        </a:spcBef>
                        <a:buClr>
                          <a:schemeClr val="accent1"/>
                        </a:buClr>
                        <a:buSzPct val="65000"/>
                        <a:buFont typeface="Wingdings" panose="05000000000000000000" pitchFamily="2" charset="2"/>
                        <a:defRPr kumimoji="1" sz="2600">
                          <a:solidFill>
                            <a:schemeClr val="tx1"/>
                          </a:solidFill>
                          <a:latin typeface="Arial" panose="020B0604020202020204" pitchFamily="34" charset="0"/>
                          <a:ea typeface="新細明體" panose="02020500000000000000" pitchFamily="18" charset="-120"/>
                        </a:defRPr>
                      </a:lvl1pPr>
                      <a:lvl2pPr marL="742950" indent="-285750" eaLnBrk="0" hangingPunct="0">
                        <a:spcBef>
                          <a:spcPct val="20000"/>
                        </a:spcBef>
                        <a:buClr>
                          <a:schemeClr val="accent2"/>
                        </a:buClr>
                        <a:buSzPct val="60000"/>
                        <a:buFont typeface="Wingdings" panose="05000000000000000000" pitchFamily="2" charset="2"/>
                        <a:defRPr kumimoji="1" sz="2200">
                          <a:solidFill>
                            <a:schemeClr val="tx1"/>
                          </a:solidFill>
                          <a:latin typeface="Arial" panose="020B0604020202020204" pitchFamily="34" charset="0"/>
                          <a:ea typeface="新細明體" panose="02020500000000000000" pitchFamily="18" charset="-120"/>
                        </a:defRPr>
                      </a:lvl2pPr>
                      <a:lvl3pPr marL="1143000" indent="-228600" eaLnBrk="0" hangingPunct="0">
                        <a:spcBef>
                          <a:spcPct val="20000"/>
                        </a:spcBef>
                        <a:buClr>
                          <a:schemeClr val="accent1"/>
                        </a:buClr>
                        <a:buSzPct val="65000"/>
                        <a:buFont typeface="Wingdings" panose="05000000000000000000" pitchFamily="2" charset="2"/>
                        <a:defRPr kumimoji="1" sz="2000">
                          <a:solidFill>
                            <a:schemeClr val="tx1"/>
                          </a:solidFill>
                          <a:latin typeface="Arial" panose="020B0604020202020204" pitchFamily="34" charset="0"/>
                          <a:ea typeface="新細明體" panose="02020500000000000000" pitchFamily="18" charset="-120"/>
                        </a:defRPr>
                      </a:lvl3pPr>
                      <a:lvl4pPr marL="1600200" indent="-228600" eaLnBrk="0" hangingPunct="0">
                        <a:spcBef>
                          <a:spcPct val="20000"/>
                        </a:spcBef>
                        <a:buClr>
                          <a:schemeClr val="accent2"/>
                        </a:buClr>
                        <a:buSzPct val="70000"/>
                        <a:buFont typeface="Wingdings" panose="05000000000000000000" pitchFamily="2" charset="2"/>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spcBef>
                          <a:spcPct val="20000"/>
                        </a:spcBef>
                        <a:buClr>
                          <a:schemeClr val="accent1"/>
                        </a:buClr>
                        <a:buSzPct val="75000"/>
                        <a:buFont typeface="Wingdings" panose="05000000000000000000" pitchFamily="2" charset="2"/>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kumimoji="1">
                          <a:solidFill>
                            <a:schemeClr val="tx1"/>
                          </a:solidFill>
                          <a:latin typeface="Arial" panose="020B0604020202020204" pitchFamily="34" charset="0"/>
                          <a:ea typeface="新細明體" panose="02020500000000000000" pitchFamily="18" charset="-120"/>
                        </a:defRPr>
                      </a:lvl9pPr>
                    </a:lstStyle>
                    <a:p>
                      <a:pPr marL="0" marR="0" lvl="0" indent="0" algn="ctr" defTabSz="914400" rtl="0" eaLnBrk="1" fontAlgn="ctr"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TW" sz="2400" b="0" i="0" u="none" strike="noStrike" kern="900" cap="none" normalizeH="0" baseline="0">
                          <a:ln>
                            <a:noFill/>
                          </a:ln>
                          <a:solidFill>
                            <a:schemeClr val="tx1"/>
                          </a:solidFill>
                          <a:effectLst/>
                          <a:latin typeface="+mj-lt"/>
                          <a:ea typeface="新細明體" panose="02020500000000000000" pitchFamily="18" charset="-120"/>
                        </a:rPr>
                        <a:t>Union 	</a:t>
                      </a:r>
                      <a:r>
                        <a:rPr kumimoji="1" lang="en-US" altLang="zh-TW" sz="2400" b="1" i="0" u="none" strike="noStrike" kern="900" cap="none" normalizeH="0" baseline="0">
                          <a:ln>
                            <a:noFill/>
                          </a:ln>
                          <a:solidFill>
                            <a:schemeClr val="tx1"/>
                          </a:solidFill>
                          <a:effectLst/>
                          <a:latin typeface="+mj-lt"/>
                          <a:ea typeface="新細明體" panose="02020500000000000000" pitchFamily="18" charset="-120"/>
                        </a:rPr>
                        <a:t>|</a:t>
                      </a:r>
                    </a:p>
                  </a:txBody>
                  <a:tcPr marL="90000" marR="90000" marT="46800" marB="468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65000"/>
                        <a:buFont typeface="Wingdings" panose="05000000000000000000" pitchFamily="2" charset="2"/>
                        <a:defRPr kumimoji="1" sz="2600">
                          <a:solidFill>
                            <a:schemeClr val="tx1"/>
                          </a:solidFill>
                          <a:latin typeface="Arial" panose="020B0604020202020204" pitchFamily="34" charset="0"/>
                          <a:ea typeface="新細明體" panose="02020500000000000000" pitchFamily="18" charset="-120"/>
                        </a:defRPr>
                      </a:lvl1pPr>
                      <a:lvl2pPr marL="742950" indent="-285750" eaLnBrk="0" hangingPunct="0">
                        <a:spcBef>
                          <a:spcPct val="20000"/>
                        </a:spcBef>
                        <a:buClr>
                          <a:schemeClr val="accent2"/>
                        </a:buClr>
                        <a:buSzPct val="60000"/>
                        <a:buFont typeface="Wingdings" panose="05000000000000000000" pitchFamily="2" charset="2"/>
                        <a:defRPr kumimoji="1" sz="2200">
                          <a:solidFill>
                            <a:schemeClr val="tx1"/>
                          </a:solidFill>
                          <a:latin typeface="Arial" panose="020B0604020202020204" pitchFamily="34" charset="0"/>
                          <a:ea typeface="新細明體" panose="02020500000000000000" pitchFamily="18" charset="-120"/>
                        </a:defRPr>
                      </a:lvl2pPr>
                      <a:lvl3pPr marL="1143000" indent="-228600" eaLnBrk="0" hangingPunct="0">
                        <a:spcBef>
                          <a:spcPct val="20000"/>
                        </a:spcBef>
                        <a:buClr>
                          <a:schemeClr val="accent1"/>
                        </a:buClr>
                        <a:buSzPct val="65000"/>
                        <a:buFont typeface="Wingdings" panose="05000000000000000000" pitchFamily="2" charset="2"/>
                        <a:defRPr kumimoji="1" sz="2000">
                          <a:solidFill>
                            <a:schemeClr val="tx1"/>
                          </a:solidFill>
                          <a:latin typeface="Arial" panose="020B0604020202020204" pitchFamily="34" charset="0"/>
                          <a:ea typeface="新細明體" panose="02020500000000000000" pitchFamily="18" charset="-120"/>
                        </a:defRPr>
                      </a:lvl3pPr>
                      <a:lvl4pPr marL="1600200" indent="-228600" eaLnBrk="0" hangingPunct="0">
                        <a:spcBef>
                          <a:spcPct val="20000"/>
                        </a:spcBef>
                        <a:buClr>
                          <a:schemeClr val="accent2"/>
                        </a:buClr>
                        <a:buSzPct val="70000"/>
                        <a:buFont typeface="Wingdings" panose="05000000000000000000" pitchFamily="2" charset="2"/>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spcBef>
                          <a:spcPct val="20000"/>
                        </a:spcBef>
                        <a:buClr>
                          <a:schemeClr val="accent1"/>
                        </a:buClr>
                        <a:buSzPct val="75000"/>
                        <a:buFont typeface="Wingdings" panose="05000000000000000000" pitchFamily="2" charset="2"/>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kumimoji="1">
                          <a:solidFill>
                            <a:schemeClr val="tx1"/>
                          </a:solidFill>
                          <a:latin typeface="Arial" panose="020B0604020202020204" pitchFamily="34" charset="0"/>
                          <a:ea typeface="新細明體" panose="02020500000000000000" pitchFamily="18" charset="-120"/>
                        </a:defRPr>
                      </a:lvl9pPr>
                    </a:lstStyle>
                    <a:p>
                      <a:pPr marL="0" marR="0" lvl="0" indent="0" algn="ctr" defTabSz="914400" rtl="0" eaLnBrk="1" fontAlgn="ctr"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TW" sz="2400" b="0" i="0" u="none" strike="noStrike" kern="900" cap="none" normalizeH="0" baseline="0">
                          <a:ln>
                            <a:noFill/>
                          </a:ln>
                          <a:solidFill>
                            <a:schemeClr val="tx1"/>
                          </a:solidFill>
                          <a:effectLst/>
                          <a:latin typeface="+mj-lt"/>
                          <a:ea typeface="新細明體" panose="02020500000000000000" pitchFamily="18" charset="-120"/>
                        </a:rPr>
                        <a:t>3</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65000"/>
                        <a:buFont typeface="Wingdings" panose="05000000000000000000" pitchFamily="2" charset="2"/>
                        <a:defRPr kumimoji="1" sz="2600">
                          <a:solidFill>
                            <a:schemeClr val="tx1"/>
                          </a:solidFill>
                          <a:latin typeface="Arial" panose="020B0604020202020204" pitchFamily="34" charset="0"/>
                          <a:ea typeface="新細明體" panose="02020500000000000000" pitchFamily="18" charset="-120"/>
                        </a:defRPr>
                      </a:lvl1pPr>
                      <a:lvl2pPr marL="742950" indent="-285750" eaLnBrk="0" hangingPunct="0">
                        <a:spcBef>
                          <a:spcPct val="20000"/>
                        </a:spcBef>
                        <a:buClr>
                          <a:schemeClr val="accent2"/>
                        </a:buClr>
                        <a:buSzPct val="60000"/>
                        <a:buFont typeface="Wingdings" panose="05000000000000000000" pitchFamily="2" charset="2"/>
                        <a:defRPr kumimoji="1" sz="2200">
                          <a:solidFill>
                            <a:schemeClr val="tx1"/>
                          </a:solidFill>
                          <a:latin typeface="Arial" panose="020B0604020202020204" pitchFamily="34" charset="0"/>
                          <a:ea typeface="新細明體" panose="02020500000000000000" pitchFamily="18" charset="-120"/>
                        </a:defRPr>
                      </a:lvl2pPr>
                      <a:lvl3pPr marL="1143000" indent="-228600" eaLnBrk="0" hangingPunct="0">
                        <a:spcBef>
                          <a:spcPct val="20000"/>
                        </a:spcBef>
                        <a:buClr>
                          <a:schemeClr val="accent1"/>
                        </a:buClr>
                        <a:buSzPct val="65000"/>
                        <a:buFont typeface="Wingdings" panose="05000000000000000000" pitchFamily="2" charset="2"/>
                        <a:defRPr kumimoji="1" sz="2000">
                          <a:solidFill>
                            <a:schemeClr val="tx1"/>
                          </a:solidFill>
                          <a:latin typeface="Arial" panose="020B0604020202020204" pitchFamily="34" charset="0"/>
                          <a:ea typeface="新細明體" panose="02020500000000000000" pitchFamily="18" charset="-120"/>
                        </a:defRPr>
                      </a:lvl3pPr>
                      <a:lvl4pPr marL="1600200" indent="-228600" eaLnBrk="0" hangingPunct="0">
                        <a:spcBef>
                          <a:spcPct val="20000"/>
                        </a:spcBef>
                        <a:buClr>
                          <a:schemeClr val="accent2"/>
                        </a:buClr>
                        <a:buSzPct val="70000"/>
                        <a:buFont typeface="Wingdings" panose="05000000000000000000" pitchFamily="2" charset="2"/>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spcBef>
                          <a:spcPct val="20000"/>
                        </a:spcBef>
                        <a:buClr>
                          <a:schemeClr val="accent1"/>
                        </a:buClr>
                        <a:buSzPct val="75000"/>
                        <a:buFont typeface="Wingdings" panose="05000000000000000000" pitchFamily="2" charset="2"/>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kumimoji="1">
                          <a:solidFill>
                            <a:schemeClr val="tx1"/>
                          </a:solidFill>
                          <a:latin typeface="Arial" panose="020B0604020202020204" pitchFamily="34" charset="0"/>
                          <a:ea typeface="新細明體" panose="02020500000000000000" pitchFamily="18" charset="-120"/>
                        </a:defRPr>
                      </a:lvl9pPr>
                    </a:lstStyle>
                    <a:p>
                      <a:pPr marL="0" marR="0" lvl="0" indent="0" algn="ctr" defTabSz="914400" rtl="0" eaLnBrk="1" fontAlgn="ctr" latinLnBrk="0" hangingPunct="1">
                        <a:lnSpc>
                          <a:spcPct val="100000"/>
                        </a:lnSpc>
                        <a:spcBef>
                          <a:spcPct val="20000"/>
                        </a:spcBef>
                        <a:spcAft>
                          <a:spcPct val="0"/>
                        </a:spcAft>
                        <a:buClr>
                          <a:schemeClr val="accent1"/>
                        </a:buClr>
                        <a:buSzPct val="65000"/>
                        <a:buFont typeface="Wingdings" panose="05000000000000000000" pitchFamily="2" charset="2"/>
                        <a:buNone/>
                      </a:pPr>
                      <a:r>
                        <a:rPr kumimoji="1" lang="en-US" altLang="zh-TW" sz="2400" b="0" i="0" u="none" strike="noStrike" kern="900" cap="none" normalizeH="0" baseline="0" dirty="0">
                          <a:ln>
                            <a:noFill/>
                          </a:ln>
                          <a:solidFill>
                            <a:schemeClr val="tx1"/>
                          </a:solidFill>
                          <a:effectLst/>
                          <a:latin typeface="+mj-lt"/>
                          <a:ea typeface="新細明體" panose="02020500000000000000" pitchFamily="18" charset="-120"/>
                        </a:rPr>
                        <a:t>left</a:t>
                      </a:r>
                    </a:p>
                  </a:txBody>
                  <a:tcPr marL="90000" marR="90000" marT="46800" marB="468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5" name="TextBox 4">
            <a:extLst>
              <a:ext uri="{FF2B5EF4-FFF2-40B4-BE49-F238E27FC236}">
                <a16:creationId xmlns:a16="http://schemas.microsoft.com/office/drawing/2014/main" id="{7445F373-83E4-B3A6-7490-D936A639CCDF}"/>
              </a:ext>
            </a:extLst>
          </p:cNvPr>
          <p:cNvSpPr txBox="1"/>
          <p:nvPr/>
        </p:nvSpPr>
        <p:spPr>
          <a:xfrm>
            <a:off x="702243" y="3911035"/>
            <a:ext cx="10787514" cy="2007281"/>
          </a:xfrm>
          <a:prstGeom prst="rect">
            <a:avLst/>
          </a:prstGeom>
          <a:noFill/>
        </p:spPr>
        <p:txBody>
          <a:bodyPr wrap="square">
            <a:spAutoFit/>
          </a:bodyPr>
          <a:lstStyle/>
          <a:p>
            <a:pPr algn="just">
              <a:lnSpc>
                <a:spcPct val="200000"/>
              </a:lnSpc>
            </a:pPr>
            <a:r>
              <a:rPr lang="en-US" sz="2000" b="0" i="0" dirty="0">
                <a:solidFill>
                  <a:srgbClr val="000000"/>
                </a:solidFill>
                <a:effectLst/>
                <a:latin typeface="Palatino Linotype" panose="02040502050505030304" pitchFamily="18" charset="0"/>
              </a:rPr>
              <a:t>Under these conventions, for example, we may replace the regular expression</a:t>
            </a:r>
            <a:br>
              <a:rPr lang="en-US" sz="2000" b="0" i="0" dirty="0">
                <a:solidFill>
                  <a:srgbClr val="000000"/>
                </a:solidFill>
                <a:effectLst/>
                <a:latin typeface="Palatino Linotype" panose="02040502050505030304" pitchFamily="18" charset="0"/>
              </a:rPr>
            </a:br>
            <a:r>
              <a:rPr lang="en-US" sz="2400" b="1" i="0" dirty="0">
                <a:solidFill>
                  <a:srgbClr val="000000"/>
                </a:solidFill>
                <a:effectLst/>
                <a:latin typeface="Palatino Linotype" panose="02040502050505030304" pitchFamily="18" charset="0"/>
              </a:rPr>
              <a:t>(a)|((b)*(c)) </a:t>
            </a:r>
            <a:r>
              <a:rPr lang="en-US" sz="2000" b="0" i="0" dirty="0">
                <a:solidFill>
                  <a:srgbClr val="000000"/>
                </a:solidFill>
                <a:effectLst/>
                <a:latin typeface="Palatino Linotype" panose="02040502050505030304" pitchFamily="18" charset="0"/>
              </a:rPr>
              <a:t>by </a:t>
            </a:r>
            <a:r>
              <a:rPr lang="en-US" sz="2500" b="1" i="0" dirty="0" err="1">
                <a:solidFill>
                  <a:srgbClr val="FF0000"/>
                </a:solidFill>
                <a:effectLst/>
                <a:latin typeface="Palatino Linotype" panose="02040502050505030304" pitchFamily="18" charset="0"/>
              </a:rPr>
              <a:t>a|b</a:t>
            </a:r>
            <a:r>
              <a:rPr lang="en-US" sz="2500" b="1" i="0" dirty="0">
                <a:solidFill>
                  <a:srgbClr val="FF0000"/>
                </a:solidFill>
                <a:effectLst/>
                <a:latin typeface="Palatino Linotype" panose="02040502050505030304" pitchFamily="18" charset="0"/>
              </a:rPr>
              <a:t>*c</a:t>
            </a:r>
            <a:r>
              <a:rPr lang="en-US" sz="2000" b="0" i="0" dirty="0">
                <a:solidFill>
                  <a:srgbClr val="000000"/>
                </a:solidFill>
                <a:effectLst/>
                <a:latin typeface="Palatino Linotype" panose="02040502050505030304" pitchFamily="18" charset="0"/>
              </a:rPr>
              <a:t>. Both expressions denote the set of strings that are either </a:t>
            </a:r>
            <a:br>
              <a:rPr lang="en-US" sz="2000" b="0" i="0" dirty="0">
                <a:solidFill>
                  <a:srgbClr val="000000"/>
                </a:solidFill>
                <a:effectLst/>
                <a:latin typeface="Palatino Linotype" panose="02040502050505030304" pitchFamily="18" charset="0"/>
              </a:rPr>
            </a:br>
            <a:r>
              <a:rPr lang="en-US" sz="2000" b="0" i="0" dirty="0">
                <a:solidFill>
                  <a:srgbClr val="000000"/>
                </a:solidFill>
                <a:effectLst/>
                <a:latin typeface="Palatino Linotype" panose="02040502050505030304" pitchFamily="18" charset="0"/>
              </a:rPr>
              <a:t>a single a or are zero or more b's followed by one c.</a:t>
            </a:r>
            <a:r>
              <a:rPr lang="en-US" sz="2000" dirty="0">
                <a:latin typeface="Palatino Linotype" panose="02040502050505030304" pitchFamily="18" charset="0"/>
              </a:rPr>
              <a:t> </a:t>
            </a:r>
            <a:endParaRPr lang="en-IN" sz="2000" dirty="0">
              <a:latin typeface="Palatino Linotype" panose="02040502050505030304" pitchFamily="18" charset="0"/>
            </a:endParaRPr>
          </a:p>
        </p:txBody>
      </p:sp>
    </p:spTree>
    <p:extLst>
      <p:ext uri="{BB962C8B-B14F-4D97-AF65-F5344CB8AC3E}">
        <p14:creationId xmlns:p14="http://schemas.microsoft.com/office/powerpoint/2010/main" val="30344509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dur="50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ppt_x"/>
                                          </p:val>
                                        </p:tav>
                                        <p:tav tm="100000">
                                          <p:val>
                                            <p:strVal val="#ppt_x"/>
                                          </p:val>
                                        </p:tav>
                                      </p:tavLst>
                                    </p:anim>
                                    <p:anim calcmode="lin" valueType="num">
                                      <p:cBhvr additive="base">
                                        <p:cTn id="13"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A43801-F577-ACB6-08B2-85F3A4C6A571}"/>
              </a:ext>
            </a:extLst>
          </p:cNvPr>
          <p:cNvSpPr txBox="1">
            <a:spLocks/>
          </p:cNvSpPr>
          <p:nvPr/>
        </p:nvSpPr>
        <p:spPr>
          <a:xfrm>
            <a:off x="0" y="1"/>
            <a:ext cx="12192000" cy="711200"/>
          </a:xfrm>
          <a:prstGeom prst="rect">
            <a:avLst/>
          </a:prstGeom>
        </p:spPr>
        <p:txBody>
          <a:bodyPr/>
          <a:lstStyle>
            <a:lvl1pPr algn="l" defTabSz="914400" rtl="0" eaLnBrk="1" latinLnBrk="0" hangingPunct="1">
              <a:lnSpc>
                <a:spcPct val="90000"/>
              </a:lnSpc>
              <a:spcBef>
                <a:spcPct val="0"/>
              </a:spcBef>
              <a:buNone/>
              <a:defRPr sz="4400" kern="1200">
                <a:solidFill>
                  <a:srgbClr val="C00000"/>
                </a:solidFill>
                <a:latin typeface="Palatino Linotype" panose="02040502050505030304" pitchFamily="18" charset="0"/>
                <a:ea typeface="+mj-ea"/>
                <a:cs typeface="+mj-cs"/>
              </a:defRPr>
            </a:lvl1pPr>
          </a:lstStyle>
          <a:p>
            <a:r>
              <a:rPr lang="en-US"/>
              <a:t>Regular expression examples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9848A8E-970B-2F82-D6EF-4FF097558BCA}"/>
                  </a:ext>
                </a:extLst>
              </p:cNvPr>
              <p:cNvSpPr txBox="1">
                <a:spLocks/>
              </p:cNvSpPr>
              <p:nvPr/>
            </p:nvSpPr>
            <p:spPr>
              <a:xfrm>
                <a:off x="131180" y="863444"/>
                <a:ext cx="11929641" cy="5590565"/>
              </a:xfrm>
              <a:prstGeom prst="rect">
                <a:avLst/>
              </a:prstGeom>
            </p:spPr>
            <p:txBody>
              <a:bodyPr/>
              <a:lstStyle>
                <a:lvl1pPr marL="228600" indent="-228600" algn="just"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Palatino Linotype" panose="02040502050505030304" pitchFamily="18" charset="0"/>
                    <a:ea typeface="+mn-ea"/>
                    <a:cs typeface="+mn-cs"/>
                  </a:defRPr>
                </a:lvl1pPr>
                <a:lvl2pPr marL="685800" indent="-228600" algn="just"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Palatino Linotype" panose="02040502050505030304" pitchFamily="18" charset="0"/>
                    <a:ea typeface="+mn-ea"/>
                    <a:cs typeface="+mn-cs"/>
                  </a:defRPr>
                </a:lvl2pPr>
                <a:lvl3pPr marL="1143000" indent="-228600" algn="just"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Palatino Linotype" panose="02040502050505030304" pitchFamily="18" charset="0"/>
                    <a:ea typeface="+mn-ea"/>
                    <a:cs typeface="+mn-cs"/>
                  </a:defRPr>
                </a:lvl3pPr>
                <a:lvl4pPr marL="1600200" indent="-228600" algn="just"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alatino Linotype" panose="02040502050505030304" pitchFamily="18" charset="0"/>
                    <a:ea typeface="+mn-ea"/>
                    <a:cs typeface="+mn-cs"/>
                  </a:defRPr>
                </a:lvl4pPr>
                <a:lvl5pPr marL="2057400" indent="-228600" algn="just"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defTabSz="465138">
                  <a:buFont typeface="+mj-lt"/>
                  <a:buAutoNum type="arabicPeriod"/>
                </a:pPr>
                <a:r>
                  <a:rPr lang="en-US" sz="2400" dirty="0"/>
                  <a:t>0 or 1</a:t>
                </a:r>
              </a:p>
              <a:p>
                <a:pPr marL="0" indent="0" defTabSz="465138">
                  <a:buFont typeface="Arial" panose="020B0604020202020204" pitchFamily="34" charset="0"/>
                  <a:buNone/>
                </a:pPr>
                <a:r>
                  <a:rPr lang="en-US" dirty="0"/>
                  <a:t>	</a:t>
                </a:r>
              </a:p>
              <a:p>
                <a:pPr marL="457200" indent="-457200" defTabSz="465138">
                  <a:buFont typeface="+mj-lt"/>
                  <a:buAutoNum type="arabicPeriod" startAt="2"/>
                </a:pPr>
                <a:r>
                  <a:rPr lang="en-US" sz="2400" dirty="0"/>
                  <a:t>0 or 11 or 111</a:t>
                </a:r>
              </a:p>
              <a:p>
                <a:pPr marL="463550" indent="-457200" defTabSz="465138">
                  <a:buFont typeface="+mj-lt"/>
                  <a:buAutoNum type="arabicPeriod" startAt="2"/>
                </a:pPr>
                <a:endParaRPr lang="en-US" dirty="0"/>
              </a:p>
              <a:p>
                <a:pPr marL="463550" indent="-457200" defTabSz="465138">
                  <a:buFont typeface="+mj-lt"/>
                  <a:buAutoNum type="arabicPeriod" startAt="2"/>
                </a:pPr>
                <a:r>
                  <a:rPr lang="en-US" sz="2400" dirty="0"/>
                  <a:t>String having zero or more </a:t>
                </a:r>
                <a:r>
                  <a:rPr lang="en-US" sz="2400" i="1" dirty="0"/>
                  <a:t>a</a:t>
                </a:r>
                <a:r>
                  <a:rPr lang="en-US" sz="2400" dirty="0"/>
                  <a:t>.</a:t>
                </a:r>
              </a:p>
              <a:p>
                <a:pPr marL="457200" lvl="1" indent="0" defTabSz="465138">
                  <a:buFont typeface="Arial" panose="020B0604020202020204" pitchFamily="34" charset="0"/>
                  <a:buNone/>
                </a:pPr>
                <a:endParaRPr lang="en-US" sz="2200" dirty="0"/>
              </a:p>
              <a:p>
                <a:pPr marL="463550" indent="-457200" defTabSz="465138">
                  <a:buFont typeface="+mj-lt"/>
                  <a:buAutoNum type="arabicPeriod" startAt="2"/>
                </a:pPr>
                <a:r>
                  <a:rPr lang="en-US" sz="2400" dirty="0"/>
                  <a:t>String having one or more </a:t>
                </a:r>
                <a:r>
                  <a:rPr lang="en-US" sz="2400" i="1" dirty="0"/>
                  <a:t>a</a:t>
                </a:r>
                <a:r>
                  <a:rPr lang="en-US" sz="2400" dirty="0"/>
                  <a:t>.</a:t>
                </a:r>
              </a:p>
              <a:p>
                <a:pPr marL="457200" lvl="1" indent="0" defTabSz="465138">
                  <a:buFont typeface="Arial" panose="020B0604020202020204" pitchFamily="34" charset="0"/>
                  <a:buNone/>
                </a:pPr>
                <a:endParaRPr lang="en-US" sz="2200" dirty="0"/>
              </a:p>
              <a:p>
                <a:pPr marL="463550" indent="-457200" defTabSz="465138">
                  <a:buFont typeface="+mj-lt"/>
                  <a:buAutoNum type="arabicPeriod" startAt="2"/>
                </a:pPr>
                <a:r>
                  <a:rPr lang="en-US" sz="2400" dirty="0"/>
                  <a:t>Regular expression over </a:t>
                </a:r>
                <a14:m>
                  <m:oMath xmlns:m="http://schemas.openxmlformats.org/officeDocument/2006/math">
                    <m:r>
                      <a:rPr lang="el-GR" sz="2400" i="1">
                        <a:latin typeface="Cambria Math" panose="02040503050406030204" pitchFamily="18" charset="0"/>
                        <a:ea typeface="Cambria Math" panose="02040503050406030204" pitchFamily="18" charset="0"/>
                      </a:rPr>
                      <m:t>𝛴</m:t>
                    </m:r>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𝑎</m:t>
                    </m:r>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𝑏</m:t>
                    </m:r>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𝑐</m:t>
                    </m:r>
                    <m:r>
                      <a:rPr lang="en-US" sz="2400" i="1">
                        <a:latin typeface="Cambria Math" panose="02040503050406030204" pitchFamily="18" charset="0"/>
                        <a:ea typeface="Cambria Math" panose="02040503050406030204" pitchFamily="18" charset="0"/>
                      </a:rPr>
                      <m:t>}</m:t>
                    </m:r>
                  </m:oMath>
                </a14:m>
                <a:r>
                  <a:rPr lang="en-US" sz="2400" dirty="0"/>
                  <a:t> that represent all string of length 3.</a:t>
                </a:r>
              </a:p>
              <a:p>
                <a:pPr marL="457200" lvl="1" indent="0" defTabSz="465138">
                  <a:buFont typeface="Arial" panose="020B0604020202020204" pitchFamily="34" charset="0"/>
                  <a:buNone/>
                </a:pPr>
                <a:endParaRPr lang="en-US" sz="2200" dirty="0"/>
              </a:p>
              <a:p>
                <a:pPr marL="463550" indent="-457200" defTabSz="465138">
                  <a:buFont typeface="+mj-lt"/>
                  <a:buAutoNum type="arabicPeriod" startAt="2"/>
                </a:pPr>
                <a:r>
                  <a:rPr lang="en-US" sz="2400" dirty="0"/>
                  <a:t>All binary string</a:t>
                </a:r>
              </a:p>
              <a:p>
                <a:pPr marL="6350" indent="0" defTabSz="465138">
                  <a:buFont typeface="Arial" panose="020B0604020202020204" pitchFamily="34" charset="0"/>
                  <a:buNone/>
                </a:pPr>
                <a:r>
                  <a:rPr lang="en-US" sz="2200" dirty="0"/>
                  <a:t> </a:t>
                </a:r>
                <a:endParaRPr lang="en-US" dirty="0"/>
              </a:p>
              <a:p>
                <a:endParaRPr lang="en-US" dirty="0"/>
              </a:p>
            </p:txBody>
          </p:sp>
        </mc:Choice>
        <mc:Fallback xmlns="">
          <p:sp>
            <p:nvSpPr>
              <p:cNvPr id="3" name="Content Placeholder 2">
                <a:extLst>
                  <a:ext uri="{FF2B5EF4-FFF2-40B4-BE49-F238E27FC236}">
                    <a16:creationId xmlns:a16="http://schemas.microsoft.com/office/drawing/2014/main" id="{E9848A8E-970B-2F82-D6EF-4FF097558BCA}"/>
                  </a:ext>
                </a:extLst>
              </p:cNvPr>
              <p:cNvSpPr txBox="1">
                <a:spLocks noRot="1" noChangeAspect="1" noMove="1" noResize="1" noEditPoints="1" noAdjustHandles="1" noChangeArrowheads="1" noChangeShapeType="1" noTextEdit="1"/>
              </p:cNvSpPr>
              <p:nvPr/>
            </p:nvSpPr>
            <p:spPr>
              <a:xfrm>
                <a:off x="131180" y="863444"/>
                <a:ext cx="11929641" cy="5590565"/>
              </a:xfrm>
              <a:prstGeom prst="rect">
                <a:avLst/>
              </a:prstGeom>
              <a:blipFill>
                <a:blip r:embed="rId3"/>
                <a:stretch>
                  <a:fillRect l="-971" t="-229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CD295261-D759-7ACE-1BE9-4AC21472FB2B}"/>
                  </a:ext>
                </a:extLst>
              </p:cNvPr>
              <p:cNvSpPr/>
              <p:nvPr/>
            </p:nvSpPr>
            <p:spPr>
              <a:xfrm>
                <a:off x="580710" y="1192369"/>
                <a:ext cx="3200400" cy="6085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14:m>
                  <m:oMathPara xmlns:m="http://schemas.openxmlformats.org/officeDocument/2006/math">
                    <m:oMathParaPr>
                      <m:jc m:val="left"/>
                    </m:oMathParaPr>
                    <m:oMath xmlns:m="http://schemas.openxmlformats.org/officeDocument/2006/math">
                      <m:r>
                        <a:rPr lang="en-US" b="1" i="0" smtClean="0">
                          <a:solidFill>
                            <a:srgbClr val="0E47A1"/>
                          </a:solidFill>
                          <a:latin typeface="Cambria Math" panose="02040503050406030204" pitchFamily="18" charset="0"/>
                        </a:rPr>
                        <m:t>𝐒𝐭𝐫𝐢𝐧𝐠𝐬</m:t>
                      </m:r>
                      <m:r>
                        <a:rPr lang="en-US" b="1" i="0" smtClean="0">
                          <a:solidFill>
                            <a:srgbClr val="0E47A1"/>
                          </a:solidFill>
                          <a:latin typeface="Cambria Math" panose="02040503050406030204" pitchFamily="18" charset="0"/>
                        </a:rPr>
                        <m:t>: </m:t>
                      </m:r>
                      <m:r>
                        <a:rPr lang="en-US" b="1" i="0" smtClean="0">
                          <a:solidFill>
                            <a:srgbClr val="0E47A1"/>
                          </a:solidFill>
                          <a:latin typeface="Cambria Math" panose="02040503050406030204" pitchFamily="18" charset="0"/>
                        </a:rPr>
                        <m:t>𝟎</m:t>
                      </m:r>
                      <m:r>
                        <a:rPr lang="en-US" b="1" i="0" smtClean="0">
                          <a:solidFill>
                            <a:srgbClr val="0E47A1"/>
                          </a:solidFill>
                          <a:latin typeface="Cambria Math" panose="02040503050406030204" pitchFamily="18" charset="0"/>
                        </a:rPr>
                        <m:t>, </m:t>
                      </m:r>
                      <m:r>
                        <a:rPr lang="en-US" b="1" i="0" smtClean="0">
                          <a:solidFill>
                            <a:srgbClr val="0E47A1"/>
                          </a:solidFill>
                          <a:latin typeface="Cambria Math" panose="02040503050406030204" pitchFamily="18" charset="0"/>
                        </a:rPr>
                        <m:t>𝟏</m:t>
                      </m:r>
                    </m:oMath>
                  </m:oMathPara>
                </a14:m>
                <a:endParaRPr lang="en-US" b="1">
                  <a:solidFill>
                    <a:srgbClr val="0E47A1"/>
                  </a:solidFill>
                  <a:latin typeface="+mj-lt"/>
                </a:endParaRPr>
              </a:p>
            </p:txBody>
          </p:sp>
        </mc:Choice>
        <mc:Fallback xmlns="">
          <p:sp>
            <p:nvSpPr>
              <p:cNvPr id="4" name="Rectangle 3">
                <a:extLst>
                  <a:ext uri="{FF2B5EF4-FFF2-40B4-BE49-F238E27FC236}">
                    <a16:creationId xmlns:a16="http://schemas.microsoft.com/office/drawing/2014/main" id="{CD295261-D759-7ACE-1BE9-4AC21472FB2B}"/>
                  </a:ext>
                </a:extLst>
              </p:cNvPr>
              <p:cNvSpPr>
                <a:spLocks noRot="1" noChangeAspect="1" noMove="1" noResize="1" noEditPoints="1" noAdjustHandles="1" noChangeArrowheads="1" noChangeShapeType="1" noTextEdit="1"/>
              </p:cNvSpPr>
              <p:nvPr/>
            </p:nvSpPr>
            <p:spPr>
              <a:xfrm>
                <a:off x="580710" y="1192369"/>
                <a:ext cx="3200400" cy="608533"/>
              </a:xfrm>
              <a:prstGeom prst="rect">
                <a:avLst/>
              </a:prstGeom>
              <a:blipFill>
                <a:blip r:embed="rId4"/>
                <a:stretch>
                  <a:fillRect l="-381"/>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D17D744A-A26E-7419-C09E-4FD78945ABBF}"/>
                  </a:ext>
                </a:extLst>
              </p:cNvPr>
              <p:cNvSpPr/>
              <p:nvPr/>
            </p:nvSpPr>
            <p:spPr>
              <a:xfrm>
                <a:off x="580710" y="2180028"/>
                <a:ext cx="3200400" cy="45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14:m>
                  <m:oMathPara xmlns:m="http://schemas.openxmlformats.org/officeDocument/2006/math">
                    <m:oMathParaPr>
                      <m:jc m:val="left"/>
                    </m:oMathParaPr>
                    <m:oMath xmlns:m="http://schemas.openxmlformats.org/officeDocument/2006/math">
                      <m:r>
                        <a:rPr lang="en-US" b="1" i="0" smtClean="0">
                          <a:solidFill>
                            <a:srgbClr val="0E47A1"/>
                          </a:solidFill>
                          <a:latin typeface="Cambria Math" panose="02040503050406030204" pitchFamily="18" charset="0"/>
                        </a:rPr>
                        <m:t>𝐒𝐭𝐫𝐢𝐧𝐠𝐬</m:t>
                      </m:r>
                      <m:r>
                        <a:rPr lang="en-US" b="1" i="0" smtClean="0">
                          <a:solidFill>
                            <a:srgbClr val="0E47A1"/>
                          </a:solidFill>
                          <a:latin typeface="Cambria Math" panose="02040503050406030204" pitchFamily="18" charset="0"/>
                        </a:rPr>
                        <m:t>: </m:t>
                      </m:r>
                      <m:r>
                        <a:rPr lang="en-US" b="1" i="0" smtClean="0">
                          <a:solidFill>
                            <a:srgbClr val="0E47A1"/>
                          </a:solidFill>
                          <a:latin typeface="Cambria Math" panose="02040503050406030204" pitchFamily="18" charset="0"/>
                        </a:rPr>
                        <m:t>𝟎</m:t>
                      </m:r>
                      <m:r>
                        <a:rPr lang="en-US" b="1" i="0" smtClean="0">
                          <a:solidFill>
                            <a:srgbClr val="0E47A1"/>
                          </a:solidFill>
                          <a:latin typeface="Cambria Math" panose="02040503050406030204" pitchFamily="18" charset="0"/>
                        </a:rPr>
                        <m:t>, </m:t>
                      </m:r>
                      <m:r>
                        <a:rPr lang="en-US" b="1" i="0" smtClean="0">
                          <a:solidFill>
                            <a:srgbClr val="0E47A1"/>
                          </a:solidFill>
                          <a:latin typeface="Cambria Math" panose="02040503050406030204" pitchFamily="18" charset="0"/>
                        </a:rPr>
                        <m:t>𝟏𝟏</m:t>
                      </m:r>
                      <m:r>
                        <a:rPr lang="en-US" b="1" i="0" smtClean="0">
                          <a:solidFill>
                            <a:srgbClr val="0E47A1"/>
                          </a:solidFill>
                          <a:latin typeface="Cambria Math" panose="02040503050406030204" pitchFamily="18" charset="0"/>
                        </a:rPr>
                        <m:t>, </m:t>
                      </m:r>
                      <m:r>
                        <a:rPr lang="en-US" b="1" i="0" smtClean="0">
                          <a:solidFill>
                            <a:srgbClr val="0E47A1"/>
                          </a:solidFill>
                          <a:latin typeface="Cambria Math" panose="02040503050406030204" pitchFamily="18" charset="0"/>
                        </a:rPr>
                        <m:t>𝟏𝟏𝟏</m:t>
                      </m:r>
                    </m:oMath>
                  </m:oMathPara>
                </a14:m>
                <a:endParaRPr lang="en-US" b="1">
                  <a:solidFill>
                    <a:srgbClr val="0E47A1"/>
                  </a:solidFill>
                  <a:latin typeface="+mj-lt"/>
                </a:endParaRPr>
              </a:p>
            </p:txBody>
          </p:sp>
        </mc:Choice>
        <mc:Fallback xmlns="">
          <p:sp>
            <p:nvSpPr>
              <p:cNvPr id="5" name="Rectangle 4">
                <a:extLst>
                  <a:ext uri="{FF2B5EF4-FFF2-40B4-BE49-F238E27FC236}">
                    <a16:creationId xmlns:a16="http://schemas.microsoft.com/office/drawing/2014/main" id="{D17D744A-A26E-7419-C09E-4FD78945ABBF}"/>
                  </a:ext>
                </a:extLst>
              </p:cNvPr>
              <p:cNvSpPr>
                <a:spLocks noRot="1" noChangeAspect="1" noMove="1" noResize="1" noEditPoints="1" noAdjustHandles="1" noChangeArrowheads="1" noChangeShapeType="1" noTextEdit="1"/>
              </p:cNvSpPr>
              <p:nvPr/>
            </p:nvSpPr>
            <p:spPr>
              <a:xfrm>
                <a:off x="580710" y="2180028"/>
                <a:ext cx="3200400" cy="457200"/>
              </a:xfrm>
              <a:prstGeom prst="rect">
                <a:avLst/>
              </a:prstGeom>
              <a:blipFill>
                <a:blip r:embed="rId5"/>
                <a:stretch>
                  <a:fillRect l="-381"/>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3F4A29A1-15E1-9F09-042D-B7BE662AAFD0}"/>
                  </a:ext>
                </a:extLst>
              </p:cNvPr>
              <p:cNvSpPr/>
              <p:nvPr/>
            </p:nvSpPr>
            <p:spPr>
              <a:xfrm>
                <a:off x="580710" y="3040326"/>
                <a:ext cx="3200400" cy="45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14:m>
                  <m:oMathPara xmlns:m="http://schemas.openxmlformats.org/officeDocument/2006/math">
                    <m:oMathParaPr>
                      <m:jc m:val="left"/>
                    </m:oMathParaPr>
                    <m:oMath xmlns:m="http://schemas.openxmlformats.org/officeDocument/2006/math">
                      <m:r>
                        <a:rPr lang="en-US" b="1" i="0" smtClean="0">
                          <a:solidFill>
                            <a:srgbClr val="0E47A1"/>
                          </a:solidFill>
                          <a:latin typeface="Cambria Math" panose="02040503050406030204" pitchFamily="18" charset="0"/>
                        </a:rPr>
                        <m:t>𝐒𝐭𝐫𝐢𝐧𝐠𝐬</m:t>
                      </m:r>
                      <m:r>
                        <a:rPr lang="en-US" b="1" i="0" smtClean="0">
                          <a:solidFill>
                            <a:srgbClr val="0E47A1"/>
                          </a:solidFill>
                          <a:latin typeface="Cambria Math" panose="02040503050406030204" pitchFamily="18" charset="0"/>
                        </a:rPr>
                        <m:t>: </m:t>
                      </m:r>
                      <m:r>
                        <a:rPr lang="en-US" b="1" i="0" smtClean="0">
                          <a:solidFill>
                            <a:srgbClr val="0E47A1"/>
                          </a:solidFill>
                          <a:latin typeface="Cambria Math" panose="02040503050406030204" pitchFamily="18" charset="0"/>
                          <a:ea typeface="Cambria Math" panose="02040503050406030204" pitchFamily="18" charset="0"/>
                        </a:rPr>
                        <m:t>𝛜</m:t>
                      </m:r>
                      <m:r>
                        <a:rPr lang="en-US" b="1" i="0" smtClean="0">
                          <a:solidFill>
                            <a:srgbClr val="0E47A1"/>
                          </a:solidFill>
                          <a:latin typeface="Cambria Math" panose="02040503050406030204" pitchFamily="18" charset="0"/>
                          <a:ea typeface="Cambria Math" panose="02040503050406030204" pitchFamily="18" charset="0"/>
                        </a:rPr>
                        <m:t>,</m:t>
                      </m:r>
                      <m:r>
                        <a:rPr lang="en-US" b="1" i="0" smtClean="0">
                          <a:solidFill>
                            <a:srgbClr val="0E47A1"/>
                          </a:solidFill>
                          <a:latin typeface="Cambria Math" panose="02040503050406030204" pitchFamily="18" charset="0"/>
                          <a:ea typeface="Cambria Math" panose="02040503050406030204" pitchFamily="18" charset="0"/>
                        </a:rPr>
                        <m:t>𝐚</m:t>
                      </m:r>
                      <m:r>
                        <a:rPr lang="en-US" b="1" i="0" smtClean="0">
                          <a:solidFill>
                            <a:srgbClr val="0E47A1"/>
                          </a:solidFill>
                          <a:latin typeface="Cambria Math" panose="02040503050406030204" pitchFamily="18" charset="0"/>
                        </a:rPr>
                        <m:t>, </m:t>
                      </m:r>
                      <m:r>
                        <a:rPr lang="en-US" b="1" i="0" smtClean="0">
                          <a:solidFill>
                            <a:srgbClr val="0E47A1"/>
                          </a:solidFill>
                          <a:latin typeface="Cambria Math" panose="02040503050406030204" pitchFamily="18" charset="0"/>
                        </a:rPr>
                        <m:t>𝐚𝐚</m:t>
                      </m:r>
                      <m:r>
                        <a:rPr lang="en-US" b="1" i="0" smtClean="0">
                          <a:solidFill>
                            <a:srgbClr val="0E47A1"/>
                          </a:solidFill>
                          <a:latin typeface="Cambria Math" panose="02040503050406030204" pitchFamily="18" charset="0"/>
                        </a:rPr>
                        <m:t>, </m:t>
                      </m:r>
                      <m:r>
                        <a:rPr lang="en-US" b="1" i="0" smtClean="0">
                          <a:solidFill>
                            <a:srgbClr val="0E47A1"/>
                          </a:solidFill>
                          <a:latin typeface="Cambria Math" panose="02040503050406030204" pitchFamily="18" charset="0"/>
                        </a:rPr>
                        <m:t>𝐚𝐚𝐚</m:t>
                      </m:r>
                      <m:r>
                        <a:rPr lang="en-US" b="1" i="0" smtClean="0">
                          <a:solidFill>
                            <a:srgbClr val="0E47A1"/>
                          </a:solidFill>
                          <a:latin typeface="Cambria Math" panose="02040503050406030204" pitchFamily="18" charset="0"/>
                        </a:rPr>
                        <m:t>, </m:t>
                      </m:r>
                      <m:r>
                        <a:rPr lang="en-US" b="1" i="0" smtClean="0">
                          <a:solidFill>
                            <a:srgbClr val="0E47A1"/>
                          </a:solidFill>
                          <a:latin typeface="Cambria Math" panose="02040503050406030204" pitchFamily="18" charset="0"/>
                        </a:rPr>
                        <m:t>𝐚𝐚𝐚𝐚</m:t>
                      </m:r>
                      <m:r>
                        <a:rPr lang="en-US" b="1" i="0" smtClean="0">
                          <a:solidFill>
                            <a:srgbClr val="0E47A1"/>
                          </a:solidFill>
                          <a:latin typeface="Cambria Math" panose="02040503050406030204" pitchFamily="18" charset="0"/>
                        </a:rPr>
                        <m:t>…..</m:t>
                      </m:r>
                    </m:oMath>
                  </m:oMathPara>
                </a14:m>
                <a:endParaRPr lang="en-US" b="1">
                  <a:solidFill>
                    <a:srgbClr val="0E47A1"/>
                  </a:solidFill>
                  <a:latin typeface="+mj-lt"/>
                </a:endParaRPr>
              </a:p>
            </p:txBody>
          </p:sp>
        </mc:Choice>
        <mc:Fallback xmlns="">
          <p:sp>
            <p:nvSpPr>
              <p:cNvPr id="6" name="Rectangle 5">
                <a:extLst>
                  <a:ext uri="{FF2B5EF4-FFF2-40B4-BE49-F238E27FC236}">
                    <a16:creationId xmlns:a16="http://schemas.microsoft.com/office/drawing/2014/main" id="{3F4A29A1-15E1-9F09-042D-B7BE662AAFD0}"/>
                  </a:ext>
                </a:extLst>
              </p:cNvPr>
              <p:cNvSpPr>
                <a:spLocks noRot="1" noChangeAspect="1" noMove="1" noResize="1" noEditPoints="1" noAdjustHandles="1" noChangeArrowheads="1" noChangeShapeType="1" noTextEdit="1"/>
              </p:cNvSpPr>
              <p:nvPr/>
            </p:nvSpPr>
            <p:spPr>
              <a:xfrm>
                <a:off x="580710" y="3040326"/>
                <a:ext cx="3200400" cy="457200"/>
              </a:xfrm>
              <a:prstGeom prst="rect">
                <a:avLst/>
              </a:prstGeom>
              <a:blipFill>
                <a:blip r:embed="rId6"/>
                <a:stretch>
                  <a:fillRect l="-381"/>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ABCCCCC6-D316-595E-1D9C-C57B1A49A131}"/>
                  </a:ext>
                </a:extLst>
              </p:cNvPr>
              <p:cNvSpPr/>
              <p:nvPr/>
            </p:nvSpPr>
            <p:spPr>
              <a:xfrm>
                <a:off x="580710" y="3854648"/>
                <a:ext cx="3200400" cy="45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14:m>
                  <m:oMathPara xmlns:m="http://schemas.openxmlformats.org/officeDocument/2006/math">
                    <m:oMathParaPr>
                      <m:jc m:val="left"/>
                    </m:oMathParaPr>
                    <m:oMath xmlns:m="http://schemas.openxmlformats.org/officeDocument/2006/math">
                      <m:r>
                        <a:rPr lang="en-US" b="1" i="0" smtClean="0">
                          <a:solidFill>
                            <a:srgbClr val="0E47A1"/>
                          </a:solidFill>
                          <a:latin typeface="Cambria Math" panose="02040503050406030204" pitchFamily="18" charset="0"/>
                        </a:rPr>
                        <m:t>𝐒𝐭𝐫𝐢𝐧𝐠𝐬</m:t>
                      </m:r>
                      <m:r>
                        <a:rPr lang="en-US" b="1" i="0" smtClean="0">
                          <a:solidFill>
                            <a:srgbClr val="0E47A1"/>
                          </a:solidFill>
                          <a:latin typeface="Cambria Math" panose="02040503050406030204" pitchFamily="18" charset="0"/>
                        </a:rPr>
                        <m:t>:</m:t>
                      </m:r>
                      <m:r>
                        <a:rPr lang="en-US" b="1" i="0">
                          <a:solidFill>
                            <a:srgbClr val="0E47A1"/>
                          </a:solidFill>
                          <a:latin typeface="Cambria Math" panose="02040503050406030204" pitchFamily="18" charset="0"/>
                          <a:ea typeface="Cambria Math" panose="02040503050406030204" pitchFamily="18" charset="0"/>
                        </a:rPr>
                        <m:t>𝐚</m:t>
                      </m:r>
                      <m:r>
                        <a:rPr lang="en-US" b="1" i="0">
                          <a:solidFill>
                            <a:srgbClr val="0E47A1"/>
                          </a:solidFill>
                          <a:latin typeface="Cambria Math" panose="02040503050406030204" pitchFamily="18" charset="0"/>
                        </a:rPr>
                        <m:t>, </m:t>
                      </m:r>
                      <m:r>
                        <a:rPr lang="en-US" b="1" i="0">
                          <a:solidFill>
                            <a:srgbClr val="0E47A1"/>
                          </a:solidFill>
                          <a:latin typeface="Cambria Math" panose="02040503050406030204" pitchFamily="18" charset="0"/>
                        </a:rPr>
                        <m:t>𝐚𝐚</m:t>
                      </m:r>
                      <m:r>
                        <a:rPr lang="en-US" b="1" i="0">
                          <a:solidFill>
                            <a:srgbClr val="0E47A1"/>
                          </a:solidFill>
                          <a:latin typeface="Cambria Math" panose="02040503050406030204" pitchFamily="18" charset="0"/>
                        </a:rPr>
                        <m:t>, </m:t>
                      </m:r>
                      <m:r>
                        <a:rPr lang="en-US" b="1" i="0">
                          <a:solidFill>
                            <a:srgbClr val="0E47A1"/>
                          </a:solidFill>
                          <a:latin typeface="Cambria Math" panose="02040503050406030204" pitchFamily="18" charset="0"/>
                        </a:rPr>
                        <m:t>𝐚𝐚𝐚</m:t>
                      </m:r>
                      <m:r>
                        <a:rPr lang="en-US" b="1" i="0">
                          <a:solidFill>
                            <a:srgbClr val="0E47A1"/>
                          </a:solidFill>
                          <a:latin typeface="Cambria Math" panose="02040503050406030204" pitchFamily="18" charset="0"/>
                        </a:rPr>
                        <m:t>, </m:t>
                      </m:r>
                      <m:r>
                        <a:rPr lang="en-US" b="1" i="0">
                          <a:solidFill>
                            <a:srgbClr val="0E47A1"/>
                          </a:solidFill>
                          <a:latin typeface="Cambria Math" panose="02040503050406030204" pitchFamily="18" charset="0"/>
                        </a:rPr>
                        <m:t>𝐚𝐚𝐚𝐚</m:t>
                      </m:r>
                      <m:r>
                        <a:rPr lang="en-US" b="1" i="0">
                          <a:solidFill>
                            <a:srgbClr val="0E47A1"/>
                          </a:solidFill>
                          <a:latin typeface="Cambria Math" panose="02040503050406030204" pitchFamily="18" charset="0"/>
                        </a:rPr>
                        <m:t>…..</m:t>
                      </m:r>
                    </m:oMath>
                  </m:oMathPara>
                </a14:m>
                <a:endParaRPr lang="en-US" b="1">
                  <a:solidFill>
                    <a:srgbClr val="0E47A1"/>
                  </a:solidFill>
                  <a:latin typeface="+mj-lt"/>
                </a:endParaRPr>
              </a:p>
            </p:txBody>
          </p:sp>
        </mc:Choice>
        <mc:Fallback xmlns="">
          <p:sp>
            <p:nvSpPr>
              <p:cNvPr id="7" name="Rectangle 6">
                <a:extLst>
                  <a:ext uri="{FF2B5EF4-FFF2-40B4-BE49-F238E27FC236}">
                    <a16:creationId xmlns:a16="http://schemas.microsoft.com/office/drawing/2014/main" id="{ABCCCCC6-D316-595E-1D9C-C57B1A49A131}"/>
                  </a:ext>
                </a:extLst>
              </p:cNvPr>
              <p:cNvSpPr>
                <a:spLocks noRot="1" noChangeAspect="1" noMove="1" noResize="1" noEditPoints="1" noAdjustHandles="1" noChangeArrowheads="1" noChangeShapeType="1" noTextEdit="1"/>
              </p:cNvSpPr>
              <p:nvPr/>
            </p:nvSpPr>
            <p:spPr>
              <a:xfrm>
                <a:off x="580710" y="3854648"/>
                <a:ext cx="3200400" cy="457200"/>
              </a:xfrm>
              <a:prstGeom prst="rect">
                <a:avLst/>
              </a:prstGeom>
              <a:blipFill>
                <a:blip r:embed="rId7"/>
                <a:stretch>
                  <a:fillRect l="-381" b="-1333"/>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FA42A383-FAED-18A5-D95E-C88A6E2B702A}"/>
                  </a:ext>
                </a:extLst>
              </p:cNvPr>
              <p:cNvSpPr/>
              <p:nvPr/>
            </p:nvSpPr>
            <p:spPr>
              <a:xfrm>
                <a:off x="580710" y="4740065"/>
                <a:ext cx="3200400" cy="45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14:m>
                  <m:oMathPara xmlns:m="http://schemas.openxmlformats.org/officeDocument/2006/math">
                    <m:oMathParaPr>
                      <m:jc m:val="left"/>
                    </m:oMathParaPr>
                    <m:oMath xmlns:m="http://schemas.openxmlformats.org/officeDocument/2006/math">
                      <m:r>
                        <a:rPr lang="en-US" b="1" i="0" smtClean="0">
                          <a:solidFill>
                            <a:srgbClr val="0E47A1"/>
                          </a:solidFill>
                          <a:latin typeface="Cambria Math" panose="02040503050406030204" pitchFamily="18" charset="0"/>
                        </a:rPr>
                        <m:t>𝐒𝐭𝐫𝐢𝐧𝐠𝐬</m:t>
                      </m:r>
                      <m:r>
                        <a:rPr lang="en-US" b="1" i="0" smtClean="0">
                          <a:solidFill>
                            <a:srgbClr val="0E47A1"/>
                          </a:solidFill>
                          <a:latin typeface="Cambria Math" panose="02040503050406030204" pitchFamily="18" charset="0"/>
                        </a:rPr>
                        <m:t>:</m:t>
                      </m:r>
                      <m:r>
                        <a:rPr lang="en-US" b="1" i="0" smtClean="0">
                          <a:solidFill>
                            <a:srgbClr val="0E47A1"/>
                          </a:solidFill>
                          <a:latin typeface="Cambria Math" panose="02040503050406030204" pitchFamily="18" charset="0"/>
                        </a:rPr>
                        <m:t>𝐚𝐛𝐜</m:t>
                      </m:r>
                      <m:r>
                        <a:rPr lang="en-US" b="1" i="0" smtClean="0">
                          <a:solidFill>
                            <a:srgbClr val="0E47A1"/>
                          </a:solidFill>
                          <a:latin typeface="Cambria Math" panose="02040503050406030204" pitchFamily="18" charset="0"/>
                        </a:rPr>
                        <m:t>, </m:t>
                      </m:r>
                      <m:r>
                        <a:rPr lang="en-US" b="1" i="0" smtClean="0">
                          <a:solidFill>
                            <a:srgbClr val="0E47A1"/>
                          </a:solidFill>
                          <a:latin typeface="Cambria Math" panose="02040503050406030204" pitchFamily="18" charset="0"/>
                        </a:rPr>
                        <m:t>𝐛𝐜𝐚</m:t>
                      </m:r>
                      <m:r>
                        <a:rPr lang="en-US" b="1" i="0" smtClean="0">
                          <a:solidFill>
                            <a:srgbClr val="0E47A1"/>
                          </a:solidFill>
                          <a:latin typeface="Cambria Math" panose="02040503050406030204" pitchFamily="18" charset="0"/>
                        </a:rPr>
                        <m:t>, </m:t>
                      </m:r>
                      <m:r>
                        <a:rPr lang="en-US" b="1" i="0" smtClean="0">
                          <a:solidFill>
                            <a:srgbClr val="0E47A1"/>
                          </a:solidFill>
                          <a:latin typeface="Cambria Math" panose="02040503050406030204" pitchFamily="18" charset="0"/>
                        </a:rPr>
                        <m:t>𝐛𝐛𝐛</m:t>
                      </m:r>
                      <m:r>
                        <a:rPr lang="en-US" b="1" i="0" smtClean="0">
                          <a:solidFill>
                            <a:srgbClr val="0E47A1"/>
                          </a:solidFill>
                          <a:latin typeface="Cambria Math" panose="02040503050406030204" pitchFamily="18" charset="0"/>
                        </a:rPr>
                        <m:t>, </m:t>
                      </m:r>
                      <m:r>
                        <a:rPr lang="en-US" b="1" i="0" smtClean="0">
                          <a:solidFill>
                            <a:srgbClr val="0E47A1"/>
                          </a:solidFill>
                          <a:latin typeface="Cambria Math" panose="02040503050406030204" pitchFamily="18" charset="0"/>
                        </a:rPr>
                        <m:t>𝐜𝐚𝐛</m:t>
                      </m:r>
                      <m:r>
                        <a:rPr lang="en-US" b="1" i="0" smtClean="0">
                          <a:solidFill>
                            <a:srgbClr val="0E47A1"/>
                          </a:solidFill>
                          <a:latin typeface="Cambria Math" panose="02040503050406030204" pitchFamily="18" charset="0"/>
                        </a:rPr>
                        <m:t>, </m:t>
                      </m:r>
                      <m:r>
                        <a:rPr lang="en-US" b="1" i="0" smtClean="0">
                          <a:solidFill>
                            <a:srgbClr val="0E47A1"/>
                          </a:solidFill>
                          <a:latin typeface="Cambria Math" panose="02040503050406030204" pitchFamily="18" charset="0"/>
                        </a:rPr>
                        <m:t>𝐚𝐛𝐚</m:t>
                      </m:r>
                      <m:r>
                        <a:rPr lang="en-US" b="1" i="0" smtClean="0">
                          <a:solidFill>
                            <a:srgbClr val="0E47A1"/>
                          </a:solidFill>
                          <a:latin typeface="Cambria Math" panose="02040503050406030204" pitchFamily="18" charset="0"/>
                        </a:rPr>
                        <m:t>….</m:t>
                      </m:r>
                    </m:oMath>
                  </m:oMathPara>
                </a14:m>
                <a:endParaRPr lang="en-US" b="1">
                  <a:solidFill>
                    <a:srgbClr val="0E47A1"/>
                  </a:solidFill>
                  <a:latin typeface="+mj-lt"/>
                </a:endParaRPr>
              </a:p>
            </p:txBody>
          </p:sp>
        </mc:Choice>
        <mc:Fallback xmlns="">
          <p:sp>
            <p:nvSpPr>
              <p:cNvPr id="8" name="Rectangle 7">
                <a:extLst>
                  <a:ext uri="{FF2B5EF4-FFF2-40B4-BE49-F238E27FC236}">
                    <a16:creationId xmlns:a16="http://schemas.microsoft.com/office/drawing/2014/main" id="{FA42A383-FAED-18A5-D95E-C88A6E2B702A}"/>
                  </a:ext>
                </a:extLst>
              </p:cNvPr>
              <p:cNvSpPr>
                <a:spLocks noRot="1" noChangeAspect="1" noMove="1" noResize="1" noEditPoints="1" noAdjustHandles="1" noChangeArrowheads="1" noChangeShapeType="1" noTextEdit="1"/>
              </p:cNvSpPr>
              <p:nvPr/>
            </p:nvSpPr>
            <p:spPr>
              <a:xfrm>
                <a:off x="580710" y="4740065"/>
                <a:ext cx="3200400" cy="457200"/>
              </a:xfrm>
              <a:prstGeom prst="rect">
                <a:avLst/>
              </a:prstGeom>
              <a:blipFill>
                <a:blip r:embed="rId8"/>
                <a:stretch>
                  <a:fillRect l="-381" r="-10667"/>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1F8F8A8B-2BD0-C368-F044-ABFBA288E028}"/>
                  </a:ext>
                </a:extLst>
              </p:cNvPr>
              <p:cNvSpPr/>
              <p:nvPr/>
            </p:nvSpPr>
            <p:spPr>
              <a:xfrm>
                <a:off x="580710" y="5544520"/>
                <a:ext cx="3200400" cy="45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14:m>
                  <m:oMathPara xmlns:m="http://schemas.openxmlformats.org/officeDocument/2006/math">
                    <m:oMathParaPr>
                      <m:jc m:val="left"/>
                    </m:oMathParaPr>
                    <m:oMath xmlns:m="http://schemas.openxmlformats.org/officeDocument/2006/math">
                      <m:r>
                        <a:rPr lang="en-US" b="1" i="0" smtClean="0">
                          <a:solidFill>
                            <a:srgbClr val="0E47A1"/>
                          </a:solidFill>
                          <a:latin typeface="Cambria Math" panose="02040503050406030204" pitchFamily="18" charset="0"/>
                        </a:rPr>
                        <m:t>𝐒𝐭𝐫𝐢𝐧𝐠𝐬</m:t>
                      </m:r>
                      <m:r>
                        <a:rPr lang="en-US" b="1" i="0" smtClean="0">
                          <a:solidFill>
                            <a:srgbClr val="0E47A1"/>
                          </a:solidFill>
                          <a:latin typeface="Cambria Math" panose="02040503050406030204" pitchFamily="18" charset="0"/>
                        </a:rPr>
                        <m:t>: </m:t>
                      </m:r>
                      <m:r>
                        <a:rPr lang="en-US" b="1" i="0" smtClean="0">
                          <a:solidFill>
                            <a:srgbClr val="0E47A1"/>
                          </a:solidFill>
                          <a:latin typeface="Cambria Math" panose="02040503050406030204" pitchFamily="18" charset="0"/>
                        </a:rPr>
                        <m:t>𝟎</m:t>
                      </m:r>
                      <m:r>
                        <a:rPr lang="en-US" b="1" i="0" smtClean="0">
                          <a:solidFill>
                            <a:srgbClr val="0E47A1"/>
                          </a:solidFill>
                          <a:latin typeface="Cambria Math" panose="02040503050406030204" pitchFamily="18" charset="0"/>
                        </a:rPr>
                        <m:t>, </m:t>
                      </m:r>
                      <m:r>
                        <a:rPr lang="en-US" b="1" i="0" smtClean="0">
                          <a:solidFill>
                            <a:srgbClr val="0E47A1"/>
                          </a:solidFill>
                          <a:latin typeface="Cambria Math" panose="02040503050406030204" pitchFamily="18" charset="0"/>
                        </a:rPr>
                        <m:t>𝟏𝟏</m:t>
                      </m:r>
                      <m:r>
                        <a:rPr lang="en-US" b="1" i="0" smtClean="0">
                          <a:solidFill>
                            <a:srgbClr val="0E47A1"/>
                          </a:solidFill>
                          <a:latin typeface="Cambria Math" panose="02040503050406030204" pitchFamily="18" charset="0"/>
                        </a:rPr>
                        <m:t>, </m:t>
                      </m:r>
                      <m:r>
                        <a:rPr lang="en-US" b="1" i="0" smtClean="0">
                          <a:solidFill>
                            <a:srgbClr val="0E47A1"/>
                          </a:solidFill>
                          <a:latin typeface="Cambria Math" panose="02040503050406030204" pitchFamily="18" charset="0"/>
                        </a:rPr>
                        <m:t>𝟏𝟎𝟏</m:t>
                      </m:r>
                      <m:r>
                        <a:rPr lang="en-US" b="1" i="0" smtClean="0">
                          <a:solidFill>
                            <a:srgbClr val="0E47A1"/>
                          </a:solidFill>
                          <a:latin typeface="Cambria Math" panose="02040503050406030204" pitchFamily="18" charset="0"/>
                        </a:rPr>
                        <m:t>, </m:t>
                      </m:r>
                      <m:r>
                        <a:rPr lang="en-US" b="1" i="0" smtClean="0">
                          <a:solidFill>
                            <a:srgbClr val="0E47A1"/>
                          </a:solidFill>
                          <a:latin typeface="Cambria Math" panose="02040503050406030204" pitchFamily="18" charset="0"/>
                        </a:rPr>
                        <m:t>𝟏𝟎𝟏𝟎𝟏</m:t>
                      </m:r>
                      <m:r>
                        <a:rPr lang="en-US" b="1" i="0" smtClean="0">
                          <a:solidFill>
                            <a:srgbClr val="0E47A1"/>
                          </a:solidFill>
                          <a:latin typeface="Cambria Math" panose="02040503050406030204" pitchFamily="18" charset="0"/>
                        </a:rPr>
                        <m:t>, </m:t>
                      </m:r>
                      <m:r>
                        <a:rPr lang="en-US" b="1" i="0" smtClean="0">
                          <a:solidFill>
                            <a:srgbClr val="0E47A1"/>
                          </a:solidFill>
                          <a:latin typeface="Cambria Math" panose="02040503050406030204" pitchFamily="18" charset="0"/>
                        </a:rPr>
                        <m:t>𝟏𝟏𝟏𝟏</m:t>
                      </m:r>
                      <m:r>
                        <a:rPr lang="en-US" b="1" i="0" smtClean="0">
                          <a:solidFill>
                            <a:srgbClr val="0E47A1"/>
                          </a:solidFill>
                          <a:latin typeface="Cambria Math" panose="02040503050406030204" pitchFamily="18" charset="0"/>
                        </a:rPr>
                        <m:t>…</m:t>
                      </m:r>
                    </m:oMath>
                  </m:oMathPara>
                </a14:m>
                <a:endParaRPr lang="en-US" b="1">
                  <a:solidFill>
                    <a:srgbClr val="0E47A1"/>
                  </a:solidFill>
                  <a:latin typeface="+mj-lt"/>
                </a:endParaRPr>
              </a:p>
            </p:txBody>
          </p:sp>
        </mc:Choice>
        <mc:Fallback xmlns="">
          <p:sp>
            <p:nvSpPr>
              <p:cNvPr id="9" name="Rectangle 8">
                <a:extLst>
                  <a:ext uri="{FF2B5EF4-FFF2-40B4-BE49-F238E27FC236}">
                    <a16:creationId xmlns:a16="http://schemas.microsoft.com/office/drawing/2014/main" id="{1F8F8A8B-2BD0-C368-F044-ABFBA288E028}"/>
                  </a:ext>
                </a:extLst>
              </p:cNvPr>
              <p:cNvSpPr>
                <a:spLocks noRot="1" noChangeAspect="1" noMove="1" noResize="1" noEditPoints="1" noAdjustHandles="1" noChangeArrowheads="1" noChangeShapeType="1" noTextEdit="1"/>
              </p:cNvSpPr>
              <p:nvPr/>
            </p:nvSpPr>
            <p:spPr>
              <a:xfrm>
                <a:off x="580710" y="5544520"/>
                <a:ext cx="3200400" cy="457200"/>
              </a:xfrm>
              <a:prstGeom prst="rect">
                <a:avLst/>
              </a:prstGeom>
              <a:blipFill>
                <a:blip r:embed="rId9"/>
                <a:stretch>
                  <a:fillRect l="-381" r="-13333"/>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527E4588-4D85-6AD8-F85F-2E6306605112}"/>
                  </a:ext>
                </a:extLst>
              </p:cNvPr>
              <p:cNvSpPr/>
              <p:nvPr/>
            </p:nvSpPr>
            <p:spPr>
              <a:xfrm>
                <a:off x="3922371" y="2044320"/>
                <a:ext cx="3200400" cy="6085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14:m>
                  <m:oMathPara xmlns:m="http://schemas.openxmlformats.org/officeDocument/2006/math">
                    <m:oMathParaPr>
                      <m:jc m:val="centerGroup"/>
                    </m:oMathParaPr>
                    <m:oMath xmlns:m="http://schemas.openxmlformats.org/officeDocument/2006/math">
                      <m:r>
                        <a:rPr lang="en-US" b="1" i="0" smtClean="0">
                          <a:solidFill>
                            <a:srgbClr val="C00000"/>
                          </a:solidFill>
                          <a:latin typeface="Cambria Math" panose="02040503050406030204" pitchFamily="18" charset="0"/>
                        </a:rPr>
                        <m:t>𝐑</m:t>
                      </m:r>
                      <m:r>
                        <a:rPr lang="en-US" b="1" i="0" smtClean="0">
                          <a:solidFill>
                            <a:srgbClr val="C00000"/>
                          </a:solidFill>
                          <a:latin typeface="Cambria Math" panose="02040503050406030204" pitchFamily="18" charset="0"/>
                        </a:rPr>
                        <m:t>.</m:t>
                      </m:r>
                      <m:r>
                        <a:rPr lang="en-US" b="1" i="0" smtClean="0">
                          <a:solidFill>
                            <a:srgbClr val="C00000"/>
                          </a:solidFill>
                          <a:latin typeface="Cambria Math" panose="02040503050406030204" pitchFamily="18" charset="0"/>
                        </a:rPr>
                        <m:t>𝐄</m:t>
                      </m:r>
                      <m:r>
                        <a:rPr lang="en-US" b="1" i="0" smtClean="0">
                          <a:solidFill>
                            <a:srgbClr val="C00000"/>
                          </a:solidFill>
                          <a:latin typeface="Cambria Math" panose="02040503050406030204" pitchFamily="18" charset="0"/>
                        </a:rPr>
                        <m:t>. =</m:t>
                      </m:r>
                      <m:r>
                        <a:rPr lang="en-US" b="1" i="0" smtClean="0">
                          <a:solidFill>
                            <a:srgbClr val="C00000"/>
                          </a:solidFill>
                          <a:latin typeface="Cambria Math" panose="02040503050406030204" pitchFamily="18" charset="0"/>
                        </a:rPr>
                        <m:t>𝟎</m:t>
                      </m:r>
                      <m:r>
                        <a:rPr lang="en-US" b="1" i="0" smtClean="0">
                          <a:solidFill>
                            <a:srgbClr val="C00000"/>
                          </a:solidFill>
                          <a:latin typeface="Cambria Math" panose="02040503050406030204" pitchFamily="18" charset="0"/>
                        </a:rPr>
                        <m:t> </m:t>
                      </m:r>
                      <m:d>
                        <m:dPr>
                          <m:begChr m:val="|"/>
                          <m:endChr m:val="|"/>
                          <m:ctrlPr>
                            <a:rPr lang="en-US" b="1" i="1" smtClean="0">
                              <a:solidFill>
                                <a:srgbClr val="C00000"/>
                              </a:solidFill>
                              <a:latin typeface="Cambria Math" panose="02040503050406030204" pitchFamily="18" charset="0"/>
                            </a:rPr>
                          </m:ctrlPr>
                        </m:dPr>
                        <m:e>
                          <m:r>
                            <a:rPr lang="en-US" b="1" i="0" smtClean="0">
                              <a:solidFill>
                                <a:srgbClr val="C00000"/>
                              </a:solidFill>
                              <a:latin typeface="Cambria Math" panose="02040503050406030204" pitchFamily="18" charset="0"/>
                            </a:rPr>
                            <m:t> </m:t>
                          </m:r>
                          <m:r>
                            <a:rPr lang="en-US" b="1" i="0" smtClean="0">
                              <a:solidFill>
                                <a:srgbClr val="C00000"/>
                              </a:solidFill>
                              <a:latin typeface="Cambria Math" panose="02040503050406030204" pitchFamily="18" charset="0"/>
                            </a:rPr>
                            <m:t>𝟏𝟏</m:t>
                          </m:r>
                          <m:r>
                            <a:rPr lang="en-US" b="1" i="0" smtClean="0">
                              <a:solidFill>
                                <a:srgbClr val="C00000"/>
                              </a:solidFill>
                              <a:latin typeface="Cambria Math" panose="02040503050406030204" pitchFamily="18" charset="0"/>
                            </a:rPr>
                            <m:t> </m:t>
                          </m:r>
                        </m:e>
                      </m:d>
                      <m:r>
                        <a:rPr lang="en-US" b="1" i="0" smtClean="0">
                          <a:solidFill>
                            <a:srgbClr val="C00000"/>
                          </a:solidFill>
                          <a:latin typeface="Cambria Math" panose="02040503050406030204" pitchFamily="18" charset="0"/>
                        </a:rPr>
                        <m:t> </m:t>
                      </m:r>
                      <m:r>
                        <a:rPr lang="en-US" b="1" i="0" smtClean="0">
                          <a:solidFill>
                            <a:srgbClr val="C00000"/>
                          </a:solidFill>
                          <a:latin typeface="Cambria Math" panose="02040503050406030204" pitchFamily="18" charset="0"/>
                        </a:rPr>
                        <m:t>𝟏𝟏𝟏</m:t>
                      </m:r>
                    </m:oMath>
                  </m:oMathPara>
                </a14:m>
                <a:endParaRPr lang="en-US" b="1">
                  <a:solidFill>
                    <a:srgbClr val="C00000"/>
                  </a:solidFill>
                  <a:latin typeface="+mj-lt"/>
                </a:endParaRPr>
              </a:p>
            </p:txBody>
          </p:sp>
        </mc:Choice>
        <mc:Fallback xmlns="">
          <p:sp>
            <p:nvSpPr>
              <p:cNvPr id="10" name="Rectangle 9">
                <a:extLst>
                  <a:ext uri="{FF2B5EF4-FFF2-40B4-BE49-F238E27FC236}">
                    <a16:creationId xmlns:a16="http://schemas.microsoft.com/office/drawing/2014/main" id="{527E4588-4D85-6AD8-F85F-2E6306605112}"/>
                  </a:ext>
                </a:extLst>
              </p:cNvPr>
              <p:cNvSpPr>
                <a:spLocks noRot="1" noChangeAspect="1" noMove="1" noResize="1" noEditPoints="1" noAdjustHandles="1" noChangeArrowheads="1" noChangeShapeType="1" noTextEdit="1"/>
              </p:cNvSpPr>
              <p:nvPr/>
            </p:nvSpPr>
            <p:spPr>
              <a:xfrm>
                <a:off x="3922371" y="2044320"/>
                <a:ext cx="3200400" cy="608533"/>
              </a:xfrm>
              <a:prstGeom prst="rect">
                <a:avLst/>
              </a:prstGeom>
              <a:blipFill>
                <a:blip r:embed="rId10"/>
                <a:stretch>
                  <a:fillRect/>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D2C77FAC-8D79-06B2-49ED-4049FA6F60DD}"/>
                  </a:ext>
                </a:extLst>
              </p:cNvPr>
              <p:cNvSpPr/>
              <p:nvPr/>
            </p:nvSpPr>
            <p:spPr>
              <a:xfrm>
                <a:off x="3570259" y="1163845"/>
                <a:ext cx="3200400" cy="6085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14:m>
                  <m:oMathPara xmlns:m="http://schemas.openxmlformats.org/officeDocument/2006/math">
                    <m:oMathParaPr>
                      <m:jc m:val="centerGroup"/>
                    </m:oMathParaPr>
                    <m:oMath xmlns:m="http://schemas.openxmlformats.org/officeDocument/2006/math">
                      <m:r>
                        <a:rPr lang="en-US" b="1" i="0" smtClean="0">
                          <a:solidFill>
                            <a:srgbClr val="C00000"/>
                          </a:solidFill>
                          <a:latin typeface="Cambria Math" panose="02040503050406030204" pitchFamily="18" charset="0"/>
                        </a:rPr>
                        <m:t>𝐑</m:t>
                      </m:r>
                      <m:r>
                        <a:rPr lang="en-US" b="1" i="0" smtClean="0">
                          <a:solidFill>
                            <a:srgbClr val="C00000"/>
                          </a:solidFill>
                          <a:latin typeface="Cambria Math" panose="02040503050406030204" pitchFamily="18" charset="0"/>
                        </a:rPr>
                        <m:t>.</m:t>
                      </m:r>
                      <m:r>
                        <a:rPr lang="en-US" b="1" i="0" smtClean="0">
                          <a:solidFill>
                            <a:srgbClr val="C00000"/>
                          </a:solidFill>
                          <a:latin typeface="Cambria Math" panose="02040503050406030204" pitchFamily="18" charset="0"/>
                        </a:rPr>
                        <m:t>𝐄</m:t>
                      </m:r>
                      <m:r>
                        <a:rPr lang="en-US" b="1" i="0" smtClean="0">
                          <a:solidFill>
                            <a:srgbClr val="C00000"/>
                          </a:solidFill>
                          <a:latin typeface="Cambria Math" panose="02040503050406030204" pitchFamily="18" charset="0"/>
                        </a:rPr>
                        <m:t>. =</m:t>
                      </m:r>
                      <m:r>
                        <a:rPr lang="en-US" b="1" i="0" smtClean="0">
                          <a:solidFill>
                            <a:srgbClr val="C00000"/>
                          </a:solidFill>
                          <a:latin typeface="Cambria Math" panose="02040503050406030204" pitchFamily="18" charset="0"/>
                        </a:rPr>
                        <m:t>𝟎</m:t>
                      </m:r>
                      <m:r>
                        <a:rPr lang="en-US" b="1" i="0" smtClean="0">
                          <a:solidFill>
                            <a:srgbClr val="C00000"/>
                          </a:solidFill>
                          <a:latin typeface="Cambria Math" panose="02040503050406030204" pitchFamily="18" charset="0"/>
                        </a:rPr>
                        <m:t> | </m:t>
                      </m:r>
                      <m:r>
                        <a:rPr lang="en-US" b="1" i="0" smtClean="0">
                          <a:solidFill>
                            <a:srgbClr val="C00000"/>
                          </a:solidFill>
                          <a:latin typeface="Cambria Math" panose="02040503050406030204" pitchFamily="18" charset="0"/>
                        </a:rPr>
                        <m:t>𝟏</m:t>
                      </m:r>
                    </m:oMath>
                  </m:oMathPara>
                </a14:m>
                <a:endParaRPr lang="en-US" b="1">
                  <a:solidFill>
                    <a:srgbClr val="C00000"/>
                  </a:solidFill>
                  <a:latin typeface="+mj-lt"/>
                </a:endParaRPr>
              </a:p>
            </p:txBody>
          </p:sp>
        </mc:Choice>
        <mc:Fallback xmlns="">
          <p:sp>
            <p:nvSpPr>
              <p:cNvPr id="11" name="Rectangle 10">
                <a:extLst>
                  <a:ext uri="{FF2B5EF4-FFF2-40B4-BE49-F238E27FC236}">
                    <a16:creationId xmlns:a16="http://schemas.microsoft.com/office/drawing/2014/main" id="{D2C77FAC-8D79-06B2-49ED-4049FA6F60DD}"/>
                  </a:ext>
                </a:extLst>
              </p:cNvPr>
              <p:cNvSpPr>
                <a:spLocks noRot="1" noChangeAspect="1" noMove="1" noResize="1" noEditPoints="1" noAdjustHandles="1" noChangeArrowheads="1" noChangeShapeType="1" noTextEdit="1"/>
              </p:cNvSpPr>
              <p:nvPr/>
            </p:nvSpPr>
            <p:spPr>
              <a:xfrm>
                <a:off x="3570259" y="1163845"/>
                <a:ext cx="3200400" cy="608533"/>
              </a:xfrm>
              <a:prstGeom prst="rect">
                <a:avLst/>
              </a:prstGeom>
              <a:blipFill>
                <a:blip r:embed="rId11"/>
                <a:stretch>
                  <a:fillRect/>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863359F6-B285-3C80-6657-E6EA2D1A4A6C}"/>
                  </a:ext>
                </a:extLst>
              </p:cNvPr>
              <p:cNvSpPr/>
              <p:nvPr/>
            </p:nvSpPr>
            <p:spPr>
              <a:xfrm>
                <a:off x="3489053" y="2902163"/>
                <a:ext cx="3200400" cy="6085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14:m>
                  <m:oMathPara xmlns:m="http://schemas.openxmlformats.org/officeDocument/2006/math">
                    <m:oMathParaPr>
                      <m:jc m:val="centerGroup"/>
                    </m:oMathParaPr>
                    <m:oMath xmlns:m="http://schemas.openxmlformats.org/officeDocument/2006/math">
                      <m:r>
                        <a:rPr lang="en-US" b="1" i="0" smtClean="0">
                          <a:solidFill>
                            <a:srgbClr val="C00000"/>
                          </a:solidFill>
                          <a:latin typeface="Cambria Math" panose="02040503050406030204" pitchFamily="18" charset="0"/>
                        </a:rPr>
                        <m:t>𝐑</m:t>
                      </m:r>
                      <m:r>
                        <a:rPr lang="en-US" b="1" i="0" smtClean="0">
                          <a:solidFill>
                            <a:srgbClr val="C00000"/>
                          </a:solidFill>
                          <a:latin typeface="Cambria Math" panose="02040503050406030204" pitchFamily="18" charset="0"/>
                        </a:rPr>
                        <m:t>.</m:t>
                      </m:r>
                      <m:r>
                        <a:rPr lang="en-US" b="1" i="0" smtClean="0">
                          <a:solidFill>
                            <a:srgbClr val="C00000"/>
                          </a:solidFill>
                          <a:latin typeface="Cambria Math" panose="02040503050406030204" pitchFamily="18" charset="0"/>
                        </a:rPr>
                        <m:t>𝐄</m:t>
                      </m:r>
                      <m:r>
                        <a:rPr lang="en-US" b="1" i="0" smtClean="0">
                          <a:solidFill>
                            <a:srgbClr val="C00000"/>
                          </a:solidFill>
                          <a:latin typeface="Cambria Math" panose="02040503050406030204" pitchFamily="18" charset="0"/>
                        </a:rPr>
                        <m:t>. =</m:t>
                      </m:r>
                      <m:r>
                        <a:rPr lang="en-US" b="1" i="0" smtClean="0">
                          <a:solidFill>
                            <a:srgbClr val="C00000"/>
                          </a:solidFill>
                          <a:latin typeface="Cambria Math" panose="02040503050406030204" pitchFamily="18" charset="0"/>
                        </a:rPr>
                        <m:t>𝐚</m:t>
                      </m:r>
                      <m:r>
                        <a:rPr lang="en-US" b="1" i="0" baseline="30000" smtClean="0">
                          <a:solidFill>
                            <a:srgbClr val="C00000"/>
                          </a:solidFill>
                          <a:latin typeface="Cambria Math" panose="02040503050406030204" pitchFamily="18" charset="0"/>
                        </a:rPr>
                        <m:t>∗</m:t>
                      </m:r>
                    </m:oMath>
                  </m:oMathPara>
                </a14:m>
                <a:endParaRPr lang="en-US" b="1" baseline="30000">
                  <a:solidFill>
                    <a:srgbClr val="C00000"/>
                  </a:solidFill>
                  <a:latin typeface="+mj-lt"/>
                </a:endParaRPr>
              </a:p>
            </p:txBody>
          </p:sp>
        </mc:Choice>
        <mc:Fallback xmlns="">
          <p:sp>
            <p:nvSpPr>
              <p:cNvPr id="12" name="Rectangle 11">
                <a:extLst>
                  <a:ext uri="{FF2B5EF4-FFF2-40B4-BE49-F238E27FC236}">
                    <a16:creationId xmlns:a16="http://schemas.microsoft.com/office/drawing/2014/main" id="{863359F6-B285-3C80-6657-E6EA2D1A4A6C}"/>
                  </a:ext>
                </a:extLst>
              </p:cNvPr>
              <p:cNvSpPr>
                <a:spLocks noRot="1" noChangeAspect="1" noMove="1" noResize="1" noEditPoints="1" noAdjustHandles="1" noChangeArrowheads="1" noChangeShapeType="1" noTextEdit="1"/>
              </p:cNvSpPr>
              <p:nvPr/>
            </p:nvSpPr>
            <p:spPr>
              <a:xfrm>
                <a:off x="3489053" y="2902163"/>
                <a:ext cx="3200400" cy="608533"/>
              </a:xfrm>
              <a:prstGeom prst="rect">
                <a:avLst/>
              </a:prstGeom>
              <a:blipFill>
                <a:blip r:embed="rId12"/>
                <a:stretch>
                  <a:fillRect/>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59D27BE2-ECD8-C607-7792-1D5223194932}"/>
                  </a:ext>
                </a:extLst>
              </p:cNvPr>
              <p:cNvSpPr/>
              <p:nvPr/>
            </p:nvSpPr>
            <p:spPr>
              <a:xfrm>
                <a:off x="3489053" y="3737389"/>
                <a:ext cx="3200400" cy="6085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14:m>
                  <m:oMathPara xmlns:m="http://schemas.openxmlformats.org/officeDocument/2006/math">
                    <m:oMathParaPr>
                      <m:jc m:val="centerGroup"/>
                    </m:oMathParaPr>
                    <m:oMath xmlns:m="http://schemas.openxmlformats.org/officeDocument/2006/math">
                      <m:r>
                        <a:rPr lang="en-US" b="1" i="0" smtClean="0">
                          <a:solidFill>
                            <a:srgbClr val="C00000"/>
                          </a:solidFill>
                          <a:latin typeface="Cambria Math" panose="02040503050406030204" pitchFamily="18" charset="0"/>
                        </a:rPr>
                        <m:t>𝐑</m:t>
                      </m:r>
                      <m:r>
                        <a:rPr lang="en-US" b="1" i="0" smtClean="0">
                          <a:solidFill>
                            <a:srgbClr val="C00000"/>
                          </a:solidFill>
                          <a:latin typeface="Cambria Math" panose="02040503050406030204" pitchFamily="18" charset="0"/>
                        </a:rPr>
                        <m:t>.</m:t>
                      </m:r>
                      <m:r>
                        <a:rPr lang="en-US" b="1" i="0" smtClean="0">
                          <a:solidFill>
                            <a:srgbClr val="C00000"/>
                          </a:solidFill>
                          <a:latin typeface="Cambria Math" panose="02040503050406030204" pitchFamily="18" charset="0"/>
                        </a:rPr>
                        <m:t>𝐄</m:t>
                      </m:r>
                      <m:r>
                        <a:rPr lang="en-US" b="1" i="0" smtClean="0">
                          <a:solidFill>
                            <a:srgbClr val="C00000"/>
                          </a:solidFill>
                          <a:latin typeface="Cambria Math" panose="02040503050406030204" pitchFamily="18" charset="0"/>
                        </a:rPr>
                        <m:t>. =</m:t>
                      </m:r>
                      <m:r>
                        <a:rPr lang="en-US" b="1" i="0" smtClean="0">
                          <a:solidFill>
                            <a:srgbClr val="C00000"/>
                          </a:solidFill>
                          <a:latin typeface="Cambria Math" panose="02040503050406030204" pitchFamily="18" charset="0"/>
                        </a:rPr>
                        <m:t>𝐚</m:t>
                      </m:r>
                      <m:r>
                        <a:rPr lang="en-US" b="1" i="0" baseline="30000" smtClean="0">
                          <a:solidFill>
                            <a:srgbClr val="C00000"/>
                          </a:solidFill>
                          <a:latin typeface="Cambria Math" panose="02040503050406030204" pitchFamily="18" charset="0"/>
                        </a:rPr>
                        <m:t>+</m:t>
                      </m:r>
                    </m:oMath>
                  </m:oMathPara>
                </a14:m>
                <a:endParaRPr lang="en-US" b="1" baseline="30000">
                  <a:solidFill>
                    <a:srgbClr val="C00000"/>
                  </a:solidFill>
                  <a:latin typeface="+mj-lt"/>
                </a:endParaRPr>
              </a:p>
            </p:txBody>
          </p:sp>
        </mc:Choice>
        <mc:Fallback xmlns="">
          <p:sp>
            <p:nvSpPr>
              <p:cNvPr id="13" name="Rectangle 12">
                <a:extLst>
                  <a:ext uri="{FF2B5EF4-FFF2-40B4-BE49-F238E27FC236}">
                    <a16:creationId xmlns:a16="http://schemas.microsoft.com/office/drawing/2014/main" id="{59D27BE2-ECD8-C607-7792-1D5223194932}"/>
                  </a:ext>
                </a:extLst>
              </p:cNvPr>
              <p:cNvSpPr>
                <a:spLocks noRot="1" noChangeAspect="1" noMove="1" noResize="1" noEditPoints="1" noAdjustHandles="1" noChangeArrowheads="1" noChangeShapeType="1" noTextEdit="1"/>
              </p:cNvSpPr>
              <p:nvPr/>
            </p:nvSpPr>
            <p:spPr>
              <a:xfrm>
                <a:off x="3489053" y="3737389"/>
                <a:ext cx="3200400" cy="608533"/>
              </a:xfrm>
              <a:prstGeom prst="rect">
                <a:avLst/>
              </a:prstGeom>
              <a:blipFill>
                <a:blip r:embed="rId13"/>
                <a:stretch>
                  <a:fillRect/>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4" name="Rectangle 13">
                <a:extLst>
                  <a:ext uri="{FF2B5EF4-FFF2-40B4-BE49-F238E27FC236}">
                    <a16:creationId xmlns:a16="http://schemas.microsoft.com/office/drawing/2014/main" id="{04F3E432-F739-8401-519A-744888D2A28C}"/>
                  </a:ext>
                </a:extLst>
              </p:cNvPr>
              <p:cNvSpPr/>
              <p:nvPr/>
            </p:nvSpPr>
            <p:spPr>
              <a:xfrm>
                <a:off x="4495800" y="4691974"/>
                <a:ext cx="3200400" cy="6085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14:m>
                  <m:oMathPara xmlns:m="http://schemas.openxmlformats.org/officeDocument/2006/math">
                    <m:oMathParaPr>
                      <m:jc m:val="centerGroup"/>
                    </m:oMathParaPr>
                    <m:oMath xmlns:m="http://schemas.openxmlformats.org/officeDocument/2006/math">
                      <m:r>
                        <a:rPr lang="en-US" b="1" i="0" smtClean="0">
                          <a:solidFill>
                            <a:srgbClr val="C00000"/>
                          </a:solidFill>
                          <a:latin typeface="Cambria Math" panose="02040503050406030204" pitchFamily="18" charset="0"/>
                        </a:rPr>
                        <m:t>𝐑</m:t>
                      </m:r>
                      <m:r>
                        <a:rPr lang="en-US" b="1" i="0" smtClean="0">
                          <a:solidFill>
                            <a:srgbClr val="C00000"/>
                          </a:solidFill>
                          <a:latin typeface="Cambria Math" panose="02040503050406030204" pitchFamily="18" charset="0"/>
                        </a:rPr>
                        <m:t>.</m:t>
                      </m:r>
                      <m:r>
                        <a:rPr lang="en-US" b="1" i="0" smtClean="0">
                          <a:solidFill>
                            <a:srgbClr val="C00000"/>
                          </a:solidFill>
                          <a:latin typeface="Cambria Math" panose="02040503050406030204" pitchFamily="18" charset="0"/>
                        </a:rPr>
                        <m:t>𝐄</m:t>
                      </m:r>
                      <m:r>
                        <a:rPr lang="en-US" b="1" i="0" smtClean="0">
                          <a:solidFill>
                            <a:srgbClr val="C00000"/>
                          </a:solidFill>
                          <a:latin typeface="Cambria Math" panose="02040503050406030204" pitchFamily="18" charset="0"/>
                        </a:rPr>
                        <m:t>. =</m:t>
                      </m:r>
                      <m:d>
                        <m:dPr>
                          <m:ctrlPr>
                            <a:rPr lang="en-US" b="1" i="1" smtClean="0">
                              <a:solidFill>
                                <a:srgbClr val="C00000"/>
                              </a:solidFill>
                              <a:latin typeface="Cambria Math" panose="02040503050406030204" pitchFamily="18" charset="0"/>
                            </a:rPr>
                          </m:ctrlPr>
                        </m:dPr>
                        <m:e>
                          <m:r>
                            <a:rPr lang="en-US" b="1" i="0" smtClean="0">
                              <a:solidFill>
                                <a:srgbClr val="C00000"/>
                              </a:solidFill>
                              <a:latin typeface="Cambria Math" panose="02040503050406030204" pitchFamily="18" charset="0"/>
                            </a:rPr>
                            <m:t>𝐚</m:t>
                          </m:r>
                          <m:d>
                            <m:dPr>
                              <m:begChr m:val="|"/>
                              <m:endChr m:val="|"/>
                              <m:ctrlPr>
                                <a:rPr lang="en-US" b="1" i="1" smtClean="0">
                                  <a:solidFill>
                                    <a:srgbClr val="C00000"/>
                                  </a:solidFill>
                                  <a:latin typeface="Cambria Math" panose="02040503050406030204" pitchFamily="18" charset="0"/>
                                </a:rPr>
                              </m:ctrlPr>
                            </m:dPr>
                            <m:e>
                              <m:r>
                                <a:rPr lang="en-US" b="1" i="0" smtClean="0">
                                  <a:solidFill>
                                    <a:srgbClr val="C00000"/>
                                  </a:solidFill>
                                  <a:latin typeface="Cambria Math" panose="02040503050406030204" pitchFamily="18" charset="0"/>
                                </a:rPr>
                                <m:t>𝐛</m:t>
                              </m:r>
                            </m:e>
                          </m:d>
                          <m:r>
                            <a:rPr lang="en-US" b="1" i="0" smtClean="0">
                              <a:solidFill>
                                <a:srgbClr val="C00000"/>
                              </a:solidFill>
                              <a:latin typeface="Cambria Math" panose="02040503050406030204" pitchFamily="18" charset="0"/>
                            </a:rPr>
                            <m:t>𝐜</m:t>
                          </m:r>
                        </m:e>
                      </m:d>
                      <m:r>
                        <a:rPr lang="en-US" b="1" i="0" smtClean="0">
                          <a:solidFill>
                            <a:srgbClr val="C00000"/>
                          </a:solidFill>
                          <a:latin typeface="Cambria Math" panose="02040503050406030204" pitchFamily="18" charset="0"/>
                        </a:rPr>
                        <m:t> </m:t>
                      </m:r>
                      <m:d>
                        <m:dPr>
                          <m:ctrlPr>
                            <a:rPr lang="en-US" b="1" i="1" smtClean="0">
                              <a:solidFill>
                                <a:srgbClr val="C00000"/>
                              </a:solidFill>
                              <a:latin typeface="Cambria Math" panose="02040503050406030204" pitchFamily="18" charset="0"/>
                            </a:rPr>
                          </m:ctrlPr>
                        </m:dPr>
                        <m:e>
                          <m:r>
                            <a:rPr lang="en-US" b="1" i="0" smtClean="0">
                              <a:solidFill>
                                <a:srgbClr val="C00000"/>
                              </a:solidFill>
                              <a:latin typeface="Cambria Math" panose="02040503050406030204" pitchFamily="18" charset="0"/>
                            </a:rPr>
                            <m:t>𝐚</m:t>
                          </m:r>
                          <m:d>
                            <m:dPr>
                              <m:begChr m:val="|"/>
                              <m:endChr m:val="|"/>
                              <m:ctrlPr>
                                <a:rPr lang="en-US" b="1" i="1" smtClean="0">
                                  <a:solidFill>
                                    <a:srgbClr val="C00000"/>
                                  </a:solidFill>
                                  <a:latin typeface="Cambria Math" panose="02040503050406030204" pitchFamily="18" charset="0"/>
                                </a:rPr>
                              </m:ctrlPr>
                            </m:dPr>
                            <m:e>
                              <m:r>
                                <a:rPr lang="en-US" b="1" i="0" smtClean="0">
                                  <a:solidFill>
                                    <a:srgbClr val="C00000"/>
                                  </a:solidFill>
                                  <a:latin typeface="Cambria Math" panose="02040503050406030204" pitchFamily="18" charset="0"/>
                                </a:rPr>
                                <m:t>𝐛</m:t>
                              </m:r>
                            </m:e>
                          </m:d>
                          <m:r>
                            <a:rPr lang="en-US" b="1" i="0" smtClean="0">
                              <a:solidFill>
                                <a:srgbClr val="C00000"/>
                              </a:solidFill>
                              <a:latin typeface="Cambria Math" panose="02040503050406030204" pitchFamily="18" charset="0"/>
                            </a:rPr>
                            <m:t>𝐜</m:t>
                          </m:r>
                        </m:e>
                      </m:d>
                      <m:r>
                        <a:rPr lang="en-US" b="1" i="0" smtClean="0">
                          <a:solidFill>
                            <a:srgbClr val="C00000"/>
                          </a:solidFill>
                          <a:latin typeface="Cambria Math" panose="02040503050406030204" pitchFamily="18" charset="0"/>
                        </a:rPr>
                        <m:t> (</m:t>
                      </m:r>
                      <m:r>
                        <a:rPr lang="en-US" b="1" i="0" smtClean="0">
                          <a:solidFill>
                            <a:srgbClr val="C00000"/>
                          </a:solidFill>
                          <a:latin typeface="Cambria Math" panose="02040503050406030204" pitchFamily="18" charset="0"/>
                        </a:rPr>
                        <m:t>𝐚</m:t>
                      </m:r>
                      <m:d>
                        <m:dPr>
                          <m:begChr m:val="|"/>
                          <m:endChr m:val="|"/>
                          <m:ctrlPr>
                            <a:rPr lang="en-US" b="1" i="1" smtClean="0">
                              <a:solidFill>
                                <a:srgbClr val="C00000"/>
                              </a:solidFill>
                              <a:latin typeface="Cambria Math" panose="02040503050406030204" pitchFamily="18" charset="0"/>
                            </a:rPr>
                          </m:ctrlPr>
                        </m:dPr>
                        <m:e>
                          <m:r>
                            <a:rPr lang="en-US" b="1" i="0" smtClean="0">
                              <a:solidFill>
                                <a:srgbClr val="C00000"/>
                              </a:solidFill>
                              <a:latin typeface="Cambria Math" panose="02040503050406030204" pitchFamily="18" charset="0"/>
                            </a:rPr>
                            <m:t>𝐛</m:t>
                          </m:r>
                        </m:e>
                      </m:d>
                      <m:r>
                        <a:rPr lang="en-US" b="1" i="0" smtClean="0">
                          <a:solidFill>
                            <a:srgbClr val="C00000"/>
                          </a:solidFill>
                          <a:latin typeface="Cambria Math" panose="02040503050406030204" pitchFamily="18" charset="0"/>
                        </a:rPr>
                        <m:t>𝐜</m:t>
                      </m:r>
                      <m:r>
                        <a:rPr lang="en-US" b="1" i="0" smtClean="0">
                          <a:solidFill>
                            <a:srgbClr val="C00000"/>
                          </a:solidFill>
                          <a:latin typeface="Cambria Math" panose="02040503050406030204" pitchFamily="18" charset="0"/>
                        </a:rPr>
                        <m:t>)</m:t>
                      </m:r>
                    </m:oMath>
                  </m:oMathPara>
                </a14:m>
                <a:endParaRPr lang="en-US" b="1">
                  <a:solidFill>
                    <a:srgbClr val="C00000"/>
                  </a:solidFill>
                  <a:latin typeface="+mj-lt"/>
                </a:endParaRPr>
              </a:p>
            </p:txBody>
          </p:sp>
        </mc:Choice>
        <mc:Fallback xmlns="">
          <p:sp>
            <p:nvSpPr>
              <p:cNvPr id="14" name="Rectangle 13">
                <a:extLst>
                  <a:ext uri="{FF2B5EF4-FFF2-40B4-BE49-F238E27FC236}">
                    <a16:creationId xmlns:a16="http://schemas.microsoft.com/office/drawing/2014/main" id="{04F3E432-F739-8401-519A-744888D2A28C}"/>
                  </a:ext>
                </a:extLst>
              </p:cNvPr>
              <p:cNvSpPr>
                <a:spLocks noRot="1" noChangeAspect="1" noMove="1" noResize="1" noEditPoints="1" noAdjustHandles="1" noChangeArrowheads="1" noChangeShapeType="1" noTextEdit="1"/>
              </p:cNvSpPr>
              <p:nvPr/>
            </p:nvSpPr>
            <p:spPr>
              <a:xfrm>
                <a:off x="4495800" y="4691974"/>
                <a:ext cx="3200400" cy="608533"/>
              </a:xfrm>
              <a:prstGeom prst="rect">
                <a:avLst/>
              </a:prstGeom>
              <a:blipFill>
                <a:blip r:embed="rId14"/>
                <a:stretch>
                  <a:fillRect/>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B6106BA0-B08E-B2A1-3C72-43189373968B}"/>
                  </a:ext>
                </a:extLst>
              </p:cNvPr>
              <p:cNvSpPr/>
              <p:nvPr/>
            </p:nvSpPr>
            <p:spPr>
              <a:xfrm>
                <a:off x="4495800" y="5468853"/>
                <a:ext cx="3200400" cy="6085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14:m>
                  <m:oMath xmlns:m="http://schemas.openxmlformats.org/officeDocument/2006/math">
                    <m:r>
                      <a:rPr lang="en-US" b="1" i="0" smtClean="0">
                        <a:solidFill>
                          <a:srgbClr val="C00000"/>
                        </a:solidFill>
                        <a:latin typeface="Cambria Math" panose="02040503050406030204" pitchFamily="18" charset="0"/>
                      </a:rPr>
                      <m:t>𝐑</m:t>
                    </m:r>
                    <m:r>
                      <a:rPr lang="en-US" b="1" i="0" smtClean="0">
                        <a:solidFill>
                          <a:srgbClr val="C00000"/>
                        </a:solidFill>
                        <a:latin typeface="Cambria Math" panose="02040503050406030204" pitchFamily="18" charset="0"/>
                      </a:rPr>
                      <m:t>.</m:t>
                    </m:r>
                    <m:r>
                      <a:rPr lang="en-US" b="1" i="0" smtClean="0">
                        <a:solidFill>
                          <a:srgbClr val="C00000"/>
                        </a:solidFill>
                        <a:latin typeface="Cambria Math" panose="02040503050406030204" pitchFamily="18" charset="0"/>
                      </a:rPr>
                      <m:t>𝐄</m:t>
                    </m:r>
                    <m:r>
                      <a:rPr lang="en-US" b="1" i="0" smtClean="0">
                        <a:solidFill>
                          <a:srgbClr val="C00000"/>
                        </a:solidFill>
                        <a:latin typeface="Cambria Math" panose="02040503050406030204" pitchFamily="18" charset="0"/>
                      </a:rPr>
                      <m:t>. =(</m:t>
                    </m:r>
                    <m:r>
                      <a:rPr lang="en-US" b="1" i="0" smtClean="0">
                        <a:solidFill>
                          <a:srgbClr val="C00000"/>
                        </a:solidFill>
                        <a:latin typeface="Cambria Math" panose="02040503050406030204" pitchFamily="18" charset="0"/>
                      </a:rPr>
                      <m:t>𝟎</m:t>
                    </m:r>
                    <m:r>
                      <a:rPr lang="en-US" b="1" i="0" smtClean="0">
                        <a:solidFill>
                          <a:srgbClr val="C00000"/>
                        </a:solidFill>
                        <a:latin typeface="Cambria Math" panose="02040503050406030204" pitchFamily="18" charset="0"/>
                      </a:rPr>
                      <m:t> | </m:t>
                    </m:r>
                    <m:r>
                      <a:rPr lang="en-US" b="1" i="0" smtClean="0">
                        <a:solidFill>
                          <a:srgbClr val="C00000"/>
                        </a:solidFill>
                        <a:latin typeface="Cambria Math" panose="02040503050406030204" pitchFamily="18" charset="0"/>
                      </a:rPr>
                      <m:t>𝟏</m:t>
                    </m:r>
                    <m:r>
                      <a:rPr lang="en-US" b="1" i="0" smtClean="0">
                        <a:solidFill>
                          <a:srgbClr val="C00000"/>
                        </a:solidFill>
                        <a:latin typeface="Cambria Math" panose="02040503050406030204" pitchFamily="18" charset="0"/>
                      </a:rPr>
                      <m:t>)</m:t>
                    </m:r>
                  </m:oMath>
                </a14:m>
                <a:r>
                  <a:rPr lang="en-US" b="1" baseline="30000">
                    <a:solidFill>
                      <a:srgbClr val="C00000"/>
                    </a:solidFill>
                    <a:latin typeface="+mj-lt"/>
                  </a:rPr>
                  <a:t>+</a:t>
                </a:r>
              </a:p>
            </p:txBody>
          </p:sp>
        </mc:Choice>
        <mc:Fallback xmlns="">
          <p:sp>
            <p:nvSpPr>
              <p:cNvPr id="15" name="Rectangle 14">
                <a:extLst>
                  <a:ext uri="{FF2B5EF4-FFF2-40B4-BE49-F238E27FC236}">
                    <a16:creationId xmlns:a16="http://schemas.microsoft.com/office/drawing/2014/main" id="{B6106BA0-B08E-B2A1-3C72-43189373968B}"/>
                  </a:ext>
                </a:extLst>
              </p:cNvPr>
              <p:cNvSpPr>
                <a:spLocks noRot="1" noChangeAspect="1" noMove="1" noResize="1" noEditPoints="1" noAdjustHandles="1" noChangeArrowheads="1" noChangeShapeType="1" noTextEdit="1"/>
              </p:cNvSpPr>
              <p:nvPr/>
            </p:nvSpPr>
            <p:spPr>
              <a:xfrm>
                <a:off x="4495800" y="5468853"/>
                <a:ext cx="3200400" cy="608533"/>
              </a:xfrm>
              <a:prstGeom prst="rect">
                <a:avLst/>
              </a:prstGeom>
              <a:blipFill>
                <a:blip r:embed="rId15"/>
                <a:stretch>
                  <a:fillRect/>
                </a:stretch>
              </a:blipFill>
              <a:ln>
                <a:noFill/>
              </a:ln>
            </p:spPr>
            <p:txBody>
              <a:bodyPr/>
              <a:lstStyle/>
              <a:p>
                <a:r>
                  <a:rPr lang="en-IN">
                    <a:noFill/>
                  </a:rPr>
                  <a:t> </a:t>
                </a:r>
              </a:p>
            </p:txBody>
          </p:sp>
        </mc:Fallback>
      </mc:AlternateContent>
    </p:spTree>
    <p:extLst>
      <p:ext uri="{BB962C8B-B14F-4D97-AF65-F5344CB8AC3E}">
        <p14:creationId xmlns:p14="http://schemas.microsoft.com/office/powerpoint/2010/main" val="16550913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dur="1"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dur="50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wipe(left)">
                                      <p:cBhvr>
                                        <p:cTn id="11" dur="500"/>
                                        <p:tgtEl>
                                          <p:spTgt spid="4"/>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dur="500" fill="hold" grpId="0" nodeType="click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wipe(left)">
                                      <p:cBhvr>
                                        <p:cTn id="16" dur="50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dur="1"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22" presetClass="entr" presetSubtype="8" dur="500"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wipe(left)">
                                      <p:cBhvr>
                                        <p:cTn id="25" dur="500"/>
                                        <p:tgtEl>
                                          <p:spTgt spid="5"/>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dur="500" fill="hold" grpId="0" nodeType="click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wipe(left)">
                                      <p:cBhvr>
                                        <p:cTn id="30" dur="500"/>
                                        <p:tgtEl>
                                          <p:spTgt spid="10"/>
                                        </p:tgtEl>
                                      </p:cBhvr>
                                    </p:animEffect>
                                  </p:childTnLst>
                                </p:cTn>
                              </p:par>
                            </p:childTnLst>
                          </p:cTn>
                        </p:par>
                      </p:childTnLst>
                    </p:cTn>
                  </p:par>
                  <p:par>
                    <p:cTn id="31" fill="hold">
                      <p:stCondLst>
                        <p:cond delay="indefinite"/>
                      </p:stCondLst>
                      <p:childTnLst>
                        <p:par>
                          <p:cTn id="32" fill="hold">
                            <p:stCondLst>
                              <p:cond delay="0"/>
                            </p:stCondLst>
                            <p:childTnLst>
                              <p:par>
                                <p:cTn id="33" presetID="1" presetClass="entr" presetSubtype="0" dur="1" fill="hold"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22" presetClass="entr" presetSubtype="8" dur="500" fill="hold" grpId="0" nodeType="clickEffect">
                                  <p:stCondLst>
                                    <p:cond delay="0"/>
                                  </p:stCondLst>
                                  <p:childTnLst>
                                    <p:set>
                                      <p:cBhvr>
                                        <p:cTn id="38" dur="1" fill="hold">
                                          <p:stCondLst>
                                            <p:cond delay="0"/>
                                          </p:stCondLst>
                                        </p:cTn>
                                        <p:tgtEl>
                                          <p:spTgt spid="6"/>
                                        </p:tgtEl>
                                        <p:attrNameLst>
                                          <p:attrName>style.visibility</p:attrName>
                                        </p:attrNameLst>
                                      </p:cBhvr>
                                      <p:to>
                                        <p:strVal val="visible"/>
                                      </p:to>
                                    </p:set>
                                    <p:animEffect transition="in" filter="wipe(left)">
                                      <p:cBhvr>
                                        <p:cTn id="39" dur="500"/>
                                        <p:tgtEl>
                                          <p:spTgt spid="6"/>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dur="500" fill="hold" grpId="0" nodeType="click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wipe(left)">
                                      <p:cBhvr>
                                        <p:cTn id="44" dur="500"/>
                                        <p:tgtEl>
                                          <p:spTgt spid="12"/>
                                        </p:tgtEl>
                                      </p:cBhvr>
                                    </p:animEffect>
                                  </p:childTnLst>
                                </p:cTn>
                              </p:par>
                            </p:childTnLst>
                          </p:cTn>
                        </p:par>
                      </p:childTnLst>
                    </p:cTn>
                  </p:par>
                  <p:par>
                    <p:cTn id="45" fill="hold">
                      <p:stCondLst>
                        <p:cond delay="indefinite"/>
                      </p:stCondLst>
                      <p:childTnLst>
                        <p:par>
                          <p:cTn id="46" fill="hold">
                            <p:stCondLst>
                              <p:cond delay="0"/>
                            </p:stCondLst>
                            <p:childTnLst>
                              <p:par>
                                <p:cTn id="47" presetID="1" presetClass="entr" presetSubtype="0" dur="1" fill="hold"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22" presetClass="entr" presetSubtype="8" dur="500" fill="hold" grpId="0" nodeType="clickEffect">
                                  <p:stCondLst>
                                    <p:cond delay="0"/>
                                  </p:stCondLst>
                                  <p:childTnLst>
                                    <p:set>
                                      <p:cBhvr>
                                        <p:cTn id="52" dur="1" fill="hold">
                                          <p:stCondLst>
                                            <p:cond delay="0"/>
                                          </p:stCondLst>
                                        </p:cTn>
                                        <p:tgtEl>
                                          <p:spTgt spid="7"/>
                                        </p:tgtEl>
                                        <p:attrNameLst>
                                          <p:attrName>style.visibility</p:attrName>
                                        </p:attrNameLst>
                                      </p:cBhvr>
                                      <p:to>
                                        <p:strVal val="visible"/>
                                      </p:to>
                                    </p:set>
                                    <p:animEffect transition="in" filter="wipe(left)">
                                      <p:cBhvr>
                                        <p:cTn id="53" dur="500"/>
                                        <p:tgtEl>
                                          <p:spTgt spid="7"/>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dur="500" fill="hold" grpId="0" nodeType="clickEffect">
                                  <p:stCondLst>
                                    <p:cond delay="0"/>
                                  </p:stCondLst>
                                  <p:childTnLst>
                                    <p:set>
                                      <p:cBhvr>
                                        <p:cTn id="57" dur="1" fill="hold">
                                          <p:stCondLst>
                                            <p:cond delay="0"/>
                                          </p:stCondLst>
                                        </p:cTn>
                                        <p:tgtEl>
                                          <p:spTgt spid="13"/>
                                        </p:tgtEl>
                                        <p:attrNameLst>
                                          <p:attrName>style.visibility</p:attrName>
                                        </p:attrNameLst>
                                      </p:cBhvr>
                                      <p:to>
                                        <p:strVal val="visible"/>
                                      </p:to>
                                    </p:set>
                                    <p:animEffect transition="in" filter="wipe(left)">
                                      <p:cBhvr>
                                        <p:cTn id="58" dur="500"/>
                                        <p:tgtEl>
                                          <p:spTgt spid="13"/>
                                        </p:tgtEl>
                                      </p:cBhvr>
                                    </p:animEffect>
                                  </p:childTnLst>
                                </p:cTn>
                              </p:par>
                            </p:childTnLst>
                          </p:cTn>
                        </p:par>
                      </p:childTnLst>
                    </p:cTn>
                  </p:par>
                  <p:par>
                    <p:cTn id="59" fill="hold">
                      <p:stCondLst>
                        <p:cond delay="indefinite"/>
                      </p:stCondLst>
                      <p:childTnLst>
                        <p:par>
                          <p:cTn id="60" fill="hold">
                            <p:stCondLst>
                              <p:cond delay="0"/>
                            </p:stCondLst>
                            <p:childTnLst>
                              <p:par>
                                <p:cTn id="61" presetID="1" presetClass="entr" presetSubtype="0" dur="1" fill="hold" nodeType="clickEffect">
                                  <p:stCondLst>
                                    <p:cond delay="0"/>
                                  </p:stCondLst>
                                  <p:childTnLst>
                                    <p:set>
                                      <p:cBhvr>
                                        <p:cTn id="6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22" presetClass="entr" presetSubtype="8" dur="500" fill="hold" grpId="0" nodeType="clickEffect">
                                  <p:stCondLst>
                                    <p:cond delay="0"/>
                                  </p:stCondLst>
                                  <p:childTnLst>
                                    <p:set>
                                      <p:cBhvr>
                                        <p:cTn id="66" dur="1" fill="hold">
                                          <p:stCondLst>
                                            <p:cond delay="0"/>
                                          </p:stCondLst>
                                        </p:cTn>
                                        <p:tgtEl>
                                          <p:spTgt spid="8"/>
                                        </p:tgtEl>
                                        <p:attrNameLst>
                                          <p:attrName>style.visibility</p:attrName>
                                        </p:attrNameLst>
                                      </p:cBhvr>
                                      <p:to>
                                        <p:strVal val="visible"/>
                                      </p:to>
                                    </p:set>
                                    <p:animEffect transition="in" filter="wipe(left)">
                                      <p:cBhvr>
                                        <p:cTn id="67" dur="500"/>
                                        <p:tgtEl>
                                          <p:spTgt spid="8"/>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dur="500" fill="hold" grpId="0" nodeType="clickEffect">
                                  <p:stCondLst>
                                    <p:cond delay="0"/>
                                  </p:stCondLst>
                                  <p:childTnLst>
                                    <p:set>
                                      <p:cBhvr>
                                        <p:cTn id="71" dur="1" fill="hold">
                                          <p:stCondLst>
                                            <p:cond delay="0"/>
                                          </p:stCondLst>
                                        </p:cTn>
                                        <p:tgtEl>
                                          <p:spTgt spid="14"/>
                                        </p:tgtEl>
                                        <p:attrNameLst>
                                          <p:attrName>style.visibility</p:attrName>
                                        </p:attrNameLst>
                                      </p:cBhvr>
                                      <p:to>
                                        <p:strVal val="visible"/>
                                      </p:to>
                                    </p:set>
                                    <p:animEffect transition="in" filter="wipe(left)">
                                      <p:cBhvr>
                                        <p:cTn id="72" dur="500"/>
                                        <p:tgtEl>
                                          <p:spTgt spid="14"/>
                                        </p:tgtEl>
                                      </p:cBhvr>
                                    </p:animEffect>
                                  </p:childTnLst>
                                </p:cTn>
                              </p:par>
                            </p:childTnLst>
                          </p:cTn>
                        </p:par>
                      </p:childTnLst>
                    </p:cTn>
                  </p:par>
                  <p:par>
                    <p:cTn id="73" fill="hold">
                      <p:stCondLst>
                        <p:cond delay="indefinite"/>
                      </p:stCondLst>
                      <p:childTnLst>
                        <p:par>
                          <p:cTn id="74" fill="hold">
                            <p:stCondLst>
                              <p:cond delay="0"/>
                            </p:stCondLst>
                            <p:childTnLst>
                              <p:par>
                                <p:cTn id="75" presetID="1" presetClass="entr" presetSubtype="0" dur="1" fill="hold" nodeType="clickEffect">
                                  <p:stCondLst>
                                    <p:cond delay="0"/>
                                  </p:stCondLst>
                                  <p:childTnLst>
                                    <p:set>
                                      <p:cBhvr>
                                        <p:cTn id="7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22" presetClass="entr" presetSubtype="8" dur="500" fill="hold" grpId="0" nodeType="clickEffect">
                                  <p:stCondLst>
                                    <p:cond delay="0"/>
                                  </p:stCondLst>
                                  <p:childTnLst>
                                    <p:set>
                                      <p:cBhvr>
                                        <p:cTn id="80" dur="1" fill="hold">
                                          <p:stCondLst>
                                            <p:cond delay="0"/>
                                          </p:stCondLst>
                                        </p:cTn>
                                        <p:tgtEl>
                                          <p:spTgt spid="9"/>
                                        </p:tgtEl>
                                        <p:attrNameLst>
                                          <p:attrName>style.visibility</p:attrName>
                                        </p:attrNameLst>
                                      </p:cBhvr>
                                      <p:to>
                                        <p:strVal val="visible"/>
                                      </p:to>
                                    </p:set>
                                    <p:animEffect transition="in" filter="wipe(left)">
                                      <p:cBhvr>
                                        <p:cTn id="81" dur="500"/>
                                        <p:tgtEl>
                                          <p:spTgt spid="9"/>
                                        </p:tgtEl>
                                      </p:cBhvr>
                                    </p:animEffect>
                                  </p:childTnLst>
                                </p:cTn>
                              </p:par>
                            </p:childTnLst>
                          </p:cTn>
                        </p:par>
                      </p:childTnLst>
                    </p:cTn>
                  </p:par>
                  <p:par>
                    <p:cTn id="82" fill="hold">
                      <p:stCondLst>
                        <p:cond delay="indefinite"/>
                      </p:stCondLst>
                      <p:childTnLst>
                        <p:par>
                          <p:cTn id="83" fill="hold">
                            <p:stCondLst>
                              <p:cond delay="0"/>
                            </p:stCondLst>
                            <p:childTnLst>
                              <p:par>
                                <p:cTn id="84" presetID="22" presetClass="entr" presetSubtype="8" dur="500" fill="hold" grpId="0" nodeType="clickEffect">
                                  <p:stCondLst>
                                    <p:cond delay="0"/>
                                  </p:stCondLst>
                                  <p:childTnLst>
                                    <p:set>
                                      <p:cBhvr>
                                        <p:cTn id="85" dur="1" fill="hold">
                                          <p:stCondLst>
                                            <p:cond delay="0"/>
                                          </p:stCondLst>
                                        </p:cTn>
                                        <p:tgtEl>
                                          <p:spTgt spid="15"/>
                                        </p:tgtEl>
                                        <p:attrNameLst>
                                          <p:attrName>style.visibility</p:attrName>
                                        </p:attrNameLst>
                                      </p:cBhvr>
                                      <p:to>
                                        <p:strVal val="visible"/>
                                      </p:to>
                                    </p:set>
                                    <p:animEffect transition="in" filter="wipe(left)">
                                      <p:cBhvr>
                                        <p:cTn id="86"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9" grpId="0"/>
      <p:bldP spid="10" grpId="0"/>
      <p:bldP spid="11" grpId="0"/>
      <p:bldP spid="12" grpId="0"/>
      <p:bldP spid="13" grpId="0"/>
      <p:bldP spid="14" grpId="0"/>
      <p:bldP spid="15"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6A0029-A919-9F6A-6AAD-B2487695F258}"/>
              </a:ext>
            </a:extLst>
          </p:cNvPr>
          <p:cNvSpPr txBox="1">
            <a:spLocks/>
          </p:cNvSpPr>
          <p:nvPr/>
        </p:nvSpPr>
        <p:spPr>
          <a:xfrm>
            <a:off x="0" y="1"/>
            <a:ext cx="12192000" cy="711200"/>
          </a:xfrm>
          <a:prstGeom prst="rect">
            <a:avLst/>
          </a:prstGeom>
        </p:spPr>
        <p:txBody>
          <a:bodyPr/>
          <a:lstStyle>
            <a:lvl1pPr algn="l" defTabSz="914400" rtl="0" eaLnBrk="1" latinLnBrk="0" hangingPunct="1">
              <a:lnSpc>
                <a:spcPct val="90000"/>
              </a:lnSpc>
              <a:spcBef>
                <a:spcPct val="0"/>
              </a:spcBef>
              <a:buNone/>
              <a:defRPr sz="4400" kern="1200">
                <a:solidFill>
                  <a:srgbClr val="C00000"/>
                </a:solidFill>
                <a:latin typeface="Palatino Linotype" panose="02040502050505030304" pitchFamily="18" charset="0"/>
                <a:ea typeface="+mj-ea"/>
                <a:cs typeface="+mj-cs"/>
              </a:defRPr>
            </a:lvl1pPr>
          </a:lstStyle>
          <a:p>
            <a:r>
              <a:rPr lang="en-US"/>
              <a:t>Regular expression examples</a:t>
            </a:r>
          </a:p>
        </p:txBody>
      </p:sp>
      <p:sp>
        <p:nvSpPr>
          <p:cNvPr id="3" name="Content Placeholder 2">
            <a:extLst>
              <a:ext uri="{FF2B5EF4-FFF2-40B4-BE49-F238E27FC236}">
                <a16:creationId xmlns:a16="http://schemas.microsoft.com/office/drawing/2014/main" id="{E61CFC80-F59D-C88C-2139-11218CAFBBBB}"/>
              </a:ext>
            </a:extLst>
          </p:cNvPr>
          <p:cNvSpPr txBox="1">
            <a:spLocks/>
          </p:cNvSpPr>
          <p:nvPr/>
        </p:nvSpPr>
        <p:spPr>
          <a:xfrm>
            <a:off x="131180" y="863444"/>
            <a:ext cx="11929641" cy="5590565"/>
          </a:xfrm>
          <a:prstGeom prst="rect">
            <a:avLst/>
          </a:prstGeom>
        </p:spPr>
        <p:txBody>
          <a:bodyPr/>
          <a:lstStyle>
            <a:lvl1pPr marL="228600" indent="-228600" algn="just"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Palatino Linotype" panose="02040502050505030304" pitchFamily="18" charset="0"/>
                <a:ea typeface="+mn-ea"/>
                <a:cs typeface="+mn-cs"/>
              </a:defRPr>
            </a:lvl1pPr>
            <a:lvl2pPr marL="685800" indent="-228600" algn="just"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Palatino Linotype" panose="02040502050505030304" pitchFamily="18" charset="0"/>
                <a:ea typeface="+mn-ea"/>
                <a:cs typeface="+mn-cs"/>
              </a:defRPr>
            </a:lvl2pPr>
            <a:lvl3pPr marL="1143000" indent="-228600" algn="just"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Palatino Linotype" panose="02040502050505030304" pitchFamily="18" charset="0"/>
                <a:ea typeface="+mn-ea"/>
                <a:cs typeface="+mn-cs"/>
              </a:defRPr>
            </a:lvl3pPr>
            <a:lvl4pPr marL="1600200" indent="-228600" algn="just"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alatino Linotype" panose="02040502050505030304" pitchFamily="18" charset="0"/>
                <a:ea typeface="+mn-ea"/>
                <a:cs typeface="+mn-cs"/>
              </a:defRPr>
            </a:lvl4pPr>
            <a:lvl5pPr marL="2057400" indent="-228600" algn="just"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buFont typeface="+mj-lt"/>
              <a:buAutoNum type="arabicPeriod" startAt="7"/>
            </a:pPr>
            <a:r>
              <a:rPr lang="en-US" sz="2400" dirty="0"/>
              <a:t>0 or more occurrence of either a or b or both</a:t>
            </a:r>
          </a:p>
          <a:p>
            <a:pPr marL="0" indent="0">
              <a:buFont typeface="Arial" panose="020B0604020202020204" pitchFamily="34" charset="0"/>
              <a:buNone/>
            </a:pPr>
            <a:endParaRPr lang="en-US" dirty="0"/>
          </a:p>
          <a:p>
            <a:pPr marL="457200" indent="-457200">
              <a:buFont typeface="+mj-lt"/>
              <a:buAutoNum type="arabicPeriod" startAt="8"/>
            </a:pPr>
            <a:r>
              <a:rPr lang="en-US" sz="2400" dirty="0"/>
              <a:t>1 or more occurrence of either a or b or both</a:t>
            </a:r>
          </a:p>
          <a:p>
            <a:pPr marL="463550" lvl="1" indent="0">
              <a:buFont typeface="Arial" panose="020B0604020202020204" pitchFamily="34" charset="0"/>
              <a:buNone/>
            </a:pPr>
            <a:endParaRPr lang="en-US" dirty="0"/>
          </a:p>
          <a:p>
            <a:pPr marL="463550" indent="-457200">
              <a:buFont typeface="+mj-lt"/>
              <a:buAutoNum type="arabicPeriod" startAt="9"/>
            </a:pPr>
            <a:r>
              <a:rPr lang="en-US" sz="2400" dirty="0"/>
              <a:t>Binary no. ends with 0</a:t>
            </a:r>
          </a:p>
          <a:p>
            <a:pPr marL="406400" lvl="1" indent="0">
              <a:buFont typeface="Arial" panose="020B0604020202020204" pitchFamily="34" charset="0"/>
              <a:buNone/>
            </a:pPr>
            <a:endParaRPr lang="en-US" dirty="0"/>
          </a:p>
          <a:p>
            <a:pPr marL="463550" indent="-457200">
              <a:buFont typeface="+mj-lt"/>
              <a:buAutoNum type="arabicPeriod" startAt="10"/>
            </a:pPr>
            <a:r>
              <a:rPr lang="en-US" sz="2400" dirty="0"/>
              <a:t>Binary no. ends with 1</a:t>
            </a:r>
          </a:p>
          <a:p>
            <a:pPr marL="6350" indent="0">
              <a:buFont typeface="Arial" panose="020B0604020202020204" pitchFamily="34" charset="0"/>
              <a:buNone/>
            </a:pPr>
            <a:endParaRPr lang="en-US" dirty="0"/>
          </a:p>
          <a:p>
            <a:pPr marL="463550" indent="-457200">
              <a:buFont typeface="+mj-lt"/>
              <a:buAutoNum type="arabicPeriod" startAt="11"/>
            </a:pPr>
            <a:r>
              <a:rPr lang="en-US" sz="2400" dirty="0"/>
              <a:t>Binary no. starts and ends with 1</a:t>
            </a:r>
          </a:p>
          <a:p>
            <a:pPr marL="463550" lvl="1" indent="0">
              <a:buFont typeface="Arial" panose="020B0604020202020204" pitchFamily="34" charset="0"/>
              <a:buNone/>
            </a:pPr>
            <a:endParaRPr lang="en-US" dirty="0"/>
          </a:p>
          <a:p>
            <a:pPr marL="463550" indent="-457200">
              <a:buFont typeface="+mj-lt"/>
              <a:buAutoNum type="arabicPeriod" startAt="12"/>
            </a:pPr>
            <a:r>
              <a:rPr lang="en-IN" sz="2400" dirty="0"/>
              <a:t>String starts and ends with same character</a:t>
            </a:r>
          </a:p>
          <a:p>
            <a:pPr marL="6350" indent="0">
              <a:buFont typeface="Arial" panose="020B0604020202020204" pitchFamily="34" charset="0"/>
              <a:buNone/>
            </a:pPr>
            <a:r>
              <a:rPr lang="en-IN" dirty="0"/>
              <a:t> </a:t>
            </a:r>
          </a:p>
          <a:p>
            <a:endParaRPr lang="en-US" dirty="0"/>
          </a:p>
        </p:txBody>
      </p:sp>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5322341D-FF5D-F281-667A-0DA1308ADD87}"/>
                  </a:ext>
                </a:extLst>
              </p:cNvPr>
              <p:cNvSpPr/>
              <p:nvPr/>
            </p:nvSpPr>
            <p:spPr>
              <a:xfrm>
                <a:off x="656705" y="1170314"/>
                <a:ext cx="3143873" cy="6085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14:m>
                  <m:oMathPara xmlns:m="http://schemas.openxmlformats.org/officeDocument/2006/math">
                    <m:oMathParaPr>
                      <m:jc m:val="left"/>
                    </m:oMathParaPr>
                    <m:oMath xmlns:m="http://schemas.openxmlformats.org/officeDocument/2006/math">
                      <m:r>
                        <a:rPr lang="en-US" b="1" i="1" smtClean="0">
                          <a:solidFill>
                            <a:srgbClr val="0E47A1"/>
                          </a:solidFill>
                          <a:latin typeface="Cambria Math" panose="02040503050406030204" pitchFamily="18" charset="0"/>
                        </a:rPr>
                        <m:t>𝑺𝒕𝒓𝒊𝒏𝒈𝒔</m:t>
                      </m:r>
                      <m:r>
                        <a:rPr lang="en-US" b="1" i="1" smtClean="0">
                          <a:solidFill>
                            <a:srgbClr val="0E47A1"/>
                          </a:solidFill>
                          <a:latin typeface="Cambria Math" panose="02040503050406030204" pitchFamily="18" charset="0"/>
                        </a:rPr>
                        <m:t>:</m:t>
                      </m:r>
                      <m:r>
                        <a:rPr lang="en-US" b="1" i="1">
                          <a:solidFill>
                            <a:srgbClr val="0E47A1"/>
                          </a:solidFill>
                          <a:latin typeface="Cambria Math" panose="02040503050406030204" pitchFamily="18" charset="0"/>
                          <a:ea typeface="Cambria Math" panose="02040503050406030204" pitchFamily="18" charset="0"/>
                        </a:rPr>
                        <m:t>𝝐</m:t>
                      </m:r>
                      <m:r>
                        <a:rPr lang="en-US" b="1" i="1">
                          <a:solidFill>
                            <a:srgbClr val="0E47A1"/>
                          </a:solidFill>
                          <a:latin typeface="Cambria Math" panose="02040503050406030204" pitchFamily="18" charset="0"/>
                          <a:ea typeface="Cambria Math" panose="02040503050406030204" pitchFamily="18" charset="0"/>
                        </a:rPr>
                        <m:t>,</m:t>
                      </m:r>
                      <m:r>
                        <a:rPr lang="en-US" b="1" i="1">
                          <a:solidFill>
                            <a:srgbClr val="0E47A1"/>
                          </a:solidFill>
                          <a:latin typeface="Cambria Math" panose="02040503050406030204" pitchFamily="18" charset="0"/>
                          <a:ea typeface="Cambria Math" panose="02040503050406030204" pitchFamily="18" charset="0"/>
                        </a:rPr>
                        <m:t>𝒂</m:t>
                      </m:r>
                      <m:r>
                        <a:rPr lang="en-US" b="1" i="1">
                          <a:solidFill>
                            <a:srgbClr val="0E47A1"/>
                          </a:solidFill>
                          <a:latin typeface="Cambria Math" panose="02040503050406030204" pitchFamily="18" charset="0"/>
                        </a:rPr>
                        <m:t>, </m:t>
                      </m:r>
                      <m:r>
                        <a:rPr lang="en-US" b="1" i="1">
                          <a:solidFill>
                            <a:srgbClr val="0E47A1"/>
                          </a:solidFill>
                          <a:latin typeface="Cambria Math" panose="02040503050406030204" pitchFamily="18" charset="0"/>
                        </a:rPr>
                        <m:t>𝒂𝒂</m:t>
                      </m:r>
                      <m:r>
                        <a:rPr lang="en-US" b="1" i="1" smtClean="0">
                          <a:solidFill>
                            <a:srgbClr val="0E47A1"/>
                          </a:solidFill>
                          <a:latin typeface="Cambria Math" panose="02040503050406030204" pitchFamily="18" charset="0"/>
                        </a:rPr>
                        <m:t>, </m:t>
                      </m:r>
                      <m:r>
                        <a:rPr lang="en-US" b="1" i="1" smtClean="0">
                          <a:solidFill>
                            <a:srgbClr val="0E47A1"/>
                          </a:solidFill>
                          <a:latin typeface="Cambria Math" panose="02040503050406030204" pitchFamily="18" charset="0"/>
                        </a:rPr>
                        <m:t>𝒂𝒃𝒂𝒃</m:t>
                      </m:r>
                      <m:r>
                        <a:rPr lang="en-US" b="1" i="1" smtClean="0">
                          <a:solidFill>
                            <a:srgbClr val="0E47A1"/>
                          </a:solidFill>
                          <a:latin typeface="Cambria Math" panose="02040503050406030204" pitchFamily="18" charset="0"/>
                        </a:rPr>
                        <m:t>, </m:t>
                      </m:r>
                      <m:r>
                        <a:rPr lang="en-US" b="1" i="1" smtClean="0">
                          <a:solidFill>
                            <a:srgbClr val="0E47A1"/>
                          </a:solidFill>
                          <a:latin typeface="Cambria Math" panose="02040503050406030204" pitchFamily="18" charset="0"/>
                        </a:rPr>
                        <m:t>𝒃𝒂𝒃</m:t>
                      </m:r>
                      <m:r>
                        <a:rPr lang="en-US" b="1" i="1" smtClean="0">
                          <a:solidFill>
                            <a:srgbClr val="0E47A1"/>
                          </a:solidFill>
                          <a:latin typeface="Cambria Math" panose="02040503050406030204" pitchFamily="18" charset="0"/>
                        </a:rPr>
                        <m:t>…</m:t>
                      </m:r>
                    </m:oMath>
                  </m:oMathPara>
                </a14:m>
                <a:endParaRPr lang="en-US" b="1">
                  <a:solidFill>
                    <a:srgbClr val="0E47A1"/>
                  </a:solidFill>
                  <a:latin typeface="+mj-lt"/>
                </a:endParaRPr>
              </a:p>
            </p:txBody>
          </p:sp>
        </mc:Choice>
        <mc:Fallback xmlns="">
          <p:sp>
            <p:nvSpPr>
              <p:cNvPr id="4" name="Rectangle 3">
                <a:extLst>
                  <a:ext uri="{FF2B5EF4-FFF2-40B4-BE49-F238E27FC236}">
                    <a16:creationId xmlns:a16="http://schemas.microsoft.com/office/drawing/2014/main" id="{5322341D-FF5D-F281-667A-0DA1308ADD87}"/>
                  </a:ext>
                </a:extLst>
              </p:cNvPr>
              <p:cNvSpPr>
                <a:spLocks noRot="1" noChangeAspect="1" noMove="1" noResize="1" noEditPoints="1" noAdjustHandles="1" noChangeArrowheads="1" noChangeShapeType="1" noTextEdit="1"/>
              </p:cNvSpPr>
              <p:nvPr/>
            </p:nvSpPr>
            <p:spPr>
              <a:xfrm>
                <a:off x="656705" y="1170314"/>
                <a:ext cx="3143873" cy="608533"/>
              </a:xfrm>
              <a:prstGeom prst="rect">
                <a:avLst/>
              </a:prstGeom>
              <a:blipFill>
                <a:blip r:embed="rId2"/>
                <a:stretch>
                  <a:fillRect l="-583"/>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14E532B9-3334-4089-AE17-0C27A15CB7EE}"/>
                  </a:ext>
                </a:extLst>
              </p:cNvPr>
              <p:cNvSpPr/>
              <p:nvPr/>
            </p:nvSpPr>
            <p:spPr>
              <a:xfrm>
                <a:off x="656705" y="2085717"/>
                <a:ext cx="3200400" cy="6085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14:m>
                  <m:oMathPara xmlns:m="http://schemas.openxmlformats.org/officeDocument/2006/math">
                    <m:oMathParaPr>
                      <m:jc m:val="centerGroup"/>
                    </m:oMathParaPr>
                    <m:oMath xmlns:m="http://schemas.openxmlformats.org/officeDocument/2006/math">
                      <m:r>
                        <a:rPr lang="en-US" b="1" i="1" smtClean="0">
                          <a:solidFill>
                            <a:srgbClr val="0E47A1"/>
                          </a:solidFill>
                          <a:latin typeface="Cambria Math" panose="02040503050406030204" pitchFamily="18" charset="0"/>
                        </a:rPr>
                        <m:t>𝑺𝒕𝒓𝒊𝒏𝒈𝒔</m:t>
                      </m:r>
                      <m:r>
                        <a:rPr lang="en-US" b="1" i="1" smtClean="0">
                          <a:solidFill>
                            <a:srgbClr val="0E47A1"/>
                          </a:solidFill>
                          <a:latin typeface="Cambria Math" panose="02040503050406030204" pitchFamily="18" charset="0"/>
                        </a:rPr>
                        <m:t>:</m:t>
                      </m:r>
                      <m:r>
                        <a:rPr lang="en-US" b="1" i="1">
                          <a:solidFill>
                            <a:srgbClr val="0E47A1"/>
                          </a:solidFill>
                          <a:latin typeface="Cambria Math" panose="02040503050406030204" pitchFamily="18" charset="0"/>
                          <a:ea typeface="Cambria Math" panose="02040503050406030204" pitchFamily="18" charset="0"/>
                        </a:rPr>
                        <m:t>𝒂</m:t>
                      </m:r>
                      <m:r>
                        <a:rPr lang="en-US" b="1" i="1">
                          <a:solidFill>
                            <a:srgbClr val="0E47A1"/>
                          </a:solidFill>
                          <a:latin typeface="Cambria Math" panose="02040503050406030204" pitchFamily="18" charset="0"/>
                        </a:rPr>
                        <m:t>, </m:t>
                      </m:r>
                      <m:r>
                        <a:rPr lang="en-US" b="1" i="1">
                          <a:solidFill>
                            <a:srgbClr val="0E47A1"/>
                          </a:solidFill>
                          <a:latin typeface="Cambria Math" panose="02040503050406030204" pitchFamily="18" charset="0"/>
                        </a:rPr>
                        <m:t>𝒂𝒂</m:t>
                      </m:r>
                      <m:r>
                        <a:rPr lang="en-US" b="1" i="1" smtClean="0">
                          <a:solidFill>
                            <a:srgbClr val="0E47A1"/>
                          </a:solidFill>
                          <a:latin typeface="Cambria Math" panose="02040503050406030204" pitchFamily="18" charset="0"/>
                        </a:rPr>
                        <m:t>, </m:t>
                      </m:r>
                      <m:r>
                        <a:rPr lang="en-US" b="1" i="1" smtClean="0">
                          <a:solidFill>
                            <a:srgbClr val="0E47A1"/>
                          </a:solidFill>
                          <a:latin typeface="Cambria Math" panose="02040503050406030204" pitchFamily="18" charset="0"/>
                        </a:rPr>
                        <m:t>𝒂𝒃𝒂𝒃</m:t>
                      </m:r>
                      <m:r>
                        <a:rPr lang="en-US" b="1" i="1" smtClean="0">
                          <a:solidFill>
                            <a:srgbClr val="0E47A1"/>
                          </a:solidFill>
                          <a:latin typeface="Cambria Math" panose="02040503050406030204" pitchFamily="18" charset="0"/>
                        </a:rPr>
                        <m:t>, </m:t>
                      </m:r>
                      <m:r>
                        <a:rPr lang="en-US" b="1" i="1" smtClean="0">
                          <a:solidFill>
                            <a:srgbClr val="0E47A1"/>
                          </a:solidFill>
                          <a:latin typeface="Cambria Math" panose="02040503050406030204" pitchFamily="18" charset="0"/>
                        </a:rPr>
                        <m:t>𝒃𝒂𝒃</m:t>
                      </m:r>
                      <m:r>
                        <a:rPr lang="en-US" b="1" i="1" smtClean="0">
                          <a:solidFill>
                            <a:srgbClr val="0E47A1"/>
                          </a:solidFill>
                          <a:latin typeface="Cambria Math" panose="02040503050406030204" pitchFamily="18" charset="0"/>
                        </a:rPr>
                        <m:t>, </m:t>
                      </m:r>
                      <m:r>
                        <a:rPr lang="en-US" b="1" i="1" smtClean="0">
                          <a:solidFill>
                            <a:srgbClr val="0E47A1"/>
                          </a:solidFill>
                          <a:latin typeface="Cambria Math" panose="02040503050406030204" pitchFamily="18" charset="0"/>
                        </a:rPr>
                        <m:t>𝒃𝒃𝒃𝒂𝒂𝒂</m:t>
                      </m:r>
                      <m:r>
                        <a:rPr lang="en-US" b="1" i="1" smtClean="0">
                          <a:solidFill>
                            <a:srgbClr val="0E47A1"/>
                          </a:solidFill>
                          <a:latin typeface="Cambria Math" panose="02040503050406030204" pitchFamily="18" charset="0"/>
                        </a:rPr>
                        <m:t>…</m:t>
                      </m:r>
                    </m:oMath>
                  </m:oMathPara>
                </a14:m>
                <a:endParaRPr lang="en-US" b="1">
                  <a:solidFill>
                    <a:srgbClr val="0E47A1"/>
                  </a:solidFill>
                  <a:latin typeface="+mj-lt"/>
                </a:endParaRPr>
              </a:p>
            </p:txBody>
          </p:sp>
        </mc:Choice>
        <mc:Fallback xmlns="">
          <p:sp>
            <p:nvSpPr>
              <p:cNvPr id="5" name="Rectangle 4">
                <a:extLst>
                  <a:ext uri="{FF2B5EF4-FFF2-40B4-BE49-F238E27FC236}">
                    <a16:creationId xmlns:a16="http://schemas.microsoft.com/office/drawing/2014/main" id="{14E532B9-3334-4089-AE17-0C27A15CB7EE}"/>
                  </a:ext>
                </a:extLst>
              </p:cNvPr>
              <p:cNvSpPr>
                <a:spLocks noRot="1" noChangeAspect="1" noMove="1" noResize="1" noEditPoints="1" noAdjustHandles="1" noChangeArrowheads="1" noChangeShapeType="1" noTextEdit="1"/>
              </p:cNvSpPr>
              <p:nvPr/>
            </p:nvSpPr>
            <p:spPr>
              <a:xfrm>
                <a:off x="656705" y="2085717"/>
                <a:ext cx="3200400" cy="608533"/>
              </a:xfrm>
              <a:prstGeom prst="rect">
                <a:avLst/>
              </a:prstGeom>
              <a:blipFill>
                <a:blip r:embed="rId3"/>
                <a:stretch>
                  <a:fillRect l="-571" r="-20190"/>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3298988C-D5E3-7B72-017A-FD7FF136CFE6}"/>
                  </a:ext>
                </a:extLst>
              </p:cNvPr>
              <p:cNvSpPr/>
              <p:nvPr/>
            </p:nvSpPr>
            <p:spPr>
              <a:xfrm>
                <a:off x="656705" y="2986205"/>
                <a:ext cx="3200400" cy="45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14:m>
                  <m:oMathPara xmlns:m="http://schemas.openxmlformats.org/officeDocument/2006/math">
                    <m:oMathParaPr>
                      <m:jc m:val="centerGroup"/>
                    </m:oMathParaPr>
                    <m:oMath xmlns:m="http://schemas.openxmlformats.org/officeDocument/2006/math">
                      <m:r>
                        <a:rPr lang="en-US" b="1" i="1" smtClean="0">
                          <a:solidFill>
                            <a:srgbClr val="0E47A1"/>
                          </a:solidFill>
                          <a:latin typeface="Cambria Math" panose="02040503050406030204" pitchFamily="18" charset="0"/>
                        </a:rPr>
                        <m:t>𝑺𝒕𝒓𝒊𝒏𝒈𝒔</m:t>
                      </m:r>
                      <m:r>
                        <a:rPr lang="en-US" b="1" i="1" smtClean="0">
                          <a:solidFill>
                            <a:srgbClr val="0E47A1"/>
                          </a:solidFill>
                          <a:latin typeface="Cambria Math" panose="02040503050406030204" pitchFamily="18" charset="0"/>
                        </a:rPr>
                        <m:t>: </m:t>
                      </m:r>
                      <m:r>
                        <a:rPr lang="en-US" b="1" i="1" smtClean="0">
                          <a:solidFill>
                            <a:srgbClr val="0E47A1"/>
                          </a:solidFill>
                          <a:latin typeface="Cambria Math" panose="02040503050406030204" pitchFamily="18" charset="0"/>
                        </a:rPr>
                        <m:t>𝟎</m:t>
                      </m:r>
                      <m:r>
                        <a:rPr lang="en-US" b="1" i="1" smtClean="0">
                          <a:solidFill>
                            <a:srgbClr val="0E47A1"/>
                          </a:solidFill>
                          <a:latin typeface="Cambria Math" panose="02040503050406030204" pitchFamily="18" charset="0"/>
                        </a:rPr>
                        <m:t>, </m:t>
                      </m:r>
                      <m:r>
                        <a:rPr lang="en-US" b="1" i="1" smtClean="0">
                          <a:solidFill>
                            <a:srgbClr val="0E47A1"/>
                          </a:solidFill>
                          <a:latin typeface="Cambria Math" panose="02040503050406030204" pitchFamily="18" charset="0"/>
                        </a:rPr>
                        <m:t>𝟏𝟎</m:t>
                      </m:r>
                      <m:r>
                        <a:rPr lang="en-US" b="1" i="1" smtClean="0">
                          <a:solidFill>
                            <a:srgbClr val="0E47A1"/>
                          </a:solidFill>
                          <a:latin typeface="Cambria Math" panose="02040503050406030204" pitchFamily="18" charset="0"/>
                        </a:rPr>
                        <m:t>, </m:t>
                      </m:r>
                      <m:r>
                        <a:rPr lang="en-US" b="1" i="1" smtClean="0">
                          <a:solidFill>
                            <a:srgbClr val="0E47A1"/>
                          </a:solidFill>
                          <a:latin typeface="Cambria Math" panose="02040503050406030204" pitchFamily="18" charset="0"/>
                        </a:rPr>
                        <m:t>𝟏𝟎𝟎</m:t>
                      </m:r>
                      <m:r>
                        <a:rPr lang="en-US" b="1" i="1" smtClean="0">
                          <a:solidFill>
                            <a:srgbClr val="0E47A1"/>
                          </a:solidFill>
                          <a:latin typeface="Cambria Math" panose="02040503050406030204" pitchFamily="18" charset="0"/>
                        </a:rPr>
                        <m:t>, </m:t>
                      </m:r>
                      <m:r>
                        <a:rPr lang="en-US" b="1" i="1" smtClean="0">
                          <a:solidFill>
                            <a:srgbClr val="0E47A1"/>
                          </a:solidFill>
                          <a:latin typeface="Cambria Math" panose="02040503050406030204" pitchFamily="18" charset="0"/>
                        </a:rPr>
                        <m:t>𝟏𝟎𝟏𝟎</m:t>
                      </m:r>
                      <m:r>
                        <a:rPr lang="en-US" b="1" i="1" smtClean="0">
                          <a:solidFill>
                            <a:srgbClr val="0E47A1"/>
                          </a:solidFill>
                          <a:latin typeface="Cambria Math" panose="02040503050406030204" pitchFamily="18" charset="0"/>
                        </a:rPr>
                        <m:t>, </m:t>
                      </m:r>
                      <m:r>
                        <a:rPr lang="en-US" b="1" i="1" smtClean="0">
                          <a:solidFill>
                            <a:srgbClr val="0E47A1"/>
                          </a:solidFill>
                          <a:latin typeface="Cambria Math" panose="02040503050406030204" pitchFamily="18" charset="0"/>
                        </a:rPr>
                        <m:t>𝟏𝟏𝟏𝟏𝟎</m:t>
                      </m:r>
                      <m:r>
                        <a:rPr lang="en-US" b="1" i="1" smtClean="0">
                          <a:solidFill>
                            <a:srgbClr val="0E47A1"/>
                          </a:solidFill>
                          <a:latin typeface="Cambria Math" panose="02040503050406030204" pitchFamily="18" charset="0"/>
                        </a:rPr>
                        <m:t>…</m:t>
                      </m:r>
                    </m:oMath>
                  </m:oMathPara>
                </a14:m>
                <a:endParaRPr lang="en-US" b="1">
                  <a:solidFill>
                    <a:srgbClr val="0E47A1"/>
                  </a:solidFill>
                  <a:latin typeface="+mj-lt"/>
                </a:endParaRPr>
              </a:p>
            </p:txBody>
          </p:sp>
        </mc:Choice>
        <mc:Fallback xmlns="">
          <p:sp>
            <p:nvSpPr>
              <p:cNvPr id="6" name="Rectangle 5">
                <a:extLst>
                  <a:ext uri="{FF2B5EF4-FFF2-40B4-BE49-F238E27FC236}">
                    <a16:creationId xmlns:a16="http://schemas.microsoft.com/office/drawing/2014/main" id="{3298988C-D5E3-7B72-017A-FD7FF136CFE6}"/>
                  </a:ext>
                </a:extLst>
              </p:cNvPr>
              <p:cNvSpPr>
                <a:spLocks noRot="1" noChangeAspect="1" noMove="1" noResize="1" noEditPoints="1" noAdjustHandles="1" noChangeArrowheads="1" noChangeShapeType="1" noTextEdit="1"/>
              </p:cNvSpPr>
              <p:nvPr/>
            </p:nvSpPr>
            <p:spPr>
              <a:xfrm>
                <a:off x="656705" y="2986205"/>
                <a:ext cx="3200400" cy="457200"/>
              </a:xfrm>
              <a:prstGeom prst="rect">
                <a:avLst/>
              </a:prstGeom>
              <a:blipFill>
                <a:blip r:embed="rId4"/>
                <a:stretch>
                  <a:fillRect l="-571" r="-15810"/>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D0E31D03-27D3-10DD-C664-2E5BF133545B}"/>
                  </a:ext>
                </a:extLst>
              </p:cNvPr>
              <p:cNvSpPr/>
              <p:nvPr/>
            </p:nvSpPr>
            <p:spPr>
              <a:xfrm>
                <a:off x="656705" y="3871537"/>
                <a:ext cx="3200400" cy="45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14:m>
                  <m:oMathPara xmlns:m="http://schemas.openxmlformats.org/officeDocument/2006/math">
                    <m:oMathParaPr>
                      <m:jc m:val="centerGroup"/>
                    </m:oMathParaPr>
                    <m:oMath xmlns:m="http://schemas.openxmlformats.org/officeDocument/2006/math">
                      <m:r>
                        <a:rPr lang="en-US" b="1" i="1" smtClean="0">
                          <a:solidFill>
                            <a:srgbClr val="0E47A1"/>
                          </a:solidFill>
                          <a:latin typeface="Cambria Math" panose="02040503050406030204" pitchFamily="18" charset="0"/>
                        </a:rPr>
                        <m:t>𝑺𝒕𝒓𝒊𝒏𝒈𝒔</m:t>
                      </m:r>
                      <m:r>
                        <a:rPr lang="en-US" b="1" i="1" smtClean="0">
                          <a:solidFill>
                            <a:srgbClr val="0E47A1"/>
                          </a:solidFill>
                          <a:latin typeface="Cambria Math" panose="02040503050406030204" pitchFamily="18" charset="0"/>
                        </a:rPr>
                        <m:t>:</m:t>
                      </m:r>
                      <m:r>
                        <a:rPr lang="en-US" b="1" i="1" smtClean="0">
                          <a:solidFill>
                            <a:srgbClr val="0E47A1"/>
                          </a:solidFill>
                          <a:latin typeface="Cambria Math" panose="02040503050406030204" pitchFamily="18" charset="0"/>
                        </a:rPr>
                        <m:t>𝟏</m:t>
                      </m:r>
                      <m:r>
                        <a:rPr lang="en-US" b="1" i="1" smtClean="0">
                          <a:solidFill>
                            <a:srgbClr val="0E47A1"/>
                          </a:solidFill>
                          <a:latin typeface="Cambria Math" panose="02040503050406030204" pitchFamily="18" charset="0"/>
                        </a:rPr>
                        <m:t>, </m:t>
                      </m:r>
                      <m:r>
                        <a:rPr lang="en-US" b="1" i="1" smtClean="0">
                          <a:solidFill>
                            <a:srgbClr val="0E47A1"/>
                          </a:solidFill>
                          <a:latin typeface="Cambria Math" panose="02040503050406030204" pitchFamily="18" charset="0"/>
                        </a:rPr>
                        <m:t>𝟏𝟎𝟏</m:t>
                      </m:r>
                      <m:r>
                        <a:rPr lang="en-US" b="1" i="1" smtClean="0">
                          <a:solidFill>
                            <a:srgbClr val="0E47A1"/>
                          </a:solidFill>
                          <a:latin typeface="Cambria Math" panose="02040503050406030204" pitchFamily="18" charset="0"/>
                        </a:rPr>
                        <m:t>, </m:t>
                      </m:r>
                      <m:r>
                        <a:rPr lang="en-US" b="1" i="1" smtClean="0">
                          <a:solidFill>
                            <a:srgbClr val="0E47A1"/>
                          </a:solidFill>
                          <a:latin typeface="Cambria Math" panose="02040503050406030204" pitchFamily="18" charset="0"/>
                        </a:rPr>
                        <m:t>𝟏𝟎𝟎𝟏</m:t>
                      </m:r>
                      <m:r>
                        <a:rPr lang="en-US" b="1" i="1" smtClean="0">
                          <a:solidFill>
                            <a:srgbClr val="0E47A1"/>
                          </a:solidFill>
                          <a:latin typeface="Cambria Math" panose="02040503050406030204" pitchFamily="18" charset="0"/>
                        </a:rPr>
                        <m:t>, </m:t>
                      </m:r>
                      <m:r>
                        <a:rPr lang="en-US" b="1" i="1" smtClean="0">
                          <a:solidFill>
                            <a:srgbClr val="0E47A1"/>
                          </a:solidFill>
                          <a:latin typeface="Cambria Math" panose="02040503050406030204" pitchFamily="18" charset="0"/>
                        </a:rPr>
                        <m:t>𝟏𝟎𝟏𝟎𝟏</m:t>
                      </m:r>
                      <m:r>
                        <a:rPr lang="en-US" b="1" i="1" smtClean="0">
                          <a:solidFill>
                            <a:srgbClr val="0E47A1"/>
                          </a:solidFill>
                          <a:latin typeface="Cambria Math" panose="02040503050406030204" pitchFamily="18" charset="0"/>
                        </a:rPr>
                        <m:t>, …</m:t>
                      </m:r>
                    </m:oMath>
                  </m:oMathPara>
                </a14:m>
                <a:endParaRPr lang="en-US" b="1">
                  <a:solidFill>
                    <a:srgbClr val="0E47A1"/>
                  </a:solidFill>
                  <a:latin typeface="+mj-lt"/>
                </a:endParaRPr>
              </a:p>
            </p:txBody>
          </p:sp>
        </mc:Choice>
        <mc:Fallback xmlns="">
          <p:sp>
            <p:nvSpPr>
              <p:cNvPr id="7" name="Rectangle 6">
                <a:extLst>
                  <a:ext uri="{FF2B5EF4-FFF2-40B4-BE49-F238E27FC236}">
                    <a16:creationId xmlns:a16="http://schemas.microsoft.com/office/drawing/2014/main" id="{D0E31D03-27D3-10DD-C664-2E5BF133545B}"/>
                  </a:ext>
                </a:extLst>
              </p:cNvPr>
              <p:cNvSpPr>
                <a:spLocks noRot="1" noChangeAspect="1" noMove="1" noResize="1" noEditPoints="1" noAdjustHandles="1" noChangeArrowheads="1" noChangeShapeType="1" noTextEdit="1"/>
              </p:cNvSpPr>
              <p:nvPr/>
            </p:nvSpPr>
            <p:spPr>
              <a:xfrm>
                <a:off x="656705" y="3871537"/>
                <a:ext cx="3200400" cy="457200"/>
              </a:xfrm>
              <a:prstGeom prst="rect">
                <a:avLst/>
              </a:prstGeom>
              <a:blipFill>
                <a:blip r:embed="rId5"/>
                <a:stretch>
                  <a:fillRect l="-571" r="-4571" b="-1333"/>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AAF78D3B-CF8F-B05B-1681-968C3159AE77}"/>
                  </a:ext>
                </a:extLst>
              </p:cNvPr>
              <p:cNvSpPr/>
              <p:nvPr/>
            </p:nvSpPr>
            <p:spPr>
              <a:xfrm>
                <a:off x="656705" y="4729097"/>
                <a:ext cx="3200400" cy="45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14:m>
                  <m:oMathPara xmlns:m="http://schemas.openxmlformats.org/officeDocument/2006/math">
                    <m:oMathParaPr>
                      <m:jc m:val="centerGroup"/>
                    </m:oMathParaPr>
                    <m:oMath xmlns:m="http://schemas.openxmlformats.org/officeDocument/2006/math">
                      <m:r>
                        <a:rPr lang="en-US" b="1" i="1" smtClean="0">
                          <a:solidFill>
                            <a:srgbClr val="0E47A1"/>
                          </a:solidFill>
                          <a:latin typeface="Cambria Math" panose="02040503050406030204" pitchFamily="18" charset="0"/>
                        </a:rPr>
                        <m:t>𝑺𝒕𝒓𝒊𝒏𝒈𝒔</m:t>
                      </m:r>
                      <m:r>
                        <a:rPr lang="en-US" b="1" i="1" smtClean="0">
                          <a:solidFill>
                            <a:srgbClr val="0E47A1"/>
                          </a:solidFill>
                          <a:latin typeface="Cambria Math" panose="02040503050406030204" pitchFamily="18" charset="0"/>
                        </a:rPr>
                        <m:t>: </m:t>
                      </m:r>
                      <m:r>
                        <a:rPr lang="en-US" b="1" i="1" smtClean="0">
                          <a:solidFill>
                            <a:srgbClr val="0E47A1"/>
                          </a:solidFill>
                          <a:latin typeface="Cambria Math" panose="02040503050406030204" pitchFamily="18" charset="0"/>
                        </a:rPr>
                        <m:t>𝟏𝟏</m:t>
                      </m:r>
                      <m:r>
                        <a:rPr lang="en-US" b="1" i="1" smtClean="0">
                          <a:solidFill>
                            <a:srgbClr val="0E47A1"/>
                          </a:solidFill>
                          <a:latin typeface="Cambria Math" panose="02040503050406030204" pitchFamily="18" charset="0"/>
                        </a:rPr>
                        <m:t>, </m:t>
                      </m:r>
                      <m:r>
                        <a:rPr lang="en-US" b="1" i="1" smtClean="0">
                          <a:solidFill>
                            <a:srgbClr val="0E47A1"/>
                          </a:solidFill>
                          <a:latin typeface="Cambria Math" panose="02040503050406030204" pitchFamily="18" charset="0"/>
                        </a:rPr>
                        <m:t>𝟏𝟎𝟏</m:t>
                      </m:r>
                      <m:r>
                        <a:rPr lang="en-US" b="1" i="1" smtClean="0">
                          <a:solidFill>
                            <a:srgbClr val="0E47A1"/>
                          </a:solidFill>
                          <a:latin typeface="Cambria Math" panose="02040503050406030204" pitchFamily="18" charset="0"/>
                        </a:rPr>
                        <m:t>, </m:t>
                      </m:r>
                      <m:r>
                        <a:rPr lang="en-US" b="1" i="1" smtClean="0">
                          <a:solidFill>
                            <a:srgbClr val="0E47A1"/>
                          </a:solidFill>
                          <a:latin typeface="Cambria Math" panose="02040503050406030204" pitchFamily="18" charset="0"/>
                        </a:rPr>
                        <m:t>𝟏𝟎𝟎𝟏</m:t>
                      </m:r>
                      <m:r>
                        <a:rPr lang="en-US" b="1" i="1" smtClean="0">
                          <a:solidFill>
                            <a:srgbClr val="0E47A1"/>
                          </a:solidFill>
                          <a:latin typeface="Cambria Math" panose="02040503050406030204" pitchFamily="18" charset="0"/>
                        </a:rPr>
                        <m:t>, </m:t>
                      </m:r>
                      <m:r>
                        <a:rPr lang="en-US" b="1" i="1" smtClean="0">
                          <a:solidFill>
                            <a:srgbClr val="0E47A1"/>
                          </a:solidFill>
                          <a:latin typeface="Cambria Math" panose="02040503050406030204" pitchFamily="18" charset="0"/>
                        </a:rPr>
                        <m:t>𝟏𝟎𝟏𝟎𝟏</m:t>
                      </m:r>
                      <m:r>
                        <a:rPr lang="en-US" b="1" i="1" smtClean="0">
                          <a:solidFill>
                            <a:srgbClr val="0E47A1"/>
                          </a:solidFill>
                          <a:latin typeface="Cambria Math" panose="02040503050406030204" pitchFamily="18" charset="0"/>
                        </a:rPr>
                        <m:t>, …</m:t>
                      </m:r>
                    </m:oMath>
                  </m:oMathPara>
                </a14:m>
                <a:endParaRPr lang="en-US" b="1">
                  <a:solidFill>
                    <a:srgbClr val="0E47A1"/>
                  </a:solidFill>
                  <a:latin typeface="+mj-lt"/>
                </a:endParaRPr>
              </a:p>
            </p:txBody>
          </p:sp>
        </mc:Choice>
        <mc:Fallback xmlns="">
          <p:sp>
            <p:nvSpPr>
              <p:cNvPr id="8" name="Rectangle 7">
                <a:extLst>
                  <a:ext uri="{FF2B5EF4-FFF2-40B4-BE49-F238E27FC236}">
                    <a16:creationId xmlns:a16="http://schemas.microsoft.com/office/drawing/2014/main" id="{AAF78D3B-CF8F-B05B-1681-968C3159AE77}"/>
                  </a:ext>
                </a:extLst>
              </p:cNvPr>
              <p:cNvSpPr>
                <a:spLocks noRot="1" noChangeAspect="1" noMove="1" noResize="1" noEditPoints="1" noAdjustHandles="1" noChangeArrowheads="1" noChangeShapeType="1" noTextEdit="1"/>
              </p:cNvSpPr>
              <p:nvPr/>
            </p:nvSpPr>
            <p:spPr>
              <a:xfrm>
                <a:off x="656705" y="4729097"/>
                <a:ext cx="3200400" cy="457200"/>
              </a:xfrm>
              <a:prstGeom prst="rect">
                <a:avLst/>
              </a:prstGeom>
              <a:blipFill>
                <a:blip r:embed="rId6"/>
                <a:stretch>
                  <a:fillRect l="-571" r="-10286"/>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ABDBDC39-BCAB-0E39-2AF4-FF97C96857BD}"/>
                  </a:ext>
                </a:extLst>
              </p:cNvPr>
              <p:cNvSpPr/>
              <p:nvPr/>
            </p:nvSpPr>
            <p:spPr>
              <a:xfrm>
                <a:off x="656705" y="5561110"/>
                <a:ext cx="3200400" cy="45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14:m>
                  <m:oMathPara xmlns:m="http://schemas.openxmlformats.org/officeDocument/2006/math">
                    <m:oMathParaPr>
                      <m:jc m:val="centerGroup"/>
                    </m:oMathParaPr>
                    <m:oMath xmlns:m="http://schemas.openxmlformats.org/officeDocument/2006/math">
                      <m:r>
                        <a:rPr lang="en-US" b="1" i="1" smtClean="0">
                          <a:solidFill>
                            <a:srgbClr val="0E47A1"/>
                          </a:solidFill>
                          <a:latin typeface="Cambria Math" panose="02040503050406030204" pitchFamily="18" charset="0"/>
                        </a:rPr>
                        <m:t>𝑺𝒕𝒓𝒊𝒏𝒈𝒔</m:t>
                      </m:r>
                      <m:r>
                        <a:rPr lang="en-US" b="1" i="1" smtClean="0">
                          <a:solidFill>
                            <a:srgbClr val="0E47A1"/>
                          </a:solidFill>
                          <a:latin typeface="Cambria Math" panose="02040503050406030204" pitchFamily="18" charset="0"/>
                        </a:rPr>
                        <m:t>:</m:t>
                      </m:r>
                      <m:r>
                        <a:rPr lang="en-US" b="1" i="1" smtClean="0">
                          <a:solidFill>
                            <a:srgbClr val="0E47A1"/>
                          </a:solidFill>
                          <a:latin typeface="Cambria Math" panose="02040503050406030204" pitchFamily="18" charset="0"/>
                        </a:rPr>
                        <m:t>𝟎𝟎</m:t>
                      </m:r>
                      <m:r>
                        <a:rPr lang="en-US" b="1" i="1" smtClean="0">
                          <a:solidFill>
                            <a:srgbClr val="0E47A1"/>
                          </a:solidFill>
                          <a:latin typeface="Cambria Math" panose="02040503050406030204" pitchFamily="18" charset="0"/>
                        </a:rPr>
                        <m:t>, </m:t>
                      </m:r>
                      <m:r>
                        <a:rPr lang="en-US" b="1" i="1" smtClean="0">
                          <a:solidFill>
                            <a:srgbClr val="0E47A1"/>
                          </a:solidFill>
                          <a:latin typeface="Cambria Math" panose="02040503050406030204" pitchFamily="18" charset="0"/>
                        </a:rPr>
                        <m:t>𝟏𝟎𝟏</m:t>
                      </m:r>
                      <m:r>
                        <a:rPr lang="en-US" b="1" i="1" smtClean="0">
                          <a:solidFill>
                            <a:srgbClr val="0E47A1"/>
                          </a:solidFill>
                          <a:latin typeface="Cambria Math" panose="02040503050406030204" pitchFamily="18" charset="0"/>
                        </a:rPr>
                        <m:t>, </m:t>
                      </m:r>
                      <m:r>
                        <a:rPr lang="en-US" b="1" i="1" smtClean="0">
                          <a:solidFill>
                            <a:srgbClr val="0E47A1"/>
                          </a:solidFill>
                          <a:latin typeface="Cambria Math" panose="02040503050406030204" pitchFamily="18" charset="0"/>
                        </a:rPr>
                        <m:t>𝒂𝒃𝒂</m:t>
                      </m:r>
                      <m:r>
                        <a:rPr lang="en-US" b="1" i="1" smtClean="0">
                          <a:solidFill>
                            <a:srgbClr val="0E47A1"/>
                          </a:solidFill>
                          <a:latin typeface="Cambria Math" panose="02040503050406030204" pitchFamily="18" charset="0"/>
                        </a:rPr>
                        <m:t>, </m:t>
                      </m:r>
                      <m:r>
                        <a:rPr lang="en-US" b="1" i="1" smtClean="0">
                          <a:solidFill>
                            <a:srgbClr val="0E47A1"/>
                          </a:solidFill>
                          <a:latin typeface="Cambria Math" panose="02040503050406030204" pitchFamily="18" charset="0"/>
                        </a:rPr>
                        <m:t>𝒃𝒂𝒂𝒃</m:t>
                      </m:r>
                      <m:r>
                        <a:rPr lang="en-US" b="1" i="1" smtClean="0">
                          <a:solidFill>
                            <a:srgbClr val="0E47A1"/>
                          </a:solidFill>
                          <a:latin typeface="Cambria Math" panose="02040503050406030204" pitchFamily="18" charset="0"/>
                        </a:rPr>
                        <m:t>…</m:t>
                      </m:r>
                    </m:oMath>
                  </m:oMathPara>
                </a14:m>
                <a:endParaRPr lang="en-US" b="1">
                  <a:solidFill>
                    <a:srgbClr val="0E47A1"/>
                  </a:solidFill>
                  <a:latin typeface="+mj-lt"/>
                </a:endParaRPr>
              </a:p>
            </p:txBody>
          </p:sp>
        </mc:Choice>
        <mc:Fallback xmlns="">
          <p:sp>
            <p:nvSpPr>
              <p:cNvPr id="9" name="Rectangle 8">
                <a:extLst>
                  <a:ext uri="{FF2B5EF4-FFF2-40B4-BE49-F238E27FC236}">
                    <a16:creationId xmlns:a16="http://schemas.microsoft.com/office/drawing/2014/main" id="{ABDBDC39-BCAB-0E39-2AF4-FF97C96857BD}"/>
                  </a:ext>
                </a:extLst>
              </p:cNvPr>
              <p:cNvSpPr>
                <a:spLocks noRot="1" noChangeAspect="1" noMove="1" noResize="1" noEditPoints="1" noAdjustHandles="1" noChangeArrowheads="1" noChangeShapeType="1" noTextEdit="1"/>
              </p:cNvSpPr>
              <p:nvPr/>
            </p:nvSpPr>
            <p:spPr>
              <a:xfrm>
                <a:off x="656705" y="5561110"/>
                <a:ext cx="3200400" cy="457200"/>
              </a:xfrm>
              <a:prstGeom prst="rect">
                <a:avLst/>
              </a:prstGeom>
              <a:blipFill>
                <a:blip r:embed="rId7"/>
                <a:stretch>
                  <a:fillRect l="-571" b="-1333"/>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8752BB3A-4AEB-AA0E-09D6-F5C77D3B8EE8}"/>
                  </a:ext>
                </a:extLst>
              </p:cNvPr>
              <p:cNvSpPr/>
              <p:nvPr/>
            </p:nvSpPr>
            <p:spPr>
              <a:xfrm>
                <a:off x="4730299" y="1208712"/>
                <a:ext cx="3200400" cy="6085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14:m>
                  <m:oMathPara xmlns:m="http://schemas.openxmlformats.org/officeDocument/2006/math">
                    <m:oMathParaPr>
                      <m:jc m:val="left"/>
                    </m:oMathParaPr>
                    <m:oMath xmlns:m="http://schemas.openxmlformats.org/officeDocument/2006/math">
                      <m:r>
                        <a:rPr lang="en-US" b="1" i="1" smtClean="0">
                          <a:solidFill>
                            <a:srgbClr val="C00000"/>
                          </a:solidFill>
                          <a:latin typeface="Cambria Math" panose="02040503050406030204" pitchFamily="18" charset="0"/>
                        </a:rPr>
                        <m:t>𝑹</m:t>
                      </m:r>
                      <m:r>
                        <a:rPr lang="en-US" b="1" i="1" smtClean="0">
                          <a:solidFill>
                            <a:srgbClr val="C00000"/>
                          </a:solidFill>
                          <a:latin typeface="Cambria Math" panose="02040503050406030204" pitchFamily="18" charset="0"/>
                        </a:rPr>
                        <m:t>.</m:t>
                      </m:r>
                      <m:r>
                        <a:rPr lang="en-US" b="1" i="1" smtClean="0">
                          <a:solidFill>
                            <a:srgbClr val="C00000"/>
                          </a:solidFill>
                          <a:latin typeface="Cambria Math" panose="02040503050406030204" pitchFamily="18" charset="0"/>
                        </a:rPr>
                        <m:t>𝑬</m:t>
                      </m:r>
                      <m:r>
                        <a:rPr lang="en-US" b="1" i="1" smtClean="0">
                          <a:solidFill>
                            <a:srgbClr val="C00000"/>
                          </a:solidFill>
                          <a:latin typeface="Cambria Math" panose="02040503050406030204" pitchFamily="18" charset="0"/>
                        </a:rPr>
                        <m:t>. =(</m:t>
                      </m:r>
                      <m:r>
                        <a:rPr lang="en-US" b="1" i="1" smtClean="0">
                          <a:solidFill>
                            <a:srgbClr val="C00000"/>
                          </a:solidFill>
                          <a:latin typeface="Cambria Math" panose="02040503050406030204" pitchFamily="18" charset="0"/>
                        </a:rPr>
                        <m:t>𝒂</m:t>
                      </m:r>
                      <m:r>
                        <a:rPr lang="en-US" b="1" i="1" smtClean="0">
                          <a:solidFill>
                            <a:srgbClr val="C00000"/>
                          </a:solidFill>
                          <a:latin typeface="Cambria Math" panose="02040503050406030204" pitchFamily="18" charset="0"/>
                        </a:rPr>
                        <m:t> | </m:t>
                      </m:r>
                      <m:r>
                        <a:rPr lang="en-US" b="1" i="1" smtClean="0">
                          <a:solidFill>
                            <a:srgbClr val="C00000"/>
                          </a:solidFill>
                          <a:latin typeface="Cambria Math" panose="02040503050406030204" pitchFamily="18" charset="0"/>
                        </a:rPr>
                        <m:t>𝒃</m:t>
                      </m:r>
                      <m:r>
                        <a:rPr lang="en-US" b="1" i="1" smtClean="0">
                          <a:solidFill>
                            <a:srgbClr val="C00000"/>
                          </a:solidFill>
                          <a:latin typeface="Cambria Math" panose="02040503050406030204" pitchFamily="18" charset="0"/>
                        </a:rPr>
                        <m:t>)∗</m:t>
                      </m:r>
                    </m:oMath>
                  </m:oMathPara>
                </a14:m>
                <a:endParaRPr lang="en-US" b="1" baseline="30000">
                  <a:solidFill>
                    <a:srgbClr val="C00000"/>
                  </a:solidFill>
                  <a:latin typeface="+mj-lt"/>
                </a:endParaRPr>
              </a:p>
            </p:txBody>
          </p:sp>
        </mc:Choice>
        <mc:Fallback xmlns="">
          <p:sp>
            <p:nvSpPr>
              <p:cNvPr id="10" name="Rectangle 9">
                <a:extLst>
                  <a:ext uri="{FF2B5EF4-FFF2-40B4-BE49-F238E27FC236}">
                    <a16:creationId xmlns:a16="http://schemas.microsoft.com/office/drawing/2014/main" id="{8752BB3A-4AEB-AA0E-09D6-F5C77D3B8EE8}"/>
                  </a:ext>
                </a:extLst>
              </p:cNvPr>
              <p:cNvSpPr>
                <a:spLocks noRot="1" noChangeAspect="1" noMove="1" noResize="1" noEditPoints="1" noAdjustHandles="1" noChangeArrowheads="1" noChangeShapeType="1" noTextEdit="1"/>
              </p:cNvSpPr>
              <p:nvPr/>
            </p:nvSpPr>
            <p:spPr>
              <a:xfrm>
                <a:off x="4730299" y="1208712"/>
                <a:ext cx="3200400" cy="608533"/>
              </a:xfrm>
              <a:prstGeom prst="rect">
                <a:avLst/>
              </a:prstGeom>
              <a:blipFill>
                <a:blip r:embed="rId8"/>
                <a:stretch>
                  <a:fillRect/>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28D232DE-C2FF-C5A5-5408-50C9D48CBB28}"/>
                  </a:ext>
                </a:extLst>
              </p:cNvPr>
              <p:cNvSpPr/>
              <p:nvPr/>
            </p:nvSpPr>
            <p:spPr>
              <a:xfrm>
                <a:off x="4730299" y="2076801"/>
                <a:ext cx="3200400" cy="6085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14:m>
                  <m:oMath xmlns:m="http://schemas.openxmlformats.org/officeDocument/2006/math">
                    <m:r>
                      <a:rPr lang="en-US" b="1" i="1" smtClean="0">
                        <a:solidFill>
                          <a:srgbClr val="C00000"/>
                        </a:solidFill>
                        <a:latin typeface="Cambria Math" panose="02040503050406030204" pitchFamily="18" charset="0"/>
                      </a:rPr>
                      <m:t>𝑹</m:t>
                    </m:r>
                    <m:r>
                      <a:rPr lang="en-US" b="1" i="1" smtClean="0">
                        <a:solidFill>
                          <a:srgbClr val="C00000"/>
                        </a:solidFill>
                        <a:latin typeface="Cambria Math" panose="02040503050406030204" pitchFamily="18" charset="0"/>
                      </a:rPr>
                      <m:t>.</m:t>
                    </m:r>
                    <m:r>
                      <a:rPr lang="en-US" b="1" i="1" smtClean="0">
                        <a:solidFill>
                          <a:srgbClr val="C00000"/>
                        </a:solidFill>
                        <a:latin typeface="Cambria Math" panose="02040503050406030204" pitchFamily="18" charset="0"/>
                      </a:rPr>
                      <m:t>𝑬</m:t>
                    </m:r>
                    <m:r>
                      <a:rPr lang="en-US" b="1" i="1" smtClean="0">
                        <a:solidFill>
                          <a:srgbClr val="C00000"/>
                        </a:solidFill>
                        <a:latin typeface="Cambria Math" panose="02040503050406030204" pitchFamily="18" charset="0"/>
                      </a:rPr>
                      <m:t>. =(</m:t>
                    </m:r>
                    <m:r>
                      <a:rPr lang="en-US" b="1" i="1" smtClean="0">
                        <a:solidFill>
                          <a:srgbClr val="C00000"/>
                        </a:solidFill>
                        <a:latin typeface="Cambria Math" panose="02040503050406030204" pitchFamily="18" charset="0"/>
                      </a:rPr>
                      <m:t>𝒂</m:t>
                    </m:r>
                    <m:r>
                      <a:rPr lang="en-US" b="1" i="1" smtClean="0">
                        <a:solidFill>
                          <a:srgbClr val="C00000"/>
                        </a:solidFill>
                        <a:latin typeface="Cambria Math" panose="02040503050406030204" pitchFamily="18" charset="0"/>
                      </a:rPr>
                      <m:t> | </m:t>
                    </m:r>
                    <m:r>
                      <a:rPr lang="en-US" b="1" i="1" smtClean="0">
                        <a:solidFill>
                          <a:srgbClr val="C00000"/>
                        </a:solidFill>
                        <a:latin typeface="Cambria Math" panose="02040503050406030204" pitchFamily="18" charset="0"/>
                      </a:rPr>
                      <m:t>𝒃</m:t>
                    </m:r>
                    <m:r>
                      <a:rPr lang="en-US" b="1" i="1" smtClean="0">
                        <a:solidFill>
                          <a:srgbClr val="C00000"/>
                        </a:solidFill>
                        <a:latin typeface="Cambria Math" panose="02040503050406030204" pitchFamily="18" charset="0"/>
                      </a:rPr>
                      <m:t>)</m:t>
                    </m:r>
                  </m:oMath>
                </a14:m>
                <a:r>
                  <a:rPr lang="en-US" b="1" baseline="30000">
                    <a:solidFill>
                      <a:srgbClr val="C00000"/>
                    </a:solidFill>
                    <a:latin typeface="+mj-lt"/>
                  </a:rPr>
                  <a:t>+</a:t>
                </a:r>
              </a:p>
            </p:txBody>
          </p:sp>
        </mc:Choice>
        <mc:Fallback xmlns="">
          <p:sp>
            <p:nvSpPr>
              <p:cNvPr id="11" name="Rectangle 10">
                <a:extLst>
                  <a:ext uri="{FF2B5EF4-FFF2-40B4-BE49-F238E27FC236}">
                    <a16:creationId xmlns:a16="http://schemas.microsoft.com/office/drawing/2014/main" id="{28D232DE-C2FF-C5A5-5408-50C9D48CBB28}"/>
                  </a:ext>
                </a:extLst>
              </p:cNvPr>
              <p:cNvSpPr>
                <a:spLocks noRot="1" noChangeAspect="1" noMove="1" noResize="1" noEditPoints="1" noAdjustHandles="1" noChangeArrowheads="1" noChangeShapeType="1" noTextEdit="1"/>
              </p:cNvSpPr>
              <p:nvPr/>
            </p:nvSpPr>
            <p:spPr>
              <a:xfrm>
                <a:off x="4730299" y="2076801"/>
                <a:ext cx="3200400" cy="608533"/>
              </a:xfrm>
              <a:prstGeom prst="rect">
                <a:avLst/>
              </a:prstGeom>
              <a:blipFill>
                <a:blip r:embed="rId9"/>
                <a:stretch>
                  <a:fillRect/>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F09BFBBC-58E7-4F3F-3F25-4C386A0DE4C1}"/>
                  </a:ext>
                </a:extLst>
              </p:cNvPr>
              <p:cNvSpPr/>
              <p:nvPr/>
            </p:nvSpPr>
            <p:spPr>
              <a:xfrm>
                <a:off x="4730299" y="3703567"/>
                <a:ext cx="3200400" cy="6085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14:m>
                  <m:oMathPara xmlns:m="http://schemas.openxmlformats.org/officeDocument/2006/math">
                    <m:oMathParaPr>
                      <m:jc m:val="left"/>
                    </m:oMathParaPr>
                    <m:oMath xmlns:m="http://schemas.openxmlformats.org/officeDocument/2006/math">
                      <m:r>
                        <a:rPr lang="en-US" b="1" i="1" smtClean="0">
                          <a:solidFill>
                            <a:srgbClr val="C00000"/>
                          </a:solidFill>
                          <a:latin typeface="Cambria Math" panose="02040503050406030204" pitchFamily="18" charset="0"/>
                        </a:rPr>
                        <m:t>𝑹</m:t>
                      </m:r>
                      <m:r>
                        <a:rPr lang="en-US" b="1" i="1" smtClean="0">
                          <a:solidFill>
                            <a:srgbClr val="C00000"/>
                          </a:solidFill>
                          <a:latin typeface="Cambria Math" panose="02040503050406030204" pitchFamily="18" charset="0"/>
                        </a:rPr>
                        <m:t>.</m:t>
                      </m:r>
                      <m:r>
                        <a:rPr lang="en-US" b="1" i="1" smtClean="0">
                          <a:solidFill>
                            <a:srgbClr val="C00000"/>
                          </a:solidFill>
                          <a:latin typeface="Cambria Math" panose="02040503050406030204" pitchFamily="18" charset="0"/>
                        </a:rPr>
                        <m:t>𝑬</m:t>
                      </m:r>
                      <m:r>
                        <a:rPr lang="en-US" b="1" i="1" smtClean="0">
                          <a:solidFill>
                            <a:srgbClr val="C00000"/>
                          </a:solidFill>
                          <a:latin typeface="Cambria Math" panose="02040503050406030204" pitchFamily="18" charset="0"/>
                        </a:rPr>
                        <m:t>. =(</m:t>
                      </m:r>
                      <m:r>
                        <a:rPr lang="en-US" b="1" i="1" smtClean="0">
                          <a:solidFill>
                            <a:srgbClr val="C00000"/>
                          </a:solidFill>
                          <a:latin typeface="Cambria Math" panose="02040503050406030204" pitchFamily="18" charset="0"/>
                        </a:rPr>
                        <m:t>𝟎</m:t>
                      </m:r>
                      <m:r>
                        <a:rPr lang="en-US" b="1" i="1" smtClean="0">
                          <a:solidFill>
                            <a:srgbClr val="C00000"/>
                          </a:solidFill>
                          <a:latin typeface="Cambria Math" panose="02040503050406030204" pitchFamily="18" charset="0"/>
                        </a:rPr>
                        <m:t> | </m:t>
                      </m:r>
                      <m:r>
                        <a:rPr lang="en-US" b="1" i="1" smtClean="0">
                          <a:solidFill>
                            <a:srgbClr val="C00000"/>
                          </a:solidFill>
                          <a:latin typeface="Cambria Math" panose="02040503050406030204" pitchFamily="18" charset="0"/>
                        </a:rPr>
                        <m:t>𝟏</m:t>
                      </m:r>
                      <m:r>
                        <a:rPr lang="en-US" b="1" i="1" smtClean="0">
                          <a:solidFill>
                            <a:srgbClr val="C00000"/>
                          </a:solidFill>
                          <a:latin typeface="Cambria Math" panose="02040503050406030204" pitchFamily="18" charset="0"/>
                        </a:rPr>
                        <m:t>)∗</m:t>
                      </m:r>
                      <m:r>
                        <a:rPr lang="en-US" b="1" i="1">
                          <a:solidFill>
                            <a:srgbClr val="C00000"/>
                          </a:solidFill>
                          <a:latin typeface="Cambria Math" panose="02040503050406030204" pitchFamily="18" charset="0"/>
                        </a:rPr>
                        <m:t>𝟏</m:t>
                      </m:r>
                    </m:oMath>
                  </m:oMathPara>
                </a14:m>
                <a:endParaRPr lang="en-US" b="1" baseline="30000">
                  <a:solidFill>
                    <a:srgbClr val="C00000"/>
                  </a:solidFill>
                  <a:latin typeface="+mj-lt"/>
                </a:endParaRPr>
              </a:p>
            </p:txBody>
          </p:sp>
        </mc:Choice>
        <mc:Fallback xmlns="">
          <p:sp>
            <p:nvSpPr>
              <p:cNvPr id="12" name="Rectangle 11">
                <a:extLst>
                  <a:ext uri="{FF2B5EF4-FFF2-40B4-BE49-F238E27FC236}">
                    <a16:creationId xmlns:a16="http://schemas.microsoft.com/office/drawing/2014/main" id="{F09BFBBC-58E7-4F3F-3F25-4C386A0DE4C1}"/>
                  </a:ext>
                </a:extLst>
              </p:cNvPr>
              <p:cNvSpPr>
                <a:spLocks noRot="1" noChangeAspect="1" noMove="1" noResize="1" noEditPoints="1" noAdjustHandles="1" noChangeArrowheads="1" noChangeShapeType="1" noTextEdit="1"/>
              </p:cNvSpPr>
              <p:nvPr/>
            </p:nvSpPr>
            <p:spPr>
              <a:xfrm>
                <a:off x="4730299" y="3703567"/>
                <a:ext cx="3200400" cy="608533"/>
              </a:xfrm>
              <a:prstGeom prst="rect">
                <a:avLst/>
              </a:prstGeom>
              <a:blipFill>
                <a:blip r:embed="rId10"/>
                <a:stretch>
                  <a:fillRect/>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9FF08599-F66B-4645-48D1-EA11754FEB1C}"/>
                  </a:ext>
                </a:extLst>
              </p:cNvPr>
              <p:cNvSpPr/>
              <p:nvPr/>
            </p:nvSpPr>
            <p:spPr>
              <a:xfrm>
                <a:off x="4730299" y="2841746"/>
                <a:ext cx="3200400" cy="6085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14:m>
                  <m:oMath xmlns:m="http://schemas.openxmlformats.org/officeDocument/2006/math">
                    <m:r>
                      <a:rPr lang="en-US" b="1" i="1" smtClean="0">
                        <a:solidFill>
                          <a:srgbClr val="C00000"/>
                        </a:solidFill>
                        <a:latin typeface="Cambria Math" panose="02040503050406030204" pitchFamily="18" charset="0"/>
                      </a:rPr>
                      <m:t>𝑹</m:t>
                    </m:r>
                    <m:r>
                      <a:rPr lang="en-US" b="1" i="1" smtClean="0">
                        <a:solidFill>
                          <a:srgbClr val="C00000"/>
                        </a:solidFill>
                        <a:latin typeface="Cambria Math" panose="02040503050406030204" pitchFamily="18" charset="0"/>
                      </a:rPr>
                      <m:t>.</m:t>
                    </m:r>
                    <m:r>
                      <a:rPr lang="en-US" b="1" i="1" smtClean="0">
                        <a:solidFill>
                          <a:srgbClr val="C00000"/>
                        </a:solidFill>
                        <a:latin typeface="Cambria Math" panose="02040503050406030204" pitchFamily="18" charset="0"/>
                      </a:rPr>
                      <m:t>𝑬</m:t>
                    </m:r>
                    <m:r>
                      <a:rPr lang="en-US" b="1" i="1" smtClean="0">
                        <a:solidFill>
                          <a:srgbClr val="C00000"/>
                        </a:solidFill>
                        <a:latin typeface="Cambria Math" panose="02040503050406030204" pitchFamily="18" charset="0"/>
                      </a:rPr>
                      <m:t>. =(</m:t>
                    </m:r>
                    <m:r>
                      <a:rPr lang="en-US" b="1" i="1" smtClean="0">
                        <a:solidFill>
                          <a:srgbClr val="C00000"/>
                        </a:solidFill>
                        <a:latin typeface="Cambria Math" panose="02040503050406030204" pitchFamily="18" charset="0"/>
                      </a:rPr>
                      <m:t>𝟎</m:t>
                    </m:r>
                    <m:r>
                      <a:rPr lang="en-US" b="1" i="1" smtClean="0">
                        <a:solidFill>
                          <a:srgbClr val="C00000"/>
                        </a:solidFill>
                        <a:latin typeface="Cambria Math" panose="02040503050406030204" pitchFamily="18" charset="0"/>
                      </a:rPr>
                      <m:t> | </m:t>
                    </m:r>
                    <m:r>
                      <a:rPr lang="en-US" b="1" i="1" smtClean="0">
                        <a:solidFill>
                          <a:srgbClr val="C00000"/>
                        </a:solidFill>
                        <a:latin typeface="Cambria Math" panose="02040503050406030204" pitchFamily="18" charset="0"/>
                      </a:rPr>
                      <m:t>𝟏</m:t>
                    </m:r>
                    <m:r>
                      <a:rPr lang="en-US" b="1" i="1" smtClean="0">
                        <a:solidFill>
                          <a:srgbClr val="C00000"/>
                        </a:solidFill>
                        <a:latin typeface="Cambria Math" panose="02040503050406030204" pitchFamily="18" charset="0"/>
                      </a:rPr>
                      <m:t>)</m:t>
                    </m:r>
                  </m:oMath>
                </a14:m>
                <a:r>
                  <a:rPr lang="en-US" b="1">
                    <a:solidFill>
                      <a:srgbClr val="C00000"/>
                    </a:solidFill>
                    <a:latin typeface="+mj-lt"/>
                  </a:rPr>
                  <a:t>* </a:t>
                </a:r>
                <a14:m>
                  <m:oMath xmlns:m="http://schemas.openxmlformats.org/officeDocument/2006/math">
                    <m:r>
                      <a:rPr lang="en-US" b="1" i="1">
                        <a:solidFill>
                          <a:srgbClr val="C00000"/>
                        </a:solidFill>
                        <a:latin typeface="Cambria Math" panose="02040503050406030204" pitchFamily="18" charset="0"/>
                      </a:rPr>
                      <m:t>𝟎</m:t>
                    </m:r>
                  </m:oMath>
                </a14:m>
                <a:endParaRPr lang="en-US" b="1" baseline="30000">
                  <a:solidFill>
                    <a:srgbClr val="C00000"/>
                  </a:solidFill>
                  <a:latin typeface="+mj-lt"/>
                </a:endParaRPr>
              </a:p>
            </p:txBody>
          </p:sp>
        </mc:Choice>
        <mc:Fallback xmlns="">
          <p:sp>
            <p:nvSpPr>
              <p:cNvPr id="13" name="Rectangle 12">
                <a:extLst>
                  <a:ext uri="{FF2B5EF4-FFF2-40B4-BE49-F238E27FC236}">
                    <a16:creationId xmlns:a16="http://schemas.microsoft.com/office/drawing/2014/main" id="{9FF08599-F66B-4645-48D1-EA11754FEB1C}"/>
                  </a:ext>
                </a:extLst>
              </p:cNvPr>
              <p:cNvSpPr>
                <a:spLocks noRot="1" noChangeAspect="1" noMove="1" noResize="1" noEditPoints="1" noAdjustHandles="1" noChangeArrowheads="1" noChangeShapeType="1" noTextEdit="1"/>
              </p:cNvSpPr>
              <p:nvPr/>
            </p:nvSpPr>
            <p:spPr>
              <a:xfrm>
                <a:off x="4730299" y="2841746"/>
                <a:ext cx="3200400" cy="608533"/>
              </a:xfrm>
              <a:prstGeom prst="rect">
                <a:avLst/>
              </a:prstGeom>
              <a:blipFill>
                <a:blip r:embed="rId11"/>
                <a:stretch>
                  <a:fillRect/>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4" name="Rectangle 13">
                <a:extLst>
                  <a:ext uri="{FF2B5EF4-FFF2-40B4-BE49-F238E27FC236}">
                    <a16:creationId xmlns:a16="http://schemas.microsoft.com/office/drawing/2014/main" id="{DDA5545B-FA91-A7C4-D2A6-BC6BE391D769}"/>
                  </a:ext>
                </a:extLst>
              </p:cNvPr>
              <p:cNvSpPr/>
              <p:nvPr/>
            </p:nvSpPr>
            <p:spPr>
              <a:xfrm>
                <a:off x="4730299" y="4653430"/>
                <a:ext cx="3200400" cy="6085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14:m>
                  <m:oMath xmlns:m="http://schemas.openxmlformats.org/officeDocument/2006/math">
                    <m:r>
                      <a:rPr lang="en-US" b="1" i="1" smtClean="0">
                        <a:solidFill>
                          <a:srgbClr val="C00000"/>
                        </a:solidFill>
                        <a:latin typeface="Cambria Math" panose="02040503050406030204" pitchFamily="18" charset="0"/>
                      </a:rPr>
                      <m:t>𝑹</m:t>
                    </m:r>
                    <m:r>
                      <a:rPr lang="en-US" b="1" i="1" smtClean="0">
                        <a:solidFill>
                          <a:srgbClr val="C00000"/>
                        </a:solidFill>
                        <a:latin typeface="Cambria Math" panose="02040503050406030204" pitchFamily="18" charset="0"/>
                      </a:rPr>
                      <m:t>.</m:t>
                    </m:r>
                    <m:r>
                      <a:rPr lang="en-US" b="1" i="1" smtClean="0">
                        <a:solidFill>
                          <a:srgbClr val="C00000"/>
                        </a:solidFill>
                        <a:latin typeface="Cambria Math" panose="02040503050406030204" pitchFamily="18" charset="0"/>
                      </a:rPr>
                      <m:t>𝑬</m:t>
                    </m:r>
                    <m:r>
                      <a:rPr lang="en-US" b="1" i="1" smtClean="0">
                        <a:solidFill>
                          <a:srgbClr val="C00000"/>
                        </a:solidFill>
                        <a:latin typeface="Cambria Math" panose="02040503050406030204" pitchFamily="18" charset="0"/>
                      </a:rPr>
                      <m:t>. =</m:t>
                    </m:r>
                    <m:r>
                      <a:rPr lang="en-US" b="1" i="1" smtClean="0">
                        <a:solidFill>
                          <a:srgbClr val="C00000"/>
                        </a:solidFill>
                        <a:latin typeface="Cambria Math" panose="02040503050406030204" pitchFamily="18" charset="0"/>
                      </a:rPr>
                      <m:t>𝟏</m:t>
                    </m:r>
                    <m:r>
                      <a:rPr lang="en-US" b="1" i="1" smtClean="0">
                        <a:solidFill>
                          <a:srgbClr val="C00000"/>
                        </a:solidFill>
                        <a:latin typeface="Cambria Math" panose="02040503050406030204" pitchFamily="18" charset="0"/>
                      </a:rPr>
                      <m:t> (</m:t>
                    </m:r>
                    <m:r>
                      <a:rPr lang="en-US" b="1" i="1" smtClean="0">
                        <a:solidFill>
                          <a:srgbClr val="C00000"/>
                        </a:solidFill>
                        <a:latin typeface="Cambria Math" panose="02040503050406030204" pitchFamily="18" charset="0"/>
                      </a:rPr>
                      <m:t>𝟎</m:t>
                    </m:r>
                    <m:r>
                      <a:rPr lang="en-US" b="1" i="1" smtClean="0">
                        <a:solidFill>
                          <a:srgbClr val="C00000"/>
                        </a:solidFill>
                        <a:latin typeface="Cambria Math" panose="02040503050406030204" pitchFamily="18" charset="0"/>
                      </a:rPr>
                      <m:t> | </m:t>
                    </m:r>
                    <m:r>
                      <a:rPr lang="en-US" b="1" i="1" smtClean="0">
                        <a:solidFill>
                          <a:srgbClr val="C00000"/>
                        </a:solidFill>
                        <a:latin typeface="Cambria Math" panose="02040503050406030204" pitchFamily="18" charset="0"/>
                      </a:rPr>
                      <m:t>𝟏</m:t>
                    </m:r>
                    <m:r>
                      <a:rPr lang="en-US" b="1" i="1" smtClean="0">
                        <a:solidFill>
                          <a:srgbClr val="C00000"/>
                        </a:solidFill>
                        <a:latin typeface="Cambria Math" panose="02040503050406030204" pitchFamily="18" charset="0"/>
                      </a:rPr>
                      <m:t>)∗</m:t>
                    </m:r>
                  </m:oMath>
                </a14:m>
                <a:r>
                  <a:rPr lang="en-US" b="1" baseline="30000">
                    <a:solidFill>
                      <a:srgbClr val="C00000"/>
                    </a:solidFill>
                    <a:latin typeface="+mj-lt"/>
                  </a:rPr>
                  <a:t> </a:t>
                </a:r>
                <a14:m>
                  <m:oMath xmlns:m="http://schemas.openxmlformats.org/officeDocument/2006/math">
                    <m:r>
                      <a:rPr lang="en-US" b="1" i="1">
                        <a:solidFill>
                          <a:srgbClr val="C00000"/>
                        </a:solidFill>
                        <a:latin typeface="Cambria Math" panose="02040503050406030204" pitchFamily="18" charset="0"/>
                      </a:rPr>
                      <m:t>𝟏</m:t>
                    </m:r>
                  </m:oMath>
                </a14:m>
                <a:endParaRPr lang="en-US" b="1" baseline="30000">
                  <a:solidFill>
                    <a:srgbClr val="C00000"/>
                  </a:solidFill>
                  <a:latin typeface="+mj-lt"/>
                </a:endParaRPr>
              </a:p>
            </p:txBody>
          </p:sp>
        </mc:Choice>
        <mc:Fallback xmlns="">
          <p:sp>
            <p:nvSpPr>
              <p:cNvPr id="14" name="Rectangle 13">
                <a:extLst>
                  <a:ext uri="{FF2B5EF4-FFF2-40B4-BE49-F238E27FC236}">
                    <a16:creationId xmlns:a16="http://schemas.microsoft.com/office/drawing/2014/main" id="{DDA5545B-FA91-A7C4-D2A6-BC6BE391D769}"/>
                  </a:ext>
                </a:extLst>
              </p:cNvPr>
              <p:cNvSpPr>
                <a:spLocks noRot="1" noChangeAspect="1" noMove="1" noResize="1" noEditPoints="1" noAdjustHandles="1" noChangeArrowheads="1" noChangeShapeType="1" noTextEdit="1"/>
              </p:cNvSpPr>
              <p:nvPr/>
            </p:nvSpPr>
            <p:spPr>
              <a:xfrm>
                <a:off x="4730299" y="4653430"/>
                <a:ext cx="3200400" cy="608533"/>
              </a:xfrm>
              <a:prstGeom prst="rect">
                <a:avLst/>
              </a:prstGeom>
              <a:blipFill>
                <a:blip r:embed="rId12"/>
                <a:stretch>
                  <a:fillRect/>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0E992BA4-1CA8-5D1F-85A2-9A67F7EDCB29}"/>
                  </a:ext>
                </a:extLst>
              </p:cNvPr>
              <p:cNvSpPr/>
              <p:nvPr/>
            </p:nvSpPr>
            <p:spPr>
              <a:xfrm>
                <a:off x="4263311" y="5845476"/>
                <a:ext cx="5318069" cy="6085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14:m>
                  <m:oMathPara xmlns:m="http://schemas.openxmlformats.org/officeDocument/2006/math">
                    <m:oMathParaPr>
                      <m:jc m:val="centerGroup"/>
                    </m:oMathParaPr>
                    <m:oMath xmlns:m="http://schemas.openxmlformats.org/officeDocument/2006/math">
                      <m:r>
                        <a:rPr lang="en-US" b="1" i="1" smtClean="0">
                          <a:solidFill>
                            <a:srgbClr val="C00000"/>
                          </a:solidFill>
                          <a:latin typeface="Cambria Math" panose="02040503050406030204" pitchFamily="18" charset="0"/>
                        </a:rPr>
                        <m:t>𝑹</m:t>
                      </m:r>
                      <m:r>
                        <a:rPr lang="en-US" b="1" i="1" smtClean="0">
                          <a:solidFill>
                            <a:srgbClr val="C00000"/>
                          </a:solidFill>
                          <a:latin typeface="Cambria Math" panose="02040503050406030204" pitchFamily="18" charset="0"/>
                        </a:rPr>
                        <m:t>.</m:t>
                      </m:r>
                      <m:r>
                        <a:rPr lang="en-US" b="1" i="1" smtClean="0">
                          <a:solidFill>
                            <a:srgbClr val="C00000"/>
                          </a:solidFill>
                          <a:latin typeface="Cambria Math" panose="02040503050406030204" pitchFamily="18" charset="0"/>
                        </a:rPr>
                        <m:t>𝑬</m:t>
                      </m:r>
                      <m:r>
                        <a:rPr lang="en-US" b="1" i="1" smtClean="0">
                          <a:solidFill>
                            <a:srgbClr val="C00000"/>
                          </a:solidFill>
                          <a:latin typeface="Cambria Math" panose="02040503050406030204" pitchFamily="18" charset="0"/>
                        </a:rPr>
                        <m:t>. =</m:t>
                      </m:r>
                      <m:r>
                        <a:rPr lang="en-US" b="1" i="1" smtClean="0">
                          <a:solidFill>
                            <a:srgbClr val="C00000"/>
                          </a:solidFill>
                          <a:latin typeface="Cambria Math" panose="02040503050406030204" pitchFamily="18" charset="0"/>
                        </a:rPr>
                        <m:t>𝟏</m:t>
                      </m:r>
                      <m:r>
                        <a:rPr lang="en-US" b="1" i="1" smtClean="0">
                          <a:solidFill>
                            <a:srgbClr val="C00000"/>
                          </a:solidFill>
                          <a:latin typeface="Cambria Math" panose="02040503050406030204" pitchFamily="18" charset="0"/>
                        </a:rPr>
                        <m:t> (</m:t>
                      </m:r>
                      <m:r>
                        <a:rPr lang="en-US" b="1" i="1" smtClean="0">
                          <a:solidFill>
                            <a:srgbClr val="C00000"/>
                          </a:solidFill>
                          <a:latin typeface="Cambria Math" panose="02040503050406030204" pitchFamily="18" charset="0"/>
                        </a:rPr>
                        <m:t>𝟎</m:t>
                      </m:r>
                      <m:r>
                        <a:rPr lang="en-US" b="1" i="1" smtClean="0">
                          <a:solidFill>
                            <a:srgbClr val="C00000"/>
                          </a:solidFill>
                          <a:latin typeface="Cambria Math" panose="02040503050406030204" pitchFamily="18" charset="0"/>
                        </a:rPr>
                        <m:t> | </m:t>
                      </m:r>
                      <m:r>
                        <a:rPr lang="en-US" b="1" i="1" smtClean="0">
                          <a:solidFill>
                            <a:srgbClr val="C00000"/>
                          </a:solidFill>
                          <a:latin typeface="Cambria Math" panose="02040503050406030204" pitchFamily="18" charset="0"/>
                        </a:rPr>
                        <m:t>𝟏</m:t>
                      </m:r>
                      <m:r>
                        <a:rPr lang="en-US" b="1" i="1" smtClean="0">
                          <a:solidFill>
                            <a:srgbClr val="C00000"/>
                          </a:solidFill>
                          <a:latin typeface="Cambria Math" panose="02040503050406030204" pitchFamily="18" charset="0"/>
                        </a:rPr>
                        <m:t>)∗</m:t>
                      </m:r>
                      <m:r>
                        <a:rPr lang="en-US" b="1" i="1" smtClean="0">
                          <a:solidFill>
                            <a:srgbClr val="C00000"/>
                          </a:solidFill>
                          <a:latin typeface="Cambria Math" panose="02040503050406030204" pitchFamily="18" charset="0"/>
                        </a:rPr>
                        <m:t>𝟏</m:t>
                      </m:r>
                      <m:r>
                        <a:rPr lang="en-US" b="1" i="0" smtClean="0">
                          <a:solidFill>
                            <a:srgbClr val="C00000"/>
                          </a:solidFill>
                          <a:latin typeface="Cambria Math" panose="02040503050406030204" pitchFamily="18" charset="0"/>
                        </a:rPr>
                        <m:t>  </m:t>
                      </m:r>
                      <m:r>
                        <a:rPr lang="en-US" b="1" i="0" smtClean="0">
                          <a:solidFill>
                            <a:srgbClr val="C00000"/>
                          </a:solidFill>
                          <a:latin typeface="Cambria Math" panose="02040503050406030204" pitchFamily="18" charset="0"/>
                        </a:rPr>
                        <m:t>𝐨𝐫</m:t>
                      </m:r>
                      <m:r>
                        <a:rPr lang="en-US" b="1" i="0" smtClean="0">
                          <a:solidFill>
                            <a:srgbClr val="C00000"/>
                          </a:solidFill>
                          <a:latin typeface="Cambria Math" panose="02040503050406030204" pitchFamily="18" charset="0"/>
                        </a:rPr>
                        <m:t> </m:t>
                      </m:r>
                      <m:r>
                        <a:rPr lang="en-US" b="1" i="1" smtClean="0">
                          <a:solidFill>
                            <a:srgbClr val="C00000"/>
                          </a:solidFill>
                          <a:latin typeface="Cambria Math" panose="02040503050406030204" pitchFamily="18" charset="0"/>
                        </a:rPr>
                        <m:t>  </m:t>
                      </m:r>
                      <m:r>
                        <a:rPr lang="en-US" b="1" i="1" smtClean="0">
                          <a:solidFill>
                            <a:srgbClr val="C00000"/>
                          </a:solidFill>
                          <a:latin typeface="Cambria Math" panose="02040503050406030204" pitchFamily="18" charset="0"/>
                        </a:rPr>
                        <m:t>𝟎</m:t>
                      </m:r>
                      <m:r>
                        <a:rPr lang="en-US" b="1" i="1">
                          <a:solidFill>
                            <a:srgbClr val="C00000"/>
                          </a:solidFill>
                          <a:latin typeface="Cambria Math" panose="02040503050406030204" pitchFamily="18" charset="0"/>
                        </a:rPr>
                        <m:t> (</m:t>
                      </m:r>
                      <m:r>
                        <a:rPr lang="en-US" b="1" i="1">
                          <a:solidFill>
                            <a:srgbClr val="C00000"/>
                          </a:solidFill>
                          <a:latin typeface="Cambria Math" panose="02040503050406030204" pitchFamily="18" charset="0"/>
                        </a:rPr>
                        <m:t>𝟎</m:t>
                      </m:r>
                      <m:r>
                        <a:rPr lang="en-US" b="1" i="1">
                          <a:solidFill>
                            <a:srgbClr val="C00000"/>
                          </a:solidFill>
                          <a:latin typeface="Cambria Math" panose="02040503050406030204" pitchFamily="18" charset="0"/>
                        </a:rPr>
                        <m:t> | </m:t>
                      </m:r>
                      <m:r>
                        <a:rPr lang="en-US" b="1" i="1">
                          <a:solidFill>
                            <a:srgbClr val="C00000"/>
                          </a:solidFill>
                          <a:latin typeface="Cambria Math" panose="02040503050406030204" pitchFamily="18" charset="0"/>
                        </a:rPr>
                        <m:t>𝟏</m:t>
                      </m:r>
                      <m:r>
                        <a:rPr lang="en-US" b="1" i="1">
                          <a:solidFill>
                            <a:srgbClr val="C00000"/>
                          </a:solidFill>
                          <a:latin typeface="Cambria Math" panose="02040503050406030204" pitchFamily="18" charset="0"/>
                        </a:rPr>
                        <m:t>)∗</m:t>
                      </m:r>
                      <m:r>
                        <a:rPr lang="en-US" b="1" i="1" smtClean="0">
                          <a:solidFill>
                            <a:srgbClr val="C00000"/>
                          </a:solidFill>
                          <a:latin typeface="Cambria Math" panose="02040503050406030204" pitchFamily="18" charset="0"/>
                        </a:rPr>
                        <m:t>𝟎</m:t>
                      </m:r>
                      <m:r>
                        <a:rPr lang="en-US" b="1" i="1">
                          <a:solidFill>
                            <a:srgbClr val="C00000"/>
                          </a:solidFill>
                          <a:latin typeface="Cambria Math" panose="02040503050406030204" pitchFamily="18" charset="0"/>
                        </a:rPr>
                        <m:t>               </m:t>
                      </m:r>
                    </m:oMath>
                  </m:oMathPara>
                </a14:m>
                <a:endParaRPr lang="en-US" b="1" i="1">
                  <a:solidFill>
                    <a:srgbClr val="C00000"/>
                  </a:solidFill>
                  <a:latin typeface="+mj-lt"/>
                </a:endParaRPr>
              </a:p>
              <a:p>
                <a:pPr/>
                <a14:m>
                  <m:oMathPara xmlns:m="http://schemas.openxmlformats.org/officeDocument/2006/math">
                    <m:oMathParaPr>
                      <m:jc m:val="centerGroup"/>
                    </m:oMathParaPr>
                    <m:oMath xmlns:m="http://schemas.openxmlformats.org/officeDocument/2006/math">
                      <m:r>
                        <a:rPr lang="en-US" b="1" i="1" smtClean="0">
                          <a:solidFill>
                            <a:srgbClr val="C00000"/>
                          </a:solidFill>
                          <a:latin typeface="Cambria Math" panose="02040503050406030204" pitchFamily="18" charset="0"/>
                        </a:rPr>
                        <m:t>𝒂</m:t>
                      </m:r>
                      <m:r>
                        <a:rPr lang="en-US" b="1" i="1">
                          <a:solidFill>
                            <a:srgbClr val="C00000"/>
                          </a:solidFill>
                          <a:latin typeface="Cambria Math" panose="02040503050406030204" pitchFamily="18" charset="0"/>
                        </a:rPr>
                        <m:t> (</m:t>
                      </m:r>
                      <m:r>
                        <a:rPr lang="en-US" b="1" i="1" smtClean="0">
                          <a:solidFill>
                            <a:srgbClr val="C00000"/>
                          </a:solidFill>
                          <a:latin typeface="Cambria Math" panose="02040503050406030204" pitchFamily="18" charset="0"/>
                        </a:rPr>
                        <m:t>𝒂</m:t>
                      </m:r>
                      <m:r>
                        <a:rPr lang="en-US" b="1" i="1">
                          <a:solidFill>
                            <a:srgbClr val="C00000"/>
                          </a:solidFill>
                          <a:latin typeface="Cambria Math" panose="02040503050406030204" pitchFamily="18" charset="0"/>
                        </a:rPr>
                        <m:t> | </m:t>
                      </m:r>
                      <m:r>
                        <a:rPr lang="en-US" b="1" i="1" smtClean="0">
                          <a:solidFill>
                            <a:srgbClr val="C00000"/>
                          </a:solidFill>
                          <a:latin typeface="Cambria Math" panose="02040503050406030204" pitchFamily="18" charset="0"/>
                        </a:rPr>
                        <m:t>𝒃</m:t>
                      </m:r>
                      <m:r>
                        <a:rPr lang="en-US" b="1" i="1">
                          <a:solidFill>
                            <a:srgbClr val="C00000"/>
                          </a:solidFill>
                          <a:latin typeface="Cambria Math" panose="02040503050406030204" pitchFamily="18" charset="0"/>
                        </a:rPr>
                        <m:t>)</m:t>
                      </m:r>
                      <m:r>
                        <a:rPr lang="en-US" b="1" i="1" baseline="30000">
                          <a:solidFill>
                            <a:srgbClr val="C00000"/>
                          </a:solidFill>
                          <a:latin typeface="Cambria Math" panose="02040503050406030204" pitchFamily="18" charset="0"/>
                        </a:rPr>
                        <m:t>∗</m:t>
                      </m:r>
                      <m:r>
                        <a:rPr lang="en-US" b="1" i="1">
                          <a:solidFill>
                            <a:srgbClr val="C00000"/>
                          </a:solidFill>
                          <a:latin typeface="Cambria Math" panose="02040503050406030204" pitchFamily="18" charset="0"/>
                        </a:rPr>
                        <m:t>𝒂</m:t>
                      </m:r>
                      <m:r>
                        <a:rPr lang="en-US" b="1" i="0" smtClean="0">
                          <a:solidFill>
                            <a:srgbClr val="C00000"/>
                          </a:solidFill>
                          <a:latin typeface="Cambria Math" panose="02040503050406030204" pitchFamily="18" charset="0"/>
                        </a:rPr>
                        <m:t>  </m:t>
                      </m:r>
                      <m:r>
                        <a:rPr lang="en-US" b="1">
                          <a:solidFill>
                            <a:srgbClr val="C00000"/>
                          </a:solidFill>
                          <a:latin typeface="Cambria Math" panose="02040503050406030204" pitchFamily="18" charset="0"/>
                        </a:rPr>
                        <m:t>𝐨𝐫</m:t>
                      </m:r>
                      <m:r>
                        <a:rPr lang="en-US" b="1">
                          <a:solidFill>
                            <a:srgbClr val="C00000"/>
                          </a:solidFill>
                          <a:latin typeface="Cambria Math" panose="02040503050406030204" pitchFamily="18" charset="0"/>
                        </a:rPr>
                        <m:t> </m:t>
                      </m:r>
                      <m:r>
                        <a:rPr lang="en-US" b="1" i="1">
                          <a:solidFill>
                            <a:srgbClr val="C00000"/>
                          </a:solidFill>
                          <a:latin typeface="Cambria Math" panose="02040503050406030204" pitchFamily="18" charset="0"/>
                        </a:rPr>
                        <m:t>  </m:t>
                      </m:r>
                      <m:r>
                        <a:rPr lang="en-US" b="1" i="1" smtClean="0">
                          <a:solidFill>
                            <a:srgbClr val="C00000"/>
                          </a:solidFill>
                          <a:latin typeface="Cambria Math" panose="02040503050406030204" pitchFamily="18" charset="0"/>
                        </a:rPr>
                        <m:t>𝒃</m:t>
                      </m:r>
                      <m:r>
                        <a:rPr lang="en-US" b="1" i="1">
                          <a:solidFill>
                            <a:srgbClr val="C00000"/>
                          </a:solidFill>
                          <a:latin typeface="Cambria Math" panose="02040503050406030204" pitchFamily="18" charset="0"/>
                        </a:rPr>
                        <m:t> (</m:t>
                      </m:r>
                      <m:r>
                        <a:rPr lang="en-US" b="1" i="1" smtClean="0">
                          <a:solidFill>
                            <a:srgbClr val="C00000"/>
                          </a:solidFill>
                          <a:latin typeface="Cambria Math" panose="02040503050406030204" pitchFamily="18" charset="0"/>
                        </a:rPr>
                        <m:t>𝒂</m:t>
                      </m:r>
                      <m:r>
                        <a:rPr lang="en-US" b="1" i="1">
                          <a:solidFill>
                            <a:srgbClr val="C00000"/>
                          </a:solidFill>
                          <a:latin typeface="Cambria Math" panose="02040503050406030204" pitchFamily="18" charset="0"/>
                        </a:rPr>
                        <m:t> | </m:t>
                      </m:r>
                      <m:r>
                        <a:rPr lang="en-US" b="1" i="1" smtClean="0">
                          <a:solidFill>
                            <a:srgbClr val="C00000"/>
                          </a:solidFill>
                          <a:latin typeface="Cambria Math" panose="02040503050406030204" pitchFamily="18" charset="0"/>
                        </a:rPr>
                        <m:t>𝒃</m:t>
                      </m:r>
                      <m:r>
                        <a:rPr lang="en-US" b="1" i="1">
                          <a:solidFill>
                            <a:srgbClr val="C00000"/>
                          </a:solidFill>
                          <a:latin typeface="Cambria Math" panose="02040503050406030204" pitchFamily="18" charset="0"/>
                        </a:rPr>
                        <m:t>)</m:t>
                      </m:r>
                      <m:r>
                        <a:rPr lang="en-US" b="1" i="1" baseline="30000">
                          <a:solidFill>
                            <a:srgbClr val="C00000"/>
                          </a:solidFill>
                          <a:latin typeface="Cambria Math" panose="02040503050406030204" pitchFamily="18" charset="0"/>
                        </a:rPr>
                        <m:t>∗</m:t>
                      </m:r>
                      <m:r>
                        <a:rPr lang="en-US" b="1" i="1">
                          <a:solidFill>
                            <a:srgbClr val="C00000"/>
                          </a:solidFill>
                          <a:latin typeface="Cambria Math" panose="02040503050406030204" pitchFamily="18" charset="0"/>
                        </a:rPr>
                        <m:t>𝒃</m:t>
                      </m:r>
                    </m:oMath>
                  </m:oMathPara>
                </a14:m>
                <a:endParaRPr lang="en-US" b="1" baseline="30000">
                  <a:solidFill>
                    <a:srgbClr val="C00000"/>
                  </a:solidFill>
                  <a:latin typeface="+mj-lt"/>
                </a:endParaRPr>
              </a:p>
              <a:p>
                <a:endParaRPr lang="en-US" b="1" baseline="30000">
                  <a:solidFill>
                    <a:srgbClr val="C00000"/>
                  </a:solidFill>
                  <a:latin typeface="+mj-lt"/>
                </a:endParaRPr>
              </a:p>
              <a:p>
                <a:endParaRPr lang="en-US" b="1" baseline="30000">
                  <a:solidFill>
                    <a:srgbClr val="C00000"/>
                  </a:solidFill>
                  <a:latin typeface="+mj-lt"/>
                </a:endParaRPr>
              </a:p>
            </p:txBody>
          </p:sp>
        </mc:Choice>
        <mc:Fallback xmlns="">
          <p:sp>
            <p:nvSpPr>
              <p:cNvPr id="15" name="Rectangle 14">
                <a:extLst>
                  <a:ext uri="{FF2B5EF4-FFF2-40B4-BE49-F238E27FC236}">
                    <a16:creationId xmlns:a16="http://schemas.microsoft.com/office/drawing/2014/main" id="{0E992BA4-1CA8-5D1F-85A2-9A67F7EDCB29}"/>
                  </a:ext>
                </a:extLst>
              </p:cNvPr>
              <p:cNvSpPr>
                <a:spLocks noRot="1" noChangeAspect="1" noMove="1" noResize="1" noEditPoints="1" noAdjustHandles="1" noChangeArrowheads="1" noChangeShapeType="1" noTextEdit="1"/>
              </p:cNvSpPr>
              <p:nvPr/>
            </p:nvSpPr>
            <p:spPr>
              <a:xfrm>
                <a:off x="4263311" y="5845476"/>
                <a:ext cx="5318069" cy="608533"/>
              </a:xfrm>
              <a:prstGeom prst="rect">
                <a:avLst/>
              </a:prstGeom>
              <a:blipFill>
                <a:blip r:embed="rId13"/>
                <a:stretch>
                  <a:fillRect t="-26000"/>
                </a:stretch>
              </a:blipFill>
              <a:ln>
                <a:noFill/>
              </a:ln>
            </p:spPr>
            <p:txBody>
              <a:bodyPr/>
              <a:lstStyle/>
              <a:p>
                <a:r>
                  <a:rPr lang="en-IN">
                    <a:noFill/>
                  </a:rPr>
                  <a:t> </a:t>
                </a:r>
              </a:p>
            </p:txBody>
          </p:sp>
        </mc:Fallback>
      </mc:AlternateContent>
    </p:spTree>
    <p:extLst>
      <p:ext uri="{BB962C8B-B14F-4D97-AF65-F5344CB8AC3E}">
        <p14:creationId xmlns:p14="http://schemas.microsoft.com/office/powerpoint/2010/main" val="38263313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dur="1"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dur="50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wipe(left)">
                                      <p:cBhvr>
                                        <p:cTn id="11" dur="500"/>
                                        <p:tgtEl>
                                          <p:spTgt spid="4"/>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dur="500" fill="hold" grpId="0" nodeType="click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wipe(left)">
                                      <p:cBhvr>
                                        <p:cTn id="16" dur="500"/>
                                        <p:tgtEl>
                                          <p:spTgt spid="10"/>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dur="1"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22" presetClass="entr" presetSubtype="8" dur="500"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wipe(left)">
                                      <p:cBhvr>
                                        <p:cTn id="25" dur="500"/>
                                        <p:tgtEl>
                                          <p:spTgt spid="5"/>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dur="500" fill="hold" grpId="0" nodeType="click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wipe(left)">
                                      <p:cBhvr>
                                        <p:cTn id="30" dur="500"/>
                                        <p:tgtEl>
                                          <p:spTgt spid="11"/>
                                        </p:tgtEl>
                                      </p:cBhvr>
                                    </p:animEffect>
                                  </p:childTnLst>
                                </p:cTn>
                              </p:par>
                            </p:childTnLst>
                          </p:cTn>
                        </p:par>
                      </p:childTnLst>
                    </p:cTn>
                  </p:par>
                  <p:par>
                    <p:cTn id="31" fill="hold">
                      <p:stCondLst>
                        <p:cond delay="indefinite"/>
                      </p:stCondLst>
                      <p:childTnLst>
                        <p:par>
                          <p:cTn id="32" fill="hold">
                            <p:stCondLst>
                              <p:cond delay="0"/>
                            </p:stCondLst>
                            <p:childTnLst>
                              <p:par>
                                <p:cTn id="33" presetID="1" presetClass="entr" presetSubtype="0" dur="1" fill="hold"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22" presetClass="entr" presetSubtype="8" dur="500" fill="hold" grpId="0" nodeType="clickEffect">
                                  <p:stCondLst>
                                    <p:cond delay="0"/>
                                  </p:stCondLst>
                                  <p:childTnLst>
                                    <p:set>
                                      <p:cBhvr>
                                        <p:cTn id="38" dur="1" fill="hold">
                                          <p:stCondLst>
                                            <p:cond delay="0"/>
                                          </p:stCondLst>
                                        </p:cTn>
                                        <p:tgtEl>
                                          <p:spTgt spid="6"/>
                                        </p:tgtEl>
                                        <p:attrNameLst>
                                          <p:attrName>style.visibility</p:attrName>
                                        </p:attrNameLst>
                                      </p:cBhvr>
                                      <p:to>
                                        <p:strVal val="visible"/>
                                      </p:to>
                                    </p:set>
                                    <p:animEffect transition="in" filter="wipe(left)">
                                      <p:cBhvr>
                                        <p:cTn id="39" dur="500"/>
                                        <p:tgtEl>
                                          <p:spTgt spid="6"/>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dur="500" fill="hold" grpId="0" nodeType="clickEffect">
                                  <p:stCondLst>
                                    <p:cond delay="0"/>
                                  </p:stCondLst>
                                  <p:childTnLst>
                                    <p:set>
                                      <p:cBhvr>
                                        <p:cTn id="43" dur="1" fill="hold">
                                          <p:stCondLst>
                                            <p:cond delay="0"/>
                                          </p:stCondLst>
                                        </p:cTn>
                                        <p:tgtEl>
                                          <p:spTgt spid="13"/>
                                        </p:tgtEl>
                                        <p:attrNameLst>
                                          <p:attrName>style.visibility</p:attrName>
                                        </p:attrNameLst>
                                      </p:cBhvr>
                                      <p:to>
                                        <p:strVal val="visible"/>
                                      </p:to>
                                    </p:set>
                                    <p:animEffect transition="in" filter="wipe(left)">
                                      <p:cBhvr>
                                        <p:cTn id="44" dur="500"/>
                                        <p:tgtEl>
                                          <p:spTgt spid="13"/>
                                        </p:tgtEl>
                                      </p:cBhvr>
                                    </p:animEffect>
                                  </p:childTnLst>
                                </p:cTn>
                              </p:par>
                            </p:childTnLst>
                          </p:cTn>
                        </p:par>
                      </p:childTnLst>
                    </p:cTn>
                  </p:par>
                  <p:par>
                    <p:cTn id="45" fill="hold">
                      <p:stCondLst>
                        <p:cond delay="indefinite"/>
                      </p:stCondLst>
                      <p:childTnLst>
                        <p:par>
                          <p:cTn id="46" fill="hold">
                            <p:stCondLst>
                              <p:cond delay="0"/>
                            </p:stCondLst>
                            <p:childTnLst>
                              <p:par>
                                <p:cTn id="47" presetID="1" presetClass="entr" presetSubtype="0" dur="1" fill="hold"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22" presetClass="entr" presetSubtype="8" dur="500" fill="hold" grpId="0" nodeType="clickEffect">
                                  <p:stCondLst>
                                    <p:cond delay="0"/>
                                  </p:stCondLst>
                                  <p:childTnLst>
                                    <p:set>
                                      <p:cBhvr>
                                        <p:cTn id="52" dur="1" fill="hold">
                                          <p:stCondLst>
                                            <p:cond delay="0"/>
                                          </p:stCondLst>
                                        </p:cTn>
                                        <p:tgtEl>
                                          <p:spTgt spid="7"/>
                                        </p:tgtEl>
                                        <p:attrNameLst>
                                          <p:attrName>style.visibility</p:attrName>
                                        </p:attrNameLst>
                                      </p:cBhvr>
                                      <p:to>
                                        <p:strVal val="visible"/>
                                      </p:to>
                                    </p:set>
                                    <p:animEffect transition="in" filter="wipe(left)">
                                      <p:cBhvr>
                                        <p:cTn id="53" dur="500"/>
                                        <p:tgtEl>
                                          <p:spTgt spid="7"/>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dur="500" fill="hold" grpId="0" nodeType="clickEffect">
                                  <p:stCondLst>
                                    <p:cond delay="0"/>
                                  </p:stCondLst>
                                  <p:childTnLst>
                                    <p:set>
                                      <p:cBhvr>
                                        <p:cTn id="57" dur="1" fill="hold">
                                          <p:stCondLst>
                                            <p:cond delay="0"/>
                                          </p:stCondLst>
                                        </p:cTn>
                                        <p:tgtEl>
                                          <p:spTgt spid="12"/>
                                        </p:tgtEl>
                                        <p:attrNameLst>
                                          <p:attrName>style.visibility</p:attrName>
                                        </p:attrNameLst>
                                      </p:cBhvr>
                                      <p:to>
                                        <p:strVal val="visible"/>
                                      </p:to>
                                    </p:set>
                                    <p:animEffect transition="in" filter="wipe(left)">
                                      <p:cBhvr>
                                        <p:cTn id="58" dur="500"/>
                                        <p:tgtEl>
                                          <p:spTgt spid="12"/>
                                        </p:tgtEl>
                                      </p:cBhvr>
                                    </p:animEffect>
                                  </p:childTnLst>
                                </p:cTn>
                              </p:par>
                            </p:childTnLst>
                          </p:cTn>
                        </p:par>
                      </p:childTnLst>
                    </p:cTn>
                  </p:par>
                  <p:par>
                    <p:cTn id="59" fill="hold">
                      <p:stCondLst>
                        <p:cond delay="indefinite"/>
                      </p:stCondLst>
                      <p:childTnLst>
                        <p:par>
                          <p:cTn id="60" fill="hold">
                            <p:stCondLst>
                              <p:cond delay="0"/>
                            </p:stCondLst>
                            <p:childTnLst>
                              <p:par>
                                <p:cTn id="61" presetID="1" presetClass="entr" presetSubtype="0" dur="1" fill="hold" nodeType="clickEffect">
                                  <p:stCondLst>
                                    <p:cond delay="0"/>
                                  </p:stCondLst>
                                  <p:childTnLst>
                                    <p:set>
                                      <p:cBhvr>
                                        <p:cTn id="6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22" presetClass="entr" presetSubtype="8" dur="500" fill="hold" grpId="0" nodeType="clickEffect">
                                  <p:stCondLst>
                                    <p:cond delay="0"/>
                                  </p:stCondLst>
                                  <p:childTnLst>
                                    <p:set>
                                      <p:cBhvr>
                                        <p:cTn id="66" dur="1" fill="hold">
                                          <p:stCondLst>
                                            <p:cond delay="0"/>
                                          </p:stCondLst>
                                        </p:cTn>
                                        <p:tgtEl>
                                          <p:spTgt spid="8"/>
                                        </p:tgtEl>
                                        <p:attrNameLst>
                                          <p:attrName>style.visibility</p:attrName>
                                        </p:attrNameLst>
                                      </p:cBhvr>
                                      <p:to>
                                        <p:strVal val="visible"/>
                                      </p:to>
                                    </p:set>
                                    <p:animEffect transition="in" filter="wipe(left)">
                                      <p:cBhvr>
                                        <p:cTn id="67" dur="500"/>
                                        <p:tgtEl>
                                          <p:spTgt spid="8"/>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dur="500" fill="hold" grpId="0" nodeType="clickEffect">
                                  <p:stCondLst>
                                    <p:cond delay="0"/>
                                  </p:stCondLst>
                                  <p:childTnLst>
                                    <p:set>
                                      <p:cBhvr>
                                        <p:cTn id="71" dur="1" fill="hold">
                                          <p:stCondLst>
                                            <p:cond delay="0"/>
                                          </p:stCondLst>
                                        </p:cTn>
                                        <p:tgtEl>
                                          <p:spTgt spid="14"/>
                                        </p:tgtEl>
                                        <p:attrNameLst>
                                          <p:attrName>style.visibility</p:attrName>
                                        </p:attrNameLst>
                                      </p:cBhvr>
                                      <p:to>
                                        <p:strVal val="visible"/>
                                      </p:to>
                                    </p:set>
                                    <p:animEffect transition="in" filter="wipe(left)">
                                      <p:cBhvr>
                                        <p:cTn id="72" dur="500"/>
                                        <p:tgtEl>
                                          <p:spTgt spid="14"/>
                                        </p:tgtEl>
                                      </p:cBhvr>
                                    </p:animEffect>
                                  </p:childTnLst>
                                </p:cTn>
                              </p:par>
                            </p:childTnLst>
                          </p:cTn>
                        </p:par>
                      </p:childTnLst>
                    </p:cTn>
                  </p:par>
                  <p:par>
                    <p:cTn id="73" fill="hold">
                      <p:stCondLst>
                        <p:cond delay="indefinite"/>
                      </p:stCondLst>
                      <p:childTnLst>
                        <p:par>
                          <p:cTn id="74" fill="hold">
                            <p:stCondLst>
                              <p:cond delay="0"/>
                            </p:stCondLst>
                            <p:childTnLst>
                              <p:par>
                                <p:cTn id="75" presetID="1" presetClass="entr" presetSubtype="0" dur="1" fill="hold" nodeType="clickEffect">
                                  <p:stCondLst>
                                    <p:cond delay="0"/>
                                  </p:stCondLst>
                                  <p:childTnLst>
                                    <p:set>
                                      <p:cBhvr>
                                        <p:cTn id="7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22" presetClass="entr" presetSubtype="8" dur="500" fill="hold" grpId="0" nodeType="clickEffect">
                                  <p:stCondLst>
                                    <p:cond delay="0"/>
                                  </p:stCondLst>
                                  <p:childTnLst>
                                    <p:set>
                                      <p:cBhvr>
                                        <p:cTn id="80" dur="1" fill="hold">
                                          <p:stCondLst>
                                            <p:cond delay="0"/>
                                          </p:stCondLst>
                                        </p:cTn>
                                        <p:tgtEl>
                                          <p:spTgt spid="9"/>
                                        </p:tgtEl>
                                        <p:attrNameLst>
                                          <p:attrName>style.visibility</p:attrName>
                                        </p:attrNameLst>
                                      </p:cBhvr>
                                      <p:to>
                                        <p:strVal val="visible"/>
                                      </p:to>
                                    </p:set>
                                    <p:animEffect transition="in" filter="wipe(left)">
                                      <p:cBhvr>
                                        <p:cTn id="81" dur="500"/>
                                        <p:tgtEl>
                                          <p:spTgt spid="9"/>
                                        </p:tgtEl>
                                      </p:cBhvr>
                                    </p:animEffect>
                                  </p:childTnLst>
                                </p:cTn>
                              </p:par>
                            </p:childTnLst>
                          </p:cTn>
                        </p:par>
                      </p:childTnLst>
                    </p:cTn>
                  </p:par>
                  <p:par>
                    <p:cTn id="82" fill="hold">
                      <p:stCondLst>
                        <p:cond delay="indefinite"/>
                      </p:stCondLst>
                      <p:childTnLst>
                        <p:par>
                          <p:cTn id="83" fill="hold">
                            <p:stCondLst>
                              <p:cond delay="0"/>
                            </p:stCondLst>
                            <p:childTnLst>
                              <p:par>
                                <p:cTn id="84" presetID="22" presetClass="entr" presetSubtype="8" dur="500" fill="hold" grpId="0" nodeType="clickEffect">
                                  <p:stCondLst>
                                    <p:cond delay="0"/>
                                  </p:stCondLst>
                                  <p:childTnLst>
                                    <p:set>
                                      <p:cBhvr>
                                        <p:cTn id="85" dur="1" fill="hold">
                                          <p:stCondLst>
                                            <p:cond delay="0"/>
                                          </p:stCondLst>
                                        </p:cTn>
                                        <p:tgtEl>
                                          <p:spTgt spid="15"/>
                                        </p:tgtEl>
                                        <p:attrNameLst>
                                          <p:attrName>style.visibility</p:attrName>
                                        </p:attrNameLst>
                                      </p:cBhvr>
                                      <p:to>
                                        <p:strVal val="visible"/>
                                      </p:to>
                                    </p:set>
                                    <p:animEffect transition="in" filter="wipe(left)">
                                      <p:cBhvr>
                                        <p:cTn id="86"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9" grpId="0"/>
      <p:bldP spid="10" grpId="0"/>
      <p:bldP spid="11" grpId="0"/>
      <p:bldP spid="12" grpId="0"/>
      <p:bldP spid="13" grpId="0"/>
      <p:bldP spid="14" grpId="0"/>
      <p:bldP spid="15"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121C35-80DD-4E33-229E-327D3A77CA58}"/>
              </a:ext>
            </a:extLst>
          </p:cNvPr>
          <p:cNvSpPr txBox="1">
            <a:spLocks/>
          </p:cNvSpPr>
          <p:nvPr/>
        </p:nvSpPr>
        <p:spPr>
          <a:xfrm>
            <a:off x="0" y="1"/>
            <a:ext cx="12192000" cy="711200"/>
          </a:xfrm>
          <a:prstGeom prst="rect">
            <a:avLst/>
          </a:prstGeom>
        </p:spPr>
        <p:txBody>
          <a:bodyPr/>
          <a:lstStyle>
            <a:lvl1pPr algn="l" defTabSz="914400" rtl="0" eaLnBrk="1" latinLnBrk="0" hangingPunct="1">
              <a:lnSpc>
                <a:spcPct val="90000"/>
              </a:lnSpc>
              <a:spcBef>
                <a:spcPct val="0"/>
              </a:spcBef>
              <a:buNone/>
              <a:defRPr sz="4400" kern="1200">
                <a:solidFill>
                  <a:srgbClr val="C00000"/>
                </a:solidFill>
                <a:latin typeface="Palatino Linotype" panose="02040502050505030304" pitchFamily="18" charset="0"/>
                <a:ea typeface="+mj-ea"/>
                <a:cs typeface="+mj-cs"/>
              </a:defRPr>
            </a:lvl1pPr>
          </a:lstStyle>
          <a:p>
            <a:r>
              <a:rPr lang="en-US"/>
              <a:t>Regular expression examples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539466E-72A8-7526-A1F5-DDDE5E80BCC6}"/>
                  </a:ext>
                </a:extLst>
              </p:cNvPr>
              <p:cNvSpPr txBox="1">
                <a:spLocks/>
              </p:cNvSpPr>
              <p:nvPr/>
            </p:nvSpPr>
            <p:spPr>
              <a:xfrm>
                <a:off x="131180" y="863444"/>
                <a:ext cx="11929641" cy="5590565"/>
              </a:xfrm>
              <a:prstGeom prst="rect">
                <a:avLst/>
              </a:prstGeom>
            </p:spPr>
            <p:txBody>
              <a:bodyPr/>
              <a:lstStyle>
                <a:lvl1pPr marL="228600" indent="-228600" algn="just"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Palatino Linotype" panose="02040502050505030304" pitchFamily="18" charset="0"/>
                    <a:ea typeface="+mn-ea"/>
                    <a:cs typeface="+mn-cs"/>
                  </a:defRPr>
                </a:lvl1pPr>
                <a:lvl2pPr marL="685800" indent="-228600" algn="just"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Palatino Linotype" panose="02040502050505030304" pitchFamily="18" charset="0"/>
                    <a:ea typeface="+mn-ea"/>
                    <a:cs typeface="+mn-cs"/>
                  </a:defRPr>
                </a:lvl2pPr>
                <a:lvl3pPr marL="1143000" indent="-228600" algn="just"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Palatino Linotype" panose="02040502050505030304" pitchFamily="18" charset="0"/>
                    <a:ea typeface="+mn-ea"/>
                    <a:cs typeface="+mn-cs"/>
                  </a:defRPr>
                </a:lvl3pPr>
                <a:lvl4pPr marL="1600200" indent="-228600" algn="just"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alatino Linotype" panose="02040502050505030304" pitchFamily="18" charset="0"/>
                    <a:ea typeface="+mn-ea"/>
                    <a:cs typeface="+mn-cs"/>
                  </a:defRPr>
                </a:lvl4pPr>
                <a:lvl5pPr marL="2057400" indent="-228600" algn="just"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63550" indent="-457200">
                  <a:lnSpc>
                    <a:spcPct val="100000"/>
                  </a:lnSpc>
                  <a:buFont typeface="+mj-lt"/>
                  <a:buAutoNum type="arabicPeriod" startAt="13"/>
                </a:pPr>
                <a:r>
                  <a:rPr lang="en-US" sz="2400" dirty="0"/>
                  <a:t>All string of a and b starting with a </a:t>
                </a:r>
              </a:p>
              <a:p>
                <a:pPr marL="406400" lvl="1" indent="0">
                  <a:lnSpc>
                    <a:spcPct val="100000"/>
                  </a:lnSpc>
                  <a:buFont typeface="Arial" panose="020B0604020202020204" pitchFamily="34" charset="0"/>
                  <a:buNone/>
                </a:pPr>
                <a:endParaRPr lang="en-IN" dirty="0"/>
              </a:p>
              <a:p>
                <a:pPr marL="463550" indent="-457200">
                  <a:lnSpc>
                    <a:spcPct val="100000"/>
                  </a:lnSpc>
                  <a:buFont typeface="+mj-lt"/>
                  <a:buAutoNum type="arabicPeriod" startAt="13"/>
                </a:pPr>
                <a:r>
                  <a:rPr lang="en-IN" sz="2400" dirty="0"/>
                  <a:t>String of 0 and 1 ends with 00</a:t>
                </a:r>
                <a:r>
                  <a:rPr lang="en-IN" sz="2400" i="1" dirty="0">
                    <a:latin typeface="Cambria Math" panose="02040503050406030204" pitchFamily="18" charset="0"/>
                  </a:rPr>
                  <a:t> </a:t>
                </a:r>
              </a:p>
              <a:p>
                <a:pPr marL="406400" lvl="1" indent="0">
                  <a:lnSpc>
                    <a:spcPct val="100000"/>
                  </a:lnSpc>
                  <a:buFont typeface="Arial" panose="020B0604020202020204" pitchFamily="34" charset="0"/>
                  <a:buNone/>
                </a:pPr>
                <a:endParaRPr lang="en-IN" i="1" dirty="0">
                  <a:latin typeface="Cambria Math" panose="02040503050406030204" pitchFamily="18" charset="0"/>
                </a:endParaRPr>
              </a:p>
              <a:p>
                <a:pPr marL="463550" indent="-457200">
                  <a:lnSpc>
                    <a:spcPct val="100000"/>
                  </a:lnSpc>
                  <a:buFont typeface="+mj-lt"/>
                  <a:buAutoNum type="arabicPeriod" startAt="13"/>
                </a:pPr>
                <a:r>
                  <a:rPr lang="en-IN" sz="2400" dirty="0"/>
                  <a:t>String ends with abb  </a:t>
                </a:r>
              </a:p>
              <a:p>
                <a:pPr marL="406400" lvl="1" indent="0">
                  <a:lnSpc>
                    <a:spcPct val="100000"/>
                  </a:lnSpc>
                  <a:buFont typeface="Arial" panose="020B0604020202020204" pitchFamily="34" charset="0"/>
                  <a:buNone/>
                </a:pPr>
                <a:endParaRPr lang="en-IN" dirty="0"/>
              </a:p>
              <a:p>
                <a:pPr marL="463550" indent="-457200">
                  <a:lnSpc>
                    <a:spcPct val="100000"/>
                  </a:lnSpc>
                  <a:buFont typeface="+mj-lt"/>
                  <a:buAutoNum type="arabicPeriod" startAt="13"/>
                </a:pPr>
                <a:r>
                  <a:rPr lang="en-IN" sz="2400" dirty="0"/>
                  <a:t>String starts with 1 and ends with 0 </a:t>
                </a:r>
              </a:p>
              <a:p>
                <a:pPr marL="406400" lvl="1" indent="0">
                  <a:lnSpc>
                    <a:spcPct val="100000"/>
                  </a:lnSpc>
                  <a:buFont typeface="Arial" panose="020B0604020202020204" pitchFamily="34" charset="0"/>
                  <a:buNone/>
                </a:pPr>
                <a:endParaRPr lang="en-IN" dirty="0"/>
              </a:p>
              <a:p>
                <a:pPr marL="463550" indent="-457200">
                  <a:lnSpc>
                    <a:spcPct val="100000"/>
                  </a:lnSpc>
                  <a:buFont typeface="+mj-lt"/>
                  <a:buAutoNum type="arabicPeriod" startAt="13"/>
                </a:pPr>
                <a:r>
                  <a:rPr lang="en-IN" sz="2200" dirty="0"/>
                  <a:t>All binary string with at least 3 characters and 3</a:t>
                </a:r>
                <a:r>
                  <a:rPr lang="en-IN" sz="2200" baseline="30000" dirty="0"/>
                  <a:t>rd</a:t>
                </a:r>
                <a:r>
                  <a:rPr lang="en-IN" sz="2200" dirty="0"/>
                  <a:t> character should be zero</a:t>
                </a:r>
                <a:endParaRPr lang="en-US" sz="2200" dirty="0"/>
              </a:p>
              <a:p>
                <a:pPr marL="406400" lvl="1" indent="0">
                  <a:lnSpc>
                    <a:spcPct val="100000"/>
                  </a:lnSpc>
                  <a:buFont typeface="Arial" panose="020B0604020202020204" pitchFamily="34" charset="0"/>
                  <a:buNone/>
                </a:pPr>
                <a:endParaRPr lang="en-US" dirty="0"/>
              </a:p>
              <a:p>
                <a:pPr marL="463550" indent="-457200">
                  <a:lnSpc>
                    <a:spcPct val="100000"/>
                  </a:lnSpc>
                  <a:buFont typeface="+mj-lt"/>
                  <a:buAutoNum type="arabicPeriod" startAt="13"/>
                </a:pPr>
                <a:r>
                  <a:rPr lang="en-IN" sz="2400" dirty="0"/>
                  <a:t>Language which consist of exactly two b’s over the set </a:t>
                </a:r>
                <a14:m>
                  <m:oMath xmlns:m="http://schemas.openxmlformats.org/officeDocument/2006/math">
                    <m:r>
                      <a:rPr lang="el-GR" sz="2400" i="1">
                        <a:latin typeface="Cambria Math" panose="02040503050406030204" pitchFamily="18" charset="0"/>
                        <a:ea typeface="Cambria Math" panose="02040503050406030204" pitchFamily="18" charset="0"/>
                      </a:rPr>
                      <m:t>𝛴</m:t>
                    </m:r>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𝑎</m:t>
                    </m:r>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𝑏</m:t>
                    </m:r>
                    <m:r>
                      <a:rPr lang="en-US" sz="2400" i="1">
                        <a:latin typeface="Cambria Math" panose="02040503050406030204" pitchFamily="18" charset="0"/>
                        <a:ea typeface="Cambria Math" panose="02040503050406030204" pitchFamily="18" charset="0"/>
                      </a:rPr>
                      <m:t>}</m:t>
                    </m:r>
                  </m:oMath>
                </a14:m>
                <a:endParaRPr lang="en-US" sz="2400" dirty="0"/>
              </a:p>
              <a:p>
                <a:pPr marL="406400" lvl="1" indent="0">
                  <a:lnSpc>
                    <a:spcPct val="100000"/>
                  </a:lnSpc>
                  <a:buFont typeface="Arial" panose="020B0604020202020204" pitchFamily="34" charset="0"/>
                  <a:buNone/>
                </a:pPr>
                <a:endParaRPr lang="en-US" dirty="0"/>
              </a:p>
              <a:p>
                <a:pPr>
                  <a:lnSpc>
                    <a:spcPct val="100000"/>
                  </a:lnSpc>
                </a:pPr>
                <a:endParaRPr lang="en-US" dirty="0"/>
              </a:p>
            </p:txBody>
          </p:sp>
        </mc:Choice>
        <mc:Fallback xmlns="">
          <p:sp>
            <p:nvSpPr>
              <p:cNvPr id="3" name="Content Placeholder 2">
                <a:extLst>
                  <a:ext uri="{FF2B5EF4-FFF2-40B4-BE49-F238E27FC236}">
                    <a16:creationId xmlns:a16="http://schemas.microsoft.com/office/drawing/2014/main" id="{F539466E-72A8-7526-A1F5-DDDE5E80BCC6}"/>
                  </a:ext>
                </a:extLst>
              </p:cNvPr>
              <p:cNvSpPr txBox="1">
                <a:spLocks noRot="1" noChangeAspect="1" noMove="1" noResize="1" noEditPoints="1" noAdjustHandles="1" noChangeArrowheads="1" noChangeShapeType="1" noTextEdit="1"/>
              </p:cNvSpPr>
              <p:nvPr/>
            </p:nvSpPr>
            <p:spPr>
              <a:xfrm>
                <a:off x="131180" y="863444"/>
                <a:ext cx="11929641" cy="5590565"/>
              </a:xfrm>
              <a:prstGeom prst="rect">
                <a:avLst/>
              </a:prstGeom>
              <a:blipFill>
                <a:blip r:embed="rId2"/>
                <a:stretch>
                  <a:fillRect l="-920" t="-1636"/>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DB0962DB-CA42-B87C-8745-1BC6F70C40D7}"/>
                  </a:ext>
                </a:extLst>
              </p:cNvPr>
              <p:cNvSpPr/>
              <p:nvPr/>
            </p:nvSpPr>
            <p:spPr>
              <a:xfrm>
                <a:off x="600938" y="1161627"/>
                <a:ext cx="3200400" cy="6085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14:m>
                  <m:oMath xmlns:m="http://schemas.openxmlformats.org/officeDocument/2006/math">
                    <m:r>
                      <a:rPr lang="en-US" b="1" i="1" smtClean="0">
                        <a:solidFill>
                          <a:srgbClr val="0E47A1"/>
                        </a:solidFill>
                        <a:latin typeface="Cambria Math" panose="02040503050406030204" pitchFamily="18" charset="0"/>
                      </a:rPr>
                      <m:t>𝑺𝒕𝒓𝒊𝒏𝒈𝒔</m:t>
                    </m:r>
                    <m:r>
                      <a:rPr lang="en-US" b="1" i="1" smtClean="0">
                        <a:solidFill>
                          <a:srgbClr val="0E47A1"/>
                        </a:solidFill>
                        <a:latin typeface="Cambria Math" panose="02040503050406030204" pitchFamily="18" charset="0"/>
                      </a:rPr>
                      <m:t>:</m:t>
                    </m:r>
                    <m:r>
                      <a:rPr lang="en-US" b="1" i="1" smtClean="0">
                        <a:solidFill>
                          <a:srgbClr val="0E47A1"/>
                        </a:solidFill>
                        <a:latin typeface="Cambria Math" panose="02040503050406030204" pitchFamily="18" charset="0"/>
                      </a:rPr>
                      <m:t>𝒂</m:t>
                    </m:r>
                    <m:r>
                      <a:rPr lang="en-US" b="1" i="1" smtClean="0">
                        <a:solidFill>
                          <a:srgbClr val="0E47A1"/>
                        </a:solidFill>
                        <a:latin typeface="Cambria Math" panose="02040503050406030204" pitchFamily="18" charset="0"/>
                      </a:rPr>
                      <m:t>,</m:t>
                    </m:r>
                    <m:r>
                      <a:rPr lang="en-US" b="1" i="1" smtClean="0">
                        <a:solidFill>
                          <a:srgbClr val="0E47A1"/>
                        </a:solidFill>
                        <a:latin typeface="Cambria Math" panose="02040503050406030204" pitchFamily="18" charset="0"/>
                      </a:rPr>
                      <m:t>𝒂𝒃</m:t>
                    </m:r>
                    <m:r>
                      <a:rPr lang="en-US" b="1" i="1" smtClean="0">
                        <a:solidFill>
                          <a:srgbClr val="0E47A1"/>
                        </a:solidFill>
                        <a:latin typeface="Cambria Math" panose="02040503050406030204" pitchFamily="18" charset="0"/>
                      </a:rPr>
                      <m:t>,</m:t>
                    </m:r>
                    <m:r>
                      <a:rPr lang="en-US" b="1" i="1" smtClean="0">
                        <a:solidFill>
                          <a:srgbClr val="0E47A1"/>
                        </a:solidFill>
                        <a:latin typeface="Cambria Math" panose="02040503050406030204" pitchFamily="18" charset="0"/>
                      </a:rPr>
                      <m:t>𝒂𝒂𝒃</m:t>
                    </m:r>
                    <m:r>
                      <a:rPr lang="en-US" b="1" i="1" smtClean="0">
                        <a:solidFill>
                          <a:srgbClr val="0E47A1"/>
                        </a:solidFill>
                        <a:latin typeface="Cambria Math" panose="02040503050406030204" pitchFamily="18" charset="0"/>
                      </a:rPr>
                      <m:t>,</m:t>
                    </m:r>
                    <m:r>
                      <a:rPr lang="en-US" b="1" i="1" smtClean="0">
                        <a:solidFill>
                          <a:srgbClr val="0E47A1"/>
                        </a:solidFill>
                        <a:latin typeface="Cambria Math" panose="02040503050406030204" pitchFamily="18" charset="0"/>
                      </a:rPr>
                      <m:t>𝒂𝒃𝒃</m:t>
                    </m:r>
                  </m:oMath>
                </a14:m>
                <a:r>
                  <a:rPr lang="en-US" b="1">
                    <a:solidFill>
                      <a:srgbClr val="0E47A1"/>
                    </a:solidFill>
                    <a:latin typeface="+mj-lt"/>
                  </a:rPr>
                  <a:t>…</a:t>
                </a:r>
              </a:p>
            </p:txBody>
          </p:sp>
        </mc:Choice>
        <mc:Fallback xmlns="">
          <p:sp>
            <p:nvSpPr>
              <p:cNvPr id="4" name="Rectangle 3">
                <a:extLst>
                  <a:ext uri="{FF2B5EF4-FFF2-40B4-BE49-F238E27FC236}">
                    <a16:creationId xmlns:a16="http://schemas.microsoft.com/office/drawing/2014/main" id="{DB0962DB-CA42-B87C-8745-1BC6F70C40D7}"/>
                  </a:ext>
                </a:extLst>
              </p:cNvPr>
              <p:cNvSpPr>
                <a:spLocks noRot="1" noChangeAspect="1" noMove="1" noResize="1" noEditPoints="1" noAdjustHandles="1" noChangeArrowheads="1" noChangeShapeType="1" noTextEdit="1"/>
              </p:cNvSpPr>
              <p:nvPr/>
            </p:nvSpPr>
            <p:spPr>
              <a:xfrm>
                <a:off x="600938" y="1161627"/>
                <a:ext cx="3200400" cy="608533"/>
              </a:xfrm>
              <a:prstGeom prst="rect">
                <a:avLst/>
              </a:prstGeom>
              <a:blipFill>
                <a:blip r:embed="rId3"/>
                <a:stretch>
                  <a:fillRect l="-571"/>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164649AE-8421-00F0-85D6-3CA169B627CF}"/>
                  </a:ext>
                </a:extLst>
              </p:cNvPr>
              <p:cNvSpPr/>
              <p:nvPr/>
            </p:nvSpPr>
            <p:spPr>
              <a:xfrm>
                <a:off x="4496489" y="1196180"/>
                <a:ext cx="3200400" cy="6085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14:m>
                  <m:oMath xmlns:m="http://schemas.openxmlformats.org/officeDocument/2006/math">
                    <m:r>
                      <a:rPr lang="en-US" b="1" i="1" smtClean="0">
                        <a:solidFill>
                          <a:srgbClr val="C00000"/>
                        </a:solidFill>
                        <a:latin typeface="Cambria Math" panose="02040503050406030204" pitchFamily="18" charset="0"/>
                      </a:rPr>
                      <m:t>𝑹</m:t>
                    </m:r>
                    <m:r>
                      <a:rPr lang="en-US" b="1" i="1" smtClean="0">
                        <a:solidFill>
                          <a:srgbClr val="C00000"/>
                        </a:solidFill>
                        <a:latin typeface="Cambria Math" panose="02040503050406030204" pitchFamily="18" charset="0"/>
                      </a:rPr>
                      <m:t>.</m:t>
                    </m:r>
                    <m:r>
                      <a:rPr lang="en-US" b="1" i="1" smtClean="0">
                        <a:solidFill>
                          <a:srgbClr val="C00000"/>
                        </a:solidFill>
                        <a:latin typeface="Cambria Math" panose="02040503050406030204" pitchFamily="18" charset="0"/>
                      </a:rPr>
                      <m:t>𝑬</m:t>
                    </m:r>
                    <m:r>
                      <a:rPr lang="en-US" b="1" i="1" smtClean="0">
                        <a:solidFill>
                          <a:srgbClr val="C00000"/>
                        </a:solidFill>
                        <a:latin typeface="Cambria Math" panose="02040503050406030204" pitchFamily="18" charset="0"/>
                      </a:rPr>
                      <m:t>. =</m:t>
                    </m:r>
                    <m:r>
                      <a:rPr lang="en-US" b="1" i="1" smtClean="0">
                        <a:solidFill>
                          <a:srgbClr val="C00000"/>
                        </a:solidFill>
                        <a:latin typeface="Cambria Math" panose="02040503050406030204" pitchFamily="18" charset="0"/>
                      </a:rPr>
                      <m:t>𝒂</m:t>
                    </m:r>
                    <m:r>
                      <a:rPr lang="en-US" b="1" i="1" smtClean="0">
                        <a:solidFill>
                          <a:srgbClr val="C00000"/>
                        </a:solidFill>
                        <a:latin typeface="Cambria Math" panose="02040503050406030204" pitchFamily="18" charset="0"/>
                      </a:rPr>
                      <m:t>(</m:t>
                    </m:r>
                    <m:r>
                      <a:rPr lang="en-US" b="1" i="1" smtClean="0">
                        <a:solidFill>
                          <a:srgbClr val="C00000"/>
                        </a:solidFill>
                        <a:latin typeface="Cambria Math" panose="02040503050406030204" pitchFamily="18" charset="0"/>
                      </a:rPr>
                      <m:t>𝒂</m:t>
                    </m:r>
                    <m:r>
                      <a:rPr lang="en-US" b="1" i="1" smtClean="0">
                        <a:solidFill>
                          <a:srgbClr val="C00000"/>
                        </a:solidFill>
                        <a:latin typeface="Cambria Math" panose="02040503050406030204" pitchFamily="18" charset="0"/>
                      </a:rPr>
                      <m:t> | </m:t>
                    </m:r>
                    <m:r>
                      <a:rPr lang="en-US" b="1" i="1" smtClean="0">
                        <a:solidFill>
                          <a:srgbClr val="C00000"/>
                        </a:solidFill>
                        <a:latin typeface="Cambria Math" panose="02040503050406030204" pitchFamily="18" charset="0"/>
                      </a:rPr>
                      <m:t>𝒃</m:t>
                    </m:r>
                    <m:r>
                      <a:rPr lang="en-US" b="1" i="1" smtClean="0">
                        <a:solidFill>
                          <a:srgbClr val="C00000"/>
                        </a:solidFill>
                        <a:latin typeface="Cambria Math" panose="02040503050406030204" pitchFamily="18" charset="0"/>
                      </a:rPr>
                      <m:t>)</m:t>
                    </m:r>
                  </m:oMath>
                </a14:m>
                <a:r>
                  <a:rPr lang="en-US" b="1" baseline="30000">
                    <a:solidFill>
                      <a:srgbClr val="C00000"/>
                    </a:solidFill>
                    <a:latin typeface="+mj-lt"/>
                  </a:rPr>
                  <a:t>*</a:t>
                </a:r>
              </a:p>
            </p:txBody>
          </p:sp>
        </mc:Choice>
        <mc:Fallback xmlns="">
          <p:sp>
            <p:nvSpPr>
              <p:cNvPr id="5" name="Rectangle 4">
                <a:extLst>
                  <a:ext uri="{FF2B5EF4-FFF2-40B4-BE49-F238E27FC236}">
                    <a16:creationId xmlns:a16="http://schemas.microsoft.com/office/drawing/2014/main" id="{164649AE-8421-00F0-85D6-3CA169B627CF}"/>
                  </a:ext>
                </a:extLst>
              </p:cNvPr>
              <p:cNvSpPr>
                <a:spLocks noRot="1" noChangeAspect="1" noMove="1" noResize="1" noEditPoints="1" noAdjustHandles="1" noChangeArrowheads="1" noChangeShapeType="1" noTextEdit="1"/>
              </p:cNvSpPr>
              <p:nvPr/>
            </p:nvSpPr>
            <p:spPr>
              <a:xfrm>
                <a:off x="4496489" y="1196180"/>
                <a:ext cx="3200400" cy="608533"/>
              </a:xfrm>
              <a:prstGeom prst="rect">
                <a:avLst/>
              </a:prstGeom>
              <a:blipFill>
                <a:blip r:embed="rId4"/>
                <a:stretch>
                  <a:fillRect/>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541B9B65-DD51-116D-48F0-C81DD7882550}"/>
                  </a:ext>
                </a:extLst>
              </p:cNvPr>
              <p:cNvSpPr/>
              <p:nvPr/>
            </p:nvSpPr>
            <p:spPr>
              <a:xfrm>
                <a:off x="600938" y="2009953"/>
                <a:ext cx="3895551" cy="6085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14:m>
                  <m:oMath xmlns:m="http://schemas.openxmlformats.org/officeDocument/2006/math">
                    <m:r>
                      <a:rPr lang="en-US" b="1" i="1" smtClean="0">
                        <a:solidFill>
                          <a:srgbClr val="0E47A1"/>
                        </a:solidFill>
                        <a:latin typeface="Cambria Math" panose="02040503050406030204" pitchFamily="18" charset="0"/>
                      </a:rPr>
                      <m:t>𝑺𝒕𝒓𝒊𝒏𝒈𝒔</m:t>
                    </m:r>
                    <m:r>
                      <a:rPr lang="en-US" b="1" i="1" smtClean="0">
                        <a:solidFill>
                          <a:srgbClr val="0E47A1"/>
                        </a:solidFill>
                        <a:latin typeface="Cambria Math" panose="02040503050406030204" pitchFamily="18" charset="0"/>
                      </a:rPr>
                      <m:t>:</m:t>
                    </m:r>
                    <m:r>
                      <a:rPr lang="en-US" b="1" i="1" smtClean="0">
                        <a:solidFill>
                          <a:srgbClr val="0E47A1"/>
                        </a:solidFill>
                        <a:latin typeface="Cambria Math" panose="02040503050406030204" pitchFamily="18" charset="0"/>
                      </a:rPr>
                      <m:t>𝟎𝟎</m:t>
                    </m:r>
                    <m:r>
                      <a:rPr lang="en-US" b="1" i="1" smtClean="0">
                        <a:solidFill>
                          <a:srgbClr val="0E47A1"/>
                        </a:solidFill>
                        <a:latin typeface="Cambria Math" panose="02040503050406030204" pitchFamily="18" charset="0"/>
                      </a:rPr>
                      <m:t>,</m:t>
                    </m:r>
                    <m:r>
                      <a:rPr lang="en-US" b="1" i="1" smtClean="0">
                        <a:solidFill>
                          <a:srgbClr val="0E47A1"/>
                        </a:solidFill>
                        <a:latin typeface="Cambria Math" panose="02040503050406030204" pitchFamily="18" charset="0"/>
                      </a:rPr>
                      <m:t>𝟏𝟎𝟎</m:t>
                    </m:r>
                    <m:r>
                      <a:rPr lang="en-US" b="1" i="1" smtClean="0">
                        <a:solidFill>
                          <a:srgbClr val="0E47A1"/>
                        </a:solidFill>
                        <a:latin typeface="Cambria Math" panose="02040503050406030204" pitchFamily="18" charset="0"/>
                      </a:rPr>
                      <m:t>,</m:t>
                    </m:r>
                    <m:r>
                      <a:rPr lang="en-US" b="1" i="1" smtClean="0">
                        <a:solidFill>
                          <a:srgbClr val="0E47A1"/>
                        </a:solidFill>
                        <a:latin typeface="Cambria Math" panose="02040503050406030204" pitchFamily="18" charset="0"/>
                      </a:rPr>
                      <m:t>𝟎𝟎𝟎</m:t>
                    </m:r>
                    <m:r>
                      <a:rPr lang="en-US" b="1" i="1" smtClean="0">
                        <a:solidFill>
                          <a:srgbClr val="0E47A1"/>
                        </a:solidFill>
                        <a:latin typeface="Cambria Math" panose="02040503050406030204" pitchFamily="18" charset="0"/>
                      </a:rPr>
                      <m:t>,</m:t>
                    </m:r>
                    <m:r>
                      <a:rPr lang="en-US" b="1" i="1" smtClean="0">
                        <a:solidFill>
                          <a:srgbClr val="0E47A1"/>
                        </a:solidFill>
                        <a:latin typeface="Cambria Math" panose="02040503050406030204" pitchFamily="18" charset="0"/>
                      </a:rPr>
                      <m:t>𝟏𝟎𝟎𝟎</m:t>
                    </m:r>
                    <m:r>
                      <a:rPr lang="en-US" b="1" i="1" smtClean="0">
                        <a:solidFill>
                          <a:srgbClr val="0E47A1"/>
                        </a:solidFill>
                        <a:latin typeface="Cambria Math" panose="02040503050406030204" pitchFamily="18" charset="0"/>
                      </a:rPr>
                      <m:t>,</m:t>
                    </m:r>
                    <m:r>
                      <a:rPr lang="en-US" b="1" i="1" smtClean="0">
                        <a:solidFill>
                          <a:srgbClr val="0E47A1"/>
                        </a:solidFill>
                        <a:latin typeface="Cambria Math" panose="02040503050406030204" pitchFamily="18" charset="0"/>
                      </a:rPr>
                      <m:t>𝟏𝟏𝟎𝟎</m:t>
                    </m:r>
                  </m:oMath>
                </a14:m>
                <a:r>
                  <a:rPr lang="en-US" b="1">
                    <a:solidFill>
                      <a:srgbClr val="0E47A1"/>
                    </a:solidFill>
                    <a:latin typeface="+mj-lt"/>
                  </a:rPr>
                  <a:t>…</a:t>
                </a:r>
              </a:p>
            </p:txBody>
          </p:sp>
        </mc:Choice>
        <mc:Fallback xmlns="">
          <p:sp>
            <p:nvSpPr>
              <p:cNvPr id="6" name="Rectangle 5">
                <a:extLst>
                  <a:ext uri="{FF2B5EF4-FFF2-40B4-BE49-F238E27FC236}">
                    <a16:creationId xmlns:a16="http://schemas.microsoft.com/office/drawing/2014/main" id="{541B9B65-DD51-116D-48F0-C81DD7882550}"/>
                  </a:ext>
                </a:extLst>
              </p:cNvPr>
              <p:cNvSpPr>
                <a:spLocks noRot="1" noChangeAspect="1" noMove="1" noResize="1" noEditPoints="1" noAdjustHandles="1" noChangeArrowheads="1" noChangeShapeType="1" noTextEdit="1"/>
              </p:cNvSpPr>
              <p:nvPr/>
            </p:nvSpPr>
            <p:spPr>
              <a:xfrm>
                <a:off x="600938" y="2009953"/>
                <a:ext cx="3895551" cy="608533"/>
              </a:xfrm>
              <a:prstGeom prst="rect">
                <a:avLst/>
              </a:prstGeom>
              <a:blipFill>
                <a:blip r:embed="rId5"/>
                <a:stretch>
                  <a:fillRect l="-469"/>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64CBC1DB-804A-5253-2F55-CE3734D640D8}"/>
                  </a:ext>
                </a:extLst>
              </p:cNvPr>
              <p:cNvSpPr/>
              <p:nvPr/>
            </p:nvSpPr>
            <p:spPr>
              <a:xfrm>
                <a:off x="3942487" y="1977869"/>
                <a:ext cx="3200400" cy="6085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14:m>
                  <m:oMathPara xmlns:m="http://schemas.openxmlformats.org/officeDocument/2006/math">
                    <m:oMathParaPr>
                      <m:jc m:val="centerGroup"/>
                    </m:oMathParaPr>
                    <m:oMath xmlns:m="http://schemas.openxmlformats.org/officeDocument/2006/math">
                      <m:r>
                        <a:rPr lang="en-US" b="1" i="1" smtClean="0">
                          <a:solidFill>
                            <a:srgbClr val="C00000"/>
                          </a:solidFill>
                          <a:latin typeface="Cambria Math" panose="02040503050406030204" pitchFamily="18" charset="0"/>
                        </a:rPr>
                        <m:t>𝑹</m:t>
                      </m:r>
                      <m:r>
                        <a:rPr lang="en-US" b="1" i="1" smtClean="0">
                          <a:solidFill>
                            <a:srgbClr val="C00000"/>
                          </a:solidFill>
                          <a:latin typeface="Cambria Math" panose="02040503050406030204" pitchFamily="18" charset="0"/>
                        </a:rPr>
                        <m:t>.</m:t>
                      </m:r>
                      <m:r>
                        <a:rPr lang="en-US" b="1" i="1" smtClean="0">
                          <a:solidFill>
                            <a:srgbClr val="C00000"/>
                          </a:solidFill>
                          <a:latin typeface="Cambria Math" panose="02040503050406030204" pitchFamily="18" charset="0"/>
                        </a:rPr>
                        <m:t>𝑬</m:t>
                      </m:r>
                      <m:r>
                        <a:rPr lang="en-US" b="1" i="1" smtClean="0">
                          <a:solidFill>
                            <a:srgbClr val="C00000"/>
                          </a:solidFill>
                          <a:latin typeface="Cambria Math" panose="02040503050406030204" pitchFamily="18" charset="0"/>
                        </a:rPr>
                        <m:t>. =(</m:t>
                      </m:r>
                      <m:r>
                        <a:rPr lang="en-US" b="1" i="1" smtClean="0">
                          <a:solidFill>
                            <a:srgbClr val="C00000"/>
                          </a:solidFill>
                          <a:latin typeface="Cambria Math" panose="02040503050406030204" pitchFamily="18" charset="0"/>
                        </a:rPr>
                        <m:t>𝟎</m:t>
                      </m:r>
                      <m:r>
                        <a:rPr lang="en-US" b="1" i="1" smtClean="0">
                          <a:solidFill>
                            <a:srgbClr val="C00000"/>
                          </a:solidFill>
                          <a:latin typeface="Cambria Math" panose="02040503050406030204" pitchFamily="18" charset="0"/>
                        </a:rPr>
                        <m:t> | </m:t>
                      </m:r>
                      <m:r>
                        <a:rPr lang="en-US" b="1" i="1" smtClean="0">
                          <a:solidFill>
                            <a:srgbClr val="C00000"/>
                          </a:solidFill>
                          <a:latin typeface="Cambria Math" panose="02040503050406030204" pitchFamily="18" charset="0"/>
                        </a:rPr>
                        <m:t>𝟏</m:t>
                      </m:r>
                      <m:r>
                        <a:rPr lang="en-US" b="1" i="1" smtClean="0">
                          <a:solidFill>
                            <a:srgbClr val="C00000"/>
                          </a:solidFill>
                          <a:latin typeface="Cambria Math" panose="02040503050406030204" pitchFamily="18" charset="0"/>
                        </a:rPr>
                        <m:t>)∗</m:t>
                      </m:r>
                      <m:r>
                        <a:rPr lang="en-US" b="1" i="1" smtClean="0">
                          <a:solidFill>
                            <a:srgbClr val="C00000"/>
                          </a:solidFill>
                          <a:latin typeface="Cambria Math" panose="02040503050406030204" pitchFamily="18" charset="0"/>
                        </a:rPr>
                        <m:t>𝟎𝟎</m:t>
                      </m:r>
                    </m:oMath>
                  </m:oMathPara>
                </a14:m>
                <a:endParaRPr lang="en-US" b="1" baseline="30000">
                  <a:solidFill>
                    <a:srgbClr val="C00000"/>
                  </a:solidFill>
                  <a:latin typeface="+mj-lt"/>
                </a:endParaRPr>
              </a:p>
            </p:txBody>
          </p:sp>
        </mc:Choice>
        <mc:Fallback xmlns="">
          <p:sp>
            <p:nvSpPr>
              <p:cNvPr id="7" name="Rectangle 6">
                <a:extLst>
                  <a:ext uri="{FF2B5EF4-FFF2-40B4-BE49-F238E27FC236}">
                    <a16:creationId xmlns:a16="http://schemas.microsoft.com/office/drawing/2014/main" id="{64CBC1DB-804A-5253-2F55-CE3734D640D8}"/>
                  </a:ext>
                </a:extLst>
              </p:cNvPr>
              <p:cNvSpPr>
                <a:spLocks noRot="1" noChangeAspect="1" noMove="1" noResize="1" noEditPoints="1" noAdjustHandles="1" noChangeArrowheads="1" noChangeShapeType="1" noTextEdit="1"/>
              </p:cNvSpPr>
              <p:nvPr/>
            </p:nvSpPr>
            <p:spPr>
              <a:xfrm>
                <a:off x="3942487" y="1977869"/>
                <a:ext cx="3200400" cy="608533"/>
              </a:xfrm>
              <a:prstGeom prst="rect">
                <a:avLst/>
              </a:prstGeom>
              <a:blipFill>
                <a:blip r:embed="rId6"/>
                <a:stretch>
                  <a:fillRect/>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D80439E9-D9FF-B52E-91DA-A66D655499C3}"/>
                  </a:ext>
                </a:extLst>
              </p:cNvPr>
              <p:cNvSpPr/>
              <p:nvPr/>
            </p:nvSpPr>
            <p:spPr>
              <a:xfrm>
                <a:off x="616980" y="2884050"/>
                <a:ext cx="3672811" cy="6085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14:m>
                  <m:oMath xmlns:m="http://schemas.openxmlformats.org/officeDocument/2006/math">
                    <m:r>
                      <a:rPr lang="en-US" b="1" i="1" smtClean="0">
                        <a:solidFill>
                          <a:srgbClr val="0E47A1"/>
                        </a:solidFill>
                        <a:latin typeface="Cambria Math" panose="02040503050406030204" pitchFamily="18" charset="0"/>
                      </a:rPr>
                      <m:t>𝑺𝒕𝒓𝒊𝒏𝒈𝒔</m:t>
                    </m:r>
                    <m:r>
                      <a:rPr lang="en-US" b="1" i="1" smtClean="0">
                        <a:solidFill>
                          <a:srgbClr val="0E47A1"/>
                        </a:solidFill>
                        <a:latin typeface="Cambria Math" panose="02040503050406030204" pitchFamily="18" charset="0"/>
                      </a:rPr>
                      <m:t>:</m:t>
                    </m:r>
                    <m:r>
                      <a:rPr lang="en-US" b="1" i="1" smtClean="0">
                        <a:solidFill>
                          <a:srgbClr val="0E47A1"/>
                        </a:solidFill>
                        <a:latin typeface="Cambria Math" panose="02040503050406030204" pitchFamily="18" charset="0"/>
                      </a:rPr>
                      <m:t>𝒂𝒃𝒃</m:t>
                    </m:r>
                    <m:r>
                      <a:rPr lang="en-US" b="1" i="1" smtClean="0">
                        <a:solidFill>
                          <a:srgbClr val="0E47A1"/>
                        </a:solidFill>
                        <a:latin typeface="Cambria Math" panose="02040503050406030204" pitchFamily="18" charset="0"/>
                      </a:rPr>
                      <m:t>,</m:t>
                    </m:r>
                    <m:r>
                      <a:rPr lang="en-US" b="1" i="1" smtClean="0">
                        <a:solidFill>
                          <a:srgbClr val="0E47A1"/>
                        </a:solidFill>
                        <a:latin typeface="Cambria Math" panose="02040503050406030204" pitchFamily="18" charset="0"/>
                      </a:rPr>
                      <m:t>𝒃𝒂𝒃𝒃</m:t>
                    </m:r>
                    <m:r>
                      <a:rPr lang="en-US" b="1" i="1" smtClean="0">
                        <a:solidFill>
                          <a:srgbClr val="0E47A1"/>
                        </a:solidFill>
                        <a:latin typeface="Cambria Math" panose="02040503050406030204" pitchFamily="18" charset="0"/>
                      </a:rPr>
                      <m:t>, </m:t>
                    </m:r>
                    <m:r>
                      <a:rPr lang="en-US" b="1" i="1" smtClean="0">
                        <a:solidFill>
                          <a:srgbClr val="0E47A1"/>
                        </a:solidFill>
                        <a:latin typeface="Cambria Math" panose="02040503050406030204" pitchFamily="18" charset="0"/>
                      </a:rPr>
                      <m:t>𝒂𝒃𝒂𝒃𝒃</m:t>
                    </m:r>
                  </m:oMath>
                </a14:m>
                <a:r>
                  <a:rPr lang="en-US" b="1">
                    <a:solidFill>
                      <a:srgbClr val="0E47A1"/>
                    </a:solidFill>
                    <a:latin typeface="+mj-lt"/>
                  </a:rPr>
                  <a:t>…</a:t>
                </a:r>
              </a:p>
            </p:txBody>
          </p:sp>
        </mc:Choice>
        <mc:Fallback xmlns="">
          <p:sp>
            <p:nvSpPr>
              <p:cNvPr id="8" name="Rectangle 7">
                <a:extLst>
                  <a:ext uri="{FF2B5EF4-FFF2-40B4-BE49-F238E27FC236}">
                    <a16:creationId xmlns:a16="http://schemas.microsoft.com/office/drawing/2014/main" id="{D80439E9-D9FF-B52E-91DA-A66D655499C3}"/>
                  </a:ext>
                </a:extLst>
              </p:cNvPr>
              <p:cNvSpPr>
                <a:spLocks noRot="1" noChangeAspect="1" noMove="1" noResize="1" noEditPoints="1" noAdjustHandles="1" noChangeArrowheads="1" noChangeShapeType="1" noTextEdit="1"/>
              </p:cNvSpPr>
              <p:nvPr/>
            </p:nvSpPr>
            <p:spPr>
              <a:xfrm>
                <a:off x="616980" y="2884050"/>
                <a:ext cx="3672811" cy="608533"/>
              </a:xfrm>
              <a:prstGeom prst="rect">
                <a:avLst/>
              </a:prstGeom>
              <a:blipFill>
                <a:blip r:embed="rId7"/>
                <a:stretch>
                  <a:fillRect l="-332"/>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29EEFDC0-1BC9-E07B-AC75-B71EDFE82D79}"/>
                  </a:ext>
                </a:extLst>
              </p:cNvPr>
              <p:cNvSpPr/>
              <p:nvPr/>
            </p:nvSpPr>
            <p:spPr>
              <a:xfrm>
                <a:off x="4026154" y="2823726"/>
                <a:ext cx="3200400" cy="6085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14:m>
                  <m:oMathPara xmlns:m="http://schemas.openxmlformats.org/officeDocument/2006/math">
                    <m:oMathParaPr>
                      <m:jc m:val="centerGroup"/>
                    </m:oMathParaPr>
                    <m:oMath xmlns:m="http://schemas.openxmlformats.org/officeDocument/2006/math">
                      <m:r>
                        <a:rPr lang="en-US" b="1" i="1" smtClean="0">
                          <a:solidFill>
                            <a:srgbClr val="C00000"/>
                          </a:solidFill>
                          <a:latin typeface="Cambria Math" panose="02040503050406030204" pitchFamily="18" charset="0"/>
                        </a:rPr>
                        <m:t>𝑹</m:t>
                      </m:r>
                      <m:r>
                        <a:rPr lang="en-US" b="1" i="1" smtClean="0">
                          <a:solidFill>
                            <a:srgbClr val="C00000"/>
                          </a:solidFill>
                          <a:latin typeface="Cambria Math" panose="02040503050406030204" pitchFamily="18" charset="0"/>
                        </a:rPr>
                        <m:t>.</m:t>
                      </m:r>
                      <m:r>
                        <a:rPr lang="en-US" b="1" i="1" smtClean="0">
                          <a:solidFill>
                            <a:srgbClr val="C00000"/>
                          </a:solidFill>
                          <a:latin typeface="Cambria Math" panose="02040503050406030204" pitchFamily="18" charset="0"/>
                        </a:rPr>
                        <m:t>𝑬</m:t>
                      </m:r>
                      <m:r>
                        <a:rPr lang="en-US" b="1" i="1" smtClean="0">
                          <a:solidFill>
                            <a:srgbClr val="C00000"/>
                          </a:solidFill>
                          <a:latin typeface="Cambria Math" panose="02040503050406030204" pitchFamily="18" charset="0"/>
                        </a:rPr>
                        <m:t>. =(</m:t>
                      </m:r>
                      <m:r>
                        <a:rPr lang="en-US" b="1" i="1" smtClean="0">
                          <a:solidFill>
                            <a:srgbClr val="C00000"/>
                          </a:solidFill>
                          <a:latin typeface="Cambria Math" panose="02040503050406030204" pitchFamily="18" charset="0"/>
                        </a:rPr>
                        <m:t>𝒂</m:t>
                      </m:r>
                      <m:r>
                        <a:rPr lang="en-US" b="1" i="1" smtClean="0">
                          <a:solidFill>
                            <a:srgbClr val="C00000"/>
                          </a:solidFill>
                          <a:latin typeface="Cambria Math" panose="02040503050406030204" pitchFamily="18" charset="0"/>
                        </a:rPr>
                        <m:t> | </m:t>
                      </m:r>
                      <m:r>
                        <a:rPr lang="en-US" b="1" i="1" smtClean="0">
                          <a:solidFill>
                            <a:srgbClr val="C00000"/>
                          </a:solidFill>
                          <a:latin typeface="Cambria Math" panose="02040503050406030204" pitchFamily="18" charset="0"/>
                        </a:rPr>
                        <m:t>𝒃</m:t>
                      </m:r>
                      <m:r>
                        <a:rPr lang="en-US" b="1" i="1" smtClean="0">
                          <a:solidFill>
                            <a:srgbClr val="C00000"/>
                          </a:solidFill>
                          <a:latin typeface="Cambria Math" panose="02040503050406030204" pitchFamily="18" charset="0"/>
                        </a:rPr>
                        <m:t>)∗</m:t>
                      </m:r>
                      <m:r>
                        <a:rPr lang="en-US" b="1" i="1" smtClean="0">
                          <a:solidFill>
                            <a:srgbClr val="C00000"/>
                          </a:solidFill>
                          <a:latin typeface="Cambria Math" panose="02040503050406030204" pitchFamily="18" charset="0"/>
                        </a:rPr>
                        <m:t>𝒂𝒃𝒃</m:t>
                      </m:r>
                    </m:oMath>
                  </m:oMathPara>
                </a14:m>
                <a:endParaRPr lang="en-US" b="1">
                  <a:solidFill>
                    <a:srgbClr val="C00000"/>
                  </a:solidFill>
                  <a:latin typeface="+mj-lt"/>
                </a:endParaRPr>
              </a:p>
            </p:txBody>
          </p:sp>
        </mc:Choice>
        <mc:Fallback xmlns="">
          <p:sp>
            <p:nvSpPr>
              <p:cNvPr id="9" name="Rectangle 8">
                <a:extLst>
                  <a:ext uri="{FF2B5EF4-FFF2-40B4-BE49-F238E27FC236}">
                    <a16:creationId xmlns:a16="http://schemas.microsoft.com/office/drawing/2014/main" id="{29EEFDC0-1BC9-E07B-AC75-B71EDFE82D79}"/>
                  </a:ext>
                </a:extLst>
              </p:cNvPr>
              <p:cNvSpPr>
                <a:spLocks noRot="1" noChangeAspect="1" noMove="1" noResize="1" noEditPoints="1" noAdjustHandles="1" noChangeArrowheads="1" noChangeShapeType="1" noTextEdit="1"/>
              </p:cNvSpPr>
              <p:nvPr/>
            </p:nvSpPr>
            <p:spPr>
              <a:xfrm>
                <a:off x="4026154" y="2823726"/>
                <a:ext cx="3200400" cy="608533"/>
              </a:xfrm>
              <a:prstGeom prst="rect">
                <a:avLst/>
              </a:prstGeom>
              <a:blipFill>
                <a:blip r:embed="rId8"/>
                <a:stretch>
                  <a:fillRect/>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FE6F8177-4C7C-6C78-C074-FF97AB99352F}"/>
                  </a:ext>
                </a:extLst>
              </p:cNvPr>
              <p:cNvSpPr/>
              <p:nvPr/>
            </p:nvSpPr>
            <p:spPr>
              <a:xfrm>
                <a:off x="600938" y="3797287"/>
                <a:ext cx="4122476" cy="6085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14:m>
                  <m:oMath xmlns:m="http://schemas.openxmlformats.org/officeDocument/2006/math">
                    <m:r>
                      <a:rPr lang="en-US" b="1" i="1" smtClean="0">
                        <a:solidFill>
                          <a:srgbClr val="0E47A1"/>
                        </a:solidFill>
                        <a:latin typeface="Cambria Math" panose="02040503050406030204" pitchFamily="18" charset="0"/>
                      </a:rPr>
                      <m:t>𝑺𝒕𝒓𝒊𝒏𝒈𝒔</m:t>
                    </m:r>
                    <m:r>
                      <a:rPr lang="en-US" b="1" i="1" smtClean="0">
                        <a:solidFill>
                          <a:srgbClr val="0E47A1"/>
                        </a:solidFill>
                        <a:latin typeface="Cambria Math" panose="02040503050406030204" pitchFamily="18" charset="0"/>
                      </a:rPr>
                      <m:t>:</m:t>
                    </m:r>
                    <m:r>
                      <a:rPr lang="en-US" b="1" i="1" smtClean="0">
                        <a:solidFill>
                          <a:srgbClr val="0E47A1"/>
                        </a:solidFill>
                        <a:latin typeface="Cambria Math" panose="02040503050406030204" pitchFamily="18" charset="0"/>
                      </a:rPr>
                      <m:t>𝟏𝟎</m:t>
                    </m:r>
                    <m:r>
                      <a:rPr lang="en-US" b="1" i="1" smtClean="0">
                        <a:solidFill>
                          <a:srgbClr val="0E47A1"/>
                        </a:solidFill>
                        <a:latin typeface="Cambria Math" panose="02040503050406030204" pitchFamily="18" charset="0"/>
                      </a:rPr>
                      <m:t>,</m:t>
                    </m:r>
                    <m:r>
                      <a:rPr lang="en-US" b="1" i="1" smtClean="0">
                        <a:solidFill>
                          <a:srgbClr val="0E47A1"/>
                        </a:solidFill>
                        <a:latin typeface="Cambria Math" panose="02040503050406030204" pitchFamily="18" charset="0"/>
                      </a:rPr>
                      <m:t>𝟏𝟎𝟎</m:t>
                    </m:r>
                    <m:r>
                      <a:rPr lang="en-US" b="1" i="1" smtClean="0">
                        <a:solidFill>
                          <a:srgbClr val="0E47A1"/>
                        </a:solidFill>
                        <a:latin typeface="Cambria Math" panose="02040503050406030204" pitchFamily="18" charset="0"/>
                      </a:rPr>
                      <m:t>,</m:t>
                    </m:r>
                    <m:r>
                      <a:rPr lang="en-US" b="1" i="1" smtClean="0">
                        <a:solidFill>
                          <a:srgbClr val="0E47A1"/>
                        </a:solidFill>
                        <a:latin typeface="Cambria Math" panose="02040503050406030204" pitchFamily="18" charset="0"/>
                      </a:rPr>
                      <m:t>𝟏𝟏𝟎</m:t>
                    </m:r>
                    <m:r>
                      <a:rPr lang="en-US" b="1" i="1" smtClean="0">
                        <a:solidFill>
                          <a:srgbClr val="0E47A1"/>
                        </a:solidFill>
                        <a:latin typeface="Cambria Math" panose="02040503050406030204" pitchFamily="18" charset="0"/>
                      </a:rPr>
                      <m:t>,</m:t>
                    </m:r>
                    <m:r>
                      <a:rPr lang="en-US" b="1" i="1" smtClean="0">
                        <a:solidFill>
                          <a:srgbClr val="0E47A1"/>
                        </a:solidFill>
                        <a:latin typeface="Cambria Math" panose="02040503050406030204" pitchFamily="18" charset="0"/>
                      </a:rPr>
                      <m:t>𝟏𝟎𝟎𝟎</m:t>
                    </m:r>
                    <m:r>
                      <a:rPr lang="en-US" b="1" i="1" smtClean="0">
                        <a:solidFill>
                          <a:srgbClr val="0E47A1"/>
                        </a:solidFill>
                        <a:latin typeface="Cambria Math" panose="02040503050406030204" pitchFamily="18" charset="0"/>
                      </a:rPr>
                      <m:t>,</m:t>
                    </m:r>
                    <m:r>
                      <a:rPr lang="en-US" b="1" i="1" smtClean="0">
                        <a:solidFill>
                          <a:srgbClr val="0E47A1"/>
                        </a:solidFill>
                        <a:latin typeface="Cambria Math" panose="02040503050406030204" pitchFamily="18" charset="0"/>
                      </a:rPr>
                      <m:t>𝟏𝟏𝟎𝟎</m:t>
                    </m:r>
                  </m:oMath>
                </a14:m>
                <a:r>
                  <a:rPr lang="en-US" b="1" dirty="0">
                    <a:solidFill>
                      <a:srgbClr val="0E47A1"/>
                    </a:solidFill>
                    <a:latin typeface="+mj-lt"/>
                  </a:rPr>
                  <a:t>…</a:t>
                </a:r>
              </a:p>
            </p:txBody>
          </p:sp>
        </mc:Choice>
        <mc:Fallback xmlns="">
          <p:sp>
            <p:nvSpPr>
              <p:cNvPr id="10" name="Rectangle 9">
                <a:extLst>
                  <a:ext uri="{FF2B5EF4-FFF2-40B4-BE49-F238E27FC236}">
                    <a16:creationId xmlns:a16="http://schemas.microsoft.com/office/drawing/2014/main" id="{FE6F8177-4C7C-6C78-C074-FF97AB99352F}"/>
                  </a:ext>
                </a:extLst>
              </p:cNvPr>
              <p:cNvSpPr>
                <a:spLocks noRot="1" noChangeAspect="1" noMove="1" noResize="1" noEditPoints="1" noAdjustHandles="1" noChangeArrowheads="1" noChangeShapeType="1" noTextEdit="1"/>
              </p:cNvSpPr>
              <p:nvPr/>
            </p:nvSpPr>
            <p:spPr>
              <a:xfrm>
                <a:off x="600938" y="3797287"/>
                <a:ext cx="4122476" cy="608533"/>
              </a:xfrm>
              <a:prstGeom prst="rect">
                <a:avLst/>
              </a:prstGeom>
              <a:blipFill>
                <a:blip r:embed="rId9"/>
                <a:stretch>
                  <a:fillRect l="-444"/>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D2165447-A9E9-98E8-FE62-18FD3E2B991C}"/>
                  </a:ext>
                </a:extLst>
              </p:cNvPr>
              <p:cNvSpPr/>
              <p:nvPr/>
            </p:nvSpPr>
            <p:spPr>
              <a:xfrm>
                <a:off x="3942487" y="3801655"/>
                <a:ext cx="3200400" cy="6085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14:m>
                  <m:oMathPara xmlns:m="http://schemas.openxmlformats.org/officeDocument/2006/math">
                    <m:oMathParaPr>
                      <m:jc m:val="centerGroup"/>
                    </m:oMathParaPr>
                    <m:oMath xmlns:m="http://schemas.openxmlformats.org/officeDocument/2006/math">
                      <m:r>
                        <a:rPr lang="en-US" b="1" i="1" smtClean="0">
                          <a:solidFill>
                            <a:srgbClr val="C00000"/>
                          </a:solidFill>
                          <a:latin typeface="Cambria Math" panose="02040503050406030204" pitchFamily="18" charset="0"/>
                        </a:rPr>
                        <m:t>𝑹</m:t>
                      </m:r>
                      <m:r>
                        <a:rPr lang="en-US" b="1" i="1" smtClean="0">
                          <a:solidFill>
                            <a:srgbClr val="C00000"/>
                          </a:solidFill>
                          <a:latin typeface="Cambria Math" panose="02040503050406030204" pitchFamily="18" charset="0"/>
                        </a:rPr>
                        <m:t>.</m:t>
                      </m:r>
                      <m:r>
                        <a:rPr lang="en-US" b="1" i="1" smtClean="0">
                          <a:solidFill>
                            <a:srgbClr val="C00000"/>
                          </a:solidFill>
                          <a:latin typeface="Cambria Math" panose="02040503050406030204" pitchFamily="18" charset="0"/>
                        </a:rPr>
                        <m:t>𝑬</m:t>
                      </m:r>
                      <m:r>
                        <a:rPr lang="en-US" b="1" i="1" smtClean="0">
                          <a:solidFill>
                            <a:srgbClr val="C00000"/>
                          </a:solidFill>
                          <a:latin typeface="Cambria Math" panose="02040503050406030204" pitchFamily="18" charset="0"/>
                        </a:rPr>
                        <m:t>. =</m:t>
                      </m:r>
                      <m:r>
                        <a:rPr lang="en-US" b="1" i="1" smtClean="0">
                          <a:solidFill>
                            <a:srgbClr val="C00000"/>
                          </a:solidFill>
                          <a:latin typeface="Cambria Math" panose="02040503050406030204" pitchFamily="18" charset="0"/>
                        </a:rPr>
                        <m:t>𝟏</m:t>
                      </m:r>
                      <m:r>
                        <a:rPr lang="en-US" b="1" i="1" smtClean="0">
                          <a:solidFill>
                            <a:srgbClr val="C00000"/>
                          </a:solidFill>
                          <a:latin typeface="Cambria Math" panose="02040503050406030204" pitchFamily="18" charset="0"/>
                        </a:rPr>
                        <m:t>(</m:t>
                      </m:r>
                      <m:r>
                        <a:rPr lang="en-US" b="1" i="1" smtClean="0">
                          <a:solidFill>
                            <a:srgbClr val="C00000"/>
                          </a:solidFill>
                          <a:latin typeface="Cambria Math" panose="02040503050406030204" pitchFamily="18" charset="0"/>
                        </a:rPr>
                        <m:t>𝟎</m:t>
                      </m:r>
                      <m:r>
                        <a:rPr lang="en-US" b="1" i="1" smtClean="0">
                          <a:solidFill>
                            <a:srgbClr val="C00000"/>
                          </a:solidFill>
                          <a:latin typeface="Cambria Math" panose="02040503050406030204" pitchFamily="18" charset="0"/>
                        </a:rPr>
                        <m:t> | </m:t>
                      </m:r>
                      <m:r>
                        <a:rPr lang="en-US" b="1" i="1" smtClean="0">
                          <a:solidFill>
                            <a:srgbClr val="C00000"/>
                          </a:solidFill>
                          <a:latin typeface="Cambria Math" panose="02040503050406030204" pitchFamily="18" charset="0"/>
                        </a:rPr>
                        <m:t>𝟏</m:t>
                      </m:r>
                      <m:r>
                        <a:rPr lang="en-US" b="1" i="1" smtClean="0">
                          <a:solidFill>
                            <a:srgbClr val="C00000"/>
                          </a:solidFill>
                          <a:latin typeface="Cambria Math" panose="02040503050406030204" pitchFamily="18" charset="0"/>
                        </a:rPr>
                        <m:t>)∗</m:t>
                      </m:r>
                      <m:r>
                        <a:rPr lang="en-US" b="1" i="1" smtClean="0">
                          <a:solidFill>
                            <a:srgbClr val="C00000"/>
                          </a:solidFill>
                          <a:latin typeface="Cambria Math" panose="02040503050406030204" pitchFamily="18" charset="0"/>
                        </a:rPr>
                        <m:t>𝟎</m:t>
                      </m:r>
                    </m:oMath>
                  </m:oMathPara>
                </a14:m>
                <a:endParaRPr lang="en-US" b="1" baseline="30000" dirty="0">
                  <a:solidFill>
                    <a:srgbClr val="C00000"/>
                  </a:solidFill>
                  <a:latin typeface="+mj-lt"/>
                </a:endParaRPr>
              </a:p>
            </p:txBody>
          </p:sp>
        </mc:Choice>
        <mc:Fallback xmlns="">
          <p:sp>
            <p:nvSpPr>
              <p:cNvPr id="11" name="Rectangle 10">
                <a:extLst>
                  <a:ext uri="{FF2B5EF4-FFF2-40B4-BE49-F238E27FC236}">
                    <a16:creationId xmlns:a16="http://schemas.microsoft.com/office/drawing/2014/main" id="{D2165447-A9E9-98E8-FE62-18FD3E2B991C}"/>
                  </a:ext>
                </a:extLst>
              </p:cNvPr>
              <p:cNvSpPr>
                <a:spLocks noRot="1" noChangeAspect="1" noMove="1" noResize="1" noEditPoints="1" noAdjustHandles="1" noChangeArrowheads="1" noChangeShapeType="1" noTextEdit="1"/>
              </p:cNvSpPr>
              <p:nvPr/>
            </p:nvSpPr>
            <p:spPr>
              <a:xfrm>
                <a:off x="3942487" y="3801655"/>
                <a:ext cx="3200400" cy="608533"/>
              </a:xfrm>
              <a:prstGeom prst="rect">
                <a:avLst/>
              </a:prstGeom>
              <a:blipFill>
                <a:blip r:embed="rId10"/>
                <a:stretch>
                  <a:fillRect/>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6940C0DC-758C-7F5F-F0D6-91D200E120A9}"/>
                  </a:ext>
                </a:extLst>
              </p:cNvPr>
              <p:cNvSpPr/>
              <p:nvPr/>
            </p:nvSpPr>
            <p:spPr>
              <a:xfrm>
                <a:off x="616980" y="4707586"/>
                <a:ext cx="4358611" cy="6085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14:m>
                  <m:oMath xmlns:m="http://schemas.openxmlformats.org/officeDocument/2006/math">
                    <m:r>
                      <a:rPr lang="en-US" b="1" i="1" smtClean="0">
                        <a:solidFill>
                          <a:srgbClr val="0E47A1"/>
                        </a:solidFill>
                        <a:latin typeface="Cambria Math" panose="02040503050406030204" pitchFamily="18" charset="0"/>
                      </a:rPr>
                      <m:t>𝑺𝒕𝒓𝒊𝒏𝒈𝒔</m:t>
                    </m:r>
                    <m:r>
                      <a:rPr lang="en-US" b="1" i="1" smtClean="0">
                        <a:solidFill>
                          <a:srgbClr val="0E47A1"/>
                        </a:solidFill>
                        <a:latin typeface="Cambria Math" panose="02040503050406030204" pitchFamily="18" charset="0"/>
                      </a:rPr>
                      <m:t>:</m:t>
                    </m:r>
                    <m:r>
                      <a:rPr lang="en-US" b="1" i="1" smtClean="0">
                        <a:solidFill>
                          <a:srgbClr val="0E47A1"/>
                        </a:solidFill>
                        <a:latin typeface="Cambria Math" panose="02040503050406030204" pitchFamily="18" charset="0"/>
                      </a:rPr>
                      <m:t>𝟎𝟎𝟎</m:t>
                    </m:r>
                    <m:r>
                      <a:rPr lang="en-US" b="1" i="1" smtClean="0">
                        <a:solidFill>
                          <a:srgbClr val="0E47A1"/>
                        </a:solidFill>
                        <a:latin typeface="Cambria Math" panose="02040503050406030204" pitchFamily="18" charset="0"/>
                      </a:rPr>
                      <m:t>,</m:t>
                    </m:r>
                    <m:r>
                      <a:rPr lang="en-US" b="1" i="1" smtClean="0">
                        <a:solidFill>
                          <a:srgbClr val="0E47A1"/>
                        </a:solidFill>
                        <a:latin typeface="Cambria Math" panose="02040503050406030204" pitchFamily="18" charset="0"/>
                      </a:rPr>
                      <m:t>𝟏𝟎𝟎</m:t>
                    </m:r>
                    <m:r>
                      <a:rPr lang="en-US" b="1" i="1" smtClean="0">
                        <a:solidFill>
                          <a:srgbClr val="0E47A1"/>
                        </a:solidFill>
                        <a:latin typeface="Cambria Math" panose="02040503050406030204" pitchFamily="18" charset="0"/>
                      </a:rPr>
                      <m:t>,</m:t>
                    </m:r>
                    <m:r>
                      <a:rPr lang="en-US" b="1" i="1" smtClean="0">
                        <a:solidFill>
                          <a:srgbClr val="0E47A1"/>
                        </a:solidFill>
                        <a:latin typeface="Cambria Math" panose="02040503050406030204" pitchFamily="18" charset="0"/>
                      </a:rPr>
                      <m:t>𝟏𝟏𝟎𝟎</m:t>
                    </m:r>
                    <m:r>
                      <a:rPr lang="en-US" b="1" i="1" smtClean="0">
                        <a:solidFill>
                          <a:srgbClr val="0E47A1"/>
                        </a:solidFill>
                        <a:latin typeface="Cambria Math" panose="02040503050406030204" pitchFamily="18" charset="0"/>
                      </a:rPr>
                      <m:t>,</m:t>
                    </m:r>
                    <m:r>
                      <a:rPr lang="en-US" b="1" i="1" smtClean="0">
                        <a:solidFill>
                          <a:srgbClr val="0E47A1"/>
                        </a:solidFill>
                        <a:latin typeface="Cambria Math" panose="02040503050406030204" pitchFamily="18" charset="0"/>
                      </a:rPr>
                      <m:t>𝟏𝟎𝟎𝟏</m:t>
                    </m:r>
                  </m:oMath>
                </a14:m>
                <a:r>
                  <a:rPr lang="en-US" b="1" dirty="0">
                    <a:solidFill>
                      <a:srgbClr val="0E47A1"/>
                    </a:solidFill>
                    <a:latin typeface="+mj-lt"/>
                  </a:rPr>
                  <a:t>…</a:t>
                </a:r>
              </a:p>
            </p:txBody>
          </p:sp>
        </mc:Choice>
        <mc:Fallback xmlns="">
          <p:sp>
            <p:nvSpPr>
              <p:cNvPr id="12" name="Rectangle 11">
                <a:extLst>
                  <a:ext uri="{FF2B5EF4-FFF2-40B4-BE49-F238E27FC236}">
                    <a16:creationId xmlns:a16="http://schemas.microsoft.com/office/drawing/2014/main" id="{6940C0DC-758C-7F5F-F0D6-91D200E120A9}"/>
                  </a:ext>
                </a:extLst>
              </p:cNvPr>
              <p:cNvSpPr>
                <a:spLocks noRot="1" noChangeAspect="1" noMove="1" noResize="1" noEditPoints="1" noAdjustHandles="1" noChangeArrowheads="1" noChangeShapeType="1" noTextEdit="1"/>
              </p:cNvSpPr>
              <p:nvPr/>
            </p:nvSpPr>
            <p:spPr>
              <a:xfrm>
                <a:off x="616980" y="4707586"/>
                <a:ext cx="4358611" cy="608533"/>
              </a:xfrm>
              <a:prstGeom prst="rect">
                <a:avLst/>
              </a:prstGeom>
              <a:blipFill>
                <a:blip r:embed="rId11"/>
                <a:stretch>
                  <a:fillRect l="-280"/>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A28A9803-C5D2-D81D-36E0-70221E8F25BF}"/>
                  </a:ext>
                </a:extLst>
              </p:cNvPr>
              <p:cNvSpPr/>
              <p:nvPr/>
            </p:nvSpPr>
            <p:spPr>
              <a:xfrm>
                <a:off x="4289791" y="4759979"/>
                <a:ext cx="3200400" cy="6085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14:m>
                  <m:oMathPara xmlns:m="http://schemas.openxmlformats.org/officeDocument/2006/math">
                    <m:oMathParaPr>
                      <m:jc m:val="centerGroup"/>
                    </m:oMathParaPr>
                    <m:oMath xmlns:m="http://schemas.openxmlformats.org/officeDocument/2006/math">
                      <m:r>
                        <a:rPr lang="en-US" b="1" i="1" smtClean="0">
                          <a:solidFill>
                            <a:srgbClr val="C00000"/>
                          </a:solidFill>
                          <a:latin typeface="Cambria Math" panose="02040503050406030204" pitchFamily="18" charset="0"/>
                        </a:rPr>
                        <m:t>𝑹</m:t>
                      </m:r>
                      <m:r>
                        <a:rPr lang="en-US" b="1" i="1" smtClean="0">
                          <a:solidFill>
                            <a:srgbClr val="C00000"/>
                          </a:solidFill>
                          <a:latin typeface="Cambria Math" panose="02040503050406030204" pitchFamily="18" charset="0"/>
                        </a:rPr>
                        <m:t>.</m:t>
                      </m:r>
                      <m:r>
                        <a:rPr lang="en-US" b="1" i="1" smtClean="0">
                          <a:solidFill>
                            <a:srgbClr val="C00000"/>
                          </a:solidFill>
                          <a:latin typeface="Cambria Math" panose="02040503050406030204" pitchFamily="18" charset="0"/>
                        </a:rPr>
                        <m:t>𝑬</m:t>
                      </m:r>
                      <m:r>
                        <a:rPr lang="en-US" b="1" i="1" smtClean="0">
                          <a:solidFill>
                            <a:srgbClr val="C00000"/>
                          </a:solidFill>
                          <a:latin typeface="Cambria Math" panose="02040503050406030204" pitchFamily="18" charset="0"/>
                        </a:rPr>
                        <m:t>. =</m:t>
                      </m:r>
                      <m:d>
                        <m:dPr>
                          <m:ctrlPr>
                            <a:rPr lang="en-US" b="1" i="1" smtClean="0">
                              <a:solidFill>
                                <a:srgbClr val="C00000"/>
                              </a:solidFill>
                              <a:latin typeface="Cambria Math" panose="02040503050406030204" pitchFamily="18" charset="0"/>
                            </a:rPr>
                          </m:ctrlPr>
                        </m:dPr>
                        <m:e>
                          <m:r>
                            <a:rPr lang="en-US" b="1" i="1" smtClean="0">
                              <a:solidFill>
                                <a:srgbClr val="C00000"/>
                              </a:solidFill>
                              <a:latin typeface="Cambria Math" panose="02040503050406030204" pitchFamily="18" charset="0"/>
                            </a:rPr>
                            <m:t>𝟎</m:t>
                          </m:r>
                        </m:e>
                        <m:e>
                          <m:r>
                            <a:rPr lang="en-US" b="1" i="1" smtClean="0">
                              <a:solidFill>
                                <a:srgbClr val="C00000"/>
                              </a:solidFill>
                              <a:latin typeface="Cambria Math" panose="02040503050406030204" pitchFamily="18" charset="0"/>
                            </a:rPr>
                            <m:t>𝟏</m:t>
                          </m:r>
                        </m:e>
                      </m:d>
                      <m:d>
                        <m:dPr>
                          <m:ctrlPr>
                            <a:rPr lang="en-US" b="1" i="1" smtClean="0">
                              <a:solidFill>
                                <a:srgbClr val="C00000"/>
                              </a:solidFill>
                              <a:latin typeface="Cambria Math" panose="02040503050406030204" pitchFamily="18" charset="0"/>
                            </a:rPr>
                          </m:ctrlPr>
                        </m:dPr>
                        <m:e>
                          <m:r>
                            <a:rPr lang="en-US" b="1" i="1" smtClean="0">
                              <a:solidFill>
                                <a:srgbClr val="C00000"/>
                              </a:solidFill>
                              <a:latin typeface="Cambria Math" panose="02040503050406030204" pitchFamily="18" charset="0"/>
                            </a:rPr>
                            <m:t>𝟎</m:t>
                          </m:r>
                        </m:e>
                        <m:e>
                          <m:r>
                            <a:rPr lang="en-US" b="1" i="1" smtClean="0">
                              <a:solidFill>
                                <a:srgbClr val="C00000"/>
                              </a:solidFill>
                              <a:latin typeface="Cambria Math" panose="02040503050406030204" pitchFamily="18" charset="0"/>
                            </a:rPr>
                            <m:t>𝟏</m:t>
                          </m:r>
                        </m:e>
                      </m:d>
                      <m:r>
                        <a:rPr lang="en-US" b="1" i="1" smtClean="0">
                          <a:solidFill>
                            <a:srgbClr val="C00000"/>
                          </a:solidFill>
                          <a:latin typeface="Cambria Math" panose="02040503050406030204" pitchFamily="18" charset="0"/>
                        </a:rPr>
                        <m:t>𝟎</m:t>
                      </m:r>
                      <m:r>
                        <a:rPr lang="en-US" b="1" i="1" smtClean="0">
                          <a:solidFill>
                            <a:srgbClr val="C00000"/>
                          </a:solidFill>
                          <a:latin typeface="Cambria Math" panose="02040503050406030204" pitchFamily="18" charset="0"/>
                        </a:rPr>
                        <m:t>(</m:t>
                      </m:r>
                      <m:r>
                        <a:rPr lang="en-US" b="1" i="1" smtClean="0">
                          <a:solidFill>
                            <a:srgbClr val="C00000"/>
                          </a:solidFill>
                          <a:latin typeface="Cambria Math" panose="02040503050406030204" pitchFamily="18" charset="0"/>
                        </a:rPr>
                        <m:t>𝟎</m:t>
                      </m:r>
                      <m:r>
                        <a:rPr lang="en-US" b="1" i="1" smtClean="0">
                          <a:solidFill>
                            <a:srgbClr val="C00000"/>
                          </a:solidFill>
                          <a:latin typeface="Cambria Math" panose="02040503050406030204" pitchFamily="18" charset="0"/>
                        </a:rPr>
                        <m:t> | </m:t>
                      </m:r>
                      <m:r>
                        <a:rPr lang="en-US" b="1" i="1" smtClean="0">
                          <a:solidFill>
                            <a:srgbClr val="C00000"/>
                          </a:solidFill>
                          <a:latin typeface="Cambria Math" panose="02040503050406030204" pitchFamily="18" charset="0"/>
                        </a:rPr>
                        <m:t>𝟏</m:t>
                      </m:r>
                      <m:r>
                        <a:rPr lang="en-US" b="1" i="1" smtClean="0">
                          <a:solidFill>
                            <a:srgbClr val="C00000"/>
                          </a:solidFill>
                          <a:latin typeface="Cambria Math" panose="02040503050406030204" pitchFamily="18" charset="0"/>
                        </a:rPr>
                        <m:t>)∗</m:t>
                      </m:r>
                    </m:oMath>
                  </m:oMathPara>
                </a14:m>
                <a:endParaRPr lang="en-US" b="1" baseline="30000" dirty="0">
                  <a:solidFill>
                    <a:srgbClr val="C00000"/>
                  </a:solidFill>
                  <a:latin typeface="+mj-lt"/>
                </a:endParaRPr>
              </a:p>
            </p:txBody>
          </p:sp>
        </mc:Choice>
        <mc:Fallback xmlns="">
          <p:sp>
            <p:nvSpPr>
              <p:cNvPr id="13" name="Rectangle 12">
                <a:extLst>
                  <a:ext uri="{FF2B5EF4-FFF2-40B4-BE49-F238E27FC236}">
                    <a16:creationId xmlns:a16="http://schemas.microsoft.com/office/drawing/2014/main" id="{A28A9803-C5D2-D81D-36E0-70221E8F25BF}"/>
                  </a:ext>
                </a:extLst>
              </p:cNvPr>
              <p:cNvSpPr>
                <a:spLocks noRot="1" noChangeAspect="1" noMove="1" noResize="1" noEditPoints="1" noAdjustHandles="1" noChangeArrowheads="1" noChangeShapeType="1" noTextEdit="1"/>
              </p:cNvSpPr>
              <p:nvPr/>
            </p:nvSpPr>
            <p:spPr>
              <a:xfrm>
                <a:off x="4289791" y="4759979"/>
                <a:ext cx="3200400" cy="608533"/>
              </a:xfrm>
              <a:prstGeom prst="rect">
                <a:avLst/>
              </a:prstGeom>
              <a:blipFill>
                <a:blip r:embed="rId12"/>
                <a:stretch>
                  <a:fillRect/>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4" name="Rectangle 13">
                <a:extLst>
                  <a:ext uri="{FF2B5EF4-FFF2-40B4-BE49-F238E27FC236}">
                    <a16:creationId xmlns:a16="http://schemas.microsoft.com/office/drawing/2014/main" id="{8190769B-1945-5347-3D4F-84121BDF7E09}"/>
                  </a:ext>
                </a:extLst>
              </p:cNvPr>
              <p:cNvSpPr/>
              <p:nvPr/>
            </p:nvSpPr>
            <p:spPr>
              <a:xfrm>
                <a:off x="600938" y="5643830"/>
                <a:ext cx="3489988" cy="6085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14:m>
                  <m:oMath xmlns:m="http://schemas.openxmlformats.org/officeDocument/2006/math">
                    <m:r>
                      <a:rPr lang="en-US" b="1" i="1" smtClean="0">
                        <a:solidFill>
                          <a:srgbClr val="0E47A1"/>
                        </a:solidFill>
                        <a:latin typeface="Cambria Math" panose="02040503050406030204" pitchFamily="18" charset="0"/>
                      </a:rPr>
                      <m:t>𝑺𝒕𝒓𝒊𝒏𝒈𝒔</m:t>
                    </m:r>
                    <m:r>
                      <a:rPr lang="en-US" b="1" i="1" smtClean="0">
                        <a:solidFill>
                          <a:srgbClr val="0E47A1"/>
                        </a:solidFill>
                        <a:latin typeface="Cambria Math" panose="02040503050406030204" pitchFamily="18" charset="0"/>
                      </a:rPr>
                      <m:t>:</m:t>
                    </m:r>
                    <m:r>
                      <a:rPr lang="en-US" b="1" i="1" smtClean="0">
                        <a:solidFill>
                          <a:srgbClr val="0E47A1"/>
                        </a:solidFill>
                        <a:latin typeface="Cambria Math" panose="02040503050406030204" pitchFamily="18" charset="0"/>
                      </a:rPr>
                      <m:t>𝒃𝒃</m:t>
                    </m:r>
                    <m:r>
                      <a:rPr lang="en-US" b="1" i="1" smtClean="0">
                        <a:solidFill>
                          <a:srgbClr val="0E47A1"/>
                        </a:solidFill>
                        <a:latin typeface="Cambria Math" panose="02040503050406030204" pitchFamily="18" charset="0"/>
                      </a:rPr>
                      <m:t>,</m:t>
                    </m:r>
                    <m:r>
                      <a:rPr lang="en-US" b="1" i="1" smtClean="0">
                        <a:solidFill>
                          <a:srgbClr val="0E47A1"/>
                        </a:solidFill>
                        <a:latin typeface="Cambria Math" panose="02040503050406030204" pitchFamily="18" charset="0"/>
                      </a:rPr>
                      <m:t>𝒃𝒂𝒃</m:t>
                    </m:r>
                    <m:r>
                      <a:rPr lang="en-US" b="1" i="1" smtClean="0">
                        <a:solidFill>
                          <a:srgbClr val="0E47A1"/>
                        </a:solidFill>
                        <a:latin typeface="Cambria Math" panose="02040503050406030204" pitchFamily="18" charset="0"/>
                      </a:rPr>
                      <m:t>,</m:t>
                    </m:r>
                    <m:r>
                      <a:rPr lang="en-US" b="1" i="1" smtClean="0">
                        <a:solidFill>
                          <a:srgbClr val="0E47A1"/>
                        </a:solidFill>
                        <a:latin typeface="Cambria Math" panose="02040503050406030204" pitchFamily="18" charset="0"/>
                      </a:rPr>
                      <m:t>𝒂𝒂𝒃𝒃</m:t>
                    </m:r>
                    <m:r>
                      <a:rPr lang="en-US" b="1" i="1" smtClean="0">
                        <a:solidFill>
                          <a:srgbClr val="0E47A1"/>
                        </a:solidFill>
                        <a:latin typeface="Cambria Math" panose="02040503050406030204" pitchFamily="18" charset="0"/>
                      </a:rPr>
                      <m:t>,</m:t>
                    </m:r>
                    <m:r>
                      <a:rPr lang="en-US" b="1" i="1" smtClean="0">
                        <a:solidFill>
                          <a:srgbClr val="0E47A1"/>
                        </a:solidFill>
                        <a:latin typeface="Cambria Math" panose="02040503050406030204" pitchFamily="18" charset="0"/>
                      </a:rPr>
                      <m:t>𝒂𝒃𝒃𝒂</m:t>
                    </m:r>
                  </m:oMath>
                </a14:m>
                <a:r>
                  <a:rPr lang="en-US" b="1" dirty="0">
                    <a:solidFill>
                      <a:srgbClr val="0E47A1"/>
                    </a:solidFill>
                    <a:latin typeface="+mj-lt"/>
                  </a:rPr>
                  <a:t>…</a:t>
                </a:r>
              </a:p>
            </p:txBody>
          </p:sp>
        </mc:Choice>
        <mc:Fallback xmlns="">
          <p:sp>
            <p:nvSpPr>
              <p:cNvPr id="14" name="Rectangle 13">
                <a:extLst>
                  <a:ext uri="{FF2B5EF4-FFF2-40B4-BE49-F238E27FC236}">
                    <a16:creationId xmlns:a16="http://schemas.microsoft.com/office/drawing/2014/main" id="{8190769B-1945-5347-3D4F-84121BDF7E09}"/>
                  </a:ext>
                </a:extLst>
              </p:cNvPr>
              <p:cNvSpPr>
                <a:spLocks noRot="1" noChangeAspect="1" noMove="1" noResize="1" noEditPoints="1" noAdjustHandles="1" noChangeArrowheads="1" noChangeShapeType="1" noTextEdit="1"/>
              </p:cNvSpPr>
              <p:nvPr/>
            </p:nvSpPr>
            <p:spPr>
              <a:xfrm>
                <a:off x="600938" y="5643830"/>
                <a:ext cx="3489988" cy="608533"/>
              </a:xfrm>
              <a:prstGeom prst="rect">
                <a:avLst/>
              </a:prstGeom>
              <a:blipFill>
                <a:blip r:embed="rId13"/>
                <a:stretch>
                  <a:fillRect l="-524"/>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857078EA-43F2-50D4-65E5-17EA0C63FF61}"/>
                  </a:ext>
                </a:extLst>
              </p:cNvPr>
              <p:cNvSpPr/>
              <p:nvPr/>
            </p:nvSpPr>
            <p:spPr>
              <a:xfrm>
                <a:off x="3831303" y="5677584"/>
                <a:ext cx="3200400" cy="6085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14:m>
                  <m:oMathPara xmlns:m="http://schemas.openxmlformats.org/officeDocument/2006/math">
                    <m:oMathParaPr>
                      <m:jc m:val="centerGroup"/>
                    </m:oMathParaPr>
                    <m:oMath xmlns:m="http://schemas.openxmlformats.org/officeDocument/2006/math">
                      <m:r>
                        <a:rPr lang="en-US" b="1" i="1" smtClean="0">
                          <a:solidFill>
                            <a:srgbClr val="C00000"/>
                          </a:solidFill>
                          <a:latin typeface="Cambria Math" panose="02040503050406030204" pitchFamily="18" charset="0"/>
                        </a:rPr>
                        <m:t>𝑹</m:t>
                      </m:r>
                      <m:r>
                        <a:rPr lang="en-US" b="1" i="1" smtClean="0">
                          <a:solidFill>
                            <a:srgbClr val="C00000"/>
                          </a:solidFill>
                          <a:latin typeface="Cambria Math" panose="02040503050406030204" pitchFamily="18" charset="0"/>
                        </a:rPr>
                        <m:t>.</m:t>
                      </m:r>
                      <m:r>
                        <a:rPr lang="en-US" b="1" i="1" smtClean="0">
                          <a:solidFill>
                            <a:srgbClr val="C00000"/>
                          </a:solidFill>
                          <a:latin typeface="Cambria Math" panose="02040503050406030204" pitchFamily="18" charset="0"/>
                        </a:rPr>
                        <m:t>𝑬</m:t>
                      </m:r>
                      <m:r>
                        <a:rPr lang="en-US" b="1" i="1" smtClean="0">
                          <a:solidFill>
                            <a:srgbClr val="C00000"/>
                          </a:solidFill>
                          <a:latin typeface="Cambria Math" panose="02040503050406030204" pitchFamily="18" charset="0"/>
                        </a:rPr>
                        <m:t>. =</m:t>
                      </m:r>
                      <m:r>
                        <a:rPr lang="en-US" b="1" i="1" smtClean="0">
                          <a:solidFill>
                            <a:srgbClr val="C00000"/>
                          </a:solidFill>
                          <a:latin typeface="Cambria Math" panose="02040503050406030204" pitchFamily="18" charset="0"/>
                        </a:rPr>
                        <m:t>𝒂</m:t>
                      </m:r>
                      <m:r>
                        <a:rPr lang="en-US" b="1" i="1" baseline="30000" smtClean="0">
                          <a:solidFill>
                            <a:srgbClr val="C00000"/>
                          </a:solidFill>
                          <a:latin typeface="Cambria Math" panose="02040503050406030204" pitchFamily="18" charset="0"/>
                        </a:rPr>
                        <m:t>∗</m:t>
                      </m:r>
                      <m:r>
                        <a:rPr lang="en-US" b="1" i="1" smtClean="0">
                          <a:solidFill>
                            <a:srgbClr val="C00000"/>
                          </a:solidFill>
                          <a:latin typeface="Cambria Math" panose="02040503050406030204" pitchFamily="18" charset="0"/>
                        </a:rPr>
                        <m:t>𝒃</m:t>
                      </m:r>
                      <m:r>
                        <a:rPr lang="en-US" b="1" i="1" smtClean="0">
                          <a:solidFill>
                            <a:srgbClr val="C00000"/>
                          </a:solidFill>
                          <a:latin typeface="Cambria Math" panose="02040503050406030204" pitchFamily="18" charset="0"/>
                        </a:rPr>
                        <m:t> </m:t>
                      </m:r>
                      <m:r>
                        <a:rPr lang="en-US" b="1" i="1" smtClean="0">
                          <a:solidFill>
                            <a:srgbClr val="C00000"/>
                          </a:solidFill>
                          <a:latin typeface="Cambria Math" panose="02040503050406030204" pitchFamily="18" charset="0"/>
                        </a:rPr>
                        <m:t>𝒂</m:t>
                      </m:r>
                      <m:r>
                        <a:rPr lang="en-US" b="1" i="1" baseline="30000" smtClean="0">
                          <a:solidFill>
                            <a:srgbClr val="C00000"/>
                          </a:solidFill>
                          <a:latin typeface="Cambria Math" panose="02040503050406030204" pitchFamily="18" charset="0"/>
                        </a:rPr>
                        <m:t>∗</m:t>
                      </m:r>
                      <m:r>
                        <a:rPr lang="en-US" b="1" i="1" smtClean="0">
                          <a:solidFill>
                            <a:srgbClr val="C00000"/>
                          </a:solidFill>
                          <a:latin typeface="Cambria Math" panose="02040503050406030204" pitchFamily="18" charset="0"/>
                        </a:rPr>
                        <m:t>𝒃</m:t>
                      </m:r>
                      <m:r>
                        <a:rPr lang="en-US" b="1" i="1" smtClean="0">
                          <a:solidFill>
                            <a:srgbClr val="C00000"/>
                          </a:solidFill>
                          <a:latin typeface="Cambria Math" panose="02040503050406030204" pitchFamily="18" charset="0"/>
                        </a:rPr>
                        <m:t> </m:t>
                      </m:r>
                      <m:r>
                        <a:rPr lang="en-US" b="1" i="1" smtClean="0">
                          <a:solidFill>
                            <a:srgbClr val="C00000"/>
                          </a:solidFill>
                          <a:latin typeface="Cambria Math" panose="02040503050406030204" pitchFamily="18" charset="0"/>
                        </a:rPr>
                        <m:t>𝒂</m:t>
                      </m:r>
                      <m:r>
                        <a:rPr lang="en-US" b="1" i="1" baseline="30000" smtClean="0">
                          <a:solidFill>
                            <a:srgbClr val="C00000"/>
                          </a:solidFill>
                          <a:latin typeface="Cambria Math" panose="02040503050406030204" pitchFamily="18" charset="0"/>
                        </a:rPr>
                        <m:t>∗</m:t>
                      </m:r>
                    </m:oMath>
                  </m:oMathPara>
                </a14:m>
                <a:endParaRPr lang="en-US" b="1" baseline="30000" dirty="0">
                  <a:solidFill>
                    <a:srgbClr val="C00000"/>
                  </a:solidFill>
                  <a:latin typeface="+mj-lt"/>
                </a:endParaRPr>
              </a:p>
            </p:txBody>
          </p:sp>
        </mc:Choice>
        <mc:Fallback xmlns="">
          <p:sp>
            <p:nvSpPr>
              <p:cNvPr id="15" name="Rectangle 14">
                <a:extLst>
                  <a:ext uri="{FF2B5EF4-FFF2-40B4-BE49-F238E27FC236}">
                    <a16:creationId xmlns:a16="http://schemas.microsoft.com/office/drawing/2014/main" id="{857078EA-43F2-50D4-65E5-17EA0C63FF61}"/>
                  </a:ext>
                </a:extLst>
              </p:cNvPr>
              <p:cNvSpPr>
                <a:spLocks noRot="1" noChangeAspect="1" noMove="1" noResize="1" noEditPoints="1" noAdjustHandles="1" noChangeArrowheads="1" noChangeShapeType="1" noTextEdit="1"/>
              </p:cNvSpPr>
              <p:nvPr/>
            </p:nvSpPr>
            <p:spPr>
              <a:xfrm>
                <a:off x="3831303" y="5677584"/>
                <a:ext cx="3200400" cy="608533"/>
              </a:xfrm>
              <a:prstGeom prst="rect">
                <a:avLst/>
              </a:prstGeom>
              <a:blipFill>
                <a:blip r:embed="rId14"/>
                <a:stretch>
                  <a:fillRect/>
                </a:stretch>
              </a:blipFill>
              <a:ln>
                <a:noFill/>
              </a:ln>
            </p:spPr>
            <p:txBody>
              <a:bodyPr/>
              <a:lstStyle/>
              <a:p>
                <a:r>
                  <a:rPr lang="en-IN">
                    <a:noFill/>
                  </a:rPr>
                  <a:t> </a:t>
                </a:r>
              </a:p>
            </p:txBody>
          </p:sp>
        </mc:Fallback>
      </mc:AlternateContent>
    </p:spTree>
    <p:extLst>
      <p:ext uri="{BB962C8B-B14F-4D97-AF65-F5344CB8AC3E}">
        <p14:creationId xmlns:p14="http://schemas.microsoft.com/office/powerpoint/2010/main" val="1723589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dur="1"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dur="50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wipe(left)">
                                      <p:cBhvr>
                                        <p:cTn id="11" dur="500"/>
                                        <p:tgtEl>
                                          <p:spTgt spid="4"/>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dur="500" fill="hold" grpId="0" nodeType="click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wipe(left)">
                                      <p:cBhvr>
                                        <p:cTn id="16" dur="50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dur="1"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22" presetClass="entr" presetSubtype="8" dur="500"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wipe(left)">
                                      <p:cBhvr>
                                        <p:cTn id="25" dur="500"/>
                                        <p:tgtEl>
                                          <p:spTgt spid="6"/>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dur="500" fill="hold" grpId="0" nodeType="click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wipe(left)">
                                      <p:cBhvr>
                                        <p:cTn id="30" dur="500"/>
                                        <p:tgtEl>
                                          <p:spTgt spid="7"/>
                                        </p:tgtEl>
                                      </p:cBhvr>
                                    </p:animEffect>
                                  </p:childTnLst>
                                </p:cTn>
                              </p:par>
                            </p:childTnLst>
                          </p:cTn>
                        </p:par>
                      </p:childTnLst>
                    </p:cTn>
                  </p:par>
                  <p:par>
                    <p:cTn id="31" fill="hold">
                      <p:stCondLst>
                        <p:cond delay="indefinite"/>
                      </p:stCondLst>
                      <p:childTnLst>
                        <p:par>
                          <p:cTn id="32" fill="hold">
                            <p:stCondLst>
                              <p:cond delay="0"/>
                            </p:stCondLst>
                            <p:childTnLst>
                              <p:par>
                                <p:cTn id="33" presetID="1" presetClass="entr" presetSubtype="0" dur="1" fill="hold"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22" presetClass="entr" presetSubtype="8" dur="500" fill="hold" grpId="0" nodeType="clickEffect">
                                  <p:stCondLst>
                                    <p:cond delay="0"/>
                                  </p:stCondLst>
                                  <p:childTnLst>
                                    <p:set>
                                      <p:cBhvr>
                                        <p:cTn id="38" dur="1" fill="hold">
                                          <p:stCondLst>
                                            <p:cond delay="0"/>
                                          </p:stCondLst>
                                        </p:cTn>
                                        <p:tgtEl>
                                          <p:spTgt spid="8"/>
                                        </p:tgtEl>
                                        <p:attrNameLst>
                                          <p:attrName>style.visibility</p:attrName>
                                        </p:attrNameLst>
                                      </p:cBhvr>
                                      <p:to>
                                        <p:strVal val="visible"/>
                                      </p:to>
                                    </p:set>
                                    <p:animEffect transition="in" filter="wipe(left)">
                                      <p:cBhvr>
                                        <p:cTn id="39" dur="500"/>
                                        <p:tgtEl>
                                          <p:spTgt spid="8"/>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dur="500" fill="hold" grpId="0" nodeType="clickEffect">
                                  <p:stCondLst>
                                    <p:cond delay="0"/>
                                  </p:stCondLst>
                                  <p:childTnLst>
                                    <p:set>
                                      <p:cBhvr>
                                        <p:cTn id="43" dur="1" fill="hold">
                                          <p:stCondLst>
                                            <p:cond delay="0"/>
                                          </p:stCondLst>
                                        </p:cTn>
                                        <p:tgtEl>
                                          <p:spTgt spid="9"/>
                                        </p:tgtEl>
                                        <p:attrNameLst>
                                          <p:attrName>style.visibility</p:attrName>
                                        </p:attrNameLst>
                                      </p:cBhvr>
                                      <p:to>
                                        <p:strVal val="visible"/>
                                      </p:to>
                                    </p:set>
                                    <p:animEffect transition="in" filter="wipe(left)">
                                      <p:cBhvr>
                                        <p:cTn id="44" dur="500"/>
                                        <p:tgtEl>
                                          <p:spTgt spid="9"/>
                                        </p:tgtEl>
                                      </p:cBhvr>
                                    </p:animEffect>
                                  </p:childTnLst>
                                </p:cTn>
                              </p:par>
                            </p:childTnLst>
                          </p:cTn>
                        </p:par>
                      </p:childTnLst>
                    </p:cTn>
                  </p:par>
                  <p:par>
                    <p:cTn id="45" fill="hold">
                      <p:stCondLst>
                        <p:cond delay="indefinite"/>
                      </p:stCondLst>
                      <p:childTnLst>
                        <p:par>
                          <p:cTn id="46" fill="hold">
                            <p:stCondLst>
                              <p:cond delay="0"/>
                            </p:stCondLst>
                            <p:childTnLst>
                              <p:par>
                                <p:cTn id="47" presetID="1" presetClass="entr" presetSubtype="0" dur="1" fill="hold"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22" presetClass="entr" presetSubtype="8" dur="500" fill="hold" grpId="0" nodeType="clickEffect">
                                  <p:stCondLst>
                                    <p:cond delay="0"/>
                                  </p:stCondLst>
                                  <p:childTnLst>
                                    <p:set>
                                      <p:cBhvr>
                                        <p:cTn id="52" dur="1" fill="hold">
                                          <p:stCondLst>
                                            <p:cond delay="0"/>
                                          </p:stCondLst>
                                        </p:cTn>
                                        <p:tgtEl>
                                          <p:spTgt spid="10"/>
                                        </p:tgtEl>
                                        <p:attrNameLst>
                                          <p:attrName>style.visibility</p:attrName>
                                        </p:attrNameLst>
                                      </p:cBhvr>
                                      <p:to>
                                        <p:strVal val="visible"/>
                                      </p:to>
                                    </p:set>
                                    <p:animEffect transition="in" filter="wipe(left)">
                                      <p:cBhvr>
                                        <p:cTn id="53" dur="500"/>
                                        <p:tgtEl>
                                          <p:spTgt spid="10"/>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dur="500" fill="hold" grpId="0" nodeType="clickEffect">
                                  <p:stCondLst>
                                    <p:cond delay="0"/>
                                  </p:stCondLst>
                                  <p:childTnLst>
                                    <p:set>
                                      <p:cBhvr>
                                        <p:cTn id="57" dur="1" fill="hold">
                                          <p:stCondLst>
                                            <p:cond delay="0"/>
                                          </p:stCondLst>
                                        </p:cTn>
                                        <p:tgtEl>
                                          <p:spTgt spid="11"/>
                                        </p:tgtEl>
                                        <p:attrNameLst>
                                          <p:attrName>style.visibility</p:attrName>
                                        </p:attrNameLst>
                                      </p:cBhvr>
                                      <p:to>
                                        <p:strVal val="visible"/>
                                      </p:to>
                                    </p:set>
                                    <p:animEffect transition="in" filter="wipe(left)">
                                      <p:cBhvr>
                                        <p:cTn id="58" dur="500"/>
                                        <p:tgtEl>
                                          <p:spTgt spid="11"/>
                                        </p:tgtEl>
                                      </p:cBhvr>
                                    </p:animEffect>
                                  </p:childTnLst>
                                </p:cTn>
                              </p:par>
                            </p:childTnLst>
                          </p:cTn>
                        </p:par>
                      </p:childTnLst>
                    </p:cTn>
                  </p:par>
                  <p:par>
                    <p:cTn id="59" fill="hold">
                      <p:stCondLst>
                        <p:cond delay="indefinite"/>
                      </p:stCondLst>
                      <p:childTnLst>
                        <p:par>
                          <p:cTn id="60" fill="hold">
                            <p:stCondLst>
                              <p:cond delay="0"/>
                            </p:stCondLst>
                            <p:childTnLst>
                              <p:par>
                                <p:cTn id="61" presetID="1" presetClass="entr" presetSubtype="0" dur="1" fill="hold" nodeType="clickEffect">
                                  <p:stCondLst>
                                    <p:cond delay="0"/>
                                  </p:stCondLst>
                                  <p:childTnLst>
                                    <p:set>
                                      <p:cBhvr>
                                        <p:cTn id="6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22" presetClass="entr" presetSubtype="8" dur="500" fill="hold" grpId="0" nodeType="clickEffect">
                                  <p:stCondLst>
                                    <p:cond delay="0"/>
                                  </p:stCondLst>
                                  <p:childTnLst>
                                    <p:set>
                                      <p:cBhvr>
                                        <p:cTn id="66" dur="1" fill="hold">
                                          <p:stCondLst>
                                            <p:cond delay="0"/>
                                          </p:stCondLst>
                                        </p:cTn>
                                        <p:tgtEl>
                                          <p:spTgt spid="12"/>
                                        </p:tgtEl>
                                        <p:attrNameLst>
                                          <p:attrName>style.visibility</p:attrName>
                                        </p:attrNameLst>
                                      </p:cBhvr>
                                      <p:to>
                                        <p:strVal val="visible"/>
                                      </p:to>
                                    </p:set>
                                    <p:animEffect transition="in" filter="wipe(left)">
                                      <p:cBhvr>
                                        <p:cTn id="67" dur="500"/>
                                        <p:tgtEl>
                                          <p:spTgt spid="12"/>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dur="500" fill="hold" grpId="0" nodeType="clickEffect">
                                  <p:stCondLst>
                                    <p:cond delay="0"/>
                                  </p:stCondLst>
                                  <p:childTnLst>
                                    <p:set>
                                      <p:cBhvr>
                                        <p:cTn id="71" dur="1" fill="hold">
                                          <p:stCondLst>
                                            <p:cond delay="0"/>
                                          </p:stCondLst>
                                        </p:cTn>
                                        <p:tgtEl>
                                          <p:spTgt spid="13"/>
                                        </p:tgtEl>
                                        <p:attrNameLst>
                                          <p:attrName>style.visibility</p:attrName>
                                        </p:attrNameLst>
                                      </p:cBhvr>
                                      <p:to>
                                        <p:strVal val="visible"/>
                                      </p:to>
                                    </p:set>
                                    <p:animEffect transition="in" filter="wipe(left)">
                                      <p:cBhvr>
                                        <p:cTn id="72" dur="500"/>
                                        <p:tgtEl>
                                          <p:spTgt spid="13"/>
                                        </p:tgtEl>
                                      </p:cBhvr>
                                    </p:animEffect>
                                  </p:childTnLst>
                                </p:cTn>
                              </p:par>
                            </p:childTnLst>
                          </p:cTn>
                        </p:par>
                      </p:childTnLst>
                    </p:cTn>
                  </p:par>
                  <p:par>
                    <p:cTn id="73" fill="hold">
                      <p:stCondLst>
                        <p:cond delay="indefinite"/>
                      </p:stCondLst>
                      <p:childTnLst>
                        <p:par>
                          <p:cTn id="74" fill="hold">
                            <p:stCondLst>
                              <p:cond delay="0"/>
                            </p:stCondLst>
                            <p:childTnLst>
                              <p:par>
                                <p:cTn id="75" presetID="1" presetClass="entr" presetSubtype="0" dur="1" fill="hold" nodeType="clickEffect">
                                  <p:stCondLst>
                                    <p:cond delay="0"/>
                                  </p:stCondLst>
                                  <p:childTnLst>
                                    <p:set>
                                      <p:cBhvr>
                                        <p:cTn id="7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22" presetClass="entr" presetSubtype="8" dur="500" fill="hold" grpId="0" nodeType="clickEffect">
                                  <p:stCondLst>
                                    <p:cond delay="0"/>
                                  </p:stCondLst>
                                  <p:childTnLst>
                                    <p:set>
                                      <p:cBhvr>
                                        <p:cTn id="80" dur="1" fill="hold">
                                          <p:stCondLst>
                                            <p:cond delay="0"/>
                                          </p:stCondLst>
                                        </p:cTn>
                                        <p:tgtEl>
                                          <p:spTgt spid="14"/>
                                        </p:tgtEl>
                                        <p:attrNameLst>
                                          <p:attrName>style.visibility</p:attrName>
                                        </p:attrNameLst>
                                      </p:cBhvr>
                                      <p:to>
                                        <p:strVal val="visible"/>
                                      </p:to>
                                    </p:set>
                                    <p:animEffect transition="in" filter="wipe(left)">
                                      <p:cBhvr>
                                        <p:cTn id="81" dur="500"/>
                                        <p:tgtEl>
                                          <p:spTgt spid="14"/>
                                        </p:tgtEl>
                                      </p:cBhvr>
                                    </p:animEffect>
                                  </p:childTnLst>
                                </p:cTn>
                              </p:par>
                            </p:childTnLst>
                          </p:cTn>
                        </p:par>
                      </p:childTnLst>
                    </p:cTn>
                  </p:par>
                  <p:par>
                    <p:cTn id="82" fill="hold">
                      <p:stCondLst>
                        <p:cond delay="indefinite"/>
                      </p:stCondLst>
                      <p:childTnLst>
                        <p:par>
                          <p:cTn id="83" fill="hold">
                            <p:stCondLst>
                              <p:cond delay="0"/>
                            </p:stCondLst>
                            <p:childTnLst>
                              <p:par>
                                <p:cTn id="84" presetID="22" presetClass="entr" presetSubtype="8" dur="500" fill="hold" grpId="0" nodeType="clickEffect">
                                  <p:stCondLst>
                                    <p:cond delay="0"/>
                                  </p:stCondLst>
                                  <p:childTnLst>
                                    <p:set>
                                      <p:cBhvr>
                                        <p:cTn id="85" dur="1" fill="hold">
                                          <p:stCondLst>
                                            <p:cond delay="0"/>
                                          </p:stCondLst>
                                        </p:cTn>
                                        <p:tgtEl>
                                          <p:spTgt spid="15"/>
                                        </p:tgtEl>
                                        <p:attrNameLst>
                                          <p:attrName>style.visibility</p:attrName>
                                        </p:attrNameLst>
                                      </p:cBhvr>
                                      <p:to>
                                        <p:strVal val="visible"/>
                                      </p:to>
                                    </p:set>
                                    <p:animEffect transition="in" filter="wipe(left)">
                                      <p:cBhvr>
                                        <p:cTn id="86"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9" grpId="0"/>
      <p:bldP spid="10" grpId="0"/>
      <p:bldP spid="11" grpId="0"/>
      <p:bldP spid="12" grpId="0"/>
      <p:bldP spid="13" grpId="0"/>
      <p:bldP spid="14" grpId="0"/>
      <p:bldP spid="15"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82D3C9-EF01-7765-6DEA-EE2C3877FC4D}"/>
              </a:ext>
            </a:extLst>
          </p:cNvPr>
          <p:cNvSpPr txBox="1">
            <a:spLocks/>
          </p:cNvSpPr>
          <p:nvPr/>
        </p:nvSpPr>
        <p:spPr>
          <a:xfrm>
            <a:off x="0" y="1"/>
            <a:ext cx="12192000" cy="711200"/>
          </a:xfrm>
          <a:prstGeom prst="rect">
            <a:avLst/>
          </a:prstGeom>
        </p:spPr>
        <p:txBody>
          <a:bodyPr/>
          <a:lstStyle>
            <a:lvl1pPr algn="l" defTabSz="914400" rtl="0" eaLnBrk="1" latinLnBrk="0" hangingPunct="1">
              <a:lnSpc>
                <a:spcPct val="90000"/>
              </a:lnSpc>
              <a:spcBef>
                <a:spcPct val="0"/>
              </a:spcBef>
              <a:buNone/>
              <a:defRPr sz="4400" kern="1200">
                <a:solidFill>
                  <a:srgbClr val="C00000"/>
                </a:solidFill>
                <a:latin typeface="Palatino Linotype" panose="02040502050505030304" pitchFamily="18" charset="0"/>
                <a:ea typeface="+mj-ea"/>
                <a:cs typeface="+mj-cs"/>
              </a:defRPr>
            </a:lvl1pPr>
          </a:lstStyle>
          <a:p>
            <a:r>
              <a:rPr lang="en-US"/>
              <a:t>Regular expression examples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A72A804-1861-FF15-7046-B49F403DBA0A}"/>
                  </a:ext>
                </a:extLst>
              </p:cNvPr>
              <p:cNvSpPr txBox="1">
                <a:spLocks/>
              </p:cNvSpPr>
              <p:nvPr/>
            </p:nvSpPr>
            <p:spPr>
              <a:xfrm>
                <a:off x="131180" y="863444"/>
                <a:ext cx="11929641" cy="5590565"/>
              </a:xfrm>
              <a:prstGeom prst="rect">
                <a:avLst/>
              </a:prstGeom>
            </p:spPr>
            <p:txBody>
              <a:bodyPr/>
              <a:lstStyle>
                <a:lvl1pPr marL="228600" indent="-228600" algn="just"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Palatino Linotype" panose="02040502050505030304" pitchFamily="18" charset="0"/>
                    <a:ea typeface="+mn-ea"/>
                    <a:cs typeface="+mn-cs"/>
                  </a:defRPr>
                </a:lvl1pPr>
                <a:lvl2pPr marL="685800" indent="-228600" algn="just"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Palatino Linotype" panose="02040502050505030304" pitchFamily="18" charset="0"/>
                    <a:ea typeface="+mn-ea"/>
                    <a:cs typeface="+mn-cs"/>
                  </a:defRPr>
                </a:lvl2pPr>
                <a:lvl3pPr marL="1143000" indent="-228600" algn="just"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Palatino Linotype" panose="02040502050505030304" pitchFamily="18" charset="0"/>
                    <a:ea typeface="+mn-ea"/>
                    <a:cs typeface="+mn-cs"/>
                  </a:defRPr>
                </a:lvl3pPr>
                <a:lvl4pPr marL="1600200" indent="-228600" algn="just"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alatino Linotype" panose="02040502050505030304" pitchFamily="18" charset="0"/>
                    <a:ea typeface="+mn-ea"/>
                    <a:cs typeface="+mn-cs"/>
                  </a:defRPr>
                </a:lvl4pPr>
                <a:lvl5pPr marL="2057400" indent="-228600" algn="just"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20700" indent="-457200">
                  <a:buFont typeface="+mj-lt"/>
                  <a:buAutoNum type="arabicPeriod" startAt="24"/>
                </a:pPr>
                <a:r>
                  <a:rPr lang="en-IN" sz="2200" dirty="0"/>
                  <a:t>The language with </a:t>
                </a:r>
                <a14:m>
                  <m:oMath xmlns:m="http://schemas.openxmlformats.org/officeDocument/2006/math">
                    <m:r>
                      <a:rPr lang="el-GR" sz="2200" i="1">
                        <a:latin typeface="Cambria Math" panose="02040503050406030204" pitchFamily="18" charset="0"/>
                        <a:ea typeface="Cambria Math" panose="02040503050406030204" pitchFamily="18" charset="0"/>
                      </a:rPr>
                      <m:t>𝛴</m:t>
                    </m:r>
                    <m:r>
                      <a:rPr lang="en-US" sz="2200" i="1">
                        <a:latin typeface="Cambria Math" panose="02040503050406030204" pitchFamily="18" charset="0"/>
                        <a:ea typeface="Cambria Math" panose="02040503050406030204" pitchFamily="18" charset="0"/>
                      </a:rPr>
                      <m:t>={</m:t>
                    </m:r>
                    <m:r>
                      <a:rPr lang="en-US" sz="2200" i="1">
                        <a:latin typeface="Cambria Math" panose="02040503050406030204" pitchFamily="18" charset="0"/>
                        <a:ea typeface="Cambria Math" panose="02040503050406030204" pitchFamily="18" charset="0"/>
                      </a:rPr>
                      <m:t>𝑎</m:t>
                    </m:r>
                    <m:r>
                      <a:rPr lang="en-US" sz="2200" i="1">
                        <a:latin typeface="Cambria Math" panose="02040503050406030204" pitchFamily="18" charset="0"/>
                        <a:ea typeface="Cambria Math" panose="02040503050406030204" pitchFamily="18" charset="0"/>
                      </a:rPr>
                      <m:t>,</m:t>
                    </m:r>
                    <m:r>
                      <a:rPr lang="en-US" sz="2200" i="1">
                        <a:latin typeface="Cambria Math" panose="02040503050406030204" pitchFamily="18" charset="0"/>
                        <a:ea typeface="Cambria Math" panose="02040503050406030204" pitchFamily="18" charset="0"/>
                      </a:rPr>
                      <m:t>𝑏</m:t>
                    </m:r>
                    <m:r>
                      <a:rPr lang="en-US" sz="2200" i="1">
                        <a:latin typeface="Cambria Math" panose="02040503050406030204" pitchFamily="18" charset="0"/>
                        <a:ea typeface="Cambria Math" panose="02040503050406030204" pitchFamily="18" charset="0"/>
                      </a:rPr>
                      <m:t>,</m:t>
                    </m:r>
                    <m:r>
                      <a:rPr lang="en-US" sz="2200" i="1">
                        <a:latin typeface="Cambria Math" panose="02040503050406030204" pitchFamily="18" charset="0"/>
                        <a:ea typeface="Cambria Math" panose="02040503050406030204" pitchFamily="18" charset="0"/>
                      </a:rPr>
                      <m:t>𝑐</m:t>
                    </m:r>
                    <m:r>
                      <a:rPr lang="en-US" sz="2200" i="1">
                        <a:latin typeface="Cambria Math" panose="02040503050406030204" pitchFamily="18" charset="0"/>
                        <a:ea typeface="Cambria Math" panose="02040503050406030204" pitchFamily="18" charset="0"/>
                      </a:rPr>
                      <m:t>}</m:t>
                    </m:r>
                  </m:oMath>
                </a14:m>
                <a:r>
                  <a:rPr lang="en-IN" sz="2200" dirty="0"/>
                  <a:t> where </a:t>
                </a:r>
                <a14:m>
                  <m:oMath xmlns:m="http://schemas.openxmlformats.org/officeDocument/2006/math">
                    <m:r>
                      <a:rPr lang="en-US" sz="2200" i="1">
                        <a:latin typeface="Cambria Math" panose="02040503050406030204" pitchFamily="18" charset="0"/>
                        <a:ea typeface="Cambria Math" panose="02040503050406030204" pitchFamily="18" charset="0"/>
                      </a:rPr>
                      <m:t>𝑎</m:t>
                    </m:r>
                  </m:oMath>
                </a14:m>
                <a:r>
                  <a:rPr lang="en-IN" sz="2200" dirty="0"/>
                  <a:t> should be multiple of 3</a:t>
                </a:r>
              </a:p>
              <a:p>
                <a:pPr marL="63500" indent="0">
                  <a:buFont typeface="Arial" panose="020B0604020202020204" pitchFamily="34" charset="0"/>
                  <a:buNone/>
                </a:pPr>
                <a:endParaRPr lang="en-IN" sz="2200" dirty="0"/>
              </a:p>
              <a:p>
                <a:pPr marL="520700" indent="-457200">
                  <a:buFont typeface="+mj-lt"/>
                  <a:buAutoNum type="arabicPeriod" startAt="25"/>
                </a:pPr>
                <a:r>
                  <a:rPr lang="en-IN" sz="2200" dirty="0"/>
                  <a:t>Even no. of 0</a:t>
                </a:r>
              </a:p>
              <a:p>
                <a:pPr marL="463550" lvl="1" indent="0">
                  <a:buFont typeface="Arial" panose="020B0604020202020204" pitchFamily="34" charset="0"/>
                  <a:buNone/>
                </a:pPr>
                <a:endParaRPr lang="en-IN" sz="2200" dirty="0"/>
              </a:p>
              <a:p>
                <a:pPr marL="520700" indent="-457200">
                  <a:buFont typeface="+mj-lt"/>
                  <a:buAutoNum type="arabicPeriod" startAt="25"/>
                </a:pPr>
                <a:r>
                  <a:rPr lang="en-IN" sz="2200" dirty="0"/>
                  <a:t>String should have odd length</a:t>
                </a:r>
              </a:p>
              <a:p>
                <a:pPr marL="463550" lvl="1" indent="0">
                  <a:buFont typeface="Arial" panose="020B0604020202020204" pitchFamily="34" charset="0"/>
                  <a:buNone/>
                </a:pPr>
                <a:endParaRPr lang="en-IN" sz="2200" dirty="0"/>
              </a:p>
              <a:p>
                <a:pPr marL="520700" indent="-457200">
                  <a:buFont typeface="+mj-lt"/>
                  <a:buAutoNum type="arabicPeriod" startAt="25"/>
                </a:pPr>
                <a:r>
                  <a:rPr lang="en-IN" sz="2200" dirty="0"/>
                  <a:t>String should have even length</a:t>
                </a:r>
              </a:p>
              <a:p>
                <a:pPr marL="463550" lvl="1" indent="0">
                  <a:buFont typeface="Arial" panose="020B0604020202020204" pitchFamily="34" charset="0"/>
                  <a:buNone/>
                </a:pPr>
                <a:endParaRPr lang="en-IN" sz="2200" dirty="0"/>
              </a:p>
              <a:p>
                <a:pPr marL="520700" indent="-457200">
                  <a:buFont typeface="+mj-lt"/>
                  <a:buAutoNum type="arabicPeriod" startAt="25"/>
                </a:pPr>
                <a:r>
                  <a:rPr lang="en-IN" sz="2200" dirty="0"/>
                  <a:t>String start with 0 and has odd length</a:t>
                </a:r>
              </a:p>
              <a:p>
                <a:pPr marL="463550" lvl="1" indent="0">
                  <a:buFont typeface="Arial" panose="020B0604020202020204" pitchFamily="34" charset="0"/>
                  <a:buNone/>
                </a:pPr>
                <a:endParaRPr lang="en-IN" sz="2200" dirty="0"/>
              </a:p>
              <a:p>
                <a:pPr marL="520700" indent="-457200">
                  <a:buFont typeface="+mj-lt"/>
                  <a:buAutoNum type="arabicPeriod" startAt="30"/>
                </a:pPr>
                <a:r>
                  <a:rPr lang="en-IN" sz="2200" dirty="0"/>
                  <a:t>String start with 1 and has even length</a:t>
                </a:r>
              </a:p>
              <a:p>
                <a:pPr marL="520700" indent="-457200">
                  <a:buFont typeface="+mj-lt"/>
                  <a:buAutoNum type="arabicPeriod" startAt="30"/>
                </a:pPr>
                <a:endParaRPr lang="en-IN" sz="2200" dirty="0"/>
              </a:p>
              <a:p>
                <a:pPr marL="520700" indent="-457200">
                  <a:buFont typeface="+mj-lt"/>
                  <a:buAutoNum type="arabicPeriod" startAt="30"/>
                </a:pPr>
                <a:r>
                  <a:rPr lang="en-IN" sz="2200" dirty="0"/>
                  <a:t>All string begins or ends with 00 or 11 </a:t>
                </a:r>
              </a:p>
              <a:p>
                <a:pPr marL="0" indent="0">
                  <a:buFont typeface="Arial" panose="020B0604020202020204" pitchFamily="34" charset="0"/>
                  <a:buNone/>
                </a:pPr>
                <a:endParaRPr lang="en-US" dirty="0"/>
              </a:p>
            </p:txBody>
          </p:sp>
        </mc:Choice>
        <mc:Fallback xmlns="">
          <p:sp>
            <p:nvSpPr>
              <p:cNvPr id="3" name="Content Placeholder 2">
                <a:extLst>
                  <a:ext uri="{FF2B5EF4-FFF2-40B4-BE49-F238E27FC236}">
                    <a16:creationId xmlns:a16="http://schemas.microsoft.com/office/drawing/2014/main" id="{1A72A804-1861-FF15-7046-B49F403DBA0A}"/>
                  </a:ext>
                </a:extLst>
              </p:cNvPr>
              <p:cNvSpPr txBox="1">
                <a:spLocks noRot="1" noChangeAspect="1" noMove="1" noResize="1" noEditPoints="1" noAdjustHandles="1" noChangeArrowheads="1" noChangeShapeType="1" noTextEdit="1"/>
              </p:cNvSpPr>
              <p:nvPr/>
            </p:nvSpPr>
            <p:spPr>
              <a:xfrm>
                <a:off x="131180" y="863444"/>
                <a:ext cx="11929641" cy="5590565"/>
              </a:xfrm>
              <a:prstGeom prst="rect">
                <a:avLst/>
              </a:prstGeom>
              <a:blipFill>
                <a:blip r:embed="rId2"/>
                <a:stretch>
                  <a:fillRect l="-358" t="-218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E5C91A01-FD6C-B9A7-2A2A-094FBAA9206E}"/>
                  </a:ext>
                </a:extLst>
              </p:cNvPr>
              <p:cNvSpPr/>
              <p:nvPr/>
            </p:nvSpPr>
            <p:spPr>
              <a:xfrm>
                <a:off x="681147" y="1176198"/>
                <a:ext cx="3200400" cy="6085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14:m>
                  <m:oMathPara xmlns:m="http://schemas.openxmlformats.org/officeDocument/2006/math">
                    <m:oMathParaPr>
                      <m:jc m:val="centerGroup"/>
                    </m:oMathParaPr>
                    <m:oMath xmlns:m="http://schemas.openxmlformats.org/officeDocument/2006/math">
                      <m:r>
                        <a:rPr lang="en-US" b="1" i="1" smtClean="0">
                          <a:solidFill>
                            <a:srgbClr val="0E47A1"/>
                          </a:solidFill>
                          <a:latin typeface="Cambria Math" panose="02040503050406030204" pitchFamily="18" charset="0"/>
                        </a:rPr>
                        <m:t>𝑺𝒕𝒓𝒊𝒏𝒈𝒔</m:t>
                      </m:r>
                      <m:r>
                        <a:rPr lang="en-US" b="1" i="1" smtClean="0">
                          <a:solidFill>
                            <a:srgbClr val="0E47A1"/>
                          </a:solidFill>
                          <a:latin typeface="Cambria Math" panose="02040503050406030204" pitchFamily="18" charset="0"/>
                        </a:rPr>
                        <m:t>:</m:t>
                      </m:r>
                      <m:r>
                        <a:rPr lang="en-US" b="1" i="1" smtClean="0">
                          <a:solidFill>
                            <a:srgbClr val="0E47A1"/>
                          </a:solidFill>
                          <a:latin typeface="Cambria Math" panose="02040503050406030204" pitchFamily="18" charset="0"/>
                        </a:rPr>
                        <m:t>𝒂𝒂𝒂</m:t>
                      </m:r>
                      <m:r>
                        <a:rPr lang="en-US" b="1" i="1" smtClean="0">
                          <a:solidFill>
                            <a:srgbClr val="0E47A1"/>
                          </a:solidFill>
                          <a:latin typeface="Cambria Math" panose="02040503050406030204" pitchFamily="18" charset="0"/>
                        </a:rPr>
                        <m:t>, </m:t>
                      </m:r>
                      <m:r>
                        <a:rPr lang="en-US" b="1" i="1" smtClean="0">
                          <a:solidFill>
                            <a:srgbClr val="0E47A1"/>
                          </a:solidFill>
                          <a:latin typeface="Cambria Math" panose="02040503050406030204" pitchFamily="18" charset="0"/>
                        </a:rPr>
                        <m:t>𝒃𝒂𝒂𝒂</m:t>
                      </m:r>
                      <m:r>
                        <a:rPr lang="en-US" b="1" i="1" smtClean="0">
                          <a:solidFill>
                            <a:srgbClr val="0E47A1"/>
                          </a:solidFill>
                          <a:latin typeface="Cambria Math" panose="02040503050406030204" pitchFamily="18" charset="0"/>
                        </a:rPr>
                        <m:t>,</m:t>
                      </m:r>
                      <m:r>
                        <a:rPr lang="en-US" b="1" i="1" smtClean="0">
                          <a:solidFill>
                            <a:srgbClr val="0E47A1"/>
                          </a:solidFill>
                          <a:latin typeface="Cambria Math" panose="02040503050406030204" pitchFamily="18" charset="0"/>
                        </a:rPr>
                        <m:t>𝒃𝒂𝒄𝒂𝒃𝒂</m:t>
                      </m:r>
                      <m:r>
                        <a:rPr lang="en-US" b="1" i="1" smtClean="0">
                          <a:solidFill>
                            <a:srgbClr val="0E47A1"/>
                          </a:solidFill>
                          <a:latin typeface="Cambria Math" panose="02040503050406030204" pitchFamily="18" charset="0"/>
                        </a:rPr>
                        <m:t>,</m:t>
                      </m:r>
                      <m:r>
                        <a:rPr lang="en-US" b="1" i="1" smtClean="0">
                          <a:solidFill>
                            <a:srgbClr val="0E47A1"/>
                          </a:solidFill>
                          <a:latin typeface="Cambria Math" panose="02040503050406030204" pitchFamily="18" charset="0"/>
                        </a:rPr>
                        <m:t>𝒂𝒂𝒂𝒂𝒂𝒂</m:t>
                      </m:r>
                      <m:r>
                        <a:rPr lang="en-US" b="1" i="1" smtClean="0">
                          <a:solidFill>
                            <a:srgbClr val="0E47A1"/>
                          </a:solidFill>
                          <a:latin typeface="Cambria Math" panose="02040503050406030204" pitchFamily="18" charset="0"/>
                        </a:rPr>
                        <m:t>..</m:t>
                      </m:r>
                    </m:oMath>
                  </m:oMathPara>
                </a14:m>
                <a:endParaRPr lang="en-US" b="1">
                  <a:solidFill>
                    <a:srgbClr val="0E47A1"/>
                  </a:solidFill>
                  <a:latin typeface="+mj-lt"/>
                </a:endParaRPr>
              </a:p>
            </p:txBody>
          </p:sp>
        </mc:Choice>
        <mc:Fallback xmlns="">
          <p:sp>
            <p:nvSpPr>
              <p:cNvPr id="4" name="Rectangle 3">
                <a:extLst>
                  <a:ext uri="{FF2B5EF4-FFF2-40B4-BE49-F238E27FC236}">
                    <a16:creationId xmlns:a16="http://schemas.microsoft.com/office/drawing/2014/main" id="{E5C91A01-FD6C-B9A7-2A2A-094FBAA9206E}"/>
                  </a:ext>
                </a:extLst>
              </p:cNvPr>
              <p:cNvSpPr>
                <a:spLocks noRot="1" noChangeAspect="1" noMove="1" noResize="1" noEditPoints="1" noAdjustHandles="1" noChangeArrowheads="1" noChangeShapeType="1" noTextEdit="1"/>
              </p:cNvSpPr>
              <p:nvPr/>
            </p:nvSpPr>
            <p:spPr>
              <a:xfrm>
                <a:off x="681147" y="1176198"/>
                <a:ext cx="3200400" cy="608533"/>
              </a:xfrm>
              <a:prstGeom prst="rect">
                <a:avLst/>
              </a:prstGeom>
              <a:blipFill>
                <a:blip r:embed="rId3"/>
                <a:stretch>
                  <a:fillRect l="-571" r="-27810"/>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A71C842B-EFA2-4925-C250-68B6C13212F7}"/>
                  </a:ext>
                </a:extLst>
              </p:cNvPr>
              <p:cNvSpPr/>
              <p:nvPr/>
            </p:nvSpPr>
            <p:spPr>
              <a:xfrm>
                <a:off x="4649915" y="1191711"/>
                <a:ext cx="4389664" cy="6085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14:m>
                  <m:oMathPara xmlns:m="http://schemas.openxmlformats.org/officeDocument/2006/math">
                    <m:oMathParaPr>
                      <m:jc m:val="centerGroup"/>
                    </m:oMathParaPr>
                    <m:oMath xmlns:m="http://schemas.openxmlformats.org/officeDocument/2006/math">
                      <m:r>
                        <a:rPr lang="en-US" b="1" i="1" smtClean="0">
                          <a:solidFill>
                            <a:srgbClr val="C00000"/>
                          </a:solidFill>
                          <a:latin typeface="Cambria Math" panose="02040503050406030204" pitchFamily="18" charset="0"/>
                        </a:rPr>
                        <m:t>𝑹</m:t>
                      </m:r>
                      <m:r>
                        <a:rPr lang="en-US" b="1" i="1" smtClean="0">
                          <a:solidFill>
                            <a:srgbClr val="C00000"/>
                          </a:solidFill>
                          <a:latin typeface="Cambria Math" panose="02040503050406030204" pitchFamily="18" charset="0"/>
                        </a:rPr>
                        <m:t>.</m:t>
                      </m:r>
                      <m:r>
                        <a:rPr lang="en-US" b="1" i="1" smtClean="0">
                          <a:solidFill>
                            <a:srgbClr val="C00000"/>
                          </a:solidFill>
                          <a:latin typeface="Cambria Math" panose="02040503050406030204" pitchFamily="18" charset="0"/>
                        </a:rPr>
                        <m:t>𝑬</m:t>
                      </m:r>
                      <m:r>
                        <a:rPr lang="en-US" b="1" i="1" smtClean="0">
                          <a:solidFill>
                            <a:srgbClr val="C00000"/>
                          </a:solidFill>
                          <a:latin typeface="Cambria Math" panose="02040503050406030204" pitchFamily="18" charset="0"/>
                        </a:rPr>
                        <m:t>. =</m:t>
                      </m:r>
                      <m:sSup>
                        <m:sSupPr>
                          <m:ctrlPr>
                            <a:rPr lang="en-US" b="1" i="1">
                              <a:solidFill>
                                <a:srgbClr val="C00000"/>
                              </a:solidFill>
                              <a:latin typeface="Cambria Math" panose="02040503050406030204" pitchFamily="18" charset="0"/>
                            </a:rPr>
                          </m:ctrlPr>
                        </m:sSupPr>
                        <m:e>
                          <m:r>
                            <a:rPr lang="en-IN" b="1" i="1">
                              <a:solidFill>
                                <a:srgbClr val="C00000"/>
                              </a:solidFill>
                              <a:latin typeface="Cambria Math" panose="02040503050406030204" pitchFamily="18" charset="0"/>
                            </a:rPr>
                            <m:t>(</m:t>
                          </m:r>
                          <m:sSup>
                            <m:sSupPr>
                              <m:ctrlPr>
                                <a:rPr lang="en-US" b="1" i="1">
                                  <a:solidFill>
                                    <a:srgbClr val="C00000"/>
                                  </a:solidFill>
                                  <a:latin typeface="Cambria Math" panose="02040503050406030204" pitchFamily="18" charset="0"/>
                                </a:rPr>
                              </m:ctrlPr>
                            </m:sSupPr>
                            <m:e>
                              <m:d>
                                <m:dPr>
                                  <m:ctrlPr>
                                    <a:rPr lang="en-US" b="1" i="1">
                                      <a:solidFill>
                                        <a:srgbClr val="C00000"/>
                                      </a:solidFill>
                                      <a:latin typeface="Cambria Math" panose="02040503050406030204" pitchFamily="18" charset="0"/>
                                    </a:rPr>
                                  </m:ctrlPr>
                                </m:dPr>
                                <m:e>
                                  <m:r>
                                    <a:rPr lang="en-US" b="1" i="1">
                                      <a:solidFill>
                                        <a:srgbClr val="C00000"/>
                                      </a:solidFill>
                                      <a:latin typeface="Cambria Math" panose="02040503050406030204" pitchFamily="18" charset="0"/>
                                    </a:rPr>
                                    <m:t>𝒃</m:t>
                                  </m:r>
                                  <m:r>
                                    <a:rPr lang="en-US" b="1" i="1">
                                      <a:solidFill>
                                        <a:srgbClr val="C00000"/>
                                      </a:solidFill>
                                      <a:latin typeface="Cambria Math" panose="02040503050406030204" pitchFamily="18" charset="0"/>
                                    </a:rPr>
                                    <m:t>|</m:t>
                                  </m:r>
                                  <m:r>
                                    <a:rPr lang="en-IN" b="1" i="1">
                                      <a:solidFill>
                                        <a:srgbClr val="C00000"/>
                                      </a:solidFill>
                                      <a:latin typeface="Cambria Math" panose="02040503050406030204" pitchFamily="18" charset="0"/>
                                    </a:rPr>
                                    <m:t>𝒄</m:t>
                                  </m:r>
                                </m:e>
                              </m:d>
                            </m:e>
                            <m:sup>
                              <m:r>
                                <a:rPr lang="en-US" b="1" i="1">
                                  <a:solidFill>
                                    <a:srgbClr val="C00000"/>
                                  </a:solidFill>
                                  <a:latin typeface="Cambria Math" panose="02040503050406030204" pitchFamily="18" charset="0"/>
                                </a:rPr>
                                <m:t>∗</m:t>
                              </m:r>
                            </m:sup>
                          </m:sSup>
                          <m:r>
                            <a:rPr lang="en-IN" b="1" i="1">
                              <a:solidFill>
                                <a:srgbClr val="C00000"/>
                              </a:solidFill>
                              <a:latin typeface="Cambria Math" panose="02040503050406030204" pitchFamily="18" charset="0"/>
                            </a:rPr>
                            <m:t>𝒂</m:t>
                          </m:r>
                          <m:sSup>
                            <m:sSupPr>
                              <m:ctrlPr>
                                <a:rPr lang="en-US" b="1" i="1">
                                  <a:solidFill>
                                    <a:srgbClr val="C00000"/>
                                  </a:solidFill>
                                  <a:latin typeface="Cambria Math" panose="02040503050406030204" pitchFamily="18" charset="0"/>
                                </a:rPr>
                              </m:ctrlPr>
                            </m:sSupPr>
                            <m:e>
                              <m:d>
                                <m:dPr>
                                  <m:ctrlPr>
                                    <a:rPr lang="en-US" b="1" i="1">
                                      <a:solidFill>
                                        <a:srgbClr val="C00000"/>
                                      </a:solidFill>
                                      <a:latin typeface="Cambria Math" panose="02040503050406030204" pitchFamily="18" charset="0"/>
                                    </a:rPr>
                                  </m:ctrlPr>
                                </m:dPr>
                                <m:e>
                                  <m:r>
                                    <a:rPr lang="en-US" b="1" i="1">
                                      <a:solidFill>
                                        <a:srgbClr val="C00000"/>
                                      </a:solidFill>
                                      <a:latin typeface="Cambria Math" panose="02040503050406030204" pitchFamily="18" charset="0"/>
                                    </a:rPr>
                                    <m:t>𝒃</m:t>
                                  </m:r>
                                  <m:r>
                                    <a:rPr lang="en-US" b="1" i="1">
                                      <a:solidFill>
                                        <a:srgbClr val="C00000"/>
                                      </a:solidFill>
                                      <a:latin typeface="Cambria Math" panose="02040503050406030204" pitchFamily="18" charset="0"/>
                                    </a:rPr>
                                    <m:t>|</m:t>
                                  </m:r>
                                  <m:r>
                                    <a:rPr lang="en-IN" b="1" i="1">
                                      <a:solidFill>
                                        <a:srgbClr val="C00000"/>
                                      </a:solidFill>
                                      <a:latin typeface="Cambria Math" panose="02040503050406030204" pitchFamily="18" charset="0"/>
                                    </a:rPr>
                                    <m:t>𝒄</m:t>
                                  </m:r>
                                </m:e>
                              </m:d>
                            </m:e>
                            <m:sup>
                              <m:r>
                                <a:rPr lang="en-US" b="1" i="1">
                                  <a:solidFill>
                                    <a:srgbClr val="C00000"/>
                                  </a:solidFill>
                                  <a:latin typeface="Cambria Math" panose="02040503050406030204" pitchFamily="18" charset="0"/>
                                </a:rPr>
                                <m:t>∗</m:t>
                              </m:r>
                            </m:sup>
                          </m:sSup>
                          <m:r>
                            <a:rPr lang="en-IN" b="1" i="1">
                              <a:solidFill>
                                <a:srgbClr val="C00000"/>
                              </a:solidFill>
                              <a:latin typeface="Cambria Math" panose="02040503050406030204" pitchFamily="18" charset="0"/>
                            </a:rPr>
                            <m:t>𝒂</m:t>
                          </m:r>
                          <m:sSup>
                            <m:sSupPr>
                              <m:ctrlPr>
                                <a:rPr lang="en-US" b="1" i="1">
                                  <a:solidFill>
                                    <a:srgbClr val="C00000"/>
                                  </a:solidFill>
                                  <a:latin typeface="Cambria Math" panose="02040503050406030204" pitchFamily="18" charset="0"/>
                                </a:rPr>
                              </m:ctrlPr>
                            </m:sSupPr>
                            <m:e>
                              <m:d>
                                <m:dPr>
                                  <m:ctrlPr>
                                    <a:rPr lang="en-US" b="1" i="1">
                                      <a:solidFill>
                                        <a:srgbClr val="C00000"/>
                                      </a:solidFill>
                                      <a:latin typeface="Cambria Math" panose="02040503050406030204" pitchFamily="18" charset="0"/>
                                    </a:rPr>
                                  </m:ctrlPr>
                                </m:dPr>
                                <m:e>
                                  <m:r>
                                    <a:rPr lang="en-US" b="1" i="1">
                                      <a:solidFill>
                                        <a:srgbClr val="C00000"/>
                                      </a:solidFill>
                                      <a:latin typeface="Cambria Math" panose="02040503050406030204" pitchFamily="18" charset="0"/>
                                    </a:rPr>
                                    <m:t>𝒃</m:t>
                                  </m:r>
                                  <m:r>
                                    <a:rPr lang="en-US" b="1" i="1">
                                      <a:solidFill>
                                        <a:srgbClr val="C00000"/>
                                      </a:solidFill>
                                      <a:latin typeface="Cambria Math" panose="02040503050406030204" pitchFamily="18" charset="0"/>
                                    </a:rPr>
                                    <m:t>|</m:t>
                                  </m:r>
                                  <m:r>
                                    <a:rPr lang="en-IN" b="1" i="1">
                                      <a:solidFill>
                                        <a:srgbClr val="C00000"/>
                                      </a:solidFill>
                                      <a:latin typeface="Cambria Math" panose="02040503050406030204" pitchFamily="18" charset="0"/>
                                    </a:rPr>
                                    <m:t>𝒄</m:t>
                                  </m:r>
                                </m:e>
                              </m:d>
                            </m:e>
                            <m:sup>
                              <m:r>
                                <a:rPr lang="en-US" b="1" i="1">
                                  <a:solidFill>
                                    <a:srgbClr val="C00000"/>
                                  </a:solidFill>
                                  <a:latin typeface="Cambria Math" panose="02040503050406030204" pitchFamily="18" charset="0"/>
                                </a:rPr>
                                <m:t>∗</m:t>
                              </m:r>
                            </m:sup>
                          </m:sSup>
                          <m:r>
                            <a:rPr lang="en-IN" b="1" i="1">
                              <a:solidFill>
                                <a:srgbClr val="C00000"/>
                              </a:solidFill>
                              <a:latin typeface="Cambria Math" panose="02040503050406030204" pitchFamily="18" charset="0"/>
                            </a:rPr>
                            <m:t>𝒂</m:t>
                          </m:r>
                          <m:sSup>
                            <m:sSupPr>
                              <m:ctrlPr>
                                <a:rPr lang="en-US" b="1" i="1">
                                  <a:solidFill>
                                    <a:srgbClr val="C00000"/>
                                  </a:solidFill>
                                  <a:latin typeface="Cambria Math" panose="02040503050406030204" pitchFamily="18" charset="0"/>
                                </a:rPr>
                              </m:ctrlPr>
                            </m:sSupPr>
                            <m:e>
                              <m:d>
                                <m:dPr>
                                  <m:ctrlPr>
                                    <a:rPr lang="en-US" b="1" i="1">
                                      <a:solidFill>
                                        <a:srgbClr val="C00000"/>
                                      </a:solidFill>
                                      <a:latin typeface="Cambria Math" panose="02040503050406030204" pitchFamily="18" charset="0"/>
                                    </a:rPr>
                                  </m:ctrlPr>
                                </m:dPr>
                                <m:e>
                                  <m:r>
                                    <a:rPr lang="en-US" b="1" i="1">
                                      <a:solidFill>
                                        <a:srgbClr val="C00000"/>
                                      </a:solidFill>
                                      <a:latin typeface="Cambria Math" panose="02040503050406030204" pitchFamily="18" charset="0"/>
                                    </a:rPr>
                                    <m:t>𝒃</m:t>
                                  </m:r>
                                  <m:r>
                                    <a:rPr lang="en-US" b="1" i="1">
                                      <a:solidFill>
                                        <a:srgbClr val="C00000"/>
                                      </a:solidFill>
                                      <a:latin typeface="Cambria Math" panose="02040503050406030204" pitchFamily="18" charset="0"/>
                                    </a:rPr>
                                    <m:t>|</m:t>
                                  </m:r>
                                  <m:r>
                                    <a:rPr lang="en-IN" b="1" i="1">
                                      <a:solidFill>
                                        <a:srgbClr val="C00000"/>
                                      </a:solidFill>
                                      <a:latin typeface="Cambria Math" panose="02040503050406030204" pitchFamily="18" charset="0"/>
                                    </a:rPr>
                                    <m:t>𝒄</m:t>
                                  </m:r>
                                </m:e>
                              </m:d>
                            </m:e>
                            <m:sup>
                              <m:r>
                                <a:rPr lang="en-US" b="1" i="1">
                                  <a:solidFill>
                                    <a:srgbClr val="C00000"/>
                                  </a:solidFill>
                                  <a:latin typeface="Cambria Math" panose="02040503050406030204" pitchFamily="18" charset="0"/>
                                </a:rPr>
                                <m:t>∗</m:t>
                              </m:r>
                            </m:sup>
                          </m:sSup>
                          <m:r>
                            <a:rPr lang="en-IN" b="1" i="1">
                              <a:solidFill>
                                <a:srgbClr val="C00000"/>
                              </a:solidFill>
                              <a:latin typeface="Cambria Math" panose="02040503050406030204" pitchFamily="18" charset="0"/>
                            </a:rPr>
                            <m:t>)</m:t>
                          </m:r>
                        </m:e>
                        <m:sup>
                          <m:r>
                            <a:rPr lang="en-US" b="1" i="1">
                              <a:solidFill>
                                <a:srgbClr val="C00000"/>
                              </a:solidFill>
                              <a:latin typeface="Cambria Math" panose="02040503050406030204" pitchFamily="18" charset="0"/>
                            </a:rPr>
                            <m:t>∗</m:t>
                          </m:r>
                        </m:sup>
                      </m:sSup>
                    </m:oMath>
                  </m:oMathPara>
                </a14:m>
                <a:endParaRPr lang="en-US" b="1" baseline="30000">
                  <a:solidFill>
                    <a:srgbClr val="C00000"/>
                  </a:solidFill>
                  <a:latin typeface="+mj-lt"/>
                </a:endParaRPr>
              </a:p>
            </p:txBody>
          </p:sp>
        </mc:Choice>
        <mc:Fallback xmlns="">
          <p:sp>
            <p:nvSpPr>
              <p:cNvPr id="5" name="Rectangle 4">
                <a:extLst>
                  <a:ext uri="{FF2B5EF4-FFF2-40B4-BE49-F238E27FC236}">
                    <a16:creationId xmlns:a16="http://schemas.microsoft.com/office/drawing/2014/main" id="{A71C842B-EFA2-4925-C250-68B6C13212F7}"/>
                  </a:ext>
                </a:extLst>
              </p:cNvPr>
              <p:cNvSpPr>
                <a:spLocks noRot="1" noChangeAspect="1" noMove="1" noResize="1" noEditPoints="1" noAdjustHandles="1" noChangeArrowheads="1" noChangeShapeType="1" noTextEdit="1"/>
              </p:cNvSpPr>
              <p:nvPr/>
            </p:nvSpPr>
            <p:spPr>
              <a:xfrm>
                <a:off x="4649915" y="1191711"/>
                <a:ext cx="4389664" cy="608533"/>
              </a:xfrm>
              <a:prstGeom prst="rect">
                <a:avLst/>
              </a:prstGeom>
              <a:blipFill>
                <a:blip r:embed="rId4"/>
                <a:stretch>
                  <a:fillRect/>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F1B9D15F-585C-8E27-2227-D5C62CA60F8E}"/>
                  </a:ext>
                </a:extLst>
              </p:cNvPr>
              <p:cNvSpPr/>
              <p:nvPr/>
            </p:nvSpPr>
            <p:spPr>
              <a:xfrm>
                <a:off x="681147" y="2007938"/>
                <a:ext cx="4498905" cy="6085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14:m>
                  <m:oMath xmlns:m="http://schemas.openxmlformats.org/officeDocument/2006/math">
                    <m:r>
                      <a:rPr lang="en-US" b="1" i="1" smtClean="0">
                        <a:solidFill>
                          <a:srgbClr val="0E47A1"/>
                        </a:solidFill>
                        <a:latin typeface="Cambria Math" panose="02040503050406030204" pitchFamily="18" charset="0"/>
                      </a:rPr>
                      <m:t>𝑺𝒕𝒓𝒊𝒏𝒈𝒔</m:t>
                    </m:r>
                    <m:r>
                      <a:rPr lang="en-US" b="1" i="1" smtClean="0">
                        <a:solidFill>
                          <a:srgbClr val="0E47A1"/>
                        </a:solidFill>
                        <a:latin typeface="Cambria Math" panose="02040503050406030204" pitchFamily="18" charset="0"/>
                      </a:rPr>
                      <m:t>:</m:t>
                    </m:r>
                    <m:r>
                      <a:rPr lang="en-US" b="1" i="1" smtClean="0">
                        <a:solidFill>
                          <a:srgbClr val="0E47A1"/>
                        </a:solidFill>
                        <a:latin typeface="Cambria Math" panose="02040503050406030204" pitchFamily="18" charset="0"/>
                      </a:rPr>
                      <m:t>𝟎𝟎</m:t>
                    </m:r>
                    <m:r>
                      <a:rPr lang="en-US" b="1" i="1" smtClean="0">
                        <a:solidFill>
                          <a:srgbClr val="0E47A1"/>
                        </a:solidFill>
                        <a:latin typeface="Cambria Math" panose="02040503050406030204" pitchFamily="18" charset="0"/>
                      </a:rPr>
                      <m:t>,</m:t>
                    </m:r>
                    <m:r>
                      <a:rPr lang="en-US" b="1" i="1" smtClean="0">
                        <a:solidFill>
                          <a:srgbClr val="0E47A1"/>
                        </a:solidFill>
                        <a:latin typeface="Cambria Math" panose="02040503050406030204" pitchFamily="18" charset="0"/>
                      </a:rPr>
                      <m:t>𝟎𝟏𝟎𝟏</m:t>
                    </m:r>
                    <m:r>
                      <a:rPr lang="en-US" b="1" i="1" smtClean="0">
                        <a:solidFill>
                          <a:srgbClr val="0E47A1"/>
                        </a:solidFill>
                        <a:latin typeface="Cambria Math" panose="02040503050406030204" pitchFamily="18" charset="0"/>
                      </a:rPr>
                      <m:t>,</m:t>
                    </m:r>
                    <m:r>
                      <a:rPr lang="en-US" b="1" i="1" smtClean="0">
                        <a:solidFill>
                          <a:srgbClr val="0E47A1"/>
                        </a:solidFill>
                        <a:latin typeface="Cambria Math" panose="02040503050406030204" pitchFamily="18" charset="0"/>
                      </a:rPr>
                      <m:t>𝟎𝟎𝟎𝟎</m:t>
                    </m:r>
                    <m:r>
                      <a:rPr lang="en-US" b="1" i="1" smtClean="0">
                        <a:solidFill>
                          <a:srgbClr val="0E47A1"/>
                        </a:solidFill>
                        <a:latin typeface="Cambria Math" panose="02040503050406030204" pitchFamily="18" charset="0"/>
                      </a:rPr>
                      <m:t>,</m:t>
                    </m:r>
                    <m:r>
                      <a:rPr lang="en-US" b="1" i="1" smtClean="0">
                        <a:solidFill>
                          <a:srgbClr val="0E47A1"/>
                        </a:solidFill>
                        <a:latin typeface="Cambria Math" panose="02040503050406030204" pitchFamily="18" charset="0"/>
                      </a:rPr>
                      <m:t>𝟏𝟎𝟎𝟏𝟎𝟎</m:t>
                    </m:r>
                  </m:oMath>
                </a14:m>
                <a:r>
                  <a:rPr lang="en-US" b="1">
                    <a:solidFill>
                      <a:srgbClr val="0E47A1"/>
                    </a:solidFill>
                    <a:latin typeface="+mj-lt"/>
                  </a:rPr>
                  <a:t>….</a:t>
                </a:r>
              </a:p>
            </p:txBody>
          </p:sp>
        </mc:Choice>
        <mc:Fallback xmlns="">
          <p:sp>
            <p:nvSpPr>
              <p:cNvPr id="6" name="Rectangle 5">
                <a:extLst>
                  <a:ext uri="{FF2B5EF4-FFF2-40B4-BE49-F238E27FC236}">
                    <a16:creationId xmlns:a16="http://schemas.microsoft.com/office/drawing/2014/main" id="{F1B9D15F-585C-8E27-2227-D5C62CA60F8E}"/>
                  </a:ext>
                </a:extLst>
              </p:cNvPr>
              <p:cNvSpPr>
                <a:spLocks noRot="1" noChangeAspect="1" noMove="1" noResize="1" noEditPoints="1" noAdjustHandles="1" noChangeArrowheads="1" noChangeShapeType="1" noTextEdit="1"/>
              </p:cNvSpPr>
              <p:nvPr/>
            </p:nvSpPr>
            <p:spPr>
              <a:xfrm>
                <a:off x="681147" y="2007938"/>
                <a:ext cx="4498905" cy="608533"/>
              </a:xfrm>
              <a:prstGeom prst="rect">
                <a:avLst/>
              </a:prstGeom>
              <a:blipFill>
                <a:blip r:embed="rId5"/>
                <a:stretch>
                  <a:fillRect l="-407"/>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2836A784-E247-F1F7-19F8-99A31C248676}"/>
                  </a:ext>
                </a:extLst>
              </p:cNvPr>
              <p:cNvSpPr/>
              <p:nvPr/>
            </p:nvSpPr>
            <p:spPr>
              <a:xfrm>
                <a:off x="3712741" y="1958621"/>
                <a:ext cx="4389664" cy="6085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14:m>
                  <m:oMathPara xmlns:m="http://schemas.openxmlformats.org/officeDocument/2006/math">
                    <m:oMathParaPr>
                      <m:jc m:val="centerGroup"/>
                    </m:oMathParaPr>
                    <m:oMath xmlns:m="http://schemas.openxmlformats.org/officeDocument/2006/math">
                      <m:r>
                        <a:rPr lang="en-US" b="1" i="1" smtClean="0">
                          <a:solidFill>
                            <a:srgbClr val="C00000"/>
                          </a:solidFill>
                          <a:latin typeface="Cambria Math" panose="02040503050406030204" pitchFamily="18" charset="0"/>
                        </a:rPr>
                        <m:t>𝑹</m:t>
                      </m:r>
                      <m:r>
                        <a:rPr lang="en-US" b="1" i="1" smtClean="0">
                          <a:solidFill>
                            <a:srgbClr val="C00000"/>
                          </a:solidFill>
                          <a:latin typeface="Cambria Math" panose="02040503050406030204" pitchFamily="18" charset="0"/>
                        </a:rPr>
                        <m:t>.</m:t>
                      </m:r>
                      <m:r>
                        <a:rPr lang="en-US" b="1" i="1" smtClean="0">
                          <a:solidFill>
                            <a:srgbClr val="C00000"/>
                          </a:solidFill>
                          <a:latin typeface="Cambria Math" panose="02040503050406030204" pitchFamily="18" charset="0"/>
                        </a:rPr>
                        <m:t>𝑬</m:t>
                      </m:r>
                      <m:r>
                        <a:rPr lang="en-US" b="1" i="1" smtClean="0">
                          <a:solidFill>
                            <a:srgbClr val="C00000"/>
                          </a:solidFill>
                          <a:latin typeface="Cambria Math" panose="02040503050406030204" pitchFamily="18" charset="0"/>
                        </a:rPr>
                        <m:t>. =</m:t>
                      </m:r>
                      <m:sSup>
                        <m:sSupPr>
                          <m:ctrlPr>
                            <a:rPr lang="en-US" b="1" i="1">
                              <a:solidFill>
                                <a:srgbClr val="C00000"/>
                              </a:solidFill>
                              <a:latin typeface="Cambria Math" panose="02040503050406030204" pitchFamily="18" charset="0"/>
                            </a:rPr>
                          </m:ctrlPr>
                        </m:sSupPr>
                        <m:e>
                          <m:r>
                            <a:rPr lang="en-IN" b="1" i="1">
                              <a:solidFill>
                                <a:srgbClr val="C00000"/>
                              </a:solidFill>
                              <a:latin typeface="Cambria Math" panose="02040503050406030204" pitchFamily="18" charset="0"/>
                            </a:rPr>
                            <m:t>(</m:t>
                          </m:r>
                          <m:sSup>
                            <m:sSupPr>
                              <m:ctrlPr>
                                <a:rPr lang="en-US" b="1" i="1">
                                  <a:solidFill>
                                    <a:srgbClr val="C00000"/>
                                  </a:solidFill>
                                  <a:latin typeface="Cambria Math" panose="02040503050406030204" pitchFamily="18" charset="0"/>
                                </a:rPr>
                              </m:ctrlPr>
                            </m:sSupPr>
                            <m:e>
                              <m:r>
                                <a:rPr lang="en-IN" b="1" i="1">
                                  <a:solidFill>
                                    <a:srgbClr val="C00000"/>
                                  </a:solidFill>
                                  <a:latin typeface="Cambria Math" panose="02040503050406030204" pitchFamily="18" charset="0"/>
                                </a:rPr>
                                <m:t>𝟏</m:t>
                              </m:r>
                            </m:e>
                            <m:sup>
                              <m:r>
                                <a:rPr lang="en-US" b="1" i="1">
                                  <a:solidFill>
                                    <a:srgbClr val="C00000"/>
                                  </a:solidFill>
                                  <a:latin typeface="Cambria Math" panose="02040503050406030204" pitchFamily="18" charset="0"/>
                                </a:rPr>
                                <m:t>∗</m:t>
                              </m:r>
                            </m:sup>
                          </m:sSup>
                          <m:r>
                            <a:rPr lang="en-IN" b="1" i="1">
                              <a:solidFill>
                                <a:srgbClr val="C00000"/>
                              </a:solidFill>
                              <a:latin typeface="Cambria Math" panose="02040503050406030204" pitchFamily="18" charset="0"/>
                            </a:rPr>
                            <m:t>𝟎</m:t>
                          </m:r>
                          <m:sSup>
                            <m:sSupPr>
                              <m:ctrlPr>
                                <a:rPr lang="en-US" b="1" i="1">
                                  <a:solidFill>
                                    <a:srgbClr val="C00000"/>
                                  </a:solidFill>
                                  <a:latin typeface="Cambria Math" panose="02040503050406030204" pitchFamily="18" charset="0"/>
                                </a:rPr>
                              </m:ctrlPr>
                            </m:sSupPr>
                            <m:e>
                              <m:r>
                                <a:rPr lang="en-IN" b="1" i="1">
                                  <a:solidFill>
                                    <a:srgbClr val="C00000"/>
                                  </a:solidFill>
                                  <a:latin typeface="Cambria Math" panose="02040503050406030204" pitchFamily="18" charset="0"/>
                                </a:rPr>
                                <m:t>𝟏</m:t>
                              </m:r>
                            </m:e>
                            <m:sup>
                              <m:r>
                                <a:rPr lang="en-US" b="1" i="1">
                                  <a:solidFill>
                                    <a:srgbClr val="C00000"/>
                                  </a:solidFill>
                                  <a:latin typeface="Cambria Math" panose="02040503050406030204" pitchFamily="18" charset="0"/>
                                </a:rPr>
                                <m:t>∗</m:t>
                              </m:r>
                            </m:sup>
                          </m:sSup>
                          <m:r>
                            <a:rPr lang="en-IN" b="1" i="1">
                              <a:solidFill>
                                <a:srgbClr val="C00000"/>
                              </a:solidFill>
                              <a:latin typeface="Cambria Math" panose="02040503050406030204" pitchFamily="18" charset="0"/>
                            </a:rPr>
                            <m:t>𝟎</m:t>
                          </m:r>
                          <m:sSup>
                            <m:sSupPr>
                              <m:ctrlPr>
                                <a:rPr lang="en-US" b="1" i="1">
                                  <a:solidFill>
                                    <a:srgbClr val="C00000"/>
                                  </a:solidFill>
                                  <a:latin typeface="Cambria Math" panose="02040503050406030204" pitchFamily="18" charset="0"/>
                                </a:rPr>
                              </m:ctrlPr>
                            </m:sSupPr>
                            <m:e>
                              <m:r>
                                <a:rPr lang="en-IN" b="1" i="1">
                                  <a:solidFill>
                                    <a:srgbClr val="C00000"/>
                                  </a:solidFill>
                                  <a:latin typeface="Cambria Math" panose="02040503050406030204" pitchFamily="18" charset="0"/>
                                </a:rPr>
                                <m:t>𝟏</m:t>
                              </m:r>
                            </m:e>
                            <m:sup>
                              <m:r>
                                <a:rPr lang="en-US" b="1" i="1">
                                  <a:solidFill>
                                    <a:srgbClr val="C00000"/>
                                  </a:solidFill>
                                  <a:latin typeface="Cambria Math" panose="02040503050406030204" pitchFamily="18" charset="0"/>
                                </a:rPr>
                                <m:t>∗</m:t>
                              </m:r>
                            </m:sup>
                          </m:sSup>
                          <m:r>
                            <a:rPr lang="en-IN" b="1" i="1">
                              <a:solidFill>
                                <a:srgbClr val="C00000"/>
                              </a:solidFill>
                              <a:latin typeface="Cambria Math" panose="02040503050406030204" pitchFamily="18" charset="0"/>
                            </a:rPr>
                            <m:t>)</m:t>
                          </m:r>
                        </m:e>
                        <m:sup>
                          <m:r>
                            <a:rPr lang="en-US" b="1" i="1">
                              <a:solidFill>
                                <a:srgbClr val="C00000"/>
                              </a:solidFill>
                              <a:latin typeface="Cambria Math" panose="02040503050406030204" pitchFamily="18" charset="0"/>
                            </a:rPr>
                            <m:t>∗</m:t>
                          </m:r>
                        </m:sup>
                      </m:sSup>
                    </m:oMath>
                  </m:oMathPara>
                </a14:m>
                <a:endParaRPr lang="en-US" b="1" baseline="30000">
                  <a:solidFill>
                    <a:srgbClr val="C00000"/>
                  </a:solidFill>
                  <a:latin typeface="+mj-lt"/>
                </a:endParaRPr>
              </a:p>
            </p:txBody>
          </p:sp>
        </mc:Choice>
        <mc:Fallback xmlns="">
          <p:sp>
            <p:nvSpPr>
              <p:cNvPr id="7" name="Rectangle 6">
                <a:extLst>
                  <a:ext uri="{FF2B5EF4-FFF2-40B4-BE49-F238E27FC236}">
                    <a16:creationId xmlns:a16="http://schemas.microsoft.com/office/drawing/2014/main" id="{2836A784-E247-F1F7-19F8-99A31C248676}"/>
                  </a:ext>
                </a:extLst>
              </p:cNvPr>
              <p:cNvSpPr>
                <a:spLocks noRot="1" noChangeAspect="1" noMove="1" noResize="1" noEditPoints="1" noAdjustHandles="1" noChangeArrowheads="1" noChangeShapeType="1" noTextEdit="1"/>
              </p:cNvSpPr>
              <p:nvPr/>
            </p:nvSpPr>
            <p:spPr>
              <a:xfrm>
                <a:off x="3712741" y="1958621"/>
                <a:ext cx="4389664" cy="608533"/>
              </a:xfrm>
              <a:prstGeom prst="rect">
                <a:avLst/>
              </a:prstGeom>
              <a:blipFill>
                <a:blip r:embed="rId6"/>
                <a:stretch>
                  <a:fillRect/>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29008ECC-3837-6B75-39F3-F9BC3A62E87E}"/>
                  </a:ext>
                </a:extLst>
              </p:cNvPr>
              <p:cNvSpPr/>
              <p:nvPr/>
            </p:nvSpPr>
            <p:spPr>
              <a:xfrm>
                <a:off x="681147" y="2797648"/>
                <a:ext cx="4498905" cy="6085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14:m>
                  <m:oMath xmlns:m="http://schemas.openxmlformats.org/officeDocument/2006/math">
                    <m:r>
                      <a:rPr lang="en-US" b="1" i="1" smtClean="0">
                        <a:solidFill>
                          <a:srgbClr val="0E47A1"/>
                        </a:solidFill>
                        <a:latin typeface="Cambria Math" panose="02040503050406030204" pitchFamily="18" charset="0"/>
                      </a:rPr>
                      <m:t>𝑺𝒕𝒓𝒊𝒏𝒈𝒔</m:t>
                    </m:r>
                    <m:r>
                      <a:rPr lang="en-US" b="1" i="1" smtClean="0">
                        <a:solidFill>
                          <a:srgbClr val="0E47A1"/>
                        </a:solidFill>
                        <a:latin typeface="Cambria Math" panose="02040503050406030204" pitchFamily="18" charset="0"/>
                      </a:rPr>
                      <m:t>:</m:t>
                    </m:r>
                    <m:r>
                      <a:rPr lang="en-US" b="1" i="1" smtClean="0">
                        <a:solidFill>
                          <a:srgbClr val="0E47A1"/>
                        </a:solidFill>
                        <a:latin typeface="Cambria Math" panose="02040503050406030204" pitchFamily="18" charset="0"/>
                      </a:rPr>
                      <m:t>𝟎</m:t>
                    </m:r>
                    <m:r>
                      <a:rPr lang="en-US" b="1" i="1" smtClean="0">
                        <a:solidFill>
                          <a:srgbClr val="0E47A1"/>
                        </a:solidFill>
                        <a:latin typeface="Cambria Math" panose="02040503050406030204" pitchFamily="18" charset="0"/>
                      </a:rPr>
                      <m:t>,</m:t>
                    </m:r>
                    <m:r>
                      <a:rPr lang="en-US" b="1" i="1" smtClean="0">
                        <a:solidFill>
                          <a:srgbClr val="0E47A1"/>
                        </a:solidFill>
                        <a:latin typeface="Cambria Math" panose="02040503050406030204" pitchFamily="18" charset="0"/>
                      </a:rPr>
                      <m:t>𝟎𝟏𝟎</m:t>
                    </m:r>
                    <m:r>
                      <a:rPr lang="en-US" b="1" i="1" smtClean="0">
                        <a:solidFill>
                          <a:srgbClr val="0E47A1"/>
                        </a:solidFill>
                        <a:latin typeface="Cambria Math" panose="02040503050406030204" pitchFamily="18" charset="0"/>
                      </a:rPr>
                      <m:t>,</m:t>
                    </m:r>
                    <m:r>
                      <a:rPr lang="en-US" b="1" i="1" smtClean="0">
                        <a:solidFill>
                          <a:srgbClr val="0E47A1"/>
                        </a:solidFill>
                        <a:latin typeface="Cambria Math" panose="02040503050406030204" pitchFamily="18" charset="0"/>
                      </a:rPr>
                      <m:t>𝟏𝟏𝟎</m:t>
                    </m:r>
                    <m:r>
                      <a:rPr lang="en-US" b="1" i="1" smtClean="0">
                        <a:solidFill>
                          <a:srgbClr val="0E47A1"/>
                        </a:solidFill>
                        <a:latin typeface="Cambria Math" panose="02040503050406030204" pitchFamily="18" charset="0"/>
                      </a:rPr>
                      <m:t>,</m:t>
                    </m:r>
                    <m:r>
                      <a:rPr lang="en-US" b="1" i="1" smtClean="0">
                        <a:solidFill>
                          <a:srgbClr val="0E47A1"/>
                        </a:solidFill>
                        <a:latin typeface="Cambria Math" panose="02040503050406030204" pitchFamily="18" charset="0"/>
                      </a:rPr>
                      <m:t>𝟎𝟎𝟎</m:t>
                    </m:r>
                    <m:r>
                      <a:rPr lang="en-US" b="1" i="1" smtClean="0">
                        <a:solidFill>
                          <a:srgbClr val="0E47A1"/>
                        </a:solidFill>
                        <a:latin typeface="Cambria Math" panose="02040503050406030204" pitchFamily="18" charset="0"/>
                      </a:rPr>
                      <m:t>,</m:t>
                    </m:r>
                    <m:r>
                      <a:rPr lang="en-US" b="1" i="1" smtClean="0">
                        <a:solidFill>
                          <a:srgbClr val="0E47A1"/>
                        </a:solidFill>
                        <a:latin typeface="Cambria Math" panose="02040503050406030204" pitchFamily="18" charset="0"/>
                      </a:rPr>
                      <m:t>𝟏𝟎𝟎𝟏𝟎</m:t>
                    </m:r>
                  </m:oMath>
                </a14:m>
                <a:r>
                  <a:rPr lang="en-US" b="1">
                    <a:solidFill>
                      <a:srgbClr val="0E47A1"/>
                    </a:solidFill>
                    <a:latin typeface="+mj-lt"/>
                  </a:rPr>
                  <a:t>….</a:t>
                </a:r>
              </a:p>
            </p:txBody>
          </p:sp>
        </mc:Choice>
        <mc:Fallback xmlns="">
          <p:sp>
            <p:nvSpPr>
              <p:cNvPr id="8" name="Rectangle 7">
                <a:extLst>
                  <a:ext uri="{FF2B5EF4-FFF2-40B4-BE49-F238E27FC236}">
                    <a16:creationId xmlns:a16="http://schemas.microsoft.com/office/drawing/2014/main" id="{29008ECC-3837-6B75-39F3-F9BC3A62E87E}"/>
                  </a:ext>
                </a:extLst>
              </p:cNvPr>
              <p:cNvSpPr>
                <a:spLocks noRot="1" noChangeAspect="1" noMove="1" noResize="1" noEditPoints="1" noAdjustHandles="1" noChangeArrowheads="1" noChangeShapeType="1" noTextEdit="1"/>
              </p:cNvSpPr>
              <p:nvPr/>
            </p:nvSpPr>
            <p:spPr>
              <a:xfrm>
                <a:off x="681147" y="2797648"/>
                <a:ext cx="4498905" cy="608533"/>
              </a:xfrm>
              <a:prstGeom prst="rect">
                <a:avLst/>
              </a:prstGeom>
              <a:blipFill>
                <a:blip r:embed="rId7"/>
                <a:stretch>
                  <a:fillRect l="-407"/>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3A926E87-970C-54D5-D95D-B9961999104A}"/>
                  </a:ext>
                </a:extLst>
              </p:cNvPr>
              <p:cNvSpPr/>
              <p:nvPr/>
            </p:nvSpPr>
            <p:spPr>
              <a:xfrm>
                <a:off x="4075301" y="2795184"/>
                <a:ext cx="4389664" cy="6085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14:m>
                  <m:oMathPara xmlns:m="http://schemas.openxmlformats.org/officeDocument/2006/math">
                    <m:oMathParaPr>
                      <m:jc m:val="centerGroup"/>
                    </m:oMathParaPr>
                    <m:oMath xmlns:m="http://schemas.openxmlformats.org/officeDocument/2006/math">
                      <m:r>
                        <a:rPr lang="en-US" b="1" i="1" smtClean="0">
                          <a:solidFill>
                            <a:srgbClr val="C00000"/>
                          </a:solidFill>
                          <a:latin typeface="Cambria Math" panose="02040503050406030204" pitchFamily="18" charset="0"/>
                        </a:rPr>
                        <m:t>𝑹</m:t>
                      </m:r>
                      <m:r>
                        <a:rPr lang="en-US" b="1" i="1" smtClean="0">
                          <a:solidFill>
                            <a:srgbClr val="C00000"/>
                          </a:solidFill>
                          <a:latin typeface="Cambria Math" panose="02040503050406030204" pitchFamily="18" charset="0"/>
                        </a:rPr>
                        <m:t>.</m:t>
                      </m:r>
                      <m:r>
                        <a:rPr lang="en-US" b="1" i="1" smtClean="0">
                          <a:solidFill>
                            <a:srgbClr val="C00000"/>
                          </a:solidFill>
                          <a:latin typeface="Cambria Math" panose="02040503050406030204" pitchFamily="18" charset="0"/>
                        </a:rPr>
                        <m:t>𝑬</m:t>
                      </m:r>
                      <m:r>
                        <a:rPr lang="en-US" b="1" i="1" smtClean="0">
                          <a:solidFill>
                            <a:srgbClr val="C00000"/>
                          </a:solidFill>
                          <a:latin typeface="Cambria Math" panose="02040503050406030204" pitchFamily="18" charset="0"/>
                        </a:rPr>
                        <m:t>. =</m:t>
                      </m:r>
                      <m:sSup>
                        <m:sSupPr>
                          <m:ctrlPr>
                            <a:rPr lang="en-US" b="1" i="1">
                              <a:solidFill>
                                <a:srgbClr val="C00000"/>
                              </a:solidFill>
                              <a:latin typeface="Cambria Math" panose="02040503050406030204" pitchFamily="18" charset="0"/>
                            </a:rPr>
                          </m:ctrlPr>
                        </m:sSupPr>
                        <m:e>
                          <m:d>
                            <m:dPr>
                              <m:ctrlPr>
                                <a:rPr lang="en-IN" b="1" i="1">
                                  <a:solidFill>
                                    <a:srgbClr val="C00000"/>
                                  </a:solidFill>
                                  <a:latin typeface="Cambria Math" panose="02040503050406030204" pitchFamily="18" charset="0"/>
                                </a:rPr>
                              </m:ctrlPr>
                            </m:dPr>
                            <m:e>
                              <m:r>
                                <a:rPr lang="en-IN" b="1" i="1">
                                  <a:solidFill>
                                    <a:srgbClr val="C00000"/>
                                  </a:solidFill>
                                  <a:latin typeface="Cambria Math" panose="02040503050406030204" pitchFamily="18" charset="0"/>
                                </a:rPr>
                                <m:t>𝟎</m:t>
                              </m:r>
                              <m:r>
                                <a:rPr lang="en-US" b="1" i="1">
                                  <a:solidFill>
                                    <a:srgbClr val="C00000"/>
                                  </a:solidFill>
                                  <a:latin typeface="Cambria Math" panose="02040503050406030204" pitchFamily="18" charset="0"/>
                                </a:rPr>
                                <m:t>|</m:t>
                              </m:r>
                              <m:r>
                                <a:rPr lang="en-IN" b="1" i="1">
                                  <a:solidFill>
                                    <a:srgbClr val="C00000"/>
                                  </a:solidFill>
                                  <a:latin typeface="Cambria Math" panose="02040503050406030204" pitchFamily="18" charset="0"/>
                                </a:rPr>
                                <m:t>𝟏</m:t>
                              </m:r>
                            </m:e>
                          </m:d>
                          <m:r>
                            <a:rPr lang="en-US" b="1" i="1">
                              <a:solidFill>
                                <a:srgbClr val="C00000"/>
                              </a:solidFill>
                              <a:latin typeface="Cambria Math" panose="02040503050406030204" pitchFamily="18" charset="0"/>
                            </a:rPr>
                            <m:t>  </m:t>
                          </m:r>
                          <m:r>
                            <a:rPr lang="en-IN" b="1" i="1">
                              <a:solidFill>
                                <a:srgbClr val="C00000"/>
                              </a:solidFill>
                              <a:latin typeface="Cambria Math" panose="02040503050406030204" pitchFamily="18" charset="0"/>
                            </a:rPr>
                            <m:t>(</m:t>
                          </m:r>
                          <m:d>
                            <m:dPr>
                              <m:ctrlPr>
                                <a:rPr lang="en-IN" b="1" i="1">
                                  <a:solidFill>
                                    <a:srgbClr val="C00000"/>
                                  </a:solidFill>
                                  <a:latin typeface="Cambria Math" panose="02040503050406030204" pitchFamily="18" charset="0"/>
                                </a:rPr>
                              </m:ctrlPr>
                            </m:dPr>
                            <m:e>
                              <m:r>
                                <a:rPr lang="en-IN" b="1" i="1">
                                  <a:solidFill>
                                    <a:srgbClr val="C00000"/>
                                  </a:solidFill>
                                  <a:latin typeface="Cambria Math" panose="02040503050406030204" pitchFamily="18" charset="0"/>
                                </a:rPr>
                                <m:t>𝟎</m:t>
                              </m:r>
                            </m:e>
                            <m:e>
                              <m:r>
                                <a:rPr lang="en-IN" b="1" i="1">
                                  <a:solidFill>
                                    <a:srgbClr val="C00000"/>
                                  </a:solidFill>
                                  <a:latin typeface="Cambria Math" panose="02040503050406030204" pitchFamily="18" charset="0"/>
                                </a:rPr>
                                <m:t>𝟏</m:t>
                              </m:r>
                            </m:e>
                          </m:d>
                          <m:r>
                            <a:rPr lang="en-IN" b="1" i="1">
                              <a:solidFill>
                                <a:srgbClr val="C00000"/>
                              </a:solidFill>
                              <a:latin typeface="Cambria Math" panose="02040503050406030204" pitchFamily="18" charset="0"/>
                            </a:rPr>
                            <m:t>(</m:t>
                          </m:r>
                          <m:r>
                            <a:rPr lang="en-IN" b="1" i="1">
                              <a:solidFill>
                                <a:srgbClr val="C00000"/>
                              </a:solidFill>
                              <a:latin typeface="Cambria Math" panose="02040503050406030204" pitchFamily="18" charset="0"/>
                            </a:rPr>
                            <m:t>𝟎</m:t>
                          </m:r>
                          <m:r>
                            <a:rPr lang="en-US" b="1" i="1">
                              <a:solidFill>
                                <a:srgbClr val="C00000"/>
                              </a:solidFill>
                              <a:latin typeface="Cambria Math" panose="02040503050406030204" pitchFamily="18" charset="0"/>
                            </a:rPr>
                            <m:t>|</m:t>
                          </m:r>
                          <m:r>
                            <a:rPr lang="en-IN" b="1" i="1">
                              <a:solidFill>
                                <a:srgbClr val="C00000"/>
                              </a:solidFill>
                              <a:latin typeface="Cambria Math" panose="02040503050406030204" pitchFamily="18" charset="0"/>
                            </a:rPr>
                            <m:t>𝟏</m:t>
                          </m:r>
                          <m:r>
                            <a:rPr lang="en-IN" b="1" i="1">
                              <a:solidFill>
                                <a:srgbClr val="C00000"/>
                              </a:solidFill>
                              <a:latin typeface="Cambria Math" panose="02040503050406030204" pitchFamily="18" charset="0"/>
                            </a:rPr>
                            <m:t>))</m:t>
                          </m:r>
                        </m:e>
                        <m:sup>
                          <m:r>
                            <a:rPr lang="en-US" b="1" i="1">
                              <a:solidFill>
                                <a:srgbClr val="C00000"/>
                              </a:solidFill>
                              <a:latin typeface="Cambria Math" panose="02040503050406030204" pitchFamily="18" charset="0"/>
                            </a:rPr>
                            <m:t>∗</m:t>
                          </m:r>
                        </m:sup>
                      </m:sSup>
                    </m:oMath>
                  </m:oMathPara>
                </a14:m>
                <a:endParaRPr lang="en-US" b="1" baseline="30000">
                  <a:solidFill>
                    <a:srgbClr val="C00000"/>
                  </a:solidFill>
                  <a:latin typeface="+mj-lt"/>
                </a:endParaRPr>
              </a:p>
            </p:txBody>
          </p:sp>
        </mc:Choice>
        <mc:Fallback xmlns="">
          <p:sp>
            <p:nvSpPr>
              <p:cNvPr id="9" name="Rectangle 8">
                <a:extLst>
                  <a:ext uri="{FF2B5EF4-FFF2-40B4-BE49-F238E27FC236}">
                    <a16:creationId xmlns:a16="http://schemas.microsoft.com/office/drawing/2014/main" id="{3A926E87-970C-54D5-D95D-B9961999104A}"/>
                  </a:ext>
                </a:extLst>
              </p:cNvPr>
              <p:cNvSpPr>
                <a:spLocks noRot="1" noChangeAspect="1" noMove="1" noResize="1" noEditPoints="1" noAdjustHandles="1" noChangeArrowheads="1" noChangeShapeType="1" noTextEdit="1"/>
              </p:cNvSpPr>
              <p:nvPr/>
            </p:nvSpPr>
            <p:spPr>
              <a:xfrm>
                <a:off x="4075301" y="2795184"/>
                <a:ext cx="4389664" cy="608533"/>
              </a:xfrm>
              <a:prstGeom prst="rect">
                <a:avLst/>
              </a:prstGeom>
              <a:blipFill>
                <a:blip r:embed="rId8"/>
                <a:stretch>
                  <a:fillRect/>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1BB22F66-F1CE-5328-84D9-F89F86FCC5DC}"/>
                  </a:ext>
                </a:extLst>
              </p:cNvPr>
              <p:cNvSpPr/>
              <p:nvPr/>
            </p:nvSpPr>
            <p:spPr>
              <a:xfrm>
                <a:off x="681148" y="3593932"/>
                <a:ext cx="4498905" cy="6085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14:m>
                  <m:oMath xmlns:m="http://schemas.openxmlformats.org/officeDocument/2006/math">
                    <m:r>
                      <a:rPr lang="en-US" b="1" i="1" smtClean="0">
                        <a:solidFill>
                          <a:srgbClr val="0E47A1"/>
                        </a:solidFill>
                        <a:latin typeface="Cambria Math" panose="02040503050406030204" pitchFamily="18" charset="0"/>
                      </a:rPr>
                      <m:t>𝑺𝒕𝒓𝒊𝒏𝒈𝒔</m:t>
                    </m:r>
                    <m:r>
                      <a:rPr lang="en-US" b="1" i="1" smtClean="0">
                        <a:solidFill>
                          <a:srgbClr val="0E47A1"/>
                        </a:solidFill>
                        <a:latin typeface="Cambria Math" panose="02040503050406030204" pitchFamily="18" charset="0"/>
                      </a:rPr>
                      <m:t>:</m:t>
                    </m:r>
                    <m:r>
                      <a:rPr lang="en-US" b="1" i="1" smtClean="0">
                        <a:solidFill>
                          <a:srgbClr val="0E47A1"/>
                        </a:solidFill>
                        <a:latin typeface="Cambria Math" panose="02040503050406030204" pitchFamily="18" charset="0"/>
                      </a:rPr>
                      <m:t>𝟎𝟎</m:t>
                    </m:r>
                    <m:r>
                      <a:rPr lang="en-US" b="1" i="1" smtClean="0">
                        <a:solidFill>
                          <a:srgbClr val="0E47A1"/>
                        </a:solidFill>
                        <a:latin typeface="Cambria Math" panose="02040503050406030204" pitchFamily="18" charset="0"/>
                      </a:rPr>
                      <m:t>,</m:t>
                    </m:r>
                    <m:r>
                      <a:rPr lang="en-US" b="1" i="1" smtClean="0">
                        <a:solidFill>
                          <a:srgbClr val="0E47A1"/>
                        </a:solidFill>
                        <a:latin typeface="Cambria Math" panose="02040503050406030204" pitchFamily="18" charset="0"/>
                      </a:rPr>
                      <m:t>𝟎𝟏𝟎𝟏</m:t>
                    </m:r>
                    <m:r>
                      <a:rPr lang="en-US" b="1" i="1" smtClean="0">
                        <a:solidFill>
                          <a:srgbClr val="0E47A1"/>
                        </a:solidFill>
                        <a:latin typeface="Cambria Math" panose="02040503050406030204" pitchFamily="18" charset="0"/>
                      </a:rPr>
                      <m:t>,</m:t>
                    </m:r>
                    <m:r>
                      <a:rPr lang="en-US" b="1" i="1" smtClean="0">
                        <a:solidFill>
                          <a:srgbClr val="0E47A1"/>
                        </a:solidFill>
                        <a:latin typeface="Cambria Math" panose="02040503050406030204" pitchFamily="18" charset="0"/>
                      </a:rPr>
                      <m:t>𝟎𝟎𝟎𝟎</m:t>
                    </m:r>
                    <m:r>
                      <a:rPr lang="en-US" b="1" i="1" smtClean="0">
                        <a:solidFill>
                          <a:srgbClr val="0E47A1"/>
                        </a:solidFill>
                        <a:latin typeface="Cambria Math" panose="02040503050406030204" pitchFamily="18" charset="0"/>
                      </a:rPr>
                      <m:t>,</m:t>
                    </m:r>
                    <m:r>
                      <a:rPr lang="en-US" b="1" i="1" smtClean="0">
                        <a:solidFill>
                          <a:srgbClr val="0E47A1"/>
                        </a:solidFill>
                        <a:latin typeface="Cambria Math" panose="02040503050406030204" pitchFamily="18" charset="0"/>
                      </a:rPr>
                      <m:t>𝟏𝟎𝟎𝟏𝟎𝟎</m:t>
                    </m:r>
                  </m:oMath>
                </a14:m>
                <a:r>
                  <a:rPr lang="en-US" b="1">
                    <a:solidFill>
                      <a:srgbClr val="0E47A1"/>
                    </a:solidFill>
                    <a:latin typeface="+mj-lt"/>
                  </a:rPr>
                  <a:t>….</a:t>
                </a:r>
              </a:p>
            </p:txBody>
          </p:sp>
        </mc:Choice>
        <mc:Fallback xmlns="">
          <p:sp>
            <p:nvSpPr>
              <p:cNvPr id="10" name="Rectangle 9">
                <a:extLst>
                  <a:ext uri="{FF2B5EF4-FFF2-40B4-BE49-F238E27FC236}">
                    <a16:creationId xmlns:a16="http://schemas.microsoft.com/office/drawing/2014/main" id="{1BB22F66-F1CE-5328-84D9-F89F86FCC5DC}"/>
                  </a:ext>
                </a:extLst>
              </p:cNvPr>
              <p:cNvSpPr>
                <a:spLocks noRot="1" noChangeAspect="1" noMove="1" noResize="1" noEditPoints="1" noAdjustHandles="1" noChangeArrowheads="1" noChangeShapeType="1" noTextEdit="1"/>
              </p:cNvSpPr>
              <p:nvPr/>
            </p:nvSpPr>
            <p:spPr>
              <a:xfrm>
                <a:off x="681148" y="3593932"/>
                <a:ext cx="4498905" cy="608533"/>
              </a:xfrm>
              <a:prstGeom prst="rect">
                <a:avLst/>
              </a:prstGeom>
              <a:blipFill>
                <a:blip r:embed="rId9"/>
                <a:stretch>
                  <a:fillRect l="-407"/>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A5324BCC-6CFC-E4EF-CC22-E185EB2B2A5F}"/>
                  </a:ext>
                </a:extLst>
              </p:cNvPr>
              <p:cNvSpPr/>
              <p:nvPr/>
            </p:nvSpPr>
            <p:spPr>
              <a:xfrm>
                <a:off x="3712741" y="3569414"/>
                <a:ext cx="4389664" cy="6085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14:m>
                  <m:oMathPara xmlns:m="http://schemas.openxmlformats.org/officeDocument/2006/math">
                    <m:oMathParaPr>
                      <m:jc m:val="centerGroup"/>
                    </m:oMathParaPr>
                    <m:oMath xmlns:m="http://schemas.openxmlformats.org/officeDocument/2006/math">
                      <m:r>
                        <a:rPr lang="en-US" b="1" i="1" smtClean="0">
                          <a:solidFill>
                            <a:srgbClr val="C00000"/>
                          </a:solidFill>
                          <a:latin typeface="Cambria Math" panose="02040503050406030204" pitchFamily="18" charset="0"/>
                        </a:rPr>
                        <m:t>𝑹</m:t>
                      </m:r>
                      <m:r>
                        <a:rPr lang="en-US" b="1" i="1" smtClean="0">
                          <a:solidFill>
                            <a:srgbClr val="C00000"/>
                          </a:solidFill>
                          <a:latin typeface="Cambria Math" panose="02040503050406030204" pitchFamily="18" charset="0"/>
                        </a:rPr>
                        <m:t>.</m:t>
                      </m:r>
                      <m:r>
                        <a:rPr lang="en-US" b="1" i="1" smtClean="0">
                          <a:solidFill>
                            <a:srgbClr val="C00000"/>
                          </a:solidFill>
                          <a:latin typeface="Cambria Math" panose="02040503050406030204" pitchFamily="18" charset="0"/>
                        </a:rPr>
                        <m:t>𝑬</m:t>
                      </m:r>
                      <m:r>
                        <a:rPr lang="en-US" b="1" i="1" smtClean="0">
                          <a:solidFill>
                            <a:srgbClr val="C00000"/>
                          </a:solidFill>
                          <a:latin typeface="Cambria Math" panose="02040503050406030204" pitchFamily="18" charset="0"/>
                        </a:rPr>
                        <m:t>. =</m:t>
                      </m:r>
                      <m:sSup>
                        <m:sSupPr>
                          <m:ctrlPr>
                            <a:rPr lang="en-US" b="1" i="1">
                              <a:solidFill>
                                <a:srgbClr val="C00000"/>
                              </a:solidFill>
                              <a:latin typeface="Cambria Math" panose="02040503050406030204" pitchFamily="18" charset="0"/>
                            </a:rPr>
                          </m:ctrlPr>
                        </m:sSupPr>
                        <m:e>
                          <m:r>
                            <a:rPr lang="en-IN" b="1" i="1" smtClean="0">
                              <a:solidFill>
                                <a:srgbClr val="C00000"/>
                              </a:solidFill>
                              <a:latin typeface="Cambria Math" panose="02040503050406030204" pitchFamily="18" charset="0"/>
                            </a:rPr>
                            <m:t> </m:t>
                          </m:r>
                          <m:r>
                            <a:rPr lang="en-IN" b="1" i="1">
                              <a:solidFill>
                                <a:srgbClr val="C00000"/>
                              </a:solidFill>
                              <a:latin typeface="Cambria Math" panose="02040503050406030204" pitchFamily="18" charset="0"/>
                            </a:rPr>
                            <m:t>(</m:t>
                          </m:r>
                          <m:d>
                            <m:dPr>
                              <m:ctrlPr>
                                <a:rPr lang="en-IN" b="1" i="1">
                                  <a:solidFill>
                                    <a:srgbClr val="C00000"/>
                                  </a:solidFill>
                                  <a:latin typeface="Cambria Math" panose="02040503050406030204" pitchFamily="18" charset="0"/>
                                </a:rPr>
                              </m:ctrlPr>
                            </m:dPr>
                            <m:e>
                              <m:r>
                                <a:rPr lang="en-IN" b="1" i="1">
                                  <a:solidFill>
                                    <a:srgbClr val="C00000"/>
                                  </a:solidFill>
                                  <a:latin typeface="Cambria Math" panose="02040503050406030204" pitchFamily="18" charset="0"/>
                                </a:rPr>
                                <m:t>𝟎</m:t>
                              </m:r>
                            </m:e>
                            <m:e>
                              <m:r>
                                <a:rPr lang="en-IN" b="1" i="1">
                                  <a:solidFill>
                                    <a:srgbClr val="C00000"/>
                                  </a:solidFill>
                                  <a:latin typeface="Cambria Math" panose="02040503050406030204" pitchFamily="18" charset="0"/>
                                </a:rPr>
                                <m:t>𝟏</m:t>
                              </m:r>
                            </m:e>
                          </m:d>
                          <m:r>
                            <a:rPr lang="en-IN" b="1" i="1">
                              <a:solidFill>
                                <a:srgbClr val="C00000"/>
                              </a:solidFill>
                              <a:latin typeface="Cambria Math" panose="02040503050406030204" pitchFamily="18" charset="0"/>
                            </a:rPr>
                            <m:t>(</m:t>
                          </m:r>
                          <m:r>
                            <a:rPr lang="en-IN" b="1" i="1">
                              <a:solidFill>
                                <a:srgbClr val="C00000"/>
                              </a:solidFill>
                              <a:latin typeface="Cambria Math" panose="02040503050406030204" pitchFamily="18" charset="0"/>
                            </a:rPr>
                            <m:t>𝟎</m:t>
                          </m:r>
                          <m:r>
                            <a:rPr lang="en-US" b="1" i="1">
                              <a:solidFill>
                                <a:srgbClr val="C00000"/>
                              </a:solidFill>
                              <a:latin typeface="Cambria Math" panose="02040503050406030204" pitchFamily="18" charset="0"/>
                            </a:rPr>
                            <m:t>|</m:t>
                          </m:r>
                          <m:r>
                            <a:rPr lang="en-IN" b="1" i="1">
                              <a:solidFill>
                                <a:srgbClr val="C00000"/>
                              </a:solidFill>
                              <a:latin typeface="Cambria Math" panose="02040503050406030204" pitchFamily="18" charset="0"/>
                            </a:rPr>
                            <m:t>𝟏</m:t>
                          </m:r>
                          <m:r>
                            <a:rPr lang="en-IN" b="1" i="1">
                              <a:solidFill>
                                <a:srgbClr val="C00000"/>
                              </a:solidFill>
                              <a:latin typeface="Cambria Math" panose="02040503050406030204" pitchFamily="18" charset="0"/>
                            </a:rPr>
                            <m:t>))</m:t>
                          </m:r>
                        </m:e>
                        <m:sup>
                          <m:r>
                            <a:rPr lang="en-US" b="1" i="1">
                              <a:solidFill>
                                <a:srgbClr val="C00000"/>
                              </a:solidFill>
                              <a:latin typeface="Cambria Math" panose="02040503050406030204" pitchFamily="18" charset="0"/>
                            </a:rPr>
                            <m:t>∗</m:t>
                          </m:r>
                        </m:sup>
                      </m:sSup>
                    </m:oMath>
                  </m:oMathPara>
                </a14:m>
                <a:endParaRPr lang="en-US" b="1" baseline="30000">
                  <a:solidFill>
                    <a:srgbClr val="C00000"/>
                  </a:solidFill>
                  <a:latin typeface="+mj-lt"/>
                </a:endParaRPr>
              </a:p>
            </p:txBody>
          </p:sp>
        </mc:Choice>
        <mc:Fallback xmlns="">
          <p:sp>
            <p:nvSpPr>
              <p:cNvPr id="11" name="Rectangle 10">
                <a:extLst>
                  <a:ext uri="{FF2B5EF4-FFF2-40B4-BE49-F238E27FC236}">
                    <a16:creationId xmlns:a16="http://schemas.microsoft.com/office/drawing/2014/main" id="{A5324BCC-6CFC-E4EF-CC22-E185EB2B2A5F}"/>
                  </a:ext>
                </a:extLst>
              </p:cNvPr>
              <p:cNvSpPr>
                <a:spLocks noRot="1" noChangeAspect="1" noMove="1" noResize="1" noEditPoints="1" noAdjustHandles="1" noChangeArrowheads="1" noChangeShapeType="1" noTextEdit="1"/>
              </p:cNvSpPr>
              <p:nvPr/>
            </p:nvSpPr>
            <p:spPr>
              <a:xfrm>
                <a:off x="3712741" y="3569414"/>
                <a:ext cx="4389664" cy="608533"/>
              </a:xfrm>
              <a:prstGeom prst="rect">
                <a:avLst/>
              </a:prstGeom>
              <a:blipFill>
                <a:blip r:embed="rId10"/>
                <a:stretch>
                  <a:fillRect/>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4377D0D8-D36E-E4D7-D1F2-1AEFDB6FAA24}"/>
                  </a:ext>
                </a:extLst>
              </p:cNvPr>
              <p:cNvSpPr/>
              <p:nvPr/>
            </p:nvSpPr>
            <p:spPr>
              <a:xfrm>
                <a:off x="681147" y="4395145"/>
                <a:ext cx="4498905" cy="6085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14:m>
                  <m:oMath xmlns:m="http://schemas.openxmlformats.org/officeDocument/2006/math">
                    <m:r>
                      <a:rPr lang="en-US" b="1" i="1" smtClean="0">
                        <a:solidFill>
                          <a:srgbClr val="0E47A1"/>
                        </a:solidFill>
                        <a:latin typeface="Cambria Math" panose="02040503050406030204" pitchFamily="18" charset="0"/>
                      </a:rPr>
                      <m:t>𝑺𝒕𝒓𝒊𝒏𝒈𝒔</m:t>
                    </m:r>
                    <m:r>
                      <a:rPr lang="en-US" b="1" i="1" smtClean="0">
                        <a:solidFill>
                          <a:srgbClr val="0E47A1"/>
                        </a:solidFill>
                        <a:latin typeface="Cambria Math" panose="02040503050406030204" pitchFamily="18" charset="0"/>
                      </a:rPr>
                      <m:t>:</m:t>
                    </m:r>
                    <m:r>
                      <a:rPr lang="en-US" b="1" i="1" smtClean="0">
                        <a:solidFill>
                          <a:srgbClr val="0E47A1"/>
                        </a:solidFill>
                        <a:latin typeface="Cambria Math" panose="02040503050406030204" pitchFamily="18" charset="0"/>
                      </a:rPr>
                      <m:t>𝟎</m:t>
                    </m:r>
                    <m:r>
                      <a:rPr lang="en-US" b="1" i="1" smtClean="0">
                        <a:solidFill>
                          <a:srgbClr val="0E47A1"/>
                        </a:solidFill>
                        <a:latin typeface="Cambria Math" panose="02040503050406030204" pitchFamily="18" charset="0"/>
                      </a:rPr>
                      <m:t>,</m:t>
                    </m:r>
                    <m:r>
                      <a:rPr lang="en-US" b="1" i="1" smtClean="0">
                        <a:solidFill>
                          <a:srgbClr val="0E47A1"/>
                        </a:solidFill>
                        <a:latin typeface="Cambria Math" panose="02040503050406030204" pitchFamily="18" charset="0"/>
                      </a:rPr>
                      <m:t>𝟎𝟏𝟎</m:t>
                    </m:r>
                    <m:r>
                      <a:rPr lang="en-US" b="1" i="1" smtClean="0">
                        <a:solidFill>
                          <a:srgbClr val="0E47A1"/>
                        </a:solidFill>
                        <a:latin typeface="Cambria Math" panose="02040503050406030204" pitchFamily="18" charset="0"/>
                      </a:rPr>
                      <m:t>,</m:t>
                    </m:r>
                    <m:r>
                      <a:rPr lang="en-US" b="1" i="1" smtClean="0">
                        <a:solidFill>
                          <a:srgbClr val="0E47A1"/>
                        </a:solidFill>
                        <a:latin typeface="Cambria Math" panose="02040503050406030204" pitchFamily="18" charset="0"/>
                      </a:rPr>
                      <m:t>𝟎𝟏𝟎</m:t>
                    </m:r>
                    <m:r>
                      <a:rPr lang="en-US" b="1" i="1" smtClean="0">
                        <a:solidFill>
                          <a:srgbClr val="0E47A1"/>
                        </a:solidFill>
                        <a:latin typeface="Cambria Math" panose="02040503050406030204" pitchFamily="18" charset="0"/>
                      </a:rPr>
                      <m:t>,</m:t>
                    </m:r>
                    <m:r>
                      <a:rPr lang="en-US" b="1" i="1" smtClean="0">
                        <a:solidFill>
                          <a:srgbClr val="0E47A1"/>
                        </a:solidFill>
                        <a:latin typeface="Cambria Math" panose="02040503050406030204" pitchFamily="18" charset="0"/>
                      </a:rPr>
                      <m:t>𝟎𝟎𝟎</m:t>
                    </m:r>
                    <m:r>
                      <a:rPr lang="en-US" b="1" i="1" smtClean="0">
                        <a:solidFill>
                          <a:srgbClr val="0E47A1"/>
                        </a:solidFill>
                        <a:latin typeface="Cambria Math" panose="02040503050406030204" pitchFamily="18" charset="0"/>
                      </a:rPr>
                      <m:t>,</m:t>
                    </m:r>
                    <m:r>
                      <a:rPr lang="en-US" b="1" i="1" smtClean="0">
                        <a:solidFill>
                          <a:srgbClr val="0E47A1"/>
                        </a:solidFill>
                        <a:latin typeface="Cambria Math" panose="02040503050406030204" pitchFamily="18" charset="0"/>
                      </a:rPr>
                      <m:t>𝟎𝟎𝟎𝟏𝟎</m:t>
                    </m:r>
                  </m:oMath>
                </a14:m>
                <a:r>
                  <a:rPr lang="en-US" b="1">
                    <a:solidFill>
                      <a:srgbClr val="0E47A1"/>
                    </a:solidFill>
                    <a:latin typeface="+mj-lt"/>
                  </a:rPr>
                  <a:t>….</a:t>
                </a:r>
              </a:p>
            </p:txBody>
          </p:sp>
        </mc:Choice>
        <mc:Fallback xmlns="">
          <p:sp>
            <p:nvSpPr>
              <p:cNvPr id="12" name="Rectangle 11">
                <a:extLst>
                  <a:ext uri="{FF2B5EF4-FFF2-40B4-BE49-F238E27FC236}">
                    <a16:creationId xmlns:a16="http://schemas.microsoft.com/office/drawing/2014/main" id="{4377D0D8-D36E-E4D7-D1F2-1AEFDB6FAA24}"/>
                  </a:ext>
                </a:extLst>
              </p:cNvPr>
              <p:cNvSpPr>
                <a:spLocks noRot="1" noChangeAspect="1" noMove="1" noResize="1" noEditPoints="1" noAdjustHandles="1" noChangeArrowheads="1" noChangeShapeType="1" noTextEdit="1"/>
              </p:cNvSpPr>
              <p:nvPr/>
            </p:nvSpPr>
            <p:spPr>
              <a:xfrm>
                <a:off x="681147" y="4395145"/>
                <a:ext cx="4498905" cy="608533"/>
              </a:xfrm>
              <a:prstGeom prst="rect">
                <a:avLst/>
              </a:prstGeom>
              <a:blipFill>
                <a:blip r:embed="rId11"/>
                <a:stretch>
                  <a:fillRect l="-407"/>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D9572794-FBD2-C9F9-AED5-46B478EC1D59}"/>
                  </a:ext>
                </a:extLst>
              </p:cNvPr>
              <p:cNvSpPr/>
              <p:nvPr/>
            </p:nvSpPr>
            <p:spPr>
              <a:xfrm>
                <a:off x="3901168" y="4367102"/>
                <a:ext cx="4389664" cy="6085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14:m>
                  <m:oMathPara xmlns:m="http://schemas.openxmlformats.org/officeDocument/2006/math">
                    <m:oMathParaPr>
                      <m:jc m:val="centerGroup"/>
                    </m:oMathParaPr>
                    <m:oMath xmlns:m="http://schemas.openxmlformats.org/officeDocument/2006/math">
                      <m:r>
                        <a:rPr lang="en-US" b="1" i="1" smtClean="0">
                          <a:solidFill>
                            <a:srgbClr val="C00000"/>
                          </a:solidFill>
                          <a:latin typeface="Cambria Math" panose="02040503050406030204" pitchFamily="18" charset="0"/>
                        </a:rPr>
                        <m:t>𝑹</m:t>
                      </m:r>
                      <m:r>
                        <a:rPr lang="en-US" b="1" i="1" smtClean="0">
                          <a:solidFill>
                            <a:srgbClr val="C00000"/>
                          </a:solidFill>
                          <a:latin typeface="Cambria Math" panose="02040503050406030204" pitchFamily="18" charset="0"/>
                        </a:rPr>
                        <m:t>.</m:t>
                      </m:r>
                      <m:r>
                        <a:rPr lang="en-US" b="1" i="1" smtClean="0">
                          <a:solidFill>
                            <a:srgbClr val="C00000"/>
                          </a:solidFill>
                          <a:latin typeface="Cambria Math" panose="02040503050406030204" pitchFamily="18" charset="0"/>
                        </a:rPr>
                        <m:t>𝑬</m:t>
                      </m:r>
                      <m:r>
                        <a:rPr lang="en-US" b="1" i="1" smtClean="0">
                          <a:solidFill>
                            <a:srgbClr val="C00000"/>
                          </a:solidFill>
                          <a:latin typeface="Cambria Math" panose="02040503050406030204" pitchFamily="18" charset="0"/>
                        </a:rPr>
                        <m:t>. =</m:t>
                      </m:r>
                      <m:sSup>
                        <m:sSupPr>
                          <m:ctrlPr>
                            <a:rPr lang="en-US" b="1" i="1">
                              <a:solidFill>
                                <a:srgbClr val="C00000"/>
                              </a:solidFill>
                              <a:latin typeface="Cambria Math" panose="02040503050406030204" pitchFamily="18" charset="0"/>
                            </a:rPr>
                          </m:ctrlPr>
                        </m:sSupPr>
                        <m:e>
                          <m:d>
                            <m:dPr>
                              <m:ctrlPr>
                                <a:rPr lang="en-IN" b="1" i="1">
                                  <a:solidFill>
                                    <a:srgbClr val="C00000"/>
                                  </a:solidFill>
                                  <a:latin typeface="Cambria Math" panose="02040503050406030204" pitchFamily="18" charset="0"/>
                                </a:rPr>
                              </m:ctrlPr>
                            </m:dPr>
                            <m:e>
                              <m:r>
                                <a:rPr lang="en-IN" b="1" i="1">
                                  <a:solidFill>
                                    <a:srgbClr val="C00000"/>
                                  </a:solidFill>
                                  <a:latin typeface="Cambria Math" panose="02040503050406030204" pitchFamily="18" charset="0"/>
                                </a:rPr>
                                <m:t>𝟎</m:t>
                              </m:r>
                            </m:e>
                          </m:d>
                          <m:r>
                            <a:rPr lang="en-US" b="1" i="1">
                              <a:solidFill>
                                <a:srgbClr val="C00000"/>
                              </a:solidFill>
                              <a:latin typeface="Cambria Math" panose="02040503050406030204" pitchFamily="18" charset="0"/>
                            </a:rPr>
                            <m:t> </m:t>
                          </m:r>
                          <m:r>
                            <a:rPr lang="en-IN" b="1" i="1">
                              <a:solidFill>
                                <a:srgbClr val="C00000"/>
                              </a:solidFill>
                              <a:latin typeface="Cambria Math" panose="02040503050406030204" pitchFamily="18" charset="0"/>
                            </a:rPr>
                            <m:t>(</m:t>
                          </m:r>
                          <m:d>
                            <m:dPr>
                              <m:ctrlPr>
                                <a:rPr lang="en-IN" b="1" i="1">
                                  <a:solidFill>
                                    <a:srgbClr val="C00000"/>
                                  </a:solidFill>
                                  <a:latin typeface="Cambria Math" panose="02040503050406030204" pitchFamily="18" charset="0"/>
                                </a:rPr>
                              </m:ctrlPr>
                            </m:dPr>
                            <m:e>
                              <m:r>
                                <a:rPr lang="en-IN" b="1" i="1">
                                  <a:solidFill>
                                    <a:srgbClr val="C00000"/>
                                  </a:solidFill>
                                  <a:latin typeface="Cambria Math" panose="02040503050406030204" pitchFamily="18" charset="0"/>
                                </a:rPr>
                                <m:t>𝟎</m:t>
                              </m:r>
                            </m:e>
                            <m:e>
                              <m:r>
                                <a:rPr lang="en-IN" b="1" i="1">
                                  <a:solidFill>
                                    <a:srgbClr val="C00000"/>
                                  </a:solidFill>
                                  <a:latin typeface="Cambria Math" panose="02040503050406030204" pitchFamily="18" charset="0"/>
                                </a:rPr>
                                <m:t>𝟏</m:t>
                              </m:r>
                            </m:e>
                          </m:d>
                          <m:r>
                            <a:rPr lang="en-IN" b="1" i="1">
                              <a:solidFill>
                                <a:srgbClr val="C00000"/>
                              </a:solidFill>
                              <a:latin typeface="Cambria Math" panose="02040503050406030204" pitchFamily="18" charset="0"/>
                            </a:rPr>
                            <m:t>(</m:t>
                          </m:r>
                          <m:r>
                            <a:rPr lang="en-IN" b="1" i="1">
                              <a:solidFill>
                                <a:srgbClr val="C00000"/>
                              </a:solidFill>
                              <a:latin typeface="Cambria Math" panose="02040503050406030204" pitchFamily="18" charset="0"/>
                            </a:rPr>
                            <m:t>𝟎</m:t>
                          </m:r>
                          <m:r>
                            <a:rPr lang="en-US" b="1" i="1">
                              <a:solidFill>
                                <a:srgbClr val="C00000"/>
                              </a:solidFill>
                              <a:latin typeface="Cambria Math" panose="02040503050406030204" pitchFamily="18" charset="0"/>
                            </a:rPr>
                            <m:t>|</m:t>
                          </m:r>
                          <m:r>
                            <a:rPr lang="en-IN" b="1" i="1">
                              <a:solidFill>
                                <a:srgbClr val="C00000"/>
                              </a:solidFill>
                              <a:latin typeface="Cambria Math" panose="02040503050406030204" pitchFamily="18" charset="0"/>
                            </a:rPr>
                            <m:t>𝟏</m:t>
                          </m:r>
                          <m:r>
                            <a:rPr lang="en-IN" b="1" i="1">
                              <a:solidFill>
                                <a:srgbClr val="C00000"/>
                              </a:solidFill>
                              <a:latin typeface="Cambria Math" panose="02040503050406030204" pitchFamily="18" charset="0"/>
                            </a:rPr>
                            <m:t>))</m:t>
                          </m:r>
                        </m:e>
                        <m:sup>
                          <m:r>
                            <a:rPr lang="en-US" b="1" i="1">
                              <a:solidFill>
                                <a:srgbClr val="C00000"/>
                              </a:solidFill>
                              <a:latin typeface="Cambria Math" panose="02040503050406030204" pitchFamily="18" charset="0"/>
                            </a:rPr>
                            <m:t>∗</m:t>
                          </m:r>
                        </m:sup>
                      </m:sSup>
                    </m:oMath>
                  </m:oMathPara>
                </a14:m>
                <a:endParaRPr lang="en-US" b="1" baseline="30000">
                  <a:solidFill>
                    <a:srgbClr val="C00000"/>
                  </a:solidFill>
                  <a:latin typeface="+mj-lt"/>
                </a:endParaRPr>
              </a:p>
            </p:txBody>
          </p:sp>
        </mc:Choice>
        <mc:Fallback xmlns="">
          <p:sp>
            <p:nvSpPr>
              <p:cNvPr id="13" name="Rectangle 12">
                <a:extLst>
                  <a:ext uri="{FF2B5EF4-FFF2-40B4-BE49-F238E27FC236}">
                    <a16:creationId xmlns:a16="http://schemas.microsoft.com/office/drawing/2014/main" id="{D9572794-FBD2-C9F9-AED5-46B478EC1D59}"/>
                  </a:ext>
                </a:extLst>
              </p:cNvPr>
              <p:cNvSpPr>
                <a:spLocks noRot="1" noChangeAspect="1" noMove="1" noResize="1" noEditPoints="1" noAdjustHandles="1" noChangeArrowheads="1" noChangeShapeType="1" noTextEdit="1"/>
              </p:cNvSpPr>
              <p:nvPr/>
            </p:nvSpPr>
            <p:spPr>
              <a:xfrm>
                <a:off x="3901168" y="4367102"/>
                <a:ext cx="4389664" cy="608533"/>
              </a:xfrm>
              <a:prstGeom prst="rect">
                <a:avLst/>
              </a:prstGeom>
              <a:blipFill>
                <a:blip r:embed="rId12"/>
                <a:stretch>
                  <a:fillRect/>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4" name="Rectangle 13">
                <a:extLst>
                  <a:ext uri="{FF2B5EF4-FFF2-40B4-BE49-F238E27FC236}">
                    <a16:creationId xmlns:a16="http://schemas.microsoft.com/office/drawing/2014/main" id="{3D150322-A98F-AC6B-F679-892F0052A650}"/>
                  </a:ext>
                </a:extLst>
              </p:cNvPr>
              <p:cNvSpPr/>
              <p:nvPr/>
            </p:nvSpPr>
            <p:spPr>
              <a:xfrm>
                <a:off x="681147" y="5195244"/>
                <a:ext cx="4498905" cy="6085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14:m>
                  <m:oMath xmlns:m="http://schemas.openxmlformats.org/officeDocument/2006/math">
                    <m:r>
                      <a:rPr lang="en-US" b="1" i="1" smtClean="0">
                        <a:solidFill>
                          <a:srgbClr val="0E47A1"/>
                        </a:solidFill>
                        <a:latin typeface="Cambria Math" panose="02040503050406030204" pitchFamily="18" charset="0"/>
                      </a:rPr>
                      <m:t>𝑺𝒕𝒓𝒊𝒏𝒈𝒔</m:t>
                    </m:r>
                    <m:r>
                      <a:rPr lang="en-US" b="1" i="1" smtClean="0">
                        <a:solidFill>
                          <a:srgbClr val="0E47A1"/>
                        </a:solidFill>
                        <a:latin typeface="Cambria Math" panose="02040503050406030204" pitchFamily="18" charset="0"/>
                      </a:rPr>
                      <m:t>:</m:t>
                    </m:r>
                    <m:r>
                      <a:rPr lang="en-US" b="1" i="1" smtClean="0">
                        <a:solidFill>
                          <a:srgbClr val="0E47A1"/>
                        </a:solidFill>
                        <a:latin typeface="Cambria Math" panose="02040503050406030204" pitchFamily="18" charset="0"/>
                      </a:rPr>
                      <m:t>𝟏𝟎</m:t>
                    </m:r>
                    <m:r>
                      <a:rPr lang="en-US" b="1" i="1" smtClean="0">
                        <a:solidFill>
                          <a:srgbClr val="0E47A1"/>
                        </a:solidFill>
                        <a:latin typeface="Cambria Math" panose="02040503050406030204" pitchFamily="18" charset="0"/>
                      </a:rPr>
                      <m:t>,</m:t>
                    </m:r>
                    <m:r>
                      <a:rPr lang="en-US" b="1" i="1" smtClean="0">
                        <a:solidFill>
                          <a:srgbClr val="0E47A1"/>
                        </a:solidFill>
                        <a:latin typeface="Cambria Math" panose="02040503050406030204" pitchFamily="18" charset="0"/>
                      </a:rPr>
                      <m:t>𝟏𝟏𝟎𝟎</m:t>
                    </m:r>
                    <m:r>
                      <a:rPr lang="en-US" b="1" i="1" smtClean="0">
                        <a:solidFill>
                          <a:srgbClr val="0E47A1"/>
                        </a:solidFill>
                        <a:latin typeface="Cambria Math" panose="02040503050406030204" pitchFamily="18" charset="0"/>
                      </a:rPr>
                      <m:t>,</m:t>
                    </m:r>
                    <m:r>
                      <a:rPr lang="en-US" b="1" i="1" smtClean="0">
                        <a:solidFill>
                          <a:srgbClr val="0E47A1"/>
                        </a:solidFill>
                        <a:latin typeface="Cambria Math" panose="02040503050406030204" pitchFamily="18" charset="0"/>
                      </a:rPr>
                      <m:t>𝟏𝟎𝟎𝟎</m:t>
                    </m:r>
                    <m:r>
                      <a:rPr lang="en-US" b="1" i="1" smtClean="0">
                        <a:solidFill>
                          <a:srgbClr val="0E47A1"/>
                        </a:solidFill>
                        <a:latin typeface="Cambria Math" panose="02040503050406030204" pitchFamily="18" charset="0"/>
                      </a:rPr>
                      <m:t>,</m:t>
                    </m:r>
                    <m:r>
                      <a:rPr lang="en-US" b="1" i="1" smtClean="0">
                        <a:solidFill>
                          <a:srgbClr val="0E47A1"/>
                        </a:solidFill>
                        <a:latin typeface="Cambria Math" panose="02040503050406030204" pitchFamily="18" charset="0"/>
                      </a:rPr>
                      <m:t>𝟏𝟎𝟎𝟏𝟎𝟎</m:t>
                    </m:r>
                  </m:oMath>
                </a14:m>
                <a:r>
                  <a:rPr lang="en-US" b="1">
                    <a:solidFill>
                      <a:srgbClr val="0E47A1"/>
                    </a:solidFill>
                    <a:latin typeface="+mj-lt"/>
                  </a:rPr>
                  <a:t>….</a:t>
                </a:r>
              </a:p>
            </p:txBody>
          </p:sp>
        </mc:Choice>
        <mc:Fallback xmlns="">
          <p:sp>
            <p:nvSpPr>
              <p:cNvPr id="14" name="Rectangle 13">
                <a:extLst>
                  <a:ext uri="{FF2B5EF4-FFF2-40B4-BE49-F238E27FC236}">
                    <a16:creationId xmlns:a16="http://schemas.microsoft.com/office/drawing/2014/main" id="{3D150322-A98F-AC6B-F679-892F0052A650}"/>
                  </a:ext>
                </a:extLst>
              </p:cNvPr>
              <p:cNvSpPr>
                <a:spLocks noRot="1" noChangeAspect="1" noMove="1" noResize="1" noEditPoints="1" noAdjustHandles="1" noChangeArrowheads="1" noChangeShapeType="1" noTextEdit="1"/>
              </p:cNvSpPr>
              <p:nvPr/>
            </p:nvSpPr>
            <p:spPr>
              <a:xfrm>
                <a:off x="681147" y="5195244"/>
                <a:ext cx="4498905" cy="608533"/>
              </a:xfrm>
              <a:prstGeom prst="rect">
                <a:avLst/>
              </a:prstGeom>
              <a:blipFill>
                <a:blip r:embed="rId13"/>
                <a:stretch>
                  <a:fillRect l="-407"/>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F4AD25EA-F7E7-170A-5224-DE64D1221132}"/>
                  </a:ext>
                </a:extLst>
              </p:cNvPr>
              <p:cNvSpPr/>
              <p:nvPr/>
            </p:nvSpPr>
            <p:spPr>
              <a:xfrm>
                <a:off x="4075301" y="5222644"/>
                <a:ext cx="4389664" cy="6085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14:m>
                  <m:oMathPara xmlns:m="http://schemas.openxmlformats.org/officeDocument/2006/math">
                    <m:oMathParaPr>
                      <m:jc m:val="centerGroup"/>
                    </m:oMathParaPr>
                    <m:oMath xmlns:m="http://schemas.openxmlformats.org/officeDocument/2006/math">
                      <m:r>
                        <a:rPr lang="en-US" b="1" i="1" smtClean="0">
                          <a:solidFill>
                            <a:srgbClr val="C00000"/>
                          </a:solidFill>
                          <a:latin typeface="Cambria Math" panose="02040503050406030204" pitchFamily="18" charset="0"/>
                        </a:rPr>
                        <m:t>𝑹</m:t>
                      </m:r>
                      <m:r>
                        <a:rPr lang="en-US" b="1" i="1" smtClean="0">
                          <a:solidFill>
                            <a:srgbClr val="C00000"/>
                          </a:solidFill>
                          <a:latin typeface="Cambria Math" panose="02040503050406030204" pitchFamily="18" charset="0"/>
                        </a:rPr>
                        <m:t>.</m:t>
                      </m:r>
                      <m:r>
                        <a:rPr lang="en-US" b="1" i="1" smtClean="0">
                          <a:solidFill>
                            <a:srgbClr val="C00000"/>
                          </a:solidFill>
                          <a:latin typeface="Cambria Math" panose="02040503050406030204" pitchFamily="18" charset="0"/>
                        </a:rPr>
                        <m:t>𝑬</m:t>
                      </m:r>
                      <m:r>
                        <a:rPr lang="en-US" b="1" i="1" smtClean="0">
                          <a:solidFill>
                            <a:srgbClr val="C00000"/>
                          </a:solidFill>
                          <a:latin typeface="Cambria Math" panose="02040503050406030204" pitchFamily="18" charset="0"/>
                        </a:rPr>
                        <m:t>. =</m:t>
                      </m:r>
                      <m:sSup>
                        <m:sSupPr>
                          <m:ctrlPr>
                            <a:rPr lang="en-US" b="1" i="1">
                              <a:solidFill>
                                <a:srgbClr val="C00000"/>
                              </a:solidFill>
                              <a:latin typeface="Cambria Math" panose="02040503050406030204" pitchFamily="18" charset="0"/>
                            </a:rPr>
                          </m:ctrlPr>
                        </m:sSupPr>
                        <m:e>
                          <m:r>
                            <a:rPr lang="en-IN" b="1" i="1" smtClean="0">
                              <a:solidFill>
                                <a:srgbClr val="C00000"/>
                              </a:solidFill>
                              <a:latin typeface="Cambria Math" panose="02040503050406030204" pitchFamily="18" charset="0"/>
                            </a:rPr>
                            <m:t> </m:t>
                          </m:r>
                          <m:r>
                            <a:rPr lang="en-US" b="1" i="1" smtClean="0">
                              <a:solidFill>
                                <a:srgbClr val="C00000"/>
                              </a:solidFill>
                              <a:latin typeface="Cambria Math" panose="02040503050406030204" pitchFamily="18" charset="0"/>
                            </a:rPr>
                            <m:t>𝟏</m:t>
                          </m:r>
                          <m:r>
                            <a:rPr lang="en-US" b="1" i="1" smtClean="0">
                              <a:solidFill>
                                <a:srgbClr val="C00000"/>
                              </a:solidFill>
                              <a:latin typeface="Cambria Math" panose="02040503050406030204" pitchFamily="18" charset="0"/>
                            </a:rPr>
                            <m:t>(</m:t>
                          </m:r>
                          <m:r>
                            <a:rPr lang="en-US" b="1" i="1" smtClean="0">
                              <a:solidFill>
                                <a:srgbClr val="C00000"/>
                              </a:solidFill>
                              <a:latin typeface="Cambria Math" panose="02040503050406030204" pitchFamily="18" charset="0"/>
                            </a:rPr>
                            <m:t>𝟎</m:t>
                          </m:r>
                          <m:r>
                            <a:rPr lang="en-US" b="1" i="1" smtClean="0">
                              <a:solidFill>
                                <a:srgbClr val="C00000"/>
                              </a:solidFill>
                              <a:latin typeface="Cambria Math" panose="02040503050406030204" pitchFamily="18" charset="0"/>
                            </a:rPr>
                            <m:t>|</m:t>
                          </m:r>
                          <m:r>
                            <a:rPr lang="en-US" b="1" i="1" smtClean="0">
                              <a:solidFill>
                                <a:srgbClr val="C00000"/>
                              </a:solidFill>
                              <a:latin typeface="Cambria Math" panose="02040503050406030204" pitchFamily="18" charset="0"/>
                            </a:rPr>
                            <m:t>𝟏</m:t>
                          </m:r>
                          <m:r>
                            <a:rPr lang="en-US" b="1" i="1" smtClean="0">
                              <a:solidFill>
                                <a:srgbClr val="C00000"/>
                              </a:solidFill>
                              <a:latin typeface="Cambria Math" panose="02040503050406030204" pitchFamily="18" charset="0"/>
                            </a:rPr>
                            <m:t>)(</m:t>
                          </m:r>
                          <m:d>
                            <m:dPr>
                              <m:ctrlPr>
                                <a:rPr lang="en-IN" b="1" i="1">
                                  <a:solidFill>
                                    <a:srgbClr val="C00000"/>
                                  </a:solidFill>
                                  <a:latin typeface="Cambria Math" panose="02040503050406030204" pitchFamily="18" charset="0"/>
                                </a:rPr>
                              </m:ctrlPr>
                            </m:dPr>
                            <m:e>
                              <m:r>
                                <a:rPr lang="en-IN" b="1" i="1">
                                  <a:solidFill>
                                    <a:srgbClr val="C00000"/>
                                  </a:solidFill>
                                  <a:latin typeface="Cambria Math" panose="02040503050406030204" pitchFamily="18" charset="0"/>
                                </a:rPr>
                                <m:t>𝟎</m:t>
                              </m:r>
                            </m:e>
                            <m:e>
                              <m:r>
                                <a:rPr lang="en-IN" b="1" i="1">
                                  <a:solidFill>
                                    <a:srgbClr val="C00000"/>
                                  </a:solidFill>
                                  <a:latin typeface="Cambria Math" panose="02040503050406030204" pitchFamily="18" charset="0"/>
                                </a:rPr>
                                <m:t>𝟏</m:t>
                              </m:r>
                            </m:e>
                          </m:d>
                          <m:r>
                            <a:rPr lang="en-IN" b="1" i="1">
                              <a:solidFill>
                                <a:srgbClr val="C00000"/>
                              </a:solidFill>
                              <a:latin typeface="Cambria Math" panose="02040503050406030204" pitchFamily="18" charset="0"/>
                            </a:rPr>
                            <m:t>(</m:t>
                          </m:r>
                          <m:r>
                            <a:rPr lang="en-IN" b="1" i="1">
                              <a:solidFill>
                                <a:srgbClr val="C00000"/>
                              </a:solidFill>
                              <a:latin typeface="Cambria Math" panose="02040503050406030204" pitchFamily="18" charset="0"/>
                            </a:rPr>
                            <m:t>𝟎</m:t>
                          </m:r>
                          <m:r>
                            <a:rPr lang="en-US" b="1" i="1">
                              <a:solidFill>
                                <a:srgbClr val="C00000"/>
                              </a:solidFill>
                              <a:latin typeface="Cambria Math" panose="02040503050406030204" pitchFamily="18" charset="0"/>
                            </a:rPr>
                            <m:t>|</m:t>
                          </m:r>
                          <m:r>
                            <a:rPr lang="en-IN" b="1" i="1">
                              <a:solidFill>
                                <a:srgbClr val="C00000"/>
                              </a:solidFill>
                              <a:latin typeface="Cambria Math" panose="02040503050406030204" pitchFamily="18" charset="0"/>
                            </a:rPr>
                            <m:t>𝟏</m:t>
                          </m:r>
                          <m:r>
                            <a:rPr lang="en-IN" b="1" i="1">
                              <a:solidFill>
                                <a:srgbClr val="C00000"/>
                              </a:solidFill>
                              <a:latin typeface="Cambria Math" panose="02040503050406030204" pitchFamily="18" charset="0"/>
                            </a:rPr>
                            <m:t>))</m:t>
                          </m:r>
                        </m:e>
                        <m:sup>
                          <m:r>
                            <a:rPr lang="en-US" b="1" i="1">
                              <a:solidFill>
                                <a:srgbClr val="C00000"/>
                              </a:solidFill>
                              <a:latin typeface="Cambria Math" panose="02040503050406030204" pitchFamily="18" charset="0"/>
                            </a:rPr>
                            <m:t>∗</m:t>
                          </m:r>
                        </m:sup>
                      </m:sSup>
                    </m:oMath>
                  </m:oMathPara>
                </a14:m>
                <a:endParaRPr lang="en-US" b="1" baseline="30000">
                  <a:solidFill>
                    <a:srgbClr val="C00000"/>
                  </a:solidFill>
                  <a:latin typeface="+mj-lt"/>
                </a:endParaRPr>
              </a:p>
            </p:txBody>
          </p:sp>
        </mc:Choice>
        <mc:Fallback xmlns="">
          <p:sp>
            <p:nvSpPr>
              <p:cNvPr id="15" name="Rectangle 14">
                <a:extLst>
                  <a:ext uri="{FF2B5EF4-FFF2-40B4-BE49-F238E27FC236}">
                    <a16:creationId xmlns:a16="http://schemas.microsoft.com/office/drawing/2014/main" id="{F4AD25EA-F7E7-170A-5224-DE64D1221132}"/>
                  </a:ext>
                </a:extLst>
              </p:cNvPr>
              <p:cNvSpPr>
                <a:spLocks noRot="1" noChangeAspect="1" noMove="1" noResize="1" noEditPoints="1" noAdjustHandles="1" noChangeArrowheads="1" noChangeShapeType="1" noTextEdit="1"/>
              </p:cNvSpPr>
              <p:nvPr/>
            </p:nvSpPr>
            <p:spPr>
              <a:xfrm>
                <a:off x="4075301" y="5222644"/>
                <a:ext cx="4389664" cy="608533"/>
              </a:xfrm>
              <a:prstGeom prst="rect">
                <a:avLst/>
              </a:prstGeom>
              <a:blipFill>
                <a:blip r:embed="rId14"/>
                <a:stretch>
                  <a:fillRect/>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6" name="Rectangle 15">
                <a:extLst>
                  <a:ext uri="{FF2B5EF4-FFF2-40B4-BE49-F238E27FC236}">
                    <a16:creationId xmlns:a16="http://schemas.microsoft.com/office/drawing/2014/main" id="{BFEAF758-722B-1A88-C54B-17AE8D08C92C}"/>
                  </a:ext>
                </a:extLst>
              </p:cNvPr>
              <p:cNvSpPr/>
              <p:nvPr/>
            </p:nvSpPr>
            <p:spPr>
              <a:xfrm>
                <a:off x="681147" y="6032001"/>
                <a:ext cx="3200400" cy="6085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14:m>
                  <m:oMathPara xmlns:m="http://schemas.openxmlformats.org/officeDocument/2006/math">
                    <m:oMathParaPr>
                      <m:jc m:val="centerGroup"/>
                    </m:oMathParaPr>
                    <m:oMath xmlns:m="http://schemas.openxmlformats.org/officeDocument/2006/math">
                      <m:r>
                        <a:rPr lang="en-US" b="1" i="1" smtClean="0">
                          <a:solidFill>
                            <a:srgbClr val="0E47A1"/>
                          </a:solidFill>
                          <a:latin typeface="Cambria Math" panose="02040503050406030204" pitchFamily="18" charset="0"/>
                        </a:rPr>
                        <m:t>𝑺𝒕𝒓𝒊𝒏𝒈𝒔</m:t>
                      </m:r>
                      <m:r>
                        <a:rPr lang="en-US" b="1" i="1" smtClean="0">
                          <a:solidFill>
                            <a:srgbClr val="0E47A1"/>
                          </a:solidFill>
                          <a:latin typeface="Cambria Math" panose="02040503050406030204" pitchFamily="18" charset="0"/>
                        </a:rPr>
                        <m:t>: </m:t>
                      </m:r>
                      <m:r>
                        <a:rPr lang="en-US" b="1" i="1" smtClean="0">
                          <a:solidFill>
                            <a:srgbClr val="0E47A1"/>
                          </a:solidFill>
                          <a:latin typeface="Cambria Math" panose="02040503050406030204" pitchFamily="18" charset="0"/>
                        </a:rPr>
                        <m:t>𝟎𝟎𝟏𝟎𝟏</m:t>
                      </m:r>
                      <m:r>
                        <a:rPr lang="en-US" b="1" i="1" smtClean="0">
                          <a:solidFill>
                            <a:srgbClr val="0E47A1"/>
                          </a:solidFill>
                          <a:latin typeface="Cambria Math" panose="02040503050406030204" pitchFamily="18" charset="0"/>
                        </a:rPr>
                        <m:t>, </m:t>
                      </m:r>
                      <m:r>
                        <a:rPr lang="en-US" b="1" i="1" smtClean="0">
                          <a:solidFill>
                            <a:srgbClr val="0E47A1"/>
                          </a:solidFill>
                          <a:latin typeface="Cambria Math" panose="02040503050406030204" pitchFamily="18" charset="0"/>
                        </a:rPr>
                        <m:t>𝟏𝟎𝟏𝟎𝟎</m:t>
                      </m:r>
                      <m:r>
                        <a:rPr lang="en-US" b="1" i="1" smtClean="0">
                          <a:solidFill>
                            <a:srgbClr val="0E47A1"/>
                          </a:solidFill>
                          <a:latin typeface="Cambria Math" panose="02040503050406030204" pitchFamily="18" charset="0"/>
                        </a:rPr>
                        <m:t>,</m:t>
                      </m:r>
                      <m:r>
                        <a:rPr lang="en-US" b="1" i="1" smtClean="0">
                          <a:solidFill>
                            <a:srgbClr val="0E47A1"/>
                          </a:solidFill>
                          <a:latin typeface="Cambria Math" panose="02040503050406030204" pitchFamily="18" charset="0"/>
                        </a:rPr>
                        <m:t>𝟏𝟏𝟎</m:t>
                      </m:r>
                      <m:r>
                        <a:rPr lang="en-US" b="1" i="1" smtClean="0">
                          <a:solidFill>
                            <a:srgbClr val="0E47A1"/>
                          </a:solidFill>
                          <a:latin typeface="Cambria Math" panose="02040503050406030204" pitchFamily="18" charset="0"/>
                        </a:rPr>
                        <m:t>,</m:t>
                      </m:r>
                      <m:r>
                        <a:rPr lang="en-US" b="1" i="1" smtClean="0">
                          <a:solidFill>
                            <a:srgbClr val="0E47A1"/>
                          </a:solidFill>
                          <a:latin typeface="Cambria Math" panose="02040503050406030204" pitchFamily="18" charset="0"/>
                        </a:rPr>
                        <m:t>𝟎𝟏𝟎𝟏𝟏</m:t>
                      </m:r>
                      <m:r>
                        <a:rPr lang="en-US" b="1" i="1" smtClean="0">
                          <a:solidFill>
                            <a:srgbClr val="0E47A1"/>
                          </a:solidFill>
                          <a:latin typeface="Cambria Math" panose="02040503050406030204" pitchFamily="18" charset="0"/>
                        </a:rPr>
                        <m:t>…</m:t>
                      </m:r>
                    </m:oMath>
                  </m:oMathPara>
                </a14:m>
                <a:endParaRPr lang="en-US" b="1">
                  <a:solidFill>
                    <a:srgbClr val="0E47A1"/>
                  </a:solidFill>
                </a:endParaRPr>
              </a:p>
            </p:txBody>
          </p:sp>
        </mc:Choice>
        <mc:Fallback xmlns="">
          <p:sp>
            <p:nvSpPr>
              <p:cNvPr id="16" name="Rectangle 15">
                <a:extLst>
                  <a:ext uri="{FF2B5EF4-FFF2-40B4-BE49-F238E27FC236}">
                    <a16:creationId xmlns:a16="http://schemas.microsoft.com/office/drawing/2014/main" id="{BFEAF758-722B-1A88-C54B-17AE8D08C92C}"/>
                  </a:ext>
                </a:extLst>
              </p:cNvPr>
              <p:cNvSpPr>
                <a:spLocks noRot="1" noChangeAspect="1" noMove="1" noResize="1" noEditPoints="1" noAdjustHandles="1" noChangeArrowheads="1" noChangeShapeType="1" noTextEdit="1"/>
              </p:cNvSpPr>
              <p:nvPr/>
            </p:nvSpPr>
            <p:spPr>
              <a:xfrm>
                <a:off x="681147" y="6032001"/>
                <a:ext cx="3200400" cy="608533"/>
              </a:xfrm>
              <a:prstGeom prst="rect">
                <a:avLst/>
              </a:prstGeom>
              <a:blipFill>
                <a:blip r:embed="rId15"/>
                <a:stretch>
                  <a:fillRect l="-571" r="-25905"/>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7" name="Rectangle 16">
                <a:extLst>
                  <a:ext uri="{FF2B5EF4-FFF2-40B4-BE49-F238E27FC236}">
                    <a16:creationId xmlns:a16="http://schemas.microsoft.com/office/drawing/2014/main" id="{836D78BC-4147-7CAD-68F9-0A3495614192}"/>
                  </a:ext>
                </a:extLst>
              </p:cNvPr>
              <p:cNvSpPr/>
              <p:nvPr/>
            </p:nvSpPr>
            <p:spPr>
              <a:xfrm>
                <a:off x="4649915" y="6032001"/>
                <a:ext cx="4389664" cy="6085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14:m>
                  <m:oMathPara xmlns:m="http://schemas.openxmlformats.org/officeDocument/2006/math">
                    <m:oMathParaPr>
                      <m:jc m:val="centerGroup"/>
                    </m:oMathParaPr>
                    <m:oMath xmlns:m="http://schemas.openxmlformats.org/officeDocument/2006/math">
                      <m:r>
                        <a:rPr lang="en-US" b="1" i="1" smtClean="0">
                          <a:solidFill>
                            <a:srgbClr val="C00000"/>
                          </a:solidFill>
                          <a:latin typeface="Cambria Math" panose="02040503050406030204" pitchFamily="18" charset="0"/>
                        </a:rPr>
                        <m:t>𝑹</m:t>
                      </m:r>
                      <m:r>
                        <a:rPr lang="en-US" b="1" i="1" smtClean="0">
                          <a:solidFill>
                            <a:srgbClr val="C00000"/>
                          </a:solidFill>
                          <a:latin typeface="Cambria Math" panose="02040503050406030204" pitchFamily="18" charset="0"/>
                        </a:rPr>
                        <m:t>.</m:t>
                      </m:r>
                      <m:r>
                        <a:rPr lang="en-US" b="1" i="1" smtClean="0">
                          <a:solidFill>
                            <a:srgbClr val="C00000"/>
                          </a:solidFill>
                          <a:latin typeface="Cambria Math" panose="02040503050406030204" pitchFamily="18" charset="0"/>
                        </a:rPr>
                        <m:t>𝑬</m:t>
                      </m:r>
                      <m:r>
                        <a:rPr lang="en-US" b="1" i="1" smtClean="0">
                          <a:solidFill>
                            <a:srgbClr val="C00000"/>
                          </a:solidFill>
                          <a:latin typeface="Cambria Math" panose="02040503050406030204" pitchFamily="18" charset="0"/>
                        </a:rPr>
                        <m:t>. =(</m:t>
                      </m:r>
                      <m:r>
                        <a:rPr lang="en-US" b="1" i="1" smtClean="0">
                          <a:solidFill>
                            <a:srgbClr val="C00000"/>
                          </a:solidFill>
                          <a:latin typeface="Cambria Math" panose="02040503050406030204" pitchFamily="18" charset="0"/>
                        </a:rPr>
                        <m:t>𝟎𝟎</m:t>
                      </m:r>
                      <m:r>
                        <a:rPr lang="en-US" b="1" i="1" smtClean="0">
                          <a:solidFill>
                            <a:srgbClr val="C00000"/>
                          </a:solidFill>
                          <a:latin typeface="Cambria Math" panose="02040503050406030204" pitchFamily="18" charset="0"/>
                        </a:rPr>
                        <m:t>|</m:t>
                      </m:r>
                      <m:r>
                        <a:rPr lang="en-US" b="1" i="1" smtClean="0">
                          <a:solidFill>
                            <a:srgbClr val="C00000"/>
                          </a:solidFill>
                          <a:latin typeface="Cambria Math" panose="02040503050406030204" pitchFamily="18" charset="0"/>
                        </a:rPr>
                        <m:t>𝟏𝟏</m:t>
                      </m:r>
                      <m:r>
                        <a:rPr lang="en-US" b="1" i="1" smtClean="0">
                          <a:solidFill>
                            <a:srgbClr val="C00000"/>
                          </a:solidFill>
                          <a:latin typeface="Cambria Math" panose="02040503050406030204" pitchFamily="18" charset="0"/>
                        </a:rPr>
                        <m:t>)(</m:t>
                      </m:r>
                      <m:r>
                        <a:rPr lang="en-US" b="1" i="1" smtClean="0">
                          <a:solidFill>
                            <a:srgbClr val="C00000"/>
                          </a:solidFill>
                          <a:latin typeface="Cambria Math" panose="02040503050406030204" pitchFamily="18" charset="0"/>
                        </a:rPr>
                        <m:t>𝟎</m:t>
                      </m:r>
                      <m:r>
                        <a:rPr lang="en-US" b="1" i="1" smtClean="0">
                          <a:solidFill>
                            <a:srgbClr val="C00000"/>
                          </a:solidFill>
                          <a:latin typeface="Cambria Math" panose="02040503050406030204" pitchFamily="18" charset="0"/>
                        </a:rPr>
                        <m:t> | </m:t>
                      </m:r>
                      <m:r>
                        <a:rPr lang="en-US" b="1" i="1" smtClean="0">
                          <a:solidFill>
                            <a:srgbClr val="C00000"/>
                          </a:solidFill>
                          <a:latin typeface="Cambria Math" panose="02040503050406030204" pitchFamily="18" charset="0"/>
                        </a:rPr>
                        <m:t>𝟏</m:t>
                      </m:r>
                      <m:r>
                        <a:rPr lang="en-US" b="1" i="1" smtClean="0">
                          <a:solidFill>
                            <a:srgbClr val="C00000"/>
                          </a:solidFill>
                          <a:latin typeface="Cambria Math" panose="02040503050406030204" pitchFamily="18" charset="0"/>
                        </a:rPr>
                        <m:t>)∗| </m:t>
                      </m:r>
                      <m:d>
                        <m:dPr>
                          <m:ctrlPr>
                            <a:rPr lang="en-US" b="1" i="1" smtClean="0">
                              <a:solidFill>
                                <a:srgbClr val="C00000"/>
                              </a:solidFill>
                              <a:latin typeface="Cambria Math" panose="02040503050406030204" pitchFamily="18" charset="0"/>
                            </a:rPr>
                          </m:ctrlPr>
                        </m:dPr>
                        <m:e>
                          <m:r>
                            <a:rPr lang="en-US" b="1" i="1" smtClean="0">
                              <a:solidFill>
                                <a:srgbClr val="C00000"/>
                              </a:solidFill>
                              <a:latin typeface="Cambria Math" panose="02040503050406030204" pitchFamily="18" charset="0"/>
                            </a:rPr>
                            <m:t>𝟎</m:t>
                          </m:r>
                        </m:e>
                        <m:e>
                          <m:r>
                            <a:rPr lang="en-US" b="1" i="1" smtClean="0">
                              <a:solidFill>
                                <a:srgbClr val="C00000"/>
                              </a:solidFill>
                              <a:latin typeface="Cambria Math" panose="02040503050406030204" pitchFamily="18" charset="0"/>
                            </a:rPr>
                            <m:t>𝟏</m:t>
                          </m:r>
                        </m:e>
                      </m:d>
                      <m:r>
                        <a:rPr lang="en-US" b="1" i="1" baseline="30000" smtClean="0">
                          <a:solidFill>
                            <a:srgbClr val="C00000"/>
                          </a:solidFill>
                          <a:latin typeface="Cambria Math" panose="02040503050406030204" pitchFamily="18" charset="0"/>
                        </a:rPr>
                        <m:t>∗</m:t>
                      </m:r>
                      <m:r>
                        <a:rPr lang="en-US" b="1" i="1" smtClean="0">
                          <a:solidFill>
                            <a:srgbClr val="C00000"/>
                          </a:solidFill>
                          <a:latin typeface="Cambria Math" panose="02040503050406030204" pitchFamily="18" charset="0"/>
                        </a:rPr>
                        <m:t>(</m:t>
                      </m:r>
                      <m:r>
                        <a:rPr lang="en-US" b="1" i="1" smtClean="0">
                          <a:solidFill>
                            <a:srgbClr val="C00000"/>
                          </a:solidFill>
                          <a:latin typeface="Cambria Math" panose="02040503050406030204" pitchFamily="18" charset="0"/>
                        </a:rPr>
                        <m:t>𝟎𝟎</m:t>
                      </m:r>
                      <m:r>
                        <a:rPr lang="en-US" b="1" i="1" smtClean="0">
                          <a:solidFill>
                            <a:srgbClr val="C00000"/>
                          </a:solidFill>
                          <a:latin typeface="Cambria Math" panose="02040503050406030204" pitchFamily="18" charset="0"/>
                        </a:rPr>
                        <m:t>|</m:t>
                      </m:r>
                      <m:r>
                        <a:rPr lang="en-US" b="1" i="1" smtClean="0">
                          <a:solidFill>
                            <a:srgbClr val="C00000"/>
                          </a:solidFill>
                          <a:latin typeface="Cambria Math" panose="02040503050406030204" pitchFamily="18" charset="0"/>
                        </a:rPr>
                        <m:t>𝟏𝟏</m:t>
                      </m:r>
                      <m:r>
                        <a:rPr lang="en-US" b="1" i="1" smtClean="0">
                          <a:solidFill>
                            <a:srgbClr val="C00000"/>
                          </a:solidFill>
                          <a:latin typeface="Cambria Math" panose="02040503050406030204" pitchFamily="18" charset="0"/>
                        </a:rPr>
                        <m:t>)</m:t>
                      </m:r>
                    </m:oMath>
                  </m:oMathPara>
                </a14:m>
                <a:endParaRPr lang="en-US" b="1" baseline="30000">
                  <a:solidFill>
                    <a:srgbClr val="C00000"/>
                  </a:solidFill>
                </a:endParaRPr>
              </a:p>
            </p:txBody>
          </p:sp>
        </mc:Choice>
        <mc:Fallback xmlns="">
          <p:sp>
            <p:nvSpPr>
              <p:cNvPr id="17" name="Rectangle 16">
                <a:extLst>
                  <a:ext uri="{FF2B5EF4-FFF2-40B4-BE49-F238E27FC236}">
                    <a16:creationId xmlns:a16="http://schemas.microsoft.com/office/drawing/2014/main" id="{836D78BC-4147-7CAD-68F9-0A3495614192}"/>
                  </a:ext>
                </a:extLst>
              </p:cNvPr>
              <p:cNvSpPr>
                <a:spLocks noRot="1" noChangeAspect="1" noMove="1" noResize="1" noEditPoints="1" noAdjustHandles="1" noChangeArrowheads="1" noChangeShapeType="1" noTextEdit="1"/>
              </p:cNvSpPr>
              <p:nvPr/>
            </p:nvSpPr>
            <p:spPr>
              <a:xfrm>
                <a:off x="4649915" y="6032001"/>
                <a:ext cx="4389664" cy="608533"/>
              </a:xfrm>
              <a:prstGeom prst="rect">
                <a:avLst/>
              </a:prstGeom>
              <a:blipFill>
                <a:blip r:embed="rId16"/>
                <a:stretch>
                  <a:fillRect/>
                </a:stretch>
              </a:blipFill>
              <a:ln>
                <a:noFill/>
              </a:ln>
            </p:spPr>
            <p:txBody>
              <a:bodyPr/>
              <a:lstStyle/>
              <a:p>
                <a:r>
                  <a:rPr lang="en-IN">
                    <a:noFill/>
                  </a:rPr>
                  <a:t> </a:t>
                </a:r>
              </a:p>
            </p:txBody>
          </p:sp>
        </mc:Fallback>
      </mc:AlternateContent>
    </p:spTree>
    <p:extLst>
      <p:ext uri="{BB962C8B-B14F-4D97-AF65-F5344CB8AC3E}">
        <p14:creationId xmlns:p14="http://schemas.microsoft.com/office/powerpoint/2010/main" val="10045375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dur="1"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dur="50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wipe(left)">
                                      <p:cBhvr>
                                        <p:cTn id="11" dur="500"/>
                                        <p:tgtEl>
                                          <p:spTgt spid="4"/>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dur="500" fill="hold" grpId="0" nodeType="click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wipe(left)">
                                      <p:cBhvr>
                                        <p:cTn id="16" dur="50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dur="1"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22" presetClass="entr" presetSubtype="8" dur="500"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wipe(left)">
                                      <p:cBhvr>
                                        <p:cTn id="25" dur="500"/>
                                        <p:tgtEl>
                                          <p:spTgt spid="6"/>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dur="500" fill="hold" grpId="0" nodeType="click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wipe(left)">
                                      <p:cBhvr>
                                        <p:cTn id="30" dur="500"/>
                                        <p:tgtEl>
                                          <p:spTgt spid="7"/>
                                        </p:tgtEl>
                                      </p:cBhvr>
                                    </p:animEffect>
                                  </p:childTnLst>
                                </p:cTn>
                              </p:par>
                            </p:childTnLst>
                          </p:cTn>
                        </p:par>
                      </p:childTnLst>
                    </p:cTn>
                  </p:par>
                  <p:par>
                    <p:cTn id="31" fill="hold">
                      <p:stCondLst>
                        <p:cond delay="indefinite"/>
                      </p:stCondLst>
                      <p:childTnLst>
                        <p:par>
                          <p:cTn id="32" fill="hold">
                            <p:stCondLst>
                              <p:cond delay="0"/>
                            </p:stCondLst>
                            <p:childTnLst>
                              <p:par>
                                <p:cTn id="33" presetID="1" presetClass="entr" presetSubtype="0" dur="1" fill="hold"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22" presetClass="entr" presetSubtype="8" dur="500" fill="hold" grpId="0" nodeType="clickEffect">
                                  <p:stCondLst>
                                    <p:cond delay="0"/>
                                  </p:stCondLst>
                                  <p:childTnLst>
                                    <p:set>
                                      <p:cBhvr>
                                        <p:cTn id="38" dur="1" fill="hold">
                                          <p:stCondLst>
                                            <p:cond delay="0"/>
                                          </p:stCondLst>
                                        </p:cTn>
                                        <p:tgtEl>
                                          <p:spTgt spid="8"/>
                                        </p:tgtEl>
                                        <p:attrNameLst>
                                          <p:attrName>style.visibility</p:attrName>
                                        </p:attrNameLst>
                                      </p:cBhvr>
                                      <p:to>
                                        <p:strVal val="visible"/>
                                      </p:to>
                                    </p:set>
                                    <p:animEffect transition="in" filter="wipe(left)">
                                      <p:cBhvr>
                                        <p:cTn id="39" dur="500"/>
                                        <p:tgtEl>
                                          <p:spTgt spid="8"/>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dur="500" fill="hold" grpId="0" nodeType="clickEffect">
                                  <p:stCondLst>
                                    <p:cond delay="0"/>
                                  </p:stCondLst>
                                  <p:childTnLst>
                                    <p:set>
                                      <p:cBhvr>
                                        <p:cTn id="43" dur="1" fill="hold">
                                          <p:stCondLst>
                                            <p:cond delay="0"/>
                                          </p:stCondLst>
                                        </p:cTn>
                                        <p:tgtEl>
                                          <p:spTgt spid="9"/>
                                        </p:tgtEl>
                                        <p:attrNameLst>
                                          <p:attrName>style.visibility</p:attrName>
                                        </p:attrNameLst>
                                      </p:cBhvr>
                                      <p:to>
                                        <p:strVal val="visible"/>
                                      </p:to>
                                    </p:set>
                                    <p:animEffect transition="in" filter="wipe(left)">
                                      <p:cBhvr>
                                        <p:cTn id="44" dur="500"/>
                                        <p:tgtEl>
                                          <p:spTgt spid="9"/>
                                        </p:tgtEl>
                                      </p:cBhvr>
                                    </p:animEffect>
                                  </p:childTnLst>
                                </p:cTn>
                              </p:par>
                            </p:childTnLst>
                          </p:cTn>
                        </p:par>
                      </p:childTnLst>
                    </p:cTn>
                  </p:par>
                  <p:par>
                    <p:cTn id="45" fill="hold">
                      <p:stCondLst>
                        <p:cond delay="indefinite"/>
                      </p:stCondLst>
                      <p:childTnLst>
                        <p:par>
                          <p:cTn id="46" fill="hold">
                            <p:stCondLst>
                              <p:cond delay="0"/>
                            </p:stCondLst>
                            <p:childTnLst>
                              <p:par>
                                <p:cTn id="47" presetID="1" presetClass="entr" presetSubtype="0" dur="1" fill="hold"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22" presetClass="entr" presetSubtype="8" dur="500" fill="hold" grpId="0" nodeType="clickEffect">
                                  <p:stCondLst>
                                    <p:cond delay="0"/>
                                  </p:stCondLst>
                                  <p:childTnLst>
                                    <p:set>
                                      <p:cBhvr>
                                        <p:cTn id="52" dur="1" fill="hold">
                                          <p:stCondLst>
                                            <p:cond delay="0"/>
                                          </p:stCondLst>
                                        </p:cTn>
                                        <p:tgtEl>
                                          <p:spTgt spid="10"/>
                                        </p:tgtEl>
                                        <p:attrNameLst>
                                          <p:attrName>style.visibility</p:attrName>
                                        </p:attrNameLst>
                                      </p:cBhvr>
                                      <p:to>
                                        <p:strVal val="visible"/>
                                      </p:to>
                                    </p:set>
                                    <p:animEffect transition="in" filter="wipe(left)">
                                      <p:cBhvr>
                                        <p:cTn id="53" dur="500"/>
                                        <p:tgtEl>
                                          <p:spTgt spid="10"/>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dur="500" fill="hold" grpId="0" nodeType="clickEffect">
                                  <p:stCondLst>
                                    <p:cond delay="0"/>
                                  </p:stCondLst>
                                  <p:childTnLst>
                                    <p:set>
                                      <p:cBhvr>
                                        <p:cTn id="57" dur="1" fill="hold">
                                          <p:stCondLst>
                                            <p:cond delay="0"/>
                                          </p:stCondLst>
                                        </p:cTn>
                                        <p:tgtEl>
                                          <p:spTgt spid="11"/>
                                        </p:tgtEl>
                                        <p:attrNameLst>
                                          <p:attrName>style.visibility</p:attrName>
                                        </p:attrNameLst>
                                      </p:cBhvr>
                                      <p:to>
                                        <p:strVal val="visible"/>
                                      </p:to>
                                    </p:set>
                                    <p:animEffect transition="in" filter="wipe(left)">
                                      <p:cBhvr>
                                        <p:cTn id="58" dur="500"/>
                                        <p:tgtEl>
                                          <p:spTgt spid="11"/>
                                        </p:tgtEl>
                                      </p:cBhvr>
                                    </p:animEffect>
                                  </p:childTnLst>
                                </p:cTn>
                              </p:par>
                            </p:childTnLst>
                          </p:cTn>
                        </p:par>
                      </p:childTnLst>
                    </p:cTn>
                  </p:par>
                  <p:par>
                    <p:cTn id="59" fill="hold">
                      <p:stCondLst>
                        <p:cond delay="indefinite"/>
                      </p:stCondLst>
                      <p:childTnLst>
                        <p:par>
                          <p:cTn id="60" fill="hold">
                            <p:stCondLst>
                              <p:cond delay="0"/>
                            </p:stCondLst>
                            <p:childTnLst>
                              <p:par>
                                <p:cTn id="61" presetID="1" presetClass="entr" presetSubtype="0" dur="1" fill="hold" nodeType="clickEffect">
                                  <p:stCondLst>
                                    <p:cond delay="0"/>
                                  </p:stCondLst>
                                  <p:childTnLst>
                                    <p:set>
                                      <p:cBhvr>
                                        <p:cTn id="6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22" presetClass="entr" presetSubtype="8" dur="500" fill="hold" grpId="0" nodeType="clickEffect">
                                  <p:stCondLst>
                                    <p:cond delay="0"/>
                                  </p:stCondLst>
                                  <p:childTnLst>
                                    <p:set>
                                      <p:cBhvr>
                                        <p:cTn id="66" dur="1" fill="hold">
                                          <p:stCondLst>
                                            <p:cond delay="0"/>
                                          </p:stCondLst>
                                        </p:cTn>
                                        <p:tgtEl>
                                          <p:spTgt spid="12"/>
                                        </p:tgtEl>
                                        <p:attrNameLst>
                                          <p:attrName>style.visibility</p:attrName>
                                        </p:attrNameLst>
                                      </p:cBhvr>
                                      <p:to>
                                        <p:strVal val="visible"/>
                                      </p:to>
                                    </p:set>
                                    <p:animEffect transition="in" filter="wipe(left)">
                                      <p:cBhvr>
                                        <p:cTn id="67" dur="500"/>
                                        <p:tgtEl>
                                          <p:spTgt spid="12"/>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dur="500" fill="hold" grpId="0" nodeType="clickEffect">
                                  <p:stCondLst>
                                    <p:cond delay="0"/>
                                  </p:stCondLst>
                                  <p:childTnLst>
                                    <p:set>
                                      <p:cBhvr>
                                        <p:cTn id="71" dur="1" fill="hold">
                                          <p:stCondLst>
                                            <p:cond delay="0"/>
                                          </p:stCondLst>
                                        </p:cTn>
                                        <p:tgtEl>
                                          <p:spTgt spid="13"/>
                                        </p:tgtEl>
                                        <p:attrNameLst>
                                          <p:attrName>style.visibility</p:attrName>
                                        </p:attrNameLst>
                                      </p:cBhvr>
                                      <p:to>
                                        <p:strVal val="visible"/>
                                      </p:to>
                                    </p:set>
                                    <p:animEffect transition="in" filter="wipe(left)">
                                      <p:cBhvr>
                                        <p:cTn id="72" dur="500"/>
                                        <p:tgtEl>
                                          <p:spTgt spid="13"/>
                                        </p:tgtEl>
                                      </p:cBhvr>
                                    </p:animEffect>
                                  </p:childTnLst>
                                </p:cTn>
                              </p:par>
                            </p:childTnLst>
                          </p:cTn>
                        </p:par>
                      </p:childTnLst>
                    </p:cTn>
                  </p:par>
                  <p:par>
                    <p:cTn id="73" fill="hold">
                      <p:stCondLst>
                        <p:cond delay="indefinite"/>
                      </p:stCondLst>
                      <p:childTnLst>
                        <p:par>
                          <p:cTn id="74" fill="hold">
                            <p:stCondLst>
                              <p:cond delay="0"/>
                            </p:stCondLst>
                            <p:childTnLst>
                              <p:par>
                                <p:cTn id="75" presetID="1" presetClass="entr" presetSubtype="0" dur="1" fill="hold" nodeType="clickEffect">
                                  <p:stCondLst>
                                    <p:cond delay="0"/>
                                  </p:stCondLst>
                                  <p:childTnLst>
                                    <p:set>
                                      <p:cBhvr>
                                        <p:cTn id="7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22" presetClass="entr" presetSubtype="8" dur="500" fill="hold" grpId="0" nodeType="clickEffect">
                                  <p:stCondLst>
                                    <p:cond delay="0"/>
                                  </p:stCondLst>
                                  <p:childTnLst>
                                    <p:set>
                                      <p:cBhvr>
                                        <p:cTn id="80" dur="1" fill="hold">
                                          <p:stCondLst>
                                            <p:cond delay="0"/>
                                          </p:stCondLst>
                                        </p:cTn>
                                        <p:tgtEl>
                                          <p:spTgt spid="14"/>
                                        </p:tgtEl>
                                        <p:attrNameLst>
                                          <p:attrName>style.visibility</p:attrName>
                                        </p:attrNameLst>
                                      </p:cBhvr>
                                      <p:to>
                                        <p:strVal val="visible"/>
                                      </p:to>
                                    </p:set>
                                    <p:animEffect transition="in" filter="wipe(left)">
                                      <p:cBhvr>
                                        <p:cTn id="81" dur="500"/>
                                        <p:tgtEl>
                                          <p:spTgt spid="14"/>
                                        </p:tgtEl>
                                      </p:cBhvr>
                                    </p:animEffect>
                                  </p:childTnLst>
                                </p:cTn>
                              </p:par>
                            </p:childTnLst>
                          </p:cTn>
                        </p:par>
                      </p:childTnLst>
                    </p:cTn>
                  </p:par>
                  <p:par>
                    <p:cTn id="82" fill="hold">
                      <p:stCondLst>
                        <p:cond delay="indefinite"/>
                      </p:stCondLst>
                      <p:childTnLst>
                        <p:par>
                          <p:cTn id="83" fill="hold">
                            <p:stCondLst>
                              <p:cond delay="0"/>
                            </p:stCondLst>
                            <p:childTnLst>
                              <p:par>
                                <p:cTn id="84" presetID="22" presetClass="entr" presetSubtype="8" dur="500" fill="hold" grpId="0" nodeType="clickEffect">
                                  <p:stCondLst>
                                    <p:cond delay="0"/>
                                  </p:stCondLst>
                                  <p:childTnLst>
                                    <p:set>
                                      <p:cBhvr>
                                        <p:cTn id="85" dur="1" fill="hold">
                                          <p:stCondLst>
                                            <p:cond delay="0"/>
                                          </p:stCondLst>
                                        </p:cTn>
                                        <p:tgtEl>
                                          <p:spTgt spid="15"/>
                                        </p:tgtEl>
                                        <p:attrNameLst>
                                          <p:attrName>style.visibility</p:attrName>
                                        </p:attrNameLst>
                                      </p:cBhvr>
                                      <p:to>
                                        <p:strVal val="visible"/>
                                      </p:to>
                                    </p:set>
                                    <p:animEffect transition="in" filter="wipe(left)">
                                      <p:cBhvr>
                                        <p:cTn id="86" dur="500"/>
                                        <p:tgtEl>
                                          <p:spTgt spid="15"/>
                                        </p:tgtEl>
                                      </p:cBhvr>
                                    </p:animEffect>
                                  </p:childTnLst>
                                </p:cTn>
                              </p:par>
                            </p:childTnLst>
                          </p:cTn>
                        </p:par>
                      </p:childTnLst>
                    </p:cTn>
                  </p:par>
                  <p:par>
                    <p:cTn id="87" fill="hold">
                      <p:stCondLst>
                        <p:cond delay="indefinite"/>
                      </p:stCondLst>
                      <p:childTnLst>
                        <p:par>
                          <p:cTn id="88" fill="hold">
                            <p:stCondLst>
                              <p:cond delay="0"/>
                            </p:stCondLst>
                            <p:childTnLst>
                              <p:par>
                                <p:cTn id="89" presetID="1" presetClass="entr" presetSubtype="0" dur="1" fill="hold" nodeType="clickEffect">
                                  <p:stCondLst>
                                    <p:cond delay="0"/>
                                  </p:stCondLst>
                                  <p:childTnLst>
                                    <p:set>
                                      <p:cBhvr>
                                        <p:cTn id="90"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22" presetClass="entr" presetSubtype="8" dur="500" fill="hold" grpId="0" nodeType="clickEffect">
                                  <p:stCondLst>
                                    <p:cond delay="0"/>
                                  </p:stCondLst>
                                  <p:childTnLst>
                                    <p:set>
                                      <p:cBhvr>
                                        <p:cTn id="94" dur="1" fill="hold">
                                          <p:stCondLst>
                                            <p:cond delay="0"/>
                                          </p:stCondLst>
                                        </p:cTn>
                                        <p:tgtEl>
                                          <p:spTgt spid="16"/>
                                        </p:tgtEl>
                                        <p:attrNameLst>
                                          <p:attrName>style.visibility</p:attrName>
                                        </p:attrNameLst>
                                      </p:cBhvr>
                                      <p:to>
                                        <p:strVal val="visible"/>
                                      </p:to>
                                    </p:set>
                                    <p:animEffect transition="in" filter="wipe(left)">
                                      <p:cBhvr>
                                        <p:cTn id="95" dur="500"/>
                                        <p:tgtEl>
                                          <p:spTgt spid="16"/>
                                        </p:tgtEl>
                                      </p:cBhvr>
                                    </p:animEffect>
                                  </p:childTnLst>
                                </p:cTn>
                              </p:par>
                            </p:childTnLst>
                          </p:cTn>
                        </p:par>
                      </p:childTnLst>
                    </p:cTn>
                  </p:par>
                  <p:par>
                    <p:cTn id="96" fill="hold">
                      <p:stCondLst>
                        <p:cond delay="indefinite"/>
                      </p:stCondLst>
                      <p:childTnLst>
                        <p:par>
                          <p:cTn id="97" fill="hold">
                            <p:stCondLst>
                              <p:cond delay="0"/>
                            </p:stCondLst>
                            <p:childTnLst>
                              <p:par>
                                <p:cTn id="98" presetID="22" presetClass="entr" presetSubtype="8" dur="500" fill="hold" grpId="0" nodeType="clickEffect">
                                  <p:stCondLst>
                                    <p:cond delay="0"/>
                                  </p:stCondLst>
                                  <p:childTnLst>
                                    <p:set>
                                      <p:cBhvr>
                                        <p:cTn id="99" dur="1" fill="hold">
                                          <p:stCondLst>
                                            <p:cond delay="0"/>
                                          </p:stCondLst>
                                        </p:cTn>
                                        <p:tgtEl>
                                          <p:spTgt spid="17"/>
                                        </p:tgtEl>
                                        <p:attrNameLst>
                                          <p:attrName>style.visibility</p:attrName>
                                        </p:attrNameLst>
                                      </p:cBhvr>
                                      <p:to>
                                        <p:strVal val="visible"/>
                                      </p:to>
                                    </p:set>
                                    <p:animEffect transition="in" filter="wipe(left)">
                                      <p:cBhvr>
                                        <p:cTn id="100"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9" grpId="0"/>
      <p:bldP spid="10" grpId="0"/>
      <p:bldP spid="11" grpId="0"/>
      <p:bldP spid="12" grpId="0"/>
      <p:bldP spid="13" grpId="0"/>
      <p:bldP spid="14" grpId="0"/>
      <p:bldP spid="15" grpId="0"/>
      <p:bldP spid="16" grpId="0"/>
      <p:bldP spid="17"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00A74B-6E4C-8068-9784-E0744772DBD8}"/>
              </a:ext>
            </a:extLst>
          </p:cNvPr>
          <p:cNvSpPr txBox="1">
            <a:spLocks/>
          </p:cNvSpPr>
          <p:nvPr/>
        </p:nvSpPr>
        <p:spPr>
          <a:xfrm>
            <a:off x="0" y="1"/>
            <a:ext cx="12192000" cy="711200"/>
          </a:xfrm>
          <a:prstGeom prst="rect">
            <a:avLst/>
          </a:prstGeom>
        </p:spPr>
        <p:txBody>
          <a:bodyPr/>
          <a:lstStyle>
            <a:lvl1pPr algn="l" defTabSz="914400" rtl="0" eaLnBrk="1" latinLnBrk="0" hangingPunct="1">
              <a:lnSpc>
                <a:spcPct val="90000"/>
              </a:lnSpc>
              <a:spcBef>
                <a:spcPct val="0"/>
              </a:spcBef>
              <a:buNone/>
              <a:defRPr sz="4400" kern="1200">
                <a:solidFill>
                  <a:srgbClr val="C00000"/>
                </a:solidFill>
                <a:latin typeface="Palatino Linotype" panose="02040502050505030304" pitchFamily="18" charset="0"/>
                <a:ea typeface="+mj-ea"/>
                <a:cs typeface="+mj-cs"/>
              </a:defRPr>
            </a:lvl1pPr>
          </a:lstStyle>
          <a:p>
            <a:r>
              <a:rPr lang="en-US"/>
              <a:t>Regular expression examples</a:t>
            </a:r>
          </a:p>
        </p:txBody>
      </p:sp>
      <p:sp>
        <p:nvSpPr>
          <p:cNvPr id="3" name="Content Placeholder 2">
            <a:extLst>
              <a:ext uri="{FF2B5EF4-FFF2-40B4-BE49-F238E27FC236}">
                <a16:creationId xmlns:a16="http://schemas.microsoft.com/office/drawing/2014/main" id="{AAA79C1E-3A79-1DFC-B2B2-D60435064EC7}"/>
              </a:ext>
            </a:extLst>
          </p:cNvPr>
          <p:cNvSpPr txBox="1">
            <a:spLocks/>
          </p:cNvSpPr>
          <p:nvPr/>
        </p:nvSpPr>
        <p:spPr>
          <a:xfrm>
            <a:off x="131180" y="863444"/>
            <a:ext cx="11929641" cy="5590565"/>
          </a:xfrm>
          <a:prstGeom prst="rect">
            <a:avLst/>
          </a:prstGeom>
        </p:spPr>
        <p:txBody>
          <a:bodyPr/>
          <a:lstStyle>
            <a:lvl1pPr marL="228600" indent="-228600" algn="just"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Palatino Linotype" panose="02040502050505030304" pitchFamily="18" charset="0"/>
                <a:ea typeface="+mn-ea"/>
                <a:cs typeface="+mn-cs"/>
              </a:defRPr>
            </a:lvl1pPr>
            <a:lvl2pPr marL="685800" indent="-228600" algn="just"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Palatino Linotype" panose="02040502050505030304" pitchFamily="18" charset="0"/>
                <a:ea typeface="+mn-ea"/>
                <a:cs typeface="+mn-cs"/>
              </a:defRPr>
            </a:lvl2pPr>
            <a:lvl3pPr marL="1143000" indent="-228600" algn="just"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Palatino Linotype" panose="02040502050505030304" pitchFamily="18" charset="0"/>
                <a:ea typeface="+mn-ea"/>
                <a:cs typeface="+mn-cs"/>
              </a:defRPr>
            </a:lvl3pPr>
            <a:lvl4pPr marL="1600200" indent="-228600" algn="just"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alatino Linotype" panose="02040502050505030304" pitchFamily="18" charset="0"/>
                <a:ea typeface="+mn-ea"/>
                <a:cs typeface="+mn-cs"/>
              </a:defRPr>
            </a:lvl4pPr>
            <a:lvl5pPr marL="2057400" indent="-228600" algn="just"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20700" indent="-457200">
              <a:lnSpc>
                <a:spcPct val="100000"/>
              </a:lnSpc>
              <a:buFont typeface="+mj-lt"/>
              <a:buAutoNum type="arabicPeriod" startAt="31"/>
            </a:pPr>
            <a:r>
              <a:rPr lang="en-IN"/>
              <a:t>Language of all string containing both 11 and 00 as substring </a:t>
            </a:r>
          </a:p>
          <a:p>
            <a:pPr marL="520700" indent="-457200">
              <a:lnSpc>
                <a:spcPct val="100000"/>
              </a:lnSpc>
              <a:buFont typeface="+mj-lt"/>
              <a:buAutoNum type="arabicPeriod" startAt="31"/>
            </a:pPr>
            <a:endParaRPr lang="en-IN"/>
          </a:p>
          <a:p>
            <a:pPr marL="520700" indent="-457200">
              <a:lnSpc>
                <a:spcPct val="100000"/>
              </a:lnSpc>
              <a:buFont typeface="+mj-lt"/>
              <a:buAutoNum type="arabicPeriod" startAt="31"/>
            </a:pPr>
            <a:r>
              <a:rPr lang="en-IN"/>
              <a:t>String ending with 1 and not contain 00 </a:t>
            </a:r>
          </a:p>
          <a:p>
            <a:pPr marL="463550" lvl="1" indent="0">
              <a:lnSpc>
                <a:spcPct val="100000"/>
              </a:lnSpc>
              <a:buFont typeface="Arial" panose="020B0604020202020204" pitchFamily="34" charset="0"/>
              <a:buNone/>
            </a:pPr>
            <a:endParaRPr lang="en-US"/>
          </a:p>
          <a:p>
            <a:pPr marL="520700" indent="-457200">
              <a:lnSpc>
                <a:spcPct val="100000"/>
              </a:lnSpc>
              <a:buFont typeface="+mj-lt"/>
              <a:buAutoNum type="arabicPeriod" startAt="31"/>
            </a:pPr>
            <a:r>
              <a:rPr lang="en-IN"/>
              <a:t>Language of C identifier  </a:t>
            </a:r>
          </a:p>
          <a:p>
            <a:endParaRPr lang="en-US" dirty="0"/>
          </a:p>
        </p:txBody>
      </p:sp>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30A01F7B-2A2D-D73A-CD10-93AC1002B42A}"/>
                  </a:ext>
                </a:extLst>
              </p:cNvPr>
              <p:cNvSpPr/>
              <p:nvPr/>
            </p:nvSpPr>
            <p:spPr>
              <a:xfrm>
                <a:off x="697189" y="1304285"/>
                <a:ext cx="3200400" cy="6085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14:m>
                  <m:oMathPara xmlns:m="http://schemas.openxmlformats.org/officeDocument/2006/math">
                    <m:oMathParaPr>
                      <m:jc m:val="centerGroup"/>
                    </m:oMathParaPr>
                    <m:oMath xmlns:m="http://schemas.openxmlformats.org/officeDocument/2006/math">
                      <m:r>
                        <a:rPr lang="en-US" b="1" i="1" smtClean="0">
                          <a:solidFill>
                            <a:srgbClr val="0E47A1"/>
                          </a:solidFill>
                          <a:latin typeface="Cambria Math" panose="02040503050406030204" pitchFamily="18" charset="0"/>
                        </a:rPr>
                        <m:t>𝑺𝒕𝒓𝒊𝒏𝒈𝒔</m:t>
                      </m:r>
                      <m:r>
                        <a:rPr lang="en-US" b="1" i="1" smtClean="0">
                          <a:solidFill>
                            <a:srgbClr val="0E47A1"/>
                          </a:solidFill>
                          <a:latin typeface="Cambria Math" panose="02040503050406030204" pitchFamily="18" charset="0"/>
                        </a:rPr>
                        <m:t>: </m:t>
                      </m:r>
                      <m:r>
                        <a:rPr lang="en-US" b="1" i="1" smtClean="0">
                          <a:solidFill>
                            <a:srgbClr val="0E47A1"/>
                          </a:solidFill>
                          <a:latin typeface="Cambria Math" panose="02040503050406030204" pitchFamily="18" charset="0"/>
                        </a:rPr>
                        <m:t>𝟎𝟎𝟏𝟏</m:t>
                      </m:r>
                      <m:r>
                        <a:rPr lang="en-US" b="1" i="1" smtClean="0">
                          <a:solidFill>
                            <a:srgbClr val="0E47A1"/>
                          </a:solidFill>
                          <a:latin typeface="Cambria Math" panose="02040503050406030204" pitchFamily="18" charset="0"/>
                        </a:rPr>
                        <m:t>, </m:t>
                      </m:r>
                      <m:r>
                        <a:rPr lang="en-US" b="1" i="1" smtClean="0">
                          <a:solidFill>
                            <a:srgbClr val="0E47A1"/>
                          </a:solidFill>
                          <a:latin typeface="Cambria Math" panose="02040503050406030204" pitchFamily="18" charset="0"/>
                        </a:rPr>
                        <m:t>𝟏𝟏𝟎𝟎</m:t>
                      </m:r>
                      <m:r>
                        <a:rPr lang="en-US" b="1" i="1" smtClean="0">
                          <a:solidFill>
                            <a:srgbClr val="0E47A1"/>
                          </a:solidFill>
                          <a:latin typeface="Cambria Math" panose="02040503050406030204" pitchFamily="18" charset="0"/>
                        </a:rPr>
                        <m:t>,</m:t>
                      </m:r>
                      <m:r>
                        <a:rPr lang="en-US" b="1" i="1" smtClean="0">
                          <a:solidFill>
                            <a:srgbClr val="0E47A1"/>
                          </a:solidFill>
                          <a:latin typeface="Cambria Math" panose="02040503050406030204" pitchFamily="18" charset="0"/>
                        </a:rPr>
                        <m:t>𝟏𝟎𝟎𝟏𝟏𝟎</m:t>
                      </m:r>
                      <m:r>
                        <a:rPr lang="en-US" b="1" i="1" smtClean="0">
                          <a:solidFill>
                            <a:srgbClr val="0E47A1"/>
                          </a:solidFill>
                          <a:latin typeface="Cambria Math" panose="02040503050406030204" pitchFamily="18" charset="0"/>
                        </a:rPr>
                        <m:t>,</m:t>
                      </m:r>
                      <m:r>
                        <a:rPr lang="en-US" b="1" i="1" smtClean="0">
                          <a:solidFill>
                            <a:srgbClr val="0E47A1"/>
                          </a:solidFill>
                          <a:latin typeface="Cambria Math" panose="02040503050406030204" pitchFamily="18" charset="0"/>
                        </a:rPr>
                        <m:t>𝟎𝟏𝟎𝟎𝟏𝟏</m:t>
                      </m:r>
                      <m:r>
                        <a:rPr lang="en-US" b="1" i="1" smtClean="0">
                          <a:solidFill>
                            <a:srgbClr val="0E47A1"/>
                          </a:solidFill>
                          <a:latin typeface="Cambria Math" panose="02040503050406030204" pitchFamily="18" charset="0"/>
                        </a:rPr>
                        <m:t>…</m:t>
                      </m:r>
                    </m:oMath>
                  </m:oMathPara>
                </a14:m>
                <a:endParaRPr lang="en-US" b="1">
                  <a:solidFill>
                    <a:srgbClr val="0E47A1"/>
                  </a:solidFill>
                  <a:latin typeface="+mj-lt"/>
                </a:endParaRPr>
              </a:p>
            </p:txBody>
          </p:sp>
        </mc:Choice>
        <mc:Fallback xmlns="">
          <p:sp>
            <p:nvSpPr>
              <p:cNvPr id="4" name="Rectangle 3">
                <a:extLst>
                  <a:ext uri="{FF2B5EF4-FFF2-40B4-BE49-F238E27FC236}">
                    <a16:creationId xmlns:a16="http://schemas.microsoft.com/office/drawing/2014/main" id="{30A01F7B-2A2D-D73A-CD10-93AC1002B42A}"/>
                  </a:ext>
                </a:extLst>
              </p:cNvPr>
              <p:cNvSpPr>
                <a:spLocks noRot="1" noChangeAspect="1" noMove="1" noResize="1" noEditPoints="1" noAdjustHandles="1" noChangeArrowheads="1" noChangeShapeType="1" noTextEdit="1"/>
              </p:cNvSpPr>
              <p:nvPr/>
            </p:nvSpPr>
            <p:spPr>
              <a:xfrm>
                <a:off x="697189" y="1304285"/>
                <a:ext cx="3200400" cy="608533"/>
              </a:xfrm>
              <a:prstGeom prst="rect">
                <a:avLst/>
              </a:prstGeom>
              <a:blipFill>
                <a:blip r:embed="rId2"/>
                <a:stretch>
                  <a:fillRect l="-381" r="-34667"/>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0E7B13EF-EBFE-E60A-B665-544673973AC5}"/>
                  </a:ext>
                </a:extLst>
              </p:cNvPr>
              <p:cNvSpPr/>
              <p:nvPr/>
            </p:nvSpPr>
            <p:spPr>
              <a:xfrm>
                <a:off x="5296535" y="1304285"/>
                <a:ext cx="6764286" cy="6085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lvl="1" algn="just"/>
                <a14:m>
                  <m:oMathPara xmlns:m="http://schemas.openxmlformats.org/officeDocument/2006/math">
                    <m:oMathParaPr>
                      <m:jc m:val="left"/>
                    </m:oMathParaPr>
                    <m:oMath xmlns:m="http://schemas.openxmlformats.org/officeDocument/2006/math">
                      <m:r>
                        <a:rPr lang="en-US" b="1" i="1" smtClean="0">
                          <a:solidFill>
                            <a:srgbClr val="C00000"/>
                          </a:solidFill>
                          <a:latin typeface="Cambria Math" panose="02040503050406030204" pitchFamily="18" charset="0"/>
                        </a:rPr>
                        <m:t>𝑹</m:t>
                      </m:r>
                      <m:r>
                        <a:rPr lang="en-US" b="1" i="1" smtClean="0">
                          <a:solidFill>
                            <a:srgbClr val="C00000"/>
                          </a:solidFill>
                          <a:latin typeface="Cambria Math" panose="02040503050406030204" pitchFamily="18" charset="0"/>
                        </a:rPr>
                        <m:t>.</m:t>
                      </m:r>
                      <m:r>
                        <a:rPr lang="en-US" b="1" i="1" smtClean="0">
                          <a:solidFill>
                            <a:srgbClr val="C00000"/>
                          </a:solidFill>
                          <a:latin typeface="Cambria Math" panose="02040503050406030204" pitchFamily="18" charset="0"/>
                        </a:rPr>
                        <m:t>𝑬</m:t>
                      </m:r>
                      <m:r>
                        <a:rPr lang="en-US" b="1" i="1" smtClean="0">
                          <a:solidFill>
                            <a:srgbClr val="C00000"/>
                          </a:solidFill>
                          <a:latin typeface="Cambria Math" panose="02040503050406030204" pitchFamily="18" charset="0"/>
                        </a:rPr>
                        <m:t>. =</m:t>
                      </m:r>
                      <m:sSup>
                        <m:sSupPr>
                          <m:ctrlPr>
                            <a:rPr lang="en-US" b="1" i="1">
                              <a:solidFill>
                                <a:srgbClr val="C00000"/>
                              </a:solidFill>
                              <a:latin typeface="Cambria Math" panose="02040503050406030204" pitchFamily="18" charset="0"/>
                            </a:rPr>
                          </m:ctrlPr>
                        </m:sSupPr>
                        <m:e>
                          <m:r>
                            <a:rPr lang="en-IN" b="1" i="1">
                              <a:solidFill>
                                <a:srgbClr val="C00000"/>
                              </a:solidFill>
                              <a:latin typeface="Cambria Math" panose="02040503050406030204" pitchFamily="18" charset="0"/>
                            </a:rPr>
                            <m:t>((</m:t>
                          </m:r>
                          <m:r>
                            <a:rPr lang="en-IN" b="1" i="1">
                              <a:solidFill>
                                <a:srgbClr val="C00000"/>
                              </a:solidFill>
                              <a:latin typeface="Cambria Math" panose="02040503050406030204" pitchFamily="18" charset="0"/>
                            </a:rPr>
                            <m:t>𝟎</m:t>
                          </m:r>
                          <m:r>
                            <a:rPr lang="en-US" b="1" i="1">
                              <a:solidFill>
                                <a:srgbClr val="C00000"/>
                              </a:solidFill>
                              <a:latin typeface="Cambria Math" panose="02040503050406030204" pitchFamily="18" charset="0"/>
                            </a:rPr>
                            <m:t>|</m:t>
                          </m:r>
                          <m:r>
                            <a:rPr lang="en-IN" b="1" i="1">
                              <a:solidFill>
                                <a:srgbClr val="C00000"/>
                              </a:solidFill>
                              <a:latin typeface="Cambria Math" panose="02040503050406030204" pitchFamily="18" charset="0"/>
                            </a:rPr>
                            <m:t>𝟏</m:t>
                          </m:r>
                          <m:r>
                            <a:rPr lang="en-IN" b="1" i="1">
                              <a:solidFill>
                                <a:srgbClr val="C00000"/>
                              </a:solidFill>
                              <a:latin typeface="Cambria Math" panose="02040503050406030204" pitchFamily="18" charset="0"/>
                            </a:rPr>
                            <m:t>)</m:t>
                          </m:r>
                        </m:e>
                        <m:sup>
                          <m:r>
                            <a:rPr lang="en-US" b="1" i="1">
                              <a:solidFill>
                                <a:srgbClr val="C00000"/>
                              </a:solidFill>
                              <a:latin typeface="Cambria Math" panose="02040503050406030204" pitchFamily="18" charset="0"/>
                            </a:rPr>
                            <m:t>∗</m:t>
                          </m:r>
                        </m:sup>
                      </m:sSup>
                      <m:r>
                        <a:rPr lang="en-IN" b="1" i="1">
                          <a:solidFill>
                            <a:srgbClr val="C00000"/>
                          </a:solidFill>
                          <a:latin typeface="Cambria Math" panose="02040503050406030204" pitchFamily="18" charset="0"/>
                        </a:rPr>
                        <m:t>𝟎𝟎</m:t>
                      </m:r>
                      <m:sSup>
                        <m:sSupPr>
                          <m:ctrlPr>
                            <a:rPr lang="en-US" b="1" i="1">
                              <a:solidFill>
                                <a:srgbClr val="C00000"/>
                              </a:solidFill>
                              <a:latin typeface="Cambria Math" panose="02040503050406030204" pitchFamily="18" charset="0"/>
                            </a:rPr>
                          </m:ctrlPr>
                        </m:sSupPr>
                        <m:e>
                          <m:r>
                            <a:rPr lang="en-IN" b="1" i="1">
                              <a:solidFill>
                                <a:srgbClr val="C00000"/>
                              </a:solidFill>
                              <a:latin typeface="Cambria Math" panose="02040503050406030204" pitchFamily="18" charset="0"/>
                            </a:rPr>
                            <m:t>(</m:t>
                          </m:r>
                          <m:r>
                            <a:rPr lang="en-IN" b="1" i="1">
                              <a:solidFill>
                                <a:srgbClr val="C00000"/>
                              </a:solidFill>
                              <a:latin typeface="Cambria Math" panose="02040503050406030204" pitchFamily="18" charset="0"/>
                            </a:rPr>
                            <m:t>𝟎</m:t>
                          </m:r>
                          <m:r>
                            <a:rPr lang="en-US" b="1" i="1">
                              <a:solidFill>
                                <a:srgbClr val="C00000"/>
                              </a:solidFill>
                              <a:latin typeface="Cambria Math" panose="02040503050406030204" pitchFamily="18" charset="0"/>
                            </a:rPr>
                            <m:t>|</m:t>
                          </m:r>
                          <m:r>
                            <a:rPr lang="en-IN" b="1" i="1">
                              <a:solidFill>
                                <a:srgbClr val="C00000"/>
                              </a:solidFill>
                              <a:latin typeface="Cambria Math" panose="02040503050406030204" pitchFamily="18" charset="0"/>
                            </a:rPr>
                            <m:t>𝟏</m:t>
                          </m:r>
                          <m:r>
                            <a:rPr lang="en-IN" b="1" i="1">
                              <a:solidFill>
                                <a:srgbClr val="C00000"/>
                              </a:solidFill>
                              <a:latin typeface="Cambria Math" panose="02040503050406030204" pitchFamily="18" charset="0"/>
                            </a:rPr>
                            <m:t>)</m:t>
                          </m:r>
                        </m:e>
                        <m:sup>
                          <m:r>
                            <a:rPr lang="en-US" b="1" i="1">
                              <a:solidFill>
                                <a:srgbClr val="C00000"/>
                              </a:solidFill>
                              <a:latin typeface="Cambria Math" panose="02040503050406030204" pitchFamily="18" charset="0"/>
                            </a:rPr>
                            <m:t>∗</m:t>
                          </m:r>
                        </m:sup>
                      </m:sSup>
                      <m:r>
                        <a:rPr lang="en-IN" b="1" i="1">
                          <a:solidFill>
                            <a:srgbClr val="C00000"/>
                          </a:solidFill>
                          <a:latin typeface="Cambria Math" panose="02040503050406030204" pitchFamily="18" charset="0"/>
                        </a:rPr>
                        <m:t>𝟏𝟏</m:t>
                      </m:r>
                      <m:sSup>
                        <m:sSupPr>
                          <m:ctrlPr>
                            <a:rPr lang="en-US" b="1" i="1">
                              <a:solidFill>
                                <a:srgbClr val="C00000"/>
                              </a:solidFill>
                              <a:latin typeface="Cambria Math" panose="02040503050406030204" pitchFamily="18" charset="0"/>
                            </a:rPr>
                          </m:ctrlPr>
                        </m:sSupPr>
                        <m:e>
                          <m:r>
                            <a:rPr lang="en-IN" b="1" i="1">
                              <a:solidFill>
                                <a:srgbClr val="C00000"/>
                              </a:solidFill>
                              <a:latin typeface="Cambria Math" panose="02040503050406030204" pitchFamily="18" charset="0"/>
                            </a:rPr>
                            <m:t>(</m:t>
                          </m:r>
                          <m:r>
                            <a:rPr lang="en-IN" b="1" i="1">
                              <a:solidFill>
                                <a:srgbClr val="C00000"/>
                              </a:solidFill>
                              <a:latin typeface="Cambria Math" panose="02040503050406030204" pitchFamily="18" charset="0"/>
                            </a:rPr>
                            <m:t>𝟎</m:t>
                          </m:r>
                          <m:r>
                            <a:rPr lang="en-US" b="1" i="1">
                              <a:solidFill>
                                <a:srgbClr val="C00000"/>
                              </a:solidFill>
                              <a:latin typeface="Cambria Math" panose="02040503050406030204" pitchFamily="18" charset="0"/>
                            </a:rPr>
                            <m:t>|</m:t>
                          </m:r>
                          <m:r>
                            <a:rPr lang="en-IN" b="1" i="1">
                              <a:solidFill>
                                <a:srgbClr val="C00000"/>
                              </a:solidFill>
                              <a:latin typeface="Cambria Math" panose="02040503050406030204" pitchFamily="18" charset="0"/>
                            </a:rPr>
                            <m:t>𝟏</m:t>
                          </m:r>
                          <m:r>
                            <a:rPr lang="en-IN" b="1" i="1">
                              <a:solidFill>
                                <a:srgbClr val="C00000"/>
                              </a:solidFill>
                              <a:latin typeface="Cambria Math" panose="02040503050406030204" pitchFamily="18" charset="0"/>
                            </a:rPr>
                            <m:t>)</m:t>
                          </m:r>
                        </m:e>
                        <m:sup>
                          <m:r>
                            <a:rPr lang="en-US" b="1" i="1">
                              <a:solidFill>
                                <a:srgbClr val="C00000"/>
                              </a:solidFill>
                              <a:latin typeface="Cambria Math" panose="02040503050406030204" pitchFamily="18" charset="0"/>
                            </a:rPr>
                            <m:t>∗</m:t>
                          </m:r>
                        </m:sup>
                      </m:sSup>
                      <m:r>
                        <a:rPr lang="en-IN" b="1" i="1">
                          <a:solidFill>
                            <a:srgbClr val="C00000"/>
                          </a:solidFill>
                          <a:latin typeface="Cambria Math" panose="02040503050406030204" pitchFamily="18" charset="0"/>
                        </a:rPr>
                        <m:t>)</m:t>
                      </m:r>
                      <m:r>
                        <a:rPr lang="en-US" b="1" i="1">
                          <a:solidFill>
                            <a:srgbClr val="C00000"/>
                          </a:solidFill>
                          <a:latin typeface="Cambria Math" panose="02040503050406030204" pitchFamily="18" charset="0"/>
                        </a:rPr>
                        <m:t>   |</m:t>
                      </m:r>
                      <m:sSup>
                        <m:sSupPr>
                          <m:ctrlPr>
                            <a:rPr lang="en-US" b="1" i="1">
                              <a:solidFill>
                                <a:srgbClr val="C00000"/>
                              </a:solidFill>
                              <a:latin typeface="Cambria Math" panose="02040503050406030204" pitchFamily="18" charset="0"/>
                            </a:rPr>
                          </m:ctrlPr>
                        </m:sSupPr>
                        <m:e>
                          <m:r>
                            <a:rPr lang="en-US" b="1" i="1">
                              <a:solidFill>
                                <a:srgbClr val="C00000"/>
                              </a:solidFill>
                              <a:latin typeface="Cambria Math" panose="02040503050406030204" pitchFamily="18" charset="0"/>
                            </a:rPr>
                            <m:t>   </m:t>
                          </m:r>
                          <m:r>
                            <a:rPr lang="en-IN" b="1" i="1">
                              <a:solidFill>
                                <a:srgbClr val="C00000"/>
                              </a:solidFill>
                              <a:latin typeface="Cambria Math" panose="02040503050406030204" pitchFamily="18" charset="0"/>
                            </a:rPr>
                            <m:t>((</m:t>
                          </m:r>
                          <m:r>
                            <a:rPr lang="en-IN" b="1" i="1">
                              <a:solidFill>
                                <a:srgbClr val="C00000"/>
                              </a:solidFill>
                              <a:latin typeface="Cambria Math" panose="02040503050406030204" pitchFamily="18" charset="0"/>
                            </a:rPr>
                            <m:t>𝟎</m:t>
                          </m:r>
                          <m:r>
                            <a:rPr lang="en-US" b="1" i="1">
                              <a:solidFill>
                                <a:srgbClr val="C00000"/>
                              </a:solidFill>
                              <a:latin typeface="Cambria Math" panose="02040503050406030204" pitchFamily="18" charset="0"/>
                            </a:rPr>
                            <m:t>|</m:t>
                          </m:r>
                          <m:r>
                            <a:rPr lang="en-IN" b="1" i="1">
                              <a:solidFill>
                                <a:srgbClr val="C00000"/>
                              </a:solidFill>
                              <a:latin typeface="Cambria Math" panose="02040503050406030204" pitchFamily="18" charset="0"/>
                            </a:rPr>
                            <m:t>𝟏</m:t>
                          </m:r>
                          <m:r>
                            <a:rPr lang="en-IN" b="1" i="1">
                              <a:solidFill>
                                <a:srgbClr val="C00000"/>
                              </a:solidFill>
                              <a:latin typeface="Cambria Math" panose="02040503050406030204" pitchFamily="18" charset="0"/>
                            </a:rPr>
                            <m:t>)</m:t>
                          </m:r>
                        </m:e>
                        <m:sup>
                          <m:r>
                            <a:rPr lang="en-US" b="1" i="1">
                              <a:solidFill>
                                <a:srgbClr val="C00000"/>
                              </a:solidFill>
                              <a:latin typeface="Cambria Math" panose="02040503050406030204" pitchFamily="18" charset="0"/>
                            </a:rPr>
                            <m:t>∗</m:t>
                          </m:r>
                        </m:sup>
                      </m:sSup>
                      <m:r>
                        <a:rPr lang="en-IN" b="1" i="1">
                          <a:solidFill>
                            <a:srgbClr val="C00000"/>
                          </a:solidFill>
                          <a:latin typeface="Cambria Math" panose="02040503050406030204" pitchFamily="18" charset="0"/>
                        </a:rPr>
                        <m:t>𝟏𝟏</m:t>
                      </m:r>
                      <m:sSup>
                        <m:sSupPr>
                          <m:ctrlPr>
                            <a:rPr lang="en-US" b="1" i="1">
                              <a:solidFill>
                                <a:srgbClr val="C00000"/>
                              </a:solidFill>
                              <a:latin typeface="Cambria Math" panose="02040503050406030204" pitchFamily="18" charset="0"/>
                            </a:rPr>
                          </m:ctrlPr>
                        </m:sSupPr>
                        <m:e>
                          <m:r>
                            <a:rPr lang="en-IN" b="1" i="1">
                              <a:solidFill>
                                <a:srgbClr val="C00000"/>
                              </a:solidFill>
                              <a:latin typeface="Cambria Math" panose="02040503050406030204" pitchFamily="18" charset="0"/>
                            </a:rPr>
                            <m:t>(</m:t>
                          </m:r>
                          <m:r>
                            <a:rPr lang="en-IN" b="1" i="1">
                              <a:solidFill>
                                <a:srgbClr val="C00000"/>
                              </a:solidFill>
                              <a:latin typeface="Cambria Math" panose="02040503050406030204" pitchFamily="18" charset="0"/>
                            </a:rPr>
                            <m:t>𝟎</m:t>
                          </m:r>
                          <m:r>
                            <a:rPr lang="en-US" b="1" i="1">
                              <a:solidFill>
                                <a:srgbClr val="C00000"/>
                              </a:solidFill>
                              <a:latin typeface="Cambria Math" panose="02040503050406030204" pitchFamily="18" charset="0"/>
                            </a:rPr>
                            <m:t>|</m:t>
                          </m:r>
                          <m:r>
                            <a:rPr lang="en-IN" b="1" i="1">
                              <a:solidFill>
                                <a:srgbClr val="C00000"/>
                              </a:solidFill>
                              <a:latin typeface="Cambria Math" panose="02040503050406030204" pitchFamily="18" charset="0"/>
                            </a:rPr>
                            <m:t>𝟏</m:t>
                          </m:r>
                          <m:r>
                            <a:rPr lang="en-IN" b="1" i="1">
                              <a:solidFill>
                                <a:srgbClr val="C00000"/>
                              </a:solidFill>
                              <a:latin typeface="Cambria Math" panose="02040503050406030204" pitchFamily="18" charset="0"/>
                            </a:rPr>
                            <m:t>)</m:t>
                          </m:r>
                        </m:e>
                        <m:sup>
                          <m:r>
                            <a:rPr lang="en-US" b="1" i="1">
                              <a:solidFill>
                                <a:srgbClr val="C00000"/>
                              </a:solidFill>
                              <a:latin typeface="Cambria Math" panose="02040503050406030204" pitchFamily="18" charset="0"/>
                            </a:rPr>
                            <m:t>∗</m:t>
                          </m:r>
                        </m:sup>
                      </m:sSup>
                      <m:r>
                        <a:rPr lang="en-IN" b="1" i="1">
                          <a:solidFill>
                            <a:srgbClr val="C00000"/>
                          </a:solidFill>
                          <a:latin typeface="Cambria Math" panose="02040503050406030204" pitchFamily="18" charset="0"/>
                        </a:rPr>
                        <m:t>𝟎𝟎</m:t>
                      </m:r>
                      <m:sSup>
                        <m:sSupPr>
                          <m:ctrlPr>
                            <a:rPr lang="en-US" b="1" i="1">
                              <a:solidFill>
                                <a:srgbClr val="C00000"/>
                              </a:solidFill>
                              <a:latin typeface="Cambria Math" panose="02040503050406030204" pitchFamily="18" charset="0"/>
                            </a:rPr>
                          </m:ctrlPr>
                        </m:sSupPr>
                        <m:e>
                          <m:r>
                            <a:rPr lang="en-IN" b="1" i="1">
                              <a:solidFill>
                                <a:srgbClr val="C00000"/>
                              </a:solidFill>
                              <a:latin typeface="Cambria Math" panose="02040503050406030204" pitchFamily="18" charset="0"/>
                            </a:rPr>
                            <m:t>(</m:t>
                          </m:r>
                          <m:r>
                            <a:rPr lang="en-IN" b="1" i="1">
                              <a:solidFill>
                                <a:srgbClr val="C00000"/>
                              </a:solidFill>
                              <a:latin typeface="Cambria Math" panose="02040503050406030204" pitchFamily="18" charset="0"/>
                            </a:rPr>
                            <m:t>𝟎</m:t>
                          </m:r>
                          <m:r>
                            <a:rPr lang="en-US" b="1" i="1">
                              <a:solidFill>
                                <a:srgbClr val="C00000"/>
                              </a:solidFill>
                              <a:latin typeface="Cambria Math" panose="02040503050406030204" pitchFamily="18" charset="0"/>
                            </a:rPr>
                            <m:t>|</m:t>
                          </m:r>
                          <m:r>
                            <a:rPr lang="en-IN" b="1" i="1">
                              <a:solidFill>
                                <a:srgbClr val="C00000"/>
                              </a:solidFill>
                              <a:latin typeface="Cambria Math" panose="02040503050406030204" pitchFamily="18" charset="0"/>
                            </a:rPr>
                            <m:t>𝟏</m:t>
                          </m:r>
                          <m:r>
                            <a:rPr lang="en-IN" b="1" i="1">
                              <a:solidFill>
                                <a:srgbClr val="C00000"/>
                              </a:solidFill>
                              <a:latin typeface="Cambria Math" panose="02040503050406030204" pitchFamily="18" charset="0"/>
                            </a:rPr>
                            <m:t>)</m:t>
                          </m:r>
                        </m:e>
                        <m:sup>
                          <m:r>
                            <a:rPr lang="en-US" b="1" i="1">
                              <a:solidFill>
                                <a:srgbClr val="C00000"/>
                              </a:solidFill>
                              <a:latin typeface="Cambria Math" panose="02040503050406030204" pitchFamily="18" charset="0"/>
                            </a:rPr>
                            <m:t>∗</m:t>
                          </m:r>
                        </m:sup>
                      </m:sSup>
                      <m:r>
                        <a:rPr lang="en-IN" b="1" i="1">
                          <a:solidFill>
                            <a:srgbClr val="C00000"/>
                          </a:solidFill>
                          <a:latin typeface="Cambria Math" panose="02040503050406030204" pitchFamily="18" charset="0"/>
                        </a:rPr>
                        <m:t>)</m:t>
                      </m:r>
                    </m:oMath>
                  </m:oMathPara>
                </a14:m>
                <a:endParaRPr lang="en-US" b="1">
                  <a:solidFill>
                    <a:srgbClr val="C00000"/>
                  </a:solidFill>
                </a:endParaRPr>
              </a:p>
              <a:p>
                <a:pPr algn="just"/>
                <a:endParaRPr lang="en-US" b="1" baseline="30000">
                  <a:solidFill>
                    <a:srgbClr val="C00000"/>
                  </a:solidFill>
                </a:endParaRPr>
              </a:p>
            </p:txBody>
          </p:sp>
        </mc:Choice>
        <mc:Fallback xmlns="">
          <p:sp>
            <p:nvSpPr>
              <p:cNvPr id="5" name="Rectangle 4">
                <a:extLst>
                  <a:ext uri="{FF2B5EF4-FFF2-40B4-BE49-F238E27FC236}">
                    <a16:creationId xmlns:a16="http://schemas.microsoft.com/office/drawing/2014/main" id="{0E7B13EF-EBFE-E60A-B665-544673973AC5}"/>
                  </a:ext>
                </a:extLst>
              </p:cNvPr>
              <p:cNvSpPr>
                <a:spLocks noRot="1" noChangeAspect="1" noMove="1" noResize="1" noEditPoints="1" noAdjustHandles="1" noChangeArrowheads="1" noChangeShapeType="1" noTextEdit="1"/>
              </p:cNvSpPr>
              <p:nvPr/>
            </p:nvSpPr>
            <p:spPr>
              <a:xfrm>
                <a:off x="5296535" y="1304285"/>
                <a:ext cx="6764286" cy="608533"/>
              </a:xfrm>
              <a:prstGeom prst="rect">
                <a:avLst/>
              </a:prstGeom>
              <a:blipFill>
                <a:blip r:embed="rId3"/>
                <a:stretch>
                  <a:fillRect/>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F7AF7438-4646-CAFC-0698-3605B175C93A}"/>
                  </a:ext>
                </a:extLst>
              </p:cNvPr>
              <p:cNvSpPr/>
              <p:nvPr/>
            </p:nvSpPr>
            <p:spPr>
              <a:xfrm>
                <a:off x="568853" y="2234142"/>
                <a:ext cx="3200400" cy="6085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14:m>
                  <m:oMathPara xmlns:m="http://schemas.openxmlformats.org/officeDocument/2006/math">
                    <m:oMathParaPr>
                      <m:jc m:val="centerGroup"/>
                    </m:oMathParaPr>
                    <m:oMath xmlns:m="http://schemas.openxmlformats.org/officeDocument/2006/math">
                      <m:r>
                        <a:rPr lang="en-US" b="1" i="1" smtClean="0">
                          <a:solidFill>
                            <a:srgbClr val="0E47A1"/>
                          </a:solidFill>
                          <a:latin typeface="Cambria Math" panose="02040503050406030204" pitchFamily="18" charset="0"/>
                        </a:rPr>
                        <m:t>𝑺𝒕𝒓𝒊𝒏𝒈𝒔</m:t>
                      </m:r>
                      <m:r>
                        <a:rPr lang="en-US" b="1" i="1" smtClean="0">
                          <a:solidFill>
                            <a:srgbClr val="0E47A1"/>
                          </a:solidFill>
                          <a:latin typeface="Cambria Math" panose="02040503050406030204" pitchFamily="18" charset="0"/>
                        </a:rPr>
                        <m:t>: </m:t>
                      </m:r>
                      <m:r>
                        <a:rPr lang="en-US" b="1" i="1" smtClean="0">
                          <a:solidFill>
                            <a:srgbClr val="0E47A1"/>
                          </a:solidFill>
                          <a:latin typeface="Cambria Math" panose="02040503050406030204" pitchFamily="18" charset="0"/>
                        </a:rPr>
                        <m:t>𝟎𝟏𝟏</m:t>
                      </m:r>
                      <m:r>
                        <a:rPr lang="en-US" b="1" i="1" smtClean="0">
                          <a:solidFill>
                            <a:srgbClr val="0E47A1"/>
                          </a:solidFill>
                          <a:latin typeface="Cambria Math" panose="02040503050406030204" pitchFamily="18" charset="0"/>
                        </a:rPr>
                        <m:t>, </m:t>
                      </m:r>
                      <m:r>
                        <a:rPr lang="en-US" b="1" i="1" smtClean="0">
                          <a:solidFill>
                            <a:srgbClr val="0E47A1"/>
                          </a:solidFill>
                          <a:latin typeface="Cambria Math" panose="02040503050406030204" pitchFamily="18" charset="0"/>
                        </a:rPr>
                        <m:t>𝟏𝟏𝟎𝟏</m:t>
                      </m:r>
                      <m:r>
                        <a:rPr lang="en-US" b="1" i="1" smtClean="0">
                          <a:solidFill>
                            <a:srgbClr val="0E47A1"/>
                          </a:solidFill>
                          <a:latin typeface="Cambria Math" panose="02040503050406030204" pitchFamily="18" charset="0"/>
                        </a:rPr>
                        <m:t>,</m:t>
                      </m:r>
                      <m:r>
                        <a:rPr lang="en-US" b="1" i="1" smtClean="0">
                          <a:solidFill>
                            <a:srgbClr val="0E47A1"/>
                          </a:solidFill>
                          <a:latin typeface="Cambria Math" panose="02040503050406030204" pitchFamily="18" charset="0"/>
                        </a:rPr>
                        <m:t>𝟏𝟎𝟏𝟏</m:t>
                      </m:r>
                      <m:r>
                        <a:rPr lang="en-US" b="1" i="1" smtClean="0">
                          <a:solidFill>
                            <a:srgbClr val="0E47A1"/>
                          </a:solidFill>
                          <a:latin typeface="Cambria Math" panose="02040503050406030204" pitchFamily="18" charset="0"/>
                        </a:rPr>
                        <m:t>….</m:t>
                      </m:r>
                    </m:oMath>
                  </m:oMathPara>
                </a14:m>
                <a:endParaRPr lang="en-US" b="1">
                  <a:solidFill>
                    <a:srgbClr val="0E47A1"/>
                  </a:solidFill>
                  <a:latin typeface="+mj-lt"/>
                </a:endParaRPr>
              </a:p>
            </p:txBody>
          </p:sp>
        </mc:Choice>
        <mc:Fallback xmlns="">
          <p:sp>
            <p:nvSpPr>
              <p:cNvPr id="6" name="Rectangle 5">
                <a:extLst>
                  <a:ext uri="{FF2B5EF4-FFF2-40B4-BE49-F238E27FC236}">
                    <a16:creationId xmlns:a16="http://schemas.microsoft.com/office/drawing/2014/main" id="{F7AF7438-4646-CAFC-0698-3605B175C93A}"/>
                  </a:ext>
                </a:extLst>
              </p:cNvPr>
              <p:cNvSpPr>
                <a:spLocks noRot="1" noChangeAspect="1" noMove="1" noResize="1" noEditPoints="1" noAdjustHandles="1" noChangeArrowheads="1" noChangeShapeType="1" noTextEdit="1"/>
              </p:cNvSpPr>
              <p:nvPr/>
            </p:nvSpPr>
            <p:spPr>
              <a:xfrm>
                <a:off x="568853" y="2234142"/>
                <a:ext cx="3200400" cy="608533"/>
              </a:xfrm>
              <a:prstGeom prst="rect">
                <a:avLst/>
              </a:prstGeom>
              <a:blipFill>
                <a:blip r:embed="rId4"/>
                <a:stretch>
                  <a:fillRect/>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0DD50D9A-7C07-B1A5-47A8-ED33CC142584}"/>
                  </a:ext>
                </a:extLst>
              </p:cNvPr>
              <p:cNvSpPr/>
              <p:nvPr/>
            </p:nvSpPr>
            <p:spPr>
              <a:xfrm>
                <a:off x="3897589" y="2296313"/>
                <a:ext cx="4389664" cy="6085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14:m>
                  <m:oMathPara xmlns:m="http://schemas.openxmlformats.org/officeDocument/2006/math">
                    <m:oMathParaPr>
                      <m:jc m:val="centerGroup"/>
                    </m:oMathParaPr>
                    <m:oMath xmlns:m="http://schemas.openxmlformats.org/officeDocument/2006/math">
                      <m:r>
                        <a:rPr lang="en-US" b="1" i="1" smtClean="0">
                          <a:solidFill>
                            <a:srgbClr val="C00000"/>
                          </a:solidFill>
                          <a:latin typeface="Cambria Math" panose="02040503050406030204" pitchFamily="18" charset="0"/>
                        </a:rPr>
                        <m:t>𝑹</m:t>
                      </m:r>
                      <m:r>
                        <a:rPr lang="en-US" b="1" i="1" smtClean="0">
                          <a:solidFill>
                            <a:srgbClr val="C00000"/>
                          </a:solidFill>
                          <a:latin typeface="Cambria Math" panose="02040503050406030204" pitchFamily="18" charset="0"/>
                        </a:rPr>
                        <m:t>.</m:t>
                      </m:r>
                      <m:r>
                        <a:rPr lang="en-US" b="1" i="1" smtClean="0">
                          <a:solidFill>
                            <a:srgbClr val="C00000"/>
                          </a:solidFill>
                          <a:latin typeface="Cambria Math" panose="02040503050406030204" pitchFamily="18" charset="0"/>
                        </a:rPr>
                        <m:t>𝑬</m:t>
                      </m:r>
                      <m:r>
                        <a:rPr lang="en-US" b="1" i="1" smtClean="0">
                          <a:solidFill>
                            <a:srgbClr val="C00000"/>
                          </a:solidFill>
                          <a:latin typeface="Cambria Math" panose="02040503050406030204" pitchFamily="18" charset="0"/>
                        </a:rPr>
                        <m:t>. =</m:t>
                      </m:r>
                      <m:d>
                        <m:dPr>
                          <m:ctrlPr>
                            <a:rPr lang="en-US" b="1" i="1" smtClean="0">
                              <a:solidFill>
                                <a:srgbClr val="C00000"/>
                              </a:solidFill>
                              <a:latin typeface="Cambria Math" panose="02040503050406030204" pitchFamily="18" charset="0"/>
                            </a:rPr>
                          </m:ctrlPr>
                        </m:dPr>
                        <m:e>
                          <m:r>
                            <a:rPr lang="en-US" b="1" i="1" smtClean="0">
                              <a:solidFill>
                                <a:srgbClr val="C00000"/>
                              </a:solidFill>
                              <a:latin typeface="Cambria Math" panose="02040503050406030204" pitchFamily="18" charset="0"/>
                            </a:rPr>
                            <m:t>𝟏</m:t>
                          </m:r>
                        </m:e>
                        <m:e>
                          <m:r>
                            <a:rPr lang="en-US" b="1" i="1" smtClean="0">
                              <a:solidFill>
                                <a:srgbClr val="C00000"/>
                              </a:solidFill>
                              <a:latin typeface="Cambria Math" panose="02040503050406030204" pitchFamily="18" charset="0"/>
                            </a:rPr>
                            <m:t>𝟎𝟏</m:t>
                          </m:r>
                        </m:e>
                      </m:d>
                      <m:r>
                        <a:rPr lang="en-US" b="1" i="1" baseline="30000" smtClean="0">
                          <a:solidFill>
                            <a:srgbClr val="C00000"/>
                          </a:solidFill>
                          <a:latin typeface="Cambria Math" panose="02040503050406030204" pitchFamily="18" charset="0"/>
                        </a:rPr>
                        <m:t>+</m:t>
                      </m:r>
                    </m:oMath>
                  </m:oMathPara>
                </a14:m>
                <a:endParaRPr lang="en-US" b="1" baseline="30000">
                  <a:solidFill>
                    <a:srgbClr val="C00000"/>
                  </a:solidFill>
                  <a:latin typeface="+mj-lt"/>
                </a:endParaRPr>
              </a:p>
            </p:txBody>
          </p:sp>
        </mc:Choice>
        <mc:Fallback xmlns="">
          <p:sp>
            <p:nvSpPr>
              <p:cNvPr id="7" name="Rectangle 6">
                <a:extLst>
                  <a:ext uri="{FF2B5EF4-FFF2-40B4-BE49-F238E27FC236}">
                    <a16:creationId xmlns:a16="http://schemas.microsoft.com/office/drawing/2014/main" id="{0DD50D9A-7C07-B1A5-47A8-ED33CC142584}"/>
                  </a:ext>
                </a:extLst>
              </p:cNvPr>
              <p:cNvSpPr>
                <a:spLocks noRot="1" noChangeAspect="1" noMove="1" noResize="1" noEditPoints="1" noAdjustHandles="1" noChangeArrowheads="1" noChangeShapeType="1" noTextEdit="1"/>
              </p:cNvSpPr>
              <p:nvPr/>
            </p:nvSpPr>
            <p:spPr>
              <a:xfrm>
                <a:off x="3897589" y="2296313"/>
                <a:ext cx="4389664" cy="608533"/>
              </a:xfrm>
              <a:prstGeom prst="rect">
                <a:avLst/>
              </a:prstGeom>
              <a:blipFill>
                <a:blip r:embed="rId5"/>
                <a:stretch>
                  <a:fillRect/>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B174D933-02CC-B742-A45C-862CB9B13F3A}"/>
                  </a:ext>
                </a:extLst>
              </p:cNvPr>
              <p:cNvSpPr/>
              <p:nvPr/>
            </p:nvSpPr>
            <p:spPr>
              <a:xfrm>
                <a:off x="4480329" y="3218878"/>
                <a:ext cx="4389664" cy="6085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14:m>
                  <m:oMathPara xmlns:m="http://schemas.openxmlformats.org/officeDocument/2006/math">
                    <m:oMathParaPr>
                      <m:jc m:val="centerGroup"/>
                    </m:oMathParaPr>
                    <m:oMath xmlns:m="http://schemas.openxmlformats.org/officeDocument/2006/math">
                      <m:r>
                        <a:rPr lang="en-US" b="1" i="1" smtClean="0">
                          <a:solidFill>
                            <a:srgbClr val="C00000"/>
                          </a:solidFill>
                          <a:latin typeface="Cambria Math" panose="02040503050406030204" pitchFamily="18" charset="0"/>
                        </a:rPr>
                        <m:t>𝑹</m:t>
                      </m:r>
                      <m:r>
                        <a:rPr lang="en-US" b="1" i="1" smtClean="0">
                          <a:solidFill>
                            <a:srgbClr val="C00000"/>
                          </a:solidFill>
                          <a:latin typeface="Cambria Math" panose="02040503050406030204" pitchFamily="18" charset="0"/>
                        </a:rPr>
                        <m:t>.</m:t>
                      </m:r>
                      <m:r>
                        <a:rPr lang="en-US" b="1" i="1" smtClean="0">
                          <a:solidFill>
                            <a:srgbClr val="C00000"/>
                          </a:solidFill>
                          <a:latin typeface="Cambria Math" panose="02040503050406030204" pitchFamily="18" charset="0"/>
                        </a:rPr>
                        <m:t>𝑬</m:t>
                      </m:r>
                      <m:r>
                        <a:rPr lang="en-US" b="1" i="1" smtClean="0">
                          <a:solidFill>
                            <a:srgbClr val="C00000"/>
                          </a:solidFill>
                          <a:latin typeface="Cambria Math" panose="02040503050406030204" pitchFamily="18" charset="0"/>
                        </a:rPr>
                        <m:t>. =</m:t>
                      </m:r>
                      <m:sSup>
                        <m:sSupPr>
                          <m:ctrlPr>
                            <a:rPr lang="en-US" b="1" i="1">
                              <a:solidFill>
                                <a:srgbClr val="C00000"/>
                              </a:solidFill>
                              <a:latin typeface="Cambria Math" panose="02040503050406030204" pitchFamily="18" charset="0"/>
                            </a:rPr>
                          </m:ctrlPr>
                        </m:sSupPr>
                        <m:e>
                          <m:r>
                            <a:rPr lang="en-IN" b="1" i="1">
                              <a:solidFill>
                                <a:srgbClr val="C00000"/>
                              </a:solidFill>
                              <a:latin typeface="Cambria Math" panose="02040503050406030204" pitchFamily="18" charset="0"/>
                            </a:rPr>
                            <m:t>(_+</m:t>
                          </m:r>
                          <m:r>
                            <a:rPr lang="en-IN" b="1" i="1">
                              <a:solidFill>
                                <a:srgbClr val="C00000"/>
                              </a:solidFill>
                              <a:latin typeface="Cambria Math" panose="02040503050406030204" pitchFamily="18" charset="0"/>
                            </a:rPr>
                            <m:t>𝑳</m:t>
                          </m:r>
                          <m:r>
                            <a:rPr lang="en-IN" b="1" i="1">
                              <a:solidFill>
                                <a:srgbClr val="C00000"/>
                              </a:solidFill>
                              <a:latin typeface="Cambria Math" panose="02040503050406030204" pitchFamily="18" charset="0"/>
                            </a:rPr>
                            <m:t>)(_ + </m:t>
                          </m:r>
                          <m:r>
                            <a:rPr lang="en-IN" b="1" i="1">
                              <a:solidFill>
                                <a:srgbClr val="C00000"/>
                              </a:solidFill>
                              <a:latin typeface="Cambria Math" panose="02040503050406030204" pitchFamily="18" charset="0"/>
                            </a:rPr>
                            <m:t>𝑳</m:t>
                          </m:r>
                          <m:r>
                            <a:rPr lang="en-IN" b="1" i="1">
                              <a:solidFill>
                                <a:srgbClr val="C00000"/>
                              </a:solidFill>
                              <a:latin typeface="Cambria Math" panose="02040503050406030204" pitchFamily="18" charset="0"/>
                            </a:rPr>
                            <m:t> +</m:t>
                          </m:r>
                          <m:r>
                            <a:rPr lang="en-IN" b="1" i="1">
                              <a:solidFill>
                                <a:srgbClr val="C00000"/>
                              </a:solidFill>
                              <a:latin typeface="Cambria Math" panose="02040503050406030204" pitchFamily="18" charset="0"/>
                            </a:rPr>
                            <m:t>𝑫</m:t>
                          </m:r>
                          <m:r>
                            <a:rPr lang="en-IN" b="1" i="1">
                              <a:solidFill>
                                <a:srgbClr val="C00000"/>
                              </a:solidFill>
                              <a:latin typeface="Cambria Math" panose="02040503050406030204" pitchFamily="18" charset="0"/>
                            </a:rPr>
                            <m:t>)</m:t>
                          </m:r>
                        </m:e>
                        <m:sup>
                          <m:r>
                            <a:rPr lang="en-US" b="1" i="1">
                              <a:solidFill>
                                <a:srgbClr val="C00000"/>
                              </a:solidFill>
                              <a:latin typeface="Cambria Math" panose="02040503050406030204" pitchFamily="18" charset="0"/>
                            </a:rPr>
                            <m:t>∗</m:t>
                          </m:r>
                        </m:sup>
                      </m:sSup>
                    </m:oMath>
                  </m:oMathPara>
                </a14:m>
                <a:endParaRPr lang="en-US" b="1" baseline="30000">
                  <a:solidFill>
                    <a:srgbClr val="C00000"/>
                  </a:solidFill>
                  <a:latin typeface="+mj-lt"/>
                </a:endParaRPr>
              </a:p>
            </p:txBody>
          </p:sp>
        </mc:Choice>
        <mc:Fallback xmlns="">
          <p:sp>
            <p:nvSpPr>
              <p:cNvPr id="8" name="Rectangle 7">
                <a:extLst>
                  <a:ext uri="{FF2B5EF4-FFF2-40B4-BE49-F238E27FC236}">
                    <a16:creationId xmlns:a16="http://schemas.microsoft.com/office/drawing/2014/main" id="{B174D933-02CC-B742-A45C-862CB9B13F3A}"/>
                  </a:ext>
                </a:extLst>
              </p:cNvPr>
              <p:cNvSpPr>
                <a:spLocks noRot="1" noChangeAspect="1" noMove="1" noResize="1" noEditPoints="1" noAdjustHandles="1" noChangeArrowheads="1" noChangeShapeType="1" noTextEdit="1"/>
              </p:cNvSpPr>
              <p:nvPr/>
            </p:nvSpPr>
            <p:spPr>
              <a:xfrm>
                <a:off x="4480329" y="3218878"/>
                <a:ext cx="4389664" cy="608533"/>
              </a:xfrm>
              <a:prstGeom prst="rect">
                <a:avLst/>
              </a:prstGeom>
              <a:blipFill>
                <a:blip r:embed="rId6"/>
                <a:stretch>
                  <a:fillRect/>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88404651-0155-A95B-AA2F-F3993EA39AB5}"/>
                  </a:ext>
                </a:extLst>
              </p:cNvPr>
              <p:cNvSpPr/>
              <p:nvPr/>
            </p:nvSpPr>
            <p:spPr>
              <a:xfrm>
                <a:off x="568853" y="3218879"/>
                <a:ext cx="3200400" cy="6085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14:m>
                  <m:oMathPara xmlns:m="http://schemas.openxmlformats.org/officeDocument/2006/math">
                    <m:oMathParaPr>
                      <m:jc m:val="centerGroup"/>
                    </m:oMathParaPr>
                    <m:oMath xmlns:m="http://schemas.openxmlformats.org/officeDocument/2006/math">
                      <m:r>
                        <a:rPr lang="en-US" b="1" i="1" smtClean="0">
                          <a:solidFill>
                            <a:srgbClr val="0E47A1"/>
                          </a:solidFill>
                          <a:latin typeface="Cambria Math" panose="02040503050406030204" pitchFamily="18" charset="0"/>
                        </a:rPr>
                        <m:t>𝑺𝒕𝒓𝒊𝒏𝒈𝒔</m:t>
                      </m:r>
                      <m:r>
                        <a:rPr lang="en-US" b="1" i="1" smtClean="0">
                          <a:solidFill>
                            <a:srgbClr val="0E47A1"/>
                          </a:solidFill>
                          <a:latin typeface="Cambria Math" panose="02040503050406030204" pitchFamily="18" charset="0"/>
                        </a:rPr>
                        <m:t>:</m:t>
                      </m:r>
                      <m:r>
                        <a:rPr lang="en-US" b="1" i="1" smtClean="0">
                          <a:solidFill>
                            <a:srgbClr val="0E47A1"/>
                          </a:solidFill>
                          <a:latin typeface="Cambria Math" panose="02040503050406030204" pitchFamily="18" charset="0"/>
                        </a:rPr>
                        <m:t>𝒂𝒓𝒆𝒂</m:t>
                      </m:r>
                      <m:r>
                        <a:rPr lang="en-US" b="1" i="1" smtClean="0">
                          <a:solidFill>
                            <a:srgbClr val="0E47A1"/>
                          </a:solidFill>
                          <a:latin typeface="Cambria Math" panose="02040503050406030204" pitchFamily="18" charset="0"/>
                        </a:rPr>
                        <m:t>, </m:t>
                      </m:r>
                      <m:r>
                        <a:rPr lang="en-US" b="1" i="1" smtClean="0">
                          <a:solidFill>
                            <a:srgbClr val="0E47A1"/>
                          </a:solidFill>
                          <a:latin typeface="Cambria Math" panose="02040503050406030204" pitchFamily="18" charset="0"/>
                        </a:rPr>
                        <m:t>𝒊</m:t>
                      </m:r>
                      <m:r>
                        <a:rPr lang="en-US" b="1" i="1" smtClean="0">
                          <a:solidFill>
                            <a:srgbClr val="0E47A1"/>
                          </a:solidFill>
                          <a:latin typeface="Cambria Math" panose="02040503050406030204" pitchFamily="18" charset="0"/>
                        </a:rPr>
                        <m:t>, </m:t>
                      </m:r>
                      <m:r>
                        <a:rPr lang="en-US" b="1" i="1" smtClean="0">
                          <a:solidFill>
                            <a:srgbClr val="0E47A1"/>
                          </a:solidFill>
                          <a:latin typeface="Cambria Math" panose="02040503050406030204" pitchFamily="18" charset="0"/>
                        </a:rPr>
                        <m:t>𝒓𝒆𝒅𝒊𝒐𝒖𝒔</m:t>
                      </m:r>
                      <m:r>
                        <a:rPr lang="en-US" b="1" i="1" smtClean="0">
                          <a:solidFill>
                            <a:srgbClr val="0E47A1"/>
                          </a:solidFill>
                          <a:latin typeface="Cambria Math" panose="02040503050406030204" pitchFamily="18" charset="0"/>
                        </a:rPr>
                        <m:t>, </m:t>
                      </m:r>
                      <m:r>
                        <a:rPr lang="en-US" b="1" i="1" smtClean="0">
                          <a:solidFill>
                            <a:srgbClr val="0E47A1"/>
                          </a:solidFill>
                          <a:latin typeface="Cambria Math" panose="02040503050406030204" pitchFamily="18" charset="0"/>
                        </a:rPr>
                        <m:t>𝒈𝒓𝒂𝒅𝒆</m:t>
                      </m:r>
                      <m:r>
                        <a:rPr lang="en-US" b="1" i="1" smtClean="0">
                          <a:solidFill>
                            <a:srgbClr val="0E47A1"/>
                          </a:solidFill>
                          <a:latin typeface="Cambria Math" panose="02040503050406030204" pitchFamily="18" charset="0"/>
                        </a:rPr>
                        <m:t>𝟏</m:t>
                      </m:r>
                      <m:r>
                        <a:rPr lang="en-US" b="1" i="1" smtClean="0">
                          <a:solidFill>
                            <a:srgbClr val="0E47A1"/>
                          </a:solidFill>
                          <a:latin typeface="Cambria Math" panose="02040503050406030204" pitchFamily="18" charset="0"/>
                        </a:rPr>
                        <m:t>….</m:t>
                      </m:r>
                    </m:oMath>
                  </m:oMathPara>
                </a14:m>
                <a:endParaRPr lang="en-US" b="1">
                  <a:solidFill>
                    <a:srgbClr val="0E47A1"/>
                  </a:solidFill>
                  <a:latin typeface="+mj-lt"/>
                </a:endParaRPr>
              </a:p>
            </p:txBody>
          </p:sp>
        </mc:Choice>
        <mc:Fallback xmlns="">
          <p:sp>
            <p:nvSpPr>
              <p:cNvPr id="9" name="Rectangle 8">
                <a:extLst>
                  <a:ext uri="{FF2B5EF4-FFF2-40B4-BE49-F238E27FC236}">
                    <a16:creationId xmlns:a16="http://schemas.microsoft.com/office/drawing/2014/main" id="{88404651-0155-A95B-AA2F-F3993EA39AB5}"/>
                  </a:ext>
                </a:extLst>
              </p:cNvPr>
              <p:cNvSpPr>
                <a:spLocks noRot="1" noChangeAspect="1" noMove="1" noResize="1" noEditPoints="1" noAdjustHandles="1" noChangeArrowheads="1" noChangeShapeType="1" noTextEdit="1"/>
              </p:cNvSpPr>
              <p:nvPr/>
            </p:nvSpPr>
            <p:spPr>
              <a:xfrm>
                <a:off x="568853" y="3218879"/>
                <a:ext cx="3200400" cy="608533"/>
              </a:xfrm>
              <a:prstGeom prst="rect">
                <a:avLst/>
              </a:prstGeom>
              <a:blipFill>
                <a:blip r:embed="rId7"/>
                <a:stretch>
                  <a:fillRect l="-381" r="-22667"/>
                </a:stretch>
              </a:blipFill>
              <a:ln>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F88CA060-83B2-730A-09C0-E0E1AE68A071}"/>
                  </a:ext>
                </a:extLst>
              </p:cNvPr>
              <p:cNvSpPr/>
              <p:nvPr/>
            </p:nvSpPr>
            <p:spPr>
              <a:xfrm>
                <a:off x="4640806" y="3675387"/>
                <a:ext cx="4389664" cy="6085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14:m>
                  <m:oMathPara xmlns:m="http://schemas.openxmlformats.org/officeDocument/2006/math">
                    <m:oMathParaPr>
                      <m:jc m:val="centerGroup"/>
                    </m:oMathParaPr>
                    <m:oMath xmlns:m="http://schemas.openxmlformats.org/officeDocument/2006/math">
                      <m:r>
                        <a:rPr lang="en-US" b="1" i="1" smtClean="0">
                          <a:solidFill>
                            <a:srgbClr val="C00000"/>
                          </a:solidFill>
                          <a:latin typeface="Cambria Math" panose="02040503050406030204" pitchFamily="18" charset="0"/>
                        </a:rPr>
                        <m:t>𝒘𝒉𝒆𝒓𝒆</m:t>
                      </m:r>
                      <m:r>
                        <a:rPr lang="en-US" b="1" i="1" smtClean="0">
                          <a:solidFill>
                            <a:srgbClr val="C00000"/>
                          </a:solidFill>
                          <a:latin typeface="Cambria Math" panose="02040503050406030204" pitchFamily="18" charset="0"/>
                        </a:rPr>
                        <m:t> </m:t>
                      </m:r>
                      <m:r>
                        <a:rPr lang="en-US" b="1" i="1" smtClean="0">
                          <a:solidFill>
                            <a:srgbClr val="C00000"/>
                          </a:solidFill>
                          <a:latin typeface="Cambria Math" panose="02040503050406030204" pitchFamily="18" charset="0"/>
                        </a:rPr>
                        <m:t>𝑳</m:t>
                      </m:r>
                      <m:r>
                        <a:rPr lang="en-US" b="1" i="1" smtClean="0">
                          <a:solidFill>
                            <a:srgbClr val="C00000"/>
                          </a:solidFill>
                          <a:latin typeface="Cambria Math" panose="02040503050406030204" pitchFamily="18" charset="0"/>
                        </a:rPr>
                        <m:t> </m:t>
                      </m:r>
                      <m:r>
                        <a:rPr lang="en-US" b="1" i="1" smtClean="0">
                          <a:solidFill>
                            <a:srgbClr val="C00000"/>
                          </a:solidFill>
                          <a:latin typeface="Cambria Math" panose="02040503050406030204" pitchFamily="18" charset="0"/>
                        </a:rPr>
                        <m:t>𝒊𝒔</m:t>
                      </m:r>
                      <m:r>
                        <a:rPr lang="en-US" b="1" i="1" smtClean="0">
                          <a:solidFill>
                            <a:srgbClr val="C00000"/>
                          </a:solidFill>
                          <a:latin typeface="Cambria Math" panose="02040503050406030204" pitchFamily="18" charset="0"/>
                        </a:rPr>
                        <m:t> </m:t>
                      </m:r>
                      <m:r>
                        <a:rPr lang="en-US" b="1" i="1" smtClean="0">
                          <a:solidFill>
                            <a:srgbClr val="C00000"/>
                          </a:solidFill>
                          <a:latin typeface="Cambria Math" panose="02040503050406030204" pitchFamily="18" charset="0"/>
                        </a:rPr>
                        <m:t>𝑳𝒆𝒕𝒕𝒆𝒓</m:t>
                      </m:r>
                      <m:r>
                        <a:rPr lang="en-US" b="1" i="1" smtClean="0">
                          <a:solidFill>
                            <a:srgbClr val="C00000"/>
                          </a:solidFill>
                          <a:latin typeface="Cambria Math" panose="02040503050406030204" pitchFamily="18" charset="0"/>
                        </a:rPr>
                        <m:t> </m:t>
                      </m:r>
                      <m:r>
                        <a:rPr lang="en-US" b="1" i="0" smtClean="0">
                          <a:solidFill>
                            <a:srgbClr val="C00000"/>
                          </a:solidFill>
                          <a:latin typeface="Cambria Math" panose="02040503050406030204" pitchFamily="18" charset="0"/>
                        </a:rPr>
                        <m:t>&amp; </m:t>
                      </m:r>
                      <m:r>
                        <a:rPr lang="en-US" b="1" i="0" smtClean="0">
                          <a:solidFill>
                            <a:srgbClr val="C00000"/>
                          </a:solidFill>
                          <a:latin typeface="Cambria Math" panose="02040503050406030204" pitchFamily="18" charset="0"/>
                        </a:rPr>
                        <m:t>𝐃</m:t>
                      </m:r>
                      <m:r>
                        <a:rPr lang="en-US" b="1" i="0" smtClean="0">
                          <a:solidFill>
                            <a:srgbClr val="C00000"/>
                          </a:solidFill>
                          <a:latin typeface="Cambria Math" panose="02040503050406030204" pitchFamily="18" charset="0"/>
                        </a:rPr>
                        <m:t> </m:t>
                      </m:r>
                      <m:r>
                        <a:rPr lang="en-US" b="1" i="0" smtClean="0">
                          <a:solidFill>
                            <a:srgbClr val="C00000"/>
                          </a:solidFill>
                          <a:latin typeface="Cambria Math" panose="02040503050406030204" pitchFamily="18" charset="0"/>
                        </a:rPr>
                        <m:t>𝐢𝐬</m:t>
                      </m:r>
                      <m:r>
                        <a:rPr lang="en-US" b="1" i="0" smtClean="0">
                          <a:solidFill>
                            <a:srgbClr val="C00000"/>
                          </a:solidFill>
                          <a:latin typeface="Cambria Math" panose="02040503050406030204" pitchFamily="18" charset="0"/>
                        </a:rPr>
                        <m:t> </m:t>
                      </m:r>
                      <m:r>
                        <a:rPr lang="en-US" b="1" i="0" smtClean="0">
                          <a:solidFill>
                            <a:srgbClr val="C00000"/>
                          </a:solidFill>
                          <a:latin typeface="Cambria Math" panose="02040503050406030204" pitchFamily="18" charset="0"/>
                        </a:rPr>
                        <m:t>𝐝𝐢𝐠𝐢𝐭</m:t>
                      </m:r>
                    </m:oMath>
                  </m:oMathPara>
                </a14:m>
                <a:endParaRPr lang="en-US" b="1">
                  <a:solidFill>
                    <a:srgbClr val="C00000"/>
                  </a:solidFill>
                  <a:latin typeface="+mj-lt"/>
                </a:endParaRPr>
              </a:p>
            </p:txBody>
          </p:sp>
        </mc:Choice>
        <mc:Fallback xmlns="">
          <p:sp>
            <p:nvSpPr>
              <p:cNvPr id="10" name="Rectangle 9">
                <a:extLst>
                  <a:ext uri="{FF2B5EF4-FFF2-40B4-BE49-F238E27FC236}">
                    <a16:creationId xmlns:a16="http://schemas.microsoft.com/office/drawing/2014/main" id="{F88CA060-83B2-730A-09C0-E0E1AE68A071}"/>
                  </a:ext>
                </a:extLst>
              </p:cNvPr>
              <p:cNvSpPr>
                <a:spLocks noRot="1" noChangeAspect="1" noMove="1" noResize="1" noEditPoints="1" noAdjustHandles="1" noChangeArrowheads="1" noChangeShapeType="1" noTextEdit="1"/>
              </p:cNvSpPr>
              <p:nvPr/>
            </p:nvSpPr>
            <p:spPr>
              <a:xfrm>
                <a:off x="4640806" y="3675387"/>
                <a:ext cx="4389664" cy="608533"/>
              </a:xfrm>
              <a:prstGeom prst="rect">
                <a:avLst/>
              </a:prstGeom>
              <a:blipFill>
                <a:blip r:embed="rId8"/>
                <a:stretch>
                  <a:fillRect/>
                </a:stretch>
              </a:blipFill>
              <a:ln>
                <a:noFill/>
              </a:ln>
            </p:spPr>
            <p:txBody>
              <a:bodyPr/>
              <a:lstStyle/>
              <a:p>
                <a:r>
                  <a:rPr lang="en-IN">
                    <a:noFill/>
                  </a:rPr>
                  <a:t> </a:t>
                </a:r>
              </a:p>
            </p:txBody>
          </p:sp>
        </mc:Fallback>
      </mc:AlternateContent>
    </p:spTree>
    <p:extLst>
      <p:ext uri="{BB962C8B-B14F-4D97-AF65-F5344CB8AC3E}">
        <p14:creationId xmlns:p14="http://schemas.microsoft.com/office/powerpoint/2010/main" val="42370704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dur="1"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dur="50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wipe(left)">
                                      <p:cBhvr>
                                        <p:cTn id="11" dur="500"/>
                                        <p:tgtEl>
                                          <p:spTgt spid="4"/>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dur="500" fill="hold" grpId="0" nodeType="click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wipe(left)">
                                      <p:cBhvr>
                                        <p:cTn id="16" dur="50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dur="1"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22" presetClass="entr" presetSubtype="8" dur="500"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wipe(left)">
                                      <p:cBhvr>
                                        <p:cTn id="25" dur="500"/>
                                        <p:tgtEl>
                                          <p:spTgt spid="6"/>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dur="500" fill="hold" grpId="0" nodeType="click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wipe(left)">
                                      <p:cBhvr>
                                        <p:cTn id="30" dur="500"/>
                                        <p:tgtEl>
                                          <p:spTgt spid="7"/>
                                        </p:tgtEl>
                                      </p:cBhvr>
                                    </p:animEffect>
                                  </p:childTnLst>
                                </p:cTn>
                              </p:par>
                            </p:childTnLst>
                          </p:cTn>
                        </p:par>
                      </p:childTnLst>
                    </p:cTn>
                  </p:par>
                  <p:par>
                    <p:cTn id="31" fill="hold">
                      <p:stCondLst>
                        <p:cond delay="indefinite"/>
                      </p:stCondLst>
                      <p:childTnLst>
                        <p:par>
                          <p:cTn id="32" fill="hold">
                            <p:stCondLst>
                              <p:cond delay="0"/>
                            </p:stCondLst>
                            <p:childTnLst>
                              <p:par>
                                <p:cTn id="33" presetID="1" presetClass="entr" presetSubtype="0" dur="1" fill="hold"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22" presetClass="entr" presetSubtype="8" dur="500" fill="hold" grpId="0" nodeType="clickEffect">
                                  <p:stCondLst>
                                    <p:cond delay="0"/>
                                  </p:stCondLst>
                                  <p:childTnLst>
                                    <p:set>
                                      <p:cBhvr>
                                        <p:cTn id="38" dur="1" fill="hold">
                                          <p:stCondLst>
                                            <p:cond delay="0"/>
                                          </p:stCondLst>
                                        </p:cTn>
                                        <p:tgtEl>
                                          <p:spTgt spid="9"/>
                                        </p:tgtEl>
                                        <p:attrNameLst>
                                          <p:attrName>style.visibility</p:attrName>
                                        </p:attrNameLst>
                                      </p:cBhvr>
                                      <p:to>
                                        <p:strVal val="visible"/>
                                      </p:to>
                                    </p:set>
                                    <p:animEffect transition="in" filter="wipe(left)">
                                      <p:cBhvr>
                                        <p:cTn id="39" dur="500"/>
                                        <p:tgtEl>
                                          <p:spTgt spid="9"/>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dur="500" fill="hold" grpId="0" nodeType="clickEffect">
                                  <p:stCondLst>
                                    <p:cond delay="0"/>
                                  </p:stCondLst>
                                  <p:childTnLst>
                                    <p:set>
                                      <p:cBhvr>
                                        <p:cTn id="43" dur="1" fill="hold">
                                          <p:stCondLst>
                                            <p:cond delay="0"/>
                                          </p:stCondLst>
                                        </p:cTn>
                                        <p:tgtEl>
                                          <p:spTgt spid="8"/>
                                        </p:tgtEl>
                                        <p:attrNameLst>
                                          <p:attrName>style.visibility</p:attrName>
                                        </p:attrNameLst>
                                      </p:cBhvr>
                                      <p:to>
                                        <p:strVal val="visible"/>
                                      </p:to>
                                    </p:set>
                                    <p:animEffect transition="in" filter="wipe(left)">
                                      <p:cBhvr>
                                        <p:cTn id="44" dur="500"/>
                                        <p:tgtEl>
                                          <p:spTgt spid="8"/>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dur="500" fill="hold" grpId="0" nodeType="clickEffect">
                                  <p:stCondLst>
                                    <p:cond delay="0"/>
                                  </p:stCondLst>
                                  <p:childTnLst>
                                    <p:set>
                                      <p:cBhvr>
                                        <p:cTn id="48" dur="1" fill="hold">
                                          <p:stCondLst>
                                            <p:cond delay="0"/>
                                          </p:stCondLst>
                                        </p:cTn>
                                        <p:tgtEl>
                                          <p:spTgt spid="10"/>
                                        </p:tgtEl>
                                        <p:attrNameLst>
                                          <p:attrName>style.visibility</p:attrName>
                                        </p:attrNameLst>
                                      </p:cBhvr>
                                      <p:to>
                                        <p:strVal val="visible"/>
                                      </p:to>
                                    </p:set>
                                    <p:animEffect transition="in" filter="wipe(left)">
                                      <p:cBhvr>
                                        <p:cTn id="49"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9" grpId="0"/>
      <p:bldP spid="10"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BC86421-7F84-CF2E-B507-53DAE4024854}"/>
              </a:ext>
            </a:extLst>
          </p:cNvPr>
          <p:cNvPicPr>
            <a:picLocks noChangeAspect="1"/>
          </p:cNvPicPr>
          <p:nvPr/>
        </p:nvPicPr>
        <p:blipFill>
          <a:blip r:embed="rId2"/>
          <a:stretch>
            <a:fillRect/>
          </a:stretch>
        </p:blipFill>
        <p:spPr>
          <a:xfrm>
            <a:off x="0" y="664639"/>
            <a:ext cx="12192000" cy="5528721"/>
          </a:xfrm>
          <a:prstGeom prst="rect">
            <a:avLst/>
          </a:prstGeom>
        </p:spPr>
      </p:pic>
      <p:sp>
        <p:nvSpPr>
          <p:cNvPr id="5" name="TextBox 4">
            <a:extLst>
              <a:ext uri="{FF2B5EF4-FFF2-40B4-BE49-F238E27FC236}">
                <a16:creationId xmlns:a16="http://schemas.microsoft.com/office/drawing/2014/main" id="{43B69B2E-1C62-732D-B98E-C307B35F4883}"/>
              </a:ext>
            </a:extLst>
          </p:cNvPr>
          <p:cNvSpPr txBox="1"/>
          <p:nvPr/>
        </p:nvSpPr>
        <p:spPr>
          <a:xfrm>
            <a:off x="267101" y="211037"/>
            <a:ext cx="6826718" cy="461665"/>
          </a:xfrm>
          <a:prstGeom prst="rect">
            <a:avLst/>
          </a:prstGeom>
          <a:noFill/>
        </p:spPr>
        <p:txBody>
          <a:bodyPr wrap="square">
            <a:spAutoFit/>
          </a:bodyPr>
          <a:lstStyle/>
          <a:p>
            <a:r>
              <a:rPr lang="en-US" sz="2400" b="1" i="0" dirty="0">
                <a:solidFill>
                  <a:srgbClr val="C00000"/>
                </a:solidFill>
                <a:effectLst/>
                <a:latin typeface="Palatino Linotype" panose="02040502050505030304" pitchFamily="18" charset="0"/>
              </a:rPr>
              <a:t>Algebraic laws for regular expressions</a:t>
            </a:r>
            <a:endParaRPr lang="en-IN" sz="2400" b="1" dirty="0">
              <a:solidFill>
                <a:srgbClr val="C00000"/>
              </a:solidFill>
              <a:latin typeface="Palatino Linotype" panose="02040502050505030304" pitchFamily="18" charset="0"/>
            </a:endParaRPr>
          </a:p>
        </p:txBody>
      </p:sp>
    </p:spTree>
    <p:extLst>
      <p:ext uri="{BB962C8B-B14F-4D97-AF65-F5344CB8AC3E}">
        <p14:creationId xmlns:p14="http://schemas.microsoft.com/office/powerpoint/2010/main" val="75278533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3419A7-A153-5EA9-800D-F706EA4D6E90}"/>
              </a:ext>
            </a:extLst>
          </p:cNvPr>
          <p:cNvSpPr txBox="1">
            <a:spLocks/>
          </p:cNvSpPr>
          <p:nvPr/>
        </p:nvSpPr>
        <p:spPr>
          <a:xfrm>
            <a:off x="0" y="1"/>
            <a:ext cx="12192000" cy="711200"/>
          </a:xfrm>
          <a:prstGeom prst="rect">
            <a:avLst/>
          </a:prstGeom>
        </p:spPr>
        <p:txBody>
          <a:bodyPr/>
          <a:lstStyle>
            <a:lvl1pPr algn="l" defTabSz="914400" rtl="0" eaLnBrk="1" latinLnBrk="0" hangingPunct="1">
              <a:lnSpc>
                <a:spcPct val="90000"/>
              </a:lnSpc>
              <a:spcBef>
                <a:spcPct val="0"/>
              </a:spcBef>
              <a:buNone/>
              <a:defRPr sz="4400" kern="1200">
                <a:solidFill>
                  <a:srgbClr val="C00000"/>
                </a:solidFill>
                <a:latin typeface="Palatino Linotype" panose="02040502050505030304" pitchFamily="18" charset="0"/>
                <a:ea typeface="+mj-ea"/>
                <a:cs typeface="+mj-cs"/>
              </a:defRPr>
            </a:lvl1pPr>
          </a:lstStyle>
          <a:p>
            <a:r>
              <a:rPr lang="en-US"/>
              <a:t>Regular definition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F72FC52-FC2F-C5C0-14D3-D9F2B05ACF74}"/>
                  </a:ext>
                </a:extLst>
              </p:cNvPr>
              <p:cNvSpPr txBox="1">
                <a:spLocks/>
              </p:cNvSpPr>
              <p:nvPr/>
            </p:nvSpPr>
            <p:spPr>
              <a:xfrm>
                <a:off x="131180" y="863444"/>
                <a:ext cx="11929641" cy="5590565"/>
              </a:xfrm>
              <a:prstGeom prst="rect">
                <a:avLst/>
              </a:prstGeom>
            </p:spPr>
            <p:txBody>
              <a:bodyPr/>
              <a:lstStyle>
                <a:lvl1pPr marL="228600" indent="-228600" algn="just"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Palatino Linotype" panose="02040502050505030304" pitchFamily="18" charset="0"/>
                    <a:ea typeface="+mn-ea"/>
                    <a:cs typeface="+mn-cs"/>
                  </a:defRPr>
                </a:lvl1pPr>
                <a:lvl2pPr marL="685800" indent="-228600" algn="just"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Palatino Linotype" panose="02040502050505030304" pitchFamily="18" charset="0"/>
                    <a:ea typeface="+mn-ea"/>
                    <a:cs typeface="+mn-cs"/>
                  </a:defRPr>
                </a:lvl2pPr>
                <a:lvl3pPr marL="1143000" indent="-228600" algn="just"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Palatino Linotype" panose="02040502050505030304" pitchFamily="18" charset="0"/>
                    <a:ea typeface="+mn-ea"/>
                    <a:cs typeface="+mn-cs"/>
                  </a:defRPr>
                </a:lvl3pPr>
                <a:lvl4pPr marL="1600200" indent="-228600" algn="just"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alatino Linotype" panose="02040502050505030304" pitchFamily="18" charset="0"/>
                    <a:ea typeface="+mn-ea"/>
                    <a:cs typeface="+mn-cs"/>
                  </a:defRPr>
                </a:lvl4pPr>
                <a:lvl5pPr marL="2057400" indent="-228600" algn="just"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dirty="0"/>
                  <a:t>A regular definition </a:t>
                </a:r>
                <a:r>
                  <a:rPr lang="en-US" b="1" dirty="0"/>
                  <a:t>gives names to certain regular expressions </a:t>
                </a:r>
                <a:r>
                  <a:rPr lang="en-US" dirty="0"/>
                  <a:t>and </a:t>
                </a:r>
                <a:r>
                  <a:rPr lang="en-US" b="1" dirty="0"/>
                  <a:t>uses those names in other regular expressions</a:t>
                </a:r>
                <a:r>
                  <a:rPr lang="en-US" dirty="0"/>
                  <a:t>.</a:t>
                </a:r>
              </a:p>
              <a:p>
                <a:pPr>
                  <a:lnSpc>
                    <a:spcPct val="100000"/>
                  </a:lnSpc>
                </a:pPr>
                <a:r>
                  <a:rPr lang="en-US" dirty="0"/>
                  <a:t>Regular definition is a sequence of definitions of the form:</a:t>
                </a:r>
              </a:p>
              <a:p>
                <a:pPr marL="914400" lvl="2" indent="0">
                  <a:lnSpc>
                    <a:spcPct val="100000"/>
                  </a:lnSpc>
                  <a:buFont typeface="Arial" panose="020B0604020202020204" pitchFamily="34" charset="0"/>
                  <a:buNone/>
                </a:pPr>
                <a14:m>
                  <m:oMathPara xmlns:m="http://schemas.openxmlformats.org/officeDocument/2006/math">
                    <m:oMathParaPr>
                      <m:jc m:val="left"/>
                    </m:oMathParaPr>
                    <m:oMath xmlns:m="http://schemas.openxmlformats.org/officeDocument/2006/math">
                      <m:r>
                        <a:rPr lang="en-US" i="1">
                          <a:latin typeface="Cambria Math" panose="02040503050406030204" pitchFamily="18" charset="0"/>
                        </a:rPr>
                        <m:t>𝑑</m:t>
                      </m:r>
                      <m:r>
                        <a:rPr lang="en-US" i="1" baseline="-25000">
                          <a:latin typeface="Cambria Math" panose="02040503050406030204" pitchFamily="18" charset="0"/>
                        </a:rPr>
                        <m:t>1</m:t>
                      </m:r>
                      <m:r>
                        <a:rPr lang="en-US" i="1">
                          <a:latin typeface="Cambria Math" panose="02040503050406030204" pitchFamily="18" charset="0"/>
                        </a:rPr>
                        <m:t>→</m:t>
                      </m:r>
                      <m:r>
                        <a:rPr lang="en-US" i="1">
                          <a:latin typeface="Cambria Math" panose="02040503050406030204" pitchFamily="18" charset="0"/>
                        </a:rPr>
                        <m:t>𝑟</m:t>
                      </m:r>
                      <m:r>
                        <a:rPr lang="en-US" i="1" baseline="-25000">
                          <a:latin typeface="Cambria Math" panose="02040503050406030204" pitchFamily="18" charset="0"/>
                        </a:rPr>
                        <m:t>1</m:t>
                      </m:r>
                    </m:oMath>
                  </m:oMathPara>
                </a14:m>
                <a:endParaRPr lang="en-US" baseline="-25000" dirty="0"/>
              </a:p>
              <a:p>
                <a:pPr marL="914400" lvl="2" indent="0">
                  <a:lnSpc>
                    <a:spcPct val="100000"/>
                  </a:lnSpc>
                  <a:buFont typeface="Arial" panose="020B0604020202020204" pitchFamily="34" charset="0"/>
                  <a:buNone/>
                </a:pPr>
                <a14:m>
                  <m:oMathPara xmlns:m="http://schemas.openxmlformats.org/officeDocument/2006/math">
                    <m:oMathParaPr>
                      <m:jc m:val="left"/>
                    </m:oMathParaPr>
                    <m:oMath xmlns:m="http://schemas.openxmlformats.org/officeDocument/2006/math">
                      <m:r>
                        <a:rPr lang="en-US" i="1">
                          <a:latin typeface="Cambria Math" panose="02040503050406030204" pitchFamily="18" charset="0"/>
                        </a:rPr>
                        <m:t>𝑑</m:t>
                      </m:r>
                      <m:r>
                        <a:rPr lang="en-US" i="1" baseline="-25000">
                          <a:latin typeface="Cambria Math" panose="02040503050406030204" pitchFamily="18" charset="0"/>
                        </a:rPr>
                        <m:t>2</m:t>
                      </m:r>
                      <m:r>
                        <a:rPr lang="en-US" i="1">
                          <a:latin typeface="Cambria Math" panose="02040503050406030204" pitchFamily="18" charset="0"/>
                        </a:rPr>
                        <m:t>→</m:t>
                      </m:r>
                      <m:r>
                        <a:rPr lang="en-US" i="1">
                          <a:latin typeface="Cambria Math" panose="02040503050406030204" pitchFamily="18" charset="0"/>
                        </a:rPr>
                        <m:t>𝑟</m:t>
                      </m:r>
                      <m:r>
                        <a:rPr lang="en-US" i="1" baseline="-25000">
                          <a:latin typeface="Cambria Math" panose="02040503050406030204" pitchFamily="18" charset="0"/>
                        </a:rPr>
                        <m:t>2</m:t>
                      </m:r>
                    </m:oMath>
                  </m:oMathPara>
                </a14:m>
                <a:endParaRPr lang="en-US" dirty="0"/>
              </a:p>
              <a:p>
                <a:pPr marL="914400" lvl="2" indent="0">
                  <a:lnSpc>
                    <a:spcPct val="100000"/>
                  </a:lnSpc>
                  <a:buFont typeface="Arial" panose="020B0604020202020204" pitchFamily="34" charset="0"/>
                  <a:buNone/>
                </a:pPr>
                <a:r>
                  <a:rPr lang="en-US" dirty="0"/>
                  <a:t>……</a:t>
                </a:r>
              </a:p>
              <a:p>
                <a:pPr marL="914400" lvl="2" indent="0">
                  <a:lnSpc>
                    <a:spcPct val="100000"/>
                  </a:lnSpc>
                  <a:buFont typeface="Arial" panose="020B0604020202020204" pitchFamily="34" charset="0"/>
                  <a:buNone/>
                </a:pPr>
                <a14:m>
                  <m:oMathPara xmlns:m="http://schemas.openxmlformats.org/officeDocument/2006/math">
                    <m:oMathParaPr>
                      <m:jc m:val="left"/>
                    </m:oMathParaPr>
                    <m:oMath xmlns:m="http://schemas.openxmlformats.org/officeDocument/2006/math">
                      <m:r>
                        <a:rPr lang="en-US" i="1">
                          <a:latin typeface="Cambria Math" panose="02040503050406030204" pitchFamily="18" charset="0"/>
                        </a:rPr>
                        <m:t>𝑑</m:t>
                      </m:r>
                      <m:r>
                        <a:rPr lang="en-US" i="1" baseline="-25000">
                          <a:latin typeface="Cambria Math" panose="02040503050406030204" pitchFamily="18" charset="0"/>
                        </a:rPr>
                        <m:t>𝑛</m:t>
                      </m:r>
                      <m:r>
                        <a:rPr lang="en-US" i="1">
                          <a:latin typeface="Cambria Math" panose="02040503050406030204" pitchFamily="18" charset="0"/>
                        </a:rPr>
                        <m:t>→</m:t>
                      </m:r>
                      <m:r>
                        <a:rPr lang="en-US" i="1">
                          <a:latin typeface="Cambria Math" panose="02040503050406030204" pitchFamily="18" charset="0"/>
                        </a:rPr>
                        <m:t>𝑟𝑛</m:t>
                      </m:r>
                    </m:oMath>
                  </m:oMathPara>
                </a14:m>
                <a:endParaRPr lang="en-US" baseline="-25000" dirty="0"/>
              </a:p>
              <a:p>
                <a:pPr marL="514350" lvl="3" indent="0">
                  <a:lnSpc>
                    <a:spcPct val="100000"/>
                  </a:lnSpc>
                  <a:buFont typeface="Arial" panose="020B0604020202020204" pitchFamily="34" charset="0"/>
                  <a:buNone/>
                </a:pPr>
                <a:r>
                  <a:rPr lang="en-US" sz="2200" dirty="0"/>
                  <a:t>	</a:t>
                </a:r>
                <a:r>
                  <a:rPr lang="en-US" sz="2400" dirty="0"/>
                  <a:t>Where </a:t>
                </a:r>
                <a14:m>
                  <m:oMath xmlns:m="http://schemas.openxmlformats.org/officeDocument/2006/math">
                    <m:r>
                      <a:rPr lang="en-US" sz="2400" i="1">
                        <a:latin typeface="Cambria Math" panose="02040503050406030204" pitchFamily="18" charset="0"/>
                      </a:rPr>
                      <m:t>𝑑</m:t>
                    </m:r>
                    <m:r>
                      <a:rPr lang="en-US" sz="2400" i="1" baseline="-25000">
                        <a:latin typeface="Cambria Math" panose="02040503050406030204" pitchFamily="18" charset="0"/>
                      </a:rPr>
                      <m:t>𝑖</m:t>
                    </m:r>
                  </m:oMath>
                </a14:m>
                <a:r>
                  <a:rPr lang="en-US" sz="2400" dirty="0"/>
                  <a:t> is a </a:t>
                </a:r>
                <a:r>
                  <a:rPr lang="en-US" sz="2400" b="1" dirty="0">
                    <a:solidFill>
                      <a:srgbClr val="0E47A1"/>
                    </a:solidFill>
                  </a:rPr>
                  <a:t>distinct name </a:t>
                </a:r>
                <a:r>
                  <a:rPr lang="en-US" sz="2400" dirty="0"/>
                  <a:t>&amp; </a:t>
                </a:r>
                <a14:m>
                  <m:oMath xmlns:m="http://schemas.openxmlformats.org/officeDocument/2006/math">
                    <m:r>
                      <a:rPr lang="en-US" sz="2400" i="1">
                        <a:latin typeface="Cambria Math" panose="02040503050406030204" pitchFamily="18" charset="0"/>
                      </a:rPr>
                      <m:t>𝑟</m:t>
                    </m:r>
                    <m:r>
                      <a:rPr lang="en-US" sz="2400" i="1" baseline="-25000" err="1">
                        <a:latin typeface="Cambria Math" panose="02040503050406030204" pitchFamily="18" charset="0"/>
                      </a:rPr>
                      <m:t>𝑖</m:t>
                    </m:r>
                    <m:r>
                      <a:rPr lang="en-US" sz="2400" i="1">
                        <a:latin typeface="Cambria Math" panose="02040503050406030204" pitchFamily="18" charset="0"/>
                      </a:rPr>
                      <m:t> </m:t>
                    </m:r>
                  </m:oMath>
                </a14:m>
                <a:r>
                  <a:rPr lang="en-US" sz="2400" dirty="0"/>
                  <a:t>is a </a:t>
                </a:r>
                <a:r>
                  <a:rPr lang="en-US" sz="2400" b="1" dirty="0">
                    <a:solidFill>
                      <a:srgbClr val="0E47A1"/>
                    </a:solidFill>
                  </a:rPr>
                  <a:t>regular expression</a:t>
                </a:r>
                <a:r>
                  <a:rPr lang="en-US" sz="2400" dirty="0"/>
                  <a:t>.</a:t>
                </a:r>
              </a:p>
              <a:p>
                <a:pPr marL="285750" lvl="3" indent="-285750">
                  <a:lnSpc>
                    <a:spcPct val="100000"/>
                  </a:lnSpc>
                  <a:buFont typeface="Wingdings" panose="05000000000000000000" pitchFamily="2" charset="2"/>
                  <a:buChar char="§"/>
                </a:pPr>
                <a:r>
                  <a:rPr lang="en-US" sz="2400" dirty="0"/>
                  <a:t>Example: Regular definition for identifier</a:t>
                </a:r>
              </a:p>
              <a:p>
                <a:pPr marL="0" lvl="3" indent="0">
                  <a:lnSpc>
                    <a:spcPct val="100000"/>
                  </a:lnSpc>
                  <a:buFont typeface="Arial" panose="020B0604020202020204" pitchFamily="34" charset="0"/>
                  <a:buNone/>
                </a:pPr>
                <a:r>
                  <a:rPr lang="en-US" sz="2400" dirty="0"/>
                  <a:t>	</a:t>
                </a:r>
                <a:r>
                  <a:rPr lang="en-US" sz="2400" dirty="0">
                    <a:solidFill>
                      <a:srgbClr val="C00000"/>
                    </a:solidFill>
                  </a:rPr>
                  <a:t>letter</a:t>
                </a:r>
                <a:r>
                  <a:rPr lang="en-US" sz="2400" dirty="0"/>
                  <a:t> </a:t>
                </a:r>
                <a:r>
                  <a:rPr lang="en-US" sz="2400" dirty="0">
                    <a:sym typeface="Wingdings" panose="05000000000000000000" pitchFamily="2" charset="2"/>
                  </a:rPr>
                  <a:t> A|B|C|………..|</a:t>
                </a:r>
                <a:r>
                  <a:rPr lang="en-US" sz="2400" dirty="0" err="1">
                    <a:sym typeface="Wingdings" panose="05000000000000000000" pitchFamily="2" charset="2"/>
                  </a:rPr>
                  <a:t>Z|a|b</a:t>
                </a:r>
                <a:r>
                  <a:rPr lang="en-US" sz="2400" dirty="0">
                    <a:sym typeface="Wingdings" panose="05000000000000000000" pitchFamily="2" charset="2"/>
                  </a:rPr>
                  <a:t>|………..|z</a:t>
                </a:r>
              </a:p>
              <a:p>
                <a:pPr marL="0" lvl="3" indent="0">
                  <a:lnSpc>
                    <a:spcPct val="100000"/>
                  </a:lnSpc>
                  <a:buFont typeface="Arial" panose="020B0604020202020204" pitchFamily="34" charset="0"/>
                  <a:buNone/>
                </a:pPr>
                <a:r>
                  <a:rPr lang="en-US" sz="2400" dirty="0">
                    <a:sym typeface="Wingdings" panose="05000000000000000000" pitchFamily="2" charset="2"/>
                  </a:rPr>
                  <a:t>	</a:t>
                </a:r>
                <a:r>
                  <a:rPr lang="en-US" sz="2400" dirty="0">
                    <a:solidFill>
                      <a:srgbClr val="0E47A1"/>
                    </a:solidFill>
                    <a:sym typeface="Wingdings" panose="05000000000000000000" pitchFamily="2" charset="2"/>
                  </a:rPr>
                  <a:t>digit</a:t>
                </a:r>
                <a:r>
                  <a:rPr lang="en-US" sz="2400" dirty="0">
                    <a:sym typeface="Wingdings" panose="05000000000000000000" pitchFamily="2" charset="2"/>
                  </a:rPr>
                  <a:t>  0|1|…….|9|</a:t>
                </a:r>
              </a:p>
              <a:p>
                <a:pPr marL="0" lvl="3" indent="0">
                  <a:lnSpc>
                    <a:spcPct val="100000"/>
                  </a:lnSpc>
                  <a:buFont typeface="Arial" panose="020B0604020202020204" pitchFamily="34" charset="0"/>
                  <a:buNone/>
                </a:pPr>
                <a:r>
                  <a:rPr lang="en-US" sz="2400" dirty="0">
                    <a:sym typeface="Wingdings" panose="05000000000000000000" pitchFamily="2" charset="2"/>
                  </a:rPr>
                  <a:t>	</a:t>
                </a:r>
                <a:r>
                  <a:rPr lang="en-US" sz="2400" b="1" dirty="0">
                    <a:solidFill>
                      <a:srgbClr val="03A9F5"/>
                    </a:solidFill>
                    <a:sym typeface="Wingdings" panose="05000000000000000000" pitchFamily="2" charset="2"/>
                  </a:rPr>
                  <a:t>id</a:t>
                </a:r>
                <a:r>
                  <a:rPr lang="en-US" sz="2400" b="1" dirty="0">
                    <a:sym typeface="Wingdings" panose="05000000000000000000" pitchFamily="2" charset="2"/>
                  </a:rPr>
                  <a:t></a:t>
                </a:r>
                <a:r>
                  <a:rPr lang="en-US" sz="2400" b="1" i="1" dirty="0">
                    <a:solidFill>
                      <a:schemeClr val="accent1">
                        <a:lumMod val="75000"/>
                      </a:schemeClr>
                    </a:solidFill>
                    <a:sym typeface="Wingdings" panose="05000000000000000000" pitchFamily="2" charset="2"/>
                  </a:rPr>
                  <a:t> </a:t>
                </a:r>
                <a:r>
                  <a:rPr lang="en-US" sz="2400" b="1" dirty="0">
                    <a:solidFill>
                      <a:srgbClr val="C00000"/>
                    </a:solidFill>
                    <a:sym typeface="Wingdings" panose="05000000000000000000" pitchFamily="2" charset="2"/>
                  </a:rPr>
                  <a:t>letter</a:t>
                </a:r>
                <a:r>
                  <a:rPr lang="en-US" sz="2400" b="1" i="1" dirty="0">
                    <a:solidFill>
                      <a:schemeClr val="accent1">
                        <a:lumMod val="75000"/>
                      </a:schemeClr>
                    </a:solidFill>
                    <a:sym typeface="Wingdings" panose="05000000000000000000" pitchFamily="2" charset="2"/>
                  </a:rPr>
                  <a:t> </a:t>
                </a:r>
                <a:r>
                  <a:rPr lang="en-US" sz="2400" b="1" dirty="0">
                    <a:sym typeface="Wingdings" panose="05000000000000000000" pitchFamily="2" charset="2"/>
                  </a:rPr>
                  <a:t>(</a:t>
                </a:r>
                <a:r>
                  <a:rPr lang="en-US" sz="2400" b="1" dirty="0">
                    <a:solidFill>
                      <a:srgbClr val="C00000"/>
                    </a:solidFill>
                    <a:sym typeface="Wingdings" panose="05000000000000000000" pitchFamily="2" charset="2"/>
                  </a:rPr>
                  <a:t>letter</a:t>
                </a:r>
                <a:r>
                  <a:rPr lang="en-US" sz="2400" b="1" i="1" dirty="0">
                    <a:solidFill>
                      <a:schemeClr val="accent1">
                        <a:lumMod val="75000"/>
                      </a:schemeClr>
                    </a:solidFill>
                    <a:sym typeface="Wingdings" panose="05000000000000000000" pitchFamily="2" charset="2"/>
                  </a:rPr>
                  <a:t> </a:t>
                </a:r>
                <a:r>
                  <a:rPr lang="en-US" sz="2400" b="1" dirty="0">
                    <a:sym typeface="Wingdings" panose="05000000000000000000" pitchFamily="2" charset="2"/>
                  </a:rPr>
                  <a:t>|</a:t>
                </a:r>
                <a:r>
                  <a:rPr lang="en-US" sz="2400" b="1" i="1" dirty="0">
                    <a:solidFill>
                      <a:schemeClr val="accent1">
                        <a:lumMod val="75000"/>
                      </a:schemeClr>
                    </a:solidFill>
                    <a:sym typeface="Wingdings" panose="05000000000000000000" pitchFamily="2" charset="2"/>
                  </a:rPr>
                  <a:t> </a:t>
                </a:r>
                <a:r>
                  <a:rPr lang="en-US" sz="2400" b="1" dirty="0">
                    <a:solidFill>
                      <a:srgbClr val="0E47A1"/>
                    </a:solidFill>
                    <a:sym typeface="Wingdings" panose="05000000000000000000" pitchFamily="2" charset="2"/>
                  </a:rPr>
                  <a:t>digit</a:t>
                </a:r>
                <a:r>
                  <a:rPr lang="en-US" sz="2400" b="1" dirty="0">
                    <a:sym typeface="Wingdings" panose="05000000000000000000" pitchFamily="2" charset="2"/>
                  </a:rPr>
                  <a:t>)*</a:t>
                </a:r>
                <a:endParaRPr lang="en-US" sz="2400" b="1" dirty="0"/>
              </a:p>
              <a:p>
                <a:endParaRPr lang="en-US" dirty="0"/>
              </a:p>
            </p:txBody>
          </p:sp>
        </mc:Choice>
        <mc:Fallback xmlns="">
          <p:sp>
            <p:nvSpPr>
              <p:cNvPr id="3" name="Content Placeholder 2">
                <a:extLst>
                  <a:ext uri="{FF2B5EF4-FFF2-40B4-BE49-F238E27FC236}">
                    <a16:creationId xmlns:a16="http://schemas.microsoft.com/office/drawing/2014/main" id="{9F72FC52-FC2F-C5C0-14D3-D9F2B05ACF74}"/>
                  </a:ext>
                </a:extLst>
              </p:cNvPr>
              <p:cNvSpPr txBox="1">
                <a:spLocks noRot="1" noChangeAspect="1" noMove="1" noResize="1" noEditPoints="1" noAdjustHandles="1" noChangeArrowheads="1" noChangeShapeType="1" noTextEdit="1"/>
              </p:cNvSpPr>
              <p:nvPr/>
            </p:nvSpPr>
            <p:spPr>
              <a:xfrm>
                <a:off x="131180" y="863444"/>
                <a:ext cx="11929641" cy="5590565"/>
              </a:xfrm>
              <a:prstGeom prst="rect">
                <a:avLst/>
              </a:prstGeom>
              <a:blipFill>
                <a:blip r:embed="rId2"/>
                <a:stretch>
                  <a:fillRect l="-920" t="-1309" r="-1074"/>
                </a:stretch>
              </a:blipFill>
            </p:spPr>
            <p:txBody>
              <a:bodyPr/>
              <a:lstStyle/>
              <a:p>
                <a:r>
                  <a:rPr lang="en-IN">
                    <a:noFill/>
                  </a:rPr>
                  <a:t> </a:t>
                </a:r>
              </a:p>
            </p:txBody>
          </p:sp>
        </mc:Fallback>
      </mc:AlternateContent>
    </p:spTree>
    <p:extLst>
      <p:ext uri="{BB962C8B-B14F-4D97-AF65-F5344CB8AC3E}">
        <p14:creationId xmlns:p14="http://schemas.microsoft.com/office/powerpoint/2010/main" val="3845192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dur="1"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dur="1"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dur="1"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dur="1"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dur="1"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dur="1"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dur="1"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dur="1"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dur="1"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dur="1"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dur="1"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B238C6-A781-F0F9-D7E1-20661104D578}"/>
              </a:ext>
            </a:extLst>
          </p:cNvPr>
          <p:cNvSpPr txBox="1">
            <a:spLocks/>
          </p:cNvSpPr>
          <p:nvPr/>
        </p:nvSpPr>
        <p:spPr>
          <a:xfrm>
            <a:off x="0" y="1"/>
            <a:ext cx="12192000" cy="711200"/>
          </a:xfrm>
          <a:prstGeom prst="rect">
            <a:avLst/>
          </a:prstGeom>
        </p:spPr>
        <p:txBody>
          <a:bodyPr/>
          <a:lstStyle>
            <a:lvl1pPr algn="l" defTabSz="914400" rtl="0" eaLnBrk="1" latinLnBrk="0" hangingPunct="1">
              <a:lnSpc>
                <a:spcPct val="90000"/>
              </a:lnSpc>
              <a:spcBef>
                <a:spcPct val="0"/>
              </a:spcBef>
              <a:buNone/>
              <a:defRPr sz="4400" kern="1200">
                <a:solidFill>
                  <a:srgbClr val="C00000"/>
                </a:solidFill>
                <a:latin typeface="Palatino Linotype" panose="02040502050505030304" pitchFamily="18" charset="0"/>
                <a:ea typeface="+mj-ea"/>
                <a:cs typeface="+mj-cs"/>
              </a:defRPr>
            </a:lvl1pPr>
          </a:lstStyle>
          <a:p>
            <a:r>
              <a:rPr lang="en-US"/>
              <a:t>Regular definition example</a:t>
            </a:r>
            <a:endParaRPr lang="en-US" dirty="0"/>
          </a:p>
        </p:txBody>
      </p:sp>
      <p:sp>
        <p:nvSpPr>
          <p:cNvPr id="3" name="Content Placeholder 2">
            <a:extLst>
              <a:ext uri="{FF2B5EF4-FFF2-40B4-BE49-F238E27FC236}">
                <a16:creationId xmlns:a16="http://schemas.microsoft.com/office/drawing/2014/main" id="{4DA9B1FF-BAD4-6102-0348-19C23575D7D1}"/>
              </a:ext>
            </a:extLst>
          </p:cNvPr>
          <p:cNvSpPr txBox="1">
            <a:spLocks/>
          </p:cNvSpPr>
          <p:nvPr/>
        </p:nvSpPr>
        <p:spPr>
          <a:xfrm>
            <a:off x="131180" y="863444"/>
            <a:ext cx="11929641" cy="5590565"/>
          </a:xfrm>
          <a:prstGeom prst="rect">
            <a:avLst/>
          </a:prstGeom>
        </p:spPr>
        <p:txBody>
          <a:bodyPr/>
          <a:lstStyle>
            <a:lvl1pPr marL="228600" indent="-228600" algn="just"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Palatino Linotype" panose="02040502050505030304" pitchFamily="18" charset="0"/>
                <a:ea typeface="+mn-ea"/>
                <a:cs typeface="+mn-cs"/>
              </a:defRPr>
            </a:lvl1pPr>
            <a:lvl2pPr marL="685800" indent="-228600" algn="just"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Palatino Linotype" panose="02040502050505030304" pitchFamily="18" charset="0"/>
                <a:ea typeface="+mn-ea"/>
                <a:cs typeface="+mn-cs"/>
              </a:defRPr>
            </a:lvl2pPr>
            <a:lvl3pPr marL="1143000" indent="-228600" algn="just"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Palatino Linotype" panose="02040502050505030304" pitchFamily="18" charset="0"/>
                <a:ea typeface="+mn-ea"/>
                <a:cs typeface="+mn-cs"/>
              </a:defRPr>
            </a:lvl3pPr>
            <a:lvl4pPr marL="1600200" indent="-228600" algn="just"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alatino Linotype" panose="02040502050505030304" pitchFamily="18" charset="0"/>
                <a:ea typeface="+mn-ea"/>
                <a:cs typeface="+mn-cs"/>
              </a:defRPr>
            </a:lvl4pPr>
            <a:lvl5pPr marL="2057400" indent="-228600" algn="just"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Example: Unsigned Pascal numbers	</a:t>
            </a:r>
          </a:p>
          <a:p>
            <a:pPr marL="0" indent="0">
              <a:buFont typeface="Arial" panose="020B0604020202020204" pitchFamily="34" charset="0"/>
              <a:buNone/>
            </a:pPr>
            <a:r>
              <a:rPr lang="en-US" dirty="0"/>
              <a:t>	3</a:t>
            </a:r>
          </a:p>
          <a:p>
            <a:pPr marL="0" indent="0">
              <a:buFont typeface="Arial" panose="020B0604020202020204" pitchFamily="34" charset="0"/>
              <a:buNone/>
            </a:pPr>
            <a:r>
              <a:rPr lang="en-US" dirty="0"/>
              <a:t>	5280</a:t>
            </a:r>
          </a:p>
          <a:p>
            <a:pPr marL="0" indent="0">
              <a:buFont typeface="Arial" panose="020B0604020202020204" pitchFamily="34" charset="0"/>
              <a:buNone/>
            </a:pPr>
            <a:r>
              <a:rPr lang="en-US" dirty="0"/>
              <a:t>	39.37</a:t>
            </a:r>
          </a:p>
          <a:p>
            <a:pPr marL="914400" lvl="2" indent="0">
              <a:buFont typeface="Arial" panose="020B0604020202020204" pitchFamily="34" charset="0"/>
              <a:buNone/>
            </a:pPr>
            <a:r>
              <a:rPr lang="en-US" sz="2400" dirty="0"/>
              <a:t>6.336E4</a:t>
            </a:r>
          </a:p>
          <a:p>
            <a:pPr marL="914400" lvl="2" indent="0">
              <a:buFont typeface="Arial" panose="020B0604020202020204" pitchFamily="34" charset="0"/>
              <a:buNone/>
            </a:pPr>
            <a:r>
              <a:rPr lang="en-US" sz="2400" dirty="0"/>
              <a:t>1.894E-4</a:t>
            </a:r>
          </a:p>
          <a:p>
            <a:pPr marL="914400" lvl="2" indent="0">
              <a:buFont typeface="Arial" panose="020B0604020202020204" pitchFamily="34" charset="0"/>
              <a:buNone/>
            </a:pPr>
            <a:r>
              <a:rPr lang="en-US" sz="2400" dirty="0"/>
              <a:t>2.56E+7</a:t>
            </a:r>
          </a:p>
          <a:p>
            <a:pPr marL="114300" lvl="2" indent="57150">
              <a:buFont typeface="Arial" panose="020B0604020202020204" pitchFamily="34" charset="0"/>
              <a:buNone/>
            </a:pPr>
            <a:r>
              <a:rPr lang="en-US" sz="2400" b="1" dirty="0"/>
              <a:t>Regular Definition</a:t>
            </a:r>
          </a:p>
          <a:p>
            <a:pPr marL="114300" lvl="2" indent="57150">
              <a:buFont typeface="Arial" panose="020B0604020202020204" pitchFamily="34" charset="0"/>
              <a:buNone/>
            </a:pPr>
            <a:r>
              <a:rPr lang="en-US" sz="2400" dirty="0"/>
              <a:t>	digit </a:t>
            </a:r>
            <a:r>
              <a:rPr lang="en-US" sz="2400" dirty="0">
                <a:sym typeface="Wingdings" panose="05000000000000000000" pitchFamily="2" charset="2"/>
              </a:rPr>
              <a:t> 0|1|…..|9</a:t>
            </a:r>
          </a:p>
          <a:p>
            <a:pPr marL="114300" lvl="2" indent="57150">
              <a:buFont typeface="Arial" panose="020B0604020202020204" pitchFamily="34" charset="0"/>
              <a:buNone/>
            </a:pPr>
            <a:r>
              <a:rPr lang="en-US" sz="2400" dirty="0">
                <a:sym typeface="Wingdings" panose="05000000000000000000" pitchFamily="2" charset="2"/>
              </a:rPr>
              <a:t>	</a:t>
            </a:r>
            <a:r>
              <a:rPr lang="en-US" sz="2400" dirty="0">
                <a:solidFill>
                  <a:srgbClr val="0E47A1"/>
                </a:solidFill>
                <a:sym typeface="Wingdings" panose="05000000000000000000" pitchFamily="2" charset="2"/>
              </a:rPr>
              <a:t>digits</a:t>
            </a:r>
            <a:r>
              <a:rPr lang="en-US" sz="2400" dirty="0">
                <a:sym typeface="Wingdings" panose="05000000000000000000" pitchFamily="2" charset="2"/>
              </a:rPr>
              <a:t>  digit digit*</a:t>
            </a:r>
            <a:endParaRPr lang="en-US" sz="2400" baseline="30000" dirty="0">
              <a:sym typeface="Wingdings" panose="05000000000000000000" pitchFamily="2" charset="2"/>
            </a:endParaRPr>
          </a:p>
          <a:p>
            <a:pPr marL="114300" lvl="2" indent="57150">
              <a:buFont typeface="Arial" panose="020B0604020202020204" pitchFamily="34" charset="0"/>
              <a:buNone/>
            </a:pPr>
            <a:r>
              <a:rPr lang="en-US" sz="2400" baseline="30000" dirty="0">
                <a:sym typeface="Wingdings" panose="05000000000000000000" pitchFamily="2" charset="2"/>
              </a:rPr>
              <a:t>	</a:t>
            </a:r>
            <a:r>
              <a:rPr lang="en-US" sz="2400" dirty="0" err="1">
                <a:solidFill>
                  <a:srgbClr val="C00000"/>
                </a:solidFill>
                <a:sym typeface="Wingdings" panose="05000000000000000000" pitchFamily="2" charset="2"/>
              </a:rPr>
              <a:t>optional_fraction</a:t>
            </a:r>
            <a:r>
              <a:rPr lang="en-US" sz="2400" dirty="0">
                <a:sym typeface="Wingdings" panose="05000000000000000000" pitchFamily="2" charset="2"/>
              </a:rPr>
              <a:t>  .digits | </a:t>
            </a:r>
            <a:r>
              <a:rPr lang="en-US" sz="2400" dirty="0">
                <a:latin typeface="Cambria Math" panose="02040503050406030204" pitchFamily="18" charset="0"/>
                <a:ea typeface="Cambria Math" panose="02040503050406030204" pitchFamily="18" charset="0"/>
                <a:sym typeface="Wingdings" panose="05000000000000000000" pitchFamily="2" charset="2"/>
              </a:rPr>
              <a:t>𝜖</a:t>
            </a:r>
            <a:endParaRPr lang="en-US" sz="2400" dirty="0">
              <a:sym typeface="Wingdings" panose="05000000000000000000" pitchFamily="2" charset="2"/>
            </a:endParaRPr>
          </a:p>
          <a:p>
            <a:pPr marL="114300" lvl="2" indent="57150">
              <a:buFont typeface="Arial" panose="020B0604020202020204" pitchFamily="34" charset="0"/>
              <a:buNone/>
            </a:pPr>
            <a:r>
              <a:rPr lang="en-US" sz="2400" dirty="0">
                <a:sym typeface="Wingdings" panose="05000000000000000000" pitchFamily="2" charset="2"/>
              </a:rPr>
              <a:t>	</a:t>
            </a:r>
            <a:r>
              <a:rPr lang="en-US" sz="2400" dirty="0" err="1">
                <a:solidFill>
                  <a:srgbClr val="7030A0"/>
                </a:solidFill>
                <a:sym typeface="Wingdings" panose="05000000000000000000" pitchFamily="2" charset="2"/>
              </a:rPr>
              <a:t>optional_exponent</a:t>
            </a:r>
            <a:r>
              <a:rPr lang="en-US" sz="2400" dirty="0">
                <a:sym typeface="Wingdings" panose="05000000000000000000" pitchFamily="2" charset="2"/>
              </a:rPr>
              <a:t>  (E(+|-|</a:t>
            </a:r>
            <a:r>
              <a:rPr lang="en-US" sz="2400" dirty="0">
                <a:latin typeface="Cambria Math" panose="02040503050406030204" pitchFamily="18" charset="0"/>
                <a:ea typeface="Cambria Math" panose="02040503050406030204" pitchFamily="18" charset="0"/>
                <a:sym typeface="Wingdings" panose="05000000000000000000" pitchFamily="2" charset="2"/>
              </a:rPr>
              <a:t>𝜖</a:t>
            </a:r>
            <a:r>
              <a:rPr lang="en-US" sz="2400" dirty="0">
                <a:sym typeface="Wingdings" panose="05000000000000000000" pitchFamily="2" charset="2"/>
              </a:rPr>
              <a:t>)digits)|</a:t>
            </a:r>
            <a:r>
              <a:rPr lang="en-US" sz="2400" dirty="0">
                <a:latin typeface="Cambria Math" panose="02040503050406030204" pitchFamily="18" charset="0"/>
                <a:ea typeface="Cambria Math" panose="02040503050406030204" pitchFamily="18" charset="0"/>
                <a:sym typeface="Wingdings" panose="05000000000000000000" pitchFamily="2" charset="2"/>
              </a:rPr>
              <a:t>𝜖</a:t>
            </a:r>
            <a:endParaRPr lang="en-US" sz="2400" dirty="0">
              <a:sym typeface="Wingdings" panose="05000000000000000000" pitchFamily="2" charset="2"/>
            </a:endParaRPr>
          </a:p>
          <a:p>
            <a:pPr marL="114300" lvl="2" indent="57150">
              <a:buFont typeface="Arial" panose="020B0604020202020204" pitchFamily="34" charset="0"/>
              <a:buNone/>
            </a:pPr>
            <a:r>
              <a:rPr lang="en-US" sz="2400" dirty="0">
                <a:sym typeface="Wingdings" panose="05000000000000000000" pitchFamily="2" charset="2"/>
              </a:rPr>
              <a:t>	num  </a:t>
            </a:r>
            <a:r>
              <a:rPr lang="en-US" sz="2400" dirty="0">
                <a:solidFill>
                  <a:srgbClr val="0E47A1"/>
                </a:solidFill>
                <a:sym typeface="Wingdings" panose="05000000000000000000" pitchFamily="2" charset="2"/>
              </a:rPr>
              <a:t>digits</a:t>
            </a:r>
            <a:r>
              <a:rPr lang="en-US" sz="2400" dirty="0">
                <a:sym typeface="Wingdings" panose="05000000000000000000" pitchFamily="2" charset="2"/>
              </a:rPr>
              <a:t> </a:t>
            </a:r>
            <a:r>
              <a:rPr lang="en-US" sz="2400" dirty="0" err="1">
                <a:solidFill>
                  <a:srgbClr val="C00000"/>
                </a:solidFill>
                <a:sym typeface="Wingdings" panose="05000000000000000000" pitchFamily="2" charset="2"/>
              </a:rPr>
              <a:t>optional_fraction</a:t>
            </a:r>
            <a:r>
              <a:rPr lang="en-US" sz="2400" dirty="0">
                <a:sym typeface="Wingdings" panose="05000000000000000000" pitchFamily="2" charset="2"/>
              </a:rPr>
              <a:t> </a:t>
            </a:r>
            <a:r>
              <a:rPr lang="en-US" sz="2400" dirty="0" err="1">
                <a:solidFill>
                  <a:srgbClr val="7030A0"/>
                </a:solidFill>
                <a:sym typeface="Wingdings" panose="05000000000000000000" pitchFamily="2" charset="2"/>
              </a:rPr>
              <a:t>optional_exponent</a:t>
            </a:r>
            <a:endParaRPr lang="en-US" sz="2400" dirty="0">
              <a:solidFill>
                <a:srgbClr val="7030A0"/>
              </a:solidFill>
            </a:endParaRPr>
          </a:p>
          <a:p>
            <a:pPr marL="914400" lvl="2" indent="0">
              <a:buFont typeface="Arial" panose="020B0604020202020204" pitchFamily="34" charset="0"/>
              <a:buNone/>
            </a:pPr>
            <a:endParaRPr lang="en-US" dirty="0"/>
          </a:p>
          <a:p>
            <a:endParaRPr lang="en-US" dirty="0"/>
          </a:p>
          <a:p>
            <a:endParaRPr lang="en-US" dirty="0"/>
          </a:p>
        </p:txBody>
      </p:sp>
    </p:spTree>
    <p:extLst>
      <p:ext uri="{BB962C8B-B14F-4D97-AF65-F5344CB8AC3E}">
        <p14:creationId xmlns:p14="http://schemas.microsoft.com/office/powerpoint/2010/main" val="14246529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dur="1"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dur="1"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dur="1"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dur="1"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dur="1"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dur="1"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dur="1"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dur="1"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dur="1"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dur="1"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dur="1"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dur="1" fill="hold"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dur="1" fill="hold" nodeType="clickEffect">
                                  <p:stCondLst>
                                    <p:cond delay="0"/>
                                  </p:stCondLst>
                                  <p:childTnLst>
                                    <p:set>
                                      <p:cBhvr>
                                        <p:cTn id="5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789ADF7-B262-A51D-4C2B-155BC6667B0E}"/>
              </a:ext>
            </a:extLst>
          </p:cNvPr>
          <p:cNvSpPr txBox="1"/>
          <p:nvPr/>
        </p:nvSpPr>
        <p:spPr>
          <a:xfrm>
            <a:off x="762886" y="1455026"/>
            <a:ext cx="10943560" cy="3939540"/>
          </a:xfrm>
          <a:prstGeom prst="rect">
            <a:avLst/>
          </a:prstGeom>
          <a:noFill/>
        </p:spPr>
        <p:txBody>
          <a:bodyPr wrap="square">
            <a:spAutoFit/>
          </a:bodyPr>
          <a:lstStyle/>
          <a:p>
            <a:pPr algn="just"/>
            <a:r>
              <a:rPr lang="en-IN" sz="2500" b="0" i="0" dirty="0">
                <a:solidFill>
                  <a:srgbClr val="000000"/>
                </a:solidFill>
                <a:effectLst/>
                <a:latin typeface="Palatino Linotype" panose="02040502050505030304" pitchFamily="18" charset="0"/>
              </a:rPr>
              <a:t>Example</a:t>
            </a:r>
          </a:p>
          <a:p>
            <a:pPr algn="just"/>
            <a:r>
              <a:rPr lang="en-IN" sz="2500" b="0" i="0" dirty="0">
                <a:solidFill>
                  <a:srgbClr val="000000"/>
                </a:solidFill>
                <a:effectLst/>
                <a:latin typeface="Palatino Linotype" panose="02040502050505030304" pitchFamily="18" charset="0"/>
              </a:rPr>
              <a:t>C identifiers are strings of letters, digits, and underscores. Here is a regular definition for the language of C identifiers. We shall conventionally use italics for the symbols denied in regular definitions.</a:t>
            </a:r>
          </a:p>
          <a:p>
            <a:pPr algn="just"/>
            <a:endParaRPr lang="en-IN" sz="2500" b="0" i="0" dirty="0">
              <a:solidFill>
                <a:srgbClr val="000000"/>
              </a:solidFill>
              <a:effectLst/>
              <a:latin typeface="Palatino Linotype" panose="02040502050505030304" pitchFamily="18" charset="0"/>
            </a:endParaRPr>
          </a:p>
          <a:p>
            <a:pPr algn="just"/>
            <a:r>
              <a:rPr lang="en-IN" sz="2500" b="1" i="1" dirty="0">
                <a:solidFill>
                  <a:srgbClr val="000000"/>
                </a:solidFill>
                <a:effectLst/>
                <a:latin typeface="Palatino Linotype" panose="02040502050505030304" pitchFamily="18" charset="0"/>
              </a:rPr>
              <a:t>letter_  -&gt; A|B|….|</a:t>
            </a:r>
            <a:r>
              <a:rPr lang="en-IN" sz="2500" b="1" i="1" dirty="0" err="1">
                <a:solidFill>
                  <a:srgbClr val="000000"/>
                </a:solidFill>
                <a:effectLst/>
                <a:latin typeface="Palatino Linotype" panose="02040502050505030304" pitchFamily="18" charset="0"/>
              </a:rPr>
              <a:t>Z|a|b</a:t>
            </a:r>
            <a:r>
              <a:rPr lang="en-IN" sz="2500" b="1" i="1" dirty="0">
                <a:solidFill>
                  <a:srgbClr val="000000"/>
                </a:solidFill>
                <a:effectLst/>
                <a:latin typeface="Palatino Linotype" panose="02040502050505030304" pitchFamily="18" charset="0"/>
              </a:rPr>
              <a:t>|…|z|-</a:t>
            </a:r>
          </a:p>
          <a:p>
            <a:pPr algn="just"/>
            <a:r>
              <a:rPr lang="en-IN" sz="2500" b="1" i="1" dirty="0">
                <a:solidFill>
                  <a:srgbClr val="000000"/>
                </a:solidFill>
                <a:effectLst/>
                <a:latin typeface="Palatino Linotype" panose="02040502050505030304" pitchFamily="18" charset="0"/>
              </a:rPr>
              <a:t>digit  -&gt; 0|1|…|9</a:t>
            </a:r>
          </a:p>
          <a:p>
            <a:pPr algn="just"/>
            <a:r>
              <a:rPr lang="en-IN" sz="2500" b="1" i="1" dirty="0">
                <a:solidFill>
                  <a:srgbClr val="000000"/>
                </a:solidFill>
                <a:effectLst/>
                <a:latin typeface="Palatino Linotype" panose="02040502050505030304" pitchFamily="18" charset="0"/>
              </a:rPr>
              <a:t> id -&gt;  letter_(letter_ | digit ) *</a:t>
            </a:r>
          </a:p>
          <a:p>
            <a:pPr algn="just"/>
            <a:endParaRPr lang="en-IN" sz="2500" b="0" i="0" dirty="0">
              <a:solidFill>
                <a:srgbClr val="000000"/>
              </a:solidFill>
              <a:effectLst/>
              <a:latin typeface="Palatino Linotype" panose="02040502050505030304" pitchFamily="18" charset="0"/>
            </a:endParaRPr>
          </a:p>
          <a:p>
            <a:pPr algn="just"/>
            <a:endParaRPr lang="en-IN" sz="2500" b="0" i="0" dirty="0">
              <a:solidFill>
                <a:srgbClr val="000000"/>
              </a:solidFill>
              <a:effectLst/>
              <a:latin typeface="Palatino Linotype" panose="02040502050505030304" pitchFamily="18" charset="0"/>
            </a:endParaRPr>
          </a:p>
        </p:txBody>
      </p:sp>
    </p:spTree>
    <p:extLst>
      <p:ext uri="{BB962C8B-B14F-4D97-AF65-F5344CB8AC3E}">
        <p14:creationId xmlns:p14="http://schemas.microsoft.com/office/powerpoint/2010/main" val="42101138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44B8DA-EC7B-3CE7-1C1E-18E1866818F3}"/>
              </a:ext>
            </a:extLst>
          </p:cNvPr>
          <p:cNvSpPr>
            <a:spLocks noGrp="1"/>
          </p:cNvSpPr>
          <p:nvPr>
            <p:ph type="ctrTitle"/>
          </p:nvPr>
        </p:nvSpPr>
        <p:spPr/>
        <p:txBody>
          <a:bodyPr/>
          <a:lstStyle/>
          <a:p>
            <a:r>
              <a:rPr lang="en-US" dirty="0"/>
              <a:t>Transition Diagram</a:t>
            </a:r>
            <a:endParaRPr lang="en-IN" dirty="0"/>
          </a:p>
        </p:txBody>
      </p:sp>
      <p:sp>
        <p:nvSpPr>
          <p:cNvPr id="3" name="Subtitle 2">
            <a:extLst>
              <a:ext uri="{FF2B5EF4-FFF2-40B4-BE49-F238E27FC236}">
                <a16:creationId xmlns:a16="http://schemas.microsoft.com/office/drawing/2014/main" id="{255AAF85-7CB2-A143-49A4-7B788E498DD5}"/>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295665167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3">
            <a:extLst>
              <a:ext uri="{FF2B5EF4-FFF2-40B4-BE49-F238E27FC236}">
                <a16:creationId xmlns:a16="http://schemas.microsoft.com/office/drawing/2014/main" id="{2CD2B922-83BE-A158-825A-27D6136D4871}"/>
              </a:ext>
            </a:extLst>
          </p:cNvPr>
          <p:cNvSpPr txBox="1">
            <a:spLocks/>
          </p:cNvSpPr>
          <p:nvPr/>
        </p:nvSpPr>
        <p:spPr>
          <a:xfrm>
            <a:off x="0" y="1"/>
            <a:ext cx="12192000" cy="711200"/>
          </a:xfrm>
          <a:prstGeom prst="rect">
            <a:avLst/>
          </a:prstGeom>
        </p:spPr>
        <p:txBody>
          <a:bodyPr/>
          <a:lstStyle>
            <a:lvl1pPr algn="l" defTabSz="914400" rtl="0" eaLnBrk="1" latinLnBrk="0" hangingPunct="1">
              <a:lnSpc>
                <a:spcPct val="90000"/>
              </a:lnSpc>
              <a:spcBef>
                <a:spcPct val="0"/>
              </a:spcBef>
              <a:buNone/>
              <a:defRPr sz="4400" kern="1200">
                <a:solidFill>
                  <a:srgbClr val="C00000"/>
                </a:solidFill>
                <a:latin typeface="Palatino Linotype" panose="02040502050505030304" pitchFamily="18" charset="0"/>
                <a:ea typeface="+mj-ea"/>
                <a:cs typeface="+mj-cs"/>
              </a:defRPr>
            </a:lvl1pPr>
          </a:lstStyle>
          <a:p>
            <a:r>
              <a:rPr lang="en-US"/>
              <a:t>Transition Diagram</a:t>
            </a:r>
          </a:p>
        </p:txBody>
      </p:sp>
      <p:sp>
        <p:nvSpPr>
          <p:cNvPr id="3" name="Content Placeholder 4">
            <a:extLst>
              <a:ext uri="{FF2B5EF4-FFF2-40B4-BE49-F238E27FC236}">
                <a16:creationId xmlns:a16="http://schemas.microsoft.com/office/drawing/2014/main" id="{A305E69C-A74B-C226-013B-24594525AB4D}"/>
              </a:ext>
            </a:extLst>
          </p:cNvPr>
          <p:cNvSpPr txBox="1">
            <a:spLocks/>
          </p:cNvSpPr>
          <p:nvPr/>
        </p:nvSpPr>
        <p:spPr>
          <a:xfrm>
            <a:off x="131180" y="807453"/>
            <a:ext cx="11929641" cy="5590565"/>
          </a:xfrm>
          <a:prstGeom prst="rect">
            <a:avLst/>
          </a:prstGeom>
        </p:spPr>
        <p:txBody>
          <a:bodyPr/>
          <a:lstStyle>
            <a:lvl1pPr marL="228600" indent="-228600" algn="just"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Palatino Linotype" panose="02040502050505030304" pitchFamily="18" charset="0"/>
                <a:ea typeface="+mn-ea"/>
                <a:cs typeface="+mn-cs"/>
              </a:defRPr>
            </a:lvl1pPr>
            <a:lvl2pPr marL="685800" indent="-228600" algn="just"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Palatino Linotype" panose="02040502050505030304" pitchFamily="18" charset="0"/>
                <a:ea typeface="+mn-ea"/>
                <a:cs typeface="+mn-cs"/>
              </a:defRPr>
            </a:lvl2pPr>
            <a:lvl3pPr marL="1143000" indent="-228600" algn="just"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Palatino Linotype" panose="02040502050505030304" pitchFamily="18" charset="0"/>
                <a:ea typeface="+mn-ea"/>
                <a:cs typeface="+mn-cs"/>
              </a:defRPr>
            </a:lvl3pPr>
            <a:lvl4pPr marL="1600200" indent="-228600" algn="just"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alatino Linotype" panose="02040502050505030304" pitchFamily="18" charset="0"/>
                <a:ea typeface="+mn-ea"/>
                <a:cs typeface="+mn-cs"/>
              </a:defRPr>
            </a:lvl4pPr>
            <a:lvl5pPr marL="2057400" indent="-228600" algn="just"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A stylized flowchart is called transition diagram.</a:t>
            </a:r>
          </a:p>
          <a:p>
            <a:endParaRPr lang="en-US"/>
          </a:p>
        </p:txBody>
      </p:sp>
      <p:sp>
        <p:nvSpPr>
          <p:cNvPr id="4" name="Oval 4">
            <a:extLst>
              <a:ext uri="{FF2B5EF4-FFF2-40B4-BE49-F238E27FC236}">
                <a16:creationId xmlns:a16="http://schemas.microsoft.com/office/drawing/2014/main" id="{C88C820B-4033-FF97-7096-513974A0105F}"/>
              </a:ext>
            </a:extLst>
          </p:cNvPr>
          <p:cNvSpPr>
            <a:spLocks noChangeArrowheads="1"/>
          </p:cNvSpPr>
          <p:nvPr/>
        </p:nvSpPr>
        <p:spPr bwMode="auto">
          <a:xfrm>
            <a:off x="4700192" y="1684341"/>
            <a:ext cx="647700" cy="649287"/>
          </a:xfrm>
          <a:prstGeom prst="ellipse">
            <a:avLst/>
          </a:prstGeom>
          <a:solidFill>
            <a:srgbClr val="0E47A1"/>
          </a:solidFill>
          <a:ln w="9525">
            <a:solidFill>
              <a:schemeClr val="tx1"/>
            </a:solidFill>
            <a:round/>
          </a:ln>
        </p:spPr>
        <p:txBody>
          <a:bodyPr wrap="none" lIns="90000" tIns="46800" rIns="90000" bIns="46800"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lang="zh-TW" altLang="en-US" sz="2400">
              <a:latin typeface="+mj-lt"/>
            </a:endParaRPr>
          </a:p>
        </p:txBody>
      </p:sp>
      <p:sp>
        <p:nvSpPr>
          <p:cNvPr id="5" name="Text Box 5">
            <a:extLst>
              <a:ext uri="{FF2B5EF4-FFF2-40B4-BE49-F238E27FC236}">
                <a16:creationId xmlns:a16="http://schemas.microsoft.com/office/drawing/2014/main" id="{FD635121-406E-3EAF-D44B-04A683192EE5}"/>
              </a:ext>
            </a:extLst>
          </p:cNvPr>
          <p:cNvSpPr txBox="1">
            <a:spLocks noChangeArrowheads="1"/>
          </p:cNvSpPr>
          <p:nvPr/>
        </p:nvSpPr>
        <p:spPr bwMode="auto">
          <a:xfrm>
            <a:off x="5781280" y="1684341"/>
            <a:ext cx="1271159" cy="4638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lang="en-US" altLang="zh-TW" sz="2400">
                <a:latin typeface="+mj-lt"/>
              </a:rPr>
              <a:t>is a state</a:t>
            </a:r>
          </a:p>
        </p:txBody>
      </p:sp>
      <p:sp>
        <p:nvSpPr>
          <p:cNvPr id="6" name="Line 6">
            <a:extLst>
              <a:ext uri="{FF2B5EF4-FFF2-40B4-BE49-F238E27FC236}">
                <a16:creationId xmlns:a16="http://schemas.microsoft.com/office/drawing/2014/main" id="{FF988B9A-849A-EDC2-F85F-59B403BF3E34}"/>
              </a:ext>
            </a:extLst>
          </p:cNvPr>
          <p:cNvSpPr>
            <a:spLocks noChangeShapeType="1"/>
          </p:cNvSpPr>
          <p:nvPr/>
        </p:nvSpPr>
        <p:spPr bwMode="auto">
          <a:xfrm>
            <a:off x="4628755" y="3124203"/>
            <a:ext cx="792162" cy="0"/>
          </a:xfrm>
          <a:prstGeom prst="line">
            <a:avLst/>
          </a:prstGeom>
          <a:noFill/>
          <a:ln w="38100">
            <a:solidFill>
              <a:srgbClr val="0E47A1"/>
            </a:solidFill>
            <a:round/>
            <a:tailEnd type="arrow" w="med" len="med"/>
          </a:ln>
          <a:extLst>
            <a:ext uri="{909E8E84-426E-40DD-AFC4-6F175D3DCCD1}">
              <a14:hiddenFill xmlns:a14="http://schemas.microsoft.com/office/drawing/2010/main">
                <a:noFill/>
              </a14:hiddenFill>
            </a:ext>
          </a:extLst>
        </p:spPr>
        <p:txBody>
          <a:bodyPr wrap="none" lIns="90000" tIns="46800" rIns="90000" bIns="46800" anchor="ctr"/>
          <a:lstStyle/>
          <a:p>
            <a:endParaRPr lang="en-US" sz="2400">
              <a:latin typeface="+mj-lt"/>
            </a:endParaRPr>
          </a:p>
        </p:txBody>
      </p:sp>
      <p:sp>
        <p:nvSpPr>
          <p:cNvPr id="7" name="Text Box 7">
            <a:extLst>
              <a:ext uri="{FF2B5EF4-FFF2-40B4-BE49-F238E27FC236}">
                <a16:creationId xmlns:a16="http://schemas.microsoft.com/office/drawing/2014/main" id="{A6F5854D-05F1-5A31-8560-69B8F7AC3D4C}"/>
              </a:ext>
            </a:extLst>
          </p:cNvPr>
          <p:cNvSpPr txBox="1">
            <a:spLocks noChangeArrowheads="1"/>
          </p:cNvSpPr>
          <p:nvPr/>
        </p:nvSpPr>
        <p:spPr bwMode="auto">
          <a:xfrm>
            <a:off x="5781280" y="2836866"/>
            <a:ext cx="1858627" cy="4638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lang="en-US" altLang="zh-TW" sz="2400">
                <a:latin typeface="+mj-lt"/>
              </a:rPr>
              <a:t>is a transition</a:t>
            </a:r>
          </a:p>
        </p:txBody>
      </p:sp>
      <p:sp>
        <p:nvSpPr>
          <p:cNvPr id="8" name="Oval 8">
            <a:extLst>
              <a:ext uri="{FF2B5EF4-FFF2-40B4-BE49-F238E27FC236}">
                <a16:creationId xmlns:a16="http://schemas.microsoft.com/office/drawing/2014/main" id="{E9C4C949-96CE-E36C-A194-2FD49989FBF9}"/>
              </a:ext>
            </a:extLst>
          </p:cNvPr>
          <p:cNvSpPr>
            <a:spLocks noChangeArrowheads="1"/>
          </p:cNvSpPr>
          <p:nvPr/>
        </p:nvSpPr>
        <p:spPr bwMode="auto">
          <a:xfrm>
            <a:off x="4700192" y="3989391"/>
            <a:ext cx="647700" cy="649287"/>
          </a:xfrm>
          <a:prstGeom prst="ellipse">
            <a:avLst/>
          </a:prstGeom>
          <a:solidFill>
            <a:srgbClr val="0E47A1"/>
          </a:solidFill>
          <a:ln w="9525">
            <a:solidFill>
              <a:schemeClr val="tx1"/>
            </a:solidFill>
            <a:round/>
          </a:ln>
        </p:spPr>
        <p:txBody>
          <a:bodyPr wrap="none" lIns="90000" tIns="46800" rIns="90000" bIns="46800"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lang="zh-TW" altLang="en-US" sz="2400">
              <a:latin typeface="+mj-lt"/>
            </a:endParaRPr>
          </a:p>
        </p:txBody>
      </p:sp>
      <p:sp>
        <p:nvSpPr>
          <p:cNvPr id="9" name="Line 9">
            <a:extLst>
              <a:ext uri="{FF2B5EF4-FFF2-40B4-BE49-F238E27FC236}">
                <a16:creationId xmlns:a16="http://schemas.microsoft.com/office/drawing/2014/main" id="{9ECC4A23-4D67-97B6-33CE-B1936BBEAD2B}"/>
              </a:ext>
            </a:extLst>
          </p:cNvPr>
          <p:cNvSpPr>
            <a:spLocks noChangeShapeType="1"/>
          </p:cNvSpPr>
          <p:nvPr/>
        </p:nvSpPr>
        <p:spPr bwMode="auto">
          <a:xfrm>
            <a:off x="3908030" y="4349753"/>
            <a:ext cx="792162" cy="0"/>
          </a:xfrm>
          <a:prstGeom prst="line">
            <a:avLst/>
          </a:prstGeom>
          <a:noFill/>
          <a:ln w="38100">
            <a:solidFill>
              <a:srgbClr val="0E47A1"/>
            </a:solidFill>
            <a:round/>
            <a:tailEnd type="arrow" w="med" len="med"/>
          </a:ln>
          <a:extLst>
            <a:ext uri="{909E8E84-426E-40DD-AFC4-6F175D3DCCD1}">
              <a14:hiddenFill xmlns:a14="http://schemas.microsoft.com/office/drawing/2010/main">
                <a:noFill/>
              </a14:hiddenFill>
            </a:ext>
          </a:extLst>
        </p:spPr>
        <p:txBody>
          <a:bodyPr wrap="none" lIns="90000" tIns="46800" rIns="90000" bIns="46800" anchor="ctr"/>
          <a:lstStyle/>
          <a:p>
            <a:endParaRPr lang="en-US" sz="2400">
              <a:latin typeface="+mj-lt"/>
            </a:endParaRPr>
          </a:p>
        </p:txBody>
      </p:sp>
      <p:sp>
        <p:nvSpPr>
          <p:cNvPr id="10" name="Text Box 10">
            <a:extLst>
              <a:ext uri="{FF2B5EF4-FFF2-40B4-BE49-F238E27FC236}">
                <a16:creationId xmlns:a16="http://schemas.microsoft.com/office/drawing/2014/main" id="{2AD82F19-68AD-9DF2-DD0F-67BE3C025994}"/>
              </a:ext>
            </a:extLst>
          </p:cNvPr>
          <p:cNvSpPr txBox="1">
            <a:spLocks noChangeArrowheads="1"/>
          </p:cNvSpPr>
          <p:nvPr/>
        </p:nvSpPr>
        <p:spPr bwMode="auto">
          <a:xfrm>
            <a:off x="5781280" y="3989391"/>
            <a:ext cx="1982059" cy="4638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lang="en-US" altLang="zh-TW" sz="2400">
                <a:latin typeface="+mj-lt"/>
              </a:rPr>
              <a:t>is a start state</a:t>
            </a:r>
          </a:p>
        </p:txBody>
      </p:sp>
      <p:sp>
        <p:nvSpPr>
          <p:cNvPr id="11" name="Oval 10">
            <a:extLst>
              <a:ext uri="{FF2B5EF4-FFF2-40B4-BE49-F238E27FC236}">
                <a16:creationId xmlns:a16="http://schemas.microsoft.com/office/drawing/2014/main" id="{A625417D-DF5C-67CB-AD2E-71EAA75C05E8}"/>
              </a:ext>
            </a:extLst>
          </p:cNvPr>
          <p:cNvSpPr>
            <a:spLocks noChangeArrowheads="1"/>
          </p:cNvSpPr>
          <p:nvPr/>
        </p:nvSpPr>
        <p:spPr bwMode="auto">
          <a:xfrm>
            <a:off x="4700191" y="5303520"/>
            <a:ext cx="720725" cy="703583"/>
          </a:xfrm>
          <a:prstGeom prst="ellipse">
            <a:avLst/>
          </a:prstGeom>
          <a:solidFill>
            <a:srgbClr val="0E47A1"/>
          </a:solidFill>
          <a:ln w="9525">
            <a:solidFill>
              <a:schemeClr val="tx1"/>
            </a:solidFill>
            <a:round/>
          </a:ln>
        </p:spPr>
        <p:txBody>
          <a:bodyPr wrap="none" lIns="90000" tIns="46800" rIns="90000" bIns="46800"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lang="zh-TW" altLang="en-US" sz="2400">
              <a:latin typeface="+mj-lt"/>
            </a:endParaRPr>
          </a:p>
        </p:txBody>
      </p:sp>
      <p:sp>
        <p:nvSpPr>
          <p:cNvPr id="12" name="Oval 11">
            <a:extLst>
              <a:ext uri="{FF2B5EF4-FFF2-40B4-BE49-F238E27FC236}">
                <a16:creationId xmlns:a16="http://schemas.microsoft.com/office/drawing/2014/main" id="{96A9AE21-2519-5D63-4648-1527027F93E3}"/>
              </a:ext>
            </a:extLst>
          </p:cNvPr>
          <p:cNvSpPr>
            <a:spLocks noChangeArrowheads="1"/>
          </p:cNvSpPr>
          <p:nvPr/>
        </p:nvSpPr>
        <p:spPr bwMode="auto">
          <a:xfrm>
            <a:off x="4799409" y="5399724"/>
            <a:ext cx="522288" cy="511175"/>
          </a:xfrm>
          <a:prstGeom prst="ellipse">
            <a:avLst/>
          </a:prstGeom>
          <a:solidFill>
            <a:srgbClr val="0E47A1"/>
          </a:solidFill>
          <a:ln w="25400">
            <a:solidFill>
              <a:schemeClr val="bg1"/>
            </a:solidFill>
            <a:round/>
          </a:ln>
        </p:spPr>
        <p:txBody>
          <a:bodyPr wrap="none" lIns="90000" tIns="46800" rIns="90000" bIns="46800"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lang="zh-TW" altLang="en-US" sz="2400">
              <a:latin typeface="+mj-lt"/>
            </a:endParaRPr>
          </a:p>
        </p:txBody>
      </p:sp>
      <p:sp>
        <p:nvSpPr>
          <p:cNvPr id="13" name="Text Box 14">
            <a:extLst>
              <a:ext uri="{FF2B5EF4-FFF2-40B4-BE49-F238E27FC236}">
                <a16:creationId xmlns:a16="http://schemas.microsoft.com/office/drawing/2014/main" id="{37A6D90E-0F9F-7032-93D5-99DABC0DCD80}"/>
              </a:ext>
            </a:extLst>
          </p:cNvPr>
          <p:cNvSpPr txBox="1">
            <a:spLocks noChangeArrowheads="1"/>
          </p:cNvSpPr>
          <p:nvPr/>
        </p:nvSpPr>
        <p:spPr bwMode="auto">
          <a:xfrm>
            <a:off x="5781280" y="5429253"/>
            <a:ext cx="1885109" cy="4638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lang="en-US" altLang="zh-TW" sz="2400">
                <a:latin typeface="+mj-lt"/>
              </a:rPr>
              <a:t>is a final state</a:t>
            </a:r>
          </a:p>
        </p:txBody>
      </p:sp>
    </p:spTree>
    <p:extLst>
      <p:ext uri="{BB962C8B-B14F-4D97-AF65-F5344CB8AC3E}">
        <p14:creationId xmlns:p14="http://schemas.microsoft.com/office/powerpoint/2010/main" val="25507718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dur="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dur="1"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dur="1"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dur="1"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dur="1"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dur="1"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ntr" presetSubtype="0" dur="1"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dur="1"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2" presetClass="entr" presetSubtype="4" dur="50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wipe(down)">
                                      <p:cBhvr>
                                        <p:cTn id="31" dur="500"/>
                                        <p:tgtEl>
                                          <p:spTgt spid="12"/>
                                        </p:tgtEl>
                                      </p:cBhvr>
                                    </p:animEffect>
                                  </p:childTnLst>
                                </p:cTn>
                              </p:par>
                            </p:childTnLst>
                          </p:cTn>
                        </p:par>
                      </p:childTnLst>
                    </p:cTn>
                  </p:par>
                  <p:par>
                    <p:cTn id="32" fill="hold">
                      <p:stCondLst>
                        <p:cond delay="indefinite"/>
                      </p:stCondLst>
                      <p:childTnLst>
                        <p:par>
                          <p:cTn id="33" fill="hold">
                            <p:stCondLst>
                              <p:cond delay="0"/>
                            </p:stCondLst>
                            <p:childTnLst>
                              <p:par>
                                <p:cTn id="34" presetID="1" presetClass="entr" presetSubtype="0" dur="1" fill="hold" grpId="0" nodeType="clickEffect">
                                  <p:stCondLst>
                                    <p:cond delay="0"/>
                                  </p:stCondLst>
                                  <p:childTnLst>
                                    <p:set>
                                      <p:cBhvr>
                                        <p:cTn id="35"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6" grpId="0" animBg="1"/>
      <p:bldP spid="7" grpId="0"/>
      <p:bldP spid="8" grpId="0" animBg="1"/>
      <p:bldP spid="9" grpId="0" animBg="1"/>
      <p:bldP spid="10" grpId="0"/>
      <p:bldP spid="11" grpId="0" animBg="1"/>
      <p:bldP spid="12" grpId="0" animBg="1"/>
      <p:bldP spid="13"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762B2E-578A-98FF-4954-20CCCF69324B}"/>
              </a:ext>
            </a:extLst>
          </p:cNvPr>
          <p:cNvSpPr txBox="1">
            <a:spLocks/>
          </p:cNvSpPr>
          <p:nvPr/>
        </p:nvSpPr>
        <p:spPr>
          <a:xfrm>
            <a:off x="0" y="1"/>
            <a:ext cx="12192000" cy="711200"/>
          </a:xfrm>
          <a:prstGeom prst="rect">
            <a:avLst/>
          </a:prstGeom>
        </p:spPr>
        <p:txBody>
          <a:bodyPr/>
          <a:lstStyle>
            <a:lvl1pPr algn="l" defTabSz="914400" rtl="0" eaLnBrk="1" latinLnBrk="0" hangingPunct="1">
              <a:lnSpc>
                <a:spcPct val="90000"/>
              </a:lnSpc>
              <a:spcBef>
                <a:spcPct val="0"/>
              </a:spcBef>
              <a:buNone/>
              <a:defRPr sz="4400" kern="1200">
                <a:solidFill>
                  <a:srgbClr val="C00000"/>
                </a:solidFill>
                <a:latin typeface="Palatino Linotype" panose="02040502050505030304" pitchFamily="18" charset="0"/>
                <a:ea typeface="+mj-ea"/>
                <a:cs typeface="+mj-cs"/>
              </a:defRPr>
            </a:lvl1pPr>
          </a:lstStyle>
          <a:p>
            <a:r>
              <a:rPr lang="en-US"/>
              <a:t>Transition Diagram : Relational operator</a:t>
            </a:r>
          </a:p>
        </p:txBody>
      </p:sp>
      <p:sp>
        <p:nvSpPr>
          <p:cNvPr id="3" name="TextBox 2">
            <a:extLst>
              <a:ext uri="{FF2B5EF4-FFF2-40B4-BE49-F238E27FC236}">
                <a16:creationId xmlns:a16="http://schemas.microsoft.com/office/drawing/2014/main" id="{493D61BA-4229-5F86-08D6-202BEBD47F72}"/>
              </a:ext>
            </a:extLst>
          </p:cNvPr>
          <p:cNvSpPr txBox="1"/>
          <p:nvPr/>
        </p:nvSpPr>
        <p:spPr>
          <a:xfrm>
            <a:off x="3210596" y="1977101"/>
            <a:ext cx="276038" cy="338554"/>
          </a:xfrm>
          <a:prstGeom prst="rect">
            <a:avLst/>
          </a:prstGeom>
          <a:noFill/>
        </p:spPr>
        <p:txBody>
          <a:bodyPr wrap="none" rtlCol="0">
            <a:spAutoFit/>
          </a:bodyPr>
          <a:lstStyle/>
          <a:p>
            <a:r>
              <a:rPr lang="en-US" sz="1600">
                <a:latin typeface="+mj-lt"/>
                <a:ea typeface="Cambria Math" panose="02040503050406030204" pitchFamily="18" charset="0"/>
              </a:rPr>
              <a:t>&lt;</a:t>
            </a:r>
          </a:p>
        </p:txBody>
      </p:sp>
      <p:sp>
        <p:nvSpPr>
          <p:cNvPr id="4" name="Oval 3">
            <a:extLst>
              <a:ext uri="{FF2B5EF4-FFF2-40B4-BE49-F238E27FC236}">
                <a16:creationId xmlns:a16="http://schemas.microsoft.com/office/drawing/2014/main" id="{BF3E6F7F-8A53-5F71-2A37-7DE41CC40F8A}"/>
              </a:ext>
            </a:extLst>
          </p:cNvPr>
          <p:cNvSpPr/>
          <p:nvPr/>
        </p:nvSpPr>
        <p:spPr>
          <a:xfrm>
            <a:off x="6286500" y="4724400"/>
            <a:ext cx="457200" cy="45720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1"/>
          <a:lstStyle/>
          <a:p>
            <a:pPr algn="ctr"/>
            <a:endParaRPr lang="en-US"/>
          </a:p>
        </p:txBody>
      </p:sp>
      <mc:AlternateContent xmlns:mc="http://schemas.openxmlformats.org/markup-compatibility/2006" xmlns:a14="http://schemas.microsoft.com/office/drawing/2010/main">
        <mc:Choice Requires="a14">
          <p:sp>
            <p:nvSpPr>
              <p:cNvPr id="5" name="Oval 4">
                <a:extLst>
                  <a:ext uri="{FF2B5EF4-FFF2-40B4-BE49-F238E27FC236}">
                    <a16:creationId xmlns:a16="http://schemas.microsoft.com/office/drawing/2014/main" id="{D1998E3D-239E-B27F-6A17-95F403342CAB}"/>
                  </a:ext>
                </a:extLst>
              </p:cNvPr>
              <p:cNvSpPr/>
              <p:nvPr/>
            </p:nvSpPr>
            <p:spPr>
              <a:xfrm>
                <a:off x="2333812" y="2078623"/>
                <a:ext cx="609600" cy="609600"/>
              </a:xfrm>
              <a:prstGeom prst="ellipse">
                <a:avLst/>
              </a:prstGeom>
              <a:solidFill>
                <a:srgbClr val="0E47A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14:m>
                  <m:oMathPara xmlns:m="http://schemas.openxmlformats.org/officeDocument/2006/math">
                    <m:oMathParaPr>
                      <m:jc m:val="center"/>
                    </m:oMathParaPr>
                    <m:oMath xmlns:m="http://schemas.openxmlformats.org/officeDocument/2006/math">
                      <m:r>
                        <a:rPr lang="en-US" b="0" i="1" smtClean="0">
                          <a:latin typeface="Cambria Math" panose="02040503050406030204" pitchFamily="18" charset="0"/>
                        </a:rPr>
                        <m:t>0</m:t>
                      </m:r>
                    </m:oMath>
                  </m:oMathPara>
                </a14:m>
                <a:endParaRPr lang="en-US"/>
              </a:p>
            </p:txBody>
          </p:sp>
        </mc:Choice>
        <mc:Fallback xmlns="">
          <p:sp>
            <p:nvSpPr>
              <p:cNvPr id="5" name="Oval 4">
                <a:extLst>
                  <a:ext uri="{FF2B5EF4-FFF2-40B4-BE49-F238E27FC236}">
                    <a16:creationId xmlns:a16="http://schemas.microsoft.com/office/drawing/2014/main" id="{D1998E3D-239E-B27F-6A17-95F403342CAB}"/>
                  </a:ext>
                </a:extLst>
              </p:cNvPr>
              <p:cNvSpPr>
                <a:spLocks noRot="1" noChangeAspect="1" noMove="1" noResize="1" noEditPoints="1" noAdjustHandles="1" noChangeArrowheads="1" noChangeShapeType="1" noTextEdit="1"/>
              </p:cNvSpPr>
              <p:nvPr/>
            </p:nvSpPr>
            <p:spPr>
              <a:xfrm>
                <a:off x="2333812" y="2078623"/>
                <a:ext cx="609600" cy="609600"/>
              </a:xfrm>
              <a:prstGeom prst="ellipse">
                <a:avLst/>
              </a:prstGeom>
              <a:blipFill>
                <a:blip r:embed="rId2"/>
                <a:stretch>
                  <a:fillRect/>
                </a:stretch>
              </a:blipFill>
              <a:ln>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 name="Oval 5">
                <a:extLst>
                  <a:ext uri="{FF2B5EF4-FFF2-40B4-BE49-F238E27FC236}">
                    <a16:creationId xmlns:a16="http://schemas.microsoft.com/office/drawing/2014/main" id="{8D2B5889-D301-1F05-BE4A-A0002F409C4B}"/>
                  </a:ext>
                </a:extLst>
              </p:cNvPr>
              <p:cNvSpPr/>
              <p:nvPr/>
            </p:nvSpPr>
            <p:spPr>
              <a:xfrm>
                <a:off x="3772832" y="4500167"/>
                <a:ext cx="609600" cy="609600"/>
              </a:xfrm>
              <a:prstGeom prst="ellipse">
                <a:avLst/>
              </a:prstGeom>
              <a:solidFill>
                <a:srgbClr val="0E47A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14:m>
                  <m:oMathPara xmlns:m="http://schemas.openxmlformats.org/officeDocument/2006/math">
                    <m:oMathParaPr>
                      <m:jc m:val="center"/>
                    </m:oMathParaPr>
                    <m:oMath xmlns:m="http://schemas.openxmlformats.org/officeDocument/2006/math">
                      <m:r>
                        <a:rPr lang="en-US" b="0" i="1" smtClean="0">
                          <a:latin typeface="Cambria Math" panose="02040503050406030204" pitchFamily="18" charset="0"/>
                        </a:rPr>
                        <m:t>6</m:t>
                      </m:r>
                    </m:oMath>
                  </m:oMathPara>
                </a14:m>
                <a:endParaRPr lang="en-US"/>
              </a:p>
            </p:txBody>
          </p:sp>
        </mc:Choice>
        <mc:Fallback xmlns="">
          <p:sp>
            <p:nvSpPr>
              <p:cNvPr id="6" name="Oval 5">
                <a:extLst>
                  <a:ext uri="{FF2B5EF4-FFF2-40B4-BE49-F238E27FC236}">
                    <a16:creationId xmlns:a16="http://schemas.microsoft.com/office/drawing/2014/main" id="{8D2B5889-D301-1F05-BE4A-A0002F409C4B}"/>
                  </a:ext>
                </a:extLst>
              </p:cNvPr>
              <p:cNvSpPr>
                <a:spLocks noRot="1" noChangeAspect="1" noMove="1" noResize="1" noEditPoints="1" noAdjustHandles="1" noChangeArrowheads="1" noChangeShapeType="1" noTextEdit="1"/>
              </p:cNvSpPr>
              <p:nvPr/>
            </p:nvSpPr>
            <p:spPr>
              <a:xfrm>
                <a:off x="3772832" y="4500167"/>
                <a:ext cx="609600" cy="609600"/>
              </a:xfrm>
              <a:prstGeom prst="ellipse">
                <a:avLst/>
              </a:prstGeom>
              <a:blipFill>
                <a:blip r:embed="rId3"/>
                <a:stretch>
                  <a:fillRect/>
                </a:stretch>
              </a:blipFill>
              <a:ln>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Oval 6">
                <a:extLst>
                  <a:ext uri="{FF2B5EF4-FFF2-40B4-BE49-F238E27FC236}">
                    <a16:creationId xmlns:a16="http://schemas.microsoft.com/office/drawing/2014/main" id="{B1B7528D-F71A-24DE-10F1-4DB2E1D41B78}"/>
                  </a:ext>
                </a:extLst>
              </p:cNvPr>
              <p:cNvSpPr/>
              <p:nvPr/>
            </p:nvSpPr>
            <p:spPr>
              <a:xfrm>
                <a:off x="3787121" y="2081212"/>
                <a:ext cx="609600" cy="609600"/>
              </a:xfrm>
              <a:prstGeom prst="ellipse">
                <a:avLst/>
              </a:prstGeom>
              <a:solidFill>
                <a:srgbClr val="0E47A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14:m>
                  <m:oMathPara xmlns:m="http://schemas.openxmlformats.org/officeDocument/2006/math">
                    <m:oMathParaPr>
                      <m:jc m:val="center"/>
                    </m:oMathParaPr>
                    <m:oMath xmlns:m="http://schemas.openxmlformats.org/officeDocument/2006/math">
                      <m:r>
                        <a:rPr lang="en-US" b="0" i="1" smtClean="0">
                          <a:latin typeface="Cambria Math" panose="02040503050406030204" pitchFamily="18" charset="0"/>
                        </a:rPr>
                        <m:t>1</m:t>
                      </m:r>
                    </m:oMath>
                  </m:oMathPara>
                </a14:m>
                <a:endParaRPr lang="en-US"/>
              </a:p>
            </p:txBody>
          </p:sp>
        </mc:Choice>
        <mc:Fallback xmlns="">
          <p:sp>
            <p:nvSpPr>
              <p:cNvPr id="7" name="Oval 6">
                <a:extLst>
                  <a:ext uri="{FF2B5EF4-FFF2-40B4-BE49-F238E27FC236}">
                    <a16:creationId xmlns:a16="http://schemas.microsoft.com/office/drawing/2014/main" id="{B1B7528D-F71A-24DE-10F1-4DB2E1D41B78}"/>
                  </a:ext>
                </a:extLst>
              </p:cNvPr>
              <p:cNvSpPr>
                <a:spLocks noRot="1" noChangeAspect="1" noMove="1" noResize="1" noEditPoints="1" noAdjustHandles="1" noChangeArrowheads="1" noChangeShapeType="1" noTextEdit="1"/>
              </p:cNvSpPr>
              <p:nvPr/>
            </p:nvSpPr>
            <p:spPr>
              <a:xfrm>
                <a:off x="3787121" y="2081212"/>
                <a:ext cx="609600" cy="609600"/>
              </a:xfrm>
              <a:prstGeom prst="ellipse">
                <a:avLst/>
              </a:prstGeom>
              <a:blipFill>
                <a:blip r:embed="rId4"/>
                <a:stretch>
                  <a:fillRect/>
                </a:stretch>
              </a:blipFill>
              <a:ln>
                <a:solidFill>
                  <a:schemeClr val="tx1"/>
                </a:solidFill>
              </a:ln>
            </p:spPr>
            <p:txBody>
              <a:bodyPr/>
              <a:lstStyle/>
              <a:p>
                <a:r>
                  <a:rPr lang="en-IN">
                    <a:noFill/>
                  </a:rPr>
                  <a:t> </a:t>
                </a:r>
              </a:p>
            </p:txBody>
          </p:sp>
        </mc:Fallback>
      </mc:AlternateContent>
      <p:sp>
        <p:nvSpPr>
          <p:cNvPr id="8" name="Oval 7">
            <a:extLst>
              <a:ext uri="{FF2B5EF4-FFF2-40B4-BE49-F238E27FC236}">
                <a16:creationId xmlns:a16="http://schemas.microsoft.com/office/drawing/2014/main" id="{0874114A-B8B0-B125-EEAB-29B0051D16E2}"/>
              </a:ext>
            </a:extLst>
          </p:cNvPr>
          <p:cNvSpPr/>
          <p:nvPr/>
        </p:nvSpPr>
        <p:spPr>
          <a:xfrm>
            <a:off x="5229569" y="2071272"/>
            <a:ext cx="609600" cy="609600"/>
          </a:xfrm>
          <a:prstGeom prst="ellipse">
            <a:avLst/>
          </a:prstGeom>
          <a:solidFill>
            <a:srgbClr val="0E47A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t>2</a:t>
            </a:r>
          </a:p>
        </p:txBody>
      </p:sp>
      <p:sp>
        <p:nvSpPr>
          <p:cNvPr id="9" name="Oval 8">
            <a:extLst>
              <a:ext uri="{FF2B5EF4-FFF2-40B4-BE49-F238E27FC236}">
                <a16:creationId xmlns:a16="http://schemas.microsoft.com/office/drawing/2014/main" id="{29BDF91B-BF33-A53E-88A3-BE5DF93979B2}"/>
              </a:ext>
            </a:extLst>
          </p:cNvPr>
          <p:cNvSpPr/>
          <p:nvPr/>
        </p:nvSpPr>
        <p:spPr>
          <a:xfrm>
            <a:off x="5315324" y="2147472"/>
            <a:ext cx="457200" cy="45720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endParaRPr lang="en-US"/>
          </a:p>
        </p:txBody>
      </p:sp>
      <p:sp>
        <p:nvSpPr>
          <p:cNvPr id="10" name="Oval 9">
            <a:extLst>
              <a:ext uri="{FF2B5EF4-FFF2-40B4-BE49-F238E27FC236}">
                <a16:creationId xmlns:a16="http://schemas.microsoft.com/office/drawing/2014/main" id="{A56A998B-4CF7-F661-17D9-6D3FF5015AB8}"/>
              </a:ext>
            </a:extLst>
          </p:cNvPr>
          <p:cNvSpPr/>
          <p:nvPr/>
        </p:nvSpPr>
        <p:spPr>
          <a:xfrm>
            <a:off x="5267668" y="2852326"/>
            <a:ext cx="609600" cy="609600"/>
          </a:xfrm>
          <a:prstGeom prst="ellipse">
            <a:avLst/>
          </a:prstGeom>
          <a:solidFill>
            <a:srgbClr val="0E47A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t>3</a:t>
            </a:r>
          </a:p>
        </p:txBody>
      </p:sp>
      <p:sp>
        <p:nvSpPr>
          <p:cNvPr id="11" name="Oval 10">
            <a:extLst>
              <a:ext uri="{FF2B5EF4-FFF2-40B4-BE49-F238E27FC236}">
                <a16:creationId xmlns:a16="http://schemas.microsoft.com/office/drawing/2014/main" id="{9544E2DC-1697-A8BD-48D5-2A05C32ADA90}"/>
              </a:ext>
            </a:extLst>
          </p:cNvPr>
          <p:cNvSpPr/>
          <p:nvPr/>
        </p:nvSpPr>
        <p:spPr>
          <a:xfrm>
            <a:off x="5353423" y="2928526"/>
            <a:ext cx="457200" cy="45720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endParaRPr lang="en-US"/>
          </a:p>
        </p:txBody>
      </p:sp>
      <p:sp>
        <p:nvSpPr>
          <p:cNvPr id="12" name="Oval 11">
            <a:extLst>
              <a:ext uri="{FF2B5EF4-FFF2-40B4-BE49-F238E27FC236}">
                <a16:creationId xmlns:a16="http://schemas.microsoft.com/office/drawing/2014/main" id="{3246AC9E-4CF5-BD83-2EBE-0CDD7C45712F}"/>
              </a:ext>
            </a:extLst>
          </p:cNvPr>
          <p:cNvSpPr/>
          <p:nvPr/>
        </p:nvSpPr>
        <p:spPr>
          <a:xfrm>
            <a:off x="5296242" y="3623863"/>
            <a:ext cx="609600" cy="609600"/>
          </a:xfrm>
          <a:prstGeom prst="ellipse">
            <a:avLst/>
          </a:prstGeom>
          <a:solidFill>
            <a:srgbClr val="0E47A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t>4</a:t>
            </a:r>
          </a:p>
        </p:txBody>
      </p:sp>
      <p:sp>
        <p:nvSpPr>
          <p:cNvPr id="13" name="Oval 12">
            <a:extLst>
              <a:ext uri="{FF2B5EF4-FFF2-40B4-BE49-F238E27FC236}">
                <a16:creationId xmlns:a16="http://schemas.microsoft.com/office/drawing/2014/main" id="{466B2DB1-51E7-C5CB-3B17-6B83FBEE2451}"/>
              </a:ext>
            </a:extLst>
          </p:cNvPr>
          <p:cNvSpPr/>
          <p:nvPr/>
        </p:nvSpPr>
        <p:spPr>
          <a:xfrm>
            <a:off x="5381997" y="3700063"/>
            <a:ext cx="457200" cy="45720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endParaRPr lang="en-US"/>
          </a:p>
        </p:txBody>
      </p:sp>
      <p:cxnSp>
        <p:nvCxnSpPr>
          <p:cNvPr id="14" name="Straight Arrow Connector 13">
            <a:extLst>
              <a:ext uri="{FF2B5EF4-FFF2-40B4-BE49-F238E27FC236}">
                <a16:creationId xmlns:a16="http://schemas.microsoft.com/office/drawing/2014/main" id="{9CA3DF43-66BC-2440-C284-ABAB94EC9013}"/>
              </a:ext>
            </a:extLst>
          </p:cNvPr>
          <p:cNvCxnSpPr>
            <a:endCxn id="5" idx="2"/>
          </p:cNvCxnSpPr>
          <p:nvPr/>
        </p:nvCxnSpPr>
        <p:spPr>
          <a:xfrm>
            <a:off x="1828800" y="2383423"/>
            <a:ext cx="505012" cy="0"/>
          </a:xfrm>
          <a:prstGeom prst="straightConnector1">
            <a:avLst/>
          </a:prstGeom>
          <a:ln w="25400">
            <a:solidFill>
              <a:srgbClr val="0E47A1"/>
            </a:solidFill>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1CC98226-BB2C-411A-345B-39A97368A6A6}"/>
              </a:ext>
            </a:extLst>
          </p:cNvPr>
          <p:cNvCxnSpPr>
            <a:stCxn id="5" idx="6"/>
            <a:endCxn id="7" idx="2"/>
          </p:cNvCxnSpPr>
          <p:nvPr/>
        </p:nvCxnSpPr>
        <p:spPr>
          <a:xfrm>
            <a:off x="2943412" y="2383423"/>
            <a:ext cx="843709" cy="2589"/>
          </a:xfrm>
          <a:prstGeom prst="straightConnector1">
            <a:avLst/>
          </a:prstGeom>
          <a:ln w="25400">
            <a:solidFill>
              <a:srgbClr val="0E47A1"/>
            </a:solidFill>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FD8C1C1F-6B23-C8D9-DE91-B2D89087FBD8}"/>
              </a:ext>
            </a:extLst>
          </p:cNvPr>
          <p:cNvCxnSpPr/>
          <p:nvPr/>
        </p:nvCxnSpPr>
        <p:spPr>
          <a:xfrm>
            <a:off x="4396721" y="2392948"/>
            <a:ext cx="843709" cy="2589"/>
          </a:xfrm>
          <a:prstGeom prst="straightConnector1">
            <a:avLst/>
          </a:prstGeom>
          <a:ln w="25400">
            <a:solidFill>
              <a:srgbClr val="0E47A1"/>
            </a:solidFill>
            <a:tailEnd type="arrow"/>
          </a:ln>
        </p:spPr>
        <p:style>
          <a:lnRef idx="1">
            <a:schemeClr val="accent1"/>
          </a:lnRef>
          <a:fillRef idx="0">
            <a:schemeClr val="accent1"/>
          </a:fillRef>
          <a:effectRef idx="0">
            <a:schemeClr val="accent1"/>
          </a:effectRef>
          <a:fontRef idx="minor">
            <a:schemeClr val="tx1"/>
          </a:fontRef>
        </p:style>
      </p:cxnSp>
      <p:cxnSp>
        <p:nvCxnSpPr>
          <p:cNvPr id="17" name="Curved Connector 17">
            <a:extLst>
              <a:ext uri="{FF2B5EF4-FFF2-40B4-BE49-F238E27FC236}">
                <a16:creationId xmlns:a16="http://schemas.microsoft.com/office/drawing/2014/main" id="{6F3E60EB-F949-3E77-03A1-DF8E89312EBD}"/>
              </a:ext>
            </a:extLst>
          </p:cNvPr>
          <p:cNvCxnSpPr/>
          <p:nvPr/>
        </p:nvCxnSpPr>
        <p:spPr>
          <a:xfrm rot="16200000" flipH="1">
            <a:off x="4460925" y="2336095"/>
            <a:ext cx="466314" cy="1175747"/>
          </a:xfrm>
          <a:prstGeom prst="curvedConnector2">
            <a:avLst/>
          </a:prstGeom>
          <a:ln w="25400">
            <a:solidFill>
              <a:srgbClr val="0E47A1"/>
            </a:solidFill>
            <a:tailEnd type="arrow"/>
          </a:ln>
        </p:spPr>
        <p:style>
          <a:lnRef idx="1">
            <a:schemeClr val="accent1"/>
          </a:lnRef>
          <a:fillRef idx="0">
            <a:schemeClr val="accent1"/>
          </a:fillRef>
          <a:effectRef idx="0">
            <a:schemeClr val="accent1"/>
          </a:effectRef>
          <a:fontRef idx="minor">
            <a:schemeClr val="tx1"/>
          </a:fontRef>
        </p:style>
      </p:cxnSp>
      <p:cxnSp>
        <p:nvCxnSpPr>
          <p:cNvPr id="18" name="Curved Connector 18">
            <a:extLst>
              <a:ext uri="{FF2B5EF4-FFF2-40B4-BE49-F238E27FC236}">
                <a16:creationId xmlns:a16="http://schemas.microsoft.com/office/drawing/2014/main" id="{CFD50DD4-E243-4DC4-A524-7885E6B7FDB7}"/>
              </a:ext>
            </a:extLst>
          </p:cNvPr>
          <p:cNvCxnSpPr>
            <a:endCxn id="12" idx="2"/>
          </p:cNvCxnSpPr>
          <p:nvPr/>
        </p:nvCxnSpPr>
        <p:spPr>
          <a:xfrm rot="16200000" flipH="1">
            <a:off x="4097674" y="2730095"/>
            <a:ext cx="1221390" cy="1175745"/>
          </a:xfrm>
          <a:prstGeom prst="curvedConnector2">
            <a:avLst/>
          </a:prstGeom>
          <a:ln w="25400">
            <a:solidFill>
              <a:srgbClr val="0E47A1"/>
            </a:solidFill>
            <a:tailEnd type="arrow"/>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7A826F6E-5620-37F9-0511-DB51C8CE774B}"/>
              </a:ext>
            </a:extLst>
          </p:cNvPr>
          <p:cNvSpPr/>
          <p:nvPr/>
        </p:nvSpPr>
        <p:spPr>
          <a:xfrm>
            <a:off x="3305498" y="3433356"/>
            <a:ext cx="609600" cy="609600"/>
          </a:xfrm>
          <a:prstGeom prst="ellipse">
            <a:avLst/>
          </a:prstGeom>
          <a:solidFill>
            <a:srgbClr val="0E47A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t>5</a:t>
            </a:r>
          </a:p>
        </p:txBody>
      </p:sp>
      <p:sp>
        <p:nvSpPr>
          <p:cNvPr id="20" name="Oval 19">
            <a:extLst>
              <a:ext uri="{FF2B5EF4-FFF2-40B4-BE49-F238E27FC236}">
                <a16:creationId xmlns:a16="http://schemas.microsoft.com/office/drawing/2014/main" id="{6EEB7805-E83D-58AF-A67A-83CF7FA7E2F2}"/>
              </a:ext>
            </a:extLst>
          </p:cNvPr>
          <p:cNvSpPr/>
          <p:nvPr/>
        </p:nvSpPr>
        <p:spPr>
          <a:xfrm>
            <a:off x="3391253" y="3509556"/>
            <a:ext cx="457200" cy="45720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endParaRPr lang="en-US"/>
          </a:p>
        </p:txBody>
      </p:sp>
      <p:sp>
        <p:nvSpPr>
          <p:cNvPr id="21" name="Oval 20">
            <a:extLst>
              <a:ext uri="{FF2B5EF4-FFF2-40B4-BE49-F238E27FC236}">
                <a16:creationId xmlns:a16="http://schemas.microsoft.com/office/drawing/2014/main" id="{554E97AD-8BD1-9B6F-39E2-E2F381B4E058}"/>
              </a:ext>
            </a:extLst>
          </p:cNvPr>
          <p:cNvSpPr/>
          <p:nvPr/>
        </p:nvSpPr>
        <p:spPr>
          <a:xfrm>
            <a:off x="5401016" y="5443150"/>
            <a:ext cx="609600" cy="609600"/>
          </a:xfrm>
          <a:prstGeom prst="ellipse">
            <a:avLst/>
          </a:prstGeom>
          <a:solidFill>
            <a:srgbClr val="0E47A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t>8</a:t>
            </a:r>
          </a:p>
        </p:txBody>
      </p:sp>
      <p:sp>
        <p:nvSpPr>
          <p:cNvPr id="22" name="Oval 21">
            <a:extLst>
              <a:ext uri="{FF2B5EF4-FFF2-40B4-BE49-F238E27FC236}">
                <a16:creationId xmlns:a16="http://schemas.microsoft.com/office/drawing/2014/main" id="{23BE1370-3275-C3D3-18B4-7D91E44BB368}"/>
              </a:ext>
            </a:extLst>
          </p:cNvPr>
          <p:cNvSpPr/>
          <p:nvPr/>
        </p:nvSpPr>
        <p:spPr>
          <a:xfrm>
            <a:off x="5486771" y="5519350"/>
            <a:ext cx="457200" cy="45720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endParaRPr lang="en-US"/>
          </a:p>
        </p:txBody>
      </p:sp>
      <p:sp>
        <p:nvSpPr>
          <p:cNvPr id="23" name="Oval 22">
            <a:extLst>
              <a:ext uri="{FF2B5EF4-FFF2-40B4-BE49-F238E27FC236}">
                <a16:creationId xmlns:a16="http://schemas.microsoft.com/office/drawing/2014/main" id="{A40010FA-6960-4189-6C6A-083F0988308D}"/>
              </a:ext>
            </a:extLst>
          </p:cNvPr>
          <p:cNvSpPr/>
          <p:nvPr/>
        </p:nvSpPr>
        <p:spPr>
          <a:xfrm>
            <a:off x="5367680" y="4481119"/>
            <a:ext cx="609600" cy="609600"/>
          </a:xfrm>
          <a:prstGeom prst="ellipse">
            <a:avLst/>
          </a:prstGeom>
          <a:solidFill>
            <a:srgbClr val="0E47A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t>7</a:t>
            </a:r>
          </a:p>
        </p:txBody>
      </p:sp>
      <p:sp>
        <p:nvSpPr>
          <p:cNvPr id="24" name="Oval 23">
            <a:extLst>
              <a:ext uri="{FF2B5EF4-FFF2-40B4-BE49-F238E27FC236}">
                <a16:creationId xmlns:a16="http://schemas.microsoft.com/office/drawing/2014/main" id="{A0F4DFBD-9D54-977B-0024-C9D0B04A19AD}"/>
              </a:ext>
            </a:extLst>
          </p:cNvPr>
          <p:cNvSpPr/>
          <p:nvPr/>
        </p:nvSpPr>
        <p:spPr>
          <a:xfrm>
            <a:off x="5453435" y="4557319"/>
            <a:ext cx="457200" cy="45720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endParaRPr lang="en-US"/>
          </a:p>
        </p:txBody>
      </p:sp>
      <p:cxnSp>
        <p:nvCxnSpPr>
          <p:cNvPr id="25" name="Straight Arrow Connector 24">
            <a:extLst>
              <a:ext uri="{FF2B5EF4-FFF2-40B4-BE49-F238E27FC236}">
                <a16:creationId xmlns:a16="http://schemas.microsoft.com/office/drawing/2014/main" id="{788F68F0-EC2A-81B0-A172-6662146192E8}"/>
              </a:ext>
            </a:extLst>
          </p:cNvPr>
          <p:cNvCxnSpPr>
            <a:stCxn id="6" idx="6"/>
          </p:cNvCxnSpPr>
          <p:nvPr/>
        </p:nvCxnSpPr>
        <p:spPr>
          <a:xfrm flipV="1">
            <a:off x="4382432" y="4800185"/>
            <a:ext cx="990008" cy="4782"/>
          </a:xfrm>
          <a:prstGeom prst="straightConnector1">
            <a:avLst/>
          </a:prstGeom>
          <a:ln w="25400">
            <a:solidFill>
              <a:srgbClr val="0E47A1"/>
            </a:solidFill>
            <a:tailEnd type="arrow"/>
          </a:ln>
        </p:spPr>
        <p:style>
          <a:lnRef idx="1">
            <a:schemeClr val="accent1"/>
          </a:lnRef>
          <a:fillRef idx="0">
            <a:schemeClr val="accent1"/>
          </a:fillRef>
          <a:effectRef idx="0">
            <a:schemeClr val="accent1"/>
          </a:effectRef>
          <a:fontRef idx="minor">
            <a:schemeClr val="tx1"/>
          </a:fontRef>
        </p:style>
      </p:cxnSp>
      <p:cxnSp>
        <p:nvCxnSpPr>
          <p:cNvPr id="26" name="Curved Connector 26">
            <a:extLst>
              <a:ext uri="{FF2B5EF4-FFF2-40B4-BE49-F238E27FC236}">
                <a16:creationId xmlns:a16="http://schemas.microsoft.com/office/drawing/2014/main" id="{83593592-1545-FA27-CDA9-0C21F970FE7F}"/>
              </a:ext>
            </a:extLst>
          </p:cNvPr>
          <p:cNvCxnSpPr>
            <a:stCxn id="6" idx="5"/>
            <a:endCxn id="21" idx="2"/>
          </p:cNvCxnSpPr>
          <p:nvPr/>
        </p:nvCxnSpPr>
        <p:spPr>
          <a:xfrm rot="16200000" flipH="1">
            <a:off x="4483359" y="4830292"/>
            <a:ext cx="727457" cy="1107858"/>
          </a:xfrm>
          <a:prstGeom prst="curvedConnector2">
            <a:avLst/>
          </a:prstGeom>
          <a:ln w="25400">
            <a:solidFill>
              <a:srgbClr val="0E47A1"/>
            </a:solidFill>
            <a:tailEnd type="arrow"/>
          </a:ln>
        </p:spPr>
        <p:style>
          <a:lnRef idx="1">
            <a:schemeClr val="accent1"/>
          </a:lnRef>
          <a:fillRef idx="0">
            <a:schemeClr val="accent1"/>
          </a:fillRef>
          <a:effectRef idx="0">
            <a:schemeClr val="accent1"/>
          </a:effectRef>
          <a:fontRef idx="minor">
            <a:schemeClr val="tx1"/>
          </a:fontRef>
        </p:style>
      </p:cxnSp>
      <p:cxnSp>
        <p:nvCxnSpPr>
          <p:cNvPr id="27" name="Curved Connector 27">
            <a:extLst>
              <a:ext uri="{FF2B5EF4-FFF2-40B4-BE49-F238E27FC236}">
                <a16:creationId xmlns:a16="http://schemas.microsoft.com/office/drawing/2014/main" id="{13F725A5-4CF2-C309-31B5-81A39C67A2A3}"/>
              </a:ext>
            </a:extLst>
          </p:cNvPr>
          <p:cNvCxnSpPr/>
          <p:nvPr/>
        </p:nvCxnSpPr>
        <p:spPr>
          <a:xfrm rot="16200000" flipH="1">
            <a:off x="2161810" y="3179485"/>
            <a:ext cx="2116744" cy="1134220"/>
          </a:xfrm>
          <a:prstGeom prst="curvedConnector2">
            <a:avLst/>
          </a:prstGeom>
          <a:ln w="25400">
            <a:solidFill>
              <a:srgbClr val="0E47A1"/>
            </a:solidFill>
            <a:tailEnd type="arrow"/>
          </a:ln>
        </p:spPr>
        <p:style>
          <a:lnRef idx="1">
            <a:schemeClr val="accent1"/>
          </a:lnRef>
          <a:fillRef idx="0">
            <a:schemeClr val="accent1"/>
          </a:fillRef>
          <a:effectRef idx="0">
            <a:schemeClr val="accent1"/>
          </a:effectRef>
          <a:fontRef idx="minor">
            <a:schemeClr val="tx1"/>
          </a:fontRef>
        </p:style>
      </p:cxnSp>
      <p:cxnSp>
        <p:nvCxnSpPr>
          <p:cNvPr id="28" name="Curved Connector 28">
            <a:extLst>
              <a:ext uri="{FF2B5EF4-FFF2-40B4-BE49-F238E27FC236}">
                <a16:creationId xmlns:a16="http://schemas.microsoft.com/office/drawing/2014/main" id="{652A7DD0-537F-BAE9-01BD-30758EBD5AB5}"/>
              </a:ext>
            </a:extLst>
          </p:cNvPr>
          <p:cNvCxnSpPr>
            <a:stCxn id="5" idx="4"/>
            <a:endCxn id="19" idx="2"/>
          </p:cNvCxnSpPr>
          <p:nvPr/>
        </p:nvCxnSpPr>
        <p:spPr>
          <a:xfrm rot="16200000" flipH="1">
            <a:off x="2447089" y="2879746"/>
            <a:ext cx="1049933" cy="666886"/>
          </a:xfrm>
          <a:prstGeom prst="curvedConnector2">
            <a:avLst/>
          </a:prstGeom>
          <a:ln w="25400">
            <a:solidFill>
              <a:srgbClr val="0E47A1"/>
            </a:solidFill>
            <a:tailEnd type="arrow"/>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64A9AB5F-14D1-0742-A287-B1EAF5497C2C}"/>
              </a:ext>
            </a:extLst>
          </p:cNvPr>
          <p:cNvSpPr txBox="1"/>
          <p:nvPr/>
        </p:nvSpPr>
        <p:spPr>
          <a:xfrm>
            <a:off x="4646724" y="2016294"/>
            <a:ext cx="282450" cy="338554"/>
          </a:xfrm>
          <a:prstGeom prst="rect">
            <a:avLst/>
          </a:prstGeom>
          <a:noFill/>
        </p:spPr>
        <p:txBody>
          <a:bodyPr wrap="none" rtlCol="0">
            <a:spAutoFit/>
          </a:bodyPr>
          <a:lstStyle/>
          <a:p>
            <a:r>
              <a:rPr lang="en-US" sz="1600">
                <a:latin typeface="+mj-lt"/>
                <a:ea typeface="Cambria Math" panose="02040503050406030204" pitchFamily="18" charset="0"/>
              </a:rPr>
              <a:t>=</a:t>
            </a:r>
          </a:p>
        </p:txBody>
      </p:sp>
      <p:sp>
        <p:nvSpPr>
          <p:cNvPr id="30" name="TextBox 29">
            <a:extLst>
              <a:ext uri="{FF2B5EF4-FFF2-40B4-BE49-F238E27FC236}">
                <a16:creationId xmlns:a16="http://schemas.microsoft.com/office/drawing/2014/main" id="{FD4CE550-C12D-353D-C8C8-18472BA2F737}"/>
              </a:ext>
            </a:extLst>
          </p:cNvPr>
          <p:cNvSpPr txBox="1"/>
          <p:nvPr/>
        </p:nvSpPr>
        <p:spPr>
          <a:xfrm>
            <a:off x="4759350" y="3453374"/>
            <a:ext cx="606256" cy="338554"/>
          </a:xfrm>
          <a:prstGeom prst="rect">
            <a:avLst/>
          </a:prstGeom>
          <a:noFill/>
        </p:spPr>
        <p:txBody>
          <a:bodyPr wrap="none" rtlCol="0">
            <a:spAutoFit/>
          </a:bodyPr>
          <a:lstStyle/>
          <a:p>
            <a:r>
              <a:rPr lang="en-US" sz="1600">
                <a:latin typeface="+mj-lt"/>
                <a:ea typeface="Cambria Math" panose="02040503050406030204" pitchFamily="18" charset="0"/>
              </a:rPr>
              <a:t>other</a:t>
            </a:r>
          </a:p>
        </p:txBody>
      </p:sp>
      <p:sp>
        <p:nvSpPr>
          <p:cNvPr id="31" name="TextBox 30">
            <a:extLst>
              <a:ext uri="{FF2B5EF4-FFF2-40B4-BE49-F238E27FC236}">
                <a16:creationId xmlns:a16="http://schemas.microsoft.com/office/drawing/2014/main" id="{E68F8496-F60E-106A-3156-6124FFD915CA}"/>
              </a:ext>
            </a:extLst>
          </p:cNvPr>
          <p:cNvSpPr txBox="1"/>
          <p:nvPr/>
        </p:nvSpPr>
        <p:spPr>
          <a:xfrm>
            <a:off x="4728196" y="2724944"/>
            <a:ext cx="279244" cy="338554"/>
          </a:xfrm>
          <a:prstGeom prst="rect">
            <a:avLst/>
          </a:prstGeom>
          <a:noFill/>
        </p:spPr>
        <p:txBody>
          <a:bodyPr wrap="none" rtlCol="0">
            <a:spAutoFit/>
          </a:bodyPr>
          <a:lstStyle/>
          <a:p>
            <a:r>
              <a:rPr lang="en-US" sz="1600">
                <a:latin typeface="+mj-lt"/>
                <a:ea typeface="Cambria Math" panose="02040503050406030204" pitchFamily="18" charset="0"/>
              </a:rPr>
              <a:t>&gt;</a:t>
            </a:r>
          </a:p>
        </p:txBody>
      </p:sp>
      <p:sp>
        <p:nvSpPr>
          <p:cNvPr id="32" name="TextBox 31">
            <a:extLst>
              <a:ext uri="{FF2B5EF4-FFF2-40B4-BE49-F238E27FC236}">
                <a16:creationId xmlns:a16="http://schemas.microsoft.com/office/drawing/2014/main" id="{7E983468-83CE-8286-420C-62D68B6E5643}"/>
              </a:ext>
            </a:extLst>
          </p:cNvPr>
          <p:cNvSpPr txBox="1"/>
          <p:nvPr/>
        </p:nvSpPr>
        <p:spPr>
          <a:xfrm>
            <a:off x="4828331" y="4476947"/>
            <a:ext cx="282450" cy="338554"/>
          </a:xfrm>
          <a:prstGeom prst="rect">
            <a:avLst/>
          </a:prstGeom>
          <a:noFill/>
        </p:spPr>
        <p:txBody>
          <a:bodyPr wrap="none" rtlCol="0">
            <a:spAutoFit/>
          </a:bodyPr>
          <a:lstStyle/>
          <a:p>
            <a:r>
              <a:rPr lang="en-US" sz="1600">
                <a:latin typeface="+mj-lt"/>
                <a:ea typeface="Cambria Math" panose="02040503050406030204" pitchFamily="18" charset="0"/>
              </a:rPr>
              <a:t>=</a:t>
            </a:r>
          </a:p>
        </p:txBody>
      </p:sp>
      <p:sp>
        <p:nvSpPr>
          <p:cNvPr id="33" name="TextBox 32">
            <a:extLst>
              <a:ext uri="{FF2B5EF4-FFF2-40B4-BE49-F238E27FC236}">
                <a16:creationId xmlns:a16="http://schemas.microsoft.com/office/drawing/2014/main" id="{E8965E82-D1FA-6A01-F67D-8F488D835618}"/>
              </a:ext>
            </a:extLst>
          </p:cNvPr>
          <p:cNvSpPr txBox="1"/>
          <p:nvPr/>
        </p:nvSpPr>
        <p:spPr>
          <a:xfrm>
            <a:off x="4868424" y="5248288"/>
            <a:ext cx="606256" cy="338554"/>
          </a:xfrm>
          <a:prstGeom prst="rect">
            <a:avLst/>
          </a:prstGeom>
          <a:noFill/>
        </p:spPr>
        <p:txBody>
          <a:bodyPr wrap="none" rtlCol="0">
            <a:spAutoFit/>
          </a:bodyPr>
          <a:lstStyle/>
          <a:p>
            <a:r>
              <a:rPr lang="en-US" sz="1600">
                <a:latin typeface="+mj-lt"/>
                <a:ea typeface="Cambria Math" panose="02040503050406030204" pitchFamily="18" charset="0"/>
              </a:rPr>
              <a:t>other</a:t>
            </a:r>
          </a:p>
        </p:txBody>
      </p:sp>
      <p:sp>
        <p:nvSpPr>
          <p:cNvPr id="34" name="TextBox 33">
            <a:extLst>
              <a:ext uri="{FF2B5EF4-FFF2-40B4-BE49-F238E27FC236}">
                <a16:creationId xmlns:a16="http://schemas.microsoft.com/office/drawing/2014/main" id="{A5521F77-1D14-33ED-39D1-5F9013601ECC}"/>
              </a:ext>
            </a:extLst>
          </p:cNvPr>
          <p:cNvSpPr txBox="1"/>
          <p:nvPr/>
        </p:nvSpPr>
        <p:spPr>
          <a:xfrm>
            <a:off x="2950000" y="3229917"/>
            <a:ext cx="282450" cy="338554"/>
          </a:xfrm>
          <a:prstGeom prst="rect">
            <a:avLst/>
          </a:prstGeom>
          <a:noFill/>
        </p:spPr>
        <p:txBody>
          <a:bodyPr wrap="none" rtlCol="0">
            <a:spAutoFit/>
          </a:bodyPr>
          <a:lstStyle/>
          <a:p>
            <a:r>
              <a:rPr lang="en-US" sz="1600">
                <a:latin typeface="+mj-lt"/>
                <a:ea typeface="Cambria Math" panose="02040503050406030204" pitchFamily="18" charset="0"/>
              </a:rPr>
              <a:t>=</a:t>
            </a:r>
          </a:p>
        </p:txBody>
      </p:sp>
      <p:sp>
        <p:nvSpPr>
          <p:cNvPr id="35" name="TextBox 34">
            <a:extLst>
              <a:ext uri="{FF2B5EF4-FFF2-40B4-BE49-F238E27FC236}">
                <a16:creationId xmlns:a16="http://schemas.microsoft.com/office/drawing/2014/main" id="{3DE1E5A5-F764-7D21-9D7A-B240059F7D5E}"/>
              </a:ext>
            </a:extLst>
          </p:cNvPr>
          <p:cNvSpPr txBox="1"/>
          <p:nvPr/>
        </p:nvSpPr>
        <p:spPr>
          <a:xfrm>
            <a:off x="3359953" y="4292932"/>
            <a:ext cx="279244" cy="338554"/>
          </a:xfrm>
          <a:prstGeom prst="rect">
            <a:avLst/>
          </a:prstGeom>
          <a:noFill/>
        </p:spPr>
        <p:txBody>
          <a:bodyPr wrap="none" rtlCol="0">
            <a:spAutoFit/>
          </a:bodyPr>
          <a:lstStyle/>
          <a:p>
            <a:r>
              <a:rPr lang="en-US" sz="1600">
                <a:latin typeface="+mj-lt"/>
                <a:ea typeface="Cambria Math" panose="02040503050406030204" pitchFamily="18" charset="0"/>
              </a:rPr>
              <a:t>&gt;</a:t>
            </a:r>
          </a:p>
        </p:txBody>
      </p:sp>
      <p:sp>
        <p:nvSpPr>
          <p:cNvPr id="36" name="TextBox 35">
            <a:extLst>
              <a:ext uri="{FF2B5EF4-FFF2-40B4-BE49-F238E27FC236}">
                <a16:creationId xmlns:a16="http://schemas.microsoft.com/office/drawing/2014/main" id="{9C2244EF-9232-B3F8-8B37-7F196DC6770F}"/>
              </a:ext>
            </a:extLst>
          </p:cNvPr>
          <p:cNvSpPr txBox="1"/>
          <p:nvPr/>
        </p:nvSpPr>
        <p:spPr>
          <a:xfrm>
            <a:off x="5962746" y="2104193"/>
            <a:ext cx="1809654" cy="369332"/>
          </a:xfrm>
          <a:prstGeom prst="rect">
            <a:avLst/>
          </a:prstGeom>
          <a:noFill/>
        </p:spPr>
        <p:txBody>
          <a:bodyPr wrap="square" rtlCol="0">
            <a:spAutoFit/>
          </a:bodyPr>
          <a:lstStyle/>
          <a:p>
            <a:r>
              <a:rPr lang="en-US"/>
              <a:t>return (relop,LE)</a:t>
            </a:r>
          </a:p>
        </p:txBody>
      </p:sp>
      <p:sp>
        <p:nvSpPr>
          <p:cNvPr id="37" name="TextBox 36">
            <a:extLst>
              <a:ext uri="{FF2B5EF4-FFF2-40B4-BE49-F238E27FC236}">
                <a16:creationId xmlns:a16="http://schemas.microsoft.com/office/drawing/2014/main" id="{6D036B7C-2BC4-A40F-D276-E2B7DF3042F9}"/>
              </a:ext>
            </a:extLst>
          </p:cNvPr>
          <p:cNvSpPr txBox="1"/>
          <p:nvPr/>
        </p:nvSpPr>
        <p:spPr>
          <a:xfrm>
            <a:off x="5977280" y="2870256"/>
            <a:ext cx="1809654" cy="369332"/>
          </a:xfrm>
          <a:prstGeom prst="rect">
            <a:avLst/>
          </a:prstGeom>
          <a:noFill/>
        </p:spPr>
        <p:txBody>
          <a:bodyPr wrap="square" rtlCol="0">
            <a:spAutoFit/>
          </a:bodyPr>
          <a:lstStyle/>
          <a:p>
            <a:r>
              <a:rPr lang="en-US"/>
              <a:t>return (relop,NE)</a:t>
            </a:r>
          </a:p>
        </p:txBody>
      </p:sp>
      <p:sp>
        <p:nvSpPr>
          <p:cNvPr id="38" name="TextBox 37">
            <a:extLst>
              <a:ext uri="{FF2B5EF4-FFF2-40B4-BE49-F238E27FC236}">
                <a16:creationId xmlns:a16="http://schemas.microsoft.com/office/drawing/2014/main" id="{BA0252EB-1174-31A2-7997-3B17AD0C8FDD}"/>
              </a:ext>
            </a:extLst>
          </p:cNvPr>
          <p:cNvSpPr txBox="1"/>
          <p:nvPr/>
        </p:nvSpPr>
        <p:spPr>
          <a:xfrm>
            <a:off x="6024964" y="3738156"/>
            <a:ext cx="1809654" cy="369332"/>
          </a:xfrm>
          <a:prstGeom prst="rect">
            <a:avLst/>
          </a:prstGeom>
          <a:noFill/>
        </p:spPr>
        <p:txBody>
          <a:bodyPr wrap="square" rtlCol="0">
            <a:spAutoFit/>
          </a:bodyPr>
          <a:lstStyle/>
          <a:p>
            <a:r>
              <a:rPr lang="en-US"/>
              <a:t>return (relop,LT)</a:t>
            </a:r>
          </a:p>
        </p:txBody>
      </p:sp>
      <p:sp>
        <p:nvSpPr>
          <p:cNvPr id="39" name="TextBox 38">
            <a:extLst>
              <a:ext uri="{FF2B5EF4-FFF2-40B4-BE49-F238E27FC236}">
                <a16:creationId xmlns:a16="http://schemas.microsoft.com/office/drawing/2014/main" id="{93597755-9F12-DD5B-0FE1-DA81C6DC1B99}"/>
              </a:ext>
            </a:extLst>
          </p:cNvPr>
          <p:cNvSpPr txBox="1"/>
          <p:nvPr/>
        </p:nvSpPr>
        <p:spPr>
          <a:xfrm>
            <a:off x="6053015" y="4653845"/>
            <a:ext cx="1809654" cy="369332"/>
          </a:xfrm>
          <a:prstGeom prst="rect">
            <a:avLst/>
          </a:prstGeom>
          <a:noFill/>
        </p:spPr>
        <p:txBody>
          <a:bodyPr wrap="square" rtlCol="0">
            <a:spAutoFit/>
          </a:bodyPr>
          <a:lstStyle/>
          <a:p>
            <a:r>
              <a:rPr lang="en-US"/>
              <a:t>return (relop,GE)</a:t>
            </a:r>
          </a:p>
        </p:txBody>
      </p:sp>
      <p:sp>
        <p:nvSpPr>
          <p:cNvPr id="40" name="TextBox 39">
            <a:extLst>
              <a:ext uri="{FF2B5EF4-FFF2-40B4-BE49-F238E27FC236}">
                <a16:creationId xmlns:a16="http://schemas.microsoft.com/office/drawing/2014/main" id="{C190DFF4-00C1-1282-991A-299A0D600E0D}"/>
              </a:ext>
            </a:extLst>
          </p:cNvPr>
          <p:cNvSpPr txBox="1"/>
          <p:nvPr/>
        </p:nvSpPr>
        <p:spPr>
          <a:xfrm>
            <a:off x="6067766" y="5609390"/>
            <a:ext cx="1809654" cy="369332"/>
          </a:xfrm>
          <a:prstGeom prst="rect">
            <a:avLst/>
          </a:prstGeom>
          <a:noFill/>
        </p:spPr>
        <p:txBody>
          <a:bodyPr wrap="square" rtlCol="0">
            <a:spAutoFit/>
          </a:bodyPr>
          <a:lstStyle/>
          <a:p>
            <a:r>
              <a:rPr lang="en-US"/>
              <a:t>return (relop,GT)</a:t>
            </a:r>
          </a:p>
        </p:txBody>
      </p:sp>
      <p:sp>
        <p:nvSpPr>
          <p:cNvPr id="41" name="TextBox 40">
            <a:extLst>
              <a:ext uri="{FF2B5EF4-FFF2-40B4-BE49-F238E27FC236}">
                <a16:creationId xmlns:a16="http://schemas.microsoft.com/office/drawing/2014/main" id="{BC74D1CB-14E8-2013-549F-34661F16C3D6}"/>
              </a:ext>
            </a:extLst>
          </p:cNvPr>
          <p:cNvSpPr txBox="1"/>
          <p:nvPr/>
        </p:nvSpPr>
        <p:spPr>
          <a:xfrm>
            <a:off x="3379873" y="3964945"/>
            <a:ext cx="1809654" cy="369332"/>
          </a:xfrm>
          <a:prstGeom prst="rect">
            <a:avLst/>
          </a:prstGeom>
          <a:noFill/>
        </p:spPr>
        <p:txBody>
          <a:bodyPr wrap="square" rtlCol="0">
            <a:spAutoFit/>
          </a:bodyPr>
          <a:lstStyle/>
          <a:p>
            <a:r>
              <a:rPr lang="en-US"/>
              <a:t>return (relop,EQ)</a:t>
            </a:r>
          </a:p>
        </p:txBody>
      </p:sp>
    </p:spTree>
    <p:extLst>
      <p:ext uri="{BB962C8B-B14F-4D97-AF65-F5344CB8AC3E}">
        <p14:creationId xmlns:p14="http://schemas.microsoft.com/office/powerpoint/2010/main" val="18199571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dur="50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500"/>
                                        <p:tgtEl>
                                          <p:spTgt spid="14"/>
                                        </p:tgtEl>
                                      </p:cBhvr>
                                    </p:animEffect>
                                  </p:childTnLst>
                                </p:cTn>
                              </p:par>
                              <p:par>
                                <p:cTn id="8" presetID="22" presetClass="entr" presetSubtype="8" dur="50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wipe(left)">
                                      <p:cBhvr>
                                        <p:cTn id="10" dur="500"/>
                                        <p:tgtEl>
                                          <p:spTgt spid="5"/>
                                        </p:tgtEl>
                                      </p:cBhvr>
                                    </p:animEffect>
                                  </p:childTnLst>
                                </p:cTn>
                              </p:par>
                              <p:par>
                                <p:cTn id="11" presetID="22" presetClass="entr" presetSubtype="8" dur="500" fill="hold"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wipe(left)">
                                      <p:cBhvr>
                                        <p:cTn id="13" dur="500"/>
                                        <p:tgtEl>
                                          <p:spTgt spid="15"/>
                                        </p:tgtEl>
                                      </p:cBhvr>
                                    </p:animEffect>
                                  </p:childTnLst>
                                </p:cTn>
                              </p:par>
                              <p:par>
                                <p:cTn id="14" presetID="22" presetClass="entr" presetSubtype="8" dur="50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wipe(left)">
                                      <p:cBhvr>
                                        <p:cTn id="16" dur="500"/>
                                        <p:tgtEl>
                                          <p:spTgt spid="7"/>
                                        </p:tgtEl>
                                      </p:cBhvr>
                                    </p:animEffect>
                                  </p:childTnLst>
                                </p:cTn>
                              </p:par>
                              <p:par>
                                <p:cTn id="17" presetID="22" presetClass="entr" presetSubtype="8" dur="500" fill="hold" nodeType="with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wipe(left)">
                                      <p:cBhvr>
                                        <p:cTn id="19" dur="500"/>
                                        <p:tgtEl>
                                          <p:spTgt spid="16"/>
                                        </p:tgtEl>
                                      </p:cBhvr>
                                    </p:animEffect>
                                  </p:childTnLst>
                                </p:cTn>
                              </p:par>
                              <p:par>
                                <p:cTn id="20" presetID="22" presetClass="entr" presetSubtype="8" dur="500"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left)">
                                      <p:cBhvr>
                                        <p:cTn id="22" dur="500"/>
                                        <p:tgtEl>
                                          <p:spTgt spid="8"/>
                                        </p:tgtEl>
                                      </p:cBhvr>
                                    </p:animEffect>
                                  </p:childTnLst>
                                </p:cTn>
                              </p:par>
                              <p:par>
                                <p:cTn id="23" presetID="22" presetClass="entr" presetSubtype="8" dur="50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wipe(left)">
                                      <p:cBhvr>
                                        <p:cTn id="25" dur="500"/>
                                        <p:tgtEl>
                                          <p:spTgt spid="9"/>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ntr" presetSubtype="0" dur="1" fill="hold" grpId="0" nodeType="clickEffect">
                                  <p:stCondLst>
                                    <p:cond delay="0"/>
                                  </p:stCondLst>
                                  <p:childTnLst>
                                    <p:set>
                                      <p:cBhvr>
                                        <p:cTn id="29" dur="1" fill="hold">
                                          <p:stCondLst>
                                            <p:cond delay="0"/>
                                          </p:stCondLst>
                                        </p:cTn>
                                        <p:tgtEl>
                                          <p:spTgt spid="3"/>
                                        </p:tgtEl>
                                        <p:attrNameLst>
                                          <p:attrName>style.visibility</p:attrName>
                                        </p:attrNameLst>
                                      </p:cBhvr>
                                      <p:to>
                                        <p:strVal val="visible"/>
                                      </p:to>
                                    </p:set>
                                  </p:childTnLst>
                                </p:cTn>
                              </p:par>
                              <p:par>
                                <p:cTn id="30" presetID="1" presetClass="entr" presetSubtype="0" dur="1" fill="hold" grpId="0" nodeType="withEffect">
                                  <p:stCondLst>
                                    <p:cond delay="0"/>
                                  </p:stCondLst>
                                  <p:childTnLst>
                                    <p:set>
                                      <p:cBhvr>
                                        <p:cTn id="31" dur="1" fill="hold">
                                          <p:stCondLst>
                                            <p:cond delay="0"/>
                                          </p:stCondLst>
                                        </p:cTn>
                                        <p:tgtEl>
                                          <p:spTgt spid="29"/>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dur="1" fill="hold" grpId="0" nodeType="clickEffect">
                                  <p:stCondLst>
                                    <p:cond delay="0"/>
                                  </p:stCondLst>
                                  <p:childTnLst>
                                    <p:set>
                                      <p:cBhvr>
                                        <p:cTn id="35" dur="1" fill="hold">
                                          <p:stCondLst>
                                            <p:cond delay="0"/>
                                          </p:stCondLst>
                                        </p:cTn>
                                        <p:tgtEl>
                                          <p:spTgt spid="36"/>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22" presetClass="entr" presetSubtype="8" dur="500" fill="hold" nodeType="click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wipe(left)">
                                      <p:cBhvr>
                                        <p:cTn id="40" dur="500"/>
                                        <p:tgtEl>
                                          <p:spTgt spid="17"/>
                                        </p:tgtEl>
                                      </p:cBhvr>
                                    </p:animEffect>
                                  </p:childTnLst>
                                </p:cTn>
                              </p:par>
                              <p:par>
                                <p:cTn id="41" presetID="22" presetClass="entr" presetSubtype="8" dur="500" fill="hold" grpId="0" nodeType="withEffect">
                                  <p:stCondLst>
                                    <p:cond delay="0"/>
                                  </p:stCondLst>
                                  <p:childTnLst>
                                    <p:set>
                                      <p:cBhvr>
                                        <p:cTn id="42" dur="1" fill="hold">
                                          <p:stCondLst>
                                            <p:cond delay="0"/>
                                          </p:stCondLst>
                                        </p:cTn>
                                        <p:tgtEl>
                                          <p:spTgt spid="11"/>
                                        </p:tgtEl>
                                        <p:attrNameLst>
                                          <p:attrName>style.visibility</p:attrName>
                                        </p:attrNameLst>
                                      </p:cBhvr>
                                      <p:to>
                                        <p:strVal val="visible"/>
                                      </p:to>
                                    </p:set>
                                    <p:animEffect transition="in" filter="wipe(left)">
                                      <p:cBhvr>
                                        <p:cTn id="43" dur="500"/>
                                        <p:tgtEl>
                                          <p:spTgt spid="11"/>
                                        </p:tgtEl>
                                      </p:cBhvr>
                                    </p:animEffect>
                                  </p:childTnLst>
                                </p:cTn>
                              </p:par>
                              <p:par>
                                <p:cTn id="44" presetID="22" presetClass="entr" presetSubtype="8" dur="500" fill="hold" grpId="0" nodeType="withEffect">
                                  <p:stCondLst>
                                    <p:cond delay="0"/>
                                  </p:stCondLst>
                                  <p:childTnLst>
                                    <p:set>
                                      <p:cBhvr>
                                        <p:cTn id="45" dur="1" fill="hold">
                                          <p:stCondLst>
                                            <p:cond delay="0"/>
                                          </p:stCondLst>
                                        </p:cTn>
                                        <p:tgtEl>
                                          <p:spTgt spid="10"/>
                                        </p:tgtEl>
                                        <p:attrNameLst>
                                          <p:attrName>style.visibility</p:attrName>
                                        </p:attrNameLst>
                                      </p:cBhvr>
                                      <p:to>
                                        <p:strVal val="visible"/>
                                      </p:to>
                                    </p:set>
                                    <p:animEffect transition="in" filter="wipe(left)">
                                      <p:cBhvr>
                                        <p:cTn id="46" dur="500"/>
                                        <p:tgtEl>
                                          <p:spTgt spid="10"/>
                                        </p:tgtEl>
                                      </p:cBhvr>
                                    </p:animEffect>
                                  </p:childTnLst>
                                </p:cTn>
                              </p:par>
                            </p:childTnLst>
                          </p:cTn>
                        </p:par>
                      </p:childTnLst>
                    </p:cTn>
                  </p:par>
                  <p:par>
                    <p:cTn id="47" fill="hold">
                      <p:stCondLst>
                        <p:cond delay="indefinite"/>
                      </p:stCondLst>
                      <p:childTnLst>
                        <p:par>
                          <p:cTn id="48" fill="hold">
                            <p:stCondLst>
                              <p:cond delay="0"/>
                            </p:stCondLst>
                            <p:childTnLst>
                              <p:par>
                                <p:cTn id="49" presetID="1" presetClass="entr" presetSubtype="0" dur="1" fill="hold" grpId="0" nodeType="clickEffect">
                                  <p:stCondLst>
                                    <p:cond delay="0"/>
                                  </p:stCondLst>
                                  <p:childTnLst>
                                    <p:set>
                                      <p:cBhvr>
                                        <p:cTn id="50" dur="1" fill="hold">
                                          <p:stCondLst>
                                            <p:cond delay="0"/>
                                          </p:stCondLst>
                                        </p:cTn>
                                        <p:tgtEl>
                                          <p:spTgt spid="3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dur="1" fill="hold" grpId="0" nodeType="clickEffect">
                                  <p:stCondLst>
                                    <p:cond delay="0"/>
                                  </p:stCondLst>
                                  <p:childTnLst>
                                    <p:set>
                                      <p:cBhvr>
                                        <p:cTn id="54" dur="1" fill="hold">
                                          <p:stCondLst>
                                            <p:cond delay="0"/>
                                          </p:stCondLst>
                                        </p:cTn>
                                        <p:tgtEl>
                                          <p:spTgt spid="37"/>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22" presetClass="entr" presetSubtype="8" dur="500" fill="hold" nodeType="clickEffect">
                                  <p:stCondLst>
                                    <p:cond delay="0"/>
                                  </p:stCondLst>
                                  <p:childTnLst>
                                    <p:set>
                                      <p:cBhvr>
                                        <p:cTn id="58" dur="1" fill="hold">
                                          <p:stCondLst>
                                            <p:cond delay="0"/>
                                          </p:stCondLst>
                                        </p:cTn>
                                        <p:tgtEl>
                                          <p:spTgt spid="18"/>
                                        </p:tgtEl>
                                        <p:attrNameLst>
                                          <p:attrName>style.visibility</p:attrName>
                                        </p:attrNameLst>
                                      </p:cBhvr>
                                      <p:to>
                                        <p:strVal val="visible"/>
                                      </p:to>
                                    </p:set>
                                    <p:animEffect transition="in" filter="wipe(left)">
                                      <p:cBhvr>
                                        <p:cTn id="59" dur="500"/>
                                        <p:tgtEl>
                                          <p:spTgt spid="18"/>
                                        </p:tgtEl>
                                      </p:cBhvr>
                                    </p:animEffect>
                                  </p:childTnLst>
                                </p:cTn>
                              </p:par>
                              <p:par>
                                <p:cTn id="60" presetID="22" presetClass="entr" presetSubtype="8" dur="500" fill="hold" grpId="0" nodeType="withEffect">
                                  <p:stCondLst>
                                    <p:cond delay="0"/>
                                  </p:stCondLst>
                                  <p:childTnLst>
                                    <p:set>
                                      <p:cBhvr>
                                        <p:cTn id="61" dur="1" fill="hold">
                                          <p:stCondLst>
                                            <p:cond delay="0"/>
                                          </p:stCondLst>
                                        </p:cTn>
                                        <p:tgtEl>
                                          <p:spTgt spid="12"/>
                                        </p:tgtEl>
                                        <p:attrNameLst>
                                          <p:attrName>style.visibility</p:attrName>
                                        </p:attrNameLst>
                                      </p:cBhvr>
                                      <p:to>
                                        <p:strVal val="visible"/>
                                      </p:to>
                                    </p:set>
                                    <p:animEffect transition="in" filter="wipe(left)">
                                      <p:cBhvr>
                                        <p:cTn id="62" dur="500"/>
                                        <p:tgtEl>
                                          <p:spTgt spid="12"/>
                                        </p:tgtEl>
                                      </p:cBhvr>
                                    </p:animEffect>
                                  </p:childTnLst>
                                </p:cTn>
                              </p:par>
                              <p:par>
                                <p:cTn id="63" presetID="22" presetClass="entr" presetSubtype="8" dur="500" fill="hold" grpId="0" nodeType="withEffect">
                                  <p:stCondLst>
                                    <p:cond delay="0"/>
                                  </p:stCondLst>
                                  <p:childTnLst>
                                    <p:set>
                                      <p:cBhvr>
                                        <p:cTn id="64" dur="1" fill="hold">
                                          <p:stCondLst>
                                            <p:cond delay="0"/>
                                          </p:stCondLst>
                                        </p:cTn>
                                        <p:tgtEl>
                                          <p:spTgt spid="13"/>
                                        </p:tgtEl>
                                        <p:attrNameLst>
                                          <p:attrName>style.visibility</p:attrName>
                                        </p:attrNameLst>
                                      </p:cBhvr>
                                      <p:to>
                                        <p:strVal val="visible"/>
                                      </p:to>
                                    </p:set>
                                    <p:animEffect transition="in" filter="wipe(left)">
                                      <p:cBhvr>
                                        <p:cTn id="65" dur="500"/>
                                        <p:tgtEl>
                                          <p:spTgt spid="13"/>
                                        </p:tgtEl>
                                      </p:cBhvr>
                                    </p:animEffect>
                                  </p:childTnLst>
                                </p:cTn>
                              </p:par>
                            </p:childTnLst>
                          </p:cTn>
                        </p:par>
                      </p:childTnLst>
                    </p:cTn>
                  </p:par>
                  <p:par>
                    <p:cTn id="66" fill="hold">
                      <p:stCondLst>
                        <p:cond delay="indefinite"/>
                      </p:stCondLst>
                      <p:childTnLst>
                        <p:par>
                          <p:cTn id="67" fill="hold">
                            <p:stCondLst>
                              <p:cond delay="0"/>
                            </p:stCondLst>
                            <p:childTnLst>
                              <p:par>
                                <p:cTn id="68" presetID="1" presetClass="entr" presetSubtype="0" dur="1" fill="hold" grpId="0" nodeType="clickEffect">
                                  <p:stCondLst>
                                    <p:cond delay="0"/>
                                  </p:stCondLst>
                                  <p:childTnLst>
                                    <p:set>
                                      <p:cBhvr>
                                        <p:cTn id="69" dur="1" fill="hold">
                                          <p:stCondLst>
                                            <p:cond delay="0"/>
                                          </p:stCondLst>
                                        </p:cTn>
                                        <p:tgtEl>
                                          <p:spTgt spid="30"/>
                                        </p:tgtEl>
                                        <p:attrNameLst>
                                          <p:attrName>style.visibility</p:attrName>
                                        </p:attrNameLst>
                                      </p:cBhvr>
                                      <p:to>
                                        <p:strVal val="visible"/>
                                      </p:to>
                                    </p:set>
                                  </p:childTnLst>
                                </p:cTn>
                              </p:par>
                            </p:childTnLst>
                          </p:cTn>
                        </p:par>
                      </p:childTnLst>
                    </p:cTn>
                  </p:par>
                  <p:par>
                    <p:cTn id="70" fill="hold">
                      <p:stCondLst>
                        <p:cond delay="indefinite"/>
                      </p:stCondLst>
                      <p:childTnLst>
                        <p:par>
                          <p:cTn id="71" fill="hold">
                            <p:stCondLst>
                              <p:cond delay="0"/>
                            </p:stCondLst>
                            <p:childTnLst>
                              <p:par>
                                <p:cTn id="72" presetID="1" presetClass="entr" presetSubtype="0" dur="1" fill="hold" grpId="0" nodeType="clickEffect">
                                  <p:stCondLst>
                                    <p:cond delay="0"/>
                                  </p:stCondLst>
                                  <p:childTnLst>
                                    <p:set>
                                      <p:cBhvr>
                                        <p:cTn id="73" dur="1" fill="hold">
                                          <p:stCondLst>
                                            <p:cond delay="0"/>
                                          </p:stCondLst>
                                        </p:cTn>
                                        <p:tgtEl>
                                          <p:spTgt spid="38"/>
                                        </p:tgtEl>
                                        <p:attrNameLst>
                                          <p:attrName>style.visibility</p:attrName>
                                        </p:attrNameLst>
                                      </p:cBhvr>
                                      <p:to>
                                        <p:strVal val="visible"/>
                                      </p:to>
                                    </p:set>
                                  </p:childTnLst>
                                </p:cTn>
                              </p:par>
                            </p:childTnLst>
                          </p:cTn>
                        </p:par>
                      </p:childTnLst>
                    </p:cTn>
                  </p:par>
                  <p:par>
                    <p:cTn id="74" fill="hold">
                      <p:stCondLst>
                        <p:cond delay="indefinite"/>
                      </p:stCondLst>
                      <p:childTnLst>
                        <p:par>
                          <p:cTn id="75" fill="hold">
                            <p:stCondLst>
                              <p:cond delay="0"/>
                            </p:stCondLst>
                            <p:childTnLst>
                              <p:par>
                                <p:cTn id="76" presetID="22" presetClass="entr" presetSubtype="8" dur="500" fill="hold" nodeType="clickEffect">
                                  <p:stCondLst>
                                    <p:cond delay="0"/>
                                  </p:stCondLst>
                                  <p:childTnLst>
                                    <p:set>
                                      <p:cBhvr>
                                        <p:cTn id="77" dur="1" fill="hold">
                                          <p:stCondLst>
                                            <p:cond delay="0"/>
                                          </p:stCondLst>
                                        </p:cTn>
                                        <p:tgtEl>
                                          <p:spTgt spid="27"/>
                                        </p:tgtEl>
                                        <p:attrNameLst>
                                          <p:attrName>style.visibility</p:attrName>
                                        </p:attrNameLst>
                                      </p:cBhvr>
                                      <p:to>
                                        <p:strVal val="visible"/>
                                      </p:to>
                                    </p:set>
                                    <p:animEffect transition="in" filter="wipe(left)">
                                      <p:cBhvr>
                                        <p:cTn id="78" dur="500"/>
                                        <p:tgtEl>
                                          <p:spTgt spid="27"/>
                                        </p:tgtEl>
                                      </p:cBhvr>
                                    </p:animEffect>
                                  </p:childTnLst>
                                </p:cTn>
                              </p:par>
                              <p:par>
                                <p:cTn id="79" presetID="22" presetClass="entr" presetSubtype="8" dur="500" fill="hold" grpId="0" nodeType="withEffect">
                                  <p:stCondLst>
                                    <p:cond delay="0"/>
                                  </p:stCondLst>
                                  <p:childTnLst>
                                    <p:set>
                                      <p:cBhvr>
                                        <p:cTn id="80" dur="1" fill="hold">
                                          <p:stCondLst>
                                            <p:cond delay="0"/>
                                          </p:stCondLst>
                                        </p:cTn>
                                        <p:tgtEl>
                                          <p:spTgt spid="6"/>
                                        </p:tgtEl>
                                        <p:attrNameLst>
                                          <p:attrName>style.visibility</p:attrName>
                                        </p:attrNameLst>
                                      </p:cBhvr>
                                      <p:to>
                                        <p:strVal val="visible"/>
                                      </p:to>
                                    </p:set>
                                    <p:animEffect transition="in" filter="wipe(left)">
                                      <p:cBhvr>
                                        <p:cTn id="81" dur="500"/>
                                        <p:tgtEl>
                                          <p:spTgt spid="6"/>
                                        </p:tgtEl>
                                      </p:cBhvr>
                                    </p:animEffect>
                                  </p:childTnLst>
                                </p:cTn>
                              </p:par>
                            </p:childTnLst>
                          </p:cTn>
                        </p:par>
                      </p:childTnLst>
                    </p:cTn>
                  </p:par>
                  <p:par>
                    <p:cTn id="82" fill="hold">
                      <p:stCondLst>
                        <p:cond delay="indefinite"/>
                      </p:stCondLst>
                      <p:childTnLst>
                        <p:par>
                          <p:cTn id="83" fill="hold">
                            <p:stCondLst>
                              <p:cond delay="0"/>
                            </p:stCondLst>
                            <p:childTnLst>
                              <p:par>
                                <p:cTn id="84" presetID="1" presetClass="entr" presetSubtype="0" dur="1" fill="hold" grpId="0" nodeType="clickEffect">
                                  <p:stCondLst>
                                    <p:cond delay="0"/>
                                  </p:stCondLst>
                                  <p:childTnLst>
                                    <p:set>
                                      <p:cBhvr>
                                        <p:cTn id="85" dur="1" fill="hold">
                                          <p:stCondLst>
                                            <p:cond delay="0"/>
                                          </p:stCondLst>
                                        </p:cTn>
                                        <p:tgtEl>
                                          <p:spTgt spid="32"/>
                                        </p:tgtEl>
                                        <p:attrNameLst>
                                          <p:attrName>style.visibility</p:attrName>
                                        </p:attrNameLst>
                                      </p:cBhvr>
                                      <p:to>
                                        <p:strVal val="visible"/>
                                      </p:to>
                                    </p:set>
                                  </p:childTnLst>
                                </p:cTn>
                              </p:par>
                              <p:par>
                                <p:cTn id="86" presetID="22" presetClass="entr" presetSubtype="8" dur="500" fill="hold" grpId="0" nodeType="withEffect">
                                  <p:stCondLst>
                                    <p:cond delay="0"/>
                                  </p:stCondLst>
                                  <p:childTnLst>
                                    <p:set>
                                      <p:cBhvr>
                                        <p:cTn id="87" dur="1" fill="hold">
                                          <p:stCondLst>
                                            <p:cond delay="0"/>
                                          </p:stCondLst>
                                        </p:cTn>
                                        <p:tgtEl>
                                          <p:spTgt spid="24"/>
                                        </p:tgtEl>
                                        <p:attrNameLst>
                                          <p:attrName>style.visibility</p:attrName>
                                        </p:attrNameLst>
                                      </p:cBhvr>
                                      <p:to>
                                        <p:strVal val="visible"/>
                                      </p:to>
                                    </p:set>
                                    <p:animEffect transition="in" filter="wipe(left)">
                                      <p:cBhvr>
                                        <p:cTn id="88" dur="500"/>
                                        <p:tgtEl>
                                          <p:spTgt spid="24"/>
                                        </p:tgtEl>
                                      </p:cBhvr>
                                    </p:animEffect>
                                  </p:childTnLst>
                                </p:cTn>
                              </p:par>
                              <p:par>
                                <p:cTn id="89" presetID="22" presetClass="entr" presetSubtype="8" dur="500" fill="hold" nodeType="withEffect">
                                  <p:stCondLst>
                                    <p:cond delay="0"/>
                                  </p:stCondLst>
                                  <p:childTnLst>
                                    <p:set>
                                      <p:cBhvr>
                                        <p:cTn id="90" dur="1" fill="hold">
                                          <p:stCondLst>
                                            <p:cond delay="0"/>
                                          </p:stCondLst>
                                        </p:cTn>
                                        <p:tgtEl>
                                          <p:spTgt spid="25"/>
                                        </p:tgtEl>
                                        <p:attrNameLst>
                                          <p:attrName>style.visibility</p:attrName>
                                        </p:attrNameLst>
                                      </p:cBhvr>
                                      <p:to>
                                        <p:strVal val="visible"/>
                                      </p:to>
                                    </p:set>
                                    <p:animEffect transition="in" filter="wipe(left)">
                                      <p:cBhvr>
                                        <p:cTn id="91" dur="500"/>
                                        <p:tgtEl>
                                          <p:spTgt spid="25"/>
                                        </p:tgtEl>
                                      </p:cBhvr>
                                    </p:animEffect>
                                  </p:childTnLst>
                                </p:cTn>
                              </p:par>
                              <p:par>
                                <p:cTn id="92" presetID="22" presetClass="entr" presetSubtype="8" dur="500" fill="hold" grpId="0" nodeType="withEffect">
                                  <p:stCondLst>
                                    <p:cond delay="0"/>
                                  </p:stCondLst>
                                  <p:childTnLst>
                                    <p:set>
                                      <p:cBhvr>
                                        <p:cTn id="93" dur="1" fill="hold">
                                          <p:stCondLst>
                                            <p:cond delay="0"/>
                                          </p:stCondLst>
                                        </p:cTn>
                                        <p:tgtEl>
                                          <p:spTgt spid="23"/>
                                        </p:tgtEl>
                                        <p:attrNameLst>
                                          <p:attrName>style.visibility</p:attrName>
                                        </p:attrNameLst>
                                      </p:cBhvr>
                                      <p:to>
                                        <p:strVal val="visible"/>
                                      </p:to>
                                    </p:set>
                                    <p:animEffect transition="in" filter="wipe(left)">
                                      <p:cBhvr>
                                        <p:cTn id="94" dur="500"/>
                                        <p:tgtEl>
                                          <p:spTgt spid="23"/>
                                        </p:tgtEl>
                                      </p:cBhvr>
                                    </p:animEffect>
                                  </p:childTnLst>
                                </p:cTn>
                              </p:par>
                              <p:par>
                                <p:cTn id="95" presetID="1" presetClass="entr" presetSubtype="0" dur="1" fill="hold" grpId="0" nodeType="withEffect">
                                  <p:stCondLst>
                                    <p:cond delay="0"/>
                                  </p:stCondLst>
                                  <p:childTnLst>
                                    <p:set>
                                      <p:cBhvr>
                                        <p:cTn id="96" dur="1" fill="hold">
                                          <p:stCondLst>
                                            <p:cond delay="0"/>
                                          </p:stCondLst>
                                        </p:cTn>
                                        <p:tgtEl>
                                          <p:spTgt spid="35"/>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dur="1" fill="hold" grpId="0" nodeType="clickEffect">
                                  <p:stCondLst>
                                    <p:cond delay="0"/>
                                  </p:stCondLst>
                                  <p:childTnLst>
                                    <p:set>
                                      <p:cBhvr>
                                        <p:cTn id="100" dur="1" fill="hold">
                                          <p:stCondLst>
                                            <p:cond delay="0"/>
                                          </p:stCondLst>
                                        </p:cTn>
                                        <p:tgtEl>
                                          <p:spTgt spid="39"/>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22" presetClass="entr" presetSubtype="8" dur="500" fill="hold" grpId="0" nodeType="clickEffect">
                                  <p:stCondLst>
                                    <p:cond delay="0"/>
                                  </p:stCondLst>
                                  <p:childTnLst>
                                    <p:set>
                                      <p:cBhvr>
                                        <p:cTn id="104" dur="1" fill="hold">
                                          <p:stCondLst>
                                            <p:cond delay="0"/>
                                          </p:stCondLst>
                                        </p:cTn>
                                        <p:tgtEl>
                                          <p:spTgt spid="22"/>
                                        </p:tgtEl>
                                        <p:attrNameLst>
                                          <p:attrName>style.visibility</p:attrName>
                                        </p:attrNameLst>
                                      </p:cBhvr>
                                      <p:to>
                                        <p:strVal val="visible"/>
                                      </p:to>
                                    </p:set>
                                    <p:animEffect transition="in" filter="wipe(left)">
                                      <p:cBhvr>
                                        <p:cTn id="105" dur="500"/>
                                        <p:tgtEl>
                                          <p:spTgt spid="22"/>
                                        </p:tgtEl>
                                      </p:cBhvr>
                                    </p:animEffect>
                                  </p:childTnLst>
                                </p:cTn>
                              </p:par>
                              <p:par>
                                <p:cTn id="106" presetID="22" presetClass="entr" presetSubtype="8" dur="500" fill="hold" grpId="0" nodeType="withEffect">
                                  <p:stCondLst>
                                    <p:cond delay="0"/>
                                  </p:stCondLst>
                                  <p:childTnLst>
                                    <p:set>
                                      <p:cBhvr>
                                        <p:cTn id="107" dur="1" fill="hold">
                                          <p:stCondLst>
                                            <p:cond delay="0"/>
                                          </p:stCondLst>
                                        </p:cTn>
                                        <p:tgtEl>
                                          <p:spTgt spid="21"/>
                                        </p:tgtEl>
                                        <p:attrNameLst>
                                          <p:attrName>style.visibility</p:attrName>
                                        </p:attrNameLst>
                                      </p:cBhvr>
                                      <p:to>
                                        <p:strVal val="visible"/>
                                      </p:to>
                                    </p:set>
                                    <p:animEffect transition="in" filter="wipe(left)">
                                      <p:cBhvr>
                                        <p:cTn id="108" dur="500"/>
                                        <p:tgtEl>
                                          <p:spTgt spid="21"/>
                                        </p:tgtEl>
                                      </p:cBhvr>
                                    </p:animEffect>
                                  </p:childTnLst>
                                </p:cTn>
                              </p:par>
                              <p:par>
                                <p:cTn id="109" presetID="22" presetClass="entr" presetSubtype="8" dur="500" fill="hold" nodeType="withEffect">
                                  <p:stCondLst>
                                    <p:cond delay="0"/>
                                  </p:stCondLst>
                                  <p:childTnLst>
                                    <p:set>
                                      <p:cBhvr>
                                        <p:cTn id="110" dur="1" fill="hold">
                                          <p:stCondLst>
                                            <p:cond delay="0"/>
                                          </p:stCondLst>
                                        </p:cTn>
                                        <p:tgtEl>
                                          <p:spTgt spid="26"/>
                                        </p:tgtEl>
                                        <p:attrNameLst>
                                          <p:attrName>style.visibility</p:attrName>
                                        </p:attrNameLst>
                                      </p:cBhvr>
                                      <p:to>
                                        <p:strVal val="visible"/>
                                      </p:to>
                                    </p:set>
                                    <p:animEffect transition="in" filter="wipe(left)">
                                      <p:cBhvr>
                                        <p:cTn id="111" dur="500"/>
                                        <p:tgtEl>
                                          <p:spTgt spid="26"/>
                                        </p:tgtEl>
                                      </p:cBhvr>
                                    </p:animEffect>
                                  </p:childTnLst>
                                </p:cTn>
                              </p:par>
                            </p:childTnLst>
                          </p:cTn>
                        </p:par>
                      </p:childTnLst>
                    </p:cTn>
                  </p:par>
                  <p:par>
                    <p:cTn id="112" fill="hold">
                      <p:stCondLst>
                        <p:cond delay="indefinite"/>
                      </p:stCondLst>
                      <p:childTnLst>
                        <p:par>
                          <p:cTn id="113" fill="hold">
                            <p:stCondLst>
                              <p:cond delay="0"/>
                            </p:stCondLst>
                            <p:childTnLst>
                              <p:par>
                                <p:cTn id="114" presetID="1" presetClass="entr" presetSubtype="0" dur="1" fill="hold" grpId="0" nodeType="clickEffect">
                                  <p:stCondLst>
                                    <p:cond delay="0"/>
                                  </p:stCondLst>
                                  <p:childTnLst>
                                    <p:set>
                                      <p:cBhvr>
                                        <p:cTn id="115" dur="1" fill="hold">
                                          <p:stCondLst>
                                            <p:cond delay="0"/>
                                          </p:stCondLst>
                                        </p:cTn>
                                        <p:tgtEl>
                                          <p:spTgt spid="33"/>
                                        </p:tgtEl>
                                        <p:attrNameLst>
                                          <p:attrName>style.visibility</p:attrName>
                                        </p:attrNameLst>
                                      </p:cBhvr>
                                      <p:to>
                                        <p:strVal val="visible"/>
                                      </p:to>
                                    </p:set>
                                  </p:childTnLst>
                                </p:cTn>
                              </p:par>
                            </p:childTnLst>
                          </p:cTn>
                        </p:par>
                      </p:childTnLst>
                    </p:cTn>
                  </p:par>
                  <p:par>
                    <p:cTn id="116" fill="hold">
                      <p:stCondLst>
                        <p:cond delay="indefinite"/>
                      </p:stCondLst>
                      <p:childTnLst>
                        <p:par>
                          <p:cTn id="117" fill="hold">
                            <p:stCondLst>
                              <p:cond delay="0"/>
                            </p:stCondLst>
                            <p:childTnLst>
                              <p:par>
                                <p:cTn id="118" presetID="1" presetClass="entr" presetSubtype="0" dur="1" fill="hold" grpId="0" nodeType="clickEffect">
                                  <p:stCondLst>
                                    <p:cond delay="0"/>
                                  </p:stCondLst>
                                  <p:childTnLst>
                                    <p:set>
                                      <p:cBhvr>
                                        <p:cTn id="119" dur="1" fill="hold">
                                          <p:stCondLst>
                                            <p:cond delay="0"/>
                                          </p:stCondLst>
                                        </p:cTn>
                                        <p:tgtEl>
                                          <p:spTgt spid="40"/>
                                        </p:tgtEl>
                                        <p:attrNameLst>
                                          <p:attrName>style.visibility</p:attrName>
                                        </p:attrNameLst>
                                      </p:cBhvr>
                                      <p:to>
                                        <p:strVal val="visible"/>
                                      </p:to>
                                    </p:set>
                                  </p:childTnLst>
                                </p:cTn>
                              </p:par>
                            </p:childTnLst>
                          </p:cTn>
                        </p:par>
                      </p:childTnLst>
                    </p:cTn>
                  </p:par>
                  <p:par>
                    <p:cTn id="120" fill="hold">
                      <p:stCondLst>
                        <p:cond delay="indefinite"/>
                      </p:stCondLst>
                      <p:childTnLst>
                        <p:par>
                          <p:cTn id="121" fill="hold">
                            <p:stCondLst>
                              <p:cond delay="0"/>
                            </p:stCondLst>
                            <p:childTnLst>
                              <p:par>
                                <p:cTn id="122" presetID="22" presetClass="entr" presetSubtype="8" dur="500" fill="hold" grpId="0" nodeType="clickEffect">
                                  <p:stCondLst>
                                    <p:cond delay="0"/>
                                  </p:stCondLst>
                                  <p:childTnLst>
                                    <p:set>
                                      <p:cBhvr>
                                        <p:cTn id="123" dur="1" fill="hold">
                                          <p:stCondLst>
                                            <p:cond delay="0"/>
                                          </p:stCondLst>
                                        </p:cTn>
                                        <p:tgtEl>
                                          <p:spTgt spid="20"/>
                                        </p:tgtEl>
                                        <p:attrNameLst>
                                          <p:attrName>style.visibility</p:attrName>
                                        </p:attrNameLst>
                                      </p:cBhvr>
                                      <p:to>
                                        <p:strVal val="visible"/>
                                      </p:to>
                                    </p:set>
                                    <p:animEffect transition="in" filter="wipe(left)">
                                      <p:cBhvr>
                                        <p:cTn id="124" dur="500"/>
                                        <p:tgtEl>
                                          <p:spTgt spid="20"/>
                                        </p:tgtEl>
                                      </p:cBhvr>
                                    </p:animEffect>
                                  </p:childTnLst>
                                </p:cTn>
                              </p:par>
                              <p:par>
                                <p:cTn id="125" presetID="22" presetClass="entr" presetSubtype="8" dur="500" fill="hold" nodeType="withEffect">
                                  <p:stCondLst>
                                    <p:cond delay="0"/>
                                  </p:stCondLst>
                                  <p:childTnLst>
                                    <p:set>
                                      <p:cBhvr>
                                        <p:cTn id="126" dur="1" fill="hold">
                                          <p:stCondLst>
                                            <p:cond delay="0"/>
                                          </p:stCondLst>
                                        </p:cTn>
                                        <p:tgtEl>
                                          <p:spTgt spid="28"/>
                                        </p:tgtEl>
                                        <p:attrNameLst>
                                          <p:attrName>style.visibility</p:attrName>
                                        </p:attrNameLst>
                                      </p:cBhvr>
                                      <p:to>
                                        <p:strVal val="visible"/>
                                      </p:to>
                                    </p:set>
                                    <p:animEffect transition="in" filter="wipe(left)">
                                      <p:cBhvr>
                                        <p:cTn id="127" dur="500"/>
                                        <p:tgtEl>
                                          <p:spTgt spid="28"/>
                                        </p:tgtEl>
                                      </p:cBhvr>
                                    </p:animEffect>
                                  </p:childTnLst>
                                </p:cTn>
                              </p:par>
                              <p:par>
                                <p:cTn id="128" presetID="22" presetClass="entr" presetSubtype="8" dur="500" fill="hold" grpId="0" nodeType="withEffect">
                                  <p:stCondLst>
                                    <p:cond delay="0"/>
                                  </p:stCondLst>
                                  <p:childTnLst>
                                    <p:set>
                                      <p:cBhvr>
                                        <p:cTn id="129" dur="1" fill="hold">
                                          <p:stCondLst>
                                            <p:cond delay="0"/>
                                          </p:stCondLst>
                                        </p:cTn>
                                        <p:tgtEl>
                                          <p:spTgt spid="19"/>
                                        </p:tgtEl>
                                        <p:attrNameLst>
                                          <p:attrName>style.visibility</p:attrName>
                                        </p:attrNameLst>
                                      </p:cBhvr>
                                      <p:to>
                                        <p:strVal val="visible"/>
                                      </p:to>
                                    </p:set>
                                    <p:animEffect transition="in" filter="wipe(left)">
                                      <p:cBhvr>
                                        <p:cTn id="130" dur="500"/>
                                        <p:tgtEl>
                                          <p:spTgt spid="19"/>
                                        </p:tgtEl>
                                      </p:cBhvr>
                                    </p:animEffect>
                                  </p:childTnLst>
                                </p:cTn>
                              </p:par>
                              <p:par>
                                <p:cTn id="131" presetID="22" presetClass="entr" presetSubtype="8" dur="500" fill="hold" grpId="0" nodeType="withEffect">
                                  <p:stCondLst>
                                    <p:cond delay="0"/>
                                  </p:stCondLst>
                                  <p:childTnLst>
                                    <p:set>
                                      <p:cBhvr>
                                        <p:cTn id="132" dur="1" fill="hold">
                                          <p:stCondLst>
                                            <p:cond delay="0"/>
                                          </p:stCondLst>
                                        </p:cTn>
                                        <p:tgtEl>
                                          <p:spTgt spid="34"/>
                                        </p:tgtEl>
                                        <p:attrNameLst>
                                          <p:attrName>style.visibility</p:attrName>
                                        </p:attrNameLst>
                                      </p:cBhvr>
                                      <p:to>
                                        <p:strVal val="visible"/>
                                      </p:to>
                                    </p:set>
                                    <p:animEffect transition="in" filter="wipe(left)">
                                      <p:cBhvr>
                                        <p:cTn id="133" dur="500"/>
                                        <p:tgtEl>
                                          <p:spTgt spid="34"/>
                                        </p:tgtEl>
                                      </p:cBhvr>
                                    </p:animEffect>
                                  </p:childTnLst>
                                </p:cTn>
                              </p:par>
                            </p:childTnLst>
                          </p:cTn>
                        </p:par>
                      </p:childTnLst>
                    </p:cTn>
                  </p:par>
                  <p:par>
                    <p:cTn id="134" fill="hold">
                      <p:stCondLst>
                        <p:cond delay="indefinite"/>
                      </p:stCondLst>
                      <p:childTnLst>
                        <p:par>
                          <p:cTn id="135" fill="hold">
                            <p:stCondLst>
                              <p:cond delay="0"/>
                            </p:stCondLst>
                            <p:childTnLst>
                              <p:par>
                                <p:cTn id="136" presetID="1" presetClass="entr" presetSubtype="0" dur="1" fill="hold" grpId="0" nodeType="clickEffect">
                                  <p:stCondLst>
                                    <p:cond delay="0"/>
                                  </p:stCondLst>
                                  <p:childTnLst>
                                    <p:set>
                                      <p:cBhvr>
                                        <p:cTn id="137" dur="1" fill="hold">
                                          <p:stCondLst>
                                            <p:cond delay="0"/>
                                          </p:stCondLst>
                                        </p:cTn>
                                        <p:tgtEl>
                                          <p:spTgt spid="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animBg="1"/>
      <p:bldP spid="6" grpId="0" animBg="1"/>
      <p:bldP spid="7" grpId="0" animBg="1"/>
      <p:bldP spid="8" grpId="0" animBg="1"/>
      <p:bldP spid="9" grpId="0" animBg="1"/>
      <p:bldP spid="10" grpId="0" animBg="1"/>
      <p:bldP spid="11" grpId="0" animBg="1"/>
      <p:bldP spid="12" grpId="0" animBg="1"/>
      <p:bldP spid="13" grpId="0" animBg="1"/>
      <p:bldP spid="19" grpId="0" animBg="1"/>
      <p:bldP spid="20" grpId="0" animBg="1"/>
      <p:bldP spid="21" grpId="0" animBg="1"/>
      <p:bldP spid="22" grpId="0" animBg="1"/>
      <p:bldP spid="23" grpId="0" animBg="1"/>
      <p:bldP spid="24" grpId="0" animBg="1"/>
      <p:bldP spid="29" grpId="0"/>
      <p:bldP spid="30" grpId="0"/>
      <p:bldP spid="31" grpId="0"/>
      <p:bldP spid="32" grpId="0"/>
      <p:bldP spid="33" grpId="0"/>
      <p:bldP spid="34" grpId="0"/>
      <p:bldP spid="35" grpId="0"/>
      <p:bldP spid="36" grpId="0"/>
      <p:bldP spid="37" grpId="0"/>
      <p:bldP spid="38" grpId="0"/>
      <p:bldP spid="39" grpId="0"/>
      <p:bldP spid="40" grpId="0"/>
      <p:bldP spid="41"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AE714F5-ACD2-1CEE-1E2F-B1FC71A2B77E}"/>
              </a:ext>
            </a:extLst>
          </p:cNvPr>
          <p:cNvSpPr txBox="1"/>
          <p:nvPr/>
        </p:nvSpPr>
        <p:spPr>
          <a:xfrm>
            <a:off x="284420" y="74997"/>
            <a:ext cx="7126473" cy="477054"/>
          </a:xfrm>
          <a:prstGeom prst="rect">
            <a:avLst/>
          </a:prstGeom>
          <a:noFill/>
        </p:spPr>
        <p:txBody>
          <a:bodyPr wrap="square">
            <a:spAutoFit/>
          </a:bodyPr>
          <a:lstStyle/>
          <a:p>
            <a:r>
              <a:rPr lang="en-US" sz="2500" b="1" i="0" dirty="0">
                <a:solidFill>
                  <a:srgbClr val="C00000"/>
                </a:solidFill>
                <a:effectLst/>
                <a:latin typeface="Palatino Linotype" panose="02040502050505030304" pitchFamily="18" charset="0"/>
              </a:rPr>
              <a:t>Recognition of Reserved Words and Identifiers</a:t>
            </a:r>
            <a:endParaRPr lang="en-IN" sz="2500" b="1" dirty="0">
              <a:solidFill>
                <a:srgbClr val="C00000"/>
              </a:solidFill>
              <a:latin typeface="Palatino Linotype" panose="02040502050505030304" pitchFamily="18" charset="0"/>
            </a:endParaRPr>
          </a:p>
        </p:txBody>
      </p:sp>
      <p:sp>
        <p:nvSpPr>
          <p:cNvPr id="7" name="TextBox 6">
            <a:extLst>
              <a:ext uri="{FF2B5EF4-FFF2-40B4-BE49-F238E27FC236}">
                <a16:creationId xmlns:a16="http://schemas.microsoft.com/office/drawing/2014/main" id="{F80051A9-B6A5-F0BB-4DCB-0BFB1D80355B}"/>
              </a:ext>
            </a:extLst>
          </p:cNvPr>
          <p:cNvSpPr txBox="1"/>
          <p:nvPr/>
        </p:nvSpPr>
        <p:spPr>
          <a:xfrm>
            <a:off x="358845" y="531925"/>
            <a:ext cx="11548735" cy="769441"/>
          </a:xfrm>
          <a:prstGeom prst="rect">
            <a:avLst/>
          </a:prstGeom>
          <a:noFill/>
        </p:spPr>
        <p:txBody>
          <a:bodyPr wrap="square">
            <a:spAutoFit/>
          </a:bodyPr>
          <a:lstStyle/>
          <a:p>
            <a:pPr algn="just"/>
            <a:r>
              <a:rPr lang="en-US" sz="2200" dirty="0">
                <a:latin typeface="Palatino Linotype" panose="02040502050505030304" pitchFamily="18" charset="0"/>
              </a:rPr>
              <a:t>To search for identifier lexemes, this diagram will also recognize the keywords if, then, and else of our running example</a:t>
            </a:r>
            <a:endParaRPr lang="en-IN" sz="2200" dirty="0">
              <a:latin typeface="Palatino Linotype" panose="02040502050505030304" pitchFamily="18" charset="0"/>
            </a:endParaRPr>
          </a:p>
        </p:txBody>
      </p:sp>
      <p:pic>
        <p:nvPicPr>
          <p:cNvPr id="9" name="Picture 8">
            <a:extLst>
              <a:ext uri="{FF2B5EF4-FFF2-40B4-BE49-F238E27FC236}">
                <a16:creationId xmlns:a16="http://schemas.microsoft.com/office/drawing/2014/main" id="{DA05754E-3E23-50A3-DDB1-847388A82FE5}"/>
              </a:ext>
            </a:extLst>
          </p:cNvPr>
          <p:cNvPicPr>
            <a:picLocks noChangeAspect="1"/>
          </p:cNvPicPr>
          <p:nvPr/>
        </p:nvPicPr>
        <p:blipFill>
          <a:blip r:embed="rId2"/>
          <a:stretch>
            <a:fillRect/>
          </a:stretch>
        </p:blipFill>
        <p:spPr>
          <a:xfrm>
            <a:off x="1967023" y="1213215"/>
            <a:ext cx="9027042" cy="1680672"/>
          </a:xfrm>
          <a:prstGeom prst="rect">
            <a:avLst/>
          </a:prstGeom>
        </p:spPr>
      </p:pic>
      <p:sp>
        <p:nvSpPr>
          <p:cNvPr id="11" name="TextBox 10">
            <a:extLst>
              <a:ext uri="{FF2B5EF4-FFF2-40B4-BE49-F238E27FC236}">
                <a16:creationId xmlns:a16="http://schemas.microsoft.com/office/drawing/2014/main" id="{9DA730A1-F84F-0A96-60AA-837D9719E245}"/>
              </a:ext>
            </a:extLst>
          </p:cNvPr>
          <p:cNvSpPr txBox="1"/>
          <p:nvPr/>
        </p:nvSpPr>
        <p:spPr>
          <a:xfrm>
            <a:off x="284419" y="2792533"/>
            <a:ext cx="11741003" cy="3579121"/>
          </a:xfrm>
          <a:prstGeom prst="rect">
            <a:avLst/>
          </a:prstGeom>
          <a:noFill/>
        </p:spPr>
        <p:txBody>
          <a:bodyPr wrap="square">
            <a:spAutoFit/>
          </a:bodyPr>
          <a:lstStyle/>
          <a:p>
            <a:pPr algn="just">
              <a:lnSpc>
                <a:spcPct val="150000"/>
              </a:lnSpc>
              <a:spcAft>
                <a:spcPts val="800"/>
              </a:spcAft>
            </a:pPr>
            <a:r>
              <a:rPr lang="en-IN" b="0" i="0" kern="100" dirty="0">
                <a:solidFill>
                  <a:srgbClr val="000000"/>
                </a:solidFill>
                <a:effectLst/>
                <a:latin typeface="Palatino Linotype" panose="02040502050505030304" pitchFamily="18" charset="0"/>
                <a:ea typeface="Calibri" panose="020F0502020204030204" pitchFamily="34" charset="0"/>
                <a:cs typeface="Times New Roman" panose="02020603050405020304" pitchFamily="18" charset="0"/>
              </a:rPr>
              <a:t>There are two ways that we can handle reserved words that look like identifiers: </a:t>
            </a:r>
          </a:p>
          <a:p>
            <a:pPr marL="342900" indent="-342900" algn="just">
              <a:lnSpc>
                <a:spcPct val="150000"/>
              </a:lnSpc>
              <a:spcAft>
                <a:spcPts val="800"/>
              </a:spcAft>
              <a:buFont typeface="+mj-lt"/>
              <a:buAutoNum type="arabicPeriod"/>
            </a:pPr>
            <a:r>
              <a:rPr lang="en-IN" b="0" i="0" kern="100" dirty="0">
                <a:solidFill>
                  <a:srgbClr val="000000"/>
                </a:solidFill>
                <a:effectLst/>
                <a:latin typeface="Palatino Linotype" panose="02040502050505030304" pitchFamily="18" charset="0"/>
                <a:ea typeface="Calibri" panose="020F0502020204030204" pitchFamily="34" charset="0"/>
                <a:cs typeface="Times New Roman" panose="02020603050405020304" pitchFamily="18" charset="0"/>
              </a:rPr>
              <a:t>Install the reserved words in the symbol table initially. When we  find an identifier, a call to </a:t>
            </a:r>
            <a:r>
              <a:rPr lang="en-IN" b="1" i="0" kern="100" dirty="0" err="1">
                <a:solidFill>
                  <a:srgbClr val="FF0000"/>
                </a:solidFill>
                <a:effectLst/>
                <a:latin typeface="Palatino Linotype" panose="02040502050505030304" pitchFamily="18" charset="0"/>
                <a:ea typeface="Calibri" panose="020F0502020204030204" pitchFamily="34" charset="0"/>
                <a:cs typeface="Times New Roman" panose="02020603050405020304" pitchFamily="18" charset="0"/>
              </a:rPr>
              <a:t>installID</a:t>
            </a:r>
            <a:r>
              <a:rPr lang="en-IN" b="0" i="0" kern="100" dirty="0">
                <a:solidFill>
                  <a:srgbClr val="000000"/>
                </a:solidFill>
                <a:effectLst/>
                <a:latin typeface="Palatino Linotype" panose="02040502050505030304" pitchFamily="18" charset="0"/>
                <a:ea typeface="Calibri" panose="020F0502020204030204" pitchFamily="34" charset="0"/>
                <a:cs typeface="Times New Roman" panose="02020603050405020304" pitchFamily="18" charset="0"/>
              </a:rPr>
              <a:t> places it in the symbol table if it is not already there and returns a pointer to the symbol-table entry for the lexeme found.  The function </a:t>
            </a:r>
            <a:r>
              <a:rPr lang="en-IN" b="1" i="0" kern="100" dirty="0" err="1">
                <a:solidFill>
                  <a:srgbClr val="FF0000"/>
                </a:solidFill>
                <a:effectLst/>
                <a:latin typeface="Palatino Linotype" panose="02040502050505030304" pitchFamily="18" charset="0"/>
                <a:ea typeface="Calibri" panose="020F0502020204030204" pitchFamily="34" charset="0"/>
                <a:cs typeface="Times New Roman" panose="02020603050405020304" pitchFamily="18" charset="0"/>
              </a:rPr>
              <a:t>getToken</a:t>
            </a:r>
            <a:r>
              <a:rPr lang="en-IN" b="0" i="0" kern="100" dirty="0">
                <a:solidFill>
                  <a:srgbClr val="000000"/>
                </a:solidFill>
                <a:effectLst/>
                <a:latin typeface="Palatino Linotype" panose="02040502050505030304" pitchFamily="18" charset="0"/>
                <a:ea typeface="Calibri" panose="020F0502020204030204" pitchFamily="34" charset="0"/>
                <a:cs typeface="Times New Roman" panose="02020603050405020304" pitchFamily="18" charset="0"/>
              </a:rPr>
              <a:t> examines the symbol table entry for the lexeme found, and returns whatever token name the symbol table says this lexeme represents either id or one of the keyword tokens. </a:t>
            </a:r>
          </a:p>
          <a:p>
            <a:pPr marL="342900" indent="-342900" algn="just">
              <a:lnSpc>
                <a:spcPct val="150000"/>
              </a:lnSpc>
              <a:spcAft>
                <a:spcPts val="800"/>
              </a:spcAft>
              <a:buFont typeface="+mj-lt"/>
              <a:buAutoNum type="arabicPeriod"/>
            </a:pPr>
            <a:r>
              <a:rPr lang="en-IN" b="0" i="0" kern="100" dirty="0">
                <a:solidFill>
                  <a:srgbClr val="000000"/>
                </a:solidFill>
                <a:effectLst/>
                <a:latin typeface="Palatino Linotype" panose="02040502050505030304" pitchFamily="18" charset="0"/>
                <a:ea typeface="Calibri" panose="020F0502020204030204" pitchFamily="34" charset="0"/>
                <a:cs typeface="Times New Roman" panose="02020603050405020304" pitchFamily="18" charset="0"/>
              </a:rPr>
              <a:t>Create separate transition diagrams for each keyword; Note that such a transition diagram consists of states representing the situation after each successive letter of the keyword is seen, followed by a test for a \nonletter-or-digit,“ i.e., any character that cannot be the continuation of an identifier. </a:t>
            </a:r>
            <a:endParaRPr lang="en-IN" kern="100" dirty="0">
              <a:effectLst/>
              <a:latin typeface="Palatino Linotype" panose="02040502050505030304" pitchFamily="18" charset="0"/>
              <a:ea typeface="Calibri" panose="020F0502020204030204" pitchFamily="34" charset="0"/>
              <a:cs typeface="Times New Roman" panose="02020603050405020304" pitchFamily="18" charset="0"/>
            </a:endParaRPr>
          </a:p>
        </p:txBody>
      </p:sp>
      <p:pic>
        <p:nvPicPr>
          <p:cNvPr id="4" name="Picture 3">
            <a:extLst>
              <a:ext uri="{FF2B5EF4-FFF2-40B4-BE49-F238E27FC236}">
                <a16:creationId xmlns:a16="http://schemas.microsoft.com/office/drawing/2014/main" id="{991E5741-37B3-2B40-6021-ED0BDC29F965}"/>
              </a:ext>
            </a:extLst>
          </p:cNvPr>
          <p:cNvPicPr>
            <a:picLocks noChangeAspect="1"/>
          </p:cNvPicPr>
          <p:nvPr/>
        </p:nvPicPr>
        <p:blipFill>
          <a:blip r:embed="rId3"/>
          <a:stretch>
            <a:fillRect/>
          </a:stretch>
        </p:blipFill>
        <p:spPr>
          <a:xfrm>
            <a:off x="4526369" y="5644785"/>
            <a:ext cx="6286500" cy="819150"/>
          </a:xfrm>
          <a:prstGeom prst="rect">
            <a:avLst/>
          </a:prstGeom>
        </p:spPr>
      </p:pic>
    </p:spTree>
    <p:extLst>
      <p:ext uri="{BB962C8B-B14F-4D97-AF65-F5344CB8AC3E}">
        <p14:creationId xmlns:p14="http://schemas.microsoft.com/office/powerpoint/2010/main" val="17698442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1000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202F72-70BD-B0EB-C370-8B6B721342AE}"/>
              </a:ext>
            </a:extLst>
          </p:cNvPr>
          <p:cNvSpPr txBox="1">
            <a:spLocks/>
          </p:cNvSpPr>
          <p:nvPr/>
        </p:nvSpPr>
        <p:spPr>
          <a:xfrm>
            <a:off x="0" y="1"/>
            <a:ext cx="12192000" cy="711200"/>
          </a:xfrm>
          <a:prstGeom prst="rect">
            <a:avLst/>
          </a:prstGeom>
        </p:spPr>
        <p:txBody>
          <a:bodyPr/>
          <a:lstStyle>
            <a:lvl1pPr algn="l" defTabSz="914400" rtl="0" eaLnBrk="1" latinLnBrk="0" hangingPunct="1">
              <a:lnSpc>
                <a:spcPct val="90000"/>
              </a:lnSpc>
              <a:spcBef>
                <a:spcPct val="0"/>
              </a:spcBef>
              <a:buNone/>
              <a:defRPr sz="4400" kern="1200">
                <a:solidFill>
                  <a:srgbClr val="C00000"/>
                </a:solidFill>
                <a:latin typeface="Palatino Linotype" panose="02040502050505030304" pitchFamily="18" charset="0"/>
                <a:ea typeface="+mj-ea"/>
                <a:cs typeface="+mj-cs"/>
              </a:defRPr>
            </a:lvl1pPr>
          </a:lstStyle>
          <a:p>
            <a:r>
              <a:rPr lang="en-US"/>
              <a:t>Transition diagram : Unsigned number</a:t>
            </a:r>
          </a:p>
        </p:txBody>
      </p:sp>
      <mc:AlternateContent xmlns:mc="http://schemas.openxmlformats.org/markup-compatibility/2006" xmlns:a14="http://schemas.microsoft.com/office/drawing/2010/main">
        <mc:Choice Requires="a14">
          <p:sp>
            <p:nvSpPr>
              <p:cNvPr id="3" name="Oval 2">
                <a:extLst>
                  <a:ext uri="{FF2B5EF4-FFF2-40B4-BE49-F238E27FC236}">
                    <a16:creationId xmlns:a16="http://schemas.microsoft.com/office/drawing/2014/main" id="{604036E0-A0C9-69F0-DB35-504DE083DD03}"/>
                  </a:ext>
                </a:extLst>
              </p:cNvPr>
              <p:cNvSpPr/>
              <p:nvPr/>
            </p:nvSpPr>
            <p:spPr>
              <a:xfrm>
                <a:off x="2370698" y="2530649"/>
                <a:ext cx="609600" cy="609600"/>
              </a:xfrm>
              <a:prstGeom prst="ellipse">
                <a:avLst/>
              </a:prstGeom>
              <a:solidFill>
                <a:srgbClr val="0E47A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14:m>
                  <m:oMathPara xmlns:m="http://schemas.openxmlformats.org/officeDocument/2006/math">
                    <m:oMathParaPr>
                      <m:jc m:val="center"/>
                    </m:oMathParaPr>
                    <m:oMath xmlns:m="http://schemas.openxmlformats.org/officeDocument/2006/math">
                      <m:r>
                        <a:rPr lang="en-US" b="0" i="1" smtClean="0">
                          <a:latin typeface="Cambria Math" panose="02040503050406030204" pitchFamily="18" charset="0"/>
                        </a:rPr>
                        <m:t>1</m:t>
                      </m:r>
                    </m:oMath>
                  </m:oMathPara>
                </a14:m>
                <a:endParaRPr lang="en-US"/>
              </a:p>
            </p:txBody>
          </p:sp>
        </mc:Choice>
        <mc:Fallback xmlns="">
          <p:sp>
            <p:nvSpPr>
              <p:cNvPr id="3" name="Oval 2">
                <a:extLst>
                  <a:ext uri="{FF2B5EF4-FFF2-40B4-BE49-F238E27FC236}">
                    <a16:creationId xmlns:a16="http://schemas.microsoft.com/office/drawing/2014/main" id="{604036E0-A0C9-69F0-DB35-504DE083DD03}"/>
                  </a:ext>
                </a:extLst>
              </p:cNvPr>
              <p:cNvSpPr>
                <a:spLocks noRot="1" noChangeAspect="1" noMove="1" noResize="1" noEditPoints="1" noAdjustHandles="1" noChangeArrowheads="1" noChangeShapeType="1" noTextEdit="1"/>
              </p:cNvSpPr>
              <p:nvPr/>
            </p:nvSpPr>
            <p:spPr>
              <a:xfrm>
                <a:off x="2370698" y="2530649"/>
                <a:ext cx="609600" cy="609600"/>
              </a:xfrm>
              <a:prstGeom prst="ellipse">
                <a:avLst/>
              </a:prstGeom>
              <a:blipFill>
                <a:blip r:embed="rId2"/>
                <a:stretch>
                  <a:fillRect/>
                </a:stretch>
              </a:blipFill>
              <a:ln>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 name="Oval 3">
                <a:extLst>
                  <a:ext uri="{FF2B5EF4-FFF2-40B4-BE49-F238E27FC236}">
                    <a16:creationId xmlns:a16="http://schemas.microsoft.com/office/drawing/2014/main" id="{A092AA5E-3E90-C9DB-036C-048D98B9C8CE}"/>
                  </a:ext>
                </a:extLst>
              </p:cNvPr>
              <p:cNvSpPr/>
              <p:nvPr/>
            </p:nvSpPr>
            <p:spPr>
              <a:xfrm>
                <a:off x="3478206" y="2533902"/>
                <a:ext cx="609600" cy="609600"/>
              </a:xfrm>
              <a:prstGeom prst="ellipse">
                <a:avLst/>
              </a:prstGeom>
              <a:solidFill>
                <a:srgbClr val="0E47A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14:m>
                  <m:oMathPara xmlns:m="http://schemas.openxmlformats.org/officeDocument/2006/math">
                    <m:oMathParaPr>
                      <m:jc m:val="center"/>
                    </m:oMathParaPr>
                    <m:oMath xmlns:m="http://schemas.openxmlformats.org/officeDocument/2006/math">
                      <m:r>
                        <a:rPr lang="en-US" b="0" i="1" smtClean="0">
                          <a:latin typeface="Cambria Math" panose="02040503050406030204" pitchFamily="18" charset="0"/>
                        </a:rPr>
                        <m:t>2</m:t>
                      </m:r>
                    </m:oMath>
                  </m:oMathPara>
                </a14:m>
                <a:endParaRPr lang="en-US"/>
              </a:p>
            </p:txBody>
          </p:sp>
        </mc:Choice>
        <mc:Fallback xmlns="">
          <p:sp>
            <p:nvSpPr>
              <p:cNvPr id="4" name="Oval 3">
                <a:extLst>
                  <a:ext uri="{FF2B5EF4-FFF2-40B4-BE49-F238E27FC236}">
                    <a16:creationId xmlns:a16="http://schemas.microsoft.com/office/drawing/2014/main" id="{A092AA5E-3E90-C9DB-036C-048D98B9C8CE}"/>
                  </a:ext>
                </a:extLst>
              </p:cNvPr>
              <p:cNvSpPr>
                <a:spLocks noRot="1" noChangeAspect="1" noMove="1" noResize="1" noEditPoints="1" noAdjustHandles="1" noChangeArrowheads="1" noChangeShapeType="1" noTextEdit="1"/>
              </p:cNvSpPr>
              <p:nvPr/>
            </p:nvSpPr>
            <p:spPr>
              <a:xfrm>
                <a:off x="3478206" y="2533902"/>
                <a:ext cx="609600" cy="609600"/>
              </a:xfrm>
              <a:prstGeom prst="ellipse">
                <a:avLst/>
              </a:prstGeom>
              <a:blipFill>
                <a:blip r:embed="rId3"/>
                <a:stretch>
                  <a:fillRect/>
                </a:stretch>
              </a:blipFill>
              <a:ln>
                <a:solidFill>
                  <a:schemeClr val="tx1"/>
                </a:solidFill>
              </a:ln>
            </p:spPr>
            <p:txBody>
              <a:bodyPr/>
              <a:lstStyle/>
              <a:p>
                <a:r>
                  <a:rPr lang="en-IN">
                    <a:noFill/>
                  </a:rPr>
                  <a:t> </a:t>
                </a:r>
              </a:p>
            </p:txBody>
          </p:sp>
        </mc:Fallback>
      </mc:AlternateContent>
      <p:cxnSp>
        <p:nvCxnSpPr>
          <p:cNvPr id="5" name="Straight Arrow Connector 4">
            <a:extLst>
              <a:ext uri="{FF2B5EF4-FFF2-40B4-BE49-F238E27FC236}">
                <a16:creationId xmlns:a16="http://schemas.microsoft.com/office/drawing/2014/main" id="{F22CF927-2520-3FFD-44C2-F2C5FD0F8A7D}"/>
              </a:ext>
            </a:extLst>
          </p:cNvPr>
          <p:cNvCxnSpPr/>
          <p:nvPr/>
        </p:nvCxnSpPr>
        <p:spPr>
          <a:xfrm>
            <a:off x="1872916" y="2835449"/>
            <a:ext cx="505012" cy="0"/>
          </a:xfrm>
          <a:prstGeom prst="straightConnector1">
            <a:avLst/>
          </a:prstGeom>
          <a:ln w="25400">
            <a:solidFill>
              <a:srgbClr val="0E47A1"/>
            </a:solidFill>
            <a:tailEnd type="arrow"/>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543E4659-678C-4F5E-E22B-D6A9AC99A547}"/>
              </a:ext>
            </a:extLst>
          </p:cNvPr>
          <p:cNvCxnSpPr>
            <a:stCxn id="3" idx="6"/>
            <a:endCxn id="4" idx="2"/>
          </p:cNvCxnSpPr>
          <p:nvPr/>
        </p:nvCxnSpPr>
        <p:spPr>
          <a:xfrm>
            <a:off x="2980298" y="2835449"/>
            <a:ext cx="497908" cy="3253"/>
          </a:xfrm>
          <a:prstGeom prst="straightConnector1">
            <a:avLst/>
          </a:prstGeom>
          <a:ln w="25400">
            <a:solidFill>
              <a:srgbClr val="0E47A1"/>
            </a:solidFill>
            <a:tailEnd type="arrow"/>
          </a:ln>
        </p:spPr>
        <p:style>
          <a:lnRef idx="1">
            <a:schemeClr val="accent1"/>
          </a:lnRef>
          <a:fillRef idx="0">
            <a:schemeClr val="accent1"/>
          </a:fillRef>
          <a:effectRef idx="0">
            <a:schemeClr val="accent1"/>
          </a:effectRef>
          <a:fontRef idx="minor">
            <a:schemeClr val="tx1"/>
          </a:fontRef>
        </p:style>
      </p:cxnSp>
      <p:sp>
        <p:nvSpPr>
          <p:cNvPr id="7" name="Oval 6">
            <a:extLst>
              <a:ext uri="{FF2B5EF4-FFF2-40B4-BE49-F238E27FC236}">
                <a16:creationId xmlns:a16="http://schemas.microsoft.com/office/drawing/2014/main" id="{A7305758-E4BB-6295-8F06-3B01CF58B66F}"/>
              </a:ext>
            </a:extLst>
          </p:cNvPr>
          <p:cNvSpPr/>
          <p:nvPr/>
        </p:nvSpPr>
        <p:spPr>
          <a:xfrm>
            <a:off x="9898956" y="2530261"/>
            <a:ext cx="609600" cy="609600"/>
          </a:xfrm>
          <a:prstGeom prst="ellipse">
            <a:avLst/>
          </a:prstGeom>
          <a:solidFill>
            <a:srgbClr val="0E47A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dirty="0"/>
              <a:t>8</a:t>
            </a:r>
          </a:p>
        </p:txBody>
      </p:sp>
      <p:sp>
        <p:nvSpPr>
          <p:cNvPr id="8" name="Oval 7">
            <a:extLst>
              <a:ext uri="{FF2B5EF4-FFF2-40B4-BE49-F238E27FC236}">
                <a16:creationId xmlns:a16="http://schemas.microsoft.com/office/drawing/2014/main" id="{CE00189F-4C8A-34D4-8FDE-415BD3E5B7D1}"/>
              </a:ext>
            </a:extLst>
          </p:cNvPr>
          <p:cNvSpPr/>
          <p:nvPr/>
        </p:nvSpPr>
        <p:spPr>
          <a:xfrm>
            <a:off x="9975156" y="2606461"/>
            <a:ext cx="457200" cy="45720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endParaRPr lang="en-US"/>
          </a:p>
        </p:txBody>
      </p:sp>
      <p:sp>
        <p:nvSpPr>
          <p:cNvPr id="9" name="TextBox 8">
            <a:extLst>
              <a:ext uri="{FF2B5EF4-FFF2-40B4-BE49-F238E27FC236}">
                <a16:creationId xmlns:a16="http://schemas.microsoft.com/office/drawing/2014/main" id="{45A0DFF6-746D-FFCE-BA54-3EBEDA1B6B9C}"/>
              </a:ext>
            </a:extLst>
          </p:cNvPr>
          <p:cNvSpPr txBox="1"/>
          <p:nvPr/>
        </p:nvSpPr>
        <p:spPr>
          <a:xfrm>
            <a:off x="9433702" y="2423515"/>
            <a:ext cx="606256" cy="338554"/>
          </a:xfrm>
          <a:prstGeom prst="rect">
            <a:avLst/>
          </a:prstGeom>
          <a:noFill/>
        </p:spPr>
        <p:txBody>
          <a:bodyPr wrap="none" rtlCol="0">
            <a:spAutoFit/>
          </a:bodyPr>
          <a:lstStyle/>
          <a:p>
            <a:r>
              <a:rPr lang="en-US" sz="1600">
                <a:latin typeface="+mj-lt"/>
                <a:ea typeface="Cambria Math" panose="02040503050406030204" pitchFamily="18" charset="0"/>
              </a:rPr>
              <a:t>other</a:t>
            </a:r>
          </a:p>
        </p:txBody>
      </p:sp>
      <p:sp>
        <p:nvSpPr>
          <p:cNvPr id="10" name="TextBox 9">
            <a:extLst>
              <a:ext uri="{FF2B5EF4-FFF2-40B4-BE49-F238E27FC236}">
                <a16:creationId xmlns:a16="http://schemas.microsoft.com/office/drawing/2014/main" id="{7A290E32-8746-7671-6940-F73DB6D49AFB}"/>
              </a:ext>
            </a:extLst>
          </p:cNvPr>
          <p:cNvSpPr txBox="1"/>
          <p:nvPr/>
        </p:nvSpPr>
        <p:spPr>
          <a:xfrm>
            <a:off x="3034828" y="2467961"/>
            <a:ext cx="485434" cy="276999"/>
          </a:xfrm>
          <a:prstGeom prst="rect">
            <a:avLst/>
          </a:prstGeom>
          <a:noFill/>
        </p:spPr>
        <p:txBody>
          <a:bodyPr wrap="square" lIns="0" tIns="0" rIns="0" bIns="0" rtlCol="0">
            <a:spAutoFit/>
          </a:bodyPr>
          <a:lstStyle/>
          <a:p>
            <a:r>
              <a:rPr lang="en-US"/>
              <a:t>digit</a:t>
            </a:r>
          </a:p>
        </p:txBody>
      </p:sp>
      <mc:AlternateContent xmlns:mc="http://schemas.openxmlformats.org/markup-compatibility/2006" xmlns:a14="http://schemas.microsoft.com/office/drawing/2010/main">
        <mc:Choice Requires="a14">
          <p:sp>
            <p:nvSpPr>
              <p:cNvPr id="11" name="Oval 10">
                <a:extLst>
                  <a:ext uri="{FF2B5EF4-FFF2-40B4-BE49-F238E27FC236}">
                    <a16:creationId xmlns:a16="http://schemas.microsoft.com/office/drawing/2014/main" id="{96534B86-A92D-39EF-3D20-0765357FD70E}"/>
                  </a:ext>
                </a:extLst>
              </p:cNvPr>
              <p:cNvSpPr/>
              <p:nvPr/>
            </p:nvSpPr>
            <p:spPr>
              <a:xfrm>
                <a:off x="4585714" y="2572428"/>
                <a:ext cx="609600" cy="609600"/>
              </a:xfrm>
              <a:prstGeom prst="ellipse">
                <a:avLst/>
              </a:prstGeom>
              <a:solidFill>
                <a:srgbClr val="0E47A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14:m>
                  <m:oMathPara xmlns:m="http://schemas.openxmlformats.org/officeDocument/2006/math">
                    <m:oMathParaPr>
                      <m:jc m:val="center"/>
                    </m:oMathParaPr>
                    <m:oMath xmlns:m="http://schemas.openxmlformats.org/officeDocument/2006/math">
                      <m:r>
                        <a:rPr lang="en-US" b="0" i="1" smtClean="0">
                          <a:latin typeface="Cambria Math" panose="02040503050406030204" pitchFamily="18" charset="0"/>
                        </a:rPr>
                        <m:t>3</m:t>
                      </m:r>
                    </m:oMath>
                  </m:oMathPara>
                </a14:m>
                <a:endParaRPr lang="en-US"/>
              </a:p>
            </p:txBody>
          </p:sp>
        </mc:Choice>
        <mc:Fallback xmlns="">
          <p:sp>
            <p:nvSpPr>
              <p:cNvPr id="11" name="Oval 10">
                <a:extLst>
                  <a:ext uri="{FF2B5EF4-FFF2-40B4-BE49-F238E27FC236}">
                    <a16:creationId xmlns:a16="http://schemas.microsoft.com/office/drawing/2014/main" id="{96534B86-A92D-39EF-3D20-0765357FD70E}"/>
                  </a:ext>
                </a:extLst>
              </p:cNvPr>
              <p:cNvSpPr>
                <a:spLocks noRot="1" noChangeAspect="1" noMove="1" noResize="1" noEditPoints="1" noAdjustHandles="1" noChangeArrowheads="1" noChangeShapeType="1" noTextEdit="1"/>
              </p:cNvSpPr>
              <p:nvPr/>
            </p:nvSpPr>
            <p:spPr>
              <a:xfrm>
                <a:off x="4585714" y="2572428"/>
                <a:ext cx="609600" cy="609600"/>
              </a:xfrm>
              <a:prstGeom prst="ellipse">
                <a:avLst/>
              </a:prstGeom>
              <a:blipFill>
                <a:blip r:embed="rId4"/>
                <a:stretch>
                  <a:fillRect/>
                </a:stretch>
              </a:blipFill>
              <a:ln>
                <a:solidFill>
                  <a:schemeClr val="tx1"/>
                </a:solidFill>
              </a:ln>
            </p:spPr>
            <p:txBody>
              <a:bodyPr/>
              <a:lstStyle/>
              <a:p>
                <a:r>
                  <a:rPr lang="en-IN">
                    <a:noFill/>
                  </a:rPr>
                  <a:t> </a:t>
                </a:r>
              </a:p>
            </p:txBody>
          </p:sp>
        </mc:Fallback>
      </mc:AlternateContent>
      <p:cxnSp>
        <p:nvCxnSpPr>
          <p:cNvPr id="12" name="Straight Arrow Connector 11">
            <a:extLst>
              <a:ext uri="{FF2B5EF4-FFF2-40B4-BE49-F238E27FC236}">
                <a16:creationId xmlns:a16="http://schemas.microsoft.com/office/drawing/2014/main" id="{F71C7FCA-C342-28C3-86F2-D3DE97BBF778}"/>
              </a:ext>
            </a:extLst>
          </p:cNvPr>
          <p:cNvCxnSpPr>
            <a:endCxn id="11" idx="2"/>
          </p:cNvCxnSpPr>
          <p:nvPr/>
        </p:nvCxnSpPr>
        <p:spPr>
          <a:xfrm>
            <a:off x="4087806" y="2873975"/>
            <a:ext cx="497908" cy="3253"/>
          </a:xfrm>
          <a:prstGeom prst="straightConnector1">
            <a:avLst/>
          </a:prstGeom>
          <a:ln w="25400">
            <a:solidFill>
              <a:srgbClr val="0E47A1"/>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Oval 12">
                <a:extLst>
                  <a:ext uri="{FF2B5EF4-FFF2-40B4-BE49-F238E27FC236}">
                    <a16:creationId xmlns:a16="http://schemas.microsoft.com/office/drawing/2014/main" id="{60F35947-274D-69F8-1F46-9C4F27954690}"/>
                  </a:ext>
                </a:extLst>
              </p:cNvPr>
              <p:cNvSpPr/>
              <p:nvPr/>
            </p:nvSpPr>
            <p:spPr>
              <a:xfrm>
                <a:off x="5653169" y="2572428"/>
                <a:ext cx="609600" cy="609600"/>
              </a:xfrm>
              <a:prstGeom prst="ellipse">
                <a:avLst/>
              </a:prstGeom>
              <a:solidFill>
                <a:srgbClr val="0E47A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14:m>
                  <m:oMathPara xmlns:m="http://schemas.openxmlformats.org/officeDocument/2006/math">
                    <m:oMathParaPr>
                      <m:jc m:val="center"/>
                    </m:oMathParaPr>
                    <m:oMath xmlns:m="http://schemas.openxmlformats.org/officeDocument/2006/math">
                      <m:r>
                        <a:rPr lang="en-US" b="0" i="1" smtClean="0">
                          <a:latin typeface="Cambria Math" panose="02040503050406030204" pitchFamily="18" charset="0"/>
                        </a:rPr>
                        <m:t>4</m:t>
                      </m:r>
                    </m:oMath>
                  </m:oMathPara>
                </a14:m>
                <a:endParaRPr lang="en-US"/>
              </a:p>
            </p:txBody>
          </p:sp>
        </mc:Choice>
        <mc:Fallback xmlns="">
          <p:sp>
            <p:nvSpPr>
              <p:cNvPr id="13" name="Oval 12">
                <a:extLst>
                  <a:ext uri="{FF2B5EF4-FFF2-40B4-BE49-F238E27FC236}">
                    <a16:creationId xmlns:a16="http://schemas.microsoft.com/office/drawing/2014/main" id="{60F35947-274D-69F8-1F46-9C4F27954690}"/>
                  </a:ext>
                </a:extLst>
              </p:cNvPr>
              <p:cNvSpPr>
                <a:spLocks noRot="1" noChangeAspect="1" noMove="1" noResize="1" noEditPoints="1" noAdjustHandles="1" noChangeArrowheads="1" noChangeShapeType="1" noTextEdit="1"/>
              </p:cNvSpPr>
              <p:nvPr/>
            </p:nvSpPr>
            <p:spPr>
              <a:xfrm>
                <a:off x="5653169" y="2572428"/>
                <a:ext cx="609600" cy="609600"/>
              </a:xfrm>
              <a:prstGeom prst="ellipse">
                <a:avLst/>
              </a:prstGeom>
              <a:blipFill>
                <a:blip r:embed="rId5"/>
                <a:stretch>
                  <a:fillRect/>
                </a:stretch>
              </a:blipFill>
              <a:ln>
                <a:solidFill>
                  <a:schemeClr val="tx1"/>
                </a:solidFill>
              </a:ln>
            </p:spPr>
            <p:txBody>
              <a:bodyPr/>
              <a:lstStyle/>
              <a:p>
                <a:r>
                  <a:rPr lang="en-IN">
                    <a:noFill/>
                  </a:rPr>
                  <a:t> </a:t>
                </a:r>
              </a:p>
            </p:txBody>
          </p:sp>
        </mc:Fallback>
      </mc:AlternateContent>
      <p:cxnSp>
        <p:nvCxnSpPr>
          <p:cNvPr id="14" name="Straight Arrow Connector 13">
            <a:extLst>
              <a:ext uri="{FF2B5EF4-FFF2-40B4-BE49-F238E27FC236}">
                <a16:creationId xmlns:a16="http://schemas.microsoft.com/office/drawing/2014/main" id="{C29A93FB-440C-5899-5D62-C20E3111665C}"/>
              </a:ext>
            </a:extLst>
          </p:cNvPr>
          <p:cNvCxnSpPr>
            <a:endCxn id="13" idx="2"/>
          </p:cNvCxnSpPr>
          <p:nvPr/>
        </p:nvCxnSpPr>
        <p:spPr>
          <a:xfrm>
            <a:off x="5155261" y="2873975"/>
            <a:ext cx="497908" cy="3253"/>
          </a:xfrm>
          <a:prstGeom prst="straightConnector1">
            <a:avLst/>
          </a:prstGeom>
          <a:ln w="25400">
            <a:solidFill>
              <a:srgbClr val="0E47A1"/>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 name="Oval 14">
                <a:extLst>
                  <a:ext uri="{FF2B5EF4-FFF2-40B4-BE49-F238E27FC236}">
                    <a16:creationId xmlns:a16="http://schemas.microsoft.com/office/drawing/2014/main" id="{9922AF4A-DA7B-F136-01A1-1E29FCD3DB0A}"/>
                  </a:ext>
                </a:extLst>
              </p:cNvPr>
              <p:cNvSpPr/>
              <p:nvPr/>
            </p:nvSpPr>
            <p:spPr>
              <a:xfrm>
                <a:off x="6752336" y="2572428"/>
                <a:ext cx="609600" cy="609600"/>
              </a:xfrm>
              <a:prstGeom prst="ellipse">
                <a:avLst/>
              </a:prstGeom>
              <a:solidFill>
                <a:srgbClr val="0E47A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14:m>
                  <m:oMathPara xmlns:m="http://schemas.openxmlformats.org/officeDocument/2006/math">
                    <m:oMathParaPr>
                      <m:jc m:val="center"/>
                    </m:oMathParaPr>
                    <m:oMath xmlns:m="http://schemas.openxmlformats.org/officeDocument/2006/math">
                      <m:r>
                        <a:rPr lang="en-US" b="0" i="1" smtClean="0">
                          <a:latin typeface="Cambria Math" panose="02040503050406030204" pitchFamily="18" charset="0"/>
                        </a:rPr>
                        <m:t>5</m:t>
                      </m:r>
                    </m:oMath>
                  </m:oMathPara>
                </a14:m>
                <a:endParaRPr lang="en-US"/>
              </a:p>
            </p:txBody>
          </p:sp>
        </mc:Choice>
        <mc:Fallback xmlns="">
          <p:sp>
            <p:nvSpPr>
              <p:cNvPr id="15" name="Oval 14">
                <a:extLst>
                  <a:ext uri="{FF2B5EF4-FFF2-40B4-BE49-F238E27FC236}">
                    <a16:creationId xmlns:a16="http://schemas.microsoft.com/office/drawing/2014/main" id="{9922AF4A-DA7B-F136-01A1-1E29FCD3DB0A}"/>
                  </a:ext>
                </a:extLst>
              </p:cNvPr>
              <p:cNvSpPr>
                <a:spLocks noRot="1" noChangeAspect="1" noMove="1" noResize="1" noEditPoints="1" noAdjustHandles="1" noChangeArrowheads="1" noChangeShapeType="1" noTextEdit="1"/>
              </p:cNvSpPr>
              <p:nvPr/>
            </p:nvSpPr>
            <p:spPr>
              <a:xfrm>
                <a:off x="6752336" y="2572428"/>
                <a:ext cx="609600" cy="609600"/>
              </a:xfrm>
              <a:prstGeom prst="ellipse">
                <a:avLst/>
              </a:prstGeom>
              <a:blipFill>
                <a:blip r:embed="rId6"/>
                <a:stretch>
                  <a:fillRect/>
                </a:stretch>
              </a:blipFill>
              <a:ln>
                <a:solidFill>
                  <a:schemeClr val="tx1"/>
                </a:solidFill>
              </a:ln>
            </p:spPr>
            <p:txBody>
              <a:bodyPr/>
              <a:lstStyle/>
              <a:p>
                <a:r>
                  <a:rPr lang="en-IN">
                    <a:noFill/>
                  </a:rPr>
                  <a:t> </a:t>
                </a:r>
              </a:p>
            </p:txBody>
          </p:sp>
        </mc:Fallback>
      </mc:AlternateContent>
      <p:cxnSp>
        <p:nvCxnSpPr>
          <p:cNvPr id="16" name="Straight Arrow Connector 15">
            <a:extLst>
              <a:ext uri="{FF2B5EF4-FFF2-40B4-BE49-F238E27FC236}">
                <a16:creationId xmlns:a16="http://schemas.microsoft.com/office/drawing/2014/main" id="{7E1FEF8A-90CB-4621-7F98-3B3D4D0C35E3}"/>
              </a:ext>
            </a:extLst>
          </p:cNvPr>
          <p:cNvCxnSpPr>
            <a:endCxn id="15" idx="2"/>
          </p:cNvCxnSpPr>
          <p:nvPr/>
        </p:nvCxnSpPr>
        <p:spPr>
          <a:xfrm>
            <a:off x="6254428" y="2873975"/>
            <a:ext cx="497908" cy="3253"/>
          </a:xfrm>
          <a:prstGeom prst="straightConnector1">
            <a:avLst/>
          </a:prstGeom>
          <a:ln w="25400">
            <a:solidFill>
              <a:srgbClr val="0E47A1"/>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7" name="Oval 16">
                <a:extLst>
                  <a:ext uri="{FF2B5EF4-FFF2-40B4-BE49-F238E27FC236}">
                    <a16:creationId xmlns:a16="http://schemas.microsoft.com/office/drawing/2014/main" id="{EF35E412-ED25-839E-F2E5-D70589A05D5F}"/>
                  </a:ext>
                </a:extLst>
              </p:cNvPr>
              <p:cNvSpPr/>
              <p:nvPr/>
            </p:nvSpPr>
            <p:spPr>
              <a:xfrm>
                <a:off x="7851503" y="2572428"/>
                <a:ext cx="609600" cy="609600"/>
              </a:xfrm>
              <a:prstGeom prst="ellipse">
                <a:avLst/>
              </a:prstGeom>
              <a:solidFill>
                <a:srgbClr val="0E47A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14:m>
                  <m:oMathPara xmlns:m="http://schemas.openxmlformats.org/officeDocument/2006/math">
                    <m:oMathParaPr>
                      <m:jc m:val="center"/>
                    </m:oMathParaPr>
                    <m:oMath xmlns:m="http://schemas.openxmlformats.org/officeDocument/2006/math">
                      <m:r>
                        <a:rPr lang="en-US" b="0" i="1" smtClean="0">
                          <a:latin typeface="Cambria Math" panose="02040503050406030204" pitchFamily="18" charset="0"/>
                        </a:rPr>
                        <m:t>6</m:t>
                      </m:r>
                    </m:oMath>
                  </m:oMathPara>
                </a14:m>
                <a:endParaRPr lang="en-US"/>
              </a:p>
            </p:txBody>
          </p:sp>
        </mc:Choice>
        <mc:Fallback xmlns="">
          <p:sp>
            <p:nvSpPr>
              <p:cNvPr id="17" name="Oval 16">
                <a:extLst>
                  <a:ext uri="{FF2B5EF4-FFF2-40B4-BE49-F238E27FC236}">
                    <a16:creationId xmlns:a16="http://schemas.microsoft.com/office/drawing/2014/main" id="{EF35E412-ED25-839E-F2E5-D70589A05D5F}"/>
                  </a:ext>
                </a:extLst>
              </p:cNvPr>
              <p:cNvSpPr>
                <a:spLocks noRot="1" noChangeAspect="1" noMove="1" noResize="1" noEditPoints="1" noAdjustHandles="1" noChangeArrowheads="1" noChangeShapeType="1" noTextEdit="1"/>
              </p:cNvSpPr>
              <p:nvPr/>
            </p:nvSpPr>
            <p:spPr>
              <a:xfrm>
                <a:off x="7851503" y="2572428"/>
                <a:ext cx="609600" cy="609600"/>
              </a:xfrm>
              <a:prstGeom prst="ellipse">
                <a:avLst/>
              </a:prstGeom>
              <a:blipFill>
                <a:blip r:embed="rId7"/>
                <a:stretch>
                  <a:fillRect/>
                </a:stretch>
              </a:blipFill>
              <a:ln>
                <a:solidFill>
                  <a:schemeClr val="tx1"/>
                </a:solidFill>
              </a:ln>
            </p:spPr>
            <p:txBody>
              <a:bodyPr/>
              <a:lstStyle/>
              <a:p>
                <a:r>
                  <a:rPr lang="en-IN">
                    <a:noFill/>
                  </a:rPr>
                  <a:t> </a:t>
                </a:r>
              </a:p>
            </p:txBody>
          </p:sp>
        </mc:Fallback>
      </mc:AlternateContent>
      <p:cxnSp>
        <p:nvCxnSpPr>
          <p:cNvPr id="18" name="Straight Arrow Connector 17">
            <a:extLst>
              <a:ext uri="{FF2B5EF4-FFF2-40B4-BE49-F238E27FC236}">
                <a16:creationId xmlns:a16="http://schemas.microsoft.com/office/drawing/2014/main" id="{EFC3148D-37D4-07A6-F4A8-BD4F7B1CE2D5}"/>
              </a:ext>
            </a:extLst>
          </p:cNvPr>
          <p:cNvCxnSpPr>
            <a:endCxn id="17" idx="2"/>
          </p:cNvCxnSpPr>
          <p:nvPr/>
        </p:nvCxnSpPr>
        <p:spPr>
          <a:xfrm>
            <a:off x="7353595" y="2873975"/>
            <a:ext cx="497908" cy="3253"/>
          </a:xfrm>
          <a:prstGeom prst="straightConnector1">
            <a:avLst/>
          </a:prstGeom>
          <a:ln w="25400">
            <a:solidFill>
              <a:srgbClr val="0E47A1"/>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9" name="Oval 18">
                <a:extLst>
                  <a:ext uri="{FF2B5EF4-FFF2-40B4-BE49-F238E27FC236}">
                    <a16:creationId xmlns:a16="http://schemas.microsoft.com/office/drawing/2014/main" id="{43410C44-AB10-E4EE-4A8A-B5F9D46C3D08}"/>
                  </a:ext>
                </a:extLst>
              </p:cNvPr>
              <p:cNvSpPr/>
              <p:nvPr/>
            </p:nvSpPr>
            <p:spPr>
              <a:xfrm>
                <a:off x="8950670" y="2572428"/>
                <a:ext cx="609600" cy="609600"/>
              </a:xfrm>
              <a:prstGeom prst="ellipse">
                <a:avLst/>
              </a:prstGeom>
              <a:solidFill>
                <a:srgbClr val="0E47A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14:m>
                  <m:oMathPara xmlns:m="http://schemas.openxmlformats.org/officeDocument/2006/math">
                    <m:oMathParaPr>
                      <m:jc m:val="center"/>
                    </m:oMathParaPr>
                    <m:oMath xmlns:m="http://schemas.openxmlformats.org/officeDocument/2006/math">
                      <m:r>
                        <a:rPr lang="en-US" b="0" i="1" smtClean="0">
                          <a:latin typeface="Cambria Math" panose="02040503050406030204" pitchFamily="18" charset="0"/>
                        </a:rPr>
                        <m:t>7</m:t>
                      </m:r>
                    </m:oMath>
                  </m:oMathPara>
                </a14:m>
                <a:endParaRPr lang="en-US"/>
              </a:p>
            </p:txBody>
          </p:sp>
        </mc:Choice>
        <mc:Fallback xmlns="">
          <p:sp>
            <p:nvSpPr>
              <p:cNvPr id="19" name="Oval 18">
                <a:extLst>
                  <a:ext uri="{FF2B5EF4-FFF2-40B4-BE49-F238E27FC236}">
                    <a16:creationId xmlns:a16="http://schemas.microsoft.com/office/drawing/2014/main" id="{43410C44-AB10-E4EE-4A8A-B5F9D46C3D08}"/>
                  </a:ext>
                </a:extLst>
              </p:cNvPr>
              <p:cNvSpPr>
                <a:spLocks noRot="1" noChangeAspect="1" noMove="1" noResize="1" noEditPoints="1" noAdjustHandles="1" noChangeArrowheads="1" noChangeShapeType="1" noTextEdit="1"/>
              </p:cNvSpPr>
              <p:nvPr/>
            </p:nvSpPr>
            <p:spPr>
              <a:xfrm>
                <a:off x="8950670" y="2572428"/>
                <a:ext cx="609600" cy="609600"/>
              </a:xfrm>
              <a:prstGeom prst="ellipse">
                <a:avLst/>
              </a:prstGeom>
              <a:blipFill>
                <a:blip r:embed="rId8"/>
                <a:stretch>
                  <a:fillRect/>
                </a:stretch>
              </a:blipFill>
              <a:ln>
                <a:solidFill>
                  <a:schemeClr val="tx1"/>
                </a:solidFill>
              </a:ln>
            </p:spPr>
            <p:txBody>
              <a:bodyPr/>
              <a:lstStyle/>
              <a:p>
                <a:r>
                  <a:rPr lang="en-IN">
                    <a:noFill/>
                  </a:rPr>
                  <a:t> </a:t>
                </a:r>
              </a:p>
            </p:txBody>
          </p:sp>
        </mc:Fallback>
      </mc:AlternateContent>
      <p:cxnSp>
        <p:nvCxnSpPr>
          <p:cNvPr id="20" name="Straight Arrow Connector 19">
            <a:extLst>
              <a:ext uri="{FF2B5EF4-FFF2-40B4-BE49-F238E27FC236}">
                <a16:creationId xmlns:a16="http://schemas.microsoft.com/office/drawing/2014/main" id="{28268091-6364-F531-C40E-3092A8A88CBA}"/>
              </a:ext>
            </a:extLst>
          </p:cNvPr>
          <p:cNvCxnSpPr>
            <a:endCxn id="19" idx="2"/>
          </p:cNvCxnSpPr>
          <p:nvPr/>
        </p:nvCxnSpPr>
        <p:spPr>
          <a:xfrm>
            <a:off x="8452762" y="2873975"/>
            <a:ext cx="497908" cy="3253"/>
          </a:xfrm>
          <a:prstGeom prst="straightConnector1">
            <a:avLst/>
          </a:prstGeom>
          <a:ln w="25400">
            <a:solidFill>
              <a:srgbClr val="0E47A1"/>
            </a:solidFill>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85756DB5-31B5-1E69-FD25-9E4B2BA7FD39}"/>
              </a:ext>
            </a:extLst>
          </p:cNvPr>
          <p:cNvCxnSpPr/>
          <p:nvPr/>
        </p:nvCxnSpPr>
        <p:spPr>
          <a:xfrm>
            <a:off x="9401048" y="2873975"/>
            <a:ext cx="497908" cy="3253"/>
          </a:xfrm>
          <a:prstGeom prst="straightConnector1">
            <a:avLst/>
          </a:prstGeom>
          <a:ln w="25400">
            <a:solidFill>
              <a:srgbClr val="0E47A1"/>
            </a:solidFill>
            <a:tailEnd type="arrow"/>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DC8A7DC3-B506-6B4F-9BC2-B468D090681C}"/>
              </a:ext>
            </a:extLst>
          </p:cNvPr>
          <p:cNvSpPr txBox="1"/>
          <p:nvPr/>
        </p:nvSpPr>
        <p:spPr>
          <a:xfrm>
            <a:off x="3521911" y="1736425"/>
            <a:ext cx="485434" cy="276999"/>
          </a:xfrm>
          <a:prstGeom prst="rect">
            <a:avLst/>
          </a:prstGeom>
          <a:noFill/>
        </p:spPr>
        <p:txBody>
          <a:bodyPr wrap="square" lIns="0" tIns="0" rIns="0" bIns="0" rtlCol="0">
            <a:spAutoFit/>
          </a:bodyPr>
          <a:lstStyle/>
          <a:p>
            <a:r>
              <a:rPr lang="en-US"/>
              <a:t>digit</a:t>
            </a:r>
          </a:p>
        </p:txBody>
      </p:sp>
      <p:sp>
        <p:nvSpPr>
          <p:cNvPr id="23" name="TextBox 22">
            <a:extLst>
              <a:ext uri="{FF2B5EF4-FFF2-40B4-BE49-F238E27FC236}">
                <a16:creationId xmlns:a16="http://schemas.microsoft.com/office/drawing/2014/main" id="{2B3A4800-A807-AA5D-6C4E-007E09B8D280}"/>
              </a:ext>
            </a:extLst>
          </p:cNvPr>
          <p:cNvSpPr txBox="1"/>
          <p:nvPr/>
        </p:nvSpPr>
        <p:spPr>
          <a:xfrm>
            <a:off x="5192178" y="2509989"/>
            <a:ext cx="485434" cy="276999"/>
          </a:xfrm>
          <a:prstGeom prst="rect">
            <a:avLst/>
          </a:prstGeom>
          <a:noFill/>
        </p:spPr>
        <p:txBody>
          <a:bodyPr wrap="square" lIns="0" tIns="0" rIns="0" bIns="0" rtlCol="0">
            <a:spAutoFit/>
          </a:bodyPr>
          <a:lstStyle/>
          <a:p>
            <a:r>
              <a:rPr lang="en-US"/>
              <a:t>digit</a:t>
            </a:r>
          </a:p>
        </p:txBody>
      </p:sp>
      <p:sp>
        <p:nvSpPr>
          <p:cNvPr id="24" name="TextBox 23">
            <a:extLst>
              <a:ext uri="{FF2B5EF4-FFF2-40B4-BE49-F238E27FC236}">
                <a16:creationId xmlns:a16="http://schemas.microsoft.com/office/drawing/2014/main" id="{36D057FC-99E9-01EB-49C3-0535A1B47A07}"/>
              </a:ext>
            </a:extLst>
          </p:cNvPr>
          <p:cNvSpPr txBox="1"/>
          <p:nvPr/>
        </p:nvSpPr>
        <p:spPr>
          <a:xfrm>
            <a:off x="5745522" y="1765213"/>
            <a:ext cx="485434" cy="276999"/>
          </a:xfrm>
          <a:prstGeom prst="rect">
            <a:avLst/>
          </a:prstGeom>
          <a:noFill/>
        </p:spPr>
        <p:txBody>
          <a:bodyPr wrap="square" lIns="0" tIns="0" rIns="0" bIns="0" rtlCol="0">
            <a:spAutoFit/>
          </a:bodyPr>
          <a:lstStyle/>
          <a:p>
            <a:r>
              <a:rPr lang="en-US"/>
              <a:t>digit</a:t>
            </a:r>
          </a:p>
        </p:txBody>
      </p:sp>
      <p:sp>
        <p:nvSpPr>
          <p:cNvPr id="25" name="TextBox 24">
            <a:extLst>
              <a:ext uri="{FF2B5EF4-FFF2-40B4-BE49-F238E27FC236}">
                <a16:creationId xmlns:a16="http://schemas.microsoft.com/office/drawing/2014/main" id="{6F3689E6-9F26-8B56-0D2E-35459BBE30C5}"/>
              </a:ext>
            </a:extLst>
          </p:cNvPr>
          <p:cNvSpPr txBox="1"/>
          <p:nvPr/>
        </p:nvSpPr>
        <p:spPr>
          <a:xfrm>
            <a:off x="7415817" y="2498239"/>
            <a:ext cx="485434" cy="276999"/>
          </a:xfrm>
          <a:prstGeom prst="rect">
            <a:avLst/>
          </a:prstGeom>
          <a:noFill/>
        </p:spPr>
        <p:txBody>
          <a:bodyPr wrap="square" lIns="0" tIns="0" rIns="0" bIns="0" rtlCol="0">
            <a:spAutoFit/>
          </a:bodyPr>
          <a:lstStyle/>
          <a:p>
            <a:r>
              <a:rPr lang="en-US" b="1">
                <a:solidFill>
                  <a:srgbClr val="C00000"/>
                </a:solidFill>
              </a:rPr>
              <a:t>+or -</a:t>
            </a:r>
          </a:p>
        </p:txBody>
      </p:sp>
      <p:sp>
        <p:nvSpPr>
          <p:cNvPr id="26" name="TextBox 25">
            <a:extLst>
              <a:ext uri="{FF2B5EF4-FFF2-40B4-BE49-F238E27FC236}">
                <a16:creationId xmlns:a16="http://schemas.microsoft.com/office/drawing/2014/main" id="{3A3AE5FC-25C2-478C-AA28-A4FFA5999E8D}"/>
              </a:ext>
            </a:extLst>
          </p:cNvPr>
          <p:cNvSpPr txBox="1"/>
          <p:nvPr/>
        </p:nvSpPr>
        <p:spPr>
          <a:xfrm>
            <a:off x="9019335" y="1736425"/>
            <a:ext cx="485434" cy="276999"/>
          </a:xfrm>
          <a:prstGeom prst="rect">
            <a:avLst/>
          </a:prstGeom>
          <a:noFill/>
        </p:spPr>
        <p:txBody>
          <a:bodyPr wrap="square" lIns="0" tIns="0" rIns="0" bIns="0" rtlCol="0">
            <a:spAutoFit/>
          </a:bodyPr>
          <a:lstStyle/>
          <a:p>
            <a:r>
              <a:rPr lang="en-US"/>
              <a:t>digit</a:t>
            </a:r>
          </a:p>
        </p:txBody>
      </p:sp>
      <p:sp>
        <p:nvSpPr>
          <p:cNvPr id="27" name="TextBox 26">
            <a:extLst>
              <a:ext uri="{FF2B5EF4-FFF2-40B4-BE49-F238E27FC236}">
                <a16:creationId xmlns:a16="http://schemas.microsoft.com/office/drawing/2014/main" id="{2FE0F010-E471-856A-57E2-700FAA554AC4}"/>
              </a:ext>
            </a:extLst>
          </p:cNvPr>
          <p:cNvSpPr txBox="1"/>
          <p:nvPr/>
        </p:nvSpPr>
        <p:spPr>
          <a:xfrm>
            <a:off x="8481640" y="2471441"/>
            <a:ext cx="485434" cy="276999"/>
          </a:xfrm>
          <a:prstGeom prst="rect">
            <a:avLst/>
          </a:prstGeom>
          <a:noFill/>
        </p:spPr>
        <p:txBody>
          <a:bodyPr wrap="square" lIns="0" tIns="0" rIns="0" bIns="0" rtlCol="0">
            <a:spAutoFit/>
          </a:bodyPr>
          <a:lstStyle/>
          <a:p>
            <a:r>
              <a:rPr lang="en-US"/>
              <a:t>digit</a:t>
            </a:r>
          </a:p>
        </p:txBody>
      </p:sp>
      <p:cxnSp>
        <p:nvCxnSpPr>
          <p:cNvPr id="28" name="Curved Connector 28">
            <a:extLst>
              <a:ext uri="{FF2B5EF4-FFF2-40B4-BE49-F238E27FC236}">
                <a16:creationId xmlns:a16="http://schemas.microsoft.com/office/drawing/2014/main" id="{0F7B1E19-E497-5CF8-7ECC-E3F6339573F4}"/>
              </a:ext>
            </a:extLst>
          </p:cNvPr>
          <p:cNvCxnSpPr/>
          <p:nvPr/>
        </p:nvCxnSpPr>
        <p:spPr>
          <a:xfrm rot="16200000" flipV="1">
            <a:off x="3781908" y="2459855"/>
            <a:ext cx="12700" cy="323290"/>
          </a:xfrm>
          <a:prstGeom prst="curvedConnector3">
            <a:avLst>
              <a:gd name="adj1" fmla="val 3902205"/>
            </a:avLst>
          </a:prstGeom>
          <a:ln w="25400">
            <a:solidFill>
              <a:srgbClr val="0E47A1"/>
            </a:solidFill>
            <a:tailEnd type="arrow"/>
          </a:ln>
        </p:spPr>
        <p:style>
          <a:lnRef idx="1">
            <a:schemeClr val="accent1"/>
          </a:lnRef>
          <a:fillRef idx="0">
            <a:schemeClr val="accent1"/>
          </a:fillRef>
          <a:effectRef idx="0">
            <a:schemeClr val="accent1"/>
          </a:effectRef>
          <a:fontRef idx="minor">
            <a:schemeClr val="tx1"/>
          </a:fontRef>
        </p:style>
      </p:cxnSp>
      <p:cxnSp>
        <p:nvCxnSpPr>
          <p:cNvPr id="29" name="Curved Connector 29">
            <a:extLst>
              <a:ext uri="{FF2B5EF4-FFF2-40B4-BE49-F238E27FC236}">
                <a16:creationId xmlns:a16="http://schemas.microsoft.com/office/drawing/2014/main" id="{3C15F0EF-3EA9-5D06-E2F8-AA93E199BC3B}"/>
              </a:ext>
            </a:extLst>
          </p:cNvPr>
          <p:cNvCxnSpPr/>
          <p:nvPr/>
        </p:nvCxnSpPr>
        <p:spPr>
          <a:xfrm rot="16200000" flipV="1">
            <a:off x="5964597" y="2486843"/>
            <a:ext cx="12700" cy="323290"/>
          </a:xfrm>
          <a:prstGeom prst="curvedConnector3">
            <a:avLst>
              <a:gd name="adj1" fmla="val 3902205"/>
            </a:avLst>
          </a:prstGeom>
          <a:ln w="25400">
            <a:solidFill>
              <a:srgbClr val="0E47A1"/>
            </a:solidFill>
            <a:tailEnd type="arrow"/>
          </a:ln>
        </p:spPr>
        <p:style>
          <a:lnRef idx="1">
            <a:schemeClr val="accent1"/>
          </a:lnRef>
          <a:fillRef idx="0">
            <a:schemeClr val="accent1"/>
          </a:fillRef>
          <a:effectRef idx="0">
            <a:schemeClr val="accent1"/>
          </a:effectRef>
          <a:fontRef idx="minor">
            <a:schemeClr val="tx1"/>
          </a:fontRef>
        </p:style>
      </p:cxnSp>
      <p:cxnSp>
        <p:nvCxnSpPr>
          <p:cNvPr id="30" name="Curved Connector 30">
            <a:extLst>
              <a:ext uri="{FF2B5EF4-FFF2-40B4-BE49-F238E27FC236}">
                <a16:creationId xmlns:a16="http://schemas.microsoft.com/office/drawing/2014/main" id="{B5263043-CA16-9F82-AACB-844F5FCBD1EE}"/>
              </a:ext>
            </a:extLst>
          </p:cNvPr>
          <p:cNvCxnSpPr/>
          <p:nvPr/>
        </p:nvCxnSpPr>
        <p:spPr>
          <a:xfrm rot="16200000" flipV="1">
            <a:off x="9265707" y="2451165"/>
            <a:ext cx="12700" cy="323290"/>
          </a:xfrm>
          <a:prstGeom prst="curvedConnector3">
            <a:avLst>
              <a:gd name="adj1" fmla="val 3902205"/>
            </a:avLst>
          </a:prstGeom>
          <a:ln w="25400">
            <a:solidFill>
              <a:srgbClr val="0E47A1"/>
            </a:solidFill>
            <a:tailEnd type="arrow"/>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CDA55D8A-A709-70EC-60B1-2AC1C88F8221}"/>
              </a:ext>
            </a:extLst>
          </p:cNvPr>
          <p:cNvSpPr txBox="1"/>
          <p:nvPr/>
        </p:nvSpPr>
        <p:spPr>
          <a:xfrm>
            <a:off x="6452483" y="2521661"/>
            <a:ext cx="485434" cy="276999"/>
          </a:xfrm>
          <a:prstGeom prst="rect">
            <a:avLst/>
          </a:prstGeom>
          <a:noFill/>
        </p:spPr>
        <p:txBody>
          <a:bodyPr wrap="square" lIns="0" tIns="0" rIns="0" bIns="0" rtlCol="0">
            <a:spAutoFit/>
          </a:bodyPr>
          <a:lstStyle/>
          <a:p>
            <a:r>
              <a:rPr lang="en-US" b="1">
                <a:solidFill>
                  <a:srgbClr val="0E47A1"/>
                </a:solidFill>
              </a:rPr>
              <a:t>E</a:t>
            </a:r>
          </a:p>
        </p:txBody>
      </p:sp>
      <p:sp>
        <p:nvSpPr>
          <p:cNvPr id="32" name="TextBox 31">
            <a:extLst>
              <a:ext uri="{FF2B5EF4-FFF2-40B4-BE49-F238E27FC236}">
                <a16:creationId xmlns:a16="http://schemas.microsoft.com/office/drawing/2014/main" id="{E85AAE9B-4C0F-5041-5C28-E21DF847D4A0}"/>
              </a:ext>
            </a:extLst>
          </p:cNvPr>
          <p:cNvSpPr txBox="1"/>
          <p:nvPr/>
        </p:nvSpPr>
        <p:spPr>
          <a:xfrm>
            <a:off x="4250305" y="2436684"/>
            <a:ext cx="167002" cy="400110"/>
          </a:xfrm>
          <a:prstGeom prst="rect">
            <a:avLst/>
          </a:prstGeom>
          <a:noFill/>
        </p:spPr>
        <p:txBody>
          <a:bodyPr wrap="square" lIns="0" tIns="0" rIns="0" bIns="0" rtlCol="0">
            <a:spAutoFit/>
          </a:bodyPr>
          <a:lstStyle/>
          <a:p>
            <a:r>
              <a:rPr lang="en-US" sz="2600" b="1"/>
              <a:t>.</a:t>
            </a:r>
          </a:p>
        </p:txBody>
      </p:sp>
      <p:cxnSp>
        <p:nvCxnSpPr>
          <p:cNvPr id="33" name="Curved Connector 33">
            <a:extLst>
              <a:ext uri="{FF2B5EF4-FFF2-40B4-BE49-F238E27FC236}">
                <a16:creationId xmlns:a16="http://schemas.microsoft.com/office/drawing/2014/main" id="{B444FC95-040D-D94D-D266-F3F7F401FA44}"/>
              </a:ext>
            </a:extLst>
          </p:cNvPr>
          <p:cNvCxnSpPr>
            <a:stCxn id="4" idx="4"/>
            <a:endCxn id="15" idx="4"/>
          </p:cNvCxnSpPr>
          <p:nvPr/>
        </p:nvCxnSpPr>
        <p:spPr>
          <a:xfrm rot="16200000" flipH="1">
            <a:off x="5400808" y="1525700"/>
            <a:ext cx="38526" cy="3274130"/>
          </a:xfrm>
          <a:prstGeom prst="curvedConnector3">
            <a:avLst>
              <a:gd name="adj1" fmla="val 1360902"/>
            </a:avLst>
          </a:prstGeom>
          <a:ln w="25400">
            <a:solidFill>
              <a:srgbClr val="0E47A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Curved Connector 34">
            <a:extLst>
              <a:ext uri="{FF2B5EF4-FFF2-40B4-BE49-F238E27FC236}">
                <a16:creationId xmlns:a16="http://schemas.microsoft.com/office/drawing/2014/main" id="{CEFB809A-1165-BEEB-6395-37A52D70C0BB}"/>
              </a:ext>
            </a:extLst>
          </p:cNvPr>
          <p:cNvCxnSpPr>
            <a:stCxn id="15" idx="4"/>
            <a:endCxn id="19" idx="4"/>
          </p:cNvCxnSpPr>
          <p:nvPr/>
        </p:nvCxnSpPr>
        <p:spPr>
          <a:xfrm rot="16200000" flipH="1">
            <a:off x="8156303" y="2082861"/>
            <a:ext cx="12700" cy="2198334"/>
          </a:xfrm>
          <a:prstGeom prst="curvedConnector3">
            <a:avLst>
              <a:gd name="adj1" fmla="val 3712496"/>
            </a:avLst>
          </a:prstGeom>
          <a:ln w="25400">
            <a:solidFill>
              <a:srgbClr val="0E47A1"/>
            </a:solidFill>
            <a:tailEnd type="triangle"/>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C450F6F6-A703-A1EC-A95D-DBA789CD319A}"/>
              </a:ext>
            </a:extLst>
          </p:cNvPr>
          <p:cNvSpPr txBox="1"/>
          <p:nvPr/>
        </p:nvSpPr>
        <p:spPr>
          <a:xfrm>
            <a:off x="1832089" y="2466157"/>
            <a:ext cx="485434" cy="276999"/>
          </a:xfrm>
          <a:prstGeom prst="rect">
            <a:avLst/>
          </a:prstGeom>
          <a:noFill/>
        </p:spPr>
        <p:txBody>
          <a:bodyPr wrap="square" lIns="0" tIns="0" rIns="0" bIns="0" rtlCol="0">
            <a:spAutoFit/>
          </a:bodyPr>
          <a:lstStyle/>
          <a:p>
            <a:r>
              <a:rPr lang="en-US"/>
              <a:t>start</a:t>
            </a:r>
          </a:p>
        </p:txBody>
      </p:sp>
      <p:sp>
        <p:nvSpPr>
          <p:cNvPr id="36" name="TextBox 35">
            <a:extLst>
              <a:ext uri="{FF2B5EF4-FFF2-40B4-BE49-F238E27FC236}">
                <a16:creationId xmlns:a16="http://schemas.microsoft.com/office/drawing/2014/main" id="{41792D1E-E24F-A35E-400F-4B058C33FAC9}"/>
              </a:ext>
            </a:extLst>
          </p:cNvPr>
          <p:cNvSpPr txBox="1"/>
          <p:nvPr/>
        </p:nvSpPr>
        <p:spPr>
          <a:xfrm>
            <a:off x="5192178" y="3675990"/>
            <a:ext cx="485434" cy="276999"/>
          </a:xfrm>
          <a:prstGeom prst="rect">
            <a:avLst/>
          </a:prstGeom>
          <a:noFill/>
        </p:spPr>
        <p:txBody>
          <a:bodyPr wrap="square" lIns="0" tIns="0" rIns="0" bIns="0" rtlCol="0">
            <a:spAutoFit/>
          </a:bodyPr>
          <a:lstStyle/>
          <a:p>
            <a:r>
              <a:rPr lang="en-US" b="1">
                <a:solidFill>
                  <a:srgbClr val="0E47A1"/>
                </a:solidFill>
              </a:rPr>
              <a:t>E</a:t>
            </a:r>
          </a:p>
        </p:txBody>
      </p:sp>
      <p:sp>
        <p:nvSpPr>
          <p:cNvPr id="37" name="TextBox 36">
            <a:extLst>
              <a:ext uri="{FF2B5EF4-FFF2-40B4-BE49-F238E27FC236}">
                <a16:creationId xmlns:a16="http://schemas.microsoft.com/office/drawing/2014/main" id="{C9C6E005-4EDB-53F0-0DC8-7D448A161950}"/>
              </a:ext>
            </a:extLst>
          </p:cNvPr>
          <p:cNvSpPr txBox="1"/>
          <p:nvPr/>
        </p:nvSpPr>
        <p:spPr>
          <a:xfrm>
            <a:off x="8156303" y="3738545"/>
            <a:ext cx="485434" cy="276999"/>
          </a:xfrm>
          <a:prstGeom prst="rect">
            <a:avLst/>
          </a:prstGeom>
          <a:noFill/>
        </p:spPr>
        <p:txBody>
          <a:bodyPr wrap="square" lIns="0" tIns="0" rIns="0" bIns="0" rtlCol="0">
            <a:spAutoFit/>
          </a:bodyPr>
          <a:lstStyle/>
          <a:p>
            <a:r>
              <a:rPr lang="en-US"/>
              <a:t>digit</a:t>
            </a:r>
          </a:p>
        </p:txBody>
      </p:sp>
      <p:sp>
        <p:nvSpPr>
          <p:cNvPr id="38" name="Content Placeholder 39">
            <a:extLst>
              <a:ext uri="{FF2B5EF4-FFF2-40B4-BE49-F238E27FC236}">
                <a16:creationId xmlns:a16="http://schemas.microsoft.com/office/drawing/2014/main" id="{9256868F-919A-A5BF-FAEB-126971BE3BC5}"/>
              </a:ext>
            </a:extLst>
          </p:cNvPr>
          <p:cNvSpPr txBox="1">
            <a:spLocks/>
          </p:cNvSpPr>
          <p:nvPr/>
        </p:nvSpPr>
        <p:spPr>
          <a:xfrm>
            <a:off x="308118" y="3753101"/>
            <a:ext cx="11928475" cy="2932085"/>
          </a:xfrm>
          <a:prstGeom prst="rect">
            <a:avLst/>
          </a:prstGeom>
        </p:spPr>
        <p:txBody>
          <a:bodyPr>
            <a:spAutoFit/>
          </a:bodyPr>
          <a:lstStyle>
            <a:lvl1pPr marL="228600" indent="-228600" algn="just"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Palatino Linotype" panose="02040502050505030304" pitchFamily="18" charset="0"/>
                <a:ea typeface="+mn-ea"/>
                <a:cs typeface="+mn-cs"/>
              </a:defRPr>
            </a:lvl1pPr>
            <a:lvl2pPr marL="685800" indent="-228600" algn="just"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Palatino Linotype" panose="02040502050505030304" pitchFamily="18" charset="0"/>
                <a:ea typeface="+mn-ea"/>
                <a:cs typeface="+mn-cs"/>
              </a:defRPr>
            </a:lvl2pPr>
            <a:lvl3pPr marL="1143000" indent="-228600" algn="just"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Palatino Linotype" panose="02040502050505030304" pitchFamily="18" charset="0"/>
                <a:ea typeface="+mn-ea"/>
                <a:cs typeface="+mn-cs"/>
              </a:defRPr>
            </a:lvl3pPr>
            <a:lvl4pPr marL="1600200" indent="-228600" algn="just"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alatino Linotype" panose="02040502050505030304" pitchFamily="18" charset="0"/>
                <a:ea typeface="+mn-ea"/>
                <a:cs typeface="+mn-cs"/>
              </a:defRPr>
            </a:lvl4pPr>
            <a:lvl5pPr marL="2057400" indent="-228600" algn="just"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t>	</a:t>
            </a:r>
            <a:r>
              <a:rPr lang="en-US" sz="2400"/>
              <a:t>3</a:t>
            </a:r>
          </a:p>
          <a:p>
            <a:pPr marL="0" indent="0">
              <a:buFont typeface="Arial" panose="020B0604020202020204" pitchFamily="34" charset="0"/>
              <a:buNone/>
            </a:pPr>
            <a:r>
              <a:rPr lang="en-US" sz="2400"/>
              <a:t>	5280</a:t>
            </a:r>
          </a:p>
          <a:p>
            <a:pPr marL="0" indent="0">
              <a:buFont typeface="Arial" panose="020B0604020202020204" pitchFamily="34" charset="0"/>
              <a:buNone/>
            </a:pPr>
            <a:r>
              <a:rPr lang="en-US" sz="2400"/>
              <a:t>	39.37</a:t>
            </a:r>
          </a:p>
          <a:p>
            <a:pPr marL="914400" lvl="2" indent="0">
              <a:buFont typeface="Arial" panose="020B0604020202020204" pitchFamily="34" charset="0"/>
              <a:buNone/>
            </a:pPr>
            <a:r>
              <a:rPr lang="en-US" sz="2400"/>
              <a:t>1.894 </a:t>
            </a:r>
            <a:r>
              <a:rPr lang="en-US" sz="2400" b="1">
                <a:solidFill>
                  <a:srgbClr val="0E47A1"/>
                </a:solidFill>
              </a:rPr>
              <a:t>E</a:t>
            </a:r>
            <a:r>
              <a:rPr lang="en-US" sz="2400" b="1">
                <a:solidFill>
                  <a:srgbClr val="FF0000"/>
                </a:solidFill>
              </a:rPr>
              <a:t> </a:t>
            </a:r>
            <a:r>
              <a:rPr lang="en-US" sz="2400" b="1">
                <a:solidFill>
                  <a:srgbClr val="C00000"/>
                </a:solidFill>
              </a:rPr>
              <a:t>-</a:t>
            </a:r>
            <a:r>
              <a:rPr lang="en-US" sz="2400"/>
              <a:t> 4</a:t>
            </a:r>
          </a:p>
          <a:p>
            <a:pPr marL="914400" lvl="2" indent="0">
              <a:buFont typeface="Arial" panose="020B0604020202020204" pitchFamily="34" charset="0"/>
              <a:buNone/>
            </a:pPr>
            <a:r>
              <a:rPr lang="en-US" sz="2400"/>
              <a:t>2.56 </a:t>
            </a:r>
            <a:r>
              <a:rPr lang="en-US" sz="2400" b="1">
                <a:solidFill>
                  <a:srgbClr val="0E47A1"/>
                </a:solidFill>
              </a:rPr>
              <a:t>E</a:t>
            </a:r>
            <a:r>
              <a:rPr lang="en-US" sz="2400"/>
              <a:t> </a:t>
            </a:r>
            <a:r>
              <a:rPr lang="en-US" sz="2400" b="1">
                <a:solidFill>
                  <a:srgbClr val="C00000"/>
                </a:solidFill>
              </a:rPr>
              <a:t>+</a:t>
            </a:r>
            <a:r>
              <a:rPr lang="en-US" sz="2400"/>
              <a:t> 7</a:t>
            </a:r>
          </a:p>
          <a:p>
            <a:pPr marL="914400" lvl="2" indent="0">
              <a:buFont typeface="Arial" panose="020B0604020202020204" pitchFamily="34" charset="0"/>
              <a:buNone/>
            </a:pPr>
            <a:r>
              <a:rPr lang="en-US" sz="2400"/>
              <a:t>45 </a:t>
            </a:r>
            <a:r>
              <a:rPr lang="en-US" sz="2400" b="1">
                <a:solidFill>
                  <a:srgbClr val="0E47A1"/>
                </a:solidFill>
              </a:rPr>
              <a:t>E</a:t>
            </a:r>
            <a:r>
              <a:rPr lang="en-US" sz="2400" b="1">
                <a:solidFill>
                  <a:srgbClr val="FF0000"/>
                </a:solidFill>
              </a:rPr>
              <a:t> </a:t>
            </a:r>
            <a:r>
              <a:rPr lang="en-US" sz="2400" b="1">
                <a:solidFill>
                  <a:srgbClr val="C00000"/>
                </a:solidFill>
              </a:rPr>
              <a:t>+</a:t>
            </a:r>
            <a:r>
              <a:rPr lang="en-US" sz="2400"/>
              <a:t> 6</a:t>
            </a:r>
          </a:p>
          <a:p>
            <a:pPr marL="914400" lvl="2" indent="0">
              <a:buFont typeface="Arial" panose="020B0604020202020204" pitchFamily="34" charset="0"/>
              <a:buNone/>
            </a:pPr>
            <a:r>
              <a:rPr lang="en-US" sz="2400"/>
              <a:t>96 </a:t>
            </a:r>
            <a:r>
              <a:rPr lang="en-US" sz="2400" b="1">
                <a:solidFill>
                  <a:srgbClr val="0E47A1"/>
                </a:solidFill>
              </a:rPr>
              <a:t>E</a:t>
            </a:r>
            <a:r>
              <a:rPr lang="en-US" sz="2400"/>
              <a:t> 2</a:t>
            </a:r>
          </a:p>
        </p:txBody>
      </p:sp>
      <p:sp>
        <p:nvSpPr>
          <p:cNvPr id="39" name="Oval 38">
            <a:extLst>
              <a:ext uri="{FF2B5EF4-FFF2-40B4-BE49-F238E27FC236}">
                <a16:creationId xmlns:a16="http://schemas.microsoft.com/office/drawing/2014/main" id="{A637ADFE-59CC-F4E3-34B2-CDEAA16C6B59}"/>
              </a:ext>
            </a:extLst>
          </p:cNvPr>
          <p:cNvSpPr/>
          <p:nvPr/>
        </p:nvSpPr>
        <p:spPr>
          <a:xfrm>
            <a:off x="4417307" y="4430402"/>
            <a:ext cx="609600" cy="609600"/>
          </a:xfrm>
          <a:prstGeom prst="ellipse">
            <a:avLst/>
          </a:prstGeom>
          <a:solidFill>
            <a:srgbClr val="0E47A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dirty="0"/>
              <a:t>9</a:t>
            </a:r>
          </a:p>
        </p:txBody>
      </p:sp>
      <p:sp>
        <p:nvSpPr>
          <p:cNvPr id="40" name="Oval 39">
            <a:extLst>
              <a:ext uri="{FF2B5EF4-FFF2-40B4-BE49-F238E27FC236}">
                <a16:creationId xmlns:a16="http://schemas.microsoft.com/office/drawing/2014/main" id="{242138C9-1B35-DE07-AA78-A5DEE1628F20}"/>
              </a:ext>
            </a:extLst>
          </p:cNvPr>
          <p:cNvSpPr/>
          <p:nvPr/>
        </p:nvSpPr>
        <p:spPr>
          <a:xfrm>
            <a:off x="4493507" y="4506602"/>
            <a:ext cx="457200" cy="45720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endParaRPr lang="en-US"/>
          </a:p>
        </p:txBody>
      </p:sp>
      <p:sp>
        <p:nvSpPr>
          <p:cNvPr id="41" name="Oval 40">
            <a:extLst>
              <a:ext uri="{FF2B5EF4-FFF2-40B4-BE49-F238E27FC236}">
                <a16:creationId xmlns:a16="http://schemas.microsoft.com/office/drawing/2014/main" id="{432C86C0-A6AC-46E9-D792-ECCAE3360311}"/>
              </a:ext>
            </a:extLst>
          </p:cNvPr>
          <p:cNvSpPr/>
          <p:nvPr/>
        </p:nvSpPr>
        <p:spPr>
          <a:xfrm>
            <a:off x="6517239" y="4499509"/>
            <a:ext cx="457200" cy="45720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endParaRPr lang="en-US"/>
          </a:p>
        </p:txBody>
      </p:sp>
      <p:sp>
        <p:nvSpPr>
          <p:cNvPr id="42" name="Oval 41">
            <a:extLst>
              <a:ext uri="{FF2B5EF4-FFF2-40B4-BE49-F238E27FC236}">
                <a16:creationId xmlns:a16="http://schemas.microsoft.com/office/drawing/2014/main" id="{8E97CABB-14DA-D169-70C5-3733A5A7617C}"/>
              </a:ext>
            </a:extLst>
          </p:cNvPr>
          <p:cNvSpPr/>
          <p:nvPr/>
        </p:nvSpPr>
        <p:spPr>
          <a:xfrm>
            <a:off x="6390400" y="4430402"/>
            <a:ext cx="609600" cy="609600"/>
          </a:xfrm>
          <a:prstGeom prst="ellipse">
            <a:avLst/>
          </a:prstGeom>
          <a:solidFill>
            <a:srgbClr val="0E47A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dirty="0"/>
              <a:t>10</a:t>
            </a:r>
          </a:p>
        </p:txBody>
      </p:sp>
      <p:sp>
        <p:nvSpPr>
          <p:cNvPr id="43" name="Oval 42">
            <a:extLst>
              <a:ext uri="{FF2B5EF4-FFF2-40B4-BE49-F238E27FC236}">
                <a16:creationId xmlns:a16="http://schemas.microsoft.com/office/drawing/2014/main" id="{FC76BA8D-B6CA-258E-A7E3-B6027383057E}"/>
              </a:ext>
            </a:extLst>
          </p:cNvPr>
          <p:cNvSpPr/>
          <p:nvPr/>
        </p:nvSpPr>
        <p:spPr>
          <a:xfrm>
            <a:off x="6416520" y="4506602"/>
            <a:ext cx="546271" cy="45720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endParaRPr lang="en-US"/>
          </a:p>
        </p:txBody>
      </p:sp>
      <p:cxnSp>
        <p:nvCxnSpPr>
          <p:cNvPr id="45" name="Connector: Curved 44">
            <a:extLst>
              <a:ext uri="{FF2B5EF4-FFF2-40B4-BE49-F238E27FC236}">
                <a16:creationId xmlns:a16="http://schemas.microsoft.com/office/drawing/2014/main" id="{D6C019D4-4BD7-1E79-ECC8-DD987E1CCABD}"/>
              </a:ext>
            </a:extLst>
          </p:cNvPr>
          <p:cNvCxnSpPr>
            <a:cxnSpLocks/>
          </p:cNvCxnSpPr>
          <p:nvPr/>
        </p:nvCxnSpPr>
        <p:spPr>
          <a:xfrm rot="16200000" flipH="1">
            <a:off x="3555944" y="3317401"/>
            <a:ext cx="1286900" cy="939101"/>
          </a:xfrm>
          <a:prstGeom prst="curvedConnector3">
            <a:avLst/>
          </a:prstGeom>
          <a:ln w="222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46" name="Connector: Curved 45">
            <a:extLst>
              <a:ext uri="{FF2B5EF4-FFF2-40B4-BE49-F238E27FC236}">
                <a16:creationId xmlns:a16="http://schemas.microsoft.com/office/drawing/2014/main" id="{FB04B58E-8233-E688-F6D5-89DE5CAEAE58}"/>
              </a:ext>
            </a:extLst>
          </p:cNvPr>
          <p:cNvCxnSpPr>
            <a:cxnSpLocks/>
          </p:cNvCxnSpPr>
          <p:nvPr/>
        </p:nvCxnSpPr>
        <p:spPr>
          <a:xfrm rot="16200000" flipH="1">
            <a:off x="5686012" y="3299678"/>
            <a:ext cx="1286900" cy="939101"/>
          </a:xfrm>
          <a:prstGeom prst="curvedConnector3">
            <a:avLst/>
          </a:prstGeom>
          <a:ln w="222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pic>
        <p:nvPicPr>
          <p:cNvPr id="47" name="Picture 46">
            <a:extLst>
              <a:ext uri="{FF2B5EF4-FFF2-40B4-BE49-F238E27FC236}">
                <a16:creationId xmlns:a16="http://schemas.microsoft.com/office/drawing/2014/main" id="{B4FA76A7-2B6C-3D58-F0A9-83B611657F3C}"/>
              </a:ext>
            </a:extLst>
          </p:cNvPr>
          <p:cNvPicPr>
            <a:picLocks noChangeAspect="1"/>
          </p:cNvPicPr>
          <p:nvPr/>
        </p:nvPicPr>
        <p:blipFill>
          <a:blip r:embed="rId9"/>
          <a:stretch>
            <a:fillRect/>
          </a:stretch>
        </p:blipFill>
        <p:spPr>
          <a:xfrm>
            <a:off x="7090850" y="5266665"/>
            <a:ext cx="4562475" cy="1304925"/>
          </a:xfrm>
          <a:prstGeom prst="rect">
            <a:avLst/>
          </a:prstGeom>
        </p:spPr>
      </p:pic>
    </p:spTree>
    <p:extLst>
      <p:ext uri="{BB962C8B-B14F-4D97-AF65-F5344CB8AC3E}">
        <p14:creationId xmlns:p14="http://schemas.microsoft.com/office/powerpoint/2010/main" val="33312151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dur="1" fill="hold" nodeType="clickEffect">
                                  <p:stCondLst>
                                    <p:cond delay="0"/>
                                  </p:stCondLst>
                                  <p:childTnLst>
                                    <p:set>
                                      <p:cBhvr>
                                        <p:cTn id="6" dur="1" fill="hold">
                                          <p:stCondLst>
                                            <p:cond delay="0"/>
                                          </p:stCondLst>
                                        </p:cTn>
                                        <p:tgtEl>
                                          <p:spTgt spid="3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dur="50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left)">
                                      <p:cBhvr>
                                        <p:cTn id="11" dur="500"/>
                                        <p:tgtEl>
                                          <p:spTgt spid="5"/>
                                        </p:tgtEl>
                                      </p:cBhvr>
                                    </p:animEffect>
                                  </p:childTnLst>
                                </p:cTn>
                              </p:par>
                              <p:par>
                                <p:cTn id="12" presetID="22" presetClass="entr" presetSubtype="8" dur="500" fill="hold" grpId="0" nodeType="withEffect">
                                  <p:stCondLst>
                                    <p:cond delay="0"/>
                                  </p:stCondLst>
                                  <p:childTnLst>
                                    <p:set>
                                      <p:cBhvr>
                                        <p:cTn id="13" dur="1" fill="hold">
                                          <p:stCondLst>
                                            <p:cond delay="0"/>
                                          </p:stCondLst>
                                        </p:cTn>
                                        <p:tgtEl>
                                          <p:spTgt spid="35"/>
                                        </p:tgtEl>
                                        <p:attrNameLst>
                                          <p:attrName>style.visibility</p:attrName>
                                        </p:attrNameLst>
                                      </p:cBhvr>
                                      <p:to>
                                        <p:strVal val="visible"/>
                                      </p:to>
                                    </p:set>
                                    <p:animEffect transition="in" filter="wipe(left)">
                                      <p:cBhvr>
                                        <p:cTn id="14" dur="500"/>
                                        <p:tgtEl>
                                          <p:spTgt spid="35"/>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8" dur="50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wipe(left)">
                                      <p:cBhvr>
                                        <p:cTn id="19" dur="500"/>
                                        <p:tgtEl>
                                          <p:spTgt spid="3"/>
                                        </p:tgtEl>
                                      </p:cBhvr>
                                    </p:animEffect>
                                  </p:childTnLst>
                                </p:cTn>
                              </p:par>
                              <p:par>
                                <p:cTn id="20" presetID="22" presetClass="entr" presetSubtype="8" dur="500" fill="hold" nodeType="with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left)">
                                      <p:cBhvr>
                                        <p:cTn id="22" dur="500"/>
                                        <p:tgtEl>
                                          <p:spTgt spid="6"/>
                                        </p:tgtEl>
                                      </p:cBhvr>
                                    </p:animEffect>
                                  </p:childTnLst>
                                </p:cTn>
                              </p:par>
                              <p:par>
                                <p:cTn id="23" presetID="22" presetClass="entr" presetSubtype="8" dur="500" fill="hold" grpId="0" nodeType="with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wipe(left)">
                                      <p:cBhvr>
                                        <p:cTn id="25" dur="500"/>
                                        <p:tgtEl>
                                          <p:spTgt spid="4"/>
                                        </p:tgtEl>
                                      </p:cBhvr>
                                    </p:animEffect>
                                  </p:childTnLst>
                                </p:cTn>
                              </p:par>
                              <p:par>
                                <p:cTn id="26" presetID="22" presetClass="entr" presetSubtype="8" dur="500" fill="hold" grpId="0" nodeType="with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wipe(left)">
                                      <p:cBhvr>
                                        <p:cTn id="28" dur="500"/>
                                        <p:tgtEl>
                                          <p:spTgt spid="10"/>
                                        </p:tgtEl>
                                      </p:cBhvr>
                                    </p:animEffect>
                                  </p:childTnLst>
                                </p:cTn>
                              </p:par>
                            </p:childTnLst>
                          </p:cTn>
                        </p:par>
                      </p:childTnLst>
                    </p:cTn>
                  </p:par>
                  <p:par>
                    <p:cTn id="29" fill="hold">
                      <p:stCondLst>
                        <p:cond delay="indefinite"/>
                      </p:stCondLst>
                      <p:childTnLst>
                        <p:par>
                          <p:cTn id="30" fill="hold">
                            <p:stCondLst>
                              <p:cond delay="0"/>
                            </p:stCondLst>
                            <p:childTnLst>
                              <p:par>
                                <p:cTn id="31" presetID="1" presetClass="entr" presetSubtype="0" dur="1" fill="hold" nodeType="clickEffect">
                                  <p:stCondLst>
                                    <p:cond delay="0"/>
                                  </p:stCondLst>
                                  <p:childTnLst>
                                    <p:set>
                                      <p:cBhvr>
                                        <p:cTn id="32" dur="1" fill="hold">
                                          <p:stCondLst>
                                            <p:cond delay="0"/>
                                          </p:stCondLst>
                                        </p:cTn>
                                        <p:tgtEl>
                                          <p:spTgt spid="38">
                                            <p:txEl>
                                              <p:pRg st="1" end="1"/>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22" presetClass="entr" presetSubtype="2" dur="500" fill="hold" nodeType="clickEffect">
                                  <p:stCondLst>
                                    <p:cond delay="0"/>
                                  </p:stCondLst>
                                  <p:childTnLst>
                                    <p:set>
                                      <p:cBhvr>
                                        <p:cTn id="36" dur="1" fill="hold">
                                          <p:stCondLst>
                                            <p:cond delay="0"/>
                                          </p:stCondLst>
                                        </p:cTn>
                                        <p:tgtEl>
                                          <p:spTgt spid="28"/>
                                        </p:tgtEl>
                                        <p:attrNameLst>
                                          <p:attrName>style.visibility</p:attrName>
                                        </p:attrNameLst>
                                      </p:cBhvr>
                                      <p:to>
                                        <p:strVal val="visible"/>
                                      </p:to>
                                    </p:set>
                                    <p:animEffect transition="in" filter="wipe(right)">
                                      <p:cBhvr>
                                        <p:cTn id="37" dur="500"/>
                                        <p:tgtEl>
                                          <p:spTgt spid="28"/>
                                        </p:tgtEl>
                                      </p:cBhvr>
                                    </p:animEffect>
                                  </p:childTnLst>
                                </p:cTn>
                              </p:par>
                              <p:par>
                                <p:cTn id="38" presetID="22" presetClass="entr" presetSubtype="2" dur="500" fill="hold" grpId="0" nodeType="withEffect">
                                  <p:stCondLst>
                                    <p:cond delay="0"/>
                                  </p:stCondLst>
                                  <p:childTnLst>
                                    <p:set>
                                      <p:cBhvr>
                                        <p:cTn id="39" dur="1" fill="hold">
                                          <p:stCondLst>
                                            <p:cond delay="0"/>
                                          </p:stCondLst>
                                        </p:cTn>
                                        <p:tgtEl>
                                          <p:spTgt spid="22"/>
                                        </p:tgtEl>
                                        <p:attrNameLst>
                                          <p:attrName>style.visibility</p:attrName>
                                        </p:attrNameLst>
                                      </p:cBhvr>
                                      <p:to>
                                        <p:strVal val="visible"/>
                                      </p:to>
                                    </p:set>
                                    <p:animEffect transition="in" filter="wipe(right)">
                                      <p:cBhvr>
                                        <p:cTn id="40" dur="500"/>
                                        <p:tgtEl>
                                          <p:spTgt spid="22"/>
                                        </p:tgtEl>
                                      </p:cBhvr>
                                    </p:animEffect>
                                  </p:childTnLst>
                                </p:cTn>
                              </p:par>
                            </p:childTnLst>
                          </p:cTn>
                        </p:par>
                      </p:childTnLst>
                    </p:cTn>
                  </p:par>
                  <p:par>
                    <p:cTn id="41" fill="hold">
                      <p:stCondLst>
                        <p:cond delay="indefinite"/>
                      </p:stCondLst>
                      <p:childTnLst>
                        <p:par>
                          <p:cTn id="42" fill="hold">
                            <p:stCondLst>
                              <p:cond delay="0"/>
                            </p:stCondLst>
                            <p:childTnLst>
                              <p:par>
                                <p:cTn id="43" presetID="1" presetClass="entr" presetSubtype="0" dur="1" fill="hold" nodeType="clickEffect">
                                  <p:stCondLst>
                                    <p:cond delay="0"/>
                                  </p:stCondLst>
                                  <p:childTnLst>
                                    <p:set>
                                      <p:cBhvr>
                                        <p:cTn id="44" dur="1" fill="hold">
                                          <p:stCondLst>
                                            <p:cond delay="0"/>
                                          </p:stCondLst>
                                        </p:cTn>
                                        <p:tgtEl>
                                          <p:spTgt spid="38">
                                            <p:txEl>
                                              <p:pRg st="2" end="2"/>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22" presetClass="entr" presetSubtype="8" dur="500" fill="hold" nodeType="clickEffect">
                                  <p:stCondLst>
                                    <p:cond delay="0"/>
                                  </p:stCondLst>
                                  <p:childTnLst>
                                    <p:set>
                                      <p:cBhvr>
                                        <p:cTn id="48" dur="1" fill="hold">
                                          <p:stCondLst>
                                            <p:cond delay="0"/>
                                          </p:stCondLst>
                                        </p:cTn>
                                        <p:tgtEl>
                                          <p:spTgt spid="12"/>
                                        </p:tgtEl>
                                        <p:attrNameLst>
                                          <p:attrName>style.visibility</p:attrName>
                                        </p:attrNameLst>
                                      </p:cBhvr>
                                      <p:to>
                                        <p:strVal val="visible"/>
                                      </p:to>
                                    </p:set>
                                    <p:animEffect transition="in" filter="wipe(left)">
                                      <p:cBhvr>
                                        <p:cTn id="49" dur="500"/>
                                        <p:tgtEl>
                                          <p:spTgt spid="12"/>
                                        </p:tgtEl>
                                      </p:cBhvr>
                                    </p:animEffect>
                                  </p:childTnLst>
                                </p:cTn>
                              </p:par>
                              <p:par>
                                <p:cTn id="50" presetID="22" presetClass="entr" presetSubtype="8" dur="500" fill="hold" grpId="0" nodeType="withEffect">
                                  <p:stCondLst>
                                    <p:cond delay="0"/>
                                  </p:stCondLst>
                                  <p:childTnLst>
                                    <p:set>
                                      <p:cBhvr>
                                        <p:cTn id="51" dur="1" fill="hold">
                                          <p:stCondLst>
                                            <p:cond delay="0"/>
                                          </p:stCondLst>
                                        </p:cTn>
                                        <p:tgtEl>
                                          <p:spTgt spid="32"/>
                                        </p:tgtEl>
                                        <p:attrNameLst>
                                          <p:attrName>style.visibility</p:attrName>
                                        </p:attrNameLst>
                                      </p:cBhvr>
                                      <p:to>
                                        <p:strVal val="visible"/>
                                      </p:to>
                                    </p:set>
                                    <p:animEffect transition="in" filter="wipe(left)">
                                      <p:cBhvr>
                                        <p:cTn id="52" dur="500"/>
                                        <p:tgtEl>
                                          <p:spTgt spid="32"/>
                                        </p:tgtEl>
                                      </p:cBhvr>
                                    </p:animEffect>
                                  </p:childTnLst>
                                </p:cTn>
                              </p:par>
                              <p:par>
                                <p:cTn id="53" presetID="22" presetClass="entr" presetSubtype="8" dur="500" fill="hold" grpId="0" nodeType="withEffect">
                                  <p:stCondLst>
                                    <p:cond delay="0"/>
                                  </p:stCondLst>
                                  <p:childTnLst>
                                    <p:set>
                                      <p:cBhvr>
                                        <p:cTn id="54" dur="1" fill="hold">
                                          <p:stCondLst>
                                            <p:cond delay="0"/>
                                          </p:stCondLst>
                                        </p:cTn>
                                        <p:tgtEl>
                                          <p:spTgt spid="11"/>
                                        </p:tgtEl>
                                        <p:attrNameLst>
                                          <p:attrName>style.visibility</p:attrName>
                                        </p:attrNameLst>
                                      </p:cBhvr>
                                      <p:to>
                                        <p:strVal val="visible"/>
                                      </p:to>
                                    </p:set>
                                    <p:animEffect transition="in" filter="wipe(left)">
                                      <p:cBhvr>
                                        <p:cTn id="55" dur="500"/>
                                        <p:tgtEl>
                                          <p:spTgt spid="11"/>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8" dur="500" fill="hold" nodeType="clickEffect">
                                  <p:stCondLst>
                                    <p:cond delay="0"/>
                                  </p:stCondLst>
                                  <p:childTnLst>
                                    <p:set>
                                      <p:cBhvr>
                                        <p:cTn id="59" dur="1" fill="hold">
                                          <p:stCondLst>
                                            <p:cond delay="0"/>
                                          </p:stCondLst>
                                        </p:cTn>
                                        <p:tgtEl>
                                          <p:spTgt spid="14"/>
                                        </p:tgtEl>
                                        <p:attrNameLst>
                                          <p:attrName>style.visibility</p:attrName>
                                        </p:attrNameLst>
                                      </p:cBhvr>
                                      <p:to>
                                        <p:strVal val="visible"/>
                                      </p:to>
                                    </p:set>
                                    <p:animEffect transition="in" filter="wipe(left)">
                                      <p:cBhvr>
                                        <p:cTn id="60" dur="500"/>
                                        <p:tgtEl>
                                          <p:spTgt spid="14"/>
                                        </p:tgtEl>
                                      </p:cBhvr>
                                    </p:animEffect>
                                  </p:childTnLst>
                                </p:cTn>
                              </p:par>
                              <p:par>
                                <p:cTn id="61" presetID="22" presetClass="entr" presetSubtype="8" dur="500" fill="hold" grpId="0" nodeType="withEffect">
                                  <p:stCondLst>
                                    <p:cond delay="0"/>
                                  </p:stCondLst>
                                  <p:childTnLst>
                                    <p:set>
                                      <p:cBhvr>
                                        <p:cTn id="62" dur="1" fill="hold">
                                          <p:stCondLst>
                                            <p:cond delay="0"/>
                                          </p:stCondLst>
                                        </p:cTn>
                                        <p:tgtEl>
                                          <p:spTgt spid="23"/>
                                        </p:tgtEl>
                                        <p:attrNameLst>
                                          <p:attrName>style.visibility</p:attrName>
                                        </p:attrNameLst>
                                      </p:cBhvr>
                                      <p:to>
                                        <p:strVal val="visible"/>
                                      </p:to>
                                    </p:set>
                                    <p:animEffect transition="in" filter="wipe(left)">
                                      <p:cBhvr>
                                        <p:cTn id="63" dur="500"/>
                                        <p:tgtEl>
                                          <p:spTgt spid="23"/>
                                        </p:tgtEl>
                                      </p:cBhvr>
                                    </p:animEffect>
                                  </p:childTnLst>
                                </p:cTn>
                              </p:par>
                              <p:par>
                                <p:cTn id="64" presetID="22" presetClass="entr" presetSubtype="8" dur="500" fill="hold" grpId="0" nodeType="withEffect">
                                  <p:stCondLst>
                                    <p:cond delay="0"/>
                                  </p:stCondLst>
                                  <p:childTnLst>
                                    <p:set>
                                      <p:cBhvr>
                                        <p:cTn id="65" dur="1" fill="hold">
                                          <p:stCondLst>
                                            <p:cond delay="0"/>
                                          </p:stCondLst>
                                        </p:cTn>
                                        <p:tgtEl>
                                          <p:spTgt spid="13"/>
                                        </p:tgtEl>
                                        <p:attrNameLst>
                                          <p:attrName>style.visibility</p:attrName>
                                        </p:attrNameLst>
                                      </p:cBhvr>
                                      <p:to>
                                        <p:strVal val="visible"/>
                                      </p:to>
                                    </p:set>
                                    <p:animEffect transition="in" filter="wipe(left)">
                                      <p:cBhvr>
                                        <p:cTn id="66" dur="500"/>
                                        <p:tgtEl>
                                          <p:spTgt spid="13"/>
                                        </p:tgtEl>
                                      </p:cBhvr>
                                    </p:animEffect>
                                  </p:childTnLst>
                                </p:cTn>
                              </p:par>
                              <p:par>
                                <p:cTn id="67" presetID="22" presetClass="entr" presetSubtype="8" dur="500" fill="hold" nodeType="withEffect">
                                  <p:stCondLst>
                                    <p:cond delay="0"/>
                                  </p:stCondLst>
                                  <p:childTnLst>
                                    <p:set>
                                      <p:cBhvr>
                                        <p:cTn id="68" dur="1" fill="hold">
                                          <p:stCondLst>
                                            <p:cond delay="0"/>
                                          </p:stCondLst>
                                        </p:cTn>
                                        <p:tgtEl>
                                          <p:spTgt spid="29"/>
                                        </p:tgtEl>
                                        <p:attrNameLst>
                                          <p:attrName>style.visibility</p:attrName>
                                        </p:attrNameLst>
                                      </p:cBhvr>
                                      <p:to>
                                        <p:strVal val="visible"/>
                                      </p:to>
                                    </p:set>
                                    <p:animEffect transition="in" filter="wipe(left)">
                                      <p:cBhvr>
                                        <p:cTn id="69" dur="500"/>
                                        <p:tgtEl>
                                          <p:spTgt spid="29"/>
                                        </p:tgtEl>
                                      </p:cBhvr>
                                    </p:animEffect>
                                  </p:childTnLst>
                                </p:cTn>
                              </p:par>
                              <p:par>
                                <p:cTn id="70" presetID="22" presetClass="entr" presetSubtype="8" dur="500" fill="hold" grpId="0" nodeType="withEffect">
                                  <p:stCondLst>
                                    <p:cond delay="0"/>
                                  </p:stCondLst>
                                  <p:childTnLst>
                                    <p:set>
                                      <p:cBhvr>
                                        <p:cTn id="71" dur="1" fill="hold">
                                          <p:stCondLst>
                                            <p:cond delay="0"/>
                                          </p:stCondLst>
                                        </p:cTn>
                                        <p:tgtEl>
                                          <p:spTgt spid="24"/>
                                        </p:tgtEl>
                                        <p:attrNameLst>
                                          <p:attrName>style.visibility</p:attrName>
                                        </p:attrNameLst>
                                      </p:cBhvr>
                                      <p:to>
                                        <p:strVal val="visible"/>
                                      </p:to>
                                    </p:set>
                                    <p:animEffect transition="in" filter="wipe(left)">
                                      <p:cBhvr>
                                        <p:cTn id="72" dur="500"/>
                                        <p:tgtEl>
                                          <p:spTgt spid="24"/>
                                        </p:tgtEl>
                                      </p:cBhvr>
                                    </p:animEffect>
                                  </p:childTnLst>
                                </p:cTn>
                              </p:par>
                            </p:childTnLst>
                          </p:cTn>
                        </p:par>
                      </p:childTnLst>
                    </p:cTn>
                  </p:par>
                  <p:par>
                    <p:cTn id="73" fill="hold">
                      <p:stCondLst>
                        <p:cond delay="indefinite"/>
                      </p:stCondLst>
                      <p:childTnLst>
                        <p:par>
                          <p:cTn id="74" fill="hold">
                            <p:stCondLst>
                              <p:cond delay="0"/>
                            </p:stCondLst>
                            <p:childTnLst>
                              <p:par>
                                <p:cTn id="75" presetID="1" presetClass="entr" presetSubtype="0" dur="1" fill="hold" nodeType="clickEffect">
                                  <p:stCondLst>
                                    <p:cond delay="0"/>
                                  </p:stCondLst>
                                  <p:childTnLst>
                                    <p:set>
                                      <p:cBhvr>
                                        <p:cTn id="76" dur="1" fill="hold">
                                          <p:stCondLst>
                                            <p:cond delay="0"/>
                                          </p:stCondLst>
                                        </p:cTn>
                                        <p:tgtEl>
                                          <p:spTgt spid="38">
                                            <p:txEl>
                                              <p:pRg st="3" end="3"/>
                                            </p:txEl>
                                          </p:spTgt>
                                        </p:tgtEl>
                                        <p:attrNameLst>
                                          <p:attrName>style.visibility</p:attrName>
                                        </p:attrNameLst>
                                      </p:cBhvr>
                                      <p:to>
                                        <p:strVal val="visible"/>
                                      </p:to>
                                    </p:set>
                                  </p:childTnLst>
                                </p:cTn>
                              </p:par>
                              <p:par>
                                <p:cTn id="77" presetID="1" presetClass="entr" presetSubtype="0" dur="1" fill="hold" nodeType="withEffect">
                                  <p:stCondLst>
                                    <p:cond delay="0"/>
                                  </p:stCondLst>
                                  <p:childTnLst>
                                    <p:set>
                                      <p:cBhvr>
                                        <p:cTn id="78" dur="1" fill="hold">
                                          <p:stCondLst>
                                            <p:cond delay="0"/>
                                          </p:stCondLst>
                                        </p:cTn>
                                        <p:tgtEl>
                                          <p:spTgt spid="38">
                                            <p:txEl>
                                              <p:pRg st="4" end="4"/>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22" presetClass="entr" presetSubtype="8" dur="500" fill="hold" nodeType="clickEffect">
                                  <p:stCondLst>
                                    <p:cond delay="0"/>
                                  </p:stCondLst>
                                  <p:childTnLst>
                                    <p:set>
                                      <p:cBhvr>
                                        <p:cTn id="82" dur="1" fill="hold">
                                          <p:stCondLst>
                                            <p:cond delay="0"/>
                                          </p:stCondLst>
                                        </p:cTn>
                                        <p:tgtEl>
                                          <p:spTgt spid="16"/>
                                        </p:tgtEl>
                                        <p:attrNameLst>
                                          <p:attrName>style.visibility</p:attrName>
                                        </p:attrNameLst>
                                      </p:cBhvr>
                                      <p:to>
                                        <p:strVal val="visible"/>
                                      </p:to>
                                    </p:set>
                                    <p:animEffect transition="in" filter="wipe(left)">
                                      <p:cBhvr>
                                        <p:cTn id="83" dur="500"/>
                                        <p:tgtEl>
                                          <p:spTgt spid="16"/>
                                        </p:tgtEl>
                                      </p:cBhvr>
                                    </p:animEffect>
                                  </p:childTnLst>
                                </p:cTn>
                              </p:par>
                              <p:par>
                                <p:cTn id="84" presetID="22" presetClass="entr" presetSubtype="8" dur="500" fill="hold" grpId="0" nodeType="withEffect">
                                  <p:stCondLst>
                                    <p:cond delay="0"/>
                                  </p:stCondLst>
                                  <p:childTnLst>
                                    <p:set>
                                      <p:cBhvr>
                                        <p:cTn id="85" dur="1" fill="hold">
                                          <p:stCondLst>
                                            <p:cond delay="0"/>
                                          </p:stCondLst>
                                        </p:cTn>
                                        <p:tgtEl>
                                          <p:spTgt spid="31"/>
                                        </p:tgtEl>
                                        <p:attrNameLst>
                                          <p:attrName>style.visibility</p:attrName>
                                        </p:attrNameLst>
                                      </p:cBhvr>
                                      <p:to>
                                        <p:strVal val="visible"/>
                                      </p:to>
                                    </p:set>
                                    <p:animEffect transition="in" filter="wipe(left)">
                                      <p:cBhvr>
                                        <p:cTn id="86" dur="500"/>
                                        <p:tgtEl>
                                          <p:spTgt spid="31"/>
                                        </p:tgtEl>
                                      </p:cBhvr>
                                    </p:animEffect>
                                  </p:childTnLst>
                                </p:cTn>
                              </p:par>
                              <p:par>
                                <p:cTn id="87" presetID="22" presetClass="entr" presetSubtype="8" dur="500" fill="hold" grpId="0" nodeType="withEffect">
                                  <p:stCondLst>
                                    <p:cond delay="0"/>
                                  </p:stCondLst>
                                  <p:childTnLst>
                                    <p:set>
                                      <p:cBhvr>
                                        <p:cTn id="88" dur="1" fill="hold">
                                          <p:stCondLst>
                                            <p:cond delay="0"/>
                                          </p:stCondLst>
                                        </p:cTn>
                                        <p:tgtEl>
                                          <p:spTgt spid="15"/>
                                        </p:tgtEl>
                                        <p:attrNameLst>
                                          <p:attrName>style.visibility</p:attrName>
                                        </p:attrNameLst>
                                      </p:cBhvr>
                                      <p:to>
                                        <p:strVal val="visible"/>
                                      </p:to>
                                    </p:set>
                                    <p:animEffect transition="in" filter="wipe(left)">
                                      <p:cBhvr>
                                        <p:cTn id="89" dur="500"/>
                                        <p:tgtEl>
                                          <p:spTgt spid="15"/>
                                        </p:tgtEl>
                                      </p:cBhvr>
                                    </p:animEffect>
                                  </p:childTnLst>
                                </p:cTn>
                              </p:par>
                            </p:childTnLst>
                          </p:cTn>
                        </p:par>
                      </p:childTnLst>
                    </p:cTn>
                  </p:par>
                  <p:par>
                    <p:cTn id="90" fill="hold">
                      <p:stCondLst>
                        <p:cond delay="indefinite"/>
                      </p:stCondLst>
                      <p:childTnLst>
                        <p:par>
                          <p:cTn id="91" fill="hold">
                            <p:stCondLst>
                              <p:cond delay="0"/>
                            </p:stCondLst>
                            <p:childTnLst>
                              <p:par>
                                <p:cTn id="92" presetID="22" presetClass="entr" presetSubtype="8" dur="500" fill="hold" nodeType="clickEffect">
                                  <p:stCondLst>
                                    <p:cond delay="0"/>
                                  </p:stCondLst>
                                  <p:childTnLst>
                                    <p:set>
                                      <p:cBhvr>
                                        <p:cTn id="93" dur="1" fill="hold">
                                          <p:stCondLst>
                                            <p:cond delay="0"/>
                                          </p:stCondLst>
                                        </p:cTn>
                                        <p:tgtEl>
                                          <p:spTgt spid="18"/>
                                        </p:tgtEl>
                                        <p:attrNameLst>
                                          <p:attrName>style.visibility</p:attrName>
                                        </p:attrNameLst>
                                      </p:cBhvr>
                                      <p:to>
                                        <p:strVal val="visible"/>
                                      </p:to>
                                    </p:set>
                                    <p:animEffect transition="in" filter="wipe(left)">
                                      <p:cBhvr>
                                        <p:cTn id="94" dur="500"/>
                                        <p:tgtEl>
                                          <p:spTgt spid="18"/>
                                        </p:tgtEl>
                                      </p:cBhvr>
                                    </p:animEffect>
                                  </p:childTnLst>
                                </p:cTn>
                              </p:par>
                              <p:par>
                                <p:cTn id="95" presetID="22" presetClass="entr" presetSubtype="8" dur="500" fill="hold" grpId="0" nodeType="withEffect">
                                  <p:stCondLst>
                                    <p:cond delay="0"/>
                                  </p:stCondLst>
                                  <p:childTnLst>
                                    <p:set>
                                      <p:cBhvr>
                                        <p:cTn id="96" dur="1" fill="hold">
                                          <p:stCondLst>
                                            <p:cond delay="0"/>
                                          </p:stCondLst>
                                        </p:cTn>
                                        <p:tgtEl>
                                          <p:spTgt spid="25"/>
                                        </p:tgtEl>
                                        <p:attrNameLst>
                                          <p:attrName>style.visibility</p:attrName>
                                        </p:attrNameLst>
                                      </p:cBhvr>
                                      <p:to>
                                        <p:strVal val="visible"/>
                                      </p:to>
                                    </p:set>
                                    <p:animEffect transition="in" filter="wipe(left)">
                                      <p:cBhvr>
                                        <p:cTn id="97" dur="500"/>
                                        <p:tgtEl>
                                          <p:spTgt spid="25"/>
                                        </p:tgtEl>
                                      </p:cBhvr>
                                    </p:animEffect>
                                  </p:childTnLst>
                                </p:cTn>
                              </p:par>
                              <p:par>
                                <p:cTn id="98" presetID="22" presetClass="entr" presetSubtype="8" dur="500" fill="hold" grpId="0" nodeType="withEffect">
                                  <p:stCondLst>
                                    <p:cond delay="0"/>
                                  </p:stCondLst>
                                  <p:childTnLst>
                                    <p:set>
                                      <p:cBhvr>
                                        <p:cTn id="99" dur="1" fill="hold">
                                          <p:stCondLst>
                                            <p:cond delay="0"/>
                                          </p:stCondLst>
                                        </p:cTn>
                                        <p:tgtEl>
                                          <p:spTgt spid="17"/>
                                        </p:tgtEl>
                                        <p:attrNameLst>
                                          <p:attrName>style.visibility</p:attrName>
                                        </p:attrNameLst>
                                      </p:cBhvr>
                                      <p:to>
                                        <p:strVal val="visible"/>
                                      </p:to>
                                    </p:set>
                                    <p:animEffect transition="in" filter="wipe(left)">
                                      <p:cBhvr>
                                        <p:cTn id="100" dur="500"/>
                                        <p:tgtEl>
                                          <p:spTgt spid="17"/>
                                        </p:tgtEl>
                                      </p:cBhvr>
                                    </p:animEffect>
                                  </p:childTnLst>
                                </p:cTn>
                              </p:par>
                              <p:par>
                                <p:cTn id="101" presetID="22" presetClass="entr" presetSubtype="8" dur="500" fill="hold" nodeType="withEffect">
                                  <p:stCondLst>
                                    <p:cond delay="0"/>
                                  </p:stCondLst>
                                  <p:childTnLst>
                                    <p:set>
                                      <p:cBhvr>
                                        <p:cTn id="102" dur="1" fill="hold">
                                          <p:stCondLst>
                                            <p:cond delay="0"/>
                                          </p:stCondLst>
                                        </p:cTn>
                                        <p:tgtEl>
                                          <p:spTgt spid="20"/>
                                        </p:tgtEl>
                                        <p:attrNameLst>
                                          <p:attrName>style.visibility</p:attrName>
                                        </p:attrNameLst>
                                      </p:cBhvr>
                                      <p:to>
                                        <p:strVal val="visible"/>
                                      </p:to>
                                    </p:set>
                                    <p:animEffect transition="in" filter="wipe(left)">
                                      <p:cBhvr>
                                        <p:cTn id="103" dur="500"/>
                                        <p:tgtEl>
                                          <p:spTgt spid="20"/>
                                        </p:tgtEl>
                                      </p:cBhvr>
                                    </p:animEffect>
                                  </p:childTnLst>
                                </p:cTn>
                              </p:par>
                              <p:par>
                                <p:cTn id="104" presetID="22" presetClass="entr" presetSubtype="8" dur="500" fill="hold" grpId="0" nodeType="withEffect">
                                  <p:stCondLst>
                                    <p:cond delay="0"/>
                                  </p:stCondLst>
                                  <p:childTnLst>
                                    <p:set>
                                      <p:cBhvr>
                                        <p:cTn id="105" dur="1" fill="hold">
                                          <p:stCondLst>
                                            <p:cond delay="0"/>
                                          </p:stCondLst>
                                        </p:cTn>
                                        <p:tgtEl>
                                          <p:spTgt spid="27"/>
                                        </p:tgtEl>
                                        <p:attrNameLst>
                                          <p:attrName>style.visibility</p:attrName>
                                        </p:attrNameLst>
                                      </p:cBhvr>
                                      <p:to>
                                        <p:strVal val="visible"/>
                                      </p:to>
                                    </p:set>
                                    <p:animEffect transition="in" filter="wipe(left)">
                                      <p:cBhvr>
                                        <p:cTn id="106" dur="500"/>
                                        <p:tgtEl>
                                          <p:spTgt spid="27"/>
                                        </p:tgtEl>
                                      </p:cBhvr>
                                    </p:animEffect>
                                  </p:childTnLst>
                                </p:cTn>
                              </p:par>
                              <p:par>
                                <p:cTn id="107" presetID="22" presetClass="entr" presetSubtype="8" dur="500" fill="hold" grpId="0" nodeType="withEffect">
                                  <p:stCondLst>
                                    <p:cond delay="0"/>
                                  </p:stCondLst>
                                  <p:childTnLst>
                                    <p:set>
                                      <p:cBhvr>
                                        <p:cTn id="108" dur="1" fill="hold">
                                          <p:stCondLst>
                                            <p:cond delay="0"/>
                                          </p:stCondLst>
                                        </p:cTn>
                                        <p:tgtEl>
                                          <p:spTgt spid="19"/>
                                        </p:tgtEl>
                                        <p:attrNameLst>
                                          <p:attrName>style.visibility</p:attrName>
                                        </p:attrNameLst>
                                      </p:cBhvr>
                                      <p:to>
                                        <p:strVal val="visible"/>
                                      </p:to>
                                    </p:set>
                                    <p:animEffect transition="in" filter="wipe(left)">
                                      <p:cBhvr>
                                        <p:cTn id="109" dur="500"/>
                                        <p:tgtEl>
                                          <p:spTgt spid="19"/>
                                        </p:tgtEl>
                                      </p:cBhvr>
                                    </p:animEffect>
                                  </p:childTnLst>
                                </p:cTn>
                              </p:par>
                            </p:childTnLst>
                          </p:cTn>
                        </p:par>
                      </p:childTnLst>
                    </p:cTn>
                  </p:par>
                  <p:par>
                    <p:cTn id="110" fill="hold">
                      <p:stCondLst>
                        <p:cond delay="indefinite"/>
                      </p:stCondLst>
                      <p:childTnLst>
                        <p:par>
                          <p:cTn id="111" fill="hold">
                            <p:stCondLst>
                              <p:cond delay="0"/>
                            </p:stCondLst>
                            <p:childTnLst>
                              <p:par>
                                <p:cTn id="112" presetID="22" presetClass="entr" presetSubtype="2" dur="500" fill="hold" nodeType="clickEffect">
                                  <p:stCondLst>
                                    <p:cond delay="0"/>
                                  </p:stCondLst>
                                  <p:childTnLst>
                                    <p:set>
                                      <p:cBhvr>
                                        <p:cTn id="113" dur="1" fill="hold">
                                          <p:stCondLst>
                                            <p:cond delay="0"/>
                                          </p:stCondLst>
                                        </p:cTn>
                                        <p:tgtEl>
                                          <p:spTgt spid="30"/>
                                        </p:tgtEl>
                                        <p:attrNameLst>
                                          <p:attrName>style.visibility</p:attrName>
                                        </p:attrNameLst>
                                      </p:cBhvr>
                                      <p:to>
                                        <p:strVal val="visible"/>
                                      </p:to>
                                    </p:set>
                                    <p:animEffect transition="in" filter="wipe(right)">
                                      <p:cBhvr>
                                        <p:cTn id="114" dur="500"/>
                                        <p:tgtEl>
                                          <p:spTgt spid="30"/>
                                        </p:tgtEl>
                                      </p:cBhvr>
                                    </p:animEffect>
                                  </p:childTnLst>
                                </p:cTn>
                              </p:par>
                              <p:par>
                                <p:cTn id="115" presetID="22" presetClass="entr" presetSubtype="2" dur="500" fill="hold" grpId="0" nodeType="withEffect">
                                  <p:stCondLst>
                                    <p:cond delay="0"/>
                                  </p:stCondLst>
                                  <p:childTnLst>
                                    <p:set>
                                      <p:cBhvr>
                                        <p:cTn id="116" dur="1" fill="hold">
                                          <p:stCondLst>
                                            <p:cond delay="0"/>
                                          </p:stCondLst>
                                        </p:cTn>
                                        <p:tgtEl>
                                          <p:spTgt spid="26"/>
                                        </p:tgtEl>
                                        <p:attrNameLst>
                                          <p:attrName>style.visibility</p:attrName>
                                        </p:attrNameLst>
                                      </p:cBhvr>
                                      <p:to>
                                        <p:strVal val="visible"/>
                                      </p:to>
                                    </p:set>
                                    <p:animEffect transition="in" filter="wipe(right)">
                                      <p:cBhvr>
                                        <p:cTn id="117" dur="500"/>
                                        <p:tgtEl>
                                          <p:spTgt spid="26"/>
                                        </p:tgtEl>
                                      </p:cBhvr>
                                    </p:animEffect>
                                  </p:childTnLst>
                                </p:cTn>
                              </p:par>
                            </p:childTnLst>
                          </p:cTn>
                        </p:par>
                      </p:childTnLst>
                    </p:cTn>
                  </p:par>
                  <p:par>
                    <p:cTn id="118" fill="hold">
                      <p:stCondLst>
                        <p:cond delay="indefinite"/>
                      </p:stCondLst>
                      <p:childTnLst>
                        <p:par>
                          <p:cTn id="119" fill="hold">
                            <p:stCondLst>
                              <p:cond delay="0"/>
                            </p:stCondLst>
                            <p:childTnLst>
                              <p:par>
                                <p:cTn id="120" presetID="1" presetClass="entr" presetSubtype="0" dur="1" fill="hold" nodeType="clickEffect">
                                  <p:stCondLst>
                                    <p:cond delay="0"/>
                                  </p:stCondLst>
                                  <p:childTnLst>
                                    <p:set>
                                      <p:cBhvr>
                                        <p:cTn id="121" dur="1" fill="hold">
                                          <p:stCondLst>
                                            <p:cond delay="0"/>
                                          </p:stCondLst>
                                        </p:cTn>
                                        <p:tgtEl>
                                          <p:spTgt spid="38">
                                            <p:txEl>
                                              <p:pRg st="5" end="5"/>
                                            </p:txEl>
                                          </p:spTgt>
                                        </p:tgtEl>
                                        <p:attrNameLst>
                                          <p:attrName>style.visibility</p:attrName>
                                        </p:attrNameLst>
                                      </p:cBhvr>
                                      <p:to>
                                        <p:strVal val="visible"/>
                                      </p:to>
                                    </p:set>
                                  </p:childTnLst>
                                </p:cTn>
                              </p:par>
                            </p:childTnLst>
                          </p:cTn>
                        </p:par>
                      </p:childTnLst>
                    </p:cTn>
                  </p:par>
                  <p:par>
                    <p:cTn id="122" fill="hold">
                      <p:stCondLst>
                        <p:cond delay="indefinite"/>
                      </p:stCondLst>
                      <p:childTnLst>
                        <p:par>
                          <p:cTn id="123" fill="hold">
                            <p:stCondLst>
                              <p:cond delay="0"/>
                            </p:stCondLst>
                            <p:childTnLst>
                              <p:par>
                                <p:cTn id="124" presetID="22" presetClass="entr" presetSubtype="8" dur="500" fill="hold" nodeType="clickEffect">
                                  <p:stCondLst>
                                    <p:cond delay="0"/>
                                  </p:stCondLst>
                                  <p:childTnLst>
                                    <p:set>
                                      <p:cBhvr>
                                        <p:cTn id="125" dur="1" fill="hold">
                                          <p:stCondLst>
                                            <p:cond delay="0"/>
                                          </p:stCondLst>
                                        </p:cTn>
                                        <p:tgtEl>
                                          <p:spTgt spid="33"/>
                                        </p:tgtEl>
                                        <p:attrNameLst>
                                          <p:attrName>style.visibility</p:attrName>
                                        </p:attrNameLst>
                                      </p:cBhvr>
                                      <p:to>
                                        <p:strVal val="visible"/>
                                      </p:to>
                                    </p:set>
                                    <p:animEffect transition="in" filter="wipe(left)">
                                      <p:cBhvr>
                                        <p:cTn id="126" dur="500"/>
                                        <p:tgtEl>
                                          <p:spTgt spid="33"/>
                                        </p:tgtEl>
                                      </p:cBhvr>
                                    </p:animEffect>
                                  </p:childTnLst>
                                </p:cTn>
                              </p:par>
                              <p:par>
                                <p:cTn id="127" presetID="22" presetClass="entr" presetSubtype="8" dur="500" fill="hold" grpId="0" nodeType="withEffect">
                                  <p:stCondLst>
                                    <p:cond delay="0"/>
                                  </p:stCondLst>
                                  <p:childTnLst>
                                    <p:set>
                                      <p:cBhvr>
                                        <p:cTn id="128" dur="1" fill="hold">
                                          <p:stCondLst>
                                            <p:cond delay="0"/>
                                          </p:stCondLst>
                                        </p:cTn>
                                        <p:tgtEl>
                                          <p:spTgt spid="36"/>
                                        </p:tgtEl>
                                        <p:attrNameLst>
                                          <p:attrName>style.visibility</p:attrName>
                                        </p:attrNameLst>
                                      </p:cBhvr>
                                      <p:to>
                                        <p:strVal val="visible"/>
                                      </p:to>
                                    </p:set>
                                    <p:animEffect transition="in" filter="wipe(left)">
                                      <p:cBhvr>
                                        <p:cTn id="129" dur="500"/>
                                        <p:tgtEl>
                                          <p:spTgt spid="36"/>
                                        </p:tgtEl>
                                      </p:cBhvr>
                                    </p:animEffect>
                                  </p:childTnLst>
                                </p:cTn>
                              </p:par>
                            </p:childTnLst>
                          </p:cTn>
                        </p:par>
                      </p:childTnLst>
                    </p:cTn>
                  </p:par>
                  <p:par>
                    <p:cTn id="130" fill="hold">
                      <p:stCondLst>
                        <p:cond delay="indefinite"/>
                      </p:stCondLst>
                      <p:childTnLst>
                        <p:par>
                          <p:cTn id="131" fill="hold">
                            <p:stCondLst>
                              <p:cond delay="0"/>
                            </p:stCondLst>
                            <p:childTnLst>
                              <p:par>
                                <p:cTn id="132" presetID="1" presetClass="entr" presetSubtype="0" dur="1" fill="hold" nodeType="clickEffect">
                                  <p:stCondLst>
                                    <p:cond delay="0"/>
                                  </p:stCondLst>
                                  <p:childTnLst>
                                    <p:set>
                                      <p:cBhvr>
                                        <p:cTn id="133" dur="1" fill="hold">
                                          <p:stCondLst>
                                            <p:cond delay="0"/>
                                          </p:stCondLst>
                                        </p:cTn>
                                        <p:tgtEl>
                                          <p:spTgt spid="38">
                                            <p:txEl>
                                              <p:pRg st="6" end="6"/>
                                            </p:txEl>
                                          </p:spTgt>
                                        </p:tgtEl>
                                        <p:attrNameLst>
                                          <p:attrName>style.visibility</p:attrName>
                                        </p:attrNameLst>
                                      </p:cBhvr>
                                      <p:to>
                                        <p:strVal val="visible"/>
                                      </p:to>
                                    </p:set>
                                  </p:childTnLst>
                                </p:cTn>
                              </p:par>
                            </p:childTnLst>
                          </p:cTn>
                        </p:par>
                      </p:childTnLst>
                    </p:cTn>
                  </p:par>
                  <p:par>
                    <p:cTn id="134" fill="hold">
                      <p:stCondLst>
                        <p:cond delay="indefinite"/>
                      </p:stCondLst>
                      <p:childTnLst>
                        <p:par>
                          <p:cTn id="135" fill="hold">
                            <p:stCondLst>
                              <p:cond delay="0"/>
                            </p:stCondLst>
                            <p:childTnLst>
                              <p:par>
                                <p:cTn id="136" presetID="22" presetClass="entr" presetSubtype="8" dur="500" fill="hold" nodeType="clickEffect">
                                  <p:stCondLst>
                                    <p:cond delay="0"/>
                                  </p:stCondLst>
                                  <p:childTnLst>
                                    <p:set>
                                      <p:cBhvr>
                                        <p:cTn id="137" dur="1" fill="hold">
                                          <p:stCondLst>
                                            <p:cond delay="0"/>
                                          </p:stCondLst>
                                        </p:cTn>
                                        <p:tgtEl>
                                          <p:spTgt spid="34"/>
                                        </p:tgtEl>
                                        <p:attrNameLst>
                                          <p:attrName>style.visibility</p:attrName>
                                        </p:attrNameLst>
                                      </p:cBhvr>
                                      <p:to>
                                        <p:strVal val="visible"/>
                                      </p:to>
                                    </p:set>
                                    <p:animEffect transition="in" filter="wipe(left)">
                                      <p:cBhvr>
                                        <p:cTn id="138" dur="500"/>
                                        <p:tgtEl>
                                          <p:spTgt spid="34"/>
                                        </p:tgtEl>
                                      </p:cBhvr>
                                    </p:animEffect>
                                  </p:childTnLst>
                                </p:cTn>
                              </p:par>
                              <p:par>
                                <p:cTn id="139" presetID="22" presetClass="entr" presetSubtype="8" dur="500" fill="hold" grpId="0" nodeType="withEffect">
                                  <p:stCondLst>
                                    <p:cond delay="0"/>
                                  </p:stCondLst>
                                  <p:childTnLst>
                                    <p:set>
                                      <p:cBhvr>
                                        <p:cTn id="140" dur="1" fill="hold">
                                          <p:stCondLst>
                                            <p:cond delay="0"/>
                                          </p:stCondLst>
                                        </p:cTn>
                                        <p:tgtEl>
                                          <p:spTgt spid="37"/>
                                        </p:tgtEl>
                                        <p:attrNameLst>
                                          <p:attrName>style.visibility</p:attrName>
                                        </p:attrNameLst>
                                      </p:cBhvr>
                                      <p:to>
                                        <p:strVal val="visible"/>
                                      </p:to>
                                    </p:set>
                                    <p:animEffect transition="in" filter="wipe(left)">
                                      <p:cBhvr>
                                        <p:cTn id="141" dur="500"/>
                                        <p:tgtEl>
                                          <p:spTgt spid="37"/>
                                        </p:tgtEl>
                                      </p:cBhvr>
                                    </p:animEffect>
                                  </p:childTnLst>
                                </p:cTn>
                              </p:par>
                            </p:childTnLst>
                          </p:cTn>
                        </p:par>
                      </p:childTnLst>
                    </p:cTn>
                  </p:par>
                  <p:par>
                    <p:cTn id="142" fill="hold">
                      <p:stCondLst>
                        <p:cond delay="indefinite"/>
                      </p:stCondLst>
                      <p:childTnLst>
                        <p:par>
                          <p:cTn id="143" fill="hold">
                            <p:stCondLst>
                              <p:cond delay="0"/>
                            </p:stCondLst>
                            <p:childTnLst>
                              <p:par>
                                <p:cTn id="144" presetID="22" presetClass="entr" presetSubtype="8" dur="500" fill="hold" nodeType="clickEffect">
                                  <p:stCondLst>
                                    <p:cond delay="0"/>
                                  </p:stCondLst>
                                  <p:childTnLst>
                                    <p:set>
                                      <p:cBhvr>
                                        <p:cTn id="145" dur="1" fill="hold">
                                          <p:stCondLst>
                                            <p:cond delay="0"/>
                                          </p:stCondLst>
                                        </p:cTn>
                                        <p:tgtEl>
                                          <p:spTgt spid="21"/>
                                        </p:tgtEl>
                                        <p:attrNameLst>
                                          <p:attrName>style.visibility</p:attrName>
                                        </p:attrNameLst>
                                      </p:cBhvr>
                                      <p:to>
                                        <p:strVal val="visible"/>
                                      </p:to>
                                    </p:set>
                                    <p:animEffect transition="in" filter="wipe(left)">
                                      <p:cBhvr>
                                        <p:cTn id="146" dur="500"/>
                                        <p:tgtEl>
                                          <p:spTgt spid="21"/>
                                        </p:tgtEl>
                                      </p:cBhvr>
                                    </p:animEffect>
                                  </p:childTnLst>
                                </p:cTn>
                              </p:par>
                              <p:par>
                                <p:cTn id="147" presetID="22" presetClass="entr" presetSubtype="8" dur="500" fill="hold" grpId="0" nodeType="withEffect">
                                  <p:stCondLst>
                                    <p:cond delay="0"/>
                                  </p:stCondLst>
                                  <p:childTnLst>
                                    <p:set>
                                      <p:cBhvr>
                                        <p:cTn id="148" dur="1" fill="hold">
                                          <p:stCondLst>
                                            <p:cond delay="0"/>
                                          </p:stCondLst>
                                        </p:cTn>
                                        <p:tgtEl>
                                          <p:spTgt spid="9"/>
                                        </p:tgtEl>
                                        <p:attrNameLst>
                                          <p:attrName>style.visibility</p:attrName>
                                        </p:attrNameLst>
                                      </p:cBhvr>
                                      <p:to>
                                        <p:strVal val="visible"/>
                                      </p:to>
                                    </p:set>
                                    <p:animEffect transition="in" filter="wipe(left)">
                                      <p:cBhvr>
                                        <p:cTn id="149" dur="500"/>
                                        <p:tgtEl>
                                          <p:spTgt spid="9"/>
                                        </p:tgtEl>
                                      </p:cBhvr>
                                    </p:animEffect>
                                  </p:childTnLst>
                                </p:cTn>
                              </p:par>
                              <p:par>
                                <p:cTn id="150" presetID="22" presetClass="entr" presetSubtype="8" dur="500" fill="hold" grpId="0" nodeType="withEffect">
                                  <p:stCondLst>
                                    <p:cond delay="0"/>
                                  </p:stCondLst>
                                  <p:childTnLst>
                                    <p:set>
                                      <p:cBhvr>
                                        <p:cTn id="151" dur="1" fill="hold">
                                          <p:stCondLst>
                                            <p:cond delay="0"/>
                                          </p:stCondLst>
                                        </p:cTn>
                                        <p:tgtEl>
                                          <p:spTgt spid="7"/>
                                        </p:tgtEl>
                                        <p:attrNameLst>
                                          <p:attrName>style.visibility</p:attrName>
                                        </p:attrNameLst>
                                      </p:cBhvr>
                                      <p:to>
                                        <p:strVal val="visible"/>
                                      </p:to>
                                    </p:set>
                                    <p:animEffect transition="in" filter="wipe(left)">
                                      <p:cBhvr>
                                        <p:cTn id="152" dur="500"/>
                                        <p:tgtEl>
                                          <p:spTgt spid="7"/>
                                        </p:tgtEl>
                                      </p:cBhvr>
                                    </p:animEffect>
                                  </p:childTnLst>
                                </p:cTn>
                              </p:par>
                              <p:par>
                                <p:cTn id="153" presetID="22" presetClass="entr" presetSubtype="8" dur="500" fill="hold" grpId="0" nodeType="withEffect">
                                  <p:stCondLst>
                                    <p:cond delay="0"/>
                                  </p:stCondLst>
                                  <p:childTnLst>
                                    <p:set>
                                      <p:cBhvr>
                                        <p:cTn id="154" dur="1" fill="hold">
                                          <p:stCondLst>
                                            <p:cond delay="0"/>
                                          </p:stCondLst>
                                        </p:cTn>
                                        <p:tgtEl>
                                          <p:spTgt spid="8"/>
                                        </p:tgtEl>
                                        <p:attrNameLst>
                                          <p:attrName>style.visibility</p:attrName>
                                        </p:attrNameLst>
                                      </p:cBhvr>
                                      <p:to>
                                        <p:strVal val="visible"/>
                                      </p:to>
                                    </p:set>
                                    <p:animEffect transition="in" filter="wipe(left)">
                                      <p:cBhvr>
                                        <p:cTn id="155" dur="500"/>
                                        <p:tgtEl>
                                          <p:spTgt spid="8"/>
                                        </p:tgtEl>
                                      </p:cBhvr>
                                    </p:animEffect>
                                  </p:childTnLst>
                                </p:cTn>
                              </p:par>
                              <p:par>
                                <p:cTn id="156" presetID="22" presetClass="entr" presetSubtype="8" dur="500" fill="hold" grpId="0" nodeType="withEffect">
                                  <p:stCondLst>
                                    <p:cond delay="0"/>
                                  </p:stCondLst>
                                  <p:childTnLst>
                                    <p:set>
                                      <p:cBhvr>
                                        <p:cTn id="157" dur="1" fill="hold">
                                          <p:stCondLst>
                                            <p:cond delay="0"/>
                                          </p:stCondLst>
                                        </p:cTn>
                                        <p:tgtEl>
                                          <p:spTgt spid="39"/>
                                        </p:tgtEl>
                                        <p:attrNameLst>
                                          <p:attrName>style.visibility</p:attrName>
                                        </p:attrNameLst>
                                      </p:cBhvr>
                                      <p:to>
                                        <p:strVal val="visible"/>
                                      </p:to>
                                    </p:set>
                                    <p:animEffect transition="in" filter="wipe(left)">
                                      <p:cBhvr>
                                        <p:cTn id="158" dur="500"/>
                                        <p:tgtEl>
                                          <p:spTgt spid="39"/>
                                        </p:tgtEl>
                                      </p:cBhvr>
                                    </p:animEffect>
                                  </p:childTnLst>
                                </p:cTn>
                              </p:par>
                              <p:par>
                                <p:cTn id="159" presetID="22" presetClass="entr" presetSubtype="8" dur="500" fill="hold" grpId="0" nodeType="withEffect">
                                  <p:stCondLst>
                                    <p:cond delay="0"/>
                                  </p:stCondLst>
                                  <p:childTnLst>
                                    <p:set>
                                      <p:cBhvr>
                                        <p:cTn id="160" dur="1" fill="hold">
                                          <p:stCondLst>
                                            <p:cond delay="0"/>
                                          </p:stCondLst>
                                        </p:cTn>
                                        <p:tgtEl>
                                          <p:spTgt spid="40"/>
                                        </p:tgtEl>
                                        <p:attrNameLst>
                                          <p:attrName>style.visibility</p:attrName>
                                        </p:attrNameLst>
                                      </p:cBhvr>
                                      <p:to>
                                        <p:strVal val="visible"/>
                                      </p:to>
                                    </p:set>
                                    <p:animEffect transition="in" filter="wipe(left)">
                                      <p:cBhvr>
                                        <p:cTn id="161" dur="500"/>
                                        <p:tgtEl>
                                          <p:spTgt spid="40"/>
                                        </p:tgtEl>
                                      </p:cBhvr>
                                    </p:animEffect>
                                  </p:childTnLst>
                                </p:cTn>
                              </p:par>
                              <p:par>
                                <p:cTn id="162" presetID="22" presetClass="entr" presetSubtype="8" dur="500" fill="hold" grpId="0" nodeType="withEffect">
                                  <p:stCondLst>
                                    <p:cond delay="0"/>
                                  </p:stCondLst>
                                  <p:childTnLst>
                                    <p:set>
                                      <p:cBhvr>
                                        <p:cTn id="163" dur="1" fill="hold">
                                          <p:stCondLst>
                                            <p:cond delay="0"/>
                                          </p:stCondLst>
                                        </p:cTn>
                                        <p:tgtEl>
                                          <p:spTgt spid="41"/>
                                        </p:tgtEl>
                                        <p:attrNameLst>
                                          <p:attrName>style.visibility</p:attrName>
                                        </p:attrNameLst>
                                      </p:cBhvr>
                                      <p:to>
                                        <p:strVal val="visible"/>
                                      </p:to>
                                    </p:set>
                                    <p:animEffect transition="in" filter="wipe(left)">
                                      <p:cBhvr>
                                        <p:cTn id="164" dur="500"/>
                                        <p:tgtEl>
                                          <p:spTgt spid="41"/>
                                        </p:tgtEl>
                                      </p:cBhvr>
                                    </p:animEffect>
                                  </p:childTnLst>
                                </p:cTn>
                              </p:par>
                              <p:par>
                                <p:cTn id="165" presetID="22" presetClass="entr" presetSubtype="8" dur="500" fill="hold" grpId="0" nodeType="withEffect">
                                  <p:stCondLst>
                                    <p:cond delay="0"/>
                                  </p:stCondLst>
                                  <p:childTnLst>
                                    <p:set>
                                      <p:cBhvr>
                                        <p:cTn id="166" dur="1" fill="hold">
                                          <p:stCondLst>
                                            <p:cond delay="0"/>
                                          </p:stCondLst>
                                        </p:cTn>
                                        <p:tgtEl>
                                          <p:spTgt spid="42"/>
                                        </p:tgtEl>
                                        <p:attrNameLst>
                                          <p:attrName>style.visibility</p:attrName>
                                        </p:attrNameLst>
                                      </p:cBhvr>
                                      <p:to>
                                        <p:strVal val="visible"/>
                                      </p:to>
                                    </p:set>
                                    <p:animEffect transition="in" filter="wipe(left)">
                                      <p:cBhvr>
                                        <p:cTn id="167" dur="500"/>
                                        <p:tgtEl>
                                          <p:spTgt spid="42"/>
                                        </p:tgtEl>
                                      </p:cBhvr>
                                    </p:animEffect>
                                  </p:childTnLst>
                                </p:cTn>
                              </p:par>
                              <p:par>
                                <p:cTn id="168" presetID="22" presetClass="entr" presetSubtype="8" dur="500" fill="hold" grpId="0" nodeType="withEffect">
                                  <p:stCondLst>
                                    <p:cond delay="0"/>
                                  </p:stCondLst>
                                  <p:childTnLst>
                                    <p:set>
                                      <p:cBhvr>
                                        <p:cTn id="169" dur="1" fill="hold">
                                          <p:stCondLst>
                                            <p:cond delay="0"/>
                                          </p:stCondLst>
                                        </p:cTn>
                                        <p:tgtEl>
                                          <p:spTgt spid="43"/>
                                        </p:tgtEl>
                                        <p:attrNameLst>
                                          <p:attrName>style.visibility</p:attrName>
                                        </p:attrNameLst>
                                      </p:cBhvr>
                                      <p:to>
                                        <p:strVal val="visible"/>
                                      </p:to>
                                    </p:set>
                                    <p:animEffect transition="in" filter="wipe(left)">
                                      <p:cBhvr>
                                        <p:cTn id="170" dur="500"/>
                                        <p:tgtEl>
                                          <p:spTgt spid="43"/>
                                        </p:tgtEl>
                                      </p:cBhvr>
                                    </p:animEffect>
                                  </p:childTnLst>
                                </p:cTn>
                              </p:par>
                            </p:childTnLst>
                          </p:cTn>
                        </p:par>
                      </p:childTnLst>
                    </p:cTn>
                  </p:par>
                  <p:par>
                    <p:cTn id="171" fill="hold">
                      <p:stCondLst>
                        <p:cond delay="indefinite"/>
                      </p:stCondLst>
                      <p:childTnLst>
                        <p:par>
                          <p:cTn id="172" fill="hold">
                            <p:stCondLst>
                              <p:cond delay="0"/>
                            </p:stCondLst>
                            <p:childTnLst>
                              <p:par>
                                <p:cTn id="173" presetID="1" presetClass="entr" presetSubtype="0" fill="hold" nodeType="clickEffect">
                                  <p:stCondLst>
                                    <p:cond delay="0"/>
                                  </p:stCondLst>
                                  <p:childTnLst>
                                    <p:set>
                                      <p:cBhvr>
                                        <p:cTn id="174" dur="1" fill="hold">
                                          <p:stCondLst>
                                            <p:cond delay="0"/>
                                          </p:stCondLst>
                                        </p:cTn>
                                        <p:tgtEl>
                                          <p:spTgt spid="45"/>
                                        </p:tgtEl>
                                        <p:attrNameLst>
                                          <p:attrName>style.visibility</p:attrName>
                                        </p:attrNameLst>
                                      </p:cBhvr>
                                      <p:to>
                                        <p:strVal val="visible"/>
                                      </p:to>
                                    </p:set>
                                  </p:childTnLst>
                                </p:cTn>
                              </p:par>
                            </p:childTnLst>
                          </p:cTn>
                        </p:par>
                      </p:childTnLst>
                    </p:cTn>
                  </p:par>
                  <p:par>
                    <p:cTn id="175" fill="hold">
                      <p:stCondLst>
                        <p:cond delay="indefinite"/>
                      </p:stCondLst>
                      <p:childTnLst>
                        <p:par>
                          <p:cTn id="176" fill="hold">
                            <p:stCondLst>
                              <p:cond delay="0"/>
                            </p:stCondLst>
                            <p:childTnLst>
                              <p:par>
                                <p:cTn id="177" presetID="1" presetClass="entr" presetSubtype="0" fill="hold" nodeType="clickEffect">
                                  <p:stCondLst>
                                    <p:cond delay="0"/>
                                  </p:stCondLst>
                                  <p:childTnLst>
                                    <p:set>
                                      <p:cBhvr>
                                        <p:cTn id="178" dur="1" fill="hold">
                                          <p:stCondLst>
                                            <p:cond delay="0"/>
                                          </p:stCondLst>
                                        </p:cTn>
                                        <p:tgtEl>
                                          <p:spTgt spid="46"/>
                                        </p:tgtEl>
                                        <p:attrNameLst>
                                          <p:attrName>style.visibility</p:attrName>
                                        </p:attrNameLst>
                                      </p:cBhvr>
                                      <p:to>
                                        <p:strVal val="visible"/>
                                      </p:to>
                                    </p:set>
                                  </p:childTnLst>
                                </p:cTn>
                              </p:par>
                            </p:childTnLst>
                          </p:cTn>
                        </p:par>
                      </p:childTnLst>
                    </p:cTn>
                  </p:par>
                  <p:par>
                    <p:cTn id="179" fill="hold">
                      <p:stCondLst>
                        <p:cond delay="indefinite"/>
                      </p:stCondLst>
                      <p:childTnLst>
                        <p:par>
                          <p:cTn id="180" fill="hold">
                            <p:stCondLst>
                              <p:cond delay="0"/>
                            </p:stCondLst>
                            <p:childTnLst>
                              <p:par>
                                <p:cTn id="181" presetID="2" presetClass="entr" presetSubtype="4" fill="hold" nodeType="clickEffect">
                                  <p:stCondLst>
                                    <p:cond delay="20000"/>
                                  </p:stCondLst>
                                  <p:childTnLst>
                                    <p:set>
                                      <p:cBhvr>
                                        <p:cTn id="182" dur="1" fill="hold">
                                          <p:stCondLst>
                                            <p:cond delay="0"/>
                                          </p:stCondLst>
                                        </p:cTn>
                                        <p:tgtEl>
                                          <p:spTgt spid="47"/>
                                        </p:tgtEl>
                                        <p:attrNameLst>
                                          <p:attrName>style.visibility</p:attrName>
                                        </p:attrNameLst>
                                      </p:cBhvr>
                                      <p:to>
                                        <p:strVal val="visible"/>
                                      </p:to>
                                    </p:set>
                                    <p:anim calcmode="lin" valueType="num">
                                      <p:cBhvr additive="base">
                                        <p:cTn id="183" dur="500" fill="hold"/>
                                        <p:tgtEl>
                                          <p:spTgt spid="47"/>
                                        </p:tgtEl>
                                        <p:attrNameLst>
                                          <p:attrName>ppt_x</p:attrName>
                                        </p:attrNameLst>
                                      </p:cBhvr>
                                      <p:tavLst>
                                        <p:tav tm="0">
                                          <p:val>
                                            <p:strVal val="#ppt_x"/>
                                          </p:val>
                                        </p:tav>
                                        <p:tav tm="100000">
                                          <p:val>
                                            <p:strVal val="#ppt_x"/>
                                          </p:val>
                                        </p:tav>
                                      </p:tavLst>
                                    </p:anim>
                                    <p:anim calcmode="lin" valueType="num">
                                      <p:cBhvr additive="base">
                                        <p:cTn id="184" dur="500" fill="hold"/>
                                        <p:tgtEl>
                                          <p:spTgt spid="4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7" grpId="0" animBg="1"/>
      <p:bldP spid="8" grpId="0" animBg="1"/>
      <p:bldP spid="9" grpId="0"/>
      <p:bldP spid="10" grpId="0"/>
      <p:bldP spid="11" grpId="0" animBg="1"/>
      <p:bldP spid="13" grpId="0" animBg="1"/>
      <p:bldP spid="15" grpId="0" animBg="1"/>
      <p:bldP spid="17" grpId="0" animBg="1"/>
      <p:bldP spid="19" grpId="0" animBg="1"/>
      <p:bldP spid="22" grpId="0"/>
      <p:bldP spid="23" grpId="0"/>
      <p:bldP spid="24" grpId="0"/>
      <p:bldP spid="25" grpId="0"/>
      <p:bldP spid="26" grpId="0"/>
      <p:bldP spid="27" grpId="0"/>
      <p:bldP spid="31" grpId="0"/>
      <p:bldP spid="32" grpId="0"/>
      <p:bldP spid="35" grpId="0"/>
      <p:bldP spid="36" grpId="0"/>
      <p:bldP spid="37" grpId="0"/>
      <p:bldP spid="39" grpId="0" animBg="1"/>
      <p:bldP spid="40" grpId="0" animBg="1"/>
      <p:bldP spid="41" grpId="0" animBg="1"/>
      <p:bldP spid="42" grpId="0" animBg="1"/>
      <p:bldP spid="43"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7269BE-5E08-4A76-AF05-A3008F5B8233}"/>
              </a:ext>
            </a:extLst>
          </p:cNvPr>
          <p:cNvSpPr txBox="1">
            <a:spLocks/>
          </p:cNvSpPr>
          <p:nvPr/>
        </p:nvSpPr>
        <p:spPr>
          <a:xfrm>
            <a:off x="0" y="1"/>
            <a:ext cx="12192000" cy="711200"/>
          </a:xfrm>
          <a:prstGeom prst="rect">
            <a:avLst/>
          </a:prstGeom>
        </p:spPr>
        <p:txBody>
          <a:bodyPr/>
          <a:lstStyle>
            <a:lvl1pPr algn="l" defTabSz="914400" rtl="0" eaLnBrk="1" latinLnBrk="0" hangingPunct="1">
              <a:lnSpc>
                <a:spcPct val="90000"/>
              </a:lnSpc>
              <a:spcBef>
                <a:spcPct val="0"/>
              </a:spcBef>
              <a:buNone/>
              <a:defRPr sz="4400" kern="1200">
                <a:solidFill>
                  <a:srgbClr val="C00000"/>
                </a:solidFill>
                <a:latin typeface="Palatino Linotype" panose="02040502050505030304" pitchFamily="18" charset="0"/>
                <a:ea typeface="+mj-ea"/>
                <a:cs typeface="+mj-cs"/>
              </a:defRPr>
            </a:lvl1pPr>
          </a:lstStyle>
          <a:p>
            <a:r>
              <a:rPr lang="en-US" sz="3600"/>
              <a:t>Hard coding and automatic generation lexical analyzers</a:t>
            </a:r>
            <a:endParaRPr lang="en-US" dirty="0"/>
          </a:p>
        </p:txBody>
      </p:sp>
      <p:sp>
        <p:nvSpPr>
          <p:cNvPr id="3" name="Content Placeholder 2">
            <a:extLst>
              <a:ext uri="{FF2B5EF4-FFF2-40B4-BE49-F238E27FC236}">
                <a16:creationId xmlns:a16="http://schemas.microsoft.com/office/drawing/2014/main" id="{FD590578-B2F1-3803-84C6-2C65DBB4A50D}"/>
              </a:ext>
            </a:extLst>
          </p:cNvPr>
          <p:cNvSpPr txBox="1">
            <a:spLocks/>
          </p:cNvSpPr>
          <p:nvPr/>
        </p:nvSpPr>
        <p:spPr>
          <a:xfrm>
            <a:off x="131180" y="533821"/>
            <a:ext cx="11929641" cy="3811587"/>
          </a:xfrm>
          <a:prstGeom prst="rect">
            <a:avLst/>
          </a:prstGeom>
        </p:spPr>
        <p:txBody>
          <a:bodyPr/>
          <a:lstStyle>
            <a:lvl1pPr marL="228600" indent="-228600" algn="just"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Palatino Linotype" panose="02040502050505030304" pitchFamily="18" charset="0"/>
                <a:ea typeface="+mn-ea"/>
                <a:cs typeface="+mn-cs"/>
              </a:defRPr>
            </a:lvl1pPr>
            <a:lvl2pPr marL="685800" indent="-228600" algn="just"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Palatino Linotype" panose="02040502050505030304" pitchFamily="18" charset="0"/>
                <a:ea typeface="+mn-ea"/>
                <a:cs typeface="+mn-cs"/>
              </a:defRPr>
            </a:lvl2pPr>
            <a:lvl3pPr marL="1143000" indent="-228600" algn="just"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Palatino Linotype" panose="02040502050505030304" pitchFamily="18" charset="0"/>
                <a:ea typeface="+mn-ea"/>
                <a:cs typeface="+mn-cs"/>
              </a:defRPr>
            </a:lvl3pPr>
            <a:lvl4pPr marL="1600200" indent="-228600" algn="just"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alatino Linotype" panose="02040502050505030304" pitchFamily="18" charset="0"/>
                <a:ea typeface="+mn-ea"/>
                <a:cs typeface="+mn-cs"/>
              </a:defRPr>
            </a:lvl4pPr>
            <a:lvl5pPr marL="2057400" indent="-228600" algn="just"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Lexical analysis is about </a:t>
            </a:r>
            <a:r>
              <a:rPr lang="en-US" b="1" dirty="0"/>
              <a:t>identifying the pattern </a:t>
            </a:r>
            <a:r>
              <a:rPr lang="en-US" dirty="0"/>
              <a:t>from the input.</a:t>
            </a:r>
          </a:p>
          <a:p>
            <a:r>
              <a:rPr lang="en-US" dirty="0"/>
              <a:t>To recognize the pattern, a </a:t>
            </a:r>
            <a:r>
              <a:rPr lang="en-US" b="1" dirty="0"/>
              <a:t>transition diagram is constructed</a:t>
            </a:r>
            <a:r>
              <a:rPr lang="en-US" dirty="0"/>
              <a:t>.</a:t>
            </a:r>
          </a:p>
          <a:p>
            <a:r>
              <a:rPr lang="en-US" dirty="0"/>
              <a:t>It is known as a </a:t>
            </a:r>
            <a:r>
              <a:rPr lang="en-US" b="1" dirty="0"/>
              <a:t>hard coding lexical analyzer</a:t>
            </a:r>
            <a:r>
              <a:rPr lang="en-US" dirty="0"/>
              <a:t>.</a:t>
            </a:r>
          </a:p>
          <a:p>
            <a:r>
              <a:rPr lang="en-US" dirty="0"/>
              <a:t>Example: to represent an identifier in ‘C’, the first character must be a letter and the other characters are either letters or digits.</a:t>
            </a:r>
          </a:p>
          <a:p>
            <a:r>
              <a:rPr lang="en-US" dirty="0"/>
              <a:t>To recognize this pattern, a hard coding lexical analyzer will work with a transition diagram.</a:t>
            </a:r>
          </a:p>
          <a:p>
            <a:r>
              <a:rPr lang="en-US" dirty="0"/>
              <a:t>The automatic generation lexical analyzer takes special notation as input.</a:t>
            </a:r>
          </a:p>
          <a:p>
            <a:r>
              <a:rPr lang="en-US" dirty="0"/>
              <a:t>For example, the lex compiler tool will take a regular expression as input and find the pattern matching that regular expression.</a:t>
            </a:r>
          </a:p>
          <a:p>
            <a:endParaRPr lang="en-US" dirty="0"/>
          </a:p>
          <a:p>
            <a:endParaRPr lang="en-US" dirty="0"/>
          </a:p>
        </p:txBody>
      </p:sp>
      <p:sp>
        <p:nvSpPr>
          <p:cNvPr id="4" name="Oval 3">
            <a:extLst>
              <a:ext uri="{FF2B5EF4-FFF2-40B4-BE49-F238E27FC236}">
                <a16:creationId xmlns:a16="http://schemas.microsoft.com/office/drawing/2014/main" id="{2CF0678C-DF6E-6349-6F63-9215682EFC7A}"/>
              </a:ext>
            </a:extLst>
          </p:cNvPr>
          <p:cNvSpPr/>
          <p:nvPr/>
        </p:nvSpPr>
        <p:spPr>
          <a:xfrm>
            <a:off x="6407659" y="5892908"/>
            <a:ext cx="457200" cy="457200"/>
          </a:xfrm>
          <a:prstGeom prst="ellipse">
            <a:avLst/>
          </a:prstGeom>
          <a:solidFill>
            <a:srgbClr val="0E47A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bg1"/>
                </a:solidFill>
                <a:latin typeface="+mj-lt"/>
              </a:rPr>
              <a:t>2</a:t>
            </a:r>
          </a:p>
        </p:txBody>
      </p:sp>
      <p:sp>
        <p:nvSpPr>
          <p:cNvPr id="5" name="Oval 4">
            <a:extLst>
              <a:ext uri="{FF2B5EF4-FFF2-40B4-BE49-F238E27FC236}">
                <a16:creationId xmlns:a16="http://schemas.microsoft.com/office/drawing/2014/main" id="{6DCBE50B-F756-5B92-2BA4-B9F38A1D90D4}"/>
              </a:ext>
            </a:extLst>
          </p:cNvPr>
          <p:cNvSpPr/>
          <p:nvPr/>
        </p:nvSpPr>
        <p:spPr>
          <a:xfrm>
            <a:off x="7437820" y="5892908"/>
            <a:ext cx="457200" cy="457200"/>
          </a:xfrm>
          <a:prstGeom prst="ellipse">
            <a:avLst/>
          </a:prstGeom>
          <a:solidFill>
            <a:srgbClr val="0E47A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bg1"/>
                </a:solidFill>
                <a:latin typeface="+mj-lt"/>
              </a:rPr>
              <a:t>3</a:t>
            </a:r>
          </a:p>
        </p:txBody>
      </p:sp>
      <p:cxnSp>
        <p:nvCxnSpPr>
          <p:cNvPr id="6" name="Straight Arrow Connector 5">
            <a:extLst>
              <a:ext uri="{FF2B5EF4-FFF2-40B4-BE49-F238E27FC236}">
                <a16:creationId xmlns:a16="http://schemas.microsoft.com/office/drawing/2014/main" id="{C538B5FF-CBCB-6AFF-BF9A-E83FA8AD22F1}"/>
              </a:ext>
            </a:extLst>
          </p:cNvPr>
          <p:cNvCxnSpPr/>
          <p:nvPr/>
        </p:nvCxnSpPr>
        <p:spPr>
          <a:xfrm>
            <a:off x="4476341" y="6125620"/>
            <a:ext cx="559516" cy="981"/>
          </a:xfrm>
          <a:prstGeom prst="straightConnector1">
            <a:avLst/>
          </a:prstGeom>
          <a:ln w="25400">
            <a:solidFill>
              <a:srgbClr val="0E47A1"/>
            </a:solidFill>
            <a:tailEnd type="arrow"/>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89EA8118-F31D-B62E-F241-B472F7A729DE}"/>
              </a:ext>
            </a:extLst>
          </p:cNvPr>
          <p:cNvCxnSpPr/>
          <p:nvPr/>
        </p:nvCxnSpPr>
        <p:spPr>
          <a:xfrm>
            <a:off x="5475465" y="6125620"/>
            <a:ext cx="943554" cy="5093"/>
          </a:xfrm>
          <a:prstGeom prst="straightConnector1">
            <a:avLst/>
          </a:prstGeom>
          <a:ln w="25400">
            <a:solidFill>
              <a:srgbClr val="0E47A1"/>
            </a:solidFill>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EB9DCB24-BC48-8C71-6F2B-AA8801C5541A}"/>
              </a:ext>
            </a:extLst>
          </p:cNvPr>
          <p:cNvCxnSpPr/>
          <p:nvPr/>
        </p:nvCxnSpPr>
        <p:spPr>
          <a:xfrm>
            <a:off x="6864859" y="6125620"/>
            <a:ext cx="559516" cy="981"/>
          </a:xfrm>
          <a:prstGeom prst="straightConnector1">
            <a:avLst/>
          </a:prstGeom>
          <a:ln w="25400">
            <a:solidFill>
              <a:srgbClr val="0E47A1"/>
            </a:solidFill>
            <a:tailEnd type="arrow"/>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006811CE-D0EC-19E5-21D4-96F63461D8BE}"/>
              </a:ext>
            </a:extLst>
          </p:cNvPr>
          <p:cNvSpPr/>
          <p:nvPr/>
        </p:nvSpPr>
        <p:spPr>
          <a:xfrm>
            <a:off x="4160433" y="5748765"/>
            <a:ext cx="1004209" cy="3095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latin typeface="+mj-lt"/>
                <a:ea typeface="Cambria Math" panose="02040503050406030204" pitchFamily="18" charset="0"/>
              </a:rPr>
              <a:t>Start</a:t>
            </a:r>
            <a:endParaRPr lang="en-US">
              <a:solidFill>
                <a:schemeClr val="tx1"/>
              </a:solidFill>
              <a:latin typeface="+mj-lt"/>
            </a:endParaRPr>
          </a:p>
        </p:txBody>
      </p:sp>
      <p:sp>
        <p:nvSpPr>
          <p:cNvPr id="10" name="Oval 9">
            <a:extLst>
              <a:ext uri="{FF2B5EF4-FFF2-40B4-BE49-F238E27FC236}">
                <a16:creationId xmlns:a16="http://schemas.microsoft.com/office/drawing/2014/main" id="{E8FA7649-E46F-1252-141D-4D6D04AB6A1F}"/>
              </a:ext>
            </a:extLst>
          </p:cNvPr>
          <p:cNvSpPr/>
          <p:nvPr/>
        </p:nvSpPr>
        <p:spPr>
          <a:xfrm>
            <a:off x="7506400" y="5961488"/>
            <a:ext cx="320040" cy="32004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2">
                  <a:lumMod val="60000"/>
                  <a:lumOff val="40000"/>
                </a:schemeClr>
              </a:solidFill>
            </a:endParaRPr>
          </a:p>
        </p:txBody>
      </p:sp>
      <p:cxnSp>
        <p:nvCxnSpPr>
          <p:cNvPr id="11" name="Curved Connector 10">
            <a:extLst>
              <a:ext uri="{FF2B5EF4-FFF2-40B4-BE49-F238E27FC236}">
                <a16:creationId xmlns:a16="http://schemas.microsoft.com/office/drawing/2014/main" id="{6A203BBA-3C1B-BCC0-43DE-DEEF7033F1A7}"/>
              </a:ext>
            </a:extLst>
          </p:cNvPr>
          <p:cNvCxnSpPr/>
          <p:nvPr/>
        </p:nvCxnSpPr>
        <p:spPr>
          <a:xfrm rot="16200000" flipV="1">
            <a:off x="6633873" y="5821286"/>
            <a:ext cx="12700" cy="323290"/>
          </a:xfrm>
          <a:prstGeom prst="curvedConnector3">
            <a:avLst>
              <a:gd name="adj1" fmla="val 3902205"/>
            </a:avLst>
          </a:prstGeom>
          <a:ln w="25400">
            <a:solidFill>
              <a:srgbClr val="0E47A1"/>
            </a:solidFill>
            <a:tailEnd type="arrow"/>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2A1945A3-D447-D114-D7BF-EBA9EB3175EE}"/>
              </a:ext>
            </a:extLst>
          </p:cNvPr>
          <p:cNvSpPr/>
          <p:nvPr/>
        </p:nvSpPr>
        <p:spPr>
          <a:xfrm>
            <a:off x="5953893" y="5067905"/>
            <a:ext cx="1550974" cy="4294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latin typeface="+mj-lt"/>
                <a:ea typeface="Cambria Math" panose="02040503050406030204" pitchFamily="18" charset="0"/>
              </a:rPr>
              <a:t>Letter or digit</a:t>
            </a:r>
            <a:endParaRPr lang="en-US">
              <a:solidFill>
                <a:schemeClr val="tx1"/>
              </a:solidFill>
              <a:latin typeface="+mj-lt"/>
            </a:endParaRPr>
          </a:p>
        </p:txBody>
      </p:sp>
      <p:sp>
        <p:nvSpPr>
          <p:cNvPr id="13" name="Rectangle 12">
            <a:extLst>
              <a:ext uri="{FF2B5EF4-FFF2-40B4-BE49-F238E27FC236}">
                <a16:creationId xmlns:a16="http://schemas.microsoft.com/office/drawing/2014/main" id="{AC5C2B27-EF0E-4D5B-5828-E8B98E0CD4CF}"/>
              </a:ext>
            </a:extLst>
          </p:cNvPr>
          <p:cNvSpPr/>
          <p:nvPr/>
        </p:nvSpPr>
        <p:spPr>
          <a:xfrm>
            <a:off x="5403670" y="5658061"/>
            <a:ext cx="1030783" cy="4294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latin typeface="+mj-lt"/>
                <a:ea typeface="Cambria Math" panose="02040503050406030204" pitchFamily="18" charset="0"/>
              </a:rPr>
              <a:t>Letter</a:t>
            </a:r>
            <a:endParaRPr lang="en-US">
              <a:solidFill>
                <a:schemeClr val="tx1"/>
              </a:solidFill>
              <a:latin typeface="+mj-lt"/>
            </a:endParaRPr>
          </a:p>
        </p:txBody>
      </p:sp>
      <p:sp>
        <p:nvSpPr>
          <p:cNvPr id="14" name="Oval 13">
            <a:extLst>
              <a:ext uri="{FF2B5EF4-FFF2-40B4-BE49-F238E27FC236}">
                <a16:creationId xmlns:a16="http://schemas.microsoft.com/office/drawing/2014/main" id="{631CC25B-24B4-68CB-6211-3941FD450EA7}"/>
              </a:ext>
            </a:extLst>
          </p:cNvPr>
          <p:cNvSpPr/>
          <p:nvPr/>
        </p:nvSpPr>
        <p:spPr>
          <a:xfrm>
            <a:off x="5035857" y="5890875"/>
            <a:ext cx="457200" cy="457200"/>
          </a:xfrm>
          <a:prstGeom prst="ellipse">
            <a:avLst/>
          </a:prstGeom>
          <a:solidFill>
            <a:srgbClr val="0E47A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bg1"/>
                </a:solidFill>
                <a:latin typeface="+mj-lt"/>
              </a:rPr>
              <a:t>1</a:t>
            </a:r>
          </a:p>
        </p:txBody>
      </p:sp>
      <p:cxnSp>
        <p:nvCxnSpPr>
          <p:cNvPr id="15" name="Straight Connector 14">
            <a:extLst>
              <a:ext uri="{FF2B5EF4-FFF2-40B4-BE49-F238E27FC236}">
                <a16:creationId xmlns:a16="http://schemas.microsoft.com/office/drawing/2014/main" id="{B9EB7EA2-DE88-E5FA-A2C7-02ED56857065}"/>
              </a:ext>
            </a:extLst>
          </p:cNvPr>
          <p:cNvCxnSpPr/>
          <p:nvPr/>
        </p:nvCxnSpPr>
        <p:spPr>
          <a:xfrm>
            <a:off x="376053" y="5198418"/>
            <a:ext cx="11430000" cy="0"/>
          </a:xfrm>
          <a:prstGeom prst="line">
            <a:avLst/>
          </a:prstGeom>
          <a:ln>
            <a:solidFill>
              <a:srgbClr val="0E47A1"/>
            </a:solidFill>
          </a:ln>
        </p:spPr>
        <p:style>
          <a:lnRef idx="2">
            <a:schemeClr val="accent6"/>
          </a:lnRef>
          <a:fillRef idx="0">
            <a:schemeClr val="accent6"/>
          </a:fillRef>
          <a:effectRef idx="1">
            <a:schemeClr val="accent6"/>
          </a:effectRef>
          <a:fontRef idx="minor">
            <a:schemeClr val="tx1"/>
          </a:fontRef>
        </p:style>
      </p:cxnSp>
    </p:spTree>
    <p:extLst>
      <p:ext uri="{BB962C8B-B14F-4D97-AF65-F5344CB8AC3E}">
        <p14:creationId xmlns:p14="http://schemas.microsoft.com/office/powerpoint/2010/main" val="27472783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dur="1"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dur="1"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dur="1"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dur="1"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22" presetClass="entr" presetSubtype="8" dur="500" fill="hold" nodeType="with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wipe(left)">
                                      <p:cBhvr>
                                        <p:cTn id="21" dur="500"/>
                                        <p:tgtEl>
                                          <p:spTgt spid="15"/>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dur="500" fill="hold" grpId="0" nodeType="click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wipe(left)">
                                      <p:cBhvr>
                                        <p:cTn id="26" dur="500"/>
                                        <p:tgtEl>
                                          <p:spTgt spid="9"/>
                                        </p:tgtEl>
                                      </p:cBhvr>
                                    </p:animEffect>
                                  </p:childTnLst>
                                </p:cTn>
                              </p:par>
                              <p:par>
                                <p:cTn id="27" presetID="22" presetClass="entr" presetSubtype="8" dur="500" fill="hold" nodeType="with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wipe(left)">
                                      <p:cBhvr>
                                        <p:cTn id="29" dur="500"/>
                                        <p:tgtEl>
                                          <p:spTgt spid="6"/>
                                        </p:tgtEl>
                                      </p:cBhvr>
                                    </p:animEffect>
                                  </p:childTnLst>
                                </p:cTn>
                              </p:par>
                              <p:par>
                                <p:cTn id="30" presetID="22" presetClass="entr" presetSubtype="8" dur="500" fill="hold" grpId="0" nodeType="with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wipe(left)">
                                      <p:cBhvr>
                                        <p:cTn id="32" dur="500"/>
                                        <p:tgtEl>
                                          <p:spTgt spid="14"/>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dur="500" fill="hold" nodeType="clickEffect">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wipe(left)">
                                      <p:cBhvr>
                                        <p:cTn id="37" dur="500"/>
                                        <p:tgtEl>
                                          <p:spTgt spid="7"/>
                                        </p:tgtEl>
                                      </p:cBhvr>
                                    </p:animEffect>
                                  </p:childTnLst>
                                </p:cTn>
                              </p:par>
                              <p:par>
                                <p:cTn id="38" presetID="22" presetClass="entr" presetSubtype="8" dur="500" fill="hold" grpId="0" nodeType="withEffect">
                                  <p:stCondLst>
                                    <p:cond delay="0"/>
                                  </p:stCondLst>
                                  <p:childTnLst>
                                    <p:set>
                                      <p:cBhvr>
                                        <p:cTn id="39" dur="1" fill="hold">
                                          <p:stCondLst>
                                            <p:cond delay="0"/>
                                          </p:stCondLst>
                                        </p:cTn>
                                        <p:tgtEl>
                                          <p:spTgt spid="4"/>
                                        </p:tgtEl>
                                        <p:attrNameLst>
                                          <p:attrName>style.visibility</p:attrName>
                                        </p:attrNameLst>
                                      </p:cBhvr>
                                      <p:to>
                                        <p:strVal val="visible"/>
                                      </p:to>
                                    </p:set>
                                    <p:animEffect transition="in" filter="wipe(left)">
                                      <p:cBhvr>
                                        <p:cTn id="40" dur="500"/>
                                        <p:tgtEl>
                                          <p:spTgt spid="4"/>
                                        </p:tgtEl>
                                      </p:cBhvr>
                                    </p:animEffect>
                                  </p:childTnLst>
                                </p:cTn>
                              </p:par>
                            </p:childTnLst>
                          </p:cTn>
                        </p:par>
                      </p:childTnLst>
                    </p:cTn>
                  </p:par>
                  <p:par>
                    <p:cTn id="41" fill="hold">
                      <p:stCondLst>
                        <p:cond delay="indefinite"/>
                      </p:stCondLst>
                      <p:childTnLst>
                        <p:par>
                          <p:cTn id="42" fill="hold">
                            <p:stCondLst>
                              <p:cond delay="0"/>
                            </p:stCondLst>
                            <p:childTnLst>
                              <p:par>
                                <p:cTn id="43" presetID="1" presetClass="entr" presetSubtype="0" dur="1" fill="hold" grpId="0" nodeType="clickEffect">
                                  <p:stCondLst>
                                    <p:cond delay="0"/>
                                  </p:stCondLst>
                                  <p:childTnLst>
                                    <p:set>
                                      <p:cBhvr>
                                        <p:cTn id="44" dur="1" fill="hold">
                                          <p:stCondLst>
                                            <p:cond delay="0"/>
                                          </p:stCondLst>
                                        </p:cTn>
                                        <p:tgtEl>
                                          <p:spTgt spid="13"/>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22" presetClass="entr" presetSubtype="2" dur="500" fill="hold" nodeType="clickEffect">
                                  <p:stCondLst>
                                    <p:cond delay="0"/>
                                  </p:stCondLst>
                                  <p:childTnLst>
                                    <p:set>
                                      <p:cBhvr>
                                        <p:cTn id="48" dur="1" fill="hold">
                                          <p:stCondLst>
                                            <p:cond delay="0"/>
                                          </p:stCondLst>
                                        </p:cTn>
                                        <p:tgtEl>
                                          <p:spTgt spid="11"/>
                                        </p:tgtEl>
                                        <p:attrNameLst>
                                          <p:attrName>style.visibility</p:attrName>
                                        </p:attrNameLst>
                                      </p:cBhvr>
                                      <p:to>
                                        <p:strVal val="visible"/>
                                      </p:to>
                                    </p:set>
                                    <p:animEffect transition="in" filter="wipe(right)">
                                      <p:cBhvr>
                                        <p:cTn id="49" dur="500"/>
                                        <p:tgtEl>
                                          <p:spTgt spid="11"/>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dur="1" fill="hold" grpId="0" nodeType="clickEffect">
                                  <p:stCondLst>
                                    <p:cond delay="0"/>
                                  </p:stCondLst>
                                  <p:childTnLst>
                                    <p:set>
                                      <p:cBhvr>
                                        <p:cTn id="53" dur="1" fill="hold">
                                          <p:stCondLst>
                                            <p:cond delay="0"/>
                                          </p:stCondLst>
                                        </p:cTn>
                                        <p:tgtEl>
                                          <p:spTgt spid="12"/>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22" presetClass="entr" presetSubtype="8" dur="500" fill="hold" nodeType="clickEffect">
                                  <p:stCondLst>
                                    <p:cond delay="0"/>
                                  </p:stCondLst>
                                  <p:childTnLst>
                                    <p:set>
                                      <p:cBhvr>
                                        <p:cTn id="57" dur="1" fill="hold">
                                          <p:stCondLst>
                                            <p:cond delay="0"/>
                                          </p:stCondLst>
                                        </p:cTn>
                                        <p:tgtEl>
                                          <p:spTgt spid="8"/>
                                        </p:tgtEl>
                                        <p:attrNameLst>
                                          <p:attrName>style.visibility</p:attrName>
                                        </p:attrNameLst>
                                      </p:cBhvr>
                                      <p:to>
                                        <p:strVal val="visible"/>
                                      </p:to>
                                    </p:set>
                                    <p:animEffect transition="in" filter="wipe(left)">
                                      <p:cBhvr>
                                        <p:cTn id="58" dur="500"/>
                                        <p:tgtEl>
                                          <p:spTgt spid="8"/>
                                        </p:tgtEl>
                                      </p:cBhvr>
                                    </p:animEffect>
                                  </p:childTnLst>
                                </p:cTn>
                              </p:par>
                              <p:par>
                                <p:cTn id="59" presetID="22" presetClass="entr" presetSubtype="8" dur="500" fill="hold" grpId="0" nodeType="withEffect">
                                  <p:stCondLst>
                                    <p:cond delay="0"/>
                                  </p:stCondLst>
                                  <p:childTnLst>
                                    <p:set>
                                      <p:cBhvr>
                                        <p:cTn id="60" dur="1" fill="hold">
                                          <p:stCondLst>
                                            <p:cond delay="0"/>
                                          </p:stCondLst>
                                        </p:cTn>
                                        <p:tgtEl>
                                          <p:spTgt spid="5"/>
                                        </p:tgtEl>
                                        <p:attrNameLst>
                                          <p:attrName>style.visibility</p:attrName>
                                        </p:attrNameLst>
                                      </p:cBhvr>
                                      <p:to>
                                        <p:strVal val="visible"/>
                                      </p:to>
                                    </p:set>
                                    <p:animEffect transition="in" filter="wipe(left)">
                                      <p:cBhvr>
                                        <p:cTn id="61" dur="500"/>
                                        <p:tgtEl>
                                          <p:spTgt spid="5"/>
                                        </p:tgtEl>
                                      </p:cBhvr>
                                    </p:animEffect>
                                  </p:childTnLst>
                                </p:cTn>
                              </p:par>
                              <p:par>
                                <p:cTn id="62" presetID="22" presetClass="entr" presetSubtype="8" dur="500" fill="hold" grpId="0" nodeType="withEffect">
                                  <p:stCondLst>
                                    <p:cond delay="0"/>
                                  </p:stCondLst>
                                  <p:childTnLst>
                                    <p:set>
                                      <p:cBhvr>
                                        <p:cTn id="63" dur="1" fill="hold">
                                          <p:stCondLst>
                                            <p:cond delay="0"/>
                                          </p:stCondLst>
                                        </p:cTn>
                                        <p:tgtEl>
                                          <p:spTgt spid="10"/>
                                        </p:tgtEl>
                                        <p:attrNameLst>
                                          <p:attrName>style.visibility</p:attrName>
                                        </p:attrNameLst>
                                      </p:cBhvr>
                                      <p:to>
                                        <p:strVal val="visible"/>
                                      </p:to>
                                    </p:set>
                                    <p:animEffect transition="in" filter="wipe(left)">
                                      <p:cBhvr>
                                        <p:cTn id="64" dur="500"/>
                                        <p:tgtEl>
                                          <p:spTgt spid="10"/>
                                        </p:tgtEl>
                                      </p:cBhvr>
                                    </p:animEffect>
                                  </p:childTnLst>
                                </p:cTn>
                              </p:par>
                            </p:childTnLst>
                          </p:cTn>
                        </p:par>
                      </p:childTnLst>
                    </p:cTn>
                  </p:par>
                  <p:par>
                    <p:cTn id="65" fill="hold">
                      <p:stCondLst>
                        <p:cond delay="indefinite"/>
                      </p:stCondLst>
                      <p:childTnLst>
                        <p:par>
                          <p:cTn id="66" fill="hold">
                            <p:stCondLst>
                              <p:cond delay="0"/>
                            </p:stCondLst>
                            <p:childTnLst>
                              <p:par>
                                <p:cTn id="67" presetID="1" presetClass="entr" presetSubtype="0" dur="1" fill="hold" nodeType="clickEffect">
                                  <p:stCondLst>
                                    <p:cond delay="0"/>
                                  </p:stCondLst>
                                  <p:childTnLst>
                                    <p:set>
                                      <p:cBhvr>
                                        <p:cTn id="6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dur="1" fill="hold" nodeType="clickEffect">
                                  <p:stCondLst>
                                    <p:cond delay="0"/>
                                  </p:stCondLst>
                                  <p:childTnLst>
                                    <p:set>
                                      <p:cBhvr>
                                        <p:cTn id="7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dur="1" fill="hold" nodeType="clickEffect">
                                  <p:stCondLst>
                                    <p:cond delay="0"/>
                                  </p:stCondLst>
                                  <p:childTnLst>
                                    <p:set>
                                      <p:cBhvr>
                                        <p:cTn id="7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9" grpId="0"/>
      <p:bldP spid="10" grpId="0" animBg="1"/>
      <p:bldP spid="12" grpId="0"/>
      <p:bldP spid="13" grpId="0"/>
      <p:bldP spid="14"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22841</TotalTime>
  <Words>4163</Words>
  <Application>Microsoft Macintosh PowerPoint</Application>
  <PresentationFormat>Widescreen</PresentationFormat>
  <Paragraphs>533</Paragraphs>
  <Slides>44</Slides>
  <Notes>8</Notes>
  <HiddenSlides>1</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44</vt:i4>
      </vt:variant>
    </vt:vector>
  </HeadingPairs>
  <TitlesOfParts>
    <vt:vector size="54" baseType="lpstr">
      <vt:lpstr>Arial</vt:lpstr>
      <vt:lpstr>Calibri</vt:lpstr>
      <vt:lpstr>Cambria Math</vt:lpstr>
      <vt:lpstr>Palatino Linotype</vt:lpstr>
      <vt:lpstr>T25</vt:lpstr>
      <vt:lpstr>T37</vt:lpstr>
      <vt:lpstr>Times New Roman</vt:lpstr>
      <vt:lpstr>Wingdings</vt:lpstr>
      <vt:lpstr>ヒラギノ角ゴ Pro W3</vt:lpstr>
      <vt:lpstr>Office Theme</vt:lpstr>
      <vt:lpstr>PowerPoint Presentation</vt:lpstr>
      <vt:lpstr>Course Outcomes</vt:lpstr>
      <vt:lpstr>Syllabus</vt:lpstr>
      <vt:lpstr>Cont..</vt:lpstr>
      <vt:lpstr>Token, Pattern &amp; Lexemes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Specification of tokens</vt:lpstr>
      <vt:lpstr>PowerPoint Presentation</vt:lpstr>
      <vt:lpstr>PowerPoint Presentation</vt:lpstr>
      <vt:lpstr>PowerPoint Presentation</vt:lpstr>
      <vt:lpstr>PowerPoint Presentation</vt:lpstr>
      <vt:lpstr>Regular Expression &amp; Regular Definition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Transition Diagram</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Mathematical Logic And Algebraic Structures</dc:title>
  <dc:creator>HP</dc:creator>
  <cp:lastModifiedBy>Apoorva Karnwal</cp:lastModifiedBy>
  <cp:revision>699</cp:revision>
  <dcterms:created xsi:type="dcterms:W3CDTF">2020-07-30T09:53:05Z</dcterms:created>
  <dcterms:modified xsi:type="dcterms:W3CDTF">2024-11-27T13:44:31Z</dcterms:modified>
</cp:coreProperties>
</file>