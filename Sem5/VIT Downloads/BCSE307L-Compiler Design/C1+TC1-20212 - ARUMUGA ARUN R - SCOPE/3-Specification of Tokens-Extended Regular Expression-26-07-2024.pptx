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284" r:id="rId2"/>
    <p:sldId id="708" r:id="rId3"/>
    <p:sldId id="497" r:id="rId4"/>
    <p:sldId id="498" r:id="rId5"/>
    <p:sldId id="756" r:id="rId6"/>
    <p:sldId id="784" r:id="rId7"/>
    <p:sldId id="785" r:id="rId8"/>
    <p:sldId id="786" r:id="rId9"/>
    <p:sldId id="787" r:id="rId10"/>
    <p:sldId id="788" r:id="rId11"/>
    <p:sldId id="789" r:id="rId12"/>
    <p:sldId id="800" r:id="rId13"/>
    <p:sldId id="790" r:id="rId14"/>
    <p:sldId id="791" r:id="rId15"/>
    <p:sldId id="792" r:id="rId16"/>
    <p:sldId id="793" r:id="rId17"/>
    <p:sldId id="794" r:id="rId18"/>
    <p:sldId id="795" r:id="rId19"/>
    <p:sldId id="801" r:id="rId20"/>
    <p:sldId id="802" r:id="rId21"/>
    <p:sldId id="803" r:id="rId22"/>
    <p:sldId id="804" r:id="rId23"/>
    <p:sldId id="805" r:id="rId24"/>
    <p:sldId id="806" r:id="rId25"/>
    <p:sldId id="807" r:id="rId26"/>
    <p:sldId id="840" r:id="rId27"/>
    <p:sldId id="809" r:id="rId28"/>
    <p:sldId id="810" r:id="rId29"/>
    <p:sldId id="811" r:id="rId30"/>
    <p:sldId id="812" r:id="rId31"/>
    <p:sldId id="813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3842" autoAdjust="0"/>
  </p:normalViewPr>
  <p:slideViewPr>
    <p:cSldViewPr snapToGrid="0">
      <p:cViewPr varScale="1">
        <p:scale>
          <a:sx n="74" d="100"/>
          <a:sy n="74" d="100"/>
        </p:scale>
        <p:origin x="965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565BBB-9053-4FB2-B204-6D5C221D5451}" type="datetimeFigureOut">
              <a:rPr lang="en-IN" smtClean="0"/>
              <a:t>23-07-2024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B192C4-1362-4BBE-9949-F6525E9539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0359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B192C4-1362-4BBE-9949-F6525E953936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42504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2006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Costas Busch - RPI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42542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2006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Costas Busch - RPI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51138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2006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Costas Busch - RPI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2023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2006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Costas Busch - RPI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0175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2006</a:t>
            </a:r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Costas Busch - RPI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36885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2006</a:t>
            </a:r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Costas Busch - RPI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78181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2006</a:t>
            </a:r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Costas Busch - RPI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018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2006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Costas Busch - RPI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34580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2006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Costas Busch - RPI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5866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2006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Costas Busch - RPI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55723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2006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Costas Busch - RPI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98607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Palatino Linotype" panose="02040502050505030304" pitchFamily="18" charset="0"/>
              </a:defRPr>
            </a:lvl1pPr>
          </a:lstStyle>
          <a:p>
            <a:r>
              <a:rPr lang="en-US"/>
              <a:t>Fall 2006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Palatino Linotype" panose="02040502050505030304" pitchFamily="18" charset="0"/>
              </a:defRPr>
            </a:lvl1pPr>
          </a:lstStyle>
          <a:p>
            <a:r>
              <a:rPr lang="en-IN"/>
              <a:t>Costas Busch - RPI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Palatino Linotype" panose="02040502050505030304" pitchFamily="18" charset="0"/>
              </a:defRPr>
            </a:lvl1pPr>
          </a:lstStyle>
          <a:p>
            <a:fld id="{9C8CFCD6-D300-4021-B6CE-49872693289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65786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C00000"/>
          </a:solidFill>
          <a:latin typeface="Palatino Linotype" panose="02040502050505030304" pitchFamily="18" charset="0"/>
          <a:ea typeface="+mj-ea"/>
          <a:cs typeface="+mj-cs"/>
        </a:defRPr>
      </a:lvl1pPr>
    </p:titleStyle>
    <p:bodyStyle>
      <a:lvl1pPr marL="228600" indent="-228600" algn="just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alatino Linotype" panose="02040502050505030304" pitchFamily="18" charset="0"/>
          <a:ea typeface="+mn-ea"/>
          <a:cs typeface="+mn-cs"/>
        </a:defRPr>
      </a:lvl1pPr>
      <a:lvl2pPr marL="6858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alatino Linotype" panose="02040502050505030304" pitchFamily="18" charset="0"/>
          <a:ea typeface="+mn-ea"/>
          <a:cs typeface="+mn-cs"/>
        </a:defRPr>
      </a:lvl2pPr>
      <a:lvl3pPr marL="11430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alatino Linotype" panose="02040502050505030304" pitchFamily="18" charset="0"/>
          <a:ea typeface="+mn-ea"/>
          <a:cs typeface="+mn-cs"/>
        </a:defRPr>
      </a:lvl3pPr>
      <a:lvl4pPr marL="16002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alatino Linotype" panose="02040502050505030304" pitchFamily="18" charset="0"/>
          <a:ea typeface="+mn-ea"/>
          <a:cs typeface="+mn-cs"/>
        </a:defRPr>
      </a:lvl4pPr>
      <a:lvl5pPr marL="20574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alatino Linotype" panose="02040502050505030304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png"/><Relationship Id="rId3" Type="http://schemas.openxmlformats.org/officeDocument/2006/relationships/image" Target="../media/image82.png"/><Relationship Id="rId7" Type="http://schemas.openxmlformats.org/officeDocument/2006/relationships/image" Target="../media/image86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5.png"/><Relationship Id="rId5" Type="http://schemas.openxmlformats.org/officeDocument/2006/relationships/image" Target="../media/image84.png"/><Relationship Id="rId4" Type="http://schemas.openxmlformats.org/officeDocument/2006/relationships/image" Target="../media/image83.png"/><Relationship Id="rId9" Type="http://schemas.openxmlformats.org/officeDocument/2006/relationships/image" Target="../media/image8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png"/><Relationship Id="rId3" Type="http://schemas.openxmlformats.org/officeDocument/2006/relationships/image" Target="../media/image90.png"/><Relationship Id="rId7" Type="http://schemas.openxmlformats.org/officeDocument/2006/relationships/image" Target="../media/image94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3.png"/><Relationship Id="rId5" Type="http://schemas.openxmlformats.org/officeDocument/2006/relationships/image" Target="../media/image92.png"/><Relationship Id="rId4" Type="http://schemas.openxmlformats.org/officeDocument/2006/relationships/image" Target="../media/image91.png"/><Relationship Id="rId9" Type="http://schemas.openxmlformats.org/officeDocument/2006/relationships/image" Target="../media/image9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png"/><Relationship Id="rId3" Type="http://schemas.openxmlformats.org/officeDocument/2006/relationships/image" Target="../media/image98.png"/><Relationship Id="rId7" Type="http://schemas.openxmlformats.org/officeDocument/2006/relationships/image" Target="../media/image102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1.png"/><Relationship Id="rId5" Type="http://schemas.openxmlformats.org/officeDocument/2006/relationships/image" Target="../media/image100.png"/><Relationship Id="rId10" Type="http://schemas.openxmlformats.org/officeDocument/2006/relationships/image" Target="../media/image105.png"/><Relationship Id="rId4" Type="http://schemas.openxmlformats.org/officeDocument/2006/relationships/image" Target="../media/image99.png"/><Relationship Id="rId9" Type="http://schemas.openxmlformats.org/officeDocument/2006/relationships/image" Target="../media/image10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9.png"/><Relationship Id="rId4" Type="http://schemas.openxmlformats.org/officeDocument/2006/relationships/image" Target="../media/image10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5.png"/><Relationship Id="rId5" Type="http://schemas.openxmlformats.org/officeDocument/2006/relationships/image" Target="../media/image114.png"/><Relationship Id="rId4" Type="http://schemas.openxmlformats.org/officeDocument/2006/relationships/image" Target="../media/image113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4.png"/><Relationship Id="rId3" Type="http://schemas.openxmlformats.org/officeDocument/2006/relationships/image" Target="../media/image119.png"/><Relationship Id="rId7" Type="http://schemas.openxmlformats.org/officeDocument/2006/relationships/image" Target="../media/image123.png"/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2.png"/><Relationship Id="rId5" Type="http://schemas.openxmlformats.org/officeDocument/2006/relationships/image" Target="../media/image121.png"/><Relationship Id="rId4" Type="http://schemas.openxmlformats.org/officeDocument/2006/relationships/image" Target="../media/image1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906879"/>
            <a:ext cx="9144000" cy="1655762"/>
          </a:xfrm>
        </p:spPr>
        <p:txBody>
          <a:bodyPr>
            <a:normAutofit/>
          </a:bodyPr>
          <a:lstStyle/>
          <a:p>
            <a:r>
              <a:rPr lang="en-IN" sz="4400" b="1" dirty="0">
                <a:solidFill>
                  <a:srgbClr val="C00000"/>
                </a:solidFill>
              </a:rPr>
              <a:t>BCSE307L – COMPILER DESIGN</a:t>
            </a:r>
          </a:p>
        </p:txBody>
      </p:sp>
    </p:spTree>
    <p:extLst>
      <p:ext uri="{BB962C8B-B14F-4D97-AF65-F5344CB8AC3E}">
        <p14:creationId xmlns:p14="http://schemas.microsoft.com/office/powerpoint/2010/main" val="42620369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15808-A4D0-1DCE-4975-C31A5D20E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4335"/>
            <a:ext cx="10515600" cy="893404"/>
          </a:xfrm>
        </p:spPr>
        <p:txBody>
          <a:bodyPr/>
          <a:lstStyle/>
          <a:p>
            <a:r>
              <a:rPr lang="en-US" dirty="0"/>
              <a:t>Course Outcomes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CC7AFF-9422-C088-BBE7-58F38C518F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8528"/>
            <a:ext cx="10515600" cy="4518817"/>
          </a:xfrm>
        </p:spPr>
        <p:txBody>
          <a:bodyPr>
            <a:normAutofit/>
          </a:bodyPr>
          <a:lstStyle/>
          <a:p>
            <a:pPr marL="514350" lvl="0" indent="-514350">
              <a:buFont typeface="+mj-lt"/>
              <a:buAutoNum type="arabicPeriod"/>
            </a:pPr>
            <a:r>
              <a:rPr lang="en-US" dirty="0"/>
              <a:t>Apply the skills on devising, selecting, and using tools and techniques towards compiler design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/>
              <a:t>Develop language specifications using context free grammars (CFG).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/>
              <a:t>Apply the ideas, the techniques, and the knowledge acquired for the purpose of developing software systems.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/>
              <a:t>Constructing symbol tables and generating intermediate code.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/>
              <a:t>Obtain insights on compiler optimization and code generation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936621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24CFE-7D5D-803D-11F0-E00E70B86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8984"/>
            <a:ext cx="10515600" cy="736088"/>
          </a:xfrm>
        </p:spPr>
        <p:txBody>
          <a:bodyPr/>
          <a:lstStyle/>
          <a:p>
            <a:r>
              <a:rPr lang="en-IN" dirty="0"/>
              <a:t>Syllabus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5FEACA-8421-C39E-AFD4-95A3CEED51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75072"/>
            <a:ext cx="10515600" cy="5982928"/>
          </a:xfrm>
        </p:spPr>
        <p:txBody>
          <a:bodyPr>
            <a:normAutofit/>
          </a:bodyPr>
          <a:lstStyle/>
          <a:p>
            <a:r>
              <a:rPr lang="en-US" sz="2000" b="1" i="0" u="none" strike="noStrike" baseline="0" dirty="0">
                <a:solidFill>
                  <a:srgbClr val="0070C0"/>
                </a:solidFill>
              </a:rPr>
              <a:t>Module: 1 Introduction to Compilation and Lexical Analysis </a:t>
            </a:r>
            <a:r>
              <a:rPr lang="en-IN" sz="2000" b="1" i="0" u="none" strike="noStrike" baseline="0" dirty="0">
                <a:solidFill>
                  <a:srgbClr val="0070C0"/>
                </a:solidFill>
              </a:rPr>
              <a:t>7 hours </a:t>
            </a:r>
            <a:endParaRPr lang="en-US" sz="2000" b="1" i="0" u="none" strike="noStrike" baseline="0" dirty="0">
              <a:solidFill>
                <a:srgbClr val="0070C0"/>
              </a:solidFill>
            </a:endParaRPr>
          </a:p>
          <a:p>
            <a:pPr lvl="1"/>
            <a:r>
              <a:rPr lang="en-US" sz="2000" b="0" i="0" u="none" strike="noStrike" baseline="0" dirty="0">
                <a:solidFill>
                  <a:srgbClr val="000000"/>
                </a:solidFill>
              </a:rPr>
              <a:t>Introduction to LLVM - Structure and Phases of a Compiler-Design Issues-Patterns Lexemes-Tokens-Attributes-Specification of Tokens-Extended Regular Expression- Regular expression to Deterministic Finite Automata (Direct method) - Lex - A Lexical Analyzer Generator</a:t>
            </a:r>
          </a:p>
          <a:p>
            <a:r>
              <a:rPr lang="en-IN" sz="2000" b="1" i="0" u="none" strike="noStrike" baseline="0" dirty="0">
                <a:solidFill>
                  <a:srgbClr val="0070C0"/>
                </a:solidFill>
              </a:rPr>
              <a:t>Module: 2 Syntax Analysis 8 hours </a:t>
            </a:r>
            <a:endParaRPr lang="en-IN" sz="2000" dirty="0">
              <a:solidFill>
                <a:srgbClr val="0070C0"/>
              </a:solidFill>
            </a:endParaRPr>
          </a:p>
          <a:p>
            <a:pPr lvl="1"/>
            <a:r>
              <a:rPr lang="it-IT" sz="2000" b="0" i="0" u="none" strike="noStrike" baseline="0" dirty="0">
                <a:solidFill>
                  <a:srgbClr val="000000"/>
                </a:solidFill>
              </a:rPr>
              <a:t>Role of Parser- Parse Tree - Elimination of Ambiguity – Top Down Parsing – Recursive Descent Parsing - LL (1) Grammars – Shift Reduce Parsers- Operator Precedence Parsing - LR Parsers, Construction of SLR Parser Tables and Parsing- CLR Parsing- LALR Parsing</a:t>
            </a:r>
          </a:p>
          <a:p>
            <a:r>
              <a:rPr lang="en-US" sz="2000" b="1" i="0" u="none" strike="noStrike" baseline="0" dirty="0">
                <a:solidFill>
                  <a:srgbClr val="0070C0"/>
                </a:solidFill>
              </a:rPr>
              <a:t>Module: 3 Semantic Analysis 5 hours </a:t>
            </a:r>
            <a:endParaRPr lang="en-US" sz="2000" dirty="0">
              <a:solidFill>
                <a:srgbClr val="0070C0"/>
              </a:solidFill>
            </a:endParaRPr>
          </a:p>
          <a:p>
            <a:pPr lvl="1"/>
            <a:r>
              <a:rPr lang="en-US" sz="2000" b="0" i="0" u="none" strike="noStrike" baseline="0" dirty="0">
                <a:solidFill>
                  <a:srgbClr val="000000"/>
                </a:solidFill>
              </a:rPr>
              <a:t>Syntax Directed Definition – Evaluation Order - Applications of Syntax Directed Translation - Syntax Directed Translation Schemes - Implementation of L-attributed Syntax Directed Definition</a:t>
            </a:r>
          </a:p>
          <a:p>
            <a:r>
              <a:rPr lang="en-US" sz="2000" b="1" i="0" u="none" strike="noStrike" baseline="0" dirty="0">
                <a:solidFill>
                  <a:srgbClr val="0070C0"/>
                </a:solidFill>
              </a:rPr>
              <a:t>Module: 4 Intermediate Code Generation 5 hours </a:t>
            </a:r>
          </a:p>
          <a:p>
            <a:pPr lvl="1"/>
            <a:r>
              <a:rPr lang="en-US" sz="2000" b="0" i="0" u="none" strike="noStrike" baseline="0" dirty="0">
                <a:solidFill>
                  <a:srgbClr val="000000"/>
                </a:solidFill>
              </a:rPr>
              <a:t>Variants of Syntax trees - Three Address Code- Types – Declarations - Procedures - Assignment Statements - Translation of Expressions - Control Flow - Back Patching- Switch Case Statements.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3177278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24CFE-7D5D-803D-11F0-E00E70B86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8984"/>
            <a:ext cx="10515600" cy="736088"/>
          </a:xfrm>
        </p:spPr>
        <p:txBody>
          <a:bodyPr/>
          <a:lstStyle/>
          <a:p>
            <a:r>
              <a:rPr lang="en-IN" dirty="0"/>
              <a:t>Cont..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5FEACA-8421-C39E-AFD4-95A3CEED51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75072"/>
            <a:ext cx="10515600" cy="5982928"/>
          </a:xfrm>
        </p:spPr>
        <p:txBody>
          <a:bodyPr>
            <a:normAutofit/>
          </a:bodyPr>
          <a:lstStyle/>
          <a:p>
            <a:r>
              <a:rPr lang="en-US" sz="2000" b="0" i="0" u="none" strike="noStrike" baseline="0" dirty="0">
                <a:solidFill>
                  <a:srgbClr val="0070C0"/>
                </a:solidFill>
              </a:rPr>
              <a:t> </a:t>
            </a:r>
            <a:r>
              <a:rPr lang="en-US" sz="2000" b="1" i="0" u="none" strike="noStrike" baseline="0" dirty="0">
                <a:solidFill>
                  <a:srgbClr val="0070C0"/>
                </a:solidFill>
              </a:rPr>
              <a:t>Module: 5 Code Optimization 6 hours </a:t>
            </a:r>
            <a:endParaRPr lang="en-US" sz="2000" dirty="0">
              <a:solidFill>
                <a:srgbClr val="0070C0"/>
              </a:solidFill>
            </a:endParaRPr>
          </a:p>
          <a:p>
            <a:pPr lvl="1"/>
            <a:r>
              <a:rPr lang="en-US" sz="2000" b="0" i="0" u="none" strike="noStrike" baseline="0" dirty="0">
                <a:solidFill>
                  <a:srgbClr val="000000"/>
                </a:solidFill>
              </a:rPr>
              <a:t>Loop optimizations- Principal Sources of Optimization -Introduction to Data Flow Analysis - Basic Blocks - Optimization of Basic Blocks - Peephole Optimization- The DAG Representation of Basic Blocks -Loops in Flow Graphs - Machine Independent Optimization Implementation of a naïve code generator for a virtual Machine- Security checking of virtual machine code</a:t>
            </a:r>
          </a:p>
          <a:p>
            <a:r>
              <a:rPr lang="en-US" sz="2000" b="1" i="0" u="none" strike="noStrike" baseline="0" dirty="0">
                <a:solidFill>
                  <a:srgbClr val="0070C0"/>
                </a:solidFill>
              </a:rPr>
              <a:t>Module: 6 Code Generation 5 hours 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</a:p>
          <a:p>
            <a:pPr lvl="1"/>
            <a:r>
              <a:rPr lang="en-US" sz="2000" b="0" i="0" u="none" strike="noStrike" baseline="0" dirty="0">
                <a:solidFill>
                  <a:srgbClr val="000000"/>
                </a:solidFill>
              </a:rPr>
              <a:t>Issues in the design of a code generator- Target Machine- Next-Use Information – Register Allocation and Assignment- Runtime Organization- Activation Records.</a:t>
            </a:r>
          </a:p>
          <a:p>
            <a:r>
              <a:rPr lang="en-US" sz="2000" b="1" i="0" u="none" strike="noStrike" baseline="0" dirty="0">
                <a:solidFill>
                  <a:srgbClr val="0070C0"/>
                </a:solidFill>
              </a:rPr>
              <a:t>Module: 7 </a:t>
            </a:r>
            <a:r>
              <a:rPr lang="en-IN" sz="2000" b="1" i="0" u="none" strike="noStrike" baseline="0" dirty="0">
                <a:solidFill>
                  <a:srgbClr val="0070C0"/>
                </a:solidFill>
              </a:rPr>
              <a:t>Parallelism 7 hours </a:t>
            </a:r>
            <a:endParaRPr lang="en-IN" sz="2000" dirty="0">
              <a:solidFill>
                <a:srgbClr val="0070C0"/>
              </a:solidFill>
            </a:endParaRPr>
          </a:p>
          <a:p>
            <a:pPr lvl="1"/>
            <a:r>
              <a:rPr lang="en-US" sz="2000" b="0" i="0" u="none" strike="noStrike" baseline="0" dirty="0">
                <a:solidFill>
                  <a:srgbClr val="000000"/>
                </a:solidFill>
              </a:rPr>
              <a:t>Parallelization- Automatic Parallelization- Optimizations for Cache Locality and Vectorization- Domain Specific Languages-Compilation- Instruction Scheduling and Software Pipelining- Impact of Language Design and Architecture Evolution on Compilers Static Single Assignment</a:t>
            </a:r>
          </a:p>
          <a:p>
            <a:r>
              <a:rPr lang="en-US" sz="2000" b="1" i="0" u="none" strike="noStrike" baseline="0" dirty="0">
                <a:solidFill>
                  <a:srgbClr val="0070C0"/>
                </a:solidFill>
              </a:rPr>
              <a:t>Module: 8 Contemporary Issues 2 hours </a:t>
            </a:r>
            <a:endParaRPr lang="en-IN" sz="20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00583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1A758-A530-F454-DF44-B022DC32B31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Finite Automata</a:t>
            </a:r>
          </a:p>
        </p:txBody>
      </p:sp>
    </p:spTree>
    <p:extLst>
      <p:ext uri="{BB962C8B-B14F-4D97-AF65-F5344CB8AC3E}">
        <p14:creationId xmlns:p14="http://schemas.microsoft.com/office/powerpoint/2010/main" val="7401717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ED6E5-7E4A-0292-CFFE-26CD8BF03C02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 dirty="0"/>
              <a:t>Finite Automata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89B43E9-F607-C642-3FC0-0440D93C8DD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80" y="863444"/>
                <a:ext cx="11929641" cy="5590565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1pPr>
                <a:lvl2pPr marL="6858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zh-TW"/>
                  <a:t>Finite Automata are recognizers.</a:t>
                </a:r>
              </a:p>
              <a:p>
                <a:pPr lvl="1"/>
                <a:r>
                  <a:rPr lang="en-US" altLang="zh-TW"/>
                  <a:t>FA simply say “Yes” or “No” about each possible input string.</a:t>
                </a:r>
              </a:p>
              <a:p>
                <a:r>
                  <a:rPr lang="en-US"/>
                  <a:t>Finite Automata is a mathematical model consist of:</a:t>
                </a:r>
              </a:p>
              <a:p>
                <a:pPr marL="914400" indent="-457200">
                  <a:buFont typeface="+mj-lt"/>
                  <a:buAutoNum type="arabicPeriod"/>
                </a:pPr>
                <a:r>
                  <a:rPr lang="en-US"/>
                  <a:t> Set of states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endParaRPr lang="en-US"/>
              </a:p>
              <a:p>
                <a:pPr marL="914400" indent="-457200">
                  <a:buFont typeface="+mj-lt"/>
                  <a:buAutoNum type="arabicPeriod"/>
                </a:pPr>
                <a:r>
                  <a:rPr lang="en-US"/>
                  <a:t> Set of input symbol </a:t>
                </a:r>
                <a14:m>
                  <m:oMath xmlns:m="http://schemas.openxmlformats.org/officeDocument/2006/math">
                    <m:r>
                      <a:rPr lang="el-GR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𝜮</m:t>
                    </m:r>
                  </m:oMath>
                </a14:m>
                <a:endParaRPr lang="en-US" b="1"/>
              </a:p>
              <a:p>
                <a:pPr marL="914400" indent="-457200">
                  <a:buFont typeface="+mj-lt"/>
                  <a:buAutoNum type="arabicPeriod"/>
                </a:pPr>
                <a:r>
                  <a:rPr lang="en-US"/>
                  <a:t> A transition function </a:t>
                </a:r>
                <a:r>
                  <a:rPr lang="en-US" b="1" i="1">
                    <a:solidFill>
                      <a:srgbClr val="C00000"/>
                    </a:solidFill>
                  </a:rPr>
                  <a:t>move</a:t>
                </a:r>
              </a:p>
              <a:p>
                <a:pPr marL="914400" indent="-457200">
                  <a:buFont typeface="+mj-lt"/>
                  <a:buAutoNum type="arabicPeriod"/>
                </a:pPr>
                <a:r>
                  <a:rPr lang="en-US"/>
                  <a:t> Initial state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b="1" i="1" baseline="-2500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US" b="1" baseline="-25000"/>
              </a:p>
              <a:p>
                <a:pPr marL="914400" indent="-457200">
                  <a:buFont typeface="+mj-lt"/>
                  <a:buAutoNum type="arabicPeriod"/>
                </a:pPr>
                <a:r>
                  <a:rPr lang="en-US"/>
                  <a:t> Final states or accepting states </a:t>
                </a:r>
                <a14:m>
                  <m:oMath xmlns:m="http://schemas.openxmlformats.org/officeDocument/2006/math">
                    <m:r>
                      <a:rPr lang="en-US" b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𝐅</m:t>
                    </m:r>
                  </m:oMath>
                </a14:m>
                <a:endParaRPr lang="en-US" b="1"/>
              </a:p>
              <a:p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89B43E9-F607-C642-3FC0-0440D93C8D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80" y="863444"/>
                <a:ext cx="11929641" cy="5590565"/>
              </a:xfrm>
              <a:prstGeom prst="rect">
                <a:avLst/>
              </a:prstGeom>
              <a:blipFill>
                <a:blip r:embed="rId2"/>
                <a:stretch>
                  <a:fillRect l="-920" t="-207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55010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8463B9-B1C2-AB7F-37FD-4459D1B77371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Types of finite automata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D3148A-D0D8-9FED-AFB9-EFDC1959B082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Types of finite automata are:</a:t>
            </a:r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6490DB41-85D8-F0FA-70F4-EC0074688841}"/>
                  </a:ext>
                </a:extLst>
              </p:cNvPr>
              <p:cNvSpPr txBox="1"/>
              <p:nvPr/>
            </p:nvSpPr>
            <p:spPr>
              <a:xfrm>
                <a:off x="142901" y="4322169"/>
                <a:ext cx="5883253" cy="212445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rgbClr val="0E47A1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E47A1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E47A1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E47A1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E47A1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>
                    <a:solidFill>
                      <a:srgbClr val="0E47A1"/>
                    </a:solidFill>
                  </a:rPr>
                  <a:t>Nondeterministic finite automata (NFA): </a:t>
                </a:r>
                <a:r>
                  <a:rPr lang="en-US" dirty="0"/>
                  <a:t>There are </a:t>
                </a:r>
                <a:r>
                  <a:rPr lang="en-US" dirty="0">
                    <a:solidFill>
                      <a:srgbClr val="C00000"/>
                    </a:solidFill>
                  </a:rPr>
                  <a:t>no restrictions </a:t>
                </a:r>
                <a:r>
                  <a:rPr lang="en-US" dirty="0"/>
                  <a:t>on the edges leaving a state. There can be </a:t>
                </a:r>
                <a:r>
                  <a:rPr lang="en-US" dirty="0">
                    <a:solidFill>
                      <a:srgbClr val="C00000"/>
                    </a:solidFill>
                  </a:rPr>
                  <a:t>several with the same symbol as label </a:t>
                </a:r>
                <a:r>
                  <a:rPr lang="en-US" dirty="0"/>
                  <a:t>and some edges can be labeled with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/>
                  <a:t>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6490DB41-85D8-F0FA-70F4-EC00746888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901" y="4322169"/>
                <a:ext cx="5883253" cy="2124455"/>
              </a:xfrm>
              <a:prstGeom prst="rect">
                <a:avLst/>
              </a:prstGeom>
              <a:blipFill>
                <a:blip r:embed="rId2"/>
                <a:stretch>
                  <a:fillRect l="-1449" t="-4011" r="-155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Oval 4">
            <a:extLst>
              <a:ext uri="{FF2B5EF4-FFF2-40B4-BE49-F238E27FC236}">
                <a16:creationId xmlns:a16="http://schemas.microsoft.com/office/drawing/2014/main" id="{5D2E61BD-2126-574C-F7D5-1E5DD860A570}"/>
              </a:ext>
            </a:extLst>
          </p:cNvPr>
          <p:cNvSpPr/>
          <p:nvPr/>
        </p:nvSpPr>
        <p:spPr>
          <a:xfrm>
            <a:off x="7957163" y="5061234"/>
            <a:ext cx="457200" cy="457200"/>
          </a:xfrm>
          <a:prstGeom prst="ellipse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latin typeface="+mj-lt"/>
              </a:rPr>
              <a:t>1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5624B52-F1E7-59BE-7751-4CA488B2B7F6}"/>
              </a:ext>
            </a:extLst>
          </p:cNvPr>
          <p:cNvSpPr/>
          <p:nvPr/>
        </p:nvSpPr>
        <p:spPr>
          <a:xfrm>
            <a:off x="8979652" y="5061234"/>
            <a:ext cx="457200" cy="457200"/>
          </a:xfrm>
          <a:prstGeom prst="ellipse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latin typeface="+mj-lt"/>
              </a:rPr>
              <a:t>2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205C89C-1698-6F9A-062B-0B827B76C937}"/>
              </a:ext>
            </a:extLst>
          </p:cNvPr>
          <p:cNvSpPr/>
          <p:nvPr/>
        </p:nvSpPr>
        <p:spPr>
          <a:xfrm>
            <a:off x="9990521" y="5071216"/>
            <a:ext cx="457200" cy="457200"/>
          </a:xfrm>
          <a:prstGeom prst="ellipse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latin typeface="+mj-lt"/>
              </a:rPr>
              <a:t>3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3505C9A-DCA4-9DAE-7B46-DED304381AE1}"/>
              </a:ext>
            </a:extLst>
          </p:cNvPr>
          <p:cNvSpPr/>
          <p:nvPr/>
        </p:nvSpPr>
        <p:spPr>
          <a:xfrm>
            <a:off x="10979148" y="5061234"/>
            <a:ext cx="457200" cy="457200"/>
          </a:xfrm>
          <a:prstGeom prst="ellipse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latin typeface="+mj-lt"/>
              </a:rPr>
              <a:t>4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C0AD7EA-95D1-4850-EBDE-469CEBEBD0B3}"/>
              </a:ext>
            </a:extLst>
          </p:cNvPr>
          <p:cNvCxnSpPr/>
          <p:nvPr/>
        </p:nvCxnSpPr>
        <p:spPr>
          <a:xfrm>
            <a:off x="7397647" y="5289834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79ABC4E-3812-9037-B309-6C239CA98E61}"/>
              </a:ext>
            </a:extLst>
          </p:cNvPr>
          <p:cNvCxnSpPr/>
          <p:nvPr/>
        </p:nvCxnSpPr>
        <p:spPr>
          <a:xfrm>
            <a:off x="8414407" y="5299816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17271499-1B82-464E-1B56-D45A3F39FC33}"/>
              </a:ext>
            </a:extLst>
          </p:cNvPr>
          <p:cNvSpPr/>
          <p:nvPr/>
        </p:nvSpPr>
        <p:spPr>
          <a:xfrm>
            <a:off x="8486993" y="4945675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a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AF92695-424F-5963-9F67-1F291000FFB4}"/>
              </a:ext>
            </a:extLst>
          </p:cNvPr>
          <p:cNvCxnSpPr/>
          <p:nvPr/>
        </p:nvCxnSpPr>
        <p:spPr>
          <a:xfrm>
            <a:off x="9441913" y="5292044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1693D038-37FC-2AB1-709A-04CA5FF15B42}"/>
              </a:ext>
            </a:extLst>
          </p:cNvPr>
          <p:cNvSpPr/>
          <p:nvPr/>
        </p:nvSpPr>
        <p:spPr>
          <a:xfrm>
            <a:off x="9551140" y="4945675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b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E2066EA-1D41-01DF-B09A-9A6DF221542A}"/>
              </a:ext>
            </a:extLst>
          </p:cNvPr>
          <p:cNvCxnSpPr/>
          <p:nvPr/>
        </p:nvCxnSpPr>
        <p:spPr>
          <a:xfrm>
            <a:off x="10447189" y="5291063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3FC3F22B-B2EC-6EE7-44A9-E27C728A5BC1}"/>
              </a:ext>
            </a:extLst>
          </p:cNvPr>
          <p:cNvSpPr/>
          <p:nvPr/>
        </p:nvSpPr>
        <p:spPr>
          <a:xfrm>
            <a:off x="10547743" y="4945675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b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1BCB27A-955F-C596-E2A3-165228F5311F}"/>
              </a:ext>
            </a:extLst>
          </p:cNvPr>
          <p:cNvSpPr/>
          <p:nvPr/>
        </p:nvSpPr>
        <p:spPr>
          <a:xfrm>
            <a:off x="11047728" y="5129814"/>
            <a:ext cx="320040" cy="32004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cxnSp>
        <p:nvCxnSpPr>
          <p:cNvPr id="17" name="Curved Connector 16">
            <a:extLst>
              <a:ext uri="{FF2B5EF4-FFF2-40B4-BE49-F238E27FC236}">
                <a16:creationId xmlns:a16="http://schemas.microsoft.com/office/drawing/2014/main" id="{7E3F850E-C446-E92B-25CF-B1E7223DE571}"/>
              </a:ext>
            </a:extLst>
          </p:cNvPr>
          <p:cNvCxnSpPr/>
          <p:nvPr/>
        </p:nvCxnSpPr>
        <p:spPr>
          <a:xfrm rot="16200000" flipV="1">
            <a:off x="8201805" y="4998628"/>
            <a:ext cx="12700" cy="323290"/>
          </a:xfrm>
          <a:prstGeom prst="curvedConnector3">
            <a:avLst>
              <a:gd name="adj1" fmla="val 3902205"/>
            </a:avLst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urved Connector 17">
            <a:extLst>
              <a:ext uri="{FF2B5EF4-FFF2-40B4-BE49-F238E27FC236}">
                <a16:creationId xmlns:a16="http://schemas.microsoft.com/office/drawing/2014/main" id="{436A6C02-1500-4219-A0F7-11AB40B7860F}"/>
              </a:ext>
            </a:extLst>
          </p:cNvPr>
          <p:cNvCxnSpPr/>
          <p:nvPr/>
        </p:nvCxnSpPr>
        <p:spPr>
          <a:xfrm rot="5400000" flipV="1">
            <a:off x="8173600" y="5272139"/>
            <a:ext cx="12700" cy="323290"/>
          </a:xfrm>
          <a:prstGeom prst="curvedConnector3">
            <a:avLst>
              <a:gd name="adj1" fmla="val 3902205"/>
            </a:avLst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D9FDCA93-B34A-D61D-883B-761CD60D30C6}"/>
              </a:ext>
            </a:extLst>
          </p:cNvPr>
          <p:cNvSpPr/>
          <p:nvPr/>
        </p:nvSpPr>
        <p:spPr>
          <a:xfrm>
            <a:off x="8011550" y="4327875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a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11E0759-7FE7-0700-D5BE-9BBFAC5352C5}"/>
              </a:ext>
            </a:extLst>
          </p:cNvPr>
          <p:cNvSpPr/>
          <p:nvPr/>
        </p:nvSpPr>
        <p:spPr>
          <a:xfrm>
            <a:off x="8018304" y="5952538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b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A4565DF1-B1BB-423C-79F0-0170FE7A2FC5}"/>
              </a:ext>
            </a:extLst>
          </p:cNvPr>
          <p:cNvSpPr/>
          <p:nvPr/>
        </p:nvSpPr>
        <p:spPr>
          <a:xfrm>
            <a:off x="7842874" y="2552070"/>
            <a:ext cx="457200" cy="457200"/>
          </a:xfrm>
          <a:prstGeom prst="ellipse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latin typeface="+mj-lt"/>
              </a:rPr>
              <a:t>1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48B8804A-61E7-9F65-8E60-1A3110851D6A}"/>
              </a:ext>
            </a:extLst>
          </p:cNvPr>
          <p:cNvSpPr/>
          <p:nvPr/>
        </p:nvSpPr>
        <p:spPr>
          <a:xfrm>
            <a:off x="8865363" y="2552070"/>
            <a:ext cx="457200" cy="457200"/>
          </a:xfrm>
          <a:prstGeom prst="ellipse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latin typeface="+mj-lt"/>
              </a:rPr>
              <a:t>2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403D47E4-4175-B235-8532-51C2C9446768}"/>
              </a:ext>
            </a:extLst>
          </p:cNvPr>
          <p:cNvSpPr/>
          <p:nvPr/>
        </p:nvSpPr>
        <p:spPr>
          <a:xfrm>
            <a:off x="9908316" y="2562052"/>
            <a:ext cx="457200" cy="457200"/>
          </a:xfrm>
          <a:prstGeom prst="ellipse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latin typeface="+mj-lt"/>
              </a:rPr>
              <a:t>3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735D438B-DC1E-D95E-7FD9-94F299E44554}"/>
              </a:ext>
            </a:extLst>
          </p:cNvPr>
          <p:cNvSpPr/>
          <p:nvPr/>
        </p:nvSpPr>
        <p:spPr>
          <a:xfrm>
            <a:off x="10945069" y="2552070"/>
            <a:ext cx="457200" cy="457200"/>
          </a:xfrm>
          <a:prstGeom prst="ellipse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latin typeface="+mj-lt"/>
              </a:rPr>
              <a:t>4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E255B4C-04A1-72B6-B968-AC1B5952BD4F}"/>
              </a:ext>
            </a:extLst>
          </p:cNvPr>
          <p:cNvCxnSpPr/>
          <p:nvPr/>
        </p:nvCxnSpPr>
        <p:spPr>
          <a:xfrm>
            <a:off x="7365532" y="2780670"/>
            <a:ext cx="466344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E5DDDBB-4BF4-8E24-F0D7-62337625520F}"/>
              </a:ext>
            </a:extLst>
          </p:cNvPr>
          <p:cNvCxnSpPr/>
          <p:nvPr/>
        </p:nvCxnSpPr>
        <p:spPr>
          <a:xfrm>
            <a:off x="8292748" y="2790652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80F108B5-4B26-F89C-B230-1D0833BE43DF}"/>
              </a:ext>
            </a:extLst>
          </p:cNvPr>
          <p:cNvSpPr/>
          <p:nvPr/>
        </p:nvSpPr>
        <p:spPr>
          <a:xfrm>
            <a:off x="8372704" y="2436511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a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A0B8559-A0AC-5F2A-B2AC-5CE0A7024D1B}"/>
              </a:ext>
            </a:extLst>
          </p:cNvPr>
          <p:cNvCxnSpPr/>
          <p:nvPr/>
        </p:nvCxnSpPr>
        <p:spPr>
          <a:xfrm>
            <a:off x="9320254" y="2766838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72228EAB-8B07-6F4C-230D-5ADC0DB7D287}"/>
              </a:ext>
            </a:extLst>
          </p:cNvPr>
          <p:cNvSpPr/>
          <p:nvPr/>
        </p:nvSpPr>
        <p:spPr>
          <a:xfrm>
            <a:off x="9436851" y="2436511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b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7A042B8E-CF15-DDCC-9348-55C061902787}"/>
              </a:ext>
            </a:extLst>
          </p:cNvPr>
          <p:cNvCxnSpPr/>
          <p:nvPr/>
        </p:nvCxnSpPr>
        <p:spPr>
          <a:xfrm>
            <a:off x="10389698" y="2765857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DC82CDA9-C7D0-FFC1-C23D-84D88C4C91DF}"/>
              </a:ext>
            </a:extLst>
          </p:cNvPr>
          <p:cNvSpPr/>
          <p:nvPr/>
        </p:nvSpPr>
        <p:spPr>
          <a:xfrm>
            <a:off x="10433454" y="2436511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b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EE69AA5D-8A80-452D-576E-1A470310E9CF}"/>
              </a:ext>
            </a:extLst>
          </p:cNvPr>
          <p:cNvSpPr/>
          <p:nvPr/>
        </p:nvSpPr>
        <p:spPr>
          <a:xfrm>
            <a:off x="11010834" y="2615106"/>
            <a:ext cx="320040" cy="32004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cxnSp>
        <p:nvCxnSpPr>
          <p:cNvPr id="33" name="Curved Connector 32">
            <a:extLst>
              <a:ext uri="{FF2B5EF4-FFF2-40B4-BE49-F238E27FC236}">
                <a16:creationId xmlns:a16="http://schemas.microsoft.com/office/drawing/2014/main" id="{69F328F7-8EBE-A8E2-F322-5BD995AD59A4}"/>
              </a:ext>
            </a:extLst>
          </p:cNvPr>
          <p:cNvCxnSpPr/>
          <p:nvPr/>
        </p:nvCxnSpPr>
        <p:spPr>
          <a:xfrm rot="5400000" flipV="1">
            <a:off x="9068101" y="2767770"/>
            <a:ext cx="12700" cy="323290"/>
          </a:xfrm>
          <a:prstGeom prst="curvedConnector3">
            <a:avLst>
              <a:gd name="adj1" fmla="val 3902205"/>
            </a:avLst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F958DCDF-EFCA-ACC7-64FC-93FE4D5E2E40}"/>
              </a:ext>
            </a:extLst>
          </p:cNvPr>
          <p:cNvSpPr/>
          <p:nvPr/>
        </p:nvSpPr>
        <p:spPr>
          <a:xfrm>
            <a:off x="8899354" y="3426302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a</a:t>
            </a:r>
          </a:p>
        </p:txBody>
      </p:sp>
      <p:cxnSp>
        <p:nvCxnSpPr>
          <p:cNvPr id="35" name="Curved Connector 34">
            <a:extLst>
              <a:ext uri="{FF2B5EF4-FFF2-40B4-BE49-F238E27FC236}">
                <a16:creationId xmlns:a16="http://schemas.microsoft.com/office/drawing/2014/main" id="{87DECE51-1DBF-F31E-2A62-0700923F8712}"/>
              </a:ext>
            </a:extLst>
          </p:cNvPr>
          <p:cNvCxnSpPr>
            <a:stCxn id="23" idx="4"/>
            <a:endCxn id="22" idx="5"/>
          </p:cNvCxnSpPr>
          <p:nvPr/>
        </p:nvCxnSpPr>
        <p:spPr>
          <a:xfrm rot="5400000" flipH="1">
            <a:off x="9657793" y="2540130"/>
            <a:ext cx="76937" cy="881308"/>
          </a:xfrm>
          <a:prstGeom prst="curvedConnector3">
            <a:avLst>
              <a:gd name="adj1" fmla="val -297126"/>
            </a:avLst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urved Connector 35">
            <a:extLst>
              <a:ext uri="{FF2B5EF4-FFF2-40B4-BE49-F238E27FC236}">
                <a16:creationId xmlns:a16="http://schemas.microsoft.com/office/drawing/2014/main" id="{280EEEC2-5775-D5BE-9B56-21E39437A24E}"/>
              </a:ext>
            </a:extLst>
          </p:cNvPr>
          <p:cNvCxnSpPr>
            <a:stCxn id="24" idx="4"/>
            <a:endCxn id="22" idx="5"/>
          </p:cNvCxnSpPr>
          <p:nvPr/>
        </p:nvCxnSpPr>
        <p:spPr>
          <a:xfrm rot="5400000" flipH="1">
            <a:off x="10181161" y="2016763"/>
            <a:ext cx="66955" cy="1918061"/>
          </a:xfrm>
          <a:prstGeom prst="curvedConnector3">
            <a:avLst>
              <a:gd name="adj1" fmla="val -1042726"/>
            </a:avLst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urved Connector 36">
            <a:extLst>
              <a:ext uri="{FF2B5EF4-FFF2-40B4-BE49-F238E27FC236}">
                <a16:creationId xmlns:a16="http://schemas.microsoft.com/office/drawing/2014/main" id="{8DCD8058-5E3A-3577-C8CC-2241D67C0978}"/>
              </a:ext>
            </a:extLst>
          </p:cNvPr>
          <p:cNvCxnSpPr>
            <a:stCxn id="24" idx="0"/>
            <a:endCxn id="21" idx="0"/>
          </p:cNvCxnSpPr>
          <p:nvPr/>
        </p:nvCxnSpPr>
        <p:spPr>
          <a:xfrm rot="16200000" flipV="1">
            <a:off x="9622572" y="1000972"/>
            <a:ext cx="12700" cy="3102195"/>
          </a:xfrm>
          <a:prstGeom prst="curvedConnector3">
            <a:avLst>
              <a:gd name="adj1" fmla="val 8610811"/>
            </a:avLst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7A661712-7FAC-0D19-6498-BEDC8DD6292C}"/>
              </a:ext>
            </a:extLst>
          </p:cNvPr>
          <p:cNvSpPr/>
          <p:nvPr/>
        </p:nvSpPr>
        <p:spPr>
          <a:xfrm>
            <a:off x="9958328" y="3048167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a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2F74784-6104-8C3D-8D13-6D101A58937D}"/>
              </a:ext>
            </a:extLst>
          </p:cNvPr>
          <p:cNvSpPr/>
          <p:nvPr/>
        </p:nvSpPr>
        <p:spPr>
          <a:xfrm>
            <a:off x="10735480" y="3177228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a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354A047-9990-E048-E4A5-D1FA03B91DE1}"/>
              </a:ext>
            </a:extLst>
          </p:cNvPr>
          <p:cNvSpPr/>
          <p:nvPr/>
        </p:nvSpPr>
        <p:spPr>
          <a:xfrm>
            <a:off x="9961487" y="1605364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b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6593C1E9-0C1F-1927-24E6-13BA725D1E4B}"/>
              </a:ext>
            </a:extLst>
          </p:cNvPr>
          <p:cNvSpPr/>
          <p:nvPr/>
        </p:nvSpPr>
        <p:spPr>
          <a:xfrm>
            <a:off x="9369307" y="3791225"/>
            <a:ext cx="1064147" cy="37870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solidFill>
                  <a:srgbClr val="0E47A1"/>
                </a:solidFill>
                <a:latin typeface="+mj-lt"/>
              </a:rPr>
              <a:t>DFA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E5F6A29-35B3-D1B1-D912-A1F1771EBB09}"/>
              </a:ext>
            </a:extLst>
          </p:cNvPr>
          <p:cNvSpPr/>
          <p:nvPr/>
        </p:nvSpPr>
        <p:spPr>
          <a:xfrm>
            <a:off x="9347696" y="5885958"/>
            <a:ext cx="1064147" cy="37870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solidFill>
                  <a:srgbClr val="0E47A1"/>
                </a:solidFill>
                <a:latin typeface="+mj-lt"/>
              </a:rPr>
              <a:t>NFA</a:t>
            </a:r>
          </a:p>
        </p:txBody>
      </p:sp>
      <p:cxnSp>
        <p:nvCxnSpPr>
          <p:cNvPr id="43" name="Curved Connector 42">
            <a:extLst>
              <a:ext uri="{FF2B5EF4-FFF2-40B4-BE49-F238E27FC236}">
                <a16:creationId xmlns:a16="http://schemas.microsoft.com/office/drawing/2014/main" id="{A47D50D2-B7F3-1C65-F434-8C1C0AB04BCB}"/>
              </a:ext>
            </a:extLst>
          </p:cNvPr>
          <p:cNvCxnSpPr/>
          <p:nvPr/>
        </p:nvCxnSpPr>
        <p:spPr>
          <a:xfrm rot="5400000" flipV="1">
            <a:off x="8063196" y="2763002"/>
            <a:ext cx="12700" cy="323290"/>
          </a:xfrm>
          <a:prstGeom prst="curvedConnector3">
            <a:avLst>
              <a:gd name="adj1" fmla="val 3902205"/>
            </a:avLst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EC959051-DC87-E840-CB6E-368094FF0D24}"/>
              </a:ext>
            </a:extLst>
          </p:cNvPr>
          <p:cNvSpPr/>
          <p:nvPr/>
        </p:nvSpPr>
        <p:spPr>
          <a:xfrm>
            <a:off x="7880161" y="3450110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b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47D8DC16-8DDD-A61C-AADF-4ECE532CF955}"/>
              </a:ext>
            </a:extLst>
          </p:cNvPr>
          <p:cNvCxnSpPr/>
          <p:nvPr/>
        </p:nvCxnSpPr>
        <p:spPr>
          <a:xfrm>
            <a:off x="381000" y="1804320"/>
            <a:ext cx="6400800" cy="0"/>
          </a:xfrm>
          <a:prstGeom prst="line">
            <a:avLst/>
          </a:prstGeom>
          <a:ln>
            <a:solidFill>
              <a:srgbClr val="0E47A1"/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46" name="Content Placeholder 2">
            <a:extLst>
              <a:ext uri="{FF2B5EF4-FFF2-40B4-BE49-F238E27FC236}">
                <a16:creationId xmlns:a16="http://schemas.microsoft.com/office/drawing/2014/main" id="{2F338AF3-8DD4-7E45-EFBF-78A79672F545}"/>
              </a:ext>
            </a:extLst>
          </p:cNvPr>
          <p:cNvSpPr txBox="1"/>
          <p:nvPr/>
        </p:nvSpPr>
        <p:spPr>
          <a:xfrm>
            <a:off x="118719" y="2024388"/>
            <a:ext cx="5883253" cy="236915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E47A1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E47A1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E47A1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E47A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E47A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rgbClr val="0E47A1"/>
                </a:solidFill>
              </a:rPr>
              <a:t>Deterministic finite automata (DFA): </a:t>
            </a:r>
            <a:r>
              <a:rPr lang="en-US"/>
              <a:t>have for each state </a:t>
            </a:r>
            <a:r>
              <a:rPr lang="en-US">
                <a:solidFill>
                  <a:srgbClr val="C00000"/>
                </a:solidFill>
              </a:rPr>
              <a:t>exactly one edge</a:t>
            </a:r>
            <a:r>
              <a:rPr lang="en-US"/>
              <a:t> leaving out for </a:t>
            </a:r>
            <a:r>
              <a:rPr lang="en-US">
                <a:solidFill>
                  <a:srgbClr val="C00000"/>
                </a:solidFill>
              </a:rPr>
              <a:t>each symbol</a:t>
            </a:r>
            <a:r>
              <a:rPr lang="en-US"/>
              <a:t>.</a:t>
            </a:r>
          </a:p>
          <a:p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88EBCC6-4568-A9DF-ED25-CB0E43DEB72F}"/>
              </a:ext>
            </a:extLst>
          </p:cNvPr>
          <p:cNvSpPr/>
          <p:nvPr/>
        </p:nvSpPr>
        <p:spPr>
          <a:xfrm>
            <a:off x="381000" y="1334810"/>
            <a:ext cx="1901607" cy="461665"/>
          </a:xfrm>
          <a:prstGeom prst="rect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2400" b="1"/>
              <a:t>DFA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11E2E4B2-F9AD-C6FC-3741-EED16CDB830B}"/>
              </a:ext>
            </a:extLst>
          </p:cNvPr>
          <p:cNvCxnSpPr/>
          <p:nvPr/>
        </p:nvCxnSpPr>
        <p:spPr>
          <a:xfrm>
            <a:off x="381000" y="4177771"/>
            <a:ext cx="6400800" cy="0"/>
          </a:xfrm>
          <a:prstGeom prst="line">
            <a:avLst/>
          </a:prstGeom>
          <a:ln>
            <a:solidFill>
              <a:srgbClr val="0E47A1"/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85EF6AB2-6C0A-793B-88A7-0BAA1A270664}"/>
              </a:ext>
            </a:extLst>
          </p:cNvPr>
          <p:cNvSpPr/>
          <p:nvPr/>
        </p:nvSpPr>
        <p:spPr>
          <a:xfrm>
            <a:off x="381000" y="3708261"/>
            <a:ext cx="1901607" cy="461665"/>
          </a:xfrm>
          <a:prstGeom prst="rect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2400" b="1"/>
              <a:t>NFA</a:t>
            </a:r>
          </a:p>
        </p:txBody>
      </p:sp>
    </p:spTree>
    <p:extLst>
      <p:ext uri="{BB962C8B-B14F-4D97-AF65-F5344CB8AC3E}">
        <p14:creationId xmlns:p14="http://schemas.microsoft.com/office/powerpoint/2010/main" val="3388227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2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7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8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159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" presetID="7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1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162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11" grpId="0"/>
      <p:bldP spid="13" grpId="0"/>
      <p:bldP spid="15" grpId="0"/>
      <p:bldP spid="16" grpId="0" animBg="1"/>
      <p:bldP spid="19" grpId="0"/>
      <p:bldP spid="20" grpId="0"/>
      <p:bldP spid="21" grpId="0" animBg="1"/>
      <p:bldP spid="22" grpId="0" animBg="1"/>
      <p:bldP spid="23" grpId="0" animBg="1"/>
      <p:bldP spid="24" grpId="0" animBg="1"/>
      <p:bldP spid="27" grpId="0"/>
      <p:bldP spid="29" grpId="0"/>
      <p:bldP spid="31" grpId="0"/>
      <p:bldP spid="32" grpId="0" animBg="1"/>
      <p:bldP spid="34" grpId="0"/>
      <p:bldP spid="38" grpId="0"/>
      <p:bldP spid="39" grpId="0"/>
      <p:bldP spid="40" grpId="0"/>
      <p:bldP spid="41" grpId="0"/>
      <p:bldP spid="42" grpId="0"/>
      <p:bldP spid="44" grpId="0"/>
      <p:bldP spid="47" grpId="0" animBg="1"/>
      <p:bldP spid="4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43630-9389-6EDB-1526-F69304B54FF0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 sz="4000" dirty="0"/>
              <a:t>Regular expression to NFA using Thompson's rule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49A3CA1-455C-803D-7DF7-B3BF9FE9CD0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80" y="863444"/>
                <a:ext cx="5458251" cy="5590565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1pPr>
                <a:lvl2pPr marL="6858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457200" indent="-457200">
                  <a:buFont typeface="+mj-lt"/>
                  <a:buAutoNum type="arabicPeriod"/>
                </a:pPr>
                <a:r>
                  <a:rPr lang="en-US"/>
                  <a:t>For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/>
                  <a:t> , construct the NFA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/>
              </a:p>
              <a:p>
                <a:pPr marL="457200" indent="-457200">
                  <a:buFont typeface="+mj-lt"/>
                  <a:buAutoNum type="arabicPeriod"/>
                </a:pPr>
                <a:endParaRPr lang="en-US"/>
              </a:p>
              <a:p>
                <a:pPr marL="457200" indent="-457200">
                  <a:buFont typeface="+mj-lt"/>
                  <a:buAutoNum type="arabicPeriod"/>
                </a:pPr>
                <a:endParaRPr lang="en-US"/>
              </a:p>
              <a:p>
                <a:pPr marL="457200" indent="-457200">
                  <a:buFont typeface="+mj-lt"/>
                  <a:buAutoNum type="arabicPeriod"/>
                </a:pPr>
                <a:endParaRPr lang="en-US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/>
                  <a:t>For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/>
                  <a:t> in </a:t>
                </a:r>
                <a14:m>
                  <m:oMath xmlns:m="http://schemas.openxmlformats.org/officeDocument/2006/math">
                    <m:r>
                      <a:rPr lang="el-GR" i="1">
                        <a:latin typeface="Cambria Math" panose="02040503050406030204" pitchFamily="18" charset="0"/>
                      </a:rPr>
                      <m:t>𝛴</m:t>
                    </m:r>
                  </m:oMath>
                </a14:m>
                <a:r>
                  <a:rPr lang="en-US"/>
                  <a:t>, construct the NFA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/>
              </a:p>
              <a:p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49A3CA1-455C-803D-7DF7-B3BF9FE9CD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80" y="863444"/>
                <a:ext cx="5458251" cy="5590565"/>
              </a:xfrm>
              <a:prstGeom prst="rect">
                <a:avLst/>
              </a:prstGeom>
              <a:blipFill>
                <a:blip r:embed="rId2"/>
                <a:stretch>
                  <a:fillRect l="-2793" t="-283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AEDC860D-EF50-A7C9-EBDF-EAE08ECE1D6A}"/>
                  </a:ext>
                </a:extLst>
              </p:cNvPr>
              <p:cNvSpPr/>
              <p:nvPr/>
            </p:nvSpPr>
            <p:spPr>
              <a:xfrm>
                <a:off x="2430931" y="1950485"/>
                <a:ext cx="564285" cy="624381"/>
              </a:xfrm>
              <a:prstGeom prst="ellipse">
                <a:avLst/>
              </a:prstGeom>
              <a:solidFill>
                <a:srgbClr val="0E47A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="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AEDC860D-EF50-A7C9-EBDF-EAE08ECE1D6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0931" y="1950485"/>
                <a:ext cx="564285" cy="62438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B0AACF9B-A8B8-04C5-3434-D13043863176}"/>
                  </a:ext>
                </a:extLst>
              </p:cNvPr>
              <p:cNvSpPr/>
              <p:nvPr/>
            </p:nvSpPr>
            <p:spPr>
              <a:xfrm>
                <a:off x="3667612" y="1953760"/>
                <a:ext cx="564285" cy="624381"/>
              </a:xfrm>
              <a:prstGeom prst="ellipse">
                <a:avLst/>
              </a:prstGeom>
              <a:solidFill>
                <a:srgbClr val="0E47A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="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B0AACF9B-A8B8-04C5-3434-D1304386317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7612" y="1953760"/>
                <a:ext cx="564285" cy="624381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1C9FB02-BD6B-DA24-E4AD-8329DFC3A129}"/>
              </a:ext>
            </a:extLst>
          </p:cNvPr>
          <p:cNvCxnSpPr>
            <a:endCxn id="4" idx="2"/>
          </p:cNvCxnSpPr>
          <p:nvPr/>
        </p:nvCxnSpPr>
        <p:spPr>
          <a:xfrm>
            <a:off x="1776017" y="2255286"/>
            <a:ext cx="654914" cy="7390"/>
          </a:xfrm>
          <a:prstGeom prst="straightConnector1">
            <a:avLst/>
          </a:prstGeom>
          <a:ln w="25400">
            <a:solidFill>
              <a:srgbClr val="0E47A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CB484489-B0AA-DC47-C7C5-2C0F7C2D3027}"/>
              </a:ext>
            </a:extLst>
          </p:cNvPr>
          <p:cNvSpPr/>
          <p:nvPr/>
        </p:nvSpPr>
        <p:spPr>
          <a:xfrm>
            <a:off x="3738147" y="2031807"/>
            <a:ext cx="423214" cy="468286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en-US">
              <a:latin typeface="+mj-lt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24A0496-6918-0A44-E13D-FAC97A4C3CFC}"/>
              </a:ext>
            </a:extLst>
          </p:cNvPr>
          <p:cNvCxnSpPr>
            <a:stCxn id="4" idx="6"/>
            <a:endCxn id="5" idx="2"/>
          </p:cNvCxnSpPr>
          <p:nvPr/>
        </p:nvCxnSpPr>
        <p:spPr>
          <a:xfrm>
            <a:off x="2995216" y="2262676"/>
            <a:ext cx="672396" cy="3275"/>
          </a:xfrm>
          <a:prstGeom prst="straightConnector1">
            <a:avLst/>
          </a:prstGeom>
          <a:ln w="25400">
            <a:solidFill>
              <a:srgbClr val="0E47A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F828E355-3350-DA0B-F78F-CDF1E04971AD}"/>
              </a:ext>
            </a:extLst>
          </p:cNvPr>
          <p:cNvSpPr/>
          <p:nvPr/>
        </p:nvSpPr>
        <p:spPr>
          <a:xfrm>
            <a:off x="3142444" y="1898099"/>
            <a:ext cx="330625" cy="3170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BBE2B97-D072-FE82-2E16-D581244DEBD8}"/>
              </a:ext>
            </a:extLst>
          </p:cNvPr>
          <p:cNvSpPr/>
          <p:nvPr/>
        </p:nvSpPr>
        <p:spPr>
          <a:xfrm>
            <a:off x="1651065" y="1869524"/>
            <a:ext cx="667906" cy="3170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start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C70CCD32-22D7-2837-ADDB-B32B80E0D585}"/>
                  </a:ext>
                </a:extLst>
              </p:cNvPr>
              <p:cNvSpPr/>
              <p:nvPr/>
            </p:nvSpPr>
            <p:spPr>
              <a:xfrm>
                <a:off x="2532844" y="4617502"/>
                <a:ext cx="609600" cy="609600"/>
              </a:xfrm>
              <a:prstGeom prst="ellipse">
                <a:avLst/>
              </a:prstGeom>
              <a:solidFill>
                <a:srgbClr val="0E47A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="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C70CCD32-22D7-2837-ADDB-B32B80E0D58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2844" y="4617502"/>
                <a:ext cx="609600" cy="609600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0EF33229-C230-6DE0-78E5-0CABC2E55EA7}"/>
                  </a:ext>
                </a:extLst>
              </p:cNvPr>
              <p:cNvSpPr/>
              <p:nvPr/>
            </p:nvSpPr>
            <p:spPr>
              <a:xfrm>
                <a:off x="3752900" y="4620777"/>
                <a:ext cx="609600" cy="609600"/>
              </a:xfrm>
              <a:prstGeom prst="ellipse">
                <a:avLst/>
              </a:prstGeom>
              <a:solidFill>
                <a:srgbClr val="0E47A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=""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0EF33229-C230-6DE0-78E5-0CABC2E55EA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2900" y="4620777"/>
                <a:ext cx="609600" cy="609600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2C99499-A299-B494-9FC6-288E2F552DBF}"/>
              </a:ext>
            </a:extLst>
          </p:cNvPr>
          <p:cNvCxnSpPr>
            <a:endCxn id="11" idx="2"/>
          </p:cNvCxnSpPr>
          <p:nvPr/>
        </p:nvCxnSpPr>
        <p:spPr>
          <a:xfrm>
            <a:off x="1899436" y="4922302"/>
            <a:ext cx="633408" cy="0"/>
          </a:xfrm>
          <a:prstGeom prst="straightConnector1">
            <a:avLst/>
          </a:prstGeom>
          <a:ln w="25400">
            <a:solidFill>
              <a:srgbClr val="0E47A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1927DF50-463F-45F4-84BA-E637E4227F49}"/>
              </a:ext>
            </a:extLst>
          </p:cNvPr>
          <p:cNvSpPr/>
          <p:nvPr/>
        </p:nvSpPr>
        <p:spPr>
          <a:xfrm>
            <a:off x="3829100" y="4696977"/>
            <a:ext cx="457200" cy="4572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en-US">
              <a:latin typeface="+mj-lt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04D941B-9833-C1A2-6F73-13C6F7E969C0}"/>
              </a:ext>
            </a:extLst>
          </p:cNvPr>
          <p:cNvCxnSpPr>
            <a:stCxn id="11" idx="6"/>
            <a:endCxn id="12" idx="2"/>
          </p:cNvCxnSpPr>
          <p:nvPr/>
        </p:nvCxnSpPr>
        <p:spPr>
          <a:xfrm>
            <a:off x="3142444" y="4922302"/>
            <a:ext cx="610456" cy="3275"/>
          </a:xfrm>
          <a:prstGeom prst="straightConnector1">
            <a:avLst/>
          </a:prstGeom>
          <a:ln w="25400">
            <a:solidFill>
              <a:srgbClr val="0E47A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8FAF98C3-A658-92E1-58FC-223762FA25A3}"/>
              </a:ext>
            </a:extLst>
          </p:cNvPr>
          <p:cNvSpPr/>
          <p:nvPr/>
        </p:nvSpPr>
        <p:spPr>
          <a:xfrm>
            <a:off x="3263121" y="4565115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a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B6F70B2-98BA-56E3-0AE4-72374B90A185}"/>
              </a:ext>
            </a:extLst>
          </p:cNvPr>
          <p:cNvSpPr/>
          <p:nvPr/>
        </p:nvSpPr>
        <p:spPr>
          <a:xfrm>
            <a:off x="1712877" y="4565106"/>
            <a:ext cx="721543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start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ontent Placeholder 2">
                <a:extLst>
                  <a:ext uri="{FF2B5EF4-FFF2-40B4-BE49-F238E27FC236}">
                    <a16:creationId xmlns:a16="http://schemas.microsoft.com/office/drawing/2014/main" id="{05A3D6C9-A38A-FE0E-CC6F-3F9C94137E87}"/>
                  </a:ext>
                </a:extLst>
              </p:cNvPr>
              <p:cNvSpPr txBox="1"/>
              <p:nvPr/>
            </p:nvSpPr>
            <p:spPr>
              <a:xfrm>
                <a:off x="6011551" y="863444"/>
                <a:ext cx="5458251" cy="559056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rgbClr val="0E47A1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E47A1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E47A1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E47A1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E47A1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457200" indent="-457200">
                  <a:buFont typeface="+mj-lt"/>
                  <a:buAutoNum type="arabicPeriod" startAt="3"/>
                </a:pPr>
                <a:r>
                  <a:rPr lang="en-US"/>
                  <a:t>For regular expression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𝑠𝑡</m:t>
                    </m:r>
                  </m:oMath>
                </a14:m>
                <a:r>
                  <a:rPr lang="en-US"/>
                  <a:t> 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457200" indent="-457200">
                  <a:buFont typeface="+mj-lt"/>
                  <a:buAutoNum type="arabicPeriod"/>
                </a:pPr>
                <a:endParaRPr lang="en-US"/>
              </a:p>
              <a:p>
                <a:pPr marL="457200" indent="-457200">
                  <a:buFont typeface="+mj-lt"/>
                  <a:buAutoNum type="arabicPeriod"/>
                </a:pPr>
                <a:endParaRPr lang="en-US"/>
              </a:p>
              <a:p>
                <a:pPr marL="457200" indent="-457200">
                  <a:buFont typeface="+mj-lt"/>
                  <a:buAutoNum type="arabicPeriod"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Ex: ab</a:t>
                </a:r>
              </a:p>
              <a:p>
                <a:pPr marL="0" indent="0">
                  <a:buFont typeface="Wingdings 3" panose="05040102010807070707" pitchFamily="18" charset="2"/>
                  <a:buNone/>
                </a:pPr>
                <a:endParaRPr lang="en-US"/>
              </a:p>
              <a:p>
                <a:endParaRPr lang="en-US"/>
              </a:p>
            </p:txBody>
          </p:sp>
        </mc:Choice>
        <mc:Fallback xmlns="">
          <p:sp>
            <p:nvSpPr>
              <p:cNvPr id="18" name="Content Placeholder 2">
                <a:extLst>
                  <a:ext uri="{FF2B5EF4-FFF2-40B4-BE49-F238E27FC236}">
                    <a16:creationId xmlns:a16="http://schemas.microsoft.com/office/drawing/2014/main" id="{05A3D6C9-A38A-FE0E-CC6F-3F9C94137E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1551" y="863444"/>
                <a:ext cx="5458251" cy="5590565"/>
              </a:xfrm>
              <a:prstGeom prst="rect">
                <a:avLst/>
              </a:prstGeom>
              <a:blipFill>
                <a:blip r:embed="rId7"/>
                <a:stretch>
                  <a:fillRect l="-1786" t="-174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0FC0A97E-A372-DA3A-51BE-61BDFF731137}"/>
                  </a:ext>
                </a:extLst>
              </p:cNvPr>
              <p:cNvSpPr/>
              <p:nvPr/>
            </p:nvSpPr>
            <p:spPr>
              <a:xfrm>
                <a:off x="7175254" y="1722586"/>
                <a:ext cx="609600" cy="609600"/>
              </a:xfrm>
              <a:prstGeom prst="ellipse">
                <a:avLst/>
              </a:prstGeom>
              <a:solidFill>
                <a:srgbClr val="0E47A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=""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0FC0A97E-A372-DA3A-51BE-61BDFF73113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5254" y="1722586"/>
                <a:ext cx="609600" cy="609600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73D2E296-3971-0F69-5752-D7B5AE5129C1}"/>
                  </a:ext>
                </a:extLst>
              </p:cNvPr>
              <p:cNvSpPr/>
              <p:nvPr/>
            </p:nvSpPr>
            <p:spPr>
              <a:xfrm>
                <a:off x="9647794" y="1732398"/>
                <a:ext cx="609600" cy="609600"/>
              </a:xfrm>
              <a:prstGeom prst="ellipse">
                <a:avLst/>
              </a:prstGeom>
              <a:solidFill>
                <a:srgbClr val="0E47A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=""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73D2E296-3971-0F69-5752-D7B5AE5129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7794" y="1732398"/>
                <a:ext cx="609600" cy="609600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75734D6-D474-90E7-960C-82D8F2074549}"/>
              </a:ext>
            </a:extLst>
          </p:cNvPr>
          <p:cNvCxnSpPr>
            <a:endCxn id="19" idx="2"/>
          </p:cNvCxnSpPr>
          <p:nvPr/>
        </p:nvCxnSpPr>
        <p:spPr>
          <a:xfrm flipV="1">
            <a:off x="6439411" y="2027386"/>
            <a:ext cx="735843" cy="19338"/>
          </a:xfrm>
          <a:prstGeom prst="straightConnector1">
            <a:avLst/>
          </a:prstGeom>
          <a:ln w="25400">
            <a:solidFill>
              <a:srgbClr val="0E47A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72007E5D-8455-803E-B460-078836471F72}"/>
              </a:ext>
            </a:extLst>
          </p:cNvPr>
          <p:cNvSpPr/>
          <p:nvPr/>
        </p:nvSpPr>
        <p:spPr>
          <a:xfrm>
            <a:off x="9723994" y="1808598"/>
            <a:ext cx="457200" cy="4572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55D57D5-97B3-A12F-310B-6B86CF22F855}"/>
              </a:ext>
            </a:extLst>
          </p:cNvPr>
          <p:cNvSpPr/>
          <p:nvPr/>
        </p:nvSpPr>
        <p:spPr>
          <a:xfrm>
            <a:off x="6321524" y="1680004"/>
            <a:ext cx="731520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start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953E58D9-E407-52A9-E37D-12776BFF0813}"/>
              </a:ext>
            </a:extLst>
          </p:cNvPr>
          <p:cNvSpPr/>
          <p:nvPr/>
        </p:nvSpPr>
        <p:spPr>
          <a:xfrm>
            <a:off x="6878438" y="1577564"/>
            <a:ext cx="2270932" cy="957856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N(s)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BE366B3-732E-9E16-BDE4-9DA0B475ED03}"/>
              </a:ext>
            </a:extLst>
          </p:cNvPr>
          <p:cNvSpPr/>
          <p:nvPr/>
        </p:nvSpPr>
        <p:spPr>
          <a:xfrm>
            <a:off x="8228861" y="1549784"/>
            <a:ext cx="2270932" cy="957856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N(t)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C12D8D6C-8C84-8F3B-1A96-01E85F37D350}"/>
              </a:ext>
            </a:extLst>
          </p:cNvPr>
          <p:cNvSpPr/>
          <p:nvPr/>
        </p:nvSpPr>
        <p:spPr>
          <a:xfrm>
            <a:off x="6764893" y="4722128"/>
            <a:ext cx="612648" cy="612648"/>
          </a:xfrm>
          <a:prstGeom prst="ellipse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latin typeface="+mj-lt"/>
              </a:rPr>
              <a:t>1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C9223F24-DD35-51CB-D895-5654C16AB6E8}"/>
              </a:ext>
            </a:extLst>
          </p:cNvPr>
          <p:cNvSpPr/>
          <p:nvPr/>
        </p:nvSpPr>
        <p:spPr>
          <a:xfrm>
            <a:off x="7918896" y="4716562"/>
            <a:ext cx="612648" cy="612648"/>
          </a:xfrm>
          <a:prstGeom prst="ellipse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latin typeface="+mj-lt"/>
              </a:rPr>
              <a:t>2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5C9ABAB0-E0B8-6C6B-70CC-95CA077AEBEE}"/>
              </a:ext>
            </a:extLst>
          </p:cNvPr>
          <p:cNvSpPr/>
          <p:nvPr/>
        </p:nvSpPr>
        <p:spPr>
          <a:xfrm>
            <a:off x="9101018" y="4708469"/>
            <a:ext cx="612648" cy="612648"/>
          </a:xfrm>
          <a:prstGeom prst="ellipse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latin typeface="+mj-lt"/>
              </a:rPr>
              <a:t>3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A76B1427-FA13-CDD4-4FC4-CEA42BE70CCF}"/>
              </a:ext>
            </a:extLst>
          </p:cNvPr>
          <p:cNvCxnSpPr>
            <a:endCxn id="28" idx="2"/>
          </p:cNvCxnSpPr>
          <p:nvPr/>
        </p:nvCxnSpPr>
        <p:spPr>
          <a:xfrm flipV="1">
            <a:off x="8528874" y="5014793"/>
            <a:ext cx="572144" cy="8093"/>
          </a:xfrm>
          <a:prstGeom prst="straightConnector1">
            <a:avLst/>
          </a:prstGeom>
          <a:ln w="25400">
            <a:solidFill>
              <a:srgbClr val="0E47A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66B2043D-8444-351F-08F9-EBA1D8F6678B}"/>
              </a:ext>
            </a:extLst>
          </p:cNvPr>
          <p:cNvSpPr/>
          <p:nvPr/>
        </p:nvSpPr>
        <p:spPr>
          <a:xfrm>
            <a:off x="7427678" y="4631412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a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E185D09-AF5C-087B-FF51-37158966B299}"/>
              </a:ext>
            </a:extLst>
          </p:cNvPr>
          <p:cNvSpPr/>
          <p:nvPr/>
        </p:nvSpPr>
        <p:spPr>
          <a:xfrm>
            <a:off x="8623434" y="4631412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b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18C14B03-B111-27C4-2D92-2A66ECDAE423}"/>
              </a:ext>
            </a:extLst>
          </p:cNvPr>
          <p:cNvCxnSpPr>
            <a:stCxn id="26" idx="6"/>
            <a:endCxn id="27" idx="2"/>
          </p:cNvCxnSpPr>
          <p:nvPr/>
        </p:nvCxnSpPr>
        <p:spPr>
          <a:xfrm flipV="1">
            <a:off x="7377541" y="5022886"/>
            <a:ext cx="541355" cy="5566"/>
          </a:xfrm>
          <a:prstGeom prst="straightConnector1">
            <a:avLst/>
          </a:prstGeom>
          <a:ln w="25400">
            <a:solidFill>
              <a:srgbClr val="0E47A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55598334-7BE9-040F-E75B-81500CA2C76C}"/>
              </a:ext>
            </a:extLst>
          </p:cNvPr>
          <p:cNvCxnSpPr/>
          <p:nvPr/>
        </p:nvCxnSpPr>
        <p:spPr>
          <a:xfrm>
            <a:off x="6357915" y="5061646"/>
            <a:ext cx="419092" cy="1"/>
          </a:xfrm>
          <a:prstGeom prst="straightConnector1">
            <a:avLst/>
          </a:prstGeom>
          <a:ln w="25400">
            <a:solidFill>
              <a:srgbClr val="0E47A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Oval 33">
            <a:extLst>
              <a:ext uri="{FF2B5EF4-FFF2-40B4-BE49-F238E27FC236}">
                <a16:creationId xmlns:a16="http://schemas.microsoft.com/office/drawing/2014/main" id="{4EFCF1CB-29E7-A40C-B12E-236BA7C47F6C}"/>
              </a:ext>
            </a:extLst>
          </p:cNvPr>
          <p:cNvSpPr/>
          <p:nvPr/>
        </p:nvSpPr>
        <p:spPr>
          <a:xfrm>
            <a:off x="9178742" y="4786193"/>
            <a:ext cx="457200" cy="4572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DF9A8DF0-86B2-8545-F2EE-71D516D01738}"/>
              </a:ext>
            </a:extLst>
          </p:cNvPr>
          <p:cNvCxnSpPr/>
          <p:nvPr/>
        </p:nvCxnSpPr>
        <p:spPr>
          <a:xfrm rot="5400000">
            <a:off x="2846231" y="3606644"/>
            <a:ext cx="5486400" cy="0"/>
          </a:xfrm>
          <a:prstGeom prst="line">
            <a:avLst/>
          </a:prstGeom>
          <a:ln>
            <a:solidFill>
              <a:srgbClr val="0E47A1"/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4126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9" grpId="0"/>
      <p:bldP spid="10" grpId="0"/>
      <p:bldP spid="11" grpId="0" animBg="1"/>
      <p:bldP spid="12" grpId="0" animBg="1"/>
      <p:bldP spid="14" grpId="0" animBg="1"/>
      <p:bldP spid="16" grpId="0"/>
      <p:bldP spid="17" grpId="0"/>
      <p:bldP spid="19" grpId="0" animBg="1"/>
      <p:bldP spid="20" grpId="0" animBg="1"/>
      <p:bldP spid="22" grpId="0" animBg="1"/>
      <p:bldP spid="23" grpId="0"/>
      <p:bldP spid="24" grpId="0" animBg="1"/>
      <p:bldP spid="25" grpId="0" animBg="1"/>
      <p:bldP spid="26" grpId="0" animBg="1"/>
      <p:bldP spid="27" grpId="0" animBg="1"/>
      <p:bldP spid="28" grpId="0" animBg="1"/>
      <p:bldP spid="30" grpId="0"/>
      <p:bldP spid="31" grpId="0"/>
      <p:bldP spid="3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42F80-CEC7-1D9A-379D-4C799B4CD34B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Regular expression to NFA using Thompson's rule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BF6B9A6-CD46-83AC-F8B7-C6191B605F1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80" y="863444"/>
                <a:ext cx="5728707" cy="5590565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1pPr>
                <a:lvl2pPr marL="6858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457200" indent="-457200">
                  <a:buFont typeface="+mj-lt"/>
                  <a:buAutoNum type="arabicPeriod" startAt="4"/>
                </a:pPr>
                <a:r>
                  <a:rPr lang="en-US"/>
                  <a:t>For regular expression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/>
                  <a:t> </a:t>
                </a:r>
              </a:p>
              <a:p>
                <a:pPr marL="457200" indent="-457200">
                  <a:buFont typeface="+mj-lt"/>
                  <a:buAutoNum type="arabicPeriod" startAt="4"/>
                </a:pPr>
                <a:endParaRPr lang="en-US"/>
              </a:p>
              <a:p>
                <a:pPr marL="457200" indent="-457200">
                  <a:buFont typeface="+mj-lt"/>
                  <a:buAutoNum type="arabicPeriod" startAt="4"/>
                </a:pPr>
                <a:endParaRPr lang="en-US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/>
              </a:p>
              <a:p>
                <a:pPr marL="457200" indent="-457200">
                  <a:buFont typeface="+mj-lt"/>
                  <a:buAutoNum type="arabicPeriod" startAt="3"/>
                </a:pPr>
                <a:endParaRPr lang="en-US"/>
              </a:p>
              <a:p>
                <a:pPr marL="457200" indent="-457200">
                  <a:buFont typeface="+mj-lt"/>
                  <a:buAutoNum type="arabicPeriod" startAt="3"/>
                </a:pPr>
                <a:endParaRPr lang="en-US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/>
                  <a:t>Ex: (a|b)</a:t>
                </a:r>
              </a:p>
              <a:p>
                <a:pPr marL="457200" indent="-457200">
                  <a:buFont typeface="+mj-lt"/>
                  <a:buAutoNum type="arabicPeriod" startAt="3"/>
                </a:pPr>
                <a:endParaRPr lang="en-US"/>
              </a:p>
              <a:p>
                <a:pPr marL="457200" indent="-457200">
                  <a:buFont typeface="+mj-lt"/>
                  <a:buAutoNum type="arabicPeriod" startAt="3"/>
                </a:pPr>
                <a:endParaRPr lang="en-US"/>
              </a:p>
              <a:p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BF6B9A6-CD46-83AC-F8B7-C6191B605F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80" y="863444"/>
                <a:ext cx="5728707" cy="5590565"/>
              </a:xfrm>
              <a:prstGeom prst="rect">
                <a:avLst/>
              </a:prstGeom>
              <a:blipFill>
                <a:blip r:embed="rId2"/>
                <a:stretch>
                  <a:fillRect l="-2662" t="-283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BCCAF5A9-9F83-0BFF-8E43-A945BD0185AC}"/>
                  </a:ext>
                </a:extLst>
              </p:cNvPr>
              <p:cNvSpPr/>
              <p:nvPr/>
            </p:nvSpPr>
            <p:spPr>
              <a:xfrm>
                <a:off x="1447303" y="2367949"/>
                <a:ext cx="609600" cy="609600"/>
              </a:xfrm>
              <a:prstGeom prst="ellipse">
                <a:avLst/>
              </a:prstGeom>
              <a:solidFill>
                <a:srgbClr val="0E47A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="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BCCAF5A9-9F83-0BFF-8E43-A945BD0185A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7303" y="2367949"/>
                <a:ext cx="609600" cy="609600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CFB62B48-E52D-D16E-02D9-45CF593F5C55}"/>
                  </a:ext>
                </a:extLst>
              </p:cNvPr>
              <p:cNvSpPr/>
              <p:nvPr/>
            </p:nvSpPr>
            <p:spPr>
              <a:xfrm>
                <a:off x="5072397" y="2379841"/>
                <a:ext cx="609600" cy="609600"/>
              </a:xfrm>
              <a:prstGeom prst="ellipse">
                <a:avLst/>
              </a:prstGeom>
              <a:solidFill>
                <a:srgbClr val="0E47A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="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CFB62B48-E52D-D16E-02D9-45CF593F5C5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2397" y="2379841"/>
                <a:ext cx="609600" cy="609600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5210927-AFD3-6563-8D95-0DE3F4C3E0F6}"/>
              </a:ext>
            </a:extLst>
          </p:cNvPr>
          <p:cNvCxnSpPr/>
          <p:nvPr/>
        </p:nvCxnSpPr>
        <p:spPr>
          <a:xfrm>
            <a:off x="861516" y="2698921"/>
            <a:ext cx="609600" cy="0"/>
          </a:xfrm>
          <a:prstGeom prst="straightConnector1">
            <a:avLst/>
          </a:prstGeom>
          <a:ln w="25400">
            <a:solidFill>
              <a:srgbClr val="0E47A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34156873-33E4-03A9-DCD0-CD7B7CD673A6}"/>
              </a:ext>
            </a:extLst>
          </p:cNvPr>
          <p:cNvSpPr/>
          <p:nvPr/>
        </p:nvSpPr>
        <p:spPr>
          <a:xfrm>
            <a:off x="5148597" y="2456041"/>
            <a:ext cx="457200" cy="4572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A2DAE70-6A49-C453-E214-C78165765EC4}"/>
              </a:ext>
            </a:extLst>
          </p:cNvPr>
          <p:cNvSpPr/>
          <p:nvPr/>
        </p:nvSpPr>
        <p:spPr>
          <a:xfrm>
            <a:off x="703141" y="2313159"/>
            <a:ext cx="721543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start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337C0AD-B4A1-BAD9-B632-9E2631BF416C}"/>
              </a:ext>
            </a:extLst>
          </p:cNvPr>
          <p:cNvSpPr/>
          <p:nvPr/>
        </p:nvSpPr>
        <p:spPr>
          <a:xfrm>
            <a:off x="2590253" y="1498835"/>
            <a:ext cx="2240280" cy="100584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N(s)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557E7B2-88B8-7F0C-D5FA-A02714688697}"/>
              </a:ext>
            </a:extLst>
          </p:cNvPr>
          <p:cNvSpPr/>
          <p:nvPr/>
        </p:nvSpPr>
        <p:spPr>
          <a:xfrm>
            <a:off x="2583331" y="2895438"/>
            <a:ext cx="2240280" cy="100584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N(t)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25ACB82-ECB2-BFA7-557E-496388B42538}"/>
              </a:ext>
            </a:extLst>
          </p:cNvPr>
          <p:cNvSpPr/>
          <p:nvPr/>
        </p:nvSpPr>
        <p:spPr>
          <a:xfrm>
            <a:off x="2857036" y="1691050"/>
            <a:ext cx="612648" cy="612648"/>
          </a:xfrm>
          <a:prstGeom prst="ellipse">
            <a:avLst/>
          </a:prstGeom>
          <a:noFill/>
          <a:ln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9FC4DE8-6439-9440-3E36-AE2B3BFC6C3E}"/>
              </a:ext>
            </a:extLst>
          </p:cNvPr>
          <p:cNvSpPr/>
          <p:nvPr/>
        </p:nvSpPr>
        <p:spPr>
          <a:xfrm>
            <a:off x="3973040" y="1691050"/>
            <a:ext cx="612648" cy="612648"/>
          </a:xfrm>
          <a:prstGeom prst="ellipse">
            <a:avLst/>
          </a:prstGeom>
          <a:noFill/>
          <a:ln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6E8E8FE-AFE2-BCC8-09B3-96FB1CF7640F}"/>
              </a:ext>
            </a:extLst>
          </p:cNvPr>
          <p:cNvSpPr/>
          <p:nvPr/>
        </p:nvSpPr>
        <p:spPr>
          <a:xfrm>
            <a:off x="2857036" y="3091247"/>
            <a:ext cx="612648" cy="612648"/>
          </a:xfrm>
          <a:prstGeom prst="ellipse">
            <a:avLst/>
          </a:prstGeom>
          <a:noFill/>
          <a:ln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1B01F24-9B4F-9ACA-4831-D1D91F10D732}"/>
              </a:ext>
            </a:extLst>
          </p:cNvPr>
          <p:cNvSpPr/>
          <p:nvPr/>
        </p:nvSpPr>
        <p:spPr>
          <a:xfrm>
            <a:off x="3973040" y="3076343"/>
            <a:ext cx="612648" cy="612648"/>
          </a:xfrm>
          <a:prstGeom prst="ellipse">
            <a:avLst/>
          </a:prstGeom>
          <a:noFill/>
          <a:ln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en-US">
              <a:latin typeface="+mj-lt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AC348F3-0019-1D0D-F9B5-75840C31CB34}"/>
              </a:ext>
            </a:extLst>
          </p:cNvPr>
          <p:cNvCxnSpPr>
            <a:stCxn id="4" idx="7"/>
            <a:endCxn id="11" idx="2"/>
          </p:cNvCxnSpPr>
          <p:nvPr/>
        </p:nvCxnSpPr>
        <p:spPr>
          <a:xfrm flipV="1">
            <a:off x="1967629" y="1997374"/>
            <a:ext cx="889407" cy="459849"/>
          </a:xfrm>
          <a:prstGeom prst="straightConnector1">
            <a:avLst/>
          </a:prstGeom>
          <a:ln w="25400">
            <a:solidFill>
              <a:srgbClr val="0E47A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C0FD59A-1F3B-EAFB-648D-C65CFD7B7A2D}"/>
              </a:ext>
            </a:extLst>
          </p:cNvPr>
          <p:cNvCxnSpPr>
            <a:stCxn id="12" idx="6"/>
            <a:endCxn id="5" idx="0"/>
          </p:cNvCxnSpPr>
          <p:nvPr/>
        </p:nvCxnSpPr>
        <p:spPr>
          <a:xfrm>
            <a:off x="4585688" y="1997374"/>
            <a:ext cx="791509" cy="382467"/>
          </a:xfrm>
          <a:prstGeom prst="straightConnector1">
            <a:avLst/>
          </a:prstGeom>
          <a:ln w="25400">
            <a:solidFill>
              <a:srgbClr val="0E47A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AB1B5CF-0973-56F9-6B2B-605A3E730677}"/>
              </a:ext>
            </a:extLst>
          </p:cNvPr>
          <p:cNvCxnSpPr>
            <a:stCxn id="4" idx="5"/>
            <a:endCxn id="13" idx="2"/>
          </p:cNvCxnSpPr>
          <p:nvPr/>
        </p:nvCxnSpPr>
        <p:spPr>
          <a:xfrm>
            <a:off x="1967629" y="2888275"/>
            <a:ext cx="889407" cy="509296"/>
          </a:xfrm>
          <a:prstGeom prst="straightConnector1">
            <a:avLst/>
          </a:prstGeom>
          <a:ln w="25400">
            <a:solidFill>
              <a:srgbClr val="0E47A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7F4E7D9-232A-D940-0942-9A9EF5D92C8A}"/>
              </a:ext>
            </a:extLst>
          </p:cNvPr>
          <p:cNvCxnSpPr>
            <a:stCxn id="14" idx="6"/>
            <a:endCxn id="5" idx="4"/>
          </p:cNvCxnSpPr>
          <p:nvPr/>
        </p:nvCxnSpPr>
        <p:spPr>
          <a:xfrm flipV="1">
            <a:off x="4585688" y="2989441"/>
            <a:ext cx="791509" cy="393226"/>
          </a:xfrm>
          <a:prstGeom prst="straightConnector1">
            <a:avLst/>
          </a:prstGeom>
          <a:ln w="25400">
            <a:solidFill>
              <a:srgbClr val="0E47A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13417BFF-F546-5F1E-3AE8-E2B35998F511}"/>
              </a:ext>
            </a:extLst>
          </p:cNvPr>
          <p:cNvSpPr/>
          <p:nvPr/>
        </p:nvSpPr>
        <p:spPr>
          <a:xfrm>
            <a:off x="1928408" y="1888989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829EDAE-7700-E96C-5B9D-CF2D6D1BBBFE}"/>
              </a:ext>
            </a:extLst>
          </p:cNvPr>
          <p:cNvSpPr/>
          <p:nvPr/>
        </p:nvSpPr>
        <p:spPr>
          <a:xfrm>
            <a:off x="1981542" y="3163529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F94FF81-C666-F139-6CF1-1C2AEBEB13E5}"/>
              </a:ext>
            </a:extLst>
          </p:cNvPr>
          <p:cNvSpPr/>
          <p:nvPr/>
        </p:nvSpPr>
        <p:spPr>
          <a:xfrm>
            <a:off x="4914436" y="1734208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9922872-D4D9-7DB2-9115-B56B5CC08815}"/>
              </a:ext>
            </a:extLst>
          </p:cNvPr>
          <p:cNvSpPr/>
          <p:nvPr/>
        </p:nvSpPr>
        <p:spPr>
          <a:xfrm>
            <a:off x="4914436" y="3191539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1AB00F20-CDF0-9D40-C875-F3488BC55F80}"/>
              </a:ext>
            </a:extLst>
          </p:cNvPr>
          <p:cNvSpPr/>
          <p:nvPr/>
        </p:nvSpPr>
        <p:spPr>
          <a:xfrm>
            <a:off x="1701377" y="5008691"/>
            <a:ext cx="612648" cy="612648"/>
          </a:xfrm>
          <a:prstGeom prst="ellipse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latin typeface="+mj-lt"/>
              </a:rPr>
              <a:t>1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B62826C6-21CC-722B-E868-04045558A626}"/>
              </a:ext>
            </a:extLst>
          </p:cNvPr>
          <p:cNvSpPr/>
          <p:nvPr/>
        </p:nvSpPr>
        <p:spPr>
          <a:xfrm>
            <a:off x="2694453" y="4241230"/>
            <a:ext cx="612648" cy="612648"/>
          </a:xfrm>
          <a:prstGeom prst="ellipse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latin typeface="+mj-lt"/>
              </a:rPr>
              <a:t>2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81A760FD-A769-965F-5ECB-2CEB4329A0E8}"/>
              </a:ext>
            </a:extLst>
          </p:cNvPr>
          <p:cNvSpPr/>
          <p:nvPr/>
        </p:nvSpPr>
        <p:spPr>
          <a:xfrm>
            <a:off x="3792582" y="5742392"/>
            <a:ext cx="612648" cy="612648"/>
          </a:xfrm>
          <a:prstGeom prst="ellipse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latin typeface="+mj-lt"/>
              </a:rPr>
              <a:t>5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62AE8F0D-5BDA-113A-A542-385F1EF9D643}"/>
              </a:ext>
            </a:extLst>
          </p:cNvPr>
          <p:cNvSpPr/>
          <p:nvPr/>
        </p:nvSpPr>
        <p:spPr>
          <a:xfrm>
            <a:off x="3750646" y="4235112"/>
            <a:ext cx="612648" cy="612648"/>
          </a:xfrm>
          <a:prstGeom prst="ellipse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latin typeface="+mj-lt"/>
              </a:rPr>
              <a:t>3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04C07EC8-E728-8CB3-BEA7-A11466B4B47F}"/>
              </a:ext>
            </a:extLst>
          </p:cNvPr>
          <p:cNvSpPr/>
          <p:nvPr/>
        </p:nvSpPr>
        <p:spPr>
          <a:xfrm>
            <a:off x="2679492" y="5770063"/>
            <a:ext cx="612648" cy="612648"/>
          </a:xfrm>
          <a:prstGeom prst="ellipse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latin typeface="+mj-lt"/>
              </a:rPr>
              <a:t>4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16A46E06-1CA2-D54A-F884-F0CF6F7A7D5F}"/>
              </a:ext>
            </a:extLst>
          </p:cNvPr>
          <p:cNvSpPr/>
          <p:nvPr/>
        </p:nvSpPr>
        <p:spPr>
          <a:xfrm>
            <a:off x="4764549" y="5008691"/>
            <a:ext cx="612648" cy="612648"/>
          </a:xfrm>
          <a:prstGeom prst="ellipse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latin typeface="+mj-lt"/>
              </a:rPr>
              <a:t>6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EA7EA92A-DAF0-7E2B-8E27-19C40D9D931F}"/>
              </a:ext>
            </a:extLst>
          </p:cNvPr>
          <p:cNvCxnSpPr>
            <a:stCxn id="24" idx="6"/>
            <a:endCxn id="26" idx="2"/>
          </p:cNvCxnSpPr>
          <p:nvPr/>
        </p:nvCxnSpPr>
        <p:spPr>
          <a:xfrm flipV="1">
            <a:off x="3307101" y="4541436"/>
            <a:ext cx="443545" cy="6118"/>
          </a:xfrm>
          <a:prstGeom prst="straightConnector1">
            <a:avLst/>
          </a:prstGeom>
          <a:ln w="25400">
            <a:solidFill>
              <a:srgbClr val="0E47A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9F896A63-ACAD-9406-8819-C85ED774053E}"/>
              </a:ext>
            </a:extLst>
          </p:cNvPr>
          <p:cNvSpPr/>
          <p:nvPr/>
        </p:nvSpPr>
        <p:spPr>
          <a:xfrm>
            <a:off x="3324904" y="4176532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a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5B29659-6AAC-EEFA-53FE-B7C1BC47F125}"/>
              </a:ext>
            </a:extLst>
          </p:cNvPr>
          <p:cNvSpPr/>
          <p:nvPr/>
        </p:nvSpPr>
        <p:spPr>
          <a:xfrm>
            <a:off x="3324904" y="6121799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b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56D4EF30-CA6B-1692-E255-DFAB415CFD0D}"/>
              </a:ext>
            </a:extLst>
          </p:cNvPr>
          <p:cNvCxnSpPr>
            <a:stCxn id="26" idx="5"/>
          </p:cNvCxnSpPr>
          <p:nvPr/>
        </p:nvCxnSpPr>
        <p:spPr>
          <a:xfrm>
            <a:off x="4273574" y="4758040"/>
            <a:ext cx="575811" cy="380659"/>
          </a:xfrm>
          <a:prstGeom prst="straightConnector1">
            <a:avLst/>
          </a:prstGeom>
          <a:ln w="25400">
            <a:solidFill>
              <a:srgbClr val="0E47A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7833D027-DCA5-0DC0-B26B-A458E91CBE18}"/>
              </a:ext>
            </a:extLst>
          </p:cNvPr>
          <p:cNvCxnSpPr>
            <a:endCxn id="28" idx="3"/>
          </p:cNvCxnSpPr>
          <p:nvPr/>
        </p:nvCxnSpPr>
        <p:spPr>
          <a:xfrm flipV="1">
            <a:off x="4341857" y="5531619"/>
            <a:ext cx="512412" cy="381436"/>
          </a:xfrm>
          <a:prstGeom prst="straightConnector1">
            <a:avLst/>
          </a:prstGeom>
          <a:ln w="25400">
            <a:solidFill>
              <a:srgbClr val="0E47A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E4B4CF1C-E833-07AF-6014-BAE8B933AB40}"/>
              </a:ext>
            </a:extLst>
          </p:cNvPr>
          <p:cNvSpPr/>
          <p:nvPr/>
        </p:nvSpPr>
        <p:spPr>
          <a:xfrm>
            <a:off x="2135437" y="5695701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8634159-F3CA-2734-98BC-F82DFADB260E}"/>
              </a:ext>
            </a:extLst>
          </p:cNvPr>
          <p:cNvSpPr/>
          <p:nvPr/>
        </p:nvSpPr>
        <p:spPr>
          <a:xfrm>
            <a:off x="2163983" y="4656233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C0DB5F1-6A33-03E5-FF28-98513AC78101}"/>
              </a:ext>
            </a:extLst>
          </p:cNvPr>
          <p:cNvSpPr/>
          <p:nvPr/>
        </p:nvSpPr>
        <p:spPr>
          <a:xfrm>
            <a:off x="4447415" y="4591449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FD65372-6D86-388A-CAE8-301AA2E9EF02}"/>
              </a:ext>
            </a:extLst>
          </p:cNvPr>
          <p:cNvSpPr/>
          <p:nvPr/>
        </p:nvSpPr>
        <p:spPr>
          <a:xfrm>
            <a:off x="4458094" y="5756981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0846214E-6E32-173D-7E48-F8A35F8C6D7C}"/>
              </a:ext>
            </a:extLst>
          </p:cNvPr>
          <p:cNvCxnSpPr>
            <a:stCxn id="23" idx="7"/>
            <a:endCxn id="24" idx="3"/>
          </p:cNvCxnSpPr>
          <p:nvPr/>
        </p:nvCxnSpPr>
        <p:spPr>
          <a:xfrm flipV="1">
            <a:off x="2224305" y="4764158"/>
            <a:ext cx="559868" cy="334253"/>
          </a:xfrm>
          <a:prstGeom prst="straightConnector1">
            <a:avLst/>
          </a:prstGeom>
          <a:ln w="25400">
            <a:solidFill>
              <a:srgbClr val="0E47A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3FD26681-AC1D-7A4F-9040-1769B8C35D0B}"/>
              </a:ext>
            </a:extLst>
          </p:cNvPr>
          <p:cNvCxnSpPr>
            <a:stCxn id="23" idx="5"/>
            <a:endCxn id="27" idx="1"/>
          </p:cNvCxnSpPr>
          <p:nvPr/>
        </p:nvCxnSpPr>
        <p:spPr>
          <a:xfrm>
            <a:off x="2224305" y="5531619"/>
            <a:ext cx="544907" cy="328164"/>
          </a:xfrm>
          <a:prstGeom prst="straightConnector1">
            <a:avLst/>
          </a:prstGeom>
          <a:ln w="25400">
            <a:solidFill>
              <a:srgbClr val="0E47A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5E20BD9E-17DD-C66C-2C90-2EF926C66549}"/>
              </a:ext>
            </a:extLst>
          </p:cNvPr>
          <p:cNvCxnSpPr/>
          <p:nvPr/>
        </p:nvCxnSpPr>
        <p:spPr>
          <a:xfrm>
            <a:off x="1276036" y="5315015"/>
            <a:ext cx="419092" cy="1"/>
          </a:xfrm>
          <a:prstGeom prst="straightConnector1">
            <a:avLst/>
          </a:prstGeom>
          <a:ln w="25400">
            <a:solidFill>
              <a:srgbClr val="0E47A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id="{3DB27F14-56B9-CAE7-0378-8CDCAF7F4916}"/>
              </a:ext>
            </a:extLst>
          </p:cNvPr>
          <p:cNvSpPr/>
          <p:nvPr/>
        </p:nvSpPr>
        <p:spPr>
          <a:xfrm>
            <a:off x="4842273" y="5086415"/>
            <a:ext cx="457200" cy="4572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5FBE2E3B-7C8C-1422-40D5-48CA498FC588}"/>
              </a:ext>
            </a:extLst>
          </p:cNvPr>
          <p:cNvCxnSpPr>
            <a:stCxn id="27" idx="6"/>
          </p:cNvCxnSpPr>
          <p:nvPr/>
        </p:nvCxnSpPr>
        <p:spPr>
          <a:xfrm flipV="1">
            <a:off x="3292140" y="6067264"/>
            <a:ext cx="514048" cy="9123"/>
          </a:xfrm>
          <a:prstGeom prst="straightConnector1">
            <a:avLst/>
          </a:prstGeom>
          <a:ln w="25400">
            <a:solidFill>
              <a:srgbClr val="0E47A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Content Placeholder 2">
                <a:extLst>
                  <a:ext uri="{FF2B5EF4-FFF2-40B4-BE49-F238E27FC236}">
                    <a16:creationId xmlns:a16="http://schemas.microsoft.com/office/drawing/2014/main" id="{5BA62692-7251-951F-3405-C42D2A7EDC60}"/>
                  </a:ext>
                </a:extLst>
              </p:cNvPr>
              <p:cNvSpPr txBox="1"/>
              <p:nvPr/>
            </p:nvSpPr>
            <p:spPr>
              <a:xfrm>
                <a:off x="6189257" y="863443"/>
                <a:ext cx="5728707" cy="559056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rgbClr val="0E47A1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E47A1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E47A1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E47A1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E47A1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457200" indent="-457200">
                  <a:buFont typeface="+mj-lt"/>
                  <a:buAutoNum type="arabicPeriod" startAt="5"/>
                </a:pPr>
                <a:r>
                  <a:rPr lang="en-US"/>
                  <a:t>For regular expression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/>
                  <a:t>* </a:t>
                </a:r>
              </a:p>
              <a:p>
                <a:pPr marL="457200" indent="-457200">
                  <a:buFont typeface="+mj-lt"/>
                  <a:buAutoNum type="arabicPeriod" startAt="5"/>
                </a:pPr>
                <a:endParaRPr lang="en-US"/>
              </a:p>
              <a:p>
                <a:pPr marL="457200" indent="-457200">
                  <a:buFont typeface="+mj-lt"/>
                  <a:buAutoNum type="arabicPeriod" startAt="5"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457200" indent="-457200">
                  <a:buFont typeface="+mj-lt"/>
                  <a:buAutoNum type="arabicPeriod" startAt="3"/>
                </a:pPr>
                <a:endParaRPr lang="en-US"/>
              </a:p>
              <a:p>
                <a:pPr marL="457200" indent="-457200">
                  <a:buFont typeface="+mj-lt"/>
                  <a:buAutoNum type="arabicPeriod" startAt="3"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Ex: a*</a:t>
                </a:r>
              </a:p>
              <a:p>
                <a:endParaRPr lang="en-US"/>
              </a:p>
            </p:txBody>
          </p:sp>
        </mc:Choice>
        <mc:Fallback xmlns="">
          <p:sp>
            <p:nvSpPr>
              <p:cNvPr id="43" name="Content Placeholder 2">
                <a:extLst>
                  <a:ext uri="{FF2B5EF4-FFF2-40B4-BE49-F238E27FC236}">
                    <a16:creationId xmlns:a16="http://schemas.microsoft.com/office/drawing/2014/main" id="{5BA62692-7251-951F-3405-C42D2A7EDC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9257" y="863443"/>
                <a:ext cx="5728707" cy="5590565"/>
              </a:xfrm>
              <a:prstGeom prst="rect">
                <a:avLst/>
              </a:prstGeom>
              <a:blipFill>
                <a:blip r:embed="rId5"/>
                <a:stretch>
                  <a:fillRect l="-1702" t="-174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0BFEC4C4-A67E-FA4A-995F-15DBD45A7325}"/>
                  </a:ext>
                </a:extLst>
              </p:cNvPr>
              <p:cNvSpPr/>
              <p:nvPr/>
            </p:nvSpPr>
            <p:spPr>
              <a:xfrm>
                <a:off x="7069689" y="2230213"/>
                <a:ext cx="609600" cy="609600"/>
              </a:xfrm>
              <a:prstGeom prst="ellipse">
                <a:avLst/>
              </a:prstGeom>
              <a:solidFill>
                <a:srgbClr val="0E47A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=""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0BFEC4C4-A67E-FA4A-995F-15DBD45A732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9689" y="2230213"/>
                <a:ext cx="609600" cy="609600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DDF3DFFB-1481-2BE6-AF4F-D0CD907F4024}"/>
                  </a:ext>
                </a:extLst>
              </p:cNvPr>
              <p:cNvSpPr/>
              <p:nvPr/>
            </p:nvSpPr>
            <p:spPr>
              <a:xfrm>
                <a:off x="10694783" y="2242105"/>
                <a:ext cx="609600" cy="609600"/>
              </a:xfrm>
              <a:prstGeom prst="ellipse">
                <a:avLst/>
              </a:prstGeom>
              <a:solidFill>
                <a:srgbClr val="0E47A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=""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DDF3DFFB-1481-2BE6-AF4F-D0CD907F402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94783" y="2242105"/>
                <a:ext cx="609600" cy="609600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77847FB6-C1E7-F526-EF0A-60EF8E22F203}"/>
              </a:ext>
            </a:extLst>
          </p:cNvPr>
          <p:cNvCxnSpPr/>
          <p:nvPr/>
        </p:nvCxnSpPr>
        <p:spPr>
          <a:xfrm>
            <a:off x="6483902" y="2561185"/>
            <a:ext cx="609600" cy="0"/>
          </a:xfrm>
          <a:prstGeom prst="straightConnector1">
            <a:avLst/>
          </a:prstGeom>
          <a:ln w="25400">
            <a:solidFill>
              <a:srgbClr val="0E47A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Oval 46">
            <a:extLst>
              <a:ext uri="{FF2B5EF4-FFF2-40B4-BE49-F238E27FC236}">
                <a16:creationId xmlns:a16="http://schemas.microsoft.com/office/drawing/2014/main" id="{C9EB3455-37CC-9227-3ADC-6A90CFD55F2D}"/>
              </a:ext>
            </a:extLst>
          </p:cNvPr>
          <p:cNvSpPr/>
          <p:nvPr/>
        </p:nvSpPr>
        <p:spPr>
          <a:xfrm>
            <a:off x="10770983" y="2318305"/>
            <a:ext cx="457200" cy="4572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396E685-E390-0C45-A265-46115A18850A}"/>
              </a:ext>
            </a:extLst>
          </p:cNvPr>
          <p:cNvSpPr/>
          <p:nvPr/>
        </p:nvSpPr>
        <p:spPr>
          <a:xfrm>
            <a:off x="6325527" y="2175423"/>
            <a:ext cx="721543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start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69C0B07F-901C-2A3E-C093-6011CCBCE96A}"/>
              </a:ext>
            </a:extLst>
          </p:cNvPr>
          <p:cNvSpPr/>
          <p:nvPr/>
        </p:nvSpPr>
        <p:spPr>
          <a:xfrm>
            <a:off x="8312038" y="2121294"/>
            <a:ext cx="2057400" cy="766762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N(s)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C5334EEF-A1FB-8F07-C14A-7A2B40DBC8CD}"/>
              </a:ext>
            </a:extLst>
          </p:cNvPr>
          <p:cNvSpPr/>
          <p:nvPr/>
        </p:nvSpPr>
        <p:spPr>
          <a:xfrm>
            <a:off x="8622329" y="2323670"/>
            <a:ext cx="436544" cy="408391"/>
          </a:xfrm>
          <a:prstGeom prst="ellipse">
            <a:avLst/>
          </a:prstGeom>
          <a:noFill/>
          <a:ln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CB816C8A-82D3-B812-8C18-CB89F2467868}"/>
              </a:ext>
            </a:extLst>
          </p:cNvPr>
          <p:cNvSpPr/>
          <p:nvPr/>
        </p:nvSpPr>
        <p:spPr>
          <a:xfrm>
            <a:off x="9598949" y="2330097"/>
            <a:ext cx="436544" cy="408391"/>
          </a:xfrm>
          <a:prstGeom prst="ellipse">
            <a:avLst/>
          </a:prstGeom>
          <a:noFill/>
          <a:ln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en-US">
              <a:latin typeface="+mj-lt"/>
            </a:endParaRP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6C036B21-2F5D-196A-C703-048C48DB3522}"/>
              </a:ext>
            </a:extLst>
          </p:cNvPr>
          <p:cNvCxnSpPr>
            <a:stCxn id="44" idx="6"/>
            <a:endCxn id="50" idx="2"/>
          </p:cNvCxnSpPr>
          <p:nvPr/>
        </p:nvCxnSpPr>
        <p:spPr>
          <a:xfrm flipV="1">
            <a:off x="7679289" y="2527866"/>
            <a:ext cx="943040" cy="7147"/>
          </a:xfrm>
          <a:prstGeom prst="straightConnector1">
            <a:avLst/>
          </a:prstGeom>
          <a:ln w="25400">
            <a:solidFill>
              <a:srgbClr val="0E47A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9EF5DA32-625C-DD0B-0AF5-6303C47A106B}"/>
              </a:ext>
            </a:extLst>
          </p:cNvPr>
          <p:cNvCxnSpPr>
            <a:stCxn id="51" idx="6"/>
            <a:endCxn id="45" idx="2"/>
          </p:cNvCxnSpPr>
          <p:nvPr/>
        </p:nvCxnSpPr>
        <p:spPr>
          <a:xfrm>
            <a:off x="10035493" y="2534293"/>
            <a:ext cx="659290" cy="12612"/>
          </a:xfrm>
          <a:prstGeom prst="straightConnector1">
            <a:avLst/>
          </a:prstGeom>
          <a:ln w="25400">
            <a:solidFill>
              <a:srgbClr val="0E47A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ctangle 53">
            <a:extLst>
              <a:ext uri="{FF2B5EF4-FFF2-40B4-BE49-F238E27FC236}">
                <a16:creationId xmlns:a16="http://schemas.microsoft.com/office/drawing/2014/main" id="{BD997A1A-0BC1-4CFC-67B1-A4AAD82C5845}"/>
              </a:ext>
            </a:extLst>
          </p:cNvPr>
          <p:cNvSpPr/>
          <p:nvPr/>
        </p:nvSpPr>
        <p:spPr>
          <a:xfrm>
            <a:off x="7826046" y="2165319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474FC81E-C243-602F-E447-24C7C675CA33}"/>
              </a:ext>
            </a:extLst>
          </p:cNvPr>
          <p:cNvSpPr/>
          <p:nvPr/>
        </p:nvSpPr>
        <p:spPr>
          <a:xfrm>
            <a:off x="10348874" y="2169971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56" name="Curved Connector 55">
            <a:extLst>
              <a:ext uri="{FF2B5EF4-FFF2-40B4-BE49-F238E27FC236}">
                <a16:creationId xmlns:a16="http://schemas.microsoft.com/office/drawing/2014/main" id="{CBD3154A-AC22-813A-AD62-20B9D17DC384}"/>
              </a:ext>
            </a:extLst>
          </p:cNvPr>
          <p:cNvCxnSpPr>
            <a:stCxn id="51" idx="0"/>
            <a:endCxn id="50" idx="0"/>
          </p:cNvCxnSpPr>
          <p:nvPr/>
        </p:nvCxnSpPr>
        <p:spPr>
          <a:xfrm rot="16200000" flipV="1">
            <a:off x="9325698" y="1838574"/>
            <a:ext cx="6427" cy="976620"/>
          </a:xfrm>
          <a:prstGeom prst="curvedConnector3">
            <a:avLst>
              <a:gd name="adj1" fmla="val 8547565"/>
            </a:avLst>
          </a:prstGeom>
          <a:ln w="25400">
            <a:solidFill>
              <a:srgbClr val="0E47A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urved Connector 56">
            <a:extLst>
              <a:ext uri="{FF2B5EF4-FFF2-40B4-BE49-F238E27FC236}">
                <a16:creationId xmlns:a16="http://schemas.microsoft.com/office/drawing/2014/main" id="{3B79FDA9-F7C9-86C3-E026-A4F48C47FE9B}"/>
              </a:ext>
            </a:extLst>
          </p:cNvPr>
          <p:cNvCxnSpPr>
            <a:stCxn id="44" idx="4"/>
            <a:endCxn id="45" idx="4"/>
          </p:cNvCxnSpPr>
          <p:nvPr/>
        </p:nvCxnSpPr>
        <p:spPr>
          <a:xfrm rot="16200000" flipH="1">
            <a:off x="9181090" y="1033212"/>
            <a:ext cx="11892" cy="3625094"/>
          </a:xfrm>
          <a:prstGeom prst="curvedConnector3">
            <a:avLst>
              <a:gd name="adj1" fmla="val 6093054"/>
            </a:avLst>
          </a:prstGeom>
          <a:ln w="25400">
            <a:solidFill>
              <a:srgbClr val="0E47A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Rectangle 57">
            <a:extLst>
              <a:ext uri="{FF2B5EF4-FFF2-40B4-BE49-F238E27FC236}">
                <a16:creationId xmlns:a16="http://schemas.microsoft.com/office/drawing/2014/main" id="{8B98DC24-5AD0-237F-C5A5-92B0AE41B091}"/>
              </a:ext>
            </a:extLst>
          </p:cNvPr>
          <p:cNvSpPr/>
          <p:nvPr/>
        </p:nvSpPr>
        <p:spPr>
          <a:xfrm>
            <a:off x="9040057" y="3198179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BE6B2E3C-7B72-9761-BBBD-533ADD1745EC}"/>
              </a:ext>
            </a:extLst>
          </p:cNvPr>
          <p:cNvSpPr/>
          <p:nvPr/>
        </p:nvSpPr>
        <p:spPr>
          <a:xfrm>
            <a:off x="9225862" y="1428199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764E3BE5-EEE2-56BE-F056-AE5784BD12E0}"/>
              </a:ext>
            </a:extLst>
          </p:cNvPr>
          <p:cNvSpPr/>
          <p:nvPr/>
        </p:nvSpPr>
        <p:spPr>
          <a:xfrm>
            <a:off x="6741769" y="4662608"/>
            <a:ext cx="609600" cy="609600"/>
          </a:xfrm>
          <a:prstGeom prst="ellipse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>
                <a:latin typeface="+mj-lt"/>
              </a:rPr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Oval 60">
                <a:extLst>
                  <a:ext uri="{FF2B5EF4-FFF2-40B4-BE49-F238E27FC236}">
                    <a16:creationId xmlns:a16="http://schemas.microsoft.com/office/drawing/2014/main" id="{B3A2784D-2A92-6063-6868-2A8521DFBAB7}"/>
                  </a:ext>
                </a:extLst>
              </p:cNvPr>
              <p:cNvSpPr/>
              <p:nvPr/>
            </p:nvSpPr>
            <p:spPr>
              <a:xfrm>
                <a:off x="10366863" y="4687947"/>
                <a:ext cx="609600" cy="609600"/>
              </a:xfrm>
              <a:prstGeom prst="ellipse">
                <a:avLst/>
              </a:prstGeom>
              <a:solidFill>
                <a:srgbClr val="0E47A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="">
          <p:sp>
            <p:nvSpPr>
              <p:cNvPr id="61" name="Oval 60">
                <a:extLst>
                  <a:ext uri="{FF2B5EF4-FFF2-40B4-BE49-F238E27FC236}">
                    <a16:creationId xmlns:a16="http://schemas.microsoft.com/office/drawing/2014/main" id="{B3A2784D-2A92-6063-6868-2A8521DFBAB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66863" y="4687947"/>
                <a:ext cx="609600" cy="609600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924A56B3-EE56-9390-B3B4-14321D61E282}"/>
              </a:ext>
            </a:extLst>
          </p:cNvPr>
          <p:cNvCxnSpPr/>
          <p:nvPr/>
        </p:nvCxnSpPr>
        <p:spPr>
          <a:xfrm>
            <a:off x="6155982" y="4993580"/>
            <a:ext cx="609600" cy="0"/>
          </a:xfrm>
          <a:prstGeom prst="straightConnector1">
            <a:avLst/>
          </a:prstGeom>
          <a:ln w="25400">
            <a:solidFill>
              <a:srgbClr val="0E47A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Oval 62">
            <a:extLst>
              <a:ext uri="{FF2B5EF4-FFF2-40B4-BE49-F238E27FC236}">
                <a16:creationId xmlns:a16="http://schemas.microsoft.com/office/drawing/2014/main" id="{BAB2E8AC-F546-61CD-BD4F-1230A0EA2F21}"/>
              </a:ext>
            </a:extLst>
          </p:cNvPr>
          <p:cNvSpPr/>
          <p:nvPr/>
        </p:nvSpPr>
        <p:spPr>
          <a:xfrm>
            <a:off x="10452102" y="4772224"/>
            <a:ext cx="438912" cy="441046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en-US">
              <a:latin typeface="+mj-lt"/>
            </a:endParaRPr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9E5B4AFA-0846-CBBB-77AF-EA0BAA49FAA0}"/>
              </a:ext>
            </a:extLst>
          </p:cNvPr>
          <p:cNvCxnSpPr>
            <a:stCxn id="60" idx="6"/>
            <a:endCxn id="71" idx="2"/>
          </p:cNvCxnSpPr>
          <p:nvPr/>
        </p:nvCxnSpPr>
        <p:spPr>
          <a:xfrm>
            <a:off x="7351369" y="4967408"/>
            <a:ext cx="601643" cy="11892"/>
          </a:xfrm>
          <a:prstGeom prst="straightConnector1">
            <a:avLst/>
          </a:prstGeom>
          <a:ln w="25400">
            <a:solidFill>
              <a:srgbClr val="0E47A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C461BA13-B7A3-7478-CB86-8074AC366692}"/>
              </a:ext>
            </a:extLst>
          </p:cNvPr>
          <p:cNvCxnSpPr>
            <a:stCxn id="72" idx="6"/>
            <a:endCxn id="61" idx="2"/>
          </p:cNvCxnSpPr>
          <p:nvPr/>
        </p:nvCxnSpPr>
        <p:spPr>
          <a:xfrm>
            <a:off x="9734255" y="4980853"/>
            <a:ext cx="632608" cy="11894"/>
          </a:xfrm>
          <a:prstGeom prst="straightConnector1">
            <a:avLst/>
          </a:prstGeom>
          <a:ln w="25400">
            <a:solidFill>
              <a:srgbClr val="0E47A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Rectangle 65">
            <a:extLst>
              <a:ext uri="{FF2B5EF4-FFF2-40B4-BE49-F238E27FC236}">
                <a16:creationId xmlns:a16="http://schemas.microsoft.com/office/drawing/2014/main" id="{B2C1281F-81F9-409A-3FF0-14CAEDDBA418}"/>
              </a:ext>
            </a:extLst>
          </p:cNvPr>
          <p:cNvSpPr/>
          <p:nvPr/>
        </p:nvSpPr>
        <p:spPr>
          <a:xfrm>
            <a:off x="7498126" y="4597714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6E2495B4-558D-32C0-6366-0E2CF90406F4}"/>
              </a:ext>
            </a:extLst>
          </p:cNvPr>
          <p:cNvSpPr/>
          <p:nvPr/>
        </p:nvSpPr>
        <p:spPr>
          <a:xfrm>
            <a:off x="9831966" y="4597714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68" name="Curved Connector 67">
            <a:extLst>
              <a:ext uri="{FF2B5EF4-FFF2-40B4-BE49-F238E27FC236}">
                <a16:creationId xmlns:a16="http://schemas.microsoft.com/office/drawing/2014/main" id="{36EE9E25-70FD-5982-E0D2-229AFA5B912D}"/>
              </a:ext>
            </a:extLst>
          </p:cNvPr>
          <p:cNvCxnSpPr/>
          <p:nvPr/>
        </p:nvCxnSpPr>
        <p:spPr>
          <a:xfrm rot="16200000" flipH="1">
            <a:off x="8853170" y="3465607"/>
            <a:ext cx="11892" cy="3625094"/>
          </a:xfrm>
          <a:prstGeom prst="curvedConnector3">
            <a:avLst>
              <a:gd name="adj1" fmla="val 6347477"/>
            </a:avLst>
          </a:prstGeom>
          <a:ln w="25400">
            <a:solidFill>
              <a:srgbClr val="0E47A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Rectangle 68">
            <a:extLst>
              <a:ext uri="{FF2B5EF4-FFF2-40B4-BE49-F238E27FC236}">
                <a16:creationId xmlns:a16="http://schemas.microsoft.com/office/drawing/2014/main" id="{081A8545-4F55-5150-7180-68D7FAFE76C7}"/>
              </a:ext>
            </a:extLst>
          </p:cNvPr>
          <p:cNvSpPr/>
          <p:nvPr/>
        </p:nvSpPr>
        <p:spPr>
          <a:xfrm>
            <a:off x="8680528" y="5644379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C9793C6A-556B-0728-09DD-EFF521F4A3B0}"/>
              </a:ext>
            </a:extLst>
          </p:cNvPr>
          <p:cNvSpPr/>
          <p:nvPr/>
        </p:nvSpPr>
        <p:spPr>
          <a:xfrm>
            <a:off x="8625474" y="3822232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407D5945-B6A1-BFD2-B3A2-6D16657FEED6}"/>
              </a:ext>
            </a:extLst>
          </p:cNvPr>
          <p:cNvSpPr/>
          <p:nvPr/>
        </p:nvSpPr>
        <p:spPr>
          <a:xfrm>
            <a:off x="7953012" y="4674500"/>
            <a:ext cx="609600" cy="609600"/>
          </a:xfrm>
          <a:prstGeom prst="ellipse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>
                <a:latin typeface="+mj-lt"/>
              </a:rPr>
              <a:t>2</a:t>
            </a: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E0707E6E-A8F4-6289-6367-FD5602E4F341}"/>
              </a:ext>
            </a:extLst>
          </p:cNvPr>
          <p:cNvSpPr/>
          <p:nvPr/>
        </p:nvSpPr>
        <p:spPr>
          <a:xfrm>
            <a:off x="9124655" y="4676053"/>
            <a:ext cx="609600" cy="609600"/>
          </a:xfrm>
          <a:prstGeom prst="ellipse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>
                <a:latin typeface="+mj-lt"/>
              </a:rPr>
              <a:t>3</a:t>
            </a: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C8B92A9E-7533-2F73-4B5D-8C990FC3BA84}"/>
              </a:ext>
            </a:extLst>
          </p:cNvPr>
          <p:cNvCxnSpPr>
            <a:stCxn id="71" idx="6"/>
            <a:endCxn id="72" idx="2"/>
          </p:cNvCxnSpPr>
          <p:nvPr/>
        </p:nvCxnSpPr>
        <p:spPr>
          <a:xfrm>
            <a:off x="8562612" y="4979300"/>
            <a:ext cx="562043" cy="1553"/>
          </a:xfrm>
          <a:prstGeom prst="straightConnector1">
            <a:avLst/>
          </a:prstGeom>
          <a:ln w="25400">
            <a:solidFill>
              <a:srgbClr val="0E47A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Rectangle 73">
                <a:extLst>
                  <a:ext uri="{FF2B5EF4-FFF2-40B4-BE49-F238E27FC236}">
                    <a16:creationId xmlns:a16="http://schemas.microsoft.com/office/drawing/2014/main" id="{AF3D7DF7-8E83-C468-44C3-96124B09566B}"/>
                  </a:ext>
                </a:extLst>
              </p:cNvPr>
              <p:cNvSpPr/>
              <p:nvPr/>
            </p:nvSpPr>
            <p:spPr>
              <a:xfrm>
                <a:off x="8688932" y="4563824"/>
                <a:ext cx="357176" cy="30956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>
                  <a:solidFill>
                    <a:schemeClr val="tx1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74" name="Rectangle 73">
                <a:extLst>
                  <a:ext uri="{FF2B5EF4-FFF2-40B4-BE49-F238E27FC236}">
                    <a16:creationId xmlns:a16="http://schemas.microsoft.com/office/drawing/2014/main" id="{AF3D7DF7-8E83-C468-44C3-96124B09566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8932" y="4563824"/>
                <a:ext cx="357176" cy="30956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5" name="Curved Connector 74">
            <a:extLst>
              <a:ext uri="{FF2B5EF4-FFF2-40B4-BE49-F238E27FC236}">
                <a16:creationId xmlns:a16="http://schemas.microsoft.com/office/drawing/2014/main" id="{632908E3-A3A6-37DE-5385-611F2D3029DD}"/>
              </a:ext>
            </a:extLst>
          </p:cNvPr>
          <p:cNvCxnSpPr>
            <a:stCxn id="72" idx="0"/>
            <a:endCxn id="71" idx="0"/>
          </p:cNvCxnSpPr>
          <p:nvPr/>
        </p:nvCxnSpPr>
        <p:spPr>
          <a:xfrm rot="16200000" flipV="1">
            <a:off x="8842858" y="4089455"/>
            <a:ext cx="1553" cy="1171643"/>
          </a:xfrm>
          <a:prstGeom prst="curvedConnector3">
            <a:avLst>
              <a:gd name="adj1" fmla="val 33869156"/>
            </a:avLst>
          </a:prstGeom>
          <a:ln w="25400">
            <a:solidFill>
              <a:srgbClr val="0E47A1"/>
            </a:solidFill>
            <a:headEnd type="none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B95F2EA6-B72C-B000-6080-4F0415478DC8}"/>
              </a:ext>
            </a:extLst>
          </p:cNvPr>
          <p:cNvCxnSpPr/>
          <p:nvPr/>
        </p:nvCxnSpPr>
        <p:spPr>
          <a:xfrm rot="5400000">
            <a:off x="3171592" y="3545520"/>
            <a:ext cx="5486400" cy="0"/>
          </a:xfrm>
          <a:prstGeom prst="line">
            <a:avLst/>
          </a:prstGeom>
          <a:ln>
            <a:solidFill>
              <a:srgbClr val="0E47A1"/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321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2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6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9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22" presetClass="entr" presetSubtype="8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4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6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7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0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22" presetClass="entr" presetSubtype="8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8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1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3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4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6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7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0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3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6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9" fill="hold">
                      <p:stCondLst>
                        <p:cond delay="indefinite"/>
                      </p:stCondLst>
                      <p:childTnLst>
                        <p:par>
                          <p:cTn id="240" fill="hold">
                            <p:stCondLst>
                              <p:cond delay="0"/>
                            </p:stCondLst>
                            <p:childTnLst>
                              <p:par>
                                <p:cTn id="241" presetID="22" presetClass="entr" presetSubtype="2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3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4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6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7" fill="hold">
                            <p:stCondLst>
                              <p:cond delay="500"/>
                            </p:stCondLst>
                            <p:childTnLst>
                              <p:par>
                                <p:cTn id="248" presetID="22" presetClass="entr" presetSubtype="8" dur="50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1" fill="hold">
                            <p:stCondLst>
                              <p:cond delay="1500"/>
                            </p:stCondLst>
                            <p:childTnLst>
                              <p:par>
                                <p:cTn id="252" presetID="22" presetClass="entr" presetSubtype="8" dur="5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9" grpId="0"/>
      <p:bldP spid="20" grpId="0"/>
      <p:bldP spid="21" grpId="0"/>
      <p:bldP spid="22" grpId="0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30" grpId="0"/>
      <p:bldP spid="31" grpId="0"/>
      <p:bldP spid="34" grpId="0"/>
      <p:bldP spid="35" grpId="0"/>
      <p:bldP spid="36" grpId="0"/>
      <p:bldP spid="37" grpId="0"/>
      <p:bldP spid="41" grpId="0" animBg="1"/>
      <p:bldP spid="44" grpId="0" animBg="1"/>
      <p:bldP spid="45" grpId="0" animBg="1"/>
      <p:bldP spid="47" grpId="0" animBg="1"/>
      <p:bldP spid="48" grpId="0"/>
      <p:bldP spid="49" grpId="0" animBg="1"/>
      <p:bldP spid="50" grpId="0" animBg="1"/>
      <p:bldP spid="51" grpId="0" animBg="1"/>
      <p:bldP spid="54" grpId="0"/>
      <p:bldP spid="55" grpId="0"/>
      <p:bldP spid="58" grpId="0"/>
      <p:bldP spid="59" grpId="0"/>
      <p:bldP spid="60" grpId="0" animBg="1"/>
      <p:bldP spid="61" grpId="0" animBg="1"/>
      <p:bldP spid="63" grpId="0" animBg="1"/>
      <p:bldP spid="66" grpId="0"/>
      <p:bldP spid="67" grpId="0"/>
      <p:bldP spid="69" grpId="0"/>
      <p:bldP spid="70" grpId="0"/>
      <p:bldP spid="71" grpId="0" animBg="1"/>
      <p:bldP spid="72" grpId="0" animBg="1"/>
      <p:bldP spid="7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C8734-805E-94F8-9AAD-6FD6A1525EEB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 sz="4000" dirty="0"/>
              <a:t>Regular expression to NFA using Thompson's rule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0559BF-E69B-750B-82E1-26368FF2EBF8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a*b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b*ab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8B573F9-6F4A-80E7-4DB6-34239D312A14}"/>
              </a:ext>
            </a:extLst>
          </p:cNvPr>
          <p:cNvSpPr/>
          <p:nvPr/>
        </p:nvSpPr>
        <p:spPr>
          <a:xfrm>
            <a:off x="2512220" y="1872260"/>
            <a:ext cx="609600" cy="609600"/>
          </a:xfrm>
          <a:prstGeom prst="ellipse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>
                <a:latin typeface="+mj-lt"/>
              </a:rPr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C3E523B3-5983-930C-28F8-EAC447F4A3FB}"/>
                  </a:ext>
                </a:extLst>
              </p:cNvPr>
              <p:cNvSpPr/>
              <p:nvPr/>
            </p:nvSpPr>
            <p:spPr>
              <a:xfrm>
                <a:off x="6162698" y="1881180"/>
                <a:ext cx="609600" cy="609600"/>
              </a:xfrm>
              <a:prstGeom prst="ellipse">
                <a:avLst/>
              </a:prstGeom>
              <a:solidFill>
                <a:srgbClr val="0E47A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="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C3E523B3-5983-930C-28F8-EAC447F4A3F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2698" y="1881180"/>
                <a:ext cx="609600" cy="609600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B2CE671-CFE5-9CD3-648F-89139A68802D}"/>
              </a:ext>
            </a:extLst>
          </p:cNvPr>
          <p:cNvCxnSpPr/>
          <p:nvPr/>
        </p:nvCxnSpPr>
        <p:spPr>
          <a:xfrm>
            <a:off x="1926433" y="2185972"/>
            <a:ext cx="609600" cy="0"/>
          </a:xfrm>
          <a:prstGeom prst="straightConnector1">
            <a:avLst/>
          </a:prstGeom>
          <a:ln w="25400">
            <a:solidFill>
              <a:srgbClr val="0E47A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0B870F8-9620-76A8-87FB-A29EF9606EF3}"/>
              </a:ext>
            </a:extLst>
          </p:cNvPr>
          <p:cNvCxnSpPr>
            <a:endCxn id="5" idx="2"/>
          </p:cNvCxnSpPr>
          <p:nvPr/>
        </p:nvCxnSpPr>
        <p:spPr>
          <a:xfrm>
            <a:off x="5410200" y="2185979"/>
            <a:ext cx="752498" cy="1"/>
          </a:xfrm>
          <a:prstGeom prst="straightConnector1">
            <a:avLst/>
          </a:prstGeom>
          <a:ln w="25400">
            <a:solidFill>
              <a:srgbClr val="0E47A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66FC1748-3992-6DB0-5BFF-EE54F799305D}"/>
              </a:ext>
            </a:extLst>
          </p:cNvPr>
          <p:cNvSpPr/>
          <p:nvPr/>
        </p:nvSpPr>
        <p:spPr>
          <a:xfrm>
            <a:off x="3268577" y="1804394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ADA0C98-4229-5AE3-7AF9-4B65DD0600DC}"/>
              </a:ext>
            </a:extLst>
          </p:cNvPr>
          <p:cNvSpPr/>
          <p:nvPr/>
        </p:nvSpPr>
        <p:spPr>
          <a:xfrm>
            <a:off x="5602417" y="1804394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10" name="Curved Connector 9">
            <a:extLst>
              <a:ext uri="{FF2B5EF4-FFF2-40B4-BE49-F238E27FC236}">
                <a16:creationId xmlns:a16="http://schemas.microsoft.com/office/drawing/2014/main" id="{A3DAA771-80C6-F61E-BDC8-06C5ADDA8BE3}"/>
              </a:ext>
            </a:extLst>
          </p:cNvPr>
          <p:cNvCxnSpPr>
            <a:stCxn id="4" idx="4"/>
            <a:endCxn id="5" idx="4"/>
          </p:cNvCxnSpPr>
          <p:nvPr/>
        </p:nvCxnSpPr>
        <p:spPr>
          <a:xfrm rot="16200000" flipH="1">
            <a:off x="4637799" y="661081"/>
            <a:ext cx="8920" cy="3650478"/>
          </a:xfrm>
          <a:prstGeom prst="curvedConnector3">
            <a:avLst>
              <a:gd name="adj1" fmla="val 9446614"/>
            </a:avLst>
          </a:prstGeom>
          <a:ln w="25400">
            <a:solidFill>
              <a:srgbClr val="0E47A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6D5E5FC3-A982-96A4-A148-FB19564A21CA}"/>
              </a:ext>
            </a:extLst>
          </p:cNvPr>
          <p:cNvSpPr/>
          <p:nvPr/>
        </p:nvSpPr>
        <p:spPr>
          <a:xfrm>
            <a:off x="4450979" y="2851059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B831D7F-DB95-5172-4570-D99425590863}"/>
              </a:ext>
            </a:extLst>
          </p:cNvPr>
          <p:cNvSpPr/>
          <p:nvPr/>
        </p:nvSpPr>
        <p:spPr>
          <a:xfrm>
            <a:off x="3729046" y="1878206"/>
            <a:ext cx="609600" cy="609600"/>
          </a:xfrm>
          <a:prstGeom prst="ellipse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>
                <a:latin typeface="+mj-lt"/>
              </a:rPr>
              <a:t>2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6911B81-4B3A-B160-9A97-68B3BC53F53B}"/>
              </a:ext>
            </a:extLst>
          </p:cNvPr>
          <p:cNvSpPr/>
          <p:nvPr/>
        </p:nvSpPr>
        <p:spPr>
          <a:xfrm>
            <a:off x="4945872" y="1869286"/>
            <a:ext cx="609600" cy="609600"/>
          </a:xfrm>
          <a:prstGeom prst="ellipse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>
                <a:latin typeface="+mj-lt"/>
              </a:rPr>
              <a:t>3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9E59E2D-C141-209A-5A06-4D6B37B3C428}"/>
              </a:ext>
            </a:extLst>
          </p:cNvPr>
          <p:cNvCxnSpPr/>
          <p:nvPr/>
        </p:nvCxnSpPr>
        <p:spPr>
          <a:xfrm flipV="1">
            <a:off x="4352092" y="2180032"/>
            <a:ext cx="594360" cy="2974"/>
          </a:xfrm>
          <a:prstGeom prst="straightConnector1">
            <a:avLst/>
          </a:prstGeom>
          <a:ln w="25400">
            <a:solidFill>
              <a:srgbClr val="0E47A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9D95935E-0CB4-F9CA-FBA2-9DFA3BAF0373}"/>
                  </a:ext>
                </a:extLst>
              </p:cNvPr>
              <p:cNvSpPr/>
              <p:nvPr/>
            </p:nvSpPr>
            <p:spPr>
              <a:xfrm>
                <a:off x="4459383" y="1770504"/>
                <a:ext cx="357176" cy="30956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>
                  <a:solidFill>
                    <a:schemeClr val="tx1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9D95935E-0CB4-F9CA-FBA2-9DFA3BAF037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9383" y="1770504"/>
                <a:ext cx="357176" cy="30956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Curved Connector 15">
            <a:extLst>
              <a:ext uri="{FF2B5EF4-FFF2-40B4-BE49-F238E27FC236}">
                <a16:creationId xmlns:a16="http://schemas.microsoft.com/office/drawing/2014/main" id="{88CAB0C1-2E8D-0F64-3BE9-D8FB4CFE33A2}"/>
              </a:ext>
            </a:extLst>
          </p:cNvPr>
          <p:cNvCxnSpPr/>
          <p:nvPr/>
        </p:nvCxnSpPr>
        <p:spPr>
          <a:xfrm rot="16200000" flipH="1" flipV="1">
            <a:off x="4608138" y="1289412"/>
            <a:ext cx="11894" cy="1171643"/>
          </a:xfrm>
          <a:prstGeom prst="curvedConnector3">
            <a:avLst>
              <a:gd name="adj1" fmla="val -4444611"/>
            </a:avLst>
          </a:prstGeom>
          <a:ln w="25400">
            <a:solidFill>
              <a:srgbClr val="0E47A1"/>
            </a:solidFill>
            <a:headEnd type="none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DAC01303-D559-3556-38B3-F4BB225561C4}"/>
                  </a:ext>
                </a:extLst>
              </p:cNvPr>
              <p:cNvSpPr/>
              <p:nvPr/>
            </p:nvSpPr>
            <p:spPr>
              <a:xfrm>
                <a:off x="7379522" y="1875233"/>
                <a:ext cx="609600" cy="609600"/>
              </a:xfrm>
              <a:prstGeom prst="ellipse">
                <a:avLst/>
              </a:prstGeom>
              <a:solidFill>
                <a:srgbClr val="0E47A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=""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DAC01303-D559-3556-38B3-F4BB225561C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9522" y="1875233"/>
                <a:ext cx="609600" cy="609600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033BC7D1-5D90-756C-9DD2-33F2C15C42BE}"/>
                  </a:ext>
                </a:extLst>
              </p:cNvPr>
              <p:cNvSpPr/>
              <p:nvPr/>
            </p:nvSpPr>
            <p:spPr>
              <a:xfrm>
                <a:off x="6884630" y="1757315"/>
                <a:ext cx="357176" cy="30956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>
                  <a:solidFill>
                    <a:schemeClr val="tx1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033BC7D1-5D90-756C-9DD2-33F2C15C42B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4630" y="1757315"/>
                <a:ext cx="357176" cy="309562"/>
              </a:xfrm>
              <a:prstGeom prst="rect">
                <a:avLst/>
              </a:prstGeom>
              <a:blipFill>
                <a:blip r:embed="rId5"/>
                <a:stretch>
                  <a:fillRect b="-196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Oval 18">
            <a:extLst>
              <a:ext uri="{FF2B5EF4-FFF2-40B4-BE49-F238E27FC236}">
                <a16:creationId xmlns:a16="http://schemas.microsoft.com/office/drawing/2014/main" id="{E6615C72-3A71-B9E1-3EB3-08954CEEF85E}"/>
              </a:ext>
            </a:extLst>
          </p:cNvPr>
          <p:cNvSpPr/>
          <p:nvPr/>
        </p:nvSpPr>
        <p:spPr>
          <a:xfrm>
            <a:off x="7455722" y="1951433"/>
            <a:ext cx="457200" cy="4572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en-US">
              <a:latin typeface="+mj-lt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BE067A4-B0F6-444F-F7A3-31C3587C8635}"/>
              </a:ext>
            </a:extLst>
          </p:cNvPr>
          <p:cNvCxnSpPr/>
          <p:nvPr/>
        </p:nvCxnSpPr>
        <p:spPr>
          <a:xfrm flipV="1">
            <a:off x="3128142" y="2197701"/>
            <a:ext cx="594360" cy="2974"/>
          </a:xfrm>
          <a:prstGeom prst="straightConnector1">
            <a:avLst/>
          </a:prstGeom>
          <a:ln w="25400">
            <a:solidFill>
              <a:srgbClr val="0E47A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6F9FD9D-5083-BBF6-0438-C95C5F15EA8E}"/>
              </a:ext>
            </a:extLst>
          </p:cNvPr>
          <p:cNvCxnSpPr/>
          <p:nvPr/>
        </p:nvCxnSpPr>
        <p:spPr>
          <a:xfrm flipV="1">
            <a:off x="6760351" y="2197701"/>
            <a:ext cx="594360" cy="2974"/>
          </a:xfrm>
          <a:prstGeom prst="straightConnector1">
            <a:avLst/>
          </a:prstGeom>
          <a:ln w="25400">
            <a:solidFill>
              <a:srgbClr val="0E47A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2B2355EC-98A6-C6F3-24FC-A43125E73425}"/>
              </a:ext>
            </a:extLst>
          </p:cNvPr>
          <p:cNvSpPr/>
          <p:nvPr/>
        </p:nvSpPr>
        <p:spPr>
          <a:xfrm>
            <a:off x="1643413" y="4738128"/>
            <a:ext cx="609600" cy="609600"/>
          </a:xfrm>
          <a:prstGeom prst="ellipse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>
                <a:latin typeface="+mj-lt"/>
              </a:rPr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4FEF34CB-30DE-D37F-C39C-34CD355D93A6}"/>
                  </a:ext>
                </a:extLst>
              </p:cNvPr>
              <p:cNvSpPr/>
              <p:nvPr/>
            </p:nvSpPr>
            <p:spPr>
              <a:xfrm>
                <a:off x="5286001" y="4761874"/>
                <a:ext cx="609600" cy="609600"/>
              </a:xfrm>
              <a:prstGeom prst="ellipse">
                <a:avLst/>
              </a:prstGeom>
              <a:solidFill>
                <a:srgbClr val="0E47A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=""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4FEF34CB-30DE-D37F-C39C-34CD355D93A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6001" y="4761874"/>
                <a:ext cx="609600" cy="609600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C4616CC-8E62-06D1-142C-253015EBDE53}"/>
              </a:ext>
            </a:extLst>
          </p:cNvPr>
          <p:cNvCxnSpPr/>
          <p:nvPr/>
        </p:nvCxnSpPr>
        <p:spPr>
          <a:xfrm>
            <a:off x="1057626" y="5057229"/>
            <a:ext cx="609600" cy="0"/>
          </a:xfrm>
          <a:prstGeom prst="straightConnector1">
            <a:avLst/>
          </a:prstGeom>
          <a:ln w="25400">
            <a:solidFill>
              <a:srgbClr val="0E47A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73C2B9E7-017F-853F-C442-726346BE2F86}"/>
              </a:ext>
            </a:extLst>
          </p:cNvPr>
          <p:cNvCxnSpPr>
            <a:stCxn id="22" idx="6"/>
            <a:endCxn id="31" idx="2"/>
          </p:cNvCxnSpPr>
          <p:nvPr/>
        </p:nvCxnSpPr>
        <p:spPr>
          <a:xfrm flipV="1">
            <a:off x="2253013" y="5042057"/>
            <a:ext cx="632772" cy="871"/>
          </a:xfrm>
          <a:prstGeom prst="straightConnector1">
            <a:avLst/>
          </a:prstGeom>
          <a:ln w="25400">
            <a:solidFill>
              <a:srgbClr val="0E47A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398A6EAA-51DB-2F87-8767-63BC187AD8DF}"/>
              </a:ext>
            </a:extLst>
          </p:cNvPr>
          <p:cNvSpPr/>
          <p:nvPr/>
        </p:nvSpPr>
        <p:spPr>
          <a:xfrm>
            <a:off x="2399770" y="4661363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B817812-C47C-F398-446F-7F12C8A5FCDC}"/>
              </a:ext>
            </a:extLst>
          </p:cNvPr>
          <p:cNvSpPr/>
          <p:nvPr/>
        </p:nvSpPr>
        <p:spPr>
          <a:xfrm>
            <a:off x="4733610" y="4661363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28" name="Curved Connector 27">
            <a:extLst>
              <a:ext uri="{FF2B5EF4-FFF2-40B4-BE49-F238E27FC236}">
                <a16:creationId xmlns:a16="http://schemas.microsoft.com/office/drawing/2014/main" id="{41226D5A-EB19-9089-7057-F2DD658807AA}"/>
              </a:ext>
            </a:extLst>
          </p:cNvPr>
          <p:cNvCxnSpPr>
            <a:stCxn id="22" idx="4"/>
            <a:endCxn id="23" idx="4"/>
          </p:cNvCxnSpPr>
          <p:nvPr/>
        </p:nvCxnSpPr>
        <p:spPr>
          <a:xfrm rot="16200000" flipH="1">
            <a:off x="3757634" y="3538307"/>
            <a:ext cx="23746" cy="3642588"/>
          </a:xfrm>
          <a:prstGeom prst="curvedConnector3">
            <a:avLst>
              <a:gd name="adj1" fmla="val 3610983"/>
            </a:avLst>
          </a:prstGeom>
          <a:ln w="25400">
            <a:solidFill>
              <a:srgbClr val="0E47A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AE57D9E2-157B-8EAD-EE47-F94C4187D6D6}"/>
              </a:ext>
            </a:extLst>
          </p:cNvPr>
          <p:cNvSpPr/>
          <p:nvPr/>
        </p:nvSpPr>
        <p:spPr>
          <a:xfrm>
            <a:off x="3590919" y="5814419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87C0DD7-55CE-5B56-88CE-6F98E7D2B53D}"/>
              </a:ext>
            </a:extLst>
          </p:cNvPr>
          <p:cNvSpPr/>
          <p:nvPr/>
        </p:nvSpPr>
        <p:spPr>
          <a:xfrm>
            <a:off x="3527118" y="3885881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F6C4FEDB-0D07-B201-468A-20F658BCA126}"/>
              </a:ext>
            </a:extLst>
          </p:cNvPr>
          <p:cNvSpPr/>
          <p:nvPr/>
        </p:nvSpPr>
        <p:spPr>
          <a:xfrm>
            <a:off x="2885785" y="4737257"/>
            <a:ext cx="609600" cy="609600"/>
          </a:xfrm>
          <a:prstGeom prst="ellipse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>
                <a:latin typeface="+mj-lt"/>
              </a:rPr>
              <a:t>2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F5E5C92B-9FCE-1461-F6AA-2C5C78534B78}"/>
              </a:ext>
            </a:extLst>
          </p:cNvPr>
          <p:cNvSpPr/>
          <p:nvPr/>
        </p:nvSpPr>
        <p:spPr>
          <a:xfrm>
            <a:off x="4085252" y="4750001"/>
            <a:ext cx="609600" cy="609600"/>
          </a:xfrm>
          <a:prstGeom prst="ellipse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>
                <a:latin typeface="+mj-lt"/>
              </a:rPr>
              <a:t>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3D62A6F2-EA2A-1C1D-611D-B0CD684EADC6}"/>
                  </a:ext>
                </a:extLst>
              </p:cNvPr>
              <p:cNvSpPr/>
              <p:nvPr/>
            </p:nvSpPr>
            <p:spPr>
              <a:xfrm>
                <a:off x="3564291" y="4680972"/>
                <a:ext cx="357176" cy="30956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>
                  <a:solidFill>
                    <a:schemeClr val="tx1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3D62A6F2-EA2A-1C1D-611D-B0CD684EADC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4291" y="4680972"/>
                <a:ext cx="357176" cy="309562"/>
              </a:xfrm>
              <a:prstGeom prst="rect">
                <a:avLst/>
              </a:prstGeom>
              <a:blipFill>
                <a:blip r:embed="rId7"/>
                <a:stretch>
                  <a:fillRect b="-196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Curved Connector 33">
            <a:extLst>
              <a:ext uri="{FF2B5EF4-FFF2-40B4-BE49-F238E27FC236}">
                <a16:creationId xmlns:a16="http://schemas.microsoft.com/office/drawing/2014/main" id="{A50C64E5-5F31-C14D-0A27-1C4F12DDEECC}"/>
              </a:ext>
            </a:extLst>
          </p:cNvPr>
          <p:cNvCxnSpPr/>
          <p:nvPr/>
        </p:nvCxnSpPr>
        <p:spPr>
          <a:xfrm rot="16200000" flipH="1" flipV="1">
            <a:off x="3752778" y="4173275"/>
            <a:ext cx="11894" cy="1171643"/>
          </a:xfrm>
          <a:prstGeom prst="curvedConnector3">
            <a:avLst>
              <a:gd name="adj1" fmla="val -4444611"/>
            </a:avLst>
          </a:prstGeom>
          <a:ln w="25400">
            <a:solidFill>
              <a:srgbClr val="0E47A1"/>
            </a:solidFill>
            <a:headEnd type="none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4742BCDA-6CC9-2C4E-C570-4C9D6A748F3A}"/>
                  </a:ext>
                </a:extLst>
              </p:cNvPr>
              <p:cNvSpPr/>
              <p:nvPr/>
            </p:nvSpPr>
            <p:spPr>
              <a:xfrm>
                <a:off x="7714394" y="4773747"/>
                <a:ext cx="609600" cy="612648"/>
              </a:xfrm>
              <a:prstGeom prst="ellipse">
                <a:avLst/>
              </a:prstGeom>
              <a:solidFill>
                <a:srgbClr val="0E47A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=""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4742BCDA-6CC9-2C4E-C570-4C9D6A748F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4394" y="4773747"/>
                <a:ext cx="609600" cy="612648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D21D8AC4-9518-FE30-DC5C-672535BC6CBA}"/>
              </a:ext>
            </a:extLst>
          </p:cNvPr>
          <p:cNvCxnSpPr>
            <a:stCxn id="37" idx="6"/>
            <a:endCxn id="35" idx="2"/>
          </p:cNvCxnSpPr>
          <p:nvPr/>
        </p:nvCxnSpPr>
        <p:spPr>
          <a:xfrm>
            <a:off x="7109797" y="5078547"/>
            <a:ext cx="604597" cy="1524"/>
          </a:xfrm>
          <a:prstGeom prst="straightConnector1">
            <a:avLst/>
          </a:prstGeom>
          <a:ln w="25400">
            <a:solidFill>
              <a:srgbClr val="0E47A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Oval 36">
            <a:extLst>
              <a:ext uri="{FF2B5EF4-FFF2-40B4-BE49-F238E27FC236}">
                <a16:creationId xmlns:a16="http://schemas.microsoft.com/office/drawing/2014/main" id="{83119142-ED89-40BD-0CB9-FE4922C155FF}"/>
              </a:ext>
            </a:extLst>
          </p:cNvPr>
          <p:cNvSpPr/>
          <p:nvPr/>
        </p:nvSpPr>
        <p:spPr>
          <a:xfrm>
            <a:off x="6500197" y="4773747"/>
            <a:ext cx="609600" cy="609600"/>
          </a:xfrm>
          <a:prstGeom prst="ellipse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>
                <a:latin typeface="+mj-lt"/>
              </a:rPr>
              <a:t>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0F9F5A0D-4BC4-5EE2-F9E2-9769D2DEBC06}"/>
                  </a:ext>
                </a:extLst>
              </p:cNvPr>
              <p:cNvSpPr/>
              <p:nvPr/>
            </p:nvSpPr>
            <p:spPr>
              <a:xfrm>
                <a:off x="6005208" y="4661363"/>
                <a:ext cx="357176" cy="30956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>
                  <a:solidFill>
                    <a:schemeClr val="tx1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0F9F5A0D-4BC4-5EE2-F9E2-9769D2DEBC0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5208" y="4661363"/>
                <a:ext cx="357176" cy="30956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3C7AEF59-9C39-90E3-874B-737DAFC1A270}"/>
                  </a:ext>
                </a:extLst>
              </p:cNvPr>
              <p:cNvSpPr/>
              <p:nvPr/>
            </p:nvSpPr>
            <p:spPr>
              <a:xfrm>
                <a:off x="7219502" y="4661755"/>
                <a:ext cx="357176" cy="30956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>
                  <a:solidFill>
                    <a:schemeClr val="tx1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3C7AEF59-9C39-90E3-874B-737DAFC1A27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9502" y="4661755"/>
                <a:ext cx="357176" cy="309562"/>
              </a:xfrm>
              <a:prstGeom prst="rect">
                <a:avLst/>
              </a:prstGeom>
              <a:blipFill>
                <a:blip r:embed="rId10"/>
                <a:stretch>
                  <a:fillRect b="-196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Oval 39">
            <a:extLst>
              <a:ext uri="{FF2B5EF4-FFF2-40B4-BE49-F238E27FC236}">
                <a16:creationId xmlns:a16="http://schemas.microsoft.com/office/drawing/2014/main" id="{F41EFC44-68BE-5608-0F7C-AE806F1977BC}"/>
              </a:ext>
            </a:extLst>
          </p:cNvPr>
          <p:cNvSpPr/>
          <p:nvPr/>
        </p:nvSpPr>
        <p:spPr>
          <a:xfrm>
            <a:off x="7790594" y="4851471"/>
            <a:ext cx="457200" cy="4572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en-US">
              <a:latin typeface="+mj-lt"/>
            </a:endParaRP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F0927F0F-6BD9-559E-749A-BDB63B2D2CFB}"/>
              </a:ext>
            </a:extLst>
          </p:cNvPr>
          <p:cNvCxnSpPr/>
          <p:nvPr/>
        </p:nvCxnSpPr>
        <p:spPr>
          <a:xfrm flipV="1">
            <a:off x="3467209" y="5069843"/>
            <a:ext cx="632772" cy="871"/>
          </a:xfrm>
          <a:prstGeom prst="straightConnector1">
            <a:avLst/>
          </a:prstGeom>
          <a:ln w="25400">
            <a:solidFill>
              <a:srgbClr val="0E47A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7CDEAFE7-3A2D-8500-8424-51C3AE1C1405}"/>
              </a:ext>
            </a:extLst>
          </p:cNvPr>
          <p:cNvCxnSpPr/>
          <p:nvPr/>
        </p:nvCxnSpPr>
        <p:spPr>
          <a:xfrm flipV="1">
            <a:off x="4696565" y="5075892"/>
            <a:ext cx="632772" cy="871"/>
          </a:xfrm>
          <a:prstGeom prst="straightConnector1">
            <a:avLst/>
          </a:prstGeom>
          <a:ln w="25400">
            <a:solidFill>
              <a:srgbClr val="0E47A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4532D5C4-DF0B-48DC-1709-D8A02B8BBA89}"/>
              </a:ext>
            </a:extLst>
          </p:cNvPr>
          <p:cNvCxnSpPr/>
          <p:nvPr/>
        </p:nvCxnSpPr>
        <p:spPr>
          <a:xfrm flipV="1">
            <a:off x="5906956" y="5085437"/>
            <a:ext cx="632772" cy="871"/>
          </a:xfrm>
          <a:prstGeom prst="straightConnector1">
            <a:avLst/>
          </a:prstGeom>
          <a:ln w="25400">
            <a:solidFill>
              <a:srgbClr val="0E47A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1599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2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2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8" grpId="0"/>
      <p:bldP spid="9" grpId="0"/>
      <p:bldP spid="11" grpId="0"/>
      <p:bldP spid="12" grpId="0" animBg="1"/>
      <p:bldP spid="13" grpId="0" animBg="1"/>
      <p:bldP spid="15" grpId="0"/>
      <p:bldP spid="17" grpId="0" animBg="1"/>
      <p:bldP spid="18" grpId="0"/>
      <p:bldP spid="19" grpId="0" animBg="1"/>
      <p:bldP spid="22" grpId="0" animBg="1"/>
      <p:bldP spid="23" grpId="0" animBg="1"/>
      <p:bldP spid="26" grpId="0"/>
      <p:bldP spid="27" grpId="0"/>
      <p:bldP spid="29" grpId="0"/>
      <p:bldP spid="30" grpId="0"/>
      <p:bldP spid="31" grpId="0" animBg="1"/>
      <p:bldP spid="32" grpId="0" animBg="1"/>
      <p:bldP spid="33" grpId="0"/>
      <p:bldP spid="35" grpId="0" animBg="1"/>
      <p:bldP spid="37" grpId="0" animBg="1"/>
      <p:bldP spid="38" grpId="0"/>
      <p:bldP spid="39" grpId="0"/>
      <p:bldP spid="4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27D25-9C0C-4D63-6D05-41E8D22EFE13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9726CC-6774-3C01-2D1B-D80D5A55D47D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200"/>
              <a:t>Convert following regular expression to NFA: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/>
              <a:t>abba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/>
              <a:t>bb(a)*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/>
              <a:t>(a|b)*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/>
              <a:t>a* | b*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/>
              <a:t>a(a)*ab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/>
              <a:t>aa*+ bb*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/>
              <a:t>(a+b)*abb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/>
              <a:t>10(0+1)*1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/>
              <a:t>(a+b)*a(a+b)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/>
              <a:t>(0+1)*010(0+1)*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/>
              <a:t>(010+00)*(10)*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200"/>
              <a:t>100(1)*00(0+1)*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1044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C56AF-6D09-BED6-1142-10B0B35F671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Conversion from NFA to DFA using subset construction method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435FAA-0620-B619-8393-CA3E1A7476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92423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7AF97-3561-8A5D-9326-30CEFBDC9A84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Subset construction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FBD3493-BF50-461B-2F36-9C52C96F6D0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80" y="863444"/>
                <a:ext cx="11929641" cy="5590565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1pPr>
                <a:lvl2pPr marL="6858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b="1">
                    <a:solidFill>
                      <a:srgbClr val="0E47A1"/>
                    </a:solidFill>
                  </a:rPr>
                  <a:t>Input</a:t>
                </a:r>
                <a:r>
                  <a:rPr lang="en-US">
                    <a:solidFill>
                      <a:srgbClr val="0E47A1"/>
                    </a:solidFill>
                  </a:rPr>
                  <a:t>: </a:t>
                </a:r>
                <a:r>
                  <a:rPr lang="en-US"/>
                  <a:t>An NFA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/>
                  <a:t>.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b="1">
                    <a:solidFill>
                      <a:srgbClr val="0E47A1"/>
                    </a:solidFill>
                  </a:rPr>
                  <a:t>Output</a:t>
                </a:r>
                <a:r>
                  <a:rPr lang="en-US">
                    <a:solidFill>
                      <a:srgbClr val="0E47A1"/>
                    </a:solidFill>
                  </a:rPr>
                  <a:t>: </a:t>
                </a:r>
                <a:r>
                  <a:rPr lang="en-US"/>
                  <a:t>A DFA  D accepting the same language.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b="1">
                    <a:solidFill>
                      <a:srgbClr val="0E47A1"/>
                    </a:solidFill>
                  </a:rPr>
                  <a:t>Method</a:t>
                </a:r>
                <a:r>
                  <a:rPr lang="en-US">
                    <a:solidFill>
                      <a:srgbClr val="0E47A1"/>
                    </a:solidFill>
                  </a:rPr>
                  <a:t>: </a:t>
                </a:r>
                <a:r>
                  <a:rPr lang="en-US"/>
                  <a:t>Algorithm construct a transition table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𝐷𝑡𝑟𝑎𝑛</m:t>
                    </m:r>
                  </m:oMath>
                </a14:m>
                <a:r>
                  <a:rPr lang="en-US"/>
                  <a:t> for D. We use the following operation:</a:t>
                </a:r>
              </a:p>
              <a:p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FBD3493-BF50-461B-2F36-9C52C96F6D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80" y="863444"/>
                <a:ext cx="11929641" cy="5590565"/>
              </a:xfrm>
              <a:prstGeom prst="rect">
                <a:avLst/>
              </a:prstGeom>
              <a:blipFill>
                <a:blip r:embed="rId2"/>
                <a:stretch>
                  <a:fillRect l="-1074" t="-1963" r="-10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6F768BC-0B85-F498-96F5-DED480957B9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33239700"/>
              </p:ext>
            </p:extLst>
          </p:nvPr>
        </p:nvGraphicFramePr>
        <p:xfrm>
          <a:off x="1133477" y="2887982"/>
          <a:ext cx="8648701" cy="42672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36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865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ctr"/>
                      <a:r>
                        <a:rPr lang="en-US" sz="2200"/>
                        <a:t>OPERATION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DESCRIPTION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Content Placeholder 3">
                <a:extLst>
                  <a:ext uri="{FF2B5EF4-FFF2-40B4-BE49-F238E27FC236}">
                    <a16:creationId xmlns:a16="http://schemas.microsoft.com/office/drawing/2014/main" id="{D70FBA49-A95A-6780-2F72-2668443DAB92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215016094"/>
                  </p:ext>
                </p:extLst>
              </p:nvPr>
            </p:nvGraphicFramePr>
            <p:xfrm>
              <a:off x="1133479" y="3314702"/>
              <a:ext cx="8648701" cy="784035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23622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28650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28381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latin typeface="Cambria Math" panose="02040503050406030204" pitchFamily="18" charset="0"/>
                                    <a:sym typeface="Symbol" pitchFamily="18" charset="2"/>
                                  </a:rPr>
                                  <m:t></m:t>
                                </m:r>
                                <m:r>
                                  <a:rPr lang="en-US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𝑐𝑙𝑜𝑠𝑢𝑟𝑒</m:t>
                                </m:r>
                                <m:r>
                                  <a:rPr lang="en-US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200" b="0">
                            <a:solidFill>
                              <a:schemeClr val="tx1"/>
                            </a:solidFill>
                            <a:latin typeface="+mj-lt"/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vl="1" algn="l"/>
                          <a:r>
                            <a:rPr lang="en-US" sz="2200" b="0">
                              <a:latin typeface="+mj-lt"/>
                            </a:rPr>
                            <a:t>Set</a:t>
                          </a:r>
                          <a:r>
                            <a:rPr lang="en-US" sz="2200" b="0" baseline="0">
                              <a:latin typeface="+mj-lt"/>
                            </a:rPr>
                            <a:t> of NFA states reachable from NFA state </a:t>
                          </a:r>
                          <a14:m>
                            <m:oMath xmlns:m="http://schemas.openxmlformats.org/officeDocument/2006/math">
                              <m:r>
                                <a:rPr lang="en-US" sz="2200" b="0" i="1" baseline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oMath>
                          </a14:m>
                          <a:r>
                            <a:rPr lang="en-US" sz="2200" b="0" baseline="0">
                              <a:latin typeface="+mj-lt"/>
                            </a:rPr>
                            <a:t> on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  <a:sym typeface="Symbol" pitchFamily="18" charset="2"/>
                                </a:rPr>
                                <m:t></m:t>
                              </m:r>
                            </m:oMath>
                          </a14:m>
                          <a:r>
                            <a:rPr lang="en-US" sz="2200" b="0" baseline="0">
                              <a:latin typeface="+mj-lt"/>
                            </a:rPr>
                            <a:t>– transition alone.</a:t>
                          </a:r>
                          <a:endParaRPr lang="en-US" sz="2200" b="0">
                            <a:latin typeface="+mj-lt"/>
                          </a:endParaRP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Content Placeholder 3">
                <a:extLst>
                  <a:ext uri="{FF2B5EF4-FFF2-40B4-BE49-F238E27FC236}">
                    <a16:creationId xmlns:a16="http://schemas.microsoft.com/office/drawing/2014/main" id="{D70FBA49-A95A-6780-2F72-2668443DAB92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215016094"/>
                  </p:ext>
                </p:extLst>
              </p:nvPr>
            </p:nvGraphicFramePr>
            <p:xfrm>
              <a:off x="1133479" y="3314702"/>
              <a:ext cx="8648701" cy="784035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23622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28650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78403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58" t="-4615" r="-266495" b="-153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7694" t="-4615" r="-194" b="-1538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Content Placeholder 3">
                <a:extLst>
                  <a:ext uri="{FF2B5EF4-FFF2-40B4-BE49-F238E27FC236}">
                    <a16:creationId xmlns:a16="http://schemas.microsoft.com/office/drawing/2014/main" id="{E7CCE7A7-9676-A37F-DDA3-B1AEA11A0FA8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484245303"/>
                  </p:ext>
                </p:extLst>
              </p:nvPr>
            </p:nvGraphicFramePr>
            <p:xfrm>
              <a:off x="1133478" y="4098737"/>
              <a:ext cx="8648701" cy="784035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23622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28650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28381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latin typeface="Cambria Math" panose="02040503050406030204" pitchFamily="18" charset="0"/>
                                    <a:sym typeface="Symbol" pitchFamily="18" charset="2"/>
                                  </a:rPr>
                                  <m:t></m:t>
                                </m:r>
                                <m:r>
                                  <a:rPr lang="en-US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𝑐𝑙𝑜𝑠𝑢𝑟𝑒</m:t>
                                </m:r>
                                <m:r>
                                  <a:rPr lang="en-US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  <m:r>
                                  <a:rPr lang="en-US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200" b="0">
                            <a:solidFill>
                              <a:schemeClr val="tx1"/>
                            </a:solidFill>
                            <a:latin typeface="+mj-lt"/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vl="1" algn="l"/>
                          <a:r>
                            <a:rPr lang="en-US" sz="2200" b="0">
                              <a:latin typeface="+mj-lt"/>
                            </a:rPr>
                            <a:t>Set</a:t>
                          </a:r>
                          <a:r>
                            <a:rPr lang="en-US" sz="2200" b="0" baseline="0">
                              <a:latin typeface="+mj-lt"/>
                            </a:rPr>
                            <a:t> of NFA states reachable from some NFA state </a:t>
                          </a:r>
                          <a14:m>
                            <m:oMath xmlns:m="http://schemas.openxmlformats.org/officeDocument/2006/math">
                              <m:r>
                                <a:rPr lang="en-US" sz="2200" b="0" i="1" baseline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oMath>
                          </a14:m>
                          <a:r>
                            <a:rPr lang="en-US" sz="2200" b="0" baseline="0">
                              <a:latin typeface="+mj-lt"/>
                            </a:rPr>
                            <a:t> in </a:t>
                          </a:r>
                          <a14:m>
                            <m:oMath xmlns:m="http://schemas.openxmlformats.org/officeDocument/2006/math">
                              <m:r>
                                <a:rPr lang="en-US" sz="2200" b="0" i="1" baseline="0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oMath>
                          </a14:m>
                          <a:r>
                            <a:rPr lang="en-US" sz="2200" b="0" baseline="0">
                              <a:latin typeface="+mj-lt"/>
                            </a:rPr>
                            <a:t> on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  <a:sym typeface="Symbol" pitchFamily="18" charset="2"/>
                                </a:rPr>
                                <m:t></m:t>
                              </m:r>
                            </m:oMath>
                          </a14:m>
                          <a:r>
                            <a:rPr lang="en-US" sz="2200" b="0" baseline="0">
                              <a:latin typeface="+mj-lt"/>
                            </a:rPr>
                            <a:t>– transition alone.</a:t>
                          </a:r>
                          <a:endParaRPr lang="en-US" sz="2200" b="0">
                            <a:latin typeface="+mj-lt"/>
                          </a:endParaRP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Content Placeholder 3">
                <a:extLst>
                  <a:ext uri="{FF2B5EF4-FFF2-40B4-BE49-F238E27FC236}">
                    <a16:creationId xmlns:a16="http://schemas.microsoft.com/office/drawing/2014/main" id="{E7CCE7A7-9676-A37F-DDA3-B1AEA11A0FA8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484245303"/>
                  </p:ext>
                </p:extLst>
              </p:nvPr>
            </p:nvGraphicFramePr>
            <p:xfrm>
              <a:off x="1133478" y="4098737"/>
              <a:ext cx="8648701" cy="784035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23622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28650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78403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58" t="-4651" r="-266495" b="-16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7694" t="-4651" r="-194" b="-16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Content Placeholder 3">
                <a:extLst>
                  <a:ext uri="{FF2B5EF4-FFF2-40B4-BE49-F238E27FC236}">
                    <a16:creationId xmlns:a16="http://schemas.microsoft.com/office/drawing/2014/main" id="{D4DEF91A-351C-0F0E-5323-298574E3EC4A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864058268"/>
                  </p:ext>
                </p:extLst>
              </p:nvPr>
            </p:nvGraphicFramePr>
            <p:xfrm>
              <a:off x="1133477" y="4882772"/>
              <a:ext cx="8648701" cy="76200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23622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28650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28381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sym typeface="Symbol" pitchFamily="18" charset="2"/>
                                  </a:rPr>
                                  <m:t>𝑴𝒐𝒗𝒆</m:t>
                                </m:r>
                                <m:r>
                                  <a:rPr lang="en-US" sz="2000" b="1" i="1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sym typeface="Symbol" pitchFamily="18" charset="2"/>
                                  </a:rPr>
                                  <m:t> </m:t>
                                </m:r>
                                <m:r>
                                  <a:rPr lang="en-US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  <m:r>
                                  <a:rPr lang="en-US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200" b="0">
                            <a:solidFill>
                              <a:schemeClr val="tx1"/>
                            </a:solidFill>
                            <a:latin typeface="+mj-lt"/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vl="1" algn="l"/>
                          <a:r>
                            <a:rPr lang="en-US" sz="2200" b="0">
                              <a:latin typeface="+mj-lt"/>
                            </a:rPr>
                            <a:t>Set</a:t>
                          </a:r>
                          <a:r>
                            <a:rPr lang="en-US" sz="2200" b="0" baseline="0">
                              <a:latin typeface="+mj-lt"/>
                            </a:rPr>
                            <a:t> of NFA states to which there is a transition on input symbol </a:t>
                          </a:r>
                          <a14:m>
                            <m:oMath xmlns:m="http://schemas.openxmlformats.org/officeDocument/2006/math">
                              <m:r>
                                <a:rPr lang="en-US" sz="2200" b="0" i="1" baseline="0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oMath>
                          </a14:m>
                          <a:r>
                            <a:rPr lang="en-US" sz="2200" b="0" baseline="0">
                              <a:latin typeface="+mj-lt"/>
                            </a:rPr>
                            <a:t> from some NFA state </a:t>
                          </a:r>
                          <a14:m>
                            <m:oMath xmlns:m="http://schemas.openxmlformats.org/officeDocument/2006/math">
                              <m:r>
                                <a:rPr lang="en-US" sz="2200" b="0" i="1" baseline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oMath>
                          </a14:m>
                          <a:r>
                            <a:rPr lang="en-US" sz="2200" b="0" baseline="0">
                              <a:latin typeface="+mj-lt"/>
                            </a:rPr>
                            <a:t> in </a:t>
                          </a:r>
                          <a14:m>
                            <m:oMath xmlns:m="http://schemas.openxmlformats.org/officeDocument/2006/math">
                              <m:r>
                                <a:rPr lang="en-US" sz="2200" b="0" i="1" baseline="0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oMath>
                          </a14:m>
                          <a:r>
                            <a:rPr lang="en-US" sz="2200" b="0">
                              <a:latin typeface="+mj-lt"/>
                            </a:rPr>
                            <a:t>.</a:t>
                          </a: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Content Placeholder 3">
                <a:extLst>
                  <a:ext uri="{FF2B5EF4-FFF2-40B4-BE49-F238E27FC236}">
                    <a16:creationId xmlns:a16="http://schemas.microsoft.com/office/drawing/2014/main" id="{D4DEF91A-351C-0F0E-5323-298574E3EC4A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864058268"/>
                  </p:ext>
                </p:extLst>
              </p:nvPr>
            </p:nvGraphicFramePr>
            <p:xfrm>
              <a:off x="1133477" y="4882772"/>
              <a:ext cx="8648701" cy="76200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23622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28650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762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258" t="-4762" r="-266495" b="-158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37694" t="-4762" r="-194" b="-1587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811729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C94B6-58B4-000F-059E-DE1C94B840FA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Subset construction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C9FCCC5-89EC-7CE3-7DCF-6A2EEECB05A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80" y="863444"/>
                <a:ext cx="11929641" cy="5590565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1pPr>
                <a:lvl2pPr marL="6858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dirty="0"/>
                  <a:t>initially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sym typeface="Symbol" pitchFamily="18" charset="2"/>
                      </a:rPr>
                      <m:t>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𝑐𝑙𝑜𝑠𝑢𝑟𝑒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 baseline="-2500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  </m:t>
                    </m:r>
                  </m:oMath>
                </a14:m>
                <a:r>
                  <a:rPr lang="en-US" dirty="0"/>
                  <a:t>be the only state in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𝐷𝑠𝑡𝑎𝑡𝑒𝑠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and it is unmarked;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dirty="0"/>
                  <a:t>while there is unmarked states </a:t>
                </a:r>
                <a:r>
                  <a:rPr lang="en-US" i="1" dirty="0"/>
                  <a:t>T</a:t>
                </a:r>
                <a:r>
                  <a:rPr lang="en-US" dirty="0"/>
                  <a:t> in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𝐷𝑠𝑡𝑎𝑡𝑒𝑠</m:t>
                    </m:r>
                  </m:oMath>
                </a14:m>
                <a:r>
                  <a:rPr lang="en-US" dirty="0"/>
                  <a:t>  </a:t>
                </a:r>
                <a:r>
                  <a:rPr lang="en-US" b="1" i="1" dirty="0"/>
                  <a:t>do begin</a:t>
                </a:r>
              </a:p>
              <a:p>
                <a:pPr marL="0" indent="0" defTabSz="1028700">
                  <a:buFont typeface="Arial" panose="020B0604020202020204" pitchFamily="34" charset="0"/>
                  <a:buNone/>
                </a:pPr>
                <a:r>
                  <a:rPr lang="en-US" dirty="0"/>
                  <a:t>	mark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i="1" dirty="0"/>
                  <a:t>;</a:t>
                </a:r>
                <a:endParaRPr lang="en-US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dirty="0"/>
                  <a:t>		for each input symbol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  </a:t>
                </a:r>
                <a:r>
                  <a:rPr lang="en-US" b="1" i="1" dirty="0"/>
                  <a:t>do begin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dirty="0"/>
                  <a:t>			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=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𝑐𝑙𝑜𝑠𝑢𝑟𝑒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𝑚𝑜𝑣𝑒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;</m:t>
                    </m:r>
                  </m:oMath>
                </a14:m>
                <a:endParaRPr lang="en-US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dirty="0"/>
                  <a:t>			</a:t>
                </a:r>
                <a:r>
                  <a:rPr lang="en-US" b="1" i="1" dirty="0"/>
                  <a:t>if</a:t>
                </a:r>
                <a:r>
                  <a:rPr lang="en-US" dirty="0"/>
                  <a:t>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en-US" dirty="0"/>
                  <a:t>  is not in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𝐷𝑠𝑡𝑎𝑡𝑒𝑠</m:t>
                    </m:r>
                  </m:oMath>
                </a14:m>
                <a:r>
                  <a:rPr lang="en-US" dirty="0"/>
                  <a:t> </a:t>
                </a:r>
                <a:r>
                  <a:rPr lang="en-US" b="1" i="1" dirty="0"/>
                  <a:t>then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dirty="0"/>
                  <a:t>				add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en-US" dirty="0"/>
                  <a:t>  as unmarked state to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𝐷𝑠𝑡𝑎𝑡𝑒𝑠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;</m:t>
                    </m:r>
                  </m:oMath>
                </a14:m>
                <a:endParaRPr lang="en-US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dirty="0"/>
                  <a:t>			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𝐷𝑡𝑟𝑎𝑛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[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] =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endParaRPr lang="en-US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dirty="0"/>
                  <a:t>		</a:t>
                </a:r>
                <a:r>
                  <a:rPr lang="en-US" b="1" i="1" dirty="0"/>
                  <a:t>end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b="1" i="1" dirty="0"/>
                  <a:t>	end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C9FCCC5-89EC-7CE3-7DCF-6A2EEECB05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80" y="863444"/>
                <a:ext cx="11929641" cy="5590565"/>
              </a:xfrm>
              <a:prstGeom prst="rect">
                <a:avLst/>
              </a:prstGeom>
              <a:blipFill>
                <a:blip r:embed="rId2"/>
                <a:stretch>
                  <a:fillRect l="-1074" t="-196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98452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111A8-FF84-2A37-1058-D29494FA0D5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Conversion from NFA to DFA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DDCA5275-E9E3-1B61-4E60-83DBBF093713}"/>
              </a:ext>
            </a:extLst>
          </p:cNvPr>
          <p:cNvSpPr/>
          <p:nvPr/>
        </p:nvSpPr>
        <p:spPr>
          <a:xfrm>
            <a:off x="3241523" y="2832279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8B9B901-6F49-F969-F7DD-09658A5E2F0C}"/>
              </a:ext>
            </a:extLst>
          </p:cNvPr>
          <p:cNvSpPr/>
          <p:nvPr/>
        </p:nvSpPr>
        <p:spPr>
          <a:xfrm>
            <a:off x="224307" y="1112367"/>
            <a:ext cx="9906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+mj-lt"/>
              </a:rPr>
              <a:t>(a|b)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48FC4DF-A208-0215-1489-2F0D59ED7F90}"/>
              </a:ext>
            </a:extLst>
          </p:cNvPr>
          <p:cNvSpPr/>
          <p:nvPr/>
        </p:nvSpPr>
        <p:spPr>
          <a:xfrm>
            <a:off x="876769" y="1039470"/>
            <a:ext cx="338138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+mj-lt"/>
              </a:rPr>
              <a:t>*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6287D14-1448-22E1-9BAF-40288CAD324B}"/>
              </a:ext>
            </a:extLst>
          </p:cNvPr>
          <p:cNvSpPr/>
          <p:nvPr/>
        </p:nvSpPr>
        <p:spPr>
          <a:xfrm>
            <a:off x="994322" y="1112367"/>
            <a:ext cx="6858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err="1">
                <a:solidFill>
                  <a:schemeClr val="tx1"/>
                </a:solidFill>
                <a:latin typeface="+mj-lt"/>
              </a:rPr>
              <a:t>abb</a:t>
            </a:r>
            <a:endParaRPr lang="en-US" sz="24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C92F0F0-838D-7A4D-17F0-2EE7E7BE4295}"/>
              </a:ext>
            </a:extLst>
          </p:cNvPr>
          <p:cNvSpPr/>
          <p:nvPr/>
        </p:nvSpPr>
        <p:spPr>
          <a:xfrm>
            <a:off x="4013288" y="2129740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2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9D36A74-1B35-892F-7CD2-2D8B5E71BA0F}"/>
              </a:ext>
            </a:extLst>
          </p:cNvPr>
          <p:cNvSpPr/>
          <p:nvPr/>
        </p:nvSpPr>
        <p:spPr>
          <a:xfrm>
            <a:off x="5007152" y="3504837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5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0FD4582-6D00-CCB6-C133-04D69622BB5B}"/>
              </a:ext>
            </a:extLst>
          </p:cNvPr>
          <p:cNvSpPr/>
          <p:nvPr/>
        </p:nvSpPr>
        <p:spPr>
          <a:xfrm>
            <a:off x="5007152" y="2148542"/>
            <a:ext cx="457200" cy="438011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3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5809ECE-D673-D853-9D7E-9188EE1989C7}"/>
              </a:ext>
            </a:extLst>
          </p:cNvPr>
          <p:cNvSpPr/>
          <p:nvPr/>
        </p:nvSpPr>
        <p:spPr>
          <a:xfrm>
            <a:off x="3996431" y="3503790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4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CB56659-BC24-6A33-32F0-09CB94D85FB9}"/>
              </a:ext>
            </a:extLst>
          </p:cNvPr>
          <p:cNvSpPr/>
          <p:nvPr/>
        </p:nvSpPr>
        <p:spPr>
          <a:xfrm>
            <a:off x="5740629" y="2817990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6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1464716-EE50-6201-F6B3-23694EE803F6}"/>
              </a:ext>
            </a:extLst>
          </p:cNvPr>
          <p:cNvSpPr/>
          <p:nvPr/>
        </p:nvSpPr>
        <p:spPr>
          <a:xfrm>
            <a:off x="6763118" y="2793056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7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AF5D4A9-05F4-CF69-406E-0448B8781DF6}"/>
              </a:ext>
            </a:extLst>
          </p:cNvPr>
          <p:cNvSpPr/>
          <p:nvPr/>
        </p:nvSpPr>
        <p:spPr>
          <a:xfrm>
            <a:off x="7785607" y="2793056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8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1C30EDC-D0BB-33F6-02ED-C4D2DD49C962}"/>
              </a:ext>
            </a:extLst>
          </p:cNvPr>
          <p:cNvSpPr/>
          <p:nvPr/>
        </p:nvSpPr>
        <p:spPr>
          <a:xfrm>
            <a:off x="8801666" y="2803038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9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621C44F-0605-F856-6AE7-A6B44EF05D64}"/>
              </a:ext>
            </a:extLst>
          </p:cNvPr>
          <p:cNvSpPr/>
          <p:nvPr/>
        </p:nvSpPr>
        <p:spPr>
          <a:xfrm>
            <a:off x="2365231" y="2832278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0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3405E45-2351-7310-0425-2C9432937CD3}"/>
              </a:ext>
            </a:extLst>
          </p:cNvPr>
          <p:cNvSpPr/>
          <p:nvPr/>
        </p:nvSpPr>
        <p:spPr>
          <a:xfrm>
            <a:off x="9824972" y="2791938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10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059B94C-DD73-17BC-2D9C-1D15971D6BC5}"/>
              </a:ext>
            </a:extLst>
          </p:cNvPr>
          <p:cNvCxnSpPr/>
          <p:nvPr/>
        </p:nvCxnSpPr>
        <p:spPr>
          <a:xfrm>
            <a:off x="2835530" y="3052261"/>
            <a:ext cx="419092" cy="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4B816F55-64EF-E0DB-9459-0FD1A4049703}"/>
              </a:ext>
            </a:extLst>
          </p:cNvPr>
          <p:cNvSpPr/>
          <p:nvPr/>
        </p:nvSpPr>
        <p:spPr>
          <a:xfrm>
            <a:off x="2853399" y="2679879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5B6380A-1663-4F74-C7D6-552D26CDEEE5}"/>
              </a:ext>
            </a:extLst>
          </p:cNvPr>
          <p:cNvCxnSpPr/>
          <p:nvPr/>
        </p:nvCxnSpPr>
        <p:spPr>
          <a:xfrm>
            <a:off x="4474530" y="2364431"/>
            <a:ext cx="53949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BFBF1BD7-AB3C-49E8-A26D-28F8165119B3}"/>
              </a:ext>
            </a:extLst>
          </p:cNvPr>
          <p:cNvSpPr/>
          <p:nvPr/>
        </p:nvSpPr>
        <p:spPr>
          <a:xfrm>
            <a:off x="4548806" y="1946925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a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E20A967-1491-24EC-4D09-357CA75C08A4}"/>
              </a:ext>
            </a:extLst>
          </p:cNvPr>
          <p:cNvCxnSpPr>
            <a:stCxn id="10" idx="6"/>
            <a:endCxn id="8" idx="2"/>
          </p:cNvCxnSpPr>
          <p:nvPr/>
        </p:nvCxnSpPr>
        <p:spPr>
          <a:xfrm>
            <a:off x="4453631" y="3732390"/>
            <a:ext cx="553521" cy="1047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3933802C-F655-9A35-90F1-0A64169C592C}"/>
              </a:ext>
            </a:extLst>
          </p:cNvPr>
          <p:cNvSpPr/>
          <p:nvPr/>
        </p:nvSpPr>
        <p:spPr>
          <a:xfrm>
            <a:off x="4548806" y="3744288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b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9B761DE-0CD7-C329-D17F-452EF4E5F0F6}"/>
              </a:ext>
            </a:extLst>
          </p:cNvPr>
          <p:cNvCxnSpPr>
            <a:stCxn id="3" idx="7"/>
            <a:endCxn id="7" idx="3"/>
          </p:cNvCxnSpPr>
          <p:nvPr/>
        </p:nvCxnSpPr>
        <p:spPr>
          <a:xfrm flipV="1">
            <a:off x="3631768" y="2519985"/>
            <a:ext cx="448475" cy="379249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9835035-6D47-E5AA-EEFE-3C1CCC776033}"/>
              </a:ext>
            </a:extLst>
          </p:cNvPr>
          <p:cNvCxnSpPr>
            <a:stCxn id="3" idx="5"/>
            <a:endCxn id="10" idx="1"/>
          </p:cNvCxnSpPr>
          <p:nvPr/>
        </p:nvCxnSpPr>
        <p:spPr>
          <a:xfrm>
            <a:off x="3631768" y="3222524"/>
            <a:ext cx="431618" cy="34822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BF25D46-5F2B-E02A-84AB-99F2DADAFE2C}"/>
              </a:ext>
            </a:extLst>
          </p:cNvPr>
          <p:cNvCxnSpPr>
            <a:stCxn id="9" idx="5"/>
            <a:endCxn id="11" idx="1"/>
          </p:cNvCxnSpPr>
          <p:nvPr/>
        </p:nvCxnSpPr>
        <p:spPr>
          <a:xfrm>
            <a:off x="5397397" y="2522408"/>
            <a:ext cx="410187" cy="362537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83B381D-7254-8C99-1A23-4443037A55F4}"/>
              </a:ext>
            </a:extLst>
          </p:cNvPr>
          <p:cNvCxnSpPr>
            <a:stCxn id="8" idx="7"/>
            <a:endCxn id="11" idx="3"/>
          </p:cNvCxnSpPr>
          <p:nvPr/>
        </p:nvCxnSpPr>
        <p:spPr>
          <a:xfrm flipV="1">
            <a:off x="5397397" y="3208235"/>
            <a:ext cx="410187" cy="363557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88A56CAB-AE8B-F02D-5ABE-75BEF0149C1F}"/>
              </a:ext>
            </a:extLst>
          </p:cNvPr>
          <p:cNvCxnSpPr/>
          <p:nvPr/>
        </p:nvCxnSpPr>
        <p:spPr>
          <a:xfrm>
            <a:off x="6203602" y="3021656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705A0433-43B8-85F0-C2E1-93EB76E9B681}"/>
              </a:ext>
            </a:extLst>
          </p:cNvPr>
          <p:cNvSpPr/>
          <p:nvPr/>
        </p:nvSpPr>
        <p:spPr>
          <a:xfrm>
            <a:off x="6283558" y="2667515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8265D74B-1868-7EEB-33E7-A39048CBC7C0}"/>
              </a:ext>
            </a:extLst>
          </p:cNvPr>
          <p:cNvCxnSpPr/>
          <p:nvPr/>
        </p:nvCxnSpPr>
        <p:spPr>
          <a:xfrm>
            <a:off x="7212992" y="3031638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F47FE56F-283C-FF44-462B-696B5163AC13}"/>
              </a:ext>
            </a:extLst>
          </p:cNvPr>
          <p:cNvSpPr/>
          <p:nvPr/>
        </p:nvSpPr>
        <p:spPr>
          <a:xfrm>
            <a:off x="7292948" y="2677497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a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17747869-4065-19F6-727E-1DF3C8E2CA7D}"/>
              </a:ext>
            </a:extLst>
          </p:cNvPr>
          <p:cNvCxnSpPr/>
          <p:nvPr/>
        </p:nvCxnSpPr>
        <p:spPr>
          <a:xfrm>
            <a:off x="8240498" y="3007824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375F2504-07F3-4A88-A45E-E08EA8B28927}"/>
              </a:ext>
            </a:extLst>
          </p:cNvPr>
          <p:cNvSpPr/>
          <p:nvPr/>
        </p:nvSpPr>
        <p:spPr>
          <a:xfrm>
            <a:off x="8357095" y="2677497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b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04CB0E6-C227-EBF7-D655-2B9DBE3D46E3}"/>
              </a:ext>
            </a:extLst>
          </p:cNvPr>
          <p:cNvCxnSpPr/>
          <p:nvPr/>
        </p:nvCxnSpPr>
        <p:spPr>
          <a:xfrm>
            <a:off x="9266423" y="3019731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7D6AE585-249F-6E43-B27B-201785C8EAE5}"/>
              </a:ext>
            </a:extLst>
          </p:cNvPr>
          <p:cNvSpPr/>
          <p:nvPr/>
        </p:nvSpPr>
        <p:spPr>
          <a:xfrm>
            <a:off x="9353698" y="2677497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b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185A73EA-B71F-80E2-D492-4C11D0B1E0A7}"/>
              </a:ext>
            </a:extLst>
          </p:cNvPr>
          <p:cNvCxnSpPr/>
          <p:nvPr/>
        </p:nvCxnSpPr>
        <p:spPr>
          <a:xfrm>
            <a:off x="2122331" y="3060878"/>
            <a:ext cx="242900" cy="0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Oval 35">
            <a:extLst>
              <a:ext uri="{FF2B5EF4-FFF2-40B4-BE49-F238E27FC236}">
                <a16:creationId xmlns:a16="http://schemas.microsoft.com/office/drawing/2014/main" id="{9888F11F-28B5-FB56-13D8-38E7A3A2207C}"/>
              </a:ext>
            </a:extLst>
          </p:cNvPr>
          <p:cNvSpPr/>
          <p:nvPr/>
        </p:nvSpPr>
        <p:spPr>
          <a:xfrm>
            <a:off x="9870692" y="2837658"/>
            <a:ext cx="365760" cy="36576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CE6BC46-39D5-2386-885B-EE6D564EBA4C}"/>
              </a:ext>
            </a:extLst>
          </p:cNvPr>
          <p:cNvSpPr/>
          <p:nvPr/>
        </p:nvSpPr>
        <p:spPr>
          <a:xfrm>
            <a:off x="3455831" y="3383534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2F27EF4-31D3-B018-9039-13066D63E9FF}"/>
              </a:ext>
            </a:extLst>
          </p:cNvPr>
          <p:cNvSpPr/>
          <p:nvPr/>
        </p:nvSpPr>
        <p:spPr>
          <a:xfrm>
            <a:off x="3514987" y="2381906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A570DA5-F290-54FE-89F1-51AD1BC0800D}"/>
              </a:ext>
            </a:extLst>
          </p:cNvPr>
          <p:cNvSpPr/>
          <p:nvPr/>
        </p:nvSpPr>
        <p:spPr>
          <a:xfrm>
            <a:off x="5536137" y="2371502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1D08E81-E880-77B4-A12E-4572E9D101BB}"/>
              </a:ext>
            </a:extLst>
          </p:cNvPr>
          <p:cNvSpPr/>
          <p:nvPr/>
        </p:nvSpPr>
        <p:spPr>
          <a:xfrm>
            <a:off x="5548806" y="3396634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41" name="Curved Connector 41">
            <a:extLst>
              <a:ext uri="{FF2B5EF4-FFF2-40B4-BE49-F238E27FC236}">
                <a16:creationId xmlns:a16="http://schemas.microsoft.com/office/drawing/2014/main" id="{957B6A99-F710-EC20-61ED-E3D2A7F6C03F}"/>
              </a:ext>
            </a:extLst>
          </p:cNvPr>
          <p:cNvCxnSpPr/>
          <p:nvPr/>
        </p:nvCxnSpPr>
        <p:spPr>
          <a:xfrm rot="16200000" flipH="1" flipV="1">
            <a:off x="4697894" y="1553550"/>
            <a:ext cx="36576" cy="2569464"/>
          </a:xfrm>
          <a:prstGeom prst="curvedConnector3">
            <a:avLst>
              <a:gd name="adj1" fmla="val -3059900"/>
            </a:avLst>
          </a:prstGeom>
          <a:ln w="25400">
            <a:solidFill>
              <a:srgbClr val="0E47A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85B821F7-BFEF-BE30-2656-4193C4576D9C}"/>
              </a:ext>
            </a:extLst>
          </p:cNvPr>
          <p:cNvSpPr/>
          <p:nvPr/>
        </p:nvSpPr>
        <p:spPr>
          <a:xfrm>
            <a:off x="4548806" y="1307318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F95FE93-40AE-2F3E-1908-A5EB0F8101B0}"/>
              </a:ext>
            </a:extLst>
          </p:cNvPr>
          <p:cNvSpPr/>
          <p:nvPr/>
        </p:nvSpPr>
        <p:spPr>
          <a:xfrm>
            <a:off x="5727394" y="4287949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44" name="Curved Connector 44">
            <a:extLst>
              <a:ext uri="{FF2B5EF4-FFF2-40B4-BE49-F238E27FC236}">
                <a16:creationId xmlns:a16="http://schemas.microsoft.com/office/drawing/2014/main" id="{2D5ED8B0-7E8C-6FB0-B49E-300688BC6208}"/>
              </a:ext>
            </a:extLst>
          </p:cNvPr>
          <p:cNvCxnSpPr/>
          <p:nvPr/>
        </p:nvCxnSpPr>
        <p:spPr>
          <a:xfrm rot="5400000" flipH="1" flipV="1">
            <a:off x="4773166" y="1070923"/>
            <a:ext cx="39222" cy="4397887"/>
          </a:xfrm>
          <a:prstGeom prst="curvedConnector3">
            <a:avLst>
              <a:gd name="adj1" fmla="val -3059900"/>
            </a:avLst>
          </a:prstGeom>
          <a:ln w="25400">
            <a:solidFill>
              <a:srgbClr val="0E47A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3582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mph" presetSubtype="0" dur="50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C0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C0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6" presetClass="emph" presetSubtype="0" dur="50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C0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C0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2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4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4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4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1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12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3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6" presetClass="emph" presetSubtype="0" dur="50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1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C0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1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C0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19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8" grpId="0"/>
      <p:bldP spid="20" grpId="0"/>
      <p:bldP spid="22" grpId="0"/>
      <p:bldP spid="28" grpId="0"/>
      <p:bldP spid="30" grpId="0"/>
      <p:bldP spid="32" grpId="0"/>
      <p:bldP spid="34" grpId="0"/>
      <p:bldP spid="36" grpId="0" animBg="1"/>
      <p:bldP spid="37" grpId="0"/>
      <p:bldP spid="38" grpId="0"/>
      <p:bldP spid="39" grpId="0"/>
      <p:bldP spid="40" grpId="0"/>
      <p:bldP spid="42" grpId="0"/>
      <p:bldP spid="4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8242C-A2BD-126B-94A2-D23FB6EBFB6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Conversion from NFA to DFA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45BD82D5-619A-90F2-91DE-95377CBD3736}"/>
              </a:ext>
            </a:extLst>
          </p:cNvPr>
          <p:cNvSpPr/>
          <p:nvPr/>
        </p:nvSpPr>
        <p:spPr>
          <a:xfrm>
            <a:off x="1309692" y="2819400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1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66267C3-F89B-F638-E944-43DA01A0CFEF}"/>
              </a:ext>
            </a:extLst>
          </p:cNvPr>
          <p:cNvSpPr/>
          <p:nvPr/>
        </p:nvSpPr>
        <p:spPr>
          <a:xfrm>
            <a:off x="2081457" y="2116861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2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279C2BB-CB7B-2EFD-3010-E19018696A10}"/>
              </a:ext>
            </a:extLst>
          </p:cNvPr>
          <p:cNvSpPr/>
          <p:nvPr/>
        </p:nvSpPr>
        <p:spPr>
          <a:xfrm>
            <a:off x="3075321" y="3491958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5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102CBB2-5992-7C86-26FD-92EF33CC6976}"/>
              </a:ext>
            </a:extLst>
          </p:cNvPr>
          <p:cNvSpPr/>
          <p:nvPr/>
        </p:nvSpPr>
        <p:spPr>
          <a:xfrm>
            <a:off x="3075321" y="2135663"/>
            <a:ext cx="457200" cy="438011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9669E15-9ABD-D949-EDB5-0BE5E9FB71E5}"/>
              </a:ext>
            </a:extLst>
          </p:cNvPr>
          <p:cNvSpPr/>
          <p:nvPr/>
        </p:nvSpPr>
        <p:spPr>
          <a:xfrm>
            <a:off x="2064600" y="3490911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9CDDACF-F869-EA9C-EBE4-DEA6B11AFD8A}"/>
              </a:ext>
            </a:extLst>
          </p:cNvPr>
          <p:cNvSpPr/>
          <p:nvPr/>
        </p:nvSpPr>
        <p:spPr>
          <a:xfrm>
            <a:off x="3808798" y="2805111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6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F132A45-9610-75C4-754E-849222B72003}"/>
              </a:ext>
            </a:extLst>
          </p:cNvPr>
          <p:cNvSpPr/>
          <p:nvPr/>
        </p:nvSpPr>
        <p:spPr>
          <a:xfrm>
            <a:off x="4831287" y="2780177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7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2B587D6-B45F-CE26-80A5-CFF9C362A94B}"/>
              </a:ext>
            </a:extLst>
          </p:cNvPr>
          <p:cNvSpPr/>
          <p:nvPr/>
        </p:nvSpPr>
        <p:spPr>
          <a:xfrm>
            <a:off x="5853776" y="2780177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8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823EC83-DA31-6A07-D72C-371778DB25D7}"/>
              </a:ext>
            </a:extLst>
          </p:cNvPr>
          <p:cNvSpPr/>
          <p:nvPr/>
        </p:nvSpPr>
        <p:spPr>
          <a:xfrm>
            <a:off x="6869835" y="2790159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9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AADCD95-57F8-84C2-0033-A9DAD770C895}"/>
              </a:ext>
            </a:extLst>
          </p:cNvPr>
          <p:cNvSpPr/>
          <p:nvPr/>
        </p:nvSpPr>
        <p:spPr>
          <a:xfrm>
            <a:off x="433400" y="2819399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0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78D19F3-2A5C-CACD-7308-18FA50687544}"/>
              </a:ext>
            </a:extLst>
          </p:cNvPr>
          <p:cNvCxnSpPr/>
          <p:nvPr/>
        </p:nvCxnSpPr>
        <p:spPr>
          <a:xfrm>
            <a:off x="903699" y="3039382"/>
            <a:ext cx="419092" cy="1"/>
          </a:xfrm>
          <a:prstGeom prst="straightConnector1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6F4C5E99-1DB8-CFF7-0230-38F73AB61A79}"/>
              </a:ext>
            </a:extLst>
          </p:cNvPr>
          <p:cNvSpPr/>
          <p:nvPr/>
        </p:nvSpPr>
        <p:spPr>
          <a:xfrm>
            <a:off x="921568" y="2667000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7B920DE-5220-CB2C-3C9E-A4FF9C227BCA}"/>
              </a:ext>
            </a:extLst>
          </p:cNvPr>
          <p:cNvCxnSpPr/>
          <p:nvPr/>
        </p:nvCxnSpPr>
        <p:spPr>
          <a:xfrm>
            <a:off x="2542699" y="2351552"/>
            <a:ext cx="53949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44AF8B8E-D13A-AB89-C299-227080C28778}"/>
              </a:ext>
            </a:extLst>
          </p:cNvPr>
          <p:cNvSpPr/>
          <p:nvPr/>
        </p:nvSpPr>
        <p:spPr>
          <a:xfrm>
            <a:off x="2616975" y="1934046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a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3E58F95-551F-5E58-F553-ED8889A1EA12}"/>
              </a:ext>
            </a:extLst>
          </p:cNvPr>
          <p:cNvCxnSpPr>
            <a:stCxn id="7" idx="6"/>
            <a:endCxn id="5" idx="2"/>
          </p:cNvCxnSpPr>
          <p:nvPr/>
        </p:nvCxnSpPr>
        <p:spPr>
          <a:xfrm>
            <a:off x="2521800" y="3719511"/>
            <a:ext cx="553521" cy="1047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2158848A-0963-FE27-6232-2EF461F008A3}"/>
              </a:ext>
            </a:extLst>
          </p:cNvPr>
          <p:cNvSpPr/>
          <p:nvPr/>
        </p:nvSpPr>
        <p:spPr>
          <a:xfrm>
            <a:off x="2616975" y="3731409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b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F970F93-D21D-56E7-D4F9-911063E3DD49}"/>
              </a:ext>
            </a:extLst>
          </p:cNvPr>
          <p:cNvCxnSpPr>
            <a:stCxn id="3" idx="7"/>
            <a:endCxn id="4" idx="3"/>
          </p:cNvCxnSpPr>
          <p:nvPr/>
        </p:nvCxnSpPr>
        <p:spPr>
          <a:xfrm flipV="1">
            <a:off x="1699937" y="2507106"/>
            <a:ext cx="448475" cy="379249"/>
          </a:xfrm>
          <a:prstGeom prst="straightConnector1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4680BA4-EEF5-21D8-1886-F2B944E71932}"/>
              </a:ext>
            </a:extLst>
          </p:cNvPr>
          <p:cNvCxnSpPr>
            <a:stCxn id="6" idx="5"/>
            <a:endCxn id="8" idx="1"/>
          </p:cNvCxnSpPr>
          <p:nvPr/>
        </p:nvCxnSpPr>
        <p:spPr>
          <a:xfrm>
            <a:off x="3465566" y="2509529"/>
            <a:ext cx="410187" cy="362537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F153FCD-7B75-6FF4-F46A-03EE2E51799E}"/>
              </a:ext>
            </a:extLst>
          </p:cNvPr>
          <p:cNvCxnSpPr>
            <a:stCxn id="5" idx="7"/>
            <a:endCxn id="8" idx="3"/>
          </p:cNvCxnSpPr>
          <p:nvPr/>
        </p:nvCxnSpPr>
        <p:spPr>
          <a:xfrm flipV="1">
            <a:off x="3465566" y="3195356"/>
            <a:ext cx="410187" cy="363557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EE170FD-D32D-5312-BFF9-401F792F5A39}"/>
              </a:ext>
            </a:extLst>
          </p:cNvPr>
          <p:cNvCxnSpPr/>
          <p:nvPr/>
        </p:nvCxnSpPr>
        <p:spPr>
          <a:xfrm>
            <a:off x="4271771" y="3008777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C9968F77-1CF1-F960-9A39-FFDE7A1145D2}"/>
              </a:ext>
            </a:extLst>
          </p:cNvPr>
          <p:cNvSpPr/>
          <p:nvPr/>
        </p:nvSpPr>
        <p:spPr>
          <a:xfrm>
            <a:off x="4351727" y="2654636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7D611CB-83F4-F341-15C2-21C6CA110DE1}"/>
              </a:ext>
            </a:extLst>
          </p:cNvPr>
          <p:cNvCxnSpPr/>
          <p:nvPr/>
        </p:nvCxnSpPr>
        <p:spPr>
          <a:xfrm>
            <a:off x="5281161" y="3018759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FB732FC6-B155-D2A4-9B6F-4124EE1E2652}"/>
              </a:ext>
            </a:extLst>
          </p:cNvPr>
          <p:cNvSpPr/>
          <p:nvPr/>
        </p:nvSpPr>
        <p:spPr>
          <a:xfrm>
            <a:off x="5361117" y="2664618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a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875CB006-F1CE-9003-90FB-0577663C0FC7}"/>
              </a:ext>
            </a:extLst>
          </p:cNvPr>
          <p:cNvCxnSpPr/>
          <p:nvPr/>
        </p:nvCxnSpPr>
        <p:spPr>
          <a:xfrm>
            <a:off x="6308667" y="2994945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34916FA3-01CE-FC85-C940-345B8DAF35FA}"/>
              </a:ext>
            </a:extLst>
          </p:cNvPr>
          <p:cNvSpPr/>
          <p:nvPr/>
        </p:nvSpPr>
        <p:spPr>
          <a:xfrm>
            <a:off x="6425264" y="2664618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b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834B27F-A4BA-1963-BB1C-DA866C6C6E5D}"/>
              </a:ext>
            </a:extLst>
          </p:cNvPr>
          <p:cNvCxnSpPr/>
          <p:nvPr/>
        </p:nvCxnSpPr>
        <p:spPr>
          <a:xfrm>
            <a:off x="7334592" y="3006852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FE8D8E84-F853-340D-EAB5-C4BFFDFEAD28}"/>
              </a:ext>
            </a:extLst>
          </p:cNvPr>
          <p:cNvSpPr/>
          <p:nvPr/>
        </p:nvSpPr>
        <p:spPr>
          <a:xfrm>
            <a:off x="7421867" y="2664618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b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6F38991D-A381-9CC2-30BB-7758640190D9}"/>
              </a:ext>
            </a:extLst>
          </p:cNvPr>
          <p:cNvCxnSpPr/>
          <p:nvPr/>
        </p:nvCxnSpPr>
        <p:spPr>
          <a:xfrm>
            <a:off x="190500" y="3047999"/>
            <a:ext cx="242900" cy="0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0C0E09FE-80CE-D662-E511-9423D5ACE0C1}"/>
              </a:ext>
            </a:extLst>
          </p:cNvPr>
          <p:cNvSpPr/>
          <p:nvPr/>
        </p:nvSpPr>
        <p:spPr>
          <a:xfrm>
            <a:off x="1524000" y="3370655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EA74C73-F0E0-5169-6DE7-933F804C374E}"/>
              </a:ext>
            </a:extLst>
          </p:cNvPr>
          <p:cNvSpPr/>
          <p:nvPr/>
        </p:nvSpPr>
        <p:spPr>
          <a:xfrm>
            <a:off x="1583156" y="2369027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E94EF6B-6FE4-4591-755D-58D1ED501D5A}"/>
              </a:ext>
            </a:extLst>
          </p:cNvPr>
          <p:cNvSpPr/>
          <p:nvPr/>
        </p:nvSpPr>
        <p:spPr>
          <a:xfrm>
            <a:off x="3604306" y="2358623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44B3EFE-288A-781D-0C81-3BCA0C3F9AD9}"/>
              </a:ext>
            </a:extLst>
          </p:cNvPr>
          <p:cNvSpPr/>
          <p:nvPr/>
        </p:nvSpPr>
        <p:spPr>
          <a:xfrm>
            <a:off x="3616975" y="3383755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35" name="Curved Connector 35">
            <a:extLst>
              <a:ext uri="{FF2B5EF4-FFF2-40B4-BE49-F238E27FC236}">
                <a16:creationId xmlns:a16="http://schemas.microsoft.com/office/drawing/2014/main" id="{AEF992B1-5213-1EC8-9275-DE7111FA392C}"/>
              </a:ext>
            </a:extLst>
          </p:cNvPr>
          <p:cNvCxnSpPr/>
          <p:nvPr/>
        </p:nvCxnSpPr>
        <p:spPr>
          <a:xfrm rot="16200000" flipH="1" flipV="1">
            <a:off x="2766063" y="1524629"/>
            <a:ext cx="36576" cy="2569464"/>
          </a:xfrm>
          <a:prstGeom prst="curvedConnector3">
            <a:avLst>
              <a:gd name="adj1" fmla="val -3059900"/>
            </a:avLst>
          </a:prstGeom>
          <a:ln w="25400"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C6F08F7D-DC09-78EA-AC20-9302E948C4BE}"/>
              </a:ext>
            </a:extLst>
          </p:cNvPr>
          <p:cNvSpPr/>
          <p:nvPr/>
        </p:nvSpPr>
        <p:spPr>
          <a:xfrm>
            <a:off x="2616975" y="1294439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11ECB9C-E16D-A52B-4A10-A70A60980051}"/>
              </a:ext>
            </a:extLst>
          </p:cNvPr>
          <p:cNvSpPr/>
          <p:nvPr/>
        </p:nvSpPr>
        <p:spPr>
          <a:xfrm>
            <a:off x="3795563" y="4275070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A0A01541-FFC2-8322-CF8B-D46E1E44D3FE}"/>
              </a:ext>
            </a:extLst>
          </p:cNvPr>
          <p:cNvCxnSpPr/>
          <p:nvPr/>
        </p:nvCxnSpPr>
        <p:spPr>
          <a:xfrm flipV="1">
            <a:off x="1699939" y="2507106"/>
            <a:ext cx="448475" cy="379249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2DFF8CCB-7BC6-35B7-A772-2736C853AE1A}"/>
              </a:ext>
            </a:extLst>
          </p:cNvPr>
          <p:cNvCxnSpPr>
            <a:stCxn id="3" idx="5"/>
            <a:endCxn id="7" idx="1"/>
          </p:cNvCxnSpPr>
          <p:nvPr/>
        </p:nvCxnSpPr>
        <p:spPr>
          <a:xfrm>
            <a:off x="1699937" y="3209645"/>
            <a:ext cx="431618" cy="34822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8A698EE0-FAD4-78FE-3214-580D7A85184C}"/>
              </a:ext>
            </a:extLst>
          </p:cNvPr>
          <p:cNvCxnSpPr/>
          <p:nvPr/>
        </p:nvCxnSpPr>
        <p:spPr>
          <a:xfrm>
            <a:off x="903700" y="3039382"/>
            <a:ext cx="419092" cy="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urved Connector 41">
            <a:extLst>
              <a:ext uri="{FF2B5EF4-FFF2-40B4-BE49-F238E27FC236}">
                <a16:creationId xmlns:a16="http://schemas.microsoft.com/office/drawing/2014/main" id="{7114EF28-7946-EE35-2EF3-4FFD202EF3F1}"/>
              </a:ext>
            </a:extLst>
          </p:cNvPr>
          <p:cNvCxnSpPr/>
          <p:nvPr/>
        </p:nvCxnSpPr>
        <p:spPr>
          <a:xfrm rot="16200000" flipH="1" flipV="1">
            <a:off x="2766064" y="1524629"/>
            <a:ext cx="36576" cy="2569464"/>
          </a:xfrm>
          <a:prstGeom prst="curvedConnector3">
            <a:avLst>
              <a:gd name="adj1" fmla="val -3059900"/>
            </a:avLst>
          </a:prstGeom>
          <a:ln w="25400">
            <a:solidFill>
              <a:srgbClr val="0E47A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urved Connector 42">
            <a:extLst>
              <a:ext uri="{FF2B5EF4-FFF2-40B4-BE49-F238E27FC236}">
                <a16:creationId xmlns:a16="http://schemas.microsoft.com/office/drawing/2014/main" id="{9AA09583-7725-948B-B025-CBF527C920D1}"/>
              </a:ext>
            </a:extLst>
          </p:cNvPr>
          <p:cNvCxnSpPr/>
          <p:nvPr/>
        </p:nvCxnSpPr>
        <p:spPr>
          <a:xfrm rot="5400000" flipH="1" flipV="1">
            <a:off x="2841336" y="1058044"/>
            <a:ext cx="39222" cy="4397887"/>
          </a:xfrm>
          <a:prstGeom prst="curvedConnector3">
            <a:avLst>
              <a:gd name="adj1" fmla="val -3059900"/>
            </a:avLst>
          </a:prstGeom>
          <a:ln w="25400">
            <a:solidFill>
              <a:srgbClr val="0E47A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Oval 42">
            <a:extLst>
              <a:ext uri="{FF2B5EF4-FFF2-40B4-BE49-F238E27FC236}">
                <a16:creationId xmlns:a16="http://schemas.microsoft.com/office/drawing/2014/main" id="{A7ABEA65-BBB6-05B2-BF29-18B130D561E9}"/>
              </a:ext>
            </a:extLst>
          </p:cNvPr>
          <p:cNvSpPr/>
          <p:nvPr/>
        </p:nvSpPr>
        <p:spPr>
          <a:xfrm>
            <a:off x="7893141" y="2779059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10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D1B405AB-6038-693C-E789-3C5F64249B86}"/>
              </a:ext>
            </a:extLst>
          </p:cNvPr>
          <p:cNvSpPr/>
          <p:nvPr/>
        </p:nvSpPr>
        <p:spPr>
          <a:xfrm>
            <a:off x="7938861" y="2824779"/>
            <a:ext cx="365760" cy="36576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7EFD8F6-B44C-5F91-2C2C-595F494ADF08}"/>
              </a:ext>
            </a:extLst>
          </p:cNvPr>
          <p:cNvSpPr/>
          <p:nvPr/>
        </p:nvSpPr>
        <p:spPr>
          <a:xfrm>
            <a:off x="2324646" y="4995319"/>
            <a:ext cx="1790476" cy="3902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</a:rPr>
              <a:t> {0, 1, 7, 2, 4}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F5A8D119-FD06-361A-99F6-34E269027FED}"/>
              </a:ext>
            </a:extLst>
          </p:cNvPr>
          <p:cNvSpPr/>
          <p:nvPr/>
        </p:nvSpPr>
        <p:spPr>
          <a:xfrm>
            <a:off x="3843706" y="5603553"/>
            <a:ext cx="1170319" cy="3502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solidFill>
                  <a:schemeClr val="tx1"/>
                </a:solidFill>
              </a:rPr>
              <a:t>---- A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92D3BB4F-56F4-4AD9-978A-FD87C870D16E}"/>
              </a:ext>
            </a:extLst>
          </p:cNvPr>
          <p:cNvSpPr/>
          <p:nvPr/>
        </p:nvSpPr>
        <p:spPr>
          <a:xfrm>
            <a:off x="759397" y="4962979"/>
            <a:ext cx="2700790" cy="4689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20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𝜖- </a:t>
            </a:r>
            <a:r>
              <a:rPr lang="en-US" sz="2200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Closure(0</a:t>
            </a:r>
            <a:r>
              <a:rPr lang="en-US" sz="2200">
                <a:solidFill>
                  <a:schemeClr val="tx1"/>
                </a:solidFill>
              </a:rPr>
              <a:t>)=</a:t>
            </a:r>
            <a:endParaRPr lang="en-US" sz="220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3C67CC74-03E9-9EC7-7473-26A9ECC5BA30}"/>
              </a:ext>
            </a:extLst>
          </p:cNvPr>
          <p:cNvSpPr/>
          <p:nvPr/>
        </p:nvSpPr>
        <p:spPr>
          <a:xfrm>
            <a:off x="2503771" y="5034250"/>
            <a:ext cx="357176" cy="381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DD1F262-F5C5-A70F-A64B-47D3ABBB4A12}"/>
              </a:ext>
            </a:extLst>
          </p:cNvPr>
          <p:cNvSpPr/>
          <p:nvPr/>
        </p:nvSpPr>
        <p:spPr>
          <a:xfrm>
            <a:off x="2896733" y="5050953"/>
            <a:ext cx="563454" cy="381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1973C385-FAEC-1FA8-0D54-DC399524F2B2}"/>
              </a:ext>
            </a:extLst>
          </p:cNvPr>
          <p:cNvSpPr/>
          <p:nvPr/>
        </p:nvSpPr>
        <p:spPr>
          <a:xfrm>
            <a:off x="3473408" y="5016309"/>
            <a:ext cx="630696" cy="41688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AC87B80E-CA09-B40E-08BE-ABDAD78D016A}"/>
              </a:ext>
            </a:extLst>
          </p:cNvPr>
          <p:cNvSpPr/>
          <p:nvPr/>
        </p:nvSpPr>
        <p:spPr>
          <a:xfrm>
            <a:off x="2147290" y="5578274"/>
            <a:ext cx="1790476" cy="3902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</a:rPr>
              <a:t>=  {0,1,2,4,7}</a:t>
            </a:r>
          </a:p>
        </p:txBody>
      </p:sp>
    </p:spTree>
    <p:extLst>
      <p:ext uri="{BB962C8B-B14F-4D97-AF65-F5344CB8AC3E}">
        <p14:creationId xmlns:p14="http://schemas.microsoft.com/office/powerpoint/2010/main" val="157259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7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7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7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0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3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7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xit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xit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7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43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7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46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49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0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2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53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4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xit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  <p:bldP spid="47" grpId="0"/>
      <p:bldP spid="48" grpId="0" animBg="1"/>
      <p:bldP spid="49" grpId="0" animBg="1"/>
      <p:bldP spid="50" grpId="0" animBg="1"/>
      <p:bldP spid="5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73706-D278-6D00-FA94-BF6C4D189745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Conversion from NFA to DFA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B2DD2929-93FE-9673-02FD-F651A9EB03EF}"/>
              </a:ext>
            </a:extLst>
          </p:cNvPr>
          <p:cNvSpPr/>
          <p:nvPr/>
        </p:nvSpPr>
        <p:spPr>
          <a:xfrm>
            <a:off x="1309692" y="2819400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1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5FBB7F2-2916-2D05-2D93-D42DE9126335}"/>
              </a:ext>
            </a:extLst>
          </p:cNvPr>
          <p:cNvSpPr/>
          <p:nvPr/>
        </p:nvSpPr>
        <p:spPr>
          <a:xfrm>
            <a:off x="2081457" y="2116861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2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DA66F13-BB82-A20A-BA59-B6013D0A92C9}"/>
              </a:ext>
            </a:extLst>
          </p:cNvPr>
          <p:cNvSpPr/>
          <p:nvPr/>
        </p:nvSpPr>
        <p:spPr>
          <a:xfrm>
            <a:off x="3075321" y="3491958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5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0FF886A-6FE6-4D07-D2CC-AA81107E028A}"/>
              </a:ext>
            </a:extLst>
          </p:cNvPr>
          <p:cNvSpPr/>
          <p:nvPr/>
        </p:nvSpPr>
        <p:spPr>
          <a:xfrm>
            <a:off x="3075321" y="2135663"/>
            <a:ext cx="457200" cy="438011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D6F61D4-799E-4793-EB33-D7DE094D56BE}"/>
              </a:ext>
            </a:extLst>
          </p:cNvPr>
          <p:cNvSpPr/>
          <p:nvPr/>
        </p:nvSpPr>
        <p:spPr>
          <a:xfrm>
            <a:off x="2064600" y="3490911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6E64297-5557-8778-7E9C-17D8F06B5769}"/>
              </a:ext>
            </a:extLst>
          </p:cNvPr>
          <p:cNvSpPr/>
          <p:nvPr/>
        </p:nvSpPr>
        <p:spPr>
          <a:xfrm>
            <a:off x="3808798" y="2805111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6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F1B5AD4-E567-D164-1955-C32A49665483}"/>
              </a:ext>
            </a:extLst>
          </p:cNvPr>
          <p:cNvSpPr/>
          <p:nvPr/>
        </p:nvSpPr>
        <p:spPr>
          <a:xfrm>
            <a:off x="4831287" y="2780177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7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3DA2BFD-5BAE-9364-3740-700D6E02F08E}"/>
              </a:ext>
            </a:extLst>
          </p:cNvPr>
          <p:cNvSpPr/>
          <p:nvPr/>
        </p:nvSpPr>
        <p:spPr>
          <a:xfrm>
            <a:off x="5853776" y="2780177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8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3199200-8B32-5779-6C28-C607C6A6A8D8}"/>
              </a:ext>
            </a:extLst>
          </p:cNvPr>
          <p:cNvSpPr/>
          <p:nvPr/>
        </p:nvSpPr>
        <p:spPr>
          <a:xfrm>
            <a:off x="6869835" y="2790159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9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DBB0F12-ECAE-6424-24EC-C8F5F937CFED}"/>
              </a:ext>
            </a:extLst>
          </p:cNvPr>
          <p:cNvSpPr/>
          <p:nvPr/>
        </p:nvSpPr>
        <p:spPr>
          <a:xfrm>
            <a:off x="433400" y="2819399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0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C63D383-ADEE-D103-0AF5-EA8491EFF19C}"/>
              </a:ext>
            </a:extLst>
          </p:cNvPr>
          <p:cNvCxnSpPr/>
          <p:nvPr/>
        </p:nvCxnSpPr>
        <p:spPr>
          <a:xfrm>
            <a:off x="903699" y="3039382"/>
            <a:ext cx="419092" cy="1"/>
          </a:xfrm>
          <a:prstGeom prst="straightConnector1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BA1FD85D-46C2-2237-19B6-C39996149283}"/>
              </a:ext>
            </a:extLst>
          </p:cNvPr>
          <p:cNvSpPr/>
          <p:nvPr/>
        </p:nvSpPr>
        <p:spPr>
          <a:xfrm>
            <a:off x="921568" y="2667000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1672155-07E4-121F-4704-4CD868829937}"/>
              </a:ext>
            </a:extLst>
          </p:cNvPr>
          <p:cNvCxnSpPr/>
          <p:nvPr/>
        </p:nvCxnSpPr>
        <p:spPr>
          <a:xfrm>
            <a:off x="2530319" y="2351552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FA937995-55B3-D076-A9DF-2990BD46CB56}"/>
              </a:ext>
            </a:extLst>
          </p:cNvPr>
          <p:cNvSpPr/>
          <p:nvPr/>
        </p:nvSpPr>
        <p:spPr>
          <a:xfrm>
            <a:off x="2616975" y="1934046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a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94EE86E-757C-0C50-4B40-4A3D3F5C6F9C}"/>
              </a:ext>
            </a:extLst>
          </p:cNvPr>
          <p:cNvCxnSpPr>
            <a:stCxn id="7" idx="6"/>
            <a:endCxn id="5" idx="2"/>
          </p:cNvCxnSpPr>
          <p:nvPr/>
        </p:nvCxnSpPr>
        <p:spPr>
          <a:xfrm>
            <a:off x="2521800" y="3719511"/>
            <a:ext cx="553521" cy="1047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AC29B32D-A33F-55D5-14F8-EABF39E642CE}"/>
              </a:ext>
            </a:extLst>
          </p:cNvPr>
          <p:cNvSpPr/>
          <p:nvPr/>
        </p:nvSpPr>
        <p:spPr>
          <a:xfrm>
            <a:off x="2616975" y="3731409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b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24E1D91-3C5A-5D50-9B06-D64904985712}"/>
              </a:ext>
            </a:extLst>
          </p:cNvPr>
          <p:cNvCxnSpPr>
            <a:stCxn id="3" idx="7"/>
            <a:endCxn id="4" idx="3"/>
          </p:cNvCxnSpPr>
          <p:nvPr/>
        </p:nvCxnSpPr>
        <p:spPr>
          <a:xfrm flipV="1">
            <a:off x="1699937" y="2507106"/>
            <a:ext cx="448475" cy="379249"/>
          </a:xfrm>
          <a:prstGeom prst="straightConnector1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4A33298-A1E4-2004-0D61-3A65116C3433}"/>
              </a:ext>
            </a:extLst>
          </p:cNvPr>
          <p:cNvCxnSpPr>
            <a:stCxn id="3" idx="5"/>
          </p:cNvCxnSpPr>
          <p:nvPr/>
        </p:nvCxnSpPr>
        <p:spPr>
          <a:xfrm>
            <a:off x="1699937" y="3209645"/>
            <a:ext cx="433971" cy="328891"/>
          </a:xfrm>
          <a:prstGeom prst="straightConnector1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128D135-63B3-B356-E8E5-02BE4665B2E2}"/>
              </a:ext>
            </a:extLst>
          </p:cNvPr>
          <p:cNvCxnSpPr>
            <a:stCxn id="6" idx="5"/>
            <a:endCxn id="8" idx="1"/>
          </p:cNvCxnSpPr>
          <p:nvPr/>
        </p:nvCxnSpPr>
        <p:spPr>
          <a:xfrm>
            <a:off x="3465566" y="2509529"/>
            <a:ext cx="410187" cy="362537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FC5CC80-F3B5-8847-6C95-7228794ED451}"/>
              </a:ext>
            </a:extLst>
          </p:cNvPr>
          <p:cNvCxnSpPr>
            <a:stCxn id="5" idx="7"/>
            <a:endCxn id="8" idx="3"/>
          </p:cNvCxnSpPr>
          <p:nvPr/>
        </p:nvCxnSpPr>
        <p:spPr>
          <a:xfrm flipV="1">
            <a:off x="3465566" y="3195356"/>
            <a:ext cx="410187" cy="363557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1751346-6FD7-98AE-C4C8-5DABF1B6AC66}"/>
              </a:ext>
            </a:extLst>
          </p:cNvPr>
          <p:cNvCxnSpPr/>
          <p:nvPr/>
        </p:nvCxnSpPr>
        <p:spPr>
          <a:xfrm>
            <a:off x="4271771" y="3008777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A603883D-3132-88D2-396B-51EB230A16DC}"/>
              </a:ext>
            </a:extLst>
          </p:cNvPr>
          <p:cNvSpPr/>
          <p:nvPr/>
        </p:nvSpPr>
        <p:spPr>
          <a:xfrm>
            <a:off x="4351727" y="2654636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0CC9E72-44F3-530D-E85A-EC9606110284}"/>
              </a:ext>
            </a:extLst>
          </p:cNvPr>
          <p:cNvCxnSpPr/>
          <p:nvPr/>
        </p:nvCxnSpPr>
        <p:spPr>
          <a:xfrm>
            <a:off x="5281161" y="3018759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B9D16F7F-8B2C-C311-BAF1-0F098B74D3CC}"/>
              </a:ext>
            </a:extLst>
          </p:cNvPr>
          <p:cNvSpPr/>
          <p:nvPr/>
        </p:nvSpPr>
        <p:spPr>
          <a:xfrm>
            <a:off x="5361117" y="2664618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a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D4094C1-BA36-73E1-0B27-0D6A16E7E1F8}"/>
              </a:ext>
            </a:extLst>
          </p:cNvPr>
          <p:cNvCxnSpPr/>
          <p:nvPr/>
        </p:nvCxnSpPr>
        <p:spPr>
          <a:xfrm>
            <a:off x="6308667" y="2994945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B7395C94-8806-79B8-E244-1F0E0F064EDC}"/>
              </a:ext>
            </a:extLst>
          </p:cNvPr>
          <p:cNvSpPr/>
          <p:nvPr/>
        </p:nvSpPr>
        <p:spPr>
          <a:xfrm>
            <a:off x="6425264" y="2664618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b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AA159ECC-FD22-71F7-8344-32B4554DA80E}"/>
              </a:ext>
            </a:extLst>
          </p:cNvPr>
          <p:cNvCxnSpPr/>
          <p:nvPr/>
        </p:nvCxnSpPr>
        <p:spPr>
          <a:xfrm>
            <a:off x="7334592" y="3006852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30F3D4D0-3F86-FC9A-F4F7-1F3220F8233F}"/>
              </a:ext>
            </a:extLst>
          </p:cNvPr>
          <p:cNvSpPr/>
          <p:nvPr/>
        </p:nvSpPr>
        <p:spPr>
          <a:xfrm>
            <a:off x="7421867" y="2664618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b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20B84E74-5FC8-6FC8-4DAF-24383C1A0771}"/>
              </a:ext>
            </a:extLst>
          </p:cNvPr>
          <p:cNvCxnSpPr/>
          <p:nvPr/>
        </p:nvCxnSpPr>
        <p:spPr>
          <a:xfrm>
            <a:off x="190500" y="3047999"/>
            <a:ext cx="242900" cy="0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8A10C808-43A4-51C4-53FA-E8839EC71EEE}"/>
              </a:ext>
            </a:extLst>
          </p:cNvPr>
          <p:cNvSpPr/>
          <p:nvPr/>
        </p:nvSpPr>
        <p:spPr>
          <a:xfrm>
            <a:off x="1524000" y="3370655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7B015F8-633E-C145-53C1-C824E6FEF4E4}"/>
              </a:ext>
            </a:extLst>
          </p:cNvPr>
          <p:cNvSpPr/>
          <p:nvPr/>
        </p:nvSpPr>
        <p:spPr>
          <a:xfrm>
            <a:off x="1583156" y="2369027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32B6C9F-22E0-E9D0-F754-218FC4BEA0D3}"/>
              </a:ext>
            </a:extLst>
          </p:cNvPr>
          <p:cNvSpPr/>
          <p:nvPr/>
        </p:nvSpPr>
        <p:spPr>
          <a:xfrm>
            <a:off x="3604306" y="2358623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15F9DE5-BF64-D875-5977-9E2A91736E12}"/>
              </a:ext>
            </a:extLst>
          </p:cNvPr>
          <p:cNvSpPr/>
          <p:nvPr/>
        </p:nvSpPr>
        <p:spPr>
          <a:xfrm>
            <a:off x="3616975" y="3383755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36" name="Curved Connector 36">
            <a:extLst>
              <a:ext uri="{FF2B5EF4-FFF2-40B4-BE49-F238E27FC236}">
                <a16:creationId xmlns:a16="http://schemas.microsoft.com/office/drawing/2014/main" id="{C955D7D1-9496-91CE-C6E5-D617BA2746F8}"/>
              </a:ext>
            </a:extLst>
          </p:cNvPr>
          <p:cNvCxnSpPr/>
          <p:nvPr/>
        </p:nvCxnSpPr>
        <p:spPr>
          <a:xfrm rot="16200000" flipH="1" flipV="1">
            <a:off x="2766063" y="1540671"/>
            <a:ext cx="36576" cy="2569464"/>
          </a:xfrm>
          <a:prstGeom prst="curvedConnector3">
            <a:avLst>
              <a:gd name="adj1" fmla="val -3059900"/>
            </a:avLst>
          </a:prstGeom>
          <a:ln w="25400">
            <a:solidFill>
              <a:srgbClr val="0E47A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0D237E73-DDFC-148F-2E6B-07C255407026}"/>
              </a:ext>
            </a:extLst>
          </p:cNvPr>
          <p:cNvSpPr/>
          <p:nvPr/>
        </p:nvSpPr>
        <p:spPr>
          <a:xfrm>
            <a:off x="2616975" y="1294439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712FD93-6E48-9138-B0F5-9505D19A16AD}"/>
              </a:ext>
            </a:extLst>
          </p:cNvPr>
          <p:cNvSpPr/>
          <p:nvPr/>
        </p:nvSpPr>
        <p:spPr>
          <a:xfrm>
            <a:off x="3795563" y="4275070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36F9A515-A9E8-9523-DEF7-EDC868E0D718}"/>
              </a:ext>
            </a:extLst>
          </p:cNvPr>
          <p:cNvCxnSpPr/>
          <p:nvPr/>
        </p:nvCxnSpPr>
        <p:spPr>
          <a:xfrm flipV="1">
            <a:off x="1699939" y="2507106"/>
            <a:ext cx="448475" cy="379249"/>
          </a:xfrm>
          <a:prstGeom prst="straightConnector1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B1753FEC-9E66-4D21-6C5B-8E2A07510745}"/>
              </a:ext>
            </a:extLst>
          </p:cNvPr>
          <p:cNvCxnSpPr/>
          <p:nvPr/>
        </p:nvCxnSpPr>
        <p:spPr>
          <a:xfrm>
            <a:off x="1699939" y="3209645"/>
            <a:ext cx="433971" cy="328891"/>
          </a:xfrm>
          <a:prstGeom prst="straightConnector1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B3949874-3B33-620E-A4AB-D21C3381FBC9}"/>
              </a:ext>
            </a:extLst>
          </p:cNvPr>
          <p:cNvCxnSpPr/>
          <p:nvPr/>
        </p:nvCxnSpPr>
        <p:spPr>
          <a:xfrm>
            <a:off x="903700" y="3039382"/>
            <a:ext cx="419092" cy="1"/>
          </a:xfrm>
          <a:prstGeom prst="straightConnector1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5815E36-8F49-3E3C-BA41-DCE541F3ABE2}"/>
              </a:ext>
            </a:extLst>
          </p:cNvPr>
          <p:cNvCxnSpPr/>
          <p:nvPr/>
        </p:nvCxnSpPr>
        <p:spPr>
          <a:xfrm flipV="1">
            <a:off x="1699940" y="2507106"/>
            <a:ext cx="448475" cy="379249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8C7622C9-09ED-3435-FE17-73D6C52FAB35}"/>
              </a:ext>
            </a:extLst>
          </p:cNvPr>
          <p:cNvCxnSpPr/>
          <p:nvPr/>
        </p:nvCxnSpPr>
        <p:spPr>
          <a:xfrm>
            <a:off x="1699940" y="3209645"/>
            <a:ext cx="433971" cy="32889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B027398B-3EB2-5552-AA75-608B65E31D59}"/>
              </a:ext>
            </a:extLst>
          </p:cNvPr>
          <p:cNvCxnSpPr/>
          <p:nvPr/>
        </p:nvCxnSpPr>
        <p:spPr>
          <a:xfrm>
            <a:off x="903701" y="3039382"/>
            <a:ext cx="419092" cy="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urved Connector 45">
            <a:extLst>
              <a:ext uri="{FF2B5EF4-FFF2-40B4-BE49-F238E27FC236}">
                <a16:creationId xmlns:a16="http://schemas.microsoft.com/office/drawing/2014/main" id="{D93F8191-B9DD-B41E-66D6-A8FCFDD8BE25}"/>
              </a:ext>
            </a:extLst>
          </p:cNvPr>
          <p:cNvCxnSpPr/>
          <p:nvPr/>
        </p:nvCxnSpPr>
        <p:spPr>
          <a:xfrm rot="5400000" flipH="1" flipV="1">
            <a:off x="2841336" y="1058044"/>
            <a:ext cx="39222" cy="4397887"/>
          </a:xfrm>
          <a:prstGeom prst="curvedConnector3">
            <a:avLst>
              <a:gd name="adj1" fmla="val -3059900"/>
            </a:avLst>
          </a:prstGeom>
          <a:ln w="25400">
            <a:solidFill>
              <a:srgbClr val="0E47A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1EFCB8B2-04BE-18B2-5833-5C66437F5F15}"/>
              </a:ext>
            </a:extLst>
          </p:cNvPr>
          <p:cNvSpPr/>
          <p:nvPr/>
        </p:nvSpPr>
        <p:spPr>
          <a:xfrm>
            <a:off x="320701" y="4626954"/>
            <a:ext cx="2167393" cy="3587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>
                <a:solidFill>
                  <a:schemeClr val="tx1"/>
                </a:solidFill>
                <a:latin typeface="+mj-lt"/>
              </a:rPr>
              <a:t>A= {0, 1, 2, 4, 7}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359E9F7-3A43-CF8E-C979-9766BAA0B95C}"/>
              </a:ext>
            </a:extLst>
          </p:cNvPr>
          <p:cNvSpPr/>
          <p:nvPr/>
        </p:nvSpPr>
        <p:spPr>
          <a:xfrm>
            <a:off x="368004" y="5104591"/>
            <a:ext cx="1490483" cy="4689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200">
                <a:solidFill>
                  <a:schemeClr val="tx1"/>
                </a:solidFill>
                <a:latin typeface="+mj-lt"/>
              </a:rPr>
              <a:t>Move(A,a)</a:t>
            </a:r>
            <a:endParaRPr lang="en-US" sz="2200">
              <a:latin typeface="+mj-lt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509D24E2-B318-AC06-836C-C0E82C7C9F1C}"/>
              </a:ext>
            </a:extLst>
          </p:cNvPr>
          <p:cNvSpPr/>
          <p:nvPr/>
        </p:nvSpPr>
        <p:spPr>
          <a:xfrm>
            <a:off x="1218464" y="5148578"/>
            <a:ext cx="1725988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tx1"/>
                </a:solidFill>
                <a:latin typeface="+mj-lt"/>
              </a:rPr>
              <a:t>= {3,8}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40AE2D0-FA67-1368-C798-FE2092BF7C94}"/>
              </a:ext>
            </a:extLst>
          </p:cNvPr>
          <p:cNvSpPr/>
          <p:nvPr/>
        </p:nvSpPr>
        <p:spPr>
          <a:xfrm>
            <a:off x="374532" y="5534752"/>
            <a:ext cx="2700790" cy="4689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200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𝜖- Closure(</a:t>
            </a:r>
            <a:r>
              <a:rPr lang="en-US" sz="2200">
                <a:solidFill>
                  <a:schemeClr val="tx1"/>
                </a:solidFill>
                <a:latin typeface="+mj-lt"/>
              </a:rPr>
              <a:t>Move(A,a))</a:t>
            </a:r>
            <a:endParaRPr lang="en-US" sz="2200">
              <a:latin typeface="+mj-lt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96E3A0B-0E1E-FFEB-176A-198C59A4C80B}"/>
              </a:ext>
            </a:extLst>
          </p:cNvPr>
          <p:cNvSpPr/>
          <p:nvPr/>
        </p:nvSpPr>
        <p:spPr>
          <a:xfrm>
            <a:off x="2807308" y="5609266"/>
            <a:ext cx="2536426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tx1"/>
                </a:solidFill>
                <a:latin typeface="+mj-lt"/>
              </a:rPr>
              <a:t>= {3, 6, 7, 1, 2, 4, 8}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A55ABFA5-A256-7CBA-26A0-AB7F9E35A72B}"/>
              </a:ext>
            </a:extLst>
          </p:cNvPr>
          <p:cNvSpPr/>
          <p:nvPr/>
        </p:nvSpPr>
        <p:spPr>
          <a:xfrm>
            <a:off x="4800325" y="5965890"/>
            <a:ext cx="87266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solidFill>
                  <a:schemeClr val="tx1"/>
                </a:solidFill>
                <a:latin typeface="+mj-lt"/>
              </a:rPr>
              <a:t>---- B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77843FB4-A2C4-285C-8D4F-0BC3B10461F3}"/>
              </a:ext>
            </a:extLst>
          </p:cNvPr>
          <p:cNvSpPr/>
          <p:nvPr/>
        </p:nvSpPr>
        <p:spPr>
          <a:xfrm>
            <a:off x="9371748" y="2070186"/>
            <a:ext cx="471465" cy="3626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D954D33B-7436-804A-3DC0-E55108EAC56C}"/>
              </a:ext>
            </a:extLst>
          </p:cNvPr>
          <p:cNvSpPr/>
          <p:nvPr/>
        </p:nvSpPr>
        <p:spPr>
          <a:xfrm>
            <a:off x="9371748" y="2070186"/>
            <a:ext cx="414313" cy="3626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8046794A-9BE3-D20B-F247-E0AAB30FD7B5}"/>
              </a:ext>
            </a:extLst>
          </p:cNvPr>
          <p:cNvSpPr/>
          <p:nvPr/>
        </p:nvSpPr>
        <p:spPr>
          <a:xfrm>
            <a:off x="10979067" y="2647785"/>
            <a:ext cx="473773" cy="2514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D9A98D7B-2C4E-DEE8-BF02-02E536EC6BCE}"/>
              </a:ext>
            </a:extLst>
          </p:cNvPr>
          <p:cNvSpPr/>
          <p:nvPr/>
        </p:nvSpPr>
        <p:spPr>
          <a:xfrm>
            <a:off x="2616975" y="5989841"/>
            <a:ext cx="2536426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tx1"/>
                </a:solidFill>
                <a:latin typeface="+mj-lt"/>
              </a:rPr>
              <a:t>= {1,2,3,4,6,7,8}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BEDD13DB-F3B3-6BBB-B5A6-2CB22A947E94}"/>
              </a:ext>
            </a:extLst>
          </p:cNvPr>
          <p:cNvSpPr/>
          <p:nvPr/>
        </p:nvSpPr>
        <p:spPr>
          <a:xfrm>
            <a:off x="10534274" y="2098762"/>
            <a:ext cx="376111" cy="211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E8F84A3C-2ADD-074A-1013-25B97192D3D5}"/>
              </a:ext>
            </a:extLst>
          </p:cNvPr>
          <p:cNvSpPr/>
          <p:nvPr/>
        </p:nvSpPr>
        <p:spPr>
          <a:xfrm>
            <a:off x="2974151" y="5626507"/>
            <a:ext cx="670428" cy="4268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FC1C6D7B-7423-57E6-06AA-3BFD40A7F5B2}"/>
              </a:ext>
            </a:extLst>
          </p:cNvPr>
          <p:cNvSpPr/>
          <p:nvPr/>
        </p:nvSpPr>
        <p:spPr>
          <a:xfrm>
            <a:off x="3474720" y="5534752"/>
            <a:ext cx="320192" cy="3839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12771735-AB23-624E-9B6C-447FA7D9894D}"/>
              </a:ext>
            </a:extLst>
          </p:cNvPr>
          <p:cNvSpPr/>
          <p:nvPr/>
        </p:nvSpPr>
        <p:spPr>
          <a:xfrm>
            <a:off x="3780949" y="5539429"/>
            <a:ext cx="570777" cy="4002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4145BF91-E4FB-F855-CAA2-E98E3A77F983}"/>
              </a:ext>
            </a:extLst>
          </p:cNvPr>
          <p:cNvSpPr/>
          <p:nvPr/>
        </p:nvSpPr>
        <p:spPr>
          <a:xfrm>
            <a:off x="4291263" y="5539429"/>
            <a:ext cx="570777" cy="4002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3A6F8528-E060-EA08-36DE-193FE2A6BB39}"/>
              </a:ext>
            </a:extLst>
          </p:cNvPr>
          <p:cNvSpPr/>
          <p:nvPr/>
        </p:nvSpPr>
        <p:spPr>
          <a:xfrm>
            <a:off x="4860520" y="5559629"/>
            <a:ext cx="570777" cy="4002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39341EF1-F37E-B927-7150-55D3B65A4D28}"/>
              </a:ext>
            </a:extLst>
          </p:cNvPr>
          <p:cNvCxnSpPr>
            <a:stCxn id="46" idx="2"/>
          </p:cNvCxnSpPr>
          <p:nvPr/>
        </p:nvCxnSpPr>
        <p:spPr>
          <a:xfrm>
            <a:off x="1404398" y="4985664"/>
            <a:ext cx="267829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3F46CDC6-4BB9-31B6-9B74-EC6D0531F9C0}"/>
              </a:ext>
            </a:extLst>
          </p:cNvPr>
          <p:cNvCxnSpPr/>
          <p:nvPr/>
        </p:nvCxnSpPr>
        <p:spPr>
          <a:xfrm>
            <a:off x="2020498" y="4985664"/>
            <a:ext cx="267829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Oval 63">
            <a:extLst>
              <a:ext uri="{FF2B5EF4-FFF2-40B4-BE49-F238E27FC236}">
                <a16:creationId xmlns:a16="http://schemas.microsoft.com/office/drawing/2014/main" id="{AD128E71-CB74-4B72-E20E-AED466E821FC}"/>
              </a:ext>
            </a:extLst>
          </p:cNvPr>
          <p:cNvSpPr/>
          <p:nvPr/>
        </p:nvSpPr>
        <p:spPr>
          <a:xfrm>
            <a:off x="7893141" y="2779059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10</a:t>
            </a: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E4B336AA-2448-B332-36B1-67FA3838315A}"/>
              </a:ext>
            </a:extLst>
          </p:cNvPr>
          <p:cNvSpPr/>
          <p:nvPr/>
        </p:nvSpPr>
        <p:spPr>
          <a:xfrm>
            <a:off x="7938861" y="2828648"/>
            <a:ext cx="365760" cy="36576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>
              <a:latin typeface="+mj-lt"/>
            </a:endParaRPr>
          </a:p>
        </p:txBody>
      </p:sp>
      <p:graphicFrame>
        <p:nvGraphicFramePr>
          <p:cNvPr id="66" name="Table 65">
            <a:extLst>
              <a:ext uri="{FF2B5EF4-FFF2-40B4-BE49-F238E27FC236}">
                <a16:creationId xmlns:a16="http://schemas.microsoft.com/office/drawing/2014/main" id="{13743E40-CC9A-C63C-882C-46BF9A1886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4787866"/>
              </p:ext>
            </p:extLst>
          </p:nvPr>
        </p:nvGraphicFramePr>
        <p:xfrm>
          <a:off x="8724270" y="2030248"/>
          <a:ext cx="3177041" cy="42672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8816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ctr"/>
                      <a:r>
                        <a:rPr lang="en-US" sz="2200"/>
                        <a:t>States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en-US" sz="22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/>
                        <a:t>b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7" name="Table 66">
            <a:extLst>
              <a:ext uri="{FF2B5EF4-FFF2-40B4-BE49-F238E27FC236}">
                <a16:creationId xmlns:a16="http://schemas.microsoft.com/office/drawing/2014/main" id="{0386D07A-7860-FC1D-4D4C-DAC34BC908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2024664"/>
              </p:ext>
            </p:extLst>
          </p:nvPr>
        </p:nvGraphicFramePr>
        <p:xfrm>
          <a:off x="8724271" y="2453188"/>
          <a:ext cx="3177040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88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l"/>
                      <a:r>
                        <a:rPr lang="en-US" sz="1800"/>
                        <a:t>A = {0,1,2,4,7}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en-US" sz="18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8" name="Table 67">
            <a:extLst>
              <a:ext uri="{FF2B5EF4-FFF2-40B4-BE49-F238E27FC236}">
                <a16:creationId xmlns:a16="http://schemas.microsoft.com/office/drawing/2014/main" id="{E04C7506-283F-121C-D036-715723DFA0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770063"/>
              </p:ext>
            </p:extLst>
          </p:nvPr>
        </p:nvGraphicFramePr>
        <p:xfrm>
          <a:off x="8724271" y="2818948"/>
          <a:ext cx="3177040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88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B = {1,2,3,4,6,7,8}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9" name="Rectangle 68">
            <a:extLst>
              <a:ext uri="{FF2B5EF4-FFF2-40B4-BE49-F238E27FC236}">
                <a16:creationId xmlns:a16="http://schemas.microsoft.com/office/drawing/2014/main" id="{CD23180A-78E9-ADFD-4B7E-DC130D06530F}"/>
              </a:ext>
            </a:extLst>
          </p:cNvPr>
          <p:cNvSpPr/>
          <p:nvPr/>
        </p:nvSpPr>
        <p:spPr>
          <a:xfrm>
            <a:off x="10661268" y="2542087"/>
            <a:ext cx="376111" cy="211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3AA63667-A7E2-5C4B-6095-02C0ACF79C5A}"/>
              </a:ext>
            </a:extLst>
          </p:cNvPr>
          <p:cNvCxnSpPr/>
          <p:nvPr/>
        </p:nvCxnSpPr>
        <p:spPr>
          <a:xfrm rot="5400000">
            <a:off x="5770212" y="3683283"/>
            <a:ext cx="5486400" cy="0"/>
          </a:xfrm>
          <a:prstGeom prst="line">
            <a:avLst/>
          </a:prstGeom>
          <a:ln>
            <a:solidFill>
              <a:srgbClr val="0E47A1"/>
            </a:solidFill>
            <a:prstDash val="solid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0226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7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990000"/>
                                      </p:to>
                                    </p:animClr>
                                    <p:set>
                                      <p:cBhvr>
                                        <p:cTn id="1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7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990000"/>
                                      </p:to>
                                    </p:animClr>
                                    <p:set>
                                      <p:cBhvr>
                                        <p:cTn id="26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9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0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xit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7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50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55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6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xit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7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5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66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7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8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69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3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74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5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7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78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9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xit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8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7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8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89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7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1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92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97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0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01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2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xit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06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1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12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3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xit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4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1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xit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3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" presetClass="exit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48" grpId="0"/>
      <p:bldP spid="49" grpId="0"/>
      <p:bldP spid="51" grpId="0"/>
      <p:bldP spid="55" grpId="0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FF5ED-43A8-B8A7-F05A-68A8406DCC32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Conversion from NFA to DFA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71122A1C-85E8-CD70-E8C5-65FACBECFFA1}"/>
              </a:ext>
            </a:extLst>
          </p:cNvPr>
          <p:cNvSpPr/>
          <p:nvPr/>
        </p:nvSpPr>
        <p:spPr>
          <a:xfrm>
            <a:off x="1309692" y="2819400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1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CEAB37FF-B439-7375-428E-BFE01594A7DD}"/>
              </a:ext>
            </a:extLst>
          </p:cNvPr>
          <p:cNvSpPr/>
          <p:nvPr/>
        </p:nvSpPr>
        <p:spPr>
          <a:xfrm>
            <a:off x="2081457" y="2116861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2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291B0F3-0669-9AC5-E692-DB7B24100B58}"/>
              </a:ext>
            </a:extLst>
          </p:cNvPr>
          <p:cNvSpPr/>
          <p:nvPr/>
        </p:nvSpPr>
        <p:spPr>
          <a:xfrm>
            <a:off x="3075321" y="3491958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5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35E406A-16CE-4817-A621-F51E141C7CA4}"/>
              </a:ext>
            </a:extLst>
          </p:cNvPr>
          <p:cNvSpPr/>
          <p:nvPr/>
        </p:nvSpPr>
        <p:spPr>
          <a:xfrm>
            <a:off x="3075321" y="2135663"/>
            <a:ext cx="457200" cy="438011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713D532-9FA0-82D7-399F-20889905C326}"/>
              </a:ext>
            </a:extLst>
          </p:cNvPr>
          <p:cNvSpPr/>
          <p:nvPr/>
        </p:nvSpPr>
        <p:spPr>
          <a:xfrm>
            <a:off x="2064600" y="3490911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9A18112-8E92-7D04-0A33-B7C5AEF4B234}"/>
              </a:ext>
            </a:extLst>
          </p:cNvPr>
          <p:cNvSpPr/>
          <p:nvPr/>
        </p:nvSpPr>
        <p:spPr>
          <a:xfrm>
            <a:off x="3808798" y="2805111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6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695141E-FB9A-A653-D439-10717A49F84B}"/>
              </a:ext>
            </a:extLst>
          </p:cNvPr>
          <p:cNvSpPr/>
          <p:nvPr/>
        </p:nvSpPr>
        <p:spPr>
          <a:xfrm>
            <a:off x="4831287" y="2780177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7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F4C71D3-6356-2354-8A47-8E89C8381C99}"/>
              </a:ext>
            </a:extLst>
          </p:cNvPr>
          <p:cNvSpPr/>
          <p:nvPr/>
        </p:nvSpPr>
        <p:spPr>
          <a:xfrm>
            <a:off x="5853776" y="2780177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8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3562053-A706-1405-668D-90C7D9CE3CB6}"/>
              </a:ext>
            </a:extLst>
          </p:cNvPr>
          <p:cNvSpPr/>
          <p:nvPr/>
        </p:nvSpPr>
        <p:spPr>
          <a:xfrm>
            <a:off x="433400" y="2819399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0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52F114C-E9DF-9E64-AEB7-76AED451529A}"/>
              </a:ext>
            </a:extLst>
          </p:cNvPr>
          <p:cNvCxnSpPr/>
          <p:nvPr/>
        </p:nvCxnSpPr>
        <p:spPr>
          <a:xfrm>
            <a:off x="903699" y="3039382"/>
            <a:ext cx="419092" cy="1"/>
          </a:xfrm>
          <a:prstGeom prst="straightConnector1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45D02D30-FBFC-F806-1B03-E72480E8DDCD}"/>
              </a:ext>
            </a:extLst>
          </p:cNvPr>
          <p:cNvSpPr/>
          <p:nvPr/>
        </p:nvSpPr>
        <p:spPr>
          <a:xfrm>
            <a:off x="921568" y="2667000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C1F8395-B4B3-35AA-FBDB-384AEC7BDC43}"/>
              </a:ext>
            </a:extLst>
          </p:cNvPr>
          <p:cNvCxnSpPr/>
          <p:nvPr/>
        </p:nvCxnSpPr>
        <p:spPr>
          <a:xfrm>
            <a:off x="2530319" y="2351552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7565B445-CC79-3903-4A2A-E58E6B73FFD5}"/>
              </a:ext>
            </a:extLst>
          </p:cNvPr>
          <p:cNvSpPr/>
          <p:nvPr/>
        </p:nvSpPr>
        <p:spPr>
          <a:xfrm>
            <a:off x="2616975" y="1934046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a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5630A3A-D96C-E360-7F25-9811FB5D7053}"/>
              </a:ext>
            </a:extLst>
          </p:cNvPr>
          <p:cNvCxnSpPr>
            <a:stCxn id="7" idx="6"/>
            <a:endCxn id="5" idx="2"/>
          </p:cNvCxnSpPr>
          <p:nvPr/>
        </p:nvCxnSpPr>
        <p:spPr>
          <a:xfrm>
            <a:off x="2521800" y="3719511"/>
            <a:ext cx="553521" cy="1047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50C1FBFB-9E50-9077-EF0F-71ABB5326ADF}"/>
              </a:ext>
            </a:extLst>
          </p:cNvPr>
          <p:cNvSpPr/>
          <p:nvPr/>
        </p:nvSpPr>
        <p:spPr>
          <a:xfrm>
            <a:off x="2616975" y="3731409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b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C2DD419-2B71-304F-16BA-01530C9CC77C}"/>
              </a:ext>
            </a:extLst>
          </p:cNvPr>
          <p:cNvCxnSpPr>
            <a:stCxn id="3" idx="7"/>
            <a:endCxn id="4" idx="3"/>
          </p:cNvCxnSpPr>
          <p:nvPr/>
        </p:nvCxnSpPr>
        <p:spPr>
          <a:xfrm flipV="1">
            <a:off x="1699937" y="2507106"/>
            <a:ext cx="448475" cy="379249"/>
          </a:xfrm>
          <a:prstGeom prst="straightConnector1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BDBAAC9-504F-3DA9-6DE8-C07F8C760111}"/>
              </a:ext>
            </a:extLst>
          </p:cNvPr>
          <p:cNvCxnSpPr>
            <a:stCxn id="3" idx="5"/>
          </p:cNvCxnSpPr>
          <p:nvPr/>
        </p:nvCxnSpPr>
        <p:spPr>
          <a:xfrm>
            <a:off x="1699937" y="3209645"/>
            <a:ext cx="433971" cy="328891"/>
          </a:xfrm>
          <a:prstGeom prst="straightConnector1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CE20CE9-6EDA-53BB-CD69-F1F2E6A69362}"/>
              </a:ext>
            </a:extLst>
          </p:cNvPr>
          <p:cNvCxnSpPr>
            <a:stCxn id="6" idx="5"/>
            <a:endCxn id="8" idx="1"/>
          </p:cNvCxnSpPr>
          <p:nvPr/>
        </p:nvCxnSpPr>
        <p:spPr>
          <a:xfrm>
            <a:off x="3465566" y="2509529"/>
            <a:ext cx="410187" cy="362537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F574B11-70BF-30E6-9AB0-A46C2C97216F}"/>
              </a:ext>
            </a:extLst>
          </p:cNvPr>
          <p:cNvCxnSpPr>
            <a:stCxn id="5" idx="7"/>
            <a:endCxn id="8" idx="3"/>
          </p:cNvCxnSpPr>
          <p:nvPr/>
        </p:nvCxnSpPr>
        <p:spPr>
          <a:xfrm flipV="1">
            <a:off x="3465566" y="3195356"/>
            <a:ext cx="410187" cy="363557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6176161-016C-A574-7742-D82A26D13DC8}"/>
              </a:ext>
            </a:extLst>
          </p:cNvPr>
          <p:cNvCxnSpPr/>
          <p:nvPr/>
        </p:nvCxnSpPr>
        <p:spPr>
          <a:xfrm>
            <a:off x="4271771" y="3008777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FA6A1665-13F0-5737-657F-BC2EA68F9AD6}"/>
              </a:ext>
            </a:extLst>
          </p:cNvPr>
          <p:cNvSpPr/>
          <p:nvPr/>
        </p:nvSpPr>
        <p:spPr>
          <a:xfrm>
            <a:off x="4351727" y="2654636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213CA26-40F9-2887-2258-DBCF84E7A59D}"/>
              </a:ext>
            </a:extLst>
          </p:cNvPr>
          <p:cNvCxnSpPr/>
          <p:nvPr/>
        </p:nvCxnSpPr>
        <p:spPr>
          <a:xfrm>
            <a:off x="5281161" y="3018759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9412F72B-F252-6972-948D-2DF775152F2E}"/>
              </a:ext>
            </a:extLst>
          </p:cNvPr>
          <p:cNvSpPr/>
          <p:nvPr/>
        </p:nvSpPr>
        <p:spPr>
          <a:xfrm>
            <a:off x="5361117" y="2664618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a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23F9517-8671-B486-81FF-3F9FF78F4D55}"/>
              </a:ext>
            </a:extLst>
          </p:cNvPr>
          <p:cNvSpPr/>
          <p:nvPr/>
        </p:nvSpPr>
        <p:spPr>
          <a:xfrm>
            <a:off x="6425264" y="2664618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b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FD34B41-07FE-B8FA-3352-2680481D8D8A}"/>
              </a:ext>
            </a:extLst>
          </p:cNvPr>
          <p:cNvSpPr/>
          <p:nvPr/>
        </p:nvSpPr>
        <p:spPr>
          <a:xfrm>
            <a:off x="7421867" y="2664618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b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77EA6366-FBF7-89FB-A16B-1F81D1559D85}"/>
              </a:ext>
            </a:extLst>
          </p:cNvPr>
          <p:cNvCxnSpPr/>
          <p:nvPr/>
        </p:nvCxnSpPr>
        <p:spPr>
          <a:xfrm>
            <a:off x="190500" y="3047999"/>
            <a:ext cx="242900" cy="0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8149FDB1-E9D8-7140-A8AF-E8C543CCE5E4}"/>
              </a:ext>
            </a:extLst>
          </p:cNvPr>
          <p:cNvSpPr/>
          <p:nvPr/>
        </p:nvSpPr>
        <p:spPr>
          <a:xfrm>
            <a:off x="1524000" y="3370655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561BB84-E87D-2A96-00A1-DA9FB7E02C90}"/>
              </a:ext>
            </a:extLst>
          </p:cNvPr>
          <p:cNvSpPr/>
          <p:nvPr/>
        </p:nvSpPr>
        <p:spPr>
          <a:xfrm>
            <a:off x="1583156" y="2369027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5B4EF51-F573-7CF8-87C3-ED9EC939DE34}"/>
              </a:ext>
            </a:extLst>
          </p:cNvPr>
          <p:cNvSpPr/>
          <p:nvPr/>
        </p:nvSpPr>
        <p:spPr>
          <a:xfrm>
            <a:off x="3604306" y="2358623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22B7C60-EC2B-333E-0DAE-8A628CE2F00C}"/>
              </a:ext>
            </a:extLst>
          </p:cNvPr>
          <p:cNvSpPr/>
          <p:nvPr/>
        </p:nvSpPr>
        <p:spPr>
          <a:xfrm>
            <a:off x="3616975" y="3383755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33" name="Curved Connector 33">
            <a:extLst>
              <a:ext uri="{FF2B5EF4-FFF2-40B4-BE49-F238E27FC236}">
                <a16:creationId xmlns:a16="http://schemas.microsoft.com/office/drawing/2014/main" id="{F11CDB41-3DD8-B911-EFF2-BB818DB7145B}"/>
              </a:ext>
            </a:extLst>
          </p:cNvPr>
          <p:cNvCxnSpPr/>
          <p:nvPr/>
        </p:nvCxnSpPr>
        <p:spPr>
          <a:xfrm rot="16200000" flipH="1" flipV="1">
            <a:off x="2766063" y="1540671"/>
            <a:ext cx="36576" cy="2569464"/>
          </a:xfrm>
          <a:prstGeom prst="curvedConnector3">
            <a:avLst>
              <a:gd name="adj1" fmla="val -3059900"/>
            </a:avLst>
          </a:prstGeom>
          <a:ln w="25400">
            <a:solidFill>
              <a:srgbClr val="0E47A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981DF344-B66D-408B-7E8A-C23F2C682A6B}"/>
              </a:ext>
            </a:extLst>
          </p:cNvPr>
          <p:cNvSpPr/>
          <p:nvPr/>
        </p:nvSpPr>
        <p:spPr>
          <a:xfrm>
            <a:off x="2616975" y="1294439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E6C518B-D271-C165-3567-3078B43FA83E}"/>
              </a:ext>
            </a:extLst>
          </p:cNvPr>
          <p:cNvSpPr/>
          <p:nvPr/>
        </p:nvSpPr>
        <p:spPr>
          <a:xfrm>
            <a:off x="3795563" y="4275070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3351AA3A-BFC4-E264-095E-D268ACB09832}"/>
              </a:ext>
            </a:extLst>
          </p:cNvPr>
          <p:cNvCxnSpPr/>
          <p:nvPr/>
        </p:nvCxnSpPr>
        <p:spPr>
          <a:xfrm flipV="1">
            <a:off x="1699939" y="2507106"/>
            <a:ext cx="448475" cy="379249"/>
          </a:xfrm>
          <a:prstGeom prst="straightConnector1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B586F084-3F0A-5F19-A7F1-BC090E81AC30}"/>
              </a:ext>
            </a:extLst>
          </p:cNvPr>
          <p:cNvCxnSpPr/>
          <p:nvPr/>
        </p:nvCxnSpPr>
        <p:spPr>
          <a:xfrm>
            <a:off x="1699939" y="3209645"/>
            <a:ext cx="433971" cy="328891"/>
          </a:xfrm>
          <a:prstGeom prst="straightConnector1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urved Connector 38">
            <a:extLst>
              <a:ext uri="{FF2B5EF4-FFF2-40B4-BE49-F238E27FC236}">
                <a16:creationId xmlns:a16="http://schemas.microsoft.com/office/drawing/2014/main" id="{78EE6210-455C-F153-A4D0-5AF1866FBC35}"/>
              </a:ext>
            </a:extLst>
          </p:cNvPr>
          <p:cNvCxnSpPr/>
          <p:nvPr/>
        </p:nvCxnSpPr>
        <p:spPr>
          <a:xfrm rot="5400000" flipH="1" flipV="1">
            <a:off x="2841333" y="1058044"/>
            <a:ext cx="39222" cy="4397887"/>
          </a:xfrm>
          <a:prstGeom prst="curvedConnector3">
            <a:avLst>
              <a:gd name="adj1" fmla="val -3059900"/>
            </a:avLst>
          </a:prstGeom>
          <a:ln w="25400">
            <a:solidFill>
              <a:srgbClr val="0E47A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192076E0-6142-C38A-E78F-DA24E8B7E2FF}"/>
              </a:ext>
            </a:extLst>
          </p:cNvPr>
          <p:cNvCxnSpPr/>
          <p:nvPr/>
        </p:nvCxnSpPr>
        <p:spPr>
          <a:xfrm>
            <a:off x="903700" y="3039382"/>
            <a:ext cx="419092" cy="1"/>
          </a:xfrm>
          <a:prstGeom prst="straightConnector1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6C7D853B-57A9-BBF2-CE89-376DEF823629}"/>
              </a:ext>
            </a:extLst>
          </p:cNvPr>
          <p:cNvCxnSpPr/>
          <p:nvPr/>
        </p:nvCxnSpPr>
        <p:spPr>
          <a:xfrm flipV="1">
            <a:off x="1699940" y="2507106"/>
            <a:ext cx="448475" cy="379249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6222C009-7D47-B8AB-FC84-869791FCEB47}"/>
              </a:ext>
            </a:extLst>
          </p:cNvPr>
          <p:cNvCxnSpPr/>
          <p:nvPr/>
        </p:nvCxnSpPr>
        <p:spPr>
          <a:xfrm>
            <a:off x="1699940" y="3209645"/>
            <a:ext cx="433971" cy="32889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ABD2ACFC-C19B-ED50-DFD1-5A8E9BE0FDBA}"/>
              </a:ext>
            </a:extLst>
          </p:cNvPr>
          <p:cNvCxnSpPr/>
          <p:nvPr/>
        </p:nvCxnSpPr>
        <p:spPr>
          <a:xfrm>
            <a:off x="903701" y="3039382"/>
            <a:ext cx="419092" cy="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D84476C7-0D39-BC56-2CB9-02F1AC2955DE}"/>
              </a:ext>
            </a:extLst>
          </p:cNvPr>
          <p:cNvSpPr/>
          <p:nvPr/>
        </p:nvSpPr>
        <p:spPr>
          <a:xfrm>
            <a:off x="119703" y="4669492"/>
            <a:ext cx="2167393" cy="3938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>
                <a:solidFill>
                  <a:schemeClr val="tx1"/>
                </a:solidFill>
                <a:latin typeface="+mj-lt"/>
              </a:rPr>
              <a:t>A= {0, 1, 2, 4, 7} 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0621DC5-E01C-DAF6-8971-90AA28DE465E}"/>
              </a:ext>
            </a:extLst>
          </p:cNvPr>
          <p:cNvSpPr/>
          <p:nvPr/>
        </p:nvSpPr>
        <p:spPr>
          <a:xfrm>
            <a:off x="186367" y="5118443"/>
            <a:ext cx="1726386" cy="4991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200">
                <a:solidFill>
                  <a:schemeClr val="tx1"/>
                </a:solidFill>
                <a:latin typeface="+mj-lt"/>
              </a:rPr>
              <a:t>Move(A,b) =</a:t>
            </a:r>
            <a:endParaRPr lang="en-US" sz="2200">
              <a:latin typeface="+mj-lt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DCE6874-4CA0-9620-B50D-EA81882ED437}"/>
              </a:ext>
            </a:extLst>
          </p:cNvPr>
          <p:cNvSpPr/>
          <p:nvPr/>
        </p:nvSpPr>
        <p:spPr>
          <a:xfrm>
            <a:off x="974471" y="5177521"/>
            <a:ext cx="1725988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tx1"/>
                </a:solidFill>
                <a:latin typeface="+mj-lt"/>
              </a:rPr>
              <a:t> {5}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B29C1621-8C6D-C8C8-9E81-86CE71E51CA8}"/>
              </a:ext>
            </a:extLst>
          </p:cNvPr>
          <p:cNvSpPr/>
          <p:nvPr/>
        </p:nvSpPr>
        <p:spPr>
          <a:xfrm>
            <a:off x="190499" y="5534752"/>
            <a:ext cx="3043553" cy="4504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200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𝜖- Closure(</a:t>
            </a:r>
            <a:r>
              <a:rPr lang="en-US" sz="2200">
                <a:solidFill>
                  <a:schemeClr val="tx1"/>
                </a:solidFill>
                <a:latin typeface="+mj-lt"/>
              </a:rPr>
              <a:t>Move(A,b)) =</a:t>
            </a:r>
            <a:endParaRPr lang="en-US" sz="2200">
              <a:latin typeface="+mj-lt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65EB5F16-D7FE-BBE3-2F35-EC208AA53618}"/>
              </a:ext>
            </a:extLst>
          </p:cNvPr>
          <p:cNvSpPr/>
          <p:nvPr/>
        </p:nvSpPr>
        <p:spPr>
          <a:xfrm>
            <a:off x="2658359" y="5545668"/>
            <a:ext cx="2536426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tx1"/>
                </a:solidFill>
                <a:latin typeface="+mj-lt"/>
              </a:rPr>
              <a:t> {5, 6, 7, 1, 2, 4}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666A8BD5-3620-D78E-EF9F-205EC1E4B43B}"/>
              </a:ext>
            </a:extLst>
          </p:cNvPr>
          <p:cNvSpPr/>
          <p:nvPr/>
        </p:nvSpPr>
        <p:spPr>
          <a:xfrm>
            <a:off x="4368432" y="6064587"/>
            <a:ext cx="87266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solidFill>
                  <a:schemeClr val="tx1"/>
                </a:solidFill>
                <a:latin typeface="+mj-lt"/>
              </a:rPr>
              <a:t>---- C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7921A1F4-2B41-B4AB-B347-611E8DC7F7EE}"/>
              </a:ext>
            </a:extLst>
          </p:cNvPr>
          <p:cNvSpPr/>
          <p:nvPr/>
        </p:nvSpPr>
        <p:spPr>
          <a:xfrm>
            <a:off x="6482416" y="4401275"/>
            <a:ext cx="471465" cy="3626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3A6DCC01-F0F3-A565-BD4F-8C70D3129518}"/>
              </a:ext>
            </a:extLst>
          </p:cNvPr>
          <p:cNvSpPr/>
          <p:nvPr/>
        </p:nvSpPr>
        <p:spPr>
          <a:xfrm>
            <a:off x="6482416" y="4401275"/>
            <a:ext cx="414313" cy="3626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E5981A6E-A899-4487-5AD1-0171774D6511}"/>
              </a:ext>
            </a:extLst>
          </p:cNvPr>
          <p:cNvSpPr/>
          <p:nvPr/>
        </p:nvSpPr>
        <p:spPr>
          <a:xfrm>
            <a:off x="8039639" y="4455552"/>
            <a:ext cx="473773" cy="2514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AF7437C9-00D5-51E2-2342-435DA520C814}"/>
              </a:ext>
            </a:extLst>
          </p:cNvPr>
          <p:cNvSpPr/>
          <p:nvPr/>
        </p:nvSpPr>
        <p:spPr>
          <a:xfrm>
            <a:off x="2348762" y="6057409"/>
            <a:ext cx="2536426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tx1"/>
                </a:solidFill>
                <a:latin typeface="+mj-lt"/>
              </a:rPr>
              <a:t>= {1,2,4,5,6,7}</a:t>
            </a: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03BEFDA3-B13D-30F9-1C63-EDFBF62C93FB}"/>
              </a:ext>
            </a:extLst>
          </p:cNvPr>
          <p:cNvCxnSpPr/>
          <p:nvPr/>
        </p:nvCxnSpPr>
        <p:spPr>
          <a:xfrm>
            <a:off x="1516271" y="5063358"/>
            <a:ext cx="267829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ctangle 53">
            <a:extLst>
              <a:ext uri="{FF2B5EF4-FFF2-40B4-BE49-F238E27FC236}">
                <a16:creationId xmlns:a16="http://schemas.microsoft.com/office/drawing/2014/main" id="{D4D9F54D-B4F1-04BF-09D2-6B07E1BEB003}"/>
              </a:ext>
            </a:extLst>
          </p:cNvPr>
          <p:cNvSpPr/>
          <p:nvPr/>
        </p:nvSpPr>
        <p:spPr>
          <a:xfrm>
            <a:off x="1708722" y="5161035"/>
            <a:ext cx="536893" cy="4268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54890EE5-3D25-D646-4821-C27B68275D8B}"/>
              </a:ext>
            </a:extLst>
          </p:cNvPr>
          <p:cNvSpPr/>
          <p:nvPr/>
        </p:nvSpPr>
        <p:spPr>
          <a:xfrm>
            <a:off x="3106799" y="5623840"/>
            <a:ext cx="317464" cy="28515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76C30633-C0A2-ABAA-EB6D-364269E0FB85}"/>
              </a:ext>
            </a:extLst>
          </p:cNvPr>
          <p:cNvSpPr/>
          <p:nvPr/>
        </p:nvSpPr>
        <p:spPr>
          <a:xfrm>
            <a:off x="3478089" y="5631269"/>
            <a:ext cx="211819" cy="23654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F3BED5BB-F49F-0D59-9696-0E536F15095F}"/>
              </a:ext>
            </a:extLst>
          </p:cNvPr>
          <p:cNvSpPr/>
          <p:nvPr/>
        </p:nvSpPr>
        <p:spPr>
          <a:xfrm>
            <a:off x="3759689" y="5523375"/>
            <a:ext cx="512589" cy="38278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6E340242-FEB7-B951-C85C-4FF4C05ECABE}"/>
              </a:ext>
            </a:extLst>
          </p:cNvPr>
          <p:cNvSpPr/>
          <p:nvPr/>
        </p:nvSpPr>
        <p:spPr>
          <a:xfrm>
            <a:off x="4278623" y="5578886"/>
            <a:ext cx="499928" cy="36214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F32A2CB4-870B-0881-F483-BB4AAB2B2252}"/>
              </a:ext>
            </a:extLst>
          </p:cNvPr>
          <p:cNvSpPr/>
          <p:nvPr/>
        </p:nvSpPr>
        <p:spPr>
          <a:xfrm>
            <a:off x="7893141" y="2779059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10</a:t>
            </a: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6413593B-1F3C-3ABA-77F9-EED02F84160B}"/>
              </a:ext>
            </a:extLst>
          </p:cNvPr>
          <p:cNvSpPr/>
          <p:nvPr/>
        </p:nvSpPr>
        <p:spPr>
          <a:xfrm>
            <a:off x="7938861" y="2828648"/>
            <a:ext cx="365760" cy="36576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689D226B-E21B-7C5B-10DB-C8D8A1336A90}"/>
              </a:ext>
            </a:extLst>
          </p:cNvPr>
          <p:cNvSpPr/>
          <p:nvPr/>
        </p:nvSpPr>
        <p:spPr>
          <a:xfrm>
            <a:off x="6869835" y="2790159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9</a:t>
            </a: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7C57C957-8EC6-38FC-27CA-1929018BF1C2}"/>
              </a:ext>
            </a:extLst>
          </p:cNvPr>
          <p:cNvCxnSpPr/>
          <p:nvPr/>
        </p:nvCxnSpPr>
        <p:spPr>
          <a:xfrm>
            <a:off x="6308667" y="2994945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2871C4E5-C4E7-AEF6-4F00-D6803F3DC40F}"/>
              </a:ext>
            </a:extLst>
          </p:cNvPr>
          <p:cNvCxnSpPr/>
          <p:nvPr/>
        </p:nvCxnSpPr>
        <p:spPr>
          <a:xfrm>
            <a:off x="7334592" y="3006852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4" name="Table 63">
            <a:extLst>
              <a:ext uri="{FF2B5EF4-FFF2-40B4-BE49-F238E27FC236}">
                <a16:creationId xmlns:a16="http://schemas.microsoft.com/office/drawing/2014/main" id="{F89629CB-627E-0438-463E-5C75AAE550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4751340"/>
              </p:ext>
            </p:extLst>
          </p:nvPr>
        </p:nvGraphicFramePr>
        <p:xfrm>
          <a:off x="8724270" y="2030248"/>
          <a:ext cx="3177041" cy="42672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8816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ctr"/>
                      <a:r>
                        <a:rPr lang="en-US" sz="2200"/>
                        <a:t>States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en-US" sz="22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/>
                        <a:t>b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5" name="Table 64">
            <a:extLst>
              <a:ext uri="{FF2B5EF4-FFF2-40B4-BE49-F238E27FC236}">
                <a16:creationId xmlns:a16="http://schemas.microsoft.com/office/drawing/2014/main" id="{49C76C28-7669-EC63-F9ED-107AC7AE59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9121461"/>
              </p:ext>
            </p:extLst>
          </p:nvPr>
        </p:nvGraphicFramePr>
        <p:xfrm>
          <a:off x="8724271" y="2453188"/>
          <a:ext cx="3177040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88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l"/>
                      <a:r>
                        <a:rPr lang="en-US" sz="1800"/>
                        <a:t>A = {0,1,2,4,7}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en-US" sz="18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C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6" name="Table 65">
            <a:extLst>
              <a:ext uri="{FF2B5EF4-FFF2-40B4-BE49-F238E27FC236}">
                <a16:creationId xmlns:a16="http://schemas.microsoft.com/office/drawing/2014/main" id="{93407BAD-EFD4-4FDB-9679-F6FFA80A4D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9213870"/>
              </p:ext>
            </p:extLst>
          </p:nvPr>
        </p:nvGraphicFramePr>
        <p:xfrm>
          <a:off x="8724271" y="2818948"/>
          <a:ext cx="3177040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88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B = {1,2,3,4,6,7,8}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7" name="Table 66">
            <a:extLst>
              <a:ext uri="{FF2B5EF4-FFF2-40B4-BE49-F238E27FC236}">
                <a16:creationId xmlns:a16="http://schemas.microsoft.com/office/drawing/2014/main" id="{8E610C38-359A-F959-1047-219BF2D5B6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1573758"/>
              </p:ext>
            </p:extLst>
          </p:nvPr>
        </p:nvGraphicFramePr>
        <p:xfrm>
          <a:off x="8724271" y="3192027"/>
          <a:ext cx="3177040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88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l"/>
                      <a:r>
                        <a:rPr lang="en-US" sz="1800"/>
                        <a:t>C = {1,2,4,5,6,7}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8" name="Rectangle 67">
            <a:extLst>
              <a:ext uri="{FF2B5EF4-FFF2-40B4-BE49-F238E27FC236}">
                <a16:creationId xmlns:a16="http://schemas.microsoft.com/office/drawing/2014/main" id="{34B77105-6658-FC51-37ED-20331D9F6395}"/>
              </a:ext>
            </a:extLst>
          </p:cNvPr>
          <p:cNvSpPr/>
          <p:nvPr/>
        </p:nvSpPr>
        <p:spPr>
          <a:xfrm>
            <a:off x="11356319" y="2527312"/>
            <a:ext cx="376111" cy="211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34354444-0016-B48E-8ECD-60121F28DDB8}"/>
              </a:ext>
            </a:extLst>
          </p:cNvPr>
          <p:cNvCxnSpPr/>
          <p:nvPr/>
        </p:nvCxnSpPr>
        <p:spPr>
          <a:xfrm rot="5400000">
            <a:off x="5770212" y="3683283"/>
            <a:ext cx="5486400" cy="0"/>
          </a:xfrm>
          <a:prstGeom prst="line">
            <a:avLst/>
          </a:prstGeom>
          <a:ln>
            <a:solidFill>
              <a:srgbClr val="0E47A1"/>
            </a:solidFill>
            <a:prstDash val="solid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0461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7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1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xit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0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xit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7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41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46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7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xit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7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6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57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7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9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60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4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65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8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69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0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xit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7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7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9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80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7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2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83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7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8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9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1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92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3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xit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9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xit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4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46" grpId="0"/>
      <p:bldP spid="48" grpId="0"/>
      <p:bldP spid="52" grpId="0"/>
      <p:bldP spid="54" grpId="0" animBg="1"/>
      <p:bldP spid="55" grpId="0" animBg="1"/>
      <p:bldP spid="56" grpId="0" animBg="1"/>
      <p:bldP spid="57" grpId="0" animBg="1"/>
      <p:bldP spid="58" grpId="0" animBg="1"/>
      <p:bldP spid="6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A3D82-C174-8736-CC6D-B14710E0FBD3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Conversion from NFA to DFA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8B791B49-4B89-D779-0459-9069F9862B73}"/>
              </a:ext>
            </a:extLst>
          </p:cNvPr>
          <p:cNvSpPr/>
          <p:nvPr/>
        </p:nvSpPr>
        <p:spPr>
          <a:xfrm>
            <a:off x="1309692" y="2819400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1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D0031A2-4FA0-1E34-FD5B-41D28EE299CF}"/>
              </a:ext>
            </a:extLst>
          </p:cNvPr>
          <p:cNvSpPr/>
          <p:nvPr/>
        </p:nvSpPr>
        <p:spPr>
          <a:xfrm>
            <a:off x="2081457" y="2116861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2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DF24656-821A-1647-B456-BF7B0E501912}"/>
              </a:ext>
            </a:extLst>
          </p:cNvPr>
          <p:cNvSpPr/>
          <p:nvPr/>
        </p:nvSpPr>
        <p:spPr>
          <a:xfrm>
            <a:off x="3075321" y="3491958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5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5C4D3BA-A89C-5FEE-8513-5C14945E91FA}"/>
              </a:ext>
            </a:extLst>
          </p:cNvPr>
          <p:cNvSpPr/>
          <p:nvPr/>
        </p:nvSpPr>
        <p:spPr>
          <a:xfrm>
            <a:off x="3075321" y="2135663"/>
            <a:ext cx="457200" cy="438011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E1AA675-3A23-90A3-7B47-AE031C9C22AA}"/>
              </a:ext>
            </a:extLst>
          </p:cNvPr>
          <p:cNvSpPr/>
          <p:nvPr/>
        </p:nvSpPr>
        <p:spPr>
          <a:xfrm>
            <a:off x="2064600" y="3490911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A95B1EF-6B33-D53D-26E4-8D6B427577A2}"/>
              </a:ext>
            </a:extLst>
          </p:cNvPr>
          <p:cNvSpPr/>
          <p:nvPr/>
        </p:nvSpPr>
        <p:spPr>
          <a:xfrm>
            <a:off x="3808798" y="2805111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6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A1334EC-66F4-2ED8-51CF-38C360060513}"/>
              </a:ext>
            </a:extLst>
          </p:cNvPr>
          <p:cNvSpPr/>
          <p:nvPr/>
        </p:nvSpPr>
        <p:spPr>
          <a:xfrm>
            <a:off x="4831287" y="2780177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7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EFD35B9-4873-6A9B-9A02-172A60EC4DD4}"/>
              </a:ext>
            </a:extLst>
          </p:cNvPr>
          <p:cNvSpPr/>
          <p:nvPr/>
        </p:nvSpPr>
        <p:spPr>
          <a:xfrm>
            <a:off x="5853776" y="2780177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8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D4B6F06-4AF7-00D7-D46E-4F2D0619005F}"/>
              </a:ext>
            </a:extLst>
          </p:cNvPr>
          <p:cNvSpPr/>
          <p:nvPr/>
        </p:nvSpPr>
        <p:spPr>
          <a:xfrm>
            <a:off x="433400" y="2819399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0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C863468-FC3B-48D6-D1EF-B18D206A306A}"/>
              </a:ext>
            </a:extLst>
          </p:cNvPr>
          <p:cNvCxnSpPr/>
          <p:nvPr/>
        </p:nvCxnSpPr>
        <p:spPr>
          <a:xfrm>
            <a:off x="903699" y="3039382"/>
            <a:ext cx="419092" cy="1"/>
          </a:xfrm>
          <a:prstGeom prst="straightConnector1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ECC4476E-7859-7DA1-1999-D4DFA8A42BC0}"/>
              </a:ext>
            </a:extLst>
          </p:cNvPr>
          <p:cNvSpPr/>
          <p:nvPr/>
        </p:nvSpPr>
        <p:spPr>
          <a:xfrm>
            <a:off x="921568" y="2667000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18C84AD-1D78-E42C-B6EE-EFD121AE8BC8}"/>
              </a:ext>
            </a:extLst>
          </p:cNvPr>
          <p:cNvCxnSpPr/>
          <p:nvPr/>
        </p:nvCxnSpPr>
        <p:spPr>
          <a:xfrm>
            <a:off x="2530319" y="2351552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181BFB9A-A4F3-DC46-30E6-09D9CE102DF4}"/>
              </a:ext>
            </a:extLst>
          </p:cNvPr>
          <p:cNvSpPr/>
          <p:nvPr/>
        </p:nvSpPr>
        <p:spPr>
          <a:xfrm>
            <a:off x="2616975" y="1934046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a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F305C44-D4B5-3510-F5F5-24F48124A8B6}"/>
              </a:ext>
            </a:extLst>
          </p:cNvPr>
          <p:cNvCxnSpPr>
            <a:stCxn id="7" idx="6"/>
            <a:endCxn id="5" idx="2"/>
          </p:cNvCxnSpPr>
          <p:nvPr/>
        </p:nvCxnSpPr>
        <p:spPr>
          <a:xfrm>
            <a:off x="2521800" y="3719511"/>
            <a:ext cx="553521" cy="1047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DF7B43C7-70AD-C8AD-EFC0-9CDD3ECEF842}"/>
              </a:ext>
            </a:extLst>
          </p:cNvPr>
          <p:cNvSpPr/>
          <p:nvPr/>
        </p:nvSpPr>
        <p:spPr>
          <a:xfrm>
            <a:off x="2616975" y="3731409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b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49C99CA-2E9B-40FF-7500-2778292FD25A}"/>
              </a:ext>
            </a:extLst>
          </p:cNvPr>
          <p:cNvCxnSpPr>
            <a:stCxn id="3" idx="7"/>
            <a:endCxn id="4" idx="3"/>
          </p:cNvCxnSpPr>
          <p:nvPr/>
        </p:nvCxnSpPr>
        <p:spPr>
          <a:xfrm flipV="1">
            <a:off x="1699937" y="2507106"/>
            <a:ext cx="448475" cy="379249"/>
          </a:xfrm>
          <a:prstGeom prst="straightConnector1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8E2DF54-71A5-2D03-1A9A-8DBA341BF135}"/>
              </a:ext>
            </a:extLst>
          </p:cNvPr>
          <p:cNvCxnSpPr>
            <a:stCxn id="3" idx="5"/>
          </p:cNvCxnSpPr>
          <p:nvPr/>
        </p:nvCxnSpPr>
        <p:spPr>
          <a:xfrm>
            <a:off x="1699937" y="3209645"/>
            <a:ext cx="433971" cy="328891"/>
          </a:xfrm>
          <a:prstGeom prst="straightConnector1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903F3CB-C398-ADD3-912D-EB266B351036}"/>
              </a:ext>
            </a:extLst>
          </p:cNvPr>
          <p:cNvCxnSpPr>
            <a:stCxn id="6" idx="5"/>
            <a:endCxn id="8" idx="1"/>
          </p:cNvCxnSpPr>
          <p:nvPr/>
        </p:nvCxnSpPr>
        <p:spPr>
          <a:xfrm>
            <a:off x="3465566" y="2509529"/>
            <a:ext cx="410187" cy="362537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49B93E9-3B1B-B28F-68BE-005FC6CAEDDA}"/>
              </a:ext>
            </a:extLst>
          </p:cNvPr>
          <p:cNvCxnSpPr>
            <a:stCxn id="5" idx="7"/>
            <a:endCxn id="8" idx="3"/>
          </p:cNvCxnSpPr>
          <p:nvPr/>
        </p:nvCxnSpPr>
        <p:spPr>
          <a:xfrm flipV="1">
            <a:off x="3465566" y="3195356"/>
            <a:ext cx="410187" cy="363557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32A31FD-02BF-EA4F-BF17-32C3E8E8E810}"/>
              </a:ext>
            </a:extLst>
          </p:cNvPr>
          <p:cNvCxnSpPr/>
          <p:nvPr/>
        </p:nvCxnSpPr>
        <p:spPr>
          <a:xfrm>
            <a:off x="4271771" y="3008777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132B2690-7DBC-3E85-C012-4337E9ACB452}"/>
              </a:ext>
            </a:extLst>
          </p:cNvPr>
          <p:cNvSpPr/>
          <p:nvPr/>
        </p:nvSpPr>
        <p:spPr>
          <a:xfrm>
            <a:off x="4351727" y="2654636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4737E7A-9C4C-37B8-5CF5-AC0A33BBD8EA}"/>
              </a:ext>
            </a:extLst>
          </p:cNvPr>
          <p:cNvCxnSpPr/>
          <p:nvPr/>
        </p:nvCxnSpPr>
        <p:spPr>
          <a:xfrm>
            <a:off x="5281161" y="3018759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ABC0D3D5-411E-9006-3BB5-28FAEC83C9F4}"/>
              </a:ext>
            </a:extLst>
          </p:cNvPr>
          <p:cNvSpPr/>
          <p:nvPr/>
        </p:nvSpPr>
        <p:spPr>
          <a:xfrm>
            <a:off x="5361117" y="2664618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a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3E89A4A8-BBF5-D290-3DCD-A461F2BB2E81}"/>
              </a:ext>
            </a:extLst>
          </p:cNvPr>
          <p:cNvCxnSpPr/>
          <p:nvPr/>
        </p:nvCxnSpPr>
        <p:spPr>
          <a:xfrm>
            <a:off x="6308667" y="2994945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340AD7A3-A6C4-FE2F-7348-29FACA18B2FB}"/>
              </a:ext>
            </a:extLst>
          </p:cNvPr>
          <p:cNvSpPr/>
          <p:nvPr/>
        </p:nvSpPr>
        <p:spPr>
          <a:xfrm>
            <a:off x="6425264" y="2664618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b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C4DAA97-C375-2C51-E283-E5F67B42C725}"/>
              </a:ext>
            </a:extLst>
          </p:cNvPr>
          <p:cNvCxnSpPr/>
          <p:nvPr/>
        </p:nvCxnSpPr>
        <p:spPr>
          <a:xfrm>
            <a:off x="190500" y="3047999"/>
            <a:ext cx="242900" cy="0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3A23758A-B3B4-B707-0A85-FC61BCA1D25A}"/>
              </a:ext>
            </a:extLst>
          </p:cNvPr>
          <p:cNvSpPr/>
          <p:nvPr/>
        </p:nvSpPr>
        <p:spPr>
          <a:xfrm>
            <a:off x="1524000" y="3370655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AC854B0-6D6F-231D-EB40-497ABFE2AA66}"/>
              </a:ext>
            </a:extLst>
          </p:cNvPr>
          <p:cNvSpPr/>
          <p:nvPr/>
        </p:nvSpPr>
        <p:spPr>
          <a:xfrm>
            <a:off x="1583156" y="2369027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DE9EB44-3C8C-2FFD-59BB-BC1599518C1F}"/>
              </a:ext>
            </a:extLst>
          </p:cNvPr>
          <p:cNvSpPr/>
          <p:nvPr/>
        </p:nvSpPr>
        <p:spPr>
          <a:xfrm>
            <a:off x="3604306" y="2358623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3DCB105-283F-2741-10CF-9F3EE3FB8972}"/>
              </a:ext>
            </a:extLst>
          </p:cNvPr>
          <p:cNvSpPr/>
          <p:nvPr/>
        </p:nvSpPr>
        <p:spPr>
          <a:xfrm>
            <a:off x="3616975" y="3383755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33" name="Curved Connector 34">
            <a:extLst>
              <a:ext uri="{FF2B5EF4-FFF2-40B4-BE49-F238E27FC236}">
                <a16:creationId xmlns:a16="http://schemas.microsoft.com/office/drawing/2014/main" id="{3A279353-3C5E-49AB-0B2E-DC70893E09D3}"/>
              </a:ext>
            </a:extLst>
          </p:cNvPr>
          <p:cNvCxnSpPr>
            <a:stCxn id="11" idx="4"/>
            <a:endCxn id="9" idx="4"/>
          </p:cNvCxnSpPr>
          <p:nvPr/>
        </p:nvCxnSpPr>
        <p:spPr>
          <a:xfrm rot="5400000" flipH="1" flipV="1">
            <a:off x="2841332" y="1058044"/>
            <a:ext cx="39222" cy="4397887"/>
          </a:xfrm>
          <a:prstGeom prst="curvedConnector3">
            <a:avLst>
              <a:gd name="adj1" fmla="val -3059900"/>
            </a:avLst>
          </a:prstGeom>
          <a:ln w="25400">
            <a:solidFill>
              <a:srgbClr val="0E47A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urved Connector 35">
            <a:extLst>
              <a:ext uri="{FF2B5EF4-FFF2-40B4-BE49-F238E27FC236}">
                <a16:creationId xmlns:a16="http://schemas.microsoft.com/office/drawing/2014/main" id="{3EA074B0-008B-F758-B342-C5C40DF7365A}"/>
              </a:ext>
            </a:extLst>
          </p:cNvPr>
          <p:cNvCxnSpPr/>
          <p:nvPr/>
        </p:nvCxnSpPr>
        <p:spPr>
          <a:xfrm rot="16200000" flipH="1" flipV="1">
            <a:off x="2766063" y="1524629"/>
            <a:ext cx="36576" cy="2569464"/>
          </a:xfrm>
          <a:prstGeom prst="curvedConnector3">
            <a:avLst>
              <a:gd name="adj1" fmla="val -3059900"/>
            </a:avLst>
          </a:prstGeom>
          <a:ln w="25400">
            <a:solidFill>
              <a:srgbClr val="0E47A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F1F04A8A-BEAD-FF47-21F1-7BABBD424E0E}"/>
              </a:ext>
            </a:extLst>
          </p:cNvPr>
          <p:cNvSpPr/>
          <p:nvPr/>
        </p:nvSpPr>
        <p:spPr>
          <a:xfrm>
            <a:off x="2616975" y="1294439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28A876D-289D-83FF-40AD-3DFE7B567600}"/>
              </a:ext>
            </a:extLst>
          </p:cNvPr>
          <p:cNvSpPr/>
          <p:nvPr/>
        </p:nvSpPr>
        <p:spPr>
          <a:xfrm>
            <a:off x="3795563" y="4275070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EBBE97B5-EA51-1EEC-83DB-48CBA94FDCC2}"/>
              </a:ext>
            </a:extLst>
          </p:cNvPr>
          <p:cNvCxnSpPr/>
          <p:nvPr/>
        </p:nvCxnSpPr>
        <p:spPr>
          <a:xfrm flipV="1">
            <a:off x="1699939" y="2507106"/>
            <a:ext cx="448475" cy="379249"/>
          </a:xfrm>
          <a:prstGeom prst="straightConnector1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1BAD08DF-2E49-E581-ADA6-32855340B4C5}"/>
              </a:ext>
            </a:extLst>
          </p:cNvPr>
          <p:cNvCxnSpPr/>
          <p:nvPr/>
        </p:nvCxnSpPr>
        <p:spPr>
          <a:xfrm>
            <a:off x="1699939" y="3209645"/>
            <a:ext cx="433971" cy="328891"/>
          </a:xfrm>
          <a:prstGeom prst="straightConnector1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9DEFC01A-65BE-CBF8-F8BE-1734EBA0D132}"/>
              </a:ext>
            </a:extLst>
          </p:cNvPr>
          <p:cNvCxnSpPr/>
          <p:nvPr/>
        </p:nvCxnSpPr>
        <p:spPr>
          <a:xfrm>
            <a:off x="903700" y="3039382"/>
            <a:ext cx="419092" cy="1"/>
          </a:xfrm>
          <a:prstGeom prst="straightConnector1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59469535-EFD7-53A4-6F9A-9C6F122A15E0}"/>
              </a:ext>
            </a:extLst>
          </p:cNvPr>
          <p:cNvCxnSpPr/>
          <p:nvPr/>
        </p:nvCxnSpPr>
        <p:spPr>
          <a:xfrm flipV="1">
            <a:off x="1699940" y="2507106"/>
            <a:ext cx="448475" cy="379249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E20E3BA6-71DE-0BC6-6372-F621B07F5A7B}"/>
              </a:ext>
            </a:extLst>
          </p:cNvPr>
          <p:cNvCxnSpPr/>
          <p:nvPr/>
        </p:nvCxnSpPr>
        <p:spPr>
          <a:xfrm>
            <a:off x="1699940" y="3209645"/>
            <a:ext cx="433971" cy="32889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5273F421-431C-855B-E5C8-AB974511A4EB}"/>
              </a:ext>
            </a:extLst>
          </p:cNvPr>
          <p:cNvCxnSpPr/>
          <p:nvPr/>
        </p:nvCxnSpPr>
        <p:spPr>
          <a:xfrm>
            <a:off x="903701" y="3039382"/>
            <a:ext cx="419092" cy="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211FD441-2674-1878-1E47-BF27B56E9BDA}"/>
              </a:ext>
            </a:extLst>
          </p:cNvPr>
          <p:cNvSpPr/>
          <p:nvPr/>
        </p:nvSpPr>
        <p:spPr>
          <a:xfrm>
            <a:off x="219103" y="4655982"/>
            <a:ext cx="2928189" cy="3587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>
                <a:solidFill>
                  <a:schemeClr val="tx1"/>
                </a:solidFill>
                <a:latin typeface="+mj-lt"/>
              </a:rPr>
              <a:t>B = {1, 2, 3, 4, 6, 7, 8}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46E335B-8673-E715-F6C8-29E2AB5F96AE}"/>
              </a:ext>
            </a:extLst>
          </p:cNvPr>
          <p:cNvSpPr/>
          <p:nvPr/>
        </p:nvSpPr>
        <p:spPr>
          <a:xfrm>
            <a:off x="368004" y="5104591"/>
            <a:ext cx="1490483" cy="4689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200">
                <a:solidFill>
                  <a:schemeClr val="tx1"/>
                </a:solidFill>
                <a:latin typeface="+mj-lt"/>
              </a:rPr>
              <a:t>Move(B,a)</a:t>
            </a:r>
            <a:endParaRPr lang="en-US" sz="2200">
              <a:latin typeface="+mj-lt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BCA6004-91A0-6933-AE53-CF4387315D7B}"/>
              </a:ext>
            </a:extLst>
          </p:cNvPr>
          <p:cNvSpPr/>
          <p:nvPr/>
        </p:nvSpPr>
        <p:spPr>
          <a:xfrm>
            <a:off x="1218464" y="5148578"/>
            <a:ext cx="1725988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tx1"/>
                </a:solidFill>
                <a:latin typeface="+mj-lt"/>
              </a:rPr>
              <a:t>= {3,8}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173F047-CDE9-0B2B-11E9-9D45E91DD214}"/>
              </a:ext>
            </a:extLst>
          </p:cNvPr>
          <p:cNvSpPr/>
          <p:nvPr/>
        </p:nvSpPr>
        <p:spPr>
          <a:xfrm>
            <a:off x="374532" y="5534752"/>
            <a:ext cx="2700790" cy="4689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200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𝜖- Closure(</a:t>
            </a:r>
            <a:r>
              <a:rPr lang="en-US" sz="2200">
                <a:solidFill>
                  <a:schemeClr val="tx1"/>
                </a:solidFill>
                <a:latin typeface="+mj-lt"/>
              </a:rPr>
              <a:t>Move(B,a))</a:t>
            </a:r>
            <a:endParaRPr lang="en-US" sz="2200">
              <a:latin typeface="+mj-lt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6A6FAD46-8ABC-29BE-DAA7-5F99D36DDD08}"/>
              </a:ext>
            </a:extLst>
          </p:cNvPr>
          <p:cNvSpPr/>
          <p:nvPr/>
        </p:nvSpPr>
        <p:spPr>
          <a:xfrm>
            <a:off x="2807308" y="5609266"/>
            <a:ext cx="2536426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tx1"/>
                </a:solidFill>
                <a:latin typeface="+mj-lt"/>
              </a:rPr>
              <a:t>= {3, 6, 7, 1, 2, 4, 8}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EADBDAE9-E52A-8EA4-62DC-E3A521124BCC}"/>
              </a:ext>
            </a:extLst>
          </p:cNvPr>
          <p:cNvSpPr/>
          <p:nvPr/>
        </p:nvSpPr>
        <p:spPr>
          <a:xfrm>
            <a:off x="4800325" y="5965890"/>
            <a:ext cx="87266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solidFill>
                  <a:schemeClr val="tx1"/>
                </a:solidFill>
                <a:latin typeface="+mj-lt"/>
              </a:rPr>
              <a:t>---- B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D4C07A9A-71F7-2BF4-3203-DD3BBD48AC16}"/>
              </a:ext>
            </a:extLst>
          </p:cNvPr>
          <p:cNvSpPr/>
          <p:nvPr/>
        </p:nvSpPr>
        <p:spPr>
          <a:xfrm>
            <a:off x="6482416" y="4401275"/>
            <a:ext cx="471465" cy="3626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6810836C-40BB-9198-9969-5FE777C965BF}"/>
              </a:ext>
            </a:extLst>
          </p:cNvPr>
          <p:cNvSpPr/>
          <p:nvPr/>
        </p:nvSpPr>
        <p:spPr>
          <a:xfrm>
            <a:off x="6482416" y="4401275"/>
            <a:ext cx="414313" cy="3626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D8F6053-D336-FFF7-F2D6-CD1E68EBC0CC}"/>
              </a:ext>
            </a:extLst>
          </p:cNvPr>
          <p:cNvSpPr/>
          <p:nvPr/>
        </p:nvSpPr>
        <p:spPr>
          <a:xfrm>
            <a:off x="8089735" y="4978874"/>
            <a:ext cx="473773" cy="2514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324BF2EA-2FC0-9B33-9020-50F0FD90E8F4}"/>
              </a:ext>
            </a:extLst>
          </p:cNvPr>
          <p:cNvSpPr/>
          <p:nvPr/>
        </p:nvSpPr>
        <p:spPr>
          <a:xfrm>
            <a:off x="2616975" y="5989841"/>
            <a:ext cx="2536426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tx1"/>
                </a:solidFill>
                <a:latin typeface="+mj-lt"/>
              </a:rPr>
              <a:t>= {1,2,3,4,6,7,8}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2799BB25-722D-32D2-7C49-7DEB931D7009}"/>
              </a:ext>
            </a:extLst>
          </p:cNvPr>
          <p:cNvSpPr/>
          <p:nvPr/>
        </p:nvSpPr>
        <p:spPr>
          <a:xfrm>
            <a:off x="2974151" y="5626507"/>
            <a:ext cx="536893" cy="4268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7C5A7043-4796-EDBB-76E0-24F0F7B63368}"/>
              </a:ext>
            </a:extLst>
          </p:cNvPr>
          <p:cNvSpPr/>
          <p:nvPr/>
        </p:nvSpPr>
        <p:spPr>
          <a:xfrm>
            <a:off x="3437736" y="5534752"/>
            <a:ext cx="357176" cy="381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4C399C33-D452-7173-7DF5-2083A32A3789}"/>
              </a:ext>
            </a:extLst>
          </p:cNvPr>
          <p:cNvSpPr/>
          <p:nvPr/>
        </p:nvSpPr>
        <p:spPr>
          <a:xfrm>
            <a:off x="3780949" y="5539429"/>
            <a:ext cx="570777" cy="4002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1EDB32FA-12AA-0DC7-A6AB-1718B3ECAA4E}"/>
              </a:ext>
            </a:extLst>
          </p:cNvPr>
          <p:cNvSpPr/>
          <p:nvPr/>
        </p:nvSpPr>
        <p:spPr>
          <a:xfrm>
            <a:off x="4291263" y="5539429"/>
            <a:ext cx="570777" cy="4002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2FAC7620-33BE-855F-10F4-0B43878BC762}"/>
              </a:ext>
            </a:extLst>
          </p:cNvPr>
          <p:cNvSpPr/>
          <p:nvPr/>
        </p:nvSpPr>
        <p:spPr>
          <a:xfrm>
            <a:off x="4860520" y="5559629"/>
            <a:ext cx="570777" cy="4002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AB58E6BA-A9FC-FA3C-F46C-4E7FA4094FD7}"/>
              </a:ext>
            </a:extLst>
          </p:cNvPr>
          <p:cNvCxnSpPr/>
          <p:nvPr/>
        </p:nvCxnSpPr>
        <p:spPr>
          <a:xfrm flipH="1">
            <a:off x="1193052" y="5014692"/>
            <a:ext cx="22935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B5BCDFB8-970F-7610-13BF-34FB7B04BFD4}"/>
              </a:ext>
            </a:extLst>
          </p:cNvPr>
          <p:cNvCxnSpPr/>
          <p:nvPr/>
        </p:nvCxnSpPr>
        <p:spPr>
          <a:xfrm>
            <a:off x="2298154" y="5007902"/>
            <a:ext cx="267829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Rectangle 59">
            <a:extLst>
              <a:ext uri="{FF2B5EF4-FFF2-40B4-BE49-F238E27FC236}">
                <a16:creationId xmlns:a16="http://schemas.microsoft.com/office/drawing/2014/main" id="{D6712EAC-BABE-60F0-69FF-80554BE2CBBA}"/>
              </a:ext>
            </a:extLst>
          </p:cNvPr>
          <p:cNvSpPr/>
          <p:nvPr/>
        </p:nvSpPr>
        <p:spPr>
          <a:xfrm>
            <a:off x="7421867" y="2664618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b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B5E55B74-3B93-A8D5-5C3D-F05B8658277C}"/>
              </a:ext>
            </a:extLst>
          </p:cNvPr>
          <p:cNvSpPr/>
          <p:nvPr/>
        </p:nvSpPr>
        <p:spPr>
          <a:xfrm>
            <a:off x="7893141" y="2779059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10</a:t>
            </a: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F29B6B2A-E391-7632-9185-8A5383A81CEC}"/>
              </a:ext>
            </a:extLst>
          </p:cNvPr>
          <p:cNvSpPr/>
          <p:nvPr/>
        </p:nvSpPr>
        <p:spPr>
          <a:xfrm>
            <a:off x="7938861" y="2828648"/>
            <a:ext cx="365760" cy="36576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E7253D09-5013-6DC2-E386-9FCB11AA3D9F}"/>
              </a:ext>
            </a:extLst>
          </p:cNvPr>
          <p:cNvSpPr/>
          <p:nvPr/>
        </p:nvSpPr>
        <p:spPr>
          <a:xfrm>
            <a:off x="6869835" y="2790159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9</a:t>
            </a:r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33421244-6D32-00EE-DFDA-7F0D25E15D3D}"/>
              </a:ext>
            </a:extLst>
          </p:cNvPr>
          <p:cNvCxnSpPr/>
          <p:nvPr/>
        </p:nvCxnSpPr>
        <p:spPr>
          <a:xfrm>
            <a:off x="7334592" y="3006852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5" name="Table 64">
            <a:extLst>
              <a:ext uri="{FF2B5EF4-FFF2-40B4-BE49-F238E27FC236}">
                <a16:creationId xmlns:a16="http://schemas.microsoft.com/office/drawing/2014/main" id="{4E140333-9D42-619B-DE7F-62BB109370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4375361"/>
              </p:ext>
            </p:extLst>
          </p:nvPr>
        </p:nvGraphicFramePr>
        <p:xfrm>
          <a:off x="8724270" y="2030248"/>
          <a:ext cx="3177041" cy="42672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8816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ctr"/>
                      <a:r>
                        <a:rPr lang="en-US" sz="2200"/>
                        <a:t>States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en-US" sz="22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/>
                        <a:t>b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6" name="Table 65">
            <a:extLst>
              <a:ext uri="{FF2B5EF4-FFF2-40B4-BE49-F238E27FC236}">
                <a16:creationId xmlns:a16="http://schemas.microsoft.com/office/drawing/2014/main" id="{3747507B-3F64-735A-13B6-D756BA51D2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8181139"/>
              </p:ext>
            </p:extLst>
          </p:nvPr>
        </p:nvGraphicFramePr>
        <p:xfrm>
          <a:off x="8724271" y="2453188"/>
          <a:ext cx="3177040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88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l"/>
                      <a:r>
                        <a:rPr lang="en-US" sz="1800"/>
                        <a:t>A = {0,1,2,4,7}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en-US" sz="18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C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7" name="Table 66">
            <a:extLst>
              <a:ext uri="{FF2B5EF4-FFF2-40B4-BE49-F238E27FC236}">
                <a16:creationId xmlns:a16="http://schemas.microsoft.com/office/drawing/2014/main" id="{D53CAD2E-C1A6-5A61-2206-FB3F506D8A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7478620"/>
              </p:ext>
            </p:extLst>
          </p:nvPr>
        </p:nvGraphicFramePr>
        <p:xfrm>
          <a:off x="8724271" y="2818948"/>
          <a:ext cx="3177040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88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B = {1,2,3,4,6,7,8}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en-US" sz="18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8" name="Table 67">
            <a:extLst>
              <a:ext uri="{FF2B5EF4-FFF2-40B4-BE49-F238E27FC236}">
                <a16:creationId xmlns:a16="http://schemas.microsoft.com/office/drawing/2014/main" id="{5C4C3C19-8004-177E-EB21-DC8ECD29E9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301866"/>
              </p:ext>
            </p:extLst>
          </p:nvPr>
        </p:nvGraphicFramePr>
        <p:xfrm>
          <a:off x="8724271" y="3192027"/>
          <a:ext cx="3177040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88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l"/>
                      <a:r>
                        <a:rPr lang="en-US" sz="1800"/>
                        <a:t>C = {1,2,4,5,6,7}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9" name="Rectangle 68">
            <a:extLst>
              <a:ext uri="{FF2B5EF4-FFF2-40B4-BE49-F238E27FC236}">
                <a16:creationId xmlns:a16="http://schemas.microsoft.com/office/drawing/2014/main" id="{3DEF7770-D410-D3B2-B057-47F109480A5C}"/>
              </a:ext>
            </a:extLst>
          </p:cNvPr>
          <p:cNvSpPr/>
          <p:nvPr/>
        </p:nvSpPr>
        <p:spPr>
          <a:xfrm>
            <a:off x="10779820" y="2856356"/>
            <a:ext cx="163399" cy="24144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7BA2A156-6C39-61A2-6D51-DC0175037841}"/>
              </a:ext>
            </a:extLst>
          </p:cNvPr>
          <p:cNvCxnSpPr/>
          <p:nvPr/>
        </p:nvCxnSpPr>
        <p:spPr>
          <a:xfrm rot="5400000">
            <a:off x="5770212" y="3683283"/>
            <a:ext cx="5486400" cy="0"/>
          </a:xfrm>
          <a:prstGeom prst="line">
            <a:avLst/>
          </a:prstGeom>
          <a:ln>
            <a:solidFill>
              <a:srgbClr val="0E47A1"/>
            </a:solidFill>
            <a:prstDash val="solid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4797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7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990000"/>
                                      </p:to>
                                    </p:animClr>
                                    <p:set>
                                      <p:cBhvr>
                                        <p:cTn id="1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7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990000"/>
                                      </p:to>
                                    </p:animClr>
                                    <p:set>
                                      <p:cBhvr>
                                        <p:cTn id="26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9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0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xit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7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50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55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6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xit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7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5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66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7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8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69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3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74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5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7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78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9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xit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8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7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8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89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7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1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92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97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0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01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2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xit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0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1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12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3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xit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xit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30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45" grpId="0"/>
      <p:bldP spid="46" grpId="0"/>
      <p:bldP spid="48" grpId="0"/>
      <p:bldP spid="52" grpId="0"/>
      <p:bldP spid="53" grpId="0" animBg="1"/>
      <p:bldP spid="54" grpId="0" animBg="1"/>
      <p:bldP spid="55" grpId="0" animBg="1"/>
      <p:bldP spid="56" grpId="0" animBg="1"/>
      <p:bldP spid="57" grpId="0" animBg="1"/>
      <p:bldP spid="6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A5486-6297-6712-8307-F9E72F2E99B0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Conversion from NFA to DFA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127F778B-65E4-731D-6542-2A4A8432B15B}"/>
              </a:ext>
            </a:extLst>
          </p:cNvPr>
          <p:cNvSpPr/>
          <p:nvPr/>
        </p:nvSpPr>
        <p:spPr>
          <a:xfrm>
            <a:off x="1309692" y="2819400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1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A2BAC2A-3BC1-4097-D963-8A3B6D37D314}"/>
              </a:ext>
            </a:extLst>
          </p:cNvPr>
          <p:cNvSpPr/>
          <p:nvPr/>
        </p:nvSpPr>
        <p:spPr>
          <a:xfrm>
            <a:off x="2081457" y="2116861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2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F4E218E-D8E1-625E-58F5-CE8C9D662867}"/>
              </a:ext>
            </a:extLst>
          </p:cNvPr>
          <p:cNvSpPr/>
          <p:nvPr/>
        </p:nvSpPr>
        <p:spPr>
          <a:xfrm>
            <a:off x="3075321" y="3491291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5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011AE85-4694-D67D-415F-37050E2EF4F5}"/>
              </a:ext>
            </a:extLst>
          </p:cNvPr>
          <p:cNvSpPr/>
          <p:nvPr/>
        </p:nvSpPr>
        <p:spPr>
          <a:xfrm>
            <a:off x="3075321" y="2135663"/>
            <a:ext cx="457200" cy="438011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DDB1315-A5BB-1C42-DA20-FFBE1372E5C3}"/>
              </a:ext>
            </a:extLst>
          </p:cNvPr>
          <p:cNvSpPr/>
          <p:nvPr/>
        </p:nvSpPr>
        <p:spPr>
          <a:xfrm>
            <a:off x="2064600" y="3490911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A64B9B6-4C0F-D23D-1475-F3D1BF015596}"/>
              </a:ext>
            </a:extLst>
          </p:cNvPr>
          <p:cNvSpPr/>
          <p:nvPr/>
        </p:nvSpPr>
        <p:spPr>
          <a:xfrm>
            <a:off x="3808798" y="2805111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6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D9C348D-0E16-D609-9E1B-6BE69C31F35B}"/>
              </a:ext>
            </a:extLst>
          </p:cNvPr>
          <p:cNvSpPr/>
          <p:nvPr/>
        </p:nvSpPr>
        <p:spPr>
          <a:xfrm>
            <a:off x="4831287" y="2780177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7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2E18D82-DE9D-BDF8-ADAB-790E1C5735CD}"/>
              </a:ext>
            </a:extLst>
          </p:cNvPr>
          <p:cNvSpPr/>
          <p:nvPr/>
        </p:nvSpPr>
        <p:spPr>
          <a:xfrm>
            <a:off x="5853776" y="2780177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8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2DDAF287-859B-78EC-6242-D7EEECF4C109}"/>
              </a:ext>
            </a:extLst>
          </p:cNvPr>
          <p:cNvSpPr/>
          <p:nvPr/>
        </p:nvSpPr>
        <p:spPr>
          <a:xfrm>
            <a:off x="433400" y="2819399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0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1897B93-7574-97C9-B0C3-1AAA5759D481}"/>
              </a:ext>
            </a:extLst>
          </p:cNvPr>
          <p:cNvCxnSpPr/>
          <p:nvPr/>
        </p:nvCxnSpPr>
        <p:spPr>
          <a:xfrm>
            <a:off x="903699" y="3039382"/>
            <a:ext cx="419092" cy="1"/>
          </a:xfrm>
          <a:prstGeom prst="straightConnector1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367AC900-9428-FD40-41CF-98FBC5407F6D}"/>
              </a:ext>
            </a:extLst>
          </p:cNvPr>
          <p:cNvSpPr/>
          <p:nvPr/>
        </p:nvSpPr>
        <p:spPr>
          <a:xfrm>
            <a:off x="921568" y="2667000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1B6532D-77A3-7E29-9241-7103EC1CE9C6}"/>
              </a:ext>
            </a:extLst>
          </p:cNvPr>
          <p:cNvCxnSpPr/>
          <p:nvPr/>
        </p:nvCxnSpPr>
        <p:spPr>
          <a:xfrm>
            <a:off x="2530319" y="2351552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53748677-A2D7-C159-D615-B0F54DE01186}"/>
              </a:ext>
            </a:extLst>
          </p:cNvPr>
          <p:cNvSpPr/>
          <p:nvPr/>
        </p:nvSpPr>
        <p:spPr>
          <a:xfrm>
            <a:off x="2616975" y="1934046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a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B579461-9E93-5DE7-D789-2817ECEBED1A}"/>
              </a:ext>
            </a:extLst>
          </p:cNvPr>
          <p:cNvCxnSpPr>
            <a:stCxn id="7" idx="6"/>
            <a:endCxn id="5" idx="2"/>
          </p:cNvCxnSpPr>
          <p:nvPr/>
        </p:nvCxnSpPr>
        <p:spPr>
          <a:xfrm>
            <a:off x="2521800" y="3719511"/>
            <a:ext cx="553521" cy="380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CBA14C92-DFC9-D795-0AC4-06A5E15123E6}"/>
              </a:ext>
            </a:extLst>
          </p:cNvPr>
          <p:cNvSpPr/>
          <p:nvPr/>
        </p:nvSpPr>
        <p:spPr>
          <a:xfrm>
            <a:off x="2616975" y="3731409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b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4076AE5-E9ED-FAD8-F8F9-96D5E0E88E71}"/>
              </a:ext>
            </a:extLst>
          </p:cNvPr>
          <p:cNvCxnSpPr>
            <a:stCxn id="3" idx="7"/>
            <a:endCxn id="4" idx="3"/>
          </p:cNvCxnSpPr>
          <p:nvPr/>
        </p:nvCxnSpPr>
        <p:spPr>
          <a:xfrm flipV="1">
            <a:off x="1699937" y="2507106"/>
            <a:ext cx="448475" cy="379249"/>
          </a:xfrm>
          <a:prstGeom prst="straightConnector1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7BBDF0C-9879-6A12-FFD9-103893C68013}"/>
              </a:ext>
            </a:extLst>
          </p:cNvPr>
          <p:cNvCxnSpPr>
            <a:stCxn id="3" idx="5"/>
          </p:cNvCxnSpPr>
          <p:nvPr/>
        </p:nvCxnSpPr>
        <p:spPr>
          <a:xfrm>
            <a:off x="1699937" y="3209645"/>
            <a:ext cx="433971" cy="328891"/>
          </a:xfrm>
          <a:prstGeom prst="straightConnector1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590D476-6306-E761-B40C-DB67CA3A8854}"/>
              </a:ext>
            </a:extLst>
          </p:cNvPr>
          <p:cNvCxnSpPr>
            <a:stCxn id="6" idx="5"/>
            <a:endCxn id="8" idx="1"/>
          </p:cNvCxnSpPr>
          <p:nvPr/>
        </p:nvCxnSpPr>
        <p:spPr>
          <a:xfrm>
            <a:off x="3465566" y="2509529"/>
            <a:ext cx="410187" cy="362537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016C829-FF1B-BBBB-79D6-A64E6F3E9FE8}"/>
              </a:ext>
            </a:extLst>
          </p:cNvPr>
          <p:cNvCxnSpPr>
            <a:stCxn id="5" idx="7"/>
            <a:endCxn id="8" idx="3"/>
          </p:cNvCxnSpPr>
          <p:nvPr/>
        </p:nvCxnSpPr>
        <p:spPr>
          <a:xfrm flipV="1">
            <a:off x="3465566" y="3195356"/>
            <a:ext cx="410187" cy="362890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A4FAA3C-5C10-B697-E26C-9487A61F1CD2}"/>
              </a:ext>
            </a:extLst>
          </p:cNvPr>
          <p:cNvCxnSpPr/>
          <p:nvPr/>
        </p:nvCxnSpPr>
        <p:spPr>
          <a:xfrm>
            <a:off x="4271771" y="3008777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39981F26-B250-FF0A-F023-B8C5DE668312}"/>
              </a:ext>
            </a:extLst>
          </p:cNvPr>
          <p:cNvSpPr/>
          <p:nvPr/>
        </p:nvSpPr>
        <p:spPr>
          <a:xfrm>
            <a:off x="4351727" y="2654636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2ABEDB1-121B-CDCE-A65D-C530A5111157}"/>
              </a:ext>
            </a:extLst>
          </p:cNvPr>
          <p:cNvCxnSpPr/>
          <p:nvPr/>
        </p:nvCxnSpPr>
        <p:spPr>
          <a:xfrm>
            <a:off x="5281161" y="3018759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05A9A959-73D4-BF99-2EAD-FE4DE416A4BB}"/>
              </a:ext>
            </a:extLst>
          </p:cNvPr>
          <p:cNvSpPr/>
          <p:nvPr/>
        </p:nvSpPr>
        <p:spPr>
          <a:xfrm>
            <a:off x="5361117" y="2664618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a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84F82BC-D096-E703-C370-F0C5960B9044}"/>
              </a:ext>
            </a:extLst>
          </p:cNvPr>
          <p:cNvCxnSpPr/>
          <p:nvPr/>
        </p:nvCxnSpPr>
        <p:spPr>
          <a:xfrm>
            <a:off x="6308667" y="2994945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98927B67-EA67-ECE7-41A8-F4F6075CBFE1}"/>
              </a:ext>
            </a:extLst>
          </p:cNvPr>
          <p:cNvSpPr/>
          <p:nvPr/>
        </p:nvSpPr>
        <p:spPr>
          <a:xfrm>
            <a:off x="6425264" y="2664618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b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B6F12DC6-0CDC-3802-7F4F-82EFA4EC79DC}"/>
              </a:ext>
            </a:extLst>
          </p:cNvPr>
          <p:cNvCxnSpPr/>
          <p:nvPr/>
        </p:nvCxnSpPr>
        <p:spPr>
          <a:xfrm>
            <a:off x="190500" y="3047999"/>
            <a:ext cx="242900" cy="0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B0B0C0EB-B62A-1CD0-B029-057AC705236B}"/>
              </a:ext>
            </a:extLst>
          </p:cNvPr>
          <p:cNvSpPr/>
          <p:nvPr/>
        </p:nvSpPr>
        <p:spPr>
          <a:xfrm>
            <a:off x="1524000" y="3370655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32B0E3A-4E0A-5933-277B-8524907A2BBF}"/>
              </a:ext>
            </a:extLst>
          </p:cNvPr>
          <p:cNvSpPr/>
          <p:nvPr/>
        </p:nvSpPr>
        <p:spPr>
          <a:xfrm>
            <a:off x="1583156" y="2369027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119B5A0-4B10-BD51-B688-49256099C6D9}"/>
              </a:ext>
            </a:extLst>
          </p:cNvPr>
          <p:cNvSpPr/>
          <p:nvPr/>
        </p:nvSpPr>
        <p:spPr>
          <a:xfrm>
            <a:off x="3604306" y="2358623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6C4F64A-73C1-2C84-FD8A-D3A7469A5147}"/>
              </a:ext>
            </a:extLst>
          </p:cNvPr>
          <p:cNvSpPr/>
          <p:nvPr/>
        </p:nvSpPr>
        <p:spPr>
          <a:xfrm>
            <a:off x="3616975" y="3383755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33" name="Curved Connector 33">
            <a:extLst>
              <a:ext uri="{FF2B5EF4-FFF2-40B4-BE49-F238E27FC236}">
                <a16:creationId xmlns:a16="http://schemas.microsoft.com/office/drawing/2014/main" id="{9CB0A3F9-20CC-8EFC-C474-F3DF33E5A870}"/>
              </a:ext>
            </a:extLst>
          </p:cNvPr>
          <p:cNvCxnSpPr>
            <a:stCxn id="11" idx="4"/>
            <a:endCxn id="9" idx="4"/>
          </p:cNvCxnSpPr>
          <p:nvPr/>
        </p:nvCxnSpPr>
        <p:spPr>
          <a:xfrm rot="5400000" flipH="1" flipV="1">
            <a:off x="2841332" y="1058044"/>
            <a:ext cx="39222" cy="4397887"/>
          </a:xfrm>
          <a:prstGeom prst="curvedConnector3">
            <a:avLst>
              <a:gd name="adj1" fmla="val -3059900"/>
            </a:avLst>
          </a:prstGeom>
          <a:ln w="25400">
            <a:solidFill>
              <a:srgbClr val="0E47A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urved Connector 34">
            <a:extLst>
              <a:ext uri="{FF2B5EF4-FFF2-40B4-BE49-F238E27FC236}">
                <a16:creationId xmlns:a16="http://schemas.microsoft.com/office/drawing/2014/main" id="{8868D20F-3875-0E9A-2545-8B5924F8191F}"/>
              </a:ext>
            </a:extLst>
          </p:cNvPr>
          <p:cNvCxnSpPr/>
          <p:nvPr/>
        </p:nvCxnSpPr>
        <p:spPr>
          <a:xfrm rot="16200000" flipH="1" flipV="1">
            <a:off x="2766063" y="1540671"/>
            <a:ext cx="36576" cy="2569464"/>
          </a:xfrm>
          <a:prstGeom prst="curvedConnector3">
            <a:avLst>
              <a:gd name="adj1" fmla="val -3059900"/>
            </a:avLst>
          </a:prstGeom>
          <a:ln w="25400">
            <a:solidFill>
              <a:srgbClr val="0E47A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C1A571EA-6B3B-CDFE-E001-AE6CF5E19BDB}"/>
              </a:ext>
            </a:extLst>
          </p:cNvPr>
          <p:cNvSpPr/>
          <p:nvPr/>
        </p:nvSpPr>
        <p:spPr>
          <a:xfrm>
            <a:off x="2616975" y="1294439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0DCABFB-D958-3656-D026-F3850E0EE5AB}"/>
              </a:ext>
            </a:extLst>
          </p:cNvPr>
          <p:cNvSpPr/>
          <p:nvPr/>
        </p:nvSpPr>
        <p:spPr>
          <a:xfrm>
            <a:off x="3795563" y="4275070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0FC08A0D-7EEE-9207-B11A-231EEDCE48C8}"/>
              </a:ext>
            </a:extLst>
          </p:cNvPr>
          <p:cNvCxnSpPr/>
          <p:nvPr/>
        </p:nvCxnSpPr>
        <p:spPr>
          <a:xfrm flipV="1">
            <a:off x="1699939" y="2507106"/>
            <a:ext cx="448475" cy="379249"/>
          </a:xfrm>
          <a:prstGeom prst="straightConnector1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42C5D8BF-3B50-A823-2569-90536F64D3CF}"/>
              </a:ext>
            </a:extLst>
          </p:cNvPr>
          <p:cNvCxnSpPr/>
          <p:nvPr/>
        </p:nvCxnSpPr>
        <p:spPr>
          <a:xfrm>
            <a:off x="1699939" y="3209645"/>
            <a:ext cx="433971" cy="328891"/>
          </a:xfrm>
          <a:prstGeom prst="straightConnector1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52A19066-D706-92F2-1611-1A4FF93D80E6}"/>
              </a:ext>
            </a:extLst>
          </p:cNvPr>
          <p:cNvCxnSpPr/>
          <p:nvPr/>
        </p:nvCxnSpPr>
        <p:spPr>
          <a:xfrm>
            <a:off x="903700" y="3039382"/>
            <a:ext cx="419092" cy="1"/>
          </a:xfrm>
          <a:prstGeom prst="straightConnector1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2E60D6A4-070A-7891-8BC6-812299A2866A}"/>
              </a:ext>
            </a:extLst>
          </p:cNvPr>
          <p:cNvCxnSpPr/>
          <p:nvPr/>
        </p:nvCxnSpPr>
        <p:spPr>
          <a:xfrm flipV="1">
            <a:off x="1699940" y="2507106"/>
            <a:ext cx="448475" cy="379249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4AC4DF60-303A-149B-CAAB-21916701E5E9}"/>
              </a:ext>
            </a:extLst>
          </p:cNvPr>
          <p:cNvCxnSpPr/>
          <p:nvPr/>
        </p:nvCxnSpPr>
        <p:spPr>
          <a:xfrm>
            <a:off x="1699940" y="3209645"/>
            <a:ext cx="433971" cy="32889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C5085249-4D06-4A42-4D6B-25F83C95BFF0}"/>
              </a:ext>
            </a:extLst>
          </p:cNvPr>
          <p:cNvCxnSpPr/>
          <p:nvPr/>
        </p:nvCxnSpPr>
        <p:spPr>
          <a:xfrm>
            <a:off x="903701" y="3039382"/>
            <a:ext cx="419092" cy="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450CC151-1241-E21F-18D6-E53AC90AB15B}"/>
              </a:ext>
            </a:extLst>
          </p:cNvPr>
          <p:cNvSpPr/>
          <p:nvPr/>
        </p:nvSpPr>
        <p:spPr>
          <a:xfrm>
            <a:off x="342119" y="4685445"/>
            <a:ext cx="256992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>
                <a:solidFill>
                  <a:schemeClr val="tx1"/>
                </a:solidFill>
                <a:latin typeface="+mj-lt"/>
              </a:rPr>
              <a:t>B= {1, 2, 3, 4, 6, 7, 8}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62B58F1-318C-1F7A-ED42-F36653B4976B}"/>
              </a:ext>
            </a:extLst>
          </p:cNvPr>
          <p:cNvSpPr/>
          <p:nvPr/>
        </p:nvSpPr>
        <p:spPr>
          <a:xfrm>
            <a:off x="368004" y="5104591"/>
            <a:ext cx="1490483" cy="4689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200">
                <a:solidFill>
                  <a:schemeClr val="tx1"/>
                </a:solidFill>
                <a:latin typeface="+mj-lt"/>
              </a:rPr>
              <a:t>Move(B,b)</a:t>
            </a:r>
            <a:endParaRPr lang="en-US" sz="2200">
              <a:latin typeface="+mj-lt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BF8B3C7-8574-3C5D-7DAC-CD417DB90E0E}"/>
              </a:ext>
            </a:extLst>
          </p:cNvPr>
          <p:cNvSpPr/>
          <p:nvPr/>
        </p:nvSpPr>
        <p:spPr>
          <a:xfrm>
            <a:off x="1218464" y="5148578"/>
            <a:ext cx="1725988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tx1"/>
                </a:solidFill>
                <a:latin typeface="+mj-lt"/>
              </a:rPr>
              <a:t>= {5,9}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157F0A24-AFE4-6FC7-B298-E2E12A526717}"/>
              </a:ext>
            </a:extLst>
          </p:cNvPr>
          <p:cNvSpPr/>
          <p:nvPr/>
        </p:nvSpPr>
        <p:spPr>
          <a:xfrm>
            <a:off x="374532" y="5534752"/>
            <a:ext cx="2700790" cy="4689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200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𝜖- Closure(</a:t>
            </a:r>
            <a:r>
              <a:rPr lang="en-US" sz="2200">
                <a:solidFill>
                  <a:schemeClr val="tx1"/>
                </a:solidFill>
                <a:latin typeface="+mj-lt"/>
              </a:rPr>
              <a:t>Move(B,b))</a:t>
            </a:r>
            <a:endParaRPr lang="en-US" sz="2200">
              <a:latin typeface="+mj-lt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AA641E6-364B-E83A-77CA-A59B9B74F206}"/>
              </a:ext>
            </a:extLst>
          </p:cNvPr>
          <p:cNvSpPr/>
          <p:nvPr/>
        </p:nvSpPr>
        <p:spPr>
          <a:xfrm>
            <a:off x="2824691" y="5594553"/>
            <a:ext cx="2536426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tx1"/>
                </a:solidFill>
                <a:latin typeface="+mj-lt"/>
              </a:rPr>
              <a:t>= {5, 6, 7, 1, 2, 4, 9}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E7802E2-DD1D-35C8-55DE-454522E4FCBB}"/>
              </a:ext>
            </a:extLst>
          </p:cNvPr>
          <p:cNvSpPr/>
          <p:nvPr/>
        </p:nvSpPr>
        <p:spPr>
          <a:xfrm>
            <a:off x="4800325" y="5965890"/>
            <a:ext cx="87266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solidFill>
                  <a:schemeClr val="tx1"/>
                </a:solidFill>
                <a:latin typeface="+mj-lt"/>
              </a:rPr>
              <a:t>---- D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910F64C8-7650-098F-697F-B0E70E6D40B9}"/>
              </a:ext>
            </a:extLst>
          </p:cNvPr>
          <p:cNvSpPr/>
          <p:nvPr/>
        </p:nvSpPr>
        <p:spPr>
          <a:xfrm>
            <a:off x="6482416" y="4401275"/>
            <a:ext cx="471465" cy="3626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552A48CF-ECA8-BC7A-1BD5-76B4A9A531C5}"/>
              </a:ext>
            </a:extLst>
          </p:cNvPr>
          <p:cNvSpPr/>
          <p:nvPr/>
        </p:nvSpPr>
        <p:spPr>
          <a:xfrm>
            <a:off x="6482416" y="4401275"/>
            <a:ext cx="414313" cy="3626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5AEFDFAB-0A89-A182-2ED1-F6DC655E83A7}"/>
              </a:ext>
            </a:extLst>
          </p:cNvPr>
          <p:cNvSpPr/>
          <p:nvPr/>
        </p:nvSpPr>
        <p:spPr>
          <a:xfrm>
            <a:off x="8089735" y="4978874"/>
            <a:ext cx="473773" cy="2514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F9E3329B-0E90-10D4-1A27-9F0D7A3693B9}"/>
              </a:ext>
            </a:extLst>
          </p:cNvPr>
          <p:cNvSpPr/>
          <p:nvPr/>
        </p:nvSpPr>
        <p:spPr>
          <a:xfrm>
            <a:off x="2616975" y="5989841"/>
            <a:ext cx="2536426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tx1"/>
                </a:solidFill>
                <a:latin typeface="+mj-lt"/>
              </a:rPr>
              <a:t>= {1,2,4,5,6,7,9}</a:t>
            </a: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32409E86-21A2-FCC1-2BC9-62687A0C7E16}"/>
              </a:ext>
            </a:extLst>
          </p:cNvPr>
          <p:cNvCxnSpPr/>
          <p:nvPr/>
        </p:nvCxnSpPr>
        <p:spPr>
          <a:xfrm flipH="1">
            <a:off x="1743812" y="5068023"/>
            <a:ext cx="22935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620A2554-014C-226D-6FDF-2A08D46824FF}"/>
              </a:ext>
            </a:extLst>
          </p:cNvPr>
          <p:cNvCxnSpPr/>
          <p:nvPr/>
        </p:nvCxnSpPr>
        <p:spPr>
          <a:xfrm>
            <a:off x="2533667" y="5057193"/>
            <a:ext cx="267829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ectangle 54">
            <a:extLst>
              <a:ext uri="{FF2B5EF4-FFF2-40B4-BE49-F238E27FC236}">
                <a16:creationId xmlns:a16="http://schemas.microsoft.com/office/drawing/2014/main" id="{09B63039-A562-B95B-FB26-9076FB594C6B}"/>
              </a:ext>
            </a:extLst>
          </p:cNvPr>
          <p:cNvSpPr/>
          <p:nvPr/>
        </p:nvSpPr>
        <p:spPr>
          <a:xfrm>
            <a:off x="3009320" y="5626507"/>
            <a:ext cx="536893" cy="4268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3AA2317F-97CC-BB62-E81D-061A45AF281D}"/>
              </a:ext>
            </a:extLst>
          </p:cNvPr>
          <p:cNvSpPr/>
          <p:nvPr/>
        </p:nvSpPr>
        <p:spPr>
          <a:xfrm>
            <a:off x="3587453" y="5575120"/>
            <a:ext cx="204492" cy="4268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35C3F2A1-2AAD-69E2-A29B-CE98BD0C515F}"/>
              </a:ext>
            </a:extLst>
          </p:cNvPr>
          <p:cNvSpPr/>
          <p:nvPr/>
        </p:nvSpPr>
        <p:spPr>
          <a:xfrm>
            <a:off x="3792415" y="5586518"/>
            <a:ext cx="536893" cy="4268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30E2D793-3D12-DC21-CFD9-CB16A476BBE4}"/>
              </a:ext>
            </a:extLst>
          </p:cNvPr>
          <p:cNvSpPr/>
          <p:nvPr/>
        </p:nvSpPr>
        <p:spPr>
          <a:xfrm>
            <a:off x="4325211" y="5544647"/>
            <a:ext cx="536893" cy="4268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F9163E1B-15EC-BC19-946E-9EECCE3799C1}"/>
              </a:ext>
            </a:extLst>
          </p:cNvPr>
          <p:cNvSpPr/>
          <p:nvPr/>
        </p:nvSpPr>
        <p:spPr>
          <a:xfrm>
            <a:off x="4907386" y="5544646"/>
            <a:ext cx="536893" cy="4268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C3C82C1C-65F1-4DC5-EDC3-0EC0946BD442}"/>
              </a:ext>
            </a:extLst>
          </p:cNvPr>
          <p:cNvSpPr/>
          <p:nvPr/>
        </p:nvSpPr>
        <p:spPr>
          <a:xfrm>
            <a:off x="7421867" y="2664618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b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18F7EC87-C6AA-9A7B-30C2-32DA8C6B7E1E}"/>
              </a:ext>
            </a:extLst>
          </p:cNvPr>
          <p:cNvSpPr/>
          <p:nvPr/>
        </p:nvSpPr>
        <p:spPr>
          <a:xfrm>
            <a:off x="7893141" y="2779059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10</a:t>
            </a: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58B5769E-030D-CAB0-0A52-2D02062C8ACC}"/>
              </a:ext>
            </a:extLst>
          </p:cNvPr>
          <p:cNvSpPr/>
          <p:nvPr/>
        </p:nvSpPr>
        <p:spPr>
          <a:xfrm>
            <a:off x="7938861" y="2828648"/>
            <a:ext cx="365760" cy="36576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566BED15-E28A-F36C-A1B6-58A500E9DCDA}"/>
              </a:ext>
            </a:extLst>
          </p:cNvPr>
          <p:cNvSpPr/>
          <p:nvPr/>
        </p:nvSpPr>
        <p:spPr>
          <a:xfrm>
            <a:off x="6869835" y="2790159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9</a:t>
            </a:r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983CBE35-FEBA-59B5-6821-A48AC388D0B4}"/>
              </a:ext>
            </a:extLst>
          </p:cNvPr>
          <p:cNvCxnSpPr/>
          <p:nvPr/>
        </p:nvCxnSpPr>
        <p:spPr>
          <a:xfrm>
            <a:off x="7334592" y="3006852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5" name="Table 64">
            <a:extLst>
              <a:ext uri="{FF2B5EF4-FFF2-40B4-BE49-F238E27FC236}">
                <a16:creationId xmlns:a16="http://schemas.microsoft.com/office/drawing/2014/main" id="{47AFFC30-F8CE-E654-3F1A-B25CBEB772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4332995"/>
              </p:ext>
            </p:extLst>
          </p:nvPr>
        </p:nvGraphicFramePr>
        <p:xfrm>
          <a:off x="8724270" y="2030248"/>
          <a:ext cx="3177041" cy="42672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8816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ctr"/>
                      <a:r>
                        <a:rPr lang="en-US" sz="2200"/>
                        <a:t>States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en-US" sz="22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/>
                        <a:t>b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6" name="Table 65">
            <a:extLst>
              <a:ext uri="{FF2B5EF4-FFF2-40B4-BE49-F238E27FC236}">
                <a16:creationId xmlns:a16="http://schemas.microsoft.com/office/drawing/2014/main" id="{62772431-F0EB-5365-0EA8-ECCB010DCD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3481246"/>
              </p:ext>
            </p:extLst>
          </p:nvPr>
        </p:nvGraphicFramePr>
        <p:xfrm>
          <a:off x="8724271" y="2453188"/>
          <a:ext cx="3177040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88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l"/>
                      <a:r>
                        <a:rPr lang="en-US" sz="1800"/>
                        <a:t>A = {0,1,2,4,7}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en-US" sz="18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C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7" name="Table 66">
            <a:extLst>
              <a:ext uri="{FF2B5EF4-FFF2-40B4-BE49-F238E27FC236}">
                <a16:creationId xmlns:a16="http://schemas.microsoft.com/office/drawing/2014/main" id="{59EBE4F2-2C5B-1C90-E8CD-07D02BA856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1647169"/>
              </p:ext>
            </p:extLst>
          </p:nvPr>
        </p:nvGraphicFramePr>
        <p:xfrm>
          <a:off x="8724271" y="2818948"/>
          <a:ext cx="3177040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88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B = {1,2,3,4,6,7,8}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en-US" sz="18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D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8" name="Table 67">
            <a:extLst>
              <a:ext uri="{FF2B5EF4-FFF2-40B4-BE49-F238E27FC236}">
                <a16:creationId xmlns:a16="http://schemas.microsoft.com/office/drawing/2014/main" id="{52D791D3-3ADF-A505-ED20-29F16FFB38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6398914"/>
              </p:ext>
            </p:extLst>
          </p:nvPr>
        </p:nvGraphicFramePr>
        <p:xfrm>
          <a:off x="8724271" y="3192027"/>
          <a:ext cx="3177040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88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l"/>
                      <a:r>
                        <a:rPr lang="en-US" sz="1800"/>
                        <a:t>C = {1,2,4,5,6,7}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9" name="Table 68">
            <a:extLst>
              <a:ext uri="{FF2B5EF4-FFF2-40B4-BE49-F238E27FC236}">
                <a16:creationId xmlns:a16="http://schemas.microsoft.com/office/drawing/2014/main" id="{85AD61FF-E5E7-D1BF-6A22-12D71E5C6E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5462705"/>
              </p:ext>
            </p:extLst>
          </p:nvPr>
        </p:nvGraphicFramePr>
        <p:xfrm>
          <a:off x="8724271" y="3546688"/>
          <a:ext cx="3177040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88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l"/>
                      <a:r>
                        <a:rPr lang="en-US" sz="1800"/>
                        <a:t>D = {</a:t>
                      </a:r>
                      <a:r>
                        <a:rPr lang="en-US" sz="18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1,2,4,5,6,7,9</a:t>
                      </a:r>
                      <a:r>
                        <a:rPr lang="en-US" sz="1800"/>
                        <a:t>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0" name="Rectangle 69">
            <a:extLst>
              <a:ext uri="{FF2B5EF4-FFF2-40B4-BE49-F238E27FC236}">
                <a16:creationId xmlns:a16="http://schemas.microsoft.com/office/drawing/2014/main" id="{7E1FBFA2-557A-58F7-542C-4B51F824D9C1}"/>
              </a:ext>
            </a:extLst>
          </p:cNvPr>
          <p:cNvSpPr/>
          <p:nvPr/>
        </p:nvSpPr>
        <p:spPr>
          <a:xfrm>
            <a:off x="11411420" y="2903111"/>
            <a:ext cx="376111" cy="211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D3B76942-8E2C-1B9A-451D-3CE0BD5F6E0A}"/>
              </a:ext>
            </a:extLst>
          </p:cNvPr>
          <p:cNvCxnSpPr/>
          <p:nvPr/>
        </p:nvCxnSpPr>
        <p:spPr>
          <a:xfrm rot="5400000">
            <a:off x="5770212" y="3683283"/>
            <a:ext cx="5486400" cy="0"/>
          </a:xfrm>
          <a:prstGeom prst="line">
            <a:avLst/>
          </a:prstGeom>
          <a:ln>
            <a:solidFill>
              <a:srgbClr val="0E47A1"/>
            </a:solidFill>
            <a:prstDash val="solid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7578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7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1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4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5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xit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7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4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45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50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1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xit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7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61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7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3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64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8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69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0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2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73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4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xit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7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7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3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84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7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6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87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1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92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3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5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9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7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xit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0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xit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0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xit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9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4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45" grpId="0"/>
      <p:bldP spid="46" grpId="0"/>
      <p:bldP spid="48" grpId="0"/>
      <p:bldP spid="52" grpId="0"/>
      <p:bldP spid="55" grpId="0" animBg="1"/>
      <p:bldP spid="56" grpId="0" animBg="1"/>
      <p:bldP spid="57" grpId="0" animBg="1"/>
      <p:bldP spid="58" grpId="0" animBg="1"/>
      <p:bldP spid="59" grpId="0" animBg="1"/>
      <p:bldP spid="70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8A47E0-0391-987A-25BF-0B691DE28E17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Conversion from NFA to DFA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402E32E3-E674-84B8-23F5-37B894A282FE}"/>
              </a:ext>
            </a:extLst>
          </p:cNvPr>
          <p:cNvSpPr/>
          <p:nvPr/>
        </p:nvSpPr>
        <p:spPr>
          <a:xfrm>
            <a:off x="1309692" y="2819400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1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DEB59A6-E59F-3279-9205-1BABDB4CEED6}"/>
              </a:ext>
            </a:extLst>
          </p:cNvPr>
          <p:cNvSpPr/>
          <p:nvPr/>
        </p:nvSpPr>
        <p:spPr>
          <a:xfrm>
            <a:off x="2081457" y="2116861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2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60DC674-81BA-449A-4005-3FB4A3965D66}"/>
              </a:ext>
            </a:extLst>
          </p:cNvPr>
          <p:cNvSpPr/>
          <p:nvPr/>
        </p:nvSpPr>
        <p:spPr>
          <a:xfrm>
            <a:off x="3075321" y="3491958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5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25FBD83-AD6C-09CC-31EA-C5BE6DF8C67E}"/>
              </a:ext>
            </a:extLst>
          </p:cNvPr>
          <p:cNvSpPr/>
          <p:nvPr/>
        </p:nvSpPr>
        <p:spPr>
          <a:xfrm>
            <a:off x="3075321" y="2135663"/>
            <a:ext cx="457200" cy="438011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22961C4-3670-0DD7-CFFB-A3F5D9190085}"/>
              </a:ext>
            </a:extLst>
          </p:cNvPr>
          <p:cNvSpPr/>
          <p:nvPr/>
        </p:nvSpPr>
        <p:spPr>
          <a:xfrm>
            <a:off x="2064600" y="3490911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2DD4951-3C70-7E0C-21CD-C85F27AFE221}"/>
              </a:ext>
            </a:extLst>
          </p:cNvPr>
          <p:cNvSpPr/>
          <p:nvPr/>
        </p:nvSpPr>
        <p:spPr>
          <a:xfrm>
            <a:off x="3808798" y="2805111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6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CC23E88-1600-A9EC-9FA7-D71B6327BB3C}"/>
              </a:ext>
            </a:extLst>
          </p:cNvPr>
          <p:cNvSpPr/>
          <p:nvPr/>
        </p:nvSpPr>
        <p:spPr>
          <a:xfrm>
            <a:off x="4831287" y="2780177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7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1A532DC-6BB6-8C4A-8E69-F9CC6BE2BD6F}"/>
              </a:ext>
            </a:extLst>
          </p:cNvPr>
          <p:cNvSpPr/>
          <p:nvPr/>
        </p:nvSpPr>
        <p:spPr>
          <a:xfrm>
            <a:off x="5853776" y="2780177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8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323988D-3F1C-B587-4065-DE6CD3557187}"/>
              </a:ext>
            </a:extLst>
          </p:cNvPr>
          <p:cNvSpPr/>
          <p:nvPr/>
        </p:nvSpPr>
        <p:spPr>
          <a:xfrm>
            <a:off x="433400" y="2819399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0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360DCEC-8033-D5C8-73DC-FBED86692E3A}"/>
              </a:ext>
            </a:extLst>
          </p:cNvPr>
          <p:cNvCxnSpPr/>
          <p:nvPr/>
        </p:nvCxnSpPr>
        <p:spPr>
          <a:xfrm>
            <a:off x="903699" y="3039382"/>
            <a:ext cx="419092" cy="1"/>
          </a:xfrm>
          <a:prstGeom prst="straightConnector1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2037B9C1-FBEF-BA96-DC07-D14526D4FDEB}"/>
              </a:ext>
            </a:extLst>
          </p:cNvPr>
          <p:cNvSpPr/>
          <p:nvPr/>
        </p:nvSpPr>
        <p:spPr>
          <a:xfrm>
            <a:off x="921568" y="2667000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92A5C8A-C092-BC9A-4B30-3A3C0B502462}"/>
              </a:ext>
            </a:extLst>
          </p:cNvPr>
          <p:cNvCxnSpPr/>
          <p:nvPr/>
        </p:nvCxnSpPr>
        <p:spPr>
          <a:xfrm>
            <a:off x="2530319" y="2351552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E8DF94B4-CC32-D4B8-689E-C4541E2A4647}"/>
              </a:ext>
            </a:extLst>
          </p:cNvPr>
          <p:cNvSpPr/>
          <p:nvPr/>
        </p:nvSpPr>
        <p:spPr>
          <a:xfrm>
            <a:off x="2616975" y="1934046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a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E9517D5-995F-C765-AEB9-21D2EF6E2CE9}"/>
              </a:ext>
            </a:extLst>
          </p:cNvPr>
          <p:cNvCxnSpPr>
            <a:stCxn id="7" idx="6"/>
            <a:endCxn id="5" idx="2"/>
          </p:cNvCxnSpPr>
          <p:nvPr/>
        </p:nvCxnSpPr>
        <p:spPr>
          <a:xfrm>
            <a:off x="2521800" y="3719511"/>
            <a:ext cx="553521" cy="1047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D06CF1A0-7BF1-76A3-93F8-2F33A1BC24CA}"/>
              </a:ext>
            </a:extLst>
          </p:cNvPr>
          <p:cNvSpPr/>
          <p:nvPr/>
        </p:nvSpPr>
        <p:spPr>
          <a:xfrm>
            <a:off x="2616975" y="3731409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b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C86D44C-0BAE-6836-8E77-374184F916A0}"/>
              </a:ext>
            </a:extLst>
          </p:cNvPr>
          <p:cNvCxnSpPr>
            <a:stCxn id="3" idx="7"/>
            <a:endCxn id="4" idx="3"/>
          </p:cNvCxnSpPr>
          <p:nvPr/>
        </p:nvCxnSpPr>
        <p:spPr>
          <a:xfrm flipV="1">
            <a:off x="1699937" y="2507106"/>
            <a:ext cx="448475" cy="379249"/>
          </a:xfrm>
          <a:prstGeom prst="straightConnector1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83782F9-9F71-EFB0-D736-71F1E136F6EE}"/>
              </a:ext>
            </a:extLst>
          </p:cNvPr>
          <p:cNvCxnSpPr>
            <a:stCxn id="3" idx="5"/>
          </p:cNvCxnSpPr>
          <p:nvPr/>
        </p:nvCxnSpPr>
        <p:spPr>
          <a:xfrm>
            <a:off x="1699937" y="3209645"/>
            <a:ext cx="433971" cy="328891"/>
          </a:xfrm>
          <a:prstGeom prst="straightConnector1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E7B9A37-D633-D3B8-667D-453BCD6397DC}"/>
              </a:ext>
            </a:extLst>
          </p:cNvPr>
          <p:cNvCxnSpPr>
            <a:stCxn id="6" idx="5"/>
            <a:endCxn id="8" idx="1"/>
          </p:cNvCxnSpPr>
          <p:nvPr/>
        </p:nvCxnSpPr>
        <p:spPr>
          <a:xfrm>
            <a:off x="3465566" y="2509529"/>
            <a:ext cx="410187" cy="362537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B4554CB-8578-751E-C37B-67026F5A3BFE}"/>
              </a:ext>
            </a:extLst>
          </p:cNvPr>
          <p:cNvCxnSpPr>
            <a:stCxn id="5" idx="7"/>
            <a:endCxn id="8" idx="3"/>
          </p:cNvCxnSpPr>
          <p:nvPr/>
        </p:nvCxnSpPr>
        <p:spPr>
          <a:xfrm flipV="1">
            <a:off x="3465566" y="3195356"/>
            <a:ext cx="410187" cy="363557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A255A0B-7680-FBD0-22A3-670071BC00A1}"/>
              </a:ext>
            </a:extLst>
          </p:cNvPr>
          <p:cNvCxnSpPr/>
          <p:nvPr/>
        </p:nvCxnSpPr>
        <p:spPr>
          <a:xfrm>
            <a:off x="4271771" y="3008777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4EE055CA-1D42-9834-42AE-5AF4F852C241}"/>
              </a:ext>
            </a:extLst>
          </p:cNvPr>
          <p:cNvSpPr/>
          <p:nvPr/>
        </p:nvSpPr>
        <p:spPr>
          <a:xfrm>
            <a:off x="4351727" y="2654636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A708F9B-A624-6639-726A-FDCA881E2759}"/>
              </a:ext>
            </a:extLst>
          </p:cNvPr>
          <p:cNvCxnSpPr/>
          <p:nvPr/>
        </p:nvCxnSpPr>
        <p:spPr>
          <a:xfrm>
            <a:off x="5281161" y="3018759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0F197552-927A-4F88-88D2-049D02476031}"/>
              </a:ext>
            </a:extLst>
          </p:cNvPr>
          <p:cNvSpPr/>
          <p:nvPr/>
        </p:nvSpPr>
        <p:spPr>
          <a:xfrm>
            <a:off x="5361117" y="2664618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a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1F04C65-0DA0-6206-9D92-F9ABCC974CD0}"/>
              </a:ext>
            </a:extLst>
          </p:cNvPr>
          <p:cNvCxnSpPr/>
          <p:nvPr/>
        </p:nvCxnSpPr>
        <p:spPr>
          <a:xfrm>
            <a:off x="6308667" y="2994945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D87933CB-0BE2-A2B6-C1D0-8207E5EE278D}"/>
              </a:ext>
            </a:extLst>
          </p:cNvPr>
          <p:cNvSpPr/>
          <p:nvPr/>
        </p:nvSpPr>
        <p:spPr>
          <a:xfrm>
            <a:off x="6425264" y="2664618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b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974DA364-D889-0FE2-5605-B1A8CE12D308}"/>
              </a:ext>
            </a:extLst>
          </p:cNvPr>
          <p:cNvCxnSpPr/>
          <p:nvPr/>
        </p:nvCxnSpPr>
        <p:spPr>
          <a:xfrm>
            <a:off x="190500" y="3047999"/>
            <a:ext cx="242900" cy="0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3423DDB8-8682-B68D-621E-B491D8D8FAC2}"/>
              </a:ext>
            </a:extLst>
          </p:cNvPr>
          <p:cNvSpPr/>
          <p:nvPr/>
        </p:nvSpPr>
        <p:spPr>
          <a:xfrm>
            <a:off x="1524000" y="3370655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DDEAD28-C6BC-9CE0-BE10-C41A81A843AC}"/>
              </a:ext>
            </a:extLst>
          </p:cNvPr>
          <p:cNvSpPr/>
          <p:nvPr/>
        </p:nvSpPr>
        <p:spPr>
          <a:xfrm>
            <a:off x="1583156" y="2369027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F71E35F-9AEA-7418-7B1D-CDC4D77834A5}"/>
              </a:ext>
            </a:extLst>
          </p:cNvPr>
          <p:cNvSpPr/>
          <p:nvPr/>
        </p:nvSpPr>
        <p:spPr>
          <a:xfrm>
            <a:off x="3604306" y="2358623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BAC3E5F-37D0-0EC0-E867-8BE247B4B986}"/>
              </a:ext>
            </a:extLst>
          </p:cNvPr>
          <p:cNvSpPr/>
          <p:nvPr/>
        </p:nvSpPr>
        <p:spPr>
          <a:xfrm>
            <a:off x="3616975" y="3383755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33" name="Curved Connector 33">
            <a:extLst>
              <a:ext uri="{FF2B5EF4-FFF2-40B4-BE49-F238E27FC236}">
                <a16:creationId xmlns:a16="http://schemas.microsoft.com/office/drawing/2014/main" id="{91933669-DEE1-4F87-43F2-6FD283DE2A49}"/>
              </a:ext>
            </a:extLst>
          </p:cNvPr>
          <p:cNvCxnSpPr>
            <a:stCxn id="11" idx="4"/>
            <a:endCxn id="9" idx="4"/>
          </p:cNvCxnSpPr>
          <p:nvPr/>
        </p:nvCxnSpPr>
        <p:spPr>
          <a:xfrm rot="5400000" flipH="1" flipV="1">
            <a:off x="2841332" y="1058044"/>
            <a:ext cx="39222" cy="4397887"/>
          </a:xfrm>
          <a:prstGeom prst="curvedConnector3">
            <a:avLst>
              <a:gd name="adj1" fmla="val -3059900"/>
            </a:avLst>
          </a:prstGeom>
          <a:ln w="25400">
            <a:solidFill>
              <a:srgbClr val="0E47A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urved Connector 34">
            <a:extLst>
              <a:ext uri="{FF2B5EF4-FFF2-40B4-BE49-F238E27FC236}">
                <a16:creationId xmlns:a16="http://schemas.microsoft.com/office/drawing/2014/main" id="{EC69F0D6-3CDE-EB08-6494-36E5EE9871BA}"/>
              </a:ext>
            </a:extLst>
          </p:cNvPr>
          <p:cNvCxnSpPr/>
          <p:nvPr/>
        </p:nvCxnSpPr>
        <p:spPr>
          <a:xfrm rot="16200000" flipH="1" flipV="1">
            <a:off x="2766063" y="1540671"/>
            <a:ext cx="36576" cy="2569464"/>
          </a:xfrm>
          <a:prstGeom prst="curvedConnector3">
            <a:avLst>
              <a:gd name="adj1" fmla="val -3059900"/>
            </a:avLst>
          </a:prstGeom>
          <a:ln w="25400">
            <a:solidFill>
              <a:srgbClr val="0E47A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41359103-498C-222D-ED44-8EAED02B7B67}"/>
              </a:ext>
            </a:extLst>
          </p:cNvPr>
          <p:cNvSpPr/>
          <p:nvPr/>
        </p:nvSpPr>
        <p:spPr>
          <a:xfrm>
            <a:off x="2616975" y="1294439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65BABDB-580D-5AFE-E60E-31815E91E2F3}"/>
              </a:ext>
            </a:extLst>
          </p:cNvPr>
          <p:cNvSpPr/>
          <p:nvPr/>
        </p:nvSpPr>
        <p:spPr>
          <a:xfrm>
            <a:off x="3795563" y="4275070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3189159D-7572-F45F-1F00-9CBA0B40CA50}"/>
              </a:ext>
            </a:extLst>
          </p:cNvPr>
          <p:cNvCxnSpPr/>
          <p:nvPr/>
        </p:nvCxnSpPr>
        <p:spPr>
          <a:xfrm flipV="1">
            <a:off x="1699939" y="2507106"/>
            <a:ext cx="448475" cy="379249"/>
          </a:xfrm>
          <a:prstGeom prst="straightConnector1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BAFF5B77-5D12-7ADA-F149-13EA3AC0E085}"/>
              </a:ext>
            </a:extLst>
          </p:cNvPr>
          <p:cNvCxnSpPr/>
          <p:nvPr/>
        </p:nvCxnSpPr>
        <p:spPr>
          <a:xfrm>
            <a:off x="1699939" y="3209645"/>
            <a:ext cx="433971" cy="328891"/>
          </a:xfrm>
          <a:prstGeom prst="straightConnector1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881C6098-8937-E94B-77CA-976D5FE9AD75}"/>
              </a:ext>
            </a:extLst>
          </p:cNvPr>
          <p:cNvCxnSpPr/>
          <p:nvPr/>
        </p:nvCxnSpPr>
        <p:spPr>
          <a:xfrm>
            <a:off x="903700" y="3039382"/>
            <a:ext cx="419092" cy="1"/>
          </a:xfrm>
          <a:prstGeom prst="straightConnector1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38FB03B6-3A10-5E0E-8AC0-6EAE0DAD4421}"/>
              </a:ext>
            </a:extLst>
          </p:cNvPr>
          <p:cNvCxnSpPr/>
          <p:nvPr/>
        </p:nvCxnSpPr>
        <p:spPr>
          <a:xfrm flipV="1">
            <a:off x="1699940" y="2507106"/>
            <a:ext cx="448475" cy="379249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ABF57CCB-4F36-8B9F-8A96-5DF0DDAD089C}"/>
              </a:ext>
            </a:extLst>
          </p:cNvPr>
          <p:cNvCxnSpPr/>
          <p:nvPr/>
        </p:nvCxnSpPr>
        <p:spPr>
          <a:xfrm>
            <a:off x="1699940" y="3209645"/>
            <a:ext cx="433971" cy="32889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5F4CA94E-3CC8-1768-F3CB-81E9697F7E3E}"/>
              </a:ext>
            </a:extLst>
          </p:cNvPr>
          <p:cNvCxnSpPr/>
          <p:nvPr/>
        </p:nvCxnSpPr>
        <p:spPr>
          <a:xfrm>
            <a:off x="903701" y="3039382"/>
            <a:ext cx="419092" cy="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CD7036F8-F01C-F616-A472-B7328E06B9C8}"/>
              </a:ext>
            </a:extLst>
          </p:cNvPr>
          <p:cNvSpPr/>
          <p:nvPr/>
        </p:nvSpPr>
        <p:spPr>
          <a:xfrm>
            <a:off x="368004" y="5104591"/>
            <a:ext cx="1490483" cy="4689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200">
                <a:solidFill>
                  <a:schemeClr val="tx1"/>
                </a:solidFill>
                <a:latin typeface="+mj-lt"/>
              </a:rPr>
              <a:t>Move(C,a)</a:t>
            </a:r>
            <a:endParaRPr lang="en-US" sz="2200">
              <a:latin typeface="+mj-lt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D0D28366-C699-0D17-5074-66E514BCE57D}"/>
              </a:ext>
            </a:extLst>
          </p:cNvPr>
          <p:cNvSpPr/>
          <p:nvPr/>
        </p:nvSpPr>
        <p:spPr>
          <a:xfrm>
            <a:off x="1218464" y="5148578"/>
            <a:ext cx="1725988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tx1"/>
                </a:solidFill>
                <a:latin typeface="+mj-lt"/>
              </a:rPr>
              <a:t>= {3,8}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2194497B-49BA-C887-AC57-1E5745F594D2}"/>
              </a:ext>
            </a:extLst>
          </p:cNvPr>
          <p:cNvSpPr/>
          <p:nvPr/>
        </p:nvSpPr>
        <p:spPr>
          <a:xfrm>
            <a:off x="374532" y="5534752"/>
            <a:ext cx="2700790" cy="4689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200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𝜖- Closure(</a:t>
            </a:r>
            <a:r>
              <a:rPr lang="en-US" sz="2200">
                <a:solidFill>
                  <a:schemeClr val="tx1"/>
                </a:solidFill>
                <a:latin typeface="+mj-lt"/>
              </a:rPr>
              <a:t>Move(C,a))</a:t>
            </a:r>
            <a:endParaRPr lang="en-US" sz="2200">
              <a:latin typeface="+mj-lt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DB6C563B-0B7F-FF0D-0BF3-ED8E4AF020CD}"/>
              </a:ext>
            </a:extLst>
          </p:cNvPr>
          <p:cNvSpPr/>
          <p:nvPr/>
        </p:nvSpPr>
        <p:spPr>
          <a:xfrm>
            <a:off x="2807308" y="5609266"/>
            <a:ext cx="2536426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tx1"/>
                </a:solidFill>
                <a:latin typeface="+mj-lt"/>
              </a:rPr>
              <a:t>= {3, 6, 7, 1, 2, 4, 8}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8754828-F331-6CAA-448D-71042F811525}"/>
              </a:ext>
            </a:extLst>
          </p:cNvPr>
          <p:cNvSpPr/>
          <p:nvPr/>
        </p:nvSpPr>
        <p:spPr>
          <a:xfrm>
            <a:off x="4800325" y="5965890"/>
            <a:ext cx="87266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solidFill>
                  <a:schemeClr val="tx1"/>
                </a:solidFill>
                <a:latin typeface="+mj-lt"/>
              </a:rPr>
              <a:t>---- B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23FE631E-BCBB-9AD4-D91E-B1BC2DFBC2F3}"/>
              </a:ext>
            </a:extLst>
          </p:cNvPr>
          <p:cNvSpPr/>
          <p:nvPr/>
        </p:nvSpPr>
        <p:spPr>
          <a:xfrm>
            <a:off x="2616975" y="5989841"/>
            <a:ext cx="2536426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tx1"/>
                </a:solidFill>
                <a:latin typeface="+mj-lt"/>
              </a:rPr>
              <a:t>= {1,2,3,4,6,7,8}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5415B19A-A158-725B-D4F5-D7B9B2C0686B}"/>
              </a:ext>
            </a:extLst>
          </p:cNvPr>
          <p:cNvSpPr/>
          <p:nvPr/>
        </p:nvSpPr>
        <p:spPr>
          <a:xfrm>
            <a:off x="2974151" y="5626507"/>
            <a:ext cx="536893" cy="4268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413E5FE-1823-DB55-EDAD-109E46E49C0D}"/>
              </a:ext>
            </a:extLst>
          </p:cNvPr>
          <p:cNvSpPr/>
          <p:nvPr/>
        </p:nvSpPr>
        <p:spPr>
          <a:xfrm>
            <a:off x="3437736" y="5534752"/>
            <a:ext cx="357176" cy="381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FDAC663D-8431-F8B1-9199-A8BD030746EE}"/>
              </a:ext>
            </a:extLst>
          </p:cNvPr>
          <p:cNvSpPr/>
          <p:nvPr/>
        </p:nvSpPr>
        <p:spPr>
          <a:xfrm>
            <a:off x="3780949" y="5539429"/>
            <a:ext cx="570777" cy="4002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A562E4E-B335-A5E5-ED22-036A6A5A11D3}"/>
              </a:ext>
            </a:extLst>
          </p:cNvPr>
          <p:cNvSpPr/>
          <p:nvPr/>
        </p:nvSpPr>
        <p:spPr>
          <a:xfrm>
            <a:off x="4291263" y="5539429"/>
            <a:ext cx="570777" cy="4002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01D4F5CB-16CF-886B-CAD0-70BEC42D5781}"/>
              </a:ext>
            </a:extLst>
          </p:cNvPr>
          <p:cNvSpPr/>
          <p:nvPr/>
        </p:nvSpPr>
        <p:spPr>
          <a:xfrm>
            <a:off x="4860520" y="5559629"/>
            <a:ext cx="570777" cy="4002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D0BEE817-192A-9BFA-BCFA-3A24609B52A1}"/>
              </a:ext>
            </a:extLst>
          </p:cNvPr>
          <p:cNvCxnSpPr/>
          <p:nvPr/>
        </p:nvCxnSpPr>
        <p:spPr>
          <a:xfrm>
            <a:off x="1144829" y="5082311"/>
            <a:ext cx="267829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4801E282-D50A-95AD-205C-D76450122152}"/>
              </a:ext>
            </a:extLst>
          </p:cNvPr>
          <p:cNvCxnSpPr/>
          <p:nvPr/>
        </p:nvCxnSpPr>
        <p:spPr>
          <a:xfrm>
            <a:off x="2190173" y="5063183"/>
            <a:ext cx="267829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tangle 55">
            <a:extLst>
              <a:ext uri="{FF2B5EF4-FFF2-40B4-BE49-F238E27FC236}">
                <a16:creationId xmlns:a16="http://schemas.microsoft.com/office/drawing/2014/main" id="{6F1AD501-5A24-6AA7-70D2-31A797A08231}"/>
              </a:ext>
            </a:extLst>
          </p:cNvPr>
          <p:cNvSpPr/>
          <p:nvPr/>
        </p:nvSpPr>
        <p:spPr>
          <a:xfrm>
            <a:off x="210553" y="4682183"/>
            <a:ext cx="2568214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>
                <a:solidFill>
                  <a:schemeClr val="tx1"/>
                </a:solidFill>
                <a:latin typeface="+mj-lt"/>
              </a:rPr>
              <a:t>C= {1, 2, 4, 5, 6 ,7}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B11F1CA9-C166-62E9-AF94-BDBA00B9227C}"/>
              </a:ext>
            </a:extLst>
          </p:cNvPr>
          <p:cNvSpPr/>
          <p:nvPr/>
        </p:nvSpPr>
        <p:spPr>
          <a:xfrm>
            <a:off x="7421867" y="2664618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b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6315E277-EB38-FF4C-293D-32FB9A9D3221}"/>
              </a:ext>
            </a:extLst>
          </p:cNvPr>
          <p:cNvSpPr/>
          <p:nvPr/>
        </p:nvSpPr>
        <p:spPr>
          <a:xfrm>
            <a:off x="7893141" y="2779059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10</a:t>
            </a: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DF12BAF4-F965-C16F-ABF9-F8C5D0F4ED68}"/>
              </a:ext>
            </a:extLst>
          </p:cNvPr>
          <p:cNvSpPr/>
          <p:nvPr/>
        </p:nvSpPr>
        <p:spPr>
          <a:xfrm>
            <a:off x="7938861" y="2828648"/>
            <a:ext cx="365760" cy="36576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BFAF2C04-9458-178F-2892-C903513CB159}"/>
              </a:ext>
            </a:extLst>
          </p:cNvPr>
          <p:cNvSpPr/>
          <p:nvPr/>
        </p:nvSpPr>
        <p:spPr>
          <a:xfrm>
            <a:off x="6869835" y="2790159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9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7351E691-2860-1930-3491-BBB4E720CF55}"/>
              </a:ext>
            </a:extLst>
          </p:cNvPr>
          <p:cNvCxnSpPr/>
          <p:nvPr/>
        </p:nvCxnSpPr>
        <p:spPr>
          <a:xfrm>
            <a:off x="7334592" y="3006852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2" name="Table 61">
            <a:extLst>
              <a:ext uri="{FF2B5EF4-FFF2-40B4-BE49-F238E27FC236}">
                <a16:creationId xmlns:a16="http://schemas.microsoft.com/office/drawing/2014/main" id="{C880B532-8414-B658-4496-B535E8B1AE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3800303"/>
              </p:ext>
            </p:extLst>
          </p:nvPr>
        </p:nvGraphicFramePr>
        <p:xfrm>
          <a:off x="8724270" y="2030248"/>
          <a:ext cx="3177041" cy="42672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8816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ctr"/>
                      <a:r>
                        <a:rPr lang="en-US" sz="2200"/>
                        <a:t>States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en-US" sz="22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/>
                        <a:t>b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3" name="Table 62">
            <a:extLst>
              <a:ext uri="{FF2B5EF4-FFF2-40B4-BE49-F238E27FC236}">
                <a16:creationId xmlns:a16="http://schemas.microsoft.com/office/drawing/2014/main" id="{C49353D0-52D9-82CC-DB79-A66038D4D5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350277"/>
              </p:ext>
            </p:extLst>
          </p:nvPr>
        </p:nvGraphicFramePr>
        <p:xfrm>
          <a:off x="8724271" y="2453188"/>
          <a:ext cx="3177040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88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l"/>
                      <a:r>
                        <a:rPr lang="en-US" sz="1800"/>
                        <a:t>A = {0,1,2,4,7}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en-US" sz="18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C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4" name="Table 63">
            <a:extLst>
              <a:ext uri="{FF2B5EF4-FFF2-40B4-BE49-F238E27FC236}">
                <a16:creationId xmlns:a16="http://schemas.microsoft.com/office/drawing/2014/main" id="{FBE757E9-BFCC-D125-6B53-AAAE2EB60F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0381524"/>
              </p:ext>
            </p:extLst>
          </p:nvPr>
        </p:nvGraphicFramePr>
        <p:xfrm>
          <a:off x="8724271" y="2818948"/>
          <a:ext cx="3177040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88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B = {1,2,3,4,6,7,8}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en-US" sz="18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D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5" name="Table 64">
            <a:extLst>
              <a:ext uri="{FF2B5EF4-FFF2-40B4-BE49-F238E27FC236}">
                <a16:creationId xmlns:a16="http://schemas.microsoft.com/office/drawing/2014/main" id="{5B5C1657-A94A-89AF-8AAB-E56F450C5E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4392346"/>
              </p:ext>
            </p:extLst>
          </p:nvPr>
        </p:nvGraphicFramePr>
        <p:xfrm>
          <a:off x="8724271" y="3192027"/>
          <a:ext cx="3177040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88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l"/>
                      <a:r>
                        <a:rPr lang="en-US" sz="1800"/>
                        <a:t>C = {1,2,4,5,6,7}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en-US" sz="18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6" name="Table 65">
            <a:extLst>
              <a:ext uri="{FF2B5EF4-FFF2-40B4-BE49-F238E27FC236}">
                <a16:creationId xmlns:a16="http://schemas.microsoft.com/office/drawing/2014/main" id="{73B227F5-B414-43CA-08CD-D47D7E48A9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2218649"/>
              </p:ext>
            </p:extLst>
          </p:nvPr>
        </p:nvGraphicFramePr>
        <p:xfrm>
          <a:off x="8724271" y="3546688"/>
          <a:ext cx="3177040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88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l"/>
                      <a:r>
                        <a:rPr lang="en-US" sz="1800"/>
                        <a:t>D = {</a:t>
                      </a:r>
                      <a:r>
                        <a:rPr lang="en-US" sz="18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1,2,4,5,6,7,9</a:t>
                      </a:r>
                      <a:r>
                        <a:rPr lang="en-US" sz="1800"/>
                        <a:t>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7" name="Rectangle 66">
            <a:extLst>
              <a:ext uri="{FF2B5EF4-FFF2-40B4-BE49-F238E27FC236}">
                <a16:creationId xmlns:a16="http://schemas.microsoft.com/office/drawing/2014/main" id="{4E443E8B-30D9-1527-1471-BE8DB56F492A}"/>
              </a:ext>
            </a:extLst>
          </p:cNvPr>
          <p:cNvSpPr/>
          <p:nvPr/>
        </p:nvSpPr>
        <p:spPr>
          <a:xfrm>
            <a:off x="10687453" y="3263692"/>
            <a:ext cx="376111" cy="211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801978B7-A58C-FE30-763A-BEF8A778B517}"/>
              </a:ext>
            </a:extLst>
          </p:cNvPr>
          <p:cNvCxnSpPr/>
          <p:nvPr/>
        </p:nvCxnSpPr>
        <p:spPr>
          <a:xfrm rot="5400000">
            <a:off x="5770212" y="3683283"/>
            <a:ext cx="5486400" cy="0"/>
          </a:xfrm>
          <a:prstGeom prst="line">
            <a:avLst/>
          </a:prstGeom>
          <a:ln>
            <a:solidFill>
              <a:srgbClr val="0E47A1"/>
            </a:solidFill>
            <a:prstDash val="solid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3561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7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990000"/>
                                      </p:to>
                                    </p:animClr>
                                    <p:set>
                                      <p:cBhvr>
                                        <p:cTn id="1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7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990000"/>
                                      </p:to>
                                    </p:animClr>
                                    <p:set>
                                      <p:cBhvr>
                                        <p:cTn id="26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9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0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xit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7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50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55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6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xit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7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5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66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7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8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69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3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74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5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7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78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9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xit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8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7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8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89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7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1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92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97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0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01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2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xit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0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1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12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3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xit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xit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3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44" grpId="0"/>
      <p:bldP spid="45" grpId="0"/>
      <p:bldP spid="47" grpId="0"/>
      <p:bldP spid="48" grpId="0"/>
      <p:bldP spid="49" grpId="0" animBg="1"/>
      <p:bldP spid="50" grpId="0" animBg="1"/>
      <p:bldP spid="51" grpId="0" animBg="1"/>
      <p:bldP spid="52" grpId="0" animBg="1"/>
      <p:bldP spid="53" grpId="0" animBg="1"/>
      <p:bldP spid="6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EFF17-7D21-A424-A4F2-73E5912B6842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Conversion from NFA to DFA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76E7422-5C30-608B-5DCE-89CD231FEFF9}"/>
              </a:ext>
            </a:extLst>
          </p:cNvPr>
          <p:cNvSpPr/>
          <p:nvPr/>
        </p:nvSpPr>
        <p:spPr>
          <a:xfrm>
            <a:off x="1309692" y="2819400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1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BBFA5E6-BF49-7658-4550-27B9037F97E7}"/>
              </a:ext>
            </a:extLst>
          </p:cNvPr>
          <p:cNvSpPr/>
          <p:nvPr/>
        </p:nvSpPr>
        <p:spPr>
          <a:xfrm>
            <a:off x="2081457" y="2116861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2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2812BE1-68B9-9B4F-B1CF-5A09555D369B}"/>
              </a:ext>
            </a:extLst>
          </p:cNvPr>
          <p:cNvSpPr/>
          <p:nvPr/>
        </p:nvSpPr>
        <p:spPr>
          <a:xfrm>
            <a:off x="3075321" y="3491958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5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903E0E1-6650-1761-4444-84F514BED81E}"/>
              </a:ext>
            </a:extLst>
          </p:cNvPr>
          <p:cNvSpPr/>
          <p:nvPr/>
        </p:nvSpPr>
        <p:spPr>
          <a:xfrm>
            <a:off x="3075321" y="2135663"/>
            <a:ext cx="457200" cy="438011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A8CE6E8-0B9C-4AA8-AA74-7EA795D61983}"/>
              </a:ext>
            </a:extLst>
          </p:cNvPr>
          <p:cNvSpPr/>
          <p:nvPr/>
        </p:nvSpPr>
        <p:spPr>
          <a:xfrm>
            <a:off x="2064600" y="3490911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E83D12A-4428-668B-E34D-227BCEC2DFA1}"/>
              </a:ext>
            </a:extLst>
          </p:cNvPr>
          <p:cNvSpPr/>
          <p:nvPr/>
        </p:nvSpPr>
        <p:spPr>
          <a:xfrm>
            <a:off x="3808798" y="2805111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6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256F8F8-E774-F137-ACC8-DDE8DC61107B}"/>
              </a:ext>
            </a:extLst>
          </p:cNvPr>
          <p:cNvSpPr/>
          <p:nvPr/>
        </p:nvSpPr>
        <p:spPr>
          <a:xfrm>
            <a:off x="4831287" y="2780177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7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4044361-5E08-0954-E6A6-C3E4E6A28DC9}"/>
              </a:ext>
            </a:extLst>
          </p:cNvPr>
          <p:cNvSpPr/>
          <p:nvPr/>
        </p:nvSpPr>
        <p:spPr>
          <a:xfrm>
            <a:off x="5853776" y="2780177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8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53B289C-E69F-4939-CE6E-E3EA8AF2639E}"/>
              </a:ext>
            </a:extLst>
          </p:cNvPr>
          <p:cNvSpPr/>
          <p:nvPr/>
        </p:nvSpPr>
        <p:spPr>
          <a:xfrm>
            <a:off x="433400" y="2819399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0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3F3994F-9691-3AFD-E616-4C4189661286}"/>
              </a:ext>
            </a:extLst>
          </p:cNvPr>
          <p:cNvCxnSpPr/>
          <p:nvPr/>
        </p:nvCxnSpPr>
        <p:spPr>
          <a:xfrm>
            <a:off x="903699" y="3039382"/>
            <a:ext cx="419092" cy="1"/>
          </a:xfrm>
          <a:prstGeom prst="straightConnector1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71C8F588-C4B7-C9B9-54F5-90CECADA3554}"/>
              </a:ext>
            </a:extLst>
          </p:cNvPr>
          <p:cNvSpPr/>
          <p:nvPr/>
        </p:nvSpPr>
        <p:spPr>
          <a:xfrm>
            <a:off x="921568" y="2667000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FFCEFC9-32A0-E503-4F45-E1F73A24FD05}"/>
              </a:ext>
            </a:extLst>
          </p:cNvPr>
          <p:cNvCxnSpPr/>
          <p:nvPr/>
        </p:nvCxnSpPr>
        <p:spPr>
          <a:xfrm>
            <a:off x="2530319" y="2351552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2A47E289-18E2-27C2-4E1D-1186DA9A5BF5}"/>
              </a:ext>
            </a:extLst>
          </p:cNvPr>
          <p:cNvSpPr/>
          <p:nvPr/>
        </p:nvSpPr>
        <p:spPr>
          <a:xfrm>
            <a:off x="2616975" y="1934046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a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8D2A74A-13AF-7DC9-F37D-C9687CDA00C3}"/>
              </a:ext>
            </a:extLst>
          </p:cNvPr>
          <p:cNvCxnSpPr>
            <a:stCxn id="7" idx="6"/>
            <a:endCxn id="5" idx="2"/>
          </p:cNvCxnSpPr>
          <p:nvPr/>
        </p:nvCxnSpPr>
        <p:spPr>
          <a:xfrm>
            <a:off x="2521800" y="3719511"/>
            <a:ext cx="553521" cy="1047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509C7CF6-BD90-CFDE-4DB3-A54A97A89E54}"/>
              </a:ext>
            </a:extLst>
          </p:cNvPr>
          <p:cNvSpPr/>
          <p:nvPr/>
        </p:nvSpPr>
        <p:spPr>
          <a:xfrm>
            <a:off x="2616975" y="3731409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b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841CD8D-9FA4-2234-4D2B-F0AFE9C1DA1A}"/>
              </a:ext>
            </a:extLst>
          </p:cNvPr>
          <p:cNvCxnSpPr>
            <a:stCxn id="3" idx="7"/>
            <a:endCxn id="4" idx="3"/>
          </p:cNvCxnSpPr>
          <p:nvPr/>
        </p:nvCxnSpPr>
        <p:spPr>
          <a:xfrm flipV="1">
            <a:off x="1699937" y="2507106"/>
            <a:ext cx="448475" cy="379249"/>
          </a:xfrm>
          <a:prstGeom prst="straightConnector1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7D4BD9F-07D6-7D60-3D48-AA84D779D2BE}"/>
              </a:ext>
            </a:extLst>
          </p:cNvPr>
          <p:cNvCxnSpPr>
            <a:stCxn id="3" idx="5"/>
          </p:cNvCxnSpPr>
          <p:nvPr/>
        </p:nvCxnSpPr>
        <p:spPr>
          <a:xfrm>
            <a:off x="1699937" y="3209645"/>
            <a:ext cx="433971" cy="328891"/>
          </a:xfrm>
          <a:prstGeom prst="straightConnector1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15DC5C1-217C-BA59-9AA6-F7A39A22FB24}"/>
              </a:ext>
            </a:extLst>
          </p:cNvPr>
          <p:cNvCxnSpPr>
            <a:stCxn id="6" idx="5"/>
            <a:endCxn id="8" idx="1"/>
          </p:cNvCxnSpPr>
          <p:nvPr/>
        </p:nvCxnSpPr>
        <p:spPr>
          <a:xfrm>
            <a:off x="3465566" y="2509529"/>
            <a:ext cx="410187" cy="362537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4825C81-C2C1-72EC-8C23-DB0BE75509A2}"/>
              </a:ext>
            </a:extLst>
          </p:cNvPr>
          <p:cNvCxnSpPr>
            <a:stCxn id="5" idx="7"/>
            <a:endCxn id="8" idx="3"/>
          </p:cNvCxnSpPr>
          <p:nvPr/>
        </p:nvCxnSpPr>
        <p:spPr>
          <a:xfrm flipV="1">
            <a:off x="3465566" y="3195356"/>
            <a:ext cx="410187" cy="363557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C320C2F-B87F-6DF8-20C3-2367BB055FAB}"/>
              </a:ext>
            </a:extLst>
          </p:cNvPr>
          <p:cNvCxnSpPr/>
          <p:nvPr/>
        </p:nvCxnSpPr>
        <p:spPr>
          <a:xfrm>
            <a:off x="4271771" y="3008777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B110D6BD-4A9C-935A-9ADB-2C24DFAF17B6}"/>
              </a:ext>
            </a:extLst>
          </p:cNvPr>
          <p:cNvSpPr/>
          <p:nvPr/>
        </p:nvSpPr>
        <p:spPr>
          <a:xfrm>
            <a:off x="4351727" y="2654636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7E21EFB-39EF-219C-97FB-91A6210A6019}"/>
              </a:ext>
            </a:extLst>
          </p:cNvPr>
          <p:cNvCxnSpPr/>
          <p:nvPr/>
        </p:nvCxnSpPr>
        <p:spPr>
          <a:xfrm>
            <a:off x="5281161" y="3018759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5C80BC25-D304-60E6-2512-ADEDEDF484B3}"/>
              </a:ext>
            </a:extLst>
          </p:cNvPr>
          <p:cNvSpPr/>
          <p:nvPr/>
        </p:nvSpPr>
        <p:spPr>
          <a:xfrm>
            <a:off x="5361117" y="2664618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a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99FF395-DA4F-19B4-9BEF-819C77EDA68D}"/>
              </a:ext>
            </a:extLst>
          </p:cNvPr>
          <p:cNvCxnSpPr/>
          <p:nvPr/>
        </p:nvCxnSpPr>
        <p:spPr>
          <a:xfrm>
            <a:off x="6308667" y="2994945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124F4354-5D14-688F-2913-F9E25C178D8A}"/>
              </a:ext>
            </a:extLst>
          </p:cNvPr>
          <p:cNvSpPr/>
          <p:nvPr/>
        </p:nvSpPr>
        <p:spPr>
          <a:xfrm>
            <a:off x="6425264" y="2664618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b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BC5E43D-A2E6-786D-6224-2A8546C2CE61}"/>
              </a:ext>
            </a:extLst>
          </p:cNvPr>
          <p:cNvSpPr/>
          <p:nvPr/>
        </p:nvSpPr>
        <p:spPr>
          <a:xfrm>
            <a:off x="7421867" y="2664618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b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D3CADCA-25BC-D4E8-3CCF-39186BD6FF7E}"/>
              </a:ext>
            </a:extLst>
          </p:cNvPr>
          <p:cNvCxnSpPr/>
          <p:nvPr/>
        </p:nvCxnSpPr>
        <p:spPr>
          <a:xfrm>
            <a:off x="190500" y="3047999"/>
            <a:ext cx="242900" cy="0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9E551CF7-F069-8372-5D6B-6411D3AC5A97}"/>
              </a:ext>
            </a:extLst>
          </p:cNvPr>
          <p:cNvSpPr/>
          <p:nvPr/>
        </p:nvSpPr>
        <p:spPr>
          <a:xfrm>
            <a:off x="1524000" y="3370655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E7F018E-0FC6-2404-FB6A-417A5F98AD2C}"/>
              </a:ext>
            </a:extLst>
          </p:cNvPr>
          <p:cNvSpPr/>
          <p:nvPr/>
        </p:nvSpPr>
        <p:spPr>
          <a:xfrm>
            <a:off x="1583156" y="2369027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FA868FB-6E95-8A8D-7E88-0BF079A7E61E}"/>
              </a:ext>
            </a:extLst>
          </p:cNvPr>
          <p:cNvSpPr/>
          <p:nvPr/>
        </p:nvSpPr>
        <p:spPr>
          <a:xfrm>
            <a:off x="3604306" y="2358623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956E034-6439-A07E-8399-2B80F7FDFA0B}"/>
              </a:ext>
            </a:extLst>
          </p:cNvPr>
          <p:cNvSpPr/>
          <p:nvPr/>
        </p:nvSpPr>
        <p:spPr>
          <a:xfrm>
            <a:off x="3616975" y="3383755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34" name="Curved Connector 34">
            <a:extLst>
              <a:ext uri="{FF2B5EF4-FFF2-40B4-BE49-F238E27FC236}">
                <a16:creationId xmlns:a16="http://schemas.microsoft.com/office/drawing/2014/main" id="{E80612C2-2C56-C9C3-1654-B1A79E1BB137}"/>
              </a:ext>
            </a:extLst>
          </p:cNvPr>
          <p:cNvCxnSpPr>
            <a:stCxn id="11" idx="4"/>
            <a:endCxn id="9" idx="4"/>
          </p:cNvCxnSpPr>
          <p:nvPr/>
        </p:nvCxnSpPr>
        <p:spPr>
          <a:xfrm rot="5400000" flipH="1" flipV="1">
            <a:off x="2841332" y="1058044"/>
            <a:ext cx="39222" cy="4397887"/>
          </a:xfrm>
          <a:prstGeom prst="curvedConnector3">
            <a:avLst>
              <a:gd name="adj1" fmla="val -3059900"/>
            </a:avLst>
          </a:prstGeom>
          <a:ln w="25400">
            <a:solidFill>
              <a:srgbClr val="0E47A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urved Connector 35">
            <a:extLst>
              <a:ext uri="{FF2B5EF4-FFF2-40B4-BE49-F238E27FC236}">
                <a16:creationId xmlns:a16="http://schemas.microsoft.com/office/drawing/2014/main" id="{0F2543B8-24D2-18A2-06FC-6092D78FFF4C}"/>
              </a:ext>
            </a:extLst>
          </p:cNvPr>
          <p:cNvCxnSpPr/>
          <p:nvPr/>
        </p:nvCxnSpPr>
        <p:spPr>
          <a:xfrm rot="16200000" flipH="1" flipV="1">
            <a:off x="2766063" y="1524629"/>
            <a:ext cx="36576" cy="2569464"/>
          </a:xfrm>
          <a:prstGeom prst="curvedConnector3">
            <a:avLst>
              <a:gd name="adj1" fmla="val -3059900"/>
            </a:avLst>
          </a:prstGeom>
          <a:ln w="25400">
            <a:solidFill>
              <a:srgbClr val="0E47A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0B1FA393-24B5-4385-8A81-5D621DD8EADF}"/>
              </a:ext>
            </a:extLst>
          </p:cNvPr>
          <p:cNvSpPr/>
          <p:nvPr/>
        </p:nvSpPr>
        <p:spPr>
          <a:xfrm>
            <a:off x="2616975" y="1294439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81B168F-42FA-C0DD-8948-F755FB4DDD74}"/>
              </a:ext>
            </a:extLst>
          </p:cNvPr>
          <p:cNvSpPr/>
          <p:nvPr/>
        </p:nvSpPr>
        <p:spPr>
          <a:xfrm>
            <a:off x="3795563" y="4275070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CB1E60DA-68D2-A6ED-846D-EA2EC27081FB}"/>
              </a:ext>
            </a:extLst>
          </p:cNvPr>
          <p:cNvCxnSpPr/>
          <p:nvPr/>
        </p:nvCxnSpPr>
        <p:spPr>
          <a:xfrm flipV="1">
            <a:off x="1699939" y="2507106"/>
            <a:ext cx="448475" cy="379249"/>
          </a:xfrm>
          <a:prstGeom prst="straightConnector1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53F978C9-0B55-E539-04D1-4273F15F1994}"/>
              </a:ext>
            </a:extLst>
          </p:cNvPr>
          <p:cNvCxnSpPr/>
          <p:nvPr/>
        </p:nvCxnSpPr>
        <p:spPr>
          <a:xfrm>
            <a:off x="1699939" y="3209645"/>
            <a:ext cx="433971" cy="328891"/>
          </a:xfrm>
          <a:prstGeom prst="straightConnector1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013D224F-351C-3B58-8CCD-20C42625BC44}"/>
              </a:ext>
            </a:extLst>
          </p:cNvPr>
          <p:cNvCxnSpPr/>
          <p:nvPr/>
        </p:nvCxnSpPr>
        <p:spPr>
          <a:xfrm>
            <a:off x="903700" y="3039382"/>
            <a:ext cx="419092" cy="1"/>
          </a:xfrm>
          <a:prstGeom prst="straightConnector1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D563D2C6-823F-B605-34AD-3C93C0598DE3}"/>
              </a:ext>
            </a:extLst>
          </p:cNvPr>
          <p:cNvCxnSpPr/>
          <p:nvPr/>
        </p:nvCxnSpPr>
        <p:spPr>
          <a:xfrm flipV="1">
            <a:off x="1699940" y="2507106"/>
            <a:ext cx="448475" cy="379249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CF2F4B73-529C-7A66-D0DF-AAA73C2B5449}"/>
              </a:ext>
            </a:extLst>
          </p:cNvPr>
          <p:cNvCxnSpPr/>
          <p:nvPr/>
        </p:nvCxnSpPr>
        <p:spPr>
          <a:xfrm>
            <a:off x="1699940" y="3209645"/>
            <a:ext cx="433971" cy="32889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9B759E7A-4980-C32E-1DAF-CA1DE157AFC0}"/>
              </a:ext>
            </a:extLst>
          </p:cNvPr>
          <p:cNvCxnSpPr/>
          <p:nvPr/>
        </p:nvCxnSpPr>
        <p:spPr>
          <a:xfrm>
            <a:off x="903701" y="3039382"/>
            <a:ext cx="419092" cy="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1551C58C-09B1-DA09-BDC1-76F6F1C7C2F5}"/>
              </a:ext>
            </a:extLst>
          </p:cNvPr>
          <p:cNvSpPr/>
          <p:nvPr/>
        </p:nvSpPr>
        <p:spPr>
          <a:xfrm>
            <a:off x="194759" y="5104591"/>
            <a:ext cx="1575377" cy="4991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200">
                <a:solidFill>
                  <a:schemeClr val="tx1"/>
                </a:solidFill>
                <a:latin typeface="+mj-lt"/>
              </a:rPr>
              <a:t>Move(C,b) =</a:t>
            </a:r>
            <a:endParaRPr lang="en-US" sz="2200">
              <a:latin typeface="+mj-lt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FFD155A0-603A-7F1C-C439-DA69471004F4}"/>
              </a:ext>
            </a:extLst>
          </p:cNvPr>
          <p:cNvSpPr/>
          <p:nvPr/>
        </p:nvSpPr>
        <p:spPr>
          <a:xfrm>
            <a:off x="1015556" y="5162230"/>
            <a:ext cx="1725988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tx1"/>
                </a:solidFill>
                <a:latin typeface="+mj-lt"/>
              </a:rPr>
              <a:t> {5}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548678A-BC80-5486-8976-BD5BEFAADA79}"/>
              </a:ext>
            </a:extLst>
          </p:cNvPr>
          <p:cNvSpPr/>
          <p:nvPr/>
        </p:nvSpPr>
        <p:spPr>
          <a:xfrm>
            <a:off x="190500" y="5534752"/>
            <a:ext cx="2868584" cy="4504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200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𝜖- Closure(</a:t>
            </a:r>
            <a:r>
              <a:rPr lang="en-US" sz="2200">
                <a:solidFill>
                  <a:schemeClr val="tx1"/>
                </a:solidFill>
                <a:latin typeface="+mj-lt"/>
              </a:rPr>
              <a:t>Move(C,b))=</a:t>
            </a:r>
            <a:endParaRPr lang="en-US" sz="2200">
              <a:latin typeface="+mj-lt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58247053-9D0C-DF46-2F0E-8295E17DA7A3}"/>
              </a:ext>
            </a:extLst>
          </p:cNvPr>
          <p:cNvSpPr/>
          <p:nvPr/>
        </p:nvSpPr>
        <p:spPr>
          <a:xfrm>
            <a:off x="2510583" y="5601088"/>
            <a:ext cx="2536426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tx1"/>
                </a:solidFill>
                <a:latin typeface="+mj-lt"/>
              </a:rPr>
              <a:t> {5, 6, 7, 1, 2, 4}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1A714AC0-8052-DB9E-CAAC-57BF62A165EF}"/>
              </a:ext>
            </a:extLst>
          </p:cNvPr>
          <p:cNvSpPr/>
          <p:nvPr/>
        </p:nvSpPr>
        <p:spPr>
          <a:xfrm>
            <a:off x="4368432" y="6064587"/>
            <a:ext cx="87266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solidFill>
                  <a:schemeClr val="tx1"/>
                </a:solidFill>
                <a:latin typeface="+mj-lt"/>
              </a:rPr>
              <a:t>---- C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974C96E3-4220-E10A-D42B-00D912409450}"/>
              </a:ext>
            </a:extLst>
          </p:cNvPr>
          <p:cNvSpPr/>
          <p:nvPr/>
        </p:nvSpPr>
        <p:spPr>
          <a:xfrm>
            <a:off x="6482416" y="4401275"/>
            <a:ext cx="471465" cy="3626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691CD312-CFFC-0CBC-F427-FAEDC91367B9}"/>
              </a:ext>
            </a:extLst>
          </p:cNvPr>
          <p:cNvSpPr/>
          <p:nvPr/>
        </p:nvSpPr>
        <p:spPr>
          <a:xfrm>
            <a:off x="6482416" y="4401275"/>
            <a:ext cx="414313" cy="3626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B681C33-E833-CFF0-B829-031E857B56A9}"/>
              </a:ext>
            </a:extLst>
          </p:cNvPr>
          <p:cNvSpPr/>
          <p:nvPr/>
        </p:nvSpPr>
        <p:spPr>
          <a:xfrm>
            <a:off x="8039639" y="4455552"/>
            <a:ext cx="473773" cy="2514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319394B1-DE28-2CF6-C63D-1855B6AD29CC}"/>
              </a:ext>
            </a:extLst>
          </p:cNvPr>
          <p:cNvSpPr/>
          <p:nvPr/>
        </p:nvSpPr>
        <p:spPr>
          <a:xfrm>
            <a:off x="2284499" y="6056266"/>
            <a:ext cx="2536426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tx1"/>
                </a:solidFill>
                <a:latin typeface="+mj-lt"/>
              </a:rPr>
              <a:t>= {1,2,4,5,6,7}</a:t>
            </a: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DD6B979F-B96C-2A15-D7A9-366F737257EB}"/>
              </a:ext>
            </a:extLst>
          </p:cNvPr>
          <p:cNvCxnSpPr/>
          <p:nvPr/>
        </p:nvCxnSpPr>
        <p:spPr>
          <a:xfrm>
            <a:off x="1231790" y="5049836"/>
            <a:ext cx="267829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ctangle 53">
            <a:extLst>
              <a:ext uri="{FF2B5EF4-FFF2-40B4-BE49-F238E27FC236}">
                <a16:creationId xmlns:a16="http://schemas.microsoft.com/office/drawing/2014/main" id="{94816A35-BB0D-21C8-2FFC-8AD813F6C423}"/>
              </a:ext>
            </a:extLst>
          </p:cNvPr>
          <p:cNvSpPr/>
          <p:nvPr/>
        </p:nvSpPr>
        <p:spPr>
          <a:xfrm>
            <a:off x="1718946" y="5133131"/>
            <a:ext cx="536893" cy="4268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2511796D-312C-FD7C-CEB0-B5195BC57437}"/>
              </a:ext>
            </a:extLst>
          </p:cNvPr>
          <p:cNvSpPr/>
          <p:nvPr/>
        </p:nvSpPr>
        <p:spPr>
          <a:xfrm>
            <a:off x="2974315" y="5610766"/>
            <a:ext cx="354645" cy="37030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99C1ECE4-A825-4B26-A96E-90D9C4C19CA5}"/>
              </a:ext>
            </a:extLst>
          </p:cNvPr>
          <p:cNvSpPr/>
          <p:nvPr/>
        </p:nvSpPr>
        <p:spPr>
          <a:xfrm>
            <a:off x="3344171" y="5696543"/>
            <a:ext cx="211819" cy="23654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895AED7E-A392-D4B9-3C40-9588C0801948}"/>
              </a:ext>
            </a:extLst>
          </p:cNvPr>
          <p:cNvSpPr/>
          <p:nvPr/>
        </p:nvSpPr>
        <p:spPr>
          <a:xfrm>
            <a:off x="3628329" y="5627375"/>
            <a:ext cx="440753" cy="38278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AC6BD86E-4170-AB3C-3379-AC60B6E4BDB1}"/>
              </a:ext>
            </a:extLst>
          </p:cNvPr>
          <p:cNvSpPr/>
          <p:nvPr/>
        </p:nvSpPr>
        <p:spPr>
          <a:xfrm>
            <a:off x="4141421" y="5624191"/>
            <a:ext cx="499928" cy="36214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D4565333-FCDF-2294-745D-0B2AAF21D437}"/>
              </a:ext>
            </a:extLst>
          </p:cNvPr>
          <p:cNvSpPr/>
          <p:nvPr/>
        </p:nvSpPr>
        <p:spPr>
          <a:xfrm>
            <a:off x="151207" y="4668836"/>
            <a:ext cx="2343167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>
                <a:solidFill>
                  <a:schemeClr val="tx1"/>
                </a:solidFill>
                <a:latin typeface="+mj-lt"/>
              </a:rPr>
              <a:t>C= {1, 2, 4, 5, 6, 7}</a:t>
            </a: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4C8FB6E0-46CF-B056-AD25-447E87CB230D}"/>
              </a:ext>
            </a:extLst>
          </p:cNvPr>
          <p:cNvSpPr/>
          <p:nvPr/>
        </p:nvSpPr>
        <p:spPr>
          <a:xfrm>
            <a:off x="7893141" y="2779059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10</a:t>
            </a: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ABB2774B-6C55-8965-B5C6-A9A3F1A73102}"/>
              </a:ext>
            </a:extLst>
          </p:cNvPr>
          <p:cNvSpPr/>
          <p:nvPr/>
        </p:nvSpPr>
        <p:spPr>
          <a:xfrm>
            <a:off x="7938861" y="2828648"/>
            <a:ext cx="365760" cy="36576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7F4B8CDA-7958-63BE-4B8A-58504EF75F03}"/>
              </a:ext>
            </a:extLst>
          </p:cNvPr>
          <p:cNvSpPr/>
          <p:nvPr/>
        </p:nvSpPr>
        <p:spPr>
          <a:xfrm>
            <a:off x="6869835" y="2790159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9</a:t>
            </a:r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0A26D628-38E6-307F-C2C9-6BF9D9A162D7}"/>
              </a:ext>
            </a:extLst>
          </p:cNvPr>
          <p:cNvCxnSpPr/>
          <p:nvPr/>
        </p:nvCxnSpPr>
        <p:spPr>
          <a:xfrm>
            <a:off x="7334592" y="3006852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4" name="Table 63">
            <a:extLst>
              <a:ext uri="{FF2B5EF4-FFF2-40B4-BE49-F238E27FC236}">
                <a16:creationId xmlns:a16="http://schemas.microsoft.com/office/drawing/2014/main" id="{7516F916-EC37-9FFE-BFE5-809C5A4A49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1466529"/>
              </p:ext>
            </p:extLst>
          </p:nvPr>
        </p:nvGraphicFramePr>
        <p:xfrm>
          <a:off x="8724270" y="2030248"/>
          <a:ext cx="3177041" cy="42672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8816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ctr"/>
                      <a:r>
                        <a:rPr lang="en-US" sz="2200"/>
                        <a:t>States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en-US" sz="22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/>
                        <a:t>b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5" name="Table 64">
            <a:extLst>
              <a:ext uri="{FF2B5EF4-FFF2-40B4-BE49-F238E27FC236}">
                <a16:creationId xmlns:a16="http://schemas.microsoft.com/office/drawing/2014/main" id="{7E53701A-9702-412E-2CF8-6EC687C155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3137601"/>
              </p:ext>
            </p:extLst>
          </p:nvPr>
        </p:nvGraphicFramePr>
        <p:xfrm>
          <a:off x="8724271" y="2453188"/>
          <a:ext cx="3177040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88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l"/>
                      <a:r>
                        <a:rPr lang="en-US" sz="1800"/>
                        <a:t>A = {0,1,2,4,7}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en-US" sz="18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C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6" name="Table 65">
            <a:extLst>
              <a:ext uri="{FF2B5EF4-FFF2-40B4-BE49-F238E27FC236}">
                <a16:creationId xmlns:a16="http://schemas.microsoft.com/office/drawing/2014/main" id="{B6B6941B-5B5D-D266-EB44-B3C8922872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4508057"/>
              </p:ext>
            </p:extLst>
          </p:nvPr>
        </p:nvGraphicFramePr>
        <p:xfrm>
          <a:off x="8724271" y="2818948"/>
          <a:ext cx="3177040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88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B = {1,2,3,4,6,7,8}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en-US" sz="18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D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7" name="Table 66">
            <a:extLst>
              <a:ext uri="{FF2B5EF4-FFF2-40B4-BE49-F238E27FC236}">
                <a16:creationId xmlns:a16="http://schemas.microsoft.com/office/drawing/2014/main" id="{9F17B79E-EB08-BA1B-CBCF-8BDED8A9B0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9821802"/>
              </p:ext>
            </p:extLst>
          </p:nvPr>
        </p:nvGraphicFramePr>
        <p:xfrm>
          <a:off x="8724271" y="3192027"/>
          <a:ext cx="3177040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88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l"/>
                      <a:r>
                        <a:rPr lang="en-US" sz="1800"/>
                        <a:t>C = {1,2,4,5,6,7}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en-US" sz="18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C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8" name="Table 67">
            <a:extLst>
              <a:ext uri="{FF2B5EF4-FFF2-40B4-BE49-F238E27FC236}">
                <a16:creationId xmlns:a16="http://schemas.microsoft.com/office/drawing/2014/main" id="{9D6E2307-4201-6571-B2F1-AD1B3AE5FF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510833"/>
              </p:ext>
            </p:extLst>
          </p:nvPr>
        </p:nvGraphicFramePr>
        <p:xfrm>
          <a:off x="8724271" y="3546688"/>
          <a:ext cx="3177040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88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l"/>
                      <a:r>
                        <a:rPr lang="en-US" sz="1800"/>
                        <a:t>D = {</a:t>
                      </a:r>
                      <a:r>
                        <a:rPr lang="en-US" sz="18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1,2,4,5,6,7,9</a:t>
                      </a:r>
                      <a:r>
                        <a:rPr lang="en-US" sz="1800"/>
                        <a:t>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9" name="Rectangle 68">
            <a:extLst>
              <a:ext uri="{FF2B5EF4-FFF2-40B4-BE49-F238E27FC236}">
                <a16:creationId xmlns:a16="http://schemas.microsoft.com/office/drawing/2014/main" id="{307556B6-9F86-6B93-F8F2-1001B5C1270D}"/>
              </a:ext>
            </a:extLst>
          </p:cNvPr>
          <p:cNvSpPr/>
          <p:nvPr/>
        </p:nvSpPr>
        <p:spPr>
          <a:xfrm>
            <a:off x="11331484" y="3247359"/>
            <a:ext cx="376111" cy="211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D9091A28-7083-FA51-07FF-9B2BD2FE9F79}"/>
              </a:ext>
            </a:extLst>
          </p:cNvPr>
          <p:cNvCxnSpPr/>
          <p:nvPr/>
        </p:nvCxnSpPr>
        <p:spPr>
          <a:xfrm rot="5400000">
            <a:off x="5770212" y="3683283"/>
            <a:ext cx="5486400" cy="0"/>
          </a:xfrm>
          <a:prstGeom prst="line">
            <a:avLst/>
          </a:prstGeom>
          <a:ln>
            <a:solidFill>
              <a:srgbClr val="0E47A1"/>
            </a:solidFill>
            <a:prstDash val="solid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5652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7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1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xit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0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xit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7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41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46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7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xit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7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6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57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7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9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60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4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65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8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69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0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xit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7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7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9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80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7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2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83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7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8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9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1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92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3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xit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9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xit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0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46" grpId="0"/>
      <p:bldP spid="48" grpId="0"/>
      <p:bldP spid="52" grpId="0"/>
      <p:bldP spid="54" grpId="0" animBg="1"/>
      <p:bldP spid="55" grpId="0" animBg="1"/>
      <p:bldP spid="56" grpId="0" animBg="1"/>
      <p:bldP spid="57" grpId="0" animBg="1"/>
      <p:bldP spid="58" grpId="0" animBg="1"/>
      <p:bldP spid="69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29579-AAB4-9C56-5277-EBFBEF4ACDBA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Conversion from NFA to DFA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D5BE9001-D448-B244-0263-3137838C06F9}"/>
              </a:ext>
            </a:extLst>
          </p:cNvPr>
          <p:cNvSpPr/>
          <p:nvPr/>
        </p:nvSpPr>
        <p:spPr>
          <a:xfrm>
            <a:off x="1309692" y="2819400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1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2483247-581B-5F62-98BA-218697B85ADA}"/>
              </a:ext>
            </a:extLst>
          </p:cNvPr>
          <p:cNvSpPr/>
          <p:nvPr/>
        </p:nvSpPr>
        <p:spPr>
          <a:xfrm>
            <a:off x="2081457" y="2116861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2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F934512-5C47-8F69-8DE6-3CE58E05E6D0}"/>
              </a:ext>
            </a:extLst>
          </p:cNvPr>
          <p:cNvSpPr/>
          <p:nvPr/>
        </p:nvSpPr>
        <p:spPr>
          <a:xfrm>
            <a:off x="3075321" y="3491958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5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712F125-5A5A-E50A-E9AB-1ACBE33C914B}"/>
              </a:ext>
            </a:extLst>
          </p:cNvPr>
          <p:cNvSpPr/>
          <p:nvPr/>
        </p:nvSpPr>
        <p:spPr>
          <a:xfrm>
            <a:off x="3075321" y="2135663"/>
            <a:ext cx="457200" cy="438011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DA3B8E6-ABDD-EBE3-EF57-DCF14CAADFF4}"/>
              </a:ext>
            </a:extLst>
          </p:cNvPr>
          <p:cNvSpPr/>
          <p:nvPr/>
        </p:nvSpPr>
        <p:spPr>
          <a:xfrm>
            <a:off x="2064600" y="3490911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80FF319-95E9-48A4-3DE9-F157FA5A2740}"/>
              </a:ext>
            </a:extLst>
          </p:cNvPr>
          <p:cNvSpPr/>
          <p:nvPr/>
        </p:nvSpPr>
        <p:spPr>
          <a:xfrm>
            <a:off x="3808798" y="2805111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6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02AD638-268C-C66C-660C-B3CCA70C6752}"/>
              </a:ext>
            </a:extLst>
          </p:cNvPr>
          <p:cNvSpPr/>
          <p:nvPr/>
        </p:nvSpPr>
        <p:spPr>
          <a:xfrm>
            <a:off x="4831287" y="2780177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7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374276F-8285-8AB9-5670-DF3A517CE04F}"/>
              </a:ext>
            </a:extLst>
          </p:cNvPr>
          <p:cNvSpPr/>
          <p:nvPr/>
        </p:nvSpPr>
        <p:spPr>
          <a:xfrm>
            <a:off x="5853776" y="2780177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8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24CB8D3-16F5-5559-783E-6CC9B986856D}"/>
              </a:ext>
            </a:extLst>
          </p:cNvPr>
          <p:cNvSpPr/>
          <p:nvPr/>
        </p:nvSpPr>
        <p:spPr>
          <a:xfrm>
            <a:off x="433400" y="2819399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0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2BCF178-F81D-B7A9-22C2-858490AF3625}"/>
              </a:ext>
            </a:extLst>
          </p:cNvPr>
          <p:cNvCxnSpPr/>
          <p:nvPr/>
        </p:nvCxnSpPr>
        <p:spPr>
          <a:xfrm>
            <a:off x="903699" y="3039382"/>
            <a:ext cx="419092" cy="1"/>
          </a:xfrm>
          <a:prstGeom prst="straightConnector1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DF8B2A2A-7DF0-AB6C-5AB3-2E47D4635DA5}"/>
              </a:ext>
            </a:extLst>
          </p:cNvPr>
          <p:cNvSpPr/>
          <p:nvPr/>
        </p:nvSpPr>
        <p:spPr>
          <a:xfrm>
            <a:off x="921568" y="2667000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F818DFE-6EBE-1EAE-A0F0-DBD46E164839}"/>
              </a:ext>
            </a:extLst>
          </p:cNvPr>
          <p:cNvCxnSpPr/>
          <p:nvPr/>
        </p:nvCxnSpPr>
        <p:spPr>
          <a:xfrm>
            <a:off x="2530319" y="2351552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5EEDD6C4-D2BE-2A05-0623-2FD106827A11}"/>
              </a:ext>
            </a:extLst>
          </p:cNvPr>
          <p:cNvSpPr/>
          <p:nvPr/>
        </p:nvSpPr>
        <p:spPr>
          <a:xfrm>
            <a:off x="2616975" y="1934046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a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E586D87-2D72-55D9-764F-B9F639973DA8}"/>
              </a:ext>
            </a:extLst>
          </p:cNvPr>
          <p:cNvCxnSpPr>
            <a:stCxn id="7" idx="6"/>
            <a:endCxn id="5" idx="2"/>
          </p:cNvCxnSpPr>
          <p:nvPr/>
        </p:nvCxnSpPr>
        <p:spPr>
          <a:xfrm>
            <a:off x="2521800" y="3719511"/>
            <a:ext cx="553521" cy="1047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E8D7B80B-FFBC-8627-2F2E-C0AB93230B78}"/>
              </a:ext>
            </a:extLst>
          </p:cNvPr>
          <p:cNvSpPr/>
          <p:nvPr/>
        </p:nvSpPr>
        <p:spPr>
          <a:xfrm>
            <a:off x="2616975" y="3731409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b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E0848F4-2302-0E53-7A6F-3E0EE6FABA42}"/>
              </a:ext>
            </a:extLst>
          </p:cNvPr>
          <p:cNvCxnSpPr>
            <a:stCxn id="3" idx="7"/>
            <a:endCxn id="4" idx="3"/>
          </p:cNvCxnSpPr>
          <p:nvPr/>
        </p:nvCxnSpPr>
        <p:spPr>
          <a:xfrm flipV="1">
            <a:off x="1699937" y="2507106"/>
            <a:ext cx="448475" cy="379249"/>
          </a:xfrm>
          <a:prstGeom prst="straightConnector1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F847786-4C21-A662-C6EB-80851A561E27}"/>
              </a:ext>
            </a:extLst>
          </p:cNvPr>
          <p:cNvCxnSpPr>
            <a:stCxn id="3" idx="5"/>
          </p:cNvCxnSpPr>
          <p:nvPr/>
        </p:nvCxnSpPr>
        <p:spPr>
          <a:xfrm>
            <a:off x="1699937" y="3209645"/>
            <a:ext cx="433971" cy="328891"/>
          </a:xfrm>
          <a:prstGeom prst="straightConnector1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D3D9F17-2B2B-1636-9506-5739A08D6C88}"/>
              </a:ext>
            </a:extLst>
          </p:cNvPr>
          <p:cNvCxnSpPr>
            <a:stCxn id="6" idx="5"/>
            <a:endCxn id="8" idx="1"/>
          </p:cNvCxnSpPr>
          <p:nvPr/>
        </p:nvCxnSpPr>
        <p:spPr>
          <a:xfrm>
            <a:off x="3465566" y="2509529"/>
            <a:ext cx="410187" cy="362537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DE3309B-4D3D-8AB8-5244-A6DF5242D167}"/>
              </a:ext>
            </a:extLst>
          </p:cNvPr>
          <p:cNvCxnSpPr>
            <a:stCxn id="5" idx="7"/>
            <a:endCxn id="8" idx="3"/>
          </p:cNvCxnSpPr>
          <p:nvPr/>
        </p:nvCxnSpPr>
        <p:spPr>
          <a:xfrm flipV="1">
            <a:off x="3465566" y="3195356"/>
            <a:ext cx="410187" cy="363557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31CAA6A-DBA2-7683-4FE7-DC5DB12185DD}"/>
              </a:ext>
            </a:extLst>
          </p:cNvPr>
          <p:cNvCxnSpPr/>
          <p:nvPr/>
        </p:nvCxnSpPr>
        <p:spPr>
          <a:xfrm>
            <a:off x="4271771" y="3008777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84B1C4EF-D854-97EE-E0E1-253113C3B22A}"/>
              </a:ext>
            </a:extLst>
          </p:cNvPr>
          <p:cNvSpPr/>
          <p:nvPr/>
        </p:nvSpPr>
        <p:spPr>
          <a:xfrm>
            <a:off x="4351727" y="2654636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4D74425-EE81-D1F0-F4F9-407A4F7402E0}"/>
              </a:ext>
            </a:extLst>
          </p:cNvPr>
          <p:cNvCxnSpPr/>
          <p:nvPr/>
        </p:nvCxnSpPr>
        <p:spPr>
          <a:xfrm>
            <a:off x="5281161" y="3018759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FC808190-286E-0DC7-98BE-A6E2AC677EB2}"/>
              </a:ext>
            </a:extLst>
          </p:cNvPr>
          <p:cNvSpPr/>
          <p:nvPr/>
        </p:nvSpPr>
        <p:spPr>
          <a:xfrm>
            <a:off x="5361117" y="2664618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a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C4C7ABA-73D0-76B8-6E92-643430045458}"/>
              </a:ext>
            </a:extLst>
          </p:cNvPr>
          <p:cNvCxnSpPr/>
          <p:nvPr/>
        </p:nvCxnSpPr>
        <p:spPr>
          <a:xfrm>
            <a:off x="6308667" y="2994945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A6F2D6B5-4CF5-1245-F110-642E1B237506}"/>
              </a:ext>
            </a:extLst>
          </p:cNvPr>
          <p:cNvSpPr/>
          <p:nvPr/>
        </p:nvSpPr>
        <p:spPr>
          <a:xfrm>
            <a:off x="6425264" y="2664618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b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EE8A3C8-55BF-5D4F-E5EE-0B3A832DC8EC}"/>
              </a:ext>
            </a:extLst>
          </p:cNvPr>
          <p:cNvSpPr/>
          <p:nvPr/>
        </p:nvSpPr>
        <p:spPr>
          <a:xfrm>
            <a:off x="7421867" y="2664618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b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583EB221-40DD-51C2-C8D1-0CC4216FA4F3}"/>
              </a:ext>
            </a:extLst>
          </p:cNvPr>
          <p:cNvCxnSpPr/>
          <p:nvPr/>
        </p:nvCxnSpPr>
        <p:spPr>
          <a:xfrm>
            <a:off x="190500" y="3047999"/>
            <a:ext cx="242900" cy="0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9CFE46AD-C661-6785-E820-6C2951A32976}"/>
              </a:ext>
            </a:extLst>
          </p:cNvPr>
          <p:cNvSpPr/>
          <p:nvPr/>
        </p:nvSpPr>
        <p:spPr>
          <a:xfrm>
            <a:off x="1524000" y="3370655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FC09AFA-D032-5680-3E52-529F2146D639}"/>
              </a:ext>
            </a:extLst>
          </p:cNvPr>
          <p:cNvSpPr/>
          <p:nvPr/>
        </p:nvSpPr>
        <p:spPr>
          <a:xfrm>
            <a:off x="1583156" y="2369027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A6E5DBD-E5A1-228F-C591-D9EE911F7249}"/>
              </a:ext>
            </a:extLst>
          </p:cNvPr>
          <p:cNvSpPr/>
          <p:nvPr/>
        </p:nvSpPr>
        <p:spPr>
          <a:xfrm>
            <a:off x="3604306" y="2358623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9311F8E-282F-7E25-1210-EDF46AF95758}"/>
              </a:ext>
            </a:extLst>
          </p:cNvPr>
          <p:cNvSpPr/>
          <p:nvPr/>
        </p:nvSpPr>
        <p:spPr>
          <a:xfrm>
            <a:off x="3616975" y="3383755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34" name="Curved Connector 34">
            <a:extLst>
              <a:ext uri="{FF2B5EF4-FFF2-40B4-BE49-F238E27FC236}">
                <a16:creationId xmlns:a16="http://schemas.microsoft.com/office/drawing/2014/main" id="{76C67407-7156-0B7D-BC71-49C74637F9F8}"/>
              </a:ext>
            </a:extLst>
          </p:cNvPr>
          <p:cNvCxnSpPr>
            <a:stCxn id="11" idx="4"/>
            <a:endCxn id="9" idx="4"/>
          </p:cNvCxnSpPr>
          <p:nvPr/>
        </p:nvCxnSpPr>
        <p:spPr>
          <a:xfrm rot="5400000" flipH="1" flipV="1">
            <a:off x="2841332" y="1058044"/>
            <a:ext cx="39222" cy="4397887"/>
          </a:xfrm>
          <a:prstGeom prst="curvedConnector3">
            <a:avLst>
              <a:gd name="adj1" fmla="val -3059900"/>
            </a:avLst>
          </a:prstGeom>
          <a:ln w="25400">
            <a:solidFill>
              <a:srgbClr val="0E47A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urved Connector 35">
            <a:extLst>
              <a:ext uri="{FF2B5EF4-FFF2-40B4-BE49-F238E27FC236}">
                <a16:creationId xmlns:a16="http://schemas.microsoft.com/office/drawing/2014/main" id="{F4BF1D06-E733-96BA-B8DB-C8BEA8E086AB}"/>
              </a:ext>
            </a:extLst>
          </p:cNvPr>
          <p:cNvCxnSpPr/>
          <p:nvPr/>
        </p:nvCxnSpPr>
        <p:spPr>
          <a:xfrm rot="16200000" flipH="1" flipV="1">
            <a:off x="2766063" y="1540671"/>
            <a:ext cx="36576" cy="2569464"/>
          </a:xfrm>
          <a:prstGeom prst="curvedConnector3">
            <a:avLst>
              <a:gd name="adj1" fmla="val -3059900"/>
            </a:avLst>
          </a:prstGeom>
          <a:ln w="25400">
            <a:solidFill>
              <a:srgbClr val="0E47A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8CBCBC2E-33DD-42C3-9D70-8EEF49059565}"/>
              </a:ext>
            </a:extLst>
          </p:cNvPr>
          <p:cNvSpPr/>
          <p:nvPr/>
        </p:nvSpPr>
        <p:spPr>
          <a:xfrm>
            <a:off x="2616975" y="1294439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B9820B9-D8DB-56EF-8F84-CCE6A1B66F90}"/>
              </a:ext>
            </a:extLst>
          </p:cNvPr>
          <p:cNvSpPr/>
          <p:nvPr/>
        </p:nvSpPr>
        <p:spPr>
          <a:xfrm>
            <a:off x="3795563" y="4275070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823B3199-0C86-499C-2FDB-5CF10C0DDE7C}"/>
              </a:ext>
            </a:extLst>
          </p:cNvPr>
          <p:cNvCxnSpPr/>
          <p:nvPr/>
        </p:nvCxnSpPr>
        <p:spPr>
          <a:xfrm flipV="1">
            <a:off x="1699939" y="2507106"/>
            <a:ext cx="448475" cy="379249"/>
          </a:xfrm>
          <a:prstGeom prst="straightConnector1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23558D52-969E-C3F7-8E05-7AA8680FF8AC}"/>
              </a:ext>
            </a:extLst>
          </p:cNvPr>
          <p:cNvCxnSpPr/>
          <p:nvPr/>
        </p:nvCxnSpPr>
        <p:spPr>
          <a:xfrm>
            <a:off x="1699939" y="3209645"/>
            <a:ext cx="433971" cy="328891"/>
          </a:xfrm>
          <a:prstGeom prst="straightConnector1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7ACA5B6A-DAEA-51A8-CCD4-4DCBAEC2ABCD}"/>
              </a:ext>
            </a:extLst>
          </p:cNvPr>
          <p:cNvCxnSpPr/>
          <p:nvPr/>
        </p:nvCxnSpPr>
        <p:spPr>
          <a:xfrm>
            <a:off x="903700" y="3039382"/>
            <a:ext cx="419092" cy="1"/>
          </a:xfrm>
          <a:prstGeom prst="straightConnector1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D7ECC2E7-BF69-998B-91D6-56A12DC55EE4}"/>
              </a:ext>
            </a:extLst>
          </p:cNvPr>
          <p:cNvCxnSpPr/>
          <p:nvPr/>
        </p:nvCxnSpPr>
        <p:spPr>
          <a:xfrm flipV="1">
            <a:off x="1699940" y="2507106"/>
            <a:ext cx="448475" cy="379249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8B278B92-91C6-659B-5797-040146196FFE}"/>
              </a:ext>
            </a:extLst>
          </p:cNvPr>
          <p:cNvCxnSpPr/>
          <p:nvPr/>
        </p:nvCxnSpPr>
        <p:spPr>
          <a:xfrm>
            <a:off x="1699940" y="3209645"/>
            <a:ext cx="433971" cy="32889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4EB740DE-EC19-7841-8D69-5B5F8301C572}"/>
              </a:ext>
            </a:extLst>
          </p:cNvPr>
          <p:cNvCxnSpPr/>
          <p:nvPr/>
        </p:nvCxnSpPr>
        <p:spPr>
          <a:xfrm>
            <a:off x="903701" y="3039382"/>
            <a:ext cx="419092" cy="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E428FFCC-6511-0F2B-5DD2-EF4051A47B01}"/>
              </a:ext>
            </a:extLst>
          </p:cNvPr>
          <p:cNvSpPr/>
          <p:nvPr/>
        </p:nvSpPr>
        <p:spPr>
          <a:xfrm>
            <a:off x="368004" y="5104591"/>
            <a:ext cx="1490483" cy="4689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200">
                <a:solidFill>
                  <a:schemeClr val="tx1"/>
                </a:solidFill>
                <a:latin typeface="+mj-lt"/>
              </a:rPr>
              <a:t>Move(D,a)</a:t>
            </a:r>
            <a:endParaRPr lang="en-US" sz="2200">
              <a:latin typeface="+mj-lt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DDEE6D3E-2368-F31E-CE4D-9935EAFE3ED3}"/>
              </a:ext>
            </a:extLst>
          </p:cNvPr>
          <p:cNvSpPr/>
          <p:nvPr/>
        </p:nvSpPr>
        <p:spPr>
          <a:xfrm>
            <a:off x="1218464" y="5148578"/>
            <a:ext cx="1725988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tx1"/>
                </a:solidFill>
                <a:latin typeface="+mj-lt"/>
              </a:rPr>
              <a:t>= {3,8}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334AA7E-68C6-3B18-A2E8-BAD711C2DF4B}"/>
              </a:ext>
            </a:extLst>
          </p:cNvPr>
          <p:cNvSpPr/>
          <p:nvPr/>
        </p:nvSpPr>
        <p:spPr>
          <a:xfrm>
            <a:off x="374532" y="5534752"/>
            <a:ext cx="2700790" cy="4689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200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𝜖- Closure(</a:t>
            </a:r>
            <a:r>
              <a:rPr lang="en-US" sz="2200">
                <a:solidFill>
                  <a:schemeClr val="tx1"/>
                </a:solidFill>
                <a:latin typeface="+mj-lt"/>
              </a:rPr>
              <a:t>Move(D,a))</a:t>
            </a:r>
            <a:endParaRPr lang="en-US" sz="2200">
              <a:latin typeface="+mj-lt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0AC6F994-1AFE-B295-8D56-46C034B16C1C}"/>
              </a:ext>
            </a:extLst>
          </p:cNvPr>
          <p:cNvSpPr/>
          <p:nvPr/>
        </p:nvSpPr>
        <p:spPr>
          <a:xfrm>
            <a:off x="2807308" y="5609266"/>
            <a:ext cx="2536426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tx1"/>
                </a:solidFill>
                <a:latin typeface="+mj-lt"/>
              </a:rPr>
              <a:t>= {3, 6, 7, 1, 2, 4, 8}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65B8627D-152E-D69C-476C-6473EBEB4898}"/>
              </a:ext>
            </a:extLst>
          </p:cNvPr>
          <p:cNvSpPr/>
          <p:nvPr/>
        </p:nvSpPr>
        <p:spPr>
          <a:xfrm>
            <a:off x="4800325" y="5965890"/>
            <a:ext cx="87266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solidFill>
                  <a:schemeClr val="tx1"/>
                </a:solidFill>
                <a:latin typeface="+mj-lt"/>
              </a:rPr>
              <a:t>---- B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6AC4961B-B9C3-F715-BB45-8BD490E9B33D}"/>
              </a:ext>
            </a:extLst>
          </p:cNvPr>
          <p:cNvSpPr/>
          <p:nvPr/>
        </p:nvSpPr>
        <p:spPr>
          <a:xfrm>
            <a:off x="6482416" y="4401275"/>
            <a:ext cx="471465" cy="3626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2A460915-5601-7C79-1930-177CA5D8F3CA}"/>
              </a:ext>
            </a:extLst>
          </p:cNvPr>
          <p:cNvSpPr/>
          <p:nvPr/>
        </p:nvSpPr>
        <p:spPr>
          <a:xfrm>
            <a:off x="6482416" y="4401275"/>
            <a:ext cx="414313" cy="3626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3575857E-1FD5-285B-49B2-F653D517BA0A}"/>
              </a:ext>
            </a:extLst>
          </p:cNvPr>
          <p:cNvSpPr/>
          <p:nvPr/>
        </p:nvSpPr>
        <p:spPr>
          <a:xfrm>
            <a:off x="8089735" y="4978874"/>
            <a:ext cx="473773" cy="2514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84C83F58-1275-0403-4084-7D0F9B67104C}"/>
              </a:ext>
            </a:extLst>
          </p:cNvPr>
          <p:cNvSpPr/>
          <p:nvPr/>
        </p:nvSpPr>
        <p:spPr>
          <a:xfrm>
            <a:off x="2616975" y="5989841"/>
            <a:ext cx="2536426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tx1"/>
                </a:solidFill>
                <a:latin typeface="+mj-lt"/>
              </a:rPr>
              <a:t>= {1,2,3,4,6,7,8}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0E69F0CC-72D8-4F61-0D07-59D37D3B5F53}"/>
              </a:ext>
            </a:extLst>
          </p:cNvPr>
          <p:cNvSpPr/>
          <p:nvPr/>
        </p:nvSpPr>
        <p:spPr>
          <a:xfrm>
            <a:off x="2954721" y="5577165"/>
            <a:ext cx="536893" cy="4268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5AC7C822-74C6-A3A8-E9EA-BD372814A75D}"/>
              </a:ext>
            </a:extLst>
          </p:cNvPr>
          <p:cNvSpPr/>
          <p:nvPr/>
        </p:nvSpPr>
        <p:spPr>
          <a:xfrm>
            <a:off x="3437736" y="5534752"/>
            <a:ext cx="357176" cy="381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ACD39A96-73C4-797C-7E33-89423CCF5AE9}"/>
              </a:ext>
            </a:extLst>
          </p:cNvPr>
          <p:cNvSpPr/>
          <p:nvPr/>
        </p:nvSpPr>
        <p:spPr>
          <a:xfrm>
            <a:off x="3780949" y="5539429"/>
            <a:ext cx="570777" cy="4002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374B7611-08D9-3F8F-A103-D1E54E63B4E2}"/>
              </a:ext>
            </a:extLst>
          </p:cNvPr>
          <p:cNvSpPr/>
          <p:nvPr/>
        </p:nvSpPr>
        <p:spPr>
          <a:xfrm>
            <a:off x="4291263" y="5539429"/>
            <a:ext cx="570777" cy="4002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47D86F81-F947-FFDB-58CB-BCFD2B3DC761}"/>
              </a:ext>
            </a:extLst>
          </p:cNvPr>
          <p:cNvSpPr/>
          <p:nvPr/>
        </p:nvSpPr>
        <p:spPr>
          <a:xfrm>
            <a:off x="4860520" y="5559629"/>
            <a:ext cx="570777" cy="4002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F734F52B-B4D0-7B5E-59B8-74CBEF30B597}"/>
              </a:ext>
            </a:extLst>
          </p:cNvPr>
          <p:cNvCxnSpPr/>
          <p:nvPr/>
        </p:nvCxnSpPr>
        <p:spPr>
          <a:xfrm>
            <a:off x="1131938" y="5059144"/>
            <a:ext cx="267829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E90AC257-6662-47D5-F62A-0D992E363C99}"/>
              </a:ext>
            </a:extLst>
          </p:cNvPr>
          <p:cNvCxnSpPr/>
          <p:nvPr/>
        </p:nvCxnSpPr>
        <p:spPr>
          <a:xfrm>
            <a:off x="2202480" y="5059144"/>
            <a:ext cx="267829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Rectangle 59">
            <a:extLst>
              <a:ext uri="{FF2B5EF4-FFF2-40B4-BE49-F238E27FC236}">
                <a16:creationId xmlns:a16="http://schemas.microsoft.com/office/drawing/2014/main" id="{605F663F-0D3C-AEDB-09AC-20357CC76271}"/>
              </a:ext>
            </a:extLst>
          </p:cNvPr>
          <p:cNvSpPr/>
          <p:nvPr/>
        </p:nvSpPr>
        <p:spPr>
          <a:xfrm>
            <a:off x="366018" y="4708984"/>
            <a:ext cx="2568214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>
                <a:solidFill>
                  <a:schemeClr val="tx1"/>
                </a:solidFill>
                <a:latin typeface="+mj-lt"/>
              </a:rPr>
              <a:t>D= {1, 2, 4, 5, 6, 7, 9}</a:t>
            </a: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016B79F5-8A1B-17A3-B9A0-F4C7377FD4C0}"/>
              </a:ext>
            </a:extLst>
          </p:cNvPr>
          <p:cNvSpPr/>
          <p:nvPr/>
        </p:nvSpPr>
        <p:spPr>
          <a:xfrm>
            <a:off x="7893141" y="2779059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10</a:t>
            </a: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6A97E7CC-6B89-A71A-A265-976DDCB781BA}"/>
              </a:ext>
            </a:extLst>
          </p:cNvPr>
          <p:cNvSpPr/>
          <p:nvPr/>
        </p:nvSpPr>
        <p:spPr>
          <a:xfrm>
            <a:off x="7938861" y="2828648"/>
            <a:ext cx="365760" cy="36576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B2A52B20-84D0-928F-17A7-E9D4844C21ED}"/>
              </a:ext>
            </a:extLst>
          </p:cNvPr>
          <p:cNvSpPr/>
          <p:nvPr/>
        </p:nvSpPr>
        <p:spPr>
          <a:xfrm>
            <a:off x="6869835" y="2790159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9</a:t>
            </a:r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D3F3124B-0C45-D2AF-A439-016D9F50BBD1}"/>
              </a:ext>
            </a:extLst>
          </p:cNvPr>
          <p:cNvCxnSpPr/>
          <p:nvPr/>
        </p:nvCxnSpPr>
        <p:spPr>
          <a:xfrm>
            <a:off x="7334592" y="3006852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5" name="Table 64">
            <a:extLst>
              <a:ext uri="{FF2B5EF4-FFF2-40B4-BE49-F238E27FC236}">
                <a16:creationId xmlns:a16="http://schemas.microsoft.com/office/drawing/2014/main" id="{AC1E89C2-C84A-CD98-CED2-1B9EB1210B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2589121"/>
              </p:ext>
            </p:extLst>
          </p:nvPr>
        </p:nvGraphicFramePr>
        <p:xfrm>
          <a:off x="8724270" y="2030248"/>
          <a:ext cx="3177041" cy="42672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8816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ctr"/>
                      <a:r>
                        <a:rPr lang="en-US" sz="2200"/>
                        <a:t>States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en-US" sz="22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/>
                        <a:t>b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6" name="Table 65">
            <a:extLst>
              <a:ext uri="{FF2B5EF4-FFF2-40B4-BE49-F238E27FC236}">
                <a16:creationId xmlns:a16="http://schemas.microsoft.com/office/drawing/2014/main" id="{C3FC6F76-EE0B-C430-F05D-0F82F3142D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5413301"/>
              </p:ext>
            </p:extLst>
          </p:nvPr>
        </p:nvGraphicFramePr>
        <p:xfrm>
          <a:off x="8724271" y="2453188"/>
          <a:ext cx="3177040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88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l"/>
                      <a:r>
                        <a:rPr lang="en-US" sz="1800"/>
                        <a:t>A = {0,1,2,4,7}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en-US" sz="18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C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7" name="Table 66">
            <a:extLst>
              <a:ext uri="{FF2B5EF4-FFF2-40B4-BE49-F238E27FC236}">
                <a16:creationId xmlns:a16="http://schemas.microsoft.com/office/drawing/2014/main" id="{188EF320-ADAF-D12A-7163-BE544CCC77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1593011"/>
              </p:ext>
            </p:extLst>
          </p:nvPr>
        </p:nvGraphicFramePr>
        <p:xfrm>
          <a:off x="8724271" y="2818948"/>
          <a:ext cx="3177040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88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B = {1,2,3,4,6,7,8}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en-US" sz="18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D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8" name="Table 67">
            <a:extLst>
              <a:ext uri="{FF2B5EF4-FFF2-40B4-BE49-F238E27FC236}">
                <a16:creationId xmlns:a16="http://schemas.microsoft.com/office/drawing/2014/main" id="{3DE04B4D-262A-F611-F62F-A36FBEB44D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4252355"/>
              </p:ext>
            </p:extLst>
          </p:nvPr>
        </p:nvGraphicFramePr>
        <p:xfrm>
          <a:off x="8724271" y="3192027"/>
          <a:ext cx="3177040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88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l"/>
                      <a:r>
                        <a:rPr lang="en-US" sz="1800"/>
                        <a:t>C = {1,2,4,5,6,7}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en-US" sz="18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C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9" name="Table 68">
            <a:extLst>
              <a:ext uri="{FF2B5EF4-FFF2-40B4-BE49-F238E27FC236}">
                <a16:creationId xmlns:a16="http://schemas.microsoft.com/office/drawing/2014/main" id="{B31AC5DC-A682-2312-0BC6-EECBBA2CBA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9155421"/>
              </p:ext>
            </p:extLst>
          </p:nvPr>
        </p:nvGraphicFramePr>
        <p:xfrm>
          <a:off x="8724271" y="3546688"/>
          <a:ext cx="3177040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88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l"/>
                      <a:r>
                        <a:rPr lang="en-US" sz="1800"/>
                        <a:t>D = {</a:t>
                      </a:r>
                      <a:r>
                        <a:rPr lang="en-US" sz="18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1,2,4,5,6,7,9</a:t>
                      </a:r>
                      <a:r>
                        <a:rPr lang="en-US" sz="1800"/>
                        <a:t>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en-US" sz="18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0" name="Rectangle 69">
            <a:extLst>
              <a:ext uri="{FF2B5EF4-FFF2-40B4-BE49-F238E27FC236}">
                <a16:creationId xmlns:a16="http://schemas.microsoft.com/office/drawing/2014/main" id="{96A2FC38-E7AB-12FB-820B-4A58EB1B18D4}"/>
              </a:ext>
            </a:extLst>
          </p:cNvPr>
          <p:cNvSpPr/>
          <p:nvPr/>
        </p:nvSpPr>
        <p:spPr>
          <a:xfrm>
            <a:off x="10664607" y="3629452"/>
            <a:ext cx="376111" cy="211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1542C35A-EF9B-FC60-38F9-90C9A378AD0F}"/>
              </a:ext>
            </a:extLst>
          </p:cNvPr>
          <p:cNvCxnSpPr/>
          <p:nvPr/>
        </p:nvCxnSpPr>
        <p:spPr>
          <a:xfrm rot="5400000">
            <a:off x="5770212" y="3683283"/>
            <a:ext cx="5486400" cy="0"/>
          </a:xfrm>
          <a:prstGeom prst="line">
            <a:avLst/>
          </a:prstGeom>
          <a:ln>
            <a:solidFill>
              <a:srgbClr val="0E47A1"/>
            </a:solidFill>
            <a:prstDash val="solid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583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7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990000"/>
                                      </p:to>
                                    </p:animClr>
                                    <p:set>
                                      <p:cBhvr>
                                        <p:cTn id="1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7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990000"/>
                                      </p:to>
                                    </p:animClr>
                                    <p:set>
                                      <p:cBhvr>
                                        <p:cTn id="26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9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0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xit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7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50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55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6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xit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7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5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66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7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8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69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3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74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5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7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78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9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xit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8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7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8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89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7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1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92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97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0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01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2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xit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0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1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12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3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xit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xit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3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45" grpId="0"/>
      <p:bldP spid="46" grpId="0"/>
      <p:bldP spid="48" grpId="0"/>
      <p:bldP spid="52" grpId="0"/>
      <p:bldP spid="53" grpId="0" animBg="1"/>
      <p:bldP spid="54" grpId="0" animBg="1"/>
      <p:bldP spid="55" grpId="0" animBg="1"/>
      <p:bldP spid="56" grpId="0" animBg="1"/>
      <p:bldP spid="57" grpId="0" animBg="1"/>
      <p:bldP spid="70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18FC5-4287-B926-E57D-F91E96B7196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Conversion from NFA to DFA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1CD9ACC-B1CD-2C92-5A57-96462955509C}"/>
              </a:ext>
            </a:extLst>
          </p:cNvPr>
          <p:cNvSpPr/>
          <p:nvPr/>
        </p:nvSpPr>
        <p:spPr>
          <a:xfrm>
            <a:off x="1309692" y="2819400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1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6B56479-C5B2-80BB-2882-BCE846F4FD6F}"/>
              </a:ext>
            </a:extLst>
          </p:cNvPr>
          <p:cNvSpPr/>
          <p:nvPr/>
        </p:nvSpPr>
        <p:spPr>
          <a:xfrm>
            <a:off x="2081457" y="2116861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2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4825897-AC0F-7328-C677-8D3439229A7E}"/>
              </a:ext>
            </a:extLst>
          </p:cNvPr>
          <p:cNvSpPr/>
          <p:nvPr/>
        </p:nvSpPr>
        <p:spPr>
          <a:xfrm>
            <a:off x="3075321" y="3498382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5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4B2AD49-D8AE-2C58-08D0-F5FF7D9CB370}"/>
              </a:ext>
            </a:extLst>
          </p:cNvPr>
          <p:cNvSpPr/>
          <p:nvPr/>
        </p:nvSpPr>
        <p:spPr>
          <a:xfrm>
            <a:off x="3075321" y="2135663"/>
            <a:ext cx="457200" cy="438011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613070C-B99A-8358-91A2-26FEF2916204}"/>
              </a:ext>
            </a:extLst>
          </p:cNvPr>
          <p:cNvSpPr/>
          <p:nvPr/>
        </p:nvSpPr>
        <p:spPr>
          <a:xfrm>
            <a:off x="2064600" y="3490911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5B343DC-362E-4582-B75F-602C72D76AC1}"/>
              </a:ext>
            </a:extLst>
          </p:cNvPr>
          <p:cNvSpPr/>
          <p:nvPr/>
        </p:nvSpPr>
        <p:spPr>
          <a:xfrm>
            <a:off x="3808798" y="2805111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6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504E2E5-6617-261E-D117-B9174FB5F4C5}"/>
              </a:ext>
            </a:extLst>
          </p:cNvPr>
          <p:cNvSpPr/>
          <p:nvPr/>
        </p:nvSpPr>
        <p:spPr>
          <a:xfrm>
            <a:off x="4831287" y="2780177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7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4F4C0C1-0770-EAD4-2B54-EB75D28001ED}"/>
              </a:ext>
            </a:extLst>
          </p:cNvPr>
          <p:cNvSpPr/>
          <p:nvPr/>
        </p:nvSpPr>
        <p:spPr>
          <a:xfrm>
            <a:off x="5853776" y="2780177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8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BD614A0-FC0F-95FD-B2BC-34FF48C19E1F}"/>
              </a:ext>
            </a:extLst>
          </p:cNvPr>
          <p:cNvSpPr/>
          <p:nvPr/>
        </p:nvSpPr>
        <p:spPr>
          <a:xfrm>
            <a:off x="433400" y="2819399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0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330F6D0-4B67-E2FE-19FA-8A7E429626BC}"/>
              </a:ext>
            </a:extLst>
          </p:cNvPr>
          <p:cNvCxnSpPr/>
          <p:nvPr/>
        </p:nvCxnSpPr>
        <p:spPr>
          <a:xfrm>
            <a:off x="903699" y="3039382"/>
            <a:ext cx="419092" cy="1"/>
          </a:xfrm>
          <a:prstGeom prst="straightConnector1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1EABCAEC-BC6D-1C3B-32A5-61FD7C1C43EA}"/>
              </a:ext>
            </a:extLst>
          </p:cNvPr>
          <p:cNvSpPr/>
          <p:nvPr/>
        </p:nvSpPr>
        <p:spPr>
          <a:xfrm>
            <a:off x="921568" y="2667000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21F703A-7456-6877-F762-307B4F2010B6}"/>
              </a:ext>
            </a:extLst>
          </p:cNvPr>
          <p:cNvCxnSpPr/>
          <p:nvPr/>
        </p:nvCxnSpPr>
        <p:spPr>
          <a:xfrm>
            <a:off x="2530319" y="2351552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59C73F03-9DEB-483C-20E8-55E047E57689}"/>
              </a:ext>
            </a:extLst>
          </p:cNvPr>
          <p:cNvSpPr/>
          <p:nvPr/>
        </p:nvSpPr>
        <p:spPr>
          <a:xfrm>
            <a:off x="2616975" y="1934046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a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D1D59D6-A484-256D-2757-F54D1100094F}"/>
              </a:ext>
            </a:extLst>
          </p:cNvPr>
          <p:cNvCxnSpPr>
            <a:stCxn id="7" idx="6"/>
            <a:endCxn id="5" idx="2"/>
          </p:cNvCxnSpPr>
          <p:nvPr/>
        </p:nvCxnSpPr>
        <p:spPr>
          <a:xfrm>
            <a:off x="2521800" y="3719511"/>
            <a:ext cx="553521" cy="747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5C8E0D37-3CD6-8AD8-C656-F25B38D3B956}"/>
              </a:ext>
            </a:extLst>
          </p:cNvPr>
          <p:cNvSpPr/>
          <p:nvPr/>
        </p:nvSpPr>
        <p:spPr>
          <a:xfrm>
            <a:off x="2616975" y="3731409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b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A770BA4-7C93-7D52-EE03-488E419BBCDD}"/>
              </a:ext>
            </a:extLst>
          </p:cNvPr>
          <p:cNvCxnSpPr>
            <a:stCxn id="3" idx="7"/>
            <a:endCxn id="4" idx="3"/>
          </p:cNvCxnSpPr>
          <p:nvPr/>
        </p:nvCxnSpPr>
        <p:spPr>
          <a:xfrm flipV="1">
            <a:off x="1699937" y="2507106"/>
            <a:ext cx="448475" cy="379249"/>
          </a:xfrm>
          <a:prstGeom prst="straightConnector1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88134DA-32A2-9E76-60E6-9E9FD45D6228}"/>
              </a:ext>
            </a:extLst>
          </p:cNvPr>
          <p:cNvCxnSpPr>
            <a:stCxn id="3" idx="5"/>
          </p:cNvCxnSpPr>
          <p:nvPr/>
        </p:nvCxnSpPr>
        <p:spPr>
          <a:xfrm>
            <a:off x="1699937" y="3209645"/>
            <a:ext cx="433971" cy="328891"/>
          </a:xfrm>
          <a:prstGeom prst="straightConnector1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7A74578-3708-BAC9-FA5F-85551F674592}"/>
              </a:ext>
            </a:extLst>
          </p:cNvPr>
          <p:cNvCxnSpPr>
            <a:stCxn id="6" idx="5"/>
            <a:endCxn id="8" idx="1"/>
          </p:cNvCxnSpPr>
          <p:nvPr/>
        </p:nvCxnSpPr>
        <p:spPr>
          <a:xfrm>
            <a:off x="3465566" y="2509529"/>
            <a:ext cx="410187" cy="362537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2080C75-CC2F-1313-74C1-44D53F2E4C40}"/>
              </a:ext>
            </a:extLst>
          </p:cNvPr>
          <p:cNvCxnSpPr>
            <a:stCxn id="5" idx="7"/>
            <a:endCxn id="8" idx="3"/>
          </p:cNvCxnSpPr>
          <p:nvPr/>
        </p:nvCxnSpPr>
        <p:spPr>
          <a:xfrm flipV="1">
            <a:off x="3465566" y="3195356"/>
            <a:ext cx="410187" cy="369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CF1DCA2-161E-181B-3C4B-3B1A2CFC6053}"/>
              </a:ext>
            </a:extLst>
          </p:cNvPr>
          <p:cNvCxnSpPr/>
          <p:nvPr/>
        </p:nvCxnSpPr>
        <p:spPr>
          <a:xfrm>
            <a:off x="4271771" y="3008777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6B9D63BA-55D2-F0FE-6C8C-C8EE4D05F60E}"/>
              </a:ext>
            </a:extLst>
          </p:cNvPr>
          <p:cNvSpPr/>
          <p:nvPr/>
        </p:nvSpPr>
        <p:spPr>
          <a:xfrm>
            <a:off x="4351727" y="2654636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BC878A7-4B9A-9039-404D-064C6E3919F4}"/>
              </a:ext>
            </a:extLst>
          </p:cNvPr>
          <p:cNvCxnSpPr/>
          <p:nvPr/>
        </p:nvCxnSpPr>
        <p:spPr>
          <a:xfrm>
            <a:off x="5281161" y="3018759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9BF5DBA6-EA0A-F9E7-F38C-EBB294B48DE9}"/>
              </a:ext>
            </a:extLst>
          </p:cNvPr>
          <p:cNvSpPr/>
          <p:nvPr/>
        </p:nvSpPr>
        <p:spPr>
          <a:xfrm>
            <a:off x="5361117" y="2664618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a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5A1FDBB-3247-30C9-A5A1-1B65D513CC25}"/>
              </a:ext>
            </a:extLst>
          </p:cNvPr>
          <p:cNvCxnSpPr/>
          <p:nvPr/>
        </p:nvCxnSpPr>
        <p:spPr>
          <a:xfrm>
            <a:off x="6308667" y="2994945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42F340AF-7D8E-9BDB-BCE4-1CA9D2B188F5}"/>
              </a:ext>
            </a:extLst>
          </p:cNvPr>
          <p:cNvSpPr/>
          <p:nvPr/>
        </p:nvSpPr>
        <p:spPr>
          <a:xfrm>
            <a:off x="6425264" y="2664618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b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9B20F7A-EB50-4A8B-193C-67E3E235B811}"/>
              </a:ext>
            </a:extLst>
          </p:cNvPr>
          <p:cNvSpPr/>
          <p:nvPr/>
        </p:nvSpPr>
        <p:spPr>
          <a:xfrm>
            <a:off x="7421867" y="2664618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b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A4FFEBF2-4336-3ADD-A961-85D396B77DA8}"/>
              </a:ext>
            </a:extLst>
          </p:cNvPr>
          <p:cNvCxnSpPr/>
          <p:nvPr/>
        </p:nvCxnSpPr>
        <p:spPr>
          <a:xfrm>
            <a:off x="190500" y="3047999"/>
            <a:ext cx="242900" cy="0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C3226E49-FDB5-437E-5FE0-F39BEB9BE869}"/>
              </a:ext>
            </a:extLst>
          </p:cNvPr>
          <p:cNvSpPr/>
          <p:nvPr/>
        </p:nvSpPr>
        <p:spPr>
          <a:xfrm>
            <a:off x="1524000" y="3370655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6F44388-0789-8E2B-CCCE-264604B0DBA5}"/>
              </a:ext>
            </a:extLst>
          </p:cNvPr>
          <p:cNvSpPr/>
          <p:nvPr/>
        </p:nvSpPr>
        <p:spPr>
          <a:xfrm>
            <a:off x="1583156" y="2369027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FF329A4-FBFE-1991-7B82-391662D40FF3}"/>
              </a:ext>
            </a:extLst>
          </p:cNvPr>
          <p:cNvSpPr/>
          <p:nvPr/>
        </p:nvSpPr>
        <p:spPr>
          <a:xfrm>
            <a:off x="3604306" y="2358623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F200AA7-4334-71A0-F33B-2187C6631941}"/>
              </a:ext>
            </a:extLst>
          </p:cNvPr>
          <p:cNvSpPr/>
          <p:nvPr/>
        </p:nvSpPr>
        <p:spPr>
          <a:xfrm>
            <a:off x="3616975" y="3383755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34" name="Curved Connector 34">
            <a:extLst>
              <a:ext uri="{FF2B5EF4-FFF2-40B4-BE49-F238E27FC236}">
                <a16:creationId xmlns:a16="http://schemas.microsoft.com/office/drawing/2014/main" id="{80575E6A-AE29-853B-96B2-53294E234BD3}"/>
              </a:ext>
            </a:extLst>
          </p:cNvPr>
          <p:cNvCxnSpPr>
            <a:stCxn id="11" idx="4"/>
            <a:endCxn id="9" idx="4"/>
          </p:cNvCxnSpPr>
          <p:nvPr/>
        </p:nvCxnSpPr>
        <p:spPr>
          <a:xfrm rot="5400000" flipH="1" flipV="1">
            <a:off x="2841332" y="1058044"/>
            <a:ext cx="39222" cy="4397887"/>
          </a:xfrm>
          <a:prstGeom prst="curvedConnector3">
            <a:avLst>
              <a:gd name="adj1" fmla="val -3059900"/>
            </a:avLst>
          </a:prstGeom>
          <a:ln w="25400">
            <a:solidFill>
              <a:srgbClr val="0E47A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urved Connector 35">
            <a:extLst>
              <a:ext uri="{FF2B5EF4-FFF2-40B4-BE49-F238E27FC236}">
                <a16:creationId xmlns:a16="http://schemas.microsoft.com/office/drawing/2014/main" id="{F8F7BF5B-DE79-0B3C-4F73-0466ACCE05FC}"/>
              </a:ext>
            </a:extLst>
          </p:cNvPr>
          <p:cNvCxnSpPr/>
          <p:nvPr/>
        </p:nvCxnSpPr>
        <p:spPr>
          <a:xfrm rot="16200000" flipH="1" flipV="1">
            <a:off x="2766063" y="1540671"/>
            <a:ext cx="36576" cy="2569464"/>
          </a:xfrm>
          <a:prstGeom prst="curvedConnector3">
            <a:avLst>
              <a:gd name="adj1" fmla="val -3059900"/>
            </a:avLst>
          </a:prstGeom>
          <a:ln w="25400">
            <a:solidFill>
              <a:srgbClr val="0E47A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7521B546-F3BD-5EBE-FF3A-D8A7EF5500AA}"/>
              </a:ext>
            </a:extLst>
          </p:cNvPr>
          <p:cNvSpPr/>
          <p:nvPr/>
        </p:nvSpPr>
        <p:spPr>
          <a:xfrm>
            <a:off x="2616975" y="1294439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25B838A-CB36-67DD-59C2-38C2D7B1FE6E}"/>
              </a:ext>
            </a:extLst>
          </p:cNvPr>
          <p:cNvSpPr/>
          <p:nvPr/>
        </p:nvSpPr>
        <p:spPr>
          <a:xfrm>
            <a:off x="3795563" y="4275070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64D7B598-925F-984B-D1AA-9B77C2855591}"/>
              </a:ext>
            </a:extLst>
          </p:cNvPr>
          <p:cNvCxnSpPr/>
          <p:nvPr/>
        </p:nvCxnSpPr>
        <p:spPr>
          <a:xfrm flipV="1">
            <a:off x="1699939" y="2507106"/>
            <a:ext cx="448475" cy="379249"/>
          </a:xfrm>
          <a:prstGeom prst="straightConnector1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59BFBE7D-FDEC-C845-A1BF-8177B37EF3B5}"/>
              </a:ext>
            </a:extLst>
          </p:cNvPr>
          <p:cNvCxnSpPr/>
          <p:nvPr/>
        </p:nvCxnSpPr>
        <p:spPr>
          <a:xfrm>
            <a:off x="1699939" y="3209645"/>
            <a:ext cx="433971" cy="328891"/>
          </a:xfrm>
          <a:prstGeom prst="straightConnector1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520BE659-0A70-4BCE-E7C3-B1659E5E65CE}"/>
              </a:ext>
            </a:extLst>
          </p:cNvPr>
          <p:cNvCxnSpPr/>
          <p:nvPr/>
        </p:nvCxnSpPr>
        <p:spPr>
          <a:xfrm>
            <a:off x="903700" y="3039382"/>
            <a:ext cx="419092" cy="1"/>
          </a:xfrm>
          <a:prstGeom prst="straightConnector1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EAA3D4EB-947B-90DA-904C-0C41B4CBAE84}"/>
              </a:ext>
            </a:extLst>
          </p:cNvPr>
          <p:cNvCxnSpPr/>
          <p:nvPr/>
        </p:nvCxnSpPr>
        <p:spPr>
          <a:xfrm flipV="1">
            <a:off x="1699940" y="2507106"/>
            <a:ext cx="448475" cy="379249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5047ED88-12E1-E799-4747-BB4A904CEFE2}"/>
              </a:ext>
            </a:extLst>
          </p:cNvPr>
          <p:cNvCxnSpPr/>
          <p:nvPr/>
        </p:nvCxnSpPr>
        <p:spPr>
          <a:xfrm>
            <a:off x="1699940" y="3209645"/>
            <a:ext cx="433971" cy="32889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0D1F1FD4-7A0F-7B38-F3AA-CF74B8F6CCCE}"/>
              </a:ext>
            </a:extLst>
          </p:cNvPr>
          <p:cNvCxnSpPr/>
          <p:nvPr/>
        </p:nvCxnSpPr>
        <p:spPr>
          <a:xfrm>
            <a:off x="903701" y="3039382"/>
            <a:ext cx="419092" cy="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378944D3-73D1-687B-C973-7F5AD392EF35}"/>
              </a:ext>
            </a:extLst>
          </p:cNvPr>
          <p:cNvSpPr/>
          <p:nvPr/>
        </p:nvSpPr>
        <p:spPr>
          <a:xfrm>
            <a:off x="314216" y="5104591"/>
            <a:ext cx="1490483" cy="4689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200">
                <a:solidFill>
                  <a:schemeClr val="tx1"/>
                </a:solidFill>
                <a:latin typeface="+mj-lt"/>
              </a:rPr>
              <a:t>Move(D,b)</a:t>
            </a:r>
            <a:endParaRPr lang="en-US" sz="2200">
              <a:latin typeface="+mj-lt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E639E5ED-1911-65E6-8B65-11716AC19560}"/>
              </a:ext>
            </a:extLst>
          </p:cNvPr>
          <p:cNvSpPr/>
          <p:nvPr/>
        </p:nvSpPr>
        <p:spPr>
          <a:xfrm>
            <a:off x="1164676" y="5148578"/>
            <a:ext cx="1725988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tx1"/>
                </a:solidFill>
                <a:latin typeface="+mj-lt"/>
              </a:rPr>
              <a:t>= {5,10}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36E36F85-EC75-4ECD-D0EF-FE8B582983FD}"/>
              </a:ext>
            </a:extLst>
          </p:cNvPr>
          <p:cNvSpPr/>
          <p:nvPr/>
        </p:nvSpPr>
        <p:spPr>
          <a:xfrm>
            <a:off x="308032" y="5534752"/>
            <a:ext cx="2700790" cy="4689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200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𝜖- Closure(</a:t>
            </a:r>
            <a:r>
              <a:rPr lang="en-US" sz="2200">
                <a:solidFill>
                  <a:schemeClr val="tx1"/>
                </a:solidFill>
                <a:latin typeface="+mj-lt"/>
              </a:rPr>
              <a:t>Move(D,b))</a:t>
            </a:r>
            <a:endParaRPr lang="en-US" sz="2200">
              <a:latin typeface="+mj-lt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8A92DD1-4F70-C892-0C5B-D018BCE78DD0}"/>
              </a:ext>
            </a:extLst>
          </p:cNvPr>
          <p:cNvSpPr/>
          <p:nvPr/>
        </p:nvSpPr>
        <p:spPr>
          <a:xfrm>
            <a:off x="2824691" y="5594553"/>
            <a:ext cx="2536426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tx1"/>
                </a:solidFill>
                <a:latin typeface="+mj-lt"/>
              </a:rPr>
              <a:t>= {5, 6, 7, 1, 2, 4, 10}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1AF97C26-8562-3433-74FF-E76F571C04E5}"/>
              </a:ext>
            </a:extLst>
          </p:cNvPr>
          <p:cNvSpPr/>
          <p:nvPr/>
        </p:nvSpPr>
        <p:spPr>
          <a:xfrm>
            <a:off x="4800325" y="5965890"/>
            <a:ext cx="87266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solidFill>
                  <a:schemeClr val="tx1"/>
                </a:solidFill>
                <a:latin typeface="+mj-lt"/>
              </a:rPr>
              <a:t>---- E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314E8A9-6D2E-9EE5-E2C0-722EDB79A799}"/>
              </a:ext>
            </a:extLst>
          </p:cNvPr>
          <p:cNvSpPr/>
          <p:nvPr/>
        </p:nvSpPr>
        <p:spPr>
          <a:xfrm>
            <a:off x="6482416" y="4401275"/>
            <a:ext cx="471465" cy="3626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66B9449A-09A2-1BA5-AFFC-6234A83F3356}"/>
              </a:ext>
            </a:extLst>
          </p:cNvPr>
          <p:cNvSpPr/>
          <p:nvPr/>
        </p:nvSpPr>
        <p:spPr>
          <a:xfrm>
            <a:off x="6482416" y="4401275"/>
            <a:ext cx="414313" cy="3626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3F34338F-3448-435D-ECF5-EE7616BB2FDC}"/>
              </a:ext>
            </a:extLst>
          </p:cNvPr>
          <p:cNvSpPr/>
          <p:nvPr/>
        </p:nvSpPr>
        <p:spPr>
          <a:xfrm>
            <a:off x="8089735" y="4978874"/>
            <a:ext cx="473773" cy="2514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58682E13-2556-3566-F5C7-7A5D14EB6480}"/>
              </a:ext>
            </a:extLst>
          </p:cNvPr>
          <p:cNvSpPr/>
          <p:nvPr/>
        </p:nvSpPr>
        <p:spPr>
          <a:xfrm>
            <a:off x="2616975" y="5989841"/>
            <a:ext cx="2536426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tx1"/>
                </a:solidFill>
              </a:rPr>
              <a:t>= {1,2,4,5,6,7,10}</a:t>
            </a: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D1D12B43-666E-3E42-EB6B-21668A837462}"/>
              </a:ext>
            </a:extLst>
          </p:cNvPr>
          <p:cNvCxnSpPr/>
          <p:nvPr/>
        </p:nvCxnSpPr>
        <p:spPr>
          <a:xfrm flipH="1">
            <a:off x="1398440" y="5067602"/>
            <a:ext cx="22935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EF9A76CC-64C5-C890-A174-0F9984FE16C3}"/>
              </a:ext>
            </a:extLst>
          </p:cNvPr>
          <p:cNvCxnSpPr/>
          <p:nvPr/>
        </p:nvCxnSpPr>
        <p:spPr>
          <a:xfrm>
            <a:off x="2476180" y="5066564"/>
            <a:ext cx="267829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ectangle 54">
            <a:extLst>
              <a:ext uri="{FF2B5EF4-FFF2-40B4-BE49-F238E27FC236}">
                <a16:creationId xmlns:a16="http://schemas.microsoft.com/office/drawing/2014/main" id="{35216DD7-3CD1-07F9-9038-F27BA1D21751}"/>
              </a:ext>
            </a:extLst>
          </p:cNvPr>
          <p:cNvSpPr/>
          <p:nvPr/>
        </p:nvSpPr>
        <p:spPr>
          <a:xfrm>
            <a:off x="2958788" y="5626507"/>
            <a:ext cx="482570" cy="4268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B9AB2F2C-1619-5E1C-FEBB-D3D149F0EA3A}"/>
              </a:ext>
            </a:extLst>
          </p:cNvPr>
          <p:cNvSpPr/>
          <p:nvPr/>
        </p:nvSpPr>
        <p:spPr>
          <a:xfrm>
            <a:off x="3506044" y="5551674"/>
            <a:ext cx="204492" cy="4268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D123FDD7-491F-2442-D135-E9A41DC53F5A}"/>
              </a:ext>
            </a:extLst>
          </p:cNvPr>
          <p:cNvSpPr/>
          <p:nvPr/>
        </p:nvSpPr>
        <p:spPr>
          <a:xfrm>
            <a:off x="3741856" y="5563072"/>
            <a:ext cx="536893" cy="4268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CEDF1AF9-97A6-E101-FAAC-1A5D1FF5F061}"/>
              </a:ext>
            </a:extLst>
          </p:cNvPr>
          <p:cNvSpPr/>
          <p:nvPr/>
        </p:nvSpPr>
        <p:spPr>
          <a:xfrm>
            <a:off x="4327368" y="5530711"/>
            <a:ext cx="536893" cy="4268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008712D3-F0F3-59FE-0090-2DE43F5377BD}"/>
              </a:ext>
            </a:extLst>
          </p:cNvPr>
          <p:cNvSpPr/>
          <p:nvPr/>
        </p:nvSpPr>
        <p:spPr>
          <a:xfrm>
            <a:off x="4844243" y="5539704"/>
            <a:ext cx="536893" cy="4268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04BD47EB-26E8-BDAE-9BE9-71F72FFD0097}"/>
              </a:ext>
            </a:extLst>
          </p:cNvPr>
          <p:cNvSpPr/>
          <p:nvPr/>
        </p:nvSpPr>
        <p:spPr>
          <a:xfrm>
            <a:off x="320744" y="4699011"/>
            <a:ext cx="2568214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>
                <a:solidFill>
                  <a:schemeClr val="tx1"/>
                </a:solidFill>
                <a:latin typeface="+mj-lt"/>
              </a:rPr>
              <a:t>D= {1, 2, 4, 5, 6, 7, 9}</a:t>
            </a: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9E2A1DBD-91BD-B2CA-B7F1-98216F7EF35E}"/>
              </a:ext>
            </a:extLst>
          </p:cNvPr>
          <p:cNvSpPr/>
          <p:nvPr/>
        </p:nvSpPr>
        <p:spPr>
          <a:xfrm>
            <a:off x="7893141" y="2779059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10</a:t>
            </a: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90D4411A-F742-B2B3-B663-0ACB0890658E}"/>
              </a:ext>
            </a:extLst>
          </p:cNvPr>
          <p:cNvSpPr/>
          <p:nvPr/>
        </p:nvSpPr>
        <p:spPr>
          <a:xfrm>
            <a:off x="7938861" y="2828648"/>
            <a:ext cx="365760" cy="36576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515F3F2F-FE89-3A27-0EB7-1338D53B048F}"/>
              </a:ext>
            </a:extLst>
          </p:cNvPr>
          <p:cNvSpPr/>
          <p:nvPr/>
        </p:nvSpPr>
        <p:spPr>
          <a:xfrm>
            <a:off x="6869835" y="2790159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9</a:t>
            </a:r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9097DD77-E8F3-F028-5D43-637DEC93EB35}"/>
              </a:ext>
            </a:extLst>
          </p:cNvPr>
          <p:cNvCxnSpPr/>
          <p:nvPr/>
        </p:nvCxnSpPr>
        <p:spPr>
          <a:xfrm>
            <a:off x="7334592" y="3006852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5" name="Table 64">
            <a:extLst>
              <a:ext uri="{FF2B5EF4-FFF2-40B4-BE49-F238E27FC236}">
                <a16:creationId xmlns:a16="http://schemas.microsoft.com/office/drawing/2014/main" id="{01EAB4D6-D829-594C-C93B-3982E240A5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1247154"/>
              </p:ext>
            </p:extLst>
          </p:nvPr>
        </p:nvGraphicFramePr>
        <p:xfrm>
          <a:off x="8724270" y="2030248"/>
          <a:ext cx="3177041" cy="42672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8816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ctr"/>
                      <a:r>
                        <a:rPr lang="en-US" sz="2200"/>
                        <a:t>States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en-US" sz="22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/>
                        <a:t>b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6" name="Table 65">
            <a:extLst>
              <a:ext uri="{FF2B5EF4-FFF2-40B4-BE49-F238E27FC236}">
                <a16:creationId xmlns:a16="http://schemas.microsoft.com/office/drawing/2014/main" id="{62517AA8-0DE5-4E84-7C26-2079996019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9331415"/>
              </p:ext>
            </p:extLst>
          </p:nvPr>
        </p:nvGraphicFramePr>
        <p:xfrm>
          <a:off x="8724271" y="2453188"/>
          <a:ext cx="3177040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88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l"/>
                      <a:r>
                        <a:rPr lang="en-US" sz="1800"/>
                        <a:t>A = {0,1,2,4,7}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en-US" sz="18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C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7" name="Table 66">
            <a:extLst>
              <a:ext uri="{FF2B5EF4-FFF2-40B4-BE49-F238E27FC236}">
                <a16:creationId xmlns:a16="http://schemas.microsoft.com/office/drawing/2014/main" id="{E6E29998-F2E5-59B7-BA55-DB2FEE075C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1621773"/>
              </p:ext>
            </p:extLst>
          </p:nvPr>
        </p:nvGraphicFramePr>
        <p:xfrm>
          <a:off x="8724271" y="2818948"/>
          <a:ext cx="3177040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88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B = {1,2,3,4,6,7,8}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en-US" sz="18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D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8" name="Table 67">
            <a:extLst>
              <a:ext uri="{FF2B5EF4-FFF2-40B4-BE49-F238E27FC236}">
                <a16:creationId xmlns:a16="http://schemas.microsoft.com/office/drawing/2014/main" id="{DA757510-CCEE-BAF4-071E-B737BB313A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3530899"/>
              </p:ext>
            </p:extLst>
          </p:nvPr>
        </p:nvGraphicFramePr>
        <p:xfrm>
          <a:off x="8724271" y="3192027"/>
          <a:ext cx="3177040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88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l"/>
                      <a:r>
                        <a:rPr lang="en-US" sz="1800"/>
                        <a:t>C = {1,2,4,5,6,7}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en-US" sz="18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C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9" name="Table 68">
            <a:extLst>
              <a:ext uri="{FF2B5EF4-FFF2-40B4-BE49-F238E27FC236}">
                <a16:creationId xmlns:a16="http://schemas.microsoft.com/office/drawing/2014/main" id="{9389298B-F9F8-714D-3085-3543E65126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568212"/>
              </p:ext>
            </p:extLst>
          </p:nvPr>
        </p:nvGraphicFramePr>
        <p:xfrm>
          <a:off x="8724271" y="3546688"/>
          <a:ext cx="3177040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88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l"/>
                      <a:r>
                        <a:rPr lang="en-US" sz="1800"/>
                        <a:t>D = {</a:t>
                      </a:r>
                      <a:r>
                        <a:rPr lang="en-US" sz="18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1,2,4,5,6,7,9</a:t>
                      </a:r>
                      <a:r>
                        <a:rPr lang="en-US" sz="1800"/>
                        <a:t>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en-US" sz="18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E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0" name="Table 69">
            <a:extLst>
              <a:ext uri="{FF2B5EF4-FFF2-40B4-BE49-F238E27FC236}">
                <a16:creationId xmlns:a16="http://schemas.microsoft.com/office/drawing/2014/main" id="{8FAF0E89-E293-CF20-2B08-7D424E70C3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1728622"/>
              </p:ext>
            </p:extLst>
          </p:nvPr>
        </p:nvGraphicFramePr>
        <p:xfrm>
          <a:off x="8724270" y="3910147"/>
          <a:ext cx="3177040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88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l"/>
                      <a:r>
                        <a:rPr lang="en-US" sz="1700" b="1"/>
                        <a:t>E = {</a:t>
                      </a:r>
                      <a:r>
                        <a:rPr lang="en-US" sz="17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1,2,4,5,6,7,10</a:t>
                      </a:r>
                      <a:r>
                        <a:rPr lang="en-US" sz="1700" b="1"/>
                        <a:t>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1" name="Rectangle 70">
            <a:extLst>
              <a:ext uri="{FF2B5EF4-FFF2-40B4-BE49-F238E27FC236}">
                <a16:creationId xmlns:a16="http://schemas.microsoft.com/office/drawing/2014/main" id="{0B4A7FEF-616E-CA43-0740-AC33F2B74B8B}"/>
              </a:ext>
            </a:extLst>
          </p:cNvPr>
          <p:cNvSpPr/>
          <p:nvPr/>
        </p:nvSpPr>
        <p:spPr>
          <a:xfrm>
            <a:off x="11325252" y="3637230"/>
            <a:ext cx="360179" cy="2134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86C5F764-8BD4-65B6-8840-3CC75ECB6DD4}"/>
              </a:ext>
            </a:extLst>
          </p:cNvPr>
          <p:cNvCxnSpPr/>
          <p:nvPr/>
        </p:nvCxnSpPr>
        <p:spPr>
          <a:xfrm rot="5400000">
            <a:off x="5770212" y="3683283"/>
            <a:ext cx="5486400" cy="0"/>
          </a:xfrm>
          <a:prstGeom prst="line">
            <a:avLst/>
          </a:prstGeom>
          <a:ln>
            <a:solidFill>
              <a:srgbClr val="0E47A1"/>
            </a:solidFill>
            <a:prstDash val="solid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8874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7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1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7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" dur="2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26" dur="2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7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" dur="2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29" dur="2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1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42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3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xit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7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2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53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7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58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9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xit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7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8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69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7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1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72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6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77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8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0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81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2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xit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8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7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1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92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7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4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95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9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00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1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3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04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5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xit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0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4" dur="2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15" dur="2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6" dur="2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xit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2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" presetClass="exit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ntr" presetSubtype="4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8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45" grpId="0"/>
      <p:bldP spid="46" grpId="0"/>
      <p:bldP spid="48" grpId="0"/>
      <p:bldP spid="52" grpId="0"/>
      <p:bldP spid="55" grpId="0" animBg="1"/>
      <p:bldP spid="56" grpId="0" animBg="1"/>
      <p:bldP spid="57" grpId="0" animBg="1"/>
      <p:bldP spid="58" grpId="0" animBg="1"/>
      <p:bldP spid="59" grpId="0" animBg="1"/>
      <p:bldP spid="71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484A8-0CCB-36BC-F879-AC2051AC3EF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Conversion from NFA to DFA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40B2D0F9-964E-4A91-1128-B8ED086C7EF6}"/>
              </a:ext>
            </a:extLst>
          </p:cNvPr>
          <p:cNvSpPr/>
          <p:nvPr/>
        </p:nvSpPr>
        <p:spPr>
          <a:xfrm>
            <a:off x="1309692" y="2819400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1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D34166C-2040-DD57-26BC-65D112D3D1A8}"/>
              </a:ext>
            </a:extLst>
          </p:cNvPr>
          <p:cNvSpPr/>
          <p:nvPr/>
        </p:nvSpPr>
        <p:spPr>
          <a:xfrm>
            <a:off x="2081457" y="2116861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2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7B29E2B-E75C-CDD8-61D2-02F06C3BA366}"/>
              </a:ext>
            </a:extLst>
          </p:cNvPr>
          <p:cNvSpPr/>
          <p:nvPr/>
        </p:nvSpPr>
        <p:spPr>
          <a:xfrm>
            <a:off x="3075321" y="3491958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5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66B4757-5435-C4F4-4014-D2DCFF500B26}"/>
              </a:ext>
            </a:extLst>
          </p:cNvPr>
          <p:cNvSpPr/>
          <p:nvPr/>
        </p:nvSpPr>
        <p:spPr>
          <a:xfrm>
            <a:off x="3075321" y="2135663"/>
            <a:ext cx="457200" cy="438011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7E4CE4A-772C-825C-7F1C-A8DC5383E6DE}"/>
              </a:ext>
            </a:extLst>
          </p:cNvPr>
          <p:cNvSpPr/>
          <p:nvPr/>
        </p:nvSpPr>
        <p:spPr>
          <a:xfrm>
            <a:off x="2064600" y="3490911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8A812C6-BF1C-8AC8-327D-F88C9443627D}"/>
              </a:ext>
            </a:extLst>
          </p:cNvPr>
          <p:cNvSpPr/>
          <p:nvPr/>
        </p:nvSpPr>
        <p:spPr>
          <a:xfrm>
            <a:off x="3808798" y="2805111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6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9E5257F-3670-B3C9-8274-CD9C215554F9}"/>
              </a:ext>
            </a:extLst>
          </p:cNvPr>
          <p:cNvSpPr/>
          <p:nvPr/>
        </p:nvSpPr>
        <p:spPr>
          <a:xfrm>
            <a:off x="4831287" y="2780177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7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4731103-A3D2-BE79-A5F8-B52E394153FE}"/>
              </a:ext>
            </a:extLst>
          </p:cNvPr>
          <p:cNvSpPr/>
          <p:nvPr/>
        </p:nvSpPr>
        <p:spPr>
          <a:xfrm>
            <a:off x="5853776" y="2780177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8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2C20BEB-350B-9D72-BDDA-A239F5562D81}"/>
              </a:ext>
            </a:extLst>
          </p:cNvPr>
          <p:cNvSpPr/>
          <p:nvPr/>
        </p:nvSpPr>
        <p:spPr>
          <a:xfrm>
            <a:off x="433400" y="2819399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0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DE5FF13-DA63-ED5D-5261-E200ECF9B7FF}"/>
              </a:ext>
            </a:extLst>
          </p:cNvPr>
          <p:cNvCxnSpPr/>
          <p:nvPr/>
        </p:nvCxnSpPr>
        <p:spPr>
          <a:xfrm>
            <a:off x="903699" y="3039382"/>
            <a:ext cx="419092" cy="1"/>
          </a:xfrm>
          <a:prstGeom prst="straightConnector1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E5AF7888-B7C4-32ED-EC9B-DD477D5792FE}"/>
              </a:ext>
            </a:extLst>
          </p:cNvPr>
          <p:cNvSpPr/>
          <p:nvPr/>
        </p:nvSpPr>
        <p:spPr>
          <a:xfrm>
            <a:off x="921568" y="2667000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2A1B454-944E-52BA-EBC0-9DB68CEC46BF}"/>
              </a:ext>
            </a:extLst>
          </p:cNvPr>
          <p:cNvCxnSpPr/>
          <p:nvPr/>
        </p:nvCxnSpPr>
        <p:spPr>
          <a:xfrm>
            <a:off x="2530319" y="2351552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335DF499-2CA6-CD99-B3B5-3B941E26EB81}"/>
              </a:ext>
            </a:extLst>
          </p:cNvPr>
          <p:cNvSpPr/>
          <p:nvPr/>
        </p:nvSpPr>
        <p:spPr>
          <a:xfrm>
            <a:off x="2616975" y="1934046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a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DA82D90-13A4-F1F6-E51B-3CE7C8E8C52F}"/>
              </a:ext>
            </a:extLst>
          </p:cNvPr>
          <p:cNvCxnSpPr>
            <a:stCxn id="7" idx="6"/>
            <a:endCxn id="5" idx="2"/>
          </p:cNvCxnSpPr>
          <p:nvPr/>
        </p:nvCxnSpPr>
        <p:spPr>
          <a:xfrm>
            <a:off x="2521800" y="3719511"/>
            <a:ext cx="553521" cy="1047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04B618F0-AB1D-92EB-4EE1-7F871499F9B6}"/>
              </a:ext>
            </a:extLst>
          </p:cNvPr>
          <p:cNvSpPr/>
          <p:nvPr/>
        </p:nvSpPr>
        <p:spPr>
          <a:xfrm>
            <a:off x="2616975" y="3731409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b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9B8FD17-CB9F-96BF-A159-C72A984D5788}"/>
              </a:ext>
            </a:extLst>
          </p:cNvPr>
          <p:cNvCxnSpPr>
            <a:stCxn id="3" idx="7"/>
            <a:endCxn id="4" idx="3"/>
          </p:cNvCxnSpPr>
          <p:nvPr/>
        </p:nvCxnSpPr>
        <p:spPr>
          <a:xfrm flipV="1">
            <a:off x="1699937" y="2507106"/>
            <a:ext cx="448475" cy="379249"/>
          </a:xfrm>
          <a:prstGeom prst="straightConnector1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E191330-BF35-167F-4A23-C4987FEEF4B9}"/>
              </a:ext>
            </a:extLst>
          </p:cNvPr>
          <p:cNvCxnSpPr>
            <a:stCxn id="3" idx="5"/>
          </p:cNvCxnSpPr>
          <p:nvPr/>
        </p:nvCxnSpPr>
        <p:spPr>
          <a:xfrm>
            <a:off x="1699937" y="3209645"/>
            <a:ext cx="433971" cy="328891"/>
          </a:xfrm>
          <a:prstGeom prst="straightConnector1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91094CB-3E79-A9D1-05DC-D22916491629}"/>
              </a:ext>
            </a:extLst>
          </p:cNvPr>
          <p:cNvCxnSpPr>
            <a:stCxn id="6" idx="5"/>
            <a:endCxn id="8" idx="1"/>
          </p:cNvCxnSpPr>
          <p:nvPr/>
        </p:nvCxnSpPr>
        <p:spPr>
          <a:xfrm>
            <a:off x="3465566" y="2509529"/>
            <a:ext cx="410187" cy="362537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D3E217F-536B-C98E-9AFE-309808FFB5CD}"/>
              </a:ext>
            </a:extLst>
          </p:cNvPr>
          <p:cNvCxnSpPr>
            <a:stCxn id="5" idx="7"/>
            <a:endCxn id="8" idx="3"/>
          </p:cNvCxnSpPr>
          <p:nvPr/>
        </p:nvCxnSpPr>
        <p:spPr>
          <a:xfrm flipV="1">
            <a:off x="3465566" y="3195356"/>
            <a:ext cx="410187" cy="363557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7D0FC8F-AD90-FC2B-BA62-8E2485DC3810}"/>
              </a:ext>
            </a:extLst>
          </p:cNvPr>
          <p:cNvCxnSpPr/>
          <p:nvPr/>
        </p:nvCxnSpPr>
        <p:spPr>
          <a:xfrm>
            <a:off x="4271771" y="3008777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C8554FDF-9619-9F13-EE08-2E016E7124C2}"/>
              </a:ext>
            </a:extLst>
          </p:cNvPr>
          <p:cNvSpPr/>
          <p:nvPr/>
        </p:nvSpPr>
        <p:spPr>
          <a:xfrm>
            <a:off x="4351727" y="2654636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BDA82AA-F1F3-C193-BD57-46411D2CFE91}"/>
              </a:ext>
            </a:extLst>
          </p:cNvPr>
          <p:cNvCxnSpPr/>
          <p:nvPr/>
        </p:nvCxnSpPr>
        <p:spPr>
          <a:xfrm>
            <a:off x="5281161" y="3018759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5317B657-94CA-A7E3-02C9-976C757DB746}"/>
              </a:ext>
            </a:extLst>
          </p:cNvPr>
          <p:cNvSpPr/>
          <p:nvPr/>
        </p:nvSpPr>
        <p:spPr>
          <a:xfrm>
            <a:off x="5361117" y="2664618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a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122A7A7-2195-545B-DB1D-CE67C4E1A9BE}"/>
              </a:ext>
            </a:extLst>
          </p:cNvPr>
          <p:cNvCxnSpPr/>
          <p:nvPr/>
        </p:nvCxnSpPr>
        <p:spPr>
          <a:xfrm>
            <a:off x="6308667" y="2994945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218D8A53-CD5B-4A57-1031-87213B36BB13}"/>
              </a:ext>
            </a:extLst>
          </p:cNvPr>
          <p:cNvSpPr/>
          <p:nvPr/>
        </p:nvSpPr>
        <p:spPr>
          <a:xfrm>
            <a:off x="6425264" y="2664618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b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0166BCF-8B97-D5FD-2D7F-C001E826FF73}"/>
              </a:ext>
            </a:extLst>
          </p:cNvPr>
          <p:cNvSpPr/>
          <p:nvPr/>
        </p:nvSpPr>
        <p:spPr>
          <a:xfrm>
            <a:off x="7421867" y="2664618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b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BBDCB285-1BDF-5B96-A455-B591BE8262D3}"/>
              </a:ext>
            </a:extLst>
          </p:cNvPr>
          <p:cNvCxnSpPr/>
          <p:nvPr/>
        </p:nvCxnSpPr>
        <p:spPr>
          <a:xfrm>
            <a:off x="190500" y="3047999"/>
            <a:ext cx="242900" cy="0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70170411-D4CC-1173-2B0F-2363FA25DF97}"/>
              </a:ext>
            </a:extLst>
          </p:cNvPr>
          <p:cNvSpPr/>
          <p:nvPr/>
        </p:nvSpPr>
        <p:spPr>
          <a:xfrm>
            <a:off x="1524000" y="3370655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1259B62-A130-B60D-D2F5-7004A08F78BA}"/>
              </a:ext>
            </a:extLst>
          </p:cNvPr>
          <p:cNvSpPr/>
          <p:nvPr/>
        </p:nvSpPr>
        <p:spPr>
          <a:xfrm>
            <a:off x="1583156" y="2369027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44F7CAA-E13B-B9D7-68E6-5B9CF35D9E97}"/>
              </a:ext>
            </a:extLst>
          </p:cNvPr>
          <p:cNvSpPr/>
          <p:nvPr/>
        </p:nvSpPr>
        <p:spPr>
          <a:xfrm>
            <a:off x="3604306" y="2358623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E57FE49-72D1-7AAB-011A-9BFA7FEA5E59}"/>
              </a:ext>
            </a:extLst>
          </p:cNvPr>
          <p:cNvSpPr/>
          <p:nvPr/>
        </p:nvSpPr>
        <p:spPr>
          <a:xfrm>
            <a:off x="3616975" y="3383755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34" name="Curved Connector 34">
            <a:extLst>
              <a:ext uri="{FF2B5EF4-FFF2-40B4-BE49-F238E27FC236}">
                <a16:creationId xmlns:a16="http://schemas.microsoft.com/office/drawing/2014/main" id="{3C961D4C-8C7D-F16D-1FAC-A0091DC73E69}"/>
              </a:ext>
            </a:extLst>
          </p:cNvPr>
          <p:cNvCxnSpPr>
            <a:stCxn id="11" idx="4"/>
            <a:endCxn id="9" idx="4"/>
          </p:cNvCxnSpPr>
          <p:nvPr/>
        </p:nvCxnSpPr>
        <p:spPr>
          <a:xfrm rot="5400000" flipH="1" flipV="1">
            <a:off x="2841332" y="1058044"/>
            <a:ext cx="39222" cy="4397887"/>
          </a:xfrm>
          <a:prstGeom prst="curvedConnector3">
            <a:avLst>
              <a:gd name="adj1" fmla="val -3059900"/>
            </a:avLst>
          </a:prstGeom>
          <a:ln w="25400">
            <a:solidFill>
              <a:srgbClr val="0E47A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urved Connector 35">
            <a:extLst>
              <a:ext uri="{FF2B5EF4-FFF2-40B4-BE49-F238E27FC236}">
                <a16:creationId xmlns:a16="http://schemas.microsoft.com/office/drawing/2014/main" id="{47BD1CDE-372B-518C-E13C-B45BA6EE4BB2}"/>
              </a:ext>
            </a:extLst>
          </p:cNvPr>
          <p:cNvCxnSpPr/>
          <p:nvPr/>
        </p:nvCxnSpPr>
        <p:spPr>
          <a:xfrm rot="16200000" flipH="1" flipV="1">
            <a:off x="2766063" y="1540671"/>
            <a:ext cx="36576" cy="2569464"/>
          </a:xfrm>
          <a:prstGeom prst="curvedConnector3">
            <a:avLst>
              <a:gd name="adj1" fmla="val -3059900"/>
            </a:avLst>
          </a:prstGeom>
          <a:ln w="25400">
            <a:solidFill>
              <a:srgbClr val="0E47A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D132D042-4C93-0737-83A2-B3C94B424164}"/>
              </a:ext>
            </a:extLst>
          </p:cNvPr>
          <p:cNvSpPr/>
          <p:nvPr/>
        </p:nvSpPr>
        <p:spPr>
          <a:xfrm>
            <a:off x="2616975" y="1294439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F995EE7-7FD1-3FEF-1676-3DC72F37F30F}"/>
              </a:ext>
            </a:extLst>
          </p:cNvPr>
          <p:cNvSpPr/>
          <p:nvPr/>
        </p:nvSpPr>
        <p:spPr>
          <a:xfrm>
            <a:off x="3795563" y="4275070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A42E0A41-FFD8-CB04-5171-32213327E8D3}"/>
              </a:ext>
            </a:extLst>
          </p:cNvPr>
          <p:cNvCxnSpPr/>
          <p:nvPr/>
        </p:nvCxnSpPr>
        <p:spPr>
          <a:xfrm flipV="1">
            <a:off x="1699939" y="2507106"/>
            <a:ext cx="448475" cy="379249"/>
          </a:xfrm>
          <a:prstGeom prst="straightConnector1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6237141B-4C25-F800-7FD8-FABC0A37433B}"/>
              </a:ext>
            </a:extLst>
          </p:cNvPr>
          <p:cNvCxnSpPr/>
          <p:nvPr/>
        </p:nvCxnSpPr>
        <p:spPr>
          <a:xfrm>
            <a:off x="1699939" y="3209645"/>
            <a:ext cx="433971" cy="328891"/>
          </a:xfrm>
          <a:prstGeom prst="straightConnector1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EBB5BFAE-84F9-37C6-CEE9-300B5EEA1F65}"/>
              </a:ext>
            </a:extLst>
          </p:cNvPr>
          <p:cNvCxnSpPr/>
          <p:nvPr/>
        </p:nvCxnSpPr>
        <p:spPr>
          <a:xfrm>
            <a:off x="903700" y="3039382"/>
            <a:ext cx="419092" cy="1"/>
          </a:xfrm>
          <a:prstGeom prst="straightConnector1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35BF647B-A8E3-EC70-E960-0401284A3400}"/>
              </a:ext>
            </a:extLst>
          </p:cNvPr>
          <p:cNvCxnSpPr/>
          <p:nvPr/>
        </p:nvCxnSpPr>
        <p:spPr>
          <a:xfrm flipV="1">
            <a:off x="1699940" y="2507106"/>
            <a:ext cx="448475" cy="379249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36C74AA2-499F-E2A4-74D5-120F35945A71}"/>
              </a:ext>
            </a:extLst>
          </p:cNvPr>
          <p:cNvCxnSpPr/>
          <p:nvPr/>
        </p:nvCxnSpPr>
        <p:spPr>
          <a:xfrm>
            <a:off x="1699940" y="3209645"/>
            <a:ext cx="433971" cy="32889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5868F0F9-FC68-FECA-186F-CD3AF9262993}"/>
              </a:ext>
            </a:extLst>
          </p:cNvPr>
          <p:cNvCxnSpPr/>
          <p:nvPr/>
        </p:nvCxnSpPr>
        <p:spPr>
          <a:xfrm>
            <a:off x="903701" y="3039382"/>
            <a:ext cx="419092" cy="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E308C795-F982-4719-2F52-FCBFBAE1D68C}"/>
              </a:ext>
            </a:extLst>
          </p:cNvPr>
          <p:cNvSpPr/>
          <p:nvPr/>
        </p:nvSpPr>
        <p:spPr>
          <a:xfrm>
            <a:off x="368004" y="5104591"/>
            <a:ext cx="1490483" cy="4689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200">
                <a:solidFill>
                  <a:schemeClr val="tx1"/>
                </a:solidFill>
                <a:latin typeface="+mj-lt"/>
              </a:rPr>
              <a:t>Move(E,a)</a:t>
            </a:r>
            <a:endParaRPr lang="en-US" sz="2200">
              <a:latin typeface="+mj-lt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F3370A7D-49C9-EA3B-2BDA-3087B4616405}"/>
              </a:ext>
            </a:extLst>
          </p:cNvPr>
          <p:cNvSpPr/>
          <p:nvPr/>
        </p:nvSpPr>
        <p:spPr>
          <a:xfrm>
            <a:off x="1218464" y="5148578"/>
            <a:ext cx="1725988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tx1"/>
                </a:solidFill>
                <a:latin typeface="+mj-lt"/>
              </a:rPr>
              <a:t>= {3,8}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1476289E-E413-9433-F39A-E9A849B523BD}"/>
              </a:ext>
            </a:extLst>
          </p:cNvPr>
          <p:cNvSpPr/>
          <p:nvPr/>
        </p:nvSpPr>
        <p:spPr>
          <a:xfrm>
            <a:off x="374532" y="5534752"/>
            <a:ext cx="2700790" cy="4689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200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𝜖- Closure(</a:t>
            </a:r>
            <a:r>
              <a:rPr lang="en-US" sz="2200">
                <a:solidFill>
                  <a:schemeClr val="tx1"/>
                </a:solidFill>
                <a:latin typeface="+mj-lt"/>
              </a:rPr>
              <a:t>Move(E,a))</a:t>
            </a:r>
            <a:endParaRPr lang="en-US" sz="2200">
              <a:latin typeface="+mj-lt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82904C70-DC00-A735-0731-89F0251DC51B}"/>
              </a:ext>
            </a:extLst>
          </p:cNvPr>
          <p:cNvSpPr/>
          <p:nvPr/>
        </p:nvSpPr>
        <p:spPr>
          <a:xfrm>
            <a:off x="2807308" y="5609266"/>
            <a:ext cx="2536426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tx1"/>
                </a:solidFill>
                <a:latin typeface="+mj-lt"/>
              </a:rPr>
              <a:t>= {3, 6, 7, 1, 2, 4, 8}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FD26E7E3-75E4-2C63-8BD7-2A8DF6864162}"/>
              </a:ext>
            </a:extLst>
          </p:cNvPr>
          <p:cNvSpPr/>
          <p:nvPr/>
        </p:nvSpPr>
        <p:spPr>
          <a:xfrm>
            <a:off x="4800325" y="5965890"/>
            <a:ext cx="87266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solidFill>
                  <a:schemeClr val="tx1"/>
                </a:solidFill>
              </a:rPr>
              <a:t>---- B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288ACDF9-53AE-3BDA-B8EF-266454A7DA72}"/>
              </a:ext>
            </a:extLst>
          </p:cNvPr>
          <p:cNvSpPr/>
          <p:nvPr/>
        </p:nvSpPr>
        <p:spPr>
          <a:xfrm>
            <a:off x="6482416" y="4401275"/>
            <a:ext cx="471465" cy="3626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45656894-8818-C9A1-47A4-CBD4F6D43EAD}"/>
              </a:ext>
            </a:extLst>
          </p:cNvPr>
          <p:cNvSpPr/>
          <p:nvPr/>
        </p:nvSpPr>
        <p:spPr>
          <a:xfrm>
            <a:off x="6482416" y="4401275"/>
            <a:ext cx="414313" cy="3626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0A4B717F-7BF9-0906-07FA-E0B6D1307147}"/>
              </a:ext>
            </a:extLst>
          </p:cNvPr>
          <p:cNvSpPr/>
          <p:nvPr/>
        </p:nvSpPr>
        <p:spPr>
          <a:xfrm>
            <a:off x="8089735" y="4978874"/>
            <a:ext cx="473773" cy="2514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0A97FE1-8618-0CC9-1E46-6BD8BA84AD5B}"/>
              </a:ext>
            </a:extLst>
          </p:cNvPr>
          <p:cNvSpPr/>
          <p:nvPr/>
        </p:nvSpPr>
        <p:spPr>
          <a:xfrm>
            <a:off x="2616975" y="5989841"/>
            <a:ext cx="2536426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tx1"/>
                </a:solidFill>
              </a:rPr>
              <a:t>= {1,2,3,4,6,7,8}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C12586C2-11F7-678C-E19D-8F596D137232}"/>
              </a:ext>
            </a:extLst>
          </p:cNvPr>
          <p:cNvSpPr/>
          <p:nvPr/>
        </p:nvSpPr>
        <p:spPr>
          <a:xfrm>
            <a:off x="2974151" y="5626507"/>
            <a:ext cx="536893" cy="4268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D90D81AE-0BCD-39F5-508C-AA7CE2FF5AB7}"/>
              </a:ext>
            </a:extLst>
          </p:cNvPr>
          <p:cNvSpPr/>
          <p:nvPr/>
        </p:nvSpPr>
        <p:spPr>
          <a:xfrm>
            <a:off x="3437736" y="5534752"/>
            <a:ext cx="357176" cy="381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8F2CC06A-4115-61F7-4781-69B2E60D2534}"/>
              </a:ext>
            </a:extLst>
          </p:cNvPr>
          <p:cNvSpPr/>
          <p:nvPr/>
        </p:nvSpPr>
        <p:spPr>
          <a:xfrm>
            <a:off x="3780949" y="5539429"/>
            <a:ext cx="570777" cy="4002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5AE167E0-7A36-FBCB-3D87-008BEC9E6864}"/>
              </a:ext>
            </a:extLst>
          </p:cNvPr>
          <p:cNvSpPr/>
          <p:nvPr/>
        </p:nvSpPr>
        <p:spPr>
          <a:xfrm>
            <a:off x="4291263" y="5539429"/>
            <a:ext cx="570777" cy="4002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56AB3E3F-DAF4-F962-8D66-7AE8B782DEF5}"/>
              </a:ext>
            </a:extLst>
          </p:cNvPr>
          <p:cNvSpPr/>
          <p:nvPr/>
        </p:nvSpPr>
        <p:spPr>
          <a:xfrm>
            <a:off x="4860520" y="5559629"/>
            <a:ext cx="570777" cy="4002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3B5D4C10-36DD-DC1E-54E8-5584D9E4C584}"/>
              </a:ext>
            </a:extLst>
          </p:cNvPr>
          <p:cNvCxnSpPr/>
          <p:nvPr/>
        </p:nvCxnSpPr>
        <p:spPr>
          <a:xfrm>
            <a:off x="1084549" y="4978874"/>
            <a:ext cx="267829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07F9207B-571E-DE0B-DD08-D32255177E38}"/>
              </a:ext>
            </a:extLst>
          </p:cNvPr>
          <p:cNvCxnSpPr/>
          <p:nvPr/>
        </p:nvCxnSpPr>
        <p:spPr>
          <a:xfrm>
            <a:off x="2159285" y="4999563"/>
            <a:ext cx="267829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Rectangle 59">
            <a:extLst>
              <a:ext uri="{FF2B5EF4-FFF2-40B4-BE49-F238E27FC236}">
                <a16:creationId xmlns:a16="http://schemas.microsoft.com/office/drawing/2014/main" id="{FA4768C1-0861-D6A9-A7AD-D1F481067C9B}"/>
              </a:ext>
            </a:extLst>
          </p:cNvPr>
          <p:cNvSpPr/>
          <p:nvPr/>
        </p:nvSpPr>
        <p:spPr>
          <a:xfrm>
            <a:off x="325095" y="4677269"/>
            <a:ext cx="2741806" cy="3222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>
                <a:solidFill>
                  <a:schemeClr val="tx1"/>
                </a:solidFill>
                <a:latin typeface="+mj-lt"/>
              </a:rPr>
              <a:t>E= {1, 2, 4, 5, 6, 7, 10}</a:t>
            </a: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16E753B3-2D96-638D-05C4-A7D19D94573D}"/>
              </a:ext>
            </a:extLst>
          </p:cNvPr>
          <p:cNvSpPr/>
          <p:nvPr/>
        </p:nvSpPr>
        <p:spPr>
          <a:xfrm>
            <a:off x="7893141" y="2779059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10</a:t>
            </a: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F937650E-ACA3-7F94-E006-CDCD354CA9AF}"/>
              </a:ext>
            </a:extLst>
          </p:cNvPr>
          <p:cNvSpPr/>
          <p:nvPr/>
        </p:nvSpPr>
        <p:spPr>
          <a:xfrm>
            <a:off x="7938861" y="2828648"/>
            <a:ext cx="365760" cy="36576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2886C72B-0F48-9102-EDA2-3ADF37136220}"/>
              </a:ext>
            </a:extLst>
          </p:cNvPr>
          <p:cNvSpPr/>
          <p:nvPr/>
        </p:nvSpPr>
        <p:spPr>
          <a:xfrm>
            <a:off x="6869835" y="2790159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9</a:t>
            </a:r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FE268581-9C74-5D19-2654-04B175D820A9}"/>
              </a:ext>
            </a:extLst>
          </p:cNvPr>
          <p:cNvCxnSpPr/>
          <p:nvPr/>
        </p:nvCxnSpPr>
        <p:spPr>
          <a:xfrm>
            <a:off x="7334592" y="3006852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5" name="Table 64">
            <a:extLst>
              <a:ext uri="{FF2B5EF4-FFF2-40B4-BE49-F238E27FC236}">
                <a16:creationId xmlns:a16="http://schemas.microsoft.com/office/drawing/2014/main" id="{FD7E84E6-E12B-B24C-8D0E-36816D7337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1519475"/>
              </p:ext>
            </p:extLst>
          </p:nvPr>
        </p:nvGraphicFramePr>
        <p:xfrm>
          <a:off x="8724270" y="2030248"/>
          <a:ext cx="3177041" cy="42672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8816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ctr"/>
                      <a:r>
                        <a:rPr lang="en-US" sz="2200"/>
                        <a:t>States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en-US" sz="22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/>
                        <a:t>b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6" name="Table 65">
            <a:extLst>
              <a:ext uri="{FF2B5EF4-FFF2-40B4-BE49-F238E27FC236}">
                <a16:creationId xmlns:a16="http://schemas.microsoft.com/office/drawing/2014/main" id="{B0C65CA1-306D-B3A4-C6FB-6E2993C27F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4120255"/>
              </p:ext>
            </p:extLst>
          </p:nvPr>
        </p:nvGraphicFramePr>
        <p:xfrm>
          <a:off x="8724271" y="2453188"/>
          <a:ext cx="3177040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88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l"/>
                      <a:r>
                        <a:rPr lang="en-US" sz="1800"/>
                        <a:t>A = {0,1,2,4,7}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en-US" sz="18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C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7" name="Table 66">
            <a:extLst>
              <a:ext uri="{FF2B5EF4-FFF2-40B4-BE49-F238E27FC236}">
                <a16:creationId xmlns:a16="http://schemas.microsoft.com/office/drawing/2014/main" id="{1D67811F-43DF-87E5-A99D-40F752214F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2454372"/>
              </p:ext>
            </p:extLst>
          </p:nvPr>
        </p:nvGraphicFramePr>
        <p:xfrm>
          <a:off x="8724271" y="2818948"/>
          <a:ext cx="3177040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88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B = {1,2,3,4,6,7,8}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en-US" sz="18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D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8" name="Table 67">
            <a:extLst>
              <a:ext uri="{FF2B5EF4-FFF2-40B4-BE49-F238E27FC236}">
                <a16:creationId xmlns:a16="http://schemas.microsoft.com/office/drawing/2014/main" id="{1B88A2C9-F9DC-B2C6-8985-700F22C013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3914643"/>
              </p:ext>
            </p:extLst>
          </p:nvPr>
        </p:nvGraphicFramePr>
        <p:xfrm>
          <a:off x="8724271" y="3192027"/>
          <a:ext cx="3177040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88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l"/>
                      <a:r>
                        <a:rPr lang="en-US" sz="1800"/>
                        <a:t>C = {1,2,4,5,6,7}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en-US" sz="18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C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9" name="Table 68">
            <a:extLst>
              <a:ext uri="{FF2B5EF4-FFF2-40B4-BE49-F238E27FC236}">
                <a16:creationId xmlns:a16="http://schemas.microsoft.com/office/drawing/2014/main" id="{D9EA8AEF-BC5C-78E1-EC96-FFA60C6F94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3510616"/>
              </p:ext>
            </p:extLst>
          </p:nvPr>
        </p:nvGraphicFramePr>
        <p:xfrm>
          <a:off x="8724271" y="3546688"/>
          <a:ext cx="3177040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88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l"/>
                      <a:r>
                        <a:rPr lang="en-US" sz="1800"/>
                        <a:t>D = {</a:t>
                      </a:r>
                      <a:r>
                        <a:rPr lang="en-US" sz="18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1,2,4,5,6,7,9</a:t>
                      </a:r>
                      <a:r>
                        <a:rPr lang="en-US" sz="1800"/>
                        <a:t>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en-US" sz="18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E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0" name="Table 69">
            <a:extLst>
              <a:ext uri="{FF2B5EF4-FFF2-40B4-BE49-F238E27FC236}">
                <a16:creationId xmlns:a16="http://schemas.microsoft.com/office/drawing/2014/main" id="{EC69FF90-5E02-FDE5-F5D5-C33E51ED87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8013168"/>
              </p:ext>
            </p:extLst>
          </p:nvPr>
        </p:nvGraphicFramePr>
        <p:xfrm>
          <a:off x="8724270" y="3910147"/>
          <a:ext cx="3177040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88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l"/>
                      <a:r>
                        <a:rPr lang="en-US" sz="1700" b="1"/>
                        <a:t>E = {</a:t>
                      </a:r>
                      <a:r>
                        <a:rPr lang="en-US" sz="17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1,2,4,5,6,7,10</a:t>
                      </a:r>
                      <a:r>
                        <a:rPr lang="en-US" sz="1700" b="1"/>
                        <a:t>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en-US" sz="18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1" name="Rectangle 70">
            <a:extLst>
              <a:ext uri="{FF2B5EF4-FFF2-40B4-BE49-F238E27FC236}">
                <a16:creationId xmlns:a16="http://schemas.microsoft.com/office/drawing/2014/main" id="{8B34AF85-D600-831D-687D-9BAD2B8125B6}"/>
              </a:ext>
            </a:extLst>
          </p:cNvPr>
          <p:cNvSpPr/>
          <p:nvPr/>
        </p:nvSpPr>
        <p:spPr>
          <a:xfrm>
            <a:off x="10792699" y="3942812"/>
            <a:ext cx="154439" cy="24063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A3FAFD4E-3337-09D1-00A5-95B37BBD657D}"/>
              </a:ext>
            </a:extLst>
          </p:cNvPr>
          <p:cNvCxnSpPr/>
          <p:nvPr/>
        </p:nvCxnSpPr>
        <p:spPr>
          <a:xfrm rot="5400000">
            <a:off x="5770212" y="3683283"/>
            <a:ext cx="5486400" cy="0"/>
          </a:xfrm>
          <a:prstGeom prst="line">
            <a:avLst/>
          </a:prstGeom>
          <a:ln>
            <a:solidFill>
              <a:srgbClr val="0E47A1"/>
            </a:solidFill>
            <a:prstDash val="solid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3407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7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990000"/>
                                      </p:to>
                                    </p:animClr>
                                    <p:set>
                                      <p:cBhvr>
                                        <p:cTn id="1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7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990000"/>
                                      </p:to>
                                    </p:animClr>
                                    <p:set>
                                      <p:cBhvr>
                                        <p:cTn id="26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9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0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xit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7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50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55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6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xit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7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5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66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7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8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69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3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74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5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7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78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9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xit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8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7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8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89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7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1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92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97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0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01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2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xit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0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1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12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3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xit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xit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45" grpId="0"/>
      <p:bldP spid="46" grpId="0"/>
      <p:bldP spid="48" grpId="0"/>
      <p:bldP spid="52" grpId="0"/>
      <p:bldP spid="53" grpId="0" animBg="1"/>
      <p:bldP spid="54" grpId="0" animBg="1"/>
      <p:bldP spid="55" grpId="0" animBg="1"/>
      <p:bldP spid="56" grpId="0" animBg="1"/>
      <p:bldP spid="57" grpId="0" animBg="1"/>
      <p:bldP spid="71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9A239-A972-49CF-9B72-1D2E10BEF742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Conversion from NFA to DFA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3261ABD0-AD9C-D435-0079-EA5A43E211EB}"/>
              </a:ext>
            </a:extLst>
          </p:cNvPr>
          <p:cNvSpPr/>
          <p:nvPr/>
        </p:nvSpPr>
        <p:spPr>
          <a:xfrm>
            <a:off x="1309692" y="2819400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1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6CA14A0-7ABD-ACED-6F48-43A8DDDD0BD0}"/>
              </a:ext>
            </a:extLst>
          </p:cNvPr>
          <p:cNvSpPr/>
          <p:nvPr/>
        </p:nvSpPr>
        <p:spPr>
          <a:xfrm>
            <a:off x="2081457" y="2116861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2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6DBBD2A-2BFB-2FF8-29ED-30BE823A6557}"/>
              </a:ext>
            </a:extLst>
          </p:cNvPr>
          <p:cNvSpPr/>
          <p:nvPr/>
        </p:nvSpPr>
        <p:spPr>
          <a:xfrm>
            <a:off x="3075321" y="3491958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5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B3CE8E0-7D0D-C87A-8ADE-36F958E1E203}"/>
              </a:ext>
            </a:extLst>
          </p:cNvPr>
          <p:cNvSpPr/>
          <p:nvPr/>
        </p:nvSpPr>
        <p:spPr>
          <a:xfrm>
            <a:off x="3075321" y="2135663"/>
            <a:ext cx="457200" cy="438011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89321AF-4EA3-9CF4-7281-77E4C68F6D46}"/>
              </a:ext>
            </a:extLst>
          </p:cNvPr>
          <p:cNvSpPr/>
          <p:nvPr/>
        </p:nvSpPr>
        <p:spPr>
          <a:xfrm>
            <a:off x="2064600" y="3490911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83A72A2-D6E3-D6A7-F4E7-E8E6EE7BC160}"/>
              </a:ext>
            </a:extLst>
          </p:cNvPr>
          <p:cNvSpPr/>
          <p:nvPr/>
        </p:nvSpPr>
        <p:spPr>
          <a:xfrm>
            <a:off x="3808798" y="2805111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6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0F40F37-85BA-13DE-5DF5-748ECDACE009}"/>
              </a:ext>
            </a:extLst>
          </p:cNvPr>
          <p:cNvSpPr/>
          <p:nvPr/>
        </p:nvSpPr>
        <p:spPr>
          <a:xfrm>
            <a:off x="4831287" y="2780177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7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D308FB9-1DF6-C7BB-B535-D56EBE239998}"/>
              </a:ext>
            </a:extLst>
          </p:cNvPr>
          <p:cNvSpPr/>
          <p:nvPr/>
        </p:nvSpPr>
        <p:spPr>
          <a:xfrm>
            <a:off x="5853776" y="2780177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8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21AF716-F204-82E5-D051-DF3D6C2C03A2}"/>
              </a:ext>
            </a:extLst>
          </p:cNvPr>
          <p:cNvSpPr/>
          <p:nvPr/>
        </p:nvSpPr>
        <p:spPr>
          <a:xfrm>
            <a:off x="433400" y="2819399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0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898C429-20FF-587C-73C7-43C309815715}"/>
              </a:ext>
            </a:extLst>
          </p:cNvPr>
          <p:cNvCxnSpPr/>
          <p:nvPr/>
        </p:nvCxnSpPr>
        <p:spPr>
          <a:xfrm>
            <a:off x="903699" y="3039382"/>
            <a:ext cx="419092" cy="1"/>
          </a:xfrm>
          <a:prstGeom prst="straightConnector1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5550AE46-CBA6-97F8-58E3-44CAE25EFCB6}"/>
              </a:ext>
            </a:extLst>
          </p:cNvPr>
          <p:cNvSpPr/>
          <p:nvPr/>
        </p:nvSpPr>
        <p:spPr>
          <a:xfrm>
            <a:off x="921568" y="2667000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55CD505-5C03-E009-E5A8-DC2AB830B227}"/>
              </a:ext>
            </a:extLst>
          </p:cNvPr>
          <p:cNvCxnSpPr/>
          <p:nvPr/>
        </p:nvCxnSpPr>
        <p:spPr>
          <a:xfrm>
            <a:off x="2530319" y="2351552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0F94BA7F-D552-5970-ADB2-0A1EA1869DD6}"/>
              </a:ext>
            </a:extLst>
          </p:cNvPr>
          <p:cNvSpPr/>
          <p:nvPr/>
        </p:nvSpPr>
        <p:spPr>
          <a:xfrm>
            <a:off x="2616975" y="1934046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a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7C15152-4564-565B-FCD3-FDBDBCADD170}"/>
              </a:ext>
            </a:extLst>
          </p:cNvPr>
          <p:cNvCxnSpPr>
            <a:stCxn id="7" idx="6"/>
            <a:endCxn id="5" idx="2"/>
          </p:cNvCxnSpPr>
          <p:nvPr/>
        </p:nvCxnSpPr>
        <p:spPr>
          <a:xfrm>
            <a:off x="2521800" y="3719511"/>
            <a:ext cx="553521" cy="1047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D9161BBF-4295-B309-A636-E953B7C28BC3}"/>
              </a:ext>
            </a:extLst>
          </p:cNvPr>
          <p:cNvSpPr/>
          <p:nvPr/>
        </p:nvSpPr>
        <p:spPr>
          <a:xfrm>
            <a:off x="2616975" y="3731409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b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A8917C6-3F7B-7FBD-C689-ED0076F24D6E}"/>
              </a:ext>
            </a:extLst>
          </p:cNvPr>
          <p:cNvCxnSpPr>
            <a:stCxn id="3" idx="7"/>
            <a:endCxn id="4" idx="3"/>
          </p:cNvCxnSpPr>
          <p:nvPr/>
        </p:nvCxnSpPr>
        <p:spPr>
          <a:xfrm flipV="1">
            <a:off x="1699937" y="2507106"/>
            <a:ext cx="448475" cy="379249"/>
          </a:xfrm>
          <a:prstGeom prst="straightConnector1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2BAC517-3DE6-2853-87A2-F1B27946ACFD}"/>
              </a:ext>
            </a:extLst>
          </p:cNvPr>
          <p:cNvCxnSpPr>
            <a:stCxn id="3" idx="5"/>
          </p:cNvCxnSpPr>
          <p:nvPr/>
        </p:nvCxnSpPr>
        <p:spPr>
          <a:xfrm>
            <a:off x="1699937" y="3209645"/>
            <a:ext cx="433971" cy="328891"/>
          </a:xfrm>
          <a:prstGeom prst="straightConnector1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0B777C0-5645-CF08-3598-CFB6F4649EB9}"/>
              </a:ext>
            </a:extLst>
          </p:cNvPr>
          <p:cNvCxnSpPr>
            <a:stCxn id="6" idx="5"/>
            <a:endCxn id="8" idx="1"/>
          </p:cNvCxnSpPr>
          <p:nvPr/>
        </p:nvCxnSpPr>
        <p:spPr>
          <a:xfrm>
            <a:off x="3465566" y="2509529"/>
            <a:ext cx="410187" cy="362537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32BC564-39E1-56F9-1237-564B81CF205E}"/>
              </a:ext>
            </a:extLst>
          </p:cNvPr>
          <p:cNvCxnSpPr>
            <a:stCxn id="5" idx="7"/>
            <a:endCxn id="8" idx="3"/>
          </p:cNvCxnSpPr>
          <p:nvPr/>
        </p:nvCxnSpPr>
        <p:spPr>
          <a:xfrm flipV="1">
            <a:off x="3465566" y="3195356"/>
            <a:ext cx="410187" cy="363557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5D1C842-403D-4CEC-1A81-2EC7F78FD23C}"/>
              </a:ext>
            </a:extLst>
          </p:cNvPr>
          <p:cNvCxnSpPr/>
          <p:nvPr/>
        </p:nvCxnSpPr>
        <p:spPr>
          <a:xfrm>
            <a:off x="4271771" y="3008777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2ADF42AB-83A2-85C0-E58F-82DBBB2E3FFD}"/>
              </a:ext>
            </a:extLst>
          </p:cNvPr>
          <p:cNvSpPr/>
          <p:nvPr/>
        </p:nvSpPr>
        <p:spPr>
          <a:xfrm>
            <a:off x="4351727" y="2654636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341CE66-0E9F-B7E4-4EE1-58B2F3C0ABB4}"/>
              </a:ext>
            </a:extLst>
          </p:cNvPr>
          <p:cNvCxnSpPr/>
          <p:nvPr/>
        </p:nvCxnSpPr>
        <p:spPr>
          <a:xfrm>
            <a:off x="5281161" y="3018759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0E20AAC8-8F12-7DEB-EE36-8C6543973DB9}"/>
              </a:ext>
            </a:extLst>
          </p:cNvPr>
          <p:cNvSpPr/>
          <p:nvPr/>
        </p:nvSpPr>
        <p:spPr>
          <a:xfrm>
            <a:off x="5361117" y="2664618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a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61A2D75-7F81-0582-2C1D-03FF411FC61C}"/>
              </a:ext>
            </a:extLst>
          </p:cNvPr>
          <p:cNvSpPr/>
          <p:nvPr/>
        </p:nvSpPr>
        <p:spPr>
          <a:xfrm>
            <a:off x="6425264" y="2664618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b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013799B-5F0B-46B0-545F-0EF67C0651FC}"/>
              </a:ext>
            </a:extLst>
          </p:cNvPr>
          <p:cNvSpPr/>
          <p:nvPr/>
        </p:nvSpPr>
        <p:spPr>
          <a:xfrm>
            <a:off x="7421867" y="2664618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b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238DAD41-DD02-5520-5540-9485781B4BFA}"/>
              </a:ext>
            </a:extLst>
          </p:cNvPr>
          <p:cNvCxnSpPr/>
          <p:nvPr/>
        </p:nvCxnSpPr>
        <p:spPr>
          <a:xfrm>
            <a:off x="190500" y="3047999"/>
            <a:ext cx="242900" cy="0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50691E8E-319B-DF99-DE08-3B9D31DA02FB}"/>
              </a:ext>
            </a:extLst>
          </p:cNvPr>
          <p:cNvSpPr/>
          <p:nvPr/>
        </p:nvSpPr>
        <p:spPr>
          <a:xfrm>
            <a:off x="1524000" y="3370655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09E0204-A54B-EFE7-7C18-135079FFB211}"/>
              </a:ext>
            </a:extLst>
          </p:cNvPr>
          <p:cNvSpPr/>
          <p:nvPr/>
        </p:nvSpPr>
        <p:spPr>
          <a:xfrm>
            <a:off x="1583156" y="2369027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32462A8-D0F2-29BE-2DAF-E03D0C9B6E01}"/>
              </a:ext>
            </a:extLst>
          </p:cNvPr>
          <p:cNvSpPr/>
          <p:nvPr/>
        </p:nvSpPr>
        <p:spPr>
          <a:xfrm>
            <a:off x="3604306" y="2358623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C79B017-C2AA-2CAA-3FD6-9538AA1FA03C}"/>
              </a:ext>
            </a:extLst>
          </p:cNvPr>
          <p:cNvSpPr/>
          <p:nvPr/>
        </p:nvSpPr>
        <p:spPr>
          <a:xfrm>
            <a:off x="3616975" y="3383755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33" name="Curved Connector 33">
            <a:extLst>
              <a:ext uri="{FF2B5EF4-FFF2-40B4-BE49-F238E27FC236}">
                <a16:creationId xmlns:a16="http://schemas.microsoft.com/office/drawing/2014/main" id="{1D874D41-7F54-580F-14B2-C9FF716932AF}"/>
              </a:ext>
            </a:extLst>
          </p:cNvPr>
          <p:cNvCxnSpPr>
            <a:stCxn id="11" idx="4"/>
            <a:endCxn id="9" idx="4"/>
          </p:cNvCxnSpPr>
          <p:nvPr/>
        </p:nvCxnSpPr>
        <p:spPr>
          <a:xfrm rot="5400000" flipH="1" flipV="1">
            <a:off x="2841332" y="1058044"/>
            <a:ext cx="39222" cy="4397887"/>
          </a:xfrm>
          <a:prstGeom prst="curvedConnector3">
            <a:avLst>
              <a:gd name="adj1" fmla="val -3059900"/>
            </a:avLst>
          </a:prstGeom>
          <a:ln w="25400">
            <a:solidFill>
              <a:srgbClr val="0E47A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urved Connector 34">
            <a:extLst>
              <a:ext uri="{FF2B5EF4-FFF2-40B4-BE49-F238E27FC236}">
                <a16:creationId xmlns:a16="http://schemas.microsoft.com/office/drawing/2014/main" id="{67F60CB9-F73D-45D6-4B3A-7A4836B0C2DB}"/>
              </a:ext>
            </a:extLst>
          </p:cNvPr>
          <p:cNvCxnSpPr/>
          <p:nvPr/>
        </p:nvCxnSpPr>
        <p:spPr>
          <a:xfrm rot="16200000" flipH="1" flipV="1">
            <a:off x="2766063" y="1540671"/>
            <a:ext cx="36576" cy="2569464"/>
          </a:xfrm>
          <a:prstGeom prst="curvedConnector3">
            <a:avLst>
              <a:gd name="adj1" fmla="val -3059900"/>
            </a:avLst>
          </a:prstGeom>
          <a:ln w="25400">
            <a:solidFill>
              <a:srgbClr val="0E47A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5EFAFDA9-E3F8-3644-680E-40EBF93A8128}"/>
              </a:ext>
            </a:extLst>
          </p:cNvPr>
          <p:cNvSpPr/>
          <p:nvPr/>
        </p:nvSpPr>
        <p:spPr>
          <a:xfrm>
            <a:off x="2616975" y="1294439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928CDDB-7C41-9D70-458D-1074E07E8105}"/>
              </a:ext>
            </a:extLst>
          </p:cNvPr>
          <p:cNvSpPr/>
          <p:nvPr/>
        </p:nvSpPr>
        <p:spPr>
          <a:xfrm>
            <a:off x="3795563" y="4275070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42E11AA-D414-4D18-8874-E62BEC81B387}"/>
              </a:ext>
            </a:extLst>
          </p:cNvPr>
          <p:cNvCxnSpPr/>
          <p:nvPr/>
        </p:nvCxnSpPr>
        <p:spPr>
          <a:xfrm flipV="1">
            <a:off x="1699939" y="2507106"/>
            <a:ext cx="448475" cy="379249"/>
          </a:xfrm>
          <a:prstGeom prst="straightConnector1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76629E74-C836-CCBB-7986-58CC2A03DD9C}"/>
              </a:ext>
            </a:extLst>
          </p:cNvPr>
          <p:cNvCxnSpPr/>
          <p:nvPr/>
        </p:nvCxnSpPr>
        <p:spPr>
          <a:xfrm>
            <a:off x="1699939" y="3209645"/>
            <a:ext cx="433971" cy="328891"/>
          </a:xfrm>
          <a:prstGeom prst="straightConnector1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7CAA3BB9-30C3-73D9-ADFE-3E5B5F632F3F}"/>
              </a:ext>
            </a:extLst>
          </p:cNvPr>
          <p:cNvCxnSpPr/>
          <p:nvPr/>
        </p:nvCxnSpPr>
        <p:spPr>
          <a:xfrm>
            <a:off x="903700" y="3039382"/>
            <a:ext cx="419092" cy="1"/>
          </a:xfrm>
          <a:prstGeom prst="straightConnector1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2724FB90-04AB-6FB4-D6AB-EEBBCD4FA868}"/>
              </a:ext>
            </a:extLst>
          </p:cNvPr>
          <p:cNvCxnSpPr/>
          <p:nvPr/>
        </p:nvCxnSpPr>
        <p:spPr>
          <a:xfrm flipV="1">
            <a:off x="1699940" y="2507106"/>
            <a:ext cx="448475" cy="379249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CF747943-CCEA-E39D-58BE-E4B15BC458B6}"/>
              </a:ext>
            </a:extLst>
          </p:cNvPr>
          <p:cNvCxnSpPr/>
          <p:nvPr/>
        </p:nvCxnSpPr>
        <p:spPr>
          <a:xfrm>
            <a:off x="1699940" y="3209645"/>
            <a:ext cx="433971" cy="32889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40B931F8-5615-57C8-7910-924DBC017665}"/>
              </a:ext>
            </a:extLst>
          </p:cNvPr>
          <p:cNvCxnSpPr/>
          <p:nvPr/>
        </p:nvCxnSpPr>
        <p:spPr>
          <a:xfrm>
            <a:off x="903701" y="3039382"/>
            <a:ext cx="419092" cy="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8EC94B6E-2ACE-3C59-9008-D9F001D48E7D}"/>
              </a:ext>
            </a:extLst>
          </p:cNvPr>
          <p:cNvSpPr/>
          <p:nvPr/>
        </p:nvSpPr>
        <p:spPr>
          <a:xfrm>
            <a:off x="194759" y="5104591"/>
            <a:ext cx="1575377" cy="4991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200">
                <a:solidFill>
                  <a:schemeClr val="tx1"/>
                </a:solidFill>
                <a:latin typeface="+mj-lt"/>
              </a:rPr>
              <a:t>Move(E,b)=</a:t>
            </a:r>
            <a:endParaRPr lang="en-US" sz="2200">
              <a:latin typeface="+mj-lt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0EFEAAC-B0DD-9CF8-A2C9-2AB109594FE3}"/>
              </a:ext>
            </a:extLst>
          </p:cNvPr>
          <p:cNvSpPr/>
          <p:nvPr/>
        </p:nvSpPr>
        <p:spPr>
          <a:xfrm>
            <a:off x="920635" y="5162502"/>
            <a:ext cx="1725988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tx1"/>
                </a:solidFill>
                <a:latin typeface="+mj-lt"/>
              </a:rPr>
              <a:t> {5}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0537C3A-0B11-66BD-5524-5C6261154D03}"/>
              </a:ext>
            </a:extLst>
          </p:cNvPr>
          <p:cNvSpPr/>
          <p:nvPr/>
        </p:nvSpPr>
        <p:spPr>
          <a:xfrm>
            <a:off x="190500" y="5534752"/>
            <a:ext cx="2868584" cy="4504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200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𝜖- Closure(</a:t>
            </a:r>
            <a:r>
              <a:rPr lang="en-US" sz="2200">
                <a:solidFill>
                  <a:schemeClr val="tx1"/>
                </a:solidFill>
                <a:latin typeface="+mj-lt"/>
              </a:rPr>
              <a:t>Move(E,b))=</a:t>
            </a:r>
            <a:endParaRPr lang="en-US" sz="2200">
              <a:latin typeface="+mj-lt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993F8BC-672F-729F-8BA8-00DB76F26B91}"/>
              </a:ext>
            </a:extLst>
          </p:cNvPr>
          <p:cNvSpPr/>
          <p:nvPr/>
        </p:nvSpPr>
        <p:spPr>
          <a:xfrm>
            <a:off x="2455163" y="5545668"/>
            <a:ext cx="2536426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tx1"/>
                </a:solidFill>
                <a:latin typeface="+mj-lt"/>
              </a:rPr>
              <a:t> {5,6,7,1,2,4}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5717377-605C-F885-44DB-8A2A0536B537}"/>
              </a:ext>
            </a:extLst>
          </p:cNvPr>
          <p:cNvSpPr/>
          <p:nvPr/>
        </p:nvSpPr>
        <p:spPr>
          <a:xfrm>
            <a:off x="4368432" y="6064587"/>
            <a:ext cx="87266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solidFill>
                  <a:schemeClr val="tx1"/>
                </a:solidFill>
                <a:latin typeface="+mj-lt"/>
              </a:rPr>
              <a:t>---- C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B8B1C25-D828-5B89-F459-554A47C9E923}"/>
              </a:ext>
            </a:extLst>
          </p:cNvPr>
          <p:cNvSpPr/>
          <p:nvPr/>
        </p:nvSpPr>
        <p:spPr>
          <a:xfrm>
            <a:off x="6482416" y="4401275"/>
            <a:ext cx="471465" cy="3626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99FEE6BA-8F19-DE5B-9763-C8EF69151E20}"/>
              </a:ext>
            </a:extLst>
          </p:cNvPr>
          <p:cNvSpPr/>
          <p:nvPr/>
        </p:nvSpPr>
        <p:spPr>
          <a:xfrm>
            <a:off x="6482416" y="4401275"/>
            <a:ext cx="414313" cy="3626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E2793686-6379-523C-C9DC-B3A9FB46F4F4}"/>
              </a:ext>
            </a:extLst>
          </p:cNvPr>
          <p:cNvSpPr/>
          <p:nvPr/>
        </p:nvSpPr>
        <p:spPr>
          <a:xfrm>
            <a:off x="8039639" y="4455552"/>
            <a:ext cx="473773" cy="2514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95664C6-7D50-9E0F-99EC-3B1763E78FA9}"/>
              </a:ext>
            </a:extLst>
          </p:cNvPr>
          <p:cNvSpPr/>
          <p:nvPr/>
        </p:nvSpPr>
        <p:spPr>
          <a:xfrm>
            <a:off x="2284499" y="6056266"/>
            <a:ext cx="2536426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tx1"/>
                </a:solidFill>
                <a:latin typeface="+mj-lt"/>
              </a:rPr>
              <a:t>= {1,2,4,5,6,7}</a:t>
            </a:r>
          </a:p>
        </p:txBody>
      </p:sp>
      <p:graphicFrame>
        <p:nvGraphicFramePr>
          <p:cNvPr id="52" name="Table 51">
            <a:extLst>
              <a:ext uri="{FF2B5EF4-FFF2-40B4-BE49-F238E27FC236}">
                <a16:creationId xmlns:a16="http://schemas.microsoft.com/office/drawing/2014/main" id="{2BDAA493-FAA6-7416-791A-C5C362F086E2}"/>
              </a:ext>
            </a:extLst>
          </p:cNvPr>
          <p:cNvGraphicFramePr>
            <a:graphicFrameLocks noGrp="1"/>
          </p:cNvGraphicFramePr>
          <p:nvPr/>
        </p:nvGraphicFramePr>
        <p:xfrm>
          <a:off x="8724270" y="2030248"/>
          <a:ext cx="3177041" cy="42672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8816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ctr"/>
                      <a:r>
                        <a:rPr lang="en-US" sz="2200"/>
                        <a:t>States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en-US" sz="22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/>
                        <a:t>b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3" name="Table 52">
            <a:extLst>
              <a:ext uri="{FF2B5EF4-FFF2-40B4-BE49-F238E27FC236}">
                <a16:creationId xmlns:a16="http://schemas.microsoft.com/office/drawing/2014/main" id="{50A39FEA-B09D-5FAC-8ADC-2BF91D5AAF1B}"/>
              </a:ext>
            </a:extLst>
          </p:cNvPr>
          <p:cNvGraphicFramePr>
            <a:graphicFrameLocks noGrp="1"/>
          </p:cNvGraphicFramePr>
          <p:nvPr/>
        </p:nvGraphicFramePr>
        <p:xfrm>
          <a:off x="8724271" y="2453188"/>
          <a:ext cx="3177040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88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l"/>
                      <a:r>
                        <a:rPr lang="en-US" sz="1800"/>
                        <a:t>A = {0,1,2,4,7}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en-US" sz="18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C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39454BE6-F3C5-BF64-5DEA-74AF8EBF254E}"/>
              </a:ext>
            </a:extLst>
          </p:cNvPr>
          <p:cNvCxnSpPr/>
          <p:nvPr/>
        </p:nvCxnSpPr>
        <p:spPr>
          <a:xfrm>
            <a:off x="1219573" y="5024624"/>
            <a:ext cx="267829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ectangle 54">
            <a:extLst>
              <a:ext uri="{FF2B5EF4-FFF2-40B4-BE49-F238E27FC236}">
                <a16:creationId xmlns:a16="http://schemas.microsoft.com/office/drawing/2014/main" id="{43B71A60-FE73-2B0F-A83C-FE50ADF03DD1}"/>
              </a:ext>
            </a:extLst>
          </p:cNvPr>
          <p:cNvSpPr/>
          <p:nvPr/>
        </p:nvSpPr>
        <p:spPr>
          <a:xfrm>
            <a:off x="1665645" y="5146289"/>
            <a:ext cx="536893" cy="4268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7D83F09B-3067-A4C7-968B-69631995F04F}"/>
              </a:ext>
            </a:extLst>
          </p:cNvPr>
          <p:cNvSpPr/>
          <p:nvPr/>
        </p:nvSpPr>
        <p:spPr>
          <a:xfrm>
            <a:off x="3107793" y="5568987"/>
            <a:ext cx="215906" cy="37030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D3EC8F22-9DBF-390F-B0AA-B1E62F459C50}"/>
              </a:ext>
            </a:extLst>
          </p:cNvPr>
          <p:cNvSpPr/>
          <p:nvPr/>
        </p:nvSpPr>
        <p:spPr>
          <a:xfrm>
            <a:off x="3345961" y="5568987"/>
            <a:ext cx="271014" cy="30119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65BA2D46-FB02-3AE5-1636-39A8AA5508BE}"/>
              </a:ext>
            </a:extLst>
          </p:cNvPr>
          <p:cNvSpPr/>
          <p:nvPr/>
        </p:nvSpPr>
        <p:spPr>
          <a:xfrm>
            <a:off x="3601494" y="5524889"/>
            <a:ext cx="381358" cy="38278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EAE7B3B5-7287-0330-64D5-D3D3B2EF392C}"/>
              </a:ext>
            </a:extLst>
          </p:cNvPr>
          <p:cNvSpPr/>
          <p:nvPr/>
        </p:nvSpPr>
        <p:spPr>
          <a:xfrm>
            <a:off x="3989995" y="5608909"/>
            <a:ext cx="499928" cy="36214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graphicFrame>
        <p:nvGraphicFramePr>
          <p:cNvPr id="60" name="Table 59">
            <a:extLst>
              <a:ext uri="{FF2B5EF4-FFF2-40B4-BE49-F238E27FC236}">
                <a16:creationId xmlns:a16="http://schemas.microsoft.com/office/drawing/2014/main" id="{11D437FB-64CC-18BE-2EB3-C11D252ED1C3}"/>
              </a:ext>
            </a:extLst>
          </p:cNvPr>
          <p:cNvGraphicFramePr>
            <a:graphicFrameLocks noGrp="1"/>
          </p:cNvGraphicFramePr>
          <p:nvPr/>
        </p:nvGraphicFramePr>
        <p:xfrm>
          <a:off x="8724271" y="2818948"/>
          <a:ext cx="3177040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88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B = {1,2,3,4,6,7,8}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en-US" sz="18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D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1" name="Table 60">
            <a:extLst>
              <a:ext uri="{FF2B5EF4-FFF2-40B4-BE49-F238E27FC236}">
                <a16:creationId xmlns:a16="http://schemas.microsoft.com/office/drawing/2014/main" id="{B75A9962-C7C6-2298-AE59-552A97974DA1}"/>
              </a:ext>
            </a:extLst>
          </p:cNvPr>
          <p:cNvGraphicFramePr>
            <a:graphicFrameLocks noGrp="1"/>
          </p:cNvGraphicFramePr>
          <p:nvPr/>
        </p:nvGraphicFramePr>
        <p:xfrm>
          <a:off x="8724271" y="3192027"/>
          <a:ext cx="3177040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88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l"/>
                      <a:r>
                        <a:rPr lang="en-US" sz="1800"/>
                        <a:t>C = {1,2,4,5,6,7}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en-US" sz="18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C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2" name="Rectangle 61">
            <a:extLst>
              <a:ext uri="{FF2B5EF4-FFF2-40B4-BE49-F238E27FC236}">
                <a16:creationId xmlns:a16="http://schemas.microsoft.com/office/drawing/2014/main" id="{026518F5-1135-2045-EE28-903A5D0092B6}"/>
              </a:ext>
            </a:extLst>
          </p:cNvPr>
          <p:cNvSpPr/>
          <p:nvPr/>
        </p:nvSpPr>
        <p:spPr>
          <a:xfrm>
            <a:off x="8303271" y="5913073"/>
            <a:ext cx="376111" cy="211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B5E2B840-9B9E-20DC-88F8-04399E596E09}"/>
              </a:ext>
            </a:extLst>
          </p:cNvPr>
          <p:cNvSpPr/>
          <p:nvPr/>
        </p:nvSpPr>
        <p:spPr>
          <a:xfrm>
            <a:off x="169609" y="4705845"/>
            <a:ext cx="2741806" cy="3222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>
                <a:solidFill>
                  <a:schemeClr val="tx1"/>
                </a:solidFill>
                <a:latin typeface="+mj-lt"/>
              </a:rPr>
              <a:t>E= {1, 2, 4, 5, 6, 7, 10}</a:t>
            </a:r>
          </a:p>
        </p:txBody>
      </p:sp>
      <p:graphicFrame>
        <p:nvGraphicFramePr>
          <p:cNvPr id="64" name="Table 63">
            <a:extLst>
              <a:ext uri="{FF2B5EF4-FFF2-40B4-BE49-F238E27FC236}">
                <a16:creationId xmlns:a16="http://schemas.microsoft.com/office/drawing/2014/main" id="{BCBD5356-549F-9920-BADF-1598F86CAE6A}"/>
              </a:ext>
            </a:extLst>
          </p:cNvPr>
          <p:cNvGraphicFramePr>
            <a:graphicFrameLocks noGrp="1"/>
          </p:cNvGraphicFramePr>
          <p:nvPr/>
        </p:nvGraphicFramePr>
        <p:xfrm>
          <a:off x="8724271" y="3546688"/>
          <a:ext cx="3177040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88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l"/>
                      <a:r>
                        <a:rPr lang="en-US" sz="1800"/>
                        <a:t>D = {</a:t>
                      </a:r>
                      <a:r>
                        <a:rPr lang="en-US" sz="18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1,2,4,5,6,7,9</a:t>
                      </a:r>
                      <a:r>
                        <a:rPr lang="en-US" sz="1800"/>
                        <a:t>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en-US" sz="18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E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5" name="Table 64">
            <a:extLst>
              <a:ext uri="{FF2B5EF4-FFF2-40B4-BE49-F238E27FC236}">
                <a16:creationId xmlns:a16="http://schemas.microsoft.com/office/drawing/2014/main" id="{001E0DAF-9A43-C6A1-B6C9-BD02DFDD9CA2}"/>
              </a:ext>
            </a:extLst>
          </p:cNvPr>
          <p:cNvGraphicFramePr>
            <a:graphicFrameLocks noGrp="1"/>
          </p:cNvGraphicFramePr>
          <p:nvPr/>
        </p:nvGraphicFramePr>
        <p:xfrm>
          <a:off x="8724270" y="3910147"/>
          <a:ext cx="3177040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88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l"/>
                      <a:r>
                        <a:rPr lang="en-US" sz="1700" b="1"/>
                        <a:t>E = {</a:t>
                      </a:r>
                      <a:r>
                        <a:rPr lang="en-US" sz="17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1,2,4,5,6,7,10</a:t>
                      </a:r>
                      <a:r>
                        <a:rPr lang="en-US" sz="1700" b="1"/>
                        <a:t>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en-US" sz="18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C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6" name="Rectangle 65">
            <a:extLst>
              <a:ext uri="{FF2B5EF4-FFF2-40B4-BE49-F238E27FC236}">
                <a16:creationId xmlns:a16="http://schemas.microsoft.com/office/drawing/2014/main" id="{0D48AEA7-9182-E7D6-746E-3F4A4853B0F1}"/>
              </a:ext>
            </a:extLst>
          </p:cNvPr>
          <p:cNvSpPr/>
          <p:nvPr/>
        </p:nvSpPr>
        <p:spPr>
          <a:xfrm>
            <a:off x="8448462" y="5907673"/>
            <a:ext cx="188056" cy="2167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80E55CFF-10B1-A158-200F-2497773319BD}"/>
              </a:ext>
            </a:extLst>
          </p:cNvPr>
          <p:cNvSpPr/>
          <p:nvPr/>
        </p:nvSpPr>
        <p:spPr>
          <a:xfrm>
            <a:off x="7893141" y="2779059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10</a:t>
            </a: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676C0491-8F6F-AB71-A3E8-0A3FD34283DC}"/>
              </a:ext>
            </a:extLst>
          </p:cNvPr>
          <p:cNvSpPr/>
          <p:nvPr/>
        </p:nvSpPr>
        <p:spPr>
          <a:xfrm>
            <a:off x="7938861" y="2828648"/>
            <a:ext cx="365760" cy="36576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524E034D-9E2D-45BD-840C-0B2AED6D9F82}"/>
              </a:ext>
            </a:extLst>
          </p:cNvPr>
          <p:cNvSpPr/>
          <p:nvPr/>
        </p:nvSpPr>
        <p:spPr>
          <a:xfrm>
            <a:off x="6869835" y="2790159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9</a:t>
            </a: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63E3202D-97B5-7FC1-E2FE-F741E9EB45AA}"/>
              </a:ext>
            </a:extLst>
          </p:cNvPr>
          <p:cNvCxnSpPr/>
          <p:nvPr/>
        </p:nvCxnSpPr>
        <p:spPr>
          <a:xfrm>
            <a:off x="7334592" y="3006852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A371DD32-FE73-AEC1-2A30-A270D877CD91}"/>
              </a:ext>
            </a:extLst>
          </p:cNvPr>
          <p:cNvCxnSpPr/>
          <p:nvPr/>
        </p:nvCxnSpPr>
        <p:spPr>
          <a:xfrm>
            <a:off x="6308667" y="2994945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Rectangle 71">
            <a:extLst>
              <a:ext uri="{FF2B5EF4-FFF2-40B4-BE49-F238E27FC236}">
                <a16:creationId xmlns:a16="http://schemas.microsoft.com/office/drawing/2014/main" id="{5A9328EE-06B9-C90E-B31D-54C148ECBD96}"/>
              </a:ext>
            </a:extLst>
          </p:cNvPr>
          <p:cNvSpPr/>
          <p:nvPr/>
        </p:nvSpPr>
        <p:spPr>
          <a:xfrm>
            <a:off x="11412802" y="3976044"/>
            <a:ext cx="154439" cy="24063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E0CBA7F9-B9EE-5927-A74B-61257793B584}"/>
              </a:ext>
            </a:extLst>
          </p:cNvPr>
          <p:cNvCxnSpPr/>
          <p:nvPr/>
        </p:nvCxnSpPr>
        <p:spPr>
          <a:xfrm rot="5400000">
            <a:off x="5770212" y="3683283"/>
            <a:ext cx="5486400" cy="0"/>
          </a:xfrm>
          <a:prstGeom prst="line">
            <a:avLst/>
          </a:prstGeom>
          <a:ln>
            <a:solidFill>
              <a:srgbClr val="0E47A1"/>
            </a:solidFill>
            <a:prstDash val="solid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2403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7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1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xit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0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xit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7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41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46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7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xit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7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6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57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7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9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60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4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65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8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69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0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xit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7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7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9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80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7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2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83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7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8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9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1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92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3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xit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9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xit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xit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45" grpId="0"/>
      <p:bldP spid="47" grpId="0"/>
      <p:bldP spid="51" grpId="0"/>
      <p:bldP spid="55" grpId="0" animBg="1"/>
      <p:bldP spid="56" grpId="0" animBg="1"/>
      <p:bldP spid="57" grpId="0" animBg="1"/>
      <p:bldP spid="58" grpId="0" animBg="1"/>
      <p:bldP spid="59" grpId="0" animBg="1"/>
      <p:bldP spid="66" grpId="0" animBg="1"/>
      <p:bldP spid="72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5E67F-C3E2-13DD-AFCD-B20CDD7CCC23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Conversion from NFA to DFA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val 2">
                <a:extLst>
                  <a:ext uri="{FF2B5EF4-FFF2-40B4-BE49-F238E27FC236}">
                    <a16:creationId xmlns:a16="http://schemas.microsoft.com/office/drawing/2014/main" id="{C09024F1-6254-6C26-4DEA-9E62E63CAD38}"/>
                  </a:ext>
                </a:extLst>
              </p:cNvPr>
              <p:cNvSpPr/>
              <p:nvPr/>
            </p:nvSpPr>
            <p:spPr>
              <a:xfrm>
                <a:off x="6602545" y="3057289"/>
                <a:ext cx="609600" cy="609600"/>
              </a:xfrm>
              <a:prstGeom prst="ellipse">
                <a:avLst/>
              </a:prstGeom>
              <a:solidFill>
                <a:srgbClr val="0E47A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A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="">
          <p:sp>
            <p:nvSpPr>
              <p:cNvPr id="3" name="Oval 2">
                <a:extLst>
                  <a:ext uri="{FF2B5EF4-FFF2-40B4-BE49-F238E27FC236}">
                    <a16:creationId xmlns:a16="http://schemas.microsoft.com/office/drawing/2014/main" id="{C09024F1-6254-6C26-4DEA-9E62E63CAD3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2545" y="3057289"/>
                <a:ext cx="609600" cy="609600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183F99D1-9D02-6589-689A-A98A0FF990D8}"/>
                  </a:ext>
                </a:extLst>
              </p:cNvPr>
              <p:cNvSpPr/>
              <p:nvPr/>
            </p:nvSpPr>
            <p:spPr>
              <a:xfrm>
                <a:off x="7831300" y="2206015"/>
                <a:ext cx="609600" cy="609600"/>
              </a:xfrm>
              <a:prstGeom prst="ellipse">
                <a:avLst/>
              </a:prstGeom>
              <a:solidFill>
                <a:srgbClr val="0E47A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B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="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183F99D1-9D02-6589-689A-A98A0FF990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1300" y="2206015"/>
                <a:ext cx="609600" cy="609600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2D87CE12-1272-002B-BD83-D712D84F7F38}"/>
                  </a:ext>
                </a:extLst>
              </p:cNvPr>
              <p:cNvSpPr/>
              <p:nvPr/>
            </p:nvSpPr>
            <p:spPr>
              <a:xfrm>
                <a:off x="7831300" y="3784177"/>
                <a:ext cx="609600" cy="609600"/>
              </a:xfrm>
              <a:prstGeom prst="ellipse">
                <a:avLst/>
              </a:prstGeom>
              <a:solidFill>
                <a:srgbClr val="0E47A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C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="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2D87CE12-1272-002B-BD83-D712D84F7F3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1300" y="3784177"/>
                <a:ext cx="609600" cy="609600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A743F00-C8A6-6B4F-6567-6CE357CD9AC9}"/>
              </a:ext>
            </a:extLst>
          </p:cNvPr>
          <p:cNvCxnSpPr>
            <a:stCxn id="3" idx="7"/>
            <a:endCxn id="4" idx="2"/>
          </p:cNvCxnSpPr>
          <p:nvPr/>
        </p:nvCxnSpPr>
        <p:spPr>
          <a:xfrm flipV="1">
            <a:off x="7122871" y="2510815"/>
            <a:ext cx="708429" cy="635748"/>
          </a:xfrm>
          <a:prstGeom prst="straightConnector1">
            <a:avLst/>
          </a:prstGeom>
          <a:ln w="25400">
            <a:solidFill>
              <a:srgbClr val="0E47A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DB3C624-722A-330A-4083-375585ED1A9F}"/>
              </a:ext>
            </a:extLst>
          </p:cNvPr>
          <p:cNvCxnSpPr>
            <a:stCxn id="3" idx="5"/>
            <a:endCxn id="5" idx="2"/>
          </p:cNvCxnSpPr>
          <p:nvPr/>
        </p:nvCxnSpPr>
        <p:spPr>
          <a:xfrm>
            <a:off x="7122871" y="3577615"/>
            <a:ext cx="708429" cy="511362"/>
          </a:xfrm>
          <a:prstGeom prst="straightConnector1">
            <a:avLst/>
          </a:prstGeom>
          <a:ln w="25400">
            <a:solidFill>
              <a:srgbClr val="0E47A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urved Connector 8">
            <a:extLst>
              <a:ext uri="{FF2B5EF4-FFF2-40B4-BE49-F238E27FC236}">
                <a16:creationId xmlns:a16="http://schemas.microsoft.com/office/drawing/2014/main" id="{B8E73AFC-C968-E0E1-D35E-0437818488E6}"/>
              </a:ext>
            </a:extLst>
          </p:cNvPr>
          <p:cNvCxnSpPr>
            <a:stCxn id="4" idx="1"/>
            <a:endCxn id="4" idx="7"/>
          </p:cNvCxnSpPr>
          <p:nvPr/>
        </p:nvCxnSpPr>
        <p:spPr>
          <a:xfrm rot="5400000" flipH="1" flipV="1">
            <a:off x="8136100" y="2079763"/>
            <a:ext cx="12700" cy="431052"/>
          </a:xfrm>
          <a:prstGeom prst="curvedConnector3">
            <a:avLst>
              <a:gd name="adj1" fmla="val 5090449"/>
            </a:avLst>
          </a:prstGeom>
          <a:ln w="25400">
            <a:solidFill>
              <a:srgbClr val="0E47A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37">
            <a:extLst>
              <a:ext uri="{FF2B5EF4-FFF2-40B4-BE49-F238E27FC236}">
                <a16:creationId xmlns:a16="http://schemas.microsoft.com/office/drawing/2014/main" id="{1BBA811E-5EBB-5CCB-23AD-3A11AFB80E6A}"/>
              </a:ext>
            </a:extLst>
          </p:cNvPr>
          <p:cNvSpPr txBox="1"/>
          <p:nvPr/>
        </p:nvSpPr>
        <p:spPr>
          <a:xfrm>
            <a:off x="7148614" y="2463191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+mj-lt"/>
              </a:rPr>
              <a:t>a</a:t>
            </a:r>
          </a:p>
        </p:txBody>
      </p:sp>
      <p:sp>
        <p:nvSpPr>
          <p:cNvPr id="10" name="TextBox 38">
            <a:extLst>
              <a:ext uri="{FF2B5EF4-FFF2-40B4-BE49-F238E27FC236}">
                <a16:creationId xmlns:a16="http://schemas.microsoft.com/office/drawing/2014/main" id="{2B531EE2-BBF8-E9DA-59AA-EA88357B5684}"/>
              </a:ext>
            </a:extLst>
          </p:cNvPr>
          <p:cNvSpPr txBox="1"/>
          <p:nvPr/>
        </p:nvSpPr>
        <p:spPr>
          <a:xfrm>
            <a:off x="7062864" y="374020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+mj-lt"/>
              </a:rPr>
              <a:t>b</a:t>
            </a:r>
          </a:p>
        </p:txBody>
      </p:sp>
      <p:sp>
        <p:nvSpPr>
          <p:cNvPr id="11" name="TextBox 41">
            <a:extLst>
              <a:ext uri="{FF2B5EF4-FFF2-40B4-BE49-F238E27FC236}">
                <a16:creationId xmlns:a16="http://schemas.microsoft.com/office/drawing/2014/main" id="{9783F399-C5BA-CD79-842B-04ACAC9CDCBE}"/>
              </a:ext>
            </a:extLst>
          </p:cNvPr>
          <p:cNvSpPr txBox="1"/>
          <p:nvPr/>
        </p:nvSpPr>
        <p:spPr>
          <a:xfrm>
            <a:off x="7991607" y="1313878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+mj-lt"/>
              </a:rPr>
              <a:t>a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610DFD4-5252-A60C-A9A0-A3503D18FE4D}"/>
              </a:ext>
            </a:extLst>
          </p:cNvPr>
          <p:cNvCxnSpPr/>
          <p:nvPr/>
        </p:nvCxnSpPr>
        <p:spPr>
          <a:xfrm>
            <a:off x="6292987" y="3382102"/>
            <a:ext cx="309558" cy="0"/>
          </a:xfrm>
          <a:prstGeom prst="straightConnector1">
            <a:avLst/>
          </a:prstGeom>
          <a:ln w="25400">
            <a:solidFill>
              <a:srgbClr val="0E47A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urved Connector 13">
            <a:extLst>
              <a:ext uri="{FF2B5EF4-FFF2-40B4-BE49-F238E27FC236}">
                <a16:creationId xmlns:a16="http://schemas.microsoft.com/office/drawing/2014/main" id="{A70E423B-7D7E-5AC1-19D0-3DA69FA67F70}"/>
              </a:ext>
            </a:extLst>
          </p:cNvPr>
          <p:cNvCxnSpPr/>
          <p:nvPr/>
        </p:nvCxnSpPr>
        <p:spPr>
          <a:xfrm rot="16200000" flipH="1" flipV="1">
            <a:off x="8143197" y="4072500"/>
            <a:ext cx="12700" cy="431052"/>
          </a:xfrm>
          <a:prstGeom prst="curvedConnector3">
            <a:avLst>
              <a:gd name="adj1" fmla="val 5090449"/>
            </a:avLst>
          </a:prstGeom>
          <a:ln w="25400">
            <a:solidFill>
              <a:srgbClr val="0E47A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41">
            <a:extLst>
              <a:ext uri="{FF2B5EF4-FFF2-40B4-BE49-F238E27FC236}">
                <a16:creationId xmlns:a16="http://schemas.microsoft.com/office/drawing/2014/main" id="{4098962D-9CB1-30CF-DD81-CA703DCBBC3E}"/>
              </a:ext>
            </a:extLst>
          </p:cNvPr>
          <p:cNvSpPr txBox="1"/>
          <p:nvPr/>
        </p:nvSpPr>
        <p:spPr>
          <a:xfrm>
            <a:off x="7994813" y="4916057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+mj-lt"/>
              </a:rPr>
              <a:t>b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A52AA36-CC3C-DADA-D9F5-C843344AE2EC}"/>
              </a:ext>
            </a:extLst>
          </p:cNvPr>
          <p:cNvCxnSpPr>
            <a:stCxn id="5" idx="0"/>
          </p:cNvCxnSpPr>
          <p:nvPr/>
        </p:nvCxnSpPr>
        <p:spPr>
          <a:xfrm flipH="1" flipV="1">
            <a:off x="8136100" y="2822152"/>
            <a:ext cx="0" cy="962025"/>
          </a:xfrm>
          <a:prstGeom prst="straightConnector1">
            <a:avLst/>
          </a:prstGeom>
          <a:ln w="25400">
            <a:solidFill>
              <a:srgbClr val="0E47A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37">
            <a:extLst>
              <a:ext uri="{FF2B5EF4-FFF2-40B4-BE49-F238E27FC236}">
                <a16:creationId xmlns:a16="http://schemas.microsoft.com/office/drawing/2014/main" id="{61D688AF-B4D0-056A-66AB-D83CE4B37354}"/>
              </a:ext>
            </a:extLst>
          </p:cNvPr>
          <p:cNvSpPr txBox="1"/>
          <p:nvPr/>
        </p:nvSpPr>
        <p:spPr>
          <a:xfrm>
            <a:off x="7859246" y="3226911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+mj-lt"/>
              </a:rPr>
              <a:t>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42FE08FE-045D-5533-8114-21516E4FEC0B}"/>
                  </a:ext>
                </a:extLst>
              </p:cNvPr>
              <p:cNvSpPr/>
              <p:nvPr/>
            </p:nvSpPr>
            <p:spPr>
              <a:xfrm>
                <a:off x="9412473" y="2201252"/>
                <a:ext cx="609600" cy="609600"/>
              </a:xfrm>
              <a:prstGeom prst="ellipse">
                <a:avLst/>
              </a:prstGeom>
              <a:solidFill>
                <a:srgbClr val="0E47A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D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=""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42FE08FE-045D-5533-8114-21516E4FEC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12473" y="2201252"/>
                <a:ext cx="609600" cy="609600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9E7A1C33-E4BE-E6A4-0436-ABA9E7477239}"/>
                  </a:ext>
                </a:extLst>
              </p:cNvPr>
              <p:cNvSpPr/>
              <p:nvPr/>
            </p:nvSpPr>
            <p:spPr>
              <a:xfrm>
                <a:off x="9474379" y="3763467"/>
                <a:ext cx="609600" cy="609600"/>
              </a:xfrm>
              <a:prstGeom prst="ellipse">
                <a:avLst/>
              </a:prstGeom>
              <a:solidFill>
                <a:srgbClr val="0E47A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E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=""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9E7A1C33-E4BE-E6A4-0436-ABA9E747723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74379" y="3763467"/>
                <a:ext cx="609600" cy="609600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Oval 18">
            <a:extLst>
              <a:ext uri="{FF2B5EF4-FFF2-40B4-BE49-F238E27FC236}">
                <a16:creationId xmlns:a16="http://schemas.microsoft.com/office/drawing/2014/main" id="{BABF40A2-96B0-4052-6F83-68CC8ED9B628}"/>
              </a:ext>
            </a:extLst>
          </p:cNvPr>
          <p:cNvSpPr/>
          <p:nvPr/>
        </p:nvSpPr>
        <p:spPr>
          <a:xfrm>
            <a:off x="9550579" y="3839667"/>
            <a:ext cx="457200" cy="4572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latin typeface="+mj-lt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94AED99-ED6E-B053-6D93-88A07AF17A56}"/>
              </a:ext>
            </a:extLst>
          </p:cNvPr>
          <p:cNvCxnSpPr>
            <a:stCxn id="4" idx="7"/>
            <a:endCxn id="17" idx="1"/>
          </p:cNvCxnSpPr>
          <p:nvPr/>
        </p:nvCxnSpPr>
        <p:spPr>
          <a:xfrm flipV="1">
            <a:off x="8351626" y="2290526"/>
            <a:ext cx="1150121" cy="4763"/>
          </a:xfrm>
          <a:prstGeom prst="straightConnector1">
            <a:avLst/>
          </a:prstGeom>
          <a:ln w="25400">
            <a:solidFill>
              <a:srgbClr val="0E47A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4270542-5888-D48B-1253-785CD7EB0599}"/>
              </a:ext>
            </a:extLst>
          </p:cNvPr>
          <p:cNvCxnSpPr/>
          <p:nvPr/>
        </p:nvCxnSpPr>
        <p:spPr>
          <a:xfrm rot="10800000" flipV="1">
            <a:off x="8376673" y="2639462"/>
            <a:ext cx="1150121" cy="4763"/>
          </a:xfrm>
          <a:prstGeom prst="straightConnector1">
            <a:avLst/>
          </a:prstGeom>
          <a:ln w="25400">
            <a:solidFill>
              <a:srgbClr val="0E47A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41">
            <a:extLst>
              <a:ext uri="{FF2B5EF4-FFF2-40B4-BE49-F238E27FC236}">
                <a16:creationId xmlns:a16="http://schemas.microsoft.com/office/drawing/2014/main" id="{F7F8E21E-F0ED-F8DF-AC57-09BB1C389801}"/>
              </a:ext>
            </a:extLst>
          </p:cNvPr>
          <p:cNvSpPr txBox="1"/>
          <p:nvPr/>
        </p:nvSpPr>
        <p:spPr>
          <a:xfrm>
            <a:off x="8776361" y="1907215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+mj-lt"/>
              </a:rPr>
              <a:t>b</a:t>
            </a:r>
          </a:p>
        </p:txBody>
      </p:sp>
      <p:sp>
        <p:nvSpPr>
          <p:cNvPr id="23" name="TextBox 41">
            <a:extLst>
              <a:ext uri="{FF2B5EF4-FFF2-40B4-BE49-F238E27FC236}">
                <a16:creationId xmlns:a16="http://schemas.microsoft.com/office/drawing/2014/main" id="{B7959B63-396C-29D2-2F35-F8A84C6CFBF3}"/>
              </a:ext>
            </a:extLst>
          </p:cNvPr>
          <p:cNvSpPr txBox="1"/>
          <p:nvPr/>
        </p:nvSpPr>
        <p:spPr>
          <a:xfrm>
            <a:off x="8843471" y="2603360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+mj-lt"/>
              </a:rPr>
              <a:t>a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B436A6C-5CF6-3B74-2B98-11A9445126E3}"/>
              </a:ext>
            </a:extLst>
          </p:cNvPr>
          <p:cNvCxnSpPr/>
          <p:nvPr/>
        </p:nvCxnSpPr>
        <p:spPr>
          <a:xfrm rot="10800000" flipH="1" flipV="1">
            <a:off x="9745821" y="2818011"/>
            <a:ext cx="0" cy="962025"/>
          </a:xfrm>
          <a:prstGeom prst="straightConnector1">
            <a:avLst/>
          </a:prstGeom>
          <a:ln w="25400">
            <a:solidFill>
              <a:srgbClr val="0E47A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41">
            <a:extLst>
              <a:ext uri="{FF2B5EF4-FFF2-40B4-BE49-F238E27FC236}">
                <a16:creationId xmlns:a16="http://schemas.microsoft.com/office/drawing/2014/main" id="{BE22DFE3-FB62-A94C-5D2E-82B020C542DD}"/>
              </a:ext>
            </a:extLst>
          </p:cNvPr>
          <p:cNvSpPr txBox="1"/>
          <p:nvPr/>
        </p:nvSpPr>
        <p:spPr>
          <a:xfrm>
            <a:off x="9717273" y="3195209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+mj-lt"/>
              </a:rPr>
              <a:t>b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ABC02653-68B7-6EC0-939D-9D49F879A30B}"/>
              </a:ext>
            </a:extLst>
          </p:cNvPr>
          <p:cNvCxnSpPr/>
          <p:nvPr/>
        </p:nvCxnSpPr>
        <p:spPr>
          <a:xfrm flipH="1" flipV="1">
            <a:off x="8414403" y="4109532"/>
            <a:ext cx="1087344" cy="51"/>
          </a:xfrm>
          <a:prstGeom prst="straightConnector1">
            <a:avLst/>
          </a:prstGeom>
          <a:ln w="25400">
            <a:solidFill>
              <a:srgbClr val="0E47A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41">
            <a:extLst>
              <a:ext uri="{FF2B5EF4-FFF2-40B4-BE49-F238E27FC236}">
                <a16:creationId xmlns:a16="http://schemas.microsoft.com/office/drawing/2014/main" id="{8140D57D-C795-E092-7933-0B677F1091DA}"/>
              </a:ext>
            </a:extLst>
          </p:cNvPr>
          <p:cNvSpPr txBox="1"/>
          <p:nvPr/>
        </p:nvSpPr>
        <p:spPr>
          <a:xfrm>
            <a:off x="8783796" y="4109532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+mj-lt"/>
              </a:rPr>
              <a:t>b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2AE06D9E-F4D1-B927-1015-630C28450E25}"/>
              </a:ext>
            </a:extLst>
          </p:cNvPr>
          <p:cNvCxnSpPr/>
          <p:nvPr/>
        </p:nvCxnSpPr>
        <p:spPr>
          <a:xfrm flipH="1" flipV="1">
            <a:off x="8367668" y="2742383"/>
            <a:ext cx="1212027" cy="1126400"/>
          </a:xfrm>
          <a:prstGeom prst="straightConnector1">
            <a:avLst/>
          </a:prstGeom>
          <a:ln w="25400">
            <a:solidFill>
              <a:srgbClr val="0E47A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41">
            <a:extLst>
              <a:ext uri="{FF2B5EF4-FFF2-40B4-BE49-F238E27FC236}">
                <a16:creationId xmlns:a16="http://schemas.microsoft.com/office/drawing/2014/main" id="{7947372E-81F1-EB6D-174C-F587664DB9B9}"/>
              </a:ext>
            </a:extLst>
          </p:cNvPr>
          <p:cNvSpPr txBox="1"/>
          <p:nvPr/>
        </p:nvSpPr>
        <p:spPr>
          <a:xfrm>
            <a:off x="8735546" y="3198738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+mj-lt"/>
              </a:rPr>
              <a:t>a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640BA0A-7837-2B70-7CB1-91C2361C2EFE}"/>
              </a:ext>
            </a:extLst>
          </p:cNvPr>
          <p:cNvSpPr/>
          <p:nvPr/>
        </p:nvSpPr>
        <p:spPr>
          <a:xfrm>
            <a:off x="1352407" y="4525594"/>
            <a:ext cx="1936294" cy="4390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rgbClr val="0E47A1"/>
                </a:solidFill>
                <a:latin typeface="+mj-lt"/>
              </a:rPr>
              <a:t>Transition Table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BBC8E8D-9E14-0981-1E27-29CFA0615635}"/>
              </a:ext>
            </a:extLst>
          </p:cNvPr>
          <p:cNvSpPr/>
          <p:nvPr/>
        </p:nvSpPr>
        <p:spPr>
          <a:xfrm>
            <a:off x="7559843" y="5195909"/>
            <a:ext cx="2523418" cy="4390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rgbClr val="0E47A1"/>
                </a:solidFill>
                <a:latin typeface="+mj-lt"/>
              </a:rPr>
              <a:t>DFA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ABAB7F4-7B70-701D-2B4E-776FCBAFA372}"/>
              </a:ext>
            </a:extLst>
          </p:cNvPr>
          <p:cNvSpPr/>
          <p:nvPr/>
        </p:nvSpPr>
        <p:spPr>
          <a:xfrm>
            <a:off x="1608636" y="5094425"/>
            <a:ext cx="3801565" cy="11494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>
                <a:solidFill>
                  <a:srgbClr val="C00000"/>
                </a:solidFill>
                <a:latin typeface="+mj-lt"/>
              </a:rPr>
              <a:t>Note: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>
                <a:solidFill>
                  <a:srgbClr val="C00000"/>
                </a:solidFill>
                <a:latin typeface="+mj-lt"/>
              </a:rPr>
              <a:t>Accepting state in NFA is 10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>
                <a:solidFill>
                  <a:srgbClr val="C00000"/>
                </a:solidFill>
                <a:latin typeface="+mj-lt"/>
              </a:rPr>
              <a:t>10 is element of 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>
                <a:solidFill>
                  <a:srgbClr val="C00000"/>
                </a:solidFill>
                <a:latin typeface="+mj-lt"/>
              </a:rPr>
              <a:t> So, E is acceptance state in DFA</a:t>
            </a:r>
          </a:p>
        </p:txBody>
      </p:sp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02DA4C34-787B-6434-161B-D03B15E969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0973071"/>
              </p:ext>
            </p:extLst>
          </p:nvPr>
        </p:nvGraphicFramePr>
        <p:xfrm>
          <a:off x="673808" y="2224917"/>
          <a:ext cx="3177041" cy="42672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8816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ctr"/>
                      <a:r>
                        <a:rPr lang="en-US" sz="2200"/>
                        <a:t>States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en-US" sz="22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/>
                        <a:t>b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4" name="Table 33">
            <a:extLst>
              <a:ext uri="{FF2B5EF4-FFF2-40B4-BE49-F238E27FC236}">
                <a16:creationId xmlns:a16="http://schemas.microsoft.com/office/drawing/2014/main" id="{D680A75A-8FC9-FB4D-FA99-BD47A82AD5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9828931"/>
              </p:ext>
            </p:extLst>
          </p:nvPr>
        </p:nvGraphicFramePr>
        <p:xfrm>
          <a:off x="673809" y="2647857"/>
          <a:ext cx="3177040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88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l"/>
                      <a:r>
                        <a:rPr lang="en-US" sz="1800" b="0"/>
                        <a:t>A = {0,1,2,4,7}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en-US" sz="1800" b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C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820BDA6F-E86D-510B-F6F5-77C231DD9B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2945215"/>
              </p:ext>
            </p:extLst>
          </p:nvPr>
        </p:nvGraphicFramePr>
        <p:xfrm>
          <a:off x="673809" y="3013617"/>
          <a:ext cx="3177040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88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B = {1,2,3,4,6,7,8}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en-US" sz="1800" b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D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0678B779-B1CA-61C8-F161-10F16DDBB9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0446468"/>
              </p:ext>
            </p:extLst>
          </p:nvPr>
        </p:nvGraphicFramePr>
        <p:xfrm>
          <a:off x="673809" y="3386696"/>
          <a:ext cx="3177040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88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l"/>
                      <a:r>
                        <a:rPr lang="en-US" sz="1800" b="0"/>
                        <a:t>C = {1,2,4,5,6,7}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en-US" sz="1800" b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C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35DBA903-482A-3489-D5A5-C1CBA1BDBD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188728"/>
              </p:ext>
            </p:extLst>
          </p:nvPr>
        </p:nvGraphicFramePr>
        <p:xfrm>
          <a:off x="673808" y="3745218"/>
          <a:ext cx="3177040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88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l"/>
                      <a:r>
                        <a:rPr lang="en-US" sz="1800" b="0"/>
                        <a:t>D = {</a:t>
                      </a:r>
                      <a:r>
                        <a:rPr lang="en-US" sz="18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1,2,4,5,6,7,9</a:t>
                      </a:r>
                      <a:r>
                        <a:rPr lang="en-US" sz="1800" b="0"/>
                        <a:t>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en-US" sz="1800" b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E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8" name="Table 37">
            <a:extLst>
              <a:ext uri="{FF2B5EF4-FFF2-40B4-BE49-F238E27FC236}">
                <a16:creationId xmlns:a16="http://schemas.microsoft.com/office/drawing/2014/main" id="{0722E473-E675-4F90-0734-003C487B33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6341232"/>
              </p:ext>
            </p:extLst>
          </p:nvPr>
        </p:nvGraphicFramePr>
        <p:xfrm>
          <a:off x="673808" y="4107198"/>
          <a:ext cx="3177040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88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l"/>
                      <a:r>
                        <a:rPr lang="en-US" sz="1700" b="0"/>
                        <a:t>E = {</a:t>
                      </a:r>
                      <a:r>
                        <a:rPr lang="en-US" sz="17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1,2,4,5,6,7,</a:t>
                      </a:r>
                      <a:r>
                        <a:rPr lang="en-US" sz="1700" b="0" kern="120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r>
                        <a:rPr lang="en-US" sz="1700" b="0"/>
                        <a:t>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en-US" sz="1800" b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C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93796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ntr" presetSubtype="0" dur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1" presetClass="entr" presetSubtype="0" dur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0" presetClass="entr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9" grpId="0"/>
      <p:bldP spid="10" grpId="0"/>
      <p:bldP spid="11" grpId="0"/>
      <p:bldP spid="14" grpId="0"/>
      <p:bldP spid="16" grpId="0"/>
      <p:bldP spid="17" grpId="0" animBg="1"/>
      <p:bldP spid="18" grpId="0" animBg="1"/>
      <p:bldP spid="19" grpId="0" animBg="1"/>
      <p:bldP spid="22" grpId="0"/>
      <p:bldP spid="23" grpId="0"/>
      <p:bldP spid="25" grpId="0"/>
      <p:bldP spid="27" grpId="0"/>
      <p:bldP spid="29" grpId="0"/>
      <p:bldP spid="31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8B189A-4621-25E0-DE95-C9A5802845ED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D08772-E8C0-973A-1CE5-0E04FE0D837C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Convert following regular expression to DFA using subset construction method: </a:t>
            </a:r>
          </a:p>
          <a:p>
            <a:pPr marL="1001712" lvl="1" indent="-457200">
              <a:buFont typeface="+mj-lt"/>
              <a:buAutoNum type="arabicPeriod"/>
            </a:pPr>
            <a:r>
              <a:rPr lang="en-US"/>
              <a:t>(a+b)*a(a+b)</a:t>
            </a:r>
          </a:p>
          <a:p>
            <a:pPr marL="1001712" lvl="1" indent="-457200">
              <a:buFont typeface="+mj-lt"/>
              <a:buAutoNum type="arabicPeriod"/>
            </a:pPr>
            <a:r>
              <a:rPr lang="en-US"/>
              <a:t>(a+b)*ab*a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51784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FBAFB1-7BE6-AE61-D382-3D1421536FAF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DFA optimization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34A64DA-4C48-75BC-0B0F-DBD426789BA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80" y="863444"/>
                <a:ext cx="11929641" cy="5590565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1pPr>
                <a:lvl2pPr marL="6858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457200" indent="-457200">
                  <a:lnSpc>
                    <a:spcPct val="114000"/>
                  </a:lnSpc>
                  <a:spcBef>
                    <a:spcPct val="0"/>
                  </a:spcBef>
                  <a:buFont typeface="+mj-lt"/>
                  <a:buAutoNum type="arabicPeriod"/>
                </a:pPr>
                <a:r>
                  <a:rPr lang="en-US" dirty="0"/>
                  <a:t>Construct an initial partition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lang="en-US" dirty="0"/>
                  <a:t> of the set of states with two groups: the accepting states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dirty="0"/>
                  <a:t> and the non-accepting states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−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dirty="0"/>
                  <a:t>. </a:t>
                </a:r>
              </a:p>
              <a:p>
                <a:pPr marL="457200" indent="-457200">
                  <a:lnSpc>
                    <a:spcPct val="114000"/>
                  </a:lnSpc>
                  <a:spcBef>
                    <a:spcPct val="0"/>
                  </a:spcBef>
                  <a:buFont typeface="+mj-lt"/>
                  <a:buAutoNum type="arabicPeriod"/>
                </a:pPr>
                <a:r>
                  <a:rPr lang="en-US" dirty="0"/>
                  <a:t>Apply the repartition procedure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lang="en-US" dirty="0"/>
                  <a:t> to construct a new partition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Π</m:t>
                    </m:r>
                    <m:r>
                      <a:rPr lang="en-US" i="1" err="1">
                        <a:latin typeface="Cambria Math" panose="02040503050406030204" pitchFamily="18" charset="0"/>
                      </a:rPr>
                      <m:t>𝑛𝑒𝑤</m:t>
                    </m:r>
                  </m:oMath>
                </a14:m>
                <a:r>
                  <a:rPr lang="en-US" dirty="0"/>
                  <a:t>. </a:t>
                </a:r>
              </a:p>
              <a:p>
                <a:pPr marL="457200" indent="-457200">
                  <a:lnSpc>
                    <a:spcPct val="114000"/>
                  </a:lnSpc>
                  <a:spcBef>
                    <a:spcPct val="0"/>
                  </a:spcBef>
                  <a:buFont typeface="+mj-lt"/>
                  <a:buAutoNum type="arabicPeriod"/>
                </a:pPr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𝑛𝑒𝑤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=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lang="en-US" dirty="0"/>
                  <a:t>, 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Π</m:t>
                    </m:r>
                    <m:r>
                      <a:rPr lang="en-US" i="1" err="1">
                        <a:latin typeface="Cambria Math" panose="02040503050406030204" pitchFamily="18" charset="0"/>
                      </a:rPr>
                      <m:t>𝑓𝑖𝑛𝑎𝑙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and continue with step (4). Otherwise, repeat step (2)   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= </m:t>
                    </m:r>
                    <m:r>
                      <m:rPr>
                        <m:sty m:val="p"/>
                      </m:rPr>
                      <a:rPr lang="en-US" err="1">
                        <a:latin typeface="Cambria Math" panose="02040503050406030204" pitchFamily="18" charset="0"/>
                      </a:rPr>
                      <m:t>Π</m:t>
                    </m:r>
                    <m:r>
                      <a:rPr lang="en-US" i="1" err="1">
                        <a:latin typeface="Cambria Math" panose="02040503050406030204" pitchFamily="18" charset="0"/>
                      </a:rPr>
                      <m:t>𝑛𝑒𝑤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0" indent="0" defTabSz="600075">
                  <a:lnSpc>
                    <a:spcPct val="114000"/>
                  </a:lnSpc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r>
                  <a:rPr lang="en-US" dirty="0"/>
                  <a:t>		</a:t>
                </a:r>
                <a:r>
                  <a:rPr lang="en-US" b="1" dirty="0"/>
                  <a:t>for</a:t>
                </a:r>
                <a:r>
                  <a:rPr lang="en-US" dirty="0"/>
                  <a:t> each group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/>
                  <a:t>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lang="en-US" dirty="0"/>
                  <a:t> </a:t>
                </a:r>
                <a:r>
                  <a:rPr lang="en-US" b="1" dirty="0"/>
                  <a:t>do begin </a:t>
                </a:r>
              </a:p>
              <a:p>
                <a:pPr marL="0" indent="0" defTabSz="704850">
                  <a:lnSpc>
                    <a:spcPct val="114000"/>
                  </a:lnSpc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r>
                  <a:rPr lang="en-US" dirty="0"/>
                  <a:t>			partition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/>
                  <a:t> into subgroups such that two states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dirty="0"/>
              </a:p>
              <a:p>
                <a:pPr marL="0" indent="0" defTabSz="642938">
                  <a:lnSpc>
                    <a:spcPct val="114000"/>
                  </a:lnSpc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r>
                  <a:rPr lang="en-US" dirty="0"/>
                  <a:t>				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/>
                  <a:t> are in the same subgroup if and only if for all </a:t>
                </a:r>
              </a:p>
              <a:p>
                <a:pPr marL="0" indent="0" defTabSz="198438">
                  <a:lnSpc>
                    <a:spcPct val="114000"/>
                  </a:lnSpc>
                  <a:spcBef>
                    <a:spcPct val="0"/>
                  </a:spcBef>
                  <a:buFont typeface="Arial" panose="020B0604020202020204" pitchFamily="34" charset="0"/>
                  <a:buNone/>
                  <a:tabLst>
                    <a:tab pos="2057400" algn="l"/>
                  </a:tabLst>
                </a:pPr>
                <a:r>
                  <a:rPr lang="en-US" dirty="0"/>
                  <a:t>				input symbols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, states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 have transitions 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lang="en-US" dirty="0"/>
              </a:p>
              <a:p>
                <a:pPr marL="0" indent="0" defTabSz="657225">
                  <a:lnSpc>
                    <a:spcPct val="114000"/>
                  </a:lnSpc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r>
                  <a:rPr lang="en-US" dirty="0"/>
                  <a:t>				to states in the same group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lang="en-US" dirty="0"/>
                  <a:t>. </a:t>
                </a:r>
              </a:p>
              <a:p>
                <a:pPr marL="0" indent="0" defTabSz="704850">
                  <a:lnSpc>
                    <a:spcPct val="114000"/>
                  </a:lnSpc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r>
                  <a:rPr lang="en-US" dirty="0"/>
                  <a:t>			replace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/>
                  <a:t>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Π</m:t>
                    </m:r>
                    <m:r>
                      <a:rPr lang="en-US" i="1" err="1">
                        <a:latin typeface="Cambria Math" panose="02040503050406030204" pitchFamily="18" charset="0"/>
                      </a:rPr>
                      <m:t>𝑛𝑒𝑤</m:t>
                    </m:r>
                  </m:oMath>
                </a14:m>
                <a:r>
                  <a:rPr lang="en-US" dirty="0"/>
                  <a:t> by the set of all subgroups formed.</a:t>
                </a:r>
              </a:p>
              <a:p>
                <a:pPr marL="1200150" indent="0" defTabSz="704850">
                  <a:lnSpc>
                    <a:spcPct val="114000"/>
                  </a:lnSpc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r>
                  <a:rPr lang="en-US" b="1" dirty="0"/>
                  <a:t>end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34A64DA-4C48-75BC-0B0F-DBD426789B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80" y="863444"/>
                <a:ext cx="11929641" cy="5590565"/>
              </a:xfrm>
              <a:prstGeom prst="rect">
                <a:avLst/>
              </a:prstGeom>
              <a:blipFill>
                <a:blip r:embed="rId2"/>
                <a:stretch>
                  <a:fillRect l="-1278" t="-1527" r="-1074" b="-861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9022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dur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dur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dur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dur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dur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dur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dur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127DA-A0DD-C085-DC9B-EAD728C704BC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DFA optimization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130E0A5-771D-D1F8-5C94-93E923DB84E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80" y="863444"/>
                <a:ext cx="11929641" cy="5590565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1pPr>
                <a:lvl2pPr marL="6858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457200" indent="-457200">
                  <a:lnSpc>
                    <a:spcPct val="114000"/>
                  </a:lnSpc>
                  <a:spcBef>
                    <a:spcPts val="600"/>
                  </a:spcBef>
                  <a:spcAft>
                    <a:spcPts val="600"/>
                  </a:spcAft>
                  <a:buFont typeface="+mj-lt"/>
                  <a:buAutoNum type="arabicPeriod" startAt="4"/>
                </a:pPr>
                <a:r>
                  <a:rPr lang="en-US"/>
                  <a:t>Choose one state in each group of the partition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Π</m:t>
                    </m:r>
                    <m:r>
                      <a:rPr lang="en-US" i="1" err="1">
                        <a:latin typeface="Cambria Math" panose="02040503050406030204" pitchFamily="18" charset="0"/>
                      </a:rPr>
                      <m:t>𝑓𝑖𝑛𝑎𝑙</m:t>
                    </m:r>
                  </m:oMath>
                </a14:m>
                <a:r>
                  <a:rPr lang="en-US"/>
                  <a:t> as the representative for that group. The representatives will be the states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/>
                  <a:t>. Let s be a representative state, and suppose on input a there is a transition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/>
                  <a:t> from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/>
                  <a:t> to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/>
                  <a:t>. Let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/>
                  <a:t> be the representative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/>
                  <a:t>s group. Then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/>
                  <a:t> has a transition from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/>
                  <a:t> to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/>
                  <a:t> 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/>
                  <a:t>. Let the start state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/>
                  <a:t> be the representative of the group containing start state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 baseline="-2500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/>
                  <a:t>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/>
                  <a:t>, and let the accepting states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/>
                  <a:t> be the representatives that are in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/>
                  <a:t>. </a:t>
                </a:r>
              </a:p>
              <a:p>
                <a:pPr marL="457200" indent="-457200">
                  <a:lnSpc>
                    <a:spcPct val="114000"/>
                  </a:lnSpc>
                  <a:spcBef>
                    <a:spcPts val="600"/>
                  </a:spcBef>
                  <a:spcAft>
                    <a:spcPts val="600"/>
                  </a:spcAft>
                  <a:buFont typeface="+mj-lt"/>
                  <a:buAutoNum type="arabicPeriod" startAt="4"/>
                </a:pPr>
                <a:r>
                  <a:rPr lang="en-US"/>
                  <a:t>If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/>
                  <a:t> has a dead state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/>
                  <a:t>, then remove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/>
                  <a:t> from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/>
                  <a:t>. Also remove any state not reachable from the start state.</a:t>
                </a:r>
              </a:p>
              <a:p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130E0A5-771D-D1F8-5C94-93E923DB84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80" y="863444"/>
                <a:ext cx="11929641" cy="5590565"/>
              </a:xfrm>
              <a:prstGeom prst="rect">
                <a:avLst/>
              </a:prstGeom>
              <a:blipFill>
                <a:blip r:embed="rId2"/>
                <a:stretch>
                  <a:fillRect l="-1278" t="-1527" r="-10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3564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F04D8-68D2-EBBF-DF00-86F806937904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DFA optimization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7930CF-5E29-C45B-7E19-F53CE19AC1AA}"/>
              </a:ext>
            </a:extLst>
          </p:cNvPr>
          <p:cNvSpPr txBox="1">
            <a:spLocks/>
          </p:cNvSpPr>
          <p:nvPr/>
        </p:nvSpPr>
        <p:spPr>
          <a:xfrm>
            <a:off x="131180" y="4969345"/>
            <a:ext cx="5920221" cy="1484663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Now no more splitting is possible.</a:t>
            </a:r>
          </a:p>
          <a:p>
            <a:r>
              <a:rPr lang="en-US"/>
              <a:t>If we chose A as the representative for group (AC), then we obtain reduced transition table</a:t>
            </a:r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E383E3F-8239-DF80-7D7F-7DCC71E574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6015889"/>
              </p:ext>
            </p:extLst>
          </p:nvPr>
        </p:nvGraphicFramePr>
        <p:xfrm>
          <a:off x="7312486" y="1482516"/>
          <a:ext cx="2347906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525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A 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en-US" sz="1800" b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C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B27AE1D-909A-8C37-34C0-ED3EB1ABDD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000770"/>
              </p:ext>
            </p:extLst>
          </p:nvPr>
        </p:nvGraphicFramePr>
        <p:xfrm>
          <a:off x="7312487" y="1848276"/>
          <a:ext cx="2347905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525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B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en-US" sz="1800" b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D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2020882-8A9D-E19B-89C9-50AE1557BE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802187"/>
              </p:ext>
            </p:extLst>
          </p:nvPr>
        </p:nvGraphicFramePr>
        <p:xfrm>
          <a:off x="7312486" y="2221355"/>
          <a:ext cx="2347906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525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C 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en-US" sz="1800" b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C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3C0C473-B683-42AE-82C4-93FF447037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0813793"/>
              </p:ext>
            </p:extLst>
          </p:nvPr>
        </p:nvGraphicFramePr>
        <p:xfrm>
          <a:off x="7312486" y="2588198"/>
          <a:ext cx="2347906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525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D 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en-US" sz="1800" b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E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4DAA7CE-2323-6D3B-60EE-F4BC653EB7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355268"/>
              </p:ext>
            </p:extLst>
          </p:nvPr>
        </p:nvGraphicFramePr>
        <p:xfrm>
          <a:off x="7312486" y="2953958"/>
          <a:ext cx="2342114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467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ctr"/>
                      <a:r>
                        <a:rPr lang="en-US" sz="1700" b="0"/>
                        <a:t>E 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en-US" sz="1800" b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C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1381AD1-8773-A1E6-D58C-E5D890AA23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6023108"/>
              </p:ext>
            </p:extLst>
          </p:nvPr>
        </p:nvGraphicFramePr>
        <p:xfrm>
          <a:off x="7312485" y="1113097"/>
          <a:ext cx="2347906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525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ctr"/>
                      <a:r>
                        <a:rPr lang="en-US" sz="1800" b="1"/>
                        <a:t>States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en-US" sz="1800" b="1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/>
                        <a:t>b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9AD2AE98-70BD-4F3B-FCFE-C1CF5EADFB8C}"/>
                  </a:ext>
                </a:extLst>
              </p:cNvPr>
              <p:cNvSpPr/>
              <p:nvPr/>
            </p:nvSpPr>
            <p:spPr>
              <a:xfrm>
                <a:off x="2667000" y="1295977"/>
                <a:ext cx="1524000" cy="381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sz="20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9AD2AE98-70BD-4F3B-FCFE-C1CF5EADFB8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7000" y="1295977"/>
                <a:ext cx="1524000" cy="381000"/>
              </a:xfrm>
              <a:prstGeom prst="rect">
                <a:avLst/>
              </a:prstGeom>
              <a:blipFill>
                <a:blip r:embed="rId2"/>
                <a:stretch>
                  <a:fillRect l="-6800" r="-2800" b="-1935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1D747EC7-5348-FE2A-EA90-E8F3605B436B}"/>
                  </a:ext>
                </a:extLst>
              </p:cNvPr>
              <p:cNvSpPr/>
              <p:nvPr/>
            </p:nvSpPr>
            <p:spPr>
              <a:xfrm>
                <a:off x="533400" y="1947285"/>
                <a:ext cx="2876550" cy="82271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>
                    <a:solidFill>
                      <a:schemeClr val="tx1"/>
                    </a:solidFill>
                  </a:rPr>
                  <a:t>Nonaccepting States  </a:t>
                </a: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20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1D747EC7-5348-FE2A-EA90-E8F3605B436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0" y="1947285"/>
                <a:ext cx="2876550" cy="822710"/>
              </a:xfrm>
              <a:prstGeom prst="rect">
                <a:avLst/>
              </a:prstGeom>
              <a:blipFill>
                <a:blip r:embed="rId3"/>
                <a:stretch>
                  <a:fillRect b="-74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D7D62578-A04B-AC40-AECD-80241793581C}"/>
                  </a:ext>
                </a:extLst>
              </p:cNvPr>
              <p:cNvSpPr/>
              <p:nvPr/>
            </p:nvSpPr>
            <p:spPr>
              <a:xfrm>
                <a:off x="3052770" y="1947285"/>
                <a:ext cx="2876550" cy="82271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>
                    <a:solidFill>
                      <a:schemeClr val="tx1"/>
                    </a:solidFill>
                  </a:rPr>
                  <a:t>Accepting States  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sz="20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D7D62578-A04B-AC40-AECD-80241793581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2770" y="1947285"/>
                <a:ext cx="2876550" cy="822710"/>
              </a:xfrm>
              <a:prstGeom prst="rect">
                <a:avLst/>
              </a:prstGeom>
              <a:blipFill>
                <a:blip r:embed="rId4"/>
                <a:stretch>
                  <a:fillRect b="-74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8DAD0CA-C87E-9837-FA9D-C24B6D911395}"/>
              </a:ext>
            </a:extLst>
          </p:cNvPr>
          <p:cNvCxnSpPr/>
          <p:nvPr/>
        </p:nvCxnSpPr>
        <p:spPr>
          <a:xfrm flipH="1">
            <a:off x="2667000" y="1676977"/>
            <a:ext cx="742950" cy="354179"/>
          </a:xfrm>
          <a:prstGeom prst="straightConnector1">
            <a:avLst/>
          </a:prstGeom>
          <a:ln w="25400">
            <a:solidFill>
              <a:srgbClr val="0E47A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C0A67CA-C825-054D-EEFB-C84A83E82C22}"/>
              </a:ext>
            </a:extLst>
          </p:cNvPr>
          <p:cNvCxnSpPr/>
          <p:nvPr/>
        </p:nvCxnSpPr>
        <p:spPr>
          <a:xfrm>
            <a:off x="3395662" y="1677906"/>
            <a:ext cx="781050" cy="396114"/>
          </a:xfrm>
          <a:prstGeom prst="straightConnector1">
            <a:avLst/>
          </a:prstGeom>
          <a:ln w="25400">
            <a:solidFill>
              <a:srgbClr val="0E47A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48F21F6F-895A-1C76-1AE0-A45B919E706B}"/>
                  </a:ext>
                </a:extLst>
              </p:cNvPr>
              <p:cNvSpPr/>
              <p:nvPr/>
            </p:nvSpPr>
            <p:spPr>
              <a:xfrm>
                <a:off x="344672" y="2905644"/>
                <a:ext cx="1766896" cy="82271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>
                    <a:solidFill>
                      <a:schemeClr val="tx1"/>
                    </a:solidFill>
                  </a:rPr>
                  <a:t>  </a:t>
                </a: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20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48F21F6F-895A-1C76-1AE0-A45B919E706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672" y="2905644"/>
                <a:ext cx="1766896" cy="8227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23BD3F25-6B64-EAAF-539C-253175A4AB2B}"/>
                  </a:ext>
                </a:extLst>
              </p:cNvPr>
              <p:cNvSpPr/>
              <p:nvPr/>
            </p:nvSpPr>
            <p:spPr>
              <a:xfrm>
                <a:off x="2642906" y="2919932"/>
                <a:ext cx="695317" cy="82271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sz="20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23BD3F25-6B64-EAAF-539C-253175A4AB2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2906" y="2919932"/>
                <a:ext cx="695317" cy="8227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AD5B6AC-1DAE-186C-656E-8E4559D20A6D}"/>
              </a:ext>
            </a:extLst>
          </p:cNvPr>
          <p:cNvCxnSpPr/>
          <p:nvPr/>
        </p:nvCxnSpPr>
        <p:spPr>
          <a:xfrm flipH="1">
            <a:off x="1368618" y="2721064"/>
            <a:ext cx="742950" cy="354179"/>
          </a:xfrm>
          <a:prstGeom prst="straightConnector1">
            <a:avLst/>
          </a:prstGeom>
          <a:ln w="25400">
            <a:solidFill>
              <a:srgbClr val="0E47A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5635B12-F50F-B46A-5FD4-318C867F569F}"/>
              </a:ext>
            </a:extLst>
          </p:cNvPr>
          <p:cNvCxnSpPr/>
          <p:nvPr/>
        </p:nvCxnSpPr>
        <p:spPr>
          <a:xfrm>
            <a:off x="2097280" y="2721993"/>
            <a:ext cx="781050" cy="396114"/>
          </a:xfrm>
          <a:prstGeom prst="straightConnector1">
            <a:avLst/>
          </a:prstGeom>
          <a:ln w="25400">
            <a:solidFill>
              <a:srgbClr val="0E47A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164992A-1B8F-2209-F848-5E3B54C10F03}"/>
              </a:ext>
            </a:extLst>
          </p:cNvPr>
          <p:cNvCxnSpPr/>
          <p:nvPr/>
        </p:nvCxnSpPr>
        <p:spPr>
          <a:xfrm flipH="1">
            <a:off x="595145" y="3527869"/>
            <a:ext cx="742950" cy="354179"/>
          </a:xfrm>
          <a:prstGeom prst="straightConnector1">
            <a:avLst/>
          </a:prstGeom>
          <a:ln w="25400">
            <a:solidFill>
              <a:srgbClr val="0E47A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F2605AA-DEB7-5E60-3AF2-9545BC99EB8D}"/>
              </a:ext>
            </a:extLst>
          </p:cNvPr>
          <p:cNvCxnSpPr/>
          <p:nvPr/>
        </p:nvCxnSpPr>
        <p:spPr>
          <a:xfrm>
            <a:off x="1323807" y="3528798"/>
            <a:ext cx="781050" cy="396114"/>
          </a:xfrm>
          <a:prstGeom prst="straightConnector1">
            <a:avLst/>
          </a:prstGeom>
          <a:ln w="25400">
            <a:solidFill>
              <a:srgbClr val="0E47A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F30E1ACC-DE9C-E99A-80CC-00C21486FE13}"/>
                  </a:ext>
                </a:extLst>
              </p:cNvPr>
              <p:cNvSpPr/>
              <p:nvPr/>
            </p:nvSpPr>
            <p:spPr>
              <a:xfrm>
                <a:off x="1198140" y="3699388"/>
                <a:ext cx="1766896" cy="82271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>
                    <a:solidFill>
                      <a:schemeClr val="tx1"/>
                    </a:solidFill>
                  </a:rPr>
                  <a:t>  </a:t>
                </a: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20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F30E1ACC-DE9C-E99A-80CC-00C21486FE1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8140" y="3699388"/>
                <a:ext cx="1766896" cy="8227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0CB34ECF-DCFD-A82D-2460-E2DD550295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6915905"/>
              </p:ext>
            </p:extLst>
          </p:nvPr>
        </p:nvGraphicFramePr>
        <p:xfrm>
          <a:off x="7314986" y="4183238"/>
          <a:ext cx="2347906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525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A 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en-US" sz="1800" b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A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09094BF8-C04E-7EC7-5860-CCB26D27CF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2110952"/>
              </p:ext>
            </p:extLst>
          </p:nvPr>
        </p:nvGraphicFramePr>
        <p:xfrm>
          <a:off x="7314987" y="4548998"/>
          <a:ext cx="2347905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525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B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en-US" sz="1800" b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D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BEA12274-240F-BA9A-40B1-C982389134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9766900"/>
              </p:ext>
            </p:extLst>
          </p:nvPr>
        </p:nvGraphicFramePr>
        <p:xfrm>
          <a:off x="7320777" y="4915740"/>
          <a:ext cx="2347906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525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D 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en-US" sz="1800" b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E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58BD6CCB-DDC1-E0BB-8BD0-95FEAC643C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0963953"/>
              </p:ext>
            </p:extLst>
          </p:nvPr>
        </p:nvGraphicFramePr>
        <p:xfrm>
          <a:off x="7323673" y="5282482"/>
          <a:ext cx="2342114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467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ctr"/>
                      <a:r>
                        <a:rPr lang="en-US" sz="1700" b="0"/>
                        <a:t>E 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en-US" sz="1800" b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A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E309214A-B43C-D167-1119-E9CD0BCB1D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1053418"/>
              </p:ext>
            </p:extLst>
          </p:nvPr>
        </p:nvGraphicFramePr>
        <p:xfrm>
          <a:off x="7314985" y="3813819"/>
          <a:ext cx="2347906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525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ctr"/>
                      <a:r>
                        <a:rPr lang="en-US" sz="1800" b="1"/>
                        <a:t>States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en-US" sz="1800" b="1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/>
                        <a:t>b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7A6AB370-3636-C47D-E620-9670E22AB49F}"/>
              </a:ext>
            </a:extLst>
          </p:cNvPr>
          <p:cNvSpPr txBox="1"/>
          <p:nvPr/>
        </p:nvSpPr>
        <p:spPr>
          <a:xfrm>
            <a:off x="7542230" y="5643245"/>
            <a:ext cx="1905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solidFill>
                  <a:srgbClr val="0E47A1"/>
                </a:solidFill>
              </a:rPr>
              <a:t>Optimized Transition Table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324ABFD4-09EC-0238-E39B-3116429E59CD}"/>
              </a:ext>
            </a:extLst>
          </p:cNvPr>
          <p:cNvCxnSpPr/>
          <p:nvPr/>
        </p:nvCxnSpPr>
        <p:spPr>
          <a:xfrm rot="5400000">
            <a:off x="3861202" y="3598933"/>
            <a:ext cx="5486400" cy="0"/>
          </a:xfrm>
          <a:prstGeom prst="line">
            <a:avLst/>
          </a:prstGeom>
          <a:ln>
            <a:solidFill>
              <a:srgbClr val="0E47A1"/>
            </a:solidFill>
            <a:prstDash val="solid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338658A7-FDB3-3EC2-BA54-DB9C5BEE4577}"/>
                  </a:ext>
                </a:extLst>
              </p:cNvPr>
              <p:cNvSpPr/>
              <p:nvPr/>
            </p:nvSpPr>
            <p:spPr>
              <a:xfrm>
                <a:off x="-331163" y="3699388"/>
                <a:ext cx="1766896" cy="82271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>
                    <a:solidFill>
                      <a:schemeClr val="tx1"/>
                    </a:solidFill>
                  </a:rPr>
                  <a:t>  </a:t>
                </a: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20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338658A7-FDB3-3EC2-BA54-DB9C5BEE457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31163" y="3699388"/>
                <a:ext cx="1766896" cy="8227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53089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1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5" grpId="0"/>
      <p:bldP spid="16" grpId="0"/>
      <p:bldP spid="21" grpId="0"/>
      <p:bldP spid="29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22723</TotalTime>
  <Words>2708</Words>
  <Application>Microsoft Office PowerPoint</Application>
  <PresentationFormat>Widescreen</PresentationFormat>
  <Paragraphs>823</Paragraphs>
  <Slides>31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7" baseType="lpstr">
      <vt:lpstr>Arial</vt:lpstr>
      <vt:lpstr>Calibri</vt:lpstr>
      <vt:lpstr>Cambria Math</vt:lpstr>
      <vt:lpstr>Palatino Linotype</vt:lpstr>
      <vt:lpstr>Wingdings 3</vt:lpstr>
      <vt:lpstr>Office Theme</vt:lpstr>
      <vt:lpstr>PowerPoint Presentation</vt:lpstr>
      <vt:lpstr>Course Outcomes</vt:lpstr>
      <vt:lpstr>Syllabus</vt:lpstr>
      <vt:lpstr>Cont..</vt:lpstr>
      <vt:lpstr>Finite Automata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Conversion from NFA to DFA using subset construction method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Mathematical Logic And Algebraic Structures</dc:title>
  <dc:creator>HP</dc:creator>
  <cp:lastModifiedBy>Arumuga Arun R</cp:lastModifiedBy>
  <cp:revision>696</cp:revision>
  <dcterms:created xsi:type="dcterms:W3CDTF">2020-07-30T09:53:05Z</dcterms:created>
  <dcterms:modified xsi:type="dcterms:W3CDTF">2024-07-23T17:12:25Z</dcterms:modified>
</cp:coreProperties>
</file>