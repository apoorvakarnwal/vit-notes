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485"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8/15/2024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8/15/2024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325" y="802298"/>
            <a:ext cx="10359527" cy="2541431"/>
          </a:xfrm>
        </p:spPr>
        <p:txBody>
          <a:bodyPr>
            <a:normAutofit/>
          </a:bodyPr>
          <a:lstStyle/>
          <a:p>
            <a:r>
              <a:rPr lang="en-US" dirty="0"/>
              <a:t>Compiler Design</a:t>
            </a:r>
            <a:br>
              <a:rPr lang="en-US" dirty="0"/>
            </a:br>
            <a:r>
              <a:rPr lang="en-US" dirty="0" smtClean="0"/>
              <a:t>Top Down Parsing</a:t>
            </a:r>
            <a:endParaRPr lang="en-US" dirty="0"/>
          </a:p>
        </p:txBody>
      </p:sp>
      <p:sp>
        <p:nvSpPr>
          <p:cNvPr id="3" name="Subtitle 2"/>
          <p:cNvSpPr>
            <a:spLocks noGrp="1"/>
          </p:cNvSpPr>
          <p:nvPr>
            <p:ph type="subTitle" idx="1"/>
          </p:nvPr>
        </p:nvSpPr>
        <p:spPr>
          <a:xfrm>
            <a:off x="2409825" y="3531204"/>
            <a:ext cx="8645027" cy="1555146"/>
          </a:xfrm>
        </p:spPr>
        <p:txBody>
          <a:bodyPr>
            <a:normAutofit/>
          </a:bodyPr>
          <a:lstStyle/>
          <a:p>
            <a:r>
              <a:rPr lang="en-US" dirty="0" smtClean="0"/>
              <a:t>Dr. Bhawana </a:t>
            </a:r>
            <a:r>
              <a:rPr lang="en-US" dirty="0" err="1" smtClean="0"/>
              <a:t>tyagi</a:t>
            </a:r>
            <a:endParaRPr lang="en-US" dirty="0"/>
          </a:p>
        </p:txBody>
      </p:sp>
    </p:spTree>
    <p:extLst>
      <p:ext uri="{BB962C8B-B14F-4D97-AF65-F5344CB8AC3E}">
        <p14:creationId xmlns:p14="http://schemas.microsoft.com/office/powerpoint/2010/main" val="128632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650663" y="2220601"/>
            <a:ext cx="8637587" cy="2541587"/>
          </a:xfrm>
        </p:spPr>
        <p:txBody>
          <a:bodyPr>
            <a:normAutofit/>
          </a:bodyPr>
          <a:lstStyle/>
          <a:p>
            <a:pPr algn="ctr"/>
            <a:r>
              <a:rPr lang="en-US" sz="6000" dirty="0" smtClean="0"/>
              <a:t>Top Down Parsing</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Top Down Parsing</a:t>
            </a:r>
            <a:endParaRPr lang="en-US" dirty="0"/>
          </a:p>
        </p:txBody>
      </p:sp>
      <p:sp>
        <p:nvSpPr>
          <p:cNvPr id="3" name="Content Placeholder 2"/>
          <p:cNvSpPr>
            <a:spLocks noGrp="1"/>
          </p:cNvSpPr>
          <p:nvPr>
            <p:ph idx="1"/>
          </p:nvPr>
        </p:nvSpPr>
        <p:spPr/>
        <p:txBody>
          <a:bodyPr>
            <a:normAutofit/>
          </a:bodyPr>
          <a:lstStyle/>
          <a:p>
            <a:r>
              <a:rPr lang="en-US" sz="2800" dirty="0" smtClean="0">
                <a:latin typeface="Arial" pitchFamily="34" charset="0"/>
                <a:cs typeface="Arial" pitchFamily="34" charset="0"/>
              </a:rPr>
              <a:t>The </a:t>
            </a:r>
            <a:r>
              <a:rPr lang="en-US" sz="2800" dirty="0">
                <a:latin typeface="Arial" pitchFamily="34" charset="0"/>
                <a:cs typeface="Arial" pitchFamily="34" charset="0"/>
              </a:rPr>
              <a:t>parse tree is being constructed in top down </a:t>
            </a:r>
            <a:r>
              <a:rPr lang="en-US" sz="2800" dirty="0" smtClean="0">
                <a:latin typeface="Arial" pitchFamily="34" charset="0"/>
                <a:cs typeface="Arial" pitchFamily="34" charset="0"/>
              </a:rPr>
              <a:t>manner.</a:t>
            </a:r>
          </a:p>
          <a:p>
            <a:r>
              <a:rPr lang="en-US" sz="2800" dirty="0" smtClean="0">
                <a:latin typeface="Arial" pitchFamily="34" charset="0"/>
                <a:cs typeface="Arial" pitchFamily="34" charset="0"/>
              </a:rPr>
              <a:t>The </a:t>
            </a:r>
            <a:r>
              <a:rPr lang="en-US" sz="2800" dirty="0">
                <a:latin typeface="Arial" pitchFamily="34" charset="0"/>
                <a:cs typeface="Arial" pitchFamily="34" charset="0"/>
              </a:rPr>
              <a:t>generation of the parse tree is started from the start symbol and proceeds towards the given input string. </a:t>
            </a:r>
            <a:endParaRPr lang="en-US" sz="2800" dirty="0" smtClean="0">
              <a:latin typeface="Arial" pitchFamily="34" charset="0"/>
              <a:cs typeface="Arial" pitchFamily="34" charset="0"/>
            </a:endParaRPr>
          </a:p>
          <a:p>
            <a:r>
              <a:rPr lang="en-US" sz="2800" dirty="0" smtClean="0">
                <a:latin typeface="Arial" pitchFamily="34" charset="0"/>
                <a:cs typeface="Arial" pitchFamily="34" charset="0"/>
              </a:rPr>
              <a:t>Basically </a:t>
            </a:r>
            <a:r>
              <a:rPr lang="en-US" sz="2800" dirty="0">
                <a:latin typeface="Arial" pitchFamily="34" charset="0"/>
                <a:cs typeface="Arial" pitchFamily="34" charset="0"/>
              </a:rPr>
              <a:t>it follows the leftmost derivation for the given input string.</a:t>
            </a:r>
          </a:p>
          <a:p>
            <a:endParaRPr lang="en-US" sz="2800"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smtClean="0"/>
              <a:t>Example:</a:t>
            </a:r>
            <a:r>
              <a:rPr lang="en-US" sz="1800" dirty="0" smtClean="0"/>
              <a:t> The production rules of the given grammar </a:t>
            </a:r>
            <a:r>
              <a:rPr lang="en-US" sz="1800" dirty="0" smtClean="0"/>
              <a:t>is. </a:t>
            </a:r>
            <a:br>
              <a:rPr lang="en-US" sz="1800" dirty="0" smtClean="0"/>
            </a:br>
            <a:r>
              <a:rPr lang="en-US" sz="1800" dirty="0" smtClean="0"/>
              <a:t>Construct </a:t>
            </a:r>
            <a:r>
              <a:rPr lang="en-US" sz="1800" dirty="0" smtClean="0"/>
              <a:t>the parse tree for the </a:t>
            </a:r>
            <a:r>
              <a:rPr lang="en-US" sz="1800" dirty="0" smtClean="0"/>
              <a:t>string.</a:t>
            </a:r>
            <a:endParaRPr lang="en-US" sz="1800" dirty="0"/>
          </a:p>
        </p:txBody>
      </p:sp>
      <p:sp>
        <p:nvSpPr>
          <p:cNvPr id="3" name="Content Placeholder 2"/>
          <p:cNvSpPr>
            <a:spLocks noGrp="1"/>
          </p:cNvSpPr>
          <p:nvPr>
            <p:ph sz="half" idx="1"/>
          </p:nvPr>
        </p:nvSpPr>
        <p:spPr>
          <a:xfrm>
            <a:off x="329784" y="2010878"/>
            <a:ext cx="7689954" cy="4045148"/>
          </a:xfrm>
        </p:spPr>
        <p:txBody>
          <a:bodyPr>
            <a:normAutofit fontScale="85000" lnSpcReduction="10000"/>
          </a:bodyPr>
          <a:lstStyle/>
          <a:p>
            <a:pPr algn="just">
              <a:tabLst>
                <a:tab pos="287338" algn="l"/>
              </a:tabLst>
            </a:pPr>
            <a:r>
              <a:rPr lang="en-US" dirty="0" smtClean="0">
                <a:latin typeface="Arial" pitchFamily="34" charset="0"/>
                <a:cs typeface="Arial" pitchFamily="34" charset="0"/>
              </a:rPr>
              <a:t>Initially</a:t>
            </a:r>
            <a:r>
              <a:rPr lang="en-US" dirty="0">
                <a:latin typeface="Arial" pitchFamily="34" charset="0"/>
                <a:cs typeface="Arial" pitchFamily="34" charset="0"/>
              </a:rPr>
              <a:t>, the tree consist the single node labeled with S. </a:t>
            </a:r>
            <a:endParaRPr lang="en-US" dirty="0" smtClean="0">
              <a:latin typeface="Arial" pitchFamily="34" charset="0"/>
              <a:cs typeface="Arial" pitchFamily="34" charset="0"/>
            </a:endParaRPr>
          </a:p>
          <a:p>
            <a:pPr algn="just"/>
            <a:r>
              <a:rPr lang="en-US" dirty="0" smtClean="0">
                <a:latin typeface="Arial" pitchFamily="34" charset="0"/>
                <a:cs typeface="Arial" pitchFamily="34" charset="0"/>
              </a:rPr>
              <a:t>The </a:t>
            </a:r>
            <a:r>
              <a:rPr lang="en-US" dirty="0">
                <a:latin typeface="Arial" pitchFamily="34" charset="0"/>
                <a:cs typeface="Arial" pitchFamily="34" charset="0"/>
              </a:rPr>
              <a:t>input pointer points the first symbol of the word i.e. ‘e’ by using the first production of the S. </a:t>
            </a:r>
            <a:endParaRPr lang="en-US" dirty="0" smtClean="0">
              <a:latin typeface="Arial" pitchFamily="34" charset="0"/>
              <a:cs typeface="Arial" pitchFamily="34" charset="0"/>
            </a:endParaRPr>
          </a:p>
          <a:p>
            <a:pPr algn="just"/>
            <a:r>
              <a:rPr lang="en-US" dirty="0" smtClean="0">
                <a:latin typeface="Arial" pitchFamily="34" charset="0"/>
                <a:cs typeface="Arial" pitchFamily="34" charset="0"/>
              </a:rPr>
              <a:t>The </a:t>
            </a:r>
            <a:r>
              <a:rPr lang="en-US" dirty="0">
                <a:latin typeface="Arial" pitchFamily="34" charset="0"/>
                <a:cs typeface="Arial" pitchFamily="34" charset="0"/>
              </a:rPr>
              <a:t>left most leaf is labeled with e, that matches the first symbol of the word, now advance the pointer to ‘g’ i.e. the second symbol of the word. </a:t>
            </a:r>
            <a:endParaRPr lang="en-US" dirty="0" smtClean="0">
              <a:latin typeface="Arial" pitchFamily="34" charset="0"/>
              <a:cs typeface="Arial" pitchFamily="34" charset="0"/>
            </a:endParaRPr>
          </a:p>
          <a:p>
            <a:pPr algn="just"/>
            <a:r>
              <a:rPr lang="en-US" dirty="0" smtClean="0">
                <a:latin typeface="Arial" pitchFamily="34" charset="0"/>
                <a:cs typeface="Arial" pitchFamily="34" charset="0"/>
              </a:rPr>
              <a:t>Now </a:t>
            </a:r>
            <a:r>
              <a:rPr lang="en-US" dirty="0">
                <a:latin typeface="Arial" pitchFamily="34" charset="0"/>
                <a:cs typeface="Arial" pitchFamily="34" charset="0"/>
              </a:rPr>
              <a:t>consider the next leaf labeled ‘A’ and expand it. </a:t>
            </a:r>
            <a:endParaRPr lang="en-US" dirty="0" smtClean="0">
              <a:latin typeface="Arial" pitchFamily="34" charset="0"/>
              <a:cs typeface="Arial" pitchFamily="34" charset="0"/>
            </a:endParaRPr>
          </a:p>
          <a:p>
            <a:pPr algn="just"/>
            <a:r>
              <a:rPr lang="en-US" dirty="0" smtClean="0">
                <a:latin typeface="Arial" pitchFamily="34" charset="0"/>
                <a:cs typeface="Arial" pitchFamily="34" charset="0"/>
              </a:rPr>
              <a:t>Now </a:t>
            </a:r>
            <a:r>
              <a:rPr lang="en-US" dirty="0">
                <a:latin typeface="Arial" pitchFamily="34" charset="0"/>
                <a:cs typeface="Arial" pitchFamily="34" charset="0"/>
              </a:rPr>
              <a:t>again advance the pointer to ‘f’ i.e. the third symbol of the word and check for the next leaf i.e. labeled with ‘h’ but it does not match with the ‘f’. </a:t>
            </a:r>
            <a:r>
              <a:rPr lang="en-US" dirty="0" smtClean="0">
                <a:latin typeface="Arial" pitchFamily="34" charset="0"/>
                <a:cs typeface="Arial" pitchFamily="34" charset="0"/>
              </a:rPr>
              <a:t>\</a:t>
            </a:r>
          </a:p>
          <a:p>
            <a:pPr algn="just"/>
            <a:r>
              <a:rPr lang="en-US" dirty="0" smtClean="0">
                <a:latin typeface="Arial" pitchFamily="34" charset="0"/>
                <a:cs typeface="Arial" pitchFamily="34" charset="0"/>
              </a:rPr>
              <a:t>So </a:t>
            </a:r>
            <a:r>
              <a:rPr lang="en-US" dirty="0">
                <a:latin typeface="Arial" pitchFamily="34" charset="0"/>
                <a:cs typeface="Arial" pitchFamily="34" charset="0"/>
              </a:rPr>
              <a:t>failure will be reported and go back to A in order to check the other option, as there is the other option ‘g’. so announce the successful completion of the parsing.</a:t>
            </a:r>
          </a:p>
          <a:p>
            <a:pPr algn="just">
              <a:buNone/>
            </a:pPr>
            <a:endParaRPr lang="en-US" dirty="0">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8352545" y="2073140"/>
            <a:ext cx="3363468" cy="3669602"/>
          </a:xfrm>
          <a:prstGeom prst="rect">
            <a:avLst/>
          </a:prstGeom>
          <a:noFill/>
          <a:ln w="9525">
            <a:noFill/>
            <a:miter lim="800000"/>
            <a:headEnd/>
            <a:tailEnd/>
          </a:ln>
          <a:effectLst/>
        </p:spPr>
      </p:pic>
      <p:sp>
        <p:nvSpPr>
          <p:cNvPr id="4" name="Rectangle 3"/>
          <p:cNvSpPr/>
          <p:nvPr/>
        </p:nvSpPr>
        <p:spPr>
          <a:xfrm>
            <a:off x="8451541" y="595943"/>
            <a:ext cx="1917576" cy="753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S</a:t>
            </a:r>
            <a:r>
              <a:rPr lang="en-US" dirty="0" err="1" smtClean="0">
                <a:sym typeface="Wingdings"/>
              </a:rPr>
              <a:t>e</a:t>
            </a:r>
            <a:r>
              <a:rPr lang="en-US" dirty="0" err="1" smtClean="0"/>
              <a:t>Af</a:t>
            </a:r>
            <a:r>
              <a:rPr lang="en-US" dirty="0"/>
              <a:t>, </a:t>
            </a:r>
            <a:endParaRPr lang="en-US" dirty="0" smtClean="0"/>
          </a:p>
          <a:p>
            <a:pPr algn="ctr"/>
            <a:r>
              <a:rPr lang="en-US" dirty="0" err="1" smtClean="0"/>
              <a:t>A</a:t>
            </a:r>
            <a:r>
              <a:rPr lang="en-US" dirty="0" err="1">
                <a:sym typeface="Wingdings"/>
              </a:rPr>
              <a:t></a:t>
            </a:r>
            <a:r>
              <a:rPr lang="en-US" dirty="0" err="1"/>
              <a:t>gh</a:t>
            </a:r>
            <a:r>
              <a:rPr lang="en-US" dirty="0"/>
              <a:t>/g</a:t>
            </a:r>
          </a:p>
        </p:txBody>
      </p:sp>
      <p:sp>
        <p:nvSpPr>
          <p:cNvPr id="6" name="Rectangle 5"/>
          <p:cNvSpPr/>
          <p:nvPr/>
        </p:nvSpPr>
        <p:spPr>
          <a:xfrm>
            <a:off x="6434969" y="1074199"/>
            <a:ext cx="622779" cy="275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egf</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9646" y="234481"/>
            <a:ext cx="10318229" cy="739880"/>
          </a:xfrm>
        </p:spPr>
        <p:txBody>
          <a:bodyPr>
            <a:normAutofit/>
          </a:bodyPr>
          <a:lstStyle/>
          <a:p>
            <a:pPr algn="just"/>
            <a:r>
              <a:rPr lang="en-US" sz="1800" dirty="0"/>
              <a:t>In order to implement such parsers , create a procedure for each non terminal</a:t>
            </a:r>
          </a:p>
        </p:txBody>
      </p:sp>
      <p:sp>
        <p:nvSpPr>
          <p:cNvPr id="3" name="Content Placeholder 2"/>
          <p:cNvSpPr>
            <a:spLocks noGrp="1"/>
          </p:cNvSpPr>
          <p:nvPr>
            <p:ph sz="half" idx="4294967295"/>
          </p:nvPr>
        </p:nvSpPr>
        <p:spPr>
          <a:xfrm>
            <a:off x="659566" y="1259174"/>
            <a:ext cx="4864933" cy="4849526"/>
          </a:xfrm>
        </p:spPr>
        <p:txBody>
          <a:bodyPr>
            <a:noAutofit/>
          </a:bodyPr>
          <a:lstStyle/>
          <a:p>
            <a:pPr>
              <a:spcBef>
                <a:spcPts val="0"/>
              </a:spcBef>
              <a:buNone/>
            </a:pPr>
            <a:r>
              <a:rPr lang="en-US" sz="1800" u="sng" dirty="0">
                <a:latin typeface="Arial" pitchFamily="34" charset="0"/>
                <a:cs typeface="Arial" pitchFamily="34" charset="0"/>
              </a:rPr>
              <a:t>Procedure for S():</a:t>
            </a:r>
            <a:endParaRPr lang="en-US" sz="1800" dirty="0">
              <a:latin typeface="Arial" pitchFamily="34" charset="0"/>
              <a:cs typeface="Arial" pitchFamily="34" charset="0"/>
            </a:endParaRPr>
          </a:p>
          <a:p>
            <a:pPr>
              <a:spcBef>
                <a:spcPts val="0"/>
              </a:spcBef>
              <a:buNone/>
            </a:pPr>
            <a:r>
              <a:rPr lang="en-US" sz="1800" dirty="0">
                <a:latin typeface="Arial" pitchFamily="34" charset="0"/>
                <a:cs typeface="Arial" pitchFamily="34" charset="0"/>
              </a:rPr>
              <a:t>Begin</a:t>
            </a:r>
          </a:p>
          <a:p>
            <a:pPr>
              <a:spcBef>
                <a:spcPts val="0"/>
              </a:spcBef>
              <a:buNone/>
            </a:pPr>
            <a:r>
              <a:rPr lang="en-US" sz="1800" dirty="0" smtClean="0">
                <a:latin typeface="Arial" pitchFamily="34" charset="0"/>
                <a:cs typeface="Arial" pitchFamily="34" charset="0"/>
              </a:rPr>
              <a:t>  If </a:t>
            </a:r>
            <a:r>
              <a:rPr lang="en-US" sz="1800" dirty="0">
                <a:latin typeface="Arial" pitchFamily="34" charset="0"/>
                <a:cs typeface="Arial" pitchFamily="34" charset="0"/>
              </a:rPr>
              <a:t>input symbol=’e’ then</a:t>
            </a:r>
          </a:p>
          <a:p>
            <a:pPr>
              <a:spcBef>
                <a:spcPts val="0"/>
              </a:spcBef>
              <a:buNone/>
            </a:pPr>
            <a:r>
              <a:rPr lang="en-US" sz="1800" dirty="0" smtClean="0">
                <a:latin typeface="Arial" pitchFamily="34" charset="0"/>
                <a:cs typeface="Arial" pitchFamily="34" charset="0"/>
              </a:rPr>
              <a:t>	Begin</a:t>
            </a:r>
            <a:endParaRPr lang="en-US" sz="1800" dirty="0">
              <a:latin typeface="Arial" pitchFamily="34" charset="0"/>
              <a:cs typeface="Arial" pitchFamily="34" charset="0"/>
            </a:endParaRPr>
          </a:p>
          <a:p>
            <a:pPr>
              <a:spcBef>
                <a:spcPts val="0"/>
              </a:spcBef>
              <a:buNone/>
            </a:pPr>
            <a:r>
              <a:rPr lang="en-US" sz="1800" dirty="0">
                <a:latin typeface="Arial" pitchFamily="34" charset="0"/>
                <a:cs typeface="Arial" pitchFamily="34" charset="0"/>
              </a:rPr>
              <a:t>	</a:t>
            </a:r>
            <a:r>
              <a:rPr lang="en-US" sz="1800" dirty="0" smtClean="0">
                <a:latin typeface="Arial" pitchFamily="34" charset="0"/>
                <a:cs typeface="Arial" pitchFamily="34" charset="0"/>
              </a:rPr>
              <a:t>  </a:t>
            </a:r>
            <a:r>
              <a:rPr lang="en-US" sz="1800" dirty="0">
                <a:latin typeface="Arial" pitchFamily="34" charset="0"/>
                <a:cs typeface="Arial" pitchFamily="34" charset="0"/>
              </a:rPr>
              <a:t>ADVANCE();</a:t>
            </a:r>
          </a:p>
          <a:p>
            <a:pPr>
              <a:spcBef>
                <a:spcPts val="0"/>
              </a:spcBef>
              <a:buNone/>
            </a:pPr>
            <a:r>
              <a:rPr lang="en-US" sz="1800" dirty="0">
                <a:latin typeface="Arial" pitchFamily="34" charset="0"/>
                <a:cs typeface="Arial" pitchFamily="34" charset="0"/>
              </a:rPr>
              <a:t>	  If A() then </a:t>
            </a:r>
          </a:p>
          <a:p>
            <a:pPr>
              <a:spcBef>
                <a:spcPts val="0"/>
              </a:spcBef>
              <a:buNone/>
            </a:pPr>
            <a:r>
              <a:rPr lang="en-US" sz="1800" dirty="0">
                <a:latin typeface="Arial" pitchFamily="34" charset="0"/>
                <a:cs typeface="Arial" pitchFamily="34" charset="0"/>
              </a:rPr>
              <a:t>	</a:t>
            </a:r>
            <a:r>
              <a:rPr lang="en-US" sz="1800" dirty="0" smtClean="0">
                <a:latin typeface="Arial" pitchFamily="34" charset="0"/>
                <a:cs typeface="Arial" pitchFamily="34" charset="0"/>
              </a:rPr>
              <a:t>	If </a:t>
            </a:r>
            <a:r>
              <a:rPr lang="en-US" sz="1800" dirty="0">
                <a:latin typeface="Arial" pitchFamily="34" charset="0"/>
                <a:cs typeface="Arial" pitchFamily="34" charset="0"/>
              </a:rPr>
              <a:t>input symbol =’f’ then </a:t>
            </a:r>
          </a:p>
          <a:p>
            <a:pPr>
              <a:spcBef>
                <a:spcPts val="0"/>
              </a:spcBef>
              <a:buNone/>
            </a:pPr>
            <a:r>
              <a:rPr lang="en-US" sz="1800" dirty="0">
                <a:latin typeface="Arial" pitchFamily="34" charset="0"/>
                <a:cs typeface="Arial" pitchFamily="34" charset="0"/>
              </a:rPr>
              <a:t>			Begin ADVANCE(); </a:t>
            </a:r>
          </a:p>
          <a:p>
            <a:pPr>
              <a:spcBef>
                <a:spcPts val="0"/>
              </a:spcBef>
              <a:buNone/>
            </a:pPr>
            <a:r>
              <a:rPr lang="en-US" sz="1800" dirty="0">
                <a:latin typeface="Arial" pitchFamily="34" charset="0"/>
                <a:cs typeface="Arial" pitchFamily="34" charset="0"/>
              </a:rPr>
              <a:t>		</a:t>
            </a:r>
            <a:r>
              <a:rPr lang="en-US" sz="1800" dirty="0" smtClean="0">
                <a:latin typeface="Arial" pitchFamily="34" charset="0"/>
                <a:cs typeface="Arial" pitchFamily="34" charset="0"/>
              </a:rPr>
              <a:t>	Return </a:t>
            </a:r>
            <a:r>
              <a:rPr lang="en-US" sz="1800" dirty="0">
                <a:latin typeface="Arial" pitchFamily="34" charset="0"/>
                <a:cs typeface="Arial" pitchFamily="34" charset="0"/>
              </a:rPr>
              <a:t>True</a:t>
            </a:r>
          </a:p>
          <a:p>
            <a:pPr>
              <a:spcBef>
                <a:spcPts val="0"/>
              </a:spcBef>
              <a:buNone/>
            </a:pPr>
            <a:r>
              <a:rPr lang="en-US" sz="1800" dirty="0">
                <a:latin typeface="Arial" pitchFamily="34" charset="0"/>
                <a:cs typeface="Arial" pitchFamily="34" charset="0"/>
              </a:rPr>
              <a:t>		</a:t>
            </a:r>
            <a:r>
              <a:rPr lang="en-US" sz="1800" dirty="0" smtClean="0">
                <a:latin typeface="Arial" pitchFamily="34" charset="0"/>
                <a:cs typeface="Arial" pitchFamily="34" charset="0"/>
              </a:rPr>
              <a:t>	End</a:t>
            </a:r>
            <a:endParaRPr lang="en-US" sz="1800" dirty="0">
              <a:latin typeface="Arial" pitchFamily="34" charset="0"/>
              <a:cs typeface="Arial" pitchFamily="34" charset="0"/>
            </a:endParaRPr>
          </a:p>
          <a:p>
            <a:pPr>
              <a:spcBef>
                <a:spcPts val="0"/>
              </a:spcBef>
              <a:buNone/>
            </a:pPr>
            <a:r>
              <a:rPr lang="en-US" sz="1800" dirty="0">
                <a:latin typeface="Arial" pitchFamily="34" charset="0"/>
                <a:cs typeface="Arial" pitchFamily="34" charset="0"/>
              </a:rPr>
              <a:t>	End</a:t>
            </a:r>
          </a:p>
          <a:p>
            <a:pPr>
              <a:spcBef>
                <a:spcPts val="0"/>
              </a:spcBef>
              <a:buNone/>
            </a:pPr>
            <a:r>
              <a:rPr lang="en-US" sz="1800" dirty="0" smtClean="0">
                <a:latin typeface="Arial" pitchFamily="34" charset="0"/>
                <a:cs typeface="Arial" pitchFamily="34" charset="0"/>
              </a:rPr>
              <a:t>Return </a:t>
            </a:r>
            <a:r>
              <a:rPr lang="en-US" sz="1800" dirty="0">
                <a:latin typeface="Arial" pitchFamily="34" charset="0"/>
                <a:cs typeface="Arial" pitchFamily="34" charset="0"/>
              </a:rPr>
              <a:t>false</a:t>
            </a:r>
          </a:p>
          <a:p>
            <a:pPr>
              <a:spcBef>
                <a:spcPts val="0"/>
              </a:spcBef>
              <a:buNone/>
            </a:pPr>
            <a:r>
              <a:rPr lang="en-US" sz="1800" dirty="0">
                <a:latin typeface="Arial" pitchFamily="34" charset="0"/>
                <a:cs typeface="Arial" pitchFamily="34" charset="0"/>
              </a:rPr>
              <a:t>End</a:t>
            </a:r>
          </a:p>
          <a:p>
            <a:pPr>
              <a:spcBef>
                <a:spcPts val="0"/>
              </a:spcBef>
              <a:buNone/>
            </a:pPr>
            <a:r>
              <a:rPr lang="en-US" sz="1800" dirty="0">
                <a:latin typeface="Arial" pitchFamily="34" charset="0"/>
                <a:cs typeface="Arial" pitchFamily="34" charset="0"/>
              </a:rPr>
              <a:t> </a:t>
            </a:r>
          </a:p>
          <a:p>
            <a:pPr>
              <a:spcBef>
                <a:spcPts val="0"/>
              </a:spcBef>
            </a:pPr>
            <a:endParaRPr lang="en-US" sz="1800" dirty="0">
              <a:latin typeface="Arial" pitchFamily="34" charset="0"/>
              <a:cs typeface="Arial" pitchFamily="34" charset="0"/>
            </a:endParaRPr>
          </a:p>
        </p:txBody>
      </p:sp>
      <p:sp>
        <p:nvSpPr>
          <p:cNvPr id="4" name="Content Placeholder 3"/>
          <p:cNvSpPr>
            <a:spLocks noGrp="1"/>
          </p:cNvSpPr>
          <p:nvPr>
            <p:ph sz="half" idx="4294967295"/>
          </p:nvPr>
        </p:nvSpPr>
        <p:spPr>
          <a:xfrm>
            <a:off x="5666281" y="524656"/>
            <a:ext cx="6525719" cy="5890433"/>
          </a:xfrm>
        </p:spPr>
        <p:txBody>
          <a:bodyPr>
            <a:noAutofit/>
          </a:bodyPr>
          <a:lstStyle/>
          <a:p>
            <a:pPr>
              <a:spcBef>
                <a:spcPts val="0"/>
              </a:spcBef>
              <a:buNone/>
            </a:pPr>
            <a:r>
              <a:rPr lang="en-US" sz="1400" u="sng" dirty="0">
                <a:latin typeface="Arial" pitchFamily="34" charset="0"/>
                <a:cs typeface="Arial" pitchFamily="34" charset="0"/>
              </a:rPr>
              <a:t>Procedure for A():</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Begin</a:t>
            </a:r>
          </a:p>
          <a:p>
            <a:pPr>
              <a:spcBef>
                <a:spcPts val="0"/>
              </a:spcBef>
              <a:buNone/>
            </a:pPr>
            <a:r>
              <a:rPr lang="en-US" sz="1400" dirty="0">
                <a:latin typeface="Arial" pitchFamily="34" charset="0"/>
                <a:cs typeface="Arial" pitchFamily="34" charset="0"/>
              </a:rPr>
              <a:t>	</a:t>
            </a:r>
            <a:r>
              <a:rPr lang="en-US" sz="1400" dirty="0" err="1">
                <a:latin typeface="Arial" pitchFamily="34" charset="0"/>
                <a:cs typeface="Arial" pitchFamily="34" charset="0"/>
              </a:rPr>
              <a:t>Isave</a:t>
            </a:r>
            <a:r>
              <a:rPr lang="en-US" sz="1400" dirty="0">
                <a:latin typeface="Arial" pitchFamily="34" charset="0"/>
                <a:cs typeface="Arial" pitchFamily="34" charset="0"/>
              </a:rPr>
              <a:t>=</a:t>
            </a:r>
            <a:r>
              <a:rPr lang="en-US" sz="1400" dirty="0" err="1">
                <a:latin typeface="Arial" pitchFamily="34" charset="0"/>
                <a:cs typeface="Arial" pitchFamily="34" charset="0"/>
              </a:rPr>
              <a:t>input_pointer</a:t>
            </a:r>
            <a:r>
              <a:rPr lang="en-US" sz="1400" dirty="0">
                <a:latin typeface="Arial" pitchFamily="34" charset="0"/>
                <a:cs typeface="Arial" pitchFamily="34" charset="0"/>
              </a:rPr>
              <a:t>;</a:t>
            </a:r>
          </a:p>
          <a:p>
            <a:pPr>
              <a:spcBef>
                <a:spcPts val="0"/>
              </a:spcBef>
              <a:buNone/>
            </a:pPr>
            <a:r>
              <a:rPr lang="en-US" sz="1400" dirty="0" smtClean="0">
                <a:latin typeface="Arial" pitchFamily="34" charset="0"/>
                <a:cs typeface="Arial" pitchFamily="34" charset="0"/>
              </a:rPr>
              <a:t>         If </a:t>
            </a:r>
            <a:r>
              <a:rPr lang="en-US" sz="1400" dirty="0" err="1">
                <a:latin typeface="Arial" pitchFamily="34" charset="0"/>
                <a:cs typeface="Arial" pitchFamily="34" charset="0"/>
              </a:rPr>
              <a:t>Input_symbol</a:t>
            </a:r>
            <a:r>
              <a:rPr lang="en-US" sz="1400" dirty="0">
                <a:latin typeface="Arial" pitchFamily="34" charset="0"/>
                <a:cs typeface="Arial" pitchFamily="34" charset="0"/>
              </a:rPr>
              <a:t>=’g’ then</a:t>
            </a:r>
          </a:p>
          <a:p>
            <a:pPr>
              <a:spcBef>
                <a:spcPts val="0"/>
              </a:spcBef>
              <a:buNone/>
            </a:pPr>
            <a:r>
              <a:rPr lang="en-US" sz="1400" dirty="0" smtClean="0">
                <a:latin typeface="Arial" pitchFamily="34" charset="0"/>
                <a:cs typeface="Arial" pitchFamily="34" charset="0"/>
              </a:rPr>
              <a:t>	Begin</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ADVANCE</a:t>
            </a:r>
            <a:r>
              <a:rPr lang="en-US" sz="1400" dirty="0">
                <a:latin typeface="Arial" pitchFamily="34" charset="0"/>
                <a:cs typeface="Arial" pitchFamily="34" charset="0"/>
              </a:rPr>
              <a:t>();</a:t>
            </a: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If </a:t>
            </a:r>
            <a:r>
              <a:rPr lang="en-US" sz="1400" dirty="0" err="1" smtClean="0">
                <a:latin typeface="Arial" pitchFamily="34" charset="0"/>
                <a:cs typeface="Arial" pitchFamily="34" charset="0"/>
              </a:rPr>
              <a:t>input_symbol</a:t>
            </a:r>
            <a:r>
              <a:rPr lang="en-US" sz="1400" dirty="0">
                <a:latin typeface="Arial" pitchFamily="34" charset="0"/>
                <a:cs typeface="Arial" pitchFamily="34" charset="0"/>
              </a:rPr>
              <a:t>=’h’ then</a:t>
            </a: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Begin </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Advance();</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Return true</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End</a:t>
            </a:r>
            <a:endParaRPr lang="en-US" sz="1400" dirty="0">
              <a:latin typeface="Arial" pitchFamily="34" charset="0"/>
              <a:cs typeface="Arial" pitchFamily="34" charset="0"/>
            </a:endParaRPr>
          </a:p>
          <a:p>
            <a:pPr>
              <a:spcBef>
                <a:spcPts val="0"/>
              </a:spcBef>
              <a:buNone/>
            </a:pPr>
            <a:r>
              <a:rPr lang="en-US" sz="1400" dirty="0" smtClean="0">
                <a:latin typeface="Arial" pitchFamily="34" charset="0"/>
                <a:cs typeface="Arial" pitchFamily="34" charset="0"/>
              </a:rPr>
              <a:t>	End</a:t>
            </a:r>
            <a:endParaRPr lang="en-US" sz="1400" dirty="0">
              <a:latin typeface="Arial" pitchFamily="34" charset="0"/>
              <a:cs typeface="Arial" pitchFamily="34" charset="0"/>
            </a:endParaRPr>
          </a:p>
          <a:p>
            <a:pPr>
              <a:spcBef>
                <a:spcPts val="0"/>
              </a:spcBef>
              <a:buNone/>
            </a:pPr>
            <a:r>
              <a:rPr lang="en-US" sz="1400" dirty="0" smtClean="0">
                <a:latin typeface="Arial" pitchFamily="34" charset="0"/>
                <a:cs typeface="Arial" pitchFamily="34" charset="0"/>
              </a:rPr>
              <a:t>   input </a:t>
            </a:r>
            <a:r>
              <a:rPr lang="en-US" sz="1400" dirty="0">
                <a:latin typeface="Arial" pitchFamily="34" charset="0"/>
                <a:cs typeface="Arial" pitchFamily="34" charset="0"/>
              </a:rPr>
              <a:t>_pointer=</a:t>
            </a:r>
            <a:r>
              <a:rPr lang="en-US" sz="1400" dirty="0" err="1">
                <a:latin typeface="Arial" pitchFamily="34" charset="0"/>
                <a:cs typeface="Arial" pitchFamily="34" charset="0"/>
              </a:rPr>
              <a:t>isave</a:t>
            </a:r>
            <a:r>
              <a:rPr lang="en-US" sz="1400" dirty="0">
                <a:latin typeface="Arial" pitchFamily="34" charset="0"/>
                <a:cs typeface="Arial" pitchFamily="34" charset="0"/>
              </a:rPr>
              <a:t>;</a:t>
            </a:r>
          </a:p>
          <a:p>
            <a:pPr>
              <a:spcBef>
                <a:spcPts val="0"/>
              </a:spcBef>
              <a:buNone/>
            </a:pPr>
            <a:r>
              <a:rPr lang="en-US" sz="1400" dirty="0" smtClean="0">
                <a:latin typeface="Arial" pitchFamily="34" charset="0"/>
                <a:cs typeface="Arial" pitchFamily="34" charset="0"/>
              </a:rPr>
              <a:t>    /* </a:t>
            </a:r>
            <a:r>
              <a:rPr lang="en-US" sz="1400" dirty="0">
                <a:latin typeface="Arial" pitchFamily="34" charset="0"/>
                <a:cs typeface="Arial" pitchFamily="34" charset="0"/>
              </a:rPr>
              <a:t>failure to find </a:t>
            </a:r>
            <a:r>
              <a:rPr lang="en-US" sz="1400" dirty="0" err="1">
                <a:latin typeface="Arial" pitchFamily="34" charset="0"/>
                <a:cs typeface="Arial" pitchFamily="34" charset="0"/>
              </a:rPr>
              <a:t>gh</a:t>
            </a:r>
            <a:r>
              <a:rPr lang="en-US" sz="1400" dirty="0">
                <a:latin typeface="Arial" pitchFamily="34" charset="0"/>
                <a:cs typeface="Arial" pitchFamily="34" charset="0"/>
              </a:rPr>
              <a:t> */</a:t>
            </a:r>
          </a:p>
          <a:p>
            <a:pPr>
              <a:spcBef>
                <a:spcPts val="0"/>
              </a:spcBef>
              <a:buNone/>
            </a:pPr>
            <a:r>
              <a:rPr lang="en-US" sz="1400" dirty="0" smtClean="0">
                <a:latin typeface="Arial" pitchFamily="34" charset="0"/>
                <a:cs typeface="Arial" pitchFamily="34" charset="0"/>
              </a:rPr>
              <a:t>    If </a:t>
            </a:r>
            <a:r>
              <a:rPr lang="en-US" sz="1400" dirty="0" err="1" smtClean="0">
                <a:latin typeface="Arial" pitchFamily="34" charset="0"/>
                <a:cs typeface="Arial" pitchFamily="34" charset="0"/>
              </a:rPr>
              <a:t>input_symbol</a:t>
            </a:r>
            <a:r>
              <a:rPr lang="en-US" sz="1400" dirty="0">
                <a:latin typeface="Arial" pitchFamily="34" charset="0"/>
                <a:cs typeface="Arial" pitchFamily="34" charset="0"/>
              </a:rPr>
              <a:t>=’g’ then</a:t>
            </a:r>
          </a:p>
          <a:p>
            <a:pPr>
              <a:spcBef>
                <a:spcPts val="0"/>
              </a:spcBef>
              <a:buNone/>
            </a:pPr>
            <a:r>
              <a:rPr lang="en-US" sz="1400" dirty="0" smtClean="0">
                <a:latin typeface="Arial" pitchFamily="34" charset="0"/>
                <a:cs typeface="Arial" pitchFamily="34" charset="0"/>
              </a:rPr>
              <a:t>  	  Begin </a:t>
            </a: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ADVANCE</a:t>
            </a:r>
            <a:r>
              <a:rPr lang="en-US" sz="1400" dirty="0">
                <a:latin typeface="Arial" pitchFamily="34" charset="0"/>
                <a:cs typeface="Arial" pitchFamily="34" charset="0"/>
              </a:rPr>
              <a:t>();</a:t>
            </a:r>
          </a:p>
          <a:p>
            <a:pPr>
              <a:spcBef>
                <a:spcPts val="0"/>
              </a:spcBef>
              <a:buNone/>
            </a:pPr>
            <a:r>
              <a:rPr lang="en-US" sz="1400" dirty="0" smtClean="0">
                <a:latin typeface="Arial" pitchFamily="34" charset="0"/>
                <a:cs typeface="Arial" pitchFamily="34" charset="0"/>
              </a:rPr>
              <a:t>    		Return </a:t>
            </a:r>
            <a:r>
              <a:rPr lang="en-US" sz="1400" dirty="0">
                <a:latin typeface="Arial" pitchFamily="34" charset="0"/>
                <a:cs typeface="Arial" pitchFamily="34" charset="0"/>
              </a:rPr>
              <a:t>true;</a:t>
            </a:r>
          </a:p>
          <a:p>
            <a:pPr>
              <a:spcBef>
                <a:spcPts val="0"/>
              </a:spcBef>
              <a:buNone/>
            </a:pPr>
            <a:r>
              <a:rPr lang="en-US" sz="1400" dirty="0" smtClean="0">
                <a:latin typeface="Arial" pitchFamily="34" charset="0"/>
                <a:cs typeface="Arial" pitchFamily="34" charset="0"/>
              </a:rPr>
              <a:t>	     End</a:t>
            </a:r>
            <a:endParaRPr lang="en-US" sz="1400" dirty="0">
              <a:latin typeface="Arial" pitchFamily="34" charset="0"/>
              <a:cs typeface="Arial" pitchFamily="34" charset="0"/>
            </a:endParaRPr>
          </a:p>
          <a:p>
            <a:pPr>
              <a:spcBef>
                <a:spcPts val="0"/>
              </a:spcBef>
              <a:buNone/>
            </a:pPr>
            <a:r>
              <a:rPr lang="en-US" sz="1400" dirty="0">
                <a:latin typeface="Arial" pitchFamily="34" charset="0"/>
                <a:cs typeface="Arial" pitchFamily="34" charset="0"/>
              </a:rPr>
              <a:t> </a:t>
            </a:r>
            <a:r>
              <a:rPr lang="en-US" sz="1400" dirty="0" smtClean="0">
                <a:latin typeface="Arial" pitchFamily="34" charset="0"/>
                <a:cs typeface="Arial" pitchFamily="34" charset="0"/>
              </a:rPr>
              <a:t>     Else</a:t>
            </a:r>
            <a:endParaRPr lang="en-US" sz="1400" dirty="0">
              <a:latin typeface="Arial" pitchFamily="34" charset="0"/>
              <a:cs typeface="Arial" pitchFamily="34" charset="0"/>
            </a:endParaRPr>
          </a:p>
          <a:p>
            <a:pPr>
              <a:spcBef>
                <a:spcPts val="0"/>
              </a:spcBef>
              <a:buNone/>
            </a:pPr>
            <a:r>
              <a:rPr lang="en-US" sz="1400" dirty="0" smtClean="0">
                <a:latin typeface="Arial" pitchFamily="34" charset="0"/>
                <a:cs typeface="Arial" pitchFamily="34" charset="0"/>
              </a:rPr>
              <a:t>		Return </a:t>
            </a:r>
            <a:r>
              <a:rPr lang="en-US" sz="1400" dirty="0">
                <a:latin typeface="Arial" pitchFamily="34" charset="0"/>
                <a:cs typeface="Arial" pitchFamily="34" charset="0"/>
              </a:rPr>
              <a:t>false</a:t>
            </a:r>
          </a:p>
          <a:p>
            <a:pPr>
              <a:spcBef>
                <a:spcPts val="0"/>
              </a:spcBef>
              <a:buNone/>
            </a:pPr>
            <a:r>
              <a:rPr lang="en-US" sz="1400" dirty="0" smtClean="0">
                <a:latin typeface="Arial" pitchFamily="34" charset="0"/>
                <a:cs typeface="Arial" pitchFamily="34" charset="0"/>
              </a:rPr>
              <a:t>End</a:t>
            </a:r>
            <a:endParaRPr lang="en-US" sz="1400" dirty="0">
              <a:latin typeface="Arial" pitchFamily="34" charset="0"/>
              <a:cs typeface="Arial" pitchFamily="34" charset="0"/>
            </a:endParaRPr>
          </a:p>
          <a:p>
            <a:pPr>
              <a:spcBef>
                <a:spcPts val="0"/>
              </a:spcBef>
            </a:pPr>
            <a:endParaRPr lang="en-US" sz="14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Difficulties with Top Down </a:t>
            </a:r>
            <a:r>
              <a:rPr lang="en-US" dirty="0" smtClean="0"/>
              <a:t>Parsing</a:t>
            </a:r>
            <a:endParaRPr lang="en-US" dirty="0"/>
          </a:p>
        </p:txBody>
      </p:sp>
      <p:sp>
        <p:nvSpPr>
          <p:cNvPr id="3" name="Content Placeholder 2"/>
          <p:cNvSpPr>
            <a:spLocks noGrp="1"/>
          </p:cNvSpPr>
          <p:nvPr>
            <p:ph idx="1"/>
          </p:nvPr>
        </p:nvSpPr>
        <p:spPr/>
        <p:txBody>
          <a:bodyPr>
            <a:normAutofit lnSpcReduction="10000"/>
          </a:bodyPr>
          <a:lstStyle/>
          <a:p>
            <a:pPr lvl="0" algn="just"/>
            <a:r>
              <a:rPr lang="en-US" dirty="0">
                <a:latin typeface="Arial" pitchFamily="34" charset="0"/>
                <a:cs typeface="Arial" pitchFamily="34" charset="0"/>
              </a:rPr>
              <a:t>Left Recursion:</a:t>
            </a:r>
          </a:p>
          <a:p>
            <a:pPr lvl="1" algn="just"/>
            <a:r>
              <a:rPr lang="en-US" dirty="0">
                <a:latin typeface="Arial" pitchFamily="34" charset="0"/>
                <a:cs typeface="Arial" pitchFamily="34" charset="0"/>
              </a:rPr>
              <a:t>A Grammar is said to be left recursive if it has a Non Terminal B such that there is a derivation </a:t>
            </a:r>
            <a:r>
              <a:rPr lang="en-US" dirty="0" smtClean="0">
                <a:latin typeface="Arial" pitchFamily="34" charset="0"/>
                <a:cs typeface="Arial" pitchFamily="34" charset="0"/>
              </a:rPr>
              <a:t>B </a:t>
            </a:r>
            <a:r>
              <a:rPr lang="en-US" dirty="0" smtClean="0">
                <a:latin typeface="Arial" pitchFamily="34" charset="0"/>
                <a:cs typeface="Arial" pitchFamily="34" charset="0"/>
                <a:sym typeface="Wingdings" pitchFamily="2" charset="2"/>
              </a:rPr>
              <a:t> </a:t>
            </a:r>
            <a:r>
              <a:rPr lang="en-US" dirty="0" err="1" smtClean="0">
                <a:latin typeface="Arial" pitchFamily="34" charset="0"/>
                <a:cs typeface="Arial" pitchFamily="34" charset="0"/>
              </a:rPr>
              <a:t>Bα</a:t>
            </a:r>
            <a:r>
              <a:rPr lang="en-US" dirty="0">
                <a:latin typeface="Arial" pitchFamily="34" charset="0"/>
                <a:cs typeface="Arial" pitchFamily="34" charset="0"/>
              </a:rPr>
              <a:t>, </a:t>
            </a:r>
            <a:r>
              <a:rPr lang="en-US" dirty="0" smtClean="0">
                <a:latin typeface="Arial" pitchFamily="34" charset="0"/>
                <a:cs typeface="Arial" pitchFamily="34" charset="0"/>
              </a:rPr>
              <a:t>So </a:t>
            </a:r>
            <a:r>
              <a:rPr lang="en-US" dirty="0">
                <a:latin typeface="Arial" pitchFamily="34" charset="0"/>
                <a:cs typeface="Arial" pitchFamily="34" charset="0"/>
              </a:rPr>
              <a:t>this type of grammar can cause the parser to go into the infinite loop.</a:t>
            </a:r>
          </a:p>
          <a:p>
            <a:pPr lvl="0" algn="just"/>
            <a:r>
              <a:rPr lang="en-US" dirty="0">
                <a:latin typeface="Arial" pitchFamily="34" charset="0"/>
                <a:cs typeface="Arial" pitchFamily="34" charset="0"/>
              </a:rPr>
              <a:t>Backtracking:</a:t>
            </a:r>
          </a:p>
          <a:p>
            <a:pPr lvl="1" algn="just"/>
            <a:r>
              <a:rPr lang="en-US" dirty="0">
                <a:latin typeface="Arial" pitchFamily="34" charset="0"/>
                <a:cs typeface="Arial" pitchFamily="34" charset="0"/>
              </a:rPr>
              <a:t>If there is the sequence of erroneous expansions and subsequently discovers a mismatch then the changes that are made to the symbol table needs to be removed.</a:t>
            </a:r>
          </a:p>
          <a:p>
            <a:pPr lvl="0" algn="just"/>
            <a:r>
              <a:rPr lang="en-US" dirty="0">
                <a:latin typeface="Arial" pitchFamily="34" charset="0"/>
                <a:cs typeface="Arial" pitchFamily="34" charset="0"/>
              </a:rPr>
              <a:t>The acceptance of the language can be affected by the sequence of the order in which the alternates were tried.</a:t>
            </a:r>
          </a:p>
          <a:p>
            <a:pPr algn="just"/>
            <a:endParaRPr lang="en-US" dirty="0">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Recursion</a:t>
            </a:r>
            <a:endParaRPr lang="en-US" dirty="0"/>
          </a:p>
        </p:txBody>
      </p:sp>
      <p:sp>
        <p:nvSpPr>
          <p:cNvPr id="3" name="Content Placeholder 2"/>
          <p:cNvSpPr>
            <a:spLocks noGrp="1"/>
          </p:cNvSpPr>
          <p:nvPr>
            <p:ph idx="1"/>
          </p:nvPr>
        </p:nvSpPr>
        <p:spPr>
          <a:xfrm>
            <a:off x="609600" y="1600200"/>
            <a:ext cx="10972800" cy="5257800"/>
          </a:xfrm>
        </p:spPr>
        <p:txBody>
          <a:bodyPr>
            <a:noAutofit/>
          </a:bodyPr>
          <a:lstStyle/>
          <a:p>
            <a:pPr marL="342900" lvl="1" indent="-342900">
              <a:buFont typeface="Arial" pitchFamily="34" charset="0"/>
              <a:buChar char="•"/>
            </a:pPr>
            <a:endParaRPr lang="en-US" dirty="0" smtClean="0"/>
          </a:p>
          <a:p>
            <a:pPr marL="342900" lvl="1" indent="-342900">
              <a:buFont typeface="Arial" pitchFamily="34" charset="0"/>
              <a:buChar char="•"/>
            </a:pPr>
            <a:r>
              <a:rPr lang="en-US" dirty="0" smtClean="0"/>
              <a:t>A Grammar is said to be left recursive if it has a Non Terminal B such that there is a derivation B </a:t>
            </a:r>
            <a:r>
              <a:rPr lang="en-US" dirty="0" smtClean="0">
                <a:sym typeface="Wingdings" pitchFamily="2" charset="2"/>
              </a:rPr>
              <a:t> </a:t>
            </a:r>
            <a:r>
              <a:rPr lang="en-US" dirty="0" err="1" smtClean="0"/>
              <a:t>Bα</a:t>
            </a:r>
            <a:r>
              <a:rPr lang="en-US" dirty="0" smtClean="0"/>
              <a:t>.</a:t>
            </a:r>
          </a:p>
          <a:p>
            <a:r>
              <a:rPr lang="en-US" sz="2800" b="1" dirty="0" smtClean="0"/>
              <a:t>Elimination of Left Recursion:</a:t>
            </a:r>
          </a:p>
          <a:p>
            <a:endParaRPr lang="en-US" sz="2800" dirty="0"/>
          </a:p>
        </p:txBody>
      </p:sp>
      <p:sp>
        <p:nvSpPr>
          <p:cNvPr id="4" name="Rectangle 3"/>
          <p:cNvSpPr/>
          <p:nvPr/>
        </p:nvSpPr>
        <p:spPr>
          <a:xfrm>
            <a:off x="1484026" y="3048000"/>
            <a:ext cx="8274571" cy="3048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buNone/>
            </a:pPr>
            <a:r>
              <a:rPr lang="en-US" sz="2400" b="1" u="sng" dirty="0" smtClean="0"/>
              <a:t>Rules:</a:t>
            </a:r>
          </a:p>
          <a:p>
            <a:pPr lvl="1">
              <a:buNone/>
            </a:pPr>
            <a:r>
              <a:rPr lang="en-US" sz="2400" dirty="0" smtClean="0"/>
              <a:t>If there is the Grammar :</a:t>
            </a:r>
          </a:p>
          <a:p>
            <a:pPr lvl="1">
              <a:buNone/>
            </a:pPr>
            <a:r>
              <a:rPr lang="en-US" sz="2400" dirty="0" err="1" smtClean="0"/>
              <a:t>A</a:t>
            </a:r>
            <a:r>
              <a:rPr lang="en-US" sz="2400" dirty="0" err="1" smtClean="0">
                <a:sym typeface="Wingdings"/>
              </a:rPr>
              <a:t></a:t>
            </a:r>
            <a:r>
              <a:rPr lang="en-US" sz="2400" dirty="0" err="1" smtClean="0"/>
              <a:t>Aα|β</a:t>
            </a:r>
            <a:r>
              <a:rPr lang="en-US" sz="2400" dirty="0" smtClean="0"/>
              <a:t>     { where β does not begin with ‘A’}</a:t>
            </a:r>
          </a:p>
          <a:p>
            <a:pPr marL="404813" lvl="1" indent="52388">
              <a:buNone/>
            </a:pPr>
            <a:r>
              <a:rPr lang="en-US" sz="2400" dirty="0" smtClean="0"/>
              <a:t>We can eliminate the left Recursion by replacing this pair of production with</a:t>
            </a:r>
          </a:p>
          <a:p>
            <a:pPr lvl="1">
              <a:buNone/>
            </a:pPr>
            <a:r>
              <a:rPr lang="en-US" sz="2400" dirty="0" smtClean="0"/>
              <a:t>A</a:t>
            </a:r>
            <a:r>
              <a:rPr lang="en-US" sz="2400" dirty="0" smtClean="0">
                <a:sym typeface="Wingdings"/>
              </a:rPr>
              <a:t></a:t>
            </a:r>
            <a:r>
              <a:rPr lang="en-US" sz="2400" dirty="0" smtClean="0"/>
              <a:t> </a:t>
            </a:r>
            <a:r>
              <a:rPr lang="en-US" sz="2400" dirty="0" err="1" smtClean="0"/>
              <a:t>βA</a:t>
            </a:r>
            <a:r>
              <a:rPr lang="en-US" sz="2400" dirty="0" smtClean="0"/>
              <a:t>’</a:t>
            </a:r>
          </a:p>
          <a:p>
            <a:pPr lvl="1">
              <a:buNone/>
            </a:pPr>
            <a:r>
              <a:rPr lang="en-US" sz="2400" dirty="0" err="1" smtClean="0"/>
              <a:t>A’</a:t>
            </a:r>
            <a:r>
              <a:rPr lang="en-US" sz="2400" dirty="0" err="1" smtClean="0">
                <a:sym typeface="Wingdings"/>
              </a:rPr>
              <a:t></a:t>
            </a:r>
            <a:r>
              <a:rPr lang="en-US" sz="2400" dirty="0" err="1" smtClean="0"/>
              <a:t>αA</a:t>
            </a:r>
            <a:r>
              <a:rPr lang="en-US" sz="2400" dirty="0" smtClean="0"/>
              <a:t>’|ϵ</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9823" y="195263"/>
            <a:ext cx="11922177" cy="1243793"/>
          </a:xfrm>
        </p:spPr>
        <p:txBody>
          <a:bodyPr>
            <a:normAutofit fontScale="90000"/>
          </a:bodyPr>
          <a:lstStyle/>
          <a:p>
            <a:r>
              <a:rPr lang="en-US" sz="2200" b="1" dirty="0" err="1" smtClean="0">
                <a:latin typeface="Arial" pitchFamily="34" charset="0"/>
                <a:cs typeface="Arial" pitchFamily="34" charset="0"/>
              </a:rPr>
              <a:t>Question:</a:t>
            </a:r>
            <a:r>
              <a:rPr lang="en-US" sz="2200" dirty="0" err="1" smtClean="0">
                <a:latin typeface="Arial" pitchFamily="34" charset="0"/>
                <a:cs typeface="Arial" pitchFamily="34" charset="0"/>
              </a:rPr>
              <a:t>Remove</a:t>
            </a:r>
            <a:r>
              <a:rPr lang="en-US" sz="2200" dirty="0" smtClean="0">
                <a:latin typeface="Arial" pitchFamily="34" charset="0"/>
                <a:cs typeface="Arial" pitchFamily="34" charset="0"/>
              </a:rPr>
              <a:t> the Left recursion from the following grammar:</a:t>
            </a:r>
            <a:br>
              <a:rPr lang="en-US" sz="2200" dirty="0" smtClean="0">
                <a:latin typeface="Arial" pitchFamily="34" charset="0"/>
                <a:cs typeface="Arial" pitchFamily="34" charset="0"/>
              </a:rPr>
            </a:br>
            <a:r>
              <a:rPr lang="en-US" sz="2200" dirty="0" smtClean="0">
                <a:latin typeface="Arial" pitchFamily="34" charset="0"/>
                <a:cs typeface="Arial" pitchFamily="34" charset="0"/>
              </a:rPr>
              <a:t>	E</a:t>
            </a:r>
            <a:r>
              <a:rPr lang="en-US" sz="2200" dirty="0" smtClean="0">
                <a:latin typeface="Arial" pitchFamily="34" charset="0"/>
                <a:cs typeface="Arial" pitchFamily="34" charset="0"/>
                <a:sym typeface="Wingdings"/>
              </a:rPr>
              <a:t></a:t>
            </a:r>
            <a:r>
              <a:rPr lang="en-US" sz="2200" dirty="0" smtClean="0">
                <a:latin typeface="Arial" pitchFamily="34" charset="0"/>
                <a:cs typeface="Arial" pitchFamily="34" charset="0"/>
              </a:rPr>
              <a:t> E+T|T</a:t>
            </a:r>
            <a:br>
              <a:rPr lang="en-US" sz="2200" dirty="0" smtClean="0">
                <a:latin typeface="Arial" pitchFamily="34" charset="0"/>
                <a:cs typeface="Arial" pitchFamily="34" charset="0"/>
              </a:rPr>
            </a:br>
            <a:r>
              <a:rPr lang="en-US" sz="2200" dirty="0" smtClean="0">
                <a:latin typeface="Arial" pitchFamily="34" charset="0"/>
                <a:cs typeface="Arial" pitchFamily="34" charset="0"/>
              </a:rPr>
              <a:t>	T</a:t>
            </a:r>
            <a:r>
              <a:rPr lang="en-US" sz="2200" dirty="0" smtClean="0">
                <a:latin typeface="Arial" pitchFamily="34" charset="0"/>
                <a:cs typeface="Arial" pitchFamily="34" charset="0"/>
                <a:sym typeface="Wingdings"/>
              </a:rPr>
              <a:t></a:t>
            </a:r>
            <a:r>
              <a:rPr lang="en-US" sz="2200" dirty="0" smtClean="0">
                <a:latin typeface="Arial" pitchFamily="34" charset="0"/>
                <a:cs typeface="Arial" pitchFamily="34" charset="0"/>
              </a:rPr>
              <a:t>T*F/F</a:t>
            </a:r>
            <a:br>
              <a:rPr lang="en-US" sz="2200" dirty="0" smtClean="0">
                <a:latin typeface="Arial" pitchFamily="34" charset="0"/>
                <a:cs typeface="Arial" pitchFamily="34" charset="0"/>
              </a:rPr>
            </a:br>
            <a:r>
              <a:rPr lang="en-US" sz="2200" dirty="0" smtClean="0">
                <a:latin typeface="Arial" pitchFamily="34" charset="0"/>
                <a:cs typeface="Arial" pitchFamily="34" charset="0"/>
              </a:rPr>
              <a:t>	F</a:t>
            </a:r>
            <a:r>
              <a:rPr lang="en-US" sz="2200" dirty="0" smtClean="0">
                <a:latin typeface="Arial" pitchFamily="34" charset="0"/>
                <a:cs typeface="Arial" pitchFamily="34" charset="0"/>
                <a:sym typeface="Wingdings"/>
              </a:rPr>
              <a:t></a:t>
            </a:r>
            <a:r>
              <a:rPr lang="en-US" sz="2200" dirty="0" smtClean="0">
                <a:latin typeface="Arial" pitchFamily="34" charset="0"/>
                <a:cs typeface="Arial" pitchFamily="34" charset="0"/>
              </a:rPr>
              <a:t>(E)|id</a:t>
            </a:r>
            <a:r>
              <a:rPr lang="en-US" dirty="0" smtClean="0">
                <a:latin typeface="Arial" pitchFamily="34" charset="0"/>
                <a:cs typeface="Arial" pitchFamily="34" charset="0"/>
              </a:rPr>
              <a:t/>
            </a:r>
            <a:br>
              <a:rPr lang="en-US" dirty="0" smtClean="0">
                <a:latin typeface="Arial" pitchFamily="34" charset="0"/>
                <a:cs typeface="Arial" pitchFamily="34" charset="0"/>
              </a:rPr>
            </a:br>
            <a:r>
              <a:rPr lang="en-US" dirty="0" smtClean="0">
                <a:latin typeface="Arial" pitchFamily="34" charset="0"/>
                <a:cs typeface="Arial" pitchFamily="34" charset="0"/>
              </a:rPr>
              <a:t/>
            </a:r>
            <a:br>
              <a:rPr lang="en-US" dirty="0" smtClean="0">
                <a:latin typeface="Arial" pitchFamily="34" charset="0"/>
                <a:cs typeface="Arial" pitchFamily="34" charset="0"/>
              </a:rPr>
            </a:br>
            <a:endParaRPr lang="en-US" dirty="0"/>
          </a:p>
        </p:txBody>
      </p:sp>
      <p:sp>
        <p:nvSpPr>
          <p:cNvPr id="3" name="Content Placeholder 2"/>
          <p:cNvSpPr>
            <a:spLocks noGrp="1"/>
          </p:cNvSpPr>
          <p:nvPr>
            <p:ph idx="4294967295"/>
          </p:nvPr>
        </p:nvSpPr>
        <p:spPr>
          <a:xfrm>
            <a:off x="749508" y="1439057"/>
            <a:ext cx="9810542" cy="5082394"/>
          </a:xfrm>
        </p:spPr>
        <p:txBody>
          <a:bodyPr>
            <a:noAutofit/>
          </a:bodyPr>
          <a:lstStyle/>
          <a:p>
            <a:pPr>
              <a:spcBef>
                <a:spcPts val="0"/>
              </a:spcBef>
              <a:buNone/>
            </a:pPr>
            <a:r>
              <a:rPr lang="en-US" sz="900" dirty="0" smtClean="0">
                <a:latin typeface="Arial" pitchFamily="34" charset="0"/>
                <a:cs typeface="Arial" pitchFamily="34" charset="0"/>
              </a:rPr>
              <a:t>	</a:t>
            </a:r>
            <a:r>
              <a:rPr lang="en-US" sz="1800" b="1" dirty="0" smtClean="0">
                <a:latin typeface="Arial" pitchFamily="34" charset="0"/>
                <a:cs typeface="Arial" pitchFamily="34" charset="0"/>
              </a:rPr>
              <a:t>Solution</a:t>
            </a:r>
            <a:r>
              <a:rPr lang="en-US" sz="1800" b="1" dirty="0">
                <a:latin typeface="Arial" pitchFamily="34" charset="0"/>
                <a:cs typeface="Arial" pitchFamily="34" charset="0"/>
              </a:rPr>
              <a:t>:</a:t>
            </a:r>
            <a:endParaRPr lang="en-US" sz="1800" dirty="0">
              <a:latin typeface="Arial" pitchFamily="34" charset="0"/>
              <a:cs typeface="Arial" pitchFamily="34" charset="0"/>
            </a:endParaRPr>
          </a:p>
          <a:p>
            <a:pPr>
              <a:spcBef>
                <a:spcPts val="0"/>
              </a:spcBef>
            </a:pPr>
            <a:r>
              <a:rPr lang="en-US" sz="1800" b="1" dirty="0">
                <a:latin typeface="Arial" pitchFamily="34" charset="0"/>
                <a:cs typeface="Arial" pitchFamily="34" charset="0"/>
              </a:rPr>
              <a:t>Remove the left recursion from the first production</a:t>
            </a:r>
          </a:p>
          <a:p>
            <a:pPr>
              <a:spcBef>
                <a:spcPts val="0"/>
              </a:spcBef>
              <a:buNone/>
            </a:pPr>
            <a:r>
              <a:rPr lang="en-US" sz="1800" dirty="0" smtClean="0">
                <a:latin typeface="Arial" pitchFamily="34" charset="0"/>
                <a:cs typeface="Arial" pitchFamily="34" charset="0"/>
              </a:rPr>
              <a:t>	E</a:t>
            </a:r>
            <a:r>
              <a:rPr lang="en-US" sz="1800" dirty="0">
                <a:latin typeface="Arial" pitchFamily="34" charset="0"/>
                <a:cs typeface="Arial" pitchFamily="34" charset="0"/>
                <a:sym typeface="Wingdings"/>
              </a:rPr>
              <a:t></a:t>
            </a:r>
            <a:r>
              <a:rPr lang="en-US" sz="1800" dirty="0" smtClean="0">
                <a:latin typeface="Arial" pitchFamily="34" charset="0"/>
                <a:cs typeface="Arial" pitchFamily="34" charset="0"/>
              </a:rPr>
              <a:t>E+T|T So </a:t>
            </a:r>
            <a:r>
              <a:rPr lang="en-US" sz="1800" dirty="0">
                <a:latin typeface="Arial" pitchFamily="34" charset="0"/>
                <a:cs typeface="Arial" pitchFamily="34" charset="0"/>
              </a:rPr>
              <a:t>, According to the rule this production can be replaced with the production</a:t>
            </a:r>
          </a:p>
          <a:p>
            <a:pPr>
              <a:spcBef>
                <a:spcPts val="0"/>
              </a:spcBef>
              <a:buNone/>
            </a:pPr>
            <a:r>
              <a:rPr lang="en-US" sz="1800" dirty="0" smtClean="0">
                <a:latin typeface="Arial" pitchFamily="34" charset="0"/>
                <a:cs typeface="Arial" pitchFamily="34" charset="0"/>
              </a:rPr>
              <a:t>		E</a:t>
            </a:r>
            <a:r>
              <a:rPr lang="en-US" sz="1800" dirty="0">
                <a:latin typeface="Arial" pitchFamily="34" charset="0"/>
                <a:cs typeface="Arial" pitchFamily="34" charset="0"/>
                <a:sym typeface="Wingdings"/>
              </a:rPr>
              <a:t></a:t>
            </a:r>
            <a:r>
              <a:rPr lang="en-US" sz="1800" dirty="0">
                <a:latin typeface="Arial" pitchFamily="34" charset="0"/>
                <a:cs typeface="Arial" pitchFamily="34" charset="0"/>
              </a:rPr>
              <a:t>TE’</a:t>
            </a:r>
          </a:p>
          <a:p>
            <a:pPr>
              <a:spcBef>
                <a:spcPts val="0"/>
              </a:spcBef>
              <a:buNone/>
            </a:pPr>
            <a:r>
              <a:rPr lang="en-US" sz="1800" dirty="0" smtClean="0">
                <a:latin typeface="Arial" pitchFamily="34" charset="0"/>
                <a:cs typeface="Arial" pitchFamily="34" charset="0"/>
              </a:rPr>
              <a:t>		E</a:t>
            </a:r>
            <a:r>
              <a:rPr lang="en-US" sz="1800" dirty="0">
                <a:latin typeface="Arial" pitchFamily="34" charset="0"/>
                <a:cs typeface="Arial" pitchFamily="34" charset="0"/>
              </a:rPr>
              <a:t>’</a:t>
            </a:r>
            <a:r>
              <a:rPr lang="en-US" sz="1800" dirty="0">
                <a:latin typeface="Arial" pitchFamily="34" charset="0"/>
                <a:cs typeface="Arial" pitchFamily="34" charset="0"/>
                <a:sym typeface="Wingdings"/>
              </a:rPr>
              <a:t></a:t>
            </a:r>
            <a:r>
              <a:rPr lang="en-US" sz="1800" dirty="0">
                <a:latin typeface="Arial" pitchFamily="34" charset="0"/>
                <a:cs typeface="Arial" pitchFamily="34" charset="0"/>
              </a:rPr>
              <a:t>+TE’| ϵ</a:t>
            </a:r>
          </a:p>
          <a:p>
            <a:pPr>
              <a:spcBef>
                <a:spcPts val="0"/>
              </a:spcBef>
            </a:pPr>
            <a:r>
              <a:rPr lang="en-US" sz="1800" b="1" dirty="0">
                <a:latin typeface="Arial" pitchFamily="34" charset="0"/>
                <a:cs typeface="Arial" pitchFamily="34" charset="0"/>
              </a:rPr>
              <a:t>Remove the left recursion from the Second production</a:t>
            </a:r>
          </a:p>
          <a:p>
            <a:pPr>
              <a:spcBef>
                <a:spcPts val="0"/>
              </a:spcBef>
              <a:buNone/>
            </a:pPr>
            <a:r>
              <a:rPr lang="en-US" sz="1800" dirty="0" smtClean="0">
                <a:latin typeface="Arial" pitchFamily="34" charset="0"/>
                <a:cs typeface="Arial" pitchFamily="34" charset="0"/>
              </a:rPr>
              <a:t>	T</a:t>
            </a:r>
            <a:r>
              <a:rPr lang="en-US" sz="1800" dirty="0">
                <a:latin typeface="Arial" pitchFamily="34" charset="0"/>
                <a:cs typeface="Arial" pitchFamily="34" charset="0"/>
                <a:sym typeface="Wingdings"/>
              </a:rPr>
              <a:t></a:t>
            </a:r>
            <a:r>
              <a:rPr lang="en-US" sz="1800" dirty="0">
                <a:latin typeface="Arial" pitchFamily="34" charset="0"/>
                <a:cs typeface="Arial" pitchFamily="34" charset="0"/>
              </a:rPr>
              <a:t>T*F|F</a:t>
            </a:r>
          </a:p>
          <a:p>
            <a:pPr>
              <a:spcBef>
                <a:spcPts val="0"/>
              </a:spcBef>
              <a:buNone/>
            </a:pPr>
            <a:r>
              <a:rPr lang="en-US" sz="1800" dirty="0" smtClean="0">
                <a:latin typeface="Arial" pitchFamily="34" charset="0"/>
                <a:cs typeface="Arial" pitchFamily="34" charset="0"/>
              </a:rPr>
              <a:t>	So </a:t>
            </a:r>
            <a:r>
              <a:rPr lang="en-US" sz="1800" dirty="0">
                <a:latin typeface="Arial" pitchFamily="34" charset="0"/>
                <a:cs typeface="Arial" pitchFamily="34" charset="0"/>
              </a:rPr>
              <a:t>, According to the rule this production can be replaced with the production</a:t>
            </a:r>
          </a:p>
          <a:p>
            <a:pPr>
              <a:spcBef>
                <a:spcPts val="0"/>
              </a:spcBef>
              <a:buNone/>
            </a:pPr>
            <a:r>
              <a:rPr lang="en-US" sz="1800" dirty="0" smtClean="0">
                <a:latin typeface="Arial" pitchFamily="34" charset="0"/>
                <a:cs typeface="Arial" pitchFamily="34" charset="0"/>
              </a:rPr>
              <a:t>		T</a:t>
            </a:r>
            <a:r>
              <a:rPr lang="en-US" sz="1800" dirty="0">
                <a:latin typeface="Arial" pitchFamily="34" charset="0"/>
                <a:cs typeface="Arial" pitchFamily="34" charset="0"/>
                <a:sym typeface="Wingdings"/>
              </a:rPr>
              <a:t></a:t>
            </a:r>
            <a:r>
              <a:rPr lang="en-US" sz="1800" dirty="0">
                <a:latin typeface="Arial" pitchFamily="34" charset="0"/>
                <a:cs typeface="Arial" pitchFamily="34" charset="0"/>
              </a:rPr>
              <a:t>FT’</a:t>
            </a:r>
          </a:p>
          <a:p>
            <a:pPr>
              <a:spcBef>
                <a:spcPts val="0"/>
              </a:spcBef>
              <a:buNone/>
            </a:pPr>
            <a:r>
              <a:rPr lang="en-US" sz="1800" dirty="0" smtClean="0">
                <a:latin typeface="Arial" pitchFamily="34" charset="0"/>
                <a:cs typeface="Arial" pitchFamily="34" charset="0"/>
              </a:rPr>
              <a:t>		T</a:t>
            </a:r>
            <a:r>
              <a:rPr lang="en-US" sz="1800" dirty="0">
                <a:latin typeface="Arial" pitchFamily="34" charset="0"/>
                <a:cs typeface="Arial" pitchFamily="34" charset="0"/>
              </a:rPr>
              <a:t>’</a:t>
            </a:r>
            <a:r>
              <a:rPr lang="en-US" sz="1800" dirty="0">
                <a:latin typeface="Arial" pitchFamily="34" charset="0"/>
                <a:cs typeface="Arial" pitchFamily="34" charset="0"/>
                <a:sym typeface="Wingdings"/>
              </a:rPr>
              <a:t></a:t>
            </a:r>
            <a:r>
              <a:rPr lang="en-US" sz="1800" dirty="0">
                <a:latin typeface="Arial" pitchFamily="34" charset="0"/>
                <a:cs typeface="Arial" pitchFamily="34" charset="0"/>
              </a:rPr>
              <a:t>*FT’| ϵ</a:t>
            </a:r>
          </a:p>
          <a:p>
            <a:pPr>
              <a:spcBef>
                <a:spcPts val="0"/>
              </a:spcBef>
            </a:pPr>
            <a:r>
              <a:rPr lang="en-US" sz="1800" dirty="0" smtClean="0">
                <a:latin typeface="Arial" pitchFamily="34" charset="0"/>
                <a:cs typeface="Arial" pitchFamily="34" charset="0"/>
              </a:rPr>
              <a:t>As </a:t>
            </a:r>
            <a:r>
              <a:rPr lang="en-US" sz="1800" dirty="0">
                <a:latin typeface="Arial" pitchFamily="34" charset="0"/>
                <a:cs typeface="Arial" pitchFamily="34" charset="0"/>
              </a:rPr>
              <a:t>the third production is already free from the left recursion. So there is not any change in this production. By substituting the equivalent productions, the left recursion can be eliminated.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Factoring</a:t>
            </a:r>
            <a:endParaRPr lang="en-US" dirty="0"/>
          </a:p>
        </p:txBody>
      </p:sp>
      <p:sp>
        <p:nvSpPr>
          <p:cNvPr id="3" name="Content Placeholder 2"/>
          <p:cNvSpPr>
            <a:spLocks noGrp="1"/>
          </p:cNvSpPr>
          <p:nvPr>
            <p:ph idx="1"/>
          </p:nvPr>
        </p:nvSpPr>
        <p:spPr/>
        <p:txBody>
          <a:bodyPr>
            <a:normAutofit/>
          </a:bodyPr>
          <a:lstStyle/>
          <a:p>
            <a:r>
              <a:rPr lang="en-US" dirty="0"/>
              <a:t>Left Factoring is used to transform the grammar into the form that is suitable for the recursive decent parsing.</a:t>
            </a:r>
          </a:p>
          <a:p>
            <a:r>
              <a:rPr lang="en-US" dirty="0"/>
              <a:t>So, to left factored the grammar we have to follow the given rule:</a:t>
            </a:r>
          </a:p>
          <a:p>
            <a:endParaRPr lang="en-US" dirty="0"/>
          </a:p>
        </p:txBody>
      </p:sp>
      <p:sp>
        <p:nvSpPr>
          <p:cNvPr id="4" name="Rectangle 3"/>
          <p:cNvSpPr/>
          <p:nvPr/>
        </p:nvSpPr>
        <p:spPr>
          <a:xfrm>
            <a:off x="1875436" y="3520190"/>
            <a:ext cx="7924800" cy="19050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t>If A</a:t>
            </a:r>
            <a:r>
              <a:rPr lang="en-US" sz="2400" dirty="0" smtClean="0">
                <a:sym typeface="Wingdings"/>
              </a:rPr>
              <a:t></a:t>
            </a:r>
            <a:r>
              <a:rPr lang="en-US" sz="2400" dirty="0" smtClean="0"/>
              <a:t> </a:t>
            </a:r>
            <a:r>
              <a:rPr lang="en-US" sz="2400" dirty="0" err="1" smtClean="0"/>
              <a:t>αβ|αγ</a:t>
            </a:r>
            <a:r>
              <a:rPr lang="en-US" sz="2400" dirty="0" smtClean="0"/>
              <a:t> two production , then replace this production with following productions:</a:t>
            </a:r>
          </a:p>
          <a:p>
            <a:r>
              <a:rPr lang="en-US" sz="2400" dirty="0" smtClean="0"/>
              <a:t>	</a:t>
            </a:r>
            <a:r>
              <a:rPr lang="en-US" sz="2400" dirty="0" err="1" smtClean="0"/>
              <a:t>A</a:t>
            </a:r>
            <a:r>
              <a:rPr lang="en-US" sz="2400" dirty="0" err="1" smtClean="0">
                <a:sym typeface="Wingdings"/>
              </a:rPr>
              <a:t></a:t>
            </a:r>
            <a:r>
              <a:rPr lang="en-US" sz="2400" dirty="0" err="1" smtClean="0"/>
              <a:t>αA</a:t>
            </a:r>
            <a:r>
              <a:rPr lang="en-US" sz="2400" dirty="0" smtClean="0"/>
              <a:t>’</a:t>
            </a:r>
          </a:p>
          <a:p>
            <a:r>
              <a:rPr lang="en-US" sz="2400" dirty="0" smtClean="0"/>
              <a:t>	</a:t>
            </a:r>
            <a:r>
              <a:rPr lang="en-US" sz="2400" dirty="0" err="1" smtClean="0"/>
              <a:t>A’</a:t>
            </a:r>
            <a:r>
              <a:rPr lang="en-US" sz="2400" dirty="0" err="1" smtClean="0">
                <a:sym typeface="Wingdings"/>
              </a:rPr>
              <a:t></a:t>
            </a:r>
            <a:r>
              <a:rPr lang="en-US" sz="2400" dirty="0" err="1" smtClean="0"/>
              <a:t>β|γ</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b="1" dirty="0">
                <a:latin typeface="Arial" pitchFamily="34" charset="0"/>
                <a:cs typeface="Arial" pitchFamily="34" charset="0"/>
              </a:rPr>
              <a:t>Question:</a:t>
            </a:r>
            <a:r>
              <a:rPr lang="en-US" dirty="0">
                <a:latin typeface="Arial" pitchFamily="34" charset="0"/>
                <a:cs typeface="Arial" pitchFamily="34" charset="0"/>
              </a:rPr>
              <a:t>  </a:t>
            </a:r>
            <a:r>
              <a:rPr lang="en-US" dirty="0" smtClean="0">
                <a:latin typeface="Arial" pitchFamily="34" charset="0"/>
                <a:cs typeface="Arial" pitchFamily="34" charset="0"/>
              </a:rPr>
              <a:t>Left </a:t>
            </a:r>
            <a:r>
              <a:rPr lang="en-US" dirty="0">
                <a:latin typeface="Arial" pitchFamily="34" charset="0"/>
                <a:cs typeface="Arial" pitchFamily="34" charset="0"/>
              </a:rPr>
              <a:t>factored the given grammar:</a:t>
            </a:r>
          </a:p>
          <a:p>
            <a:pPr>
              <a:buNone/>
            </a:pPr>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err="1" smtClean="0">
                <a:latin typeface="Arial" pitchFamily="34" charset="0"/>
                <a:cs typeface="Arial" pitchFamily="34" charset="0"/>
              </a:rPr>
              <a:t>S</a:t>
            </a:r>
            <a:r>
              <a:rPr lang="en-US" dirty="0" err="1">
                <a:latin typeface="Arial" pitchFamily="34" charset="0"/>
                <a:cs typeface="Arial" pitchFamily="34" charset="0"/>
                <a:sym typeface="Wingdings"/>
              </a:rPr>
              <a:t></a:t>
            </a:r>
            <a:r>
              <a:rPr lang="en-US" dirty="0" err="1">
                <a:latin typeface="Arial" pitchFamily="34" charset="0"/>
                <a:cs typeface="Arial" pitchFamily="34" charset="0"/>
              </a:rPr>
              <a:t>iCtS</a:t>
            </a:r>
            <a:r>
              <a:rPr lang="en-US" dirty="0">
                <a:latin typeface="Arial" pitchFamily="34" charset="0"/>
                <a:cs typeface="Arial" pitchFamily="34" charset="0"/>
              </a:rPr>
              <a:t>/</a:t>
            </a:r>
            <a:r>
              <a:rPr lang="en-US" dirty="0" err="1">
                <a:latin typeface="Arial" pitchFamily="34" charset="0"/>
                <a:cs typeface="Arial" pitchFamily="34" charset="0"/>
              </a:rPr>
              <a:t>iCtSeS</a:t>
            </a:r>
            <a:r>
              <a:rPr lang="en-US" dirty="0">
                <a:latin typeface="Arial" pitchFamily="34" charset="0"/>
                <a:cs typeface="Arial" pitchFamily="34" charset="0"/>
              </a:rPr>
              <a:t>/a</a:t>
            </a:r>
          </a:p>
          <a:p>
            <a:pPr>
              <a:buNone/>
            </a:pPr>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err="1" smtClean="0">
                <a:latin typeface="Arial" pitchFamily="34" charset="0"/>
                <a:cs typeface="Arial" pitchFamily="34" charset="0"/>
              </a:rPr>
              <a:t>C</a:t>
            </a:r>
            <a:r>
              <a:rPr lang="en-US" dirty="0" err="1">
                <a:latin typeface="Arial" pitchFamily="34" charset="0"/>
                <a:cs typeface="Arial" pitchFamily="34" charset="0"/>
                <a:sym typeface="Wingdings"/>
              </a:rPr>
              <a:t></a:t>
            </a:r>
            <a:r>
              <a:rPr lang="en-US" dirty="0" err="1">
                <a:latin typeface="Arial" pitchFamily="34" charset="0"/>
                <a:cs typeface="Arial" pitchFamily="34" charset="0"/>
              </a:rPr>
              <a:t>b</a:t>
            </a:r>
            <a:endParaRPr lang="en-US" dirty="0">
              <a:latin typeface="Arial" pitchFamily="34" charset="0"/>
              <a:cs typeface="Arial" pitchFamily="34" charset="0"/>
            </a:endParaRPr>
          </a:p>
          <a:p>
            <a:pPr>
              <a:buNone/>
            </a:pPr>
            <a:r>
              <a:rPr lang="en-US" b="1" dirty="0">
                <a:latin typeface="Arial" pitchFamily="34" charset="0"/>
                <a:cs typeface="Arial" pitchFamily="34" charset="0"/>
              </a:rPr>
              <a:t>Solution: </a:t>
            </a:r>
            <a:r>
              <a:rPr lang="en-US" dirty="0">
                <a:latin typeface="Arial" pitchFamily="34" charset="0"/>
                <a:cs typeface="Arial" pitchFamily="34" charset="0"/>
              </a:rPr>
              <a:t>By using the above rule we can replace the first production with the following productions:</a:t>
            </a:r>
          </a:p>
          <a:p>
            <a:pPr>
              <a:buNone/>
            </a:pPr>
            <a:r>
              <a:rPr lang="en-US" b="1" dirty="0">
                <a:latin typeface="Arial" pitchFamily="34" charset="0"/>
                <a:cs typeface="Arial" pitchFamily="34" charset="0"/>
              </a:rPr>
              <a:t>		</a:t>
            </a:r>
            <a:r>
              <a:rPr lang="en-US" b="1" dirty="0" smtClean="0">
                <a:latin typeface="Arial" pitchFamily="34" charset="0"/>
                <a:cs typeface="Arial" pitchFamily="34" charset="0"/>
              </a:rPr>
              <a:t>	</a:t>
            </a:r>
            <a:r>
              <a:rPr lang="en-US" dirty="0" err="1" smtClean="0">
                <a:latin typeface="Arial" pitchFamily="34" charset="0"/>
                <a:cs typeface="Arial" pitchFamily="34" charset="0"/>
              </a:rPr>
              <a:t>S</a:t>
            </a:r>
            <a:r>
              <a:rPr lang="en-US" dirty="0" err="1">
                <a:latin typeface="Arial" pitchFamily="34" charset="0"/>
                <a:cs typeface="Arial" pitchFamily="34" charset="0"/>
                <a:sym typeface="Wingdings"/>
              </a:rPr>
              <a:t></a:t>
            </a:r>
            <a:r>
              <a:rPr lang="en-US" dirty="0" err="1">
                <a:latin typeface="Arial" pitchFamily="34" charset="0"/>
                <a:cs typeface="Arial" pitchFamily="34" charset="0"/>
              </a:rPr>
              <a:t>iCtSS</a:t>
            </a:r>
            <a:r>
              <a:rPr lang="en-US" dirty="0">
                <a:latin typeface="Arial" pitchFamily="34" charset="0"/>
                <a:cs typeface="Arial" pitchFamily="34" charset="0"/>
              </a:rPr>
              <a:t>’/a</a:t>
            </a:r>
          </a:p>
          <a:p>
            <a:pPr>
              <a:buNone/>
            </a:pPr>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err="1" smtClean="0">
                <a:latin typeface="Arial" pitchFamily="34" charset="0"/>
                <a:cs typeface="Arial" pitchFamily="34" charset="0"/>
              </a:rPr>
              <a:t>S</a:t>
            </a:r>
            <a:r>
              <a:rPr lang="en-US" dirty="0" err="1">
                <a:latin typeface="Arial" pitchFamily="34" charset="0"/>
                <a:cs typeface="Arial" pitchFamily="34" charset="0"/>
              </a:rPr>
              <a:t>’</a:t>
            </a:r>
            <a:r>
              <a:rPr lang="en-US" dirty="0" err="1">
                <a:latin typeface="Arial" pitchFamily="34" charset="0"/>
                <a:cs typeface="Arial" pitchFamily="34" charset="0"/>
                <a:sym typeface="Wingdings"/>
              </a:rPr>
              <a:t></a:t>
            </a:r>
            <a:r>
              <a:rPr lang="en-US" dirty="0" err="1">
                <a:latin typeface="Arial" pitchFamily="34" charset="0"/>
                <a:cs typeface="Arial" pitchFamily="34" charset="0"/>
              </a:rPr>
              <a:t>eS</a:t>
            </a:r>
            <a:r>
              <a:rPr lang="en-US" dirty="0">
                <a:latin typeface="Arial" pitchFamily="34" charset="0"/>
                <a:cs typeface="Arial" pitchFamily="34" charset="0"/>
              </a:rPr>
              <a:t>/ ϵ</a:t>
            </a:r>
          </a:p>
          <a:p>
            <a:pPr>
              <a:buNone/>
            </a:pPr>
            <a:r>
              <a:rPr lang="en-US" dirty="0">
                <a:latin typeface="Arial" pitchFamily="34" charset="0"/>
                <a:cs typeface="Arial" pitchFamily="34" charset="0"/>
              </a:rPr>
              <a:t>		</a:t>
            </a:r>
            <a:r>
              <a:rPr lang="en-US" dirty="0" smtClean="0">
                <a:latin typeface="Arial" pitchFamily="34" charset="0"/>
                <a:cs typeface="Arial" pitchFamily="34" charset="0"/>
              </a:rPr>
              <a:t>	</a:t>
            </a:r>
            <a:r>
              <a:rPr lang="en-US" dirty="0" err="1" smtClean="0">
                <a:latin typeface="Arial" pitchFamily="34" charset="0"/>
                <a:cs typeface="Arial" pitchFamily="34" charset="0"/>
              </a:rPr>
              <a:t>C</a:t>
            </a:r>
            <a:r>
              <a:rPr lang="en-US" dirty="0" err="1">
                <a:latin typeface="Arial" pitchFamily="34" charset="0"/>
                <a:cs typeface="Arial" pitchFamily="34" charset="0"/>
                <a:sym typeface="Wingdings"/>
              </a:rPr>
              <a:t></a:t>
            </a:r>
            <a:r>
              <a:rPr lang="en-US" dirty="0" err="1">
                <a:latin typeface="Arial" pitchFamily="34" charset="0"/>
                <a:cs typeface="Arial" pitchFamily="34" charset="0"/>
              </a:rPr>
              <a:t>b</a:t>
            </a:r>
            <a:endParaRPr lang="en-US" dirty="0">
              <a:latin typeface="Arial" pitchFamily="34" charset="0"/>
              <a:cs typeface="Arial" pitchFamily="34" charset="0"/>
            </a:endParaRPr>
          </a:p>
          <a:p>
            <a:endParaRPr lang="en-US" dirty="0">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Prior to Top Down Parsing</a:t>
            </a:r>
            <a:endParaRPr lang="en-US" dirty="0"/>
          </a:p>
        </p:txBody>
      </p:sp>
      <p:sp>
        <p:nvSpPr>
          <p:cNvPr id="3" name="Content Placeholder 2"/>
          <p:cNvSpPr>
            <a:spLocks noGrp="1"/>
          </p:cNvSpPr>
          <p:nvPr>
            <p:ph idx="1"/>
          </p:nvPr>
        </p:nvSpPr>
        <p:spPr/>
        <p:txBody>
          <a:bodyPr/>
          <a:lstStyle/>
          <a:p>
            <a:pPr marL="609600" indent="-609600">
              <a:buFontTx/>
              <a:buAutoNum type="arabicPeriod"/>
            </a:pPr>
            <a:r>
              <a:rPr lang="en-US" dirty="0" smtClean="0">
                <a:latin typeface="Arial" pitchFamily="34" charset="0"/>
                <a:cs typeface="Arial" pitchFamily="34" charset="0"/>
              </a:rPr>
              <a:t>Remove </a:t>
            </a:r>
            <a:r>
              <a:rPr lang="en-US" dirty="0" smtClean="0">
                <a:solidFill>
                  <a:srgbClr val="FF3300"/>
                </a:solidFill>
                <a:latin typeface="Arial" pitchFamily="34" charset="0"/>
                <a:cs typeface="Arial" pitchFamily="34" charset="0"/>
              </a:rPr>
              <a:t>ambiguity</a:t>
            </a:r>
            <a:r>
              <a:rPr lang="en-US" dirty="0" smtClean="0">
                <a:latin typeface="Arial" pitchFamily="34" charset="0"/>
                <a:cs typeface="Arial" pitchFamily="34" charset="0"/>
              </a:rPr>
              <a:t> if possible by rewriting the grammar</a:t>
            </a:r>
          </a:p>
          <a:p>
            <a:pPr marL="609600" indent="-609600">
              <a:buFontTx/>
              <a:buAutoNum type="arabicPeriod"/>
            </a:pPr>
            <a:endParaRPr lang="en-US" dirty="0" smtClean="0">
              <a:latin typeface="Arial" pitchFamily="34" charset="0"/>
              <a:cs typeface="Arial" pitchFamily="34" charset="0"/>
            </a:endParaRPr>
          </a:p>
          <a:p>
            <a:pPr marL="609600" indent="-609600">
              <a:buFontTx/>
              <a:buAutoNum type="arabicPeriod"/>
            </a:pPr>
            <a:r>
              <a:rPr lang="en-US" dirty="0" smtClean="0">
                <a:latin typeface="Arial" pitchFamily="34" charset="0"/>
                <a:cs typeface="Arial" pitchFamily="34" charset="0"/>
              </a:rPr>
              <a:t>Remove </a:t>
            </a:r>
            <a:r>
              <a:rPr lang="en-US" dirty="0" smtClean="0">
                <a:solidFill>
                  <a:srgbClr val="FF3300"/>
                </a:solidFill>
                <a:latin typeface="Arial" pitchFamily="34" charset="0"/>
                <a:cs typeface="Arial" pitchFamily="34" charset="0"/>
              </a:rPr>
              <a:t>left- recursion</a:t>
            </a:r>
            <a:r>
              <a:rPr lang="en-US" dirty="0" smtClean="0">
                <a:latin typeface="Arial" pitchFamily="34" charset="0"/>
                <a:cs typeface="Arial" pitchFamily="34" charset="0"/>
              </a:rPr>
              <a:t>, otherwise it may lead to an infinite loop.</a:t>
            </a:r>
          </a:p>
          <a:p>
            <a:pPr marL="609600" indent="-609600">
              <a:buFontTx/>
              <a:buAutoNum type="arabicPeriod"/>
            </a:pPr>
            <a:endParaRPr lang="en-US" dirty="0" smtClean="0">
              <a:solidFill>
                <a:srgbClr val="FF3300"/>
              </a:solidFill>
              <a:latin typeface="Arial" pitchFamily="34" charset="0"/>
              <a:cs typeface="Arial" pitchFamily="34" charset="0"/>
            </a:endParaRPr>
          </a:p>
          <a:p>
            <a:pPr marL="609600" indent="-609600">
              <a:buFontTx/>
              <a:buAutoNum type="arabicPeriod"/>
            </a:pPr>
            <a:r>
              <a:rPr lang="en-US" dirty="0" smtClean="0">
                <a:solidFill>
                  <a:srgbClr val="FF3300"/>
                </a:solidFill>
                <a:latin typeface="Arial" pitchFamily="34" charset="0"/>
                <a:cs typeface="Arial" pitchFamily="34" charset="0"/>
              </a:rPr>
              <a:t>Do left- factoring.</a:t>
            </a:r>
          </a:p>
          <a:p>
            <a:endParaRPr lang="en-US" dirty="0">
              <a:latin typeface="Arial" pitchFamily="34" charset="0"/>
              <a:cs typeface="Arial"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a:t>
            </a:r>
            <a:endParaRPr lang="en-US" dirty="0"/>
          </a:p>
        </p:txBody>
      </p:sp>
      <p:sp>
        <p:nvSpPr>
          <p:cNvPr id="3" name="Content Placeholder 2"/>
          <p:cNvSpPr>
            <a:spLocks noGrp="1"/>
          </p:cNvSpPr>
          <p:nvPr>
            <p:ph idx="1"/>
          </p:nvPr>
        </p:nvSpPr>
        <p:spPr>
          <a:xfrm>
            <a:off x="609600" y="1600200"/>
            <a:ext cx="10972800" cy="5105400"/>
          </a:xfrm>
        </p:spPr>
        <p:txBody>
          <a:bodyPr>
            <a:normAutofit/>
          </a:bodyPr>
          <a:lstStyle/>
          <a:p>
            <a:pPr algn="just"/>
            <a:endParaRPr lang="en-US" sz="2200" b="1" dirty="0" smtClean="0"/>
          </a:p>
          <a:p>
            <a:pPr algn="just"/>
            <a:r>
              <a:rPr lang="en-US" sz="2200" b="1" dirty="0" smtClean="0"/>
              <a:t>FIRST(X): </a:t>
            </a:r>
            <a:r>
              <a:rPr lang="en-US" sz="2200" dirty="0" smtClean="0"/>
              <a:t>is the set of terminals that begin strings derived from X, if X derives ϵ in some further productions then ‘ϵ’ is also in FIRST(X). </a:t>
            </a:r>
          </a:p>
          <a:p>
            <a:pPr algn="just"/>
            <a:r>
              <a:rPr lang="en-US" sz="2200" dirty="0" smtClean="0"/>
              <a:t>To get the FIRST for all the grammar symbols, apply the following rules until no more ‘ϵ’ and terminals can further be added to any FIRST Set.</a:t>
            </a:r>
          </a:p>
          <a:p>
            <a:pPr algn="just"/>
            <a:r>
              <a:rPr lang="en-US" sz="2200" b="1" dirty="0" smtClean="0"/>
              <a:t>RULES:</a:t>
            </a:r>
            <a:endParaRPr lang="en-US" sz="2200" dirty="0" smtClean="0"/>
          </a:p>
          <a:p>
            <a:pPr algn="just"/>
            <a:endParaRPr lang="en-US" sz="2200" dirty="0"/>
          </a:p>
        </p:txBody>
      </p:sp>
      <p:sp>
        <p:nvSpPr>
          <p:cNvPr id="4" name="Rectangle 3"/>
          <p:cNvSpPr/>
          <p:nvPr/>
        </p:nvSpPr>
        <p:spPr>
          <a:xfrm>
            <a:off x="1978702" y="3902440"/>
            <a:ext cx="10000106" cy="2198557"/>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just">
              <a:buFont typeface="Arial" pitchFamily="34" charset="0"/>
              <a:buChar char="•"/>
            </a:pPr>
            <a:r>
              <a:rPr lang="en-US" dirty="0" smtClean="0"/>
              <a:t>  If the grammar symbol X is the terminal then the FIRST(X) is (X).</a:t>
            </a:r>
          </a:p>
          <a:p>
            <a:pPr lvl="1" algn="just">
              <a:buFont typeface="Arial" pitchFamily="34" charset="0"/>
              <a:buChar char="•"/>
            </a:pPr>
            <a:r>
              <a:rPr lang="en-US" dirty="0" smtClean="0"/>
              <a:t>  If ‘X’ is non terminal and there is production </a:t>
            </a:r>
            <a:r>
              <a:rPr lang="en-US" dirty="0" err="1" smtClean="0"/>
              <a:t>X</a:t>
            </a:r>
            <a:r>
              <a:rPr lang="en-US" dirty="0" err="1" smtClean="0">
                <a:sym typeface="Wingdings"/>
              </a:rPr>
              <a:t></a:t>
            </a:r>
            <a:r>
              <a:rPr lang="en-US" dirty="0" err="1" smtClean="0"/>
              <a:t>aB</a:t>
            </a:r>
            <a:r>
              <a:rPr lang="en-US" dirty="0" smtClean="0"/>
              <a:t>, then add ‘a’ to  FIRST(X).</a:t>
            </a:r>
          </a:p>
          <a:p>
            <a:pPr lvl="1" algn="just">
              <a:buFont typeface="Arial" pitchFamily="34" charset="0"/>
              <a:buChar char="•"/>
            </a:pPr>
            <a:r>
              <a:rPr lang="en-US" dirty="0" smtClean="0"/>
              <a:t>  If there is production X</a:t>
            </a:r>
            <a:r>
              <a:rPr lang="en-US" dirty="0" smtClean="0">
                <a:sym typeface="Wingdings"/>
              </a:rPr>
              <a:t></a:t>
            </a:r>
            <a:r>
              <a:rPr lang="en-US" dirty="0" smtClean="0"/>
              <a:t> ϵ, then add ‘ϵ’ to FIRST(X).</a:t>
            </a:r>
          </a:p>
          <a:p>
            <a:pPr lvl="1" algn="just">
              <a:buFont typeface="Arial" pitchFamily="34" charset="0"/>
              <a:buChar char="•"/>
            </a:pPr>
            <a:r>
              <a:rPr lang="en-US" dirty="0" smtClean="0"/>
              <a:t>  If X</a:t>
            </a:r>
            <a:r>
              <a:rPr lang="en-US" dirty="0" smtClean="0">
                <a:sym typeface="Wingdings"/>
              </a:rPr>
              <a:t></a:t>
            </a:r>
            <a:r>
              <a:rPr lang="en-US" dirty="0" smtClean="0"/>
              <a:t>A</a:t>
            </a:r>
            <a:r>
              <a:rPr lang="en-US" baseline="-25000" dirty="0" smtClean="0"/>
              <a:t>1</a:t>
            </a:r>
            <a:r>
              <a:rPr lang="en-US" dirty="0" smtClean="0"/>
              <a:t>A</a:t>
            </a:r>
            <a:r>
              <a:rPr lang="en-US" baseline="-25000" dirty="0" smtClean="0"/>
              <a:t>2</a:t>
            </a:r>
            <a:r>
              <a:rPr lang="en-US" dirty="0" smtClean="0"/>
              <a:t>A</a:t>
            </a:r>
            <a:r>
              <a:rPr lang="en-US" baseline="-25000" dirty="0" smtClean="0"/>
              <a:t>3</a:t>
            </a:r>
            <a:r>
              <a:rPr lang="en-US" dirty="0" smtClean="0"/>
              <a:t>….</a:t>
            </a:r>
            <a:r>
              <a:rPr lang="en-US" dirty="0" err="1" smtClean="0"/>
              <a:t>A</a:t>
            </a:r>
            <a:r>
              <a:rPr lang="en-US" baseline="-25000" dirty="0" err="1" smtClean="0"/>
              <a:t>k</a:t>
            </a:r>
            <a:r>
              <a:rPr lang="en-US" dirty="0" smtClean="0"/>
              <a:t> is a production , then for all ‘</a:t>
            </a:r>
            <a:r>
              <a:rPr lang="en-US" dirty="0" err="1" smtClean="0"/>
              <a:t>i</a:t>
            </a:r>
            <a:r>
              <a:rPr lang="en-US" dirty="0" smtClean="0"/>
              <a:t>’ such that all A</a:t>
            </a:r>
            <a:r>
              <a:rPr lang="en-US" baseline="-25000" dirty="0" smtClean="0"/>
              <a:t>1</a:t>
            </a:r>
            <a:r>
              <a:rPr lang="en-US" dirty="0" smtClean="0"/>
              <a:t>,A</a:t>
            </a:r>
            <a:r>
              <a:rPr lang="en-US" baseline="-25000" dirty="0" smtClean="0"/>
              <a:t>2</a:t>
            </a:r>
            <a:r>
              <a:rPr lang="en-US" dirty="0" smtClean="0"/>
              <a:t>,…..A</a:t>
            </a:r>
            <a:r>
              <a:rPr lang="en-US" baseline="-25000" dirty="0" smtClean="0"/>
              <a:t>i-1</a:t>
            </a:r>
            <a:r>
              <a:rPr lang="en-US" dirty="0" smtClean="0"/>
              <a:t> are non terminals and FIRST(</a:t>
            </a:r>
            <a:r>
              <a:rPr lang="en-US" dirty="0" err="1" smtClean="0"/>
              <a:t>A</a:t>
            </a:r>
            <a:r>
              <a:rPr lang="en-US" baseline="-25000" dirty="0" err="1" smtClean="0"/>
              <a:t>j</a:t>
            </a:r>
            <a:r>
              <a:rPr lang="en-US" dirty="0" smtClean="0"/>
              <a:t>) contains ϵ for j=1,2,3,……..i-1(i.e. A</a:t>
            </a:r>
            <a:r>
              <a:rPr lang="en-US" baseline="-25000" dirty="0" smtClean="0"/>
              <a:t>1</a:t>
            </a:r>
            <a:r>
              <a:rPr lang="en-US" dirty="0" smtClean="0"/>
              <a:t>,A</a:t>
            </a:r>
            <a:r>
              <a:rPr lang="en-US" baseline="-25000" dirty="0" smtClean="0"/>
              <a:t>2</a:t>
            </a:r>
            <a:r>
              <a:rPr lang="en-US" dirty="0" smtClean="0"/>
              <a:t>,…..A</a:t>
            </a:r>
            <a:r>
              <a:rPr lang="en-US" baseline="-25000" dirty="0" smtClean="0"/>
              <a:t>i-1  </a:t>
            </a:r>
            <a:r>
              <a:rPr lang="en-US" dirty="0" smtClean="0">
                <a:sym typeface="Wingdings"/>
              </a:rPr>
              <a:t></a:t>
            </a:r>
            <a:r>
              <a:rPr lang="en-US" dirty="0" smtClean="0"/>
              <a:t> ϵ), then add every non ϵ symbol in FIRST(A</a:t>
            </a:r>
            <a:r>
              <a:rPr lang="en-US" baseline="-25000" dirty="0" smtClean="0"/>
              <a:t>i</a:t>
            </a:r>
            <a:r>
              <a:rPr lang="en-US" dirty="0" smtClean="0"/>
              <a:t>) to FIRST(X). If ϵ is in FIRST(</a:t>
            </a:r>
            <a:r>
              <a:rPr lang="en-US" dirty="0" err="1" smtClean="0"/>
              <a:t>A</a:t>
            </a:r>
            <a:r>
              <a:rPr lang="en-US" baseline="-25000" dirty="0" err="1" smtClean="0"/>
              <a:t>j</a:t>
            </a:r>
            <a:r>
              <a:rPr lang="en-US" dirty="0" smtClean="0"/>
              <a:t>) for all j=1,2,….k then add ϵ to FIRST(X).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a:buNone/>
            </a:pPr>
            <a:r>
              <a:rPr lang="en-US" b="1" dirty="0" smtClean="0">
                <a:latin typeface="Arial" pitchFamily="34" charset="0"/>
                <a:cs typeface="Arial" pitchFamily="34" charset="0"/>
              </a:rPr>
              <a:t>	Question</a:t>
            </a:r>
            <a:r>
              <a:rPr lang="en-US" dirty="0" smtClean="0">
                <a:latin typeface="Arial" pitchFamily="34" charset="0"/>
                <a:cs typeface="Arial" pitchFamily="34" charset="0"/>
              </a:rPr>
              <a:t>: Consider the following production rules and find out the FIRST for all non Terminals.</a:t>
            </a:r>
          </a:p>
          <a:p>
            <a:pPr lvl="1">
              <a:buNone/>
            </a:pPr>
            <a:r>
              <a:rPr lang="en-US" dirty="0" smtClean="0">
                <a:latin typeface="Arial" pitchFamily="34" charset="0"/>
                <a:cs typeface="Arial" pitchFamily="34" charset="0"/>
              </a:rPr>
              <a:t>E</a:t>
            </a:r>
            <a:r>
              <a:rPr lang="en-US" dirty="0" smtClean="0">
                <a:latin typeface="Arial" pitchFamily="34" charset="0"/>
                <a:cs typeface="Arial" pitchFamily="34" charset="0"/>
                <a:sym typeface="Wingdings"/>
              </a:rPr>
              <a:t></a:t>
            </a:r>
            <a:r>
              <a:rPr lang="en-US" dirty="0" smtClean="0">
                <a:latin typeface="Arial" pitchFamily="34" charset="0"/>
                <a:cs typeface="Arial" pitchFamily="34" charset="0"/>
              </a:rPr>
              <a:t>TE’</a:t>
            </a:r>
          </a:p>
          <a:p>
            <a:pPr lvl="1">
              <a:buNone/>
            </a:pPr>
            <a:r>
              <a:rPr lang="en-US" dirty="0" smtClean="0">
                <a:latin typeface="Arial" pitchFamily="34" charset="0"/>
                <a:cs typeface="Arial" pitchFamily="34" charset="0"/>
              </a:rPr>
              <a:t>E’</a:t>
            </a:r>
            <a:r>
              <a:rPr lang="en-US" dirty="0" smtClean="0">
                <a:latin typeface="Arial" pitchFamily="34" charset="0"/>
                <a:cs typeface="Arial" pitchFamily="34" charset="0"/>
                <a:sym typeface="Wingdings"/>
              </a:rPr>
              <a:t></a:t>
            </a:r>
            <a:r>
              <a:rPr lang="en-US" dirty="0" smtClean="0">
                <a:latin typeface="Arial" pitchFamily="34" charset="0"/>
                <a:cs typeface="Arial" pitchFamily="34" charset="0"/>
              </a:rPr>
              <a:t>+TE’/ ϵ</a:t>
            </a:r>
          </a:p>
          <a:p>
            <a:pPr lvl="1">
              <a:buNone/>
            </a:pPr>
            <a:r>
              <a:rPr lang="en-US" dirty="0" smtClean="0">
                <a:latin typeface="Arial" pitchFamily="34" charset="0"/>
                <a:cs typeface="Arial" pitchFamily="34" charset="0"/>
              </a:rPr>
              <a:t>T</a:t>
            </a:r>
            <a:r>
              <a:rPr lang="en-US" dirty="0" smtClean="0">
                <a:latin typeface="Arial" pitchFamily="34" charset="0"/>
                <a:cs typeface="Arial" pitchFamily="34" charset="0"/>
                <a:sym typeface="Wingdings"/>
              </a:rPr>
              <a:t></a:t>
            </a:r>
            <a:r>
              <a:rPr lang="en-US" dirty="0" smtClean="0">
                <a:latin typeface="Arial" pitchFamily="34" charset="0"/>
                <a:cs typeface="Arial" pitchFamily="34" charset="0"/>
              </a:rPr>
              <a:t>FT’</a:t>
            </a:r>
          </a:p>
          <a:p>
            <a:pPr lvl="1">
              <a:buNone/>
            </a:pPr>
            <a:r>
              <a:rPr lang="en-US" dirty="0" smtClean="0">
                <a:latin typeface="Arial" pitchFamily="34" charset="0"/>
                <a:cs typeface="Arial" pitchFamily="34" charset="0"/>
              </a:rPr>
              <a:t>T’</a:t>
            </a:r>
            <a:r>
              <a:rPr lang="en-US" dirty="0" smtClean="0">
                <a:latin typeface="Arial" pitchFamily="34" charset="0"/>
                <a:cs typeface="Arial" pitchFamily="34" charset="0"/>
                <a:sym typeface="Wingdings"/>
              </a:rPr>
              <a:t></a:t>
            </a:r>
            <a:r>
              <a:rPr lang="en-US" dirty="0" smtClean="0">
                <a:latin typeface="Arial" pitchFamily="34" charset="0"/>
                <a:cs typeface="Arial" pitchFamily="34" charset="0"/>
              </a:rPr>
              <a:t>*FT’/ ϵ</a:t>
            </a:r>
          </a:p>
          <a:p>
            <a:pPr lvl="1">
              <a:buNone/>
            </a:pPr>
            <a:r>
              <a:rPr lang="en-US" dirty="0" smtClean="0">
                <a:latin typeface="Arial" pitchFamily="34" charset="0"/>
                <a:cs typeface="Arial" pitchFamily="34" charset="0"/>
              </a:rPr>
              <a:t>F</a:t>
            </a:r>
            <a:r>
              <a:rPr lang="en-US" dirty="0" smtClean="0">
                <a:latin typeface="Arial" pitchFamily="34" charset="0"/>
                <a:cs typeface="Arial" pitchFamily="34" charset="0"/>
                <a:sym typeface="Wingdings"/>
              </a:rPr>
              <a:t></a:t>
            </a:r>
            <a:r>
              <a:rPr lang="en-US" dirty="0" smtClean="0">
                <a:latin typeface="Arial" pitchFamily="34" charset="0"/>
                <a:cs typeface="Arial" pitchFamily="34" charset="0"/>
              </a:rPr>
              <a:t>(E)/id</a:t>
            </a:r>
          </a:p>
          <a:p>
            <a:pPr lvl="1">
              <a:buNone/>
            </a:pPr>
            <a:r>
              <a:rPr lang="en-US" b="1" dirty="0" smtClean="0">
                <a:latin typeface="Arial" pitchFamily="34" charset="0"/>
                <a:cs typeface="Arial" pitchFamily="34" charset="0"/>
              </a:rPr>
              <a:t>Solution:</a:t>
            </a:r>
            <a:endParaRPr lang="en-US" dirty="0" smtClean="0">
              <a:latin typeface="Arial" pitchFamily="34" charset="0"/>
              <a:cs typeface="Arial" pitchFamily="34" charset="0"/>
            </a:endParaRPr>
          </a:p>
          <a:p>
            <a:pPr lvl="1">
              <a:buNone/>
            </a:pPr>
            <a:r>
              <a:rPr lang="en-US" dirty="0" smtClean="0">
                <a:latin typeface="Arial" pitchFamily="34" charset="0"/>
                <a:cs typeface="Arial" pitchFamily="34" charset="0"/>
              </a:rPr>
              <a:t>FIRST(E)=FIRST(T)=FIRST(F)={ (,id}</a:t>
            </a:r>
          </a:p>
          <a:p>
            <a:pPr lvl="1">
              <a:buNone/>
            </a:pPr>
            <a:r>
              <a:rPr lang="en-US" dirty="0" smtClean="0">
                <a:latin typeface="Arial" pitchFamily="34" charset="0"/>
                <a:cs typeface="Arial" pitchFamily="34" charset="0"/>
              </a:rPr>
              <a:t>FIRST(E’)= { +, ϵ}</a:t>
            </a:r>
          </a:p>
          <a:p>
            <a:pPr lvl="1">
              <a:buNone/>
            </a:pPr>
            <a:r>
              <a:rPr lang="en-US" dirty="0" smtClean="0">
                <a:latin typeface="Arial" pitchFamily="34" charset="0"/>
                <a:cs typeface="Arial" pitchFamily="34" charset="0"/>
              </a:rPr>
              <a:t>FIRST(T’)= {*, ϵ}</a:t>
            </a:r>
            <a:endParaRPr lang="en-US" dirty="0">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FOLLOW</a:t>
            </a:r>
            <a:endParaRPr lang="en-US" dirty="0"/>
          </a:p>
        </p:txBody>
      </p:sp>
      <p:sp>
        <p:nvSpPr>
          <p:cNvPr id="3" name="Content Placeholder 2"/>
          <p:cNvSpPr>
            <a:spLocks noGrp="1"/>
          </p:cNvSpPr>
          <p:nvPr>
            <p:ph idx="1"/>
          </p:nvPr>
        </p:nvSpPr>
        <p:spPr/>
        <p:txBody>
          <a:bodyPr>
            <a:normAutofit/>
          </a:bodyPr>
          <a:lstStyle/>
          <a:p>
            <a:r>
              <a:rPr lang="en-US" sz="2200" b="1" dirty="0" smtClean="0"/>
              <a:t>FOLLOW(Y): </a:t>
            </a:r>
            <a:r>
              <a:rPr lang="en-US" sz="2200" dirty="0" smtClean="0"/>
              <a:t>Follow of non terminal ‘Y’ is the set of terminals that appears immediately right to the ‘Y’ in some sentential form. To get the FOLLOW for all non terminals Y, apply the following rules until nothing can be added to any of the FOLLOW Set.</a:t>
            </a:r>
          </a:p>
          <a:p>
            <a:r>
              <a:rPr lang="en-US" sz="2200" b="1" dirty="0" smtClean="0"/>
              <a:t>RULES:</a:t>
            </a:r>
            <a:endParaRPr lang="en-US" sz="2200" dirty="0" smtClean="0"/>
          </a:p>
          <a:p>
            <a:endParaRPr lang="en-US" dirty="0"/>
          </a:p>
        </p:txBody>
      </p:sp>
      <p:sp>
        <p:nvSpPr>
          <p:cNvPr id="4" name="Rectangle 3"/>
          <p:cNvSpPr/>
          <p:nvPr/>
        </p:nvSpPr>
        <p:spPr>
          <a:xfrm>
            <a:off x="3109626" y="3702569"/>
            <a:ext cx="8229600" cy="2354705"/>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Font typeface="Arial" pitchFamily="34" charset="0"/>
              <a:buChar char="•"/>
            </a:pPr>
            <a:r>
              <a:rPr lang="en-US" dirty="0" smtClean="0"/>
              <a:t>   For the start symbol ‘S’ place $ in the follow of S.</a:t>
            </a:r>
          </a:p>
          <a:p>
            <a:pPr lvl="0">
              <a:buFont typeface="Arial" pitchFamily="34" charset="0"/>
              <a:buChar char="•"/>
            </a:pPr>
            <a:r>
              <a:rPr lang="en-US" dirty="0" smtClean="0"/>
              <a:t>   For any production rule </a:t>
            </a:r>
            <a:r>
              <a:rPr lang="en-US" dirty="0" err="1" smtClean="0"/>
              <a:t>X</a:t>
            </a:r>
            <a:r>
              <a:rPr lang="en-US" dirty="0" err="1" smtClean="0">
                <a:sym typeface="Wingdings"/>
              </a:rPr>
              <a:t></a:t>
            </a:r>
            <a:r>
              <a:rPr lang="en-US" dirty="0" err="1" smtClean="0"/>
              <a:t>αY</a:t>
            </a:r>
            <a:r>
              <a:rPr lang="en-US" dirty="0" smtClean="0"/>
              <a:t> , </a:t>
            </a:r>
            <a:r>
              <a:rPr lang="en-US" dirty="0" err="1" smtClean="0"/>
              <a:t>FOllOW</a:t>
            </a:r>
            <a:r>
              <a:rPr lang="en-US" dirty="0" smtClean="0"/>
              <a:t>(Y)=FOLLOW(X).</a:t>
            </a:r>
          </a:p>
          <a:p>
            <a:pPr lvl="0">
              <a:buFont typeface="Arial" pitchFamily="34" charset="0"/>
              <a:buChar char="•"/>
            </a:pPr>
            <a:r>
              <a:rPr lang="en-US" dirty="0" smtClean="0"/>
              <a:t>    For any production rule X</a:t>
            </a:r>
            <a:r>
              <a:rPr lang="en-US" dirty="0" smtClean="0">
                <a:sym typeface="Wingdings"/>
              </a:rPr>
              <a:t></a:t>
            </a:r>
            <a:r>
              <a:rPr lang="en-US" dirty="0" smtClean="0"/>
              <a:t> </a:t>
            </a:r>
            <a:r>
              <a:rPr lang="en-US" dirty="0" err="1" smtClean="0"/>
              <a:t>αYβ</a:t>
            </a:r>
            <a:r>
              <a:rPr lang="en-US" dirty="0" smtClean="0"/>
              <a:t>,</a:t>
            </a:r>
          </a:p>
          <a:p>
            <a:pPr lvl="1">
              <a:buFont typeface="Arial" pitchFamily="34" charset="0"/>
              <a:buChar char="•"/>
            </a:pPr>
            <a:r>
              <a:rPr lang="en-US" dirty="0" smtClean="0"/>
              <a:t>  If β is any terminal then </a:t>
            </a:r>
            <a:r>
              <a:rPr lang="en-US" dirty="0" err="1" smtClean="0"/>
              <a:t>FOllOW</a:t>
            </a:r>
            <a:r>
              <a:rPr lang="en-US" dirty="0" smtClean="0"/>
              <a:t>(Y)=β.</a:t>
            </a:r>
          </a:p>
          <a:p>
            <a:pPr lvl="1">
              <a:buFont typeface="Arial" pitchFamily="34" charset="0"/>
              <a:buChar char="•"/>
            </a:pPr>
            <a:r>
              <a:rPr lang="en-US" dirty="0" smtClean="0"/>
              <a:t>  If β is non terminal then :</a:t>
            </a:r>
          </a:p>
          <a:p>
            <a:pPr lvl="2">
              <a:buFont typeface="Arial" pitchFamily="34" charset="0"/>
              <a:buChar char="•"/>
            </a:pPr>
            <a:r>
              <a:rPr lang="en-US" dirty="0" smtClean="0"/>
              <a:t>  If ϵ ∉ FIRST(β) , then FOLLOW(Y)=FIRST(β)</a:t>
            </a:r>
          </a:p>
          <a:p>
            <a:pPr lvl="2">
              <a:buFont typeface="Arial" pitchFamily="34" charset="0"/>
              <a:buChar char="•"/>
            </a:pPr>
            <a:r>
              <a:rPr lang="en-US" dirty="0" smtClean="0"/>
              <a:t>  If FIRST(β) contains the ϵ then :</a:t>
            </a:r>
          </a:p>
          <a:p>
            <a:pPr lvl="3">
              <a:buFont typeface="Arial" pitchFamily="34" charset="0"/>
              <a:buChar char="•"/>
            </a:pPr>
            <a:r>
              <a:rPr lang="en-US" dirty="0" smtClean="0"/>
              <a:t>FOLOW(Y)={ FIRST(β)- ϵ} U FOLLOW(X)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1200" y="1524000"/>
            <a:ext cx="10668000" cy="3505200"/>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3200" b="1" dirty="0" smtClean="0">
                <a:solidFill>
                  <a:schemeClr val="tx1"/>
                </a:solidFill>
                <a:latin typeface="Calibri" pitchFamily="34" charset="0"/>
                <a:ea typeface="Calibri" pitchFamily="34" charset="0"/>
                <a:cs typeface="Times New Roman" pitchFamily="18" charset="0"/>
              </a:rPr>
              <a:t>NOTE: </a:t>
            </a:r>
          </a:p>
          <a:p>
            <a:pPr lvl="0" algn="just"/>
            <a:r>
              <a:rPr lang="en-US" sz="3200" b="1" dirty="0" smtClean="0">
                <a:solidFill>
                  <a:schemeClr val="tx1"/>
                </a:solidFill>
                <a:latin typeface="Calibri" pitchFamily="34" charset="0"/>
                <a:ea typeface="Calibri" pitchFamily="34" charset="0"/>
                <a:cs typeface="Times New Roman" pitchFamily="18" charset="0"/>
              </a:rPr>
              <a:t>Before calculating the FIRST and FOLLOW functions, eliminate the Left Recursion from the grammar</a:t>
            </a:r>
            <a:r>
              <a:rPr lang="en-US" b="1" dirty="0" smtClean="0">
                <a:solidFill>
                  <a:schemeClr val="tx1"/>
                </a:solidFill>
                <a:latin typeface="Calibri" pitchFamily="34" charset="0"/>
                <a:ea typeface="Calibri" pitchFamily="34" charset="0"/>
                <a:cs typeface="Times New Roman" pitchFamily="18" charset="0"/>
              </a:rPr>
              <a:t>. </a:t>
            </a:r>
            <a:endParaRPr lang="en-US" sz="3200" dirty="0" smtClean="0">
              <a:solidFill>
                <a:schemeClr val="tx1"/>
              </a:solidFill>
              <a:latin typeface="Arial" pitchFamily="34" charset="0"/>
              <a:cs typeface="Arial" pitchFamily="34" charset="0"/>
            </a:endParaRPr>
          </a:p>
          <a:p>
            <a:pPr algn="ctr"/>
            <a:endParaRPr lang="en-US"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tf00001245_wac</Template>
  <TotalTime>19</TotalTime>
  <Words>887</Words>
  <Application>Microsoft Office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Gill Sans MT</vt:lpstr>
      <vt:lpstr>Times New Roman</vt:lpstr>
      <vt:lpstr>Wingdings</vt:lpstr>
      <vt:lpstr>Gallery</vt:lpstr>
      <vt:lpstr>Compiler Design Top Down Parsing</vt:lpstr>
      <vt:lpstr>Top Down Parsing</vt:lpstr>
      <vt:lpstr>Top Down Parsing</vt:lpstr>
      <vt:lpstr>Example: The production rules of the given grammar is.  Construct the parse tree for the string.</vt:lpstr>
      <vt:lpstr>In order to implement such parsers , create a procedure for each non terminal</vt:lpstr>
      <vt:lpstr>Difficulties with Top Down Parsing</vt:lpstr>
      <vt:lpstr>Left Recursion</vt:lpstr>
      <vt:lpstr>Question:Remove the Left recursion from the following grammar:  E E+T|T  TT*F/F  F(E)|id  </vt:lpstr>
      <vt:lpstr>Left Factoring</vt:lpstr>
      <vt:lpstr>PowerPoint Presentation</vt:lpstr>
      <vt:lpstr>Prior to Top Down Parsing</vt:lpstr>
      <vt:lpstr>FIRST</vt:lpstr>
      <vt:lpstr>PowerPoint Presentation</vt:lpstr>
      <vt:lpstr>FOLLOW</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Design Motivation &amp; Application</dc:title>
  <dc:creator>Dipanwita Thakur</dc:creator>
  <cp:lastModifiedBy>dell</cp:lastModifiedBy>
  <cp:revision>10</cp:revision>
  <dcterms:created xsi:type="dcterms:W3CDTF">2021-03-11T16:03:12Z</dcterms:created>
  <dcterms:modified xsi:type="dcterms:W3CDTF">2024-08-15T09:30:22Z</dcterms:modified>
</cp:coreProperties>
</file>