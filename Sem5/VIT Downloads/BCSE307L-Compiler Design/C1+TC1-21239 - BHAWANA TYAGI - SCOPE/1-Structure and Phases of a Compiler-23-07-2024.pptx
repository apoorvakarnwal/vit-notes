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74" r:id="rId4"/>
    <p:sldId id="258" r:id="rId5"/>
    <p:sldId id="277" r:id="rId6"/>
    <p:sldId id="276" r:id="rId7"/>
    <p:sldId id="273" r:id="rId8"/>
    <p:sldId id="259" r:id="rId9"/>
    <p:sldId id="260" r:id="rId10"/>
    <p:sldId id="261" r:id="rId11"/>
    <p:sldId id="262" r:id="rId12"/>
    <p:sldId id="272" r:id="rId13"/>
    <p:sldId id="269" r:id="rId14"/>
    <p:sldId id="263" r:id="rId15"/>
    <p:sldId id="264" r:id="rId16"/>
    <p:sldId id="265" r:id="rId17"/>
    <p:sldId id="266" r:id="rId18"/>
    <p:sldId id="267" r:id="rId19"/>
    <p:sldId id="270" r:id="rId20"/>
    <p:sldId id="271" r:id="rId21"/>
    <p:sldId id="268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26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40593-17C1-4349-8AF7-76F2C2B55F15}" type="datetimeFigureOut">
              <a:rPr lang="en-US" smtClean="0"/>
              <a:t>7/19/2024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5DA812-E13C-47E9-9E40-1B8FB2101F3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40593-17C1-4349-8AF7-76F2C2B55F15}" type="datetimeFigureOut">
              <a:rPr lang="en-US" smtClean="0"/>
              <a:t>7/19/2024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DA812-E13C-47E9-9E40-1B8FB2101F3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40593-17C1-4349-8AF7-76F2C2B55F15}" type="datetimeFigureOut">
              <a:rPr lang="en-US" smtClean="0"/>
              <a:t>7/19/2024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DA812-E13C-47E9-9E40-1B8FB2101F3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40593-17C1-4349-8AF7-76F2C2B55F15}" type="datetimeFigureOut">
              <a:rPr lang="en-US" smtClean="0"/>
              <a:t>7/19/2024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DA812-E13C-47E9-9E40-1B8FB2101F3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40593-17C1-4349-8AF7-76F2C2B55F15}" type="datetimeFigureOut">
              <a:rPr lang="en-US" smtClean="0"/>
              <a:t>7/19/2024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DA812-E13C-47E9-9E40-1B8FB2101F3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40593-17C1-4349-8AF7-76F2C2B55F15}" type="datetimeFigureOut">
              <a:rPr lang="en-US" smtClean="0"/>
              <a:t>7/19/2024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DA812-E13C-47E9-9E40-1B8FB2101F3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40593-17C1-4349-8AF7-76F2C2B55F15}" type="datetimeFigureOut">
              <a:rPr lang="en-US" smtClean="0"/>
              <a:t>7/19/2024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DA812-E13C-47E9-9E40-1B8FB2101F3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40593-17C1-4349-8AF7-76F2C2B55F15}" type="datetimeFigureOut">
              <a:rPr lang="en-US" smtClean="0"/>
              <a:t>7/19/2024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DA812-E13C-47E9-9E40-1B8FB2101F3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40593-17C1-4349-8AF7-76F2C2B55F15}" type="datetimeFigureOut">
              <a:rPr lang="en-US" smtClean="0"/>
              <a:t>7/19/2024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DA812-E13C-47E9-9E40-1B8FB2101F3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40593-17C1-4349-8AF7-76F2C2B55F15}" type="datetimeFigureOut">
              <a:rPr lang="en-US" smtClean="0"/>
              <a:t>7/19/2024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DA812-E13C-47E9-9E40-1B8FB2101F3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40593-17C1-4349-8AF7-76F2C2B55F15}" type="datetimeFigureOut">
              <a:rPr lang="en-US" smtClean="0"/>
              <a:t>7/19/2024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DA812-E13C-47E9-9E40-1B8FB2101F3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4040593-17C1-4349-8AF7-76F2C2B55F15}" type="datetimeFigureOut">
              <a:rPr lang="en-US" smtClean="0"/>
              <a:t>7/19/2024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105DA812-E13C-47E9-9E40-1B8FB2101F3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Introduction to Compiler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Presented By:</a:t>
            </a:r>
          </a:p>
          <a:p>
            <a:r>
              <a:rPr lang="en-US" dirty="0" smtClean="0"/>
              <a:t>Dr. Bhawana Tyagi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635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Compiler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286000"/>
            <a:ext cx="7543799" cy="358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57837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66800"/>
          </a:xfrm>
        </p:spPr>
        <p:txBody>
          <a:bodyPr/>
          <a:lstStyle/>
          <a:p>
            <a:r>
              <a:rPr lang="en-US" dirty="0" smtClean="0"/>
              <a:t>Steps </a:t>
            </a:r>
            <a:r>
              <a:rPr lang="en-US" smtClean="0"/>
              <a:t>for Execution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1282" y="1143000"/>
            <a:ext cx="4819212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89946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dell\Desktop\Phases-of-Compiler (1)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04800"/>
            <a:ext cx="7696200" cy="655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9265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LLVM</a:t>
            </a:r>
            <a:r>
              <a:rPr lang="en-US" dirty="0"/>
              <a:t> (Low Level Virtual Machine)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n-US" dirty="0" smtClean="0"/>
              <a:t>It is </a:t>
            </a:r>
            <a:r>
              <a:rPr lang="en-US" dirty="0"/>
              <a:t>an open source compiler infrastructure that provides a set of tools and libraries for building compilers, debuggers, and other software development tools. </a:t>
            </a:r>
            <a:endParaRPr lang="en-US" dirty="0" smtClean="0"/>
          </a:p>
          <a:p>
            <a:pPr algn="just"/>
            <a:r>
              <a:rPr lang="en-US" dirty="0" smtClean="0"/>
              <a:t>It </a:t>
            </a:r>
            <a:r>
              <a:rPr lang="en-US" dirty="0"/>
              <a:t>was originally developed at the University of Illinois at Urbana-Champaign and is now maintained by the LLVM Foundation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It consists </a:t>
            </a:r>
            <a:r>
              <a:rPr lang="en-US" dirty="0"/>
              <a:t>of a set of modular and reusable compiler and </a:t>
            </a:r>
            <a:r>
              <a:rPr lang="en-US" dirty="0" smtClean="0"/>
              <a:t>tool chain </a:t>
            </a:r>
            <a:r>
              <a:rPr lang="en-US" dirty="0"/>
              <a:t>technologies that can be used to build a wide range of compilers and other tools. </a:t>
            </a:r>
            <a:endParaRPr lang="en-US" dirty="0" smtClean="0"/>
          </a:p>
          <a:p>
            <a:pPr algn="just"/>
            <a:r>
              <a:rPr lang="en-US" dirty="0" smtClean="0"/>
              <a:t>It </a:t>
            </a:r>
            <a:r>
              <a:rPr lang="en-US" dirty="0"/>
              <a:t>includes a compiler front end, which translates high-level programming languages into intermediate representations (IRs);  </a:t>
            </a:r>
            <a:r>
              <a:rPr lang="en-US" dirty="0" smtClean="0"/>
              <a:t>a </a:t>
            </a:r>
            <a:r>
              <a:rPr lang="en-US" dirty="0"/>
              <a:t>compiler back end, which translates IRs into machine code that can be executed on a specific target </a:t>
            </a:r>
            <a:r>
              <a:rPr lang="en-US" dirty="0" smtClean="0"/>
              <a:t>architecture</a:t>
            </a:r>
          </a:p>
          <a:p>
            <a:pPr algn="just"/>
            <a:r>
              <a:rPr lang="en-US" dirty="0"/>
              <a:t>It can be used to build compilers for a wide range of programming languages, including C, C++, and Fortran, as well as other languages such as Swift and Rust.</a:t>
            </a:r>
          </a:p>
        </p:txBody>
      </p:sp>
    </p:spTree>
    <p:extLst>
      <p:ext uri="{BB962C8B-B14F-4D97-AF65-F5344CB8AC3E}">
        <p14:creationId xmlns:p14="http://schemas.microsoft.com/office/powerpoint/2010/main" val="4024468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LLVM Compilation Infrastructure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875295"/>
            <a:ext cx="8229600" cy="1975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316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825" y="1619250"/>
            <a:ext cx="8134350" cy="3619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LLVM Compilation Infrastructure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45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Lexical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/>
              <a:t>Source </a:t>
            </a:r>
            <a:r>
              <a:rPr lang="en-US" dirty="0"/>
              <a:t>program is scanned to read the stream of characters and those characters are grouped to form a sequence called lexemes which produces token as output</a:t>
            </a:r>
            <a:r>
              <a:rPr lang="en-US" dirty="0" smtClean="0"/>
              <a:t>.</a:t>
            </a:r>
          </a:p>
          <a:p>
            <a:pPr algn="just"/>
            <a:r>
              <a:rPr lang="en-US" b="1" dirty="0"/>
              <a:t>Token:</a:t>
            </a:r>
            <a:r>
              <a:rPr lang="en-US" dirty="0"/>
              <a:t> Token is a sequence of characters that represent lexical unit, which matches with the pattern, such as keywords, </a:t>
            </a:r>
            <a:r>
              <a:rPr lang="en-US" dirty="0" smtClean="0"/>
              <a:t>operators</a:t>
            </a:r>
            <a:r>
              <a:rPr lang="en-US" dirty="0"/>
              <a:t>, identifiers etc</a:t>
            </a:r>
            <a:r>
              <a:rPr lang="en-US" dirty="0" smtClean="0"/>
              <a:t>.</a:t>
            </a:r>
          </a:p>
          <a:p>
            <a:pPr algn="just"/>
            <a:r>
              <a:rPr lang="en-US" b="1" dirty="0" smtClean="0"/>
              <a:t>Lexeme</a:t>
            </a:r>
            <a:r>
              <a:rPr lang="en-US" b="1" dirty="0"/>
              <a:t>:</a:t>
            </a:r>
            <a:r>
              <a:rPr lang="en-US" dirty="0"/>
              <a:t> Lexeme is instance of a token i.e., group of characters forming a token. </a:t>
            </a:r>
          </a:p>
          <a:p>
            <a:pPr algn="just"/>
            <a:r>
              <a:rPr lang="en-US" b="1" dirty="0" smtClean="0"/>
              <a:t>Pattern</a:t>
            </a:r>
            <a:r>
              <a:rPr lang="en-US" b="1" dirty="0"/>
              <a:t>:</a:t>
            </a:r>
            <a:r>
              <a:rPr lang="en-US" dirty="0"/>
              <a:t> Pattern describes the rule that the lexemes of a token takes. It is the structure that must be matched by strings.</a:t>
            </a:r>
          </a:p>
          <a:p>
            <a:pPr marL="0" indent="0" algn="just">
              <a:buNone/>
            </a:pPr>
            <a:r>
              <a:rPr lang="en-US" dirty="0" smtClean="0"/>
              <a:t>Once </a:t>
            </a:r>
            <a:r>
              <a:rPr lang="en-US" dirty="0"/>
              <a:t>a token is generated the corresponding entry is made in the symbol table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888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algn="l"/>
            <a:r>
              <a:rPr lang="en-US" dirty="0" smtClean="0"/>
              <a:t>Lexical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Example: Input String 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a=</a:t>
            </a:r>
            <a:r>
              <a:rPr lang="en-US" dirty="0" err="1"/>
              <a:t>b+c</a:t>
            </a:r>
            <a:r>
              <a:rPr lang="en-US" dirty="0"/>
              <a:t>*</a:t>
            </a:r>
            <a:r>
              <a:rPr lang="en-US" dirty="0" err="1"/>
              <a:t>b+c</a:t>
            </a:r>
            <a:r>
              <a:rPr lang="en-US" dirty="0"/>
              <a:t>*</a:t>
            </a:r>
            <a:r>
              <a:rPr lang="en-US" dirty="0" err="1"/>
              <a:t>b+c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5832742"/>
              </p:ext>
            </p:extLst>
          </p:nvPr>
        </p:nvGraphicFramePr>
        <p:xfrm>
          <a:off x="4343400" y="1295400"/>
          <a:ext cx="4114800" cy="519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/>
                <a:gridCol w="3048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Lexeme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Token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r>
                        <a:rPr lang="en-US" baseline="0" dirty="0" smtClean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Identifier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=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Assignment Operator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Identifier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Operator 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Identifier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*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Operator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Identifier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Operator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Identifier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*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Operator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Identifier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Operator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Identifier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3999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Syntax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144963"/>
          </a:xfrm>
        </p:spPr>
        <p:txBody>
          <a:bodyPr/>
          <a:lstStyle/>
          <a:p>
            <a:pPr algn="just"/>
            <a:r>
              <a:rPr lang="en-US" dirty="0" smtClean="0"/>
              <a:t>It converts </a:t>
            </a:r>
            <a:r>
              <a:rPr lang="en-US" dirty="0"/>
              <a:t>the tokens produced by lexical analyzer into a tree like representation called parse tree</a:t>
            </a:r>
            <a:r>
              <a:rPr lang="en-US" dirty="0" smtClean="0"/>
              <a:t>.</a:t>
            </a:r>
          </a:p>
          <a:p>
            <a:pPr algn="just"/>
            <a:r>
              <a:rPr lang="en-US" dirty="0"/>
              <a:t>Obtain tokens from the lexical </a:t>
            </a:r>
            <a:r>
              <a:rPr lang="en-US" dirty="0" smtClean="0"/>
              <a:t>analyzer.</a:t>
            </a:r>
            <a:endParaRPr lang="en-US" dirty="0"/>
          </a:p>
          <a:p>
            <a:pPr algn="just"/>
            <a:r>
              <a:rPr lang="en-US" dirty="0"/>
              <a:t>Checks if the expression is syntactically correct or </a:t>
            </a:r>
            <a:r>
              <a:rPr lang="en-US" dirty="0" smtClean="0"/>
              <a:t>not.</a:t>
            </a:r>
            <a:endParaRPr lang="en-US" dirty="0"/>
          </a:p>
          <a:p>
            <a:pPr algn="just"/>
            <a:r>
              <a:rPr lang="en-US" dirty="0"/>
              <a:t>Report all syntax </a:t>
            </a:r>
            <a:r>
              <a:rPr lang="en-US" dirty="0" smtClean="0"/>
              <a:t>errors.</a:t>
            </a:r>
            <a:endParaRPr lang="en-US" dirty="0"/>
          </a:p>
          <a:p>
            <a:pPr algn="just"/>
            <a:r>
              <a:rPr lang="en-US" dirty="0"/>
              <a:t>Construct a hierarchical structure which is known as a parse </a:t>
            </a:r>
            <a:r>
              <a:rPr lang="en-US" dirty="0" smtClean="0"/>
              <a:t>tree.</a:t>
            </a:r>
            <a:endParaRPr lang="en-US" dirty="0"/>
          </a:p>
          <a:p>
            <a:pPr algn="just"/>
            <a:endParaRPr lang="en-US" dirty="0" smtClean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847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Syntax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a=</a:t>
            </a:r>
            <a:r>
              <a:rPr lang="en-US" dirty="0" err="1"/>
              <a:t>b+c</a:t>
            </a:r>
            <a:r>
              <a:rPr lang="en-US" dirty="0"/>
              <a:t>*</a:t>
            </a:r>
            <a:r>
              <a:rPr lang="en-US" dirty="0" err="1"/>
              <a:t>b+c</a:t>
            </a:r>
            <a:r>
              <a:rPr lang="en-US" dirty="0"/>
              <a:t>*</a:t>
            </a:r>
            <a:r>
              <a:rPr lang="en-US" dirty="0" err="1"/>
              <a:t>b+c</a:t>
            </a:r>
            <a:endParaRPr lang="en-US" dirty="0"/>
          </a:p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2133600"/>
            <a:ext cx="41148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4409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Semantic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Semantic analysis checks the semantic consistency of the code. </a:t>
            </a:r>
            <a:endParaRPr lang="en-US" dirty="0" smtClean="0"/>
          </a:p>
          <a:p>
            <a:pPr algn="just"/>
            <a:r>
              <a:rPr lang="en-US" dirty="0" smtClean="0"/>
              <a:t>It </a:t>
            </a:r>
            <a:r>
              <a:rPr lang="en-US" dirty="0"/>
              <a:t>uses the syntax tree of the previous phase along with the symbol table to verify that the given source code is semantically consistent. </a:t>
            </a:r>
            <a:endParaRPr lang="en-US" dirty="0" smtClean="0"/>
          </a:p>
          <a:p>
            <a:pPr algn="just"/>
            <a:r>
              <a:rPr lang="en-US" dirty="0" smtClean="0"/>
              <a:t>It </a:t>
            </a:r>
            <a:r>
              <a:rPr lang="en-US" dirty="0"/>
              <a:t>also checks whether the code is conveying an </a:t>
            </a:r>
            <a:r>
              <a:rPr lang="en-US" dirty="0" smtClean="0"/>
              <a:t>appropriate meaning. </a:t>
            </a:r>
          </a:p>
          <a:p>
            <a:pPr algn="just"/>
            <a:r>
              <a:rPr lang="en-US" dirty="0" smtClean="0"/>
              <a:t>Semantic </a:t>
            </a:r>
            <a:r>
              <a:rPr lang="en-US" dirty="0"/>
              <a:t>Analyzer will check for Type mismatches, incompatible operands, a function called with improper </a:t>
            </a:r>
            <a:r>
              <a:rPr lang="en-US" dirty="0" smtClean="0"/>
              <a:t>arguments etc.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08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600200"/>
          </a:xfrm>
        </p:spPr>
        <p:txBody>
          <a:bodyPr/>
          <a:lstStyle/>
          <a:p>
            <a:r>
              <a:rPr lang="en-US" dirty="0" smtClean="0"/>
              <a:t>Intermediate Code Generation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62200"/>
            <a:ext cx="7467600" cy="2743200"/>
          </a:xfrm>
        </p:spPr>
        <p:txBody>
          <a:bodyPr/>
          <a:lstStyle/>
          <a:p>
            <a:pPr algn="just"/>
            <a:r>
              <a:rPr lang="en-US" dirty="0"/>
              <a:t>The compiler produces intermediate code for the target machine following the completion of the semantic analysis step. </a:t>
            </a:r>
            <a:endParaRPr lang="en-US" dirty="0" smtClean="0"/>
          </a:p>
          <a:p>
            <a:pPr algn="just"/>
            <a:r>
              <a:rPr lang="en-US" dirty="0" smtClean="0"/>
              <a:t>It </a:t>
            </a:r>
            <a:r>
              <a:rPr lang="en-US" dirty="0"/>
              <a:t>is necessary to create this intermediate code in a way that makes it simple to convert it into the target machine code.</a:t>
            </a:r>
          </a:p>
        </p:txBody>
      </p:sp>
    </p:spTree>
    <p:extLst>
      <p:ext uri="{BB962C8B-B14F-4D97-AF65-F5344CB8AC3E}">
        <p14:creationId xmlns:p14="http://schemas.microsoft.com/office/powerpoint/2010/main" val="28368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600200"/>
          </a:xfrm>
        </p:spPr>
        <p:txBody>
          <a:bodyPr/>
          <a:lstStyle/>
          <a:p>
            <a:r>
              <a:rPr lang="en-US" dirty="0" smtClean="0"/>
              <a:t>Intermediate Code Generation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4068763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 smtClean="0"/>
              <a:t>a=</a:t>
            </a:r>
            <a:r>
              <a:rPr lang="en-US" dirty="0" err="1" smtClean="0"/>
              <a:t>b+c</a:t>
            </a:r>
            <a:r>
              <a:rPr lang="en-US" dirty="0" smtClean="0"/>
              <a:t>*</a:t>
            </a:r>
            <a:r>
              <a:rPr lang="en-US" dirty="0" err="1" smtClean="0"/>
              <a:t>b+c</a:t>
            </a:r>
            <a:r>
              <a:rPr lang="en-US" dirty="0" smtClean="0"/>
              <a:t>*</a:t>
            </a:r>
            <a:r>
              <a:rPr lang="en-US" dirty="0" err="1" smtClean="0"/>
              <a:t>b+c</a:t>
            </a:r>
            <a:endParaRPr lang="en-US" dirty="0" smtClean="0"/>
          </a:p>
          <a:p>
            <a:pPr marL="0" indent="0" algn="ctr">
              <a:buNone/>
            </a:pPr>
            <a:r>
              <a:rPr lang="en-US" dirty="0" smtClean="0"/>
              <a:t>-------------------------------------</a:t>
            </a:r>
            <a:endParaRPr lang="en-US" dirty="0"/>
          </a:p>
          <a:p>
            <a:pPr marL="0" indent="0" algn="ctr">
              <a:buNone/>
            </a:pPr>
            <a:r>
              <a:rPr lang="en-US" dirty="0" smtClean="0"/>
              <a:t>T1=c*b</a:t>
            </a:r>
          </a:p>
          <a:p>
            <a:pPr marL="0" indent="0" algn="ctr">
              <a:buNone/>
            </a:pPr>
            <a:r>
              <a:rPr lang="en-US" dirty="0" smtClean="0"/>
              <a:t>T2=c*b</a:t>
            </a:r>
          </a:p>
          <a:p>
            <a:pPr marL="0" indent="0" algn="ctr">
              <a:buNone/>
            </a:pPr>
            <a:r>
              <a:rPr lang="en-US" dirty="0" smtClean="0"/>
              <a:t>T3=b+T1</a:t>
            </a:r>
          </a:p>
          <a:p>
            <a:pPr marL="0" indent="0" algn="ctr">
              <a:buNone/>
            </a:pPr>
            <a:r>
              <a:rPr lang="en-US" dirty="0" smtClean="0"/>
              <a:t>T4=T3+T2</a:t>
            </a:r>
          </a:p>
          <a:p>
            <a:pPr marL="0" indent="0" algn="ctr">
              <a:buNone/>
            </a:pPr>
            <a:r>
              <a:rPr lang="en-US" dirty="0" smtClean="0"/>
              <a:t>T5=T4+c</a:t>
            </a:r>
          </a:p>
          <a:p>
            <a:pPr marL="0" indent="0" algn="ctr">
              <a:buNone/>
            </a:pPr>
            <a:r>
              <a:rPr lang="en-US" dirty="0" smtClean="0"/>
              <a:t>a= T5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442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Code Optimization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4495800"/>
          </a:xfrm>
        </p:spPr>
        <p:txBody>
          <a:bodyPr/>
          <a:lstStyle/>
          <a:p>
            <a:pPr algn="just"/>
            <a:r>
              <a:rPr lang="en-US" dirty="0"/>
              <a:t>Code optimization phase gets the intermediate code as input and produces optimized intermediate code as output.</a:t>
            </a:r>
          </a:p>
          <a:p>
            <a:pPr algn="just"/>
            <a:r>
              <a:rPr lang="en-US" dirty="0" smtClean="0"/>
              <a:t>It </a:t>
            </a:r>
            <a:r>
              <a:rPr lang="en-US" dirty="0"/>
              <a:t>results in faster running machine code.</a:t>
            </a:r>
          </a:p>
          <a:p>
            <a:pPr algn="just"/>
            <a:r>
              <a:rPr lang="en-US" dirty="0" smtClean="0"/>
              <a:t>It </a:t>
            </a:r>
            <a:r>
              <a:rPr lang="en-US" dirty="0"/>
              <a:t>can be done by reducing the number of lines of code for a program.</a:t>
            </a:r>
          </a:p>
          <a:p>
            <a:pPr algn="just"/>
            <a:r>
              <a:rPr lang="en-US" dirty="0" smtClean="0"/>
              <a:t>This </a:t>
            </a:r>
            <a:r>
              <a:rPr lang="en-US" dirty="0"/>
              <a:t>phase reduces the redundant code and attempts to improve the intermediate code so that faster-running machine code will result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7046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Code Optimization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2438400"/>
            <a:ext cx="5562600" cy="327660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a=</a:t>
            </a:r>
            <a:r>
              <a:rPr lang="en-US" dirty="0" err="1"/>
              <a:t>b+c</a:t>
            </a:r>
            <a:r>
              <a:rPr lang="en-US" dirty="0"/>
              <a:t>*</a:t>
            </a:r>
            <a:r>
              <a:rPr lang="en-US" dirty="0" err="1"/>
              <a:t>b+c</a:t>
            </a:r>
            <a:r>
              <a:rPr lang="en-US" dirty="0"/>
              <a:t>*</a:t>
            </a:r>
            <a:r>
              <a:rPr lang="en-US" dirty="0" err="1"/>
              <a:t>b+c</a:t>
            </a:r>
            <a:endParaRPr lang="en-US" dirty="0"/>
          </a:p>
          <a:p>
            <a:pPr marL="0" indent="0" algn="ctr">
              <a:buNone/>
            </a:pPr>
            <a:r>
              <a:rPr lang="en-US" dirty="0" smtClean="0"/>
              <a:t>-----------------------------------</a:t>
            </a:r>
          </a:p>
          <a:p>
            <a:pPr marL="0" indent="0" algn="ctr">
              <a:buNone/>
            </a:pPr>
            <a:r>
              <a:rPr lang="en-US" dirty="0" smtClean="0"/>
              <a:t>T1=c*b</a:t>
            </a:r>
            <a:endParaRPr lang="en-US" dirty="0"/>
          </a:p>
          <a:p>
            <a:pPr marL="0" indent="0" algn="ctr">
              <a:buNone/>
            </a:pPr>
            <a:r>
              <a:rPr lang="en-US" dirty="0"/>
              <a:t>T2=b+T1</a:t>
            </a:r>
          </a:p>
          <a:p>
            <a:pPr marL="0" indent="0" algn="ctr">
              <a:buNone/>
            </a:pPr>
            <a:r>
              <a:rPr lang="en-US" dirty="0"/>
              <a:t>T3=T2+T1</a:t>
            </a:r>
          </a:p>
          <a:p>
            <a:pPr marL="0" indent="0" algn="ctr">
              <a:buNone/>
            </a:pPr>
            <a:r>
              <a:rPr lang="en-US" dirty="0"/>
              <a:t>T4=T3+c</a:t>
            </a:r>
          </a:p>
          <a:p>
            <a:pPr marL="0" indent="0" algn="ctr">
              <a:buNone/>
            </a:pPr>
            <a:r>
              <a:rPr lang="en-US" dirty="0"/>
              <a:t>a= T3</a:t>
            </a:r>
          </a:p>
          <a:p>
            <a:pPr marL="0" indent="0" algn="ctr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3534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Code Generation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Code </a:t>
            </a:r>
            <a:r>
              <a:rPr lang="en-US" dirty="0"/>
              <a:t>generation is the final phase of a compiler.</a:t>
            </a:r>
          </a:p>
          <a:p>
            <a:pPr algn="just"/>
            <a:r>
              <a:rPr lang="en-US" dirty="0" smtClean="0"/>
              <a:t>It </a:t>
            </a:r>
            <a:r>
              <a:rPr lang="en-US" dirty="0"/>
              <a:t>gets input from code optimization phase and produces the target code or object code as </a:t>
            </a:r>
            <a:r>
              <a:rPr lang="en-US" dirty="0" smtClean="0"/>
              <a:t>result.</a:t>
            </a:r>
            <a:endParaRPr 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480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Code Generation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Example: a = b + 60.0</a:t>
            </a:r>
          </a:p>
          <a:p>
            <a:pPr marL="0" indent="0" algn="ctr">
              <a:buNone/>
            </a:pPr>
            <a:r>
              <a:rPr lang="en-US" dirty="0"/>
              <a:t>----------------------------------------------</a:t>
            </a:r>
          </a:p>
          <a:p>
            <a:pPr marL="0" indent="0" algn="ctr">
              <a:buNone/>
            </a:pPr>
            <a:r>
              <a:rPr lang="pt-BR" dirty="0" smtClean="0"/>
              <a:t>MOV b, </a:t>
            </a:r>
            <a:r>
              <a:rPr lang="pt-BR" dirty="0"/>
              <a:t>R1 </a:t>
            </a:r>
          </a:p>
          <a:p>
            <a:pPr marL="0" indent="0" algn="ctr">
              <a:buNone/>
            </a:pPr>
            <a:r>
              <a:rPr lang="pt-BR" dirty="0"/>
              <a:t>MULF #60.0, </a:t>
            </a:r>
            <a:r>
              <a:rPr lang="pt-BR" dirty="0" smtClean="0"/>
              <a:t>R2 </a:t>
            </a:r>
          </a:p>
          <a:p>
            <a:pPr marL="0" indent="0" algn="ctr">
              <a:buNone/>
            </a:pPr>
            <a:r>
              <a:rPr lang="pt-BR" dirty="0" smtClean="0"/>
              <a:t>ADD R2, </a:t>
            </a:r>
            <a:r>
              <a:rPr lang="pt-BR" dirty="0" smtClean="0"/>
              <a:t>R1</a:t>
            </a:r>
          </a:p>
          <a:p>
            <a:pPr marL="0" indent="0" algn="ctr">
              <a:buNone/>
            </a:pPr>
            <a:r>
              <a:rPr lang="pt-BR" dirty="0" smtClean="0"/>
              <a:t>Store R1,a</a:t>
            </a:r>
            <a:endParaRPr lang="en-US" dirty="0"/>
          </a:p>
          <a:p>
            <a:pPr marL="0" indent="0" algn="ctr">
              <a:buNone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75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Error Handling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dirty="0"/>
              <a:t>In the compiler design process error may occur in all the below-given phases:</a:t>
            </a:r>
          </a:p>
          <a:p>
            <a:pPr algn="just"/>
            <a:r>
              <a:rPr lang="en-US" dirty="0"/>
              <a:t>Lexical analyzer: Wrongly spelled tokens</a:t>
            </a:r>
          </a:p>
          <a:p>
            <a:pPr algn="just"/>
            <a:r>
              <a:rPr lang="en-US" dirty="0"/>
              <a:t>Syntax analyzer: Missing parenthesis</a:t>
            </a:r>
          </a:p>
          <a:p>
            <a:pPr algn="just"/>
            <a:r>
              <a:rPr lang="en-US" dirty="0"/>
              <a:t>Intermediate code generator: Mismatched operands for an operator</a:t>
            </a:r>
          </a:p>
          <a:p>
            <a:pPr algn="just"/>
            <a:r>
              <a:rPr lang="en-US" dirty="0"/>
              <a:t>Code Optimizer: When the statement is not reachable</a:t>
            </a:r>
          </a:p>
          <a:p>
            <a:pPr algn="just"/>
            <a:r>
              <a:rPr lang="en-US" dirty="0"/>
              <a:t>Code Generator: When the memory is full or proper registers are not allocated</a:t>
            </a:r>
          </a:p>
          <a:p>
            <a:pPr algn="just"/>
            <a:r>
              <a:rPr lang="en-US" dirty="0"/>
              <a:t>Symbol tables: Error of multiple declared </a:t>
            </a:r>
            <a:r>
              <a:rPr lang="en-US" dirty="0" smtClean="0"/>
              <a:t>identifiers.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391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Symbol 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51037"/>
            <a:ext cx="8229600" cy="4144963"/>
          </a:xfrm>
        </p:spPr>
        <p:txBody>
          <a:bodyPr/>
          <a:lstStyle/>
          <a:p>
            <a:pPr algn="just"/>
            <a:r>
              <a:rPr lang="en-US" dirty="0"/>
              <a:t>A symbol table contains a record for each identifier with fields for the attributes of the identifier. </a:t>
            </a:r>
            <a:endParaRPr lang="en-US" dirty="0" smtClean="0"/>
          </a:p>
          <a:p>
            <a:pPr algn="just"/>
            <a:r>
              <a:rPr lang="en-US" dirty="0" smtClean="0"/>
              <a:t>This </a:t>
            </a:r>
            <a:r>
              <a:rPr lang="en-US" dirty="0"/>
              <a:t>component makes it easier for the compiler to search the identifier record and retrieve it quickly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 </a:t>
            </a:r>
            <a:r>
              <a:rPr lang="en-US" dirty="0"/>
              <a:t>The symbol table also helps you for the scope management. </a:t>
            </a:r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symbol table and error handler interact with all the phases and symbol table update correspondingly.</a:t>
            </a:r>
          </a:p>
        </p:txBody>
      </p:sp>
    </p:spTree>
    <p:extLst>
      <p:ext uri="{BB962C8B-B14F-4D97-AF65-F5344CB8AC3E}">
        <p14:creationId xmlns:p14="http://schemas.microsoft.com/office/powerpoint/2010/main" val="1885717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ctr">
              <a:buNone/>
            </a:pPr>
            <a:endParaRPr lang="en-US" sz="11500" dirty="0" smtClean="0"/>
          </a:p>
          <a:p>
            <a:pPr marL="0" indent="0" algn="ctr">
              <a:buNone/>
            </a:pPr>
            <a:r>
              <a:rPr lang="en-US" sz="11500" dirty="0" smtClean="0"/>
              <a:t>Thank You</a:t>
            </a:r>
            <a:endParaRPr lang="en-US" sz="11500" dirty="0"/>
          </a:p>
        </p:txBody>
      </p:sp>
    </p:spTree>
    <p:extLst>
      <p:ext uri="{BB962C8B-B14F-4D97-AF65-F5344CB8AC3E}">
        <p14:creationId xmlns:p14="http://schemas.microsoft.com/office/powerpoint/2010/main" val="1836563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465</TotalTime>
  <Words>693</Words>
  <Application>Microsoft Office PowerPoint</Application>
  <PresentationFormat>On-screen Show (4:3)</PresentationFormat>
  <Paragraphs>114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Century Gothic</vt:lpstr>
      <vt:lpstr>Courier New</vt:lpstr>
      <vt:lpstr>Palatino Linotype</vt:lpstr>
      <vt:lpstr>Executive</vt:lpstr>
      <vt:lpstr>Introduction to Compiler</vt:lpstr>
      <vt:lpstr>Compiler</vt:lpstr>
      <vt:lpstr>Steps for Execution</vt:lpstr>
      <vt:lpstr>PowerPoint Presentation</vt:lpstr>
      <vt:lpstr>LLVM (Low Level Virtual Machine) </vt:lpstr>
      <vt:lpstr>LLVM Compilation Infrastructure</vt:lpstr>
      <vt:lpstr>LLVM Compilation Infrastructure</vt:lpstr>
      <vt:lpstr>Lexical Analysis</vt:lpstr>
      <vt:lpstr>Lexical Analysis</vt:lpstr>
      <vt:lpstr>Syntax Analysis</vt:lpstr>
      <vt:lpstr>Syntax Analysis</vt:lpstr>
      <vt:lpstr>Semantic Analysis</vt:lpstr>
      <vt:lpstr>Intermediate Code Generation</vt:lpstr>
      <vt:lpstr>Intermediate Code Generation</vt:lpstr>
      <vt:lpstr>Code Optimization </vt:lpstr>
      <vt:lpstr>Code Optimization</vt:lpstr>
      <vt:lpstr>Code Generation</vt:lpstr>
      <vt:lpstr>Code Generation</vt:lpstr>
      <vt:lpstr>Error Handling</vt:lpstr>
      <vt:lpstr>Symbol Table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Compiler</dc:title>
  <dc:creator>dell</dc:creator>
  <cp:lastModifiedBy>dell</cp:lastModifiedBy>
  <cp:revision>46</cp:revision>
  <dcterms:created xsi:type="dcterms:W3CDTF">2024-03-12T05:45:35Z</dcterms:created>
  <dcterms:modified xsi:type="dcterms:W3CDTF">2024-07-19T09:00:11Z</dcterms:modified>
</cp:coreProperties>
</file>