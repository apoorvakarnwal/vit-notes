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8" r:id="rId2"/>
    <p:sldId id="258" r:id="rId3"/>
    <p:sldId id="259" r:id="rId4"/>
    <p:sldId id="260" r:id="rId5"/>
    <p:sldId id="261" r:id="rId6"/>
    <p:sldId id="262" r:id="rId7"/>
    <p:sldId id="263" r:id="rId8"/>
    <p:sldId id="264" r:id="rId9"/>
    <p:sldId id="265" r:id="rId10"/>
    <p:sldId id="266"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485"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8/14/2024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8/14/2024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54C5576-DEB0-478F-8E3B-2C8E30E0E13A}"/>
              </a:ext>
            </a:extLst>
          </p:cNvPr>
          <p:cNvSpPr txBox="1"/>
          <p:nvPr/>
        </p:nvSpPr>
        <p:spPr>
          <a:xfrm>
            <a:off x="2556163" y="2744524"/>
            <a:ext cx="6878850" cy="1015663"/>
          </a:xfrm>
          <a:prstGeom prst="rect">
            <a:avLst/>
          </a:prstGeom>
          <a:noFill/>
        </p:spPr>
        <p:txBody>
          <a:bodyPr wrap="square" rtlCol="0">
            <a:spAutoFit/>
          </a:bodyPr>
          <a:lstStyle/>
          <a:p>
            <a:pPr algn="ctr"/>
            <a:r>
              <a:rPr lang="en-US" sz="6000" dirty="0"/>
              <a:t>Bottom Up Parser</a:t>
            </a:r>
            <a:endParaRPr lang="en-US" sz="6000" dirty="0">
              <a:solidFill>
                <a:srgbClr val="002060"/>
              </a:solidFill>
              <a:latin typeface="Century" panose="02040604050505020304" pitchFamily="18" charset="0"/>
            </a:endParaRPr>
          </a:p>
        </p:txBody>
      </p:sp>
    </p:spTree>
    <p:extLst>
      <p:ext uri="{BB962C8B-B14F-4D97-AF65-F5344CB8AC3E}">
        <p14:creationId xmlns:p14="http://schemas.microsoft.com/office/powerpoint/2010/main" val="255019694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Bottom Up Parsing Methods</a:t>
            </a:r>
          </a:p>
        </p:txBody>
      </p:sp>
      <p:sp>
        <p:nvSpPr>
          <p:cNvPr id="3" name="Content Placeholder 2"/>
          <p:cNvSpPr>
            <a:spLocks noGrp="1"/>
          </p:cNvSpPr>
          <p:nvPr>
            <p:ph idx="1"/>
          </p:nvPr>
        </p:nvSpPr>
        <p:spPr/>
        <p:txBody>
          <a:bodyPr>
            <a:normAutofit/>
          </a:bodyPr>
          <a:lstStyle/>
          <a:p>
            <a:r>
              <a:rPr lang="en-US" sz="3200" dirty="0">
                <a:latin typeface="Arial" pitchFamily="34" charset="0"/>
                <a:cs typeface="Arial" pitchFamily="34" charset="0"/>
              </a:rPr>
              <a:t>It is also called “Shift –Reduce” parsing because:</a:t>
            </a:r>
          </a:p>
          <a:p>
            <a:pPr lvl="1"/>
            <a:r>
              <a:rPr lang="en-US" sz="2800" dirty="0">
                <a:latin typeface="Arial" pitchFamily="34" charset="0"/>
                <a:cs typeface="Arial" pitchFamily="34" charset="0"/>
              </a:rPr>
              <a:t> It consists of shifting input symbols onto the stack until the right side of the production appears on top of the stack.</a:t>
            </a:r>
          </a:p>
          <a:p>
            <a:pPr lvl="1"/>
            <a:r>
              <a:rPr lang="en-US" sz="2800" dirty="0">
                <a:latin typeface="Arial" pitchFamily="34" charset="0"/>
                <a:cs typeface="Arial" pitchFamily="34" charset="0"/>
              </a:rPr>
              <a:t>The Right side may then be replaced by the symbol on the left side of the production, and process repeated.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Bottom up Parsing</a:t>
            </a:r>
          </a:p>
        </p:txBody>
      </p:sp>
      <p:sp>
        <p:nvSpPr>
          <p:cNvPr id="3" name="Content Placeholder 2"/>
          <p:cNvSpPr>
            <a:spLocks noGrp="1"/>
          </p:cNvSpPr>
          <p:nvPr>
            <p:ph idx="1"/>
          </p:nvPr>
        </p:nvSpPr>
        <p:spPr/>
        <p:txBody>
          <a:bodyPr>
            <a:noAutofit/>
          </a:bodyPr>
          <a:lstStyle/>
          <a:p>
            <a:r>
              <a:rPr lang="en-US" dirty="0">
                <a:latin typeface="Arial" pitchFamily="34" charset="0"/>
                <a:cs typeface="Arial" pitchFamily="34" charset="0"/>
              </a:rPr>
              <a:t>Goal: </a:t>
            </a:r>
          </a:p>
          <a:p>
            <a:pPr lvl="1"/>
            <a:r>
              <a:rPr lang="en-US" dirty="0">
                <a:latin typeface="Arial" pitchFamily="34" charset="0"/>
                <a:cs typeface="Arial" pitchFamily="34" charset="0"/>
              </a:rPr>
              <a:t>Given an input string w and a grammar G, construct a parse tree by starting at the leaves and working to the root.</a:t>
            </a:r>
          </a:p>
          <a:p>
            <a:r>
              <a:rPr lang="en-US" dirty="0">
                <a:latin typeface="Arial" pitchFamily="34" charset="0"/>
                <a:cs typeface="Arial" pitchFamily="34" charset="0"/>
              </a:rPr>
              <a:t> The parser repeatedly matches a right-sentential form from the language against the tree’s upper frontier. </a:t>
            </a:r>
          </a:p>
          <a:p>
            <a:r>
              <a:rPr lang="en-US" dirty="0">
                <a:latin typeface="Arial" pitchFamily="34" charset="0"/>
                <a:cs typeface="Arial" pitchFamily="34" charset="0"/>
              </a:rPr>
              <a:t>At each match, it applies a reduction to build on the frontier: </a:t>
            </a:r>
          </a:p>
          <a:p>
            <a:pPr lvl="1"/>
            <a:r>
              <a:rPr lang="en-US" dirty="0">
                <a:latin typeface="Arial" pitchFamily="34" charset="0"/>
                <a:cs typeface="Arial" pitchFamily="34" charset="0"/>
              </a:rPr>
              <a:t>each reduction matches an upper frontier of the partially built tree to the RHS of some production </a:t>
            </a:r>
          </a:p>
          <a:p>
            <a:pPr lvl="1"/>
            <a:r>
              <a:rPr lang="en-US" dirty="0">
                <a:latin typeface="Arial" pitchFamily="34" charset="0"/>
                <a:cs typeface="Arial" pitchFamily="34" charset="0"/>
              </a:rPr>
              <a:t>each reduction adds a node on top of the frontier </a:t>
            </a:r>
          </a:p>
          <a:p>
            <a:pPr lvl="1">
              <a:buNone/>
            </a:pPr>
            <a:r>
              <a:rPr lang="en-US" dirty="0">
                <a:latin typeface="Arial" pitchFamily="34" charset="0"/>
                <a:cs typeface="Arial" pitchFamily="34" charset="0"/>
              </a:rPr>
              <a:t>The final result is a rightmost derivation, in reverse.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Reduce Parsing</a:t>
            </a:r>
          </a:p>
        </p:txBody>
      </p:sp>
      <p:sp>
        <p:nvSpPr>
          <p:cNvPr id="3" name="Content Placeholder 2"/>
          <p:cNvSpPr>
            <a:spLocks noGrp="1"/>
          </p:cNvSpPr>
          <p:nvPr>
            <p:ph idx="1"/>
          </p:nvPr>
        </p:nvSpPr>
        <p:spPr/>
        <p:txBody>
          <a:bodyPr>
            <a:noAutofit/>
          </a:bodyPr>
          <a:lstStyle/>
          <a:p>
            <a:pPr algn="just"/>
            <a:r>
              <a:rPr lang="en-US" sz="1600" dirty="0">
                <a:latin typeface="Arial" pitchFamily="34" charset="0"/>
                <a:cs typeface="Arial" pitchFamily="34" charset="0"/>
              </a:rPr>
              <a:t>It is a bottom up parsing.</a:t>
            </a:r>
          </a:p>
          <a:p>
            <a:pPr algn="just"/>
            <a:r>
              <a:rPr lang="en-US" sz="1600" dirty="0">
                <a:latin typeface="Arial" pitchFamily="34" charset="0"/>
                <a:cs typeface="Arial" pitchFamily="34" charset="0"/>
              </a:rPr>
              <a:t>In this process, we reduce a string ‘w’ to the start symbol of a grammar.</a:t>
            </a:r>
          </a:p>
          <a:p>
            <a:pPr algn="just"/>
            <a:r>
              <a:rPr lang="en-US" sz="1600" dirty="0">
                <a:latin typeface="Arial" pitchFamily="34" charset="0"/>
                <a:cs typeface="Arial" pitchFamily="34" charset="0"/>
              </a:rPr>
              <a:t>At each step, a string matching the right side of the production is replaced by the symbol on the left.</a:t>
            </a:r>
          </a:p>
          <a:p>
            <a:endParaRPr lang="en-US" sz="1400" dirty="0"/>
          </a:p>
          <a:p>
            <a:endParaRPr lang="en-US" sz="1400" dirty="0"/>
          </a:p>
          <a:p>
            <a:endParaRPr lang="en-US" sz="1400" dirty="0"/>
          </a:p>
          <a:p>
            <a:endParaRPr lang="en-US" sz="1400" dirty="0"/>
          </a:p>
          <a:p>
            <a:endParaRPr lang="en-US" sz="1400" dirty="0"/>
          </a:p>
          <a:p>
            <a:pPr>
              <a:buNone/>
            </a:pPr>
            <a:r>
              <a:rPr lang="en-US" sz="1400" dirty="0"/>
              <a:t> </a:t>
            </a:r>
          </a:p>
          <a:p>
            <a:pPr algn="just">
              <a:buNone/>
            </a:pPr>
            <a:r>
              <a:rPr lang="en-US" sz="1600" dirty="0">
                <a:latin typeface="Arial" pitchFamily="34" charset="0"/>
                <a:cs typeface="Arial" pitchFamily="34" charset="0"/>
              </a:rPr>
              <a:t>	Each replacement of the right side of a production by left side is called Reduction.                                               </a:t>
            </a:r>
          </a:p>
          <a:p>
            <a:pPr algn="just">
              <a:buNone/>
            </a:pPr>
            <a:r>
              <a:rPr lang="en-US" sz="1400" dirty="0"/>
              <a:t>			</a:t>
            </a:r>
          </a:p>
        </p:txBody>
      </p:sp>
      <p:sp>
        <p:nvSpPr>
          <p:cNvPr id="4" name="Rectangle 3"/>
          <p:cNvSpPr/>
          <p:nvPr/>
        </p:nvSpPr>
        <p:spPr>
          <a:xfrm>
            <a:off x="1800485" y="3636364"/>
            <a:ext cx="1930400" cy="12954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a:t>
            </a:r>
            <a:r>
              <a:rPr lang="en-US" dirty="0" err="1">
                <a:sym typeface="Wingdings" pitchFamily="2" charset="2"/>
              </a:rPr>
              <a:t>aAcBe</a:t>
            </a:r>
            <a:endParaRPr lang="en-US" dirty="0">
              <a:sym typeface="Wingdings" pitchFamily="2" charset="2"/>
            </a:endParaRPr>
          </a:p>
          <a:p>
            <a:pPr algn="ctr"/>
            <a:r>
              <a:rPr lang="en-US" dirty="0" err="1">
                <a:sym typeface="Wingdings" pitchFamily="2" charset="2"/>
              </a:rPr>
              <a:t>AAb</a:t>
            </a:r>
            <a:r>
              <a:rPr lang="en-US" dirty="0">
                <a:sym typeface="Wingdings" pitchFamily="2" charset="2"/>
              </a:rPr>
              <a:t>/b</a:t>
            </a:r>
          </a:p>
          <a:p>
            <a:pPr algn="ctr"/>
            <a:r>
              <a:rPr lang="en-US" dirty="0" err="1">
                <a:sym typeface="Wingdings" pitchFamily="2" charset="2"/>
              </a:rPr>
              <a:t>Bd</a:t>
            </a:r>
            <a:endParaRPr lang="en-US" dirty="0"/>
          </a:p>
        </p:txBody>
      </p:sp>
      <p:sp>
        <p:nvSpPr>
          <p:cNvPr id="5" name="Rectangle 4"/>
          <p:cNvSpPr/>
          <p:nvPr/>
        </p:nvSpPr>
        <p:spPr>
          <a:xfrm>
            <a:off x="4493718" y="3592643"/>
            <a:ext cx="3657600" cy="13716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String ‘w’= </a:t>
            </a:r>
            <a:r>
              <a:rPr lang="en-US" dirty="0" err="1"/>
              <a:t>abbcde</a:t>
            </a:r>
            <a:endParaRPr lang="en-US" dirty="0"/>
          </a:p>
          <a:p>
            <a:pPr algn="ctr"/>
            <a:r>
              <a:rPr lang="en-US" dirty="0" err="1"/>
              <a:t>S</a:t>
            </a:r>
            <a:r>
              <a:rPr lang="en-US" dirty="0" err="1">
                <a:sym typeface="Wingdings" pitchFamily="2" charset="2"/>
              </a:rPr>
              <a:t>aAc</a:t>
            </a:r>
            <a:r>
              <a:rPr lang="en-US" u="sng" dirty="0" err="1">
                <a:sym typeface="Wingdings" pitchFamily="2" charset="2"/>
              </a:rPr>
              <a:t>B</a:t>
            </a:r>
            <a:r>
              <a:rPr lang="en-US" dirty="0" err="1">
                <a:sym typeface="Wingdings" pitchFamily="2" charset="2"/>
              </a:rPr>
              <a:t>e</a:t>
            </a:r>
            <a:endParaRPr lang="en-US" dirty="0">
              <a:sym typeface="Wingdings" pitchFamily="2" charset="2"/>
            </a:endParaRPr>
          </a:p>
          <a:p>
            <a:pPr algn="ctr"/>
            <a:r>
              <a:rPr lang="en-US" dirty="0">
                <a:sym typeface="Wingdings" pitchFamily="2" charset="2"/>
              </a:rPr>
              <a:t></a:t>
            </a:r>
            <a:r>
              <a:rPr lang="en-US" dirty="0" err="1">
                <a:sym typeface="Wingdings" pitchFamily="2" charset="2"/>
              </a:rPr>
              <a:t>a</a:t>
            </a:r>
            <a:r>
              <a:rPr lang="en-US" u="sng" dirty="0" err="1">
                <a:sym typeface="Wingdings" pitchFamily="2" charset="2"/>
              </a:rPr>
              <a:t>A</a:t>
            </a:r>
            <a:r>
              <a:rPr lang="en-US" dirty="0" err="1">
                <a:sym typeface="Wingdings" pitchFamily="2" charset="2"/>
              </a:rPr>
              <a:t>cde</a:t>
            </a:r>
            <a:endParaRPr lang="en-US" dirty="0">
              <a:sym typeface="Wingdings" pitchFamily="2" charset="2"/>
            </a:endParaRPr>
          </a:p>
          <a:p>
            <a:pPr algn="ctr"/>
            <a:r>
              <a:rPr lang="en-US" dirty="0">
                <a:sym typeface="Wingdings" pitchFamily="2" charset="2"/>
              </a:rPr>
              <a:t></a:t>
            </a:r>
            <a:r>
              <a:rPr lang="en-US" dirty="0" err="1">
                <a:sym typeface="Wingdings" pitchFamily="2" charset="2"/>
              </a:rPr>
              <a:t>a</a:t>
            </a:r>
            <a:r>
              <a:rPr lang="en-US" u="sng" dirty="0" err="1">
                <a:sym typeface="Wingdings" pitchFamily="2" charset="2"/>
              </a:rPr>
              <a:t>A</a:t>
            </a:r>
            <a:r>
              <a:rPr lang="en-US" dirty="0" err="1">
                <a:sym typeface="Wingdings" pitchFamily="2" charset="2"/>
              </a:rPr>
              <a:t>bcde</a:t>
            </a:r>
            <a:endParaRPr lang="en-US" dirty="0">
              <a:sym typeface="Wingdings" pitchFamily="2" charset="2"/>
            </a:endParaRPr>
          </a:p>
          <a:p>
            <a:pPr algn="ctr"/>
            <a:r>
              <a:rPr lang="en-US" dirty="0">
                <a:sym typeface="Wingdings" pitchFamily="2" charset="2"/>
              </a:rPr>
              <a:t></a:t>
            </a:r>
            <a:r>
              <a:rPr lang="en-US" dirty="0" err="1">
                <a:sym typeface="Wingdings" pitchFamily="2" charset="2"/>
              </a:rPr>
              <a:t>abbcde</a:t>
            </a:r>
            <a:endParaRPr lang="en-US" dirty="0"/>
          </a:p>
        </p:txBody>
      </p:sp>
      <p:sp>
        <p:nvSpPr>
          <p:cNvPr id="8" name="Rectangle 7"/>
          <p:cNvSpPr/>
          <p:nvPr/>
        </p:nvSpPr>
        <p:spPr>
          <a:xfrm>
            <a:off x="9238938" y="3882452"/>
            <a:ext cx="1930400" cy="8382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Rightmost Derivation in reverse</a:t>
            </a:r>
          </a:p>
        </p:txBody>
      </p:sp>
      <p:sp>
        <p:nvSpPr>
          <p:cNvPr id="9" name="Up Arrow 8"/>
          <p:cNvSpPr/>
          <p:nvPr/>
        </p:nvSpPr>
        <p:spPr>
          <a:xfrm>
            <a:off x="8602689" y="3700073"/>
            <a:ext cx="101600" cy="1219200"/>
          </a:xfrm>
          <a:prstGeom prst="upArrow">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Handle</a:t>
            </a:r>
          </a:p>
        </p:txBody>
      </p:sp>
      <p:sp>
        <p:nvSpPr>
          <p:cNvPr id="3" name="Content Placeholder 2"/>
          <p:cNvSpPr>
            <a:spLocks noGrp="1"/>
          </p:cNvSpPr>
          <p:nvPr>
            <p:ph idx="1"/>
          </p:nvPr>
        </p:nvSpPr>
        <p:spPr/>
        <p:txBody>
          <a:bodyPr>
            <a:noAutofit/>
          </a:bodyPr>
          <a:lstStyle/>
          <a:p>
            <a:pPr algn="just"/>
            <a:r>
              <a:rPr lang="en-US" sz="2800" dirty="0">
                <a:latin typeface="Arial" pitchFamily="34" charset="0"/>
                <a:cs typeface="Arial" pitchFamily="34" charset="0"/>
              </a:rPr>
              <a:t>A substring which is the right side of the production such that replacement of that substring by the production left side leads the reduction to the start symbol, by the reverse right most derivation.</a:t>
            </a:r>
          </a:p>
          <a:p>
            <a:pPr algn="just"/>
            <a:endParaRPr lang="en-US" sz="2800" dirty="0">
              <a:latin typeface="Arial" pitchFamily="34" charset="0"/>
              <a:cs typeface="Arial" pitchFamily="34" charset="0"/>
            </a:endParaRPr>
          </a:p>
          <a:p>
            <a:pPr algn="just"/>
            <a:r>
              <a:rPr lang="en-US" sz="2800" dirty="0">
                <a:latin typeface="Arial" pitchFamily="34" charset="0"/>
                <a:cs typeface="Arial" pitchFamily="34" charset="0"/>
              </a:rPr>
              <a:t>A</a:t>
            </a:r>
            <a:r>
              <a:rPr lang="en-US" sz="2800" dirty="0">
                <a:latin typeface="Arial" pitchFamily="34" charset="0"/>
                <a:cs typeface="Arial" pitchFamily="34" charset="0"/>
                <a:sym typeface="Wingdings" pitchFamily="2" charset="2"/>
              </a:rPr>
              <a:t>B is not handle if the reduction by this production may yield a string which can’t be reduced to the start symbol.</a:t>
            </a: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6225072"/>
              </p:ext>
            </p:extLst>
          </p:nvPr>
        </p:nvGraphicFramePr>
        <p:xfrm>
          <a:off x="974360" y="3340233"/>
          <a:ext cx="9952497" cy="2732115"/>
        </p:xfrm>
        <a:graphic>
          <a:graphicData uri="http://schemas.openxmlformats.org/drawingml/2006/table">
            <a:tbl>
              <a:tblPr firstRow="1" bandRow="1">
                <a:tableStyleId>{5C22544A-7EE6-4342-B048-85BDC9FD1C3A}</a:tableStyleId>
              </a:tblPr>
              <a:tblGrid>
                <a:gridCol w="3317499">
                  <a:extLst>
                    <a:ext uri="{9D8B030D-6E8A-4147-A177-3AD203B41FA5}">
                      <a16:colId xmlns:a16="http://schemas.microsoft.com/office/drawing/2014/main" xmlns="" val="20000"/>
                    </a:ext>
                  </a:extLst>
                </a:gridCol>
                <a:gridCol w="3317499">
                  <a:extLst>
                    <a:ext uri="{9D8B030D-6E8A-4147-A177-3AD203B41FA5}">
                      <a16:colId xmlns:a16="http://schemas.microsoft.com/office/drawing/2014/main" xmlns="" val="20001"/>
                    </a:ext>
                  </a:extLst>
                </a:gridCol>
                <a:gridCol w="3317499">
                  <a:extLst>
                    <a:ext uri="{9D8B030D-6E8A-4147-A177-3AD203B41FA5}">
                      <a16:colId xmlns:a16="http://schemas.microsoft.com/office/drawing/2014/main" xmlns="" val="20002"/>
                    </a:ext>
                  </a:extLst>
                </a:gridCol>
              </a:tblGrid>
              <a:tr h="537555">
                <a:tc>
                  <a:txBody>
                    <a:bodyPr/>
                    <a:lstStyle/>
                    <a:p>
                      <a:r>
                        <a:rPr lang="en-US" dirty="0">
                          <a:solidFill>
                            <a:schemeClr val="tx1"/>
                          </a:solidFill>
                        </a:rPr>
                        <a:t>Right Sentential Form</a:t>
                      </a:r>
                    </a:p>
                  </a:txBody>
                  <a:tcPr marL="121920" marR="121920">
                    <a:solidFill>
                      <a:schemeClr val="bg1"/>
                    </a:solidFill>
                  </a:tcPr>
                </a:tc>
                <a:tc>
                  <a:txBody>
                    <a:bodyPr/>
                    <a:lstStyle/>
                    <a:p>
                      <a:r>
                        <a:rPr lang="en-US" dirty="0">
                          <a:solidFill>
                            <a:schemeClr val="tx1"/>
                          </a:solidFill>
                        </a:rPr>
                        <a:t>Handle</a:t>
                      </a:r>
                    </a:p>
                  </a:txBody>
                  <a:tcPr marL="121920" marR="121920">
                    <a:solidFill>
                      <a:schemeClr val="bg1"/>
                    </a:solidFill>
                  </a:tcPr>
                </a:tc>
                <a:tc>
                  <a:txBody>
                    <a:bodyPr/>
                    <a:lstStyle/>
                    <a:p>
                      <a:r>
                        <a:rPr lang="en-US" dirty="0">
                          <a:solidFill>
                            <a:schemeClr val="tx1"/>
                          </a:solidFill>
                        </a:rPr>
                        <a:t>Reducing Production</a:t>
                      </a:r>
                    </a:p>
                  </a:txBody>
                  <a:tcPr marL="121920" marR="121920">
                    <a:solidFill>
                      <a:schemeClr val="bg1"/>
                    </a:solidFill>
                  </a:tcPr>
                </a:tc>
                <a:extLst>
                  <a:ext uri="{0D108BD9-81ED-4DB2-BD59-A6C34878D82A}">
                    <a16:rowId xmlns:a16="http://schemas.microsoft.com/office/drawing/2014/main" xmlns="" val="10000"/>
                  </a:ext>
                </a:extLst>
              </a:tr>
              <a:tr h="335351">
                <a:tc>
                  <a:txBody>
                    <a:bodyPr/>
                    <a:lstStyle/>
                    <a:p>
                      <a:r>
                        <a:rPr lang="en-US" dirty="0"/>
                        <a:t>Id</a:t>
                      </a:r>
                      <a:r>
                        <a:rPr lang="en-US" baseline="-25000" dirty="0"/>
                        <a:t>1</a:t>
                      </a:r>
                      <a:r>
                        <a:rPr lang="en-US" dirty="0"/>
                        <a:t>+id</a:t>
                      </a:r>
                      <a:r>
                        <a:rPr lang="en-US" baseline="-25000" dirty="0"/>
                        <a:t>2</a:t>
                      </a:r>
                      <a:r>
                        <a:rPr lang="en-US" dirty="0"/>
                        <a:t>*id</a:t>
                      </a:r>
                      <a:r>
                        <a:rPr lang="en-US" baseline="-25000" dirty="0"/>
                        <a:t>3</a:t>
                      </a:r>
                    </a:p>
                  </a:txBody>
                  <a:tcPr marL="121920" marR="121920">
                    <a:solidFill>
                      <a:schemeClr val="bg1"/>
                    </a:solidFill>
                  </a:tcPr>
                </a:tc>
                <a:tc>
                  <a:txBody>
                    <a:bodyPr/>
                    <a:lstStyle/>
                    <a:p>
                      <a:r>
                        <a:rPr lang="en-US" dirty="0"/>
                        <a:t>Id</a:t>
                      </a:r>
                      <a:r>
                        <a:rPr lang="en-US" baseline="-25000" dirty="0"/>
                        <a:t>1</a:t>
                      </a:r>
                    </a:p>
                  </a:txBody>
                  <a:tcPr marL="121920" marR="121920">
                    <a:solidFill>
                      <a:schemeClr val="bg1"/>
                    </a:solidFill>
                  </a:tcPr>
                </a:tc>
                <a:tc>
                  <a:txBody>
                    <a:bodyPr/>
                    <a:lstStyle/>
                    <a:p>
                      <a:r>
                        <a:rPr lang="en-US" dirty="0" err="1"/>
                        <a:t>E</a:t>
                      </a:r>
                      <a:r>
                        <a:rPr lang="en-US" dirty="0" err="1">
                          <a:sym typeface="Wingdings" pitchFamily="2" charset="2"/>
                        </a:rPr>
                        <a:t>id</a:t>
                      </a:r>
                      <a:endParaRPr lang="en-US" dirty="0"/>
                    </a:p>
                  </a:txBody>
                  <a:tcPr marL="121920" marR="121920">
                    <a:solidFill>
                      <a:schemeClr val="bg1"/>
                    </a:solidFill>
                  </a:tcPr>
                </a:tc>
                <a:extLst>
                  <a:ext uri="{0D108BD9-81ED-4DB2-BD59-A6C34878D82A}">
                    <a16:rowId xmlns:a16="http://schemas.microsoft.com/office/drawing/2014/main" xmlns="" val="10001"/>
                  </a:ext>
                </a:extLst>
              </a:tr>
              <a:tr h="335351">
                <a:tc>
                  <a:txBody>
                    <a:bodyPr/>
                    <a:lstStyle/>
                    <a:p>
                      <a:r>
                        <a:rPr lang="en-US" dirty="0"/>
                        <a:t>E+id</a:t>
                      </a:r>
                      <a:r>
                        <a:rPr lang="en-US" baseline="-25000" dirty="0"/>
                        <a:t>2</a:t>
                      </a:r>
                      <a:r>
                        <a:rPr lang="en-US" dirty="0"/>
                        <a:t>*id</a:t>
                      </a:r>
                      <a:r>
                        <a:rPr lang="en-US" baseline="-25000" dirty="0"/>
                        <a:t>3</a:t>
                      </a:r>
                    </a:p>
                  </a:txBody>
                  <a:tcPr marL="121920" marR="121920">
                    <a:solidFill>
                      <a:schemeClr val="bg1"/>
                    </a:solidFill>
                  </a:tcPr>
                </a:tc>
                <a:tc>
                  <a:txBody>
                    <a:bodyPr/>
                    <a:lstStyle/>
                    <a:p>
                      <a:r>
                        <a:rPr lang="en-US" dirty="0"/>
                        <a:t>Id</a:t>
                      </a:r>
                      <a:r>
                        <a:rPr lang="en-US" baseline="-25000" dirty="0"/>
                        <a:t>2</a:t>
                      </a:r>
                    </a:p>
                  </a:txBody>
                  <a:tcPr marL="121920" marR="121920">
                    <a:solidFill>
                      <a:schemeClr val="bg1"/>
                    </a:solidFill>
                  </a:tcPr>
                </a:tc>
                <a:tc>
                  <a:txBody>
                    <a:bodyPr/>
                    <a:lstStyle/>
                    <a:p>
                      <a:r>
                        <a:rPr lang="en-US" dirty="0" err="1"/>
                        <a:t>E</a:t>
                      </a:r>
                      <a:r>
                        <a:rPr lang="en-US" dirty="0" err="1">
                          <a:sym typeface="Wingdings" pitchFamily="2" charset="2"/>
                        </a:rPr>
                        <a:t>id</a:t>
                      </a:r>
                      <a:endParaRPr lang="en-US" dirty="0"/>
                    </a:p>
                  </a:txBody>
                  <a:tcPr marL="121920" marR="121920">
                    <a:solidFill>
                      <a:schemeClr val="bg1"/>
                    </a:solidFill>
                  </a:tcPr>
                </a:tc>
                <a:extLst>
                  <a:ext uri="{0D108BD9-81ED-4DB2-BD59-A6C34878D82A}">
                    <a16:rowId xmlns:a16="http://schemas.microsoft.com/office/drawing/2014/main" xmlns="" val="10002"/>
                  </a:ext>
                </a:extLst>
              </a:tr>
              <a:tr h="335351">
                <a:tc>
                  <a:txBody>
                    <a:bodyPr/>
                    <a:lstStyle/>
                    <a:p>
                      <a:r>
                        <a:rPr lang="en-US" dirty="0"/>
                        <a:t>E+E*id</a:t>
                      </a:r>
                      <a:r>
                        <a:rPr lang="en-US" baseline="-25000" dirty="0"/>
                        <a:t>3</a:t>
                      </a:r>
                    </a:p>
                  </a:txBody>
                  <a:tcPr marL="121920" marR="121920">
                    <a:solidFill>
                      <a:schemeClr val="bg1"/>
                    </a:solidFill>
                  </a:tcPr>
                </a:tc>
                <a:tc>
                  <a:txBody>
                    <a:bodyPr/>
                    <a:lstStyle/>
                    <a:p>
                      <a:r>
                        <a:rPr lang="en-US" dirty="0"/>
                        <a:t>Id</a:t>
                      </a:r>
                      <a:r>
                        <a:rPr lang="en-US" baseline="-25000" dirty="0"/>
                        <a:t>3</a:t>
                      </a:r>
                    </a:p>
                  </a:txBody>
                  <a:tcPr marL="121920" marR="121920">
                    <a:solidFill>
                      <a:schemeClr val="bg1"/>
                    </a:solidFill>
                  </a:tcPr>
                </a:tc>
                <a:tc>
                  <a:txBody>
                    <a:bodyPr/>
                    <a:lstStyle/>
                    <a:p>
                      <a:r>
                        <a:rPr lang="en-US" dirty="0" err="1"/>
                        <a:t>E</a:t>
                      </a:r>
                      <a:r>
                        <a:rPr lang="en-US" dirty="0" err="1">
                          <a:sym typeface="Wingdings" pitchFamily="2" charset="2"/>
                        </a:rPr>
                        <a:t>id</a:t>
                      </a:r>
                      <a:endParaRPr lang="en-US" dirty="0"/>
                    </a:p>
                  </a:txBody>
                  <a:tcPr marL="121920" marR="121920">
                    <a:solidFill>
                      <a:schemeClr val="bg1"/>
                    </a:solidFill>
                  </a:tcPr>
                </a:tc>
                <a:extLst>
                  <a:ext uri="{0D108BD9-81ED-4DB2-BD59-A6C34878D82A}">
                    <a16:rowId xmlns:a16="http://schemas.microsoft.com/office/drawing/2014/main" xmlns="" val="10003"/>
                  </a:ext>
                </a:extLst>
              </a:tr>
              <a:tr h="335351">
                <a:tc>
                  <a:txBody>
                    <a:bodyPr/>
                    <a:lstStyle/>
                    <a:p>
                      <a:r>
                        <a:rPr lang="en-US" dirty="0"/>
                        <a:t>E+E*E</a:t>
                      </a:r>
                    </a:p>
                  </a:txBody>
                  <a:tcPr marL="121920" marR="121920">
                    <a:solidFill>
                      <a:schemeClr val="bg1"/>
                    </a:solidFill>
                  </a:tcPr>
                </a:tc>
                <a:tc>
                  <a:txBody>
                    <a:bodyPr/>
                    <a:lstStyle/>
                    <a:p>
                      <a:r>
                        <a:rPr lang="en-US" dirty="0"/>
                        <a:t>E*E</a:t>
                      </a:r>
                    </a:p>
                  </a:txBody>
                  <a:tcPr marL="121920" marR="121920">
                    <a:solidFill>
                      <a:schemeClr val="bg1"/>
                    </a:solidFill>
                  </a:tcPr>
                </a:tc>
                <a:tc>
                  <a:txBody>
                    <a:bodyPr/>
                    <a:lstStyle/>
                    <a:p>
                      <a:r>
                        <a:rPr lang="en-US" dirty="0"/>
                        <a:t>E</a:t>
                      </a:r>
                      <a:r>
                        <a:rPr lang="en-US" dirty="0">
                          <a:sym typeface="Wingdings" pitchFamily="2" charset="2"/>
                        </a:rPr>
                        <a:t>E*E</a:t>
                      </a:r>
                      <a:endParaRPr lang="en-US" dirty="0"/>
                    </a:p>
                  </a:txBody>
                  <a:tcPr marL="121920" marR="121920">
                    <a:solidFill>
                      <a:schemeClr val="bg1"/>
                    </a:solidFill>
                  </a:tcPr>
                </a:tc>
                <a:extLst>
                  <a:ext uri="{0D108BD9-81ED-4DB2-BD59-A6C34878D82A}">
                    <a16:rowId xmlns:a16="http://schemas.microsoft.com/office/drawing/2014/main" xmlns="" val="10004"/>
                  </a:ext>
                </a:extLst>
              </a:tr>
              <a:tr h="335351">
                <a:tc>
                  <a:txBody>
                    <a:bodyPr/>
                    <a:lstStyle/>
                    <a:p>
                      <a:r>
                        <a:rPr lang="en-US" dirty="0"/>
                        <a:t>E+E</a:t>
                      </a:r>
                    </a:p>
                  </a:txBody>
                  <a:tcPr marL="121920" marR="121920">
                    <a:solidFill>
                      <a:schemeClr val="bg1"/>
                    </a:solidFill>
                  </a:tcPr>
                </a:tc>
                <a:tc>
                  <a:txBody>
                    <a:bodyPr/>
                    <a:lstStyle/>
                    <a:p>
                      <a:r>
                        <a:rPr lang="en-US" dirty="0"/>
                        <a:t>E+E</a:t>
                      </a:r>
                    </a:p>
                  </a:txBody>
                  <a:tcPr marL="121920" marR="121920">
                    <a:solidFill>
                      <a:schemeClr val="bg1"/>
                    </a:solidFill>
                  </a:tcPr>
                </a:tc>
                <a:tc>
                  <a:txBody>
                    <a:bodyPr/>
                    <a:lstStyle/>
                    <a:p>
                      <a:r>
                        <a:rPr lang="en-US" dirty="0"/>
                        <a:t>E</a:t>
                      </a:r>
                      <a:r>
                        <a:rPr lang="en-US" dirty="0">
                          <a:sym typeface="Wingdings" pitchFamily="2" charset="2"/>
                        </a:rPr>
                        <a:t>E+E</a:t>
                      </a:r>
                      <a:endParaRPr lang="en-US" dirty="0"/>
                    </a:p>
                  </a:txBody>
                  <a:tcPr marL="121920" marR="121920">
                    <a:solidFill>
                      <a:schemeClr val="bg1"/>
                    </a:solidFill>
                  </a:tcPr>
                </a:tc>
                <a:extLst>
                  <a:ext uri="{0D108BD9-81ED-4DB2-BD59-A6C34878D82A}">
                    <a16:rowId xmlns:a16="http://schemas.microsoft.com/office/drawing/2014/main" xmlns="" val="10005"/>
                  </a:ext>
                </a:extLst>
              </a:tr>
              <a:tr h="335351">
                <a:tc>
                  <a:txBody>
                    <a:bodyPr/>
                    <a:lstStyle/>
                    <a:p>
                      <a:r>
                        <a:rPr lang="en-US" dirty="0"/>
                        <a:t>E</a:t>
                      </a:r>
                    </a:p>
                  </a:txBody>
                  <a:tcPr marL="121920" marR="121920">
                    <a:solidFill>
                      <a:schemeClr val="bg1"/>
                    </a:solidFill>
                  </a:tcPr>
                </a:tc>
                <a:tc>
                  <a:txBody>
                    <a:bodyPr/>
                    <a:lstStyle/>
                    <a:p>
                      <a:endParaRPr lang="en-US" dirty="0"/>
                    </a:p>
                  </a:txBody>
                  <a:tcPr marL="121920" marR="121920">
                    <a:solidFill>
                      <a:schemeClr val="bg1"/>
                    </a:solidFill>
                  </a:tcPr>
                </a:tc>
                <a:tc>
                  <a:txBody>
                    <a:bodyPr/>
                    <a:lstStyle/>
                    <a:p>
                      <a:r>
                        <a:rPr lang="en-US" dirty="0"/>
                        <a:t>ACCEPT</a:t>
                      </a:r>
                    </a:p>
                  </a:txBody>
                  <a:tcPr marL="121920" marR="121920">
                    <a:solidFill>
                      <a:schemeClr val="bg1"/>
                    </a:solidFill>
                  </a:tcPr>
                </a:tc>
                <a:extLst>
                  <a:ext uri="{0D108BD9-81ED-4DB2-BD59-A6C34878D82A}">
                    <a16:rowId xmlns:a16="http://schemas.microsoft.com/office/drawing/2014/main" xmlns="" val="10006"/>
                  </a:ext>
                </a:extLst>
              </a:tr>
            </a:tbl>
          </a:graphicData>
        </a:graphic>
      </p:graphicFrame>
      <p:sp>
        <p:nvSpPr>
          <p:cNvPr id="4" name="Rectangle 3"/>
          <p:cNvSpPr/>
          <p:nvPr/>
        </p:nvSpPr>
        <p:spPr>
          <a:xfrm>
            <a:off x="1697220" y="1943725"/>
            <a:ext cx="1320800" cy="114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a:t>
            </a:r>
            <a:r>
              <a:rPr lang="en-US" dirty="0">
                <a:solidFill>
                  <a:schemeClr val="tx1"/>
                </a:solidFill>
                <a:sym typeface="Wingdings" pitchFamily="2" charset="2"/>
              </a:rPr>
              <a:t>E+E</a:t>
            </a:r>
          </a:p>
          <a:p>
            <a:r>
              <a:rPr lang="en-US" dirty="0">
                <a:solidFill>
                  <a:schemeClr val="tx1"/>
                </a:solidFill>
                <a:sym typeface="Wingdings" pitchFamily="2" charset="2"/>
              </a:rPr>
              <a:t>EE*E</a:t>
            </a:r>
          </a:p>
          <a:p>
            <a:r>
              <a:rPr lang="en-US" dirty="0">
                <a:solidFill>
                  <a:schemeClr val="tx1"/>
                </a:solidFill>
                <a:sym typeface="Wingdings" pitchFamily="2" charset="2"/>
              </a:rPr>
              <a:t>E(E)</a:t>
            </a:r>
          </a:p>
          <a:p>
            <a:r>
              <a:rPr lang="en-US" dirty="0" err="1">
                <a:solidFill>
                  <a:schemeClr val="tx1"/>
                </a:solidFill>
                <a:sym typeface="Wingdings" pitchFamily="2" charset="2"/>
              </a:rPr>
              <a:t>Eid</a:t>
            </a:r>
            <a:endParaRPr lang="en-US" dirty="0">
              <a:solidFill>
                <a:schemeClr val="tx1"/>
              </a:solidFill>
            </a:endParaRPr>
          </a:p>
        </p:txBody>
      </p:sp>
      <p:sp>
        <p:nvSpPr>
          <p:cNvPr id="5" name="Rectangle 4"/>
          <p:cNvSpPr/>
          <p:nvPr/>
        </p:nvSpPr>
        <p:spPr>
          <a:xfrm>
            <a:off x="3542676" y="1882515"/>
            <a:ext cx="3352800" cy="1371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a:t>
            </a:r>
            <a:r>
              <a:rPr lang="en-US" dirty="0">
                <a:solidFill>
                  <a:schemeClr val="tx1"/>
                </a:solidFill>
                <a:sym typeface="Wingdings" pitchFamily="2" charset="2"/>
              </a:rPr>
              <a:t>E+E</a:t>
            </a:r>
          </a:p>
          <a:p>
            <a:r>
              <a:rPr lang="en-US" dirty="0">
                <a:solidFill>
                  <a:schemeClr val="tx1"/>
                </a:solidFill>
                <a:sym typeface="Wingdings" pitchFamily="2" charset="2"/>
              </a:rPr>
              <a:t>E+E*E</a:t>
            </a:r>
          </a:p>
          <a:p>
            <a:r>
              <a:rPr lang="en-US" dirty="0">
                <a:solidFill>
                  <a:schemeClr val="tx1"/>
                </a:solidFill>
                <a:sym typeface="Wingdings" pitchFamily="2" charset="2"/>
              </a:rPr>
              <a:t>E+E*id</a:t>
            </a:r>
            <a:r>
              <a:rPr lang="en-US" baseline="-25000" dirty="0">
                <a:solidFill>
                  <a:schemeClr val="tx1"/>
                </a:solidFill>
                <a:sym typeface="Wingdings" pitchFamily="2" charset="2"/>
              </a:rPr>
              <a:t>3</a:t>
            </a:r>
          </a:p>
          <a:p>
            <a:r>
              <a:rPr lang="en-US" dirty="0">
                <a:solidFill>
                  <a:schemeClr val="tx1"/>
                </a:solidFill>
                <a:sym typeface="Wingdings" pitchFamily="2" charset="2"/>
              </a:rPr>
              <a:t>E+id</a:t>
            </a:r>
            <a:r>
              <a:rPr lang="en-US" baseline="-25000" dirty="0">
                <a:solidFill>
                  <a:schemeClr val="tx1"/>
                </a:solidFill>
                <a:sym typeface="Wingdings" pitchFamily="2" charset="2"/>
              </a:rPr>
              <a:t>2</a:t>
            </a:r>
            <a:r>
              <a:rPr lang="en-US" dirty="0">
                <a:solidFill>
                  <a:schemeClr val="tx1"/>
                </a:solidFill>
                <a:sym typeface="Wingdings" pitchFamily="2" charset="2"/>
              </a:rPr>
              <a:t>*id</a:t>
            </a:r>
            <a:r>
              <a:rPr lang="en-US" baseline="-25000" dirty="0">
                <a:solidFill>
                  <a:schemeClr val="tx1"/>
                </a:solidFill>
                <a:sym typeface="Wingdings" pitchFamily="2" charset="2"/>
              </a:rPr>
              <a:t>3</a:t>
            </a:r>
          </a:p>
          <a:p>
            <a:r>
              <a:rPr lang="en-US" dirty="0">
                <a:solidFill>
                  <a:schemeClr val="tx1"/>
                </a:solidFill>
                <a:sym typeface="Wingdings" pitchFamily="2" charset="2"/>
              </a:rPr>
              <a:t>id</a:t>
            </a:r>
            <a:r>
              <a:rPr lang="en-US" baseline="-25000" dirty="0">
                <a:solidFill>
                  <a:schemeClr val="tx1"/>
                </a:solidFill>
                <a:sym typeface="Wingdings" pitchFamily="2" charset="2"/>
              </a:rPr>
              <a:t>1</a:t>
            </a:r>
            <a:r>
              <a:rPr lang="en-US" dirty="0">
                <a:solidFill>
                  <a:schemeClr val="tx1"/>
                </a:solidFill>
                <a:sym typeface="Wingdings" pitchFamily="2" charset="2"/>
              </a:rPr>
              <a:t>+id</a:t>
            </a:r>
            <a:r>
              <a:rPr lang="en-US" baseline="-25000" dirty="0">
                <a:solidFill>
                  <a:schemeClr val="tx1"/>
                </a:solidFill>
                <a:sym typeface="Wingdings" pitchFamily="2" charset="2"/>
              </a:rPr>
              <a:t>2</a:t>
            </a:r>
            <a:r>
              <a:rPr lang="en-US" dirty="0">
                <a:solidFill>
                  <a:schemeClr val="tx1"/>
                </a:solidFill>
                <a:sym typeface="Wingdings" pitchFamily="2" charset="2"/>
              </a:rPr>
              <a:t>+id</a:t>
            </a:r>
            <a:r>
              <a:rPr lang="en-US" baseline="-25000" dirty="0">
                <a:solidFill>
                  <a:schemeClr val="tx1"/>
                </a:solidFill>
                <a:sym typeface="Wingdings" pitchFamily="2" charset="2"/>
              </a:rPr>
              <a:t>3</a:t>
            </a:r>
            <a:endParaRPr lang="en-US" baseline="-25000" dirty="0">
              <a:solidFill>
                <a:schemeClr val="tx1"/>
              </a:solidFill>
            </a:endParaRPr>
          </a:p>
        </p:txBody>
      </p:sp>
      <p:sp>
        <p:nvSpPr>
          <p:cNvPr id="8" name="Rectangle 7"/>
          <p:cNvSpPr/>
          <p:nvPr/>
        </p:nvSpPr>
        <p:spPr>
          <a:xfrm>
            <a:off x="8058046" y="2034914"/>
            <a:ext cx="2133600" cy="9144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Rightmost Derivation in Reverse</a:t>
            </a:r>
          </a:p>
        </p:txBody>
      </p:sp>
      <p:sp>
        <p:nvSpPr>
          <p:cNvPr id="9" name="Up Arrow 8"/>
          <p:cNvSpPr/>
          <p:nvPr/>
        </p:nvSpPr>
        <p:spPr>
          <a:xfrm>
            <a:off x="7092013" y="1897505"/>
            <a:ext cx="508000" cy="1371600"/>
          </a:xfrm>
          <a:prstGeom prst="upArrow">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Handle Pruning</a:t>
            </a:r>
          </a:p>
        </p:txBody>
      </p:sp>
      <p:sp>
        <p:nvSpPr>
          <p:cNvPr id="3" name="Content Placeholder 2"/>
          <p:cNvSpPr>
            <a:spLocks noGrp="1"/>
          </p:cNvSpPr>
          <p:nvPr>
            <p:ph idx="1"/>
          </p:nvPr>
        </p:nvSpPr>
        <p:spPr/>
        <p:txBody>
          <a:bodyPr>
            <a:noAutofit/>
          </a:bodyPr>
          <a:lstStyle/>
          <a:p>
            <a:pPr algn="just"/>
            <a:r>
              <a:rPr lang="en-US" dirty="0">
                <a:latin typeface="Arial" pitchFamily="34" charset="0"/>
                <a:cs typeface="Arial" pitchFamily="34" charset="0"/>
              </a:rPr>
              <a:t>The process to construct a bottom-up parse is called handle-pruning. </a:t>
            </a:r>
          </a:p>
          <a:p>
            <a:pPr algn="just"/>
            <a:r>
              <a:rPr lang="en-US" dirty="0">
                <a:latin typeface="Arial" pitchFamily="34" charset="0"/>
                <a:cs typeface="Arial" pitchFamily="34" charset="0"/>
              </a:rPr>
              <a:t>To construct a rightmost derivation </a:t>
            </a:r>
          </a:p>
          <a:p>
            <a:pPr lvl="1" algn="just"/>
            <a:r>
              <a:rPr lang="en-US" sz="2000" dirty="0">
                <a:latin typeface="Arial" pitchFamily="34" charset="0"/>
                <a:cs typeface="Arial" pitchFamily="34" charset="0"/>
              </a:rPr>
              <a:t>S = γ</a:t>
            </a:r>
            <a:r>
              <a:rPr lang="en-US" sz="2000" baseline="-25000" dirty="0">
                <a:latin typeface="Arial" pitchFamily="34" charset="0"/>
                <a:cs typeface="Arial" pitchFamily="34" charset="0"/>
              </a:rPr>
              <a:t>0</a:t>
            </a:r>
            <a:r>
              <a:rPr lang="en-US" sz="2000" dirty="0">
                <a:latin typeface="Arial" pitchFamily="34" charset="0"/>
                <a:cs typeface="Arial" pitchFamily="34" charset="0"/>
              </a:rPr>
              <a:t> ⇒ γ</a:t>
            </a:r>
            <a:r>
              <a:rPr lang="en-US" sz="2000" baseline="-25000" dirty="0">
                <a:latin typeface="Arial" pitchFamily="34" charset="0"/>
                <a:cs typeface="Arial" pitchFamily="34" charset="0"/>
              </a:rPr>
              <a:t>1</a:t>
            </a:r>
            <a:r>
              <a:rPr lang="en-US" sz="2000" dirty="0">
                <a:latin typeface="Arial" pitchFamily="34" charset="0"/>
                <a:cs typeface="Arial" pitchFamily="34" charset="0"/>
              </a:rPr>
              <a:t>⇒ γ</a:t>
            </a:r>
            <a:r>
              <a:rPr lang="en-US" sz="2000" baseline="-25000" dirty="0">
                <a:latin typeface="Arial" pitchFamily="34" charset="0"/>
                <a:cs typeface="Arial" pitchFamily="34" charset="0"/>
              </a:rPr>
              <a:t>2</a:t>
            </a:r>
            <a:r>
              <a:rPr lang="en-US" sz="2000" dirty="0">
                <a:latin typeface="Arial" pitchFamily="34" charset="0"/>
                <a:cs typeface="Arial" pitchFamily="34" charset="0"/>
              </a:rPr>
              <a:t> ⇒ ··· ⇒ γ</a:t>
            </a:r>
            <a:r>
              <a:rPr lang="en-US" sz="2000" baseline="-25000" dirty="0">
                <a:latin typeface="Arial" pitchFamily="34" charset="0"/>
                <a:cs typeface="Arial" pitchFamily="34" charset="0"/>
              </a:rPr>
              <a:t>n−1</a:t>
            </a:r>
            <a:r>
              <a:rPr lang="en-US" sz="2000" dirty="0">
                <a:latin typeface="Arial" pitchFamily="34" charset="0"/>
                <a:cs typeface="Arial" pitchFamily="34" charset="0"/>
              </a:rPr>
              <a:t> ⇒ </a:t>
            </a:r>
            <a:r>
              <a:rPr lang="en-US" sz="2000" dirty="0" err="1">
                <a:latin typeface="Arial" pitchFamily="34" charset="0"/>
                <a:cs typeface="Arial" pitchFamily="34" charset="0"/>
              </a:rPr>
              <a:t>γ</a:t>
            </a:r>
            <a:r>
              <a:rPr lang="en-US" sz="2000" baseline="-25000" dirty="0" err="1">
                <a:latin typeface="Arial" pitchFamily="34" charset="0"/>
                <a:cs typeface="Arial" pitchFamily="34" charset="0"/>
              </a:rPr>
              <a:t>n</a:t>
            </a:r>
            <a:r>
              <a:rPr lang="en-US" sz="2000" dirty="0">
                <a:latin typeface="Arial" pitchFamily="34" charset="0"/>
                <a:cs typeface="Arial" pitchFamily="34" charset="0"/>
              </a:rPr>
              <a:t> = w </a:t>
            </a:r>
          </a:p>
          <a:p>
            <a:pPr lvl="1" algn="just"/>
            <a:r>
              <a:rPr lang="en-US" sz="2000" dirty="0">
                <a:latin typeface="Arial" pitchFamily="34" charset="0"/>
                <a:cs typeface="Arial" pitchFamily="34" charset="0"/>
              </a:rPr>
              <a:t>we set </a:t>
            </a:r>
            <a:r>
              <a:rPr lang="en-US" sz="2000" dirty="0" err="1">
                <a:latin typeface="Arial" pitchFamily="34" charset="0"/>
                <a:cs typeface="Arial" pitchFamily="34" charset="0"/>
              </a:rPr>
              <a:t>i</a:t>
            </a:r>
            <a:r>
              <a:rPr lang="en-US" sz="2000" dirty="0">
                <a:latin typeface="Arial" pitchFamily="34" charset="0"/>
                <a:cs typeface="Arial" pitchFamily="34" charset="0"/>
              </a:rPr>
              <a:t> to n and apply the following simple algorithm for </a:t>
            </a:r>
            <a:r>
              <a:rPr lang="en-US" sz="2000" dirty="0" err="1">
                <a:latin typeface="Arial" pitchFamily="34" charset="0"/>
                <a:cs typeface="Arial" pitchFamily="34" charset="0"/>
              </a:rPr>
              <a:t>i</a:t>
            </a:r>
            <a:r>
              <a:rPr lang="en-US" sz="2000" dirty="0">
                <a:latin typeface="Arial" pitchFamily="34" charset="0"/>
                <a:cs typeface="Arial" pitchFamily="34" charset="0"/>
              </a:rPr>
              <a:t> = n down to 1 </a:t>
            </a:r>
          </a:p>
          <a:p>
            <a:pPr lvl="1" algn="just">
              <a:buNone/>
            </a:pPr>
            <a:r>
              <a:rPr lang="en-US" sz="2000" dirty="0">
                <a:latin typeface="Arial" pitchFamily="34" charset="0"/>
                <a:cs typeface="Arial" pitchFamily="34" charset="0"/>
              </a:rPr>
              <a:t>		1. find the handle A</a:t>
            </a:r>
            <a:r>
              <a:rPr lang="en-US" sz="2000" baseline="-25000" dirty="0">
                <a:latin typeface="Arial" pitchFamily="34" charset="0"/>
                <a:cs typeface="Arial" pitchFamily="34" charset="0"/>
              </a:rPr>
              <a:t>i</a:t>
            </a:r>
            <a:r>
              <a:rPr lang="en-US" sz="2000" dirty="0">
                <a:latin typeface="Arial" pitchFamily="34" charset="0"/>
                <a:cs typeface="Arial" pitchFamily="34" charset="0"/>
              </a:rPr>
              <a:t> → </a:t>
            </a:r>
            <a:r>
              <a:rPr lang="en-US" sz="2000" dirty="0" err="1">
                <a:latin typeface="Arial" pitchFamily="34" charset="0"/>
                <a:cs typeface="Arial" pitchFamily="34" charset="0"/>
              </a:rPr>
              <a:t>β</a:t>
            </a:r>
            <a:r>
              <a:rPr lang="en-US" sz="2000" baseline="-25000" dirty="0" err="1">
                <a:latin typeface="Arial" pitchFamily="34" charset="0"/>
                <a:cs typeface="Arial" pitchFamily="34" charset="0"/>
              </a:rPr>
              <a:t>i</a:t>
            </a:r>
            <a:r>
              <a:rPr lang="en-US" sz="2000" dirty="0">
                <a:latin typeface="Arial" pitchFamily="34" charset="0"/>
                <a:cs typeface="Arial" pitchFamily="34" charset="0"/>
              </a:rPr>
              <a:t> in </a:t>
            </a:r>
            <a:r>
              <a:rPr lang="en-US" sz="2000" dirty="0" err="1">
                <a:latin typeface="Arial" pitchFamily="34" charset="0"/>
                <a:cs typeface="Arial" pitchFamily="34" charset="0"/>
              </a:rPr>
              <a:t>γ</a:t>
            </a:r>
            <a:r>
              <a:rPr lang="en-US" sz="2000" baseline="-25000" dirty="0" err="1">
                <a:latin typeface="Arial" pitchFamily="34" charset="0"/>
                <a:cs typeface="Arial" pitchFamily="34" charset="0"/>
              </a:rPr>
              <a:t>i</a:t>
            </a:r>
            <a:r>
              <a:rPr lang="en-US" sz="2000" dirty="0">
                <a:latin typeface="Arial" pitchFamily="34" charset="0"/>
                <a:cs typeface="Arial" pitchFamily="34" charset="0"/>
              </a:rPr>
              <a:t> </a:t>
            </a:r>
          </a:p>
          <a:p>
            <a:pPr lvl="1" algn="just">
              <a:buNone/>
            </a:pPr>
            <a:r>
              <a:rPr lang="en-US" sz="2000" dirty="0">
                <a:latin typeface="Arial" pitchFamily="34" charset="0"/>
                <a:cs typeface="Arial" pitchFamily="34" charset="0"/>
              </a:rPr>
              <a:t>		2. replace </a:t>
            </a:r>
            <a:r>
              <a:rPr lang="en-US" sz="2000" dirty="0" err="1">
                <a:latin typeface="Arial" pitchFamily="34" charset="0"/>
                <a:cs typeface="Arial" pitchFamily="34" charset="0"/>
              </a:rPr>
              <a:t>β</a:t>
            </a:r>
            <a:r>
              <a:rPr lang="en-US" sz="2000" baseline="-25000" dirty="0" err="1">
                <a:latin typeface="Arial" pitchFamily="34" charset="0"/>
                <a:cs typeface="Arial" pitchFamily="34" charset="0"/>
              </a:rPr>
              <a:t>i</a:t>
            </a:r>
            <a:r>
              <a:rPr lang="en-US" sz="2000" dirty="0">
                <a:latin typeface="Arial" pitchFamily="34" charset="0"/>
                <a:cs typeface="Arial" pitchFamily="34" charset="0"/>
              </a:rPr>
              <a:t>	 with A</a:t>
            </a:r>
            <a:r>
              <a:rPr lang="en-US" sz="2000" baseline="-25000" dirty="0">
                <a:latin typeface="Arial" pitchFamily="34" charset="0"/>
                <a:cs typeface="Arial" pitchFamily="34" charset="0"/>
              </a:rPr>
              <a:t>i</a:t>
            </a:r>
            <a:r>
              <a:rPr lang="en-US" sz="2000" dirty="0">
                <a:latin typeface="Arial" pitchFamily="34" charset="0"/>
                <a:cs typeface="Arial" pitchFamily="34" charset="0"/>
              </a:rPr>
              <a:t> to generate γ</a:t>
            </a:r>
            <a:r>
              <a:rPr lang="en-US" sz="2000" baseline="-25000" dirty="0">
                <a:latin typeface="Arial" pitchFamily="34" charset="0"/>
                <a:cs typeface="Arial" pitchFamily="34" charset="0"/>
              </a:rPr>
              <a:t>i−1</a:t>
            </a:r>
            <a:r>
              <a:rPr lang="en-US" sz="2000" dirty="0">
                <a:latin typeface="Arial" pitchFamily="34" charset="0"/>
                <a:cs typeface="Arial" pitchFamily="34" charset="0"/>
              </a:rPr>
              <a:t> </a:t>
            </a:r>
          </a:p>
          <a:p>
            <a:pPr lvl="1" algn="just">
              <a:buNone/>
            </a:pPr>
            <a:r>
              <a:rPr lang="en-US" sz="2000" dirty="0">
                <a:latin typeface="Arial" pitchFamily="34" charset="0"/>
                <a:cs typeface="Arial" pitchFamily="34" charset="0"/>
              </a:rPr>
              <a:t>This takes 2n steps, where n is the length of the derivation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Stack Implementation of Shift Reduce Parsing</a:t>
            </a:r>
          </a:p>
        </p:txBody>
      </p:sp>
      <p:sp>
        <p:nvSpPr>
          <p:cNvPr id="3" name="Content Placeholder 2"/>
          <p:cNvSpPr>
            <a:spLocks noGrp="1"/>
          </p:cNvSpPr>
          <p:nvPr>
            <p:ph idx="1"/>
          </p:nvPr>
        </p:nvSpPr>
        <p:spPr>
          <a:xfrm>
            <a:off x="1451579" y="2015732"/>
            <a:ext cx="9603275" cy="3950353"/>
          </a:xfrm>
        </p:spPr>
        <p:txBody>
          <a:bodyPr>
            <a:noAutofit/>
          </a:bodyPr>
          <a:lstStyle/>
          <a:p>
            <a:r>
              <a:rPr lang="en-US" dirty="0">
                <a:latin typeface="Arial" pitchFamily="34" charset="0"/>
                <a:cs typeface="Arial" pitchFamily="34" charset="0"/>
              </a:rPr>
              <a:t>One scheme to implement a handle-pruning, bottom-up parser is called a shift-reduce parser. </a:t>
            </a:r>
          </a:p>
          <a:p>
            <a:r>
              <a:rPr lang="en-US" dirty="0">
                <a:latin typeface="Arial" pitchFamily="34" charset="0"/>
                <a:cs typeface="Arial" pitchFamily="34" charset="0"/>
              </a:rPr>
              <a:t>Shift-reduce parsers use a stack and an input buffer </a:t>
            </a:r>
          </a:p>
          <a:p>
            <a:pPr lvl="1">
              <a:buNone/>
            </a:pPr>
            <a:r>
              <a:rPr lang="en-US" dirty="0">
                <a:latin typeface="Arial" pitchFamily="34" charset="0"/>
                <a:cs typeface="Arial" pitchFamily="34" charset="0"/>
              </a:rPr>
              <a:t>1. Initialize stack with $ </a:t>
            </a:r>
          </a:p>
          <a:p>
            <a:pPr lvl="1">
              <a:buNone/>
            </a:pPr>
            <a:r>
              <a:rPr lang="en-US" dirty="0">
                <a:latin typeface="Arial" pitchFamily="34" charset="0"/>
                <a:cs typeface="Arial" pitchFamily="34" charset="0"/>
              </a:rPr>
              <a:t>2. Repeat until the top of the stack is the goal symbol and the input token is $ </a:t>
            </a:r>
          </a:p>
          <a:p>
            <a:pPr lvl="2">
              <a:buNone/>
            </a:pPr>
            <a:r>
              <a:rPr lang="en-US" dirty="0">
                <a:latin typeface="Arial" pitchFamily="34" charset="0"/>
                <a:cs typeface="Arial" pitchFamily="34" charset="0"/>
              </a:rPr>
              <a:t>a) find the handle</a:t>
            </a:r>
          </a:p>
          <a:p>
            <a:pPr lvl="3">
              <a:buNone/>
            </a:pPr>
            <a:r>
              <a:rPr lang="en-US" dirty="0">
                <a:latin typeface="Arial" pitchFamily="34" charset="0"/>
                <a:cs typeface="Arial" pitchFamily="34" charset="0"/>
              </a:rPr>
              <a:t> 	if we don’t have a handle on top of the stack, shift an input symbol onto the stack </a:t>
            </a:r>
          </a:p>
          <a:p>
            <a:pPr lvl="2">
              <a:buNone/>
            </a:pPr>
            <a:r>
              <a:rPr lang="en-US" dirty="0">
                <a:latin typeface="Arial" pitchFamily="34" charset="0"/>
                <a:cs typeface="Arial" pitchFamily="34" charset="0"/>
              </a:rPr>
              <a:t>b) prune the handle if we have a handle A → β on the stack, reduce</a:t>
            </a:r>
          </a:p>
          <a:p>
            <a:pPr lvl="3">
              <a:buNone/>
            </a:pPr>
            <a:r>
              <a:rPr lang="en-US" dirty="0">
                <a:latin typeface="Arial" pitchFamily="34" charset="0"/>
                <a:cs typeface="Arial" pitchFamily="34" charset="0"/>
              </a:rPr>
              <a:t> </a:t>
            </a:r>
            <a:r>
              <a:rPr lang="en-US" dirty="0" err="1">
                <a:latin typeface="Arial" pitchFamily="34" charset="0"/>
                <a:cs typeface="Arial" pitchFamily="34" charset="0"/>
              </a:rPr>
              <a:t>i</a:t>
            </a:r>
            <a:r>
              <a:rPr lang="en-US" dirty="0">
                <a:latin typeface="Arial" pitchFamily="34" charset="0"/>
                <a:cs typeface="Arial" pitchFamily="34" charset="0"/>
              </a:rPr>
              <a:t>) pop | β | symbols off the stack</a:t>
            </a:r>
          </a:p>
          <a:p>
            <a:pPr lvl="3">
              <a:buNone/>
            </a:pPr>
            <a:r>
              <a:rPr lang="en-US" dirty="0">
                <a:latin typeface="Arial" pitchFamily="34" charset="0"/>
                <a:cs typeface="Arial" pitchFamily="34" charset="0"/>
              </a:rPr>
              <a:t> ii) push A onto the stack</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Actions of Shift Reduce Parsing</a:t>
            </a:r>
          </a:p>
        </p:txBody>
      </p:sp>
      <p:sp>
        <p:nvSpPr>
          <p:cNvPr id="3" name="Content Placeholder 2"/>
          <p:cNvSpPr>
            <a:spLocks noGrp="1"/>
          </p:cNvSpPr>
          <p:nvPr>
            <p:ph idx="1"/>
          </p:nvPr>
        </p:nvSpPr>
        <p:spPr/>
        <p:txBody>
          <a:bodyPr>
            <a:noAutofit/>
          </a:bodyPr>
          <a:lstStyle/>
          <a:p>
            <a:r>
              <a:rPr lang="en-US" sz="3200" dirty="0">
                <a:latin typeface="Arial" pitchFamily="34" charset="0"/>
                <a:cs typeface="Arial" pitchFamily="34" charset="0"/>
              </a:rPr>
              <a:t>There are four possible actions that shift reduce parser can make:</a:t>
            </a:r>
          </a:p>
          <a:p>
            <a:pPr lvl="1"/>
            <a:r>
              <a:rPr lang="en-US" sz="2800" dirty="0">
                <a:latin typeface="Arial" pitchFamily="34" charset="0"/>
                <a:cs typeface="Arial" pitchFamily="34" charset="0"/>
              </a:rPr>
              <a:t>Shift</a:t>
            </a:r>
          </a:p>
          <a:p>
            <a:pPr lvl="1"/>
            <a:r>
              <a:rPr lang="en-US" sz="2800" dirty="0">
                <a:latin typeface="Arial" pitchFamily="34" charset="0"/>
                <a:cs typeface="Arial" pitchFamily="34" charset="0"/>
              </a:rPr>
              <a:t>Reduce</a:t>
            </a:r>
          </a:p>
          <a:p>
            <a:pPr lvl="1"/>
            <a:r>
              <a:rPr lang="en-US" sz="2800" dirty="0">
                <a:latin typeface="Arial" pitchFamily="34" charset="0"/>
                <a:cs typeface="Arial" pitchFamily="34" charset="0"/>
              </a:rPr>
              <a:t>Accept</a:t>
            </a:r>
          </a:p>
          <a:p>
            <a:pPr lvl="1"/>
            <a:r>
              <a:rPr lang="en-US" sz="2800" dirty="0">
                <a:latin typeface="Arial" pitchFamily="34" charset="0"/>
                <a:cs typeface="Arial" pitchFamily="34" charset="0"/>
              </a:rPr>
              <a:t>Error</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Implementation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86889369"/>
              </p:ext>
            </p:extLst>
          </p:nvPr>
        </p:nvGraphicFramePr>
        <p:xfrm>
          <a:off x="873865" y="1522751"/>
          <a:ext cx="9999132" cy="4447877"/>
        </p:xfrm>
        <a:graphic>
          <a:graphicData uri="http://schemas.openxmlformats.org/drawingml/2006/table">
            <a:tbl>
              <a:tblPr firstRow="1" bandRow="1">
                <a:tableStyleId>{5C22544A-7EE6-4342-B048-85BDC9FD1C3A}</a:tableStyleId>
              </a:tblPr>
              <a:tblGrid>
                <a:gridCol w="3333044">
                  <a:extLst>
                    <a:ext uri="{9D8B030D-6E8A-4147-A177-3AD203B41FA5}">
                      <a16:colId xmlns:a16="http://schemas.microsoft.com/office/drawing/2014/main" xmlns="" val="20000"/>
                    </a:ext>
                  </a:extLst>
                </a:gridCol>
                <a:gridCol w="3333044">
                  <a:extLst>
                    <a:ext uri="{9D8B030D-6E8A-4147-A177-3AD203B41FA5}">
                      <a16:colId xmlns:a16="http://schemas.microsoft.com/office/drawing/2014/main" xmlns="" val="20001"/>
                    </a:ext>
                  </a:extLst>
                </a:gridCol>
                <a:gridCol w="3333044">
                  <a:extLst>
                    <a:ext uri="{9D8B030D-6E8A-4147-A177-3AD203B41FA5}">
                      <a16:colId xmlns:a16="http://schemas.microsoft.com/office/drawing/2014/main" xmlns="" val="20002"/>
                    </a:ext>
                  </a:extLst>
                </a:gridCol>
              </a:tblGrid>
              <a:tr h="370840">
                <a:tc>
                  <a:txBody>
                    <a:bodyPr/>
                    <a:lstStyle/>
                    <a:p>
                      <a:r>
                        <a:rPr lang="en-US" dirty="0">
                          <a:solidFill>
                            <a:schemeClr val="tx1"/>
                          </a:solidFill>
                        </a:rPr>
                        <a:t>Stack</a:t>
                      </a:r>
                    </a:p>
                  </a:txBody>
                  <a:tcPr marL="121920" marR="121920">
                    <a:noFill/>
                  </a:tcPr>
                </a:tc>
                <a:tc>
                  <a:txBody>
                    <a:bodyPr/>
                    <a:lstStyle/>
                    <a:p>
                      <a:r>
                        <a:rPr lang="en-US" dirty="0">
                          <a:solidFill>
                            <a:schemeClr val="tx1"/>
                          </a:solidFill>
                        </a:rPr>
                        <a:t>Input</a:t>
                      </a:r>
                    </a:p>
                  </a:txBody>
                  <a:tcPr marL="121920" marR="121920">
                    <a:noFill/>
                  </a:tcPr>
                </a:tc>
                <a:tc>
                  <a:txBody>
                    <a:bodyPr/>
                    <a:lstStyle/>
                    <a:p>
                      <a:r>
                        <a:rPr lang="en-US" dirty="0">
                          <a:solidFill>
                            <a:schemeClr val="tx1"/>
                          </a:solidFill>
                        </a:rPr>
                        <a:t>Action</a:t>
                      </a:r>
                    </a:p>
                  </a:txBody>
                  <a:tcPr marL="121920" marR="121920">
                    <a:noFill/>
                  </a:tcPr>
                </a:tc>
                <a:extLst>
                  <a:ext uri="{0D108BD9-81ED-4DB2-BD59-A6C34878D82A}">
                    <a16:rowId xmlns:a16="http://schemas.microsoft.com/office/drawing/2014/main" xmlns="" val="10000"/>
                  </a:ext>
                </a:extLst>
              </a:tr>
              <a:tr h="370840">
                <a:tc>
                  <a:txBody>
                    <a:bodyPr/>
                    <a:lstStyle/>
                    <a:p>
                      <a:r>
                        <a:rPr lang="en-US" dirty="0">
                          <a:solidFill>
                            <a:schemeClr val="tx1"/>
                          </a:solidFill>
                        </a:rPr>
                        <a:t>$</a:t>
                      </a:r>
                    </a:p>
                  </a:txBody>
                  <a:tcPr marL="121920" marR="121920">
                    <a:noFill/>
                  </a:tcPr>
                </a:tc>
                <a:tc>
                  <a:txBody>
                    <a:bodyPr/>
                    <a:lstStyle/>
                    <a:p>
                      <a:r>
                        <a:rPr lang="en-US" dirty="0">
                          <a:solidFill>
                            <a:schemeClr val="tx1"/>
                          </a:solidFill>
                        </a:rPr>
                        <a:t>i</a:t>
                      </a:r>
                      <a:r>
                        <a:rPr lang="en-US" dirty="0" smtClean="0">
                          <a:solidFill>
                            <a:schemeClr val="tx1"/>
                          </a:solidFill>
                        </a:rPr>
                        <a:t>d</a:t>
                      </a:r>
                      <a:r>
                        <a:rPr lang="en-US" baseline="-25000" dirty="0" smtClean="0">
                          <a:solidFill>
                            <a:schemeClr val="tx1"/>
                          </a:solidFill>
                        </a:rPr>
                        <a:t>1</a:t>
                      </a:r>
                      <a:r>
                        <a:rPr lang="en-US" dirty="0" smtClean="0">
                          <a:solidFill>
                            <a:schemeClr val="tx1"/>
                          </a:solidFill>
                        </a:rPr>
                        <a:t>+id</a:t>
                      </a:r>
                      <a:r>
                        <a:rPr lang="en-US" baseline="-25000" dirty="0" smtClean="0">
                          <a:solidFill>
                            <a:schemeClr val="tx1"/>
                          </a:solidFill>
                        </a:rPr>
                        <a:t>2</a:t>
                      </a:r>
                      <a:r>
                        <a:rPr lang="en-US" dirty="0" smtClean="0">
                          <a:solidFill>
                            <a:schemeClr val="tx1"/>
                          </a:solidFill>
                        </a:rPr>
                        <a:t>*id</a:t>
                      </a:r>
                      <a:r>
                        <a:rPr lang="en-US" baseline="-25000" dirty="0" smtClean="0">
                          <a:solidFill>
                            <a:schemeClr val="tx1"/>
                          </a:solidFill>
                        </a:rPr>
                        <a:t>3</a:t>
                      </a:r>
                      <a:r>
                        <a:rPr lang="en-US" dirty="0">
                          <a:solidFill>
                            <a:schemeClr val="tx1"/>
                          </a:solidFill>
                        </a:rPr>
                        <a:t>$</a:t>
                      </a:r>
                    </a:p>
                  </a:txBody>
                  <a:tcPr marL="121920" marR="121920">
                    <a:noFill/>
                  </a:tcPr>
                </a:tc>
                <a:tc>
                  <a:txBody>
                    <a:bodyPr/>
                    <a:lstStyle/>
                    <a:p>
                      <a:r>
                        <a:rPr lang="en-US" dirty="0">
                          <a:solidFill>
                            <a:schemeClr val="tx1"/>
                          </a:solidFill>
                        </a:rPr>
                        <a:t>Shift</a:t>
                      </a:r>
                    </a:p>
                  </a:txBody>
                  <a:tcPr marL="121920" marR="121920">
                    <a:noFill/>
                  </a:tcPr>
                </a:tc>
                <a:extLst>
                  <a:ext uri="{0D108BD9-81ED-4DB2-BD59-A6C34878D82A}">
                    <a16:rowId xmlns:a16="http://schemas.microsoft.com/office/drawing/2014/main" xmlns="" val="10001"/>
                  </a:ext>
                </a:extLst>
              </a:tr>
              <a:tr h="370840">
                <a:tc>
                  <a:txBody>
                    <a:bodyPr/>
                    <a:lstStyle/>
                    <a:p>
                      <a:r>
                        <a:rPr lang="en-US" dirty="0">
                          <a:solidFill>
                            <a:schemeClr val="tx1"/>
                          </a:solidFill>
                        </a:rPr>
                        <a:t>$id</a:t>
                      </a:r>
                      <a:r>
                        <a:rPr lang="en-US" baseline="-25000" dirty="0">
                          <a:solidFill>
                            <a:schemeClr val="tx1"/>
                          </a:solidFill>
                        </a:rPr>
                        <a:t>1</a:t>
                      </a:r>
                    </a:p>
                  </a:txBody>
                  <a:tcPr marL="121920" marR="121920">
                    <a:noFill/>
                  </a:tcPr>
                </a:tc>
                <a:tc>
                  <a:txBody>
                    <a:bodyPr/>
                    <a:lstStyle/>
                    <a:p>
                      <a:r>
                        <a:rPr lang="en-US" dirty="0">
                          <a:solidFill>
                            <a:schemeClr val="tx1"/>
                          </a:solidFill>
                        </a:rPr>
                        <a:t>+id</a:t>
                      </a:r>
                      <a:r>
                        <a:rPr lang="en-US" baseline="-25000" dirty="0">
                          <a:solidFill>
                            <a:schemeClr val="tx1"/>
                          </a:solidFill>
                        </a:rPr>
                        <a:t>2</a:t>
                      </a:r>
                      <a:r>
                        <a:rPr lang="en-US" dirty="0">
                          <a:solidFill>
                            <a:schemeClr val="tx1"/>
                          </a:solidFill>
                        </a:rPr>
                        <a:t>*id</a:t>
                      </a:r>
                      <a:r>
                        <a:rPr lang="en-US" baseline="-25000" dirty="0">
                          <a:solidFill>
                            <a:schemeClr val="tx1"/>
                          </a:solidFill>
                        </a:rPr>
                        <a:t>3</a:t>
                      </a:r>
                      <a:r>
                        <a:rPr lang="en-US" dirty="0">
                          <a:solidFill>
                            <a:schemeClr val="tx1"/>
                          </a:solidFill>
                        </a:rPr>
                        <a:t>$</a:t>
                      </a:r>
                    </a:p>
                  </a:txBody>
                  <a:tcPr marL="121920" marR="121920">
                    <a:noFill/>
                  </a:tcPr>
                </a:tc>
                <a:tc>
                  <a:txBody>
                    <a:bodyPr/>
                    <a:lstStyle/>
                    <a:p>
                      <a:r>
                        <a:rPr lang="en-US" dirty="0">
                          <a:solidFill>
                            <a:schemeClr val="tx1"/>
                          </a:solidFill>
                        </a:rPr>
                        <a:t>Reduce </a:t>
                      </a:r>
                      <a:r>
                        <a:rPr lang="en-US" dirty="0" err="1">
                          <a:solidFill>
                            <a:schemeClr val="tx1"/>
                          </a:solidFill>
                        </a:rPr>
                        <a:t>E</a:t>
                      </a:r>
                      <a:r>
                        <a:rPr lang="en-US" dirty="0" err="1">
                          <a:solidFill>
                            <a:schemeClr val="tx1"/>
                          </a:solidFill>
                          <a:sym typeface="Wingdings" pitchFamily="2" charset="2"/>
                        </a:rPr>
                        <a:t>id</a:t>
                      </a:r>
                      <a:endParaRPr lang="en-US" dirty="0">
                        <a:solidFill>
                          <a:schemeClr val="tx1"/>
                        </a:solidFill>
                      </a:endParaRPr>
                    </a:p>
                  </a:txBody>
                  <a:tcPr marL="121920" marR="121920">
                    <a:noFill/>
                  </a:tcPr>
                </a:tc>
                <a:extLst>
                  <a:ext uri="{0D108BD9-81ED-4DB2-BD59-A6C34878D82A}">
                    <a16:rowId xmlns:a16="http://schemas.microsoft.com/office/drawing/2014/main" xmlns="" val="10002"/>
                  </a:ext>
                </a:extLst>
              </a:tr>
              <a:tr h="370840">
                <a:tc>
                  <a:txBody>
                    <a:bodyPr/>
                    <a:lstStyle/>
                    <a:p>
                      <a:r>
                        <a:rPr lang="en-US" dirty="0">
                          <a:solidFill>
                            <a:schemeClr val="tx1"/>
                          </a:solidFill>
                        </a:rPr>
                        <a:t>$E</a:t>
                      </a:r>
                    </a:p>
                  </a:txBody>
                  <a:tcPr marL="121920" marR="121920">
                    <a:noFill/>
                  </a:tcPr>
                </a:tc>
                <a:tc>
                  <a:txBody>
                    <a:bodyPr/>
                    <a:lstStyle/>
                    <a:p>
                      <a:r>
                        <a:rPr lang="en-US" dirty="0">
                          <a:solidFill>
                            <a:schemeClr val="tx1"/>
                          </a:solidFill>
                        </a:rPr>
                        <a:t>+id</a:t>
                      </a:r>
                      <a:r>
                        <a:rPr lang="en-US" baseline="-25000" dirty="0">
                          <a:solidFill>
                            <a:schemeClr val="tx1"/>
                          </a:solidFill>
                        </a:rPr>
                        <a:t>2</a:t>
                      </a:r>
                      <a:r>
                        <a:rPr lang="en-US" dirty="0">
                          <a:solidFill>
                            <a:schemeClr val="tx1"/>
                          </a:solidFill>
                        </a:rPr>
                        <a:t>*id</a:t>
                      </a:r>
                      <a:r>
                        <a:rPr lang="en-US" baseline="-25000" dirty="0">
                          <a:solidFill>
                            <a:schemeClr val="tx1"/>
                          </a:solidFill>
                        </a:rPr>
                        <a:t>3</a:t>
                      </a:r>
                      <a:r>
                        <a:rPr lang="en-US" dirty="0">
                          <a:solidFill>
                            <a:schemeClr val="tx1"/>
                          </a:solidFill>
                        </a:rPr>
                        <a:t>$</a:t>
                      </a:r>
                    </a:p>
                  </a:txBody>
                  <a:tcPr marL="121920" marR="121920">
                    <a:noFill/>
                  </a:tcPr>
                </a:tc>
                <a:tc>
                  <a:txBody>
                    <a:bodyPr/>
                    <a:lstStyle/>
                    <a:p>
                      <a:r>
                        <a:rPr lang="en-US" dirty="0">
                          <a:solidFill>
                            <a:schemeClr val="tx1"/>
                          </a:solidFill>
                        </a:rPr>
                        <a:t>Shift</a:t>
                      </a:r>
                    </a:p>
                  </a:txBody>
                  <a:tcPr marL="121920" marR="121920">
                    <a:noFill/>
                  </a:tcPr>
                </a:tc>
                <a:extLst>
                  <a:ext uri="{0D108BD9-81ED-4DB2-BD59-A6C34878D82A}">
                    <a16:rowId xmlns:a16="http://schemas.microsoft.com/office/drawing/2014/main" xmlns="" val="10003"/>
                  </a:ext>
                </a:extLst>
              </a:tr>
              <a:tr h="370840">
                <a:tc>
                  <a:txBody>
                    <a:bodyPr/>
                    <a:lstStyle/>
                    <a:p>
                      <a:r>
                        <a:rPr lang="en-US" dirty="0">
                          <a:solidFill>
                            <a:schemeClr val="tx1"/>
                          </a:solidFill>
                        </a:rPr>
                        <a:t>$E+</a:t>
                      </a:r>
                    </a:p>
                  </a:txBody>
                  <a:tcPr marL="121920" marR="121920">
                    <a:noFill/>
                  </a:tcPr>
                </a:tc>
                <a:tc>
                  <a:txBody>
                    <a:bodyPr/>
                    <a:lstStyle/>
                    <a:p>
                      <a:r>
                        <a:rPr lang="en-US" dirty="0">
                          <a:solidFill>
                            <a:schemeClr val="tx1"/>
                          </a:solidFill>
                        </a:rPr>
                        <a:t>id</a:t>
                      </a:r>
                      <a:r>
                        <a:rPr lang="en-US" baseline="-25000" dirty="0">
                          <a:solidFill>
                            <a:schemeClr val="tx1"/>
                          </a:solidFill>
                        </a:rPr>
                        <a:t>2</a:t>
                      </a:r>
                      <a:r>
                        <a:rPr lang="en-US" dirty="0">
                          <a:solidFill>
                            <a:schemeClr val="tx1"/>
                          </a:solidFill>
                        </a:rPr>
                        <a:t>*id</a:t>
                      </a:r>
                      <a:r>
                        <a:rPr lang="en-US" baseline="-25000" dirty="0">
                          <a:solidFill>
                            <a:schemeClr val="tx1"/>
                          </a:solidFill>
                        </a:rPr>
                        <a:t>3</a:t>
                      </a:r>
                      <a:r>
                        <a:rPr lang="en-US" dirty="0">
                          <a:solidFill>
                            <a:schemeClr val="tx1"/>
                          </a:solidFill>
                        </a:rPr>
                        <a:t>$</a:t>
                      </a:r>
                    </a:p>
                  </a:txBody>
                  <a:tcPr marL="121920" marR="121920">
                    <a:noFill/>
                  </a:tcPr>
                </a:tc>
                <a:tc>
                  <a:txBody>
                    <a:bodyPr/>
                    <a:lstStyle/>
                    <a:p>
                      <a:r>
                        <a:rPr lang="en-US" dirty="0">
                          <a:solidFill>
                            <a:schemeClr val="tx1"/>
                          </a:solidFill>
                        </a:rPr>
                        <a:t>Shift</a:t>
                      </a:r>
                    </a:p>
                  </a:txBody>
                  <a:tcPr marL="121920" marR="121920">
                    <a:noFill/>
                  </a:tcPr>
                </a:tc>
                <a:extLst>
                  <a:ext uri="{0D108BD9-81ED-4DB2-BD59-A6C34878D82A}">
                    <a16:rowId xmlns:a16="http://schemas.microsoft.com/office/drawing/2014/main" xmlns="" val="10004"/>
                  </a:ext>
                </a:extLst>
              </a:tr>
              <a:tr h="370840">
                <a:tc>
                  <a:txBody>
                    <a:bodyPr/>
                    <a:lstStyle/>
                    <a:p>
                      <a:r>
                        <a:rPr lang="en-US" dirty="0">
                          <a:solidFill>
                            <a:schemeClr val="tx1"/>
                          </a:solidFill>
                        </a:rPr>
                        <a:t>$E+id</a:t>
                      </a:r>
                      <a:r>
                        <a:rPr lang="en-US" baseline="-25000" dirty="0">
                          <a:solidFill>
                            <a:schemeClr val="tx1"/>
                          </a:solidFill>
                        </a:rPr>
                        <a:t>2</a:t>
                      </a:r>
                    </a:p>
                  </a:txBody>
                  <a:tcPr marL="121920" marR="121920">
                    <a:noFill/>
                  </a:tcPr>
                </a:tc>
                <a:tc>
                  <a:txBody>
                    <a:bodyPr/>
                    <a:lstStyle/>
                    <a:p>
                      <a:r>
                        <a:rPr lang="en-US" dirty="0">
                          <a:solidFill>
                            <a:schemeClr val="tx1"/>
                          </a:solidFill>
                        </a:rPr>
                        <a:t>*id</a:t>
                      </a:r>
                      <a:r>
                        <a:rPr lang="en-US" baseline="-25000" dirty="0">
                          <a:solidFill>
                            <a:schemeClr val="tx1"/>
                          </a:solidFill>
                        </a:rPr>
                        <a:t>3</a:t>
                      </a:r>
                      <a:r>
                        <a:rPr lang="en-US" dirty="0">
                          <a:solidFill>
                            <a:schemeClr val="tx1"/>
                          </a:solidFill>
                        </a:rPr>
                        <a:t>$</a:t>
                      </a:r>
                    </a:p>
                  </a:txBody>
                  <a:tcPr marL="121920" marR="12192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Reduce </a:t>
                      </a:r>
                      <a:r>
                        <a:rPr lang="en-US" dirty="0" err="1">
                          <a:solidFill>
                            <a:schemeClr val="tx1"/>
                          </a:solidFill>
                        </a:rPr>
                        <a:t>E</a:t>
                      </a:r>
                      <a:r>
                        <a:rPr lang="en-US" dirty="0" err="1">
                          <a:solidFill>
                            <a:schemeClr val="tx1"/>
                          </a:solidFill>
                          <a:sym typeface="Wingdings" pitchFamily="2" charset="2"/>
                        </a:rPr>
                        <a:t>id</a:t>
                      </a:r>
                      <a:endParaRPr lang="en-US" dirty="0">
                        <a:solidFill>
                          <a:schemeClr val="tx1"/>
                        </a:solidFill>
                      </a:endParaRPr>
                    </a:p>
                  </a:txBody>
                  <a:tcPr marL="121920" marR="121920">
                    <a:noFill/>
                  </a:tcPr>
                </a:tc>
                <a:extLst>
                  <a:ext uri="{0D108BD9-81ED-4DB2-BD59-A6C34878D82A}">
                    <a16:rowId xmlns:a16="http://schemas.microsoft.com/office/drawing/2014/main" xmlns="" val="10005"/>
                  </a:ext>
                </a:extLst>
              </a:tr>
              <a:tr h="370840">
                <a:tc>
                  <a:txBody>
                    <a:bodyPr/>
                    <a:lstStyle/>
                    <a:p>
                      <a:r>
                        <a:rPr lang="en-US" dirty="0">
                          <a:solidFill>
                            <a:schemeClr val="tx1"/>
                          </a:solidFill>
                        </a:rPr>
                        <a:t>$E+E</a:t>
                      </a:r>
                    </a:p>
                  </a:txBody>
                  <a:tcPr marL="121920" marR="121920">
                    <a:noFill/>
                  </a:tcPr>
                </a:tc>
                <a:tc>
                  <a:txBody>
                    <a:bodyPr/>
                    <a:lstStyle/>
                    <a:p>
                      <a:r>
                        <a:rPr lang="en-US" dirty="0">
                          <a:solidFill>
                            <a:schemeClr val="tx1"/>
                          </a:solidFill>
                        </a:rPr>
                        <a:t>*id</a:t>
                      </a:r>
                      <a:r>
                        <a:rPr lang="en-US" baseline="-25000" dirty="0">
                          <a:solidFill>
                            <a:schemeClr val="tx1"/>
                          </a:solidFill>
                        </a:rPr>
                        <a:t>3</a:t>
                      </a:r>
                      <a:r>
                        <a:rPr lang="en-US" dirty="0">
                          <a:solidFill>
                            <a:schemeClr val="tx1"/>
                          </a:solidFill>
                        </a:rPr>
                        <a:t>$</a:t>
                      </a:r>
                    </a:p>
                  </a:txBody>
                  <a:tcPr marL="121920" marR="121920">
                    <a:noFill/>
                  </a:tcPr>
                </a:tc>
                <a:tc>
                  <a:txBody>
                    <a:bodyPr/>
                    <a:lstStyle/>
                    <a:p>
                      <a:r>
                        <a:rPr lang="en-US" dirty="0">
                          <a:solidFill>
                            <a:schemeClr val="tx1"/>
                          </a:solidFill>
                        </a:rPr>
                        <a:t>Shift</a:t>
                      </a:r>
                    </a:p>
                  </a:txBody>
                  <a:tcPr marL="121920" marR="121920">
                    <a:noFill/>
                  </a:tcPr>
                </a:tc>
                <a:extLst>
                  <a:ext uri="{0D108BD9-81ED-4DB2-BD59-A6C34878D82A}">
                    <a16:rowId xmlns:a16="http://schemas.microsoft.com/office/drawing/2014/main" xmlns="" val="10006"/>
                  </a:ext>
                </a:extLst>
              </a:tr>
              <a:tr h="370840">
                <a:tc>
                  <a:txBody>
                    <a:bodyPr/>
                    <a:lstStyle/>
                    <a:p>
                      <a:r>
                        <a:rPr lang="en-US" dirty="0">
                          <a:solidFill>
                            <a:schemeClr val="tx1"/>
                          </a:solidFill>
                        </a:rPr>
                        <a:t>$E+E*</a:t>
                      </a:r>
                    </a:p>
                  </a:txBody>
                  <a:tcPr marL="121920" marR="121920">
                    <a:noFill/>
                  </a:tcPr>
                </a:tc>
                <a:tc>
                  <a:txBody>
                    <a:bodyPr/>
                    <a:lstStyle/>
                    <a:p>
                      <a:r>
                        <a:rPr lang="en-US" dirty="0">
                          <a:solidFill>
                            <a:schemeClr val="tx1"/>
                          </a:solidFill>
                        </a:rPr>
                        <a:t>id</a:t>
                      </a:r>
                      <a:r>
                        <a:rPr lang="en-US" baseline="-25000" dirty="0">
                          <a:solidFill>
                            <a:schemeClr val="tx1"/>
                          </a:solidFill>
                        </a:rPr>
                        <a:t>3</a:t>
                      </a:r>
                      <a:r>
                        <a:rPr lang="en-US" dirty="0">
                          <a:solidFill>
                            <a:schemeClr val="tx1"/>
                          </a:solidFill>
                        </a:rPr>
                        <a:t>$</a:t>
                      </a:r>
                    </a:p>
                  </a:txBody>
                  <a:tcPr marL="121920" marR="121920">
                    <a:noFill/>
                  </a:tcPr>
                </a:tc>
                <a:tc>
                  <a:txBody>
                    <a:bodyPr/>
                    <a:lstStyle/>
                    <a:p>
                      <a:r>
                        <a:rPr lang="en-US" dirty="0">
                          <a:solidFill>
                            <a:schemeClr val="tx1"/>
                          </a:solidFill>
                        </a:rPr>
                        <a:t>Shift</a:t>
                      </a:r>
                    </a:p>
                  </a:txBody>
                  <a:tcPr marL="121920" marR="121920">
                    <a:noFill/>
                  </a:tcPr>
                </a:tc>
                <a:extLst>
                  <a:ext uri="{0D108BD9-81ED-4DB2-BD59-A6C34878D82A}">
                    <a16:rowId xmlns:a16="http://schemas.microsoft.com/office/drawing/2014/main" xmlns="" val="10007"/>
                  </a:ext>
                </a:extLst>
              </a:tr>
              <a:tr h="370840">
                <a:tc>
                  <a:txBody>
                    <a:bodyPr/>
                    <a:lstStyle/>
                    <a:p>
                      <a:r>
                        <a:rPr lang="en-US" dirty="0">
                          <a:solidFill>
                            <a:schemeClr val="tx1"/>
                          </a:solidFill>
                        </a:rPr>
                        <a:t>$E+E*id</a:t>
                      </a:r>
                      <a:r>
                        <a:rPr lang="en-US" baseline="-25000" dirty="0">
                          <a:solidFill>
                            <a:schemeClr val="tx1"/>
                          </a:solidFill>
                        </a:rPr>
                        <a:t>3</a:t>
                      </a:r>
                      <a:endParaRPr lang="en-US" dirty="0">
                        <a:solidFill>
                          <a:schemeClr val="tx1"/>
                        </a:solidFill>
                      </a:endParaRPr>
                    </a:p>
                  </a:txBody>
                  <a:tcPr marL="121920" marR="121920">
                    <a:noFill/>
                  </a:tcPr>
                </a:tc>
                <a:tc>
                  <a:txBody>
                    <a:bodyPr/>
                    <a:lstStyle/>
                    <a:p>
                      <a:r>
                        <a:rPr lang="en-US">
                          <a:solidFill>
                            <a:schemeClr val="tx1"/>
                          </a:solidFill>
                        </a:rPr>
                        <a:t>$</a:t>
                      </a:r>
                      <a:endParaRPr lang="en-US" dirty="0">
                        <a:solidFill>
                          <a:schemeClr val="tx1"/>
                        </a:solidFill>
                      </a:endParaRPr>
                    </a:p>
                  </a:txBody>
                  <a:tcPr marL="121920" marR="12192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Reduce </a:t>
                      </a:r>
                      <a:r>
                        <a:rPr lang="en-US" dirty="0" err="1">
                          <a:solidFill>
                            <a:schemeClr val="tx1"/>
                          </a:solidFill>
                        </a:rPr>
                        <a:t>E</a:t>
                      </a:r>
                      <a:r>
                        <a:rPr lang="en-US" dirty="0" err="1">
                          <a:solidFill>
                            <a:schemeClr val="tx1"/>
                          </a:solidFill>
                          <a:sym typeface="Wingdings" pitchFamily="2" charset="2"/>
                        </a:rPr>
                        <a:t>id</a:t>
                      </a:r>
                      <a:endParaRPr lang="en-US" dirty="0">
                        <a:solidFill>
                          <a:schemeClr val="tx1"/>
                        </a:solidFill>
                      </a:endParaRPr>
                    </a:p>
                  </a:txBody>
                  <a:tcPr marL="121920" marR="121920">
                    <a:noFill/>
                  </a:tcPr>
                </a:tc>
                <a:extLst>
                  <a:ext uri="{0D108BD9-81ED-4DB2-BD59-A6C34878D82A}">
                    <a16:rowId xmlns:a16="http://schemas.microsoft.com/office/drawing/2014/main" xmlns="" val="10008"/>
                  </a:ext>
                </a:extLst>
              </a:tr>
              <a:tr h="368637">
                <a:tc>
                  <a:txBody>
                    <a:bodyPr/>
                    <a:lstStyle/>
                    <a:p>
                      <a:r>
                        <a:rPr lang="en-US" dirty="0">
                          <a:solidFill>
                            <a:schemeClr val="tx1"/>
                          </a:solidFill>
                        </a:rPr>
                        <a:t>$E+E*E</a:t>
                      </a:r>
                    </a:p>
                  </a:txBody>
                  <a:tcPr marL="121920" marR="121920">
                    <a:noFill/>
                  </a:tcPr>
                </a:tc>
                <a:tc>
                  <a:txBody>
                    <a:bodyPr/>
                    <a:lstStyle/>
                    <a:p>
                      <a:r>
                        <a:rPr lang="en-US">
                          <a:solidFill>
                            <a:schemeClr val="tx1"/>
                          </a:solidFill>
                        </a:rPr>
                        <a:t>$</a:t>
                      </a:r>
                      <a:endParaRPr lang="en-US" dirty="0">
                        <a:solidFill>
                          <a:schemeClr val="tx1"/>
                        </a:solidFill>
                      </a:endParaRPr>
                    </a:p>
                  </a:txBody>
                  <a:tcPr marL="121920" marR="121920">
                    <a:noFill/>
                  </a:tcPr>
                </a:tc>
                <a:tc>
                  <a:txBody>
                    <a:bodyPr/>
                    <a:lstStyle/>
                    <a:p>
                      <a:r>
                        <a:rPr lang="en-US" dirty="0">
                          <a:solidFill>
                            <a:schemeClr val="tx1"/>
                          </a:solidFill>
                        </a:rPr>
                        <a:t>Reduce E</a:t>
                      </a:r>
                      <a:r>
                        <a:rPr lang="en-US" dirty="0">
                          <a:solidFill>
                            <a:schemeClr val="tx1"/>
                          </a:solidFill>
                          <a:sym typeface="Wingdings" pitchFamily="2" charset="2"/>
                        </a:rPr>
                        <a:t>E*E</a:t>
                      </a:r>
                      <a:endParaRPr lang="en-US" dirty="0">
                        <a:solidFill>
                          <a:schemeClr val="tx1"/>
                        </a:solidFill>
                      </a:endParaRPr>
                    </a:p>
                  </a:txBody>
                  <a:tcPr marL="121920" marR="121920">
                    <a:noFill/>
                  </a:tcPr>
                </a:tc>
                <a:extLst>
                  <a:ext uri="{0D108BD9-81ED-4DB2-BD59-A6C34878D82A}">
                    <a16:rowId xmlns:a16="http://schemas.microsoft.com/office/drawing/2014/main" xmlns="" val="10009"/>
                  </a:ext>
                </a:extLst>
              </a:tr>
              <a:tr h="370840">
                <a:tc>
                  <a:txBody>
                    <a:bodyPr/>
                    <a:lstStyle/>
                    <a:p>
                      <a:r>
                        <a:rPr lang="en-US" dirty="0">
                          <a:solidFill>
                            <a:schemeClr val="tx1"/>
                          </a:solidFill>
                        </a:rPr>
                        <a:t>$E+E</a:t>
                      </a:r>
                    </a:p>
                  </a:txBody>
                  <a:tcPr marL="121920" marR="121920">
                    <a:noFill/>
                  </a:tcPr>
                </a:tc>
                <a:tc>
                  <a:txBody>
                    <a:bodyPr/>
                    <a:lstStyle/>
                    <a:p>
                      <a:r>
                        <a:rPr lang="en-US" dirty="0">
                          <a:solidFill>
                            <a:schemeClr val="tx1"/>
                          </a:solidFill>
                        </a:rPr>
                        <a:t>$</a:t>
                      </a:r>
                    </a:p>
                  </a:txBody>
                  <a:tcPr marL="121920" marR="121920">
                    <a:noFill/>
                  </a:tcPr>
                </a:tc>
                <a:tc>
                  <a:txBody>
                    <a:bodyPr/>
                    <a:lstStyle/>
                    <a:p>
                      <a:r>
                        <a:rPr lang="en-US" dirty="0">
                          <a:solidFill>
                            <a:schemeClr val="tx1"/>
                          </a:solidFill>
                        </a:rPr>
                        <a:t>Reduce E</a:t>
                      </a:r>
                      <a:r>
                        <a:rPr lang="en-US" dirty="0">
                          <a:solidFill>
                            <a:schemeClr val="tx1"/>
                          </a:solidFill>
                          <a:sym typeface="Wingdings" pitchFamily="2" charset="2"/>
                        </a:rPr>
                        <a:t>E+E</a:t>
                      </a:r>
                      <a:endParaRPr lang="en-US" dirty="0">
                        <a:solidFill>
                          <a:schemeClr val="tx1"/>
                        </a:solidFill>
                      </a:endParaRPr>
                    </a:p>
                  </a:txBody>
                  <a:tcPr marL="121920" marR="121920">
                    <a:noFill/>
                  </a:tcPr>
                </a:tc>
                <a:extLst>
                  <a:ext uri="{0D108BD9-81ED-4DB2-BD59-A6C34878D82A}">
                    <a16:rowId xmlns:a16="http://schemas.microsoft.com/office/drawing/2014/main" xmlns=""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a:t>
                      </a:r>
                    </a:p>
                  </a:txBody>
                  <a:tcPr marL="121920" marR="12192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p>
                  </a:txBody>
                  <a:tcPr marL="121920" marR="121920">
                    <a:noFill/>
                  </a:tcPr>
                </a:tc>
                <a:tc>
                  <a:txBody>
                    <a:bodyPr/>
                    <a:lstStyle/>
                    <a:p>
                      <a:r>
                        <a:rPr lang="en-US" dirty="0"/>
                        <a:t>Accept</a:t>
                      </a:r>
                    </a:p>
                  </a:txBody>
                  <a:tcPr marL="121920" marR="121920">
                    <a:noFill/>
                  </a:tcPr>
                </a:tc>
                <a:extLst>
                  <a:ext uri="{0D108BD9-81ED-4DB2-BD59-A6C34878D82A}">
                    <a16:rowId xmlns:a16="http://schemas.microsoft.com/office/drawing/2014/main" xmlns="" val="10011"/>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92500"/>
          </a:bodyPr>
          <a:lstStyle/>
          <a:p>
            <a:r>
              <a:rPr lang="en-US" dirty="0" err="1"/>
              <a:t>Aho</a:t>
            </a:r>
            <a:r>
              <a:rPr lang="en-US" dirty="0"/>
              <a:t>,  A. V., &amp; Ullman, J. D. (1977). Principles of Compiler </a:t>
            </a:r>
            <a:r>
              <a:rPr lang="en-US" dirty="0" err="1"/>
              <a:t>Design.Addison</a:t>
            </a:r>
            <a:r>
              <a:rPr lang="en-US" dirty="0"/>
              <a:t>-Wesley Longman Publishing Co., Inc.</a:t>
            </a:r>
          </a:p>
          <a:p>
            <a:r>
              <a:rPr lang="en-US" dirty="0"/>
              <a:t>Jeffrey, A. V., Ullman, J. D. &amp; </a:t>
            </a:r>
            <a:r>
              <a:rPr lang="en-US" dirty="0" err="1"/>
              <a:t>Sethi</a:t>
            </a:r>
            <a:r>
              <a:rPr lang="en-US" dirty="0"/>
              <a:t> R. (1986). Compilers, Principles, Techniques, and Tools. Wesley.</a:t>
            </a:r>
          </a:p>
          <a:p>
            <a:r>
              <a:rPr lang="en-US" dirty="0"/>
              <a:t>Barrett, W. A., &amp;amp; Couch, J. D. (1988). Compiler construction: theory and practice. </a:t>
            </a:r>
            <a:r>
              <a:rPr lang="en-US" dirty="0" err="1"/>
              <a:t>Galgotia</a:t>
            </a:r>
            <a:r>
              <a:rPr lang="en-US" dirty="0"/>
              <a:t>.</a:t>
            </a:r>
          </a:p>
          <a:p>
            <a:r>
              <a:rPr lang="en-US" dirty="0"/>
              <a:t>Tremblay, J. P., &amp;amp; Sorenson, P. G. (1985). Theory and Practice of Compiler Writing. McGraw-Hill, Inc.</a:t>
            </a:r>
          </a:p>
          <a:p>
            <a:r>
              <a:rPr lang="en-US" dirty="0" err="1"/>
              <a:t>Gries</a:t>
            </a:r>
            <a:r>
              <a:rPr lang="en-US" dirty="0"/>
              <a:t>, D. (1987). Compiler construction for digital computers. </a:t>
            </a:r>
            <a:r>
              <a:rPr lang="en-US" dirty="0" err="1"/>
              <a:t>NewYork</a:t>
            </a:r>
            <a:r>
              <a:rPr lang="en-US" dirty="0"/>
              <a:t>: Wiley.</a:t>
            </a:r>
          </a:p>
        </p:txBody>
      </p:sp>
    </p:spTree>
    <p:extLst>
      <p:ext uri="{BB962C8B-B14F-4D97-AF65-F5344CB8AC3E}">
        <p14:creationId xmlns:p14="http://schemas.microsoft.com/office/powerpoint/2010/main" val="4079843231"/>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tf00001245_wac</Template>
  <TotalTime>113</TotalTime>
  <Words>710</Words>
  <Application>Microsoft Office PowerPoint</Application>
  <PresentationFormat>Widescreen</PresentationFormat>
  <Paragraphs>136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vt:lpstr>
      <vt:lpstr>Gill Sans MT</vt:lpstr>
      <vt:lpstr>Wingdings</vt:lpstr>
      <vt:lpstr>Gallery</vt:lpstr>
      <vt:lpstr>PowerPoint Presentation</vt:lpstr>
      <vt:lpstr>Bottom Up Parsing Methods</vt:lpstr>
      <vt:lpstr>Bottom up Parsing</vt:lpstr>
      <vt:lpstr>Shift Reduce Parsing</vt:lpstr>
      <vt:lpstr>Handle</vt:lpstr>
      <vt:lpstr>Example:</vt:lpstr>
      <vt:lpstr>Handle Pruning</vt:lpstr>
      <vt:lpstr>Stack Implementation of Shift Reduce Parsing</vt:lpstr>
      <vt:lpstr>Actions of Shift Reduce Parsing</vt:lpstr>
      <vt:lpstr>Stack Implementation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Design Motivation &amp; Application</dc:title>
  <dc:creator>Dipanwita Thakur</dc:creator>
  <cp:lastModifiedBy>dell</cp:lastModifiedBy>
  <cp:revision>13</cp:revision>
  <dcterms:created xsi:type="dcterms:W3CDTF">2021-03-11T16:03:12Z</dcterms:created>
  <dcterms:modified xsi:type="dcterms:W3CDTF">2024-08-14T09:18:30Z</dcterms:modified>
</cp:coreProperties>
</file>