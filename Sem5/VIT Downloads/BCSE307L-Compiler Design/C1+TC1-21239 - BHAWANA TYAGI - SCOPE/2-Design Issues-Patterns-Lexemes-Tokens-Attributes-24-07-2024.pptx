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73" r:id="rId6"/>
    <p:sldId id="271" r:id="rId7"/>
    <p:sldId id="275" r:id="rId8"/>
    <p:sldId id="277" r:id="rId9"/>
    <p:sldId id="279" r:id="rId10"/>
    <p:sldId id="280" r:id="rId11"/>
    <p:sldId id="282" r:id="rId12"/>
    <p:sldId id="281" r:id="rId13"/>
    <p:sldId id="262" r:id="rId14"/>
    <p:sldId id="267" r:id="rId15"/>
    <p:sldId id="266" r:id="rId16"/>
    <p:sldId id="268" r:id="rId17"/>
    <p:sldId id="264" r:id="rId18"/>
    <p:sldId id="269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485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7/23/2024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7/23/2024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7/23/2024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7/23/2024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7/23/2024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7/23/2024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7/23/2024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7/23/2024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7/23/2024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7/23/2024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7/23/2024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7/23/2024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5325" y="802298"/>
            <a:ext cx="10359527" cy="2541431"/>
          </a:xfrm>
        </p:spPr>
        <p:txBody>
          <a:bodyPr>
            <a:normAutofit/>
          </a:bodyPr>
          <a:lstStyle/>
          <a:p>
            <a:r>
              <a:rPr lang="en-US" dirty="0"/>
              <a:t>Compiler Design</a:t>
            </a:r>
            <a:br>
              <a:rPr lang="en-US" dirty="0"/>
            </a:br>
            <a:r>
              <a:rPr lang="en-US" dirty="0" smtClean="0"/>
              <a:t>Lexical  Analyzer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09825" y="3531204"/>
            <a:ext cx="8645027" cy="1555146"/>
          </a:xfrm>
        </p:spPr>
        <p:txBody>
          <a:bodyPr>
            <a:normAutofit/>
          </a:bodyPr>
          <a:lstStyle/>
          <a:p>
            <a:r>
              <a:rPr lang="en-US" dirty="0" smtClean="0"/>
              <a:t>Presented By:</a:t>
            </a:r>
          </a:p>
          <a:p>
            <a:r>
              <a:rPr lang="en-US" dirty="0" smtClean="0"/>
              <a:t>Dr. Bhawana Tyagi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32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Lexical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2279904"/>
            <a:ext cx="9603275" cy="3633216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>
                <a:latin typeface="Arial" pitchFamily="34" charset="0"/>
                <a:cs typeface="Arial" pitchFamily="34" charset="0"/>
              </a:rPr>
              <a:t>It reads the source program one character at a time and translate it into a sequence of primitive units called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tokens.</a:t>
            </a:r>
          </a:p>
          <a:p>
            <a:pPr algn="just"/>
            <a:r>
              <a:rPr lang="en-US" dirty="0" smtClean="0"/>
              <a:t>For </a:t>
            </a:r>
            <a:r>
              <a:rPr lang="en-US" dirty="0"/>
              <a:t>each lexeme, the lexical analyzer produces as output a token of the form </a:t>
            </a:r>
            <a:r>
              <a:rPr lang="en-US" b="1" dirty="0"/>
              <a:t>&lt;token-name, attribute-value&gt; </a:t>
            </a:r>
            <a:r>
              <a:rPr lang="en-US" dirty="0"/>
              <a:t>that it passes on to the subsequent phase, syntax analysis. </a:t>
            </a:r>
          </a:p>
          <a:p>
            <a:pPr algn="just"/>
            <a:r>
              <a:rPr lang="en-US" dirty="0"/>
              <a:t>In the token, </a:t>
            </a:r>
          </a:p>
          <a:p>
            <a:pPr lvl="1" algn="just"/>
            <a:r>
              <a:rPr lang="en-US" dirty="0"/>
              <a:t>the first component </a:t>
            </a:r>
            <a:r>
              <a:rPr lang="en-US" b="1" dirty="0"/>
              <a:t>token-name</a:t>
            </a:r>
            <a:r>
              <a:rPr lang="en-US" dirty="0"/>
              <a:t> - abstract symbol that is used during syntax analysis, and </a:t>
            </a:r>
          </a:p>
          <a:p>
            <a:pPr lvl="1" algn="just"/>
            <a:r>
              <a:rPr lang="en-US" dirty="0"/>
              <a:t>the second component </a:t>
            </a:r>
            <a:r>
              <a:rPr lang="en-US" b="1" dirty="0"/>
              <a:t>attribute-value</a:t>
            </a:r>
            <a:r>
              <a:rPr lang="en-US" dirty="0"/>
              <a:t> - points to an entry in the symbol table for this token.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Role of Lexical Analyzer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04850" y="2124870"/>
            <a:ext cx="10782300" cy="347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Roles of Lexical Analyzer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Token Generation</a:t>
            </a:r>
          </a:p>
          <a:p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Keeping track of line number</a:t>
            </a:r>
          </a:p>
          <a:p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Stripping out white space</a:t>
            </a:r>
          </a:p>
          <a:p>
            <a:pPr>
              <a:buNone/>
            </a:pP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Deleting comments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B211B1E-0E63-30A4-15FF-8F5DCC4BE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Tokens, Patterns and Lexemes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DBA09C5-623E-92A9-6EE0-11C940905F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A </a:t>
            </a:r>
            <a:r>
              <a:rPr lang="en-US" b="1" dirty="0"/>
              <a:t>token</a:t>
            </a:r>
            <a:r>
              <a:rPr lang="en-US" dirty="0"/>
              <a:t> consists of a token name and an optional attribute value. The token name is an abstract symbol representing a kind of lexical unit, e.g., a particular keyword, or a sequence of input characters denoting an identifier. The token names are the input symbols that the parser processes. </a:t>
            </a:r>
          </a:p>
          <a:p>
            <a:pPr algn="just"/>
            <a:r>
              <a:rPr lang="en-US" dirty="0"/>
              <a:t>A </a:t>
            </a:r>
            <a:r>
              <a:rPr lang="en-US" b="1" dirty="0"/>
              <a:t>pattern</a:t>
            </a:r>
            <a:r>
              <a:rPr lang="en-US" dirty="0"/>
              <a:t> is a description of the form that the lexemes of a token may take. In the case of a keyword as a token, the pattern is just the sequence of characters that form the keyword. For identifiers and some other tokens, the pattern is a more complex structure that is matched by many strings.</a:t>
            </a:r>
          </a:p>
          <a:p>
            <a:pPr algn="just"/>
            <a:r>
              <a:rPr lang="en-US" dirty="0"/>
              <a:t>A </a:t>
            </a:r>
            <a:r>
              <a:rPr lang="en-US" b="1" dirty="0"/>
              <a:t>lexeme</a:t>
            </a:r>
            <a:r>
              <a:rPr lang="en-US" dirty="0"/>
              <a:t> is a sequence of characters in the source program that matches the pattern for a token and is identified by the lexical analyzer as an instance of that token.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8648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pair of input </a:t>
            </a:r>
            <a:r>
              <a:rPr lang="en-US" dirty="0" err="1" smtClean="0"/>
              <a:t>buFFer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04680" y="2277978"/>
            <a:ext cx="5057775" cy="99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451578" y="3692802"/>
            <a:ext cx="974316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Two pointers to the input are maintained: </a:t>
            </a:r>
            <a:endParaRPr lang="en-US" dirty="0" smtClean="0"/>
          </a:p>
          <a:p>
            <a:pPr marL="342900" indent="-342900" algn="just">
              <a:buAutoNum type="arabicPeriod"/>
            </a:pPr>
            <a:r>
              <a:rPr lang="en-US" dirty="0" smtClean="0"/>
              <a:t>Pointer </a:t>
            </a:r>
            <a:r>
              <a:rPr lang="en-US" dirty="0" err="1"/>
              <a:t>lexemeBegin</a:t>
            </a:r>
            <a:r>
              <a:rPr lang="en-US" dirty="0"/>
              <a:t>, marks the beginning of the current lexeme, whose </a:t>
            </a:r>
            <a:r>
              <a:rPr lang="en-US" dirty="0" smtClean="0"/>
              <a:t>extent we </a:t>
            </a:r>
            <a:r>
              <a:rPr lang="en-US" dirty="0"/>
              <a:t>are attempting to determine. </a:t>
            </a:r>
            <a:endParaRPr lang="en-US" dirty="0" smtClean="0"/>
          </a:p>
          <a:p>
            <a:pPr marL="342900" indent="-342900" algn="just">
              <a:buAutoNum type="arabicPeriod"/>
            </a:pPr>
            <a:r>
              <a:rPr lang="en-US" dirty="0" smtClean="0"/>
              <a:t>Pointer </a:t>
            </a:r>
            <a:r>
              <a:rPr lang="en-US" dirty="0"/>
              <a:t>forward scans ahead until a pattern match is found; </a:t>
            </a:r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en-US" dirty="0"/>
              <a:t>Once the next lexeme is determined, forward is set to the character at its right end. </a:t>
            </a:r>
            <a:r>
              <a:rPr lang="en-US" dirty="0" smtClean="0"/>
              <a:t> Then</a:t>
            </a:r>
            <a:r>
              <a:rPr lang="en-US" dirty="0"/>
              <a:t>, after the lexeme is recorded as an attribute value of a token returned to the parser, </a:t>
            </a:r>
            <a:r>
              <a:rPr lang="en-US" dirty="0" err="1"/>
              <a:t>lexemeBegin</a:t>
            </a:r>
            <a:r>
              <a:rPr lang="en-US" dirty="0"/>
              <a:t> is set to the character immediately after the lexeme just found. </a:t>
            </a:r>
          </a:p>
        </p:txBody>
      </p:sp>
    </p:spTree>
    <p:extLst>
      <p:ext uri="{BB962C8B-B14F-4D97-AF65-F5344CB8AC3E}">
        <p14:creationId xmlns:p14="http://schemas.microsoft.com/office/powerpoint/2010/main" val="2918051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433C898-41F8-7AEE-C439-944D1B51A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of tokens</a:t>
            </a:r>
          </a:p>
        </p:txBody>
      </p:sp>
      <p:pic>
        <p:nvPicPr>
          <p:cNvPr id="5" name="Content Placeholder 4" descr="A black and white rectangular box with black text&#10;&#10;Description automatically generated">
            <a:extLst>
              <a:ext uri="{FF2B5EF4-FFF2-40B4-BE49-F238E27FC236}">
                <a16:creationId xmlns="" xmlns:a16="http://schemas.microsoft.com/office/drawing/2014/main" id="{68A4B9D1-5B37-888A-2CEA-B55C6503B6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3046" y="2224726"/>
            <a:ext cx="8037291" cy="2929254"/>
          </a:xfrm>
        </p:spPr>
      </p:pic>
    </p:spTree>
    <p:extLst>
      <p:ext uri="{BB962C8B-B14F-4D97-AF65-F5344CB8AC3E}">
        <p14:creationId xmlns:p14="http://schemas.microsoft.com/office/powerpoint/2010/main" val="643390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B92F1EE-F8D8-34B1-1AB9-18213ACBB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can we design Lexical Analysis?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BCA8E56-56EF-1A45-9FA4-8F6691396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First - We need some method of describing the possible tokens that can be encounter or appear in the input stream (for this regular expression is used).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Second - we need to decide what the tokens are, so we need the mechanism to recognize these tokens in the input stream (for this transition diagram and finite automata is used).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5129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C48B1CF-7C33-E666-9B38-3D54CC629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Specification of Tokens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3EC0F29-9B39-DF84-F184-C7F448692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Strings and Languages</a:t>
            </a:r>
          </a:p>
          <a:p>
            <a:endParaRPr lang="en-IN" dirty="0"/>
          </a:p>
          <a:p>
            <a:r>
              <a:rPr lang="en-IN" dirty="0"/>
              <a:t>Operations on Languages</a:t>
            </a:r>
          </a:p>
          <a:p>
            <a:endParaRPr lang="en-IN" dirty="0"/>
          </a:p>
          <a:p>
            <a:r>
              <a:rPr lang="en-IN" dirty="0"/>
              <a:t>Regular Expressions</a:t>
            </a:r>
          </a:p>
          <a:p>
            <a:endParaRPr lang="en-IN" dirty="0"/>
          </a:p>
          <a:p>
            <a:r>
              <a:rPr lang="en-IN" dirty="0"/>
              <a:t>Regular definition</a:t>
            </a:r>
          </a:p>
        </p:txBody>
      </p:sp>
    </p:spTree>
    <p:extLst>
      <p:ext uri="{BB962C8B-B14F-4D97-AF65-F5344CB8AC3E}">
        <p14:creationId xmlns:p14="http://schemas.microsoft.com/office/powerpoint/2010/main" val="3549514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71F9055-CDE3-F0AB-C7C3-43EA3EA79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 Strings and Languages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18C3182-6A5D-3A08-5E05-B416B048E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US" b="1" dirty="0"/>
              <a:t>STRING</a:t>
            </a:r>
          </a:p>
          <a:p>
            <a:pPr algn="just"/>
            <a:r>
              <a:rPr lang="en-US" dirty="0"/>
              <a:t>A string over an alphabet is a finite sequence of symbols drawn from that alphabet. </a:t>
            </a:r>
          </a:p>
          <a:p>
            <a:pPr algn="just"/>
            <a:r>
              <a:rPr lang="en-US" dirty="0"/>
              <a:t>The length of a string s, usually written |s|, is the number of occurrences of symbols in s. Ex: banana is a string of length six. The empty string, denoted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𝛆</a:t>
            </a:r>
            <a:r>
              <a:rPr lang="en-US" dirty="0"/>
              <a:t>, is the string of length zero.</a:t>
            </a:r>
          </a:p>
          <a:p>
            <a:pPr marL="0" indent="0" algn="just">
              <a:buNone/>
            </a:pPr>
            <a:r>
              <a:rPr lang="en-US" b="1" dirty="0"/>
              <a:t>LANGUAGE</a:t>
            </a:r>
          </a:p>
          <a:p>
            <a:pPr algn="just"/>
            <a:r>
              <a:rPr lang="en-US" dirty="0"/>
              <a:t>A language is any countable set of strings over some fixed alphabet. Abstract languages like 0, the empty set, or {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𝛆}</a:t>
            </a:r>
            <a:r>
              <a:rPr lang="en-US" dirty="0"/>
              <a:t>, the set containing only the empty string, are languages under this definition. So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2819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Terms for Parts of 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The </a:t>
            </a:r>
            <a:r>
              <a:rPr lang="en-US" dirty="0"/>
              <a:t>following string-related terms are commonly used: </a:t>
            </a:r>
            <a:endParaRPr lang="en-US" dirty="0" smtClean="0"/>
          </a:p>
          <a:p>
            <a:r>
              <a:rPr lang="en-US" dirty="0" smtClean="0"/>
              <a:t>1</a:t>
            </a:r>
            <a:r>
              <a:rPr lang="en-US" dirty="0"/>
              <a:t>. A pre x of string s is any string obtained by removing zero or more symbols from the end of s. For example, ban, banana, and are </a:t>
            </a:r>
            <a:r>
              <a:rPr lang="en-US" dirty="0" smtClean="0"/>
              <a:t>prefixes </a:t>
            </a:r>
            <a:r>
              <a:rPr lang="en-US" dirty="0"/>
              <a:t>of banana. </a:t>
            </a:r>
            <a:endParaRPr lang="en-US" dirty="0" smtClean="0"/>
          </a:p>
          <a:p>
            <a:r>
              <a:rPr lang="en-US" dirty="0" smtClean="0"/>
              <a:t>2</a:t>
            </a:r>
            <a:r>
              <a:rPr lang="en-US" dirty="0"/>
              <a:t>. A </a:t>
            </a:r>
            <a:r>
              <a:rPr lang="en-US" dirty="0" smtClean="0"/>
              <a:t>suffix </a:t>
            </a:r>
            <a:r>
              <a:rPr lang="en-US" dirty="0"/>
              <a:t>of string s is any string obtained by removing zero or more symbols from the beginning of s. For example, nana, banana, and are </a:t>
            </a:r>
            <a:r>
              <a:rPr lang="en-US" dirty="0" smtClean="0"/>
              <a:t>suffixes </a:t>
            </a:r>
            <a:r>
              <a:rPr lang="en-US" dirty="0"/>
              <a:t>of banana. </a:t>
            </a:r>
            <a:endParaRPr lang="en-US" dirty="0" smtClean="0"/>
          </a:p>
          <a:p>
            <a:r>
              <a:rPr lang="en-US" dirty="0" smtClean="0"/>
              <a:t>3</a:t>
            </a:r>
            <a:r>
              <a:rPr lang="en-US" dirty="0"/>
              <a:t>. A substring </a:t>
            </a:r>
            <a:r>
              <a:rPr lang="en-US" dirty="0" smtClean="0"/>
              <a:t>of </a:t>
            </a:r>
            <a:r>
              <a:rPr lang="en-US" dirty="0"/>
              <a:t>s is obtained by deleting any pre x and </a:t>
            </a:r>
            <a:r>
              <a:rPr lang="en-US"/>
              <a:t>any </a:t>
            </a:r>
            <a:r>
              <a:rPr lang="en-US" smtClean="0"/>
              <a:t>suffix </a:t>
            </a:r>
            <a:r>
              <a:rPr lang="en-US" dirty="0"/>
              <a:t>from s. For instance, banana, nan, and are substrings of banana. </a:t>
            </a:r>
            <a:endParaRPr lang="en-US" dirty="0" smtClean="0"/>
          </a:p>
          <a:p>
            <a:r>
              <a:rPr lang="en-US" dirty="0" smtClean="0"/>
              <a:t>4</a:t>
            </a:r>
            <a:r>
              <a:rPr lang="en-US" dirty="0"/>
              <a:t>. The proper </a:t>
            </a:r>
            <a:r>
              <a:rPr lang="en-US" dirty="0" smtClean="0"/>
              <a:t>prefixes</a:t>
            </a:r>
            <a:r>
              <a:rPr lang="en-US" dirty="0"/>
              <a:t>, </a:t>
            </a:r>
            <a:r>
              <a:rPr lang="en-US" dirty="0" smtClean="0"/>
              <a:t>suffixes</a:t>
            </a:r>
            <a:r>
              <a:rPr lang="en-US" dirty="0"/>
              <a:t>, and substrings of a string s are those, </a:t>
            </a:r>
            <a:r>
              <a:rPr lang="en-US" dirty="0" smtClean="0"/>
              <a:t>prefixes</a:t>
            </a:r>
            <a:r>
              <a:rPr lang="en-US" dirty="0"/>
              <a:t>, </a:t>
            </a:r>
            <a:r>
              <a:rPr lang="en-US" dirty="0" smtClean="0"/>
              <a:t>suffixes</a:t>
            </a:r>
            <a:r>
              <a:rPr lang="en-US" dirty="0"/>
              <a:t>, and substrings, respectively</a:t>
            </a:r>
            <a:r>
              <a:rPr lang="en-US" dirty="0" smtClean="0"/>
              <a:t>, of s </a:t>
            </a:r>
            <a:r>
              <a:rPr lang="en-US" dirty="0"/>
              <a:t>that are not </a:t>
            </a:r>
            <a:r>
              <a:rPr lang="en-US" dirty="0">
                <a:latin typeface="Arial" pitchFamily="34" charset="0"/>
                <a:cs typeface="Arial" pitchFamily="34" charset="0"/>
              </a:rPr>
              <a:t>ϵ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smtClean="0"/>
              <a:t>or </a:t>
            </a:r>
            <a:r>
              <a:rPr lang="en-US" dirty="0"/>
              <a:t>not equal to s itself. </a:t>
            </a:r>
            <a:endParaRPr lang="en-US" dirty="0" smtClean="0"/>
          </a:p>
          <a:p>
            <a:r>
              <a:rPr lang="en-US" dirty="0" smtClean="0"/>
              <a:t>5</a:t>
            </a:r>
            <a:r>
              <a:rPr lang="en-US" dirty="0"/>
              <a:t>. A subsequence of s is any string formed by deleting zero or more not necessarily consecutive positions of s. For example, </a:t>
            </a:r>
            <a:r>
              <a:rPr lang="en-US" dirty="0" err="1"/>
              <a:t>baan</a:t>
            </a:r>
            <a:r>
              <a:rPr lang="en-US" dirty="0"/>
              <a:t> is a subsequence of banana</a:t>
            </a:r>
          </a:p>
        </p:txBody>
      </p:sp>
    </p:spTree>
    <p:extLst>
      <p:ext uri="{BB962C8B-B14F-4D97-AF65-F5344CB8AC3E}">
        <p14:creationId xmlns:p14="http://schemas.microsoft.com/office/powerpoint/2010/main" val="31634335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5E4680C-B40C-B24F-757E-E8E63B443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 Operations on Languages</a:t>
            </a:r>
          </a:p>
        </p:txBody>
      </p:sp>
      <p:pic>
        <p:nvPicPr>
          <p:cNvPr id="5" name="Content Placeholder 4" descr="A table with text and symbols&#10;&#10;Description automatically generated with medium confidence">
            <a:extLst>
              <a:ext uri="{FF2B5EF4-FFF2-40B4-BE49-F238E27FC236}">
                <a16:creationId xmlns="" xmlns:a16="http://schemas.microsoft.com/office/drawing/2014/main" id="{D3289270-A37C-1D1C-8509-EF22B19DBE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3051" y="2337847"/>
            <a:ext cx="9316562" cy="2771481"/>
          </a:xfrm>
        </p:spPr>
      </p:pic>
    </p:spTree>
    <p:extLst>
      <p:ext uri="{BB962C8B-B14F-4D97-AF65-F5344CB8AC3E}">
        <p14:creationId xmlns:p14="http://schemas.microsoft.com/office/powerpoint/2010/main" val="928612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Regular Expression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27534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Each regular expression denotes a language.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Rules for construction :</a:t>
            </a: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ϵ is a regular expression, the language containing only empty string.</a:t>
            </a: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For each ‘a’ in ∑, a is a regular expression denoting {a}, the language with only one string.</a:t>
            </a: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If A and B are regular expression denoting language L</a:t>
            </a:r>
            <a:r>
              <a:rPr lang="en-US" baseline="-25000" dirty="0" smtClean="0">
                <a:latin typeface="Arial" pitchFamily="34" charset="0"/>
                <a:cs typeface="Arial" pitchFamily="34" charset="0"/>
              </a:rPr>
              <a:t>A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UL</a:t>
            </a:r>
            <a:r>
              <a:rPr lang="en-US" baseline="-25000" dirty="0" smtClean="0">
                <a:latin typeface="Arial" pitchFamily="34" charset="0"/>
                <a:cs typeface="Arial" pitchFamily="34" charset="0"/>
              </a:rPr>
              <a:t>B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then:</a:t>
            </a:r>
          </a:p>
          <a:p>
            <a:pPr lvl="2"/>
            <a:r>
              <a:rPr lang="en-US" dirty="0" smtClean="0">
                <a:latin typeface="Arial" pitchFamily="34" charset="0"/>
                <a:cs typeface="Arial" pitchFamily="34" charset="0"/>
              </a:rPr>
              <a:t>(A)|(B) is a regular expression denoting L</a:t>
            </a:r>
            <a:r>
              <a:rPr lang="en-US" baseline="-25000" dirty="0" smtClean="0">
                <a:latin typeface="Arial" pitchFamily="34" charset="0"/>
                <a:cs typeface="Arial" pitchFamily="34" charset="0"/>
              </a:rPr>
              <a:t>A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UL</a:t>
            </a:r>
            <a:r>
              <a:rPr lang="en-US" baseline="-25000" dirty="0" smtClean="0">
                <a:latin typeface="Arial" pitchFamily="34" charset="0"/>
                <a:cs typeface="Arial" pitchFamily="34" charset="0"/>
              </a:rPr>
              <a:t>B</a:t>
            </a:r>
          </a:p>
          <a:p>
            <a:pPr lvl="2"/>
            <a:r>
              <a:rPr lang="en-US" dirty="0" smtClean="0">
                <a:latin typeface="Arial" pitchFamily="34" charset="0"/>
                <a:cs typeface="Arial" pitchFamily="34" charset="0"/>
              </a:rPr>
              <a:t>A.B is a regular expression denoting L</a:t>
            </a:r>
            <a:r>
              <a:rPr lang="en-US" baseline="-25000" dirty="0" smtClean="0">
                <a:latin typeface="Arial" pitchFamily="34" charset="0"/>
                <a:cs typeface="Arial" pitchFamily="34" charset="0"/>
              </a:rPr>
              <a:t>A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.L</a:t>
            </a:r>
            <a:r>
              <a:rPr lang="en-US" baseline="-25000" dirty="0" smtClean="0">
                <a:latin typeface="Arial" pitchFamily="34" charset="0"/>
                <a:cs typeface="Arial" pitchFamily="34" charset="0"/>
              </a:rPr>
              <a:t>B</a:t>
            </a:r>
          </a:p>
          <a:p>
            <a:pPr lvl="2"/>
            <a:r>
              <a:rPr lang="en-US" dirty="0" smtClean="0">
                <a:latin typeface="Arial" pitchFamily="34" charset="0"/>
                <a:cs typeface="Arial" pitchFamily="34" charset="0"/>
              </a:rPr>
              <a:t>(A)* is a regular expression denoting L</a:t>
            </a:r>
            <a:r>
              <a:rPr lang="en-US" baseline="-25000" dirty="0" smtClean="0">
                <a:latin typeface="Arial" pitchFamily="34" charset="0"/>
                <a:cs typeface="Arial" pitchFamily="34" charset="0"/>
              </a:rPr>
              <a:t>A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*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8586" y="760130"/>
            <a:ext cx="10298097" cy="1049235"/>
          </a:xfrm>
        </p:spPr>
        <p:txBody>
          <a:bodyPr>
            <a:normAutofit fontScale="90000"/>
          </a:bodyPr>
          <a:lstStyle/>
          <a:p>
            <a:r>
              <a:rPr lang="en-US" dirty="0"/>
              <a:t>Describe the languages denoted by the following regular expressions: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a</a:t>
            </a:r>
            <a:r>
              <a:rPr lang="en-US" dirty="0"/>
              <a:t>) </a:t>
            </a:r>
            <a:r>
              <a:rPr lang="en-US" dirty="0" smtClean="0"/>
              <a:t>a(</a:t>
            </a:r>
            <a:r>
              <a:rPr lang="en-US" dirty="0" err="1" smtClean="0"/>
              <a:t>a|b</a:t>
            </a:r>
            <a:r>
              <a:rPr lang="en-US" dirty="0" smtClean="0"/>
              <a:t>)*a</a:t>
            </a:r>
            <a:r>
              <a:rPr lang="en-US" dirty="0"/>
              <a:t>.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b</a:t>
            </a:r>
            <a:r>
              <a:rPr lang="en-US" dirty="0"/>
              <a:t>) </a:t>
            </a:r>
            <a:r>
              <a:rPr lang="en-US" dirty="0" smtClean="0"/>
              <a:t>(</a:t>
            </a:r>
            <a:r>
              <a:rPr lang="en-US" dirty="0" err="1" smtClean="0"/>
              <a:t>a|b</a:t>
            </a:r>
            <a:r>
              <a:rPr lang="en-US" dirty="0" smtClean="0"/>
              <a:t>)*a(</a:t>
            </a:r>
            <a:r>
              <a:rPr lang="en-US" dirty="0" err="1" smtClean="0"/>
              <a:t>a|b</a:t>
            </a:r>
            <a:r>
              <a:rPr lang="en-US" dirty="0"/>
              <a:t>)(</a:t>
            </a:r>
            <a:r>
              <a:rPr lang="en-US" dirty="0" err="1" smtClean="0"/>
              <a:t>a|b</a:t>
            </a:r>
            <a:r>
              <a:rPr lang="en-US" dirty="0"/>
              <a:t>).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c) a*</a:t>
            </a:r>
            <a:r>
              <a:rPr lang="en-US" dirty="0" err="1" smtClean="0"/>
              <a:t>ba</a:t>
            </a:r>
            <a:r>
              <a:rPr lang="en-US" dirty="0" smtClean="0"/>
              <a:t>*</a:t>
            </a:r>
            <a:r>
              <a:rPr lang="en-US" dirty="0" err="1" smtClean="0"/>
              <a:t>ba</a:t>
            </a:r>
            <a:r>
              <a:rPr lang="en-US" dirty="0" smtClean="0"/>
              <a:t>*</a:t>
            </a:r>
            <a:r>
              <a:rPr lang="en-US" dirty="0" err="1" smtClean="0"/>
              <a:t>ba</a:t>
            </a:r>
            <a:r>
              <a:rPr lang="en-US" dirty="0" smtClean="0"/>
              <a:t>* </a:t>
            </a:r>
            <a:r>
              <a:rPr lang="en-US" dirty="0"/>
              <a:t>.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d</a:t>
            </a:r>
            <a:r>
              <a:rPr lang="en-US" dirty="0" smtClean="0"/>
              <a:t>) </a:t>
            </a:r>
            <a:r>
              <a:rPr lang="en-US" dirty="0"/>
              <a:t>(</a:t>
            </a:r>
            <a:r>
              <a:rPr lang="en-US" dirty="0" err="1" smtClean="0"/>
              <a:t>aa|bb</a:t>
            </a:r>
            <a:r>
              <a:rPr lang="en-US" dirty="0" smtClean="0"/>
              <a:t>)*((</a:t>
            </a:r>
            <a:r>
              <a:rPr lang="en-US" dirty="0" err="1" smtClean="0"/>
              <a:t>ab|ba</a:t>
            </a:r>
            <a:r>
              <a:rPr lang="en-US" dirty="0"/>
              <a:t>)(</a:t>
            </a:r>
            <a:r>
              <a:rPr lang="en-US" dirty="0" err="1" smtClean="0"/>
              <a:t>aa|bb</a:t>
            </a:r>
            <a:r>
              <a:rPr lang="en-US" dirty="0" smtClean="0"/>
              <a:t>)* </a:t>
            </a:r>
            <a:r>
              <a:rPr lang="en-US" dirty="0"/>
              <a:t>(</a:t>
            </a:r>
            <a:r>
              <a:rPr lang="en-US" dirty="0" err="1" smtClean="0"/>
              <a:t>ab|ba</a:t>
            </a:r>
            <a:r>
              <a:rPr lang="en-US" dirty="0"/>
              <a:t>)(</a:t>
            </a:r>
            <a:r>
              <a:rPr lang="en-US" dirty="0" err="1" smtClean="0"/>
              <a:t>aa|bb</a:t>
            </a:r>
            <a:r>
              <a:rPr lang="en-US" dirty="0" smtClean="0"/>
              <a:t>)*)*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Write regular definitions for the following languages: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 smtClean="0"/>
              <a:t>All </a:t>
            </a:r>
            <a:r>
              <a:rPr lang="en-US" dirty="0"/>
              <a:t>strings of lowercase letters that contain the five vowels in order.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All strings of lowercase letters in which the letters are in ascending lexicographic order.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All </a:t>
            </a:r>
            <a:r>
              <a:rPr lang="en-US" dirty="0"/>
              <a:t>strings of a's and b's that do not contain the subsequence abb.</a:t>
            </a:r>
          </a:p>
        </p:txBody>
      </p:sp>
    </p:spTree>
    <p:extLst>
      <p:ext uri="{BB962C8B-B14F-4D97-AF65-F5344CB8AC3E}">
        <p14:creationId xmlns:p14="http://schemas.microsoft.com/office/powerpoint/2010/main" val="1343266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All strings of lowercase letters that contain the five vowels in order</a:t>
            </a:r>
            <a:r>
              <a:rPr lang="en-US" dirty="0" smtClean="0"/>
              <a:t>.</a:t>
            </a:r>
            <a:endParaRPr lang="en-US" dirty="0" smtClean="0">
              <a:solidFill>
                <a:srgbClr val="FF0000"/>
              </a:solidFill>
            </a:endParaRPr>
          </a:p>
          <a:p>
            <a:pPr marL="0" lvl="0" indent="0">
              <a:buNone/>
            </a:pPr>
            <a:r>
              <a:rPr lang="en-US" dirty="0">
                <a:solidFill>
                  <a:srgbClr val="FF0000"/>
                </a:solidFill>
                <a:latin typeface="var(--fontStack-monospace, ui-monospace, SFMono-Regular, SF Mono, Menlo, Consolas, Liberation Mono, monospace)"/>
              </a:rPr>
              <a:t>s</a:t>
            </a:r>
            <a:r>
              <a:rPr lang="en-US" dirty="0" smtClean="0">
                <a:solidFill>
                  <a:srgbClr val="FF0000"/>
                </a:solidFill>
                <a:latin typeface="var(--fontStack-monospace, ui-monospace, SFMono-Regular, SF Mono, Menlo, Consolas, Liberation Mono, monospace)"/>
              </a:rPr>
              <a:t> </a:t>
            </a:r>
            <a:r>
              <a:rPr lang="en-US" dirty="0">
                <a:solidFill>
                  <a:srgbClr val="FF0000"/>
                </a:solidFill>
                <a:latin typeface="var(--fontStack-monospace, ui-monospace, SFMono-Regular, SF Mono, Menlo, Consolas, Liberation Mono, monospace)"/>
              </a:rPr>
              <a:t>-&gt; </a:t>
            </a:r>
            <a:r>
              <a:rPr lang="en-US" dirty="0" smtClean="0">
                <a:solidFill>
                  <a:srgbClr val="FF0000"/>
                </a:solidFill>
                <a:latin typeface="var(--fontStack-monospace, ui-monospace, SFMono-Regular, SF Mono, Menlo, Consolas, Liberation Mono, monospace)"/>
              </a:rPr>
              <a:t>C* </a:t>
            </a:r>
            <a:r>
              <a:rPr lang="en-US" dirty="0">
                <a:solidFill>
                  <a:srgbClr val="FF0000"/>
                </a:solidFill>
                <a:latin typeface="var(--fontStack-monospace, ui-monospace, SFMono-Regular, SF Mono, Menlo, Consolas, Liberation Mono, monospace)"/>
              </a:rPr>
              <a:t>a </a:t>
            </a:r>
            <a:r>
              <a:rPr lang="en-US" dirty="0" smtClean="0">
                <a:solidFill>
                  <a:srgbClr val="FF0000"/>
                </a:solidFill>
                <a:latin typeface="var(--fontStack-monospace, ui-monospace, SFMono-Regular, SF Mono, Menlo, Consolas, Liberation Mono, monospace)"/>
              </a:rPr>
              <a:t>(</a:t>
            </a:r>
            <a:r>
              <a:rPr lang="en-US" dirty="0" err="1">
                <a:solidFill>
                  <a:srgbClr val="FF0000"/>
                </a:solidFill>
                <a:latin typeface="var(--fontStack-monospace, ui-monospace, SFMono-Regular, SF Mono, Menlo, Consolas, Liberation Mono, monospace)"/>
              </a:rPr>
              <a:t>C</a:t>
            </a:r>
            <a:r>
              <a:rPr lang="en-US" dirty="0" err="1" smtClean="0">
                <a:solidFill>
                  <a:srgbClr val="FF0000"/>
                </a:solidFill>
                <a:latin typeface="var(--fontStack-monospace, ui-monospace, SFMono-Regular, SF Mono, Menlo, Consolas, Liberation Mono, monospace)"/>
              </a:rPr>
              <a:t>|a</a:t>
            </a:r>
            <a:r>
              <a:rPr lang="en-US" dirty="0">
                <a:solidFill>
                  <a:srgbClr val="FF0000"/>
                </a:solidFill>
                <a:latin typeface="var(--fontStack-monospace, ui-monospace, SFMono-Regular, SF Mono, Menlo, Consolas, Liberation Mono, monospace)"/>
              </a:rPr>
              <a:t>)* e </a:t>
            </a:r>
            <a:r>
              <a:rPr lang="en-US" dirty="0" smtClean="0">
                <a:solidFill>
                  <a:srgbClr val="FF0000"/>
                </a:solidFill>
                <a:latin typeface="var(--fontStack-monospace, ui-monospace, SFMono-Regular, SF Mono, Menlo, Consolas, Liberation Mono, monospace)"/>
              </a:rPr>
              <a:t>(</a:t>
            </a:r>
            <a:r>
              <a:rPr lang="en-US" dirty="0" err="1" smtClean="0">
                <a:solidFill>
                  <a:srgbClr val="FF0000"/>
                </a:solidFill>
                <a:latin typeface="var(--fontStack-monospace, ui-monospace, SFMono-Regular, SF Mono, Menlo, Consolas, Liberation Mono, monospace)"/>
              </a:rPr>
              <a:t>C|e</a:t>
            </a:r>
            <a:r>
              <a:rPr lang="en-US" dirty="0">
                <a:solidFill>
                  <a:srgbClr val="FF0000"/>
                </a:solidFill>
                <a:latin typeface="var(--fontStack-monospace, ui-monospace, SFMono-Regular, SF Mono, Menlo, Consolas, Liberation Mono, monospace)"/>
              </a:rPr>
              <a:t>)* </a:t>
            </a:r>
            <a:r>
              <a:rPr lang="en-US" dirty="0" err="1">
                <a:solidFill>
                  <a:srgbClr val="FF0000"/>
                </a:solidFill>
                <a:latin typeface="var(--fontStack-monospace, ui-monospace, SFMono-Regular, SF Mono, Menlo, Consolas, Liberation Mono, monospace)"/>
              </a:rPr>
              <a:t>i</a:t>
            </a:r>
            <a:r>
              <a:rPr lang="en-US" dirty="0">
                <a:solidFill>
                  <a:srgbClr val="FF0000"/>
                </a:solidFill>
                <a:latin typeface="var(--fontStack-monospace, ui-monospace, SFMono-Regular, SF Mono, Menlo, Consolas, Liberation Mono, monospace)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var(--fontStack-monospace, ui-monospace, SFMono-Regular, SF Mono, Menlo, Consolas, Liberation Mono, monospace)"/>
              </a:rPr>
              <a:t>(</a:t>
            </a:r>
            <a:r>
              <a:rPr lang="en-US" dirty="0" err="1" smtClean="0">
                <a:solidFill>
                  <a:srgbClr val="FF0000"/>
                </a:solidFill>
                <a:latin typeface="var(--fontStack-monospace, ui-monospace, SFMono-Regular, SF Mono, Menlo, Consolas, Liberation Mono, monospace)"/>
              </a:rPr>
              <a:t>C|i</a:t>
            </a:r>
            <a:r>
              <a:rPr lang="en-US" dirty="0">
                <a:solidFill>
                  <a:srgbClr val="FF0000"/>
                </a:solidFill>
                <a:latin typeface="var(--fontStack-monospace, ui-monospace, SFMono-Regular, SF Mono, Menlo, Consolas, Liberation Mono, monospace)"/>
              </a:rPr>
              <a:t>)* o </a:t>
            </a:r>
            <a:r>
              <a:rPr lang="en-US" dirty="0" smtClean="0">
                <a:solidFill>
                  <a:srgbClr val="FF0000"/>
                </a:solidFill>
                <a:latin typeface="var(--fontStack-monospace, ui-monospace, SFMono-Regular, SF Mono, Menlo, Consolas, Liberation Mono, monospace)"/>
              </a:rPr>
              <a:t>(</a:t>
            </a:r>
            <a:r>
              <a:rPr lang="en-US" dirty="0" err="1" smtClean="0">
                <a:solidFill>
                  <a:srgbClr val="FF0000"/>
                </a:solidFill>
                <a:latin typeface="var(--fontStack-monospace, ui-monospace, SFMono-Regular, SF Mono, Menlo, Consolas, Liberation Mono, monospace)"/>
              </a:rPr>
              <a:t>C|o</a:t>
            </a:r>
            <a:r>
              <a:rPr lang="en-US" dirty="0">
                <a:solidFill>
                  <a:srgbClr val="FF0000"/>
                </a:solidFill>
                <a:latin typeface="var(--fontStack-monospace, ui-monospace, SFMono-Regular, SF Mono, Menlo, Consolas, Liberation Mono, monospace)"/>
              </a:rPr>
              <a:t>)* u </a:t>
            </a:r>
            <a:r>
              <a:rPr lang="en-US" dirty="0" smtClean="0">
                <a:solidFill>
                  <a:srgbClr val="FF0000"/>
                </a:solidFill>
                <a:latin typeface="var(--fontStack-monospace, ui-monospace, SFMono-Regular, SF Mono, Menlo, Consolas, Liberation Mono, monospace)"/>
              </a:rPr>
              <a:t>(</a:t>
            </a:r>
            <a:r>
              <a:rPr lang="en-US" dirty="0" err="1">
                <a:solidFill>
                  <a:srgbClr val="FF0000"/>
                </a:solidFill>
                <a:latin typeface="var(--fontStack-monospace, ui-monospace, SFMono-Regular, SF Mono, Menlo, Consolas, Liberation Mono, monospace)"/>
              </a:rPr>
              <a:t>C</a:t>
            </a:r>
            <a:r>
              <a:rPr lang="en-US" dirty="0" err="1" smtClean="0">
                <a:solidFill>
                  <a:srgbClr val="FF0000"/>
                </a:solidFill>
                <a:latin typeface="var(--fontStack-monospace, ui-monospace, SFMono-Regular, SF Mono, Menlo, Consolas, Liberation Mono, monospace)"/>
              </a:rPr>
              <a:t>|u</a:t>
            </a:r>
            <a:r>
              <a:rPr lang="en-US" dirty="0">
                <a:solidFill>
                  <a:srgbClr val="FF0000"/>
                </a:solidFill>
                <a:latin typeface="var(--fontStack-monospace, ui-monospace, SFMono-Regular, SF Mono, Menlo, Consolas, Liberation Mono, monospace)"/>
              </a:rPr>
              <a:t>)* </a:t>
            </a:r>
            <a:endParaRPr lang="en-US" dirty="0" smtClean="0">
              <a:solidFill>
                <a:srgbClr val="FF0000"/>
              </a:solidFill>
              <a:latin typeface="var(--fontStack-monospace, ui-monospace, SFMono-Regular, SF Mono, Menlo, Consolas, Liberation Mono, monospace)"/>
            </a:endParaRPr>
          </a:p>
          <a:p>
            <a:pPr marL="0" lvl="0" indent="0">
              <a:buNone/>
            </a:pPr>
            <a:r>
              <a:rPr lang="en-US" dirty="0">
                <a:solidFill>
                  <a:srgbClr val="FF0000"/>
                </a:solidFill>
                <a:latin typeface="var(--fontStack-monospace, ui-monospace, SFMono-Regular, SF Mono, Menlo, Consolas, Liberation Mono, monospace)"/>
              </a:rPr>
              <a:t>C</a:t>
            </a:r>
            <a:r>
              <a:rPr lang="en-US" dirty="0" smtClean="0">
                <a:solidFill>
                  <a:srgbClr val="FF0000"/>
                </a:solidFill>
                <a:latin typeface="var(--fontStack-monospace, ui-monospace, SFMono-Regular, SF Mono, Menlo, Consolas, Liberation Mono, monospace)"/>
              </a:rPr>
              <a:t> </a:t>
            </a:r>
            <a:r>
              <a:rPr lang="en-US" dirty="0">
                <a:solidFill>
                  <a:srgbClr val="FF0000"/>
                </a:solidFill>
                <a:latin typeface="var(--fontStack-monospace, ui-monospace, SFMono-Regular, SF Mono, Menlo, Consolas, Liberation Mono, monospace)"/>
              </a:rPr>
              <a:t>-&gt; [</a:t>
            </a:r>
            <a:r>
              <a:rPr lang="en-US" dirty="0" err="1">
                <a:solidFill>
                  <a:srgbClr val="FF0000"/>
                </a:solidFill>
                <a:latin typeface="var(--fontStack-monospace, ui-monospace, SFMono-Regular, SF Mono, Menlo, Consolas, Liberation Mono, monospace)"/>
              </a:rPr>
              <a:t>bcdfghjklmnpqrstvwxyz</a:t>
            </a:r>
            <a:r>
              <a:rPr lang="en-US" dirty="0">
                <a:solidFill>
                  <a:srgbClr val="FF0000"/>
                </a:solidFill>
                <a:latin typeface="var(--fontStack-monospace, ui-monospace, SFMono-Regular, SF Mono, Menlo, Consolas, Liberation Mono, monospace)"/>
              </a:rPr>
              <a:t>]</a:t>
            </a:r>
            <a:endParaRPr lang="en-US" sz="3600" dirty="0">
              <a:solidFill>
                <a:srgbClr val="FF0000"/>
              </a:solidFill>
              <a:latin typeface="-apple-system"/>
            </a:endParaRPr>
          </a:p>
          <a:p>
            <a:r>
              <a:rPr lang="en-US" dirty="0" smtClean="0"/>
              <a:t>All </a:t>
            </a:r>
            <a:r>
              <a:rPr lang="en-US" dirty="0"/>
              <a:t>strings of lowercase letters in which the letters are in ascending lexicographic order</a:t>
            </a:r>
            <a:r>
              <a:rPr lang="en-US" dirty="0" smtClean="0"/>
              <a:t>. </a:t>
            </a:r>
            <a:r>
              <a:rPr lang="en-US" dirty="0" smtClean="0">
                <a:solidFill>
                  <a:srgbClr val="FF0000"/>
                </a:solidFill>
              </a:rPr>
              <a:t>a</a:t>
            </a:r>
            <a:r>
              <a:rPr lang="en-US" dirty="0" smtClean="0">
                <a:solidFill>
                  <a:srgbClr val="FF0000"/>
                </a:solidFill>
                <a:latin typeface="var(--fontStack-monospace, ui-monospace, SFMono-Regular, SF Mono, Menlo, Consolas, Liberation Mono, monospace)"/>
              </a:rPr>
              <a:t>* </a:t>
            </a:r>
            <a:r>
              <a:rPr lang="en-US" dirty="0">
                <a:solidFill>
                  <a:srgbClr val="FF0000"/>
                </a:solidFill>
                <a:latin typeface="var(--fontStack-monospace, ui-monospace, SFMono-Regular, SF Mono, Menlo, Consolas, Liberation Mono, monospace)"/>
              </a:rPr>
              <a:t>b* ... z*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 smtClean="0"/>
              <a:t>All </a:t>
            </a:r>
            <a:r>
              <a:rPr lang="en-US" dirty="0"/>
              <a:t>strings of a's and b's that do not contain the subsequence abb</a:t>
            </a:r>
            <a:r>
              <a:rPr lang="en-US" dirty="0" smtClean="0"/>
              <a:t>. 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var(--fontStack-monospace, ui-monospace, SFMono-Regular, SF Mono, Menlo, Consolas, Liberation Mono, monospace)"/>
              </a:rPr>
              <a:t>b* | b*a+ | b*</a:t>
            </a:r>
            <a:r>
              <a:rPr lang="en-US" dirty="0" err="1">
                <a:solidFill>
                  <a:srgbClr val="FF0000"/>
                </a:solidFill>
                <a:latin typeface="var(--fontStack-monospace, ui-monospace, SFMono-Regular, SF Mono, Menlo, Consolas, Liberation Mono, monospace)"/>
              </a:rPr>
              <a:t>a+ba</a:t>
            </a:r>
            <a:r>
              <a:rPr lang="en-US" dirty="0">
                <a:solidFill>
                  <a:srgbClr val="FF0000"/>
                </a:solidFill>
                <a:latin typeface="var(--fontStack-monospace, ui-monospace, SFMono-Regular, SF Mono, Menlo, Consolas, Liberation Mono, monospace)"/>
              </a:rPr>
              <a:t>*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32828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Implementation of Lexical Analyzer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Construct NFA for each token pattern Pi in the translation rule, then link these NFA’s together with a new start state.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Convert NFA to DFA using Subset construction.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State Minimization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Implement the look ahead operator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Representing a transition diagram as a data structure.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587625" y="2016125"/>
            <a:ext cx="9604375" cy="34496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8800" dirty="0" smtClean="0"/>
              <a:t>THANK YOU</a:t>
            </a:r>
            <a:endParaRPr lang="en-US" sz="8800" dirty="0"/>
          </a:p>
        </p:txBody>
      </p:sp>
    </p:spTree>
    <p:extLst>
      <p:ext uri="{BB962C8B-B14F-4D97-AF65-F5344CB8AC3E}">
        <p14:creationId xmlns:p14="http://schemas.microsoft.com/office/powerpoint/2010/main" val="2443214773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tf00001245_wac</Template>
  <TotalTime>299</TotalTime>
  <Words>1083</Words>
  <Application>Microsoft Office PowerPoint</Application>
  <PresentationFormat>Widescreen</PresentationFormat>
  <Paragraphs>87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-apple-system</vt:lpstr>
      <vt:lpstr>Arial</vt:lpstr>
      <vt:lpstr>Cambria Math</vt:lpstr>
      <vt:lpstr>Gill Sans MT</vt:lpstr>
      <vt:lpstr>var(--fontStack-monospace, ui-monospace, SFMono-Regular, SF Mono, Menlo, Consolas, Liberation Mono, monospace)</vt:lpstr>
      <vt:lpstr>Gallery</vt:lpstr>
      <vt:lpstr>Compiler Design Lexical  Analyzer</vt:lpstr>
      <vt:lpstr>Lexical Analysis</vt:lpstr>
      <vt:lpstr>Role of Lexical Analyzer</vt:lpstr>
      <vt:lpstr>Roles of Lexical Analyzer</vt:lpstr>
      <vt:lpstr> Tokens, Patterns and Lexemes</vt:lpstr>
      <vt:lpstr>pair of input buFFer</vt:lpstr>
      <vt:lpstr>Example of tokens</vt:lpstr>
      <vt:lpstr>How can we design Lexical Analysis?</vt:lpstr>
      <vt:lpstr>Specification of Tokens</vt:lpstr>
      <vt:lpstr>1. Strings and Languages</vt:lpstr>
      <vt:lpstr>Terms for Parts of Strings</vt:lpstr>
      <vt:lpstr>2. Operations on Languages</vt:lpstr>
      <vt:lpstr>Regular Expression</vt:lpstr>
      <vt:lpstr>Describe the languages denoted by the following regular expressions:   </vt:lpstr>
      <vt:lpstr>Write regular definitions for the following languages: </vt:lpstr>
      <vt:lpstr>Solution</vt:lpstr>
      <vt:lpstr>Implementation of Lexical Analyzer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Compiler Design Motivation &amp; Application</dc:title>
  <dc:creator>Dipanwita Thakur</dc:creator>
  <cp:lastModifiedBy>dell</cp:lastModifiedBy>
  <cp:revision>14</cp:revision>
  <dcterms:created xsi:type="dcterms:W3CDTF">2021-03-11T16:03:12Z</dcterms:created>
  <dcterms:modified xsi:type="dcterms:W3CDTF">2024-07-23T11:03:21Z</dcterms:modified>
</cp:coreProperties>
</file>