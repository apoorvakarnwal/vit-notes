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sldIdLst>
    <p:sldId id="256" r:id="rId2"/>
    <p:sldId id="257" r:id="rId3"/>
    <p:sldId id="258" r:id="rId4"/>
    <p:sldId id="259" r:id="rId5"/>
    <p:sldId id="260" r:id="rId6"/>
    <p:sldId id="261" r:id="rId7"/>
    <p:sldId id="262" r:id="rId8"/>
    <p:sldId id="268" r:id="rId9"/>
    <p:sldId id="263" r:id="rId10"/>
    <p:sldId id="264" r:id="rId11"/>
    <p:sldId id="265" r:id="rId12"/>
    <p:sldId id="266" r:id="rId13"/>
    <p:sldId id="267" r:id="rId14"/>
    <p:sldId id="269" r:id="rId15"/>
    <p:sldId id="270" r:id="rId16"/>
    <p:sldId id="271" r:id="rId17"/>
    <p:sldId id="272" r:id="rId18"/>
    <p:sldId id="275" r:id="rId19"/>
    <p:sldId id="277" r:id="rId20"/>
    <p:sldId id="273" r:id="rId21"/>
    <p:sldId id="274" r:id="rId22"/>
    <p:sldId id="27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80" d="100"/>
          <a:sy n="80" d="100"/>
        </p:scale>
        <p:origin x="710" y="1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C84F515-357D-4062-9F1D-DF705752FD14}"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1A0D31-EC1B-4C69-AA41-F59205A19EA1}" type="slidenum">
              <a:rPr lang="en-US" smtClean="0"/>
              <a:t>‹#›</a:t>
            </a:fld>
            <a:endParaRPr lang="en-US"/>
          </a:p>
        </p:txBody>
      </p:sp>
    </p:spTree>
    <p:extLst>
      <p:ext uri="{BB962C8B-B14F-4D97-AF65-F5344CB8AC3E}">
        <p14:creationId xmlns:p14="http://schemas.microsoft.com/office/powerpoint/2010/main" val="990451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C84F515-357D-4062-9F1D-DF705752FD14}"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1A0D31-EC1B-4C69-AA41-F59205A19EA1}" type="slidenum">
              <a:rPr lang="en-US" smtClean="0"/>
              <a:t>‹#›</a:t>
            </a:fld>
            <a:endParaRPr lang="en-US"/>
          </a:p>
        </p:txBody>
      </p:sp>
    </p:spTree>
    <p:extLst>
      <p:ext uri="{BB962C8B-B14F-4D97-AF65-F5344CB8AC3E}">
        <p14:creationId xmlns:p14="http://schemas.microsoft.com/office/powerpoint/2010/main" val="2221350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C84F515-357D-4062-9F1D-DF705752FD14}"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1A0D31-EC1B-4C69-AA41-F59205A19EA1}" type="slidenum">
              <a:rPr lang="en-US" smtClean="0"/>
              <a:t>‹#›</a:t>
            </a:fld>
            <a:endParaRPr lang="en-US"/>
          </a:p>
        </p:txBody>
      </p:sp>
    </p:spTree>
    <p:extLst>
      <p:ext uri="{BB962C8B-B14F-4D97-AF65-F5344CB8AC3E}">
        <p14:creationId xmlns:p14="http://schemas.microsoft.com/office/powerpoint/2010/main" val="1216127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C84F515-357D-4062-9F1D-DF705752FD14}" type="datetimeFigureOut">
              <a:rPr lang="en-US" smtClean="0"/>
              <a:t>11/14/2024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1A0D31-EC1B-4C69-AA41-F59205A19EA1}" type="slidenum">
              <a:rPr lang="en-US" smtClean="0"/>
              <a:t>‹#›</a:t>
            </a:fld>
            <a:endParaRPr lang="en-US"/>
          </a:p>
        </p:txBody>
      </p:sp>
    </p:spTree>
    <p:extLst>
      <p:ext uri="{BB962C8B-B14F-4D97-AF65-F5344CB8AC3E}">
        <p14:creationId xmlns:p14="http://schemas.microsoft.com/office/powerpoint/2010/main" val="3435088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C84F515-357D-4062-9F1D-DF705752FD14}" type="datetimeFigureOut">
              <a:rPr lang="en-US" smtClean="0"/>
              <a:t>11/14/2024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61A0D31-EC1B-4C69-AA41-F59205A19EA1}" type="slidenum">
              <a:rPr lang="en-US" smtClean="0"/>
              <a:t>‹#›</a:t>
            </a:fld>
            <a:endParaRPr lang="en-US"/>
          </a:p>
        </p:txBody>
      </p:sp>
    </p:spTree>
    <p:extLst>
      <p:ext uri="{BB962C8B-B14F-4D97-AF65-F5344CB8AC3E}">
        <p14:creationId xmlns:p14="http://schemas.microsoft.com/office/powerpoint/2010/main" val="918141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C84F515-357D-4062-9F1D-DF705752FD14}" type="datetimeFigureOut">
              <a:rPr lang="en-US" smtClean="0"/>
              <a:t>11/14/2024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61A0D31-EC1B-4C69-AA41-F59205A19EA1}" type="slidenum">
              <a:rPr lang="en-US" smtClean="0"/>
              <a:t>‹#›</a:t>
            </a:fld>
            <a:endParaRPr lang="en-US"/>
          </a:p>
        </p:txBody>
      </p:sp>
    </p:spTree>
    <p:extLst>
      <p:ext uri="{BB962C8B-B14F-4D97-AF65-F5344CB8AC3E}">
        <p14:creationId xmlns:p14="http://schemas.microsoft.com/office/powerpoint/2010/main" val="42399510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84F515-357D-4062-9F1D-DF705752FD14}" type="datetimeFigureOut">
              <a:rPr lang="en-US" smtClean="0"/>
              <a:t>11/14/2024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61A0D31-EC1B-4C69-AA41-F59205A19EA1}" type="slidenum">
              <a:rPr lang="en-US" smtClean="0"/>
              <a:t>‹#›</a:t>
            </a:fld>
            <a:endParaRPr lang="en-US"/>
          </a:p>
        </p:txBody>
      </p:sp>
    </p:spTree>
    <p:extLst>
      <p:ext uri="{BB962C8B-B14F-4D97-AF65-F5344CB8AC3E}">
        <p14:creationId xmlns:p14="http://schemas.microsoft.com/office/powerpoint/2010/main" val="731879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C84F515-357D-4062-9F1D-DF705752FD14}" type="datetimeFigureOut">
              <a:rPr lang="en-US" smtClean="0"/>
              <a:t>11/14/2024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1A0D31-EC1B-4C69-AA41-F59205A19EA1}" type="slidenum">
              <a:rPr lang="en-US" smtClean="0"/>
              <a:t>‹#›</a:t>
            </a:fld>
            <a:endParaRPr lang="en-US"/>
          </a:p>
        </p:txBody>
      </p:sp>
    </p:spTree>
    <p:extLst>
      <p:ext uri="{BB962C8B-B14F-4D97-AF65-F5344CB8AC3E}">
        <p14:creationId xmlns:p14="http://schemas.microsoft.com/office/powerpoint/2010/main" val="35626819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1A0D31-EC1B-4C69-AA41-F59205A19EA1}" type="slidenum">
              <a:rPr lang="en-US" smtClean="0"/>
              <a:t>‹#›</a:t>
            </a:fld>
            <a:endParaRPr lang="en-US"/>
          </a:p>
        </p:txBody>
      </p:sp>
      <p:sp>
        <p:nvSpPr>
          <p:cNvPr id="5" name="Date Placeholder 4"/>
          <p:cNvSpPr>
            <a:spLocks noGrp="1"/>
          </p:cNvSpPr>
          <p:nvPr>
            <p:ph type="dt" sz="half" idx="10"/>
          </p:nvPr>
        </p:nvSpPr>
        <p:spPr/>
        <p:txBody>
          <a:bodyPr/>
          <a:lstStyle/>
          <a:p>
            <a:fld id="{4C84F515-357D-4062-9F1D-DF705752FD14}" type="datetimeFigureOut">
              <a:rPr lang="en-US" smtClean="0"/>
              <a:t>11/14/2024</a:t>
            </a:fld>
            <a:endParaRPr lang="en-US"/>
          </a:p>
        </p:txBody>
      </p:sp>
    </p:spTree>
    <p:extLst>
      <p:ext uri="{BB962C8B-B14F-4D97-AF65-F5344CB8AC3E}">
        <p14:creationId xmlns:p14="http://schemas.microsoft.com/office/powerpoint/2010/main" val="385377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C84F515-357D-4062-9F1D-DF705752FD14}"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1A0D31-EC1B-4C69-AA41-F59205A19EA1}" type="slidenum">
              <a:rPr lang="en-US" smtClean="0"/>
              <a:t>‹#›</a:t>
            </a:fld>
            <a:endParaRPr lang="en-US"/>
          </a:p>
        </p:txBody>
      </p:sp>
    </p:spTree>
    <p:extLst>
      <p:ext uri="{BB962C8B-B14F-4D97-AF65-F5344CB8AC3E}">
        <p14:creationId xmlns:p14="http://schemas.microsoft.com/office/powerpoint/2010/main" val="1785924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C84F515-357D-4062-9F1D-DF705752FD14}"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1A0D31-EC1B-4C69-AA41-F59205A19EA1}"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453615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C84F515-357D-4062-9F1D-DF705752FD14}"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1A0D31-EC1B-4C69-AA41-F59205A19EA1}" type="slidenum">
              <a:rPr lang="en-US" smtClean="0"/>
              <a:t>‹#›</a:t>
            </a:fld>
            <a:endParaRPr lang="en-US"/>
          </a:p>
        </p:txBody>
      </p:sp>
    </p:spTree>
    <p:extLst>
      <p:ext uri="{BB962C8B-B14F-4D97-AF65-F5344CB8AC3E}">
        <p14:creationId xmlns:p14="http://schemas.microsoft.com/office/powerpoint/2010/main" val="9398171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C84F515-357D-4062-9F1D-DF705752FD14}"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1A0D31-EC1B-4C69-AA41-F59205A19EA1}"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2839033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C84F515-357D-4062-9F1D-DF705752FD14}"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1A0D31-EC1B-4C69-AA41-F59205A19EA1}" type="slidenum">
              <a:rPr lang="en-US" smtClean="0"/>
              <a:t>‹#›</a:t>
            </a:fld>
            <a:endParaRPr lang="en-US"/>
          </a:p>
        </p:txBody>
      </p:sp>
    </p:spTree>
    <p:extLst>
      <p:ext uri="{BB962C8B-B14F-4D97-AF65-F5344CB8AC3E}">
        <p14:creationId xmlns:p14="http://schemas.microsoft.com/office/powerpoint/2010/main" val="31803779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C84F515-357D-4062-9F1D-DF705752FD14}"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1A0D31-EC1B-4C69-AA41-F59205A19EA1}" type="slidenum">
              <a:rPr lang="en-US" smtClean="0"/>
              <a:t>‹#›</a:t>
            </a:fld>
            <a:endParaRPr lang="en-US"/>
          </a:p>
        </p:txBody>
      </p:sp>
    </p:spTree>
    <p:extLst>
      <p:ext uri="{BB962C8B-B14F-4D97-AF65-F5344CB8AC3E}">
        <p14:creationId xmlns:p14="http://schemas.microsoft.com/office/powerpoint/2010/main" val="282092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C84F515-357D-4062-9F1D-DF705752FD14}" type="datetimeFigureOut">
              <a:rPr lang="en-US" smtClean="0"/>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1A0D31-EC1B-4C69-AA41-F59205A19EA1}" type="slidenum">
              <a:rPr lang="en-US" smtClean="0"/>
              <a:t>‹#›</a:t>
            </a:fld>
            <a:endParaRPr lang="en-US"/>
          </a:p>
        </p:txBody>
      </p:sp>
    </p:spTree>
    <p:extLst>
      <p:ext uri="{BB962C8B-B14F-4D97-AF65-F5344CB8AC3E}">
        <p14:creationId xmlns:p14="http://schemas.microsoft.com/office/powerpoint/2010/main" val="3821634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C84F515-357D-4062-9F1D-DF705752FD14}" type="datetimeFigureOut">
              <a:rPr lang="en-US" smtClean="0"/>
              <a:t>11/14/2024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61A0D31-EC1B-4C69-AA41-F59205A19EA1}" type="slidenum">
              <a:rPr lang="en-US" smtClean="0"/>
              <a:t>‹#›</a:t>
            </a:fld>
            <a:endParaRPr lang="en-US"/>
          </a:p>
        </p:txBody>
      </p:sp>
    </p:spTree>
    <p:extLst>
      <p:ext uri="{BB962C8B-B14F-4D97-AF65-F5344CB8AC3E}">
        <p14:creationId xmlns:p14="http://schemas.microsoft.com/office/powerpoint/2010/main" val="2114944594"/>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Instruction Level Parallelism</a:t>
            </a:r>
            <a:endParaRPr lang="en-US"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037044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a:t>
            </a:r>
            <a:r>
              <a:rPr lang="en-US" dirty="0"/>
              <a:t>fast can a program be run on a processor with instruction-level parallelism?</a:t>
            </a:r>
          </a:p>
        </p:txBody>
      </p:sp>
      <p:sp>
        <p:nvSpPr>
          <p:cNvPr id="3" name="Content Placeholder 2"/>
          <p:cNvSpPr>
            <a:spLocks noGrp="1"/>
          </p:cNvSpPr>
          <p:nvPr>
            <p:ph idx="1"/>
          </p:nvPr>
        </p:nvSpPr>
        <p:spPr/>
        <p:txBody>
          <a:bodyPr/>
          <a:lstStyle/>
          <a:p>
            <a:r>
              <a:rPr lang="en-US" dirty="0"/>
              <a:t>The potential parallelism in the program. </a:t>
            </a:r>
          </a:p>
          <a:p>
            <a:r>
              <a:rPr lang="en-US" dirty="0" smtClean="0"/>
              <a:t>The </a:t>
            </a:r>
            <a:r>
              <a:rPr lang="en-US" dirty="0"/>
              <a:t>available parallelism on the processor. </a:t>
            </a:r>
          </a:p>
          <a:p>
            <a:r>
              <a:rPr lang="en-US" dirty="0" smtClean="0"/>
              <a:t>Our </a:t>
            </a:r>
            <a:r>
              <a:rPr lang="en-US" dirty="0"/>
              <a:t>ability to extract parallelism from the original sequential program. </a:t>
            </a:r>
          </a:p>
          <a:p>
            <a:r>
              <a:rPr lang="en-US" dirty="0" smtClean="0"/>
              <a:t>Our </a:t>
            </a:r>
            <a:r>
              <a:rPr lang="en-US" dirty="0"/>
              <a:t>ability to </a:t>
            </a:r>
            <a:r>
              <a:rPr lang="en-US" dirty="0" smtClean="0"/>
              <a:t>find </a:t>
            </a:r>
            <a:r>
              <a:rPr lang="en-US" dirty="0"/>
              <a:t>the best parallel schedule given scheduling constraints</a:t>
            </a:r>
            <a:r>
              <a:rPr lang="en-US" dirty="0" smtClean="0"/>
              <a:t>.</a:t>
            </a:r>
          </a:p>
          <a:p>
            <a:endParaRPr lang="en-US" dirty="0"/>
          </a:p>
          <a:p>
            <a:pPr marL="0" indent="0" algn="just">
              <a:buNone/>
            </a:pPr>
            <a:r>
              <a:rPr lang="en-US" b="1" dirty="0"/>
              <a:t>If all the operations in a program are highly dependent upon one another, then no amount of </a:t>
            </a:r>
            <a:r>
              <a:rPr lang="en-US" b="1" dirty="0" smtClean="0"/>
              <a:t>hardware or </a:t>
            </a:r>
            <a:r>
              <a:rPr lang="en-US" b="1" dirty="0"/>
              <a:t>parallelization techniques can make the program run fast in parallel.</a:t>
            </a:r>
          </a:p>
        </p:txBody>
      </p:sp>
    </p:spTree>
    <p:extLst>
      <p:ext uri="{BB962C8B-B14F-4D97-AF65-F5344CB8AC3E}">
        <p14:creationId xmlns:p14="http://schemas.microsoft.com/office/powerpoint/2010/main" val="2786095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Processor Architectures</a:t>
            </a:r>
            <a:endParaRPr lang="en-US" dirty="0"/>
          </a:p>
        </p:txBody>
      </p:sp>
      <p:sp>
        <p:nvSpPr>
          <p:cNvPr id="3" name="Content Placeholder 2"/>
          <p:cNvSpPr>
            <a:spLocks noGrp="1"/>
          </p:cNvSpPr>
          <p:nvPr>
            <p:ph sz="half" idx="1"/>
          </p:nvPr>
        </p:nvSpPr>
        <p:spPr>
          <a:xfrm>
            <a:off x="677334" y="1553592"/>
            <a:ext cx="5927652" cy="4847208"/>
          </a:xfrm>
        </p:spPr>
        <p:txBody>
          <a:bodyPr>
            <a:normAutofit/>
          </a:bodyPr>
          <a:lstStyle/>
          <a:p>
            <a:pPr algn="just"/>
            <a:r>
              <a:rPr lang="en-US" dirty="0" smtClean="0"/>
              <a:t>Usually </a:t>
            </a:r>
            <a:r>
              <a:rPr lang="en-US" dirty="0"/>
              <a:t>a processor issuing several operations in a single clock cycle. </a:t>
            </a:r>
            <a:endParaRPr lang="en-US" dirty="0" smtClean="0"/>
          </a:p>
          <a:p>
            <a:pPr algn="just"/>
            <a:r>
              <a:rPr lang="en-US" dirty="0" smtClean="0"/>
              <a:t>In </a:t>
            </a:r>
            <a:r>
              <a:rPr lang="en-US" dirty="0"/>
              <a:t>fact, it is possible for a machine to issue just one operation per </a:t>
            </a:r>
            <a:r>
              <a:rPr lang="en-US" dirty="0" smtClean="0"/>
              <a:t>clock </a:t>
            </a:r>
            <a:r>
              <a:rPr lang="en-US" dirty="0"/>
              <a:t>and yet achieve instruction level parallelism using the concept of pipelining. </a:t>
            </a:r>
            <a:endParaRPr lang="en-US" dirty="0" smtClean="0"/>
          </a:p>
          <a:p>
            <a:pPr algn="just"/>
            <a:r>
              <a:rPr lang="en-US" dirty="0" smtClean="0"/>
              <a:t>Every </a:t>
            </a:r>
            <a:r>
              <a:rPr lang="en-US" dirty="0"/>
              <a:t>processor, be it a high-performance supercomputer or a </a:t>
            </a:r>
            <a:r>
              <a:rPr lang="en-US" dirty="0" smtClean="0"/>
              <a:t>standard </a:t>
            </a:r>
            <a:r>
              <a:rPr lang="en-US" dirty="0"/>
              <a:t>machine, uses an instruction pipeline</a:t>
            </a:r>
            <a:r>
              <a:rPr lang="en-US" dirty="0" smtClean="0"/>
              <a:t>.</a:t>
            </a:r>
          </a:p>
          <a:p>
            <a:pPr algn="just"/>
            <a:r>
              <a:rPr lang="en-US" dirty="0"/>
              <a:t>With an instruction pipeline, a new instruction can be fetched every clock while preceding instructions are still going through the pipeline</a:t>
            </a:r>
            <a:r>
              <a:rPr lang="en-US" dirty="0" smtClean="0"/>
              <a:t>.</a:t>
            </a:r>
          </a:p>
          <a:p>
            <a:pPr algn="just"/>
            <a:r>
              <a:rPr lang="en-US" dirty="0" smtClean="0"/>
              <a:t>There is </a:t>
            </a:r>
            <a:r>
              <a:rPr lang="en-US" dirty="0"/>
              <a:t>a simple 5-stage instruction pipeline: it </a:t>
            </a:r>
            <a:r>
              <a:rPr lang="en-US" dirty="0" smtClean="0"/>
              <a:t>first </a:t>
            </a:r>
            <a:r>
              <a:rPr lang="en-US" dirty="0"/>
              <a:t>fetches the instruction (IF), decodes it (ID), executes the </a:t>
            </a:r>
            <a:r>
              <a:rPr lang="en-US" dirty="0" smtClean="0"/>
              <a:t>operation </a:t>
            </a:r>
            <a:r>
              <a:rPr lang="en-US" dirty="0"/>
              <a:t>(EX), accesses the memory (MEM), and writes back the result (WB).</a:t>
            </a:r>
          </a:p>
        </p:txBody>
      </p:sp>
      <p:sp>
        <p:nvSpPr>
          <p:cNvPr id="5" name="Content Placeholder 4"/>
          <p:cNvSpPr>
            <a:spLocks noGrp="1"/>
          </p:cNvSpPr>
          <p:nvPr>
            <p:ph sz="half" idx="2"/>
          </p:nvPr>
        </p:nvSpPr>
        <p:spPr>
          <a:xfrm>
            <a:off x="6812238" y="1840993"/>
            <a:ext cx="4184034" cy="3880773"/>
          </a:xfrm>
        </p:spPr>
        <p:txBody>
          <a:bodyPr>
            <a:normAutofit/>
          </a:bodyPr>
          <a:lstStyle/>
          <a:p>
            <a:endParaRPr lang="en-US"/>
          </a:p>
        </p:txBody>
      </p:sp>
      <p:pic>
        <p:nvPicPr>
          <p:cNvPr id="4" name="Picture 3"/>
          <p:cNvPicPr>
            <a:picLocks noChangeAspect="1"/>
          </p:cNvPicPr>
          <p:nvPr/>
        </p:nvPicPr>
        <p:blipFill>
          <a:blip r:embed="rId2"/>
          <a:stretch>
            <a:fillRect/>
          </a:stretch>
        </p:blipFill>
        <p:spPr>
          <a:xfrm>
            <a:off x="6812238" y="2058740"/>
            <a:ext cx="4457700" cy="3095625"/>
          </a:xfrm>
          <a:prstGeom prst="rect">
            <a:avLst/>
          </a:prstGeom>
        </p:spPr>
      </p:pic>
    </p:spTree>
    <p:extLst>
      <p:ext uri="{BB962C8B-B14F-4D97-AF65-F5344CB8AC3E}">
        <p14:creationId xmlns:p14="http://schemas.microsoft.com/office/powerpoint/2010/main" val="6437618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Pipelined Execution</a:t>
            </a:r>
            <a:endParaRPr lang="en-US" dirty="0"/>
          </a:p>
        </p:txBody>
      </p:sp>
      <p:sp>
        <p:nvSpPr>
          <p:cNvPr id="9" name="Content Placeholder 8"/>
          <p:cNvSpPr>
            <a:spLocks noGrp="1"/>
          </p:cNvSpPr>
          <p:nvPr>
            <p:ph idx="1"/>
          </p:nvPr>
        </p:nvSpPr>
        <p:spPr>
          <a:xfrm>
            <a:off x="774988" y="1477008"/>
            <a:ext cx="8596668" cy="4697411"/>
          </a:xfrm>
        </p:spPr>
        <p:txBody>
          <a:bodyPr>
            <a:normAutofit/>
          </a:bodyPr>
          <a:lstStyle/>
          <a:p>
            <a:pPr algn="just"/>
            <a:r>
              <a:rPr lang="en-US" dirty="0"/>
              <a:t>Some instructions take several clocks to execute</a:t>
            </a:r>
            <a:r>
              <a:rPr lang="en-US" dirty="0" smtClean="0"/>
              <a:t>.</a:t>
            </a:r>
          </a:p>
          <a:p>
            <a:pPr algn="just"/>
            <a:r>
              <a:rPr lang="en-US" dirty="0" smtClean="0"/>
              <a:t>When </a:t>
            </a:r>
            <a:r>
              <a:rPr lang="en-US" dirty="0"/>
              <a:t>a memory access hits in the cache, it </a:t>
            </a:r>
            <a:r>
              <a:rPr lang="en-US" dirty="0" smtClean="0"/>
              <a:t>usually </a:t>
            </a:r>
            <a:r>
              <a:rPr lang="en-US" dirty="0"/>
              <a:t>takes several clocks for the cache to return the data. </a:t>
            </a:r>
            <a:endParaRPr lang="en-US" dirty="0" smtClean="0"/>
          </a:p>
          <a:p>
            <a:pPr algn="just"/>
            <a:r>
              <a:rPr lang="en-US" dirty="0"/>
              <a:t>T</a:t>
            </a:r>
            <a:r>
              <a:rPr lang="en-US" dirty="0" smtClean="0"/>
              <a:t>he </a:t>
            </a:r>
            <a:r>
              <a:rPr lang="en-US" dirty="0"/>
              <a:t>execution of an instruction is pipelined if succeeding instructions not dependent on the result are allowed to proceed. </a:t>
            </a:r>
            <a:endParaRPr lang="en-US" dirty="0" smtClean="0"/>
          </a:p>
          <a:p>
            <a:pPr algn="just"/>
            <a:r>
              <a:rPr lang="en-US" dirty="0" smtClean="0"/>
              <a:t>Thus</a:t>
            </a:r>
            <a:r>
              <a:rPr lang="en-US" dirty="0"/>
              <a:t>, even if a processor can issue only one operation per clock, several operations might be in their execution stages at the same time. </a:t>
            </a:r>
            <a:endParaRPr lang="en-US" dirty="0" smtClean="0"/>
          </a:p>
          <a:p>
            <a:pPr algn="just"/>
            <a:r>
              <a:rPr lang="en-US" dirty="0" smtClean="0"/>
              <a:t>If </a:t>
            </a:r>
            <a:r>
              <a:rPr lang="en-US" dirty="0"/>
              <a:t>the deepest execution pipeline has n stages, potentially n operations can be </a:t>
            </a:r>
            <a:r>
              <a:rPr lang="en-US" dirty="0" smtClean="0"/>
              <a:t>in flight </a:t>
            </a:r>
            <a:r>
              <a:rPr lang="en-US" dirty="0"/>
              <a:t>at the same time. </a:t>
            </a:r>
            <a:endParaRPr lang="en-US" dirty="0" smtClean="0"/>
          </a:p>
          <a:p>
            <a:pPr algn="just"/>
            <a:r>
              <a:rPr lang="en-US" dirty="0" smtClean="0"/>
              <a:t>Note </a:t>
            </a:r>
            <a:r>
              <a:rPr lang="en-US" dirty="0"/>
              <a:t>that not all </a:t>
            </a:r>
            <a:r>
              <a:rPr lang="en-US" dirty="0" smtClean="0"/>
              <a:t>instructions </a:t>
            </a:r>
            <a:r>
              <a:rPr lang="en-US" dirty="0"/>
              <a:t>are fully pipelined. </a:t>
            </a:r>
            <a:endParaRPr lang="en-US" dirty="0" smtClean="0"/>
          </a:p>
          <a:p>
            <a:pPr algn="just"/>
            <a:r>
              <a:rPr lang="en-US" dirty="0" smtClean="0"/>
              <a:t>While floating-point </a:t>
            </a:r>
            <a:r>
              <a:rPr lang="en-US" dirty="0"/>
              <a:t>adds and multiplies often are fully pipelined, </a:t>
            </a:r>
            <a:r>
              <a:rPr lang="en-US" dirty="0" smtClean="0"/>
              <a:t>floating-point </a:t>
            </a:r>
            <a:r>
              <a:rPr lang="en-US" dirty="0"/>
              <a:t>divides, being more complex and less frequently executed, often are </a:t>
            </a:r>
            <a:r>
              <a:rPr lang="en-US" dirty="0" smtClean="0"/>
              <a:t>not.</a:t>
            </a:r>
            <a:endParaRPr lang="en-US" dirty="0"/>
          </a:p>
        </p:txBody>
      </p:sp>
    </p:spTree>
    <p:extLst>
      <p:ext uri="{BB962C8B-B14F-4D97-AF65-F5344CB8AC3E}">
        <p14:creationId xmlns:p14="http://schemas.microsoft.com/office/powerpoint/2010/main" val="37119209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Multiple Instruction Issue</a:t>
            </a:r>
            <a:endParaRPr lang="en-US" dirty="0"/>
          </a:p>
        </p:txBody>
      </p:sp>
      <p:sp>
        <p:nvSpPr>
          <p:cNvPr id="3" name="Content Placeholder 2"/>
          <p:cNvSpPr>
            <a:spLocks noGrp="1"/>
          </p:cNvSpPr>
          <p:nvPr>
            <p:ph idx="1"/>
          </p:nvPr>
        </p:nvSpPr>
        <p:spPr>
          <a:xfrm>
            <a:off x="677333" y="1269507"/>
            <a:ext cx="9824949" cy="5326602"/>
          </a:xfrm>
        </p:spPr>
        <p:txBody>
          <a:bodyPr>
            <a:normAutofit fontScale="92500" lnSpcReduction="10000"/>
          </a:bodyPr>
          <a:lstStyle/>
          <a:p>
            <a:pPr algn="just"/>
            <a:r>
              <a:rPr lang="en-US" dirty="0"/>
              <a:t>By issuing several operations per clock, processors can keep even more </a:t>
            </a:r>
            <a:r>
              <a:rPr lang="en-US" dirty="0" smtClean="0"/>
              <a:t>operations </a:t>
            </a:r>
            <a:r>
              <a:rPr lang="en-US" dirty="0"/>
              <a:t>in </a:t>
            </a:r>
            <a:r>
              <a:rPr lang="en-US" dirty="0" smtClean="0"/>
              <a:t>flight</a:t>
            </a:r>
            <a:r>
              <a:rPr lang="en-US" dirty="0"/>
              <a:t>. </a:t>
            </a:r>
            <a:endParaRPr lang="en-US" dirty="0" smtClean="0"/>
          </a:p>
          <a:p>
            <a:pPr algn="just"/>
            <a:r>
              <a:rPr lang="en-US" dirty="0" smtClean="0"/>
              <a:t>The </a:t>
            </a:r>
            <a:r>
              <a:rPr lang="en-US" dirty="0"/>
              <a:t>largest number of operations that can be executed </a:t>
            </a:r>
            <a:r>
              <a:rPr lang="en-US" dirty="0" smtClean="0"/>
              <a:t>simultaneously </a:t>
            </a:r>
            <a:r>
              <a:rPr lang="en-US" dirty="0"/>
              <a:t>can be computed </a:t>
            </a:r>
            <a:r>
              <a:rPr lang="en-US" dirty="0" smtClean="0"/>
              <a:t>by multiplying </a:t>
            </a:r>
            <a:r>
              <a:rPr lang="en-US" dirty="0"/>
              <a:t>the instruction issue width by the average number of stages in the execution pipeline</a:t>
            </a:r>
            <a:r>
              <a:rPr lang="en-US" dirty="0" smtClean="0"/>
              <a:t>.</a:t>
            </a:r>
          </a:p>
          <a:p>
            <a:pPr algn="just"/>
            <a:r>
              <a:rPr lang="en-US" dirty="0"/>
              <a:t>Like pipelining, parallelism on multiple-issue machines can be managed </a:t>
            </a:r>
            <a:r>
              <a:rPr lang="en-US" dirty="0" smtClean="0"/>
              <a:t>either </a:t>
            </a:r>
            <a:r>
              <a:rPr lang="en-US" dirty="0"/>
              <a:t>by software or hardware. </a:t>
            </a:r>
            <a:endParaRPr lang="en-US" dirty="0" smtClean="0"/>
          </a:p>
          <a:p>
            <a:pPr algn="just"/>
            <a:r>
              <a:rPr lang="en-US" dirty="0" smtClean="0"/>
              <a:t>Machines </a:t>
            </a:r>
            <a:r>
              <a:rPr lang="en-US" dirty="0"/>
              <a:t>that rely on software to manage their parallelism are known as VLIW (Very-Long-Instruction-Word) machines, while those that manage their parallelism with hardware are known as superscalar machines. </a:t>
            </a:r>
            <a:endParaRPr lang="en-US" dirty="0" smtClean="0"/>
          </a:p>
          <a:p>
            <a:pPr algn="just"/>
            <a:r>
              <a:rPr lang="en-US" dirty="0" smtClean="0"/>
              <a:t>VLIW </a:t>
            </a:r>
            <a:r>
              <a:rPr lang="en-US" dirty="0"/>
              <a:t>machines, as their name implies, have wider than normal instruction words that encode the operations to be issued in a single clock. </a:t>
            </a:r>
            <a:endParaRPr lang="en-US" dirty="0" smtClean="0"/>
          </a:p>
          <a:p>
            <a:pPr algn="just"/>
            <a:r>
              <a:rPr lang="en-US" dirty="0" smtClean="0"/>
              <a:t>The </a:t>
            </a:r>
            <a:r>
              <a:rPr lang="en-US" dirty="0"/>
              <a:t>compiler decides which operations are to be issued in parallel and encodes the information in the machine code explicitly. </a:t>
            </a:r>
            <a:endParaRPr lang="en-US" dirty="0" smtClean="0"/>
          </a:p>
          <a:p>
            <a:pPr algn="just"/>
            <a:r>
              <a:rPr lang="en-US" dirty="0" smtClean="0"/>
              <a:t>Superscalar </a:t>
            </a:r>
            <a:r>
              <a:rPr lang="en-US" dirty="0"/>
              <a:t>machines, on the other hand, have a regular instruction set with an ordinary sequential-execution semantics. </a:t>
            </a:r>
            <a:endParaRPr lang="en-US" dirty="0" smtClean="0"/>
          </a:p>
          <a:p>
            <a:pPr algn="just"/>
            <a:r>
              <a:rPr lang="en-US" dirty="0" smtClean="0"/>
              <a:t>Superscalar </a:t>
            </a:r>
            <a:r>
              <a:rPr lang="en-US" dirty="0"/>
              <a:t>machines automatically detect dependences among </a:t>
            </a:r>
            <a:r>
              <a:rPr lang="en-US" dirty="0" smtClean="0"/>
              <a:t>instructions </a:t>
            </a:r>
            <a:r>
              <a:rPr lang="en-US" dirty="0"/>
              <a:t>and issue them as their operands become available. Some processors include both VLIW and superscalar functionality.</a:t>
            </a:r>
          </a:p>
        </p:txBody>
      </p:sp>
    </p:spTree>
    <p:extLst>
      <p:ext uri="{BB962C8B-B14F-4D97-AF65-F5344CB8AC3E}">
        <p14:creationId xmlns:p14="http://schemas.microsoft.com/office/powerpoint/2010/main" val="2983657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Coding Scheduling Constraints</a:t>
            </a:r>
            <a:endParaRPr lang="en-US" dirty="0"/>
          </a:p>
        </p:txBody>
      </p:sp>
      <p:sp>
        <p:nvSpPr>
          <p:cNvPr id="3" name="Content Placeholder 2"/>
          <p:cNvSpPr>
            <a:spLocks noGrp="1"/>
          </p:cNvSpPr>
          <p:nvPr>
            <p:ph idx="1"/>
          </p:nvPr>
        </p:nvSpPr>
        <p:spPr/>
        <p:txBody>
          <a:bodyPr/>
          <a:lstStyle/>
          <a:p>
            <a:pPr algn="just"/>
            <a:r>
              <a:rPr lang="en-US" b="1" dirty="0" smtClean="0"/>
              <a:t>Control-dependence constraints: </a:t>
            </a:r>
            <a:r>
              <a:rPr lang="en-US" dirty="0"/>
              <a:t>All the operations executed in the </a:t>
            </a:r>
            <a:r>
              <a:rPr lang="en-US" dirty="0" smtClean="0"/>
              <a:t>original </a:t>
            </a:r>
            <a:r>
              <a:rPr lang="en-US" dirty="0"/>
              <a:t>program must be executed in the optimized </a:t>
            </a:r>
            <a:r>
              <a:rPr lang="en-US" dirty="0" smtClean="0"/>
              <a:t>one.</a:t>
            </a:r>
          </a:p>
          <a:p>
            <a:pPr algn="just"/>
            <a:r>
              <a:rPr lang="en-US" b="1" dirty="0"/>
              <a:t>Data-dependence </a:t>
            </a:r>
            <a:r>
              <a:rPr lang="en-US" b="1" dirty="0" smtClean="0"/>
              <a:t>constraints: </a:t>
            </a:r>
            <a:r>
              <a:rPr lang="en-US" dirty="0"/>
              <a:t>The operations in the optimized program must produce the same results as the corresponding ones in the original program. </a:t>
            </a:r>
          </a:p>
          <a:p>
            <a:pPr algn="just"/>
            <a:r>
              <a:rPr lang="en-US" b="1" dirty="0" smtClean="0"/>
              <a:t>Resource constraints:</a:t>
            </a:r>
            <a:r>
              <a:rPr lang="en-US" dirty="0" smtClean="0"/>
              <a:t> </a:t>
            </a:r>
            <a:r>
              <a:rPr lang="en-US" dirty="0"/>
              <a:t>The schedule must not oversubscribe the resources on the </a:t>
            </a:r>
            <a:r>
              <a:rPr lang="en-US" dirty="0" smtClean="0"/>
              <a:t>machine.</a:t>
            </a:r>
          </a:p>
          <a:p>
            <a:pPr marL="0" indent="0" algn="just">
              <a:buNone/>
            </a:pPr>
            <a:endParaRPr lang="en-US" dirty="0" smtClean="0"/>
          </a:p>
          <a:p>
            <a:pPr marL="0" indent="0" algn="just">
              <a:buNone/>
            </a:pPr>
            <a:r>
              <a:rPr lang="en-US" b="1" dirty="0" smtClean="0"/>
              <a:t>These </a:t>
            </a:r>
            <a:r>
              <a:rPr lang="en-US" b="1" dirty="0"/>
              <a:t>scheduling constraints guarantee that the optimized program pro </a:t>
            </a:r>
            <a:r>
              <a:rPr lang="en-US" b="1" dirty="0" err="1"/>
              <a:t>duces</a:t>
            </a:r>
            <a:r>
              <a:rPr lang="en-US" b="1" dirty="0"/>
              <a:t> the same results as the original.</a:t>
            </a:r>
            <a:endParaRPr lang="en-US" b="1" dirty="0" smtClean="0"/>
          </a:p>
          <a:p>
            <a:pPr algn="just"/>
            <a:endParaRPr lang="en-US" dirty="0"/>
          </a:p>
        </p:txBody>
      </p:sp>
    </p:spTree>
    <p:extLst>
      <p:ext uri="{BB962C8B-B14F-4D97-AF65-F5344CB8AC3E}">
        <p14:creationId xmlns:p14="http://schemas.microsoft.com/office/powerpoint/2010/main" val="45056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Dependence</a:t>
            </a:r>
            <a:endParaRPr lang="en-US" dirty="0"/>
          </a:p>
        </p:txBody>
      </p:sp>
      <p:sp>
        <p:nvSpPr>
          <p:cNvPr id="3" name="Content Placeholder 2"/>
          <p:cNvSpPr>
            <a:spLocks noGrp="1"/>
          </p:cNvSpPr>
          <p:nvPr>
            <p:ph idx="1"/>
          </p:nvPr>
        </p:nvSpPr>
        <p:spPr>
          <a:xfrm>
            <a:off x="774989" y="1521397"/>
            <a:ext cx="8596668" cy="5021446"/>
          </a:xfrm>
        </p:spPr>
        <p:txBody>
          <a:bodyPr>
            <a:normAutofit/>
          </a:bodyPr>
          <a:lstStyle/>
          <a:p>
            <a:pPr algn="just"/>
            <a:r>
              <a:rPr lang="en-US" b="1" dirty="0"/>
              <a:t>True dependence: </a:t>
            </a:r>
            <a:r>
              <a:rPr lang="en-US" dirty="0"/>
              <a:t>read after write. If a write is followed by a read of the same location, the read depends on the value written; such a dependence is known as a true </a:t>
            </a:r>
            <a:r>
              <a:rPr lang="en-US" dirty="0" smtClean="0"/>
              <a:t>dependence.</a:t>
            </a:r>
          </a:p>
          <a:p>
            <a:pPr algn="just"/>
            <a:r>
              <a:rPr lang="en-US" b="1" dirty="0" err="1" smtClean="0"/>
              <a:t>Antidependence</a:t>
            </a:r>
            <a:r>
              <a:rPr lang="en-US" b="1" dirty="0"/>
              <a:t>: </a:t>
            </a:r>
            <a:r>
              <a:rPr lang="en-US" dirty="0"/>
              <a:t>write after read. If a read is followed by a write to the same location, </a:t>
            </a:r>
            <a:r>
              <a:rPr lang="en-US" dirty="0" smtClean="0"/>
              <a:t>we say </a:t>
            </a:r>
            <a:r>
              <a:rPr lang="en-US" dirty="0"/>
              <a:t>that there is an </a:t>
            </a:r>
            <a:r>
              <a:rPr lang="en-US" dirty="0" err="1"/>
              <a:t>antidependence</a:t>
            </a:r>
            <a:r>
              <a:rPr lang="en-US" dirty="0"/>
              <a:t> from the read to the </a:t>
            </a:r>
            <a:r>
              <a:rPr lang="en-US" dirty="0" smtClean="0"/>
              <a:t>write</a:t>
            </a:r>
          </a:p>
          <a:p>
            <a:pPr algn="just"/>
            <a:r>
              <a:rPr lang="en-US" b="1" dirty="0" smtClean="0"/>
              <a:t>Output </a:t>
            </a:r>
            <a:r>
              <a:rPr lang="en-US" b="1" dirty="0"/>
              <a:t>dependence:</a:t>
            </a:r>
            <a:r>
              <a:rPr lang="en-US" dirty="0"/>
              <a:t> write after write. Two writes to the same location share an output dependence. If the dependence is violated, the value of the memory location written will have the wrong value after both operations are </a:t>
            </a:r>
            <a:r>
              <a:rPr lang="en-US" dirty="0" smtClean="0"/>
              <a:t>performed. </a:t>
            </a:r>
          </a:p>
          <a:p>
            <a:pPr marL="0" indent="0" algn="just">
              <a:buNone/>
            </a:pPr>
            <a:r>
              <a:rPr lang="en-US" b="1" dirty="0" err="1"/>
              <a:t>Antidependence</a:t>
            </a:r>
            <a:r>
              <a:rPr lang="en-US" b="1" dirty="0"/>
              <a:t> and output dependences are referred to as storage-related </a:t>
            </a:r>
            <a:r>
              <a:rPr lang="en-US" b="1" dirty="0" smtClean="0"/>
              <a:t>dependences</a:t>
            </a:r>
            <a:r>
              <a:rPr lang="en-US" b="1" dirty="0"/>
              <a:t>. </a:t>
            </a:r>
            <a:endParaRPr lang="en-US" b="1" dirty="0" smtClean="0"/>
          </a:p>
          <a:p>
            <a:pPr marL="0" indent="0" algn="just">
              <a:buNone/>
            </a:pPr>
            <a:r>
              <a:rPr lang="en-US" b="1" dirty="0"/>
              <a:t>These are not </a:t>
            </a:r>
            <a:r>
              <a:rPr lang="en-US" b="1" dirty="0" smtClean="0"/>
              <a:t>true </a:t>
            </a:r>
            <a:r>
              <a:rPr lang="en-US" b="1" dirty="0"/>
              <a:t>dependences and can be eliminated by using </a:t>
            </a:r>
            <a:r>
              <a:rPr lang="en-US" b="1" dirty="0" smtClean="0"/>
              <a:t>different </a:t>
            </a:r>
            <a:r>
              <a:rPr lang="en-US" b="1" dirty="0"/>
              <a:t>locations to store </a:t>
            </a:r>
            <a:r>
              <a:rPr lang="en-US" b="1" dirty="0" smtClean="0"/>
              <a:t>different values</a:t>
            </a:r>
            <a:r>
              <a:rPr lang="en-US" b="1" dirty="0"/>
              <a:t>. </a:t>
            </a:r>
          </a:p>
        </p:txBody>
      </p:sp>
    </p:spTree>
    <p:extLst>
      <p:ext uri="{BB962C8B-B14F-4D97-AF65-F5344CB8AC3E}">
        <p14:creationId xmlns:p14="http://schemas.microsoft.com/office/powerpoint/2010/main" val="3120419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Antidependences</a:t>
            </a:r>
            <a:endParaRPr lang="en-US" dirty="0"/>
          </a:p>
        </p:txBody>
      </p:sp>
      <p:sp>
        <p:nvSpPr>
          <p:cNvPr id="3" name="Content Placeholder 2"/>
          <p:cNvSpPr>
            <a:spLocks noGrp="1"/>
          </p:cNvSpPr>
          <p:nvPr>
            <p:ph idx="1"/>
          </p:nvPr>
        </p:nvSpPr>
        <p:spPr>
          <a:xfrm>
            <a:off x="677334" y="1247775"/>
            <a:ext cx="8596668" cy="4793587"/>
          </a:xfrm>
        </p:spPr>
        <p:txBody>
          <a:bodyPr/>
          <a:lstStyle/>
          <a:p>
            <a:pPr algn="just"/>
            <a:r>
              <a:rPr lang="en-US" dirty="0" err="1"/>
              <a:t>Antidependences</a:t>
            </a:r>
            <a:r>
              <a:rPr lang="en-US" dirty="0"/>
              <a:t> are not real dependences, in the sense that they do not arise from the flow of data. </a:t>
            </a:r>
            <a:endParaRPr lang="en-US" dirty="0" smtClean="0"/>
          </a:p>
          <a:p>
            <a:pPr algn="just"/>
            <a:r>
              <a:rPr lang="en-US" dirty="0" smtClean="0"/>
              <a:t>They </a:t>
            </a:r>
            <a:r>
              <a:rPr lang="en-US" dirty="0"/>
              <a:t>are due to a single location being used to store different values. Most of the time, </a:t>
            </a:r>
            <a:r>
              <a:rPr lang="en-US" dirty="0" err="1"/>
              <a:t>antidependences</a:t>
            </a:r>
            <a:r>
              <a:rPr lang="en-US" dirty="0"/>
              <a:t> can be removed by renaming locations — e.g. registers. </a:t>
            </a:r>
            <a:endParaRPr lang="en-US" dirty="0" smtClean="0"/>
          </a:p>
          <a:p>
            <a:pPr algn="just"/>
            <a:r>
              <a:rPr lang="en-US" dirty="0" smtClean="0"/>
              <a:t>In </a:t>
            </a:r>
            <a:r>
              <a:rPr lang="en-US" dirty="0"/>
              <a:t>the example below, the program on the left contains a WAW </a:t>
            </a:r>
            <a:r>
              <a:rPr lang="en-US" dirty="0" err="1"/>
              <a:t>antidependence</a:t>
            </a:r>
            <a:r>
              <a:rPr lang="en-US" dirty="0"/>
              <a:t> between the two memory load instructions, that can be removed by renaming the second use of </a:t>
            </a:r>
            <a:r>
              <a:rPr lang="en-US" dirty="0" smtClean="0"/>
              <a:t>R1.</a:t>
            </a:r>
          </a:p>
          <a:p>
            <a:pPr algn="just"/>
            <a:endParaRPr lang="en-US" dirty="0"/>
          </a:p>
        </p:txBody>
      </p:sp>
      <p:pic>
        <p:nvPicPr>
          <p:cNvPr id="4" name="Picture 3"/>
          <p:cNvPicPr>
            <a:picLocks noChangeAspect="1"/>
          </p:cNvPicPr>
          <p:nvPr/>
        </p:nvPicPr>
        <p:blipFill>
          <a:blip r:embed="rId2"/>
          <a:stretch>
            <a:fillRect/>
          </a:stretch>
        </p:blipFill>
        <p:spPr>
          <a:xfrm>
            <a:off x="1571625" y="4095750"/>
            <a:ext cx="7605712" cy="2104220"/>
          </a:xfrm>
          <a:prstGeom prst="rect">
            <a:avLst/>
          </a:prstGeom>
        </p:spPr>
      </p:pic>
    </p:spTree>
    <p:extLst>
      <p:ext uri="{BB962C8B-B14F-4D97-AF65-F5344CB8AC3E}">
        <p14:creationId xmlns:p14="http://schemas.microsoft.com/office/powerpoint/2010/main" val="4291588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Instruction ordering</a:t>
            </a:r>
          </a:p>
        </p:txBody>
      </p:sp>
      <p:sp>
        <p:nvSpPr>
          <p:cNvPr id="3" name="Content Placeholder 2"/>
          <p:cNvSpPr>
            <a:spLocks noGrp="1"/>
          </p:cNvSpPr>
          <p:nvPr>
            <p:ph idx="1"/>
          </p:nvPr>
        </p:nvSpPr>
        <p:spPr>
          <a:xfrm>
            <a:off x="677334" y="2160589"/>
            <a:ext cx="8596668" cy="4408887"/>
          </a:xfrm>
        </p:spPr>
        <p:txBody>
          <a:bodyPr>
            <a:normAutofit/>
          </a:bodyPr>
          <a:lstStyle/>
          <a:p>
            <a:pPr algn="just"/>
            <a:r>
              <a:rPr lang="en-US" dirty="0"/>
              <a:t>When a compiler emits the instructions corresponding to a program, it imposes a total order on them. </a:t>
            </a:r>
            <a:endParaRPr lang="en-US" dirty="0" smtClean="0"/>
          </a:p>
          <a:p>
            <a:pPr algn="just"/>
            <a:r>
              <a:rPr lang="en-US" dirty="0" smtClean="0"/>
              <a:t>However</a:t>
            </a:r>
            <a:r>
              <a:rPr lang="en-US" dirty="0"/>
              <a:t>, that order is usually not the only valid one, in the sense that it can be changed without modifying the program’s behavior. </a:t>
            </a:r>
            <a:endParaRPr lang="en-US" dirty="0" smtClean="0"/>
          </a:p>
          <a:p>
            <a:pPr algn="just"/>
            <a:r>
              <a:rPr lang="en-US" dirty="0" smtClean="0"/>
              <a:t>For </a:t>
            </a:r>
            <a:r>
              <a:rPr lang="en-US" dirty="0"/>
              <a:t>example, if two instructions i1 and i2 appear sequentially in that order and are independent, then it is possible to swap them</a:t>
            </a:r>
            <a:r>
              <a:rPr lang="en-US" dirty="0" smtClean="0"/>
              <a:t>.</a:t>
            </a:r>
          </a:p>
          <a:p>
            <a:pPr algn="just"/>
            <a:r>
              <a:rPr lang="en-US" dirty="0"/>
              <a:t>Among all the valid permutations of the instructions composing a program — i.e. those that preserve the program’s behavior — some can be more desirable than others. </a:t>
            </a:r>
            <a:endParaRPr lang="en-US" dirty="0" smtClean="0"/>
          </a:p>
          <a:p>
            <a:pPr algn="just"/>
            <a:r>
              <a:rPr lang="en-US" dirty="0" smtClean="0"/>
              <a:t>For </a:t>
            </a:r>
            <a:r>
              <a:rPr lang="en-US" dirty="0"/>
              <a:t>example, one order might lead to a faster program on some machine, because of architectural constraints. The aim of instruction scheduling is to find a valid order that optimizes some metric, like execution speed.</a:t>
            </a:r>
          </a:p>
        </p:txBody>
      </p:sp>
    </p:spTree>
    <p:extLst>
      <p:ext uri="{BB962C8B-B14F-4D97-AF65-F5344CB8AC3E}">
        <p14:creationId xmlns:p14="http://schemas.microsoft.com/office/powerpoint/2010/main" val="41707191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Instruction Scheduling Example</a:t>
            </a:r>
            <a:endParaRPr lang="en-US" dirty="0"/>
          </a:p>
        </p:txBody>
      </p:sp>
      <p:pic>
        <p:nvPicPr>
          <p:cNvPr id="4" name="Content Placeholder 3"/>
          <p:cNvPicPr>
            <a:picLocks noGrp="1" noChangeAspect="1"/>
          </p:cNvPicPr>
          <p:nvPr>
            <p:ph idx="1"/>
          </p:nvPr>
        </p:nvPicPr>
        <p:blipFill>
          <a:blip r:embed="rId2"/>
          <a:stretch>
            <a:fillRect/>
          </a:stretch>
        </p:blipFill>
        <p:spPr>
          <a:xfrm>
            <a:off x="1029810" y="1636216"/>
            <a:ext cx="8034291" cy="4764584"/>
          </a:xfrm>
          <a:prstGeom prst="rect">
            <a:avLst/>
          </a:prstGeom>
        </p:spPr>
      </p:pic>
    </p:spTree>
    <p:extLst>
      <p:ext uri="{BB962C8B-B14F-4D97-AF65-F5344CB8AC3E}">
        <p14:creationId xmlns:p14="http://schemas.microsoft.com/office/powerpoint/2010/main" val="32281863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2444826" y="580008"/>
            <a:ext cx="4905375" cy="5838825"/>
          </a:xfrm>
          <a:prstGeom prst="rect">
            <a:avLst/>
          </a:prstGeom>
        </p:spPr>
      </p:pic>
    </p:spTree>
    <p:extLst>
      <p:ext uri="{BB962C8B-B14F-4D97-AF65-F5344CB8AC3E}">
        <p14:creationId xmlns:p14="http://schemas.microsoft.com/office/powerpoint/2010/main" val="695193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 name="Picture 4"/>
          <p:cNvPicPr>
            <a:picLocks noChangeAspect="1"/>
          </p:cNvPicPr>
          <p:nvPr/>
        </p:nvPicPr>
        <p:blipFill>
          <a:blip r:embed="rId2"/>
          <a:stretch>
            <a:fillRect/>
          </a:stretch>
        </p:blipFill>
        <p:spPr>
          <a:xfrm>
            <a:off x="619125" y="219075"/>
            <a:ext cx="10801350" cy="6491720"/>
          </a:xfrm>
          <a:prstGeom prst="rect">
            <a:avLst/>
          </a:prstGeom>
        </p:spPr>
      </p:pic>
    </p:spTree>
    <p:extLst>
      <p:ext uri="{BB962C8B-B14F-4D97-AF65-F5344CB8AC3E}">
        <p14:creationId xmlns:p14="http://schemas.microsoft.com/office/powerpoint/2010/main" val="32461366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(a + b) + c + (d + e)</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677334" y="2238375"/>
            <a:ext cx="4752975" cy="2190750"/>
          </a:xfrm>
          <a:prstGeom prst="rect">
            <a:avLst/>
          </a:prstGeom>
        </p:spPr>
      </p:pic>
      <p:pic>
        <p:nvPicPr>
          <p:cNvPr id="5" name="Picture 4"/>
          <p:cNvPicPr>
            <a:picLocks noChangeAspect="1"/>
          </p:cNvPicPr>
          <p:nvPr/>
        </p:nvPicPr>
        <p:blipFill>
          <a:blip r:embed="rId3"/>
          <a:stretch>
            <a:fillRect/>
          </a:stretch>
        </p:blipFill>
        <p:spPr>
          <a:xfrm>
            <a:off x="5781675" y="2519362"/>
            <a:ext cx="3352800" cy="2371725"/>
          </a:xfrm>
          <a:prstGeom prst="rect">
            <a:avLst/>
          </a:prstGeom>
        </p:spPr>
      </p:pic>
    </p:spTree>
    <p:extLst>
      <p:ext uri="{BB962C8B-B14F-4D97-AF65-F5344CB8AC3E}">
        <p14:creationId xmlns:p14="http://schemas.microsoft.com/office/powerpoint/2010/main" val="952336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Parallel evaluation of the expression</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233362" y="2271712"/>
            <a:ext cx="10779138" cy="2681288"/>
          </a:xfrm>
          <a:prstGeom prst="rect">
            <a:avLst/>
          </a:prstGeom>
        </p:spPr>
      </p:pic>
    </p:spTree>
    <p:extLst>
      <p:ext uri="{BB962C8B-B14F-4D97-AF65-F5344CB8AC3E}">
        <p14:creationId xmlns:p14="http://schemas.microsoft.com/office/powerpoint/2010/main" val="418664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Dependence Graph</a:t>
            </a:r>
            <a:endParaRPr lang="en-US" dirty="0"/>
          </a:p>
        </p:txBody>
      </p:sp>
      <p:sp>
        <p:nvSpPr>
          <p:cNvPr id="3" name="Content Placeholder 2"/>
          <p:cNvSpPr>
            <a:spLocks noGrp="1"/>
          </p:cNvSpPr>
          <p:nvPr>
            <p:ph idx="1"/>
          </p:nvPr>
        </p:nvSpPr>
        <p:spPr/>
        <p:txBody>
          <a:bodyPr/>
          <a:lstStyle/>
          <a:p>
            <a:pPr algn="just"/>
            <a:r>
              <a:rPr lang="en-US" dirty="0"/>
              <a:t>The dependence graph is a directed graph representing dependences among instructions. </a:t>
            </a:r>
            <a:endParaRPr lang="en-US" dirty="0" smtClean="0"/>
          </a:p>
          <a:p>
            <a:pPr algn="just"/>
            <a:r>
              <a:rPr lang="en-US" dirty="0" smtClean="0"/>
              <a:t>Its </a:t>
            </a:r>
            <a:r>
              <a:rPr lang="en-US" dirty="0"/>
              <a:t>nodes are the instructions to schedule, and there is an edge from node n1 to node n2 </a:t>
            </a:r>
            <a:r>
              <a:rPr lang="en-US" dirty="0" err="1"/>
              <a:t>iff</a:t>
            </a:r>
            <a:r>
              <a:rPr lang="en-US" dirty="0"/>
              <a:t> the instruction of n2 depends on n1. </a:t>
            </a:r>
            <a:endParaRPr lang="en-US" dirty="0" smtClean="0"/>
          </a:p>
          <a:p>
            <a:pPr algn="just"/>
            <a:r>
              <a:rPr lang="en-US" dirty="0" smtClean="0"/>
              <a:t>Any </a:t>
            </a:r>
            <a:r>
              <a:rPr lang="en-US" dirty="0"/>
              <a:t>topological sort of the nodes of this graph represents a valid way to schedule the instructions</a:t>
            </a:r>
          </a:p>
        </p:txBody>
      </p:sp>
    </p:spTree>
    <p:extLst>
      <p:ext uri="{BB962C8B-B14F-4D97-AF65-F5344CB8AC3E}">
        <p14:creationId xmlns:p14="http://schemas.microsoft.com/office/powerpoint/2010/main" val="12687748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Dependence Graph Example</a:t>
            </a:r>
            <a:endParaRPr lang="en-US" dirty="0"/>
          </a:p>
        </p:txBody>
      </p:sp>
      <p:pic>
        <p:nvPicPr>
          <p:cNvPr id="4" name="Content Placeholder 3"/>
          <p:cNvPicPr>
            <a:picLocks noGrp="1" noChangeAspect="1"/>
          </p:cNvPicPr>
          <p:nvPr>
            <p:ph idx="1"/>
          </p:nvPr>
        </p:nvPicPr>
        <p:blipFill>
          <a:blip r:embed="rId2"/>
          <a:stretch>
            <a:fillRect/>
          </a:stretch>
        </p:blipFill>
        <p:spPr>
          <a:xfrm>
            <a:off x="631952" y="1296128"/>
            <a:ext cx="9767638" cy="5190397"/>
          </a:xfrm>
          <a:prstGeom prst="rect">
            <a:avLst/>
          </a:prstGeom>
        </p:spPr>
      </p:pic>
    </p:spTree>
    <p:extLst>
      <p:ext uri="{BB962C8B-B14F-4D97-AF65-F5344CB8AC3E}">
        <p14:creationId xmlns:p14="http://schemas.microsoft.com/office/powerpoint/2010/main" val="18847215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Difficulty of scheduling</a:t>
            </a:r>
          </a:p>
        </p:txBody>
      </p:sp>
      <p:sp>
        <p:nvSpPr>
          <p:cNvPr id="3" name="Content Placeholder 2"/>
          <p:cNvSpPr>
            <a:spLocks noGrp="1"/>
          </p:cNvSpPr>
          <p:nvPr>
            <p:ph idx="1"/>
          </p:nvPr>
        </p:nvSpPr>
        <p:spPr/>
        <p:txBody>
          <a:bodyPr/>
          <a:lstStyle/>
          <a:p>
            <a:pPr algn="just"/>
            <a:r>
              <a:rPr lang="en-US" dirty="0"/>
              <a:t>Optimal instruction scheduling is NP-complete. </a:t>
            </a:r>
            <a:endParaRPr lang="en-US" dirty="0" smtClean="0"/>
          </a:p>
          <a:p>
            <a:pPr algn="just"/>
            <a:r>
              <a:rPr lang="en-US" dirty="0" smtClean="0"/>
              <a:t>As </a:t>
            </a:r>
            <a:r>
              <a:rPr lang="en-US" dirty="0"/>
              <a:t>always, this implies that we will use techniques based on heuristics to find a good — but sometimes not optimal — solution to that problem. </a:t>
            </a:r>
            <a:endParaRPr lang="en-US" dirty="0" smtClean="0"/>
          </a:p>
          <a:p>
            <a:pPr algn="just"/>
            <a:r>
              <a:rPr lang="en-US" dirty="0" smtClean="0"/>
              <a:t>List </a:t>
            </a:r>
            <a:r>
              <a:rPr lang="en-US" dirty="0"/>
              <a:t>scheduling is a technique to schedule the instructions of a single basic block. </a:t>
            </a:r>
            <a:endParaRPr lang="en-US" dirty="0" smtClean="0"/>
          </a:p>
          <a:p>
            <a:pPr algn="just"/>
            <a:r>
              <a:rPr lang="en-US" dirty="0" smtClean="0"/>
              <a:t>Its </a:t>
            </a:r>
            <a:r>
              <a:rPr lang="en-US" dirty="0"/>
              <a:t>basic idea is to simulate the execution of the instructions, and to try to schedule instructions only when all their operands can be used without stalling the pipeline</a:t>
            </a:r>
          </a:p>
        </p:txBody>
      </p:sp>
    </p:spTree>
    <p:extLst>
      <p:ext uri="{BB962C8B-B14F-4D97-AF65-F5344CB8AC3E}">
        <p14:creationId xmlns:p14="http://schemas.microsoft.com/office/powerpoint/2010/main" val="15922356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List Scheduling Algorithm</a:t>
            </a:r>
            <a:endParaRPr lang="en-US" dirty="0"/>
          </a:p>
        </p:txBody>
      </p:sp>
      <p:sp>
        <p:nvSpPr>
          <p:cNvPr id="3" name="Content Placeholder 2"/>
          <p:cNvSpPr>
            <a:spLocks noGrp="1"/>
          </p:cNvSpPr>
          <p:nvPr>
            <p:ph idx="1"/>
          </p:nvPr>
        </p:nvSpPr>
        <p:spPr/>
        <p:txBody>
          <a:bodyPr/>
          <a:lstStyle/>
          <a:p>
            <a:pPr algn="just"/>
            <a:r>
              <a:rPr lang="en-US" dirty="0"/>
              <a:t>The list scheduling algorithm maintains two lists: – </a:t>
            </a:r>
            <a:endParaRPr lang="en-US" dirty="0" smtClean="0"/>
          </a:p>
          <a:p>
            <a:pPr lvl="1" algn="just"/>
            <a:r>
              <a:rPr lang="en-US" b="1" dirty="0"/>
              <a:t>R</a:t>
            </a:r>
            <a:r>
              <a:rPr lang="en-US" b="1" dirty="0" smtClean="0"/>
              <a:t>eady</a:t>
            </a:r>
            <a:r>
              <a:rPr lang="en-US" dirty="0" smtClean="0"/>
              <a:t> </a:t>
            </a:r>
            <a:r>
              <a:rPr lang="en-US" dirty="0"/>
              <a:t>is the list of instructions that could be scheduled without stall, ordered by priority, </a:t>
            </a:r>
          </a:p>
          <a:p>
            <a:pPr lvl="1" algn="just"/>
            <a:r>
              <a:rPr lang="en-US" b="1" dirty="0"/>
              <a:t>A</a:t>
            </a:r>
            <a:r>
              <a:rPr lang="en-US" b="1" dirty="0" smtClean="0"/>
              <a:t>ctive</a:t>
            </a:r>
            <a:r>
              <a:rPr lang="en-US" dirty="0" smtClean="0"/>
              <a:t> </a:t>
            </a:r>
            <a:r>
              <a:rPr lang="en-US" dirty="0"/>
              <a:t>is the list of instructions that are being executed. </a:t>
            </a:r>
            <a:endParaRPr lang="en-US" dirty="0" smtClean="0"/>
          </a:p>
          <a:p>
            <a:pPr algn="just"/>
            <a:r>
              <a:rPr lang="en-US" dirty="0" smtClean="0"/>
              <a:t>At </a:t>
            </a:r>
            <a:r>
              <a:rPr lang="en-US" dirty="0"/>
              <a:t>each step, the highest-priority instruction from ready is scheduled, and moved to active, where it stays for a time equal to its delay. </a:t>
            </a:r>
            <a:endParaRPr lang="en-US" dirty="0" smtClean="0"/>
          </a:p>
          <a:p>
            <a:pPr algn="just"/>
            <a:r>
              <a:rPr lang="en-US" dirty="0" smtClean="0"/>
              <a:t>Before </a:t>
            </a:r>
            <a:r>
              <a:rPr lang="en-US" dirty="0"/>
              <a:t>scheduling is performed, renaming is done to remove all </a:t>
            </a:r>
            <a:r>
              <a:rPr lang="en-US" dirty="0" err="1"/>
              <a:t>antidependences</a:t>
            </a:r>
            <a:r>
              <a:rPr lang="en-US" dirty="0"/>
              <a:t> that can be removed</a:t>
            </a:r>
          </a:p>
        </p:txBody>
      </p:sp>
    </p:spTree>
    <p:extLst>
      <p:ext uri="{BB962C8B-B14F-4D97-AF65-F5344CB8AC3E}">
        <p14:creationId xmlns:p14="http://schemas.microsoft.com/office/powerpoint/2010/main" val="42192085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Prioritizing instructions</a:t>
            </a:r>
          </a:p>
        </p:txBody>
      </p:sp>
      <p:sp>
        <p:nvSpPr>
          <p:cNvPr id="3" name="Content Placeholder 2"/>
          <p:cNvSpPr>
            <a:spLocks noGrp="1"/>
          </p:cNvSpPr>
          <p:nvPr>
            <p:ph idx="1"/>
          </p:nvPr>
        </p:nvSpPr>
        <p:spPr/>
        <p:txBody>
          <a:bodyPr/>
          <a:lstStyle/>
          <a:p>
            <a:r>
              <a:rPr lang="en-US" dirty="0"/>
              <a:t>Nodes (i.e. instructions) are sorted by priority in the ready list. </a:t>
            </a:r>
            <a:endParaRPr lang="en-US" dirty="0" smtClean="0"/>
          </a:p>
          <a:p>
            <a:r>
              <a:rPr lang="en-US" dirty="0" smtClean="0"/>
              <a:t>Several </a:t>
            </a:r>
            <a:r>
              <a:rPr lang="en-US" dirty="0"/>
              <a:t>schemes exist to compute the priority of a node, which can be equal to: – </a:t>
            </a:r>
            <a:endParaRPr lang="en-US" dirty="0" smtClean="0"/>
          </a:p>
          <a:p>
            <a:pPr lvl="1"/>
            <a:r>
              <a:rPr lang="en-US" dirty="0"/>
              <a:t>T</a:t>
            </a:r>
            <a:r>
              <a:rPr lang="en-US" dirty="0" smtClean="0"/>
              <a:t>he </a:t>
            </a:r>
            <a:r>
              <a:rPr lang="en-US" dirty="0"/>
              <a:t>length of the longest latency-weighted path from it to a root of the dependence graph, – </a:t>
            </a:r>
            <a:endParaRPr lang="en-US" dirty="0" smtClean="0"/>
          </a:p>
          <a:p>
            <a:pPr lvl="1"/>
            <a:r>
              <a:rPr lang="en-US" dirty="0"/>
              <a:t>T</a:t>
            </a:r>
            <a:r>
              <a:rPr lang="en-US" dirty="0" smtClean="0"/>
              <a:t>he </a:t>
            </a:r>
            <a:r>
              <a:rPr lang="en-US" dirty="0"/>
              <a:t>number of its immediate successors, – </a:t>
            </a:r>
            <a:endParaRPr lang="en-US" dirty="0" smtClean="0"/>
          </a:p>
          <a:p>
            <a:pPr lvl="1"/>
            <a:r>
              <a:rPr lang="en-US" dirty="0"/>
              <a:t>T</a:t>
            </a:r>
            <a:r>
              <a:rPr lang="en-US" dirty="0" smtClean="0"/>
              <a:t>he </a:t>
            </a:r>
            <a:r>
              <a:rPr lang="en-US" dirty="0"/>
              <a:t>number of its descendants, – </a:t>
            </a:r>
            <a:endParaRPr lang="en-US" dirty="0" smtClean="0"/>
          </a:p>
          <a:p>
            <a:pPr lvl="1"/>
            <a:r>
              <a:rPr lang="en-US" dirty="0"/>
              <a:t>I</a:t>
            </a:r>
            <a:r>
              <a:rPr lang="en-US" dirty="0" smtClean="0"/>
              <a:t>ts </a:t>
            </a:r>
            <a:r>
              <a:rPr lang="en-US" dirty="0"/>
              <a:t>latency, – etc. </a:t>
            </a:r>
            <a:endParaRPr lang="en-US" dirty="0" smtClean="0"/>
          </a:p>
          <a:p>
            <a:pPr marL="457200" lvl="1" indent="0">
              <a:buNone/>
            </a:pPr>
            <a:r>
              <a:rPr lang="en-US" b="1" dirty="0" smtClean="0"/>
              <a:t>Unfortunately</a:t>
            </a:r>
            <a:r>
              <a:rPr lang="en-US" b="1" dirty="0"/>
              <a:t>, no single scheme is better for all cases</a:t>
            </a:r>
          </a:p>
        </p:txBody>
      </p:sp>
    </p:spTree>
    <p:extLst>
      <p:ext uri="{BB962C8B-B14F-4D97-AF65-F5344CB8AC3E}">
        <p14:creationId xmlns:p14="http://schemas.microsoft.com/office/powerpoint/2010/main" val="25141745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330200" y="132269"/>
            <a:ext cx="9232900" cy="6297995"/>
          </a:xfrm>
          <a:prstGeom prst="rect">
            <a:avLst/>
          </a:prstGeom>
        </p:spPr>
      </p:pic>
    </p:spTree>
    <p:extLst>
      <p:ext uri="{BB962C8B-B14F-4D97-AF65-F5344CB8AC3E}">
        <p14:creationId xmlns:p14="http://schemas.microsoft.com/office/powerpoint/2010/main" val="18808287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Scheduling Conflicts</a:t>
            </a:r>
            <a:endParaRPr lang="en-US" dirty="0"/>
          </a:p>
        </p:txBody>
      </p:sp>
      <p:sp>
        <p:nvSpPr>
          <p:cNvPr id="3" name="Content Placeholder 2"/>
          <p:cNvSpPr>
            <a:spLocks noGrp="1"/>
          </p:cNvSpPr>
          <p:nvPr>
            <p:ph idx="1"/>
          </p:nvPr>
        </p:nvSpPr>
        <p:spPr>
          <a:xfrm>
            <a:off x="677334" y="1485901"/>
            <a:ext cx="8596668" cy="4555462"/>
          </a:xfrm>
        </p:spPr>
        <p:txBody>
          <a:bodyPr/>
          <a:lstStyle/>
          <a:p>
            <a:r>
              <a:rPr lang="en-US" dirty="0"/>
              <a:t>It is hard to decide whether scheduling should be done before or after register allocation. </a:t>
            </a:r>
            <a:endParaRPr lang="en-US" dirty="0" smtClean="0"/>
          </a:p>
          <a:p>
            <a:r>
              <a:rPr lang="en-US" dirty="0" smtClean="0"/>
              <a:t>If </a:t>
            </a:r>
            <a:r>
              <a:rPr lang="en-US" dirty="0"/>
              <a:t>register allocation is done first, it can introduce </a:t>
            </a:r>
            <a:r>
              <a:rPr lang="en-US" dirty="0" err="1"/>
              <a:t>antidependences</a:t>
            </a:r>
            <a:r>
              <a:rPr lang="en-US" dirty="0"/>
              <a:t> when reusing registers. </a:t>
            </a:r>
            <a:endParaRPr lang="en-US" dirty="0" smtClean="0"/>
          </a:p>
          <a:p>
            <a:r>
              <a:rPr lang="en-US" dirty="0" smtClean="0"/>
              <a:t>If </a:t>
            </a:r>
            <a:r>
              <a:rPr lang="en-US" dirty="0"/>
              <a:t>scheduling is done first, register allocation can introduce spilling code, destroying the schedule. </a:t>
            </a:r>
            <a:endParaRPr lang="en-US" dirty="0" smtClean="0"/>
          </a:p>
          <a:p>
            <a:r>
              <a:rPr lang="en-US" dirty="0" smtClean="0"/>
              <a:t>Solution</a:t>
            </a:r>
            <a:r>
              <a:rPr lang="en-US" dirty="0"/>
              <a:t>: schedule first, then allocate registers and schedule once more if spilling was necessary</a:t>
            </a:r>
          </a:p>
        </p:txBody>
      </p:sp>
    </p:spTree>
    <p:extLst>
      <p:ext uri="{BB962C8B-B14F-4D97-AF65-F5344CB8AC3E}">
        <p14:creationId xmlns:p14="http://schemas.microsoft.com/office/powerpoint/2010/main" val="4121070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295050442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59</TotalTime>
  <Words>1376</Words>
  <Application>Microsoft Office PowerPoint</Application>
  <PresentationFormat>Widescreen</PresentationFormat>
  <Paragraphs>85</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Trebuchet MS</vt:lpstr>
      <vt:lpstr>Wingdings 3</vt:lpstr>
      <vt:lpstr>Facet</vt:lpstr>
      <vt:lpstr>Instruction Level Parallelism</vt:lpstr>
      <vt:lpstr>How fast can a program be run on a processor with instruction-level parallelism?</vt:lpstr>
      <vt:lpstr>Processor Architectures</vt:lpstr>
      <vt:lpstr>Pipelined Execution</vt:lpstr>
      <vt:lpstr>Multiple Instruction Issue</vt:lpstr>
      <vt:lpstr>Coding Scheduling Constraints</vt:lpstr>
      <vt:lpstr>Data Dependence</vt:lpstr>
      <vt:lpstr>Antidependences</vt:lpstr>
      <vt:lpstr>Instruction ordering</vt:lpstr>
      <vt:lpstr>Instruction Scheduling Example</vt:lpstr>
      <vt:lpstr>PowerPoint Presentation</vt:lpstr>
      <vt:lpstr>PowerPoint Presentation</vt:lpstr>
      <vt:lpstr>(a + b) + c + (d + e)</vt:lpstr>
      <vt:lpstr>Parallel evaluation of the expression</vt:lpstr>
      <vt:lpstr>Dependence Graph</vt:lpstr>
      <vt:lpstr>Dependence Graph Example</vt:lpstr>
      <vt:lpstr>Difficulty of scheduling</vt:lpstr>
      <vt:lpstr>List Scheduling Algorithm</vt:lpstr>
      <vt:lpstr>Prioritizing instructions</vt:lpstr>
      <vt:lpstr>PowerPoint Presentation</vt:lpstr>
      <vt:lpstr>Scheduling Conflicts</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 Level Parallelism</dc:title>
  <dc:creator>dell</dc:creator>
  <cp:lastModifiedBy>dell</cp:lastModifiedBy>
  <cp:revision>34</cp:revision>
  <dcterms:created xsi:type="dcterms:W3CDTF">2024-11-14T14:42:48Z</dcterms:created>
  <dcterms:modified xsi:type="dcterms:W3CDTF">2024-11-14T15:42:24Z</dcterms:modified>
</cp:coreProperties>
</file>