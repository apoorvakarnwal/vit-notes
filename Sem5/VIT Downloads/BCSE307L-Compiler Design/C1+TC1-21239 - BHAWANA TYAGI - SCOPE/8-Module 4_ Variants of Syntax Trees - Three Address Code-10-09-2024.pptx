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7" r:id="rId19"/>
    <p:sldId id="281" r:id="rId20"/>
    <p:sldId id="278" r:id="rId21"/>
    <p:sldId id="279" r:id="rId22"/>
    <p:sldId id="282" r:id="rId23"/>
    <p:sldId id="274" r:id="rId24"/>
    <p:sldId id="284" r:id="rId25"/>
    <p:sldId id="285" r:id="rId26"/>
    <p:sldId id="275" r:id="rId27"/>
    <p:sldId id="286" r:id="rId28"/>
    <p:sldId id="288" r:id="rId29"/>
    <p:sldId id="287" r:id="rId30"/>
    <p:sldId id="283" r:id="rId31"/>
    <p:sldId id="27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485"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43B4147-2420-4761-ADF8-6138CD0A9D5B}"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EB0B90-A3BF-44EE-B3C6-FFB8C94F221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4860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43B4147-2420-4761-ADF8-6138CD0A9D5B}"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EB0B90-A3BF-44EE-B3C6-FFB8C94F221C}" type="slidenum">
              <a:rPr lang="en-US" smtClean="0"/>
              <a:t>‹#›</a:t>
            </a:fld>
            <a:endParaRPr lang="en-US"/>
          </a:p>
        </p:txBody>
      </p:sp>
    </p:spTree>
    <p:extLst>
      <p:ext uri="{BB962C8B-B14F-4D97-AF65-F5344CB8AC3E}">
        <p14:creationId xmlns:p14="http://schemas.microsoft.com/office/powerpoint/2010/main" val="3802333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43B4147-2420-4761-ADF8-6138CD0A9D5B}"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EB0B90-A3BF-44EE-B3C6-FFB8C94F221C}"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02549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43B4147-2420-4761-ADF8-6138CD0A9D5B}" type="datetimeFigureOut">
              <a:rPr lang="en-US" smtClean="0"/>
              <a:t>10/4/2024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EB0B90-A3BF-44EE-B3C6-FFB8C94F221C}" type="slidenum">
              <a:rPr lang="en-US" smtClean="0"/>
              <a:t>‹#›</a:t>
            </a:fld>
            <a:endParaRPr lang="en-US"/>
          </a:p>
        </p:txBody>
      </p:sp>
    </p:spTree>
    <p:extLst>
      <p:ext uri="{BB962C8B-B14F-4D97-AF65-F5344CB8AC3E}">
        <p14:creationId xmlns:p14="http://schemas.microsoft.com/office/powerpoint/2010/main" val="2536619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43B4147-2420-4761-ADF8-6138CD0A9D5B}" type="datetimeFigureOut">
              <a:rPr lang="en-US" smtClean="0"/>
              <a:t>10/4/2024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4EB0B90-A3BF-44EE-B3C6-FFB8C94F221C}" type="slidenum">
              <a:rPr lang="en-US" smtClean="0"/>
              <a:t>‹#›</a:t>
            </a:fld>
            <a:endParaRPr lang="en-US"/>
          </a:p>
        </p:txBody>
      </p:sp>
    </p:spTree>
    <p:extLst>
      <p:ext uri="{BB962C8B-B14F-4D97-AF65-F5344CB8AC3E}">
        <p14:creationId xmlns:p14="http://schemas.microsoft.com/office/powerpoint/2010/main" val="2890672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43B4147-2420-4761-ADF8-6138CD0A9D5B}" type="datetimeFigureOut">
              <a:rPr lang="en-US" smtClean="0"/>
              <a:t>10/4/2024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4EB0B90-A3BF-44EE-B3C6-FFB8C94F221C}" type="slidenum">
              <a:rPr lang="en-US" smtClean="0"/>
              <a:t>‹#›</a:t>
            </a:fld>
            <a:endParaRPr lang="en-US"/>
          </a:p>
        </p:txBody>
      </p:sp>
    </p:spTree>
    <p:extLst>
      <p:ext uri="{BB962C8B-B14F-4D97-AF65-F5344CB8AC3E}">
        <p14:creationId xmlns:p14="http://schemas.microsoft.com/office/powerpoint/2010/main" val="639555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343B4147-2420-4761-ADF8-6138CD0A9D5B}" type="datetimeFigureOut">
              <a:rPr lang="en-US" smtClean="0"/>
              <a:t>10/4/2024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D4EB0B90-A3BF-44EE-B3C6-FFB8C94F221C}" type="slidenum">
              <a:rPr lang="en-US" smtClean="0"/>
              <a:t>‹#›</a:t>
            </a:fld>
            <a:endParaRPr lang="en-US"/>
          </a:p>
        </p:txBody>
      </p:sp>
    </p:spTree>
    <p:extLst>
      <p:ext uri="{BB962C8B-B14F-4D97-AF65-F5344CB8AC3E}">
        <p14:creationId xmlns:p14="http://schemas.microsoft.com/office/powerpoint/2010/main" val="129014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43B4147-2420-4761-ADF8-6138CD0A9D5B}" type="datetimeFigureOut">
              <a:rPr lang="en-US" smtClean="0"/>
              <a:t>10/4/2024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4EB0B90-A3BF-44EE-B3C6-FFB8C94F221C}" type="slidenum">
              <a:rPr lang="en-US" smtClean="0"/>
              <a:t>‹#›</a:t>
            </a:fld>
            <a:endParaRPr lang="en-US"/>
          </a:p>
        </p:txBody>
      </p:sp>
    </p:spTree>
    <p:extLst>
      <p:ext uri="{BB962C8B-B14F-4D97-AF65-F5344CB8AC3E}">
        <p14:creationId xmlns:p14="http://schemas.microsoft.com/office/powerpoint/2010/main" val="10396753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3B4147-2420-4761-ADF8-6138CD0A9D5B}" type="datetimeFigureOut">
              <a:rPr lang="en-US" smtClean="0"/>
              <a:t>10/4/2024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4EB0B90-A3BF-44EE-B3C6-FFB8C94F221C}" type="slidenum">
              <a:rPr lang="en-US" smtClean="0"/>
              <a:t>‹#›</a:t>
            </a:fld>
            <a:endParaRPr lang="en-US"/>
          </a:p>
        </p:txBody>
      </p:sp>
    </p:spTree>
    <p:extLst>
      <p:ext uri="{BB962C8B-B14F-4D97-AF65-F5344CB8AC3E}">
        <p14:creationId xmlns:p14="http://schemas.microsoft.com/office/powerpoint/2010/main" val="1121501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43B4147-2420-4761-ADF8-6138CD0A9D5B}"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EB0B90-A3BF-44EE-B3C6-FFB8C94F221C}" type="slidenum">
              <a:rPr lang="en-US" smtClean="0"/>
              <a:t>‹#›</a:t>
            </a:fld>
            <a:endParaRPr lang="en-US"/>
          </a:p>
        </p:txBody>
      </p:sp>
    </p:spTree>
    <p:extLst>
      <p:ext uri="{BB962C8B-B14F-4D97-AF65-F5344CB8AC3E}">
        <p14:creationId xmlns:p14="http://schemas.microsoft.com/office/powerpoint/2010/main" val="28368232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43B4147-2420-4761-ADF8-6138CD0A9D5B}" type="datetimeFigureOut">
              <a:rPr lang="en-US" smtClean="0"/>
              <a:t>10/4/2024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4EB0B90-A3BF-44EE-B3C6-FFB8C94F221C}" type="slidenum">
              <a:rPr lang="en-US" smtClean="0"/>
              <a:t>‹#›</a:t>
            </a:fld>
            <a:endParaRPr lang="en-US"/>
          </a:p>
        </p:txBody>
      </p:sp>
    </p:spTree>
    <p:extLst>
      <p:ext uri="{BB962C8B-B14F-4D97-AF65-F5344CB8AC3E}">
        <p14:creationId xmlns:p14="http://schemas.microsoft.com/office/powerpoint/2010/main" val="2513694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343B4147-2420-4761-ADF8-6138CD0A9D5B}" type="datetimeFigureOut">
              <a:rPr lang="en-US" smtClean="0"/>
              <a:t>10/4/2024</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4EB0B90-A3BF-44EE-B3C6-FFB8C94F221C}"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60899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Intermediate Code Generation</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0629254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Direct Acyclic Graph</a:t>
            </a:r>
            <a:endParaRPr lang="en-US" dirty="0"/>
          </a:p>
        </p:txBody>
      </p:sp>
      <p:sp>
        <p:nvSpPr>
          <p:cNvPr id="3" name="Content Placeholder 2"/>
          <p:cNvSpPr>
            <a:spLocks noGrp="1"/>
          </p:cNvSpPr>
          <p:nvPr>
            <p:ph idx="1"/>
          </p:nvPr>
        </p:nvSpPr>
        <p:spPr/>
        <p:txBody>
          <a:bodyPr/>
          <a:lstStyle/>
          <a:p>
            <a:pPr algn="just"/>
            <a:r>
              <a:rPr lang="en-US" dirty="0" smtClean="0"/>
              <a:t>Like the syntax tree for an expression, a DAG has leaves corresponding to atomic operands and interior nodes corresponding to operators. </a:t>
            </a:r>
          </a:p>
          <a:p>
            <a:pPr algn="just"/>
            <a:r>
              <a:rPr lang="en-US" dirty="0" smtClean="0"/>
              <a:t>The difference is that a node N in a DAG has more than one parent. if N represents a common sub expression;</a:t>
            </a:r>
          </a:p>
          <a:p>
            <a:pPr algn="just"/>
            <a:r>
              <a:rPr lang="en-US" dirty="0" smtClean="0"/>
              <a:t>In a syntax tree, the tree for the common sub expression would be replicated as many times as the sub expression appears in the original expression. Thus, a DAG not only represents expressions more succinctly, it gives the compiler important clues regarding the generation of efficient code to evaluate the expressions</a:t>
            </a:r>
            <a:endParaRPr lang="en-US" dirty="0"/>
          </a:p>
        </p:txBody>
      </p:sp>
    </p:spTree>
    <p:extLst>
      <p:ext uri="{BB962C8B-B14F-4D97-AF65-F5344CB8AC3E}">
        <p14:creationId xmlns:p14="http://schemas.microsoft.com/office/powerpoint/2010/main" val="20027970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Show the DAG for the expression a + a * (b- c) + (b- c) * d . </a:t>
            </a:r>
          </a:p>
        </p:txBody>
      </p:sp>
      <p:sp>
        <p:nvSpPr>
          <p:cNvPr id="3" name="Content Placeholder 2"/>
          <p:cNvSpPr>
            <a:spLocks noGrp="1"/>
          </p:cNvSpPr>
          <p:nvPr>
            <p:ph sz="half" idx="1"/>
          </p:nvPr>
        </p:nvSpPr>
        <p:spPr/>
        <p:txBody>
          <a:bodyPr/>
          <a:lstStyle/>
          <a:p>
            <a:pPr marL="284163" indent="-284163" algn="just">
              <a:buFont typeface="Arial" panose="020B0604020202020204" pitchFamily="34" charset="0"/>
              <a:buChar char="•"/>
            </a:pPr>
            <a:r>
              <a:rPr lang="en-US" dirty="0" smtClean="0"/>
              <a:t>The leaf for a has two parents, because a appears twice in the expression. </a:t>
            </a:r>
          </a:p>
          <a:p>
            <a:pPr marL="284163" indent="-284163" algn="just">
              <a:buFont typeface="Arial" panose="020B0604020202020204" pitchFamily="34" charset="0"/>
              <a:buChar char="•"/>
            </a:pPr>
            <a:r>
              <a:rPr lang="en-US" dirty="0" smtClean="0"/>
              <a:t>The two occurrences of the common </a:t>
            </a:r>
            <a:r>
              <a:rPr lang="en-US" dirty="0" err="1" smtClean="0"/>
              <a:t>subexpression</a:t>
            </a:r>
            <a:r>
              <a:rPr lang="en-US" dirty="0" smtClean="0"/>
              <a:t> b-c are represented by one node, the node labeled . </a:t>
            </a:r>
          </a:p>
          <a:p>
            <a:pPr marL="284163" indent="-284163" algn="just">
              <a:buFont typeface="Arial" panose="020B0604020202020204" pitchFamily="34" charset="0"/>
              <a:buChar char="•"/>
            </a:pPr>
            <a:r>
              <a:rPr lang="en-US" dirty="0" smtClean="0"/>
              <a:t>That node has two parents, representing its two uses in the </a:t>
            </a:r>
            <a:r>
              <a:rPr lang="en-US" dirty="0" err="1" smtClean="0"/>
              <a:t>subexpressions</a:t>
            </a:r>
            <a:r>
              <a:rPr lang="en-US" dirty="0" smtClean="0"/>
              <a:t> a*(b-c) and (b-c)*d. </a:t>
            </a:r>
          </a:p>
          <a:p>
            <a:pPr marL="284163" indent="-284163" algn="just">
              <a:buFont typeface="Arial" panose="020B0604020202020204" pitchFamily="34" charset="0"/>
              <a:buChar char="•"/>
            </a:pPr>
            <a:r>
              <a:rPr lang="en-US" dirty="0" smtClean="0"/>
              <a:t>Even though b and c appear twice in the complete expression, their nodes each have one parent, since both uses are in the common </a:t>
            </a:r>
            <a:r>
              <a:rPr lang="en-US" dirty="0" err="1" smtClean="0"/>
              <a:t>subexpression</a:t>
            </a:r>
            <a:r>
              <a:rPr lang="en-US" dirty="0" smtClean="0"/>
              <a:t> b-c.</a:t>
            </a:r>
            <a:endParaRPr lang="en-US" dirty="0"/>
          </a:p>
        </p:txBody>
      </p:sp>
      <p:sp>
        <p:nvSpPr>
          <p:cNvPr id="5" name="Content Placeholder 4"/>
          <p:cNvSpPr>
            <a:spLocks noGrp="1"/>
          </p:cNvSpPr>
          <p:nvPr>
            <p:ph sz="half" idx="2"/>
          </p:nvPr>
        </p:nvSpPr>
        <p:spPr/>
        <p:txBody>
          <a:bodyPr/>
          <a:lstStyle/>
          <a:p>
            <a:endParaRPr lang="en-US"/>
          </a:p>
        </p:txBody>
      </p:sp>
      <p:pic>
        <p:nvPicPr>
          <p:cNvPr id="4" name="Picture 3"/>
          <p:cNvPicPr>
            <a:picLocks noChangeAspect="1"/>
          </p:cNvPicPr>
          <p:nvPr/>
        </p:nvPicPr>
        <p:blipFill>
          <a:blip r:embed="rId2"/>
          <a:stretch>
            <a:fillRect/>
          </a:stretch>
        </p:blipFill>
        <p:spPr>
          <a:xfrm>
            <a:off x="6412058" y="1929472"/>
            <a:ext cx="4549483" cy="3071569"/>
          </a:xfrm>
          <a:prstGeom prst="rect">
            <a:avLst/>
          </a:prstGeom>
        </p:spPr>
      </p:pic>
    </p:spTree>
    <p:extLst>
      <p:ext uri="{BB962C8B-B14F-4D97-AF65-F5344CB8AC3E}">
        <p14:creationId xmlns:p14="http://schemas.microsoft.com/office/powerpoint/2010/main" val="359244073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88140" y="365125"/>
            <a:ext cx="3314470" cy="1325563"/>
          </a:xfrm>
        </p:spPr>
        <p:txBody>
          <a:bodyPr>
            <a:noAutofit/>
          </a:bodyPr>
          <a:lstStyle/>
          <a:p>
            <a:r>
              <a:rPr lang="en-US" sz="2400" dirty="0"/>
              <a:t>Syntax-directed </a:t>
            </a:r>
            <a:r>
              <a:rPr lang="en-US" sz="2400" dirty="0" smtClean="0"/>
              <a:t>definition </a:t>
            </a:r>
            <a:r>
              <a:rPr lang="en-US" sz="2400" dirty="0"/>
              <a:t>to produce syntax trees or DAG's</a:t>
            </a:r>
          </a:p>
        </p:txBody>
      </p:sp>
      <p:pic>
        <p:nvPicPr>
          <p:cNvPr id="4" name="Content Placeholder 3"/>
          <p:cNvPicPr>
            <a:picLocks noGrp="1" noChangeAspect="1"/>
          </p:cNvPicPr>
          <p:nvPr>
            <p:ph idx="1"/>
          </p:nvPr>
        </p:nvPicPr>
        <p:blipFill>
          <a:blip r:embed="rId2"/>
          <a:stretch>
            <a:fillRect/>
          </a:stretch>
        </p:blipFill>
        <p:spPr>
          <a:xfrm>
            <a:off x="201366" y="47625"/>
            <a:ext cx="8486775" cy="3286125"/>
          </a:xfrm>
          <a:prstGeom prst="rect">
            <a:avLst/>
          </a:prstGeom>
        </p:spPr>
      </p:pic>
      <p:pic>
        <p:nvPicPr>
          <p:cNvPr id="5" name="Picture 4"/>
          <p:cNvPicPr>
            <a:picLocks noChangeAspect="1"/>
          </p:cNvPicPr>
          <p:nvPr/>
        </p:nvPicPr>
        <p:blipFill>
          <a:blip r:embed="rId3"/>
          <a:stretch>
            <a:fillRect/>
          </a:stretch>
        </p:blipFill>
        <p:spPr>
          <a:xfrm>
            <a:off x="7777856" y="2008188"/>
            <a:ext cx="4324350" cy="4600575"/>
          </a:xfrm>
          <a:prstGeom prst="rect">
            <a:avLst/>
          </a:prstGeom>
        </p:spPr>
      </p:pic>
      <p:sp>
        <p:nvSpPr>
          <p:cNvPr id="6" name="Rectangle 5"/>
          <p:cNvSpPr/>
          <p:nvPr/>
        </p:nvSpPr>
        <p:spPr>
          <a:xfrm>
            <a:off x="426129" y="3151573"/>
            <a:ext cx="6924582" cy="3329126"/>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just"/>
            <a:r>
              <a:rPr lang="en-US" sz="2400" dirty="0"/>
              <a:t>It will construct a DAG if, before creating a new node, these functions </a:t>
            </a:r>
            <a:r>
              <a:rPr lang="en-US" sz="2400" dirty="0" smtClean="0"/>
              <a:t>first </a:t>
            </a:r>
            <a:r>
              <a:rPr lang="en-US" sz="2400" dirty="0"/>
              <a:t>check whether an identical node already exists. </a:t>
            </a:r>
            <a:r>
              <a:rPr lang="en-US" sz="2400" dirty="0" smtClean="0"/>
              <a:t>If </a:t>
            </a:r>
            <a:r>
              <a:rPr lang="en-US" sz="2400" dirty="0"/>
              <a:t>a previously created identical node exists, the existing node is returned. For instance, before constructing a new node, Node(</a:t>
            </a:r>
            <a:r>
              <a:rPr lang="en-US" sz="2400" dirty="0" err="1"/>
              <a:t>op;left;right</a:t>
            </a:r>
            <a:r>
              <a:rPr lang="en-US" sz="2400" dirty="0"/>
              <a:t>), </a:t>
            </a:r>
            <a:r>
              <a:rPr lang="en-US" sz="2400" dirty="0" smtClean="0"/>
              <a:t>we check </a:t>
            </a:r>
            <a:r>
              <a:rPr lang="en-US" sz="2400" dirty="0"/>
              <a:t>whether there is already a node with label op, and children left and right, in that order. If so, Node returns the existing node; otherwise, it creates a new </a:t>
            </a:r>
            <a:r>
              <a:rPr lang="en-US" sz="2400" dirty="0" smtClean="0"/>
              <a:t>node.</a:t>
            </a:r>
            <a:endParaRPr lang="en-US" sz="2400" dirty="0"/>
          </a:p>
        </p:txBody>
      </p:sp>
    </p:spTree>
    <p:extLst>
      <p:ext uri="{BB962C8B-B14F-4D97-AF65-F5344CB8AC3E}">
        <p14:creationId xmlns:p14="http://schemas.microsoft.com/office/powerpoint/2010/main" val="327721468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Value </a:t>
            </a:r>
            <a:r>
              <a:rPr lang="en-US" dirty="0"/>
              <a:t>N</a:t>
            </a:r>
            <a:r>
              <a:rPr lang="en-US" dirty="0" smtClean="0"/>
              <a:t>umber Method for Constructing DAG</a:t>
            </a:r>
            <a:endParaRPr lang="en-US" dirty="0"/>
          </a:p>
        </p:txBody>
      </p:sp>
      <p:sp>
        <p:nvSpPr>
          <p:cNvPr id="3" name="Content Placeholder 2"/>
          <p:cNvSpPr>
            <a:spLocks noGrp="1"/>
          </p:cNvSpPr>
          <p:nvPr>
            <p:ph idx="1"/>
          </p:nvPr>
        </p:nvSpPr>
        <p:spPr>
          <a:xfrm>
            <a:off x="243396" y="1690687"/>
            <a:ext cx="4781365" cy="5091853"/>
          </a:xfrm>
        </p:spPr>
        <p:txBody>
          <a:bodyPr>
            <a:normAutofit/>
          </a:bodyPr>
          <a:lstStyle/>
          <a:p>
            <a:pPr algn="just"/>
            <a:r>
              <a:rPr lang="en-US" dirty="0"/>
              <a:t>T</a:t>
            </a:r>
            <a:r>
              <a:rPr lang="en-US" dirty="0" smtClean="0"/>
              <a:t>he </a:t>
            </a:r>
            <a:r>
              <a:rPr lang="en-US" dirty="0"/>
              <a:t>nodes of a syntax tree or DAG are stored in an array of </a:t>
            </a:r>
            <a:r>
              <a:rPr lang="en-US" dirty="0" smtClean="0"/>
              <a:t>records. </a:t>
            </a:r>
          </a:p>
          <a:p>
            <a:pPr algn="just"/>
            <a:r>
              <a:rPr lang="en-US" dirty="0" smtClean="0"/>
              <a:t>Each row </a:t>
            </a:r>
            <a:r>
              <a:rPr lang="en-US" dirty="0"/>
              <a:t>of the </a:t>
            </a:r>
            <a:r>
              <a:rPr lang="en-US" dirty="0" smtClean="0"/>
              <a:t>array represents </a:t>
            </a:r>
            <a:r>
              <a:rPr lang="en-US" dirty="0"/>
              <a:t>one record, and therefore one node. </a:t>
            </a:r>
            <a:endParaRPr lang="en-US" dirty="0" smtClean="0"/>
          </a:p>
          <a:p>
            <a:pPr algn="just"/>
            <a:r>
              <a:rPr lang="en-US" dirty="0" smtClean="0"/>
              <a:t>In </a:t>
            </a:r>
            <a:r>
              <a:rPr lang="en-US" dirty="0"/>
              <a:t>each record, the </a:t>
            </a:r>
            <a:r>
              <a:rPr lang="en-US" dirty="0" smtClean="0"/>
              <a:t>first field </a:t>
            </a:r>
            <a:r>
              <a:rPr lang="en-US" dirty="0"/>
              <a:t>is an operation code, indicating the label of the node. </a:t>
            </a:r>
            <a:endParaRPr lang="en-US" dirty="0" smtClean="0"/>
          </a:p>
          <a:p>
            <a:pPr algn="just"/>
            <a:r>
              <a:rPr lang="en-US" dirty="0" smtClean="0"/>
              <a:t>Leaves </a:t>
            </a:r>
            <a:r>
              <a:rPr lang="en-US" dirty="0"/>
              <a:t>have one additional </a:t>
            </a:r>
            <a:r>
              <a:rPr lang="en-US" dirty="0" smtClean="0"/>
              <a:t>field</a:t>
            </a:r>
            <a:r>
              <a:rPr lang="en-US" dirty="0"/>
              <a:t>, which holds the lexical value (either a symbol-table pointer or a constant, in this case), </a:t>
            </a:r>
            <a:endParaRPr lang="en-US" dirty="0" smtClean="0"/>
          </a:p>
          <a:p>
            <a:pPr algn="just"/>
            <a:r>
              <a:rPr lang="en-US" dirty="0" smtClean="0"/>
              <a:t>and interior </a:t>
            </a:r>
            <a:r>
              <a:rPr lang="en-US" dirty="0"/>
              <a:t>nodes </a:t>
            </a:r>
            <a:r>
              <a:rPr lang="en-US" dirty="0" smtClean="0"/>
              <a:t>have two </a:t>
            </a:r>
            <a:r>
              <a:rPr lang="en-US" dirty="0"/>
              <a:t>additional </a:t>
            </a:r>
            <a:r>
              <a:rPr lang="en-US" dirty="0" smtClean="0"/>
              <a:t>fields </a:t>
            </a:r>
            <a:r>
              <a:rPr lang="en-US" dirty="0"/>
              <a:t>indicating the left and </a:t>
            </a:r>
            <a:r>
              <a:rPr lang="en-US" dirty="0" smtClean="0"/>
              <a:t>right children</a:t>
            </a:r>
            <a:r>
              <a:rPr lang="en-US" dirty="0"/>
              <a:t>.</a:t>
            </a:r>
          </a:p>
        </p:txBody>
      </p:sp>
      <p:pic>
        <p:nvPicPr>
          <p:cNvPr id="4" name="Picture 3"/>
          <p:cNvPicPr>
            <a:picLocks noChangeAspect="1"/>
          </p:cNvPicPr>
          <p:nvPr/>
        </p:nvPicPr>
        <p:blipFill>
          <a:blip r:embed="rId2"/>
          <a:stretch>
            <a:fillRect/>
          </a:stretch>
        </p:blipFill>
        <p:spPr>
          <a:xfrm>
            <a:off x="5299968" y="2242999"/>
            <a:ext cx="6958521" cy="2508855"/>
          </a:xfrm>
          <a:prstGeom prst="rect">
            <a:avLst/>
          </a:prstGeom>
        </p:spPr>
      </p:pic>
    </p:spTree>
    <p:extLst>
      <p:ext uri="{BB962C8B-B14F-4D97-AF65-F5344CB8AC3E}">
        <p14:creationId xmlns:p14="http://schemas.microsoft.com/office/powerpoint/2010/main" val="39838562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 </a:t>
            </a:r>
            <a:r>
              <a:rPr lang="en-US" dirty="0" smtClean="0"/>
              <a:t>: </a:t>
            </a:r>
            <a:r>
              <a:rPr lang="en-US" dirty="0"/>
              <a:t>The value-number method for constructing the nodes of a DAG.</a:t>
            </a:r>
          </a:p>
        </p:txBody>
      </p:sp>
      <p:sp>
        <p:nvSpPr>
          <p:cNvPr id="3" name="Content Placeholder 2"/>
          <p:cNvSpPr>
            <a:spLocks noGrp="1"/>
          </p:cNvSpPr>
          <p:nvPr>
            <p:ph idx="1"/>
          </p:nvPr>
        </p:nvSpPr>
        <p:spPr>
          <a:xfrm>
            <a:off x="838200" y="1825625"/>
            <a:ext cx="10515600" cy="4859260"/>
          </a:xfrm>
        </p:spPr>
        <p:txBody>
          <a:bodyPr>
            <a:normAutofit/>
          </a:bodyPr>
          <a:lstStyle/>
          <a:p>
            <a:r>
              <a:rPr lang="en-US" sz="3200" dirty="0" smtClean="0"/>
              <a:t>INPUT</a:t>
            </a:r>
            <a:r>
              <a:rPr lang="en-US" sz="3200" dirty="0"/>
              <a:t>: Label op</a:t>
            </a:r>
            <a:r>
              <a:rPr lang="en-US" sz="3200" dirty="0" smtClean="0"/>
              <a:t>, node l</a:t>
            </a:r>
            <a:r>
              <a:rPr lang="en-US" sz="3200" dirty="0"/>
              <a:t>, and node r. </a:t>
            </a:r>
            <a:endParaRPr lang="en-US" sz="3200" dirty="0" smtClean="0"/>
          </a:p>
          <a:p>
            <a:r>
              <a:rPr lang="en-US" sz="3200" dirty="0" smtClean="0"/>
              <a:t>OUTPUT</a:t>
            </a:r>
            <a:r>
              <a:rPr lang="en-US" sz="3200" dirty="0"/>
              <a:t>: The value number of a node in the array with signature </a:t>
            </a:r>
            <a:r>
              <a:rPr lang="en-US" sz="3200" dirty="0" smtClean="0"/>
              <a:t>(op, l, r).</a:t>
            </a:r>
          </a:p>
          <a:p>
            <a:r>
              <a:rPr lang="en-US" sz="3200" dirty="0" smtClean="0"/>
              <a:t>METHOD</a:t>
            </a:r>
            <a:r>
              <a:rPr lang="en-US" sz="3200" dirty="0"/>
              <a:t>: </a:t>
            </a:r>
            <a:endParaRPr lang="en-US" sz="3200" dirty="0" smtClean="0"/>
          </a:p>
          <a:p>
            <a:pPr lvl="1"/>
            <a:r>
              <a:rPr lang="en-US" sz="2800" dirty="0" smtClean="0"/>
              <a:t>Search </a:t>
            </a:r>
            <a:r>
              <a:rPr lang="en-US" sz="2800" dirty="0"/>
              <a:t>the </a:t>
            </a:r>
            <a:r>
              <a:rPr lang="en-US" sz="2800" dirty="0" smtClean="0"/>
              <a:t>array for a node M </a:t>
            </a:r>
            <a:r>
              <a:rPr lang="en-US" sz="2800" dirty="0"/>
              <a:t>with label op, left child l, and right child r. </a:t>
            </a:r>
            <a:endParaRPr lang="en-US" sz="2800" dirty="0" smtClean="0"/>
          </a:p>
          <a:p>
            <a:pPr lvl="1"/>
            <a:r>
              <a:rPr lang="en-US" sz="2800" dirty="0" smtClean="0"/>
              <a:t>If </a:t>
            </a:r>
            <a:r>
              <a:rPr lang="en-US" sz="2800" dirty="0"/>
              <a:t>there is such a node, return the value number of M. </a:t>
            </a:r>
            <a:endParaRPr lang="en-US" sz="2800" dirty="0" smtClean="0"/>
          </a:p>
          <a:p>
            <a:pPr lvl="1"/>
            <a:r>
              <a:rPr lang="en-US" sz="2800" dirty="0" smtClean="0"/>
              <a:t>If </a:t>
            </a:r>
            <a:r>
              <a:rPr lang="en-US" sz="2800" dirty="0"/>
              <a:t>not, create in the array a new node N with label op, left child l, and </a:t>
            </a:r>
            <a:r>
              <a:rPr lang="en-US" sz="2800" dirty="0" smtClean="0"/>
              <a:t>right child </a:t>
            </a:r>
            <a:r>
              <a:rPr lang="en-US" sz="2800" dirty="0"/>
              <a:t>r, and return its value number. </a:t>
            </a:r>
          </a:p>
        </p:txBody>
      </p:sp>
    </p:spTree>
    <p:extLst>
      <p:ext uri="{BB962C8B-B14F-4D97-AF65-F5344CB8AC3E}">
        <p14:creationId xmlns:p14="http://schemas.microsoft.com/office/powerpoint/2010/main" val="18605403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Construct the DAG for the expression ((x +y) </a:t>
            </a:r>
            <a:r>
              <a:rPr lang="en-US" dirty="0" smtClean="0"/>
              <a:t>-((</a:t>
            </a:r>
            <a:r>
              <a:rPr lang="en-US" dirty="0" err="1"/>
              <a:t>x+y</a:t>
            </a:r>
            <a:r>
              <a:rPr lang="en-US" dirty="0"/>
              <a:t>) </a:t>
            </a:r>
            <a:r>
              <a:rPr lang="en-US" dirty="0" smtClean="0"/>
              <a:t>*(x-y</a:t>
            </a:r>
            <a:r>
              <a:rPr lang="en-US" dirty="0"/>
              <a:t>)))+((</a:t>
            </a:r>
            <a:r>
              <a:rPr lang="en-US" dirty="0" err="1"/>
              <a:t>x+y</a:t>
            </a:r>
            <a:r>
              <a:rPr lang="en-US" dirty="0"/>
              <a:t>) *</a:t>
            </a:r>
            <a:r>
              <a:rPr lang="en-US" dirty="0" smtClean="0"/>
              <a:t>(x-y</a:t>
            </a:r>
            <a:r>
              <a:rPr lang="en-US" dirty="0"/>
              <a:t>))</a:t>
            </a:r>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19532146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List </a:t>
            </a:r>
            <a:r>
              <a:rPr lang="en-US" dirty="0"/>
              <a:t>of the common three-address instruction forms:</a:t>
            </a:r>
          </a:p>
        </p:txBody>
      </p:sp>
      <p:sp>
        <p:nvSpPr>
          <p:cNvPr id="3" name="Content Placeholder 2"/>
          <p:cNvSpPr>
            <a:spLocks noGrp="1"/>
          </p:cNvSpPr>
          <p:nvPr>
            <p:ph idx="1"/>
          </p:nvPr>
        </p:nvSpPr>
        <p:spPr/>
        <p:txBody>
          <a:bodyPr>
            <a:normAutofit fontScale="92500" lnSpcReduction="20000"/>
          </a:bodyPr>
          <a:lstStyle/>
          <a:p>
            <a:pPr marL="514350" indent="-514350" algn="just">
              <a:buAutoNum type="arabicPeriod"/>
            </a:pPr>
            <a:r>
              <a:rPr lang="en-US" dirty="0" smtClean="0"/>
              <a:t>Assignment </a:t>
            </a:r>
            <a:r>
              <a:rPr lang="en-US" dirty="0"/>
              <a:t>instructions of the form x = y op z, where op is a binary arithmetic or logical operation, and x, y, and z are addresses. </a:t>
            </a:r>
            <a:endParaRPr lang="en-US" dirty="0" smtClean="0"/>
          </a:p>
          <a:p>
            <a:pPr marL="514350" indent="-514350" algn="just">
              <a:buAutoNum type="arabicPeriod"/>
            </a:pPr>
            <a:r>
              <a:rPr lang="en-US" dirty="0" smtClean="0"/>
              <a:t>Assignments </a:t>
            </a:r>
            <a:r>
              <a:rPr lang="en-US" dirty="0"/>
              <a:t>of the form x = op y, where op is a unary operation. Essential unary operations include unary minus, logical negation, and conversion operators that, for example, convert an integer to a </a:t>
            </a:r>
            <a:r>
              <a:rPr lang="en-US" dirty="0" smtClean="0"/>
              <a:t>floating-point number.</a:t>
            </a:r>
          </a:p>
          <a:p>
            <a:pPr marL="514350" indent="-514350" algn="just">
              <a:buAutoNum type="arabicPeriod"/>
            </a:pPr>
            <a:r>
              <a:rPr lang="en-US" dirty="0" smtClean="0"/>
              <a:t>Copy instructions </a:t>
            </a:r>
            <a:r>
              <a:rPr lang="en-US" dirty="0"/>
              <a:t>of the form x = y, where x is assigned the value of y. </a:t>
            </a:r>
            <a:endParaRPr lang="en-US" dirty="0" smtClean="0"/>
          </a:p>
          <a:p>
            <a:pPr marL="514350" indent="-514350" algn="just">
              <a:buAutoNum type="arabicPeriod"/>
            </a:pPr>
            <a:r>
              <a:rPr lang="en-US" dirty="0" smtClean="0"/>
              <a:t>An </a:t>
            </a:r>
            <a:r>
              <a:rPr lang="en-US" dirty="0"/>
              <a:t>unconditional jump </a:t>
            </a:r>
            <a:r>
              <a:rPr lang="en-US" dirty="0" err="1"/>
              <a:t>goto</a:t>
            </a:r>
            <a:r>
              <a:rPr lang="en-US" dirty="0"/>
              <a:t> L. The three-address instruction with label L is the next to be executed. </a:t>
            </a:r>
            <a:endParaRPr lang="en-US" dirty="0" smtClean="0"/>
          </a:p>
          <a:p>
            <a:pPr marL="514350" indent="-514350" algn="just">
              <a:buAutoNum type="arabicPeriod"/>
            </a:pPr>
            <a:r>
              <a:rPr lang="en-US" dirty="0" smtClean="0"/>
              <a:t>Conditional </a:t>
            </a:r>
            <a:r>
              <a:rPr lang="en-US" dirty="0"/>
              <a:t>jumps of the form if x </a:t>
            </a:r>
            <a:r>
              <a:rPr lang="en-US" dirty="0" err="1"/>
              <a:t>goto</a:t>
            </a:r>
            <a:r>
              <a:rPr lang="en-US" dirty="0"/>
              <a:t> L and </a:t>
            </a:r>
            <a:r>
              <a:rPr lang="en-US" dirty="0" smtClean="0"/>
              <a:t>if False </a:t>
            </a:r>
            <a:r>
              <a:rPr lang="en-US" dirty="0"/>
              <a:t>x </a:t>
            </a:r>
            <a:r>
              <a:rPr lang="en-US" dirty="0" err="1"/>
              <a:t>goto</a:t>
            </a:r>
            <a:r>
              <a:rPr lang="en-US" dirty="0"/>
              <a:t> L. These instructions execute the instruction with label L next if x is true and false, respectively. Otherwise, the following three-address instruction in sequence is executed next, as usual. </a:t>
            </a:r>
            <a:endParaRPr lang="en-US" dirty="0" smtClean="0"/>
          </a:p>
          <a:p>
            <a:pPr marL="514350" indent="-514350" algn="just">
              <a:buAutoNum type="arabicPeriod"/>
            </a:pPr>
            <a:r>
              <a:rPr lang="en-US" dirty="0" smtClean="0"/>
              <a:t>Conditional </a:t>
            </a:r>
            <a:r>
              <a:rPr lang="en-US" dirty="0"/>
              <a:t>jumps </a:t>
            </a:r>
            <a:r>
              <a:rPr lang="en-US" dirty="0" smtClean="0"/>
              <a:t>such as if </a:t>
            </a:r>
            <a:r>
              <a:rPr lang="en-US" dirty="0"/>
              <a:t>x </a:t>
            </a:r>
            <a:r>
              <a:rPr lang="en-US" dirty="0" err="1"/>
              <a:t>relop</a:t>
            </a:r>
            <a:r>
              <a:rPr lang="en-US" dirty="0"/>
              <a:t> y </a:t>
            </a:r>
            <a:r>
              <a:rPr lang="en-US" dirty="0" err="1"/>
              <a:t>goto</a:t>
            </a:r>
            <a:r>
              <a:rPr lang="en-US" dirty="0"/>
              <a:t> L, which apply a relational operator (=, etc.) to x and y, and execute the instruction with label L next if x stands in relation </a:t>
            </a:r>
            <a:r>
              <a:rPr lang="en-US" dirty="0" err="1"/>
              <a:t>relop</a:t>
            </a:r>
            <a:r>
              <a:rPr lang="en-US" dirty="0"/>
              <a:t> to y. If not, the three-address instruction following if x </a:t>
            </a:r>
            <a:r>
              <a:rPr lang="en-US" dirty="0" err="1"/>
              <a:t>relop</a:t>
            </a:r>
            <a:r>
              <a:rPr lang="en-US" dirty="0"/>
              <a:t> y </a:t>
            </a:r>
            <a:r>
              <a:rPr lang="en-US" dirty="0" err="1"/>
              <a:t>goto</a:t>
            </a:r>
            <a:r>
              <a:rPr lang="en-US" dirty="0"/>
              <a:t> L is executed next, in sequence. </a:t>
            </a:r>
            <a:endParaRPr lang="en-US" dirty="0" smtClean="0"/>
          </a:p>
        </p:txBody>
      </p:sp>
    </p:spTree>
    <p:extLst>
      <p:ext uri="{BB962C8B-B14F-4D97-AF65-F5344CB8AC3E}">
        <p14:creationId xmlns:p14="http://schemas.microsoft.com/office/powerpoint/2010/main" val="134161415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 of the common three-address instruction forms:</a:t>
            </a:r>
          </a:p>
        </p:txBody>
      </p:sp>
      <p:sp>
        <p:nvSpPr>
          <p:cNvPr id="3" name="Content Placeholder 2"/>
          <p:cNvSpPr>
            <a:spLocks noGrp="1"/>
          </p:cNvSpPr>
          <p:nvPr>
            <p:ph idx="1"/>
          </p:nvPr>
        </p:nvSpPr>
        <p:spPr/>
        <p:txBody>
          <a:bodyPr>
            <a:normAutofit fontScale="92500" lnSpcReduction="10000"/>
          </a:bodyPr>
          <a:lstStyle/>
          <a:p>
            <a:pPr marL="0" indent="0" algn="just">
              <a:buNone/>
            </a:pPr>
            <a:r>
              <a:rPr lang="en-US" dirty="0" smtClean="0"/>
              <a:t>7. Procedure </a:t>
            </a:r>
            <a:r>
              <a:rPr lang="en-US" dirty="0"/>
              <a:t>calls and returns are implemented using the following instructions: </a:t>
            </a:r>
            <a:r>
              <a:rPr lang="en-US" dirty="0" err="1"/>
              <a:t>param</a:t>
            </a:r>
            <a:r>
              <a:rPr lang="en-US" dirty="0"/>
              <a:t> x for parameters; </a:t>
            </a:r>
            <a:r>
              <a:rPr lang="en-US" dirty="0" smtClean="0"/>
              <a:t>call </a:t>
            </a:r>
            <a:r>
              <a:rPr lang="en-US" dirty="0" err="1" smtClean="0"/>
              <a:t>p,n</a:t>
            </a:r>
            <a:r>
              <a:rPr lang="en-US" dirty="0" smtClean="0"/>
              <a:t> </a:t>
            </a:r>
            <a:r>
              <a:rPr lang="en-US" dirty="0"/>
              <a:t>and y = </a:t>
            </a:r>
            <a:r>
              <a:rPr lang="en-US" dirty="0" smtClean="0"/>
              <a:t>call </a:t>
            </a:r>
            <a:r>
              <a:rPr lang="en-US" dirty="0" err="1" smtClean="0"/>
              <a:t>p,n</a:t>
            </a:r>
            <a:r>
              <a:rPr lang="en-US" dirty="0" smtClean="0"/>
              <a:t> </a:t>
            </a:r>
            <a:r>
              <a:rPr lang="en-US" dirty="0"/>
              <a:t>for procedure and function calls, respectively; and return y, where y, representing a returned value, is optional. Their typical use is as the sequence of three address instructions </a:t>
            </a:r>
            <a:endParaRPr lang="en-US" dirty="0" smtClean="0"/>
          </a:p>
          <a:p>
            <a:pPr marL="0" indent="0" algn="just">
              <a:buNone/>
            </a:pPr>
            <a:r>
              <a:rPr lang="en-US" dirty="0" err="1" smtClean="0"/>
              <a:t>param</a:t>
            </a:r>
            <a:r>
              <a:rPr lang="en-US" dirty="0" smtClean="0"/>
              <a:t> </a:t>
            </a:r>
            <a:r>
              <a:rPr lang="en-US" dirty="0"/>
              <a:t>x1 </a:t>
            </a:r>
            <a:endParaRPr lang="en-US" dirty="0" smtClean="0"/>
          </a:p>
          <a:p>
            <a:pPr marL="0" indent="0" algn="just">
              <a:buNone/>
            </a:pPr>
            <a:r>
              <a:rPr lang="en-US" dirty="0" err="1" smtClean="0"/>
              <a:t>param</a:t>
            </a:r>
            <a:r>
              <a:rPr lang="en-US" dirty="0" smtClean="0"/>
              <a:t> </a:t>
            </a:r>
            <a:r>
              <a:rPr lang="en-US" dirty="0"/>
              <a:t>x2 </a:t>
            </a:r>
            <a:endParaRPr lang="en-US" dirty="0" smtClean="0"/>
          </a:p>
          <a:p>
            <a:pPr marL="0" indent="0" algn="just">
              <a:buNone/>
            </a:pPr>
            <a:r>
              <a:rPr lang="en-US" dirty="0" smtClean="0"/>
              <a:t>……..</a:t>
            </a:r>
          </a:p>
          <a:p>
            <a:pPr marL="0" indent="0" algn="just">
              <a:buNone/>
            </a:pPr>
            <a:r>
              <a:rPr lang="en-US" dirty="0" err="1" smtClean="0"/>
              <a:t>param</a:t>
            </a:r>
            <a:r>
              <a:rPr lang="en-US" dirty="0" smtClean="0"/>
              <a:t> </a:t>
            </a:r>
            <a:r>
              <a:rPr lang="en-US" dirty="0" err="1"/>
              <a:t>xn</a:t>
            </a:r>
            <a:r>
              <a:rPr lang="en-US" dirty="0"/>
              <a:t> </a:t>
            </a:r>
            <a:endParaRPr lang="en-US" dirty="0" smtClean="0"/>
          </a:p>
          <a:p>
            <a:pPr marL="0" indent="0" algn="just">
              <a:buNone/>
            </a:pPr>
            <a:r>
              <a:rPr lang="en-US" dirty="0" smtClean="0"/>
              <a:t>call </a:t>
            </a:r>
            <a:r>
              <a:rPr lang="en-US" dirty="0" err="1"/>
              <a:t>p,n</a:t>
            </a:r>
            <a:r>
              <a:rPr lang="en-US" dirty="0"/>
              <a:t> generated as part of a call of the procedure </a:t>
            </a:r>
            <a:r>
              <a:rPr lang="en-US" dirty="0" smtClean="0"/>
              <a:t>p(x1,x2,….,</a:t>
            </a:r>
            <a:r>
              <a:rPr lang="en-US" dirty="0" err="1" smtClean="0"/>
              <a:t>xn</a:t>
            </a:r>
            <a:r>
              <a:rPr lang="en-US" dirty="0"/>
              <a:t>). </a:t>
            </a:r>
            <a:endParaRPr lang="en-US" dirty="0" smtClean="0"/>
          </a:p>
          <a:p>
            <a:pPr marL="0" indent="0" algn="just">
              <a:buNone/>
            </a:pPr>
            <a:r>
              <a:rPr lang="en-US" dirty="0" smtClean="0"/>
              <a:t>The integer </a:t>
            </a:r>
            <a:r>
              <a:rPr lang="en-US" dirty="0"/>
              <a:t>n, indicating the number of actual parameters in </a:t>
            </a:r>
            <a:r>
              <a:rPr lang="en-US" dirty="0" smtClean="0"/>
              <a:t>“call </a:t>
            </a:r>
            <a:r>
              <a:rPr lang="en-US" dirty="0" err="1" smtClean="0"/>
              <a:t>p,n</a:t>
            </a:r>
            <a:r>
              <a:rPr lang="en-US" dirty="0" smtClean="0"/>
              <a:t>” </a:t>
            </a:r>
            <a:r>
              <a:rPr lang="en-US" dirty="0"/>
              <a:t>is not redundant because calls can be nested. That is, some of the </a:t>
            </a:r>
            <a:r>
              <a:rPr lang="en-US" dirty="0" smtClean="0"/>
              <a:t>first </a:t>
            </a:r>
            <a:r>
              <a:rPr lang="en-US" dirty="0" err="1"/>
              <a:t>param</a:t>
            </a:r>
            <a:r>
              <a:rPr lang="en-US" dirty="0"/>
              <a:t> statements could be parameters of a call that comes after p returns its value; that value becomes another parameter of the later call. </a:t>
            </a:r>
          </a:p>
        </p:txBody>
      </p:sp>
    </p:spTree>
    <p:extLst>
      <p:ext uri="{BB962C8B-B14F-4D97-AF65-F5344CB8AC3E}">
        <p14:creationId xmlns:p14="http://schemas.microsoft.com/office/powerpoint/2010/main" val="19737132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 of the common three-address instruction forms:</a:t>
            </a:r>
          </a:p>
        </p:txBody>
      </p:sp>
      <p:sp>
        <p:nvSpPr>
          <p:cNvPr id="3" name="Content Placeholder 2"/>
          <p:cNvSpPr>
            <a:spLocks noGrp="1"/>
          </p:cNvSpPr>
          <p:nvPr>
            <p:ph idx="1"/>
          </p:nvPr>
        </p:nvSpPr>
        <p:spPr/>
        <p:txBody>
          <a:bodyPr>
            <a:normAutofit/>
          </a:bodyPr>
          <a:lstStyle/>
          <a:p>
            <a:pPr marL="0" indent="0" algn="just">
              <a:buNone/>
            </a:pPr>
            <a:r>
              <a:rPr lang="en-US" dirty="0" smtClean="0"/>
              <a:t>8. Indexed </a:t>
            </a:r>
            <a:r>
              <a:rPr lang="en-US" dirty="0"/>
              <a:t>copy instructions of the form x=y[</a:t>
            </a:r>
            <a:r>
              <a:rPr lang="en-US" dirty="0" err="1"/>
              <a:t>i</a:t>
            </a:r>
            <a:r>
              <a:rPr lang="en-US" dirty="0"/>
              <a:t>] and x[</a:t>
            </a:r>
            <a:r>
              <a:rPr lang="en-US" dirty="0" err="1"/>
              <a:t>i</a:t>
            </a:r>
            <a:r>
              <a:rPr lang="en-US" dirty="0"/>
              <a:t>]=y. The instruction x=y[</a:t>
            </a:r>
            <a:r>
              <a:rPr lang="en-US" dirty="0" err="1"/>
              <a:t>i</a:t>
            </a:r>
            <a:r>
              <a:rPr lang="en-US" dirty="0"/>
              <a:t>] sets x to the value in the location </a:t>
            </a:r>
            <a:r>
              <a:rPr lang="en-US" dirty="0" err="1"/>
              <a:t>i</a:t>
            </a:r>
            <a:r>
              <a:rPr lang="en-US" dirty="0"/>
              <a:t> memory units beyond location y. The instruction x[</a:t>
            </a:r>
            <a:r>
              <a:rPr lang="en-US" dirty="0" err="1"/>
              <a:t>i</a:t>
            </a:r>
            <a:r>
              <a:rPr lang="en-US" dirty="0"/>
              <a:t>]=y sets the contents of the location </a:t>
            </a:r>
            <a:r>
              <a:rPr lang="en-US" dirty="0" err="1"/>
              <a:t>i</a:t>
            </a:r>
            <a:r>
              <a:rPr lang="en-US" dirty="0"/>
              <a:t> units beyond x to the value of y. </a:t>
            </a:r>
          </a:p>
          <a:p>
            <a:pPr marL="0" indent="0" algn="just">
              <a:buNone/>
            </a:pPr>
            <a:r>
              <a:rPr lang="en-US" dirty="0" smtClean="0"/>
              <a:t>9. Address </a:t>
            </a:r>
            <a:r>
              <a:rPr lang="en-US" dirty="0"/>
              <a:t>and pointer assignments of the form x =&amp;y, x =*y, and *x = y. The instruction x =&amp;y sets the </a:t>
            </a:r>
            <a:r>
              <a:rPr lang="en-US" dirty="0" err="1"/>
              <a:t>r-value</a:t>
            </a:r>
            <a:r>
              <a:rPr lang="en-US" dirty="0"/>
              <a:t> of x to be the location (l-value) of y.2 Presumably y is a name, perhaps a temporary, that denotes an expression with an l-value </a:t>
            </a:r>
            <a:r>
              <a:rPr lang="en-US" dirty="0" smtClean="0"/>
              <a:t>such as A[</a:t>
            </a:r>
            <a:r>
              <a:rPr lang="en-US" dirty="0" err="1" smtClean="0"/>
              <a:t>i</a:t>
            </a:r>
            <a:r>
              <a:rPr lang="en-US" dirty="0"/>
              <a:t>][j], and x is a pointer name or temporary. In the instruction x = *y, presumably y is a pointer or a temporary whose </a:t>
            </a:r>
            <a:r>
              <a:rPr lang="en-US" dirty="0" err="1"/>
              <a:t>r-value</a:t>
            </a:r>
            <a:r>
              <a:rPr lang="en-US" dirty="0"/>
              <a:t> is a location. The </a:t>
            </a:r>
            <a:r>
              <a:rPr lang="en-US" dirty="0" err="1"/>
              <a:t>r-value</a:t>
            </a:r>
            <a:r>
              <a:rPr lang="en-US" dirty="0"/>
              <a:t> of x is made equal to the contents of that location. Finally, *x = y sets the </a:t>
            </a:r>
            <a:r>
              <a:rPr lang="en-US" dirty="0" err="1"/>
              <a:t>r-value</a:t>
            </a:r>
            <a:r>
              <a:rPr lang="en-US" dirty="0"/>
              <a:t> of the object pointed to by x to the </a:t>
            </a:r>
            <a:r>
              <a:rPr lang="en-US" dirty="0" err="1"/>
              <a:t>r-value</a:t>
            </a:r>
            <a:r>
              <a:rPr lang="en-US" dirty="0"/>
              <a:t> of </a:t>
            </a:r>
            <a:r>
              <a:rPr lang="en-US" dirty="0" smtClean="0"/>
              <a:t>y.</a:t>
            </a:r>
            <a:endParaRPr lang="en-US" dirty="0"/>
          </a:p>
        </p:txBody>
      </p:sp>
    </p:spTree>
    <p:extLst>
      <p:ext uri="{BB962C8B-B14F-4D97-AF65-F5344CB8AC3E}">
        <p14:creationId xmlns:p14="http://schemas.microsoft.com/office/powerpoint/2010/main" val="332522085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Consider the statement </a:t>
            </a:r>
            <a:r>
              <a:rPr lang="en-US" dirty="0" smtClean="0"/>
              <a:t/>
            </a:r>
            <a:br>
              <a:rPr lang="en-US" dirty="0" smtClean="0"/>
            </a:br>
            <a:r>
              <a:rPr lang="en-US" dirty="0" smtClean="0"/>
              <a:t>do </a:t>
            </a:r>
            <a:r>
              <a:rPr lang="en-US" dirty="0" err="1"/>
              <a:t>i</a:t>
            </a:r>
            <a:r>
              <a:rPr lang="en-US" dirty="0"/>
              <a:t> = i+1; while (a[</a:t>
            </a:r>
            <a:r>
              <a:rPr lang="en-US" dirty="0" err="1"/>
              <a:t>i</a:t>
            </a:r>
            <a:r>
              <a:rPr lang="en-US" dirty="0"/>
              <a:t>] &lt; v);</a:t>
            </a:r>
          </a:p>
        </p:txBody>
      </p:sp>
      <p:pic>
        <p:nvPicPr>
          <p:cNvPr id="4" name="Content Placeholder 3"/>
          <p:cNvPicPr>
            <a:picLocks noGrp="1" noChangeAspect="1"/>
          </p:cNvPicPr>
          <p:nvPr>
            <p:ph idx="1"/>
          </p:nvPr>
        </p:nvPicPr>
        <p:blipFill>
          <a:blip r:embed="rId2"/>
          <a:stretch>
            <a:fillRect/>
          </a:stretch>
        </p:blipFill>
        <p:spPr>
          <a:xfrm>
            <a:off x="1973263" y="2486025"/>
            <a:ext cx="8305800" cy="2743200"/>
          </a:xfrm>
          <a:prstGeom prst="rect">
            <a:avLst/>
          </a:prstGeom>
        </p:spPr>
      </p:pic>
    </p:spTree>
    <p:extLst>
      <p:ext uri="{BB962C8B-B14F-4D97-AF65-F5344CB8AC3E}">
        <p14:creationId xmlns:p14="http://schemas.microsoft.com/office/powerpoint/2010/main" val="4818984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Quadruple</a:t>
            </a:r>
            <a:endParaRPr lang="en-US" dirty="0"/>
          </a:p>
        </p:txBody>
      </p:sp>
      <p:sp>
        <p:nvSpPr>
          <p:cNvPr id="3" name="Content Placeholder 2"/>
          <p:cNvSpPr>
            <a:spLocks noGrp="1"/>
          </p:cNvSpPr>
          <p:nvPr>
            <p:ph idx="1"/>
          </p:nvPr>
        </p:nvSpPr>
        <p:spPr/>
        <p:txBody>
          <a:bodyPr>
            <a:normAutofit/>
          </a:bodyPr>
          <a:lstStyle/>
          <a:p>
            <a:pPr algn="just"/>
            <a:r>
              <a:rPr lang="en-US" dirty="0"/>
              <a:t>A quadruple (or just </a:t>
            </a:r>
            <a:r>
              <a:rPr lang="en-US" dirty="0" smtClean="0"/>
              <a:t>“quad</a:t>
            </a:r>
            <a:r>
              <a:rPr lang="en-US" dirty="0"/>
              <a:t>") has four </a:t>
            </a:r>
            <a:r>
              <a:rPr lang="en-US" dirty="0" smtClean="0"/>
              <a:t>fields</a:t>
            </a:r>
            <a:r>
              <a:rPr lang="en-US" dirty="0"/>
              <a:t>, which we call op, arg1, arg2, and result. </a:t>
            </a:r>
            <a:endParaRPr lang="en-US" dirty="0" smtClean="0"/>
          </a:p>
          <a:p>
            <a:pPr algn="just"/>
            <a:r>
              <a:rPr lang="en-US" dirty="0" smtClean="0"/>
              <a:t>The </a:t>
            </a:r>
            <a:r>
              <a:rPr lang="en-US" dirty="0"/>
              <a:t>op </a:t>
            </a:r>
            <a:r>
              <a:rPr lang="en-US" dirty="0" smtClean="0"/>
              <a:t>field </a:t>
            </a:r>
            <a:r>
              <a:rPr lang="en-US" dirty="0"/>
              <a:t>contains an internal code for the operator. For instance, the three-address instruction x = </a:t>
            </a:r>
            <a:r>
              <a:rPr lang="en-US" dirty="0" err="1"/>
              <a:t>y+z</a:t>
            </a:r>
            <a:r>
              <a:rPr lang="en-US" dirty="0"/>
              <a:t> is represented by placing + in op, y in arg1, z in arg2, and x in result</a:t>
            </a:r>
            <a:r>
              <a:rPr lang="en-US" dirty="0" smtClean="0"/>
              <a:t>.</a:t>
            </a:r>
          </a:p>
          <a:p>
            <a:pPr algn="just"/>
            <a:r>
              <a:rPr lang="en-US" dirty="0" smtClean="0"/>
              <a:t> </a:t>
            </a:r>
            <a:r>
              <a:rPr lang="en-US" dirty="0"/>
              <a:t>The following are some exceptions to this rule: </a:t>
            </a:r>
            <a:endParaRPr lang="en-US" dirty="0" smtClean="0"/>
          </a:p>
          <a:p>
            <a:pPr marL="457200" lvl="1" indent="0" algn="just">
              <a:buNone/>
            </a:pPr>
            <a:r>
              <a:rPr lang="en-US" dirty="0" smtClean="0"/>
              <a:t>1</a:t>
            </a:r>
            <a:r>
              <a:rPr lang="en-US" dirty="0"/>
              <a:t>. Instructions with unary operators like x = </a:t>
            </a:r>
            <a:r>
              <a:rPr lang="en-US" dirty="0" smtClean="0"/>
              <a:t>minus y </a:t>
            </a:r>
            <a:r>
              <a:rPr lang="en-US" dirty="0"/>
              <a:t>or x = y do not use arg2. Note that for a copy statement like x = y, op is =, while for most other operations, the assignment operator is implied. </a:t>
            </a:r>
            <a:endParaRPr lang="en-US" dirty="0" smtClean="0"/>
          </a:p>
          <a:p>
            <a:pPr marL="457200" lvl="1" indent="0" algn="just">
              <a:buNone/>
            </a:pPr>
            <a:r>
              <a:rPr lang="en-US" dirty="0" smtClean="0"/>
              <a:t>2</a:t>
            </a:r>
            <a:r>
              <a:rPr lang="en-US" dirty="0"/>
              <a:t>. Operators like </a:t>
            </a:r>
            <a:r>
              <a:rPr lang="en-US" dirty="0" err="1"/>
              <a:t>param</a:t>
            </a:r>
            <a:r>
              <a:rPr lang="en-US" dirty="0"/>
              <a:t> use neither arg2 nor result. </a:t>
            </a:r>
            <a:endParaRPr lang="en-US" dirty="0" smtClean="0"/>
          </a:p>
          <a:p>
            <a:pPr marL="457200" lvl="1" indent="0" algn="just">
              <a:buNone/>
            </a:pPr>
            <a:r>
              <a:rPr lang="en-US" dirty="0" smtClean="0"/>
              <a:t>3</a:t>
            </a:r>
            <a:r>
              <a:rPr lang="en-US" dirty="0"/>
              <a:t>. Conditional and unconditional jumps put the target label in result.</a:t>
            </a:r>
          </a:p>
        </p:txBody>
      </p:sp>
    </p:spTree>
    <p:extLst>
      <p:ext uri="{BB962C8B-B14F-4D97-AF65-F5344CB8AC3E}">
        <p14:creationId xmlns:p14="http://schemas.microsoft.com/office/powerpoint/2010/main" val="199503473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Three-address code for the assignment </a:t>
            </a:r>
            <a:r>
              <a:rPr lang="en-US" dirty="0" smtClean="0"/>
              <a:t/>
            </a:r>
            <a:br>
              <a:rPr lang="en-US" dirty="0" smtClean="0"/>
            </a:br>
            <a:r>
              <a:rPr lang="en-US" dirty="0" smtClean="0"/>
              <a:t>a </a:t>
            </a:r>
            <a:r>
              <a:rPr lang="en-US" dirty="0"/>
              <a:t>= b*-</a:t>
            </a:r>
            <a:r>
              <a:rPr lang="en-US" dirty="0" err="1"/>
              <a:t>c+b</a:t>
            </a:r>
            <a:r>
              <a:rPr lang="en-US" dirty="0"/>
              <a:t>*-c;</a:t>
            </a:r>
          </a:p>
        </p:txBody>
      </p:sp>
      <p:pic>
        <p:nvPicPr>
          <p:cNvPr id="4" name="Content Placeholder 3"/>
          <p:cNvPicPr>
            <a:picLocks noGrp="1" noChangeAspect="1"/>
          </p:cNvPicPr>
          <p:nvPr>
            <p:ph idx="1"/>
          </p:nvPr>
        </p:nvPicPr>
        <p:blipFill>
          <a:blip r:embed="rId2"/>
          <a:stretch>
            <a:fillRect/>
          </a:stretch>
        </p:blipFill>
        <p:spPr>
          <a:xfrm>
            <a:off x="1839913" y="2195513"/>
            <a:ext cx="8572500" cy="3324225"/>
          </a:xfrm>
          <a:prstGeom prst="rect">
            <a:avLst/>
          </a:prstGeom>
        </p:spPr>
      </p:pic>
    </p:spTree>
    <p:extLst>
      <p:ext uri="{BB962C8B-B14F-4D97-AF65-F5344CB8AC3E}">
        <p14:creationId xmlns:p14="http://schemas.microsoft.com/office/powerpoint/2010/main" val="124498269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Triples</a:t>
            </a:r>
            <a:endParaRPr lang="en-US" dirty="0"/>
          </a:p>
        </p:txBody>
      </p:sp>
      <p:sp>
        <p:nvSpPr>
          <p:cNvPr id="3" name="Content Placeholder 2"/>
          <p:cNvSpPr>
            <a:spLocks noGrp="1"/>
          </p:cNvSpPr>
          <p:nvPr>
            <p:ph sz="half" idx="1"/>
          </p:nvPr>
        </p:nvSpPr>
        <p:spPr/>
        <p:txBody>
          <a:bodyPr/>
          <a:lstStyle/>
          <a:p>
            <a:pPr marL="284163" indent="-230188" algn="just">
              <a:buFont typeface="Arial" panose="020B0604020202020204" pitchFamily="34" charset="0"/>
              <a:buChar char="•"/>
            </a:pPr>
            <a:r>
              <a:rPr lang="en-US" dirty="0"/>
              <a:t>A triple has only three </a:t>
            </a:r>
            <a:r>
              <a:rPr lang="en-US" dirty="0" smtClean="0"/>
              <a:t>fields</a:t>
            </a:r>
            <a:r>
              <a:rPr lang="en-US" dirty="0"/>
              <a:t>, which we call op, arg1, and arg2. </a:t>
            </a:r>
            <a:endParaRPr lang="en-US" dirty="0" smtClean="0"/>
          </a:p>
          <a:p>
            <a:pPr marL="284163" indent="-230188" algn="just">
              <a:buFont typeface="Arial" panose="020B0604020202020204" pitchFamily="34" charset="0"/>
              <a:buChar char="•"/>
            </a:pPr>
            <a:r>
              <a:rPr lang="en-US" dirty="0" smtClean="0"/>
              <a:t>Using </a:t>
            </a:r>
            <a:r>
              <a:rPr lang="en-US" dirty="0"/>
              <a:t>triples, we refer to the result of an operation </a:t>
            </a:r>
            <a:r>
              <a:rPr lang="en-US" dirty="0" smtClean="0"/>
              <a:t>x op </a:t>
            </a:r>
            <a:r>
              <a:rPr lang="en-US" dirty="0"/>
              <a:t>y by its position, rather than by an explicit temporary name. </a:t>
            </a:r>
            <a:endParaRPr lang="en-US" dirty="0" smtClean="0"/>
          </a:p>
          <a:p>
            <a:pPr marL="284163" indent="-230188" algn="just">
              <a:buFont typeface="Arial" panose="020B0604020202020204" pitchFamily="34" charset="0"/>
              <a:buChar char="•"/>
            </a:pPr>
            <a:r>
              <a:rPr lang="en-US" dirty="0" smtClean="0"/>
              <a:t>Thus</a:t>
            </a:r>
            <a:r>
              <a:rPr lang="en-US" dirty="0"/>
              <a:t>, instead of the temporary </a:t>
            </a:r>
            <a:r>
              <a:rPr lang="en-US" dirty="0" smtClean="0"/>
              <a:t>t1, a </a:t>
            </a:r>
            <a:r>
              <a:rPr lang="en-US" dirty="0"/>
              <a:t>triple representation would refer to position (0). Parenthesized numbers represent pointers into the triple structure itself.</a:t>
            </a:r>
          </a:p>
        </p:txBody>
      </p:sp>
      <p:sp>
        <p:nvSpPr>
          <p:cNvPr id="5" name="Content Placeholder 4"/>
          <p:cNvSpPr>
            <a:spLocks noGrp="1"/>
          </p:cNvSpPr>
          <p:nvPr>
            <p:ph sz="half" idx="2"/>
          </p:nvPr>
        </p:nvSpPr>
        <p:spPr/>
        <p:txBody>
          <a:bodyPr/>
          <a:lstStyle/>
          <a:p>
            <a:endParaRPr lang="en-US"/>
          </a:p>
        </p:txBody>
      </p:sp>
      <p:pic>
        <p:nvPicPr>
          <p:cNvPr id="4" name="Picture 3"/>
          <p:cNvPicPr>
            <a:picLocks noChangeAspect="1"/>
          </p:cNvPicPr>
          <p:nvPr/>
        </p:nvPicPr>
        <p:blipFill>
          <a:blip r:embed="rId2"/>
          <a:stretch>
            <a:fillRect/>
          </a:stretch>
        </p:blipFill>
        <p:spPr>
          <a:xfrm>
            <a:off x="6217920" y="2056956"/>
            <a:ext cx="5503501" cy="2725444"/>
          </a:xfrm>
          <a:prstGeom prst="rect">
            <a:avLst/>
          </a:prstGeom>
        </p:spPr>
      </p:pic>
    </p:spTree>
    <p:extLst>
      <p:ext uri="{BB962C8B-B14F-4D97-AF65-F5344CB8AC3E}">
        <p14:creationId xmlns:p14="http://schemas.microsoft.com/office/powerpoint/2010/main" val="371546729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Indirect Triple</a:t>
            </a:r>
            <a:endParaRPr lang="en-US" dirty="0"/>
          </a:p>
        </p:txBody>
      </p:sp>
      <p:pic>
        <p:nvPicPr>
          <p:cNvPr id="4" name="Content Placeholder 3"/>
          <p:cNvPicPr>
            <a:picLocks noGrp="1" noChangeAspect="1"/>
          </p:cNvPicPr>
          <p:nvPr>
            <p:ph sz="half" idx="1"/>
          </p:nvPr>
        </p:nvPicPr>
        <p:blipFill>
          <a:blip r:embed="rId2"/>
          <a:stretch>
            <a:fillRect/>
          </a:stretch>
        </p:blipFill>
        <p:spPr>
          <a:xfrm>
            <a:off x="1096963" y="2620920"/>
            <a:ext cx="4938712" cy="2473410"/>
          </a:xfrm>
          <a:prstGeom prst="rect">
            <a:avLst/>
          </a:prstGeom>
        </p:spPr>
      </p:pic>
      <p:sp>
        <p:nvSpPr>
          <p:cNvPr id="3" name="Content Placeholder 2"/>
          <p:cNvSpPr>
            <a:spLocks noGrp="1"/>
          </p:cNvSpPr>
          <p:nvPr>
            <p:ph sz="half" idx="2"/>
          </p:nvPr>
        </p:nvSpPr>
        <p:spPr/>
        <p:txBody>
          <a:bodyPr/>
          <a:lstStyle/>
          <a:p>
            <a:r>
              <a:rPr lang="en-US" dirty="0"/>
              <a:t>Indirect triples consist of a listing of pointers to triples, rather than a listing of triples themselves. </a:t>
            </a:r>
            <a:endParaRPr lang="en-US" dirty="0" smtClean="0"/>
          </a:p>
          <a:p>
            <a:r>
              <a:rPr lang="en-US" dirty="0" smtClean="0"/>
              <a:t>For </a:t>
            </a:r>
            <a:r>
              <a:rPr lang="en-US" dirty="0"/>
              <a:t>example, let us use an array instruction to list pointers to triples in the desired order. </a:t>
            </a:r>
          </a:p>
          <a:p>
            <a:endParaRPr lang="en-US" dirty="0"/>
          </a:p>
        </p:txBody>
      </p:sp>
    </p:spTree>
    <p:extLst>
      <p:ext uri="{BB962C8B-B14F-4D97-AF65-F5344CB8AC3E}">
        <p14:creationId xmlns:p14="http://schemas.microsoft.com/office/powerpoint/2010/main" val="42381563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726" y="0"/>
            <a:ext cx="10058400" cy="1450757"/>
          </a:xfrm>
        </p:spPr>
        <p:txBody>
          <a:bodyPr/>
          <a:lstStyle/>
          <a:p>
            <a:r>
              <a:rPr lang="en-US" dirty="0" smtClean="0"/>
              <a:t>Static Single Assignment Form </a:t>
            </a:r>
            <a:endParaRPr lang="en-US" dirty="0"/>
          </a:p>
        </p:txBody>
      </p:sp>
      <p:sp>
        <p:nvSpPr>
          <p:cNvPr id="3" name="Content Placeholder 2"/>
          <p:cNvSpPr>
            <a:spLocks noGrp="1"/>
          </p:cNvSpPr>
          <p:nvPr>
            <p:ph idx="1"/>
          </p:nvPr>
        </p:nvSpPr>
        <p:spPr>
          <a:xfrm>
            <a:off x="838200" y="1825625"/>
            <a:ext cx="5243004" cy="4351338"/>
          </a:xfrm>
        </p:spPr>
        <p:txBody>
          <a:bodyPr/>
          <a:lstStyle/>
          <a:p>
            <a:pPr algn="just"/>
            <a:r>
              <a:rPr lang="en-US" dirty="0"/>
              <a:t>Static single-assignment form (SSA) is an intermediate representation that </a:t>
            </a:r>
            <a:r>
              <a:rPr lang="en-US" dirty="0" smtClean="0"/>
              <a:t>facilitates </a:t>
            </a:r>
            <a:r>
              <a:rPr lang="en-US" dirty="0"/>
              <a:t>certain code optimizations. </a:t>
            </a:r>
            <a:endParaRPr lang="en-US" dirty="0" smtClean="0"/>
          </a:p>
          <a:p>
            <a:pPr algn="just"/>
            <a:r>
              <a:rPr lang="en-US" dirty="0" smtClean="0"/>
              <a:t>Two </a:t>
            </a:r>
            <a:r>
              <a:rPr lang="en-US" dirty="0"/>
              <a:t>distinctive aspects distinguish SSA from three-address code. </a:t>
            </a:r>
            <a:endParaRPr lang="en-US" dirty="0" smtClean="0"/>
          </a:p>
          <a:p>
            <a:pPr lvl="1" algn="just"/>
            <a:r>
              <a:rPr lang="en-US" dirty="0" smtClean="0"/>
              <a:t>The first </a:t>
            </a:r>
            <a:r>
              <a:rPr lang="en-US" dirty="0"/>
              <a:t>is that all assignments in SSA are to </a:t>
            </a:r>
            <a:r>
              <a:rPr lang="en-US" dirty="0" smtClean="0"/>
              <a:t>variables </a:t>
            </a:r>
            <a:r>
              <a:rPr lang="en-US" dirty="0"/>
              <a:t>with distinct names; hence the term static </a:t>
            </a:r>
            <a:r>
              <a:rPr lang="en-US" dirty="0" smtClean="0"/>
              <a:t>single-assignment</a:t>
            </a:r>
            <a:endParaRPr lang="en-US" dirty="0"/>
          </a:p>
        </p:txBody>
      </p:sp>
      <p:pic>
        <p:nvPicPr>
          <p:cNvPr id="4" name="Picture 3"/>
          <p:cNvPicPr>
            <a:picLocks noChangeAspect="1"/>
          </p:cNvPicPr>
          <p:nvPr/>
        </p:nvPicPr>
        <p:blipFill>
          <a:blip r:embed="rId2"/>
          <a:stretch>
            <a:fillRect/>
          </a:stretch>
        </p:blipFill>
        <p:spPr>
          <a:xfrm>
            <a:off x="6466233" y="2224319"/>
            <a:ext cx="5489273" cy="2214516"/>
          </a:xfrm>
          <a:prstGeom prst="rect">
            <a:avLst/>
          </a:prstGeom>
        </p:spPr>
      </p:pic>
    </p:spTree>
    <p:extLst>
      <p:ext uri="{BB962C8B-B14F-4D97-AF65-F5344CB8AC3E}">
        <p14:creationId xmlns:p14="http://schemas.microsoft.com/office/powerpoint/2010/main" val="386217340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92963"/>
            <a:ext cx="10515600" cy="5884000"/>
          </a:xfrm>
        </p:spPr>
        <p:txBody>
          <a:bodyPr>
            <a:normAutofit/>
          </a:bodyPr>
          <a:lstStyle/>
          <a:p>
            <a:pPr algn="just"/>
            <a:r>
              <a:rPr lang="en-US" dirty="0"/>
              <a:t>The same variable </a:t>
            </a:r>
            <a:r>
              <a:rPr lang="en-US" dirty="0" smtClean="0"/>
              <a:t>may be defined </a:t>
            </a:r>
            <a:r>
              <a:rPr lang="en-US" dirty="0"/>
              <a:t>in two </a:t>
            </a:r>
            <a:r>
              <a:rPr lang="en-US" dirty="0" smtClean="0"/>
              <a:t>different control flow </a:t>
            </a:r>
            <a:r>
              <a:rPr lang="en-US" dirty="0"/>
              <a:t>paths in a program. </a:t>
            </a:r>
            <a:endParaRPr lang="en-US" dirty="0" smtClean="0"/>
          </a:p>
          <a:p>
            <a:pPr algn="just"/>
            <a:endParaRPr lang="en-US" dirty="0" smtClean="0"/>
          </a:p>
          <a:p>
            <a:pPr algn="just"/>
            <a:endParaRPr lang="en-US" dirty="0"/>
          </a:p>
          <a:p>
            <a:pPr algn="just"/>
            <a:endParaRPr lang="en-US" dirty="0" smtClean="0"/>
          </a:p>
          <a:p>
            <a:pPr algn="just"/>
            <a:endParaRPr lang="en-US" dirty="0" smtClean="0"/>
          </a:p>
          <a:p>
            <a:pPr algn="just"/>
            <a:endParaRPr lang="en-US" dirty="0" smtClean="0"/>
          </a:p>
          <a:p>
            <a:pPr algn="just"/>
            <a:endParaRPr lang="en-US" dirty="0"/>
          </a:p>
          <a:p>
            <a:pPr algn="just"/>
            <a:endParaRPr lang="en-US" dirty="0" smtClean="0"/>
          </a:p>
          <a:p>
            <a:pPr algn="just"/>
            <a:r>
              <a:rPr lang="en-US" dirty="0" smtClean="0"/>
              <a:t>Here </a:t>
            </a:r>
            <a:r>
              <a:rPr lang="en-US" dirty="0"/>
              <a:t>is where the second distinctive aspect of SSA comes into play. SSA uses a notational convention called the-function to combine the two </a:t>
            </a:r>
            <a:r>
              <a:rPr lang="en-US" dirty="0" smtClean="0"/>
              <a:t>definitions </a:t>
            </a:r>
            <a:r>
              <a:rPr lang="en-US" dirty="0"/>
              <a:t>of x: if ( flag ) x1 =-1; else x2 = 1; x3 =  </a:t>
            </a:r>
            <a:r>
              <a:rPr lang="el-GR" dirty="0"/>
              <a:t>Φ </a:t>
            </a:r>
            <a:r>
              <a:rPr lang="en-US" dirty="0" smtClean="0"/>
              <a:t>(</a:t>
            </a:r>
            <a:r>
              <a:rPr lang="en-US" dirty="0"/>
              <a:t>x1;x2</a:t>
            </a:r>
            <a:r>
              <a:rPr lang="en-US" dirty="0" smtClean="0"/>
              <a:t>)</a:t>
            </a:r>
          </a:p>
          <a:p>
            <a:pPr algn="just"/>
            <a:r>
              <a:rPr lang="en-US" dirty="0"/>
              <a:t>Here, </a:t>
            </a:r>
            <a:r>
              <a:rPr lang="el-GR" dirty="0"/>
              <a:t>Φ</a:t>
            </a:r>
            <a:r>
              <a:rPr lang="en-US" dirty="0" smtClean="0"/>
              <a:t>(x1;x2</a:t>
            </a:r>
            <a:r>
              <a:rPr lang="en-US" dirty="0"/>
              <a:t>) has the value x1 if the control </a:t>
            </a:r>
            <a:r>
              <a:rPr lang="en-US" dirty="0" smtClean="0"/>
              <a:t>flow </a:t>
            </a:r>
            <a:r>
              <a:rPr lang="en-US" dirty="0"/>
              <a:t>passes through the true part of the conditional and the value x2 if the control </a:t>
            </a:r>
            <a:r>
              <a:rPr lang="en-US" dirty="0" smtClean="0"/>
              <a:t>flow </a:t>
            </a:r>
            <a:r>
              <a:rPr lang="en-US" dirty="0"/>
              <a:t>passes through the false part. That is to say, the-function returns the value of its argument that corresponds to the control- </a:t>
            </a:r>
            <a:r>
              <a:rPr lang="en-US" dirty="0" smtClean="0"/>
              <a:t>flow </a:t>
            </a:r>
            <a:r>
              <a:rPr lang="en-US" dirty="0"/>
              <a:t>path that was taken to get to the assignment statement containing the-function</a:t>
            </a:r>
          </a:p>
        </p:txBody>
      </p:sp>
      <p:sp>
        <p:nvSpPr>
          <p:cNvPr id="4" name="Rectangle 3"/>
          <p:cNvSpPr/>
          <p:nvPr/>
        </p:nvSpPr>
        <p:spPr>
          <a:xfrm>
            <a:off x="1242873" y="1331650"/>
            <a:ext cx="9889725" cy="213951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2000" dirty="0"/>
              <a:t>For example, the source program if ( flag ) x =-1; else x = 1; y = x * a; has two control flow paths in which the variable x gets defined. If we use different names for x in the true part and the false part of the conditional statement, then which name should we use in the assignment y = x * a? </a:t>
            </a:r>
          </a:p>
          <a:p>
            <a:pPr algn="ctr"/>
            <a:endParaRPr lang="en-US" sz="2000" dirty="0"/>
          </a:p>
        </p:txBody>
      </p:sp>
    </p:spTree>
    <p:extLst>
      <p:ext uri="{BB962C8B-B14F-4D97-AF65-F5344CB8AC3E}">
        <p14:creationId xmlns:p14="http://schemas.microsoft.com/office/powerpoint/2010/main" val="42178857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Types and </a:t>
            </a:r>
            <a:r>
              <a:rPr lang="en-US" dirty="0"/>
              <a:t>Declarations </a:t>
            </a:r>
            <a:r>
              <a:rPr lang="en-US" dirty="0" smtClean="0"/>
              <a:t>-</a:t>
            </a:r>
            <a:endParaRPr lang="en-US" dirty="0"/>
          </a:p>
        </p:txBody>
      </p:sp>
      <p:sp>
        <p:nvSpPr>
          <p:cNvPr id="3" name="Content Placeholder 2"/>
          <p:cNvSpPr>
            <a:spLocks noGrp="1"/>
          </p:cNvSpPr>
          <p:nvPr>
            <p:ph idx="1"/>
          </p:nvPr>
        </p:nvSpPr>
        <p:spPr/>
        <p:txBody>
          <a:bodyPr/>
          <a:lstStyle/>
          <a:p>
            <a:pPr algn="just"/>
            <a:r>
              <a:rPr lang="en-US" dirty="0" smtClean="0"/>
              <a:t>Applications of Types</a:t>
            </a:r>
          </a:p>
          <a:p>
            <a:pPr lvl="1" algn="just"/>
            <a:r>
              <a:rPr lang="en-US" b="1" dirty="0"/>
              <a:t>Type checking </a:t>
            </a:r>
            <a:r>
              <a:rPr lang="en-US" dirty="0"/>
              <a:t>uses logical rules to reason about the behavior of a program at run time. </a:t>
            </a:r>
            <a:r>
              <a:rPr lang="en-US" dirty="0" smtClean="0"/>
              <a:t>Specifically, </a:t>
            </a:r>
            <a:r>
              <a:rPr lang="en-US" dirty="0"/>
              <a:t>it ensures that the types of the operands match the type expected by an operator. </a:t>
            </a:r>
            <a:endParaRPr lang="en-US" dirty="0" smtClean="0"/>
          </a:p>
          <a:p>
            <a:pPr lvl="1" algn="just"/>
            <a:r>
              <a:rPr lang="en-US" b="1" dirty="0" smtClean="0"/>
              <a:t>Translation </a:t>
            </a:r>
            <a:r>
              <a:rPr lang="en-US" b="1" dirty="0"/>
              <a:t>Applications</a:t>
            </a:r>
            <a:r>
              <a:rPr lang="en-US" dirty="0"/>
              <a:t>. From the type of a name, a compiler can </a:t>
            </a:r>
            <a:r>
              <a:rPr lang="en-US" dirty="0" smtClean="0"/>
              <a:t>determine </a:t>
            </a:r>
            <a:r>
              <a:rPr lang="en-US" dirty="0"/>
              <a:t>the storage that will be needed for that name at run time. Type information is also needed to calculate the address denoted by an array reference, to insert explicit type conversions, and to choose the </a:t>
            </a:r>
            <a:r>
              <a:rPr lang="en-US" dirty="0" smtClean="0"/>
              <a:t>right version </a:t>
            </a:r>
            <a:r>
              <a:rPr lang="en-US" dirty="0"/>
              <a:t>of an arithmetic operator, among other things. </a:t>
            </a:r>
          </a:p>
        </p:txBody>
      </p:sp>
    </p:spTree>
    <p:extLst>
      <p:ext uri="{BB962C8B-B14F-4D97-AF65-F5344CB8AC3E}">
        <p14:creationId xmlns:p14="http://schemas.microsoft.com/office/powerpoint/2010/main" val="307559736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8503" y="11546"/>
            <a:ext cx="10515600" cy="1325563"/>
          </a:xfrm>
        </p:spPr>
        <p:txBody>
          <a:bodyPr/>
          <a:lstStyle/>
          <a:p>
            <a:r>
              <a:rPr lang="en-US" dirty="0"/>
              <a:t>Computing types and their widths</a:t>
            </a:r>
          </a:p>
        </p:txBody>
      </p:sp>
      <p:pic>
        <p:nvPicPr>
          <p:cNvPr id="4" name="Content Placeholder 3"/>
          <p:cNvPicPr>
            <a:picLocks noGrp="1" noChangeAspect="1"/>
          </p:cNvPicPr>
          <p:nvPr>
            <p:ph idx="1"/>
          </p:nvPr>
        </p:nvPicPr>
        <p:blipFill>
          <a:blip r:embed="rId2"/>
          <a:stretch>
            <a:fillRect/>
          </a:stretch>
        </p:blipFill>
        <p:spPr>
          <a:xfrm>
            <a:off x="313678" y="1415294"/>
            <a:ext cx="5214699" cy="2281431"/>
          </a:xfrm>
          <a:prstGeom prst="rect">
            <a:avLst/>
          </a:prstGeom>
        </p:spPr>
      </p:pic>
      <p:pic>
        <p:nvPicPr>
          <p:cNvPr id="5" name="Picture 4"/>
          <p:cNvPicPr>
            <a:picLocks noChangeAspect="1"/>
          </p:cNvPicPr>
          <p:nvPr/>
        </p:nvPicPr>
        <p:blipFill>
          <a:blip r:embed="rId3"/>
          <a:stretch>
            <a:fillRect/>
          </a:stretch>
        </p:blipFill>
        <p:spPr>
          <a:xfrm>
            <a:off x="5299969" y="3615684"/>
            <a:ext cx="6892031" cy="3169328"/>
          </a:xfrm>
          <a:prstGeom prst="rect">
            <a:avLst/>
          </a:prstGeom>
        </p:spPr>
      </p:pic>
    </p:spTree>
    <p:extLst>
      <p:ext uri="{BB962C8B-B14F-4D97-AF65-F5344CB8AC3E}">
        <p14:creationId xmlns:p14="http://schemas.microsoft.com/office/powerpoint/2010/main" val="82670221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Procedures</a:t>
            </a:r>
            <a:endParaRPr lang="en-US" dirty="0"/>
          </a:p>
        </p:txBody>
      </p:sp>
      <p:sp>
        <p:nvSpPr>
          <p:cNvPr id="3" name="Content Placeholder 2"/>
          <p:cNvSpPr>
            <a:spLocks noGrp="1"/>
          </p:cNvSpPr>
          <p:nvPr>
            <p:ph sz="half" idx="1"/>
          </p:nvPr>
        </p:nvSpPr>
        <p:spPr>
          <a:xfrm>
            <a:off x="1097279" y="1845734"/>
            <a:ext cx="6271187" cy="4404146"/>
          </a:xfrm>
        </p:spPr>
        <p:txBody>
          <a:bodyPr>
            <a:normAutofit/>
          </a:bodyPr>
          <a:lstStyle/>
          <a:p>
            <a:pPr algn="just">
              <a:buFont typeface="Arial" panose="020B0604020202020204" pitchFamily="34" charset="0"/>
              <a:buChar char="•"/>
            </a:pPr>
            <a:r>
              <a:rPr lang="en-US" dirty="0"/>
              <a:t>In three-address code, a function call is unraveled into the evaluation of parameters in preparation for a call, followed by the call itself. </a:t>
            </a:r>
            <a:endParaRPr lang="en-US" dirty="0" smtClean="0"/>
          </a:p>
          <a:p>
            <a:pPr algn="just">
              <a:buFont typeface="Arial" panose="020B0604020202020204" pitchFamily="34" charset="0"/>
              <a:buChar char="•"/>
            </a:pPr>
            <a:r>
              <a:rPr lang="en-US" dirty="0" smtClean="0"/>
              <a:t>Suppose </a:t>
            </a:r>
            <a:r>
              <a:rPr lang="en-US" dirty="0"/>
              <a:t>that a is an array of integers, and that f is a function from integers to integers. </a:t>
            </a:r>
          </a:p>
          <a:p>
            <a:pPr algn="just">
              <a:buFont typeface="Arial" panose="020B0604020202020204" pitchFamily="34" charset="0"/>
              <a:buChar char="•"/>
            </a:pPr>
            <a:r>
              <a:rPr lang="en-US" dirty="0" smtClean="0"/>
              <a:t>Then</a:t>
            </a:r>
            <a:r>
              <a:rPr lang="en-US" dirty="0"/>
              <a:t>, the assignment </a:t>
            </a:r>
            <a:r>
              <a:rPr lang="en-US" b="1" dirty="0"/>
              <a:t>n = f ( a [ </a:t>
            </a:r>
            <a:r>
              <a:rPr lang="en-US" b="1" dirty="0" err="1"/>
              <a:t>i</a:t>
            </a:r>
            <a:r>
              <a:rPr lang="en-US" b="1" dirty="0"/>
              <a:t> ] ) </a:t>
            </a:r>
            <a:r>
              <a:rPr lang="en-US" dirty="0"/>
              <a:t>; </a:t>
            </a:r>
            <a:endParaRPr lang="en-US" dirty="0" smtClean="0"/>
          </a:p>
          <a:p>
            <a:pPr algn="just">
              <a:buFont typeface="Arial" panose="020B0604020202020204" pitchFamily="34" charset="0"/>
              <a:buChar char="•"/>
            </a:pPr>
            <a:r>
              <a:rPr lang="en-US" dirty="0" smtClean="0"/>
              <a:t>Three-address </a:t>
            </a:r>
            <a:r>
              <a:rPr lang="en-US" dirty="0"/>
              <a:t>code: </a:t>
            </a:r>
            <a:endParaRPr lang="en-US" dirty="0" smtClean="0"/>
          </a:p>
          <a:p>
            <a:pPr lvl="1" algn="just">
              <a:buFont typeface="Arial" panose="020B0604020202020204" pitchFamily="34" charset="0"/>
              <a:buChar char="•"/>
            </a:pPr>
            <a:r>
              <a:rPr lang="en-US" dirty="0" smtClean="0"/>
              <a:t>f </a:t>
            </a:r>
            <a:r>
              <a:rPr lang="en-US" dirty="0"/>
              <a:t>is a </a:t>
            </a:r>
            <a:r>
              <a:rPr lang="en-US" dirty="0" smtClean="0"/>
              <a:t>function and </a:t>
            </a:r>
            <a:r>
              <a:rPr lang="en-US" dirty="0"/>
              <a:t>( a [ </a:t>
            </a:r>
            <a:r>
              <a:rPr lang="en-US" dirty="0" err="1"/>
              <a:t>i</a:t>
            </a:r>
            <a:r>
              <a:rPr lang="en-US" dirty="0"/>
              <a:t> ] ) is the parameter of the </a:t>
            </a:r>
            <a:r>
              <a:rPr lang="en-US" dirty="0" smtClean="0"/>
              <a:t>function. </a:t>
            </a:r>
            <a:endParaRPr lang="en-US" dirty="0"/>
          </a:p>
          <a:p>
            <a:pPr lvl="1" algn="just">
              <a:buFont typeface="Arial" panose="020B0604020202020204" pitchFamily="34" charset="0"/>
              <a:buChar char="•"/>
            </a:pPr>
            <a:r>
              <a:rPr lang="en-US" dirty="0" smtClean="0"/>
              <a:t>The </a:t>
            </a:r>
            <a:r>
              <a:rPr lang="en-US" dirty="0"/>
              <a:t>first two lines compute the value of the expression a [ </a:t>
            </a:r>
            <a:r>
              <a:rPr lang="en-US" dirty="0" err="1"/>
              <a:t>i</a:t>
            </a:r>
            <a:r>
              <a:rPr lang="en-US" dirty="0"/>
              <a:t> ] into temporary </a:t>
            </a:r>
            <a:r>
              <a:rPr lang="en-US" dirty="0" smtClean="0"/>
              <a:t>t2.</a:t>
            </a:r>
          </a:p>
          <a:p>
            <a:pPr lvl="1" algn="just">
              <a:buFont typeface="Arial" panose="020B0604020202020204" pitchFamily="34" charset="0"/>
              <a:buChar char="•"/>
            </a:pPr>
            <a:r>
              <a:rPr lang="en-US" dirty="0" smtClean="0"/>
              <a:t>Line </a:t>
            </a:r>
            <a:r>
              <a:rPr lang="en-US" dirty="0"/>
              <a:t>3 makes t2 an actual parameter for the call on line 4 of f with one parameter</a:t>
            </a:r>
            <a:r>
              <a:rPr lang="en-US" dirty="0" smtClean="0"/>
              <a:t>. </a:t>
            </a:r>
          </a:p>
          <a:p>
            <a:pPr lvl="1" algn="just">
              <a:buFont typeface="Arial" panose="020B0604020202020204" pitchFamily="34" charset="0"/>
              <a:buChar char="•"/>
            </a:pPr>
            <a:r>
              <a:rPr lang="en-US" dirty="0" smtClean="0"/>
              <a:t>Line </a:t>
            </a:r>
            <a:r>
              <a:rPr lang="en-US" dirty="0"/>
              <a:t>5 assigns the value returned by the function call to t3 .</a:t>
            </a:r>
          </a:p>
        </p:txBody>
      </p:sp>
      <p:pic>
        <p:nvPicPr>
          <p:cNvPr id="4" name="Picture 3"/>
          <p:cNvPicPr>
            <a:picLocks noChangeAspect="1"/>
          </p:cNvPicPr>
          <p:nvPr/>
        </p:nvPicPr>
        <p:blipFill>
          <a:blip r:embed="rId2"/>
          <a:stretch>
            <a:fillRect/>
          </a:stretch>
        </p:blipFill>
        <p:spPr>
          <a:xfrm>
            <a:off x="7517130" y="1845734"/>
            <a:ext cx="3638550" cy="3152775"/>
          </a:xfrm>
          <a:prstGeom prst="rect">
            <a:avLst/>
          </a:prstGeom>
        </p:spPr>
      </p:pic>
    </p:spTree>
    <p:extLst>
      <p:ext uri="{BB962C8B-B14F-4D97-AF65-F5344CB8AC3E}">
        <p14:creationId xmlns:p14="http://schemas.microsoft.com/office/powerpoint/2010/main" val="162133481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Translation of </a:t>
            </a:r>
            <a:r>
              <a:rPr lang="en-US" dirty="0" smtClean="0"/>
              <a:t>Expressions-(Assignment Statements)-</a:t>
            </a:r>
            <a:endParaRPr lang="en-US" dirty="0"/>
          </a:p>
        </p:txBody>
      </p:sp>
      <p:pic>
        <p:nvPicPr>
          <p:cNvPr id="4" name="Content Placeholder 3"/>
          <p:cNvPicPr>
            <a:picLocks noGrp="1" noChangeAspect="1"/>
          </p:cNvPicPr>
          <p:nvPr>
            <p:ph idx="1"/>
          </p:nvPr>
        </p:nvPicPr>
        <p:blipFill>
          <a:blip r:embed="rId2"/>
          <a:stretch>
            <a:fillRect/>
          </a:stretch>
        </p:blipFill>
        <p:spPr>
          <a:xfrm>
            <a:off x="136124" y="1561349"/>
            <a:ext cx="6228247" cy="4351338"/>
          </a:xfrm>
          <a:prstGeom prst="rect">
            <a:avLst/>
          </a:prstGeom>
        </p:spPr>
      </p:pic>
      <p:sp>
        <p:nvSpPr>
          <p:cNvPr id="5" name="Rectangle 4"/>
          <p:cNvSpPr/>
          <p:nvPr/>
        </p:nvSpPr>
        <p:spPr>
          <a:xfrm>
            <a:off x="1311634" y="5783348"/>
            <a:ext cx="4525150" cy="369332"/>
          </a:xfrm>
          <a:prstGeom prst="rect">
            <a:avLst/>
          </a:prstGeom>
        </p:spPr>
        <p:txBody>
          <a:bodyPr wrap="none">
            <a:spAutoFit/>
          </a:bodyPr>
          <a:lstStyle/>
          <a:p>
            <a:r>
              <a:rPr lang="en-US" dirty="0"/>
              <a:t>Three-address code for </a:t>
            </a:r>
            <a:r>
              <a:rPr lang="en-US" dirty="0" smtClean="0"/>
              <a:t>Assignment Statement</a:t>
            </a:r>
            <a:endParaRPr lang="en-US" dirty="0"/>
          </a:p>
        </p:txBody>
      </p:sp>
      <p:sp>
        <p:nvSpPr>
          <p:cNvPr id="6" name="Rectangle 5"/>
          <p:cNvSpPr/>
          <p:nvPr/>
        </p:nvSpPr>
        <p:spPr>
          <a:xfrm>
            <a:off x="6294128" y="1584156"/>
            <a:ext cx="5897872" cy="646331"/>
          </a:xfrm>
          <a:prstGeom prst="rect">
            <a:avLst/>
          </a:prstGeom>
        </p:spPr>
        <p:txBody>
          <a:bodyPr wrap="square">
            <a:spAutoFit/>
          </a:bodyPr>
          <a:lstStyle/>
          <a:p>
            <a:r>
              <a:rPr lang="en-US" dirty="0"/>
              <a:t>Attributes </a:t>
            </a:r>
            <a:r>
              <a:rPr lang="en-US" dirty="0" err="1" smtClean="0"/>
              <a:t>S.code</a:t>
            </a:r>
            <a:r>
              <a:rPr lang="en-US" dirty="0" smtClean="0"/>
              <a:t> </a:t>
            </a:r>
            <a:r>
              <a:rPr lang="en-US" dirty="0"/>
              <a:t>and </a:t>
            </a:r>
            <a:r>
              <a:rPr lang="en-US" dirty="0" err="1" smtClean="0"/>
              <a:t>E.code</a:t>
            </a:r>
            <a:r>
              <a:rPr lang="en-US" dirty="0" smtClean="0"/>
              <a:t> </a:t>
            </a:r>
            <a:r>
              <a:rPr lang="en-US" dirty="0"/>
              <a:t>denote the three-address code for S and E, respectively. </a:t>
            </a:r>
          </a:p>
        </p:txBody>
      </p:sp>
      <p:sp>
        <p:nvSpPr>
          <p:cNvPr id="7" name="Rectangle 6"/>
          <p:cNvSpPr/>
          <p:nvPr/>
        </p:nvSpPr>
        <p:spPr>
          <a:xfrm>
            <a:off x="6294128" y="2265989"/>
            <a:ext cx="5806136" cy="643729"/>
          </a:xfrm>
          <a:prstGeom prst="rect">
            <a:avLst/>
          </a:prstGeom>
        </p:spPr>
        <p:txBody>
          <a:bodyPr wrap="square">
            <a:spAutoFit/>
          </a:bodyPr>
          <a:lstStyle/>
          <a:p>
            <a:r>
              <a:rPr lang="en-US" dirty="0"/>
              <a:t>Attribute </a:t>
            </a:r>
            <a:r>
              <a:rPr lang="en-US" dirty="0" err="1" smtClean="0"/>
              <a:t>E.addr</a:t>
            </a:r>
            <a:r>
              <a:rPr lang="en-US" dirty="0" smtClean="0"/>
              <a:t> </a:t>
            </a:r>
            <a:r>
              <a:rPr lang="en-US" dirty="0"/>
              <a:t>denotes the address that will hold the value of E.  </a:t>
            </a:r>
          </a:p>
        </p:txBody>
      </p:sp>
      <p:sp>
        <p:nvSpPr>
          <p:cNvPr id="8" name="Rectangle 7"/>
          <p:cNvSpPr/>
          <p:nvPr/>
        </p:nvSpPr>
        <p:spPr>
          <a:xfrm>
            <a:off x="6294128" y="2945220"/>
            <a:ext cx="5806136" cy="923330"/>
          </a:xfrm>
          <a:prstGeom prst="rect">
            <a:avLst/>
          </a:prstGeom>
        </p:spPr>
        <p:txBody>
          <a:bodyPr wrap="square">
            <a:spAutoFit/>
          </a:bodyPr>
          <a:lstStyle/>
          <a:p>
            <a:r>
              <a:rPr lang="en-US" dirty="0" smtClean="0"/>
              <a:t>For the production </a:t>
            </a:r>
            <a:r>
              <a:rPr lang="en-US" dirty="0" err="1" smtClean="0"/>
              <a:t>E</a:t>
            </a:r>
            <a:r>
              <a:rPr lang="en-US" dirty="0" err="1" smtClean="0">
                <a:sym typeface="Wingdings" panose="05000000000000000000" pitchFamily="2" charset="2"/>
              </a:rPr>
              <a:t>id</a:t>
            </a:r>
            <a:r>
              <a:rPr lang="en-US" dirty="0" smtClean="0">
                <a:sym typeface="Wingdings" panose="05000000000000000000" pitchFamily="2" charset="2"/>
              </a:rPr>
              <a:t> , t</a:t>
            </a:r>
            <a:r>
              <a:rPr lang="en-US" dirty="0" smtClean="0"/>
              <a:t>he </a:t>
            </a:r>
            <a:r>
              <a:rPr lang="en-US" dirty="0"/>
              <a:t>semantic rules for this production </a:t>
            </a:r>
            <a:r>
              <a:rPr lang="en-US" dirty="0" smtClean="0"/>
              <a:t>define </a:t>
            </a:r>
            <a:r>
              <a:rPr lang="en-US" dirty="0" err="1" smtClean="0"/>
              <a:t>E.addr</a:t>
            </a:r>
            <a:r>
              <a:rPr lang="en-US" dirty="0" smtClean="0"/>
              <a:t> </a:t>
            </a:r>
            <a:r>
              <a:rPr lang="en-US" dirty="0"/>
              <a:t>to point to the symbol-table entry for this instance of id. </a:t>
            </a:r>
          </a:p>
        </p:txBody>
      </p:sp>
      <p:sp>
        <p:nvSpPr>
          <p:cNvPr id="3" name="Rectangle 2"/>
          <p:cNvSpPr/>
          <p:nvPr/>
        </p:nvSpPr>
        <p:spPr>
          <a:xfrm>
            <a:off x="6184318" y="4121393"/>
            <a:ext cx="6096000" cy="2308324"/>
          </a:xfrm>
          <a:prstGeom prst="rect">
            <a:avLst/>
          </a:prstGeom>
        </p:spPr>
        <p:txBody>
          <a:bodyPr>
            <a:spAutoFit/>
          </a:bodyPr>
          <a:lstStyle/>
          <a:p>
            <a:r>
              <a:rPr lang="en-US" dirty="0"/>
              <a:t>Finally, the production </a:t>
            </a:r>
            <a:r>
              <a:rPr lang="en-US" dirty="0" err="1" smtClean="0"/>
              <a:t>S</a:t>
            </a:r>
            <a:r>
              <a:rPr lang="en-US" dirty="0" err="1" smtClean="0">
                <a:sym typeface="Wingdings" panose="05000000000000000000" pitchFamily="2" charset="2"/>
              </a:rPr>
              <a:t></a:t>
            </a:r>
            <a:r>
              <a:rPr lang="en-US" dirty="0" err="1" smtClean="0"/>
              <a:t>id</a:t>
            </a:r>
            <a:r>
              <a:rPr lang="en-US" dirty="0" smtClean="0"/>
              <a:t>=E</a:t>
            </a:r>
            <a:r>
              <a:rPr lang="en-US" dirty="0"/>
              <a:t>; generates instructions that assign the value of expression E to the </a:t>
            </a:r>
            <a:r>
              <a:rPr lang="en-US" dirty="0" smtClean="0"/>
              <a:t>identifier </a:t>
            </a:r>
            <a:r>
              <a:rPr lang="en-US" dirty="0"/>
              <a:t>id. The semantic rule for this production uses function </a:t>
            </a:r>
            <a:r>
              <a:rPr lang="en-US" dirty="0" err="1"/>
              <a:t>top.get</a:t>
            </a:r>
            <a:r>
              <a:rPr lang="en-US" dirty="0"/>
              <a:t> to determine the address of the </a:t>
            </a:r>
            <a:r>
              <a:rPr lang="en-US" dirty="0" smtClean="0"/>
              <a:t>identifier </a:t>
            </a:r>
            <a:r>
              <a:rPr lang="en-US" dirty="0"/>
              <a:t>represented by id, as in the rules for </a:t>
            </a:r>
            <a:r>
              <a:rPr lang="en-US" dirty="0" err="1" smtClean="0"/>
              <a:t>E</a:t>
            </a:r>
            <a:r>
              <a:rPr lang="en-US" dirty="0" err="1" smtClean="0">
                <a:sym typeface="Wingdings" panose="05000000000000000000" pitchFamily="2" charset="2"/>
              </a:rPr>
              <a:t></a:t>
            </a:r>
            <a:r>
              <a:rPr lang="en-US" dirty="0" err="1" smtClean="0"/>
              <a:t>id</a:t>
            </a:r>
            <a:r>
              <a:rPr lang="en-US" dirty="0"/>
              <a:t>. </a:t>
            </a:r>
            <a:endParaRPr lang="en-US" dirty="0" smtClean="0"/>
          </a:p>
          <a:p>
            <a:r>
              <a:rPr lang="en-US" dirty="0" err="1" smtClean="0"/>
              <a:t>S.code</a:t>
            </a:r>
            <a:r>
              <a:rPr lang="en-US" dirty="0" smtClean="0"/>
              <a:t> </a:t>
            </a:r>
            <a:r>
              <a:rPr lang="en-US" dirty="0"/>
              <a:t>consists of the instructions to compute the value of E into an address given by </a:t>
            </a:r>
            <a:r>
              <a:rPr lang="en-US" dirty="0" err="1" smtClean="0"/>
              <a:t>E.addr</a:t>
            </a:r>
            <a:r>
              <a:rPr lang="en-US" dirty="0"/>
              <a:t>, followed by an </a:t>
            </a:r>
            <a:r>
              <a:rPr lang="en-US" dirty="0" smtClean="0"/>
              <a:t>assignment to </a:t>
            </a:r>
            <a:r>
              <a:rPr lang="en-US" dirty="0"/>
              <a:t>the address </a:t>
            </a:r>
            <a:r>
              <a:rPr lang="en-US" dirty="0" err="1" smtClean="0"/>
              <a:t>top.get</a:t>
            </a:r>
            <a:r>
              <a:rPr lang="en-US" dirty="0" smtClean="0"/>
              <a:t>(</a:t>
            </a:r>
            <a:r>
              <a:rPr lang="en-US" dirty="0" err="1" smtClean="0"/>
              <a:t>id.lexeme</a:t>
            </a:r>
            <a:r>
              <a:rPr lang="en-US" dirty="0"/>
              <a:t>) for this instance of id.</a:t>
            </a:r>
          </a:p>
        </p:txBody>
      </p:sp>
    </p:spTree>
    <p:extLst>
      <p:ext uri="{BB962C8B-B14F-4D97-AF65-F5344CB8AC3E}">
        <p14:creationId xmlns:p14="http://schemas.microsoft.com/office/powerpoint/2010/main" val="18170569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454368" y="365124"/>
            <a:ext cx="10899432" cy="6302005"/>
          </a:xfrm>
          <a:prstGeom prst="rect">
            <a:avLst/>
          </a:prstGeom>
        </p:spPr>
      </p:pic>
    </p:spTree>
    <p:extLst>
      <p:ext uri="{BB962C8B-B14F-4D97-AF65-F5344CB8AC3E}">
        <p14:creationId xmlns:p14="http://schemas.microsoft.com/office/powerpoint/2010/main" val="401971474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Control Flow</a:t>
            </a:r>
            <a:endParaRPr lang="en-US" dirty="0"/>
          </a:p>
        </p:txBody>
      </p:sp>
      <p:sp>
        <p:nvSpPr>
          <p:cNvPr id="3" name="Content Placeholder 2"/>
          <p:cNvSpPr>
            <a:spLocks noGrp="1"/>
          </p:cNvSpPr>
          <p:nvPr>
            <p:ph idx="1"/>
          </p:nvPr>
        </p:nvSpPr>
        <p:spPr/>
        <p:txBody>
          <a:bodyPr/>
          <a:lstStyle/>
          <a:p>
            <a:pPr algn="just"/>
            <a:r>
              <a:rPr lang="en-US" b="1" dirty="0" smtClean="0"/>
              <a:t>Boolean Expressions </a:t>
            </a:r>
            <a:r>
              <a:rPr lang="en-US" dirty="0"/>
              <a:t>are often used to </a:t>
            </a:r>
            <a:r>
              <a:rPr lang="en-US" dirty="0" smtClean="0"/>
              <a:t>: </a:t>
            </a:r>
          </a:p>
          <a:p>
            <a:pPr marL="284163" indent="-284163" algn="just">
              <a:buFont typeface="Arial" panose="020B0604020202020204" pitchFamily="34" charset="0"/>
              <a:buChar char="•"/>
            </a:pPr>
            <a:r>
              <a:rPr lang="en-US" b="1" dirty="0" smtClean="0"/>
              <a:t>Alter </a:t>
            </a:r>
            <a:r>
              <a:rPr lang="en-US" b="1" dirty="0"/>
              <a:t>the </a:t>
            </a:r>
            <a:r>
              <a:rPr lang="en-US" b="1" dirty="0" smtClean="0"/>
              <a:t>flow </a:t>
            </a:r>
            <a:r>
              <a:rPr lang="en-US" b="1" dirty="0"/>
              <a:t>of control. </a:t>
            </a:r>
            <a:endParaRPr lang="en-US" b="1" dirty="0" smtClean="0"/>
          </a:p>
          <a:p>
            <a:pPr marL="576771" lvl="1" indent="-284163" algn="just">
              <a:buFont typeface="Arial" panose="020B0604020202020204" pitchFamily="34" charset="0"/>
              <a:buChar char="•"/>
            </a:pPr>
            <a:r>
              <a:rPr lang="en-US" dirty="0" smtClean="0"/>
              <a:t>Boolean </a:t>
            </a:r>
            <a:r>
              <a:rPr lang="en-US" dirty="0"/>
              <a:t>expressions are used as conditional expressions in statements that alter the </a:t>
            </a:r>
            <a:r>
              <a:rPr lang="en-US" dirty="0" smtClean="0"/>
              <a:t>flow </a:t>
            </a:r>
            <a:r>
              <a:rPr lang="en-US" dirty="0"/>
              <a:t>of control. </a:t>
            </a:r>
            <a:endParaRPr lang="en-US" dirty="0" smtClean="0"/>
          </a:p>
          <a:p>
            <a:pPr marL="576771" lvl="1" indent="-284163" algn="just">
              <a:buFont typeface="Arial" panose="020B0604020202020204" pitchFamily="34" charset="0"/>
              <a:buChar char="•"/>
            </a:pPr>
            <a:r>
              <a:rPr lang="en-US" dirty="0" smtClean="0"/>
              <a:t>The </a:t>
            </a:r>
            <a:r>
              <a:rPr lang="en-US" dirty="0"/>
              <a:t>value of such </a:t>
            </a:r>
            <a:r>
              <a:rPr lang="en-US" dirty="0" err="1"/>
              <a:t>boolean</a:t>
            </a:r>
            <a:r>
              <a:rPr lang="en-US" dirty="0"/>
              <a:t> expressions is implicit in a position reached in a program. </a:t>
            </a:r>
            <a:endParaRPr lang="en-US" dirty="0" smtClean="0"/>
          </a:p>
          <a:p>
            <a:pPr marL="576771" lvl="1" indent="-284163" algn="just">
              <a:buFont typeface="Arial" panose="020B0604020202020204" pitchFamily="34" charset="0"/>
              <a:buChar char="•"/>
            </a:pPr>
            <a:r>
              <a:rPr lang="en-US" dirty="0" smtClean="0"/>
              <a:t>For </a:t>
            </a:r>
            <a:r>
              <a:rPr lang="en-US" dirty="0"/>
              <a:t>example, in if (E) S, the expression E must be true if statement S is reached. </a:t>
            </a:r>
            <a:endParaRPr lang="en-US" dirty="0" smtClean="0"/>
          </a:p>
          <a:p>
            <a:pPr marL="576771" lvl="1" indent="-284163" algn="just">
              <a:buFont typeface="Arial" panose="020B0604020202020204" pitchFamily="34" charset="0"/>
              <a:buChar char="•"/>
            </a:pPr>
            <a:endParaRPr lang="en-US" dirty="0"/>
          </a:p>
          <a:p>
            <a:pPr marL="284163" indent="-284163" algn="just">
              <a:buFont typeface="Arial" panose="020B0604020202020204" pitchFamily="34" charset="0"/>
              <a:buChar char="•"/>
            </a:pPr>
            <a:r>
              <a:rPr lang="en-US" b="1" dirty="0" smtClean="0"/>
              <a:t>Compute </a:t>
            </a:r>
            <a:r>
              <a:rPr lang="en-US" b="1" dirty="0"/>
              <a:t>logical values. </a:t>
            </a:r>
            <a:endParaRPr lang="en-US" b="1" dirty="0" smtClean="0"/>
          </a:p>
          <a:p>
            <a:pPr marL="576771" lvl="1" indent="-284163" algn="just">
              <a:buFont typeface="Arial" panose="020B0604020202020204" pitchFamily="34" charset="0"/>
              <a:buChar char="•"/>
            </a:pPr>
            <a:r>
              <a:rPr lang="en-US" dirty="0" smtClean="0"/>
              <a:t>A </a:t>
            </a:r>
            <a:r>
              <a:rPr lang="en-US" dirty="0" err="1"/>
              <a:t>boolean</a:t>
            </a:r>
            <a:r>
              <a:rPr lang="en-US" dirty="0"/>
              <a:t> expression can represent true or false as values. </a:t>
            </a:r>
            <a:endParaRPr lang="en-US" dirty="0" smtClean="0"/>
          </a:p>
          <a:p>
            <a:pPr marL="576771" lvl="1" indent="-284163" algn="just">
              <a:buFont typeface="Arial" panose="020B0604020202020204" pitchFamily="34" charset="0"/>
              <a:buChar char="•"/>
            </a:pPr>
            <a:r>
              <a:rPr lang="en-US" dirty="0" smtClean="0"/>
              <a:t>Such </a:t>
            </a:r>
            <a:r>
              <a:rPr lang="en-US" dirty="0" err="1"/>
              <a:t>boolean</a:t>
            </a:r>
            <a:r>
              <a:rPr lang="en-US" dirty="0"/>
              <a:t> expressions can be evaluated in analogy to </a:t>
            </a:r>
            <a:r>
              <a:rPr lang="en-US" dirty="0" smtClean="0"/>
              <a:t>arithmetic </a:t>
            </a:r>
            <a:r>
              <a:rPr lang="en-US" dirty="0"/>
              <a:t>expressions using three-address instructions with logical operators.</a:t>
            </a:r>
          </a:p>
        </p:txBody>
      </p:sp>
    </p:spTree>
    <p:extLst>
      <p:ext uri="{BB962C8B-B14F-4D97-AF65-F5344CB8AC3E}">
        <p14:creationId xmlns:p14="http://schemas.microsoft.com/office/powerpoint/2010/main" val="207617465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Boolean Expression</a:t>
            </a:r>
            <a:endParaRPr lang="en-US" dirty="0"/>
          </a:p>
        </p:txBody>
      </p:sp>
      <p:sp>
        <p:nvSpPr>
          <p:cNvPr id="3" name="Content Placeholder 2"/>
          <p:cNvSpPr>
            <a:spLocks noGrp="1"/>
          </p:cNvSpPr>
          <p:nvPr>
            <p:ph idx="1"/>
          </p:nvPr>
        </p:nvSpPr>
        <p:spPr/>
        <p:txBody>
          <a:bodyPr/>
          <a:lstStyle/>
          <a:p>
            <a:r>
              <a:rPr lang="en-US" dirty="0"/>
              <a:t>B </a:t>
            </a:r>
            <a:r>
              <a:rPr lang="en-US" dirty="0" smtClean="0">
                <a:sym typeface="Wingdings" panose="05000000000000000000" pitchFamily="2" charset="2"/>
              </a:rPr>
              <a:t></a:t>
            </a:r>
            <a:r>
              <a:rPr lang="en-US" dirty="0" smtClean="0"/>
              <a:t> </a:t>
            </a:r>
            <a:r>
              <a:rPr lang="en-US" dirty="0"/>
              <a:t>B||B </a:t>
            </a:r>
            <a:r>
              <a:rPr lang="en-US" dirty="0" smtClean="0"/>
              <a:t>| B</a:t>
            </a:r>
            <a:r>
              <a:rPr lang="en-US" dirty="0"/>
              <a:t>&amp;&amp;B </a:t>
            </a:r>
            <a:r>
              <a:rPr lang="en-US" dirty="0" smtClean="0"/>
              <a:t>| </a:t>
            </a:r>
            <a:r>
              <a:rPr lang="en-US" dirty="0"/>
              <a:t>!B </a:t>
            </a:r>
            <a:r>
              <a:rPr lang="en-US" dirty="0" smtClean="0"/>
              <a:t>| </a:t>
            </a:r>
            <a:r>
              <a:rPr lang="en-US" dirty="0"/>
              <a:t>(B) </a:t>
            </a:r>
            <a:r>
              <a:rPr lang="en-US" dirty="0" smtClean="0"/>
              <a:t>| E </a:t>
            </a:r>
            <a:r>
              <a:rPr lang="en-US" dirty="0" err="1" smtClean="0"/>
              <a:t>rel</a:t>
            </a:r>
            <a:r>
              <a:rPr lang="en-US" dirty="0" smtClean="0"/>
              <a:t> E | </a:t>
            </a:r>
            <a:r>
              <a:rPr lang="en-US" dirty="0"/>
              <a:t>true </a:t>
            </a:r>
            <a:r>
              <a:rPr lang="en-US" dirty="0" smtClean="0"/>
              <a:t>| false</a:t>
            </a:r>
          </a:p>
          <a:p>
            <a:r>
              <a:rPr lang="en-US" b="1" dirty="0" smtClean="0"/>
              <a:t>Numerical Representation </a:t>
            </a:r>
            <a:endParaRPr lang="en-US" b="1" dirty="0"/>
          </a:p>
        </p:txBody>
      </p:sp>
      <p:pic>
        <p:nvPicPr>
          <p:cNvPr id="4" name="Picture 3"/>
          <p:cNvPicPr>
            <a:picLocks noChangeAspect="1"/>
          </p:cNvPicPr>
          <p:nvPr/>
        </p:nvPicPr>
        <p:blipFill>
          <a:blip r:embed="rId2"/>
          <a:stretch>
            <a:fillRect/>
          </a:stretch>
        </p:blipFill>
        <p:spPr>
          <a:xfrm>
            <a:off x="5330856" y="2885851"/>
            <a:ext cx="3022200" cy="2701000"/>
          </a:xfrm>
          <a:prstGeom prst="rect">
            <a:avLst/>
          </a:prstGeom>
        </p:spPr>
      </p:pic>
      <p:pic>
        <p:nvPicPr>
          <p:cNvPr id="5" name="Picture 4"/>
          <p:cNvPicPr>
            <a:picLocks noChangeAspect="1"/>
          </p:cNvPicPr>
          <p:nvPr/>
        </p:nvPicPr>
        <p:blipFill>
          <a:blip r:embed="rId3"/>
          <a:stretch>
            <a:fillRect/>
          </a:stretch>
        </p:blipFill>
        <p:spPr>
          <a:xfrm>
            <a:off x="8597006" y="125180"/>
            <a:ext cx="3594994" cy="6217915"/>
          </a:xfrm>
          <a:prstGeom prst="rect">
            <a:avLst/>
          </a:prstGeom>
        </p:spPr>
      </p:pic>
      <p:pic>
        <p:nvPicPr>
          <p:cNvPr id="6" name="Picture 5"/>
          <p:cNvPicPr>
            <a:picLocks noChangeAspect="1"/>
          </p:cNvPicPr>
          <p:nvPr/>
        </p:nvPicPr>
        <p:blipFill>
          <a:blip r:embed="rId4"/>
          <a:stretch>
            <a:fillRect/>
          </a:stretch>
        </p:blipFill>
        <p:spPr>
          <a:xfrm>
            <a:off x="470516" y="2673722"/>
            <a:ext cx="4616390" cy="3669373"/>
          </a:xfrm>
          <a:prstGeom prst="rect">
            <a:avLst/>
          </a:prstGeom>
        </p:spPr>
      </p:pic>
    </p:spTree>
    <p:extLst>
      <p:ext uri="{BB962C8B-B14F-4D97-AF65-F5344CB8AC3E}">
        <p14:creationId xmlns:p14="http://schemas.microsoft.com/office/powerpoint/2010/main" val="246331903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3498" y="0"/>
            <a:ext cx="10058400" cy="1450757"/>
          </a:xfrm>
        </p:spPr>
        <p:txBody>
          <a:bodyPr/>
          <a:lstStyle/>
          <a:p>
            <a:r>
              <a:rPr lang="en-US" dirty="0" smtClean="0"/>
              <a:t>Control Flow Statements</a:t>
            </a:r>
            <a:endParaRPr lang="en-US" dirty="0"/>
          </a:p>
        </p:txBody>
      </p:sp>
      <p:pic>
        <p:nvPicPr>
          <p:cNvPr id="4" name="Content Placeholder 3"/>
          <p:cNvPicPr>
            <a:picLocks noGrp="1" noChangeAspect="1"/>
          </p:cNvPicPr>
          <p:nvPr>
            <p:ph idx="1"/>
          </p:nvPr>
        </p:nvPicPr>
        <p:blipFill>
          <a:blip r:embed="rId2"/>
          <a:stretch>
            <a:fillRect/>
          </a:stretch>
        </p:blipFill>
        <p:spPr>
          <a:xfrm>
            <a:off x="6826244" y="417251"/>
            <a:ext cx="5478011" cy="5912528"/>
          </a:xfrm>
          <a:prstGeom prst="rect">
            <a:avLst/>
          </a:prstGeom>
        </p:spPr>
      </p:pic>
      <p:sp>
        <p:nvSpPr>
          <p:cNvPr id="5" name="Rectangle 4"/>
          <p:cNvSpPr/>
          <p:nvPr/>
        </p:nvSpPr>
        <p:spPr>
          <a:xfrm>
            <a:off x="651871" y="1841624"/>
            <a:ext cx="6096000" cy="3785652"/>
          </a:xfrm>
          <a:prstGeom prst="rect">
            <a:avLst/>
          </a:prstGeom>
        </p:spPr>
        <p:txBody>
          <a:bodyPr>
            <a:spAutoFit/>
          </a:bodyPr>
          <a:lstStyle/>
          <a:p>
            <a:r>
              <a:rPr lang="en-US" sz="2400" b="1" dirty="0" smtClean="0"/>
              <a:t>if</a:t>
            </a:r>
            <a:r>
              <a:rPr lang="en-US" sz="2400" b="1" dirty="0"/>
              <a:t>( x &lt; 100 || x &gt; 200 &amp;&amp; x != y ) x = 0; </a:t>
            </a:r>
            <a:endParaRPr lang="en-US" sz="2400" dirty="0"/>
          </a:p>
          <a:p>
            <a:r>
              <a:rPr lang="en-US" sz="2400" dirty="0" smtClean="0"/>
              <a:t>Using </a:t>
            </a:r>
            <a:r>
              <a:rPr lang="en-US" sz="2400" dirty="0"/>
              <a:t>the syntax-directed </a:t>
            </a:r>
            <a:r>
              <a:rPr lang="en-US" sz="2400" dirty="0" smtClean="0"/>
              <a:t>definitions </a:t>
            </a:r>
          </a:p>
          <a:p>
            <a:r>
              <a:rPr lang="en-US" sz="2400" dirty="0" smtClean="0"/>
              <a:t>if </a:t>
            </a:r>
            <a:r>
              <a:rPr lang="en-US" sz="2400" dirty="0"/>
              <a:t>x &lt; 100 </a:t>
            </a:r>
            <a:r>
              <a:rPr lang="en-US" sz="2400" dirty="0" err="1"/>
              <a:t>goto</a:t>
            </a:r>
            <a:r>
              <a:rPr lang="en-US" sz="2400" dirty="0"/>
              <a:t> L2 </a:t>
            </a:r>
            <a:endParaRPr lang="en-US" sz="2400" dirty="0" smtClean="0"/>
          </a:p>
          <a:p>
            <a:r>
              <a:rPr lang="en-US" sz="2400" dirty="0" err="1" smtClean="0"/>
              <a:t>goto</a:t>
            </a:r>
            <a:r>
              <a:rPr lang="en-US" sz="2400" dirty="0" smtClean="0"/>
              <a:t> </a:t>
            </a:r>
            <a:r>
              <a:rPr lang="en-US" sz="2400" dirty="0"/>
              <a:t>L3 </a:t>
            </a:r>
            <a:endParaRPr lang="en-US" sz="2400" dirty="0" smtClean="0"/>
          </a:p>
          <a:p>
            <a:r>
              <a:rPr lang="en-US" sz="2400" dirty="0" smtClean="0"/>
              <a:t>L3</a:t>
            </a:r>
            <a:r>
              <a:rPr lang="en-US" sz="2400" dirty="0"/>
              <a:t>: if x &gt; 200 </a:t>
            </a:r>
            <a:r>
              <a:rPr lang="en-US" sz="2400" dirty="0" err="1"/>
              <a:t>goto</a:t>
            </a:r>
            <a:r>
              <a:rPr lang="en-US" sz="2400" dirty="0"/>
              <a:t> L4 </a:t>
            </a:r>
            <a:endParaRPr lang="en-US" sz="2400" dirty="0" smtClean="0"/>
          </a:p>
          <a:p>
            <a:r>
              <a:rPr lang="en-US" sz="2400" dirty="0" err="1" smtClean="0"/>
              <a:t>goto</a:t>
            </a:r>
            <a:r>
              <a:rPr lang="en-US" sz="2400" dirty="0" smtClean="0"/>
              <a:t> </a:t>
            </a:r>
            <a:r>
              <a:rPr lang="en-US" sz="2400" dirty="0"/>
              <a:t>L1 </a:t>
            </a:r>
            <a:endParaRPr lang="en-US" sz="2400" dirty="0" smtClean="0"/>
          </a:p>
          <a:p>
            <a:r>
              <a:rPr lang="en-US" sz="2400" dirty="0" smtClean="0"/>
              <a:t>L4</a:t>
            </a:r>
            <a:r>
              <a:rPr lang="en-US" sz="2400" dirty="0"/>
              <a:t>: if x != y </a:t>
            </a:r>
            <a:r>
              <a:rPr lang="en-US" sz="2400" dirty="0" err="1"/>
              <a:t>goto</a:t>
            </a:r>
            <a:r>
              <a:rPr lang="en-US" sz="2400" dirty="0"/>
              <a:t> L2 </a:t>
            </a:r>
            <a:endParaRPr lang="en-US" sz="2400" dirty="0" smtClean="0"/>
          </a:p>
          <a:p>
            <a:r>
              <a:rPr lang="en-US" sz="2400" dirty="0" err="1" smtClean="0"/>
              <a:t>goto</a:t>
            </a:r>
            <a:r>
              <a:rPr lang="en-US" sz="2400" dirty="0" smtClean="0"/>
              <a:t> </a:t>
            </a:r>
            <a:r>
              <a:rPr lang="en-US" sz="2400" dirty="0"/>
              <a:t>L1 </a:t>
            </a:r>
            <a:endParaRPr lang="en-US" sz="2400" dirty="0" smtClean="0"/>
          </a:p>
          <a:p>
            <a:r>
              <a:rPr lang="en-US" sz="2400" dirty="0" smtClean="0"/>
              <a:t>L2</a:t>
            </a:r>
            <a:r>
              <a:rPr lang="en-US" sz="2400" dirty="0"/>
              <a:t>: x = 0 </a:t>
            </a:r>
            <a:endParaRPr lang="en-US" sz="2400" dirty="0" smtClean="0"/>
          </a:p>
          <a:p>
            <a:r>
              <a:rPr lang="en-US" sz="2400" dirty="0" smtClean="0"/>
              <a:t>L1:</a:t>
            </a:r>
            <a:endParaRPr lang="en-US" sz="2400" dirty="0"/>
          </a:p>
        </p:txBody>
      </p:sp>
    </p:spTree>
    <p:extLst>
      <p:ext uri="{BB962C8B-B14F-4D97-AF65-F5344CB8AC3E}">
        <p14:creationId xmlns:p14="http://schemas.microsoft.com/office/powerpoint/2010/main" val="99379439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 </a:t>
            </a:r>
            <a:r>
              <a:rPr lang="en-US" dirty="0" smtClean="0"/>
              <a:t>Patching. </a:t>
            </a:r>
            <a:endParaRPr lang="en-US" dirty="0"/>
          </a:p>
        </p:txBody>
      </p:sp>
      <p:sp>
        <p:nvSpPr>
          <p:cNvPr id="3" name="Content Placeholder 2"/>
          <p:cNvSpPr>
            <a:spLocks noGrp="1"/>
          </p:cNvSpPr>
          <p:nvPr>
            <p:ph sz="half" idx="1"/>
          </p:nvPr>
        </p:nvSpPr>
        <p:spPr>
          <a:xfrm>
            <a:off x="1097279" y="1845734"/>
            <a:ext cx="4300344" cy="4023360"/>
          </a:xfrm>
        </p:spPr>
        <p:txBody>
          <a:bodyPr>
            <a:noAutofit/>
          </a:bodyPr>
          <a:lstStyle/>
          <a:p>
            <a:pPr algn="just"/>
            <a:r>
              <a:rPr lang="en-US" dirty="0" smtClean="0"/>
              <a:t>A </a:t>
            </a:r>
            <a:r>
              <a:rPr lang="en-US" b="1" dirty="0" smtClean="0"/>
              <a:t>key problem </a:t>
            </a:r>
            <a:r>
              <a:rPr lang="en-US" dirty="0"/>
              <a:t>when </a:t>
            </a:r>
            <a:r>
              <a:rPr lang="en-US" dirty="0" smtClean="0"/>
              <a:t>generating code </a:t>
            </a:r>
            <a:r>
              <a:rPr lang="en-US" dirty="0"/>
              <a:t>for </a:t>
            </a:r>
            <a:r>
              <a:rPr lang="en-US" dirty="0" err="1"/>
              <a:t>boolean</a:t>
            </a:r>
            <a:r>
              <a:rPr lang="en-US" dirty="0"/>
              <a:t> expressions and </a:t>
            </a:r>
            <a:r>
              <a:rPr lang="en-US" dirty="0" smtClean="0"/>
              <a:t>flow-of-control  </a:t>
            </a:r>
            <a:r>
              <a:rPr lang="en-US" dirty="0"/>
              <a:t>statements is that of matching a jump instruction with the target of the jump.</a:t>
            </a:r>
          </a:p>
          <a:p>
            <a:pPr algn="just"/>
            <a:r>
              <a:rPr lang="en-US" dirty="0" smtClean="0"/>
              <a:t>For </a:t>
            </a:r>
            <a:r>
              <a:rPr lang="en-US" dirty="0"/>
              <a:t>example, the translation of the </a:t>
            </a:r>
            <a:r>
              <a:rPr lang="en-US" dirty="0" err="1"/>
              <a:t>boolean</a:t>
            </a:r>
            <a:r>
              <a:rPr lang="en-US" dirty="0"/>
              <a:t> expression B in if (B ) S </a:t>
            </a:r>
            <a:r>
              <a:rPr lang="en-US" dirty="0" smtClean="0"/>
              <a:t>contains </a:t>
            </a:r>
            <a:r>
              <a:rPr lang="en-US" dirty="0"/>
              <a:t>a jump, for when B is false, to the instruction following the code for S. </a:t>
            </a:r>
            <a:endParaRPr lang="en-US" dirty="0" smtClean="0"/>
          </a:p>
          <a:p>
            <a:pPr algn="just"/>
            <a:r>
              <a:rPr lang="en-US" dirty="0" smtClean="0"/>
              <a:t>In a </a:t>
            </a:r>
            <a:r>
              <a:rPr lang="en-US" dirty="0"/>
              <a:t>one-pass translation, B must be translated before S is examined. What </a:t>
            </a:r>
            <a:r>
              <a:rPr lang="en-US" dirty="0" smtClean="0"/>
              <a:t>then  </a:t>
            </a:r>
            <a:r>
              <a:rPr lang="en-US" dirty="0"/>
              <a:t>is the target of the </a:t>
            </a:r>
            <a:r>
              <a:rPr lang="en-US" dirty="0" err="1"/>
              <a:t>goto</a:t>
            </a:r>
            <a:r>
              <a:rPr lang="en-US" dirty="0"/>
              <a:t> that jumps over the code for S? </a:t>
            </a:r>
          </a:p>
        </p:txBody>
      </p:sp>
      <p:sp>
        <p:nvSpPr>
          <p:cNvPr id="5" name="Content Placeholder 4"/>
          <p:cNvSpPr>
            <a:spLocks noGrp="1"/>
          </p:cNvSpPr>
          <p:nvPr>
            <p:ph sz="half" idx="2"/>
          </p:nvPr>
        </p:nvSpPr>
        <p:spPr/>
        <p:txBody>
          <a:bodyPr>
            <a:noAutofit/>
          </a:bodyPr>
          <a:lstStyle/>
          <a:p>
            <a:pPr algn="just"/>
            <a:r>
              <a:rPr lang="en-US" b="1" dirty="0">
                <a:latin typeface="Arial" panose="020B0604020202020204" pitchFamily="34" charset="0"/>
              </a:rPr>
              <a:t>To manipulate lists of jumps, we use </a:t>
            </a:r>
            <a:r>
              <a:rPr lang="en-US" b="1" dirty="0" smtClean="0">
                <a:latin typeface="Arial" panose="020B0604020202020204" pitchFamily="34" charset="0"/>
              </a:rPr>
              <a:t>three </a:t>
            </a:r>
            <a:r>
              <a:rPr lang="en-US" b="1" dirty="0">
                <a:latin typeface="Arial" panose="020B0604020202020204" pitchFamily="34" charset="0"/>
              </a:rPr>
              <a:t>functions:</a:t>
            </a:r>
          </a:p>
          <a:p>
            <a:pPr algn="just"/>
            <a:r>
              <a:rPr lang="en-US" dirty="0">
                <a:latin typeface="Arial" panose="020B0604020202020204" pitchFamily="34" charset="0"/>
              </a:rPr>
              <a:t> 1. </a:t>
            </a:r>
            <a:r>
              <a:rPr lang="en-US" b="1" dirty="0" err="1">
                <a:latin typeface="Arial" panose="020B0604020202020204" pitchFamily="34" charset="0"/>
              </a:rPr>
              <a:t>makelist</a:t>
            </a:r>
            <a:r>
              <a:rPr lang="en-US" b="1" dirty="0">
                <a:latin typeface="Arial" panose="020B0604020202020204" pitchFamily="34" charset="0"/>
              </a:rPr>
              <a:t>(</a:t>
            </a:r>
            <a:r>
              <a:rPr lang="en-US" b="1" dirty="0" err="1">
                <a:latin typeface="Arial" panose="020B0604020202020204" pitchFamily="34" charset="0"/>
              </a:rPr>
              <a:t>i</a:t>
            </a:r>
            <a:r>
              <a:rPr lang="en-US" b="1" dirty="0">
                <a:latin typeface="Arial" panose="020B0604020202020204" pitchFamily="34" charset="0"/>
              </a:rPr>
              <a:t>) </a:t>
            </a:r>
            <a:r>
              <a:rPr lang="en-US" b="1" dirty="0" smtClean="0">
                <a:latin typeface="Arial" panose="020B0604020202020204" pitchFamily="34" charset="0"/>
              </a:rPr>
              <a:t>: </a:t>
            </a:r>
            <a:r>
              <a:rPr lang="en-US" dirty="0" smtClean="0">
                <a:latin typeface="Arial" panose="020B0604020202020204" pitchFamily="34" charset="0"/>
              </a:rPr>
              <a:t>creates </a:t>
            </a:r>
            <a:r>
              <a:rPr lang="en-US" dirty="0">
                <a:latin typeface="Arial" panose="020B0604020202020204" pitchFamily="34" charset="0"/>
              </a:rPr>
              <a:t>a new list containing only </a:t>
            </a:r>
            <a:r>
              <a:rPr lang="en-US" dirty="0" err="1">
                <a:latin typeface="Arial" panose="020B0604020202020204" pitchFamily="34" charset="0"/>
              </a:rPr>
              <a:t>i</a:t>
            </a:r>
            <a:r>
              <a:rPr lang="en-US" dirty="0">
                <a:latin typeface="Arial" panose="020B0604020202020204" pitchFamily="34" charset="0"/>
              </a:rPr>
              <a:t>, an index into the </a:t>
            </a:r>
            <a:r>
              <a:rPr lang="en-US" dirty="0" smtClean="0">
                <a:latin typeface="Arial" panose="020B0604020202020204" pitchFamily="34" charset="0"/>
              </a:rPr>
              <a:t>array of </a:t>
            </a:r>
            <a:r>
              <a:rPr lang="en-US" dirty="0">
                <a:latin typeface="Arial" panose="020B0604020202020204" pitchFamily="34" charset="0"/>
              </a:rPr>
              <a:t>instructions; </a:t>
            </a:r>
            <a:r>
              <a:rPr lang="en-US" dirty="0" err="1">
                <a:latin typeface="Arial" panose="020B0604020202020204" pitchFamily="34" charset="0"/>
              </a:rPr>
              <a:t>makelist</a:t>
            </a:r>
            <a:r>
              <a:rPr lang="en-US" dirty="0">
                <a:latin typeface="Arial" panose="020B0604020202020204" pitchFamily="34" charset="0"/>
              </a:rPr>
              <a:t> returns a pointer to the newly created list</a:t>
            </a:r>
            <a:r>
              <a:rPr lang="en-US" dirty="0" smtClean="0">
                <a:latin typeface="Arial" panose="020B0604020202020204" pitchFamily="34" charset="0"/>
              </a:rPr>
              <a:t>.</a:t>
            </a:r>
            <a:endParaRPr lang="en-US" dirty="0">
              <a:latin typeface="Arial" panose="020B0604020202020204" pitchFamily="34" charset="0"/>
            </a:endParaRPr>
          </a:p>
          <a:p>
            <a:pPr algn="just"/>
            <a:r>
              <a:rPr lang="en-US" dirty="0">
                <a:latin typeface="Arial" panose="020B0604020202020204" pitchFamily="34" charset="0"/>
              </a:rPr>
              <a:t> 2. </a:t>
            </a:r>
            <a:r>
              <a:rPr lang="en-US" b="1" dirty="0" smtClean="0">
                <a:latin typeface="Arial" panose="020B0604020202020204" pitchFamily="34" charset="0"/>
              </a:rPr>
              <a:t>merge(p1,p2</a:t>
            </a:r>
            <a:r>
              <a:rPr lang="en-US" b="1" dirty="0">
                <a:latin typeface="Arial" panose="020B0604020202020204" pitchFamily="34" charset="0"/>
              </a:rPr>
              <a:t>) </a:t>
            </a:r>
            <a:r>
              <a:rPr lang="en-US" dirty="0">
                <a:latin typeface="Arial" panose="020B0604020202020204" pitchFamily="34" charset="0"/>
              </a:rPr>
              <a:t>concatenates the lists pointed to by p1 and p2, and </a:t>
            </a:r>
            <a:r>
              <a:rPr lang="en-US" dirty="0" smtClean="0">
                <a:latin typeface="Arial" panose="020B0604020202020204" pitchFamily="34" charset="0"/>
              </a:rPr>
              <a:t>returns  </a:t>
            </a:r>
            <a:r>
              <a:rPr lang="en-US" dirty="0">
                <a:latin typeface="Arial" panose="020B0604020202020204" pitchFamily="34" charset="0"/>
              </a:rPr>
              <a:t>a pointer to the concatenated list.</a:t>
            </a:r>
          </a:p>
          <a:p>
            <a:pPr algn="just"/>
            <a:r>
              <a:rPr lang="en-US" dirty="0">
                <a:latin typeface="Arial" panose="020B0604020202020204" pitchFamily="34" charset="0"/>
              </a:rPr>
              <a:t> 3</a:t>
            </a:r>
            <a:r>
              <a:rPr lang="en-US" b="1" dirty="0">
                <a:latin typeface="Arial" panose="020B0604020202020204" pitchFamily="34" charset="0"/>
              </a:rPr>
              <a:t>. </a:t>
            </a:r>
            <a:r>
              <a:rPr lang="en-US" b="1" dirty="0" err="1" smtClean="0">
                <a:latin typeface="Arial" panose="020B0604020202020204" pitchFamily="34" charset="0"/>
              </a:rPr>
              <a:t>backpatch</a:t>
            </a:r>
            <a:r>
              <a:rPr lang="en-US" b="1" dirty="0" smtClean="0">
                <a:latin typeface="Arial" panose="020B0604020202020204" pitchFamily="34" charset="0"/>
              </a:rPr>
              <a:t>(</a:t>
            </a:r>
            <a:r>
              <a:rPr lang="en-US" b="1" dirty="0" err="1" smtClean="0">
                <a:latin typeface="Arial" panose="020B0604020202020204" pitchFamily="34" charset="0"/>
              </a:rPr>
              <a:t>p,i</a:t>
            </a:r>
            <a:r>
              <a:rPr lang="en-US" b="1" dirty="0">
                <a:latin typeface="Arial" panose="020B0604020202020204" pitchFamily="34" charset="0"/>
              </a:rPr>
              <a:t>) </a:t>
            </a:r>
            <a:r>
              <a:rPr lang="en-US" dirty="0">
                <a:latin typeface="Arial" panose="020B0604020202020204" pitchFamily="34" charset="0"/>
              </a:rPr>
              <a:t>inserts </a:t>
            </a:r>
            <a:r>
              <a:rPr lang="en-US" dirty="0" err="1">
                <a:latin typeface="Arial" panose="020B0604020202020204" pitchFamily="34" charset="0"/>
              </a:rPr>
              <a:t>i</a:t>
            </a:r>
            <a:r>
              <a:rPr lang="en-US" dirty="0">
                <a:latin typeface="Arial" panose="020B0604020202020204" pitchFamily="34" charset="0"/>
              </a:rPr>
              <a:t> as the target label for each of the instructions </a:t>
            </a:r>
            <a:r>
              <a:rPr lang="en-US" dirty="0" smtClean="0">
                <a:latin typeface="Arial" panose="020B0604020202020204" pitchFamily="34" charset="0"/>
              </a:rPr>
              <a:t>on </a:t>
            </a:r>
            <a:r>
              <a:rPr lang="en-US" dirty="0">
                <a:latin typeface="Arial" panose="020B0604020202020204" pitchFamily="34" charset="0"/>
              </a:rPr>
              <a:t>the list pointed to by p</a:t>
            </a:r>
          </a:p>
        </p:txBody>
      </p:sp>
      <p:pic>
        <p:nvPicPr>
          <p:cNvPr id="1026" name="Picture 2" descr="Ezoi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5" y="-1217613"/>
            <a:ext cx="133350" cy="133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184404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944" y="262658"/>
            <a:ext cx="10058400" cy="1450757"/>
          </a:xfrm>
        </p:spPr>
        <p:txBody>
          <a:bodyPr/>
          <a:lstStyle/>
          <a:p>
            <a:r>
              <a:rPr lang="en-US" dirty="0" err="1" smtClean="0"/>
              <a:t>Backpatching</a:t>
            </a:r>
            <a:endParaRPr lang="en-US" dirty="0"/>
          </a:p>
        </p:txBody>
      </p:sp>
      <p:sp>
        <p:nvSpPr>
          <p:cNvPr id="3" name="Content Placeholder 2"/>
          <p:cNvSpPr>
            <a:spLocks noGrp="1"/>
          </p:cNvSpPr>
          <p:nvPr>
            <p:ph sz="half" idx="1"/>
          </p:nvPr>
        </p:nvSpPr>
        <p:spPr/>
        <p:txBody>
          <a:bodyPr/>
          <a:lstStyle/>
          <a:p>
            <a:endParaRPr lang="en-US"/>
          </a:p>
        </p:txBody>
      </p:sp>
      <p:pic>
        <p:nvPicPr>
          <p:cNvPr id="5" name="Content Placeholder 4"/>
          <p:cNvPicPr>
            <a:picLocks noGrp="1" noChangeAspect="1"/>
          </p:cNvPicPr>
          <p:nvPr>
            <p:ph sz="half" idx="2"/>
          </p:nvPr>
        </p:nvPicPr>
        <p:blipFill>
          <a:blip r:embed="rId2"/>
          <a:stretch>
            <a:fillRect/>
          </a:stretch>
        </p:blipFill>
        <p:spPr>
          <a:xfrm>
            <a:off x="191756" y="1713415"/>
            <a:ext cx="4937125" cy="4016644"/>
          </a:xfrm>
          <a:prstGeom prst="rect">
            <a:avLst/>
          </a:prstGeom>
        </p:spPr>
      </p:pic>
      <p:pic>
        <p:nvPicPr>
          <p:cNvPr id="6" name="Picture 5"/>
          <p:cNvPicPr>
            <a:picLocks noChangeAspect="1"/>
          </p:cNvPicPr>
          <p:nvPr/>
        </p:nvPicPr>
        <p:blipFill>
          <a:blip r:embed="rId3"/>
          <a:stretch>
            <a:fillRect/>
          </a:stretch>
        </p:blipFill>
        <p:spPr>
          <a:xfrm>
            <a:off x="4909549" y="-177554"/>
            <a:ext cx="6980610" cy="5907613"/>
          </a:xfrm>
          <a:prstGeom prst="rect">
            <a:avLst/>
          </a:prstGeom>
        </p:spPr>
      </p:pic>
      <p:sp>
        <p:nvSpPr>
          <p:cNvPr id="7" name="Rectangle 6"/>
          <p:cNvSpPr/>
          <p:nvPr/>
        </p:nvSpPr>
        <p:spPr>
          <a:xfrm>
            <a:off x="6532970" y="6463749"/>
            <a:ext cx="4924681" cy="369332"/>
          </a:xfrm>
          <a:prstGeom prst="rect">
            <a:avLst/>
          </a:prstGeom>
        </p:spPr>
        <p:txBody>
          <a:bodyPr wrap="none">
            <a:spAutoFit/>
          </a:bodyPr>
          <a:lstStyle/>
          <a:p>
            <a:r>
              <a:rPr lang="en-US" dirty="0"/>
              <a:t>Annotated parse tree for </a:t>
            </a:r>
            <a:r>
              <a:rPr lang="en-US" dirty="0" smtClean="0"/>
              <a:t>x&lt;100 || x&gt;200 </a:t>
            </a:r>
            <a:r>
              <a:rPr lang="en-US" dirty="0"/>
              <a:t>&amp;&amp; x != y</a:t>
            </a:r>
          </a:p>
        </p:txBody>
      </p:sp>
    </p:spTree>
    <p:extLst>
      <p:ext uri="{BB962C8B-B14F-4D97-AF65-F5344CB8AC3E}">
        <p14:creationId xmlns:p14="http://schemas.microsoft.com/office/powerpoint/2010/main" val="197814738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half" idx="1"/>
          </p:nvPr>
        </p:nvSpPr>
        <p:spPr/>
        <p:txBody>
          <a:bodyPr/>
          <a:lstStyle/>
          <a:p>
            <a:endParaRPr lang="en-US"/>
          </a:p>
        </p:txBody>
      </p:sp>
      <p:sp>
        <p:nvSpPr>
          <p:cNvPr id="4" name="Content Placeholder 3"/>
          <p:cNvSpPr>
            <a:spLocks noGrp="1"/>
          </p:cNvSpPr>
          <p:nvPr>
            <p:ph sz="half" idx="2"/>
          </p:nvPr>
        </p:nvSpPr>
        <p:spPr/>
        <p:txBody>
          <a:bodyPr/>
          <a:lstStyle/>
          <a:p>
            <a:endParaRPr lang="en-US"/>
          </a:p>
        </p:txBody>
      </p:sp>
      <p:pic>
        <p:nvPicPr>
          <p:cNvPr id="5" name="Content Placeholder 4"/>
          <p:cNvPicPr>
            <a:picLocks noGrp="1" noChangeAspect="1"/>
          </p:cNvPicPr>
          <p:nvPr>
            <p:ph sz="half" idx="2"/>
          </p:nvPr>
        </p:nvPicPr>
        <p:blipFill>
          <a:blip r:embed="rId2"/>
          <a:stretch>
            <a:fillRect/>
          </a:stretch>
        </p:blipFill>
        <p:spPr>
          <a:xfrm>
            <a:off x="1097278" y="135395"/>
            <a:ext cx="9120919" cy="6722605"/>
          </a:xfrm>
          <a:prstGeom prst="rect">
            <a:avLst/>
          </a:prstGeom>
        </p:spPr>
      </p:pic>
    </p:spTree>
    <p:extLst>
      <p:ext uri="{BB962C8B-B14F-4D97-AF65-F5344CB8AC3E}">
        <p14:creationId xmlns:p14="http://schemas.microsoft.com/office/powerpoint/2010/main" val="164505902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sz="half" idx="4294967295"/>
          </p:nvPr>
        </p:nvPicPr>
        <p:blipFill>
          <a:blip r:embed="rId2"/>
          <a:stretch>
            <a:fillRect/>
          </a:stretch>
        </p:blipFill>
        <p:spPr>
          <a:xfrm>
            <a:off x="2958315" y="156498"/>
            <a:ext cx="7792543" cy="3314671"/>
          </a:xfrm>
          <a:prstGeom prst="rect">
            <a:avLst/>
          </a:prstGeom>
        </p:spPr>
      </p:pic>
      <p:sp>
        <p:nvSpPr>
          <p:cNvPr id="5" name="Rectangle 4"/>
          <p:cNvSpPr/>
          <p:nvPr/>
        </p:nvSpPr>
        <p:spPr>
          <a:xfrm>
            <a:off x="342362" y="288031"/>
            <a:ext cx="2083293" cy="1754326"/>
          </a:xfrm>
          <a:prstGeom prst="rect">
            <a:avLst/>
          </a:prstGeom>
        </p:spPr>
        <p:txBody>
          <a:bodyPr wrap="square">
            <a:spAutoFit/>
          </a:bodyPr>
          <a:lstStyle/>
          <a:p>
            <a:r>
              <a:rPr lang="en-US" dirty="0"/>
              <a:t>100: if x &lt; 100 </a:t>
            </a:r>
            <a:r>
              <a:rPr lang="en-US" dirty="0" err="1"/>
              <a:t>goto</a:t>
            </a:r>
            <a:endParaRPr lang="en-US" dirty="0"/>
          </a:p>
          <a:p>
            <a:r>
              <a:rPr lang="en-US" dirty="0"/>
              <a:t>101: </a:t>
            </a:r>
            <a:r>
              <a:rPr lang="en-US" dirty="0" err="1"/>
              <a:t>goto</a:t>
            </a:r>
            <a:endParaRPr lang="en-US" dirty="0"/>
          </a:p>
          <a:p>
            <a:r>
              <a:rPr lang="en-US" dirty="0"/>
              <a:t>102: if x &gt; 200 </a:t>
            </a:r>
            <a:r>
              <a:rPr lang="en-US" dirty="0" err="1"/>
              <a:t>goto</a:t>
            </a:r>
            <a:endParaRPr lang="en-US" dirty="0"/>
          </a:p>
          <a:p>
            <a:r>
              <a:rPr lang="en-US" dirty="0"/>
              <a:t>103: </a:t>
            </a:r>
            <a:r>
              <a:rPr lang="en-US" dirty="0" err="1"/>
              <a:t>goto</a:t>
            </a:r>
            <a:endParaRPr lang="en-US" dirty="0"/>
          </a:p>
          <a:p>
            <a:r>
              <a:rPr lang="en-US" dirty="0"/>
              <a:t>104: if x != y </a:t>
            </a:r>
            <a:r>
              <a:rPr lang="en-US" dirty="0" err="1"/>
              <a:t>goto</a:t>
            </a:r>
            <a:endParaRPr lang="en-US" dirty="0"/>
          </a:p>
          <a:p>
            <a:r>
              <a:rPr lang="en-US" dirty="0"/>
              <a:t>105: </a:t>
            </a:r>
            <a:r>
              <a:rPr lang="en-US" dirty="0" err="1"/>
              <a:t>goto</a:t>
            </a:r>
            <a:endParaRPr lang="en-US" dirty="0"/>
          </a:p>
        </p:txBody>
      </p:sp>
      <p:pic>
        <p:nvPicPr>
          <p:cNvPr id="7" name="Picture 6"/>
          <p:cNvPicPr>
            <a:picLocks noChangeAspect="1"/>
          </p:cNvPicPr>
          <p:nvPr/>
        </p:nvPicPr>
        <p:blipFill>
          <a:blip r:embed="rId3"/>
          <a:stretch>
            <a:fillRect/>
          </a:stretch>
        </p:blipFill>
        <p:spPr>
          <a:xfrm>
            <a:off x="0" y="2274296"/>
            <a:ext cx="3971925" cy="2019300"/>
          </a:xfrm>
          <a:prstGeom prst="rect">
            <a:avLst/>
          </a:prstGeom>
        </p:spPr>
      </p:pic>
      <p:pic>
        <p:nvPicPr>
          <p:cNvPr id="8" name="Picture 7"/>
          <p:cNvPicPr>
            <a:picLocks noChangeAspect="1"/>
          </p:cNvPicPr>
          <p:nvPr/>
        </p:nvPicPr>
        <p:blipFill>
          <a:blip r:embed="rId4"/>
          <a:stretch>
            <a:fillRect/>
          </a:stretch>
        </p:blipFill>
        <p:spPr>
          <a:xfrm>
            <a:off x="250008" y="4293596"/>
            <a:ext cx="3876675" cy="1981200"/>
          </a:xfrm>
          <a:prstGeom prst="rect">
            <a:avLst/>
          </a:prstGeom>
        </p:spPr>
      </p:pic>
      <p:sp>
        <p:nvSpPr>
          <p:cNvPr id="9" name="Rectangle 8"/>
          <p:cNvSpPr/>
          <p:nvPr/>
        </p:nvSpPr>
        <p:spPr>
          <a:xfrm>
            <a:off x="5954529" y="3964866"/>
            <a:ext cx="2550279" cy="2308324"/>
          </a:xfrm>
          <a:prstGeom prst="rect">
            <a:avLst/>
          </a:prstGeom>
        </p:spPr>
        <p:txBody>
          <a:bodyPr wrap="square">
            <a:spAutoFit/>
          </a:bodyPr>
          <a:lstStyle/>
          <a:p>
            <a:r>
              <a:rPr lang="en-US" dirty="0"/>
              <a:t>100: if x &lt; 100 </a:t>
            </a:r>
            <a:r>
              <a:rPr lang="en-US" dirty="0" err="1" smtClean="0"/>
              <a:t>goto</a:t>
            </a:r>
            <a:r>
              <a:rPr lang="en-US" dirty="0" smtClean="0"/>
              <a:t> 106 </a:t>
            </a:r>
            <a:endParaRPr lang="en-US" dirty="0"/>
          </a:p>
          <a:p>
            <a:r>
              <a:rPr lang="en-US" dirty="0"/>
              <a:t>101: </a:t>
            </a:r>
            <a:r>
              <a:rPr lang="en-US" dirty="0" err="1" smtClean="0"/>
              <a:t>goto</a:t>
            </a:r>
            <a:r>
              <a:rPr lang="en-US" dirty="0" smtClean="0"/>
              <a:t> 102</a:t>
            </a:r>
            <a:endParaRPr lang="en-US" dirty="0"/>
          </a:p>
          <a:p>
            <a:r>
              <a:rPr lang="en-US" dirty="0"/>
              <a:t>102: if x &gt; 200 </a:t>
            </a:r>
            <a:r>
              <a:rPr lang="en-US" dirty="0" err="1" smtClean="0"/>
              <a:t>goto</a:t>
            </a:r>
            <a:r>
              <a:rPr lang="en-US" dirty="0" smtClean="0"/>
              <a:t> 104</a:t>
            </a:r>
            <a:endParaRPr lang="en-US" dirty="0"/>
          </a:p>
          <a:p>
            <a:r>
              <a:rPr lang="en-US" dirty="0"/>
              <a:t>103: </a:t>
            </a:r>
            <a:r>
              <a:rPr lang="en-US" dirty="0" err="1" smtClean="0"/>
              <a:t>goto</a:t>
            </a:r>
            <a:r>
              <a:rPr lang="en-US" dirty="0" smtClean="0"/>
              <a:t> 107</a:t>
            </a:r>
            <a:endParaRPr lang="en-US" dirty="0"/>
          </a:p>
          <a:p>
            <a:r>
              <a:rPr lang="en-US" dirty="0"/>
              <a:t>104: if x != y </a:t>
            </a:r>
            <a:r>
              <a:rPr lang="en-US" dirty="0" err="1" smtClean="0"/>
              <a:t>goto</a:t>
            </a:r>
            <a:r>
              <a:rPr lang="en-US" dirty="0" smtClean="0"/>
              <a:t> 106</a:t>
            </a:r>
            <a:endParaRPr lang="en-US" dirty="0"/>
          </a:p>
          <a:p>
            <a:r>
              <a:rPr lang="en-US" dirty="0"/>
              <a:t>105: </a:t>
            </a:r>
            <a:r>
              <a:rPr lang="en-US" dirty="0" err="1" smtClean="0"/>
              <a:t>goto</a:t>
            </a:r>
            <a:r>
              <a:rPr lang="en-US" dirty="0" smtClean="0"/>
              <a:t> 107</a:t>
            </a:r>
          </a:p>
          <a:p>
            <a:r>
              <a:rPr lang="en-US" dirty="0" smtClean="0"/>
              <a:t>106:True</a:t>
            </a:r>
          </a:p>
          <a:p>
            <a:r>
              <a:rPr lang="en-US" dirty="0" smtClean="0"/>
              <a:t>107: False</a:t>
            </a:r>
            <a:endParaRPr lang="en-US" dirty="0"/>
          </a:p>
        </p:txBody>
      </p:sp>
      <p:sp>
        <p:nvSpPr>
          <p:cNvPr id="10" name="Rectangle 9"/>
          <p:cNvSpPr/>
          <p:nvPr/>
        </p:nvSpPr>
        <p:spPr>
          <a:xfrm>
            <a:off x="8833940" y="156498"/>
            <a:ext cx="2765501" cy="369332"/>
          </a:xfrm>
          <a:prstGeom prst="rect">
            <a:avLst/>
          </a:prstGeom>
        </p:spPr>
        <p:txBody>
          <a:bodyPr wrap="none">
            <a:spAutoFit/>
          </a:bodyPr>
          <a:lstStyle/>
          <a:p>
            <a:r>
              <a:rPr lang="en-US" smtClean="0"/>
              <a:t>x &lt; 100|| x &gt;  200 </a:t>
            </a:r>
            <a:r>
              <a:rPr lang="en-US" dirty="0"/>
              <a:t>&amp;&amp; x != y</a:t>
            </a:r>
          </a:p>
        </p:txBody>
      </p:sp>
    </p:spTree>
    <p:extLst>
      <p:ext uri="{BB962C8B-B14F-4D97-AF65-F5344CB8AC3E}">
        <p14:creationId xmlns:p14="http://schemas.microsoft.com/office/powerpoint/2010/main" val="150331213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Switch Case Statements</a:t>
            </a:r>
          </a:p>
        </p:txBody>
      </p:sp>
      <p:sp>
        <p:nvSpPr>
          <p:cNvPr id="3" name="Content Placeholder 2"/>
          <p:cNvSpPr>
            <a:spLocks noGrp="1"/>
          </p:cNvSpPr>
          <p:nvPr>
            <p:ph sz="half" idx="1"/>
          </p:nvPr>
        </p:nvSpPr>
        <p:spPr/>
        <p:txBody>
          <a:bodyPr>
            <a:normAutofit fontScale="47500" lnSpcReduction="20000"/>
          </a:bodyPr>
          <a:lstStyle/>
          <a:p>
            <a:r>
              <a:rPr lang="en-US" sz="7200" dirty="0"/>
              <a:t>switch (</a:t>
            </a:r>
            <a:r>
              <a:rPr lang="en-US" sz="7200" dirty="0" err="1"/>
              <a:t>ch</a:t>
            </a:r>
            <a:r>
              <a:rPr lang="en-US" sz="7200" dirty="0" smtClean="0"/>
              <a:t>)</a:t>
            </a:r>
          </a:p>
          <a:p>
            <a:r>
              <a:rPr lang="en-US" sz="7200" dirty="0" smtClean="0"/>
              <a:t>{</a:t>
            </a:r>
            <a:endParaRPr lang="en-US" sz="7200" dirty="0"/>
          </a:p>
          <a:p>
            <a:r>
              <a:rPr lang="en-US" sz="7200" dirty="0"/>
              <a:t>case 1 : c = a + b</a:t>
            </a:r>
            <a:r>
              <a:rPr lang="en-US" sz="7200" dirty="0" smtClean="0"/>
              <a:t>;</a:t>
            </a:r>
            <a:endParaRPr lang="en-US" sz="7200" dirty="0"/>
          </a:p>
          <a:p>
            <a:r>
              <a:rPr lang="en-US" sz="7200" dirty="0"/>
              <a:t>break;</a:t>
            </a:r>
          </a:p>
          <a:p>
            <a:r>
              <a:rPr lang="en-US" sz="7200" dirty="0"/>
              <a:t>case 2 : c = a – b;</a:t>
            </a:r>
          </a:p>
          <a:p>
            <a:r>
              <a:rPr lang="en-US" sz="7200" dirty="0"/>
              <a:t>break;</a:t>
            </a:r>
          </a:p>
          <a:p>
            <a:r>
              <a:rPr lang="en-US" sz="7200" dirty="0" smtClean="0"/>
              <a:t>}</a:t>
            </a:r>
            <a:endParaRPr lang="en-US" sz="7200" dirty="0"/>
          </a:p>
        </p:txBody>
      </p:sp>
      <p:sp>
        <p:nvSpPr>
          <p:cNvPr id="5" name="Content Placeholder 4"/>
          <p:cNvSpPr>
            <a:spLocks noGrp="1"/>
          </p:cNvSpPr>
          <p:nvPr>
            <p:ph sz="half" idx="2"/>
          </p:nvPr>
        </p:nvSpPr>
        <p:spPr/>
        <p:txBody>
          <a:bodyPr>
            <a:noAutofit/>
          </a:bodyPr>
          <a:lstStyle/>
          <a:p>
            <a:r>
              <a:rPr lang="en-US" sz="1400" b="1" dirty="0" smtClean="0">
                <a:latin typeface="Arial" panose="020B0604020202020204" pitchFamily="34" charset="0"/>
              </a:rPr>
              <a:t>Three address code for the given code is-</a:t>
            </a:r>
          </a:p>
          <a:p>
            <a:r>
              <a:rPr lang="en-US" sz="1400" b="1" dirty="0" smtClean="0">
                <a:latin typeface="Arial" panose="020B0604020202020204" pitchFamily="34" charset="0"/>
              </a:rPr>
              <a:t>if </a:t>
            </a:r>
            <a:r>
              <a:rPr lang="en-US" sz="1400" b="1" dirty="0" err="1" smtClean="0">
                <a:latin typeface="Arial" panose="020B0604020202020204" pitchFamily="34" charset="0"/>
              </a:rPr>
              <a:t>ch</a:t>
            </a:r>
            <a:r>
              <a:rPr lang="en-US" sz="1400" b="1" dirty="0" smtClean="0">
                <a:latin typeface="Arial" panose="020B0604020202020204" pitchFamily="34" charset="0"/>
              </a:rPr>
              <a:t> = 1 </a:t>
            </a:r>
            <a:r>
              <a:rPr lang="en-US" sz="1400" b="1" dirty="0" err="1" smtClean="0">
                <a:latin typeface="Arial" panose="020B0604020202020204" pitchFamily="34" charset="0"/>
              </a:rPr>
              <a:t>goto</a:t>
            </a:r>
            <a:r>
              <a:rPr lang="en-US" sz="1400" b="1" dirty="0" smtClean="0">
                <a:latin typeface="Arial" panose="020B0604020202020204" pitchFamily="34" charset="0"/>
              </a:rPr>
              <a:t> L1</a:t>
            </a:r>
          </a:p>
          <a:p>
            <a:r>
              <a:rPr lang="en-US" sz="1400" b="1" dirty="0" smtClean="0">
                <a:latin typeface="Arial" panose="020B0604020202020204" pitchFamily="34" charset="0"/>
              </a:rPr>
              <a:t>if </a:t>
            </a:r>
            <a:r>
              <a:rPr lang="en-US" sz="1400" b="1" dirty="0" err="1" smtClean="0">
                <a:latin typeface="Arial" panose="020B0604020202020204" pitchFamily="34" charset="0"/>
              </a:rPr>
              <a:t>ch</a:t>
            </a:r>
            <a:r>
              <a:rPr lang="en-US" sz="1400" b="1" dirty="0" smtClean="0">
                <a:latin typeface="Arial" panose="020B0604020202020204" pitchFamily="34" charset="0"/>
              </a:rPr>
              <a:t> = 2 </a:t>
            </a:r>
            <a:r>
              <a:rPr lang="en-US" sz="1400" b="1" dirty="0" err="1" smtClean="0">
                <a:latin typeface="Arial" panose="020B0604020202020204" pitchFamily="34" charset="0"/>
              </a:rPr>
              <a:t>goto</a:t>
            </a:r>
            <a:r>
              <a:rPr lang="en-US" sz="1400" b="1" dirty="0" smtClean="0">
                <a:latin typeface="Arial" panose="020B0604020202020204" pitchFamily="34" charset="0"/>
              </a:rPr>
              <a:t> L2</a:t>
            </a:r>
          </a:p>
          <a:p>
            <a:r>
              <a:rPr lang="en-US" sz="1400" b="1" dirty="0" smtClean="0">
                <a:latin typeface="Arial" panose="020B0604020202020204" pitchFamily="34" charset="0"/>
              </a:rPr>
              <a:t>L1:</a:t>
            </a:r>
          </a:p>
          <a:p>
            <a:r>
              <a:rPr lang="en-US" sz="1400" b="1" dirty="0" smtClean="0">
                <a:latin typeface="Arial" panose="020B0604020202020204" pitchFamily="34" charset="0"/>
              </a:rPr>
              <a:t>T1 = a + b</a:t>
            </a:r>
          </a:p>
          <a:p>
            <a:r>
              <a:rPr lang="en-US" sz="1400" b="1" dirty="0" smtClean="0">
                <a:latin typeface="Arial" panose="020B0604020202020204" pitchFamily="34" charset="0"/>
              </a:rPr>
              <a:t>c = T1</a:t>
            </a:r>
          </a:p>
          <a:p>
            <a:r>
              <a:rPr lang="en-US" sz="1400" b="1" dirty="0" err="1" smtClean="0">
                <a:latin typeface="Arial" panose="020B0604020202020204" pitchFamily="34" charset="0"/>
              </a:rPr>
              <a:t>goto</a:t>
            </a:r>
            <a:r>
              <a:rPr lang="en-US" sz="1400" b="1" dirty="0" smtClean="0">
                <a:latin typeface="Arial" panose="020B0604020202020204" pitchFamily="34" charset="0"/>
              </a:rPr>
              <a:t> Last</a:t>
            </a:r>
          </a:p>
          <a:p>
            <a:r>
              <a:rPr lang="en-US" sz="1400" b="1" dirty="0" smtClean="0">
                <a:latin typeface="Arial" panose="020B0604020202020204" pitchFamily="34" charset="0"/>
              </a:rPr>
              <a:t>L2:</a:t>
            </a:r>
          </a:p>
          <a:p>
            <a:r>
              <a:rPr lang="en-US" sz="1400" b="1" dirty="0" smtClean="0">
                <a:latin typeface="Arial" panose="020B0604020202020204" pitchFamily="34" charset="0"/>
              </a:rPr>
              <a:t>T1 = a – b</a:t>
            </a:r>
          </a:p>
          <a:p>
            <a:r>
              <a:rPr lang="en-US" sz="1400" b="1" dirty="0" smtClean="0">
                <a:latin typeface="Arial" panose="020B0604020202020204" pitchFamily="34" charset="0"/>
              </a:rPr>
              <a:t>c = T2</a:t>
            </a:r>
          </a:p>
          <a:p>
            <a:r>
              <a:rPr lang="en-US" sz="1400" b="1" dirty="0" err="1" smtClean="0">
                <a:latin typeface="Arial" panose="020B0604020202020204" pitchFamily="34" charset="0"/>
              </a:rPr>
              <a:t>goto</a:t>
            </a:r>
            <a:r>
              <a:rPr lang="en-US" sz="1400" b="1" dirty="0" smtClean="0">
                <a:latin typeface="Arial" panose="020B0604020202020204" pitchFamily="34" charset="0"/>
              </a:rPr>
              <a:t> Last</a:t>
            </a:r>
          </a:p>
          <a:p>
            <a:r>
              <a:rPr lang="en-US" sz="1400" b="1" dirty="0" smtClean="0">
                <a:latin typeface="Arial" panose="020B0604020202020204" pitchFamily="34" charset="0"/>
              </a:rPr>
              <a:t>Last:</a:t>
            </a:r>
            <a:endParaRPr lang="en-US" sz="1400" b="1" dirty="0">
              <a:latin typeface="Arial" panose="020B0604020202020204" pitchFamily="34" charset="0"/>
            </a:endParaRPr>
          </a:p>
        </p:txBody>
      </p:sp>
      <p:pic>
        <p:nvPicPr>
          <p:cNvPr id="1026" name="Picture 2" descr="Ezoi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825" y="-1217613"/>
            <a:ext cx="133350" cy="133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209224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402672" y="2184030"/>
            <a:ext cx="10058400" cy="4022725"/>
          </a:xfrm>
        </p:spPr>
        <p:txBody>
          <a:bodyPr>
            <a:noAutofit/>
          </a:bodyPr>
          <a:lstStyle/>
          <a:p>
            <a:r>
              <a:rPr lang="en-US" sz="13800" dirty="0" smtClean="0"/>
              <a:t>THANK YOU</a:t>
            </a:r>
            <a:endParaRPr lang="en-US" sz="13800" dirty="0"/>
          </a:p>
        </p:txBody>
      </p:sp>
    </p:spTree>
    <p:extLst>
      <p:ext uri="{BB962C8B-B14F-4D97-AF65-F5344CB8AC3E}">
        <p14:creationId xmlns:p14="http://schemas.microsoft.com/office/powerpoint/2010/main" val="3653252877"/>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651</TotalTime>
  <Words>2563</Words>
  <Application>Microsoft Office PowerPoint</Application>
  <PresentationFormat>Widescreen</PresentationFormat>
  <Paragraphs>166</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Arial</vt:lpstr>
      <vt:lpstr>Calibri</vt:lpstr>
      <vt:lpstr>Calibri Light</vt:lpstr>
      <vt:lpstr>Wingdings</vt:lpstr>
      <vt:lpstr>Retrospect</vt:lpstr>
      <vt:lpstr>Intermediate Code Generation</vt:lpstr>
      <vt:lpstr>Direct Acyclic Graph</vt:lpstr>
      <vt:lpstr>Show the DAG for the expression a + a * (b- c) + (b- c) * d . </vt:lpstr>
      <vt:lpstr>Syntax-directed definition to produce syntax trees or DAG's</vt:lpstr>
      <vt:lpstr>The Value Number Method for Constructing DAG</vt:lpstr>
      <vt:lpstr>Algorithm : The value-number method for constructing the nodes of a DAG.</vt:lpstr>
      <vt:lpstr>Construct the DAG for the expression ((x +y) -((x+y) *(x-y)))+((x+y) *(x-y))</vt:lpstr>
      <vt:lpstr>List of the common three-address instruction forms:</vt:lpstr>
      <vt:lpstr>List of the common three-address instruction forms:</vt:lpstr>
      <vt:lpstr>List of the common three-address instruction forms:</vt:lpstr>
      <vt:lpstr>Consider the statement  do i = i+1; while (a[i] &lt; v);</vt:lpstr>
      <vt:lpstr>Quadruple</vt:lpstr>
      <vt:lpstr>Three-address code for the assignment  a = b*-c+b*-c;</vt:lpstr>
      <vt:lpstr>Triples</vt:lpstr>
      <vt:lpstr>Indirect Triple</vt:lpstr>
      <vt:lpstr>Static Single Assignment Form </vt:lpstr>
      <vt:lpstr>PowerPoint Presentation</vt:lpstr>
      <vt:lpstr>Types and Declarations -</vt:lpstr>
      <vt:lpstr>Computing types and their widths</vt:lpstr>
      <vt:lpstr>Procedures</vt:lpstr>
      <vt:lpstr>Translation of Expressions-(Assignment Statements)-</vt:lpstr>
      <vt:lpstr>PowerPoint Presentation</vt:lpstr>
      <vt:lpstr>Control Flow</vt:lpstr>
      <vt:lpstr>Boolean Expression</vt:lpstr>
      <vt:lpstr>Control Flow Statements</vt:lpstr>
      <vt:lpstr>Back Patching. </vt:lpstr>
      <vt:lpstr>Backpatching</vt:lpstr>
      <vt:lpstr>PowerPoint Presentation</vt:lpstr>
      <vt:lpstr>PowerPoint Presentation</vt:lpstr>
      <vt:lpstr>Switch Case Statements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Intermediate Code Generation</dc:title>
  <dc:creator>dell</dc:creator>
  <cp:lastModifiedBy>dell</cp:lastModifiedBy>
  <cp:revision>80</cp:revision>
  <dcterms:created xsi:type="dcterms:W3CDTF">2024-09-24T16:16:45Z</dcterms:created>
  <dcterms:modified xsi:type="dcterms:W3CDTF">2024-10-04T04:19:39Z</dcterms:modified>
</cp:coreProperties>
</file>