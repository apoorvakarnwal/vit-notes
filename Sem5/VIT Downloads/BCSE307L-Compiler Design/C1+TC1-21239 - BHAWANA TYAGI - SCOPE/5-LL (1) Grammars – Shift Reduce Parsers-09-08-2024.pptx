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6" r:id="rId2"/>
    <p:sldId id="269" r:id="rId3"/>
    <p:sldId id="270" r:id="rId4"/>
    <p:sldId id="271" r:id="rId5"/>
    <p:sldId id="272" r:id="rId6"/>
    <p:sldId id="273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485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8/15/2024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8/15/2024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8/15/2024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8/15/2024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8/15/2024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8/15/2024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8/15/2024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8/15/2024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8/15/2024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8/15/2024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8/15/2024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54C5576-DEB0-478F-8E3B-2C8E30E0E13A}"/>
              </a:ext>
            </a:extLst>
          </p:cNvPr>
          <p:cNvSpPr txBox="1"/>
          <p:nvPr/>
        </p:nvSpPr>
        <p:spPr>
          <a:xfrm>
            <a:off x="2556163" y="2744524"/>
            <a:ext cx="68788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/>
              <a:t>LL(1) Parsing</a:t>
            </a:r>
            <a:endParaRPr lang="en-US" sz="6000" dirty="0">
              <a:solidFill>
                <a:srgbClr val="002060"/>
              </a:solidFill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811105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Predictive Parsers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US" dirty="0" smtClean="0"/>
              <a:t>	It is an efficient way of implementing recursive descent parsing by handling stack activation records explicitly.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267200" y="3429000"/>
            <a:ext cx="2133600" cy="106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23279" y="3114677"/>
            <a:ext cx="6026046" cy="2566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934934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Predictive Parsers(Continued..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buNone/>
            </a:pPr>
            <a:r>
              <a:rPr lang="en-US" dirty="0" smtClean="0"/>
              <a:t>The working of the parser as follows:</a:t>
            </a:r>
          </a:p>
          <a:p>
            <a:pPr algn="just"/>
            <a:r>
              <a:rPr lang="en-US" dirty="0" smtClean="0"/>
              <a:t>The program determines the X(symbol on the top of the stack) and a , the current input symbol. These 2 input symbol determines the action of the parser.</a:t>
            </a:r>
          </a:p>
          <a:p>
            <a:pPr algn="just"/>
            <a:r>
              <a:rPr lang="en-US" dirty="0" smtClean="0"/>
              <a:t>There are three possibilities:</a:t>
            </a:r>
          </a:p>
          <a:p>
            <a:pPr lvl="1" algn="just"/>
            <a:r>
              <a:rPr lang="en-US" dirty="0" smtClean="0"/>
              <a:t>If X=a=$, the parser halts and announces successful completion of parsing.</a:t>
            </a:r>
          </a:p>
          <a:p>
            <a:pPr lvl="1" algn="just"/>
            <a:r>
              <a:rPr lang="en-US" dirty="0" smtClean="0"/>
              <a:t>If X=a</a:t>
            </a:r>
            <a:r>
              <a:rPr lang="en-US" b="1" dirty="0" smtClean="0"/>
              <a:t>≠$, </a:t>
            </a:r>
            <a:r>
              <a:rPr lang="en-US" dirty="0" smtClean="0"/>
              <a:t>the parser pops X off the stack and advances the input pointer to the next input symbol.</a:t>
            </a:r>
          </a:p>
          <a:p>
            <a:pPr lvl="1" algn="just"/>
            <a:r>
              <a:rPr lang="en-US" dirty="0" smtClean="0"/>
              <a:t>If X is a non terminal, the program consults entry M[</a:t>
            </a:r>
            <a:r>
              <a:rPr lang="en-US" dirty="0" err="1" smtClean="0"/>
              <a:t>X,a</a:t>
            </a:r>
            <a:r>
              <a:rPr lang="en-US" dirty="0" smtClean="0"/>
              <a:t>] of the parsing table M. This entry can be either X-production of the grammar or an error entry.</a:t>
            </a:r>
          </a:p>
          <a:p>
            <a:pPr lvl="2" algn="just"/>
            <a:r>
              <a:rPr lang="en-US" dirty="0" smtClean="0"/>
              <a:t>X</a:t>
            </a:r>
            <a:r>
              <a:rPr lang="en-US" dirty="0" smtClean="0">
                <a:sym typeface="Wingdings" panose="05000000000000000000" pitchFamily="2" charset="2"/>
              </a:rPr>
              <a:t>UVW then pop X from the stack and push WVU onto </a:t>
            </a:r>
            <a:r>
              <a:rPr lang="en-US" smtClean="0">
                <a:sym typeface="Wingdings" panose="05000000000000000000" pitchFamily="2" charset="2"/>
              </a:rPr>
              <a:t>the stack.</a:t>
            </a:r>
            <a:endParaRPr lang="en-US" dirty="0" smtClean="0"/>
          </a:p>
          <a:p>
            <a:pPr algn="just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194152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Construction of Predictive Parsing 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96646" indent="-514350" algn="just">
              <a:buAutoNum type="arabicPeriod"/>
            </a:pPr>
            <a:r>
              <a:rPr lang="en-US" dirty="0" smtClean="0"/>
              <a:t>for each production A</a:t>
            </a:r>
            <a:r>
              <a:rPr lang="en-US" dirty="0" smtClean="0">
                <a:sym typeface="Wingdings" pitchFamily="2" charset="2"/>
              </a:rPr>
              <a:t></a:t>
            </a:r>
            <a:r>
              <a:rPr lang="el-GR" dirty="0" smtClean="0">
                <a:latin typeface="Calibri"/>
                <a:cs typeface="Calibri"/>
                <a:sym typeface="Wingdings" pitchFamily="2" charset="2"/>
              </a:rPr>
              <a:t>α</a:t>
            </a:r>
            <a:r>
              <a:rPr lang="en-US" dirty="0" smtClean="0">
                <a:latin typeface="Calibri"/>
                <a:cs typeface="Calibri"/>
                <a:sym typeface="Wingdings" pitchFamily="2" charset="2"/>
              </a:rPr>
              <a:t> of the grammar, do steps 2 and 3.</a:t>
            </a:r>
          </a:p>
          <a:p>
            <a:pPr marL="596646" indent="-514350" algn="just">
              <a:buNone/>
            </a:pPr>
            <a:endParaRPr lang="en-US" dirty="0" smtClean="0">
              <a:latin typeface="Calibri"/>
              <a:cs typeface="Calibri"/>
              <a:sym typeface="Wingdings" pitchFamily="2" charset="2"/>
            </a:endParaRPr>
          </a:p>
          <a:p>
            <a:pPr algn="just">
              <a:buNone/>
            </a:pPr>
            <a:r>
              <a:rPr lang="en-US" dirty="0" smtClean="0">
                <a:latin typeface="Calibri"/>
                <a:cs typeface="Calibri"/>
                <a:sym typeface="Wingdings" pitchFamily="2" charset="2"/>
              </a:rPr>
              <a:t>2. For each terminal a in FIRST(</a:t>
            </a:r>
            <a:r>
              <a:rPr lang="el-GR" dirty="0" smtClean="0">
                <a:latin typeface="Calibri"/>
                <a:cs typeface="Calibri"/>
                <a:sym typeface="Wingdings" pitchFamily="2" charset="2"/>
              </a:rPr>
              <a:t>α</a:t>
            </a:r>
            <a:r>
              <a:rPr lang="en-US" dirty="0" smtClean="0">
                <a:latin typeface="Calibri"/>
                <a:cs typeface="Calibri"/>
                <a:sym typeface="Wingdings" pitchFamily="2" charset="2"/>
              </a:rPr>
              <a:t>),add a</a:t>
            </a:r>
            <a:r>
              <a:rPr lang="el-GR" dirty="0" smtClean="0">
                <a:latin typeface="Calibri"/>
                <a:cs typeface="Calibri"/>
                <a:sym typeface="Wingdings" pitchFamily="2" charset="2"/>
              </a:rPr>
              <a:t> α</a:t>
            </a:r>
            <a:r>
              <a:rPr lang="en-US" dirty="0" smtClean="0">
                <a:latin typeface="Calibri"/>
                <a:cs typeface="Calibri"/>
                <a:sym typeface="Wingdings" pitchFamily="2" charset="2"/>
              </a:rPr>
              <a:t> to M[</a:t>
            </a:r>
            <a:r>
              <a:rPr lang="en-US" dirty="0" err="1" smtClean="0">
                <a:latin typeface="Calibri"/>
                <a:cs typeface="Calibri"/>
                <a:sym typeface="Wingdings" pitchFamily="2" charset="2"/>
              </a:rPr>
              <a:t>A,a</a:t>
            </a:r>
            <a:r>
              <a:rPr lang="en-US" dirty="0" smtClean="0">
                <a:latin typeface="Calibri"/>
                <a:cs typeface="Calibri"/>
                <a:sym typeface="Wingdings" pitchFamily="2" charset="2"/>
              </a:rPr>
              <a:t>].</a:t>
            </a:r>
          </a:p>
          <a:p>
            <a:pPr algn="just">
              <a:buNone/>
            </a:pPr>
            <a:endParaRPr lang="en-US" dirty="0" smtClean="0">
              <a:latin typeface="Calibri"/>
              <a:cs typeface="Calibri"/>
              <a:sym typeface="Wingdings" pitchFamily="2" charset="2"/>
            </a:endParaRPr>
          </a:p>
          <a:p>
            <a:pPr algn="just">
              <a:buNone/>
            </a:pPr>
            <a:r>
              <a:rPr lang="en-US" dirty="0" smtClean="0">
                <a:latin typeface="Calibri"/>
                <a:cs typeface="Calibri"/>
                <a:sym typeface="Wingdings" pitchFamily="2" charset="2"/>
              </a:rPr>
              <a:t>3. If </a:t>
            </a:r>
            <a:r>
              <a:rPr lang="el-GR" dirty="0" smtClean="0">
                <a:latin typeface="Calibri"/>
                <a:cs typeface="Calibri"/>
                <a:sym typeface="Wingdings" pitchFamily="2" charset="2"/>
              </a:rPr>
              <a:t>ϵ</a:t>
            </a:r>
            <a:r>
              <a:rPr lang="en-US" dirty="0" smtClean="0">
                <a:latin typeface="Calibri"/>
                <a:cs typeface="Calibri"/>
                <a:sym typeface="Wingdings" pitchFamily="2" charset="2"/>
              </a:rPr>
              <a:t> is in the FIRST(</a:t>
            </a:r>
            <a:r>
              <a:rPr lang="el-GR" dirty="0" smtClean="0">
                <a:latin typeface="Calibri"/>
                <a:cs typeface="Calibri"/>
                <a:sym typeface="Wingdings" pitchFamily="2" charset="2"/>
              </a:rPr>
              <a:t>α</a:t>
            </a:r>
            <a:r>
              <a:rPr lang="en-US" dirty="0" smtClean="0">
                <a:latin typeface="Calibri"/>
                <a:cs typeface="Calibri"/>
                <a:sym typeface="Wingdings" pitchFamily="2" charset="2"/>
              </a:rPr>
              <a:t>), add A</a:t>
            </a:r>
            <a:r>
              <a:rPr lang="el-GR" dirty="0" smtClean="0">
                <a:latin typeface="Calibri"/>
                <a:cs typeface="Calibri"/>
                <a:sym typeface="Wingdings" pitchFamily="2" charset="2"/>
              </a:rPr>
              <a:t> α</a:t>
            </a:r>
            <a:r>
              <a:rPr lang="en-US" dirty="0" smtClean="0">
                <a:latin typeface="Calibri"/>
                <a:cs typeface="Calibri"/>
                <a:sym typeface="Wingdings" pitchFamily="2" charset="2"/>
              </a:rPr>
              <a:t> to M[</a:t>
            </a:r>
            <a:r>
              <a:rPr lang="en-US" dirty="0" err="1" smtClean="0">
                <a:latin typeface="Calibri"/>
                <a:cs typeface="Calibri"/>
                <a:sym typeface="Wingdings" pitchFamily="2" charset="2"/>
              </a:rPr>
              <a:t>A,b</a:t>
            </a:r>
            <a:r>
              <a:rPr lang="en-US" dirty="0" smtClean="0">
                <a:latin typeface="Calibri"/>
                <a:cs typeface="Calibri"/>
                <a:sym typeface="Wingdings" pitchFamily="2" charset="2"/>
              </a:rPr>
              <a:t>] for each terminal b in FOLLOW(A), If </a:t>
            </a:r>
            <a:r>
              <a:rPr lang="el-GR" dirty="0" smtClean="0">
                <a:latin typeface="Calibri"/>
                <a:cs typeface="Calibri"/>
                <a:sym typeface="Wingdings" pitchFamily="2" charset="2"/>
              </a:rPr>
              <a:t>ϵ</a:t>
            </a:r>
            <a:r>
              <a:rPr lang="en-US" dirty="0" smtClean="0">
                <a:latin typeface="Calibri"/>
                <a:cs typeface="Calibri"/>
                <a:sym typeface="Wingdings" pitchFamily="2" charset="2"/>
              </a:rPr>
              <a:t> is </a:t>
            </a:r>
            <a:r>
              <a:rPr lang="en-US" dirty="0" err="1" smtClean="0">
                <a:latin typeface="Calibri"/>
                <a:cs typeface="Calibri"/>
                <a:sym typeface="Wingdings" pitchFamily="2" charset="2"/>
              </a:rPr>
              <a:t>is</a:t>
            </a:r>
            <a:r>
              <a:rPr lang="en-US" dirty="0" smtClean="0">
                <a:latin typeface="Calibri"/>
                <a:cs typeface="Calibri"/>
                <a:sym typeface="Wingdings" pitchFamily="2" charset="2"/>
              </a:rPr>
              <a:t> in FIRST(</a:t>
            </a:r>
            <a:r>
              <a:rPr lang="el-GR" dirty="0" smtClean="0">
                <a:latin typeface="Calibri"/>
                <a:cs typeface="Calibri"/>
                <a:sym typeface="Wingdings" pitchFamily="2" charset="2"/>
              </a:rPr>
              <a:t>α</a:t>
            </a:r>
            <a:r>
              <a:rPr lang="en-US" dirty="0" smtClean="0">
                <a:latin typeface="Calibri"/>
                <a:cs typeface="Calibri"/>
                <a:sym typeface="Wingdings" pitchFamily="2" charset="2"/>
              </a:rPr>
              <a:t>) and $ is in FOLLOW(A), add A</a:t>
            </a:r>
            <a:r>
              <a:rPr lang="el-GR" dirty="0" smtClean="0">
                <a:latin typeface="Calibri"/>
                <a:cs typeface="Calibri"/>
                <a:sym typeface="Wingdings" pitchFamily="2" charset="2"/>
              </a:rPr>
              <a:t> α</a:t>
            </a:r>
            <a:r>
              <a:rPr lang="en-US" dirty="0" smtClean="0">
                <a:latin typeface="Calibri"/>
                <a:cs typeface="Calibri"/>
                <a:sym typeface="Wingdings" pitchFamily="2" charset="2"/>
              </a:rPr>
              <a:t> to M[A,$].</a:t>
            </a:r>
          </a:p>
          <a:p>
            <a:pPr algn="just">
              <a:buNone/>
            </a:pPr>
            <a:endParaRPr lang="en-US" dirty="0" smtClean="0">
              <a:latin typeface="Calibri"/>
              <a:cs typeface="Calibri"/>
              <a:sym typeface="Wingdings" pitchFamily="2" charset="2"/>
            </a:endParaRPr>
          </a:p>
          <a:p>
            <a:pPr algn="just">
              <a:buNone/>
            </a:pPr>
            <a:r>
              <a:rPr lang="en-US" dirty="0" smtClean="0">
                <a:latin typeface="Calibri"/>
                <a:cs typeface="Calibri"/>
                <a:sym typeface="Wingdings" pitchFamily="2" charset="2"/>
              </a:rPr>
              <a:t>4. Make each undefined entry of M error.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361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4144" y="274638"/>
            <a:ext cx="9997440" cy="1449231"/>
          </a:xfrm>
        </p:spPr>
        <p:txBody>
          <a:bodyPr>
            <a:normAutofit fontScale="90000"/>
          </a:bodyPr>
          <a:lstStyle/>
          <a:p>
            <a:r>
              <a:rPr lang="en-US" sz="1800" dirty="0" smtClean="0"/>
              <a:t>Question: Construct predictive parsing table for the given grammar:</a:t>
            </a:r>
            <a:br>
              <a:rPr lang="en-US" sz="1800" dirty="0" smtClean="0"/>
            </a:br>
            <a:r>
              <a:rPr lang="en-US" sz="1800" dirty="0" smtClean="0"/>
              <a:t>E</a:t>
            </a:r>
            <a:r>
              <a:rPr lang="en-US" sz="1800" dirty="0" smtClean="0">
                <a:sym typeface="Wingdings" pitchFamily="2" charset="2"/>
              </a:rPr>
              <a:t>TE’</a:t>
            </a:r>
            <a:br>
              <a:rPr lang="en-US" sz="1800" dirty="0" smtClean="0">
                <a:sym typeface="Wingdings" pitchFamily="2" charset="2"/>
              </a:rPr>
            </a:br>
            <a:r>
              <a:rPr lang="en-US" sz="1800" dirty="0" smtClean="0">
                <a:sym typeface="Wingdings" pitchFamily="2" charset="2"/>
              </a:rPr>
              <a:t>E’+TE’/</a:t>
            </a:r>
            <a:r>
              <a:rPr lang="el-GR" sz="1800" dirty="0" smtClean="0">
                <a:latin typeface="Calibri"/>
                <a:cs typeface="Calibri"/>
                <a:sym typeface="Wingdings" pitchFamily="2" charset="2"/>
              </a:rPr>
              <a:t>ϵ</a:t>
            </a:r>
            <a:r>
              <a:rPr lang="en-US" sz="1800" dirty="0" smtClean="0">
                <a:latin typeface="Calibri"/>
                <a:cs typeface="Calibri"/>
                <a:sym typeface="Wingdings" pitchFamily="2" charset="2"/>
              </a:rPr>
              <a:t/>
            </a:r>
            <a:br>
              <a:rPr lang="en-US" sz="1800" dirty="0" smtClean="0">
                <a:latin typeface="Calibri"/>
                <a:cs typeface="Calibri"/>
                <a:sym typeface="Wingdings" pitchFamily="2" charset="2"/>
              </a:rPr>
            </a:br>
            <a:r>
              <a:rPr lang="en-US" sz="1800" dirty="0" smtClean="0">
                <a:latin typeface="Calibri"/>
                <a:cs typeface="Calibri"/>
                <a:sym typeface="Wingdings" pitchFamily="2" charset="2"/>
              </a:rPr>
              <a:t>TFT’</a:t>
            </a:r>
            <a:br>
              <a:rPr lang="en-US" sz="1800" dirty="0" smtClean="0">
                <a:latin typeface="Calibri"/>
                <a:cs typeface="Calibri"/>
                <a:sym typeface="Wingdings" pitchFamily="2" charset="2"/>
              </a:rPr>
            </a:br>
            <a:r>
              <a:rPr lang="en-US" sz="1800" dirty="0" smtClean="0">
                <a:latin typeface="Calibri"/>
                <a:cs typeface="Calibri"/>
                <a:sym typeface="Wingdings" pitchFamily="2" charset="2"/>
              </a:rPr>
              <a:t>T’*FT’/</a:t>
            </a:r>
            <a:r>
              <a:rPr lang="el-GR" sz="1800" dirty="0" smtClean="0">
                <a:latin typeface="Calibri"/>
                <a:cs typeface="Calibri"/>
                <a:sym typeface="Wingdings" pitchFamily="2" charset="2"/>
              </a:rPr>
              <a:t> ϵ </a:t>
            </a:r>
            <a:r>
              <a:rPr lang="en-US" sz="1800" dirty="0" smtClean="0">
                <a:latin typeface="Calibri"/>
                <a:cs typeface="Calibri"/>
                <a:sym typeface="Wingdings" pitchFamily="2" charset="2"/>
              </a:rPr>
              <a:t/>
            </a:r>
            <a:br>
              <a:rPr lang="en-US" sz="1800" dirty="0" smtClean="0">
                <a:latin typeface="Calibri"/>
                <a:cs typeface="Calibri"/>
                <a:sym typeface="Wingdings" pitchFamily="2" charset="2"/>
              </a:rPr>
            </a:br>
            <a:r>
              <a:rPr lang="en-US" sz="1800" dirty="0" smtClean="0">
                <a:latin typeface="Calibri"/>
                <a:cs typeface="Calibri"/>
                <a:sym typeface="Wingdings" pitchFamily="2" charset="2"/>
              </a:rPr>
              <a:t>F(E)/id</a:t>
            </a:r>
            <a:br>
              <a:rPr lang="en-US" sz="1800" dirty="0" smtClean="0">
                <a:latin typeface="Calibri"/>
                <a:cs typeface="Calibri"/>
                <a:sym typeface="Wingdings" pitchFamily="2" charset="2"/>
              </a:rPr>
            </a:br>
            <a:r>
              <a:rPr lang="en-US" sz="1800" dirty="0" smtClean="0">
                <a:latin typeface="Calibri"/>
                <a:cs typeface="Calibri"/>
                <a:sym typeface="Wingdings" pitchFamily="2" charset="2"/>
              </a:rPr>
              <a:t/>
            </a:r>
            <a:br>
              <a:rPr lang="en-US" sz="1800" dirty="0" smtClean="0">
                <a:latin typeface="Calibri"/>
                <a:cs typeface="Calibri"/>
                <a:sym typeface="Wingdings" pitchFamily="2" charset="2"/>
              </a:rPr>
            </a:br>
            <a:r>
              <a:rPr lang="en-US" sz="1800" dirty="0" smtClean="0">
                <a:latin typeface="Calibri"/>
                <a:cs typeface="Calibri"/>
                <a:sym typeface="Wingdings" pitchFamily="2" charset="2"/>
              </a:rPr>
              <a:t/>
            </a:r>
            <a:br>
              <a:rPr lang="en-US" sz="1800" dirty="0" smtClean="0">
                <a:latin typeface="Calibri"/>
                <a:cs typeface="Calibri"/>
                <a:sym typeface="Wingdings" pitchFamily="2" charset="2"/>
              </a:rPr>
            </a:br>
            <a:r>
              <a:rPr lang="en-US" sz="1800" dirty="0" smtClean="0">
                <a:latin typeface="Calibri"/>
                <a:cs typeface="Calibri"/>
                <a:sym typeface="Wingdings" pitchFamily="2" charset="2"/>
              </a:rPr>
              <a:t/>
            </a:r>
            <a:br>
              <a:rPr lang="en-US" sz="1800" dirty="0" smtClean="0">
                <a:latin typeface="Calibri"/>
                <a:cs typeface="Calibri"/>
                <a:sym typeface="Wingdings" pitchFamily="2" charset="2"/>
              </a:rPr>
            </a:br>
            <a:endParaRPr lang="en-US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4341" y="1873770"/>
            <a:ext cx="10907243" cy="43746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600" dirty="0" smtClean="0"/>
              <a:t>Solution: </a:t>
            </a:r>
          </a:p>
          <a:p>
            <a:pPr>
              <a:buNone/>
            </a:pPr>
            <a:r>
              <a:rPr lang="en-US" sz="1800" dirty="0" smtClean="0"/>
              <a:t>Calculate FIRST and FOLLOW</a:t>
            </a:r>
          </a:p>
          <a:p>
            <a:pPr>
              <a:buNone/>
            </a:pPr>
            <a:r>
              <a:rPr lang="en-US" sz="1600" dirty="0" smtClean="0">
                <a:latin typeface="Calibri" pitchFamily="34" charset="0"/>
                <a:cs typeface="Calibri" pitchFamily="34" charset="0"/>
              </a:rPr>
              <a:t>FIRST(E)=FIRST(T)=FIRST(F)={(,id}</a:t>
            </a:r>
          </a:p>
          <a:p>
            <a:pPr>
              <a:buNone/>
            </a:pPr>
            <a:r>
              <a:rPr lang="en-US" sz="1600" dirty="0" smtClean="0">
                <a:latin typeface="Calibri" pitchFamily="34" charset="0"/>
                <a:cs typeface="Calibri" pitchFamily="34" charset="0"/>
              </a:rPr>
              <a:t>FIRST(E’)={+,</a:t>
            </a:r>
            <a:r>
              <a:rPr lang="el-GR" sz="1600" dirty="0" smtClean="0">
                <a:latin typeface="Calibri" pitchFamily="34" charset="0"/>
                <a:cs typeface="Calibri" pitchFamily="34" charset="0"/>
                <a:sym typeface="Wingdings" pitchFamily="2" charset="2"/>
              </a:rPr>
              <a:t> ϵ</a:t>
            </a:r>
            <a:r>
              <a:rPr lang="en-US" sz="1600" dirty="0" smtClean="0">
                <a:latin typeface="Calibri" pitchFamily="34" charset="0"/>
                <a:cs typeface="Calibri" pitchFamily="34" charset="0"/>
                <a:sym typeface="Wingdings" pitchFamily="2" charset="2"/>
              </a:rPr>
              <a:t>}</a:t>
            </a:r>
          </a:p>
          <a:p>
            <a:pPr>
              <a:buNone/>
            </a:pPr>
            <a:r>
              <a:rPr lang="en-US" sz="1600" dirty="0" smtClean="0">
                <a:latin typeface="Calibri" pitchFamily="34" charset="0"/>
                <a:cs typeface="Calibri" pitchFamily="34" charset="0"/>
                <a:sym typeface="Wingdings" pitchFamily="2" charset="2"/>
              </a:rPr>
              <a:t>FIRST(T’)={*,</a:t>
            </a:r>
            <a:r>
              <a:rPr lang="el-GR" sz="1600" dirty="0" smtClean="0">
                <a:latin typeface="Calibri" pitchFamily="34" charset="0"/>
                <a:cs typeface="Calibri" pitchFamily="34" charset="0"/>
                <a:sym typeface="Wingdings" pitchFamily="2" charset="2"/>
              </a:rPr>
              <a:t> ϵ</a:t>
            </a:r>
            <a:r>
              <a:rPr lang="en-US" sz="1600" dirty="0" smtClean="0">
                <a:latin typeface="Calibri" pitchFamily="34" charset="0"/>
                <a:cs typeface="Calibri" pitchFamily="34" charset="0"/>
                <a:sym typeface="Wingdings" pitchFamily="2" charset="2"/>
              </a:rPr>
              <a:t>}</a:t>
            </a:r>
          </a:p>
          <a:p>
            <a:pPr>
              <a:buNone/>
            </a:pPr>
            <a:endParaRPr lang="en-US" sz="1600" dirty="0" smtClean="0">
              <a:latin typeface="Calibri" pitchFamily="34" charset="0"/>
              <a:cs typeface="Calibri" pitchFamily="34" charset="0"/>
              <a:sym typeface="Wingdings" pitchFamily="2" charset="2"/>
            </a:endParaRPr>
          </a:p>
          <a:p>
            <a:pPr>
              <a:buNone/>
            </a:pPr>
            <a:r>
              <a:rPr lang="en-US" sz="1600" dirty="0" smtClean="0">
                <a:latin typeface="Calibri" pitchFamily="34" charset="0"/>
                <a:cs typeface="Calibri" pitchFamily="34" charset="0"/>
                <a:sym typeface="Wingdings" pitchFamily="2" charset="2"/>
              </a:rPr>
              <a:t>FOLLOW(E)= FOLLOW(E’)={),$}</a:t>
            </a:r>
          </a:p>
          <a:p>
            <a:pPr>
              <a:buNone/>
            </a:pPr>
            <a:r>
              <a:rPr lang="en-US" sz="1600" dirty="0" smtClean="0">
                <a:latin typeface="Calibri" pitchFamily="34" charset="0"/>
                <a:cs typeface="Calibri" pitchFamily="34" charset="0"/>
                <a:sym typeface="Wingdings" pitchFamily="2" charset="2"/>
              </a:rPr>
              <a:t>FOLLOW(T)= FOLLOW(T’)={+,), $}</a:t>
            </a:r>
          </a:p>
          <a:p>
            <a:pPr>
              <a:buNone/>
            </a:pPr>
            <a:r>
              <a:rPr lang="en-US" sz="1600" dirty="0" smtClean="0">
                <a:latin typeface="Calibri" pitchFamily="34" charset="0"/>
                <a:cs typeface="Calibri" pitchFamily="34" charset="0"/>
                <a:sym typeface="Wingdings" pitchFamily="2" charset="2"/>
              </a:rPr>
              <a:t>FOLLOW(F)={+,*,), $}</a:t>
            </a:r>
          </a:p>
          <a:p>
            <a:pPr>
              <a:buNone/>
            </a:pPr>
            <a:r>
              <a:rPr lang="en-US" sz="1600" dirty="0" smtClean="0">
                <a:latin typeface="Calibri"/>
                <a:cs typeface="Calibri"/>
                <a:sym typeface="Wingdings" pitchFamily="2" charset="2"/>
              </a:rPr>
              <a:t> 	Now Apply the Predictive parsing table algorithm in order to construct the parsing table.</a:t>
            </a:r>
          </a:p>
          <a:p>
            <a:pPr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04683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4144" y="274638"/>
            <a:ext cx="9997440" cy="639762"/>
          </a:xfrm>
        </p:spPr>
        <p:txBody>
          <a:bodyPr>
            <a:normAutofit/>
          </a:bodyPr>
          <a:lstStyle/>
          <a:p>
            <a:r>
              <a:rPr lang="en-US" dirty="0" smtClean="0"/>
              <a:t>Predictive Parsing 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447800"/>
            <a:ext cx="10692384" cy="4800600"/>
          </a:xfrm>
        </p:spPr>
        <p:txBody>
          <a:bodyPr>
            <a:normAutofit/>
          </a:bodyPr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spcBef>
                <a:spcPts val="0"/>
              </a:spcBef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Consider the First production, as FIRST(TE’) =FIRST(T)={(,id}, so the </a:t>
            </a:r>
          </a:p>
          <a:p>
            <a:pPr>
              <a:spcBef>
                <a:spcPts val="0"/>
              </a:spcBef>
              <a:buNone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      Production E</a:t>
            </a:r>
            <a:r>
              <a:rPr lang="en-US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TE’ entered to M[E,(] and M[</a:t>
            </a:r>
            <a:r>
              <a:rPr lang="en-US" dirty="0" err="1" smtClean="0">
                <a:latin typeface="Arial" pitchFamily="34" charset="0"/>
                <a:cs typeface="Arial" pitchFamily="34" charset="0"/>
                <a:sym typeface="Wingdings" pitchFamily="2" charset="2"/>
              </a:rPr>
              <a:t>E,id</a:t>
            </a:r>
            <a:r>
              <a:rPr lang="en-US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].</a:t>
            </a:r>
          </a:p>
          <a:p>
            <a:pPr>
              <a:spcBef>
                <a:spcPts val="0"/>
              </a:spcBef>
            </a:pPr>
            <a:r>
              <a:rPr lang="en-US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Consider the second production,  E’+TE’ entered into M[E’,+] and </a:t>
            </a:r>
          </a:p>
          <a:p>
            <a:pPr>
              <a:spcBef>
                <a:spcPts val="0"/>
              </a:spcBef>
              <a:buNone/>
            </a:pPr>
            <a:r>
              <a:rPr lang="en-US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	E’</a:t>
            </a:r>
            <a:r>
              <a:rPr lang="el-GR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ϵ</a:t>
            </a:r>
            <a:r>
              <a:rPr lang="en-US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 causes M[E’,)] and M[E’,$] to acquire  E’</a:t>
            </a:r>
            <a:r>
              <a:rPr lang="el-GR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 ϵ</a:t>
            </a:r>
            <a:r>
              <a:rPr lang="en-US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 since FOLLOW(E’)={),$}</a:t>
            </a:r>
          </a:p>
          <a:p>
            <a:pPr>
              <a:spcBef>
                <a:spcPts val="0"/>
              </a:spcBef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Consider the third production, as FIRST(FT’) =FIRST(F)={(,id}, so the </a:t>
            </a:r>
          </a:p>
          <a:p>
            <a:pPr>
              <a:spcBef>
                <a:spcPts val="0"/>
              </a:spcBef>
              <a:buNone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	Production T</a:t>
            </a:r>
            <a:r>
              <a:rPr lang="en-US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FT’ entered to M[T,(] and M[</a:t>
            </a:r>
            <a:r>
              <a:rPr lang="en-US" dirty="0" err="1" smtClean="0">
                <a:latin typeface="Arial" pitchFamily="34" charset="0"/>
                <a:cs typeface="Arial" pitchFamily="34" charset="0"/>
                <a:sym typeface="Wingdings" pitchFamily="2" charset="2"/>
              </a:rPr>
              <a:t>T,id</a:t>
            </a:r>
            <a:r>
              <a:rPr lang="en-US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].</a:t>
            </a:r>
          </a:p>
          <a:p>
            <a:pPr>
              <a:spcBef>
                <a:spcPts val="0"/>
              </a:spcBef>
            </a:pPr>
            <a:r>
              <a:rPr lang="en-US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Consider the Fourth production,  T’*FT’ entered into M[T’,*] and </a:t>
            </a:r>
          </a:p>
          <a:p>
            <a:pPr>
              <a:spcBef>
                <a:spcPts val="0"/>
              </a:spcBef>
              <a:buNone/>
            </a:pPr>
            <a:r>
              <a:rPr lang="en-US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	T’</a:t>
            </a:r>
            <a:r>
              <a:rPr lang="el-GR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ϵ</a:t>
            </a:r>
            <a:r>
              <a:rPr lang="en-US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 causes M[T’,+], M[T’,)] and M[T’,$] to acquire  T’</a:t>
            </a:r>
            <a:r>
              <a:rPr lang="el-GR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 ϵ</a:t>
            </a:r>
            <a:r>
              <a:rPr lang="en-US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 since FOLLOW(T’)={+,),$}</a:t>
            </a:r>
          </a:p>
          <a:p>
            <a:pPr>
              <a:spcBef>
                <a:spcPts val="0"/>
              </a:spcBef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Consider the fifth production, enter F</a:t>
            </a:r>
            <a:r>
              <a:rPr lang="en-US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(E) to the M[F,(], and </a:t>
            </a:r>
            <a:r>
              <a:rPr lang="en-US" dirty="0" err="1" smtClean="0">
                <a:latin typeface="Arial" pitchFamily="34" charset="0"/>
                <a:cs typeface="Arial" pitchFamily="34" charset="0"/>
                <a:sym typeface="Wingdings" pitchFamily="2" charset="2"/>
              </a:rPr>
              <a:t>Fid</a:t>
            </a:r>
            <a:r>
              <a:rPr lang="en-US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 to the M[</a:t>
            </a:r>
            <a:r>
              <a:rPr lang="en-US" dirty="0" err="1" smtClean="0">
                <a:latin typeface="Arial" pitchFamily="34" charset="0"/>
                <a:cs typeface="Arial" pitchFamily="34" charset="0"/>
                <a:sym typeface="Wingdings" pitchFamily="2" charset="2"/>
              </a:rPr>
              <a:t>F,id</a:t>
            </a:r>
            <a:r>
              <a:rPr lang="en-US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].</a:t>
            </a:r>
          </a:p>
          <a:p>
            <a:pPr>
              <a:buNone/>
            </a:pPr>
            <a:endParaRPr lang="en-US" sz="1600" dirty="0" smtClean="0">
              <a:latin typeface="Calibri"/>
              <a:cs typeface="Calibri"/>
              <a:sym typeface="Wingdings" pitchFamily="2" charset="2"/>
            </a:endParaRPr>
          </a:p>
          <a:p>
            <a:endParaRPr lang="en-US" sz="1600" dirty="0" smtClean="0">
              <a:sym typeface="Wingdings" pitchFamily="2" charset="2"/>
            </a:endParaRPr>
          </a:p>
          <a:p>
            <a:pPr>
              <a:buNone/>
            </a:pPr>
            <a:endParaRPr lang="en-US" sz="1600" dirty="0" smtClean="0">
              <a:sym typeface="Wingdings" pitchFamily="2" charset="2"/>
            </a:endParaRPr>
          </a:p>
          <a:p>
            <a:pPr>
              <a:buNone/>
            </a:pPr>
            <a:endParaRPr lang="en-US" sz="1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86019" y="688298"/>
            <a:ext cx="10256603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9956800" y="2971800"/>
            <a:ext cx="1422400" cy="1219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058400" y="3048001"/>
            <a:ext cx="1219200" cy="107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957513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LL(1) Grammar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80000"/>
              </a:lnSpc>
            </a:pPr>
            <a:r>
              <a:rPr lang="en-US" dirty="0"/>
              <a:t>The </a:t>
            </a:r>
            <a:r>
              <a:rPr lang="en-US" b="1" dirty="0"/>
              <a:t>first L</a:t>
            </a:r>
            <a:r>
              <a:rPr lang="en-US" dirty="0"/>
              <a:t> means that the scanning takes place from </a:t>
            </a:r>
            <a:r>
              <a:rPr lang="en-US" u="sng" dirty="0"/>
              <a:t>L</a:t>
            </a:r>
            <a:r>
              <a:rPr lang="en-US" dirty="0"/>
              <a:t>eft to right.</a:t>
            </a:r>
          </a:p>
          <a:p>
            <a:pPr algn="just">
              <a:lnSpc>
                <a:spcPct val="80000"/>
              </a:lnSpc>
              <a:buNone/>
            </a:pPr>
            <a:endParaRPr lang="en-US" dirty="0"/>
          </a:p>
          <a:p>
            <a:pPr algn="just">
              <a:lnSpc>
                <a:spcPct val="80000"/>
              </a:lnSpc>
            </a:pPr>
            <a:r>
              <a:rPr lang="en-US" dirty="0"/>
              <a:t> The </a:t>
            </a:r>
            <a:r>
              <a:rPr lang="en-US" b="1" dirty="0"/>
              <a:t>second L</a:t>
            </a:r>
            <a:r>
              <a:rPr lang="en-US" dirty="0"/>
              <a:t> means that the </a:t>
            </a:r>
            <a:r>
              <a:rPr lang="en-US" u="sng" dirty="0"/>
              <a:t>L</a:t>
            </a:r>
            <a:r>
              <a:rPr lang="en-US" dirty="0"/>
              <a:t>eft derivation is produced first. </a:t>
            </a:r>
          </a:p>
          <a:p>
            <a:pPr algn="just">
              <a:lnSpc>
                <a:spcPct val="80000"/>
              </a:lnSpc>
            </a:pPr>
            <a:endParaRPr lang="en-US" dirty="0"/>
          </a:p>
          <a:p>
            <a:pPr algn="just">
              <a:lnSpc>
                <a:spcPct val="80000"/>
              </a:lnSpc>
            </a:pPr>
            <a:r>
              <a:rPr lang="en-US" b="1" dirty="0"/>
              <a:t>‘1’</a:t>
            </a:r>
            <a:r>
              <a:rPr lang="en-US" dirty="0"/>
              <a:t> means One input symbol at each step.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490689" y="4402112"/>
            <a:ext cx="8128000" cy="91440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No left recursive or ambiguous grammar can be LL(1)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 for LL(1) Grammar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" indent="0">
              <a:buNone/>
            </a:pPr>
            <a:r>
              <a:rPr lang="en-US" dirty="0"/>
              <a:t>Grammar G is called LL(1) if and only if whenever,</a:t>
            </a:r>
          </a:p>
          <a:p>
            <a:pPr marL="45720" indent="0">
              <a:buNone/>
            </a:pPr>
            <a:r>
              <a:rPr lang="en-US" dirty="0"/>
              <a:t>If A-&gt;</a:t>
            </a:r>
            <a:r>
              <a:rPr lang="el-GR" dirty="0"/>
              <a:t>α</a:t>
            </a:r>
            <a:r>
              <a:rPr lang="en-US" dirty="0"/>
              <a:t>|</a:t>
            </a:r>
            <a:r>
              <a:rPr lang="el-GR" dirty="0"/>
              <a:t>β</a:t>
            </a:r>
            <a:r>
              <a:rPr lang="en-US" dirty="0"/>
              <a:t> are two distinct productions of G, the following conditions hold :-</a:t>
            </a:r>
          </a:p>
          <a:p>
            <a:pPr marL="45720" indent="0">
              <a:buNone/>
            </a:pPr>
            <a:r>
              <a:rPr lang="en-US" dirty="0"/>
              <a:t>1. (a)  FIRST(</a:t>
            </a:r>
            <a:r>
              <a:rPr lang="el-GR" dirty="0"/>
              <a:t>α</a:t>
            </a:r>
            <a:r>
              <a:rPr lang="en-US" dirty="0"/>
              <a:t>) , FIRST(</a:t>
            </a:r>
            <a:r>
              <a:rPr lang="el-GR" dirty="0"/>
              <a:t>β</a:t>
            </a:r>
            <a:r>
              <a:rPr lang="en-US" dirty="0"/>
              <a:t>) must be disjoint. 	This is to be able to deterministically 	guess the production.</a:t>
            </a:r>
          </a:p>
          <a:p>
            <a:pPr marL="45720" indent="0">
              <a:buNone/>
            </a:pPr>
            <a:r>
              <a:rPr lang="en-US" dirty="0"/>
              <a:t>    (b)  At most one of the strings </a:t>
            </a:r>
            <a:r>
              <a:rPr lang="el-GR" dirty="0"/>
              <a:t>α</a:t>
            </a:r>
            <a:r>
              <a:rPr lang="en-US" dirty="0"/>
              <a:t> or </a:t>
            </a:r>
            <a:r>
              <a:rPr lang="el-GR" dirty="0"/>
              <a:t>β</a:t>
            </a:r>
            <a:r>
              <a:rPr lang="en-US" dirty="0"/>
              <a:t> can derive </a:t>
            </a:r>
            <a:r>
              <a:rPr lang="el-GR" dirty="0"/>
              <a:t>ε</a:t>
            </a:r>
            <a:r>
              <a:rPr lang="en-US" dirty="0"/>
              <a:t> (Since FIRST(</a:t>
            </a:r>
            <a:r>
              <a:rPr lang="el-GR" dirty="0"/>
              <a:t>α</a:t>
            </a:r>
            <a:r>
              <a:rPr lang="en-US" dirty="0"/>
              <a:t>), FIRST(</a:t>
            </a:r>
            <a:r>
              <a:rPr lang="el-GR" dirty="0"/>
              <a:t>β</a:t>
            </a:r>
            <a:r>
              <a:rPr lang="en-US" dirty="0"/>
              <a:t>) are 	disjoint.</a:t>
            </a:r>
          </a:p>
          <a:p>
            <a:pPr marL="45720" indent="0">
              <a:buNone/>
            </a:pPr>
            <a:r>
              <a:rPr lang="en-US" dirty="0"/>
              <a:t>2.  If </a:t>
            </a:r>
            <a:r>
              <a:rPr lang="el-GR" dirty="0"/>
              <a:t>α</a:t>
            </a:r>
            <a:r>
              <a:rPr lang="en-US" dirty="0"/>
              <a:t> -&gt; </a:t>
            </a:r>
            <a:r>
              <a:rPr lang="el-GR" dirty="0"/>
              <a:t>ε</a:t>
            </a:r>
            <a:r>
              <a:rPr lang="en-US" dirty="0"/>
              <a:t> then FIRST(</a:t>
            </a:r>
            <a:r>
              <a:rPr lang="el-GR" dirty="0"/>
              <a:t>β</a:t>
            </a:r>
            <a:r>
              <a:rPr lang="en-US" dirty="0"/>
              <a:t>) and FOLLOW(A)  must be disjoint</a:t>
            </a:r>
            <a:endParaRPr lang="en-IN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4203" y="1379095"/>
            <a:ext cx="10328223" cy="4869305"/>
          </a:xfrm>
        </p:spPr>
        <p:txBody>
          <a:bodyPr>
            <a:normAutofit fontScale="92500"/>
          </a:bodyPr>
          <a:lstStyle/>
          <a:p>
            <a:r>
              <a:rPr lang="en-US" sz="2000" dirty="0">
                <a:latin typeface="Arial" pitchFamily="34" charset="0"/>
                <a:cs typeface="Arial" pitchFamily="34" charset="0"/>
              </a:rPr>
              <a:t>Construct the Predictive Parsing table for the given grammar.</a:t>
            </a:r>
          </a:p>
          <a:p>
            <a:pPr lvl="1"/>
            <a:r>
              <a:rPr lang="en-US" sz="2000" dirty="0">
                <a:latin typeface="Arial" pitchFamily="34" charset="0"/>
                <a:cs typeface="Arial" pitchFamily="34" charset="0"/>
              </a:rPr>
              <a:t>Consider the First production, as FIRST(TE’) =FIRST(T)={(,id}, so the </a:t>
            </a:r>
          </a:p>
          <a:p>
            <a:pPr>
              <a:buNone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      	Production E</a:t>
            </a:r>
            <a:r>
              <a:rPr lang="en-US" sz="2000" dirty="0">
                <a:latin typeface="Arial" pitchFamily="34" charset="0"/>
                <a:cs typeface="Arial" pitchFamily="34" charset="0"/>
                <a:sym typeface="Wingdings" pitchFamily="2" charset="2"/>
              </a:rPr>
              <a:t>TE’ entered to M[E,(] and M[</a:t>
            </a:r>
            <a:r>
              <a:rPr lang="en-US" sz="2000" dirty="0" err="1">
                <a:latin typeface="Arial" pitchFamily="34" charset="0"/>
                <a:cs typeface="Arial" pitchFamily="34" charset="0"/>
                <a:sym typeface="Wingdings" pitchFamily="2" charset="2"/>
              </a:rPr>
              <a:t>E,id</a:t>
            </a:r>
            <a:r>
              <a:rPr lang="en-US" sz="2000" dirty="0">
                <a:latin typeface="Arial" pitchFamily="34" charset="0"/>
                <a:cs typeface="Arial" pitchFamily="34" charset="0"/>
                <a:sym typeface="Wingdings" pitchFamily="2" charset="2"/>
              </a:rPr>
              <a:t>].</a:t>
            </a:r>
          </a:p>
          <a:p>
            <a:pPr lvl="1"/>
            <a:r>
              <a:rPr lang="en-US" sz="2000" dirty="0">
                <a:latin typeface="Arial" pitchFamily="34" charset="0"/>
                <a:cs typeface="Arial" pitchFamily="34" charset="0"/>
                <a:sym typeface="Wingdings" pitchFamily="2" charset="2"/>
              </a:rPr>
              <a:t>Consider the second production,  E’+TE’ entered into M[E’,+] and </a:t>
            </a:r>
          </a:p>
          <a:p>
            <a:pPr>
              <a:buNone/>
            </a:pPr>
            <a:r>
              <a:rPr lang="en-US" sz="2000" dirty="0">
                <a:latin typeface="Arial" pitchFamily="34" charset="0"/>
                <a:cs typeface="Arial" pitchFamily="34" charset="0"/>
                <a:sym typeface="Wingdings" pitchFamily="2" charset="2"/>
              </a:rPr>
              <a:t>		E’</a:t>
            </a:r>
            <a:r>
              <a:rPr lang="el-GR" sz="2000" dirty="0">
                <a:latin typeface="Arial" pitchFamily="34" charset="0"/>
                <a:cs typeface="Arial" pitchFamily="34" charset="0"/>
                <a:sym typeface="Wingdings" pitchFamily="2" charset="2"/>
              </a:rPr>
              <a:t>ϵ</a:t>
            </a:r>
            <a:r>
              <a:rPr lang="en-US" sz="2000" dirty="0">
                <a:latin typeface="Arial" pitchFamily="34" charset="0"/>
                <a:cs typeface="Arial" pitchFamily="34" charset="0"/>
                <a:sym typeface="Wingdings" pitchFamily="2" charset="2"/>
              </a:rPr>
              <a:t> causes M[E’,)] and M[E’,$] to acquire  E’</a:t>
            </a:r>
            <a:r>
              <a:rPr lang="el-GR" sz="2000" dirty="0">
                <a:latin typeface="Arial" pitchFamily="34" charset="0"/>
                <a:cs typeface="Arial" pitchFamily="34" charset="0"/>
                <a:sym typeface="Wingdings" pitchFamily="2" charset="2"/>
              </a:rPr>
              <a:t> ϵ</a:t>
            </a:r>
            <a:r>
              <a:rPr lang="en-US" sz="2000" dirty="0">
                <a:latin typeface="Arial" pitchFamily="34" charset="0"/>
                <a:cs typeface="Arial" pitchFamily="34" charset="0"/>
                <a:sym typeface="Wingdings" pitchFamily="2" charset="2"/>
              </a:rPr>
              <a:t> since   	FOLLOW(E’)={),$}</a:t>
            </a:r>
          </a:p>
          <a:p>
            <a:pPr lvl="1"/>
            <a:r>
              <a:rPr lang="en-US" sz="2000" dirty="0">
                <a:latin typeface="Arial" pitchFamily="34" charset="0"/>
                <a:cs typeface="Arial" pitchFamily="34" charset="0"/>
              </a:rPr>
              <a:t>Consider the third production, as FIRST(FT’) =FIRST(F)={(,id}, so the </a:t>
            </a:r>
          </a:p>
          <a:p>
            <a:pPr>
              <a:buNone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		Production T</a:t>
            </a:r>
            <a:r>
              <a:rPr lang="en-US" sz="2000" dirty="0">
                <a:latin typeface="Arial" pitchFamily="34" charset="0"/>
                <a:cs typeface="Arial" pitchFamily="34" charset="0"/>
                <a:sym typeface="Wingdings" pitchFamily="2" charset="2"/>
              </a:rPr>
              <a:t>FT’ entered to M[T,(] and M[</a:t>
            </a:r>
            <a:r>
              <a:rPr lang="en-US" sz="2000" dirty="0" err="1">
                <a:latin typeface="Arial" pitchFamily="34" charset="0"/>
                <a:cs typeface="Arial" pitchFamily="34" charset="0"/>
                <a:sym typeface="Wingdings" pitchFamily="2" charset="2"/>
              </a:rPr>
              <a:t>T,id</a:t>
            </a:r>
            <a:r>
              <a:rPr lang="en-US" sz="2000" dirty="0">
                <a:latin typeface="Arial" pitchFamily="34" charset="0"/>
                <a:cs typeface="Arial" pitchFamily="34" charset="0"/>
                <a:sym typeface="Wingdings" pitchFamily="2" charset="2"/>
              </a:rPr>
              <a:t>].</a:t>
            </a:r>
          </a:p>
          <a:p>
            <a:pPr lvl="1"/>
            <a:r>
              <a:rPr lang="en-US" sz="2000" dirty="0">
                <a:latin typeface="Arial" pitchFamily="34" charset="0"/>
                <a:cs typeface="Arial" pitchFamily="34" charset="0"/>
                <a:sym typeface="Wingdings" pitchFamily="2" charset="2"/>
              </a:rPr>
              <a:t>Consider the Fourth production,  T’*FT’ entered into M[T’,*] and </a:t>
            </a:r>
          </a:p>
          <a:p>
            <a:pPr>
              <a:buNone/>
            </a:pPr>
            <a:r>
              <a:rPr lang="en-US" sz="2000" dirty="0">
                <a:latin typeface="Arial" pitchFamily="34" charset="0"/>
                <a:cs typeface="Arial" pitchFamily="34" charset="0"/>
                <a:sym typeface="Wingdings" pitchFamily="2" charset="2"/>
              </a:rPr>
              <a:t>		T’</a:t>
            </a:r>
            <a:r>
              <a:rPr lang="el-GR" sz="2000" dirty="0">
                <a:latin typeface="Arial" pitchFamily="34" charset="0"/>
                <a:cs typeface="Arial" pitchFamily="34" charset="0"/>
                <a:sym typeface="Wingdings" pitchFamily="2" charset="2"/>
              </a:rPr>
              <a:t>ϵ</a:t>
            </a:r>
            <a:r>
              <a:rPr lang="en-US" sz="2000" dirty="0">
                <a:latin typeface="Arial" pitchFamily="34" charset="0"/>
                <a:cs typeface="Arial" pitchFamily="34" charset="0"/>
                <a:sym typeface="Wingdings" pitchFamily="2" charset="2"/>
              </a:rPr>
              <a:t> causes M[T’,+], M[T’,)] and M[T’,$] to acquire  T’</a:t>
            </a:r>
            <a:r>
              <a:rPr lang="el-GR" sz="2000" dirty="0">
                <a:latin typeface="Arial" pitchFamily="34" charset="0"/>
                <a:cs typeface="Arial" pitchFamily="34" charset="0"/>
                <a:sym typeface="Wingdings" pitchFamily="2" charset="2"/>
              </a:rPr>
              <a:t> ϵ</a:t>
            </a:r>
            <a:r>
              <a:rPr lang="en-US" sz="2000" dirty="0">
                <a:latin typeface="Arial" pitchFamily="34" charset="0"/>
                <a:cs typeface="Arial" pitchFamily="34" charset="0"/>
                <a:sym typeface="Wingdings" pitchFamily="2" charset="2"/>
              </a:rPr>
              <a:t>  since 	FOLLOW(T’)={+,),$}</a:t>
            </a:r>
          </a:p>
          <a:p>
            <a:pPr lvl="1"/>
            <a:r>
              <a:rPr lang="en-US" sz="2000" dirty="0">
                <a:latin typeface="Arial" pitchFamily="34" charset="0"/>
                <a:cs typeface="Arial" pitchFamily="34" charset="0"/>
              </a:rPr>
              <a:t>Consider the fifth production, enter F</a:t>
            </a:r>
            <a:r>
              <a:rPr lang="en-US" sz="2000" dirty="0">
                <a:latin typeface="Arial" pitchFamily="34" charset="0"/>
                <a:cs typeface="Arial" pitchFamily="34" charset="0"/>
                <a:sym typeface="Wingdings" pitchFamily="2" charset="2"/>
              </a:rPr>
              <a:t>(E) to the M[F,(], and </a:t>
            </a:r>
            <a:r>
              <a:rPr lang="en-US" sz="2000" dirty="0" err="1">
                <a:latin typeface="Arial" pitchFamily="34" charset="0"/>
                <a:cs typeface="Arial" pitchFamily="34" charset="0"/>
                <a:sym typeface="Wingdings" pitchFamily="2" charset="2"/>
              </a:rPr>
              <a:t>Fid</a:t>
            </a:r>
            <a:r>
              <a:rPr lang="en-US" sz="2000" dirty="0">
                <a:latin typeface="Arial" pitchFamily="34" charset="0"/>
                <a:cs typeface="Arial" pitchFamily="34" charset="0"/>
                <a:sym typeface="Wingdings" pitchFamily="2" charset="2"/>
              </a:rPr>
              <a:t> to the M[</a:t>
            </a:r>
            <a:r>
              <a:rPr lang="en-US" sz="2000" dirty="0" err="1">
                <a:latin typeface="Arial" pitchFamily="34" charset="0"/>
                <a:cs typeface="Arial" pitchFamily="34" charset="0"/>
                <a:sym typeface="Wingdings" pitchFamily="2" charset="2"/>
              </a:rPr>
              <a:t>F,id</a:t>
            </a:r>
            <a:r>
              <a:rPr lang="en-US" sz="2000" dirty="0">
                <a:latin typeface="Arial" pitchFamily="34" charset="0"/>
                <a:cs typeface="Arial" pitchFamily="34" charset="0"/>
                <a:sym typeface="Wingdings" pitchFamily="2" charset="2"/>
              </a:rPr>
              <a:t>].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92800" y="152401"/>
            <a:ext cx="1930400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1(Continued..</a:t>
            </a: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562308" y="1883765"/>
            <a:ext cx="9999133" cy="2038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2773180" y="4337154"/>
            <a:ext cx="5384800" cy="106680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As, there is not any multiple defined entries in the Predictive Parsing table, So the given grammar is LL(1) Grammar.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050073" y="303322"/>
            <a:ext cx="1930400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2037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None/>
            </a:pPr>
            <a:r>
              <a:rPr lang="en-US" b="1" u="sng" dirty="0"/>
              <a:t>Grammar:</a:t>
            </a:r>
          </a:p>
          <a:p>
            <a:pPr>
              <a:buFont typeface="Wingdings" pitchFamily="2" charset="2"/>
              <a:buNone/>
            </a:pPr>
            <a:r>
              <a:rPr lang="en-US" dirty="0" err="1"/>
              <a:t>S</a:t>
            </a:r>
            <a:r>
              <a:rPr lang="en-US" dirty="0" err="1">
                <a:sym typeface="Wingdings" pitchFamily="2" charset="2"/>
              </a:rPr>
              <a:t></a:t>
            </a:r>
            <a:r>
              <a:rPr lang="en-US" dirty="0" err="1"/>
              <a:t>iCtSS</a:t>
            </a:r>
            <a:r>
              <a:rPr lang="en-US" dirty="0"/>
              <a:t>’ | a</a:t>
            </a:r>
          </a:p>
          <a:p>
            <a:pPr>
              <a:buFont typeface="Wingdings" pitchFamily="2" charset="2"/>
              <a:buNone/>
            </a:pPr>
            <a:r>
              <a:rPr lang="en-US" dirty="0" err="1"/>
              <a:t>S’</a:t>
            </a:r>
            <a:r>
              <a:rPr lang="en-US" dirty="0" err="1">
                <a:sym typeface="Wingdings" pitchFamily="2" charset="2"/>
              </a:rPr>
              <a:t>eS</a:t>
            </a:r>
            <a:r>
              <a:rPr lang="en-US" dirty="0"/>
              <a:t> | </a:t>
            </a:r>
            <a:r>
              <a:rPr lang="el-GR" dirty="0">
                <a:latin typeface="Calibri"/>
                <a:cs typeface="Calibri"/>
              </a:rPr>
              <a:t>ϵ</a:t>
            </a:r>
            <a:endParaRPr lang="en-US" dirty="0"/>
          </a:p>
          <a:p>
            <a:pPr>
              <a:buFont typeface="Wingdings" pitchFamily="2" charset="2"/>
              <a:buNone/>
            </a:pPr>
            <a:r>
              <a:rPr lang="en-US" dirty="0" err="1">
                <a:sym typeface="Wingdings" pitchFamily="2" charset="2"/>
              </a:rPr>
              <a:t>Cb</a:t>
            </a:r>
            <a:endParaRPr lang="en-US" dirty="0"/>
          </a:p>
          <a:p>
            <a:pPr>
              <a:buFont typeface="Wingdings" pitchFamily="2" charset="2"/>
              <a:buNone/>
            </a:pPr>
            <a:r>
              <a:rPr lang="en-US" sz="2100" b="1" dirty="0"/>
              <a:t>Predictive Parsing Table:</a:t>
            </a:r>
          </a:p>
          <a:p>
            <a:pPr>
              <a:buFont typeface="Wingdings" pitchFamily="2" charset="2"/>
              <a:buNone/>
            </a:pPr>
            <a:endParaRPr lang="en-US" b="1" dirty="0"/>
          </a:p>
          <a:p>
            <a:pPr>
              <a:buFont typeface="Wingdings" pitchFamily="2" charset="2"/>
              <a:buNone/>
            </a:pPr>
            <a:endParaRPr lang="en-US" b="1" dirty="0"/>
          </a:p>
          <a:p>
            <a:pPr>
              <a:buFont typeface="Wingdings" pitchFamily="2" charset="2"/>
              <a:buNone/>
            </a:pPr>
            <a:endParaRPr lang="en-US" b="1" dirty="0"/>
          </a:p>
          <a:p>
            <a:pPr>
              <a:buFont typeface="Wingdings" pitchFamily="2" charset="2"/>
              <a:buNone/>
            </a:pPr>
            <a:endParaRPr lang="en-US" sz="1300" b="1" dirty="0"/>
          </a:p>
          <a:p>
            <a:pPr>
              <a:buFont typeface="Wingdings" pitchFamily="2" charset="2"/>
              <a:buNone/>
            </a:pPr>
            <a:r>
              <a:rPr lang="en-US" sz="1300" b="1" dirty="0"/>
              <a:t>Hence, There is multiple entry at M[</a:t>
            </a:r>
            <a:r>
              <a:rPr lang="en-US" sz="1300" b="1" dirty="0" err="1"/>
              <a:t>S’,e</a:t>
            </a:r>
            <a:r>
              <a:rPr lang="en-US" sz="1300" b="1" dirty="0"/>
              <a:t>] , So the above grammar is not LL(1).</a:t>
            </a:r>
          </a:p>
          <a:p>
            <a:pPr>
              <a:buFont typeface="Wingdings" pitchFamily="2" charset="2"/>
              <a:buNone/>
            </a:pPr>
            <a:endParaRPr lang="en-US" dirty="0"/>
          </a:p>
          <a:p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931764" y="1944974"/>
          <a:ext cx="5486400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422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FIRST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FOLLOW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i,a</a:t>
                      </a:r>
                      <a:r>
                        <a:rPr lang="en-US" dirty="0"/>
                        <a:t>}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{$,e}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S’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{e,</a:t>
                      </a:r>
                      <a:r>
                        <a:rPr lang="el-GR" dirty="0">
                          <a:latin typeface="Calibri"/>
                          <a:cs typeface="Calibri"/>
                        </a:rPr>
                        <a:t>ϵ</a:t>
                      </a:r>
                      <a:r>
                        <a:rPr lang="en-US" dirty="0">
                          <a:latin typeface="Calibri"/>
                          <a:cs typeface="Calibri"/>
                        </a:rPr>
                        <a:t>}</a:t>
                      </a:r>
                      <a:endParaRPr lang="en-US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{$,e}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{b}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{t}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6292099"/>
              </p:ext>
            </p:extLst>
          </p:nvPr>
        </p:nvGraphicFramePr>
        <p:xfrm>
          <a:off x="3679537" y="3990109"/>
          <a:ext cx="8128000" cy="174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451429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70856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3529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</a:t>
                      </a:r>
                      <a:r>
                        <a:rPr lang="en-US" dirty="0" err="1">
                          <a:sym typeface="Wingdings" pitchFamily="2" charset="2"/>
                        </a:rPr>
                        <a:t>a</a:t>
                      </a:r>
                      <a:endParaRPr lang="en-US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</a:t>
                      </a:r>
                      <a:r>
                        <a:rPr lang="en-US" dirty="0" err="1">
                          <a:sym typeface="Wingdings" pitchFamily="2" charset="2"/>
                        </a:rPr>
                        <a:t>iCtSS</a:t>
                      </a:r>
                      <a:r>
                        <a:rPr lang="en-US" dirty="0">
                          <a:sym typeface="Wingdings" pitchFamily="2" charset="2"/>
                        </a:rPr>
                        <a:t>’</a:t>
                      </a:r>
                      <a:endParaRPr lang="en-US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53720">
                <a:tc>
                  <a:txBody>
                    <a:bodyPr/>
                    <a:lstStyle/>
                    <a:p>
                      <a:r>
                        <a:rPr lang="en-US" dirty="0"/>
                        <a:t>S’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S’</a:t>
                      </a:r>
                      <a:r>
                        <a:rPr lang="en-US" dirty="0">
                          <a:sym typeface="Wingdings" pitchFamily="2" charset="2"/>
                        </a:rPr>
                        <a:t></a:t>
                      </a:r>
                      <a:r>
                        <a:rPr lang="el-GR" dirty="0">
                          <a:latin typeface="Calibri"/>
                          <a:cs typeface="Calibri"/>
                          <a:sym typeface="Wingdings" pitchFamily="2" charset="2"/>
                        </a:rPr>
                        <a:t>ϵ</a:t>
                      </a:r>
                      <a:endParaRPr lang="en-US" dirty="0">
                        <a:latin typeface="Calibri"/>
                        <a:cs typeface="Calibri"/>
                        <a:sym typeface="Wingdings" pitchFamily="2" charset="2"/>
                      </a:endParaRPr>
                    </a:p>
                    <a:p>
                      <a:r>
                        <a:rPr lang="en-US" dirty="0" err="1">
                          <a:latin typeface="Calibri"/>
                          <a:cs typeface="Calibri"/>
                          <a:sym typeface="Wingdings" pitchFamily="2" charset="2"/>
                        </a:rPr>
                        <a:t>S’eS</a:t>
                      </a:r>
                      <a:endParaRPr lang="en-US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S’</a:t>
                      </a:r>
                      <a:r>
                        <a:rPr lang="en-US" dirty="0">
                          <a:sym typeface="Wingdings" pitchFamily="2" charset="2"/>
                        </a:rPr>
                        <a:t></a:t>
                      </a:r>
                      <a:r>
                        <a:rPr lang="el-GR" dirty="0">
                          <a:latin typeface="Calibri"/>
                          <a:cs typeface="Calibri"/>
                          <a:sym typeface="Wingdings" pitchFamily="2" charset="2"/>
                        </a:rPr>
                        <a:t>ϵ</a:t>
                      </a:r>
                      <a:endParaRPr lang="en-US" dirty="0"/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</a:t>
                      </a:r>
                      <a:r>
                        <a:rPr lang="en-US" dirty="0" err="1">
                          <a:sym typeface="Wingdings" pitchFamily="2" charset="2"/>
                        </a:rPr>
                        <a:t>b</a:t>
                      </a:r>
                      <a:endParaRPr lang="en-US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LL(1) Parsing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0800" y="1447800"/>
            <a:ext cx="10590784" cy="54102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sz="2000" dirty="0"/>
              <a:t>	Initial Configuration: Stack=S, Input=w$, where S is the Start Symbol, $= end of the marker.</a:t>
            </a:r>
          </a:p>
          <a:p>
            <a:pPr>
              <a:buNone/>
            </a:pPr>
            <a:endParaRPr lang="en-US" sz="2100" dirty="0"/>
          </a:p>
        </p:txBody>
      </p:sp>
      <p:sp>
        <p:nvSpPr>
          <p:cNvPr id="4" name="Rectangle 3"/>
          <p:cNvSpPr/>
          <p:nvPr/>
        </p:nvSpPr>
        <p:spPr>
          <a:xfrm>
            <a:off x="1602282" y="1953718"/>
            <a:ext cx="6400800" cy="490428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dirty="0"/>
              <a:t>Repeat{</a:t>
            </a:r>
          </a:p>
          <a:p>
            <a:pPr lvl="1">
              <a:buNone/>
            </a:pPr>
            <a:r>
              <a:rPr lang="en-US" dirty="0"/>
              <a:t>Let X be the top of stack Symbol</a:t>
            </a:r>
          </a:p>
          <a:p>
            <a:pPr lvl="1">
              <a:buNone/>
            </a:pPr>
            <a:r>
              <a:rPr lang="en-US" dirty="0"/>
              <a:t>Let a be the next input symbol /* it may have $*/</a:t>
            </a:r>
          </a:p>
          <a:p>
            <a:pPr lvl="2">
              <a:buNone/>
            </a:pPr>
            <a:r>
              <a:rPr lang="en-US" dirty="0"/>
              <a:t>if X is a terminal symbol or $ then</a:t>
            </a:r>
          </a:p>
          <a:p>
            <a:pPr lvl="3">
              <a:buNone/>
            </a:pPr>
            <a:r>
              <a:rPr lang="en-US" dirty="0"/>
              <a:t>if X==a then </a:t>
            </a:r>
          </a:p>
          <a:p>
            <a:pPr lvl="3">
              <a:buNone/>
            </a:pPr>
            <a:r>
              <a:rPr lang="en-US" dirty="0"/>
              <a:t>{</a:t>
            </a:r>
          </a:p>
          <a:p>
            <a:pPr lvl="3">
              <a:buNone/>
            </a:pPr>
            <a:r>
              <a:rPr lang="en-US" dirty="0"/>
              <a:t>	pop X from stack;</a:t>
            </a:r>
          </a:p>
          <a:p>
            <a:pPr lvl="3">
              <a:buNone/>
            </a:pPr>
            <a:r>
              <a:rPr lang="en-US" dirty="0"/>
              <a:t>	remove a from input;</a:t>
            </a:r>
          </a:p>
          <a:p>
            <a:pPr lvl="3">
              <a:buNone/>
            </a:pPr>
            <a:r>
              <a:rPr lang="en-US" dirty="0"/>
              <a:t>}</a:t>
            </a:r>
          </a:p>
          <a:p>
            <a:pPr lvl="3">
              <a:buNone/>
            </a:pPr>
            <a:r>
              <a:rPr lang="en-US" dirty="0"/>
              <a:t> else error();</a:t>
            </a:r>
          </a:p>
          <a:p>
            <a:pPr marL="566738" lvl="3" indent="128588">
              <a:buNone/>
            </a:pPr>
            <a:r>
              <a:rPr lang="en-US" dirty="0"/>
              <a:t>   else   /* X is a non terminal*/</a:t>
            </a:r>
          </a:p>
          <a:p>
            <a:pPr marL="566738" lvl="3" indent="128588">
              <a:buNone/>
            </a:pPr>
            <a:r>
              <a:rPr lang="en-US" dirty="0"/>
              <a:t>		if M[</a:t>
            </a:r>
            <a:r>
              <a:rPr lang="en-US" dirty="0" err="1"/>
              <a:t>X,a</a:t>
            </a:r>
            <a:r>
              <a:rPr lang="en-US" dirty="0"/>
              <a:t>]=X</a:t>
            </a:r>
            <a:r>
              <a:rPr lang="en-US" dirty="0">
                <a:sym typeface="Wingdings" pitchFamily="2" charset="2"/>
              </a:rPr>
              <a:t>Y</a:t>
            </a:r>
            <a:r>
              <a:rPr lang="en-US" baseline="-25000" dirty="0">
                <a:sym typeface="Wingdings" pitchFamily="2" charset="2"/>
              </a:rPr>
              <a:t>1</a:t>
            </a:r>
            <a:r>
              <a:rPr lang="en-US" dirty="0">
                <a:sym typeface="Wingdings" pitchFamily="2" charset="2"/>
              </a:rPr>
              <a:t>Y</a:t>
            </a:r>
            <a:r>
              <a:rPr lang="en-US" baseline="-25000" dirty="0">
                <a:sym typeface="Wingdings" pitchFamily="2" charset="2"/>
              </a:rPr>
              <a:t>2</a:t>
            </a:r>
            <a:r>
              <a:rPr lang="en-US" dirty="0">
                <a:sym typeface="Wingdings" pitchFamily="2" charset="2"/>
              </a:rPr>
              <a:t>…</a:t>
            </a:r>
            <a:r>
              <a:rPr lang="en-US" dirty="0" err="1">
                <a:sym typeface="Wingdings" pitchFamily="2" charset="2"/>
              </a:rPr>
              <a:t>Y</a:t>
            </a:r>
            <a:r>
              <a:rPr lang="en-US" baseline="-25000" dirty="0" err="1">
                <a:sym typeface="Wingdings" pitchFamily="2" charset="2"/>
              </a:rPr>
              <a:t>k</a:t>
            </a:r>
            <a:r>
              <a:rPr lang="en-US" dirty="0">
                <a:sym typeface="Wingdings" pitchFamily="2" charset="2"/>
              </a:rPr>
              <a:t> then </a:t>
            </a:r>
          </a:p>
          <a:p>
            <a:pPr marL="566738" lvl="3" indent="128588">
              <a:buNone/>
            </a:pPr>
            <a:r>
              <a:rPr lang="en-US" dirty="0">
                <a:sym typeface="Wingdings" pitchFamily="2" charset="2"/>
              </a:rPr>
              <a:t>		{</a:t>
            </a:r>
          </a:p>
          <a:p>
            <a:pPr marL="566738" lvl="3" indent="128588">
              <a:buNone/>
            </a:pPr>
            <a:r>
              <a:rPr lang="en-US" dirty="0">
                <a:sym typeface="Wingdings" pitchFamily="2" charset="2"/>
              </a:rPr>
              <a:t>			pop X from stack;</a:t>
            </a:r>
          </a:p>
          <a:p>
            <a:pPr marL="566738" lvl="3" indent="128588">
              <a:buNone/>
            </a:pPr>
            <a:r>
              <a:rPr lang="en-US" dirty="0">
                <a:sym typeface="Wingdings" pitchFamily="2" charset="2"/>
              </a:rPr>
              <a:t>			push </a:t>
            </a:r>
            <a:r>
              <a:rPr lang="en-US" dirty="0" err="1">
                <a:sym typeface="Wingdings" pitchFamily="2" charset="2"/>
              </a:rPr>
              <a:t>Y</a:t>
            </a:r>
            <a:r>
              <a:rPr lang="en-US" baseline="-25000" dirty="0" err="1">
                <a:sym typeface="Wingdings" pitchFamily="2" charset="2"/>
              </a:rPr>
              <a:t>k</a:t>
            </a:r>
            <a:r>
              <a:rPr lang="en-US" dirty="0">
                <a:sym typeface="Wingdings" pitchFamily="2" charset="2"/>
              </a:rPr>
              <a:t>, Y</a:t>
            </a:r>
            <a:r>
              <a:rPr lang="en-US" baseline="-25000" dirty="0">
                <a:sym typeface="Wingdings" pitchFamily="2" charset="2"/>
              </a:rPr>
              <a:t>k-1</a:t>
            </a:r>
            <a:r>
              <a:rPr lang="en-US" dirty="0">
                <a:sym typeface="Wingdings" pitchFamily="2" charset="2"/>
              </a:rPr>
              <a:t>….Y</a:t>
            </a:r>
            <a:r>
              <a:rPr lang="en-US" baseline="-25000" dirty="0">
                <a:sym typeface="Wingdings" pitchFamily="2" charset="2"/>
              </a:rPr>
              <a:t>1</a:t>
            </a:r>
            <a:r>
              <a:rPr lang="en-US" dirty="0">
                <a:sym typeface="Wingdings" pitchFamily="2" charset="2"/>
              </a:rPr>
              <a:t> onto stack;</a:t>
            </a:r>
          </a:p>
          <a:p>
            <a:pPr marL="566738" lvl="3" indent="128588">
              <a:buNone/>
            </a:pPr>
            <a:r>
              <a:rPr lang="en-US" dirty="0">
                <a:sym typeface="Wingdings" pitchFamily="2" charset="2"/>
              </a:rPr>
              <a:t>		}</a:t>
            </a:r>
          </a:p>
          <a:p>
            <a:pPr marL="566738" lvl="3" indent="128588">
              <a:buNone/>
            </a:pPr>
            <a:r>
              <a:rPr lang="en-US" dirty="0">
                <a:sym typeface="Wingdings" pitchFamily="2" charset="2"/>
              </a:rPr>
              <a:t>} until stack has empted.</a:t>
            </a:r>
            <a:endParaRPr lang="en-US" dirty="0"/>
          </a:p>
          <a:p>
            <a:pPr marL="566738" lvl="3" indent="128588">
              <a:buNone/>
            </a:pPr>
            <a:r>
              <a:rPr lang="en-US" dirty="0"/>
              <a:t>	</a:t>
            </a:r>
            <a:endParaRPr lang="en-US" sz="1400" dirty="0"/>
          </a:p>
        </p:txBody>
      </p:sp>
      <p:sp>
        <p:nvSpPr>
          <p:cNvPr id="5" name="Rectangle 4"/>
          <p:cNvSpPr/>
          <p:nvPr/>
        </p:nvSpPr>
        <p:spPr>
          <a:xfrm>
            <a:off x="8737600" y="2971800"/>
            <a:ext cx="26416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839200" y="2971801"/>
            <a:ext cx="2463800" cy="181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87625" y="804863"/>
            <a:ext cx="9604375" cy="1049337"/>
          </a:xfrm>
        </p:spPr>
        <p:txBody>
          <a:bodyPr>
            <a:normAutofit/>
          </a:bodyPr>
          <a:lstStyle/>
          <a:p>
            <a:r>
              <a:rPr lang="en-US" dirty="0"/>
              <a:t>LL(1) Parsing example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69555" y="1447511"/>
            <a:ext cx="9245600" cy="467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err="1"/>
              <a:t>Aho</a:t>
            </a:r>
            <a:r>
              <a:rPr lang="en-US" dirty="0"/>
              <a:t>,  A. V., &amp; Ullman, J. D. (1977). Principles of Compiler </a:t>
            </a:r>
            <a:r>
              <a:rPr lang="en-US" dirty="0" err="1"/>
              <a:t>Design.Addison</a:t>
            </a:r>
            <a:r>
              <a:rPr lang="en-US" dirty="0"/>
              <a:t>-Wesley Longman Publishing Co., Inc.</a:t>
            </a:r>
          </a:p>
          <a:p>
            <a:r>
              <a:rPr lang="en-US" dirty="0"/>
              <a:t>Jeffrey, A. V., Ullman, J. D. &amp; </a:t>
            </a:r>
            <a:r>
              <a:rPr lang="en-US" dirty="0" err="1"/>
              <a:t>Sethi</a:t>
            </a:r>
            <a:r>
              <a:rPr lang="en-US" dirty="0"/>
              <a:t> R. (1986). Compilers, Principles, Techniques, and Tools. Wesley.</a:t>
            </a:r>
          </a:p>
          <a:p>
            <a:r>
              <a:rPr lang="en-US" dirty="0"/>
              <a:t>Barrett, W. A., &amp;amp; Couch, J. D. (1988). Compiler construction: theory and practice. </a:t>
            </a:r>
            <a:r>
              <a:rPr lang="en-US" dirty="0" err="1"/>
              <a:t>Galgotia</a:t>
            </a:r>
            <a:r>
              <a:rPr lang="en-US" dirty="0"/>
              <a:t>.</a:t>
            </a:r>
          </a:p>
          <a:p>
            <a:r>
              <a:rPr lang="en-US" dirty="0"/>
              <a:t>Tremblay, J. P., &amp;amp; Sorenson, P. G. (1985). Theory and Practice of Compiler Writing. McGraw-Hill, Inc.</a:t>
            </a:r>
          </a:p>
          <a:p>
            <a:r>
              <a:rPr lang="en-US" dirty="0" err="1"/>
              <a:t>Gries</a:t>
            </a:r>
            <a:r>
              <a:rPr lang="en-US" dirty="0"/>
              <a:t>, D. (1987). Compiler construction for digital computers. </a:t>
            </a:r>
            <a:r>
              <a:rPr lang="en-US" dirty="0" err="1"/>
              <a:t>NewYork</a:t>
            </a:r>
            <a:r>
              <a:rPr lang="en-US" dirty="0"/>
              <a:t>: Wiley.</a:t>
            </a:r>
          </a:p>
        </p:txBody>
      </p:sp>
    </p:spTree>
    <p:extLst>
      <p:ext uri="{BB962C8B-B14F-4D97-AF65-F5344CB8AC3E}">
        <p14:creationId xmlns:p14="http://schemas.microsoft.com/office/powerpoint/2010/main" val="3452676822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tf00001245_wac</Template>
  <TotalTime>59</TotalTime>
  <Words>754</Words>
  <Application>Microsoft Office PowerPoint</Application>
  <PresentationFormat>Widescreen</PresentationFormat>
  <Paragraphs>135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Century</vt:lpstr>
      <vt:lpstr>Gill Sans MT</vt:lpstr>
      <vt:lpstr>Wingdings</vt:lpstr>
      <vt:lpstr>Gallery</vt:lpstr>
      <vt:lpstr>PowerPoint Presentation</vt:lpstr>
      <vt:lpstr>Predictive Parsers</vt:lpstr>
      <vt:lpstr>Predictive Parsers(Continued..</vt:lpstr>
      <vt:lpstr>Construction of Predictive Parsing Table</vt:lpstr>
      <vt:lpstr>Question: Construct predictive parsing table for the given grammar: ETE’ E’+TE’/ϵ TFT’ T’*FT’/ ϵ  F(E)/id    </vt:lpstr>
      <vt:lpstr>Predictive Parsing Table</vt:lpstr>
      <vt:lpstr>LL(1) Grammar</vt:lpstr>
      <vt:lpstr>Condition for LL(1) Grammar</vt:lpstr>
      <vt:lpstr>Example 1</vt:lpstr>
      <vt:lpstr>Example 1(Continued..</vt:lpstr>
      <vt:lpstr>Example 2</vt:lpstr>
      <vt:lpstr>LL(1) Parsing Algorithm</vt:lpstr>
      <vt:lpstr>LL(1) Parsing example</vt:lpstr>
      <vt:lpstr>References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Compiler Design Motivation &amp; Application</dc:title>
  <dc:creator>Dipanwita Thakur</dc:creator>
  <cp:lastModifiedBy>dell</cp:lastModifiedBy>
  <cp:revision>15</cp:revision>
  <dcterms:created xsi:type="dcterms:W3CDTF">2021-03-11T16:03:12Z</dcterms:created>
  <dcterms:modified xsi:type="dcterms:W3CDTF">2024-08-15T09:32:42Z</dcterms:modified>
</cp:coreProperties>
</file>